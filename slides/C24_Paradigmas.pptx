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revisionInfo.xml" ContentType="application/vnd.ms-powerpoint.revisioninfo+xml"/>
  <Override PartName="/ppt/changesInfos/changesInfo1.xml" ContentType="application/vnd.ms-powerpoint.changes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2"/>
  </p:notesMasterIdLst>
  <p:handoutMasterIdLst>
    <p:handoutMasterId r:id="rId43"/>
  </p:handoutMasterIdLst>
  <p:sldIdLst>
    <p:sldId id="256" r:id="rId2"/>
    <p:sldId id="316" r:id="rId3"/>
    <p:sldId id="346" r:id="rId4"/>
    <p:sldId id="307" r:id="rId5"/>
    <p:sldId id="419" r:id="rId6"/>
    <p:sldId id="318" r:id="rId7"/>
    <p:sldId id="319" r:id="rId8"/>
    <p:sldId id="412" r:id="rId9"/>
    <p:sldId id="413" r:id="rId10"/>
    <p:sldId id="414" r:id="rId11"/>
    <p:sldId id="415" r:id="rId12"/>
    <p:sldId id="411" r:id="rId13"/>
    <p:sldId id="317" r:id="rId14"/>
    <p:sldId id="345" r:id="rId15"/>
    <p:sldId id="323" r:id="rId16"/>
    <p:sldId id="308" r:id="rId17"/>
    <p:sldId id="320" r:id="rId18"/>
    <p:sldId id="327" r:id="rId19"/>
    <p:sldId id="330" r:id="rId20"/>
    <p:sldId id="324" r:id="rId21"/>
    <p:sldId id="416" r:id="rId22"/>
    <p:sldId id="417" r:id="rId23"/>
    <p:sldId id="322" r:id="rId24"/>
    <p:sldId id="325" r:id="rId25"/>
    <p:sldId id="418" r:id="rId26"/>
    <p:sldId id="309" r:id="rId27"/>
    <p:sldId id="332" r:id="rId28"/>
    <p:sldId id="335" r:id="rId29"/>
    <p:sldId id="336" r:id="rId30"/>
    <p:sldId id="338" r:id="rId31"/>
    <p:sldId id="331" r:id="rId32"/>
    <p:sldId id="340" r:id="rId33"/>
    <p:sldId id="341" r:id="rId34"/>
    <p:sldId id="342" r:id="rId35"/>
    <p:sldId id="343" r:id="rId36"/>
    <p:sldId id="344" r:id="rId37"/>
    <p:sldId id="311" r:id="rId38"/>
    <p:sldId id="347" r:id="rId39"/>
    <p:sldId id="293" r:id="rId40"/>
    <p:sldId id="306" r:id="rId41"/>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078" autoAdjust="0"/>
    <p:restoredTop sz="92532" autoAdjust="0"/>
  </p:normalViewPr>
  <p:slideViewPr>
    <p:cSldViewPr snapToGrid="0">
      <p:cViewPr varScale="1">
        <p:scale>
          <a:sx n="68" d="100"/>
          <a:sy n="68" d="100"/>
        </p:scale>
        <p:origin x="978" y="60"/>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47"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handoutMaster" Target="handoutMasters/handoutMaster1.xml"/><Relationship Id="rId48" Type="http://schemas.microsoft.com/office/2015/10/relationships/revisionInfo" Target="revisionInfo.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2/08/2026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02/08/2026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Muita gente acha que IA é mágica, mas na verdade é puro aprendizado. Hoje, veremos como as máquinas aprendem.</a:t>
            </a:r>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a:t>
            </a:fld>
            <a:endParaRPr lang="pt-BR"/>
          </a:p>
        </p:txBody>
      </p:sp>
    </p:spTree>
    <p:extLst>
      <p:ext uri="{BB962C8B-B14F-4D97-AF65-F5344CB8AC3E}">
        <p14:creationId xmlns:p14="http://schemas.microsoft.com/office/powerpoint/2010/main" val="136493671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F371A85A-6C43-1DD2-1616-904E991B3400}"/>
            </a:ext>
          </a:extLst>
        </p:cNvPr>
        <p:cNvGrpSpPr/>
        <p:nvPr/>
      </p:nvGrpSpPr>
      <p:grpSpPr>
        <a:xfrm>
          <a:off x="0" y="0"/>
          <a:ext cx="0" cy="0"/>
          <a:chOff x="0" y="0"/>
          <a:chExt cx="0" cy="0"/>
        </a:xfrm>
      </p:grpSpPr>
      <p:sp>
        <p:nvSpPr>
          <p:cNvPr id="2" name="Espaço Reservado para Imagem de Slide 1">
            <a:extLst>
              <a:ext uri="{FF2B5EF4-FFF2-40B4-BE49-F238E27FC236}">
                <a16:creationId xmlns="" xmlns:a16="http://schemas.microsoft.com/office/drawing/2014/main" id="{9AD6B9C9-E6C8-2BAD-22CB-CDA89525F5F0}"/>
              </a:ext>
            </a:extLst>
          </p:cNvPr>
          <p:cNvSpPr>
            <a:spLocks noGrp="1" noRot="1" noChangeAspect="1"/>
          </p:cNvSpPr>
          <p:nvPr>
            <p:ph type="sldImg"/>
          </p:nvPr>
        </p:nvSpPr>
        <p:spPr/>
      </p:sp>
      <p:sp>
        <p:nvSpPr>
          <p:cNvPr id="3" name="Espaço Reservado para Anotações 2">
            <a:extLst>
              <a:ext uri="{FF2B5EF4-FFF2-40B4-BE49-F238E27FC236}">
                <a16:creationId xmlns="" xmlns:a16="http://schemas.microsoft.com/office/drawing/2014/main" id="{681121C7-46E2-E1A2-AC19-B63C65FD8DD4}"/>
              </a:ext>
            </a:extLst>
          </p:cNvPr>
          <p:cNvSpPr>
            <a:spLocks noGrp="1"/>
          </p:cNvSpPr>
          <p:nvPr>
            <p:ph type="body" idx="1"/>
          </p:nvPr>
        </p:nvSpPr>
        <p:spPr/>
        <p:txBody>
          <a:bodyPr/>
          <a:lstStyle/>
          <a:p>
            <a:r>
              <a:rPr lang="pt-BR" dirty="0"/>
              <a:t>Muita gente acha que IA é mágica, mas na verdade é puro aprendizado. Hoje, veremos como as máquinas aprendem.</a:t>
            </a:r>
          </a:p>
        </p:txBody>
      </p:sp>
      <p:sp>
        <p:nvSpPr>
          <p:cNvPr id="4" name="Espaço Reservado para Número de Slide 3">
            <a:extLst>
              <a:ext uri="{FF2B5EF4-FFF2-40B4-BE49-F238E27FC236}">
                <a16:creationId xmlns="" xmlns:a16="http://schemas.microsoft.com/office/drawing/2014/main" id="{6CFCA9CB-729E-B16E-09D6-24E6B67B3BCA}"/>
              </a:ext>
            </a:extLst>
          </p:cNvPr>
          <p:cNvSpPr>
            <a:spLocks noGrp="1"/>
          </p:cNvSpPr>
          <p:nvPr>
            <p:ph type="sldNum" sz="quarter" idx="10"/>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118495225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31040856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7</a:t>
            </a:fld>
            <a:endParaRPr lang="pt-BR"/>
          </a:p>
        </p:txBody>
      </p:sp>
    </p:spTree>
    <p:extLst>
      <p:ext uri="{BB962C8B-B14F-4D97-AF65-F5344CB8AC3E}">
        <p14:creationId xmlns:p14="http://schemas.microsoft.com/office/powerpoint/2010/main" val="96433780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A7D22946-F4D7-2916-9C7B-58F94A720FFC}"/>
            </a:ext>
          </a:extLst>
        </p:cNvPr>
        <p:cNvGrpSpPr/>
        <p:nvPr/>
      </p:nvGrpSpPr>
      <p:grpSpPr>
        <a:xfrm>
          <a:off x="0" y="0"/>
          <a:ext cx="0" cy="0"/>
          <a:chOff x="0" y="0"/>
          <a:chExt cx="0" cy="0"/>
        </a:xfrm>
      </p:grpSpPr>
      <p:sp>
        <p:nvSpPr>
          <p:cNvPr id="2" name="Espaço Reservado para Imagem de Slide 1">
            <a:extLst>
              <a:ext uri="{FF2B5EF4-FFF2-40B4-BE49-F238E27FC236}">
                <a16:creationId xmlns="" xmlns:a16="http://schemas.microsoft.com/office/drawing/2014/main" id="{76F277A3-7A93-5615-FAAF-77A7DB251106}"/>
              </a:ext>
            </a:extLst>
          </p:cNvPr>
          <p:cNvSpPr>
            <a:spLocks noGrp="1" noRot="1" noChangeAspect="1"/>
          </p:cNvSpPr>
          <p:nvPr>
            <p:ph type="sldImg"/>
          </p:nvPr>
        </p:nvSpPr>
        <p:spPr/>
      </p:sp>
      <p:sp>
        <p:nvSpPr>
          <p:cNvPr id="3" name="Espaço Reservado para Anotações 2">
            <a:extLst>
              <a:ext uri="{FF2B5EF4-FFF2-40B4-BE49-F238E27FC236}">
                <a16:creationId xmlns="" xmlns:a16="http://schemas.microsoft.com/office/drawing/2014/main" id="{C58B0B39-F6A7-0AA5-DEA6-D0A40B94AF68}"/>
              </a:ext>
            </a:extLst>
          </p:cNvPr>
          <p:cNvSpPr>
            <a:spLocks noGrp="1"/>
          </p:cNvSpPr>
          <p:nvPr>
            <p:ph type="body" idx="1"/>
          </p:nvPr>
        </p:nvSpPr>
        <p:spPr/>
        <p:txBody>
          <a:bodyPr/>
          <a:lstStyle/>
          <a:p>
            <a:pPr algn="l"/>
            <a:r>
              <a:rPr lang="pt-BR" b="0" i="0" dirty="0">
                <a:solidFill>
                  <a:srgbClr val="374151"/>
                </a:solidFill>
                <a:effectLst/>
                <a:latin typeface="Söhne"/>
              </a:rPr>
              <a:t>No contexto de aprendizado de máquina, a generalização refere-se à capacidade de um modelo treinado em um conjunto de dados específico de realizar predições precisas e acuradas em dados que nunca foram vistos durante o processo de treinamento.</a:t>
            </a:r>
          </a:p>
          <a:p>
            <a:pPr algn="l"/>
            <a:r>
              <a:rPr lang="pt-BR" b="0" i="0" dirty="0">
                <a:solidFill>
                  <a:srgbClr val="374151"/>
                </a:solidFill>
                <a:effectLst/>
                <a:latin typeface="Söhne"/>
              </a:rPr>
              <a:t>Quando um modelo é treinado em um conjunto de dados, ele busca aprender padrões e regras que governam os relacionamentos entre as entradas e as saídas desse conjunto. A generalização ocorre quando o modelo consegue aplicar esse conhecimento aprendido para fazer predições em novos dados que não foram usados durante o treinamento. Em outras palavras, um modelo generalizado é capaz de "generalizar" o conhecimento adquirido com o conjunto de treinamento para realizar previsões precisas em situações desconhecidas.</a:t>
            </a:r>
          </a:p>
          <a:p>
            <a:pPr algn="l"/>
            <a:r>
              <a:rPr lang="pt-BR" b="0" i="0" dirty="0">
                <a:solidFill>
                  <a:srgbClr val="374151"/>
                </a:solidFill>
                <a:effectLst/>
                <a:latin typeface="Söhne"/>
              </a:rPr>
              <a:t>A generalização é um aspecto crítico do aprendizado de máquina, pois o objetivo é que o modelo seja capaz de lidar efetivamente com dados do mundo real, que podem ser diferentes ou conter variações em relação ao conjunto de treinamento. Um modelo que generaliza bem evita problemas de </a:t>
            </a:r>
            <a:r>
              <a:rPr lang="pt-BR" b="0" i="0" dirty="0" err="1">
                <a:solidFill>
                  <a:srgbClr val="374151"/>
                </a:solidFill>
                <a:effectLst/>
                <a:latin typeface="Söhne"/>
              </a:rPr>
              <a:t>superajuste</a:t>
            </a:r>
            <a:r>
              <a:rPr lang="pt-BR" b="0" i="0" dirty="0">
                <a:solidFill>
                  <a:srgbClr val="374151"/>
                </a:solidFill>
                <a:effectLst/>
                <a:latin typeface="Söhne"/>
              </a:rPr>
              <a:t> (</a:t>
            </a:r>
            <a:r>
              <a:rPr lang="pt-BR" b="0" i="0" dirty="0" err="1">
                <a:solidFill>
                  <a:srgbClr val="374151"/>
                </a:solidFill>
                <a:effectLst/>
                <a:latin typeface="Söhne"/>
              </a:rPr>
              <a:t>overfitting</a:t>
            </a:r>
            <a:r>
              <a:rPr lang="pt-BR" b="0" i="0" dirty="0">
                <a:solidFill>
                  <a:srgbClr val="374151"/>
                </a:solidFill>
                <a:effectLst/>
                <a:latin typeface="Söhne"/>
              </a:rPr>
              <a:t>), onde ele se torna muito específico para o conjunto de treinamento e tem um desempenho inferior em novos dados, ou problemas de </a:t>
            </a:r>
            <a:r>
              <a:rPr lang="pt-BR" b="0" i="0" dirty="0" err="1">
                <a:solidFill>
                  <a:srgbClr val="374151"/>
                </a:solidFill>
                <a:effectLst/>
                <a:latin typeface="Söhne"/>
              </a:rPr>
              <a:t>subajuste</a:t>
            </a:r>
            <a:r>
              <a:rPr lang="pt-BR" b="0" i="0" dirty="0">
                <a:solidFill>
                  <a:srgbClr val="374151"/>
                </a:solidFill>
                <a:effectLst/>
                <a:latin typeface="Söhne"/>
              </a:rPr>
              <a:t> (</a:t>
            </a:r>
            <a:r>
              <a:rPr lang="pt-BR" b="0" i="0" dirty="0" err="1">
                <a:solidFill>
                  <a:srgbClr val="374151"/>
                </a:solidFill>
                <a:effectLst/>
                <a:latin typeface="Söhne"/>
              </a:rPr>
              <a:t>underfitting</a:t>
            </a:r>
            <a:r>
              <a:rPr lang="pt-BR" b="0" i="0" dirty="0">
                <a:solidFill>
                  <a:srgbClr val="374151"/>
                </a:solidFill>
                <a:effectLst/>
                <a:latin typeface="Söhne"/>
              </a:rPr>
              <a:t>), onde ele não captura adequadamente os padrões do conjunto de treinamento e também não tem um desempenho satisfatório em novos dados.</a:t>
            </a:r>
          </a:p>
          <a:p>
            <a:endParaRPr lang="pt-BR" dirty="0"/>
          </a:p>
        </p:txBody>
      </p:sp>
      <p:sp>
        <p:nvSpPr>
          <p:cNvPr id="4" name="Espaço Reservado para Número de Slide 3">
            <a:extLst>
              <a:ext uri="{FF2B5EF4-FFF2-40B4-BE49-F238E27FC236}">
                <a16:creationId xmlns="" xmlns:a16="http://schemas.microsoft.com/office/drawing/2014/main" id="{98B8184E-EA97-01F9-DFFE-0A23F83AAEB4}"/>
              </a:ext>
            </a:extLst>
          </p:cNvPr>
          <p:cNvSpPr>
            <a:spLocks noGrp="1"/>
          </p:cNvSpPr>
          <p:nvPr>
            <p:ph type="sldNum" sz="quarter" idx="5"/>
          </p:nvPr>
        </p:nvSpPr>
        <p:spPr/>
        <p:txBody>
          <a:bodyPr/>
          <a:lstStyle/>
          <a:p>
            <a:fld id="{6FC8D850-966F-45A6-8DE7-15B891E7D40D}" type="slidenum">
              <a:rPr lang="pt-BR" smtClean="0"/>
              <a:t>8</a:t>
            </a:fld>
            <a:endParaRPr lang="pt-BR"/>
          </a:p>
        </p:txBody>
      </p:sp>
    </p:spTree>
    <p:extLst>
      <p:ext uri="{BB962C8B-B14F-4D97-AF65-F5344CB8AC3E}">
        <p14:creationId xmlns:p14="http://schemas.microsoft.com/office/powerpoint/2010/main" val="223016844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1E8D9D0C-5BF8-579E-34E6-BF8C92E9907D}"/>
            </a:ext>
          </a:extLst>
        </p:cNvPr>
        <p:cNvGrpSpPr/>
        <p:nvPr/>
      </p:nvGrpSpPr>
      <p:grpSpPr>
        <a:xfrm>
          <a:off x="0" y="0"/>
          <a:ext cx="0" cy="0"/>
          <a:chOff x="0" y="0"/>
          <a:chExt cx="0" cy="0"/>
        </a:xfrm>
      </p:grpSpPr>
      <p:sp>
        <p:nvSpPr>
          <p:cNvPr id="2" name="Espaço Reservado para Imagem de Slide 1">
            <a:extLst>
              <a:ext uri="{FF2B5EF4-FFF2-40B4-BE49-F238E27FC236}">
                <a16:creationId xmlns="" xmlns:a16="http://schemas.microsoft.com/office/drawing/2014/main" id="{DDD80EC9-6551-DFE6-D71D-7FADD54047A1}"/>
              </a:ext>
            </a:extLst>
          </p:cNvPr>
          <p:cNvSpPr>
            <a:spLocks noGrp="1" noRot="1" noChangeAspect="1"/>
          </p:cNvSpPr>
          <p:nvPr>
            <p:ph type="sldImg"/>
          </p:nvPr>
        </p:nvSpPr>
        <p:spPr/>
      </p:sp>
      <p:sp>
        <p:nvSpPr>
          <p:cNvPr id="3" name="Espaço Reservado para Anotações 2">
            <a:extLst>
              <a:ext uri="{FF2B5EF4-FFF2-40B4-BE49-F238E27FC236}">
                <a16:creationId xmlns="" xmlns:a16="http://schemas.microsoft.com/office/drawing/2014/main" id="{33599FF6-E3A2-22C3-ADF6-375262BFC11F}"/>
              </a:ext>
            </a:extLst>
          </p:cNvPr>
          <p:cNvSpPr>
            <a:spLocks noGrp="1"/>
          </p:cNvSpPr>
          <p:nvPr>
            <p:ph type="body" idx="1"/>
          </p:nvPr>
        </p:nvSpPr>
        <p:spPr/>
        <p:txBody>
          <a:bodyPr/>
          <a:lstStyle/>
          <a:p>
            <a:pPr algn="l"/>
            <a:r>
              <a:rPr lang="pt-BR" b="0" i="0" dirty="0">
                <a:solidFill>
                  <a:srgbClr val="374151"/>
                </a:solidFill>
                <a:effectLst/>
                <a:latin typeface="Söhne"/>
              </a:rPr>
              <a:t>No contexto de aprendizado de máquina, a generalização refere-se à capacidade de um modelo treinado em um conjunto de dados específico de realizar predições precisas e acuradas em dados que nunca foram vistos durante o processo de treinamento.</a:t>
            </a:r>
          </a:p>
          <a:p>
            <a:pPr algn="l"/>
            <a:r>
              <a:rPr lang="pt-BR" b="0" i="0" dirty="0">
                <a:solidFill>
                  <a:srgbClr val="374151"/>
                </a:solidFill>
                <a:effectLst/>
                <a:latin typeface="Söhne"/>
              </a:rPr>
              <a:t>Quando um modelo é treinado em um conjunto de dados, ele busca aprender padrões e regras que governam os relacionamentos entre as entradas e as saídas desse conjunto. A generalização ocorre quando o modelo consegue aplicar esse conhecimento aprendido para fazer predições em novos dados que não foram usados durante o treinamento. Em outras palavras, um modelo generalizado é capaz de "generalizar" o conhecimento adquirido com o conjunto de treinamento para realizar previsões precisas em situações desconhecidas.</a:t>
            </a:r>
          </a:p>
          <a:p>
            <a:pPr algn="l"/>
            <a:r>
              <a:rPr lang="pt-BR" b="0" i="0" dirty="0">
                <a:solidFill>
                  <a:srgbClr val="374151"/>
                </a:solidFill>
                <a:effectLst/>
                <a:latin typeface="Söhne"/>
              </a:rPr>
              <a:t>A generalização é um aspecto crítico do aprendizado de máquina, pois o objetivo é que o modelo seja capaz de lidar efetivamente com dados do mundo real, que podem ser diferentes ou conter variações em relação ao conjunto de treinamento. Um modelo que generaliza bem evita problemas de </a:t>
            </a:r>
            <a:r>
              <a:rPr lang="pt-BR" b="0" i="0" dirty="0" err="1">
                <a:solidFill>
                  <a:srgbClr val="374151"/>
                </a:solidFill>
                <a:effectLst/>
                <a:latin typeface="Söhne"/>
              </a:rPr>
              <a:t>superajuste</a:t>
            </a:r>
            <a:r>
              <a:rPr lang="pt-BR" b="0" i="0" dirty="0">
                <a:solidFill>
                  <a:srgbClr val="374151"/>
                </a:solidFill>
                <a:effectLst/>
                <a:latin typeface="Söhne"/>
              </a:rPr>
              <a:t> (</a:t>
            </a:r>
            <a:r>
              <a:rPr lang="pt-BR" b="0" i="0" dirty="0" err="1">
                <a:solidFill>
                  <a:srgbClr val="374151"/>
                </a:solidFill>
                <a:effectLst/>
                <a:latin typeface="Söhne"/>
              </a:rPr>
              <a:t>overfitting</a:t>
            </a:r>
            <a:r>
              <a:rPr lang="pt-BR" b="0" i="0" dirty="0">
                <a:solidFill>
                  <a:srgbClr val="374151"/>
                </a:solidFill>
                <a:effectLst/>
                <a:latin typeface="Söhne"/>
              </a:rPr>
              <a:t>), onde ele se torna muito específico para o conjunto de treinamento e tem um desempenho inferior em novos dados, ou problemas de </a:t>
            </a:r>
            <a:r>
              <a:rPr lang="pt-BR" b="0" i="0" dirty="0" err="1">
                <a:solidFill>
                  <a:srgbClr val="374151"/>
                </a:solidFill>
                <a:effectLst/>
                <a:latin typeface="Söhne"/>
              </a:rPr>
              <a:t>subajuste</a:t>
            </a:r>
            <a:r>
              <a:rPr lang="pt-BR" b="0" i="0" dirty="0">
                <a:solidFill>
                  <a:srgbClr val="374151"/>
                </a:solidFill>
                <a:effectLst/>
                <a:latin typeface="Söhne"/>
              </a:rPr>
              <a:t> (</a:t>
            </a:r>
            <a:r>
              <a:rPr lang="pt-BR" b="0" i="0" dirty="0" err="1">
                <a:solidFill>
                  <a:srgbClr val="374151"/>
                </a:solidFill>
                <a:effectLst/>
                <a:latin typeface="Söhne"/>
              </a:rPr>
              <a:t>underfitting</a:t>
            </a:r>
            <a:r>
              <a:rPr lang="pt-BR" b="0" i="0" dirty="0">
                <a:solidFill>
                  <a:srgbClr val="374151"/>
                </a:solidFill>
                <a:effectLst/>
                <a:latin typeface="Söhne"/>
              </a:rPr>
              <a:t>), onde ele não captura adequadamente os padrões do conjunto de treinamento e também não tem um desempenho satisfatório em novos dados.</a:t>
            </a:r>
          </a:p>
          <a:p>
            <a:endParaRPr lang="pt-BR" dirty="0"/>
          </a:p>
        </p:txBody>
      </p:sp>
      <p:sp>
        <p:nvSpPr>
          <p:cNvPr id="4" name="Espaço Reservado para Número de Slide 3">
            <a:extLst>
              <a:ext uri="{FF2B5EF4-FFF2-40B4-BE49-F238E27FC236}">
                <a16:creationId xmlns="" xmlns:a16="http://schemas.microsoft.com/office/drawing/2014/main" id="{6FF939DF-4841-2F83-5C41-AC1E6F21D4D6}"/>
              </a:ext>
            </a:extLst>
          </p:cNvPr>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288927282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88D75E03-1B87-8F46-CF92-0513A330E41D}"/>
            </a:ext>
          </a:extLst>
        </p:cNvPr>
        <p:cNvGrpSpPr/>
        <p:nvPr/>
      </p:nvGrpSpPr>
      <p:grpSpPr>
        <a:xfrm>
          <a:off x="0" y="0"/>
          <a:ext cx="0" cy="0"/>
          <a:chOff x="0" y="0"/>
          <a:chExt cx="0" cy="0"/>
        </a:xfrm>
      </p:grpSpPr>
      <p:sp>
        <p:nvSpPr>
          <p:cNvPr id="2" name="Espaço Reservado para Imagem de Slide 1">
            <a:extLst>
              <a:ext uri="{FF2B5EF4-FFF2-40B4-BE49-F238E27FC236}">
                <a16:creationId xmlns="" xmlns:a16="http://schemas.microsoft.com/office/drawing/2014/main" id="{C877F6BE-7812-35DB-2A73-86DE02D8CBED}"/>
              </a:ext>
            </a:extLst>
          </p:cNvPr>
          <p:cNvSpPr>
            <a:spLocks noGrp="1" noRot="1" noChangeAspect="1"/>
          </p:cNvSpPr>
          <p:nvPr>
            <p:ph type="sldImg"/>
          </p:nvPr>
        </p:nvSpPr>
        <p:spPr/>
      </p:sp>
      <p:sp>
        <p:nvSpPr>
          <p:cNvPr id="3" name="Espaço Reservado para Anotações 2">
            <a:extLst>
              <a:ext uri="{FF2B5EF4-FFF2-40B4-BE49-F238E27FC236}">
                <a16:creationId xmlns="" xmlns:a16="http://schemas.microsoft.com/office/drawing/2014/main" id="{727CFA46-860B-640C-A2AE-2615127599C8}"/>
              </a:ext>
            </a:extLst>
          </p:cNvPr>
          <p:cNvSpPr>
            <a:spLocks noGrp="1"/>
          </p:cNvSpPr>
          <p:nvPr>
            <p:ph type="body" idx="1"/>
          </p:nvPr>
        </p:nvSpPr>
        <p:spPr/>
        <p:txBody>
          <a:bodyPr/>
          <a:lstStyle/>
          <a:p>
            <a:pPr algn="l"/>
            <a:r>
              <a:rPr lang="pt-BR" b="0" i="0" dirty="0">
                <a:solidFill>
                  <a:srgbClr val="374151"/>
                </a:solidFill>
                <a:effectLst/>
                <a:latin typeface="Söhne"/>
              </a:rPr>
              <a:t>No contexto de aprendizado de máquina, a generalização refere-se à capacidade de um modelo treinado em um conjunto de dados específico de realizar predições precisas e acuradas em dados que nunca foram vistos durante o processo de treinamento.</a:t>
            </a:r>
          </a:p>
          <a:p>
            <a:pPr algn="l"/>
            <a:r>
              <a:rPr lang="pt-BR" b="0" i="0" dirty="0">
                <a:solidFill>
                  <a:srgbClr val="374151"/>
                </a:solidFill>
                <a:effectLst/>
                <a:latin typeface="Söhne"/>
              </a:rPr>
              <a:t>Quando um modelo é treinado em um conjunto de dados, ele busca aprender padrões e regras que governam os relacionamentos entre as entradas e as saídas desse conjunto. A generalização ocorre quando o modelo consegue aplicar esse conhecimento aprendido para fazer predições em novos dados que não foram usados durante o treinamento. Em outras palavras, um modelo generalizado é capaz de "generalizar" o conhecimento adquirido com o conjunto de treinamento para realizar previsões precisas em situações desconhecidas.</a:t>
            </a:r>
          </a:p>
          <a:p>
            <a:pPr algn="l"/>
            <a:r>
              <a:rPr lang="pt-BR" b="0" i="0" dirty="0">
                <a:solidFill>
                  <a:srgbClr val="374151"/>
                </a:solidFill>
                <a:effectLst/>
                <a:latin typeface="Söhne"/>
              </a:rPr>
              <a:t>A generalização é um aspecto crítico do aprendizado de máquina, pois o objetivo é que o modelo seja capaz de lidar efetivamente com dados do mundo real, que podem ser diferentes ou conter variações em relação ao conjunto de treinamento. Um modelo que generaliza bem evita problemas de </a:t>
            </a:r>
            <a:r>
              <a:rPr lang="pt-BR" b="0" i="0" dirty="0" err="1">
                <a:solidFill>
                  <a:srgbClr val="374151"/>
                </a:solidFill>
                <a:effectLst/>
                <a:latin typeface="Söhne"/>
              </a:rPr>
              <a:t>superajuste</a:t>
            </a:r>
            <a:r>
              <a:rPr lang="pt-BR" b="0" i="0" dirty="0">
                <a:solidFill>
                  <a:srgbClr val="374151"/>
                </a:solidFill>
                <a:effectLst/>
                <a:latin typeface="Söhne"/>
              </a:rPr>
              <a:t> (</a:t>
            </a:r>
            <a:r>
              <a:rPr lang="pt-BR" b="0" i="0" dirty="0" err="1">
                <a:solidFill>
                  <a:srgbClr val="374151"/>
                </a:solidFill>
                <a:effectLst/>
                <a:latin typeface="Söhne"/>
              </a:rPr>
              <a:t>overfitting</a:t>
            </a:r>
            <a:r>
              <a:rPr lang="pt-BR" b="0" i="0" dirty="0">
                <a:solidFill>
                  <a:srgbClr val="374151"/>
                </a:solidFill>
                <a:effectLst/>
                <a:latin typeface="Söhne"/>
              </a:rPr>
              <a:t>), onde ele se torna muito específico para o conjunto de treinamento e tem um desempenho inferior em novos dados, ou problemas de </a:t>
            </a:r>
            <a:r>
              <a:rPr lang="pt-BR" b="0" i="0" dirty="0" err="1">
                <a:solidFill>
                  <a:srgbClr val="374151"/>
                </a:solidFill>
                <a:effectLst/>
                <a:latin typeface="Söhne"/>
              </a:rPr>
              <a:t>subajuste</a:t>
            </a:r>
            <a:r>
              <a:rPr lang="pt-BR" b="0" i="0" dirty="0">
                <a:solidFill>
                  <a:srgbClr val="374151"/>
                </a:solidFill>
                <a:effectLst/>
                <a:latin typeface="Söhne"/>
              </a:rPr>
              <a:t> (</a:t>
            </a:r>
            <a:r>
              <a:rPr lang="pt-BR" b="0" i="0" dirty="0" err="1">
                <a:solidFill>
                  <a:srgbClr val="374151"/>
                </a:solidFill>
                <a:effectLst/>
                <a:latin typeface="Söhne"/>
              </a:rPr>
              <a:t>underfitting</a:t>
            </a:r>
            <a:r>
              <a:rPr lang="pt-BR" b="0" i="0" dirty="0">
                <a:solidFill>
                  <a:srgbClr val="374151"/>
                </a:solidFill>
                <a:effectLst/>
                <a:latin typeface="Söhne"/>
              </a:rPr>
              <a:t>), onde ele não captura adequadamente os padrões do conjunto de treinamento e também não tem um desempenho satisfatório em novos dados.</a:t>
            </a:r>
          </a:p>
          <a:p>
            <a:endParaRPr lang="pt-BR" dirty="0"/>
          </a:p>
        </p:txBody>
      </p:sp>
      <p:sp>
        <p:nvSpPr>
          <p:cNvPr id="4" name="Espaço Reservado para Número de Slide 3">
            <a:extLst>
              <a:ext uri="{FF2B5EF4-FFF2-40B4-BE49-F238E27FC236}">
                <a16:creationId xmlns="" xmlns:a16="http://schemas.microsoft.com/office/drawing/2014/main" id="{779F760A-4758-3E08-F1FB-5890B36E22AD}"/>
              </a:ext>
            </a:extLst>
          </p:cNvPr>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229245213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No contexto de aprendizado de máquina, a generalização refere-se à capacidade de um modelo treinado em um conjunto de dados específico de realizar predições precisas e acuradas em dados que nunca foram vistos durante o processo de treinamento.</a:t>
            </a:r>
          </a:p>
          <a:p>
            <a:pPr algn="l"/>
            <a:r>
              <a:rPr lang="pt-BR" b="0" i="0" dirty="0">
                <a:solidFill>
                  <a:srgbClr val="374151"/>
                </a:solidFill>
                <a:effectLst/>
                <a:latin typeface="Söhne"/>
              </a:rPr>
              <a:t>Quando um modelo é treinado em um conjunto de dados, ele busca aprender padrões e regras que governam os relacionamentos entre as entradas e as saídas desse conjunto. A generalização ocorre quando o modelo consegue aplicar esse conhecimento aprendido para fazer predições em novos dados que não foram usados durante o treinamento. Em outras palavras, um modelo generalizado é capaz de "generalizar" o conhecimento adquirido com o conjunto de treinamento para realizar previsões precisas em situações desconhecidas.</a:t>
            </a:r>
          </a:p>
          <a:p>
            <a:pPr algn="l"/>
            <a:r>
              <a:rPr lang="pt-BR" b="0" i="0" dirty="0">
                <a:solidFill>
                  <a:srgbClr val="374151"/>
                </a:solidFill>
                <a:effectLst/>
                <a:latin typeface="Söhne"/>
              </a:rPr>
              <a:t>A generalização é um aspecto crítico do aprendizado de máquina, pois o objetivo é que o modelo seja capaz de lidar efetivamente com dados do mundo real, que podem ser diferentes ou conter variações em relação ao conjunto de treinamento. Um modelo que generaliza bem evita problemas de </a:t>
            </a:r>
            <a:r>
              <a:rPr lang="pt-BR" b="0" i="0" dirty="0" err="1">
                <a:solidFill>
                  <a:srgbClr val="374151"/>
                </a:solidFill>
                <a:effectLst/>
                <a:latin typeface="Söhne"/>
              </a:rPr>
              <a:t>superajuste</a:t>
            </a:r>
            <a:r>
              <a:rPr lang="pt-BR" b="0" i="0" dirty="0">
                <a:solidFill>
                  <a:srgbClr val="374151"/>
                </a:solidFill>
                <a:effectLst/>
                <a:latin typeface="Söhne"/>
              </a:rPr>
              <a:t> (</a:t>
            </a:r>
            <a:r>
              <a:rPr lang="pt-BR" b="0" i="0" dirty="0" err="1">
                <a:solidFill>
                  <a:srgbClr val="374151"/>
                </a:solidFill>
                <a:effectLst/>
                <a:latin typeface="Söhne"/>
              </a:rPr>
              <a:t>overfitting</a:t>
            </a:r>
            <a:r>
              <a:rPr lang="pt-BR" b="0" i="0" dirty="0">
                <a:solidFill>
                  <a:srgbClr val="374151"/>
                </a:solidFill>
                <a:effectLst/>
                <a:latin typeface="Söhne"/>
              </a:rPr>
              <a:t>), onde ele se torna muito específico para o conjunto de treinamento e tem um desempenho inferior em novos dados, ou problemas de </a:t>
            </a:r>
            <a:r>
              <a:rPr lang="pt-BR" b="0" i="0" dirty="0" err="1">
                <a:solidFill>
                  <a:srgbClr val="374151"/>
                </a:solidFill>
                <a:effectLst/>
                <a:latin typeface="Söhne"/>
              </a:rPr>
              <a:t>subajuste</a:t>
            </a:r>
            <a:r>
              <a:rPr lang="pt-BR" b="0" i="0" dirty="0">
                <a:solidFill>
                  <a:srgbClr val="374151"/>
                </a:solidFill>
                <a:effectLst/>
                <a:latin typeface="Söhne"/>
              </a:rPr>
              <a:t> (</a:t>
            </a:r>
            <a:r>
              <a:rPr lang="pt-BR" b="0" i="0" dirty="0" err="1">
                <a:solidFill>
                  <a:srgbClr val="374151"/>
                </a:solidFill>
                <a:effectLst/>
                <a:latin typeface="Söhne"/>
              </a:rPr>
              <a:t>underfitting</a:t>
            </a:r>
            <a:r>
              <a:rPr lang="pt-BR" b="0" i="0" dirty="0">
                <a:solidFill>
                  <a:srgbClr val="374151"/>
                </a:solidFill>
                <a:effectLst/>
                <a:latin typeface="Söhne"/>
              </a:rPr>
              <a:t>), onde ele não captura adequadamente os padrões do conjunto de treinamento e também não tem um desempenho satisfatório em novos dados.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182963238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17</a:t>
            </a:fld>
            <a:endParaRPr lang="pt-BR"/>
          </a:p>
        </p:txBody>
      </p:sp>
    </p:spTree>
    <p:extLst>
      <p:ext uri="{BB962C8B-B14F-4D97-AF65-F5344CB8AC3E}">
        <p14:creationId xmlns:p14="http://schemas.microsoft.com/office/powerpoint/2010/main" val="223771633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t>
            </a:r>
          </a:p>
          <a:p>
            <a:r>
              <a:rPr lang="pt-BR" dirty="0"/>
              <a:t>Pergunta: </a:t>
            </a:r>
            <a:r>
              <a:rPr lang="pt-BR" b="1" dirty="0"/>
              <a:t>“Em qual classe isso pertence?”</a:t>
            </a:r>
            <a:endParaRPr lang="pt-BR" dirty="0"/>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18</a:t>
            </a:fld>
            <a:endParaRPr lang="pt-BR"/>
          </a:p>
        </p:txBody>
      </p:sp>
    </p:spTree>
    <p:extLst>
      <p:ext uri="{BB962C8B-B14F-4D97-AF65-F5344CB8AC3E}">
        <p14:creationId xmlns:p14="http://schemas.microsoft.com/office/powerpoint/2010/main" val="278447583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19</a:t>
            </a:fld>
            <a:endParaRPr lang="pt-BR"/>
          </a:p>
        </p:txBody>
      </p:sp>
    </p:spTree>
    <p:extLst>
      <p:ext uri="{BB962C8B-B14F-4D97-AF65-F5344CB8AC3E}">
        <p14:creationId xmlns:p14="http://schemas.microsoft.com/office/powerpoint/2010/main" val="20414515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rtl="0"/>
            <a:r>
              <a:rPr lang="pt-BR" sz="1200" b="1" kern="1200" dirty="0">
                <a:solidFill>
                  <a:schemeClr val="tx1"/>
                </a:solidFill>
                <a:effectLst/>
                <a:latin typeface="+mn-lt"/>
                <a:ea typeface="+mn-ea"/>
                <a:cs typeface="+mn-cs"/>
              </a:rPr>
              <a:t>1. O Conceito de Rótulos (</a:t>
            </a:r>
            <a:r>
              <a:rPr lang="pt-BR" sz="1200" b="1" kern="1200" dirty="0" err="1">
                <a:solidFill>
                  <a:schemeClr val="tx1"/>
                </a:solidFill>
                <a:effectLst/>
                <a:latin typeface="+mn-lt"/>
                <a:ea typeface="+mn-ea"/>
                <a:cs typeface="+mn-cs"/>
              </a:rPr>
              <a:t>Labels</a:t>
            </a:r>
            <a:r>
              <a:rPr lang="pt-BR" sz="1200" b="1" kern="1200" dirty="0">
                <a:solidFill>
                  <a:schemeClr val="tx1"/>
                </a:solidFill>
                <a:effectLst/>
                <a:latin typeface="+mn-lt"/>
                <a:ea typeface="+mn-ea"/>
                <a:cs typeface="+mn-cs"/>
              </a:rPr>
              <a:t>)</a:t>
            </a:r>
          </a:p>
          <a:p>
            <a:pPr rtl="0"/>
            <a:r>
              <a:rPr lang="pt-BR" sz="1200" kern="1200" dirty="0">
                <a:solidFill>
                  <a:schemeClr val="tx1"/>
                </a:solidFill>
                <a:effectLst/>
                <a:latin typeface="+mn-lt"/>
                <a:ea typeface="+mn-ea"/>
                <a:cs typeface="+mn-cs"/>
              </a:rPr>
              <a:t>No aprendizado supervisionado, ensinamos o modelo através de exemplos rotulados. No caso do quadrinho:</a:t>
            </a:r>
          </a:p>
          <a:p>
            <a:pPr rtl="0"/>
            <a:r>
              <a:rPr lang="pt-BR" sz="1200" b="1" kern="1200" dirty="0">
                <a:solidFill>
                  <a:schemeClr val="tx1"/>
                </a:solidFill>
                <a:effectLst/>
                <a:latin typeface="+mn-lt"/>
                <a:ea typeface="+mn-ea"/>
                <a:cs typeface="+mn-cs"/>
              </a:rPr>
              <a:t>Dado de entrada:</a:t>
            </a:r>
            <a:r>
              <a:rPr lang="pt-BR" sz="1200" kern="1200" dirty="0">
                <a:solidFill>
                  <a:schemeClr val="tx1"/>
                </a:solidFill>
                <a:effectLst/>
                <a:latin typeface="+mn-lt"/>
                <a:ea typeface="+mn-ea"/>
                <a:cs typeface="+mn-cs"/>
              </a:rPr>
              <a:t> O pai do bebê (provavelmente em uma posição específica, como consertando algo).</a:t>
            </a:r>
          </a:p>
          <a:p>
            <a:pPr rtl="0"/>
            <a:r>
              <a:rPr lang="pt-BR" sz="1200" kern="1200" dirty="0">
                <a:solidFill>
                  <a:schemeClr val="tx1"/>
                </a:solidFill>
                <a:effectLst/>
                <a:latin typeface="+mn-lt"/>
                <a:ea typeface="+mn-ea"/>
                <a:cs typeface="+mn-cs"/>
              </a:rPr>
              <a:t>Rótulo (</a:t>
            </a:r>
            <a:r>
              <a:rPr lang="pt-BR" sz="1200" kern="1200" dirty="0" err="1">
                <a:solidFill>
                  <a:schemeClr val="tx1"/>
                </a:solidFill>
                <a:effectLst/>
                <a:latin typeface="+mn-lt"/>
                <a:ea typeface="+mn-ea"/>
                <a:cs typeface="+mn-cs"/>
              </a:rPr>
              <a:t>Label</a:t>
            </a:r>
            <a:r>
              <a:rPr lang="pt-BR" sz="1200" kern="1200" dirty="0">
                <a:solidFill>
                  <a:schemeClr val="tx1"/>
                </a:solidFill>
                <a:effectLst/>
                <a:latin typeface="+mn-lt"/>
                <a:ea typeface="+mn-ea"/>
                <a:cs typeface="+mn-cs"/>
              </a:rPr>
              <a:t>): "Papai" (Daddy).</a:t>
            </a:r>
          </a:p>
          <a:p>
            <a:pPr rtl="0"/>
            <a:r>
              <a:rPr lang="pt-BR" sz="1200" kern="1200" dirty="0">
                <a:solidFill>
                  <a:schemeClr val="tx1"/>
                </a:solidFill>
                <a:effectLst/>
                <a:latin typeface="+mn-lt"/>
                <a:ea typeface="+mn-ea"/>
                <a:cs typeface="+mn-cs"/>
              </a:rPr>
              <a:t>O bebê aprendeu que aquele padrão visual específico — dois círculos e uma fenda — corresponde ao rótulo "Papai".</a:t>
            </a:r>
          </a:p>
          <a:p>
            <a:pPr rtl="0"/>
            <a:r>
              <a:rPr lang="pt-BR" sz="1200" b="1" kern="1200" dirty="0">
                <a:solidFill>
                  <a:schemeClr val="tx1"/>
                </a:solidFill>
                <a:effectLst/>
                <a:latin typeface="+mn-lt"/>
                <a:ea typeface="+mn-ea"/>
                <a:cs typeface="+mn-cs"/>
              </a:rPr>
              <a:t>2. O Problema do </a:t>
            </a:r>
            <a:r>
              <a:rPr lang="pt-BR" sz="1200" b="1" kern="1200" dirty="0" err="1">
                <a:solidFill>
                  <a:schemeClr val="tx1"/>
                </a:solidFill>
                <a:effectLst/>
                <a:latin typeface="+mn-lt"/>
                <a:ea typeface="+mn-ea"/>
                <a:cs typeface="+mn-cs"/>
              </a:rPr>
              <a:t>Overfitting</a:t>
            </a:r>
            <a:r>
              <a:rPr lang="pt-BR" sz="1200" b="1" kern="1200" dirty="0">
                <a:solidFill>
                  <a:schemeClr val="tx1"/>
                </a:solidFill>
                <a:effectLst/>
                <a:latin typeface="+mn-lt"/>
                <a:ea typeface="+mn-ea"/>
                <a:cs typeface="+mn-cs"/>
              </a:rPr>
              <a:t> (Sobreajuste)</a:t>
            </a:r>
          </a:p>
          <a:p>
            <a:pPr rtl="0"/>
            <a:r>
              <a:rPr lang="pt-BR" sz="1200" kern="1200" dirty="0">
                <a:solidFill>
                  <a:schemeClr val="tx1"/>
                </a:solidFill>
                <a:effectLst/>
                <a:latin typeface="+mn-lt"/>
                <a:ea typeface="+mn-ea"/>
                <a:cs typeface="+mn-cs"/>
              </a:rPr>
              <a:t>O </a:t>
            </a:r>
            <a:r>
              <a:rPr lang="pt-BR" sz="1200" b="1" kern="1200" dirty="0" err="1">
                <a:solidFill>
                  <a:schemeClr val="tx1"/>
                </a:solidFill>
                <a:effectLst/>
                <a:latin typeface="+mn-lt"/>
                <a:ea typeface="+mn-ea"/>
                <a:cs typeface="+mn-cs"/>
              </a:rPr>
              <a:t>overfitting</a:t>
            </a:r>
            <a:r>
              <a:rPr lang="pt-BR" sz="1200" kern="1200" dirty="0">
                <a:solidFill>
                  <a:schemeClr val="tx1"/>
                </a:solidFill>
                <a:effectLst/>
                <a:latin typeface="+mn-lt"/>
                <a:ea typeface="+mn-ea"/>
                <a:cs typeface="+mn-cs"/>
              </a:rPr>
              <a:t> ocorre quando o modelo "decora" características muito específicas dos dados de treinamento em vez de aprender o conceito amplo.</a:t>
            </a:r>
          </a:p>
          <a:p>
            <a:pPr rtl="0"/>
            <a:r>
              <a:rPr lang="pt-BR" sz="1200" kern="1200" dirty="0">
                <a:solidFill>
                  <a:schemeClr val="tx1"/>
                </a:solidFill>
                <a:effectLst/>
                <a:latin typeface="+mn-lt"/>
                <a:ea typeface="+mn-ea"/>
                <a:cs typeface="+mn-cs"/>
              </a:rPr>
              <a:t>O bebê não aprendeu o conceito complexo de "pai" (um ser humano, rosto, voz, afeto).</a:t>
            </a:r>
          </a:p>
          <a:p>
            <a:pPr rtl="0"/>
            <a:r>
              <a:rPr lang="pt-BR" sz="1200" kern="1200" dirty="0">
                <a:solidFill>
                  <a:schemeClr val="tx1"/>
                </a:solidFill>
                <a:effectLst/>
                <a:latin typeface="+mn-lt"/>
                <a:ea typeface="+mn-ea"/>
                <a:cs typeface="+mn-cs"/>
              </a:rPr>
              <a:t>Ele aprendeu uma </a:t>
            </a:r>
            <a:r>
              <a:rPr lang="pt-BR" sz="1200" b="1" kern="1200" dirty="0" err="1">
                <a:solidFill>
                  <a:schemeClr val="tx1"/>
                </a:solidFill>
                <a:effectLst/>
                <a:latin typeface="+mn-lt"/>
                <a:ea typeface="+mn-ea"/>
                <a:cs typeface="+mn-cs"/>
              </a:rPr>
              <a:t>feature</a:t>
            </a:r>
            <a:r>
              <a:rPr lang="pt-BR" sz="1200" kern="1200" dirty="0">
                <a:solidFill>
                  <a:schemeClr val="tx1"/>
                </a:solidFill>
                <a:effectLst/>
                <a:latin typeface="+mn-lt"/>
                <a:ea typeface="+mn-ea"/>
                <a:cs typeface="+mn-cs"/>
              </a:rPr>
              <a:t> (característica) extremamente simplista e específica. Como resultado, qualquer coisa no "mundo real" que apresente essa característica geométrica é classificada incorretamente como "Papai".</a:t>
            </a:r>
          </a:p>
          <a:p>
            <a:pPr rtl="0"/>
            <a:r>
              <a:rPr lang="pt-BR" sz="1200" b="1" kern="1200" dirty="0">
                <a:solidFill>
                  <a:schemeClr val="tx1"/>
                </a:solidFill>
                <a:effectLst/>
                <a:latin typeface="+mn-lt"/>
                <a:ea typeface="+mn-ea"/>
                <a:cs typeface="+mn-cs"/>
              </a:rPr>
              <a:t>3. Falha na Generalização</a:t>
            </a:r>
          </a:p>
          <a:p>
            <a:pPr rtl="0"/>
            <a:r>
              <a:rPr lang="pt-BR" sz="1200" kern="1200" dirty="0">
                <a:solidFill>
                  <a:schemeClr val="tx1"/>
                </a:solidFill>
                <a:effectLst/>
                <a:latin typeface="+mn-lt"/>
                <a:ea typeface="+mn-ea"/>
                <a:cs typeface="+mn-cs"/>
              </a:rPr>
              <a:t>Um bom modelo supervisionado deve ser capaz de </a:t>
            </a:r>
            <a:r>
              <a:rPr lang="pt-BR" sz="1200" b="1" kern="1200" dirty="0">
                <a:solidFill>
                  <a:schemeClr val="tx1"/>
                </a:solidFill>
                <a:effectLst/>
                <a:latin typeface="+mn-lt"/>
                <a:ea typeface="+mn-ea"/>
                <a:cs typeface="+mn-cs"/>
              </a:rPr>
              <a:t>generalizar</a:t>
            </a:r>
            <a:r>
              <a:rPr lang="pt-BR" sz="1200" kern="1200" dirty="0">
                <a:solidFill>
                  <a:schemeClr val="tx1"/>
                </a:solidFill>
                <a:effectLst/>
                <a:latin typeface="+mn-lt"/>
                <a:ea typeface="+mn-ea"/>
                <a:cs typeface="+mn-cs"/>
              </a:rPr>
              <a:t>: reconhecer um pai mesmo que ele esteja de pé, de chapéu ou em uma foto diferente.</a:t>
            </a:r>
          </a:p>
          <a:p>
            <a:pPr rtl="0"/>
            <a:r>
              <a:rPr lang="pt-BR" sz="1200" kern="1200" dirty="0">
                <a:solidFill>
                  <a:schemeClr val="tx1"/>
                </a:solidFill>
                <a:effectLst/>
                <a:latin typeface="+mn-lt"/>
                <a:ea typeface="+mn-ea"/>
                <a:cs typeface="+mn-cs"/>
              </a:rPr>
              <a:t>Na imagem, vemos o oposto: o modelo tem um </a:t>
            </a:r>
            <a:r>
              <a:rPr lang="pt-BR" sz="1200" b="1" kern="1200" dirty="0">
                <a:solidFill>
                  <a:schemeClr val="tx1"/>
                </a:solidFill>
                <a:effectLst/>
                <a:latin typeface="+mn-lt"/>
                <a:ea typeface="+mn-ea"/>
                <a:cs typeface="+mn-cs"/>
              </a:rPr>
              <a:t>viés (bias)</a:t>
            </a:r>
            <a:r>
              <a:rPr lang="pt-BR" sz="1200" kern="1200" dirty="0">
                <a:solidFill>
                  <a:schemeClr val="tx1"/>
                </a:solidFill>
                <a:effectLst/>
                <a:latin typeface="+mn-lt"/>
                <a:ea typeface="+mn-ea"/>
                <a:cs typeface="+mn-cs"/>
              </a:rPr>
              <a:t> em relação a um padrão geométrico.</a:t>
            </a:r>
          </a:p>
          <a:p>
            <a:pPr rtl="0"/>
            <a:r>
              <a:rPr lang="pt-BR" sz="1200" kern="1200" dirty="0">
                <a:solidFill>
                  <a:schemeClr val="tx1"/>
                </a:solidFill>
                <a:effectLst/>
                <a:latin typeface="+mn-lt"/>
                <a:ea typeface="+mn-ea"/>
                <a:cs typeface="+mn-cs"/>
              </a:rPr>
              <a:t>Para o algoritmo (o bebê), pêssegos, balões e o decote da garçonete possuem as mesmas "coordenadas de pixels" que definiram o treinamento inicial, levando a um erro de classificação (Falso Positivo).</a:t>
            </a:r>
          </a:p>
          <a:p>
            <a:pPr rtl="0"/>
            <a:r>
              <a:rPr lang="pt-BR" sz="1200" b="1" kern="1200" dirty="0">
                <a:solidFill>
                  <a:schemeClr val="tx1"/>
                </a:solidFill>
                <a:effectLst/>
                <a:latin typeface="+mn-lt"/>
                <a:ea typeface="+mn-ea"/>
                <a:cs typeface="+mn-cs"/>
              </a:rPr>
              <a:t>4. A Importância da Diversidade nos Dados</a:t>
            </a:r>
          </a:p>
          <a:p>
            <a:pPr rtl="0"/>
            <a:r>
              <a:rPr lang="pt-BR" sz="1200" kern="1200" dirty="0">
                <a:solidFill>
                  <a:schemeClr val="tx1"/>
                </a:solidFill>
                <a:effectLst/>
                <a:latin typeface="+mn-lt"/>
                <a:ea typeface="+mn-ea"/>
                <a:cs typeface="+mn-cs"/>
              </a:rPr>
              <a:t>O quadrinho mostra o que acontece quando o </a:t>
            </a:r>
            <a:r>
              <a:rPr lang="pt-BR" sz="1200" b="1" kern="1200" dirty="0">
                <a:solidFill>
                  <a:schemeClr val="tx1"/>
                </a:solidFill>
                <a:effectLst/>
                <a:latin typeface="+mn-lt"/>
                <a:ea typeface="+mn-ea"/>
                <a:cs typeface="+mn-cs"/>
              </a:rPr>
              <a:t>conjunto de dados de treinamento (</a:t>
            </a:r>
            <a:r>
              <a:rPr lang="pt-BR" sz="1200" b="1" kern="1200" dirty="0" err="1">
                <a:solidFill>
                  <a:schemeClr val="tx1"/>
                </a:solidFill>
                <a:effectLst/>
                <a:latin typeface="+mn-lt"/>
                <a:ea typeface="+mn-ea"/>
                <a:cs typeface="+mn-cs"/>
              </a:rPr>
              <a:t>dataset</a:t>
            </a:r>
            <a:r>
              <a:rPr lang="pt-BR" sz="1200" b="1" kern="1200" dirty="0">
                <a:solidFill>
                  <a:schemeClr val="tx1"/>
                </a:solidFill>
                <a:effectLst/>
                <a:latin typeface="+mn-lt"/>
                <a:ea typeface="+mn-ea"/>
                <a:cs typeface="+mn-cs"/>
              </a:rPr>
              <a:t>)</a:t>
            </a:r>
            <a:r>
              <a:rPr lang="pt-BR" sz="1200" kern="1200" dirty="0">
                <a:solidFill>
                  <a:schemeClr val="tx1"/>
                </a:solidFill>
                <a:effectLst/>
                <a:latin typeface="+mn-lt"/>
                <a:ea typeface="+mn-ea"/>
                <a:cs typeface="+mn-cs"/>
              </a:rPr>
              <a:t> é pobre ou viciado:</a:t>
            </a:r>
          </a:p>
          <a:p>
            <a:pPr rtl="0"/>
            <a:r>
              <a:rPr lang="pt-BR" sz="1200" kern="1200" dirty="0">
                <a:solidFill>
                  <a:schemeClr val="tx1"/>
                </a:solidFill>
                <a:effectLst/>
                <a:latin typeface="+mn-lt"/>
                <a:ea typeface="+mn-ea"/>
                <a:cs typeface="+mn-cs"/>
              </a:rPr>
              <a:t>Se o bebê tivesse sido exposto a milhares de fotos do pai em diferentes ângulos, roupas e contextos, ele teria entendido que a "fenda" não é a característica determinante do rótulo "Papai".</a:t>
            </a:r>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256859064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91903120-0E81-9103-4A0B-BE81B8FD0CF0}"/>
            </a:ext>
          </a:extLst>
        </p:cNvPr>
        <p:cNvGrpSpPr/>
        <p:nvPr/>
      </p:nvGrpSpPr>
      <p:grpSpPr>
        <a:xfrm>
          <a:off x="0" y="0"/>
          <a:ext cx="0" cy="0"/>
          <a:chOff x="0" y="0"/>
          <a:chExt cx="0" cy="0"/>
        </a:xfrm>
      </p:grpSpPr>
      <p:sp>
        <p:nvSpPr>
          <p:cNvPr id="2" name="Espaço Reservado para Imagem de Slide 1">
            <a:extLst>
              <a:ext uri="{FF2B5EF4-FFF2-40B4-BE49-F238E27FC236}">
                <a16:creationId xmlns="" xmlns:a16="http://schemas.microsoft.com/office/drawing/2014/main" id="{75FE7B2B-D007-1D11-5414-85AD69B3A497}"/>
              </a:ext>
            </a:extLst>
          </p:cNvPr>
          <p:cNvSpPr>
            <a:spLocks noGrp="1" noRot="1" noChangeAspect="1"/>
          </p:cNvSpPr>
          <p:nvPr>
            <p:ph type="sldImg"/>
          </p:nvPr>
        </p:nvSpPr>
        <p:spPr/>
      </p:sp>
      <p:sp>
        <p:nvSpPr>
          <p:cNvPr id="3" name="Espaço Reservado para Anotações 2">
            <a:extLst>
              <a:ext uri="{FF2B5EF4-FFF2-40B4-BE49-F238E27FC236}">
                <a16:creationId xmlns="" xmlns:a16="http://schemas.microsoft.com/office/drawing/2014/main" id="{6C900594-BD46-6486-881E-2A1BE3C222A0}"/>
              </a:ext>
            </a:extLst>
          </p:cNvPr>
          <p:cNvSpPr>
            <a:spLocks noGrp="1"/>
          </p:cNvSpPr>
          <p:nvPr>
            <p:ph type="body" idx="1"/>
          </p:nvPr>
        </p:nvSpPr>
        <p:spPr/>
        <p:txBody>
          <a:bodyPr/>
          <a:lstStyle/>
          <a:p>
            <a:pPr rtl="0"/>
            <a:r>
              <a:rPr lang="pt-BR" sz="1200" b="1" kern="1200" dirty="0">
                <a:solidFill>
                  <a:schemeClr val="tx1"/>
                </a:solidFill>
                <a:effectLst/>
                <a:latin typeface="+mn-lt"/>
                <a:ea typeface="+mn-ea"/>
                <a:cs typeface="+mn-cs"/>
              </a:rPr>
              <a:t>1. O Conceito de Rótulos (</a:t>
            </a:r>
            <a:r>
              <a:rPr lang="pt-BR" sz="1200" b="1" kern="1200" dirty="0" err="1">
                <a:solidFill>
                  <a:schemeClr val="tx1"/>
                </a:solidFill>
                <a:effectLst/>
                <a:latin typeface="+mn-lt"/>
                <a:ea typeface="+mn-ea"/>
                <a:cs typeface="+mn-cs"/>
              </a:rPr>
              <a:t>Labels</a:t>
            </a:r>
            <a:r>
              <a:rPr lang="pt-BR" sz="1200" b="1" kern="1200" dirty="0">
                <a:solidFill>
                  <a:schemeClr val="tx1"/>
                </a:solidFill>
                <a:effectLst/>
                <a:latin typeface="+mn-lt"/>
                <a:ea typeface="+mn-ea"/>
                <a:cs typeface="+mn-cs"/>
              </a:rPr>
              <a:t>)</a:t>
            </a:r>
          </a:p>
          <a:p>
            <a:pPr rtl="0"/>
            <a:r>
              <a:rPr lang="pt-BR" sz="1200" kern="1200" dirty="0">
                <a:solidFill>
                  <a:schemeClr val="tx1"/>
                </a:solidFill>
                <a:effectLst/>
                <a:latin typeface="+mn-lt"/>
                <a:ea typeface="+mn-ea"/>
                <a:cs typeface="+mn-cs"/>
              </a:rPr>
              <a:t>No aprendizado supervisionado, ensinamos o modelo através de exemplos rotulados. No caso do quadrinho:</a:t>
            </a:r>
          </a:p>
          <a:p>
            <a:pPr rtl="0"/>
            <a:r>
              <a:rPr lang="pt-BR" sz="1200" b="1" kern="1200" dirty="0">
                <a:solidFill>
                  <a:schemeClr val="tx1"/>
                </a:solidFill>
                <a:effectLst/>
                <a:latin typeface="+mn-lt"/>
                <a:ea typeface="+mn-ea"/>
                <a:cs typeface="+mn-cs"/>
              </a:rPr>
              <a:t>Dado de entrada:</a:t>
            </a:r>
            <a:r>
              <a:rPr lang="pt-BR" sz="1200" kern="1200" dirty="0">
                <a:solidFill>
                  <a:schemeClr val="tx1"/>
                </a:solidFill>
                <a:effectLst/>
                <a:latin typeface="+mn-lt"/>
                <a:ea typeface="+mn-ea"/>
                <a:cs typeface="+mn-cs"/>
              </a:rPr>
              <a:t> O pai do bebê (provavelmente em uma posição específica, como consertando algo).</a:t>
            </a:r>
          </a:p>
          <a:p>
            <a:pPr rtl="0"/>
            <a:r>
              <a:rPr lang="pt-BR" sz="1200" kern="1200" dirty="0">
                <a:solidFill>
                  <a:schemeClr val="tx1"/>
                </a:solidFill>
                <a:effectLst/>
                <a:latin typeface="+mn-lt"/>
                <a:ea typeface="+mn-ea"/>
                <a:cs typeface="+mn-cs"/>
              </a:rPr>
              <a:t>Rótulo (</a:t>
            </a:r>
            <a:r>
              <a:rPr lang="pt-BR" sz="1200" kern="1200" dirty="0" err="1">
                <a:solidFill>
                  <a:schemeClr val="tx1"/>
                </a:solidFill>
                <a:effectLst/>
                <a:latin typeface="+mn-lt"/>
                <a:ea typeface="+mn-ea"/>
                <a:cs typeface="+mn-cs"/>
              </a:rPr>
              <a:t>Label</a:t>
            </a:r>
            <a:r>
              <a:rPr lang="pt-BR" sz="1200" kern="1200" dirty="0">
                <a:solidFill>
                  <a:schemeClr val="tx1"/>
                </a:solidFill>
                <a:effectLst/>
                <a:latin typeface="+mn-lt"/>
                <a:ea typeface="+mn-ea"/>
                <a:cs typeface="+mn-cs"/>
              </a:rPr>
              <a:t>): "Papai" (Daddy).</a:t>
            </a:r>
          </a:p>
          <a:p>
            <a:pPr rtl="0"/>
            <a:r>
              <a:rPr lang="pt-BR" sz="1200" kern="1200" dirty="0">
                <a:solidFill>
                  <a:schemeClr val="tx1"/>
                </a:solidFill>
                <a:effectLst/>
                <a:latin typeface="+mn-lt"/>
                <a:ea typeface="+mn-ea"/>
                <a:cs typeface="+mn-cs"/>
              </a:rPr>
              <a:t>O bebê aprendeu que aquele padrão visual específico — dois círculos e uma fenda — corresponde ao rótulo "Papai".</a:t>
            </a:r>
          </a:p>
          <a:p>
            <a:pPr rtl="0"/>
            <a:r>
              <a:rPr lang="pt-BR" sz="1200" b="1" kern="1200" dirty="0">
                <a:solidFill>
                  <a:schemeClr val="tx1"/>
                </a:solidFill>
                <a:effectLst/>
                <a:latin typeface="+mn-lt"/>
                <a:ea typeface="+mn-ea"/>
                <a:cs typeface="+mn-cs"/>
              </a:rPr>
              <a:t>2. O Problema do </a:t>
            </a:r>
            <a:r>
              <a:rPr lang="pt-BR" sz="1200" b="1" kern="1200" dirty="0" err="1">
                <a:solidFill>
                  <a:schemeClr val="tx1"/>
                </a:solidFill>
                <a:effectLst/>
                <a:latin typeface="+mn-lt"/>
                <a:ea typeface="+mn-ea"/>
                <a:cs typeface="+mn-cs"/>
              </a:rPr>
              <a:t>Overfitting</a:t>
            </a:r>
            <a:r>
              <a:rPr lang="pt-BR" sz="1200" b="1" kern="1200" dirty="0">
                <a:solidFill>
                  <a:schemeClr val="tx1"/>
                </a:solidFill>
                <a:effectLst/>
                <a:latin typeface="+mn-lt"/>
                <a:ea typeface="+mn-ea"/>
                <a:cs typeface="+mn-cs"/>
              </a:rPr>
              <a:t> (Sobreajuste)</a:t>
            </a:r>
          </a:p>
          <a:p>
            <a:pPr rtl="0"/>
            <a:r>
              <a:rPr lang="pt-BR" sz="1200" kern="1200" dirty="0">
                <a:solidFill>
                  <a:schemeClr val="tx1"/>
                </a:solidFill>
                <a:effectLst/>
                <a:latin typeface="+mn-lt"/>
                <a:ea typeface="+mn-ea"/>
                <a:cs typeface="+mn-cs"/>
              </a:rPr>
              <a:t>O </a:t>
            </a:r>
            <a:r>
              <a:rPr lang="pt-BR" sz="1200" b="1" kern="1200" dirty="0" err="1">
                <a:solidFill>
                  <a:schemeClr val="tx1"/>
                </a:solidFill>
                <a:effectLst/>
                <a:latin typeface="+mn-lt"/>
                <a:ea typeface="+mn-ea"/>
                <a:cs typeface="+mn-cs"/>
              </a:rPr>
              <a:t>overfitting</a:t>
            </a:r>
            <a:r>
              <a:rPr lang="pt-BR" sz="1200" kern="1200" dirty="0">
                <a:solidFill>
                  <a:schemeClr val="tx1"/>
                </a:solidFill>
                <a:effectLst/>
                <a:latin typeface="+mn-lt"/>
                <a:ea typeface="+mn-ea"/>
                <a:cs typeface="+mn-cs"/>
              </a:rPr>
              <a:t> ocorre quando o modelo "decora" características muito específicas dos dados de treinamento em vez de aprender o conceito amplo.</a:t>
            </a:r>
          </a:p>
          <a:p>
            <a:pPr rtl="0"/>
            <a:r>
              <a:rPr lang="pt-BR" sz="1200" kern="1200" dirty="0">
                <a:solidFill>
                  <a:schemeClr val="tx1"/>
                </a:solidFill>
                <a:effectLst/>
                <a:latin typeface="+mn-lt"/>
                <a:ea typeface="+mn-ea"/>
                <a:cs typeface="+mn-cs"/>
              </a:rPr>
              <a:t>O bebê não aprendeu o conceito complexo de "pai" (um ser humano, rosto, voz, afeto).</a:t>
            </a:r>
          </a:p>
          <a:p>
            <a:pPr rtl="0"/>
            <a:r>
              <a:rPr lang="pt-BR" sz="1200" kern="1200" dirty="0">
                <a:solidFill>
                  <a:schemeClr val="tx1"/>
                </a:solidFill>
                <a:effectLst/>
                <a:latin typeface="+mn-lt"/>
                <a:ea typeface="+mn-ea"/>
                <a:cs typeface="+mn-cs"/>
              </a:rPr>
              <a:t>Ele aprendeu uma </a:t>
            </a:r>
            <a:r>
              <a:rPr lang="pt-BR" sz="1200" b="1" kern="1200" dirty="0" err="1">
                <a:solidFill>
                  <a:schemeClr val="tx1"/>
                </a:solidFill>
                <a:effectLst/>
                <a:latin typeface="+mn-lt"/>
                <a:ea typeface="+mn-ea"/>
                <a:cs typeface="+mn-cs"/>
              </a:rPr>
              <a:t>feature</a:t>
            </a:r>
            <a:r>
              <a:rPr lang="pt-BR" sz="1200" kern="1200" dirty="0">
                <a:solidFill>
                  <a:schemeClr val="tx1"/>
                </a:solidFill>
                <a:effectLst/>
                <a:latin typeface="+mn-lt"/>
                <a:ea typeface="+mn-ea"/>
                <a:cs typeface="+mn-cs"/>
              </a:rPr>
              <a:t> (característica) extremamente simplista e específica. Como resultado, qualquer coisa no "mundo real" que apresente essa característica geométrica é classificada incorretamente como "Papai".</a:t>
            </a:r>
          </a:p>
          <a:p>
            <a:pPr rtl="0"/>
            <a:r>
              <a:rPr lang="pt-BR" sz="1200" b="1" kern="1200" dirty="0">
                <a:solidFill>
                  <a:schemeClr val="tx1"/>
                </a:solidFill>
                <a:effectLst/>
                <a:latin typeface="+mn-lt"/>
                <a:ea typeface="+mn-ea"/>
                <a:cs typeface="+mn-cs"/>
              </a:rPr>
              <a:t>3. Falha na Generalização</a:t>
            </a:r>
          </a:p>
          <a:p>
            <a:pPr rtl="0"/>
            <a:r>
              <a:rPr lang="pt-BR" sz="1200" kern="1200" dirty="0">
                <a:solidFill>
                  <a:schemeClr val="tx1"/>
                </a:solidFill>
                <a:effectLst/>
                <a:latin typeface="+mn-lt"/>
                <a:ea typeface="+mn-ea"/>
                <a:cs typeface="+mn-cs"/>
              </a:rPr>
              <a:t>Um bom modelo supervisionado deve ser capaz de </a:t>
            </a:r>
            <a:r>
              <a:rPr lang="pt-BR" sz="1200" b="1" kern="1200" dirty="0">
                <a:solidFill>
                  <a:schemeClr val="tx1"/>
                </a:solidFill>
                <a:effectLst/>
                <a:latin typeface="+mn-lt"/>
                <a:ea typeface="+mn-ea"/>
                <a:cs typeface="+mn-cs"/>
              </a:rPr>
              <a:t>generalizar</a:t>
            </a:r>
            <a:r>
              <a:rPr lang="pt-BR" sz="1200" kern="1200" dirty="0">
                <a:solidFill>
                  <a:schemeClr val="tx1"/>
                </a:solidFill>
                <a:effectLst/>
                <a:latin typeface="+mn-lt"/>
                <a:ea typeface="+mn-ea"/>
                <a:cs typeface="+mn-cs"/>
              </a:rPr>
              <a:t>: reconhecer um pai mesmo que ele esteja de pé, de chapéu ou em uma foto diferente.</a:t>
            </a:r>
          </a:p>
          <a:p>
            <a:pPr rtl="0"/>
            <a:r>
              <a:rPr lang="pt-BR" sz="1200" kern="1200" dirty="0">
                <a:solidFill>
                  <a:schemeClr val="tx1"/>
                </a:solidFill>
                <a:effectLst/>
                <a:latin typeface="+mn-lt"/>
                <a:ea typeface="+mn-ea"/>
                <a:cs typeface="+mn-cs"/>
              </a:rPr>
              <a:t>Na imagem, vemos o oposto: o modelo tem um </a:t>
            </a:r>
            <a:r>
              <a:rPr lang="pt-BR" sz="1200" b="1" kern="1200" dirty="0">
                <a:solidFill>
                  <a:schemeClr val="tx1"/>
                </a:solidFill>
                <a:effectLst/>
                <a:latin typeface="+mn-lt"/>
                <a:ea typeface="+mn-ea"/>
                <a:cs typeface="+mn-cs"/>
              </a:rPr>
              <a:t>viés (bias)</a:t>
            </a:r>
            <a:r>
              <a:rPr lang="pt-BR" sz="1200" kern="1200" dirty="0">
                <a:solidFill>
                  <a:schemeClr val="tx1"/>
                </a:solidFill>
                <a:effectLst/>
                <a:latin typeface="+mn-lt"/>
                <a:ea typeface="+mn-ea"/>
                <a:cs typeface="+mn-cs"/>
              </a:rPr>
              <a:t> em relação a um padrão geométrico.</a:t>
            </a:r>
          </a:p>
          <a:p>
            <a:pPr rtl="0"/>
            <a:r>
              <a:rPr lang="pt-BR" sz="1200" kern="1200" dirty="0">
                <a:solidFill>
                  <a:schemeClr val="tx1"/>
                </a:solidFill>
                <a:effectLst/>
                <a:latin typeface="+mn-lt"/>
                <a:ea typeface="+mn-ea"/>
                <a:cs typeface="+mn-cs"/>
              </a:rPr>
              <a:t>Para o algoritmo (o bebê), pêssegos, balões e o decote da garçonete possuem as mesmas "coordenadas de pixels" que definiram o treinamento inicial, levando a um erro de classificação (Falso Positivo).</a:t>
            </a:r>
          </a:p>
          <a:p>
            <a:pPr rtl="0"/>
            <a:r>
              <a:rPr lang="pt-BR" sz="1200" b="1" kern="1200" dirty="0">
                <a:solidFill>
                  <a:schemeClr val="tx1"/>
                </a:solidFill>
                <a:effectLst/>
                <a:latin typeface="+mn-lt"/>
                <a:ea typeface="+mn-ea"/>
                <a:cs typeface="+mn-cs"/>
              </a:rPr>
              <a:t>4. A Importância da Diversidade nos Dados</a:t>
            </a:r>
          </a:p>
          <a:p>
            <a:pPr rtl="0"/>
            <a:r>
              <a:rPr lang="pt-BR" sz="1200" kern="1200" dirty="0">
                <a:solidFill>
                  <a:schemeClr val="tx1"/>
                </a:solidFill>
                <a:effectLst/>
                <a:latin typeface="+mn-lt"/>
                <a:ea typeface="+mn-ea"/>
                <a:cs typeface="+mn-cs"/>
              </a:rPr>
              <a:t>O quadrinho mostra o que acontece quando o </a:t>
            </a:r>
            <a:r>
              <a:rPr lang="pt-BR" sz="1200" b="1" kern="1200" dirty="0">
                <a:solidFill>
                  <a:schemeClr val="tx1"/>
                </a:solidFill>
                <a:effectLst/>
                <a:latin typeface="+mn-lt"/>
                <a:ea typeface="+mn-ea"/>
                <a:cs typeface="+mn-cs"/>
              </a:rPr>
              <a:t>conjunto de dados de treinamento (</a:t>
            </a:r>
            <a:r>
              <a:rPr lang="pt-BR" sz="1200" b="1" kern="1200" dirty="0" err="1">
                <a:solidFill>
                  <a:schemeClr val="tx1"/>
                </a:solidFill>
                <a:effectLst/>
                <a:latin typeface="+mn-lt"/>
                <a:ea typeface="+mn-ea"/>
                <a:cs typeface="+mn-cs"/>
              </a:rPr>
              <a:t>dataset</a:t>
            </a:r>
            <a:r>
              <a:rPr lang="pt-BR" sz="1200" b="1" kern="1200" dirty="0">
                <a:solidFill>
                  <a:schemeClr val="tx1"/>
                </a:solidFill>
                <a:effectLst/>
                <a:latin typeface="+mn-lt"/>
                <a:ea typeface="+mn-ea"/>
                <a:cs typeface="+mn-cs"/>
              </a:rPr>
              <a:t>)</a:t>
            </a:r>
            <a:r>
              <a:rPr lang="pt-BR" sz="1200" kern="1200" dirty="0">
                <a:solidFill>
                  <a:schemeClr val="tx1"/>
                </a:solidFill>
                <a:effectLst/>
                <a:latin typeface="+mn-lt"/>
                <a:ea typeface="+mn-ea"/>
                <a:cs typeface="+mn-cs"/>
              </a:rPr>
              <a:t> é pobre ou viciado:</a:t>
            </a:r>
          </a:p>
          <a:p>
            <a:pPr rtl="0"/>
            <a:r>
              <a:rPr lang="pt-BR" sz="1200" kern="1200" dirty="0">
                <a:solidFill>
                  <a:schemeClr val="tx1"/>
                </a:solidFill>
                <a:effectLst/>
                <a:latin typeface="+mn-lt"/>
                <a:ea typeface="+mn-ea"/>
                <a:cs typeface="+mn-cs"/>
              </a:rPr>
              <a:t>Se o bebê tivesse sido exposto a milhares de fotos do pai em diferentes ângulos, roupas e contextos, ele teria entendido que a "fenda" não é a característica determinante do rótulo "Papai".</a:t>
            </a:r>
          </a:p>
        </p:txBody>
      </p:sp>
      <p:sp>
        <p:nvSpPr>
          <p:cNvPr id="4" name="Espaço Reservado para Número de Slide 3">
            <a:extLst>
              <a:ext uri="{FF2B5EF4-FFF2-40B4-BE49-F238E27FC236}">
                <a16:creationId xmlns="" xmlns:a16="http://schemas.microsoft.com/office/drawing/2014/main" id="{B8800543-0C44-94C7-D881-581E2A942F56}"/>
              </a:ext>
            </a:extLst>
          </p:cNvPr>
          <p:cNvSpPr>
            <a:spLocks noGrp="1"/>
          </p:cNvSpPr>
          <p:nvPr>
            <p:ph type="sldNum" sz="quarter" idx="10"/>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236877028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C65EA494-FABA-5D03-66A6-7DF0AA16644D}"/>
            </a:ext>
          </a:extLst>
        </p:cNvPr>
        <p:cNvGrpSpPr/>
        <p:nvPr/>
      </p:nvGrpSpPr>
      <p:grpSpPr>
        <a:xfrm>
          <a:off x="0" y="0"/>
          <a:ext cx="0" cy="0"/>
          <a:chOff x="0" y="0"/>
          <a:chExt cx="0" cy="0"/>
        </a:xfrm>
      </p:grpSpPr>
      <p:sp>
        <p:nvSpPr>
          <p:cNvPr id="2" name="Espaço Reservado para Imagem de Slide 1">
            <a:extLst>
              <a:ext uri="{FF2B5EF4-FFF2-40B4-BE49-F238E27FC236}">
                <a16:creationId xmlns="" xmlns:a16="http://schemas.microsoft.com/office/drawing/2014/main" id="{3BFB814E-1D74-4577-E0C9-3A5C0BE6B69E}"/>
              </a:ext>
            </a:extLst>
          </p:cNvPr>
          <p:cNvSpPr>
            <a:spLocks noGrp="1" noRot="1" noChangeAspect="1"/>
          </p:cNvSpPr>
          <p:nvPr>
            <p:ph type="sldImg"/>
          </p:nvPr>
        </p:nvSpPr>
        <p:spPr/>
      </p:sp>
      <p:sp>
        <p:nvSpPr>
          <p:cNvPr id="3" name="Espaço Reservado para Anotações 2">
            <a:extLst>
              <a:ext uri="{FF2B5EF4-FFF2-40B4-BE49-F238E27FC236}">
                <a16:creationId xmlns="" xmlns:a16="http://schemas.microsoft.com/office/drawing/2014/main" id="{32337C59-7F35-97DF-D17B-DCD1EC9E4CC4}"/>
              </a:ext>
            </a:extLst>
          </p:cNvPr>
          <p:cNvSpPr>
            <a:spLocks noGrp="1"/>
          </p:cNvSpPr>
          <p:nvPr>
            <p:ph type="body" idx="1"/>
          </p:nvPr>
        </p:nvSpPr>
        <p:spPr/>
        <p:txBody>
          <a:bodyPr/>
          <a:lstStyle/>
          <a:p>
            <a:pPr rtl="0"/>
            <a:r>
              <a:rPr lang="pt-BR" sz="1200" b="1" kern="1200" dirty="0">
                <a:solidFill>
                  <a:schemeClr val="tx1"/>
                </a:solidFill>
                <a:effectLst/>
                <a:latin typeface="+mn-lt"/>
                <a:ea typeface="+mn-ea"/>
                <a:cs typeface="+mn-cs"/>
              </a:rPr>
              <a:t>1. O Conceito de Rótulos (</a:t>
            </a:r>
            <a:r>
              <a:rPr lang="pt-BR" sz="1200" b="1" kern="1200" dirty="0" err="1">
                <a:solidFill>
                  <a:schemeClr val="tx1"/>
                </a:solidFill>
                <a:effectLst/>
                <a:latin typeface="+mn-lt"/>
                <a:ea typeface="+mn-ea"/>
                <a:cs typeface="+mn-cs"/>
              </a:rPr>
              <a:t>Labels</a:t>
            </a:r>
            <a:r>
              <a:rPr lang="pt-BR" sz="1200" b="1" kern="1200" dirty="0">
                <a:solidFill>
                  <a:schemeClr val="tx1"/>
                </a:solidFill>
                <a:effectLst/>
                <a:latin typeface="+mn-lt"/>
                <a:ea typeface="+mn-ea"/>
                <a:cs typeface="+mn-cs"/>
              </a:rPr>
              <a:t>)</a:t>
            </a:r>
          </a:p>
          <a:p>
            <a:pPr rtl="0"/>
            <a:r>
              <a:rPr lang="pt-BR" sz="1200" kern="1200" dirty="0">
                <a:solidFill>
                  <a:schemeClr val="tx1"/>
                </a:solidFill>
                <a:effectLst/>
                <a:latin typeface="+mn-lt"/>
                <a:ea typeface="+mn-ea"/>
                <a:cs typeface="+mn-cs"/>
              </a:rPr>
              <a:t>No aprendizado supervisionado, ensinamos o modelo através de exemplos rotulados. No caso do quadrinho:</a:t>
            </a:r>
          </a:p>
          <a:p>
            <a:pPr rtl="0"/>
            <a:r>
              <a:rPr lang="pt-BR" sz="1200" b="1" kern="1200" dirty="0">
                <a:solidFill>
                  <a:schemeClr val="tx1"/>
                </a:solidFill>
                <a:effectLst/>
                <a:latin typeface="+mn-lt"/>
                <a:ea typeface="+mn-ea"/>
                <a:cs typeface="+mn-cs"/>
              </a:rPr>
              <a:t>Dado de entrada:</a:t>
            </a:r>
            <a:r>
              <a:rPr lang="pt-BR" sz="1200" kern="1200" dirty="0">
                <a:solidFill>
                  <a:schemeClr val="tx1"/>
                </a:solidFill>
                <a:effectLst/>
                <a:latin typeface="+mn-lt"/>
                <a:ea typeface="+mn-ea"/>
                <a:cs typeface="+mn-cs"/>
              </a:rPr>
              <a:t> O pai do bebê (provavelmente em uma posição específica, como consertando algo).</a:t>
            </a:r>
          </a:p>
          <a:p>
            <a:pPr rtl="0"/>
            <a:r>
              <a:rPr lang="pt-BR" sz="1200" kern="1200" dirty="0">
                <a:solidFill>
                  <a:schemeClr val="tx1"/>
                </a:solidFill>
                <a:effectLst/>
                <a:latin typeface="+mn-lt"/>
                <a:ea typeface="+mn-ea"/>
                <a:cs typeface="+mn-cs"/>
              </a:rPr>
              <a:t>Rótulo (</a:t>
            </a:r>
            <a:r>
              <a:rPr lang="pt-BR" sz="1200" kern="1200" dirty="0" err="1">
                <a:solidFill>
                  <a:schemeClr val="tx1"/>
                </a:solidFill>
                <a:effectLst/>
                <a:latin typeface="+mn-lt"/>
                <a:ea typeface="+mn-ea"/>
                <a:cs typeface="+mn-cs"/>
              </a:rPr>
              <a:t>Label</a:t>
            </a:r>
            <a:r>
              <a:rPr lang="pt-BR" sz="1200" kern="1200" dirty="0">
                <a:solidFill>
                  <a:schemeClr val="tx1"/>
                </a:solidFill>
                <a:effectLst/>
                <a:latin typeface="+mn-lt"/>
                <a:ea typeface="+mn-ea"/>
                <a:cs typeface="+mn-cs"/>
              </a:rPr>
              <a:t>): "Papai" (Daddy).</a:t>
            </a:r>
          </a:p>
          <a:p>
            <a:pPr rtl="0"/>
            <a:r>
              <a:rPr lang="pt-BR" sz="1200" kern="1200" dirty="0">
                <a:solidFill>
                  <a:schemeClr val="tx1"/>
                </a:solidFill>
                <a:effectLst/>
                <a:latin typeface="+mn-lt"/>
                <a:ea typeface="+mn-ea"/>
                <a:cs typeface="+mn-cs"/>
              </a:rPr>
              <a:t>O bebê aprendeu que aquele padrão visual específico — dois círculos e uma fenda — corresponde ao rótulo "Papai".</a:t>
            </a:r>
          </a:p>
          <a:p>
            <a:pPr rtl="0"/>
            <a:r>
              <a:rPr lang="pt-BR" sz="1200" b="1" kern="1200" dirty="0">
                <a:solidFill>
                  <a:schemeClr val="tx1"/>
                </a:solidFill>
                <a:effectLst/>
                <a:latin typeface="+mn-lt"/>
                <a:ea typeface="+mn-ea"/>
                <a:cs typeface="+mn-cs"/>
              </a:rPr>
              <a:t>2. O Problema do </a:t>
            </a:r>
            <a:r>
              <a:rPr lang="pt-BR" sz="1200" b="1" kern="1200" dirty="0" err="1">
                <a:solidFill>
                  <a:schemeClr val="tx1"/>
                </a:solidFill>
                <a:effectLst/>
                <a:latin typeface="+mn-lt"/>
                <a:ea typeface="+mn-ea"/>
                <a:cs typeface="+mn-cs"/>
              </a:rPr>
              <a:t>Overfitting</a:t>
            </a:r>
            <a:r>
              <a:rPr lang="pt-BR" sz="1200" b="1" kern="1200" dirty="0">
                <a:solidFill>
                  <a:schemeClr val="tx1"/>
                </a:solidFill>
                <a:effectLst/>
                <a:latin typeface="+mn-lt"/>
                <a:ea typeface="+mn-ea"/>
                <a:cs typeface="+mn-cs"/>
              </a:rPr>
              <a:t> (Sobreajuste)</a:t>
            </a:r>
          </a:p>
          <a:p>
            <a:pPr rtl="0"/>
            <a:r>
              <a:rPr lang="pt-BR" sz="1200" kern="1200" dirty="0">
                <a:solidFill>
                  <a:schemeClr val="tx1"/>
                </a:solidFill>
                <a:effectLst/>
                <a:latin typeface="+mn-lt"/>
                <a:ea typeface="+mn-ea"/>
                <a:cs typeface="+mn-cs"/>
              </a:rPr>
              <a:t>O </a:t>
            </a:r>
            <a:r>
              <a:rPr lang="pt-BR" sz="1200" b="1" kern="1200" dirty="0" err="1">
                <a:solidFill>
                  <a:schemeClr val="tx1"/>
                </a:solidFill>
                <a:effectLst/>
                <a:latin typeface="+mn-lt"/>
                <a:ea typeface="+mn-ea"/>
                <a:cs typeface="+mn-cs"/>
              </a:rPr>
              <a:t>overfitting</a:t>
            </a:r>
            <a:r>
              <a:rPr lang="pt-BR" sz="1200" kern="1200" dirty="0">
                <a:solidFill>
                  <a:schemeClr val="tx1"/>
                </a:solidFill>
                <a:effectLst/>
                <a:latin typeface="+mn-lt"/>
                <a:ea typeface="+mn-ea"/>
                <a:cs typeface="+mn-cs"/>
              </a:rPr>
              <a:t> ocorre quando o modelo "decora" características muito específicas dos dados de treinamento em vez de aprender o conceito amplo.</a:t>
            </a:r>
          </a:p>
          <a:p>
            <a:pPr rtl="0"/>
            <a:r>
              <a:rPr lang="pt-BR" sz="1200" kern="1200" dirty="0">
                <a:solidFill>
                  <a:schemeClr val="tx1"/>
                </a:solidFill>
                <a:effectLst/>
                <a:latin typeface="+mn-lt"/>
                <a:ea typeface="+mn-ea"/>
                <a:cs typeface="+mn-cs"/>
              </a:rPr>
              <a:t>O bebê não aprendeu o conceito complexo de "pai" (um ser humano, rosto, voz, afeto).</a:t>
            </a:r>
          </a:p>
          <a:p>
            <a:pPr rtl="0"/>
            <a:r>
              <a:rPr lang="pt-BR" sz="1200" kern="1200" dirty="0">
                <a:solidFill>
                  <a:schemeClr val="tx1"/>
                </a:solidFill>
                <a:effectLst/>
                <a:latin typeface="+mn-lt"/>
                <a:ea typeface="+mn-ea"/>
                <a:cs typeface="+mn-cs"/>
              </a:rPr>
              <a:t>Ele aprendeu uma </a:t>
            </a:r>
            <a:r>
              <a:rPr lang="pt-BR" sz="1200" b="1" kern="1200" dirty="0" err="1">
                <a:solidFill>
                  <a:schemeClr val="tx1"/>
                </a:solidFill>
                <a:effectLst/>
                <a:latin typeface="+mn-lt"/>
                <a:ea typeface="+mn-ea"/>
                <a:cs typeface="+mn-cs"/>
              </a:rPr>
              <a:t>feature</a:t>
            </a:r>
            <a:r>
              <a:rPr lang="pt-BR" sz="1200" kern="1200" dirty="0">
                <a:solidFill>
                  <a:schemeClr val="tx1"/>
                </a:solidFill>
                <a:effectLst/>
                <a:latin typeface="+mn-lt"/>
                <a:ea typeface="+mn-ea"/>
                <a:cs typeface="+mn-cs"/>
              </a:rPr>
              <a:t> (característica) extremamente simplista e específica. Como resultado, qualquer coisa no "mundo real" que apresente essa característica geométrica é classificada incorretamente como "Papai".</a:t>
            </a:r>
          </a:p>
          <a:p>
            <a:pPr rtl="0"/>
            <a:r>
              <a:rPr lang="pt-BR" sz="1200" b="1" kern="1200" dirty="0">
                <a:solidFill>
                  <a:schemeClr val="tx1"/>
                </a:solidFill>
                <a:effectLst/>
                <a:latin typeface="+mn-lt"/>
                <a:ea typeface="+mn-ea"/>
                <a:cs typeface="+mn-cs"/>
              </a:rPr>
              <a:t>3. Falha na Generalização</a:t>
            </a:r>
          </a:p>
          <a:p>
            <a:pPr rtl="0"/>
            <a:r>
              <a:rPr lang="pt-BR" sz="1200" kern="1200" dirty="0">
                <a:solidFill>
                  <a:schemeClr val="tx1"/>
                </a:solidFill>
                <a:effectLst/>
                <a:latin typeface="+mn-lt"/>
                <a:ea typeface="+mn-ea"/>
                <a:cs typeface="+mn-cs"/>
              </a:rPr>
              <a:t>Um bom modelo supervisionado deve ser capaz de </a:t>
            </a:r>
            <a:r>
              <a:rPr lang="pt-BR" sz="1200" b="1" kern="1200" dirty="0">
                <a:solidFill>
                  <a:schemeClr val="tx1"/>
                </a:solidFill>
                <a:effectLst/>
                <a:latin typeface="+mn-lt"/>
                <a:ea typeface="+mn-ea"/>
                <a:cs typeface="+mn-cs"/>
              </a:rPr>
              <a:t>generalizar</a:t>
            </a:r>
            <a:r>
              <a:rPr lang="pt-BR" sz="1200" kern="1200" dirty="0">
                <a:solidFill>
                  <a:schemeClr val="tx1"/>
                </a:solidFill>
                <a:effectLst/>
                <a:latin typeface="+mn-lt"/>
                <a:ea typeface="+mn-ea"/>
                <a:cs typeface="+mn-cs"/>
              </a:rPr>
              <a:t>: reconhecer um pai mesmo que ele esteja de pé, de chapéu ou em uma foto diferente.</a:t>
            </a:r>
          </a:p>
          <a:p>
            <a:pPr rtl="0"/>
            <a:r>
              <a:rPr lang="pt-BR" sz="1200" kern="1200" dirty="0">
                <a:solidFill>
                  <a:schemeClr val="tx1"/>
                </a:solidFill>
                <a:effectLst/>
                <a:latin typeface="+mn-lt"/>
                <a:ea typeface="+mn-ea"/>
                <a:cs typeface="+mn-cs"/>
              </a:rPr>
              <a:t>Na imagem, vemos o oposto: o modelo tem um </a:t>
            </a:r>
            <a:r>
              <a:rPr lang="pt-BR" sz="1200" b="1" kern="1200" dirty="0">
                <a:solidFill>
                  <a:schemeClr val="tx1"/>
                </a:solidFill>
                <a:effectLst/>
                <a:latin typeface="+mn-lt"/>
                <a:ea typeface="+mn-ea"/>
                <a:cs typeface="+mn-cs"/>
              </a:rPr>
              <a:t>viés (bias)</a:t>
            </a:r>
            <a:r>
              <a:rPr lang="pt-BR" sz="1200" kern="1200" dirty="0">
                <a:solidFill>
                  <a:schemeClr val="tx1"/>
                </a:solidFill>
                <a:effectLst/>
                <a:latin typeface="+mn-lt"/>
                <a:ea typeface="+mn-ea"/>
                <a:cs typeface="+mn-cs"/>
              </a:rPr>
              <a:t> em relação a um padrão geométrico.</a:t>
            </a:r>
          </a:p>
          <a:p>
            <a:pPr rtl="0"/>
            <a:r>
              <a:rPr lang="pt-BR" sz="1200" kern="1200" dirty="0">
                <a:solidFill>
                  <a:schemeClr val="tx1"/>
                </a:solidFill>
                <a:effectLst/>
                <a:latin typeface="+mn-lt"/>
                <a:ea typeface="+mn-ea"/>
                <a:cs typeface="+mn-cs"/>
              </a:rPr>
              <a:t>Para o algoritmo (o bebê), pêssegos, balões e o decote da garçonete possuem as mesmas "coordenadas de pixels" que definiram o treinamento inicial, levando a um erro de classificação (Falso Positivo).</a:t>
            </a:r>
          </a:p>
          <a:p>
            <a:pPr rtl="0"/>
            <a:r>
              <a:rPr lang="pt-BR" sz="1200" b="1" kern="1200" dirty="0">
                <a:solidFill>
                  <a:schemeClr val="tx1"/>
                </a:solidFill>
                <a:effectLst/>
                <a:latin typeface="+mn-lt"/>
                <a:ea typeface="+mn-ea"/>
                <a:cs typeface="+mn-cs"/>
              </a:rPr>
              <a:t>4. A Importância da Diversidade nos Dados</a:t>
            </a:r>
          </a:p>
          <a:p>
            <a:pPr rtl="0"/>
            <a:r>
              <a:rPr lang="pt-BR" sz="1200" kern="1200" dirty="0">
                <a:solidFill>
                  <a:schemeClr val="tx1"/>
                </a:solidFill>
                <a:effectLst/>
                <a:latin typeface="+mn-lt"/>
                <a:ea typeface="+mn-ea"/>
                <a:cs typeface="+mn-cs"/>
              </a:rPr>
              <a:t>O quadrinho mostra o que acontece quando o </a:t>
            </a:r>
            <a:r>
              <a:rPr lang="pt-BR" sz="1200" b="1" kern="1200" dirty="0">
                <a:solidFill>
                  <a:schemeClr val="tx1"/>
                </a:solidFill>
                <a:effectLst/>
                <a:latin typeface="+mn-lt"/>
                <a:ea typeface="+mn-ea"/>
                <a:cs typeface="+mn-cs"/>
              </a:rPr>
              <a:t>conjunto de dados de treinamento (</a:t>
            </a:r>
            <a:r>
              <a:rPr lang="pt-BR" sz="1200" b="1" kern="1200" dirty="0" err="1">
                <a:solidFill>
                  <a:schemeClr val="tx1"/>
                </a:solidFill>
                <a:effectLst/>
                <a:latin typeface="+mn-lt"/>
                <a:ea typeface="+mn-ea"/>
                <a:cs typeface="+mn-cs"/>
              </a:rPr>
              <a:t>dataset</a:t>
            </a:r>
            <a:r>
              <a:rPr lang="pt-BR" sz="1200" b="1" kern="1200" dirty="0">
                <a:solidFill>
                  <a:schemeClr val="tx1"/>
                </a:solidFill>
                <a:effectLst/>
                <a:latin typeface="+mn-lt"/>
                <a:ea typeface="+mn-ea"/>
                <a:cs typeface="+mn-cs"/>
              </a:rPr>
              <a:t>)</a:t>
            </a:r>
            <a:r>
              <a:rPr lang="pt-BR" sz="1200" kern="1200" dirty="0">
                <a:solidFill>
                  <a:schemeClr val="tx1"/>
                </a:solidFill>
                <a:effectLst/>
                <a:latin typeface="+mn-lt"/>
                <a:ea typeface="+mn-ea"/>
                <a:cs typeface="+mn-cs"/>
              </a:rPr>
              <a:t> é pobre ou viciado:</a:t>
            </a:r>
          </a:p>
          <a:p>
            <a:pPr rtl="0"/>
            <a:r>
              <a:rPr lang="pt-BR" sz="1200" kern="1200" dirty="0">
                <a:solidFill>
                  <a:schemeClr val="tx1"/>
                </a:solidFill>
                <a:effectLst/>
                <a:latin typeface="+mn-lt"/>
                <a:ea typeface="+mn-ea"/>
                <a:cs typeface="+mn-cs"/>
              </a:rPr>
              <a:t>Se o bebê tivesse sido exposto a milhares de fotos do pai em diferentes ângulos, roupas e contextos, ele teria entendido que a "fenda" não é a característica determinante do rótulo "Papai".</a:t>
            </a:r>
          </a:p>
        </p:txBody>
      </p:sp>
      <p:sp>
        <p:nvSpPr>
          <p:cNvPr id="4" name="Espaço Reservado para Número de Slide 3">
            <a:extLst>
              <a:ext uri="{FF2B5EF4-FFF2-40B4-BE49-F238E27FC236}">
                <a16:creationId xmlns="" xmlns:a16="http://schemas.microsoft.com/office/drawing/2014/main" id="{03C1299E-42D9-80A9-8FCB-F3A0DA4AB819}"/>
              </a:ext>
            </a:extLst>
          </p:cNvPr>
          <p:cNvSpPr>
            <a:spLocks noGrp="1"/>
          </p:cNvSpPr>
          <p:nvPr>
            <p:ph type="sldNum" sz="quarter" idx="10"/>
          </p:nvPr>
        </p:nvSpPr>
        <p:spPr/>
        <p:txBody>
          <a:bodyPr/>
          <a:lstStyle/>
          <a:p>
            <a:fld id="{6FC8D850-966F-45A6-8DE7-15B891E7D40D}" type="slidenum">
              <a:rPr lang="pt-BR" smtClean="0"/>
              <a:t>22</a:t>
            </a:fld>
            <a:endParaRPr lang="pt-BR"/>
          </a:p>
        </p:txBody>
      </p:sp>
    </p:spTree>
    <p:extLst>
      <p:ext uri="{BB962C8B-B14F-4D97-AF65-F5344CB8AC3E}">
        <p14:creationId xmlns:p14="http://schemas.microsoft.com/office/powerpoint/2010/main" val="400656535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305144435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a:t>
            </a:r>
            <a:r>
              <a:rPr lang="pt-BR" dirty="0" err="1"/>
              <a:t>Netflix</a:t>
            </a:r>
            <a:r>
              <a:rPr lang="pt-BR" dirty="0"/>
              <a:t> usa isso o tempo todo. Ela não sabe exatamente 'por que' você gosta de um filme, mas ela percebeu que você e um grupo de 10 mil pessoas têm comportamentos idênticos. Se eles assistiram '</a:t>
            </a:r>
            <a:r>
              <a:rPr lang="pt-BR" dirty="0" err="1"/>
              <a:t>Stranger</a:t>
            </a:r>
            <a:r>
              <a:rPr lang="pt-BR" dirty="0"/>
              <a:t> </a:t>
            </a:r>
            <a:r>
              <a:rPr lang="pt-BR" dirty="0" err="1"/>
              <a:t>Things</a:t>
            </a:r>
            <a:r>
              <a:rPr lang="pt-BR" dirty="0"/>
              <a:t>' e você não, ela te recomenda, porque você faz parte daquele 'cluster' ou grupo de gostos similares.</a:t>
            </a:r>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26</a:t>
            </a:fld>
            <a:endParaRPr lang="pt-BR"/>
          </a:p>
        </p:txBody>
      </p:sp>
    </p:spTree>
    <p:extLst>
      <p:ext uri="{BB962C8B-B14F-4D97-AF65-F5344CB8AC3E}">
        <p14:creationId xmlns:p14="http://schemas.microsoft.com/office/powerpoint/2010/main" val="57618135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29</a:t>
            </a:fld>
            <a:endParaRPr lang="pt-BR"/>
          </a:p>
        </p:txBody>
      </p:sp>
    </p:spTree>
    <p:extLst>
      <p:ext uri="{BB962C8B-B14F-4D97-AF65-F5344CB8AC3E}">
        <p14:creationId xmlns:p14="http://schemas.microsoft.com/office/powerpoint/2010/main" val="209000336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30</a:t>
            </a:fld>
            <a:endParaRPr lang="pt-BR"/>
          </a:p>
        </p:txBody>
      </p:sp>
    </p:spTree>
    <p:extLst>
      <p:ext uri="{BB962C8B-B14F-4D97-AF65-F5344CB8AC3E}">
        <p14:creationId xmlns:p14="http://schemas.microsoft.com/office/powerpoint/2010/main" val="200267598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b="1" dirty="0"/>
              <a:t>Independência de Dados Prontos:</a:t>
            </a:r>
            <a:r>
              <a:rPr lang="pt-BR" dirty="0"/>
              <a:t> Diferente do aprendizado supervisionado e não supervisionado, que dependem de grandes volumes de dados externos (como "livros" para ler), o modelo de reforço "faz seus próprios livros".</a:t>
            </a:r>
          </a:p>
          <a:p>
            <a:endParaRPr lang="pt-BR" b="1" dirty="0"/>
          </a:p>
          <a:p>
            <a:r>
              <a:rPr lang="pt-BR" b="1" dirty="0"/>
              <a:t>Aprendizado por Experiência:</a:t>
            </a:r>
            <a:r>
              <a:rPr lang="pt-BR" dirty="0"/>
              <a:t> A frase "eu faço meus próprios livros" indica que o agente aprende através da interação direta com o ambiente, gerando seus próprios dados a partir de suas ações e resultados.</a:t>
            </a:r>
          </a:p>
          <a:p>
            <a:endParaRPr lang="pt-BR" b="1" dirty="0"/>
          </a:p>
          <a:p>
            <a:r>
              <a:rPr lang="pt-BR" b="1" dirty="0"/>
              <a:t>Foco na Exploração:</a:t>
            </a:r>
            <a:r>
              <a:rPr lang="pt-BR" dirty="0"/>
              <a:t> Enquanto os outros métodos processam informações fornecidas por humanos, o aprendizado por reforço baseia-se em tentativa e erro para descobrir quais comportamentos geram as maiores recompensas.</a:t>
            </a:r>
          </a:p>
          <a:p>
            <a:endParaRPr lang="pt-BR" dirty="0"/>
          </a:p>
          <a:p>
            <a:r>
              <a:rPr lang="pt-BR" dirty="0"/>
              <a:t>Em resumo, a imagem destaca que o aprendizado por reforço é </a:t>
            </a:r>
            <a:r>
              <a:rPr lang="pt-BR" b="1" dirty="0"/>
              <a:t>autônomo na criação de sua base de conhecimento</a:t>
            </a:r>
            <a:r>
              <a:rPr lang="pt-BR" dirty="0"/>
              <a:t>, não dependendo de um conjunto de dados estático pré-existente para começar a operar.</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232740001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DCB396BC-6A51-22B6-EBEB-8BE4C879BE66}"/>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7F9B1849-4B47-1AB0-9DAF-0293AF433E86}"/>
              </a:ext>
            </a:extLst>
          </p:cNvPr>
          <p:cNvSpPr>
            <a:spLocks noGrp="1" noRot="1" noChangeAspect="1"/>
          </p:cNvSpPr>
          <p:nvPr>
            <p:ph type="sldImg"/>
          </p:nvPr>
        </p:nvSpPr>
        <p:spPr/>
      </p:sp>
      <p:sp>
        <p:nvSpPr>
          <p:cNvPr id="3" name="Notes Placeholder 2">
            <a:extLst>
              <a:ext uri="{FF2B5EF4-FFF2-40B4-BE49-F238E27FC236}">
                <a16:creationId xmlns="" xmlns:a16="http://schemas.microsoft.com/office/drawing/2014/main" id="{9605A661-80C9-0B8E-CB81-41B762B33A82}"/>
              </a:ext>
            </a:extLst>
          </p:cNvPr>
          <p:cNvSpPr>
            <a:spLocks noGrp="1"/>
          </p:cNvSpPr>
          <p:nvPr>
            <p:ph type="body" idx="1"/>
          </p:nvPr>
        </p:nvSpPr>
        <p:spPr/>
        <p:txBody>
          <a:bodyPr/>
          <a:lstStyle/>
          <a:p>
            <a:r>
              <a:rPr lang="pt-BR" b="1" dirty="0"/>
              <a:t>Independência de Dados Prontos:</a:t>
            </a:r>
            <a:r>
              <a:rPr lang="pt-BR" dirty="0"/>
              <a:t> Diferente do aprendizado supervisionado e não supervisionado, que dependem de grandes volumes de dados externos (como "livros" para ler), o modelo de reforço "faz seus próprios livros".</a:t>
            </a:r>
          </a:p>
          <a:p>
            <a:endParaRPr lang="pt-BR" b="1" dirty="0"/>
          </a:p>
          <a:p>
            <a:r>
              <a:rPr lang="pt-BR" b="1" dirty="0"/>
              <a:t>Aprendizado por Experiência:</a:t>
            </a:r>
            <a:r>
              <a:rPr lang="pt-BR" dirty="0"/>
              <a:t> A frase "eu faço meus próprios livros" indica que o agente aprende através da interação direta com o ambiente, gerando seus próprios dados a partir de suas ações e resultados.</a:t>
            </a:r>
          </a:p>
          <a:p>
            <a:endParaRPr lang="pt-BR" b="1" dirty="0"/>
          </a:p>
          <a:p>
            <a:r>
              <a:rPr lang="pt-BR" b="1" dirty="0"/>
              <a:t>Foco na Exploração:</a:t>
            </a:r>
            <a:r>
              <a:rPr lang="pt-BR" dirty="0"/>
              <a:t> Enquanto os outros métodos processam informações fornecidas por humanos, o aprendizado por reforço baseia-se em tentativa e erro para descobrir quais comportamentos geram as maiores recompensas.</a:t>
            </a:r>
          </a:p>
          <a:p>
            <a:endParaRPr lang="pt-BR" dirty="0"/>
          </a:p>
          <a:p>
            <a:r>
              <a:rPr lang="pt-BR" dirty="0"/>
              <a:t>Em resumo, a imagem destaca que o aprendizado por reforço é </a:t>
            </a:r>
            <a:r>
              <a:rPr lang="pt-BR" b="1" dirty="0"/>
              <a:t>autônomo na criação de sua base de conhecimento</a:t>
            </a:r>
            <a:r>
              <a:rPr lang="pt-BR" dirty="0"/>
              <a:t>, não dependendo de um conjunto de dados estático pré-existente para começar a operar.</a:t>
            </a:r>
          </a:p>
          <a:p>
            <a:endParaRPr lang="en-US" dirty="0"/>
          </a:p>
        </p:txBody>
      </p:sp>
      <p:sp>
        <p:nvSpPr>
          <p:cNvPr id="4" name="Slide Number Placeholder 3">
            <a:extLst>
              <a:ext uri="{FF2B5EF4-FFF2-40B4-BE49-F238E27FC236}">
                <a16:creationId xmlns="" xmlns:a16="http://schemas.microsoft.com/office/drawing/2014/main" id="{3F992D22-13DD-3212-862A-DA9610408D81}"/>
              </a:ext>
            </a:extLst>
          </p:cNvPr>
          <p:cNvSpPr>
            <a:spLocks noGrp="1"/>
          </p:cNvSpPr>
          <p:nvPr>
            <p:ph type="sldNum" sz="quarter" idx="5"/>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356227007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pt-BR" sz="1200" b="0" i="0" dirty="0"/>
              <a:t>Aprendizado por reforço pode ser entendido como o problema em que um </a:t>
            </a:r>
            <a:r>
              <a:rPr lang="pt-BR" sz="1200" b="1" i="1" dirty="0"/>
              <a:t>agente</a:t>
            </a:r>
            <a:r>
              <a:rPr lang="pt-BR" sz="1200" b="0" i="0" dirty="0"/>
              <a:t> deve aprender como se comportar em um </a:t>
            </a:r>
            <a:r>
              <a:rPr lang="pt-BR" sz="1200" b="1" i="1" dirty="0"/>
              <a:t>ambiente</a:t>
            </a:r>
            <a:r>
              <a:rPr lang="pt-BR" sz="1200" b="0" i="0" dirty="0"/>
              <a:t> através de interações do tipo “tentativa e erro”.</a:t>
            </a:r>
          </a:p>
          <a:p>
            <a:pPr marL="171450" indent="-171450">
              <a:buFont typeface="Arial" panose="020B0604020202020204" pitchFamily="34" charset="0"/>
              <a:buChar char="•"/>
            </a:pPr>
            <a:r>
              <a:rPr lang="pt-BR" sz="1200" b="0" i="0" dirty="0"/>
              <a:t>O</a:t>
            </a:r>
            <a:r>
              <a:rPr lang="pt-BR" sz="1200" b="0" i="0" baseline="0" dirty="0"/>
              <a:t> </a:t>
            </a:r>
            <a:r>
              <a:rPr lang="pt-BR" sz="1200" b="1" i="1" baseline="0" dirty="0"/>
              <a:t>agente</a:t>
            </a:r>
            <a:r>
              <a:rPr lang="pt-BR" sz="1200" b="0" i="0" baseline="0" dirty="0"/>
              <a:t> tem como objetivo aprender/construir um modelo do ambiente em que está inserido através de interações do tipo “tentativa e erro”, ou seja, ele observa o ambiente, escolhe uma ação e aguarda o resultado da ação (reforço positivo ou negativo).</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pt-BR" sz="1200" dirty="0"/>
              <a:t>O algoritmo aprende a escolher </a:t>
            </a:r>
            <a:r>
              <a:rPr lang="pt-BR" sz="1200" b="1" i="1" dirty="0"/>
              <a:t>ações</a:t>
            </a:r>
            <a:r>
              <a:rPr lang="pt-BR" sz="1200" dirty="0"/>
              <a:t> apenas interagindo com o </a:t>
            </a:r>
            <a:r>
              <a:rPr lang="pt-BR" sz="1200" b="1" i="1" dirty="0"/>
              <a:t>ambiente</a:t>
            </a:r>
            <a:r>
              <a:rPr lang="pt-BR" sz="1200" dirty="0"/>
              <a:t>.</a:t>
            </a:r>
            <a:endParaRPr lang="pt-BR" sz="1200" b="0" i="0" baseline="0" dirty="0"/>
          </a:p>
          <a:p>
            <a:pPr marL="171450" indent="-171450">
              <a:buFont typeface="Arial" panose="020B0604020202020204" pitchFamily="34" charset="0"/>
              <a:buChar char="•"/>
            </a:pPr>
            <a:r>
              <a:rPr lang="pt-BR" sz="1200" b="1" i="0" dirty="0"/>
              <a:t>Problema da aprendizagem por reforço</a:t>
            </a:r>
            <a:r>
              <a:rPr lang="pt-BR" sz="1200" b="0" i="0" dirty="0"/>
              <a:t>:</a:t>
            </a:r>
            <a:r>
              <a:rPr lang="pt-BR" sz="1200" b="0" i="0" baseline="0" dirty="0"/>
              <a:t> </a:t>
            </a:r>
            <a:r>
              <a:rPr lang="pt-BR" sz="1200" b="0" i="0" dirty="0"/>
              <a:t>Como escolher uma </a:t>
            </a:r>
            <a:r>
              <a:rPr lang="pt-BR" sz="1200" b="1" i="1" dirty="0"/>
              <a:t>estratégia</a:t>
            </a:r>
            <a:r>
              <a:rPr lang="pt-BR" sz="1200" b="0" i="0" dirty="0"/>
              <a:t> (conhecida como </a:t>
            </a:r>
            <a:r>
              <a:rPr lang="pt-BR" sz="1200" b="1" i="1" dirty="0"/>
              <a:t>política)</a:t>
            </a:r>
            <a:r>
              <a:rPr lang="pt-BR" sz="1200" b="0" i="0" dirty="0"/>
              <a:t> de </a:t>
            </a:r>
            <a:r>
              <a:rPr lang="pt-BR" sz="1200" b="1" i="1" dirty="0"/>
              <a:t>ações</a:t>
            </a:r>
            <a:r>
              <a:rPr lang="pt-BR" sz="1200" b="0" i="0" dirty="0"/>
              <a:t> que maximize o</a:t>
            </a:r>
            <a:r>
              <a:rPr lang="pt-BR" sz="1200" b="0" i="0" baseline="0" dirty="0"/>
              <a:t> </a:t>
            </a:r>
            <a:r>
              <a:rPr lang="pt-BR" sz="1200" b="0" i="0" dirty="0"/>
              <a:t>total de </a:t>
            </a:r>
            <a:r>
              <a:rPr lang="pt-BR" sz="1200" b="1" i="1" dirty="0"/>
              <a:t>recompensas</a:t>
            </a:r>
            <a:r>
              <a:rPr lang="pt-BR" sz="1200" b="0" i="0" dirty="0"/>
              <a:t> recebidas pelo </a:t>
            </a:r>
            <a:r>
              <a:rPr lang="pt-BR" sz="1200" b="1" i="1" dirty="0"/>
              <a:t>agente</a:t>
            </a:r>
            <a:r>
              <a:rPr lang="pt-BR" sz="1200" b="0" i="0" dirty="0"/>
              <a:t>.</a:t>
            </a:r>
          </a:p>
          <a:p>
            <a:pPr marL="171450" indent="-171450">
              <a:buFont typeface="Arial" panose="020B0604020202020204" pitchFamily="34" charset="0"/>
              <a:buChar char="•"/>
            </a:pPr>
            <a:r>
              <a:rPr lang="pt-BR" sz="1200" b="0" i="0" dirty="0"/>
              <a:t>A </a:t>
            </a:r>
            <a:r>
              <a:rPr lang="pt-BR" sz="1200" b="1" i="0" dirty="0"/>
              <a:t>política</a:t>
            </a:r>
            <a:r>
              <a:rPr lang="pt-BR" sz="1200" b="0" i="0" dirty="0"/>
              <a:t> pode ser entendida como sendo</a:t>
            </a:r>
            <a:r>
              <a:rPr lang="pt-BR" sz="1200" b="0" i="0" baseline="0" dirty="0"/>
              <a:t> a função que mapeia os </a:t>
            </a:r>
            <a:r>
              <a:rPr lang="pt-BR" sz="1200" b="1" i="1" baseline="0" dirty="0"/>
              <a:t>estados</a:t>
            </a:r>
            <a:r>
              <a:rPr lang="pt-BR" sz="1200" b="0" i="0" baseline="0" dirty="0"/>
              <a:t> do </a:t>
            </a:r>
            <a:r>
              <a:rPr lang="pt-BR" sz="1200" b="1" i="1" baseline="0" dirty="0"/>
              <a:t>ambiente</a:t>
            </a:r>
            <a:r>
              <a:rPr lang="pt-BR" sz="1200" b="0" i="0" baseline="0" dirty="0"/>
              <a:t> em </a:t>
            </a:r>
            <a:r>
              <a:rPr lang="pt-BR" sz="1200" b="1" i="1" baseline="0" dirty="0"/>
              <a:t>ações</a:t>
            </a:r>
            <a:r>
              <a:rPr lang="pt-BR" sz="1200" b="0" i="0" baseline="0" dirty="0"/>
              <a:t> que o </a:t>
            </a:r>
            <a:r>
              <a:rPr lang="pt-BR" sz="1200" b="1" i="1" baseline="0" dirty="0"/>
              <a:t>agente</a:t>
            </a:r>
            <a:r>
              <a:rPr lang="pt-BR" sz="1200" b="0" i="0" baseline="0" dirty="0"/>
              <a:t> deve tomar: ∏(s) = a, de forma que o </a:t>
            </a:r>
            <a:r>
              <a:rPr lang="pt-BR" sz="1200" b="1" i="1" baseline="0" dirty="0"/>
              <a:t>total de recompensas</a:t>
            </a:r>
            <a:r>
              <a:rPr lang="pt-BR" sz="1200" b="0" i="0" baseline="0" dirty="0"/>
              <a:t> seja maximizado.</a:t>
            </a:r>
          </a:p>
          <a:p>
            <a:pPr marL="171450" indent="-171450">
              <a:buFont typeface="Arial" panose="020B0604020202020204" pitchFamily="34" charset="0"/>
              <a:buChar char="•"/>
            </a:pPr>
            <a:endParaRPr lang="pt-BR" sz="1200" b="0" i="0" baseline="0" dirty="0"/>
          </a:p>
          <a:p>
            <a:pPr marL="171450" indent="-171450">
              <a:buFont typeface="Arial" panose="020B0604020202020204" pitchFamily="34" charset="0"/>
              <a:buChar char="•"/>
            </a:pPr>
            <a:r>
              <a:rPr lang="pt-BR" sz="1200" b="1" dirty="0"/>
              <a:t>Exemplos</a:t>
            </a:r>
            <a:r>
              <a:rPr lang="pt-BR" sz="1200" dirty="0"/>
              <a:t>: </a:t>
            </a:r>
          </a:p>
          <a:p>
            <a:pPr marL="628650" lvl="1" indent="-171450">
              <a:buFont typeface="Arial" panose="020B0604020202020204" pitchFamily="34" charset="0"/>
              <a:buChar char="•"/>
            </a:pPr>
            <a:r>
              <a:rPr lang="pt-BR" sz="1200" dirty="0"/>
              <a:t>Algoritmo </a:t>
            </a:r>
            <a:r>
              <a:rPr lang="pt-BR" sz="1200" baseline="0" dirty="0"/>
              <a:t>muito utilizado em jogos.</a:t>
            </a:r>
          </a:p>
          <a:p>
            <a:pPr marL="1085850" lvl="2" indent="-171450">
              <a:buFont typeface="Arial" panose="020B0604020202020204" pitchFamily="34" charset="0"/>
              <a:buChar char="•"/>
            </a:pPr>
            <a:r>
              <a:rPr lang="pt-BR" sz="1200" dirty="0"/>
              <a:t>O programa </a:t>
            </a:r>
            <a:r>
              <a:rPr lang="pt-BR" sz="1200" dirty="0" err="1"/>
              <a:t>AlphaGo</a:t>
            </a:r>
            <a:r>
              <a:rPr lang="pt-BR" sz="1200" dirty="0"/>
              <a:t> da Google (</a:t>
            </a:r>
            <a:r>
              <a:rPr lang="pt-BR" sz="1200" dirty="0" err="1"/>
              <a:t>DeepMind</a:t>
            </a:r>
            <a:r>
              <a:rPr lang="pt-BR" sz="1200" dirty="0"/>
              <a:t>)</a:t>
            </a:r>
            <a:r>
              <a:rPr lang="pt-BR" sz="1200" baseline="0" dirty="0"/>
              <a:t> utilizou aprendizado por reforço (</a:t>
            </a:r>
            <a:r>
              <a:rPr lang="pt-BR" sz="1200" baseline="0" dirty="0" err="1"/>
              <a:t>Deep</a:t>
            </a:r>
            <a:r>
              <a:rPr lang="pt-BR" sz="1200" baseline="0" dirty="0"/>
              <a:t> </a:t>
            </a:r>
            <a:r>
              <a:rPr lang="pt-BR" sz="1200" baseline="0" dirty="0" err="1"/>
              <a:t>reinforcement</a:t>
            </a:r>
            <a:r>
              <a:rPr lang="pt-BR" sz="1200" baseline="0" dirty="0"/>
              <a:t> learning) para aprender a jogar Go e derrotar o campeão mundial de Go.</a:t>
            </a:r>
          </a:p>
          <a:p>
            <a:pPr marL="1085850" lvl="2" indent="-171450">
              <a:buFont typeface="Arial" panose="020B0604020202020204" pitchFamily="34" charset="0"/>
              <a:buChar char="•"/>
            </a:pPr>
            <a:r>
              <a:rPr lang="pt-BR" sz="1200" baseline="0" dirty="0"/>
              <a:t>Agente jogador de damas</a:t>
            </a:r>
          </a:p>
          <a:p>
            <a:pPr marL="1543050" lvl="3" indent="-171450">
              <a:buFont typeface="Arial" panose="020B0604020202020204" pitchFamily="34" charset="0"/>
              <a:buChar char="•"/>
            </a:pPr>
            <a:r>
              <a:rPr lang="pt-BR" sz="1200" b="1" baseline="0" dirty="0"/>
              <a:t>Estados</a:t>
            </a:r>
            <a:r>
              <a:rPr lang="pt-BR" sz="1200" baseline="0" dirty="0"/>
              <a:t>: as diferentes configurações do tabuleiro.</a:t>
            </a:r>
          </a:p>
          <a:p>
            <a:pPr marL="1543050" lvl="3" indent="-171450">
              <a:buFont typeface="Arial" panose="020B0604020202020204" pitchFamily="34" charset="0"/>
              <a:buChar char="•"/>
            </a:pPr>
            <a:r>
              <a:rPr lang="pt-BR" sz="1200" b="1" baseline="0" dirty="0"/>
              <a:t>Ações</a:t>
            </a:r>
            <a:r>
              <a:rPr lang="pt-BR" sz="1200" baseline="0" dirty="0"/>
              <a:t>: mover uma determinada peça.</a:t>
            </a:r>
          </a:p>
          <a:p>
            <a:pPr marL="1543050" lvl="3" indent="-171450">
              <a:buFont typeface="Arial" panose="020B0604020202020204" pitchFamily="34" charset="0"/>
              <a:buChar char="•"/>
            </a:pPr>
            <a:r>
              <a:rPr lang="pt-BR" sz="1200" b="1" baseline="0" dirty="0"/>
              <a:t>Recompensas</a:t>
            </a:r>
            <a:r>
              <a:rPr lang="pt-BR" sz="1200" baseline="0" dirty="0"/>
              <a:t>: número de capturas de peças vs. número de perdas.</a:t>
            </a:r>
          </a:p>
          <a:p>
            <a:pPr marL="628650" lvl="1" indent="-171450">
              <a:buFont typeface="Arial" panose="020B0604020202020204" pitchFamily="34" charset="0"/>
              <a:buChar char="•"/>
            </a:pPr>
            <a:r>
              <a:rPr lang="pt-BR" sz="1200" dirty="0"/>
              <a:t>Robô aspirador de pó que precisa aprender a limpar uma casa de forma ótima.</a:t>
            </a:r>
          </a:p>
          <a:p>
            <a:pPr marL="0" indent="0">
              <a:buFont typeface="Arial" panose="020B0604020202020204" pitchFamily="34" charset="0"/>
              <a:buNone/>
            </a:pPr>
            <a:endParaRPr lang="nl-BE" sz="1200" dirty="0"/>
          </a:p>
          <a:p>
            <a:pPr marL="171450" indent="-171450">
              <a:buFont typeface="Arial" panose="020B0604020202020204" pitchFamily="34" charset="0"/>
              <a:buChar char="•"/>
            </a:pPr>
            <a:r>
              <a:rPr lang="pt-BR" sz="1200" dirty="0"/>
              <a:t>Os algoritmos de aprendizado por reforço tentam encontrar a </a:t>
            </a:r>
            <a:r>
              <a:rPr lang="pt-BR" sz="1200" b="1" i="1" dirty="0"/>
              <a:t>política</a:t>
            </a:r>
            <a:r>
              <a:rPr lang="pt-BR" sz="1200" dirty="0"/>
              <a:t> que mapeia os </a:t>
            </a:r>
            <a:r>
              <a:rPr lang="pt-BR" sz="1200" b="1" i="1" dirty="0"/>
              <a:t>estados</a:t>
            </a:r>
            <a:r>
              <a:rPr lang="pt-BR" sz="1200" dirty="0"/>
              <a:t> do </a:t>
            </a:r>
            <a:r>
              <a:rPr lang="pt-BR" sz="1200" b="1" i="1" dirty="0"/>
              <a:t>ambiente</a:t>
            </a:r>
            <a:r>
              <a:rPr lang="pt-BR" sz="1200" dirty="0"/>
              <a:t> às </a:t>
            </a:r>
            <a:r>
              <a:rPr lang="pt-BR" sz="1200" b="1" i="1" dirty="0"/>
              <a:t>ações</a:t>
            </a:r>
            <a:r>
              <a:rPr lang="pt-BR" sz="1200" dirty="0"/>
              <a:t> que o </a:t>
            </a:r>
            <a:r>
              <a:rPr lang="pt-BR" sz="1200" b="1" i="1" dirty="0"/>
              <a:t>agente</a:t>
            </a:r>
            <a:r>
              <a:rPr lang="pt-BR" sz="1200" dirty="0"/>
              <a:t> deve tomar nesses </a:t>
            </a:r>
            <a:r>
              <a:rPr lang="pt-BR" sz="1200" b="1" i="1" dirty="0"/>
              <a:t>estados</a:t>
            </a:r>
            <a:r>
              <a:rPr lang="pt-BR" sz="1200" b="0" i="0" dirty="0"/>
              <a:t>.</a:t>
            </a:r>
          </a:p>
          <a:p>
            <a:pPr marL="171450" indent="-171450">
              <a:buFont typeface="Arial" panose="020B0604020202020204" pitchFamily="34" charset="0"/>
              <a:buChar char="•"/>
            </a:pPr>
            <a:r>
              <a:rPr lang="pt-BR" sz="1200" b="0" i="0" dirty="0"/>
              <a:t>Como um algoritmo de aprendizagem aprende a escolher ações apenas</a:t>
            </a:r>
            <a:r>
              <a:rPr lang="pt-BR" sz="1200" b="0" i="0" baseline="0" dirty="0"/>
              <a:t> </a:t>
            </a:r>
            <a:r>
              <a:rPr lang="pt-BR" sz="1200" b="0" i="0" dirty="0"/>
              <a:t>interagindo com o ambiente?</a:t>
            </a:r>
          </a:p>
          <a:p>
            <a:pPr marL="628650" lvl="1" indent="-171450">
              <a:buFont typeface="Arial" panose="020B0604020202020204" pitchFamily="34" charset="0"/>
              <a:buChar char="•"/>
            </a:pPr>
            <a:r>
              <a:rPr lang="pt-BR" sz="1200" b="0" i="0" dirty="0"/>
              <a:t>Muitas vezes, é impraticável o uso de aprendizage</a:t>
            </a:r>
            <a:r>
              <a:rPr lang="pt-BR" sz="1200" b="0" i="0" baseline="0" dirty="0"/>
              <a:t>m </a:t>
            </a:r>
            <a:r>
              <a:rPr lang="pt-BR" sz="1200" b="0" i="0" dirty="0"/>
              <a:t>supervisionada.</a:t>
            </a:r>
          </a:p>
          <a:p>
            <a:pPr marL="1085850" lvl="2" indent="-171450">
              <a:buFont typeface="Arial" panose="020B0604020202020204" pitchFamily="34" charset="0"/>
              <a:buChar char="•"/>
            </a:pPr>
            <a:r>
              <a:rPr lang="pt-BR" sz="1200" b="0" i="0" dirty="0"/>
              <a:t>Como obter exemplos do comportamento correto e</a:t>
            </a:r>
            <a:r>
              <a:rPr lang="pt-BR" sz="1200" b="0" i="0" baseline="0" dirty="0"/>
              <a:t> </a:t>
            </a:r>
            <a:r>
              <a:rPr lang="pt-BR" sz="1200" b="0" i="0" dirty="0"/>
              <a:t>representativo para qualquer situação?</a:t>
            </a:r>
          </a:p>
          <a:p>
            <a:pPr marL="1085850" lvl="2" indent="-171450">
              <a:buFont typeface="Arial" panose="020B0604020202020204" pitchFamily="34" charset="0"/>
              <a:buChar char="•"/>
            </a:pPr>
            <a:r>
              <a:rPr lang="pt-BR" sz="1200" b="0" i="0" dirty="0"/>
              <a:t>E se o agente for atuar em um ambiente desconhecido? </a:t>
            </a:r>
          </a:p>
          <a:p>
            <a:pPr marL="0" indent="0">
              <a:buFont typeface="Arial" panose="020B0604020202020204" pitchFamily="34" charset="0"/>
              <a:buNone/>
            </a:pPr>
            <a:endParaRPr lang="nl-BE" sz="1200"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48204763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pt-BR" sz="1200" b="0" i="0" dirty="0"/>
              <a:t>Aprendizado por reforço pode ser entendido como o problema em que um </a:t>
            </a:r>
            <a:r>
              <a:rPr lang="pt-BR" sz="1200" b="1" i="1" dirty="0"/>
              <a:t>agente</a:t>
            </a:r>
            <a:r>
              <a:rPr lang="pt-BR" sz="1200" b="0" i="0" dirty="0"/>
              <a:t> deve aprender como se comportar em um </a:t>
            </a:r>
            <a:r>
              <a:rPr lang="pt-BR" sz="1200" b="1" i="1" dirty="0"/>
              <a:t>ambiente</a:t>
            </a:r>
            <a:r>
              <a:rPr lang="pt-BR" sz="1200" b="0" i="0" dirty="0"/>
              <a:t> através de interações do tipo “tentativa e erro”.</a:t>
            </a:r>
          </a:p>
          <a:p>
            <a:pPr marL="171450" indent="-171450">
              <a:buFont typeface="Arial" panose="020B0604020202020204" pitchFamily="34" charset="0"/>
              <a:buChar char="•"/>
            </a:pPr>
            <a:r>
              <a:rPr lang="pt-BR" sz="1200" b="0" i="0" dirty="0"/>
              <a:t>O</a:t>
            </a:r>
            <a:r>
              <a:rPr lang="pt-BR" sz="1200" b="0" i="0" baseline="0" dirty="0"/>
              <a:t> </a:t>
            </a:r>
            <a:r>
              <a:rPr lang="pt-BR" sz="1200" b="1" i="1" baseline="0" dirty="0"/>
              <a:t>agente</a:t>
            </a:r>
            <a:r>
              <a:rPr lang="pt-BR" sz="1200" b="0" i="0" baseline="0" dirty="0"/>
              <a:t> tem como objetivo aprender/construir um modelo do ambiente em que está inserido através de interações do tipo “tentativa e erro”, ou seja, ele observa o ambiente, escolhe uma ação e aguarda o resultado da ação (reforço positivo ou negativo).</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pt-BR" sz="1200" dirty="0"/>
              <a:t>O algoritmo aprende a escolher </a:t>
            </a:r>
            <a:r>
              <a:rPr lang="pt-BR" sz="1200" b="1" i="1" dirty="0"/>
              <a:t>ações</a:t>
            </a:r>
            <a:r>
              <a:rPr lang="pt-BR" sz="1200" dirty="0"/>
              <a:t> apenas interagindo com o </a:t>
            </a:r>
            <a:r>
              <a:rPr lang="pt-BR" sz="1200" b="1" i="1" dirty="0"/>
              <a:t>ambiente</a:t>
            </a:r>
            <a:r>
              <a:rPr lang="pt-BR" sz="1200" dirty="0"/>
              <a:t>.</a:t>
            </a:r>
            <a:endParaRPr lang="pt-BR" sz="1200" b="0" i="0" baseline="0" dirty="0"/>
          </a:p>
          <a:p>
            <a:pPr marL="171450" indent="-171450">
              <a:buFont typeface="Arial" panose="020B0604020202020204" pitchFamily="34" charset="0"/>
              <a:buChar char="•"/>
            </a:pPr>
            <a:r>
              <a:rPr lang="pt-BR" sz="1200" b="1" i="0" dirty="0"/>
              <a:t>Problema da aprendizagem por reforço</a:t>
            </a:r>
            <a:r>
              <a:rPr lang="pt-BR" sz="1200" b="0" i="0" dirty="0"/>
              <a:t>:</a:t>
            </a:r>
            <a:r>
              <a:rPr lang="pt-BR" sz="1200" b="0" i="0" baseline="0" dirty="0"/>
              <a:t> </a:t>
            </a:r>
            <a:r>
              <a:rPr lang="pt-BR" sz="1200" b="0" i="0" dirty="0"/>
              <a:t>Como escolher uma </a:t>
            </a:r>
            <a:r>
              <a:rPr lang="pt-BR" sz="1200" b="1" i="1" dirty="0"/>
              <a:t>estratégia</a:t>
            </a:r>
            <a:r>
              <a:rPr lang="pt-BR" sz="1200" b="0" i="0" dirty="0"/>
              <a:t> (conhecida como </a:t>
            </a:r>
            <a:r>
              <a:rPr lang="pt-BR" sz="1200" b="1" i="1" dirty="0"/>
              <a:t>política)</a:t>
            </a:r>
            <a:r>
              <a:rPr lang="pt-BR" sz="1200" b="0" i="0" dirty="0"/>
              <a:t> de </a:t>
            </a:r>
            <a:r>
              <a:rPr lang="pt-BR" sz="1200" b="1" i="1" dirty="0"/>
              <a:t>ações</a:t>
            </a:r>
            <a:r>
              <a:rPr lang="pt-BR" sz="1200" b="0" i="0" dirty="0"/>
              <a:t> que maximize o</a:t>
            </a:r>
            <a:r>
              <a:rPr lang="pt-BR" sz="1200" b="0" i="0" baseline="0" dirty="0"/>
              <a:t> </a:t>
            </a:r>
            <a:r>
              <a:rPr lang="pt-BR" sz="1200" b="0" i="0" dirty="0"/>
              <a:t>total de </a:t>
            </a:r>
            <a:r>
              <a:rPr lang="pt-BR" sz="1200" b="1" i="1" dirty="0"/>
              <a:t>recompensas</a:t>
            </a:r>
            <a:r>
              <a:rPr lang="pt-BR" sz="1200" b="0" i="0" dirty="0"/>
              <a:t> recebidas pelo </a:t>
            </a:r>
            <a:r>
              <a:rPr lang="pt-BR" sz="1200" b="1" i="1" dirty="0"/>
              <a:t>agente</a:t>
            </a:r>
            <a:r>
              <a:rPr lang="pt-BR" sz="1200" b="0" i="0" dirty="0"/>
              <a:t>.</a:t>
            </a:r>
          </a:p>
          <a:p>
            <a:pPr marL="171450" indent="-171450">
              <a:buFont typeface="Arial" panose="020B0604020202020204" pitchFamily="34" charset="0"/>
              <a:buChar char="•"/>
            </a:pPr>
            <a:r>
              <a:rPr lang="pt-BR" sz="1200" b="0" i="0" dirty="0"/>
              <a:t>A </a:t>
            </a:r>
            <a:r>
              <a:rPr lang="pt-BR" sz="1200" b="1" i="0" dirty="0"/>
              <a:t>política</a:t>
            </a:r>
            <a:r>
              <a:rPr lang="pt-BR" sz="1200" b="0" i="0" dirty="0"/>
              <a:t> pode ser entendida como sendo</a:t>
            </a:r>
            <a:r>
              <a:rPr lang="pt-BR" sz="1200" b="0" i="0" baseline="0" dirty="0"/>
              <a:t> a função que mapeia os </a:t>
            </a:r>
            <a:r>
              <a:rPr lang="pt-BR" sz="1200" b="1" i="1" baseline="0" dirty="0"/>
              <a:t>estados</a:t>
            </a:r>
            <a:r>
              <a:rPr lang="pt-BR" sz="1200" b="0" i="0" baseline="0" dirty="0"/>
              <a:t> do </a:t>
            </a:r>
            <a:r>
              <a:rPr lang="pt-BR" sz="1200" b="1" i="1" baseline="0" dirty="0"/>
              <a:t>ambiente</a:t>
            </a:r>
            <a:r>
              <a:rPr lang="pt-BR" sz="1200" b="0" i="0" baseline="0" dirty="0"/>
              <a:t> em </a:t>
            </a:r>
            <a:r>
              <a:rPr lang="pt-BR" sz="1200" b="1" i="1" baseline="0" dirty="0"/>
              <a:t>ações</a:t>
            </a:r>
            <a:r>
              <a:rPr lang="pt-BR" sz="1200" b="0" i="0" baseline="0" dirty="0"/>
              <a:t> que o </a:t>
            </a:r>
            <a:r>
              <a:rPr lang="pt-BR" sz="1200" b="1" i="1" baseline="0" dirty="0"/>
              <a:t>agente</a:t>
            </a:r>
            <a:r>
              <a:rPr lang="pt-BR" sz="1200" b="0" i="0" baseline="0" dirty="0"/>
              <a:t> deve tomar: ∏(s) = a, de forma que o </a:t>
            </a:r>
            <a:r>
              <a:rPr lang="pt-BR" sz="1200" b="1" i="1" baseline="0" dirty="0"/>
              <a:t>total de recompensas</a:t>
            </a:r>
            <a:r>
              <a:rPr lang="pt-BR" sz="1200" b="0" i="0" baseline="0" dirty="0"/>
              <a:t> seja maximizado.</a:t>
            </a:r>
          </a:p>
          <a:p>
            <a:pPr marL="171450" indent="-171450">
              <a:buFont typeface="Arial" panose="020B0604020202020204" pitchFamily="34" charset="0"/>
              <a:buChar char="•"/>
            </a:pPr>
            <a:endParaRPr lang="pt-BR" sz="1200" b="0" i="0" baseline="0" dirty="0"/>
          </a:p>
          <a:p>
            <a:pPr marL="171450" indent="-171450">
              <a:buFont typeface="Arial" panose="020B0604020202020204" pitchFamily="34" charset="0"/>
              <a:buChar char="•"/>
            </a:pPr>
            <a:r>
              <a:rPr lang="pt-BR" sz="1200" b="1" dirty="0"/>
              <a:t>Exemplos</a:t>
            </a:r>
            <a:r>
              <a:rPr lang="pt-BR" sz="1200" dirty="0"/>
              <a:t>: </a:t>
            </a:r>
          </a:p>
          <a:p>
            <a:pPr marL="628650" lvl="1" indent="-171450">
              <a:buFont typeface="Arial" panose="020B0604020202020204" pitchFamily="34" charset="0"/>
              <a:buChar char="•"/>
            </a:pPr>
            <a:r>
              <a:rPr lang="pt-BR" sz="1200" dirty="0"/>
              <a:t>Algoritmo </a:t>
            </a:r>
            <a:r>
              <a:rPr lang="pt-BR" sz="1200" baseline="0" dirty="0"/>
              <a:t>muito utilizado em jogos.</a:t>
            </a:r>
          </a:p>
          <a:p>
            <a:pPr marL="1085850" lvl="2" indent="-171450">
              <a:buFont typeface="Arial" panose="020B0604020202020204" pitchFamily="34" charset="0"/>
              <a:buChar char="•"/>
            </a:pPr>
            <a:r>
              <a:rPr lang="pt-BR" sz="1200" dirty="0"/>
              <a:t>O programa </a:t>
            </a:r>
            <a:r>
              <a:rPr lang="pt-BR" sz="1200" dirty="0" err="1"/>
              <a:t>AlphaGo</a:t>
            </a:r>
            <a:r>
              <a:rPr lang="pt-BR" sz="1200" dirty="0"/>
              <a:t> da Google (</a:t>
            </a:r>
            <a:r>
              <a:rPr lang="pt-BR" sz="1200" dirty="0" err="1"/>
              <a:t>DeepMind</a:t>
            </a:r>
            <a:r>
              <a:rPr lang="pt-BR" sz="1200" dirty="0"/>
              <a:t>)</a:t>
            </a:r>
            <a:r>
              <a:rPr lang="pt-BR" sz="1200" baseline="0" dirty="0"/>
              <a:t> utilizou aprendizado por reforço (</a:t>
            </a:r>
            <a:r>
              <a:rPr lang="pt-BR" sz="1200" baseline="0" dirty="0" err="1"/>
              <a:t>Deep</a:t>
            </a:r>
            <a:r>
              <a:rPr lang="pt-BR" sz="1200" baseline="0" dirty="0"/>
              <a:t> </a:t>
            </a:r>
            <a:r>
              <a:rPr lang="pt-BR" sz="1200" baseline="0" dirty="0" err="1"/>
              <a:t>reinforcement</a:t>
            </a:r>
            <a:r>
              <a:rPr lang="pt-BR" sz="1200" baseline="0" dirty="0"/>
              <a:t> learning) para aprender a jogar Go e derrotar o campeão mundial de Go.</a:t>
            </a:r>
          </a:p>
          <a:p>
            <a:pPr marL="1085850" lvl="2" indent="-171450">
              <a:buFont typeface="Arial" panose="020B0604020202020204" pitchFamily="34" charset="0"/>
              <a:buChar char="•"/>
            </a:pPr>
            <a:r>
              <a:rPr lang="pt-BR" sz="1200" baseline="0" dirty="0"/>
              <a:t>Agente jogador de damas</a:t>
            </a:r>
          </a:p>
          <a:p>
            <a:pPr marL="1543050" lvl="3" indent="-171450">
              <a:buFont typeface="Arial" panose="020B0604020202020204" pitchFamily="34" charset="0"/>
              <a:buChar char="•"/>
            </a:pPr>
            <a:r>
              <a:rPr lang="pt-BR" sz="1200" b="1" baseline="0" dirty="0"/>
              <a:t>Estados</a:t>
            </a:r>
            <a:r>
              <a:rPr lang="pt-BR" sz="1200" baseline="0" dirty="0"/>
              <a:t>: as diferentes configurações do tabuleiro.</a:t>
            </a:r>
          </a:p>
          <a:p>
            <a:pPr marL="1543050" lvl="3" indent="-171450">
              <a:buFont typeface="Arial" panose="020B0604020202020204" pitchFamily="34" charset="0"/>
              <a:buChar char="•"/>
            </a:pPr>
            <a:r>
              <a:rPr lang="pt-BR" sz="1200" b="1" baseline="0" dirty="0"/>
              <a:t>Ações</a:t>
            </a:r>
            <a:r>
              <a:rPr lang="pt-BR" sz="1200" baseline="0" dirty="0"/>
              <a:t>: mover uma determinada peça.</a:t>
            </a:r>
          </a:p>
          <a:p>
            <a:pPr marL="1543050" lvl="3" indent="-171450">
              <a:buFont typeface="Arial" panose="020B0604020202020204" pitchFamily="34" charset="0"/>
              <a:buChar char="•"/>
            </a:pPr>
            <a:r>
              <a:rPr lang="pt-BR" sz="1200" b="1" baseline="0" dirty="0"/>
              <a:t>Recompensas</a:t>
            </a:r>
            <a:r>
              <a:rPr lang="pt-BR" sz="1200" baseline="0" dirty="0"/>
              <a:t>: número de capturas de peças vs. número de perdas.</a:t>
            </a:r>
          </a:p>
          <a:p>
            <a:pPr marL="628650" lvl="1" indent="-171450">
              <a:buFont typeface="Arial" panose="020B0604020202020204" pitchFamily="34" charset="0"/>
              <a:buChar char="•"/>
            </a:pPr>
            <a:r>
              <a:rPr lang="pt-BR" sz="1200" dirty="0"/>
              <a:t>Robô aspirador de pó que precisa aprender a limpar uma casa de forma ótima.</a:t>
            </a:r>
          </a:p>
          <a:p>
            <a:pPr marL="0" indent="0">
              <a:buFont typeface="Arial" panose="020B0604020202020204" pitchFamily="34" charset="0"/>
              <a:buNone/>
            </a:pPr>
            <a:endParaRPr lang="nl-BE" sz="1200" dirty="0"/>
          </a:p>
          <a:p>
            <a:pPr marL="171450" indent="-171450">
              <a:buFont typeface="Arial" panose="020B0604020202020204" pitchFamily="34" charset="0"/>
              <a:buChar char="•"/>
            </a:pPr>
            <a:r>
              <a:rPr lang="pt-BR" sz="1200" dirty="0"/>
              <a:t>Os algoritmos de aprendizado por reforço tentam encontrar a </a:t>
            </a:r>
            <a:r>
              <a:rPr lang="pt-BR" sz="1200" b="1" i="1" dirty="0"/>
              <a:t>política</a:t>
            </a:r>
            <a:r>
              <a:rPr lang="pt-BR" sz="1200" dirty="0"/>
              <a:t> que mapeia os </a:t>
            </a:r>
            <a:r>
              <a:rPr lang="pt-BR" sz="1200" b="1" i="1" dirty="0"/>
              <a:t>estados</a:t>
            </a:r>
            <a:r>
              <a:rPr lang="pt-BR" sz="1200" dirty="0"/>
              <a:t> do </a:t>
            </a:r>
            <a:r>
              <a:rPr lang="pt-BR" sz="1200" b="1" i="1" dirty="0"/>
              <a:t>ambiente</a:t>
            </a:r>
            <a:r>
              <a:rPr lang="pt-BR" sz="1200" dirty="0"/>
              <a:t> às </a:t>
            </a:r>
            <a:r>
              <a:rPr lang="pt-BR" sz="1200" b="1" i="1" dirty="0"/>
              <a:t>ações</a:t>
            </a:r>
            <a:r>
              <a:rPr lang="pt-BR" sz="1200" dirty="0"/>
              <a:t> que o </a:t>
            </a:r>
            <a:r>
              <a:rPr lang="pt-BR" sz="1200" b="1" i="1" dirty="0"/>
              <a:t>agente</a:t>
            </a:r>
            <a:r>
              <a:rPr lang="pt-BR" sz="1200" dirty="0"/>
              <a:t> deve tomar nesses </a:t>
            </a:r>
            <a:r>
              <a:rPr lang="pt-BR" sz="1200" b="1" i="1" dirty="0"/>
              <a:t>estados</a:t>
            </a:r>
            <a:r>
              <a:rPr lang="pt-BR" sz="1200" b="0" i="0" dirty="0"/>
              <a:t>.</a:t>
            </a:r>
          </a:p>
          <a:p>
            <a:pPr marL="171450" indent="-171450">
              <a:buFont typeface="Arial" panose="020B0604020202020204" pitchFamily="34" charset="0"/>
              <a:buChar char="•"/>
            </a:pPr>
            <a:r>
              <a:rPr lang="pt-BR" sz="1200" b="0" i="0" dirty="0"/>
              <a:t>Como um algoritmo de aprendizagem aprende a escolher ações apenas</a:t>
            </a:r>
            <a:r>
              <a:rPr lang="pt-BR" sz="1200" b="0" i="0" baseline="0" dirty="0"/>
              <a:t> </a:t>
            </a:r>
            <a:r>
              <a:rPr lang="pt-BR" sz="1200" b="0" i="0" dirty="0"/>
              <a:t>interagindo com o ambiente?</a:t>
            </a:r>
          </a:p>
          <a:p>
            <a:pPr marL="628650" lvl="1" indent="-171450">
              <a:buFont typeface="Arial" panose="020B0604020202020204" pitchFamily="34" charset="0"/>
              <a:buChar char="•"/>
            </a:pPr>
            <a:r>
              <a:rPr lang="pt-BR" sz="1200" b="0" i="0" dirty="0"/>
              <a:t>Muitas vezes, é impraticável o uso de aprendizage</a:t>
            </a:r>
            <a:r>
              <a:rPr lang="pt-BR" sz="1200" b="0" i="0" baseline="0" dirty="0"/>
              <a:t>m </a:t>
            </a:r>
            <a:r>
              <a:rPr lang="pt-BR" sz="1200" b="0" i="0" dirty="0"/>
              <a:t>supervisionada.</a:t>
            </a:r>
          </a:p>
          <a:p>
            <a:pPr marL="1085850" lvl="2" indent="-171450">
              <a:buFont typeface="Arial" panose="020B0604020202020204" pitchFamily="34" charset="0"/>
              <a:buChar char="•"/>
            </a:pPr>
            <a:r>
              <a:rPr lang="pt-BR" sz="1200" b="0" i="0" dirty="0"/>
              <a:t>Como obter exemplos do comportamento correto e</a:t>
            </a:r>
            <a:r>
              <a:rPr lang="pt-BR" sz="1200" b="0" i="0" baseline="0" dirty="0"/>
              <a:t> </a:t>
            </a:r>
            <a:r>
              <a:rPr lang="pt-BR" sz="1200" b="0" i="0" dirty="0"/>
              <a:t>representativo para qualquer situação?</a:t>
            </a:r>
          </a:p>
          <a:p>
            <a:pPr marL="1085850" lvl="2" indent="-171450">
              <a:buFont typeface="Arial" panose="020B0604020202020204" pitchFamily="34" charset="0"/>
              <a:buChar char="•"/>
            </a:pPr>
            <a:r>
              <a:rPr lang="pt-BR" sz="1200" b="0" i="0" dirty="0"/>
              <a:t>E se o agente for atuar em um ambiente desconhecido? </a:t>
            </a:r>
          </a:p>
          <a:p>
            <a:pPr marL="0" indent="0">
              <a:buFont typeface="Arial" panose="020B0604020202020204" pitchFamily="34" charset="0"/>
              <a:buNone/>
            </a:pPr>
            <a:endParaRPr lang="nl-BE" sz="1200"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252642041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jogos (Atari, Go), robótica, sistemas de recomendação com feedback.</a:t>
            </a:r>
          </a:p>
          <a:p>
            <a:r>
              <a:rPr lang="pt-BR" b="1" dirty="0"/>
              <a:t>Visual:</a:t>
            </a:r>
            <a:r>
              <a:rPr lang="pt-BR" dirty="0"/>
              <a:t> Imagem do </a:t>
            </a:r>
            <a:r>
              <a:rPr lang="pt-BR" dirty="0" err="1"/>
              <a:t>AlphaGo</a:t>
            </a:r>
            <a:r>
              <a:rPr lang="pt-BR" dirty="0"/>
              <a:t> ou de um carro autônomo da Tesla.</a:t>
            </a:r>
          </a:p>
          <a:p>
            <a:r>
              <a:rPr lang="pt-BR" b="1" dirty="0"/>
              <a:t>Aplicações:</a:t>
            </a:r>
            <a:endParaRPr lang="pt-BR" dirty="0"/>
          </a:p>
          <a:p>
            <a:r>
              <a:rPr lang="pt-BR" dirty="0"/>
              <a:t>IA que vence campeões mundiais de Xadrez e Go.</a:t>
            </a:r>
          </a:p>
          <a:p>
            <a:r>
              <a:rPr lang="pt-BR" dirty="0"/>
              <a:t>Drones aprendendo a voar sozinhos.</a:t>
            </a:r>
          </a:p>
          <a:p>
            <a:r>
              <a:rPr lang="pt-BR" dirty="0"/>
              <a:t>Otimização de rotas em tempo real.</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35</a:t>
            </a:fld>
            <a:endParaRPr lang="pt-BR"/>
          </a:p>
        </p:txBody>
      </p:sp>
    </p:spTree>
    <p:extLst>
      <p:ext uri="{BB962C8B-B14F-4D97-AF65-F5344CB8AC3E}">
        <p14:creationId xmlns:p14="http://schemas.microsoft.com/office/powerpoint/2010/main" val="173070904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 supervisionado</a:t>
            </a:r>
          </a:p>
          <a:p>
            <a:r>
              <a:rPr lang="pt-BR" dirty="0"/>
              <a:t>B → reforço</a:t>
            </a:r>
          </a:p>
          <a:p>
            <a:r>
              <a:rPr lang="pt-BR" dirty="0"/>
              <a:t>C → não supervisionado (clustering)</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 →  não supervisionado (detecção de anomalias)</a:t>
            </a:r>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42249565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02/08/2026</a:t>
            </a:fld>
            <a:endParaRPr lang="pt-BR"/>
          </a:p>
        </p:txBody>
      </p:sp>
      <p:sp>
        <p:nvSpPr>
          <p:cNvPr id="5" name="Espaço Reservado para Rodapé 4">
            <a:extLst>
              <a:ext uri="{FF2B5EF4-FFF2-40B4-BE49-F238E27FC236}">
                <a16:creationId xmlns=""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02/08/2026</a:t>
            </a:fld>
            <a:endParaRPr lang="pt-BR"/>
          </a:p>
        </p:txBody>
      </p:sp>
      <p:sp>
        <p:nvSpPr>
          <p:cNvPr id="5" name="Espaço Reservado para Rodapé 4">
            <a:extLst>
              <a:ext uri="{FF2B5EF4-FFF2-40B4-BE49-F238E27FC236}">
                <a16:creationId xmlns=""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02/08/2026</a:t>
            </a:fld>
            <a:endParaRPr lang="pt-BR"/>
          </a:p>
        </p:txBody>
      </p:sp>
      <p:sp>
        <p:nvSpPr>
          <p:cNvPr id="5" name="Espaço Reservado para Rodapé 4">
            <a:extLst>
              <a:ext uri="{FF2B5EF4-FFF2-40B4-BE49-F238E27FC236}">
                <a16:creationId xmlns=""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02/08/2026</a:t>
            </a:fld>
            <a:endParaRPr lang="pt-BR"/>
          </a:p>
        </p:txBody>
      </p:sp>
      <p:sp>
        <p:nvSpPr>
          <p:cNvPr id="6" name="Espaço Reservado para Rodapé 5">
            <a:extLst>
              <a:ext uri="{FF2B5EF4-FFF2-40B4-BE49-F238E27FC236}">
                <a16:creationId xmlns=""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02/08/2026</a:t>
            </a:fld>
            <a:endParaRPr lang="pt-BR"/>
          </a:p>
        </p:txBody>
      </p:sp>
      <p:sp>
        <p:nvSpPr>
          <p:cNvPr id="8" name="Espaço Reservado para Rodapé 7">
            <a:extLst>
              <a:ext uri="{FF2B5EF4-FFF2-40B4-BE49-F238E27FC236}">
                <a16:creationId xmlns=""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02/08/2026</a:t>
            </a:fld>
            <a:endParaRPr lang="pt-BR"/>
          </a:p>
        </p:txBody>
      </p:sp>
      <p:sp>
        <p:nvSpPr>
          <p:cNvPr id="4" name="Espaço Reservado para Rodapé 3">
            <a:extLst>
              <a:ext uri="{FF2B5EF4-FFF2-40B4-BE49-F238E27FC236}">
                <a16:creationId xmlns=""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02/08/2026</a:t>
            </a:fld>
            <a:endParaRPr lang="pt-BR"/>
          </a:p>
        </p:txBody>
      </p:sp>
      <p:sp>
        <p:nvSpPr>
          <p:cNvPr id="3" name="Espaço Reservado para Rodapé 2">
            <a:extLst>
              <a:ext uri="{FF2B5EF4-FFF2-40B4-BE49-F238E27FC236}">
                <a16:creationId xmlns=""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02/08/2026</a:t>
            </a:fld>
            <a:endParaRPr lang="pt-BR"/>
          </a:p>
        </p:txBody>
      </p:sp>
      <p:sp>
        <p:nvSpPr>
          <p:cNvPr id="6" name="Espaço Reservado para Rodapé 5">
            <a:extLst>
              <a:ext uri="{FF2B5EF4-FFF2-40B4-BE49-F238E27FC236}">
                <a16:creationId xmlns=""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02/08/2026</a:t>
            </a:fld>
            <a:endParaRPr lang="pt-BR"/>
          </a:p>
        </p:txBody>
      </p:sp>
      <p:sp>
        <p:nvSpPr>
          <p:cNvPr id="6" name="Espaço Reservado para Rodapé 5">
            <a:extLst>
              <a:ext uri="{FF2B5EF4-FFF2-40B4-BE49-F238E27FC236}">
                <a16:creationId xmlns=""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02/08/2026</a:t>
            </a:fld>
            <a:endParaRPr lang="pt-BR"/>
          </a:p>
        </p:txBody>
      </p:sp>
      <p:sp>
        <p:nvSpPr>
          <p:cNvPr id="5" name="Espaço Reservado para Rodapé 4">
            <a:extLst>
              <a:ext uri="{FF2B5EF4-FFF2-40B4-BE49-F238E27FC236}">
                <a16:creationId xmlns=""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02/08/2026</a:t>
            </a:fld>
            <a:endParaRPr lang="pt-BR"/>
          </a:p>
        </p:txBody>
      </p:sp>
      <p:sp>
        <p:nvSpPr>
          <p:cNvPr id="5" name="Espaço Reservado para Rodapé 4">
            <a:extLst>
              <a:ext uri="{FF2B5EF4-FFF2-40B4-BE49-F238E27FC236}">
                <a16:creationId xmlns=""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02/08/2026</a:t>
            </a:fld>
            <a:endParaRPr lang="pt-BR"/>
          </a:p>
        </p:txBody>
      </p:sp>
      <p:sp>
        <p:nvSpPr>
          <p:cNvPr id="5" name="Espaço Reservado para Rodapé 4">
            <a:extLst>
              <a:ext uri="{FF2B5EF4-FFF2-40B4-BE49-F238E27FC236}">
                <a16:creationId xmlns=""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1.png"/><Relationship Id="rId7" Type="http://schemas.openxmlformats.org/officeDocument/2006/relationships/image" Target="../media/image14.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7.png"/></Relationships>
</file>

<file path=ppt/slides/_rels/slide1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8.jpe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22.png"/><Relationship Id="rId4" Type="http://schemas.openxmlformats.org/officeDocument/2006/relationships/image" Target="../media/image21.jpeg"/></Relationships>
</file>

<file path=ppt/slides/_rels/slide1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25.jpeg"/><Relationship Id="rId4" Type="http://schemas.openxmlformats.org/officeDocument/2006/relationships/image" Target="../media/image24.jpeg"/></Relationships>
</file>

<file path=ppt/slides/_rels/slide2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10.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3.jpe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31.xml.rels><?xml version="1.0" encoding="UTF-8" standalone="yes"?>
<Relationships xmlns="http://schemas.openxmlformats.org/package/2006/relationships"><Relationship Id="rId3" Type="http://schemas.openxmlformats.org/officeDocument/2006/relationships/image" Target="../media/image35.jpe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7.jpe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9.jpe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hyperlink" Target="https://www.youtube.com/watch?v=V1eYniJ0Rnk" TargetMode="External"/><Relationship Id="rId5" Type="http://schemas.openxmlformats.org/officeDocument/2006/relationships/image" Target="../media/image41.jpeg"/><Relationship Id="rId4" Type="http://schemas.openxmlformats.org/officeDocument/2006/relationships/image" Target="../media/image40.jpe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hyperlink" Target="https://github.com/zz4fap/c24_inteligencia_artificial/blob/main/listas/Lista%202%20-%20Paradigmas%20do%20aprendizado%20de%20m%C3%A1quina.pdf" TargetMode="Externa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579368"/>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r>
              <a:rPr lang="pt-BR" sz="7200" dirty="0"/>
              <a:t/>
            </a:r>
            <a:br>
              <a:rPr lang="pt-BR" sz="7200" dirty="0"/>
            </a:br>
            <a:r>
              <a:rPr lang="pt-BR" sz="7200" b="1" i="1" dirty="0"/>
              <a:t>Paradigmas de </a:t>
            </a:r>
            <a:r>
              <a:rPr lang="pt-BR" sz="7200" b="1" i="1" dirty="0" smtClean="0"/>
              <a:t>aprendizado de máquina</a:t>
            </a:r>
            <a:endParaRPr lang="pt-BR" sz="7200" b="1" i="1" dirty="0"/>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tângulo 3"/>
          <p:cNvSpPr/>
          <p:nvPr/>
        </p:nvSpPr>
        <p:spPr>
          <a:xfrm>
            <a:off x="3111689" y="6081790"/>
            <a:ext cx="5968622" cy="646331"/>
          </a:xfrm>
          <a:prstGeom prst="rect">
            <a:avLst/>
          </a:prstGeom>
        </p:spPr>
        <p:txBody>
          <a:bodyPr wrap="none">
            <a:spAutoFit/>
          </a:bodyPr>
          <a:lstStyle/>
          <a:p>
            <a:pPr algn="ctr"/>
            <a:r>
              <a:rPr lang="pt-BR" sz="3600" dirty="0"/>
              <a:t>Como as máquinas aprendem?</a:t>
            </a:r>
          </a:p>
        </p:txBody>
      </p:sp>
      <p:pic>
        <p:nvPicPr>
          <p:cNvPr id="5" name="Imagem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7404" y="453044"/>
            <a:ext cx="10058400" cy="5486400"/>
          </a:xfrm>
          <a:prstGeom prst="rect">
            <a:avLst/>
          </a:prstGeom>
        </p:spPr>
      </p:pic>
    </p:spTree>
    <p:extLst>
      <p:ext uri="{BB962C8B-B14F-4D97-AF65-F5344CB8AC3E}">
        <p14:creationId xmlns:p14="http://schemas.microsoft.com/office/powerpoint/2010/main" val="9725519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72F6F8E7-B4A0-19D4-54F3-D87397978D6A}"/>
            </a:ext>
          </a:extLst>
        </p:cNvPr>
        <p:cNvGrpSpPr/>
        <p:nvPr/>
      </p:nvGrpSpPr>
      <p:grpSpPr>
        <a:xfrm>
          <a:off x="0" y="0"/>
          <a:ext cx="0" cy="0"/>
          <a:chOff x="0" y="0"/>
          <a:chExt cx="0" cy="0"/>
        </a:xfrm>
      </p:grpSpPr>
      <p:sp>
        <p:nvSpPr>
          <p:cNvPr id="4" name="Retângulo 3">
            <a:extLst>
              <a:ext uri="{FF2B5EF4-FFF2-40B4-BE49-F238E27FC236}">
                <a16:creationId xmlns="" xmlns:a16="http://schemas.microsoft.com/office/drawing/2014/main" id="{1D866E44-60CC-F92D-9D10-5A4ABCEF4765}"/>
              </a:ext>
            </a:extLst>
          </p:cNvPr>
          <p:cNvSpPr/>
          <p:nvPr/>
        </p:nvSpPr>
        <p:spPr>
          <a:xfrm>
            <a:off x="7903029" y="2151727"/>
            <a:ext cx="4103913" cy="2554545"/>
          </a:xfrm>
          <a:prstGeom prst="rect">
            <a:avLst/>
          </a:prstGeom>
        </p:spPr>
        <p:txBody>
          <a:bodyPr wrap="square">
            <a:spAutoFit/>
          </a:bodyPr>
          <a:lstStyle/>
          <a:p>
            <a:pPr algn="ctr"/>
            <a:r>
              <a:rPr lang="pt-BR" sz="3200" dirty="0"/>
              <a:t>Na aula de hoje discutiremos os principais </a:t>
            </a:r>
            <a:r>
              <a:rPr lang="pt-BR" sz="3200" b="1" dirty="0"/>
              <a:t>paradigmas do aprendizado de máquina</a:t>
            </a:r>
          </a:p>
        </p:txBody>
      </p:sp>
      <p:pic>
        <p:nvPicPr>
          <p:cNvPr id="3" name="Picture 2">
            <a:extLst>
              <a:ext uri="{FF2B5EF4-FFF2-40B4-BE49-F238E27FC236}">
                <a16:creationId xmlns="" xmlns:a16="http://schemas.microsoft.com/office/drawing/2014/main" id="{3E344BA1-CAAD-E8D9-88E6-6230994EEC4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83027" y="1505197"/>
            <a:ext cx="7358742" cy="4013859"/>
          </a:xfrm>
          <a:prstGeom prst="rect">
            <a:avLst/>
          </a:prstGeom>
        </p:spPr>
      </p:pic>
    </p:spTree>
    <p:extLst>
      <p:ext uri="{BB962C8B-B14F-4D97-AF65-F5344CB8AC3E}">
        <p14:creationId xmlns:p14="http://schemas.microsoft.com/office/powerpoint/2010/main" val="40492515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7F5FF925-67DE-CC62-E869-C6E3C1D771E6}"/>
              </a:ext>
            </a:extLst>
          </p:cNvPr>
          <p:cNvSpPr>
            <a:spLocks noGrp="1"/>
          </p:cNvSpPr>
          <p:nvPr>
            <p:ph type="title"/>
          </p:nvPr>
        </p:nvSpPr>
        <p:spPr/>
        <p:txBody>
          <a:bodyPr/>
          <a:lstStyle/>
          <a:p>
            <a:r>
              <a:rPr lang="pt-BR" dirty="0" smtClean="0"/>
              <a:t>Paradigma da programação </a:t>
            </a:r>
            <a:r>
              <a:rPr lang="pt-BR" dirty="0"/>
              <a:t>tradicional</a:t>
            </a:r>
          </a:p>
        </p:txBody>
      </p:sp>
      <p:sp>
        <p:nvSpPr>
          <p:cNvPr id="3" name="Espaço Reservado para Conteúdo 2">
            <a:extLst>
              <a:ext uri="{FF2B5EF4-FFF2-40B4-BE49-F238E27FC236}">
                <a16:creationId xmlns="" xmlns:a16="http://schemas.microsoft.com/office/drawing/2014/main" id="{7DA84068-671A-9D40-4F76-2C57E4F720C2}"/>
              </a:ext>
            </a:extLst>
          </p:cNvPr>
          <p:cNvSpPr>
            <a:spLocks noGrp="1"/>
          </p:cNvSpPr>
          <p:nvPr>
            <p:ph idx="1"/>
          </p:nvPr>
        </p:nvSpPr>
        <p:spPr>
          <a:xfrm>
            <a:off x="838199" y="1825624"/>
            <a:ext cx="11132127" cy="5032375"/>
          </a:xfrm>
        </p:spPr>
        <p:txBody>
          <a:bodyPr/>
          <a:lstStyle/>
          <a:p>
            <a:r>
              <a:rPr lang="pt-BR" b="1" dirty="0"/>
              <a:t>Programação Tradicional:</a:t>
            </a:r>
            <a:r>
              <a:rPr lang="pt-BR" dirty="0"/>
              <a:t> Nós </a:t>
            </a:r>
            <a:r>
              <a:rPr lang="pt-BR" b="1" dirty="0" smtClean="0">
                <a:solidFill>
                  <a:srgbClr val="7030A0"/>
                </a:solidFill>
              </a:rPr>
              <a:t>humanos criamos </a:t>
            </a:r>
            <a:r>
              <a:rPr lang="pt-BR" dirty="0" smtClean="0"/>
              <a:t>as </a:t>
            </a:r>
            <a:r>
              <a:rPr lang="pt-BR" b="1" dirty="0"/>
              <a:t>regras</a:t>
            </a:r>
            <a:r>
              <a:rPr lang="pt-BR" dirty="0"/>
              <a:t> (i.e., o programa) e os </a:t>
            </a:r>
            <a:r>
              <a:rPr lang="pt-BR" b="1" dirty="0"/>
              <a:t>dados</a:t>
            </a:r>
            <a:r>
              <a:rPr lang="pt-BR" dirty="0"/>
              <a:t> </a:t>
            </a:r>
            <a:r>
              <a:rPr lang="pt-BR" dirty="0" smtClean="0"/>
              <a:t>e o </a:t>
            </a:r>
            <a:r>
              <a:rPr lang="pt-BR" b="1" dirty="0">
                <a:solidFill>
                  <a:schemeClr val="accent2"/>
                </a:solidFill>
              </a:rPr>
              <a:t>computador</a:t>
            </a:r>
            <a:r>
              <a:rPr lang="pt-BR" dirty="0"/>
              <a:t> gera o </a:t>
            </a:r>
            <a:r>
              <a:rPr lang="pt-BR" b="1" dirty="0"/>
              <a:t>resultado</a:t>
            </a:r>
            <a:r>
              <a:rPr lang="pt-BR" dirty="0"/>
              <a:t>.</a:t>
            </a:r>
          </a:p>
          <a:p>
            <a:pPr lvl="1">
              <a:buFont typeface="Wingdings" panose="05000000000000000000" pitchFamily="2" charset="2"/>
              <a:buChar char="§"/>
            </a:pPr>
            <a:r>
              <a:rPr lang="pt-BR" dirty="0"/>
              <a:t>Exemplo</a:t>
            </a:r>
            <a:r>
              <a:rPr lang="pt-BR" i="1" dirty="0"/>
              <a:t>:</a:t>
            </a:r>
            <a:r>
              <a:rPr lang="pt-BR" dirty="0"/>
              <a:t> "Se o e-mail tiver a palavra 'PROMOÇÃO', mova para o lixo."</a:t>
            </a:r>
          </a:p>
        </p:txBody>
      </p:sp>
      <p:sp>
        <p:nvSpPr>
          <p:cNvPr id="4" name="Retângulo 3"/>
          <p:cNvSpPr/>
          <p:nvPr/>
        </p:nvSpPr>
        <p:spPr>
          <a:xfrm>
            <a:off x="4621876" y="4073236"/>
            <a:ext cx="3192088" cy="146304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3200" b="1" dirty="0"/>
              <a:t>Computador</a:t>
            </a:r>
          </a:p>
        </p:txBody>
      </p:sp>
      <p:cxnSp>
        <p:nvCxnSpPr>
          <p:cNvPr id="6" name="Conector de seta reta 5"/>
          <p:cNvCxnSpPr/>
          <p:nvPr/>
        </p:nvCxnSpPr>
        <p:spPr>
          <a:xfrm>
            <a:off x="3361876" y="4389120"/>
            <a:ext cx="1260000"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10" name="Conector de seta reta 9"/>
          <p:cNvCxnSpPr/>
          <p:nvPr/>
        </p:nvCxnSpPr>
        <p:spPr>
          <a:xfrm>
            <a:off x="3361876" y="5189913"/>
            <a:ext cx="1260000"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11" name="Conector de seta reta 10"/>
          <p:cNvCxnSpPr/>
          <p:nvPr/>
        </p:nvCxnSpPr>
        <p:spPr>
          <a:xfrm>
            <a:off x="7813964" y="4810299"/>
            <a:ext cx="1260000"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sp>
        <p:nvSpPr>
          <p:cNvPr id="5" name="Retângulo 4"/>
          <p:cNvSpPr/>
          <p:nvPr/>
        </p:nvSpPr>
        <p:spPr>
          <a:xfrm>
            <a:off x="2227964" y="4014449"/>
            <a:ext cx="1235788" cy="738664"/>
          </a:xfrm>
          <a:prstGeom prst="rect">
            <a:avLst/>
          </a:prstGeom>
        </p:spPr>
        <p:txBody>
          <a:bodyPr wrap="none">
            <a:spAutoFit/>
          </a:bodyPr>
          <a:lstStyle/>
          <a:p>
            <a:pPr algn="ctr"/>
            <a:r>
              <a:rPr lang="pt-BR" sz="2400" b="1" dirty="0"/>
              <a:t>regras</a:t>
            </a:r>
          </a:p>
          <a:p>
            <a:pPr algn="ctr"/>
            <a:r>
              <a:rPr lang="pt-BR" dirty="0"/>
              <a:t>(programa)</a:t>
            </a:r>
            <a:endParaRPr lang="pt-BR" sz="2000" dirty="0"/>
          </a:p>
        </p:txBody>
      </p:sp>
      <p:sp>
        <p:nvSpPr>
          <p:cNvPr id="9" name="Retângulo 8"/>
          <p:cNvSpPr/>
          <p:nvPr/>
        </p:nvSpPr>
        <p:spPr>
          <a:xfrm>
            <a:off x="2272848" y="4820581"/>
            <a:ext cx="1146019" cy="738664"/>
          </a:xfrm>
          <a:prstGeom prst="rect">
            <a:avLst/>
          </a:prstGeom>
        </p:spPr>
        <p:txBody>
          <a:bodyPr wrap="none">
            <a:spAutoFit/>
          </a:bodyPr>
          <a:lstStyle/>
          <a:p>
            <a:pPr algn="ctr"/>
            <a:r>
              <a:rPr lang="pt-BR" sz="2400" b="1" dirty="0"/>
              <a:t>dados</a:t>
            </a:r>
          </a:p>
          <a:p>
            <a:pPr algn="ctr"/>
            <a:r>
              <a:rPr lang="pt-BR" dirty="0"/>
              <a:t>(entradas)</a:t>
            </a:r>
            <a:endParaRPr lang="pt-BR" sz="2800" dirty="0"/>
          </a:p>
        </p:txBody>
      </p:sp>
      <p:sp>
        <p:nvSpPr>
          <p:cNvPr id="12" name="Retângulo 11"/>
          <p:cNvSpPr/>
          <p:nvPr/>
        </p:nvSpPr>
        <p:spPr>
          <a:xfrm>
            <a:off x="9132193" y="4435424"/>
            <a:ext cx="1519903" cy="738664"/>
          </a:xfrm>
          <a:prstGeom prst="rect">
            <a:avLst/>
          </a:prstGeom>
        </p:spPr>
        <p:txBody>
          <a:bodyPr wrap="none">
            <a:spAutoFit/>
          </a:bodyPr>
          <a:lstStyle/>
          <a:p>
            <a:r>
              <a:rPr lang="pt-BR" sz="2400" b="1" dirty="0"/>
              <a:t>resultados</a:t>
            </a:r>
          </a:p>
          <a:p>
            <a:pPr algn="ctr"/>
            <a:r>
              <a:rPr lang="pt-BR" dirty="0"/>
              <a:t>(saídas)</a:t>
            </a:r>
          </a:p>
        </p:txBody>
      </p:sp>
    </p:spTree>
    <p:extLst>
      <p:ext uri="{BB962C8B-B14F-4D97-AF65-F5344CB8AC3E}">
        <p14:creationId xmlns:p14="http://schemas.microsoft.com/office/powerpoint/2010/main" val="36411824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p:cNvSpPr>
            <a:spLocks noGrp="1"/>
          </p:cNvSpPr>
          <p:nvPr>
            <p:ph idx="1"/>
          </p:nvPr>
        </p:nvSpPr>
        <p:spPr>
          <a:xfrm>
            <a:off x="6583680" y="2219521"/>
            <a:ext cx="5289452" cy="2858917"/>
          </a:xfrm>
        </p:spPr>
        <p:txBody>
          <a:bodyPr>
            <a:normAutofit/>
          </a:bodyPr>
          <a:lstStyle/>
          <a:p>
            <a:pPr marL="0" indent="0" algn="ctr">
              <a:buNone/>
            </a:pPr>
            <a:r>
              <a:rPr lang="pt-BR" sz="3600" dirty="0" smtClean="0"/>
              <a:t>No aprendizado de máquina, as máquinas aprendem sem serem explicitamente programadas.</a:t>
            </a:r>
            <a:endParaRPr lang="pt-BR" sz="3600" dirty="0"/>
          </a:p>
        </p:txBody>
      </p:sp>
      <p:pic>
        <p:nvPicPr>
          <p:cNvPr id="4" name="Imagem 3"/>
          <p:cNvPicPr>
            <a:picLocks noChangeAspect="1"/>
          </p:cNvPicPr>
          <p:nvPr/>
        </p:nvPicPr>
        <p:blipFill rotWithShape="1">
          <a:blip r:embed="rId2">
            <a:extLst>
              <a:ext uri="{28A0092B-C50C-407E-A947-70E740481C1C}">
                <a14:useLocalDpi xmlns:a14="http://schemas.microsoft.com/office/drawing/2010/main" val="0"/>
              </a:ext>
            </a:extLst>
          </a:blip>
          <a:srcRect l="19061" t="5035" r="5134" b="5175"/>
          <a:stretch/>
        </p:blipFill>
        <p:spPr>
          <a:xfrm>
            <a:off x="301470" y="1026943"/>
            <a:ext cx="6074810" cy="4797082"/>
          </a:xfrm>
          <a:prstGeom prst="rect">
            <a:avLst/>
          </a:prstGeom>
        </p:spPr>
      </p:pic>
    </p:spTree>
    <p:extLst>
      <p:ext uri="{BB962C8B-B14F-4D97-AF65-F5344CB8AC3E}">
        <p14:creationId xmlns:p14="http://schemas.microsoft.com/office/powerpoint/2010/main" val="14095827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7F5FF925-67DE-CC62-E869-C6E3C1D771E6}"/>
              </a:ext>
            </a:extLst>
          </p:cNvPr>
          <p:cNvSpPr>
            <a:spLocks noGrp="1"/>
          </p:cNvSpPr>
          <p:nvPr>
            <p:ph type="title"/>
          </p:nvPr>
        </p:nvSpPr>
        <p:spPr/>
        <p:txBody>
          <a:bodyPr/>
          <a:lstStyle/>
          <a:p>
            <a:r>
              <a:rPr lang="pt-BR" dirty="0"/>
              <a:t>Paradigma do aprendizado de máquina</a:t>
            </a:r>
          </a:p>
        </p:txBody>
      </p:sp>
      <p:sp>
        <p:nvSpPr>
          <p:cNvPr id="3" name="Espaço Reservado para Conteúdo 2">
            <a:extLst>
              <a:ext uri="{FF2B5EF4-FFF2-40B4-BE49-F238E27FC236}">
                <a16:creationId xmlns="" xmlns:a16="http://schemas.microsoft.com/office/drawing/2014/main" id="{7DA84068-671A-9D40-4F76-2C57E4F720C2}"/>
              </a:ext>
            </a:extLst>
          </p:cNvPr>
          <p:cNvSpPr>
            <a:spLocks noGrp="1"/>
          </p:cNvSpPr>
          <p:nvPr>
            <p:ph idx="1"/>
          </p:nvPr>
        </p:nvSpPr>
        <p:spPr>
          <a:xfrm>
            <a:off x="838199" y="1825624"/>
            <a:ext cx="11132127" cy="5032375"/>
          </a:xfrm>
        </p:spPr>
        <p:txBody>
          <a:bodyPr/>
          <a:lstStyle/>
          <a:p>
            <a:r>
              <a:rPr lang="pt-BR" b="1" i="1" dirty="0"/>
              <a:t>Machine Learning</a:t>
            </a:r>
            <a:r>
              <a:rPr lang="pt-BR" b="1" dirty="0"/>
              <a:t> (ML):</a:t>
            </a:r>
            <a:r>
              <a:rPr lang="pt-BR" dirty="0"/>
              <a:t> </a:t>
            </a:r>
            <a:r>
              <a:rPr lang="pt-BR" dirty="0" smtClean="0"/>
              <a:t>Nós </a:t>
            </a:r>
            <a:r>
              <a:rPr lang="pt-BR" b="1" dirty="0" smtClean="0">
                <a:solidFill>
                  <a:schemeClr val="accent1"/>
                </a:solidFill>
              </a:rPr>
              <a:t>humanos</a:t>
            </a:r>
            <a:r>
              <a:rPr lang="pt-BR" dirty="0" smtClean="0"/>
              <a:t> fornecemos os </a:t>
            </a:r>
            <a:r>
              <a:rPr lang="pt-BR" b="1" dirty="0" smtClean="0"/>
              <a:t>dados</a:t>
            </a:r>
            <a:r>
              <a:rPr lang="pt-BR" dirty="0" smtClean="0"/>
              <a:t> </a:t>
            </a:r>
            <a:r>
              <a:rPr lang="pt-BR" dirty="0"/>
              <a:t>e os </a:t>
            </a:r>
            <a:r>
              <a:rPr lang="pt-BR" b="1" dirty="0"/>
              <a:t>resultados</a:t>
            </a:r>
            <a:r>
              <a:rPr lang="pt-BR" dirty="0"/>
              <a:t> </a:t>
            </a:r>
            <a:r>
              <a:rPr lang="pt-BR" dirty="0" smtClean="0"/>
              <a:t>e o</a:t>
            </a:r>
            <a:r>
              <a:rPr lang="pt-BR" dirty="0" smtClean="0"/>
              <a:t> </a:t>
            </a:r>
            <a:r>
              <a:rPr lang="pt-BR" b="1" dirty="0">
                <a:solidFill>
                  <a:schemeClr val="accent2"/>
                </a:solidFill>
              </a:rPr>
              <a:t>computador</a:t>
            </a:r>
            <a:r>
              <a:rPr lang="pt-BR" dirty="0"/>
              <a:t> </a:t>
            </a:r>
            <a:r>
              <a:rPr lang="pt-BR" b="1" dirty="0" smtClean="0">
                <a:solidFill>
                  <a:srgbClr val="7030A0"/>
                </a:solidFill>
              </a:rPr>
              <a:t>descobre/aprende</a:t>
            </a:r>
            <a:r>
              <a:rPr lang="pt-BR" dirty="0" smtClean="0"/>
              <a:t> </a:t>
            </a:r>
            <a:r>
              <a:rPr lang="pt-BR" dirty="0"/>
              <a:t>as </a:t>
            </a:r>
            <a:r>
              <a:rPr lang="pt-BR" b="1" dirty="0"/>
              <a:t>regras</a:t>
            </a:r>
            <a:r>
              <a:rPr lang="pt-BR" dirty="0"/>
              <a:t>.</a:t>
            </a:r>
          </a:p>
          <a:p>
            <a:pPr lvl="1">
              <a:buFont typeface="Wingdings" panose="05000000000000000000" pitchFamily="2" charset="2"/>
              <a:buChar char="§"/>
            </a:pPr>
            <a:r>
              <a:rPr lang="pt-BR" dirty="0"/>
              <a:t>Exemplo</a:t>
            </a:r>
            <a:r>
              <a:rPr lang="pt-BR" i="1" dirty="0"/>
              <a:t>:</a:t>
            </a:r>
            <a:r>
              <a:rPr lang="pt-BR" dirty="0"/>
              <a:t> "Aqui estão 1.000 e-mails que são </a:t>
            </a:r>
            <a:r>
              <a:rPr lang="pt-BR" i="1" dirty="0"/>
              <a:t>spam</a:t>
            </a:r>
            <a:r>
              <a:rPr lang="pt-BR" dirty="0"/>
              <a:t> e 1.000 que não são. Descubra o padrão sozinho."</a:t>
            </a:r>
          </a:p>
        </p:txBody>
      </p:sp>
      <p:sp>
        <p:nvSpPr>
          <p:cNvPr id="4" name="Retângulo 3"/>
          <p:cNvSpPr/>
          <p:nvPr/>
        </p:nvSpPr>
        <p:spPr>
          <a:xfrm>
            <a:off x="4621876" y="4073236"/>
            <a:ext cx="3192088" cy="146304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3200" b="1" dirty="0"/>
              <a:t>Computador</a:t>
            </a:r>
          </a:p>
        </p:txBody>
      </p:sp>
      <p:cxnSp>
        <p:nvCxnSpPr>
          <p:cNvPr id="5" name="Conector de seta reta 4"/>
          <p:cNvCxnSpPr/>
          <p:nvPr/>
        </p:nvCxnSpPr>
        <p:spPr>
          <a:xfrm>
            <a:off x="3361876" y="4389120"/>
            <a:ext cx="1260000"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6" name="Conector de seta reta 5"/>
          <p:cNvCxnSpPr/>
          <p:nvPr/>
        </p:nvCxnSpPr>
        <p:spPr>
          <a:xfrm>
            <a:off x="3361876" y="5189913"/>
            <a:ext cx="1260000"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p:cNvCxnSpPr/>
          <p:nvPr/>
        </p:nvCxnSpPr>
        <p:spPr>
          <a:xfrm>
            <a:off x="7813964" y="4810299"/>
            <a:ext cx="1260000"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sp>
        <p:nvSpPr>
          <p:cNvPr id="8" name="Retângulo 7"/>
          <p:cNvSpPr/>
          <p:nvPr/>
        </p:nvSpPr>
        <p:spPr>
          <a:xfrm>
            <a:off x="2157029" y="4014449"/>
            <a:ext cx="1146018" cy="738664"/>
          </a:xfrm>
          <a:prstGeom prst="rect">
            <a:avLst/>
          </a:prstGeom>
        </p:spPr>
        <p:txBody>
          <a:bodyPr wrap="none">
            <a:spAutoFit/>
          </a:bodyPr>
          <a:lstStyle/>
          <a:p>
            <a:pPr algn="ctr"/>
            <a:r>
              <a:rPr lang="pt-BR" sz="2400" b="1" dirty="0"/>
              <a:t>dados</a:t>
            </a:r>
          </a:p>
          <a:p>
            <a:pPr algn="ctr"/>
            <a:r>
              <a:rPr lang="pt-BR" dirty="0"/>
              <a:t>(entradas)</a:t>
            </a:r>
            <a:endParaRPr lang="pt-BR" sz="2800" dirty="0"/>
          </a:p>
        </p:txBody>
      </p:sp>
      <p:sp>
        <p:nvSpPr>
          <p:cNvPr id="9" name="Retângulo 8"/>
          <p:cNvSpPr/>
          <p:nvPr/>
        </p:nvSpPr>
        <p:spPr>
          <a:xfrm>
            <a:off x="1841973" y="4784177"/>
            <a:ext cx="1519903" cy="738664"/>
          </a:xfrm>
          <a:prstGeom prst="rect">
            <a:avLst/>
          </a:prstGeom>
        </p:spPr>
        <p:txBody>
          <a:bodyPr wrap="none">
            <a:spAutoFit/>
          </a:bodyPr>
          <a:lstStyle/>
          <a:p>
            <a:pPr algn="ctr"/>
            <a:r>
              <a:rPr lang="pt-BR" sz="2400" b="1" dirty="0"/>
              <a:t>resultados</a:t>
            </a:r>
          </a:p>
          <a:p>
            <a:pPr algn="ctr"/>
            <a:r>
              <a:rPr lang="pt-BR" dirty="0"/>
              <a:t>(rótulos)</a:t>
            </a:r>
            <a:endParaRPr lang="pt-BR" sz="2800" dirty="0"/>
          </a:p>
        </p:txBody>
      </p:sp>
      <p:sp>
        <p:nvSpPr>
          <p:cNvPr id="10" name="Retângulo 9"/>
          <p:cNvSpPr/>
          <p:nvPr/>
        </p:nvSpPr>
        <p:spPr>
          <a:xfrm>
            <a:off x="9073964" y="4414845"/>
            <a:ext cx="1043876" cy="738664"/>
          </a:xfrm>
          <a:prstGeom prst="rect">
            <a:avLst/>
          </a:prstGeom>
        </p:spPr>
        <p:txBody>
          <a:bodyPr wrap="none">
            <a:spAutoFit/>
          </a:bodyPr>
          <a:lstStyle/>
          <a:p>
            <a:pPr algn="ctr"/>
            <a:r>
              <a:rPr lang="pt-BR" sz="2400" b="1" dirty="0"/>
              <a:t>regras</a:t>
            </a:r>
          </a:p>
          <a:p>
            <a:pPr algn="ctr"/>
            <a:r>
              <a:rPr lang="pt-BR" dirty="0"/>
              <a:t>(modelo)</a:t>
            </a:r>
            <a:endParaRPr lang="pt-BR" sz="2800" dirty="0"/>
          </a:p>
        </p:txBody>
      </p:sp>
      <p:sp>
        <p:nvSpPr>
          <p:cNvPr id="12" name="Retângulo 11"/>
          <p:cNvSpPr/>
          <p:nvPr/>
        </p:nvSpPr>
        <p:spPr>
          <a:xfrm>
            <a:off x="2730038" y="5990706"/>
            <a:ext cx="7337714" cy="461665"/>
          </a:xfrm>
          <a:prstGeom prst="rect">
            <a:avLst/>
          </a:prstGeom>
        </p:spPr>
        <p:txBody>
          <a:bodyPr wrap="none">
            <a:spAutoFit/>
          </a:bodyPr>
          <a:lstStyle/>
          <a:p>
            <a:r>
              <a:rPr lang="pt-BR" sz="2400" dirty="0"/>
              <a:t>A máquina </a:t>
            </a:r>
            <a:r>
              <a:rPr lang="pt-BR" sz="2400" b="1" dirty="0">
                <a:solidFill>
                  <a:srgbClr val="00B050"/>
                </a:solidFill>
              </a:rPr>
              <a:t>cria suas próprias regras </a:t>
            </a:r>
            <a:r>
              <a:rPr lang="pt-BR" sz="2400" dirty="0"/>
              <a:t>baseadas nos </a:t>
            </a:r>
            <a:r>
              <a:rPr lang="pt-BR" sz="2400" b="1" dirty="0">
                <a:solidFill>
                  <a:srgbClr val="00B050"/>
                </a:solidFill>
              </a:rPr>
              <a:t>dados</a:t>
            </a:r>
            <a:r>
              <a:rPr lang="pt-BR" sz="2400" dirty="0"/>
              <a:t>.</a:t>
            </a:r>
          </a:p>
        </p:txBody>
      </p:sp>
    </p:spTree>
    <p:extLst>
      <p:ext uri="{BB962C8B-B14F-4D97-AF65-F5344CB8AC3E}">
        <p14:creationId xmlns:p14="http://schemas.microsoft.com/office/powerpoint/2010/main" val="8853699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7F5FF925-67DE-CC62-E869-C6E3C1D771E6}"/>
              </a:ext>
            </a:extLst>
          </p:cNvPr>
          <p:cNvSpPr>
            <a:spLocks noGrp="1"/>
          </p:cNvSpPr>
          <p:nvPr>
            <p:ph type="title"/>
          </p:nvPr>
        </p:nvSpPr>
        <p:spPr/>
        <p:txBody>
          <a:bodyPr/>
          <a:lstStyle/>
          <a:p>
            <a:r>
              <a:rPr lang="pt-BR" dirty="0"/>
              <a:t>Paradigma do aprendizado de máquina</a:t>
            </a:r>
          </a:p>
        </p:txBody>
      </p:sp>
      <p:sp>
        <p:nvSpPr>
          <p:cNvPr id="3" name="Espaço Reservado para Conteúdo 2">
            <a:extLst>
              <a:ext uri="{FF2B5EF4-FFF2-40B4-BE49-F238E27FC236}">
                <a16:creationId xmlns="" xmlns:a16="http://schemas.microsoft.com/office/drawing/2014/main" id="{7DA84068-671A-9D40-4F76-2C57E4F720C2}"/>
              </a:ext>
            </a:extLst>
          </p:cNvPr>
          <p:cNvSpPr>
            <a:spLocks noGrp="1"/>
          </p:cNvSpPr>
          <p:nvPr>
            <p:ph idx="1"/>
          </p:nvPr>
        </p:nvSpPr>
        <p:spPr>
          <a:xfrm>
            <a:off x="838199" y="1825624"/>
            <a:ext cx="11132127" cy="5032375"/>
          </a:xfrm>
        </p:spPr>
        <p:txBody>
          <a:bodyPr/>
          <a:lstStyle/>
          <a:p>
            <a:r>
              <a:rPr lang="pt-BR" b="1" dirty="0"/>
              <a:t>O combustível do </a:t>
            </a:r>
            <a:r>
              <a:rPr lang="pt-BR" b="1" dirty="0" smtClean="0"/>
              <a:t>ML</a:t>
            </a:r>
            <a:r>
              <a:rPr lang="pt-BR" dirty="0" smtClean="0"/>
              <a:t> são o dados </a:t>
            </a:r>
            <a:r>
              <a:rPr lang="pt-BR" dirty="0"/>
              <a:t>(muitos dados!).</a:t>
            </a:r>
          </a:p>
          <a:p>
            <a:r>
              <a:rPr lang="pt-BR" b="1" dirty="0"/>
              <a:t>O objetivo:</a:t>
            </a:r>
            <a:r>
              <a:rPr lang="pt-BR" dirty="0"/>
              <a:t> </a:t>
            </a:r>
            <a:r>
              <a:rPr lang="pt-BR" dirty="0" smtClean="0"/>
              <a:t>Treinar um modelo que </a:t>
            </a:r>
            <a:r>
              <a:rPr lang="pt-BR" b="1" dirty="0" smtClean="0">
                <a:solidFill>
                  <a:srgbClr val="7030A0"/>
                </a:solidFill>
              </a:rPr>
              <a:t>generalize</a:t>
            </a:r>
            <a:r>
              <a:rPr lang="pt-BR" dirty="0" smtClean="0">
                <a:solidFill>
                  <a:srgbClr val="7030A0"/>
                </a:solidFill>
              </a:rPr>
              <a:t> </a:t>
            </a:r>
            <a:r>
              <a:rPr lang="pt-BR" dirty="0"/>
              <a:t>o conhecimento para tomar </a:t>
            </a:r>
            <a:r>
              <a:rPr lang="pt-BR" b="1" dirty="0">
                <a:solidFill>
                  <a:srgbClr val="7030A0"/>
                </a:solidFill>
              </a:rPr>
              <a:t>decisões</a:t>
            </a:r>
            <a:r>
              <a:rPr lang="pt-BR" dirty="0"/>
              <a:t> sobre algo que a </a:t>
            </a:r>
            <a:r>
              <a:rPr lang="pt-BR" b="1" dirty="0">
                <a:solidFill>
                  <a:srgbClr val="7030A0"/>
                </a:solidFill>
              </a:rPr>
              <a:t>máquina nunca viu antes</a:t>
            </a:r>
            <a:r>
              <a:rPr lang="pt-BR" dirty="0"/>
              <a:t>.</a:t>
            </a:r>
          </a:p>
        </p:txBody>
      </p:sp>
      <p:pic>
        <p:nvPicPr>
          <p:cNvPr id="11" name="Imagem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842261" y="3231735"/>
            <a:ext cx="6507477" cy="3549534"/>
          </a:xfrm>
          <a:prstGeom prst="rect">
            <a:avLst/>
          </a:prstGeom>
        </p:spPr>
      </p:pic>
    </p:spTree>
    <p:extLst>
      <p:ext uri="{BB962C8B-B14F-4D97-AF65-F5344CB8AC3E}">
        <p14:creationId xmlns:p14="http://schemas.microsoft.com/office/powerpoint/2010/main" val="82688148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E95DEED5-0625-1165-C136-EA6183F1292D}"/>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FD938784-97FD-B138-C139-EC311A5F3805}"/>
              </a:ext>
            </a:extLst>
          </p:cNvPr>
          <p:cNvSpPr>
            <a:spLocks noGrp="1"/>
          </p:cNvSpPr>
          <p:nvPr>
            <p:ph type="title"/>
          </p:nvPr>
        </p:nvSpPr>
        <p:spPr/>
        <p:txBody>
          <a:bodyPr/>
          <a:lstStyle/>
          <a:p>
            <a:r>
              <a:rPr lang="pt-BR" dirty="0"/>
              <a:t>Generalização</a:t>
            </a:r>
            <a:endParaRPr lang="en-US" dirty="0"/>
          </a:p>
        </p:txBody>
      </p:sp>
      <p:sp>
        <p:nvSpPr>
          <p:cNvPr id="30" name="Espaço Reservado para Conteúdo 2">
            <a:extLst>
              <a:ext uri="{FF2B5EF4-FFF2-40B4-BE49-F238E27FC236}">
                <a16:creationId xmlns="" xmlns:a16="http://schemas.microsoft.com/office/drawing/2014/main" id="{DAE70008-B8DD-B1D6-E796-45C087B71ED7}"/>
              </a:ext>
            </a:extLst>
          </p:cNvPr>
          <p:cNvSpPr>
            <a:spLocks noGrp="1"/>
          </p:cNvSpPr>
          <p:nvPr>
            <p:ph idx="1"/>
          </p:nvPr>
        </p:nvSpPr>
        <p:spPr>
          <a:xfrm>
            <a:off x="838200" y="1825625"/>
            <a:ext cx="11238824" cy="5032375"/>
          </a:xfrm>
        </p:spPr>
        <p:txBody>
          <a:bodyPr>
            <a:normAutofit/>
          </a:bodyPr>
          <a:lstStyle/>
          <a:p>
            <a:r>
              <a:rPr lang="pt-BR" dirty="0"/>
              <a:t>Não basta que o algoritmo de ML aprenda um </a:t>
            </a:r>
            <a:r>
              <a:rPr lang="pt-BR" b="1" dirty="0"/>
              <a:t>modelo</a:t>
            </a:r>
            <a:r>
              <a:rPr lang="pt-BR" dirty="0"/>
              <a:t> que faça um bom mapeamento </a:t>
            </a:r>
            <a:r>
              <a:rPr lang="pt-BR" b="1" dirty="0">
                <a:solidFill>
                  <a:schemeClr val="accent2"/>
                </a:solidFill>
              </a:rPr>
              <a:t>apenas para os dados do conjunto de treinamento</a:t>
            </a:r>
            <a:r>
              <a:rPr lang="pt-BR" dirty="0"/>
              <a:t>.</a:t>
            </a:r>
          </a:p>
          <a:p>
            <a:r>
              <a:rPr lang="pt-BR" dirty="0"/>
              <a:t>O algoritmo de ML deve </a:t>
            </a:r>
            <a:r>
              <a:rPr lang="pt-BR" b="1" dirty="0"/>
              <a:t>treinar</a:t>
            </a:r>
            <a:r>
              <a:rPr lang="pt-BR" dirty="0"/>
              <a:t> um </a:t>
            </a:r>
            <a:r>
              <a:rPr lang="pt-BR" b="1" dirty="0"/>
              <a:t>modelo</a:t>
            </a:r>
            <a:r>
              <a:rPr lang="pt-BR" dirty="0"/>
              <a:t> que </a:t>
            </a:r>
            <a:r>
              <a:rPr lang="pt-BR" b="1" dirty="0"/>
              <a:t>aprenda</a:t>
            </a:r>
            <a:r>
              <a:rPr lang="pt-BR" dirty="0"/>
              <a:t> a </a:t>
            </a:r>
            <a:r>
              <a:rPr lang="pt-BR" b="1" dirty="0">
                <a:solidFill>
                  <a:srgbClr val="7030A0"/>
                </a:solidFill>
              </a:rPr>
              <a:t>solução geral</a:t>
            </a:r>
            <a:r>
              <a:rPr lang="pt-BR" dirty="0"/>
              <a:t>, i.e., um modelo que </a:t>
            </a:r>
            <a:r>
              <a:rPr lang="pt-BR" b="1" dirty="0">
                <a:solidFill>
                  <a:srgbClr val="00B050"/>
                </a:solidFill>
              </a:rPr>
              <a:t>generalize para </a:t>
            </a:r>
            <a:r>
              <a:rPr lang="pt-BR" b="1" dirty="0" smtClean="0">
                <a:solidFill>
                  <a:srgbClr val="00B050"/>
                </a:solidFill>
              </a:rPr>
              <a:t>dados de entrada </a:t>
            </a:r>
            <a:r>
              <a:rPr lang="pt-BR" b="1" dirty="0">
                <a:solidFill>
                  <a:schemeClr val="accent1"/>
                </a:solidFill>
              </a:rPr>
              <a:t>não </a:t>
            </a:r>
            <a:r>
              <a:rPr lang="pt-BR" b="1" dirty="0" smtClean="0">
                <a:solidFill>
                  <a:schemeClr val="accent1"/>
                </a:solidFill>
              </a:rPr>
              <a:t>vistos </a:t>
            </a:r>
            <a:r>
              <a:rPr lang="pt-BR" b="1" dirty="0">
                <a:solidFill>
                  <a:schemeClr val="accent1"/>
                </a:solidFill>
              </a:rPr>
              <a:t>durante o treinamento</a:t>
            </a:r>
            <a:r>
              <a:rPr lang="pt-BR" dirty="0"/>
              <a:t>.</a:t>
            </a:r>
          </a:p>
          <a:p>
            <a:r>
              <a:rPr lang="pt-BR" dirty="0"/>
              <a:t>Vejamos o exemplo da </a:t>
            </a:r>
            <a:r>
              <a:rPr lang="pt-BR" dirty="0" err="1"/>
              <a:t>paleteria</a:t>
            </a:r>
            <a:r>
              <a:rPr lang="pt-BR" dirty="0"/>
              <a:t> </a:t>
            </a:r>
            <a:r>
              <a:rPr lang="pt-BR" dirty="0" smtClean="0"/>
              <a:t>mexicana para entender melhor o que é a generalização.</a:t>
            </a:r>
            <a:endParaRPr lang="pt-BR" dirty="0"/>
          </a:p>
        </p:txBody>
      </p:sp>
    </p:spTree>
    <p:extLst>
      <p:ext uri="{BB962C8B-B14F-4D97-AF65-F5344CB8AC3E}">
        <p14:creationId xmlns:p14="http://schemas.microsoft.com/office/powerpoint/2010/main" val="10079047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D5C22040-B02E-C550-7FD9-84D3D027BD45}"/>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CA2B2465-4EC1-947F-2A6E-C72EC236E942}"/>
              </a:ext>
            </a:extLst>
          </p:cNvPr>
          <p:cNvSpPr>
            <a:spLocks noGrp="1"/>
          </p:cNvSpPr>
          <p:nvPr>
            <p:ph type="title"/>
          </p:nvPr>
        </p:nvSpPr>
        <p:spPr/>
        <p:txBody>
          <a:bodyPr/>
          <a:lstStyle/>
          <a:p>
            <a:r>
              <a:rPr lang="pt-BR" dirty="0"/>
              <a:t>Generalização</a:t>
            </a:r>
            <a:endParaRPr lang="en-US" dirty="0"/>
          </a:p>
        </p:txBody>
      </p:sp>
      <p:grpSp>
        <p:nvGrpSpPr>
          <p:cNvPr id="12" name="Group 11">
            <a:extLst>
              <a:ext uri="{FF2B5EF4-FFF2-40B4-BE49-F238E27FC236}">
                <a16:creationId xmlns="" xmlns:a16="http://schemas.microsoft.com/office/drawing/2014/main" id="{576172D2-AD61-2577-0108-AB71DABA33B8}"/>
              </a:ext>
            </a:extLst>
          </p:cNvPr>
          <p:cNvGrpSpPr/>
          <p:nvPr/>
        </p:nvGrpSpPr>
        <p:grpSpPr>
          <a:xfrm>
            <a:off x="849027" y="4267814"/>
            <a:ext cx="10453762" cy="2217402"/>
            <a:chOff x="772828" y="4191612"/>
            <a:chExt cx="10453762" cy="2217402"/>
          </a:xfrm>
        </p:grpSpPr>
        <p:pic>
          <p:nvPicPr>
            <p:cNvPr id="6" name="Picture 2">
              <a:extLst>
                <a:ext uri="{FF2B5EF4-FFF2-40B4-BE49-F238E27FC236}">
                  <a16:creationId xmlns="" xmlns:a16="http://schemas.microsoft.com/office/drawing/2014/main" id="{8F8481C7-5EE4-D272-70B4-866D2F1B250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16" r="1714"/>
            <a:stretch/>
          </p:blipFill>
          <p:spPr bwMode="auto">
            <a:xfrm>
              <a:off x="772828" y="4313391"/>
              <a:ext cx="2979222" cy="2095623"/>
            </a:xfrm>
            <a:prstGeom prst="rect">
              <a:avLst/>
            </a:prstGeom>
            <a:noFill/>
            <a:extLst>
              <a:ext uri="{909E8E84-426E-40DD-AFC4-6F175D3DCCD1}">
                <a14:hiddenFill xmlns:a14="http://schemas.microsoft.com/office/drawing/2010/main">
                  <a:solidFill>
                    <a:srgbClr val="FFFFFF"/>
                  </a:solidFill>
                </a14:hiddenFill>
              </a:ext>
            </a:extLst>
          </p:spPr>
        </p:pic>
        <p:sp>
          <p:nvSpPr>
            <p:cNvPr id="7" name="Rectangle 6">
              <a:extLst>
                <a:ext uri="{FF2B5EF4-FFF2-40B4-BE49-F238E27FC236}">
                  <a16:creationId xmlns="" xmlns:a16="http://schemas.microsoft.com/office/drawing/2014/main" id="{CC9FE1EA-AA5B-A97C-D1DC-3A3E3903FA90}"/>
                </a:ext>
              </a:extLst>
            </p:cNvPr>
            <p:cNvSpPr/>
            <p:nvPr/>
          </p:nvSpPr>
          <p:spPr>
            <a:xfrm>
              <a:off x="5788138" y="4848727"/>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Computador</a:t>
              </a:r>
            </a:p>
          </p:txBody>
        </p:sp>
        <p:sp>
          <p:nvSpPr>
            <p:cNvPr id="8" name="TextBox 7">
              <a:extLst>
                <a:ext uri="{FF2B5EF4-FFF2-40B4-BE49-F238E27FC236}">
                  <a16:creationId xmlns="" xmlns:a16="http://schemas.microsoft.com/office/drawing/2014/main" id="{FAEE6C09-ADD0-1D99-BBFA-A1B24371111E}"/>
                </a:ext>
              </a:extLst>
            </p:cNvPr>
            <p:cNvSpPr txBox="1"/>
            <p:nvPr/>
          </p:nvSpPr>
          <p:spPr>
            <a:xfrm>
              <a:off x="4960139" y="4317141"/>
              <a:ext cx="3524518" cy="461665"/>
            </a:xfrm>
            <a:prstGeom prst="rect">
              <a:avLst/>
            </a:prstGeom>
            <a:noFill/>
          </p:spPr>
          <p:txBody>
            <a:bodyPr wrap="square" rtlCol="0">
              <a:spAutoFit/>
            </a:bodyPr>
            <a:lstStyle/>
            <a:p>
              <a:pPr algn="ctr"/>
              <a:r>
                <a:rPr lang="pt-BR" sz="2400" b="1" dirty="0"/>
                <a:t>Aprendizado de Máquina</a:t>
              </a:r>
            </a:p>
          </p:txBody>
        </p:sp>
        <p:cxnSp>
          <p:nvCxnSpPr>
            <p:cNvPr id="9" name="Straight Arrow Connector 8">
              <a:extLst>
                <a:ext uri="{FF2B5EF4-FFF2-40B4-BE49-F238E27FC236}">
                  <a16:creationId xmlns="" xmlns:a16="http://schemas.microsoft.com/office/drawing/2014/main" id="{01A771EF-81C9-72AC-63BD-521251B9EC6B}"/>
                </a:ext>
              </a:extLst>
            </p:cNvPr>
            <p:cNvCxnSpPr>
              <a:cxnSpLocks/>
            </p:cNvCxnSpPr>
            <p:nvPr/>
          </p:nvCxnSpPr>
          <p:spPr>
            <a:xfrm>
              <a:off x="4960138" y="502834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 xmlns:a16="http://schemas.microsoft.com/office/drawing/2014/main" id="{A432D9D5-4C8A-7202-301F-3C2603460771}"/>
                </a:ext>
              </a:extLst>
            </p:cNvPr>
            <p:cNvCxnSpPr>
              <a:cxnSpLocks/>
            </p:cNvCxnSpPr>
            <p:nvPr/>
          </p:nvCxnSpPr>
          <p:spPr>
            <a:xfrm>
              <a:off x="4960138" y="552364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 name="TextBox 10">
                  <a:extLst>
                    <a:ext uri="{FF2B5EF4-FFF2-40B4-BE49-F238E27FC236}">
                      <a16:creationId xmlns="" xmlns:a16="http://schemas.microsoft.com/office/drawing/2014/main" id="{2CAAF65C-3BE5-E3AF-9A18-2C340BA1DB74}"/>
                    </a:ext>
                  </a:extLst>
                </p:cNvPr>
                <p:cNvSpPr txBox="1"/>
                <p:nvPr/>
              </p:nvSpPr>
              <p:spPr>
                <a:xfrm>
                  <a:off x="3920552" y="4729452"/>
                  <a:ext cx="1039586" cy="615553"/>
                </a:xfrm>
                <a:prstGeom prst="rect">
                  <a:avLst/>
                </a:prstGeom>
                <a:noFill/>
              </p:spPr>
              <p:txBody>
                <a:bodyPr wrap="square" rtlCol="0">
                  <a:spAutoFit/>
                </a:bodyPr>
                <a:lstStyle/>
                <a:p>
                  <a:pPr algn="ctr"/>
                  <a:r>
                    <a:rPr lang="pt-BR" dirty="0"/>
                    <a:t>Entradas</a:t>
                  </a:r>
                </a:p>
                <a:p>
                  <a:pPr algn="ctr"/>
                  <a:r>
                    <a:rPr lang="pt-BR" sz="1600" dirty="0"/>
                    <a:t>(i.e., </a:t>
                  </a:r>
                  <a14:m>
                    <m:oMath xmlns:m="http://schemas.openxmlformats.org/officeDocument/2006/math">
                      <m:r>
                        <a:rPr lang="pt-BR" sz="1600" i="1">
                          <a:latin typeface="Cambria Math" panose="02040503050406030204" pitchFamily="18" charset="0"/>
                        </a:rPr>
                        <m:t>𝑥</m:t>
                      </m:r>
                    </m:oMath>
                  </a14:m>
                  <a:r>
                    <a:rPr lang="pt-BR" sz="1600" dirty="0"/>
                    <a:t>)</a:t>
                  </a:r>
                </a:p>
              </p:txBody>
            </p:sp>
          </mc:Choice>
          <mc:Fallback xmlns="">
            <p:sp>
              <p:nvSpPr>
                <p:cNvPr id="11" name="TextBox 10">
                  <a:extLst>
                    <a:ext uri="{FF2B5EF4-FFF2-40B4-BE49-F238E27FC236}">
                      <a16:creationId xmlns:a16="http://schemas.microsoft.com/office/drawing/2014/main" id="{2CAAF65C-3BE5-E3AF-9A18-2C340BA1DB74}"/>
                    </a:ext>
                  </a:extLst>
                </p:cNvPr>
                <p:cNvSpPr txBox="1">
                  <a:spLocks noRot="1" noChangeAspect="1" noMove="1" noResize="1" noEditPoints="1" noAdjustHandles="1" noChangeArrowheads="1" noChangeShapeType="1" noTextEdit="1"/>
                </p:cNvSpPr>
                <p:nvPr/>
              </p:nvSpPr>
              <p:spPr>
                <a:xfrm>
                  <a:off x="3920552" y="4729452"/>
                  <a:ext cx="1039586" cy="615553"/>
                </a:xfrm>
                <a:prstGeom prst="rect">
                  <a:avLst/>
                </a:prstGeom>
                <a:blipFill>
                  <a:blip r:embed="rId4"/>
                  <a:stretch>
                    <a:fillRect l="-4118" t="-4950" r="-2941" b="-1188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 xmlns:a16="http://schemas.microsoft.com/office/drawing/2014/main" id="{5FA620AE-3F5E-7F3D-E6BA-99842CAD4D42}"/>
                    </a:ext>
                  </a:extLst>
                </p:cNvPr>
                <p:cNvSpPr txBox="1"/>
                <p:nvPr/>
              </p:nvSpPr>
              <p:spPr>
                <a:xfrm>
                  <a:off x="3649847" y="5230362"/>
                  <a:ext cx="1512176" cy="923330"/>
                </a:xfrm>
                <a:prstGeom prst="rect">
                  <a:avLst/>
                </a:prstGeom>
                <a:noFill/>
              </p:spPr>
              <p:txBody>
                <a:bodyPr wrap="square" rtlCol="0">
                  <a:spAutoFit/>
                </a:bodyPr>
                <a:lstStyle/>
                <a:p>
                  <a:pPr algn="ctr"/>
                  <a:r>
                    <a:rPr lang="pt-BR" dirty="0"/>
                    <a:t>Resultados esperados</a:t>
                  </a:r>
                </a:p>
                <a:p>
                  <a:pPr algn="ctr"/>
                  <a:r>
                    <a:rPr lang="pt-BR" sz="1600" dirty="0"/>
                    <a:t>(i.e., </a:t>
                  </a:r>
                  <a14:m>
                    <m:oMath xmlns:m="http://schemas.openxmlformats.org/officeDocument/2006/math">
                      <m:r>
                        <a:rPr lang="pt-BR" sz="1600" i="1">
                          <a:latin typeface="Cambria Math" panose="02040503050406030204" pitchFamily="18" charset="0"/>
                        </a:rPr>
                        <m:t>𝑦</m:t>
                      </m:r>
                    </m:oMath>
                  </a14:m>
                  <a:r>
                    <a:rPr lang="pt-BR" sz="1600" dirty="0"/>
                    <a:t>)</a:t>
                  </a:r>
                </a:p>
              </p:txBody>
            </p:sp>
          </mc:Choice>
          <mc:Fallback xmlns="">
            <p:sp>
              <p:nvSpPr>
                <p:cNvPr id="15" name="TextBox 14">
                  <a:extLst>
                    <a:ext uri="{FF2B5EF4-FFF2-40B4-BE49-F238E27FC236}">
                      <a16:creationId xmlns:a16="http://schemas.microsoft.com/office/drawing/2014/main" id="{5FA620AE-3F5E-7F3D-E6BA-99842CAD4D42}"/>
                    </a:ext>
                  </a:extLst>
                </p:cNvPr>
                <p:cNvSpPr txBox="1">
                  <a:spLocks noRot="1" noChangeAspect="1" noMove="1" noResize="1" noEditPoints="1" noAdjustHandles="1" noChangeArrowheads="1" noChangeShapeType="1" noTextEdit="1"/>
                </p:cNvSpPr>
                <p:nvPr/>
              </p:nvSpPr>
              <p:spPr>
                <a:xfrm>
                  <a:off x="3649847" y="5230362"/>
                  <a:ext cx="1512176" cy="923330"/>
                </a:xfrm>
                <a:prstGeom prst="rect">
                  <a:avLst/>
                </a:prstGeom>
                <a:blipFill>
                  <a:blip r:embed="rId5"/>
                  <a:stretch>
                    <a:fillRect t="-3289" b="-3947"/>
                  </a:stretch>
                </a:blipFill>
              </p:spPr>
              <p:txBody>
                <a:bodyPr/>
                <a:lstStyle/>
                <a:p>
                  <a:r>
                    <a:rPr lang="en-US">
                      <a:noFill/>
                    </a:rPr>
                    <a:t> </a:t>
                  </a:r>
                </a:p>
              </p:txBody>
            </p:sp>
          </mc:Fallback>
        </mc:AlternateContent>
        <p:cxnSp>
          <p:nvCxnSpPr>
            <p:cNvPr id="16" name="Straight Arrow Connector 15">
              <a:extLst>
                <a:ext uri="{FF2B5EF4-FFF2-40B4-BE49-F238E27FC236}">
                  <a16:creationId xmlns="" xmlns:a16="http://schemas.microsoft.com/office/drawing/2014/main" id="{1FFAEBE3-095C-C9CA-8A09-E9236203DB21}"/>
                </a:ext>
              </a:extLst>
            </p:cNvPr>
            <p:cNvCxnSpPr>
              <a:cxnSpLocks/>
            </p:cNvCxnSpPr>
            <p:nvPr/>
          </p:nvCxnSpPr>
          <p:spPr>
            <a:xfrm>
              <a:off x="7698581" y="5273270"/>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7" name="TextBox 16">
                  <a:extLst>
                    <a:ext uri="{FF2B5EF4-FFF2-40B4-BE49-F238E27FC236}">
                      <a16:creationId xmlns="" xmlns:a16="http://schemas.microsoft.com/office/drawing/2014/main" id="{43799622-705D-5F9F-9D0D-7AE90AE81773}"/>
                    </a:ext>
                  </a:extLst>
                </p:cNvPr>
                <p:cNvSpPr txBox="1"/>
                <p:nvPr/>
              </p:nvSpPr>
              <p:spPr>
                <a:xfrm>
                  <a:off x="8514180" y="4825525"/>
                  <a:ext cx="2712410" cy="861774"/>
                </a:xfrm>
                <a:prstGeom prst="rect">
                  <a:avLst/>
                </a:prstGeom>
                <a:noFill/>
              </p:spPr>
              <p:txBody>
                <a:bodyPr wrap="square" rtlCol="0">
                  <a:spAutoFit/>
                </a:bodyPr>
                <a:lstStyle/>
                <a:p>
                  <a:pPr algn="ctr"/>
                  <a:r>
                    <a:rPr lang="pt-BR" dirty="0"/>
                    <a:t>Programa = </a:t>
                  </a:r>
                  <a:r>
                    <a:rPr lang="pt-BR" b="1" dirty="0">
                      <a:solidFill>
                        <a:srgbClr val="FF0000"/>
                      </a:solidFill>
                    </a:rPr>
                    <a:t>Modelo de Aprendizado de Máquina</a:t>
                  </a:r>
                </a:p>
                <a:p>
                  <a:pPr algn="ctr"/>
                  <a:r>
                    <a:rPr lang="pt-BR" sz="1400" dirty="0" err="1"/>
                    <a:t>e.</a:t>
                  </a:r>
                  <a:r>
                    <a:rPr lang="pt-BR" sz="1400" dirty="0"/>
                    <a:t>g., </a:t>
                  </a:r>
                  <a14:m>
                    <m:oMath xmlns:m="http://schemas.openxmlformats.org/officeDocument/2006/math">
                      <m:r>
                        <a:rPr lang="pt-BR" sz="1400" b="0" i="1" smtClean="0">
                          <a:latin typeface="Cambria Math" panose="02040503050406030204" pitchFamily="18" charset="0"/>
                        </a:rPr>
                        <m:t>𝑦</m:t>
                      </m:r>
                      <m:r>
                        <a:rPr lang="pt-BR" sz="1400" b="0" i="0" smtClean="0">
                          <a:latin typeface="Cambria Math" panose="02040503050406030204" pitchFamily="18" charset="0"/>
                        </a:rPr>
                        <m:t>=</m:t>
                      </m:r>
                      <m:r>
                        <a:rPr lang="pt-BR" sz="1400" i="1">
                          <a:latin typeface="Cambria Math" panose="02040503050406030204" pitchFamily="18" charset="0"/>
                        </a:rPr>
                        <m:t>𝑓</m:t>
                      </m:r>
                      <m:d>
                        <m:dPr>
                          <m:ctrlPr>
                            <a:rPr lang="pt-BR" sz="1400" i="1">
                              <a:latin typeface="Cambria Math" panose="02040503050406030204" pitchFamily="18" charset="0"/>
                            </a:rPr>
                          </m:ctrlPr>
                        </m:dPr>
                        <m:e>
                          <m:r>
                            <a:rPr lang="pt-BR" sz="1400" i="1">
                              <a:latin typeface="Cambria Math" panose="02040503050406030204" pitchFamily="18" charset="0"/>
                            </a:rPr>
                            <m:t>𝑥</m:t>
                          </m:r>
                        </m:e>
                      </m:d>
                    </m:oMath>
                  </a14:m>
                  <a:endParaRPr lang="pt-BR" sz="1400" dirty="0"/>
                </a:p>
              </p:txBody>
            </p:sp>
          </mc:Choice>
          <mc:Fallback xmlns="">
            <p:sp>
              <p:nvSpPr>
                <p:cNvPr id="17" name="TextBox 16">
                  <a:extLst>
                    <a:ext uri="{FF2B5EF4-FFF2-40B4-BE49-F238E27FC236}">
                      <a16:creationId xmlns:a16="http://schemas.microsoft.com/office/drawing/2014/main" id="{43799622-705D-5F9F-9D0D-7AE90AE81773}"/>
                    </a:ext>
                  </a:extLst>
                </p:cNvPr>
                <p:cNvSpPr txBox="1">
                  <a:spLocks noRot="1" noChangeAspect="1" noMove="1" noResize="1" noEditPoints="1" noAdjustHandles="1" noChangeArrowheads="1" noChangeShapeType="1" noTextEdit="1"/>
                </p:cNvSpPr>
                <p:nvPr/>
              </p:nvSpPr>
              <p:spPr>
                <a:xfrm>
                  <a:off x="8514180" y="4825525"/>
                  <a:ext cx="2712410" cy="861774"/>
                </a:xfrm>
                <a:prstGeom prst="rect">
                  <a:avLst/>
                </a:prstGeom>
                <a:blipFill>
                  <a:blip r:embed="rId6"/>
                  <a:stretch>
                    <a:fillRect t="-3546" b="-7092"/>
                  </a:stretch>
                </a:blipFill>
              </p:spPr>
              <p:txBody>
                <a:bodyPr/>
                <a:lstStyle/>
                <a:p>
                  <a:r>
                    <a:rPr lang="en-US">
                      <a:noFill/>
                    </a:rPr>
                    <a:t> </a:t>
                  </a:r>
                </a:p>
              </p:txBody>
            </p:sp>
          </mc:Fallback>
        </mc:AlternateContent>
        <p:sp>
          <p:nvSpPr>
            <p:cNvPr id="19" name="Retângulo 5">
              <a:extLst>
                <a:ext uri="{FF2B5EF4-FFF2-40B4-BE49-F238E27FC236}">
                  <a16:creationId xmlns="" xmlns:a16="http://schemas.microsoft.com/office/drawing/2014/main" id="{98B45B54-7500-13E7-270D-43FF6F0C2A0E}"/>
                </a:ext>
              </a:extLst>
            </p:cNvPr>
            <p:cNvSpPr/>
            <p:nvPr/>
          </p:nvSpPr>
          <p:spPr>
            <a:xfrm>
              <a:off x="5250429" y="6039682"/>
              <a:ext cx="5720990" cy="369332"/>
            </a:xfrm>
            <a:prstGeom prst="rect">
              <a:avLst/>
            </a:prstGeom>
          </p:spPr>
          <p:txBody>
            <a:bodyPr wrap="square">
              <a:spAutoFit/>
            </a:bodyPr>
            <a:lstStyle/>
            <a:p>
              <a:r>
                <a:rPr lang="pt-BR" b="1" dirty="0"/>
                <a:t>Conjunto de dados de treinamento = experiências prévias.</a:t>
              </a:r>
              <a:endParaRPr lang="en-US" b="1" dirty="0"/>
            </a:p>
          </p:txBody>
        </p:sp>
        <p:cxnSp>
          <p:nvCxnSpPr>
            <p:cNvPr id="21" name="Conector de seta reta 23">
              <a:extLst>
                <a:ext uri="{FF2B5EF4-FFF2-40B4-BE49-F238E27FC236}">
                  <a16:creationId xmlns="" xmlns:a16="http://schemas.microsoft.com/office/drawing/2014/main" id="{54CB7410-7A0B-50FD-1B9C-716EE4BEB120}"/>
                </a:ext>
              </a:extLst>
            </p:cNvPr>
            <p:cNvCxnSpPr>
              <a:stCxn id="27" idx="4"/>
              <a:endCxn id="19" idx="1"/>
            </p:cNvCxnSpPr>
            <p:nvPr/>
          </p:nvCxnSpPr>
          <p:spPr>
            <a:xfrm>
              <a:off x="4416473" y="6126550"/>
              <a:ext cx="833956" cy="9779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2" name="Texto explicativo retangular 21">
              <a:extLst>
                <a:ext uri="{FF2B5EF4-FFF2-40B4-BE49-F238E27FC236}">
                  <a16:creationId xmlns="" xmlns:a16="http://schemas.microsoft.com/office/drawing/2014/main" id="{8B70E4A1-46BB-CABD-8BDA-7B2784ECACE2}"/>
                </a:ext>
              </a:extLst>
            </p:cNvPr>
            <p:cNvSpPr/>
            <p:nvPr/>
          </p:nvSpPr>
          <p:spPr>
            <a:xfrm>
              <a:off x="9185121" y="4191612"/>
              <a:ext cx="1169418" cy="422029"/>
            </a:xfrm>
            <a:prstGeom prst="wedgeRectCallout">
              <a:avLst>
                <a:gd name="adj1" fmla="val -44165"/>
                <a:gd name="adj2" fmla="val 111702"/>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400" dirty="0">
                  <a:solidFill>
                    <a:schemeClr val="tx1"/>
                  </a:solidFill>
                </a:rPr>
                <a:t>Resultado do treinamento</a:t>
              </a:r>
              <a:endParaRPr lang="en-US" sz="1400" dirty="0">
                <a:solidFill>
                  <a:schemeClr val="tx1"/>
                </a:solidFill>
              </a:endParaRPr>
            </a:p>
          </p:txBody>
        </p:sp>
        <p:sp>
          <p:nvSpPr>
            <p:cNvPr id="27" name="Elipse 20">
              <a:extLst>
                <a:ext uri="{FF2B5EF4-FFF2-40B4-BE49-F238E27FC236}">
                  <a16:creationId xmlns="" xmlns:a16="http://schemas.microsoft.com/office/drawing/2014/main" id="{AF1688CE-E051-1B2F-F3DC-5691CDD19335}"/>
                </a:ext>
              </a:extLst>
            </p:cNvPr>
            <p:cNvSpPr/>
            <p:nvPr/>
          </p:nvSpPr>
          <p:spPr>
            <a:xfrm>
              <a:off x="3385440" y="4691272"/>
              <a:ext cx="2062066" cy="1435278"/>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mc:AlternateContent xmlns:mc="http://schemas.openxmlformats.org/markup-compatibility/2006" xmlns:a14="http://schemas.microsoft.com/office/drawing/2010/main">
        <mc:Choice Requires="a14">
          <p:sp>
            <p:nvSpPr>
              <p:cNvPr id="4" name="Content Placeholder 3">
                <a:extLst>
                  <a:ext uri="{FF2B5EF4-FFF2-40B4-BE49-F238E27FC236}">
                    <a16:creationId xmlns="" xmlns:a16="http://schemas.microsoft.com/office/drawing/2014/main" id="{1EE8BD47-74BF-4BDE-17AA-A5867E32AE3D}"/>
                  </a:ext>
                </a:extLst>
              </p:cNvPr>
              <p:cNvSpPr>
                <a:spLocks noGrp="1"/>
              </p:cNvSpPr>
              <p:nvPr>
                <p:ph idx="1"/>
              </p:nvPr>
            </p:nvSpPr>
            <p:spPr>
              <a:xfrm>
                <a:off x="838199" y="1825624"/>
                <a:ext cx="11219481" cy="2653459"/>
              </a:xfrm>
            </p:spPr>
            <p:txBody>
              <a:bodyPr>
                <a:normAutofit/>
              </a:bodyPr>
              <a:lstStyle/>
              <a:p>
                <a:r>
                  <a:rPr lang="pt-BR" dirty="0"/>
                  <a:t>Imaginem o dono de uma paleteria mexicana que </a:t>
                </a:r>
                <a:r>
                  <a:rPr lang="pt-BR" dirty="0" smtClean="0"/>
                  <a:t>quer </a:t>
                </a:r>
                <a:r>
                  <a:rPr lang="pt-BR" b="1" dirty="0" smtClean="0"/>
                  <a:t>produzir a quantidade correta de paletas por dia </a:t>
                </a:r>
                <a:r>
                  <a:rPr lang="pt-BR" dirty="0" smtClean="0"/>
                  <a:t>para manter o mínimo de estoque.</a:t>
                </a:r>
                <a:endParaRPr lang="pt-BR" dirty="0"/>
              </a:p>
              <a:p>
                <a:r>
                  <a:rPr lang="pt-BR" dirty="0"/>
                  <a:t>O que ele pode </a:t>
                </a:r>
                <a:r>
                  <a:rPr lang="pt-BR" dirty="0" smtClean="0"/>
                  <a:t>fazer para predizer a quantidade?</a:t>
                </a:r>
                <a:endParaRPr lang="pt-BR" dirty="0"/>
              </a:p>
              <a:p>
                <a:pPr lvl="1">
                  <a:buFont typeface="Wingdings" panose="05000000000000000000" pitchFamily="2" charset="2"/>
                  <a:buChar char="§"/>
                </a:pPr>
                <a:r>
                  <a:rPr lang="pt-BR" dirty="0" smtClean="0"/>
                  <a:t>Uma opção é anotar </a:t>
                </a:r>
                <a:r>
                  <a:rPr lang="pt-BR" dirty="0"/>
                  <a:t>as quantidades vendidas, as temperaturas médias e encontrar uma função,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r>
                          <a:rPr lang="pt-BR" i="1">
                            <a:latin typeface="Cambria Math" panose="02040503050406030204" pitchFamily="18" charset="0"/>
                          </a:rPr>
                          <m:t>𝑥</m:t>
                        </m:r>
                      </m:e>
                    </m:d>
                  </m:oMath>
                </a14:m>
                <a:r>
                  <a:rPr lang="pt-BR" dirty="0"/>
                  <a:t>, que mapeie a temperatura na quantidade de </a:t>
                </a:r>
                <a:r>
                  <a:rPr lang="pt-BR" dirty="0" smtClean="0"/>
                  <a:t>paletas</a:t>
                </a:r>
                <a:r>
                  <a:rPr lang="pt-BR" dirty="0"/>
                  <a:t>.</a:t>
                </a:r>
                <a:endParaRPr lang="en-US" dirty="0"/>
              </a:p>
            </p:txBody>
          </p:sp>
        </mc:Choice>
        <mc:Fallback xmlns="">
          <p:sp>
            <p:nvSpPr>
              <p:cNvPr id="4" name="Content Placeholder 3">
                <a:extLst>
                  <a:ext uri="{FF2B5EF4-FFF2-40B4-BE49-F238E27FC236}">
                    <a16:creationId xmlns:a16="http://schemas.microsoft.com/office/drawing/2014/main" xmlns:a14="http://schemas.microsoft.com/office/drawing/2010/main" xmlns="" id="{1EE8BD47-74BF-4BDE-17AA-A5867E32AE3D}"/>
                  </a:ext>
                </a:extLst>
              </p:cNvPr>
              <p:cNvSpPr>
                <a:spLocks noGrp="1" noRot="1" noChangeAspect="1" noMove="1" noResize="1" noEditPoints="1" noAdjustHandles="1" noChangeArrowheads="1" noChangeShapeType="1" noTextEdit="1"/>
              </p:cNvSpPr>
              <p:nvPr>
                <p:ph idx="1"/>
              </p:nvPr>
            </p:nvSpPr>
            <p:spPr>
              <a:xfrm>
                <a:off x="838199" y="1825624"/>
                <a:ext cx="11219481" cy="2653459"/>
              </a:xfrm>
              <a:blipFill rotWithShape="0">
                <a:blip r:embed="rId7"/>
                <a:stretch>
                  <a:fillRect l="-923" t="-3670" r="-435"/>
                </a:stretch>
              </a:blipFill>
            </p:spPr>
            <p:txBody>
              <a:bodyPr/>
              <a:lstStyle/>
              <a:p>
                <a:r>
                  <a:rPr lang="pt-BR">
                    <a:noFill/>
                  </a:rPr>
                  <a:t> </a:t>
                </a:r>
              </a:p>
            </p:txBody>
          </p:sp>
        </mc:Fallback>
      </mc:AlternateContent>
    </p:spTree>
    <p:extLst>
      <p:ext uri="{BB962C8B-B14F-4D97-AF65-F5344CB8AC3E}">
        <p14:creationId xmlns:p14="http://schemas.microsoft.com/office/powerpoint/2010/main" val="22801403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 xmlns:a16="http://schemas.microsoft.com/office/drawing/2014/main" id="{78E668DB-0465-1705-FB10-8262E62B0103}"/>
              </a:ext>
            </a:extLst>
          </p:cNvPr>
          <p:cNvSpPr>
            <a:spLocks noGrp="1"/>
          </p:cNvSpPr>
          <p:nvPr>
            <p:ph idx="1"/>
          </p:nvPr>
        </p:nvSpPr>
        <p:spPr>
          <a:xfrm>
            <a:off x="838200" y="2567441"/>
            <a:ext cx="10515600" cy="1723118"/>
          </a:xfrm>
        </p:spPr>
        <p:txBody>
          <a:bodyPr>
            <a:normAutofit/>
          </a:bodyPr>
          <a:lstStyle/>
          <a:p>
            <a:pPr marL="0" indent="0" algn="ctr">
              <a:buNone/>
            </a:pPr>
            <a:r>
              <a:rPr lang="pt-BR" sz="5400" i="1" dirty="0"/>
              <a:t>Qual função o algoritmo de ML </a:t>
            </a:r>
            <a:r>
              <a:rPr lang="pt-BR" sz="5400" i="1" dirty="0" smtClean="0"/>
              <a:t>aprenderia?</a:t>
            </a:r>
            <a:endParaRPr lang="en-US" sz="5400" i="1" dirty="0"/>
          </a:p>
        </p:txBody>
      </p:sp>
    </p:spTree>
    <p:extLst>
      <p:ext uri="{BB962C8B-B14F-4D97-AF65-F5344CB8AC3E}">
        <p14:creationId xmlns:p14="http://schemas.microsoft.com/office/powerpoint/2010/main" val="12446442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40007D5F-2B79-7F28-78EB-768CF7DED4AA}"/>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49BFDADB-F975-06A9-BAD0-DFA20713AEED}"/>
              </a:ext>
            </a:extLst>
          </p:cNvPr>
          <p:cNvSpPr>
            <a:spLocks noGrp="1"/>
          </p:cNvSpPr>
          <p:nvPr>
            <p:ph type="title"/>
          </p:nvPr>
        </p:nvSpPr>
        <p:spPr/>
        <p:txBody>
          <a:bodyPr/>
          <a:lstStyle/>
          <a:p>
            <a:r>
              <a:rPr lang="pt-BR" dirty="0"/>
              <a:t>Generalização</a:t>
            </a:r>
            <a:endParaRPr lang="en-US"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 xmlns:a16="http://schemas.microsoft.com/office/drawing/2014/main" id="{C1F7B99B-805F-5153-8094-53157C98D7F1}"/>
                  </a:ext>
                </a:extLst>
              </p:cNvPr>
              <p:cNvSpPr>
                <a:spLocks noGrp="1"/>
              </p:cNvSpPr>
              <p:nvPr>
                <p:ph idx="1"/>
              </p:nvPr>
            </p:nvSpPr>
            <p:spPr>
              <a:xfrm>
                <a:off x="838200" y="1825624"/>
                <a:ext cx="11125200" cy="1435279"/>
              </a:xfrm>
            </p:spPr>
            <p:txBody>
              <a:bodyPr>
                <a:normAutofit/>
              </a:bodyPr>
              <a:lstStyle/>
              <a:p>
                <a:r>
                  <a:rPr lang="pt-BR" dirty="0"/>
                  <a:t>Após o treinamento com o conjunto de experiências prévias, i.e., o </a:t>
                </a:r>
                <a:r>
                  <a:rPr lang="pt-BR" i="1" dirty="0"/>
                  <a:t>dataset</a:t>
                </a:r>
                <a:r>
                  <a:rPr lang="pt-BR" dirty="0"/>
                  <a:t>, o algoritmo de ML </a:t>
                </a:r>
                <a:r>
                  <a:rPr lang="pt-BR" b="1" dirty="0"/>
                  <a:t>aprende</a:t>
                </a:r>
                <a:r>
                  <a:rPr lang="pt-BR" dirty="0"/>
                  <a:t> que um </a:t>
                </a:r>
                <a:r>
                  <a:rPr lang="pt-BR" b="1" dirty="0">
                    <a:solidFill>
                      <a:srgbClr val="7030A0"/>
                    </a:solidFill>
                  </a:rPr>
                  <a:t>reta</a:t>
                </a:r>
                <a:r>
                  <a:rPr lang="pt-BR" dirty="0"/>
                  <a:t> </a:t>
                </a:r>
                <a:r>
                  <a:rPr lang="pt-BR" b="1" dirty="0"/>
                  <a:t>captura o comportamento geral</a:t>
                </a:r>
                <a:r>
                  <a:rPr lang="pt-BR" dirty="0"/>
                  <a:t>, fazendo um bom mapeamento entre </a:t>
                </a:r>
                <a14:m>
                  <m:oMath xmlns:m="http://schemas.openxmlformats.org/officeDocument/2006/math">
                    <m:r>
                      <a:rPr lang="pt-BR" b="0" i="1" smtClean="0">
                        <a:latin typeface="Cambria Math" panose="02040503050406030204" pitchFamily="18" charset="0"/>
                      </a:rPr>
                      <m:t>𝑥</m:t>
                    </m:r>
                  </m:oMath>
                </a14:m>
                <a:r>
                  <a:rPr lang="en-US" dirty="0"/>
                  <a:t> e </a:t>
                </a:r>
                <a14:m>
                  <m:oMath xmlns:m="http://schemas.openxmlformats.org/officeDocument/2006/math">
                    <m:r>
                      <a:rPr lang="pt-BR" b="0" i="1" smtClean="0">
                        <a:latin typeface="Cambria Math" panose="02040503050406030204" pitchFamily="18" charset="0"/>
                      </a:rPr>
                      <m:t>𝑦</m:t>
                    </m:r>
                  </m:oMath>
                </a14:m>
                <a:r>
                  <a:rPr lang="en-US" dirty="0"/>
                  <a:t>.</a:t>
                </a:r>
              </a:p>
            </p:txBody>
          </p:sp>
        </mc:Choice>
        <mc:Fallback xmlns="">
          <p:sp>
            <p:nvSpPr>
              <p:cNvPr id="4" name="Content Placeholder 3">
                <a:extLst>
                  <a:ext uri="{FF2B5EF4-FFF2-40B4-BE49-F238E27FC236}">
                    <a16:creationId xmlns:a16="http://schemas.microsoft.com/office/drawing/2014/main" id="{C1F7B99B-805F-5153-8094-53157C98D7F1}"/>
                  </a:ext>
                </a:extLst>
              </p:cNvPr>
              <p:cNvSpPr>
                <a:spLocks noGrp="1" noRot="1" noChangeAspect="1" noMove="1" noResize="1" noEditPoints="1" noAdjustHandles="1" noChangeArrowheads="1" noChangeShapeType="1" noTextEdit="1"/>
              </p:cNvSpPr>
              <p:nvPr>
                <p:ph idx="1"/>
              </p:nvPr>
            </p:nvSpPr>
            <p:spPr>
              <a:xfrm>
                <a:off x="838200" y="1825624"/>
                <a:ext cx="11125200" cy="1435279"/>
              </a:xfrm>
              <a:blipFill>
                <a:blip r:embed="rId3"/>
                <a:stretch>
                  <a:fillRect l="-986" t="-6780"/>
                </a:stretch>
              </a:blipFill>
            </p:spPr>
            <p:txBody>
              <a:bodyPr/>
              <a:lstStyle/>
              <a:p>
                <a:r>
                  <a:rPr lang="en-US">
                    <a:noFill/>
                  </a:rPr>
                  <a:t> </a:t>
                </a:r>
              </a:p>
            </p:txBody>
          </p:sp>
        </mc:Fallback>
      </mc:AlternateContent>
      <p:pic>
        <p:nvPicPr>
          <p:cNvPr id="5" name="Picture 2">
            <a:extLst>
              <a:ext uri="{FF2B5EF4-FFF2-40B4-BE49-F238E27FC236}">
                <a16:creationId xmlns="" xmlns:a16="http://schemas.microsoft.com/office/drawing/2014/main" id="{B96E9496-5DA4-8C14-5412-43E174C0B687}"/>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16" r="1714"/>
          <a:stretch/>
        </p:blipFill>
        <p:spPr bwMode="auto">
          <a:xfrm>
            <a:off x="293855" y="4117451"/>
            <a:ext cx="2979222" cy="2095623"/>
          </a:xfrm>
          <a:prstGeom prst="rect">
            <a:avLst/>
          </a:prstGeom>
          <a:noFill/>
          <a:extLst>
            <a:ext uri="{909E8E84-426E-40DD-AFC4-6F175D3DCCD1}">
              <a14:hiddenFill xmlns:a14="http://schemas.microsoft.com/office/drawing/2010/main">
                <a:solidFill>
                  <a:srgbClr val="FFFFFF"/>
                </a:solidFill>
              </a14:hiddenFill>
            </a:ext>
          </a:extLst>
        </p:spPr>
      </p:pic>
      <p:sp>
        <p:nvSpPr>
          <p:cNvPr id="13" name="Rectangle 12">
            <a:extLst>
              <a:ext uri="{FF2B5EF4-FFF2-40B4-BE49-F238E27FC236}">
                <a16:creationId xmlns="" xmlns:a16="http://schemas.microsoft.com/office/drawing/2014/main" id="{08C3E2DB-4B3C-3D41-88C2-06BC96F102D7}"/>
              </a:ext>
            </a:extLst>
          </p:cNvPr>
          <p:cNvSpPr/>
          <p:nvPr/>
        </p:nvSpPr>
        <p:spPr>
          <a:xfrm>
            <a:off x="5309165" y="4652787"/>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Computador</a:t>
            </a:r>
          </a:p>
        </p:txBody>
      </p:sp>
      <p:sp>
        <p:nvSpPr>
          <p:cNvPr id="14" name="TextBox 13">
            <a:extLst>
              <a:ext uri="{FF2B5EF4-FFF2-40B4-BE49-F238E27FC236}">
                <a16:creationId xmlns="" xmlns:a16="http://schemas.microsoft.com/office/drawing/2014/main" id="{C7DC48CB-1632-94C8-DADF-CCE2294CF433}"/>
              </a:ext>
            </a:extLst>
          </p:cNvPr>
          <p:cNvSpPr txBox="1"/>
          <p:nvPr/>
        </p:nvSpPr>
        <p:spPr>
          <a:xfrm>
            <a:off x="4481166" y="4121201"/>
            <a:ext cx="3524518" cy="461665"/>
          </a:xfrm>
          <a:prstGeom prst="rect">
            <a:avLst/>
          </a:prstGeom>
          <a:noFill/>
        </p:spPr>
        <p:txBody>
          <a:bodyPr wrap="square" rtlCol="0">
            <a:spAutoFit/>
          </a:bodyPr>
          <a:lstStyle/>
          <a:p>
            <a:pPr algn="ctr"/>
            <a:r>
              <a:rPr lang="pt-BR" sz="2400" b="1" dirty="0"/>
              <a:t>Aprendizado de Máquina</a:t>
            </a:r>
          </a:p>
        </p:txBody>
      </p:sp>
      <p:cxnSp>
        <p:nvCxnSpPr>
          <p:cNvPr id="18" name="Straight Arrow Connector 17">
            <a:extLst>
              <a:ext uri="{FF2B5EF4-FFF2-40B4-BE49-F238E27FC236}">
                <a16:creationId xmlns="" xmlns:a16="http://schemas.microsoft.com/office/drawing/2014/main" id="{9779BBCC-1B7B-FBBE-C3F8-3B284F666F1E}"/>
              </a:ext>
            </a:extLst>
          </p:cNvPr>
          <p:cNvCxnSpPr>
            <a:cxnSpLocks/>
          </p:cNvCxnSpPr>
          <p:nvPr/>
        </p:nvCxnSpPr>
        <p:spPr>
          <a:xfrm>
            <a:off x="4481165" y="483240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 xmlns:a16="http://schemas.microsoft.com/office/drawing/2014/main" id="{D05E51F5-A5EC-B79B-EEEE-F7A236B624A1}"/>
              </a:ext>
            </a:extLst>
          </p:cNvPr>
          <p:cNvCxnSpPr>
            <a:cxnSpLocks/>
          </p:cNvCxnSpPr>
          <p:nvPr/>
        </p:nvCxnSpPr>
        <p:spPr>
          <a:xfrm>
            <a:off x="4481165" y="532770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3" name="TextBox 22">
                <a:extLst>
                  <a:ext uri="{FF2B5EF4-FFF2-40B4-BE49-F238E27FC236}">
                    <a16:creationId xmlns="" xmlns:a16="http://schemas.microsoft.com/office/drawing/2014/main" id="{41E1F7CC-C3A8-0FEE-1271-9F6CD6071EB6}"/>
                  </a:ext>
                </a:extLst>
              </p:cNvPr>
              <p:cNvSpPr txBox="1"/>
              <p:nvPr/>
            </p:nvSpPr>
            <p:spPr>
              <a:xfrm>
                <a:off x="3441579" y="4533512"/>
                <a:ext cx="1039586" cy="615553"/>
              </a:xfrm>
              <a:prstGeom prst="rect">
                <a:avLst/>
              </a:prstGeom>
              <a:noFill/>
            </p:spPr>
            <p:txBody>
              <a:bodyPr wrap="square" rtlCol="0">
                <a:spAutoFit/>
              </a:bodyPr>
              <a:lstStyle/>
              <a:p>
                <a:pPr algn="ctr"/>
                <a:r>
                  <a:rPr lang="pt-BR" dirty="0"/>
                  <a:t>Entradas</a:t>
                </a:r>
              </a:p>
              <a:p>
                <a:pPr algn="ctr"/>
                <a:r>
                  <a:rPr lang="pt-BR" sz="1600" dirty="0"/>
                  <a:t>(i.e., </a:t>
                </a:r>
                <a14:m>
                  <m:oMath xmlns:m="http://schemas.openxmlformats.org/officeDocument/2006/math">
                    <m:r>
                      <a:rPr lang="pt-BR" sz="1600" i="1">
                        <a:latin typeface="Cambria Math" panose="02040503050406030204" pitchFamily="18" charset="0"/>
                      </a:rPr>
                      <m:t>𝑥</m:t>
                    </m:r>
                  </m:oMath>
                </a14:m>
                <a:r>
                  <a:rPr lang="pt-BR" sz="1600" dirty="0"/>
                  <a:t>)</a:t>
                </a:r>
              </a:p>
            </p:txBody>
          </p:sp>
        </mc:Choice>
        <mc:Fallback xmlns="">
          <p:sp>
            <p:nvSpPr>
              <p:cNvPr id="23" name="TextBox 22">
                <a:extLst>
                  <a:ext uri="{FF2B5EF4-FFF2-40B4-BE49-F238E27FC236}">
                    <a16:creationId xmlns:a16="http://schemas.microsoft.com/office/drawing/2014/main" id="{41E1F7CC-C3A8-0FEE-1271-9F6CD6071EB6}"/>
                  </a:ext>
                </a:extLst>
              </p:cNvPr>
              <p:cNvSpPr txBox="1">
                <a:spLocks noRot="1" noChangeAspect="1" noMove="1" noResize="1" noEditPoints="1" noAdjustHandles="1" noChangeArrowheads="1" noChangeShapeType="1" noTextEdit="1"/>
              </p:cNvSpPr>
              <p:nvPr/>
            </p:nvSpPr>
            <p:spPr>
              <a:xfrm>
                <a:off x="3441579" y="4533512"/>
                <a:ext cx="1039586" cy="615553"/>
              </a:xfrm>
              <a:prstGeom prst="rect">
                <a:avLst/>
              </a:prstGeom>
              <a:blipFill>
                <a:blip r:embed="rId5"/>
                <a:stretch>
                  <a:fillRect l="-4118" t="-5941" r="-2941" b="-1188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 xmlns:a16="http://schemas.microsoft.com/office/drawing/2014/main" id="{037802A4-329E-9EC8-B4BC-08F95E28DD6B}"/>
                  </a:ext>
                </a:extLst>
              </p:cNvPr>
              <p:cNvSpPr txBox="1"/>
              <p:nvPr/>
            </p:nvSpPr>
            <p:spPr>
              <a:xfrm>
                <a:off x="3170874" y="5034422"/>
                <a:ext cx="1512176" cy="923330"/>
              </a:xfrm>
              <a:prstGeom prst="rect">
                <a:avLst/>
              </a:prstGeom>
              <a:noFill/>
            </p:spPr>
            <p:txBody>
              <a:bodyPr wrap="square" rtlCol="0">
                <a:spAutoFit/>
              </a:bodyPr>
              <a:lstStyle/>
              <a:p>
                <a:pPr algn="ctr"/>
                <a:r>
                  <a:rPr lang="pt-BR" dirty="0"/>
                  <a:t>Resultados esperados</a:t>
                </a:r>
              </a:p>
              <a:p>
                <a:pPr algn="ctr"/>
                <a:r>
                  <a:rPr lang="pt-BR" sz="1600" dirty="0"/>
                  <a:t>(i.e., </a:t>
                </a:r>
                <a14:m>
                  <m:oMath xmlns:m="http://schemas.openxmlformats.org/officeDocument/2006/math">
                    <m:r>
                      <a:rPr lang="pt-BR" sz="1600" i="1">
                        <a:latin typeface="Cambria Math" panose="02040503050406030204" pitchFamily="18" charset="0"/>
                      </a:rPr>
                      <m:t>𝑦</m:t>
                    </m:r>
                  </m:oMath>
                </a14:m>
                <a:r>
                  <a:rPr lang="pt-BR" sz="1600" dirty="0"/>
                  <a:t>)</a:t>
                </a:r>
              </a:p>
            </p:txBody>
          </p:sp>
        </mc:Choice>
        <mc:Fallback xmlns="">
          <p:sp>
            <p:nvSpPr>
              <p:cNvPr id="24" name="TextBox 23">
                <a:extLst>
                  <a:ext uri="{FF2B5EF4-FFF2-40B4-BE49-F238E27FC236}">
                    <a16:creationId xmlns:a16="http://schemas.microsoft.com/office/drawing/2014/main" id="{037802A4-329E-9EC8-B4BC-08F95E28DD6B}"/>
                  </a:ext>
                </a:extLst>
              </p:cNvPr>
              <p:cNvSpPr txBox="1">
                <a:spLocks noRot="1" noChangeAspect="1" noMove="1" noResize="1" noEditPoints="1" noAdjustHandles="1" noChangeArrowheads="1" noChangeShapeType="1" noTextEdit="1"/>
              </p:cNvSpPr>
              <p:nvPr/>
            </p:nvSpPr>
            <p:spPr>
              <a:xfrm>
                <a:off x="3170874" y="5034422"/>
                <a:ext cx="1512176" cy="923330"/>
              </a:xfrm>
              <a:prstGeom prst="rect">
                <a:avLst/>
              </a:prstGeom>
              <a:blipFill>
                <a:blip r:embed="rId6"/>
                <a:stretch>
                  <a:fillRect t="-3974" b="-4636"/>
                </a:stretch>
              </a:blipFill>
            </p:spPr>
            <p:txBody>
              <a:bodyPr/>
              <a:lstStyle/>
              <a:p>
                <a:r>
                  <a:rPr lang="en-US">
                    <a:noFill/>
                  </a:rPr>
                  <a:t> </a:t>
                </a:r>
              </a:p>
            </p:txBody>
          </p:sp>
        </mc:Fallback>
      </mc:AlternateContent>
      <p:cxnSp>
        <p:nvCxnSpPr>
          <p:cNvPr id="25" name="Straight Arrow Connector 24">
            <a:extLst>
              <a:ext uri="{FF2B5EF4-FFF2-40B4-BE49-F238E27FC236}">
                <a16:creationId xmlns="" xmlns:a16="http://schemas.microsoft.com/office/drawing/2014/main" id="{50F82B10-8FBD-15EB-B02C-EC682537B458}"/>
              </a:ext>
            </a:extLst>
          </p:cNvPr>
          <p:cNvCxnSpPr>
            <a:cxnSpLocks/>
          </p:cNvCxnSpPr>
          <p:nvPr/>
        </p:nvCxnSpPr>
        <p:spPr>
          <a:xfrm>
            <a:off x="7219608" y="5077330"/>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TextBox 25">
                <a:extLst>
                  <a:ext uri="{FF2B5EF4-FFF2-40B4-BE49-F238E27FC236}">
                    <a16:creationId xmlns="" xmlns:a16="http://schemas.microsoft.com/office/drawing/2014/main" id="{8EA56A83-63F2-A4C2-2C85-96ABBA97CCF0}"/>
                  </a:ext>
                </a:extLst>
              </p:cNvPr>
              <p:cNvSpPr txBox="1"/>
              <p:nvPr/>
            </p:nvSpPr>
            <p:spPr>
              <a:xfrm>
                <a:off x="7237811" y="5077330"/>
                <a:ext cx="1619593" cy="584775"/>
              </a:xfrm>
              <a:prstGeom prst="rect">
                <a:avLst/>
              </a:prstGeom>
              <a:noFill/>
            </p:spPr>
            <p:txBody>
              <a:bodyPr wrap="square" rtlCol="0">
                <a:spAutoFit/>
              </a:bodyPr>
              <a:lstStyle/>
              <a:p>
                <a:pPr algn="ctr"/>
                <a:r>
                  <a:rPr lang="pt-BR" b="1" dirty="0">
                    <a:solidFill>
                      <a:srgbClr val="FF0000"/>
                    </a:solidFill>
                  </a:rPr>
                  <a:t>Modelo de ML</a:t>
                </a:r>
              </a:p>
              <a:p>
                <a:pPr algn="ctr"/>
                <a:r>
                  <a:rPr lang="pt-BR" sz="1400" dirty="0"/>
                  <a:t>i.e., </a:t>
                </a:r>
                <a14:m>
                  <m:oMath xmlns:m="http://schemas.openxmlformats.org/officeDocument/2006/math">
                    <m:r>
                      <a:rPr lang="pt-BR" sz="1400" i="1">
                        <a:latin typeface="Cambria Math" panose="02040503050406030204" pitchFamily="18" charset="0"/>
                      </a:rPr>
                      <m:t>𝑓</m:t>
                    </m:r>
                    <m:d>
                      <m:dPr>
                        <m:ctrlPr>
                          <a:rPr lang="pt-BR" sz="1400" i="1">
                            <a:latin typeface="Cambria Math" panose="02040503050406030204" pitchFamily="18" charset="0"/>
                          </a:rPr>
                        </m:ctrlPr>
                      </m:dPr>
                      <m:e>
                        <m:r>
                          <a:rPr lang="pt-BR" sz="1400" i="1">
                            <a:latin typeface="Cambria Math" panose="02040503050406030204" pitchFamily="18" charset="0"/>
                          </a:rPr>
                          <m:t>𝑥</m:t>
                        </m:r>
                      </m:e>
                    </m:d>
                    <m:r>
                      <a:rPr lang="pt-BR" sz="1400" b="0" i="1" smtClean="0">
                        <a:latin typeface="Cambria Math" panose="02040503050406030204" pitchFamily="18" charset="0"/>
                      </a:rPr>
                      <m:t>=</m:t>
                    </m:r>
                    <m:r>
                      <a:rPr lang="pt-BR" sz="1400" b="0" i="1" smtClean="0">
                        <a:latin typeface="Cambria Math" panose="02040503050406030204" pitchFamily="18" charset="0"/>
                      </a:rPr>
                      <m:t>𝑎𝑥</m:t>
                    </m:r>
                    <m:r>
                      <a:rPr lang="pt-BR" sz="1400" b="0" i="1" smtClean="0">
                        <a:latin typeface="Cambria Math" panose="02040503050406030204" pitchFamily="18" charset="0"/>
                      </a:rPr>
                      <m:t>+</m:t>
                    </m:r>
                    <m:r>
                      <a:rPr lang="pt-BR" sz="1400" b="0" i="1" smtClean="0">
                        <a:latin typeface="Cambria Math" panose="02040503050406030204" pitchFamily="18" charset="0"/>
                      </a:rPr>
                      <m:t>𝑏</m:t>
                    </m:r>
                  </m:oMath>
                </a14:m>
                <a:endParaRPr lang="pt-BR" sz="1400" dirty="0"/>
              </a:p>
            </p:txBody>
          </p:sp>
        </mc:Choice>
        <mc:Fallback xmlns="">
          <p:sp>
            <p:nvSpPr>
              <p:cNvPr id="26" name="TextBox 25">
                <a:extLst>
                  <a:ext uri="{FF2B5EF4-FFF2-40B4-BE49-F238E27FC236}">
                    <a16:creationId xmlns:a16="http://schemas.microsoft.com/office/drawing/2014/main" id="{8EA56A83-63F2-A4C2-2C85-96ABBA97CCF0}"/>
                  </a:ext>
                </a:extLst>
              </p:cNvPr>
              <p:cNvSpPr txBox="1">
                <a:spLocks noRot="1" noChangeAspect="1" noMove="1" noResize="1" noEditPoints="1" noAdjustHandles="1" noChangeArrowheads="1" noChangeShapeType="1" noTextEdit="1"/>
              </p:cNvSpPr>
              <p:nvPr/>
            </p:nvSpPr>
            <p:spPr>
              <a:xfrm>
                <a:off x="7237811" y="5077330"/>
                <a:ext cx="1619593" cy="584775"/>
              </a:xfrm>
              <a:prstGeom prst="rect">
                <a:avLst/>
              </a:prstGeom>
              <a:blipFill>
                <a:blip r:embed="rId7"/>
                <a:stretch>
                  <a:fillRect l="-1128" t="-6250" r="-1504" b="-9375"/>
                </a:stretch>
              </a:blipFill>
            </p:spPr>
            <p:txBody>
              <a:bodyPr/>
              <a:lstStyle/>
              <a:p>
                <a:r>
                  <a:rPr lang="en-US">
                    <a:noFill/>
                  </a:rPr>
                  <a:t> </a:t>
                </a:r>
              </a:p>
            </p:txBody>
          </p:sp>
        </mc:Fallback>
      </mc:AlternateContent>
      <p:pic>
        <p:nvPicPr>
          <p:cNvPr id="37" name="Imagem 6">
            <a:extLst>
              <a:ext uri="{FF2B5EF4-FFF2-40B4-BE49-F238E27FC236}">
                <a16:creationId xmlns="" xmlns:a16="http://schemas.microsoft.com/office/drawing/2014/main" id="{856E9CAF-429A-E7D4-7767-18A21E043561}"/>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3463" t="9957" r="8514"/>
          <a:stretch/>
        </p:blipFill>
        <p:spPr>
          <a:xfrm>
            <a:off x="8875607" y="4202127"/>
            <a:ext cx="2948745" cy="2010947"/>
          </a:xfrm>
          <a:prstGeom prst="rect">
            <a:avLst/>
          </a:prstGeom>
        </p:spPr>
      </p:pic>
      <p:cxnSp>
        <p:nvCxnSpPr>
          <p:cNvPr id="41" name="Straight Arrow Connector 40">
            <a:extLst>
              <a:ext uri="{FF2B5EF4-FFF2-40B4-BE49-F238E27FC236}">
                <a16:creationId xmlns="" xmlns:a16="http://schemas.microsoft.com/office/drawing/2014/main" id="{DF7D440B-1ED1-E64C-F1E7-94ADF8A26873}"/>
              </a:ext>
            </a:extLst>
          </p:cNvPr>
          <p:cNvCxnSpPr>
            <a:cxnSpLocks/>
          </p:cNvCxnSpPr>
          <p:nvPr/>
        </p:nvCxnSpPr>
        <p:spPr>
          <a:xfrm flipV="1">
            <a:off x="8763000" y="5327702"/>
            <a:ext cx="1306286" cy="174171"/>
          </a:xfrm>
          <a:prstGeom prst="straightConnector1">
            <a:avLst/>
          </a:prstGeom>
          <a:ln w="19050">
            <a:solidFill>
              <a:srgbClr val="FF0000"/>
            </a:solidFill>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11482482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Generalização</a:t>
            </a:r>
            <a:endParaRPr lang="en-US" dirty="0"/>
          </a:p>
        </p:txBody>
      </p:sp>
      <p:sp>
        <p:nvSpPr>
          <p:cNvPr id="3" name="Espaço Reservado para Conteúdo 2"/>
          <p:cNvSpPr>
            <a:spLocks noGrp="1"/>
          </p:cNvSpPr>
          <p:nvPr>
            <p:ph idx="1"/>
          </p:nvPr>
        </p:nvSpPr>
        <p:spPr>
          <a:xfrm>
            <a:off x="838200" y="1825626"/>
            <a:ext cx="11238824" cy="1505802"/>
          </a:xfrm>
        </p:spPr>
        <p:txBody>
          <a:bodyPr>
            <a:normAutofit/>
          </a:bodyPr>
          <a:lstStyle/>
          <a:p>
            <a:r>
              <a:rPr lang="pt-BR" dirty="0"/>
              <a:t>Agora, o proprietário pode usar o modelo aprendido (i.e., reta) para fazer inferências todas as manhãs.</a:t>
            </a:r>
          </a:p>
          <a:p>
            <a:r>
              <a:rPr lang="pt-BR" dirty="0"/>
              <a:t>Mas será que o modelo generaliza bem?</a:t>
            </a:r>
          </a:p>
        </p:txBody>
      </p:sp>
      <p:sp>
        <p:nvSpPr>
          <p:cNvPr id="4" name="Rectangle 12">
            <a:extLst>
              <a:ext uri="{FF2B5EF4-FFF2-40B4-BE49-F238E27FC236}">
                <a16:creationId xmlns="" xmlns:a16="http://schemas.microsoft.com/office/drawing/2014/main" id="{A64DCE33-7BD5-8002-FA2A-E2672FBE8BCB}"/>
              </a:ext>
            </a:extLst>
          </p:cNvPr>
          <p:cNvSpPr/>
          <p:nvPr/>
        </p:nvSpPr>
        <p:spPr>
          <a:xfrm>
            <a:off x="4915988" y="4518454"/>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Modelo de ML </a:t>
            </a:r>
            <a:r>
              <a:rPr lang="pt-BR" b="1" dirty="0">
                <a:solidFill>
                  <a:srgbClr val="00B0F0"/>
                </a:solidFill>
              </a:rPr>
              <a:t>treinado</a:t>
            </a:r>
          </a:p>
          <a:p>
            <a:pPr algn="ctr"/>
            <a:r>
              <a:rPr lang="pt-BR" sz="1400" b="1" dirty="0">
                <a:solidFill>
                  <a:srgbClr val="7030A0"/>
                </a:solidFill>
              </a:rPr>
              <a:t>(reta)</a:t>
            </a:r>
            <a:endParaRPr lang="pt-BR" b="1" dirty="0">
              <a:solidFill>
                <a:srgbClr val="7030A0"/>
              </a:solidFill>
            </a:endParaRPr>
          </a:p>
        </p:txBody>
      </p:sp>
      <p:sp>
        <p:nvSpPr>
          <p:cNvPr id="5" name="TextBox 13">
            <a:extLst>
              <a:ext uri="{FF2B5EF4-FFF2-40B4-BE49-F238E27FC236}">
                <a16:creationId xmlns="" xmlns:a16="http://schemas.microsoft.com/office/drawing/2014/main" id="{FAA24FCF-A5AE-CF14-18FE-0E930B6C1248}"/>
              </a:ext>
            </a:extLst>
          </p:cNvPr>
          <p:cNvSpPr txBox="1"/>
          <p:nvPr/>
        </p:nvSpPr>
        <p:spPr>
          <a:xfrm>
            <a:off x="4087989" y="3986868"/>
            <a:ext cx="3524518" cy="461665"/>
          </a:xfrm>
          <a:prstGeom prst="rect">
            <a:avLst/>
          </a:prstGeom>
          <a:noFill/>
        </p:spPr>
        <p:txBody>
          <a:bodyPr wrap="square" rtlCol="0">
            <a:spAutoFit/>
          </a:bodyPr>
          <a:lstStyle/>
          <a:p>
            <a:pPr algn="ctr"/>
            <a:r>
              <a:rPr lang="pt-BR" sz="2400" b="1" dirty="0"/>
              <a:t>Aprendizado de Máquina</a:t>
            </a:r>
          </a:p>
        </p:txBody>
      </p:sp>
      <p:cxnSp>
        <p:nvCxnSpPr>
          <p:cNvPr id="12" name="Straight Arrow Connector 14">
            <a:extLst>
              <a:ext uri="{FF2B5EF4-FFF2-40B4-BE49-F238E27FC236}">
                <a16:creationId xmlns="" xmlns:a16="http://schemas.microsoft.com/office/drawing/2014/main" id="{8C4B33E8-FD22-BFDB-81FC-955194D0CA37}"/>
              </a:ext>
            </a:extLst>
          </p:cNvPr>
          <p:cNvCxnSpPr/>
          <p:nvPr/>
        </p:nvCxnSpPr>
        <p:spPr>
          <a:xfrm>
            <a:off x="4087988" y="4942997"/>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3" name="TextBox 16">
            <a:extLst>
              <a:ext uri="{FF2B5EF4-FFF2-40B4-BE49-F238E27FC236}">
                <a16:creationId xmlns="" xmlns:a16="http://schemas.microsoft.com/office/drawing/2014/main" id="{9DFE0896-6E0A-A6DD-DBEE-BFD5AA462837}"/>
              </a:ext>
            </a:extLst>
          </p:cNvPr>
          <p:cNvSpPr txBox="1"/>
          <p:nvPr/>
        </p:nvSpPr>
        <p:spPr>
          <a:xfrm>
            <a:off x="3128239" y="4619831"/>
            <a:ext cx="999567" cy="646331"/>
          </a:xfrm>
          <a:prstGeom prst="rect">
            <a:avLst/>
          </a:prstGeom>
          <a:noFill/>
        </p:spPr>
        <p:txBody>
          <a:bodyPr wrap="square" rtlCol="0">
            <a:spAutoFit/>
          </a:bodyPr>
          <a:lstStyle/>
          <a:p>
            <a:pPr algn="ctr"/>
            <a:r>
              <a:rPr lang="pt-BR" dirty="0"/>
              <a:t>Entrada inédita</a:t>
            </a:r>
          </a:p>
        </p:txBody>
      </p:sp>
      <p:cxnSp>
        <p:nvCxnSpPr>
          <p:cNvPr id="14" name="Straight Arrow Connector 18">
            <a:extLst>
              <a:ext uri="{FF2B5EF4-FFF2-40B4-BE49-F238E27FC236}">
                <a16:creationId xmlns="" xmlns:a16="http://schemas.microsoft.com/office/drawing/2014/main" id="{CD1E3A80-E741-2677-57DC-CEEB750650FE}"/>
              </a:ext>
            </a:extLst>
          </p:cNvPr>
          <p:cNvCxnSpPr/>
          <p:nvPr/>
        </p:nvCxnSpPr>
        <p:spPr>
          <a:xfrm>
            <a:off x="6826431" y="4942997"/>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8" name="TextBox 19">
            <a:extLst>
              <a:ext uri="{FF2B5EF4-FFF2-40B4-BE49-F238E27FC236}">
                <a16:creationId xmlns="" xmlns:a16="http://schemas.microsoft.com/office/drawing/2014/main" id="{92B71455-10B8-EA6E-7462-7FD104D78F77}"/>
              </a:ext>
            </a:extLst>
          </p:cNvPr>
          <p:cNvSpPr txBox="1"/>
          <p:nvPr/>
        </p:nvSpPr>
        <p:spPr>
          <a:xfrm>
            <a:off x="7544999" y="4727244"/>
            <a:ext cx="1226725" cy="369332"/>
          </a:xfrm>
          <a:prstGeom prst="rect">
            <a:avLst/>
          </a:prstGeom>
          <a:noFill/>
        </p:spPr>
        <p:txBody>
          <a:bodyPr wrap="square" rtlCol="0">
            <a:spAutoFit/>
          </a:bodyPr>
          <a:lstStyle/>
          <a:p>
            <a:pPr algn="ctr"/>
            <a:r>
              <a:rPr lang="pt-BR" dirty="0"/>
              <a:t>Inferência</a:t>
            </a:r>
            <a:endParaRPr lang="pt-BR" b="1" dirty="0">
              <a:solidFill>
                <a:srgbClr val="FF0000"/>
              </a:solidFill>
            </a:endParaRPr>
          </a:p>
        </p:txBody>
      </p:sp>
      <mc:AlternateContent xmlns:mc="http://schemas.openxmlformats.org/markup-compatibility/2006" xmlns:a14="http://schemas.microsoft.com/office/drawing/2010/main">
        <mc:Choice Requires="a14">
          <p:sp>
            <p:nvSpPr>
              <p:cNvPr id="20" name="CaixaDeTexto 26">
                <a:extLst>
                  <a:ext uri="{FF2B5EF4-FFF2-40B4-BE49-F238E27FC236}">
                    <a16:creationId xmlns="" xmlns:a16="http://schemas.microsoft.com/office/drawing/2014/main" id="{B26DCBB7-69BF-587F-D189-8C0F327FF069}"/>
                  </a:ext>
                </a:extLst>
              </p:cNvPr>
              <p:cNvSpPr txBox="1"/>
              <p:nvPr/>
            </p:nvSpPr>
            <p:spPr>
              <a:xfrm>
                <a:off x="173850" y="6005023"/>
                <a:ext cx="3304095" cy="738664"/>
              </a:xfrm>
              <a:prstGeom prst="rect">
                <a:avLst/>
              </a:prstGeom>
              <a:noFill/>
            </p:spPr>
            <p:txBody>
              <a:bodyPr wrap="square" rtlCol="0">
                <a:spAutoFit/>
              </a:bodyPr>
              <a:lstStyle/>
              <a:p>
                <a:pPr algn="ctr"/>
                <a:r>
                  <a:rPr lang="pt-BR" sz="1400" b="1" dirty="0">
                    <a:solidFill>
                      <a:srgbClr val="00B050"/>
                    </a:solidFill>
                  </a:rPr>
                  <a:t>Qual é a estimativa de paletas vendidas quando a temperatura é de </a:t>
                </a:r>
                <a14:m>
                  <m:oMath xmlns:m="http://schemas.openxmlformats.org/officeDocument/2006/math">
                    <m:r>
                      <a:rPr lang="pt-BR" sz="1400" b="1" i="0" smtClean="0">
                        <a:solidFill>
                          <a:srgbClr val="00B050"/>
                        </a:solidFill>
                        <a:latin typeface="Cambria Math" panose="02040503050406030204" pitchFamily="18" charset="0"/>
                        <a:ea typeface="Cambria Math" panose="02040503050406030204" pitchFamily="18" charset="0"/>
                      </a:rPr>
                      <m:t>≈</m:t>
                    </m:r>
                  </m:oMath>
                </a14:m>
                <a:r>
                  <a:rPr lang="pt-BR" sz="1400" b="1" dirty="0">
                    <a:solidFill>
                      <a:srgbClr val="00B050"/>
                    </a:solidFill>
                  </a:rPr>
                  <a:t> 6 graus </a:t>
                </a:r>
                <a:r>
                  <a:rPr lang="pt-BR" sz="1400" b="1" dirty="0">
                    <a:solidFill>
                      <a:schemeClr val="accent2"/>
                    </a:solidFill>
                  </a:rPr>
                  <a:t>(valor não visto durante o treinamento)</a:t>
                </a:r>
                <a:r>
                  <a:rPr lang="pt-BR" sz="1400" b="1" dirty="0">
                    <a:solidFill>
                      <a:srgbClr val="00B050"/>
                    </a:solidFill>
                  </a:rPr>
                  <a:t>?</a:t>
                </a:r>
              </a:p>
            </p:txBody>
          </p:sp>
        </mc:Choice>
        <mc:Fallback xmlns="">
          <p:sp>
            <p:nvSpPr>
              <p:cNvPr id="20" name="CaixaDeTexto 26">
                <a:extLst>
                  <a:ext uri="{FF2B5EF4-FFF2-40B4-BE49-F238E27FC236}">
                    <a16:creationId xmlns:a16="http://schemas.microsoft.com/office/drawing/2014/main" id="{B26DCBB7-69BF-587F-D189-8C0F327FF069}"/>
                  </a:ext>
                </a:extLst>
              </p:cNvPr>
              <p:cNvSpPr txBox="1">
                <a:spLocks noRot="1" noChangeAspect="1" noMove="1" noResize="1" noEditPoints="1" noAdjustHandles="1" noChangeArrowheads="1" noChangeShapeType="1" noTextEdit="1"/>
              </p:cNvSpPr>
              <p:nvPr/>
            </p:nvSpPr>
            <p:spPr>
              <a:xfrm>
                <a:off x="173850" y="6005023"/>
                <a:ext cx="3304095" cy="738664"/>
              </a:xfrm>
              <a:prstGeom prst="rect">
                <a:avLst/>
              </a:prstGeom>
              <a:blipFill>
                <a:blip r:embed="rId3"/>
                <a:stretch>
                  <a:fillRect t="-1653" b="-8264"/>
                </a:stretch>
              </a:blipFill>
            </p:spPr>
            <p:txBody>
              <a:bodyPr/>
              <a:lstStyle/>
              <a:p>
                <a:r>
                  <a:rPr lang="en-US">
                    <a:noFill/>
                  </a:rPr>
                  <a:t> </a:t>
                </a:r>
              </a:p>
            </p:txBody>
          </p:sp>
        </mc:Fallback>
      </mc:AlternateContent>
      <p:sp>
        <p:nvSpPr>
          <p:cNvPr id="23" name="CaixaDeTexto 28">
            <a:extLst>
              <a:ext uri="{FF2B5EF4-FFF2-40B4-BE49-F238E27FC236}">
                <a16:creationId xmlns="" xmlns:a16="http://schemas.microsoft.com/office/drawing/2014/main" id="{2FAF0970-8C9D-5310-F32C-938BE32A864D}"/>
              </a:ext>
            </a:extLst>
          </p:cNvPr>
          <p:cNvSpPr txBox="1"/>
          <p:nvPr/>
        </p:nvSpPr>
        <p:spPr>
          <a:xfrm>
            <a:off x="4087988" y="4566034"/>
            <a:ext cx="827999" cy="369332"/>
          </a:xfrm>
          <a:prstGeom prst="rect">
            <a:avLst/>
          </a:prstGeom>
          <a:noFill/>
        </p:spPr>
        <p:txBody>
          <a:bodyPr wrap="square">
            <a:spAutoFit/>
          </a:bodyPr>
          <a:lstStyle/>
          <a:p>
            <a:pPr algn="ctr"/>
            <a:r>
              <a:rPr lang="pt-BR" sz="1800" dirty="0">
                <a:solidFill>
                  <a:srgbClr val="FF0000"/>
                </a:solidFill>
              </a:rPr>
              <a:t>6</a:t>
            </a:r>
            <a:endParaRPr lang="pt-BR" dirty="0">
              <a:solidFill>
                <a:srgbClr val="FF0000"/>
              </a:solidFill>
            </a:endParaRPr>
          </a:p>
        </p:txBody>
      </p:sp>
      <p:sp>
        <p:nvSpPr>
          <p:cNvPr id="24" name="CaixaDeTexto 29">
            <a:extLst>
              <a:ext uri="{FF2B5EF4-FFF2-40B4-BE49-F238E27FC236}">
                <a16:creationId xmlns="" xmlns:a16="http://schemas.microsoft.com/office/drawing/2014/main" id="{879CA349-72B6-FA4E-F6C2-AA784127E39F}"/>
              </a:ext>
            </a:extLst>
          </p:cNvPr>
          <p:cNvSpPr txBox="1"/>
          <p:nvPr/>
        </p:nvSpPr>
        <p:spPr>
          <a:xfrm>
            <a:off x="6826430" y="4573664"/>
            <a:ext cx="828001" cy="369332"/>
          </a:xfrm>
          <a:prstGeom prst="rect">
            <a:avLst/>
          </a:prstGeom>
          <a:noFill/>
        </p:spPr>
        <p:txBody>
          <a:bodyPr wrap="square">
            <a:spAutoFit/>
          </a:bodyPr>
          <a:lstStyle/>
          <a:p>
            <a:pPr algn="ctr"/>
            <a:r>
              <a:rPr lang="pt-BR" dirty="0">
                <a:solidFill>
                  <a:srgbClr val="FF0000"/>
                </a:solidFill>
              </a:rPr>
              <a:t>23</a:t>
            </a:r>
          </a:p>
        </p:txBody>
      </p:sp>
      <p:grpSp>
        <p:nvGrpSpPr>
          <p:cNvPr id="25" name="Agrupar 35">
            <a:extLst>
              <a:ext uri="{FF2B5EF4-FFF2-40B4-BE49-F238E27FC236}">
                <a16:creationId xmlns="" xmlns:a16="http://schemas.microsoft.com/office/drawing/2014/main" id="{0EE203B6-1CB7-5294-D183-73271B2F1F88}"/>
              </a:ext>
            </a:extLst>
          </p:cNvPr>
          <p:cNvGrpSpPr/>
          <p:nvPr/>
        </p:nvGrpSpPr>
        <p:grpSpPr>
          <a:xfrm>
            <a:off x="230337" y="4031043"/>
            <a:ext cx="2861802" cy="2013028"/>
            <a:chOff x="126016" y="4182282"/>
            <a:chExt cx="2861802" cy="2013028"/>
          </a:xfrm>
        </p:grpSpPr>
        <p:pic>
          <p:nvPicPr>
            <p:cNvPr id="26" name="Picture 2">
              <a:extLst>
                <a:ext uri="{FF2B5EF4-FFF2-40B4-BE49-F238E27FC236}">
                  <a16:creationId xmlns="" xmlns:a16="http://schemas.microsoft.com/office/drawing/2014/main" id="{52FB9E87-1782-E378-7B03-FD4ABC3136A7}"/>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16" r="1714"/>
            <a:stretch/>
          </p:blipFill>
          <p:spPr bwMode="auto">
            <a:xfrm>
              <a:off x="126016" y="4182282"/>
              <a:ext cx="2861802" cy="2013028"/>
            </a:xfrm>
            <a:prstGeom prst="rect">
              <a:avLst/>
            </a:prstGeom>
            <a:noFill/>
            <a:extLst>
              <a:ext uri="{909E8E84-426E-40DD-AFC4-6F175D3DCCD1}">
                <a14:hiddenFill xmlns:a14="http://schemas.microsoft.com/office/drawing/2010/main">
                  <a:solidFill>
                    <a:srgbClr val="FFFFFF"/>
                  </a:solidFill>
                </a14:hiddenFill>
              </a:ext>
            </a:extLst>
          </p:spPr>
        </p:pic>
        <p:cxnSp>
          <p:nvCxnSpPr>
            <p:cNvPr id="28" name="Conector reto 8">
              <a:extLst>
                <a:ext uri="{FF2B5EF4-FFF2-40B4-BE49-F238E27FC236}">
                  <a16:creationId xmlns="" xmlns:a16="http://schemas.microsoft.com/office/drawing/2014/main" id="{FF671E21-D3F9-EBF9-816E-882A0ED78247}"/>
                </a:ext>
              </a:extLst>
            </p:cNvPr>
            <p:cNvCxnSpPr>
              <a:cxnSpLocks/>
            </p:cNvCxnSpPr>
            <p:nvPr/>
          </p:nvCxnSpPr>
          <p:spPr>
            <a:xfrm>
              <a:off x="921532" y="4434654"/>
              <a:ext cx="0" cy="1476000"/>
            </a:xfrm>
            <a:prstGeom prst="line">
              <a:avLst/>
            </a:prstGeom>
            <a:ln w="12700">
              <a:solidFill>
                <a:srgbClr val="FF0000"/>
              </a:solidFill>
              <a:prstDash val="sysDash"/>
            </a:ln>
          </p:spPr>
          <p:style>
            <a:lnRef idx="1">
              <a:schemeClr val="accent1"/>
            </a:lnRef>
            <a:fillRef idx="0">
              <a:schemeClr val="accent1"/>
            </a:fillRef>
            <a:effectRef idx="0">
              <a:schemeClr val="accent1"/>
            </a:effectRef>
            <a:fontRef idx="minor">
              <a:schemeClr val="tx1"/>
            </a:fontRef>
          </p:style>
        </p:cxnSp>
        <p:sp>
          <p:nvSpPr>
            <p:cNvPr id="32" name="CaixaDeTexto 30">
              <a:extLst>
                <a:ext uri="{FF2B5EF4-FFF2-40B4-BE49-F238E27FC236}">
                  <a16:creationId xmlns="" xmlns:a16="http://schemas.microsoft.com/office/drawing/2014/main" id="{D4D7DF61-A03A-DB85-ECC9-D7390AD933D2}"/>
                </a:ext>
              </a:extLst>
            </p:cNvPr>
            <p:cNvSpPr txBox="1"/>
            <p:nvPr/>
          </p:nvSpPr>
          <p:spPr>
            <a:xfrm>
              <a:off x="814753" y="5869491"/>
              <a:ext cx="213557" cy="261610"/>
            </a:xfrm>
            <a:prstGeom prst="rect">
              <a:avLst/>
            </a:prstGeom>
            <a:noFill/>
          </p:spPr>
          <p:txBody>
            <a:bodyPr wrap="square">
              <a:spAutoFit/>
            </a:bodyPr>
            <a:lstStyle/>
            <a:p>
              <a:pPr algn="ctr"/>
              <a:r>
                <a:rPr lang="pt-BR" sz="1050" dirty="0">
                  <a:solidFill>
                    <a:srgbClr val="FF0000"/>
                  </a:solidFill>
                </a:rPr>
                <a:t>6</a:t>
              </a:r>
            </a:p>
          </p:txBody>
        </p:sp>
      </p:grpSp>
      <p:sp>
        <p:nvSpPr>
          <p:cNvPr id="38" name="CaixaDeTexto 58">
            <a:extLst>
              <a:ext uri="{FF2B5EF4-FFF2-40B4-BE49-F238E27FC236}">
                <a16:creationId xmlns="" xmlns:a16="http://schemas.microsoft.com/office/drawing/2014/main" id="{5AC83E0B-B11B-9C06-F572-4761A1C66B6D}"/>
              </a:ext>
            </a:extLst>
          </p:cNvPr>
          <p:cNvSpPr txBox="1"/>
          <p:nvPr/>
        </p:nvSpPr>
        <p:spPr>
          <a:xfrm>
            <a:off x="8319332" y="6008261"/>
            <a:ext cx="3793692" cy="738664"/>
          </a:xfrm>
          <a:prstGeom prst="rect">
            <a:avLst/>
          </a:prstGeom>
          <a:noFill/>
        </p:spPr>
        <p:txBody>
          <a:bodyPr wrap="square" rtlCol="0">
            <a:spAutoFit/>
          </a:bodyPr>
          <a:lstStyle/>
          <a:p>
            <a:pPr algn="ctr"/>
            <a:r>
              <a:rPr lang="pt-BR" sz="1400" b="1" dirty="0">
                <a:solidFill>
                  <a:srgbClr val="00B050"/>
                </a:solidFill>
              </a:rPr>
              <a:t>A partir do mapeamento aprendido (i.e., </a:t>
            </a:r>
            <a:r>
              <a:rPr lang="pt-BR" sz="1400" b="1" dirty="0">
                <a:solidFill>
                  <a:schemeClr val="accent2"/>
                </a:solidFill>
              </a:rPr>
              <a:t>reta</a:t>
            </a:r>
            <a:r>
              <a:rPr lang="pt-BR" sz="1400" b="1" dirty="0">
                <a:solidFill>
                  <a:srgbClr val="00B050"/>
                </a:solidFill>
              </a:rPr>
              <a:t>), o modelo gera como saída o valor 23, que é </a:t>
            </a:r>
            <a:r>
              <a:rPr lang="pt-BR" sz="1400" b="1" dirty="0">
                <a:solidFill>
                  <a:srgbClr val="7030A0"/>
                </a:solidFill>
              </a:rPr>
              <a:t>coerente</a:t>
            </a:r>
            <a:r>
              <a:rPr lang="pt-BR" sz="1400" b="1" dirty="0">
                <a:solidFill>
                  <a:srgbClr val="00B050"/>
                </a:solidFill>
              </a:rPr>
              <a:t> com o restante dos dados.</a:t>
            </a:r>
          </a:p>
        </p:txBody>
      </p:sp>
      <p:grpSp>
        <p:nvGrpSpPr>
          <p:cNvPr id="39" name="Agrupar 10">
            <a:extLst>
              <a:ext uri="{FF2B5EF4-FFF2-40B4-BE49-F238E27FC236}">
                <a16:creationId xmlns="" xmlns:a16="http://schemas.microsoft.com/office/drawing/2014/main" id="{BFCDBB1C-C7BF-92D0-E1B2-460E88192732}"/>
              </a:ext>
            </a:extLst>
          </p:cNvPr>
          <p:cNvGrpSpPr/>
          <p:nvPr/>
        </p:nvGrpSpPr>
        <p:grpSpPr>
          <a:xfrm>
            <a:off x="8662291" y="4015941"/>
            <a:ext cx="2948745" cy="2010947"/>
            <a:chOff x="8950873" y="2545355"/>
            <a:chExt cx="2948745" cy="2010947"/>
          </a:xfrm>
        </p:grpSpPr>
        <p:grpSp>
          <p:nvGrpSpPr>
            <p:cNvPr id="40" name="Agrupar 5">
              <a:extLst>
                <a:ext uri="{FF2B5EF4-FFF2-40B4-BE49-F238E27FC236}">
                  <a16:creationId xmlns="" xmlns:a16="http://schemas.microsoft.com/office/drawing/2014/main" id="{EE2EC19C-841D-6B9B-0AD4-6636000E41BF}"/>
                </a:ext>
              </a:extLst>
            </p:cNvPr>
            <p:cNvGrpSpPr/>
            <p:nvPr/>
          </p:nvGrpSpPr>
          <p:grpSpPr>
            <a:xfrm>
              <a:off x="8950873" y="2545355"/>
              <a:ext cx="2948745" cy="2010947"/>
              <a:chOff x="8367252" y="3883682"/>
              <a:chExt cx="2948745" cy="2010947"/>
            </a:xfrm>
          </p:grpSpPr>
          <p:pic>
            <p:nvPicPr>
              <p:cNvPr id="44" name="Imagem 6">
                <a:extLst>
                  <a:ext uri="{FF2B5EF4-FFF2-40B4-BE49-F238E27FC236}">
                    <a16:creationId xmlns="" xmlns:a16="http://schemas.microsoft.com/office/drawing/2014/main" id="{7C1087D0-F9C5-D469-F0E4-294FA68830B7}"/>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3463" t="9957" r="8514"/>
              <a:stretch/>
            </p:blipFill>
            <p:spPr>
              <a:xfrm>
                <a:off x="8367252" y="3883682"/>
                <a:ext cx="2948745" cy="2010947"/>
              </a:xfrm>
              <a:prstGeom prst="rect">
                <a:avLst/>
              </a:prstGeom>
            </p:spPr>
          </p:pic>
          <p:cxnSp>
            <p:nvCxnSpPr>
              <p:cNvPr id="45" name="Conector reto 7">
                <a:extLst>
                  <a:ext uri="{FF2B5EF4-FFF2-40B4-BE49-F238E27FC236}">
                    <a16:creationId xmlns="" xmlns:a16="http://schemas.microsoft.com/office/drawing/2014/main" id="{7831B743-7739-E47F-B2B7-358FB5C8BAC0}"/>
                  </a:ext>
                </a:extLst>
              </p:cNvPr>
              <p:cNvCxnSpPr>
                <a:cxnSpLocks/>
              </p:cNvCxnSpPr>
              <p:nvPr/>
            </p:nvCxnSpPr>
            <p:spPr>
              <a:xfrm>
                <a:off x="9162852" y="5293244"/>
                <a:ext cx="0" cy="360000"/>
              </a:xfrm>
              <a:prstGeom prst="line">
                <a:avLst/>
              </a:prstGeom>
              <a:ln w="12700">
                <a:solidFill>
                  <a:srgbClr val="FF0000"/>
                </a:solidFill>
                <a:prstDash val="sysDash"/>
              </a:ln>
            </p:spPr>
            <p:style>
              <a:lnRef idx="1">
                <a:schemeClr val="accent1"/>
              </a:lnRef>
              <a:fillRef idx="0">
                <a:schemeClr val="accent1"/>
              </a:fillRef>
              <a:effectRef idx="0">
                <a:schemeClr val="accent1"/>
              </a:effectRef>
              <a:fontRef idx="minor">
                <a:schemeClr val="tx1"/>
              </a:fontRef>
            </p:style>
          </p:cxnSp>
          <p:sp>
            <p:nvSpPr>
              <p:cNvPr id="46" name="CaixaDeTexto 9">
                <a:extLst>
                  <a:ext uri="{FF2B5EF4-FFF2-40B4-BE49-F238E27FC236}">
                    <a16:creationId xmlns="" xmlns:a16="http://schemas.microsoft.com/office/drawing/2014/main" id="{A66B5280-D6F8-C8F8-C908-645BABD9295B}"/>
                  </a:ext>
                </a:extLst>
              </p:cNvPr>
              <p:cNvSpPr txBox="1"/>
              <p:nvPr/>
            </p:nvSpPr>
            <p:spPr>
              <a:xfrm>
                <a:off x="9056073" y="5606014"/>
                <a:ext cx="213557" cy="261610"/>
              </a:xfrm>
              <a:prstGeom prst="rect">
                <a:avLst/>
              </a:prstGeom>
              <a:noFill/>
            </p:spPr>
            <p:txBody>
              <a:bodyPr wrap="square">
                <a:spAutoFit/>
              </a:bodyPr>
              <a:lstStyle/>
              <a:p>
                <a:pPr algn="ctr"/>
                <a:r>
                  <a:rPr lang="pt-BR" sz="1050" dirty="0">
                    <a:solidFill>
                      <a:srgbClr val="FF0000"/>
                    </a:solidFill>
                  </a:rPr>
                  <a:t>6</a:t>
                </a:r>
              </a:p>
            </p:txBody>
          </p:sp>
        </p:grpSp>
        <p:grpSp>
          <p:nvGrpSpPr>
            <p:cNvPr id="41" name="Agrupar 54">
              <a:extLst>
                <a:ext uri="{FF2B5EF4-FFF2-40B4-BE49-F238E27FC236}">
                  <a16:creationId xmlns="" xmlns:a16="http://schemas.microsoft.com/office/drawing/2014/main" id="{E47B5808-2CF0-1564-F054-43D15DCA9C7F}"/>
                </a:ext>
              </a:extLst>
            </p:cNvPr>
            <p:cNvGrpSpPr>
              <a:grpSpLocks noChangeAspect="1"/>
            </p:cNvGrpSpPr>
            <p:nvPr/>
          </p:nvGrpSpPr>
          <p:grpSpPr>
            <a:xfrm>
              <a:off x="9729806" y="3933640"/>
              <a:ext cx="36000" cy="36000"/>
              <a:chOff x="11557842" y="4567654"/>
              <a:chExt cx="280014" cy="280014"/>
            </a:xfrm>
          </p:grpSpPr>
          <p:cxnSp>
            <p:nvCxnSpPr>
              <p:cNvPr id="42" name="Conector reto 46">
                <a:extLst>
                  <a:ext uri="{FF2B5EF4-FFF2-40B4-BE49-F238E27FC236}">
                    <a16:creationId xmlns="" xmlns:a16="http://schemas.microsoft.com/office/drawing/2014/main" id="{EE964F89-5F20-32FE-CD7F-F3B836F9B985}"/>
                  </a:ext>
                </a:extLst>
              </p:cNvPr>
              <p:cNvCxnSpPr>
                <a:cxnSpLocks/>
              </p:cNvCxnSpPr>
              <p:nvPr/>
            </p:nvCxnSpPr>
            <p:spPr>
              <a:xfrm>
                <a:off x="11557842" y="4567654"/>
                <a:ext cx="280014" cy="280014"/>
              </a:xfrm>
              <a:prstGeom prst="line">
                <a:avLst/>
              </a:prstGeom>
              <a:ln w="127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Conector reto 53">
                <a:extLst>
                  <a:ext uri="{FF2B5EF4-FFF2-40B4-BE49-F238E27FC236}">
                    <a16:creationId xmlns="" xmlns:a16="http://schemas.microsoft.com/office/drawing/2014/main" id="{00A73DD8-CD2C-633B-446F-DC8134FA2D69}"/>
                  </a:ext>
                </a:extLst>
              </p:cNvPr>
              <p:cNvCxnSpPr>
                <a:cxnSpLocks/>
              </p:cNvCxnSpPr>
              <p:nvPr/>
            </p:nvCxnSpPr>
            <p:spPr>
              <a:xfrm flipH="1">
                <a:off x="11557842" y="4567654"/>
                <a:ext cx="280014" cy="280014"/>
              </a:xfrm>
              <a:prstGeom prst="line">
                <a:avLst/>
              </a:prstGeom>
              <a:ln w="12700">
                <a:solidFill>
                  <a:srgbClr val="FF0000"/>
                </a:solidFill>
              </a:ln>
            </p:spPr>
            <p:style>
              <a:lnRef idx="1">
                <a:schemeClr val="accent1"/>
              </a:lnRef>
              <a:fillRef idx="0">
                <a:schemeClr val="accent1"/>
              </a:fillRef>
              <a:effectRef idx="0">
                <a:schemeClr val="accent1"/>
              </a:effectRef>
              <a:fontRef idx="minor">
                <a:schemeClr val="tx1"/>
              </a:fontRef>
            </p:style>
          </p:cxnSp>
        </p:grpSp>
      </p:grpSp>
      <p:cxnSp>
        <p:nvCxnSpPr>
          <p:cNvPr id="48" name="Conector de Seta Reta 32">
            <a:extLst>
              <a:ext uri="{FF2B5EF4-FFF2-40B4-BE49-F238E27FC236}">
                <a16:creationId xmlns="" xmlns:a16="http://schemas.microsoft.com/office/drawing/2014/main" id="{3DF850AE-F282-ABB2-C3A3-A91ADBFE2445}"/>
              </a:ext>
            </a:extLst>
          </p:cNvPr>
          <p:cNvCxnSpPr>
            <a:cxnSpLocks/>
          </p:cNvCxnSpPr>
          <p:nvPr/>
        </p:nvCxnSpPr>
        <p:spPr>
          <a:xfrm>
            <a:off x="7296150" y="4980787"/>
            <a:ext cx="2046365" cy="422627"/>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984214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Os paradigmas de aprendizado</a:t>
            </a:r>
          </a:p>
        </p:txBody>
      </p:sp>
      <p:pic>
        <p:nvPicPr>
          <p:cNvPr id="6" name="Picture 2" descr="The main types of machine learning. Main approaches include... | Download  Scientific Diagram">
            <a:extLst>
              <a:ext uri="{FF2B5EF4-FFF2-40B4-BE49-F238E27FC236}">
                <a16:creationId xmlns="" xmlns:a16="http://schemas.microsoft.com/office/drawing/2014/main" id="{9D118E81-68AB-1DF6-BE2D-8D720E05C232}"/>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895" t="2002" r="2829" b="3093"/>
          <a:stretch/>
        </p:blipFill>
        <p:spPr bwMode="auto">
          <a:xfrm>
            <a:off x="130632" y="2242458"/>
            <a:ext cx="6712059" cy="3640817"/>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 xmlns:a16="http://schemas.microsoft.com/office/drawing/2014/main" id="{8E4DBA39-5379-9FDE-BDF3-4F9CE2154529}"/>
              </a:ext>
            </a:extLst>
          </p:cNvPr>
          <p:cNvSpPr txBox="1"/>
          <p:nvPr/>
        </p:nvSpPr>
        <p:spPr>
          <a:xfrm>
            <a:off x="6934200" y="2763522"/>
            <a:ext cx="5257800" cy="2246769"/>
          </a:xfrm>
          <a:prstGeom prst="rect">
            <a:avLst/>
          </a:prstGeom>
          <a:noFill/>
        </p:spPr>
        <p:txBody>
          <a:bodyPr wrap="square">
            <a:spAutoFit/>
          </a:bodyPr>
          <a:lstStyle/>
          <a:p>
            <a:r>
              <a:rPr lang="pt-BR" sz="2800" dirty="0"/>
              <a:t>Em ML temos três paradigmas principais:</a:t>
            </a:r>
          </a:p>
          <a:p>
            <a:pPr marL="285750" indent="-285750">
              <a:buFont typeface="Arial" panose="020B0604020202020204" pitchFamily="34" charset="0"/>
              <a:buChar char="•"/>
            </a:pPr>
            <a:r>
              <a:rPr lang="pt-BR" sz="2800" dirty="0"/>
              <a:t>Aprendizado supervisionado</a:t>
            </a:r>
          </a:p>
          <a:p>
            <a:pPr marL="285750" indent="-285750">
              <a:buFont typeface="Arial" panose="020B0604020202020204" pitchFamily="34" charset="0"/>
              <a:buChar char="•"/>
            </a:pPr>
            <a:r>
              <a:rPr lang="pt-BR" sz="2800" dirty="0"/>
              <a:t>Aprendizado não-supervisionado</a:t>
            </a:r>
          </a:p>
          <a:p>
            <a:pPr marL="285750" indent="-285750">
              <a:buFont typeface="Arial" panose="020B0604020202020204" pitchFamily="34" charset="0"/>
              <a:buChar char="•"/>
            </a:pPr>
            <a:r>
              <a:rPr lang="pt-BR" sz="2800" dirty="0"/>
              <a:t>Aprendizado por reforço</a:t>
            </a:r>
          </a:p>
        </p:txBody>
      </p:sp>
    </p:spTree>
    <p:extLst>
      <p:ext uri="{BB962C8B-B14F-4D97-AF65-F5344CB8AC3E}">
        <p14:creationId xmlns:p14="http://schemas.microsoft.com/office/powerpoint/2010/main" val="116700099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Os paradigmas de aprendizado</a:t>
            </a:r>
          </a:p>
        </p:txBody>
      </p:sp>
      <p:sp>
        <p:nvSpPr>
          <p:cNvPr id="3" name="Espaço Reservado para Conteúdo 2"/>
          <p:cNvSpPr>
            <a:spLocks noGrp="1"/>
          </p:cNvSpPr>
          <p:nvPr>
            <p:ph idx="1"/>
          </p:nvPr>
        </p:nvSpPr>
        <p:spPr>
          <a:xfrm>
            <a:off x="6096000" y="1825624"/>
            <a:ext cx="5940829" cy="5032375"/>
          </a:xfrm>
        </p:spPr>
        <p:txBody>
          <a:bodyPr>
            <a:normAutofit/>
          </a:bodyPr>
          <a:lstStyle/>
          <a:p>
            <a:r>
              <a:rPr lang="pt-BR" dirty="0"/>
              <a:t>Cada paradigma tem um </a:t>
            </a:r>
            <a:r>
              <a:rPr lang="pt-BR" b="1" dirty="0"/>
              <a:t>estilo de aprendizagem</a:t>
            </a:r>
            <a:r>
              <a:rPr lang="pt-BR" dirty="0"/>
              <a:t>: alguns gostam de </a:t>
            </a:r>
            <a:r>
              <a:rPr lang="pt-BR" b="1" dirty="0"/>
              <a:t>receber as respostas</a:t>
            </a:r>
            <a:r>
              <a:rPr lang="pt-BR" dirty="0"/>
              <a:t>, outros as </a:t>
            </a:r>
            <a:r>
              <a:rPr lang="pt-BR" b="1" dirty="0"/>
              <a:t>descobrem sozinhos </a:t>
            </a:r>
            <a:r>
              <a:rPr lang="pt-BR" dirty="0"/>
              <a:t>e alguns aprendem por </a:t>
            </a:r>
            <a:r>
              <a:rPr lang="pt-BR" b="1" dirty="0"/>
              <a:t>tentativa e erro</a:t>
            </a:r>
            <a:r>
              <a:rPr lang="pt-BR" dirty="0"/>
              <a:t>.</a:t>
            </a:r>
          </a:p>
          <a:p>
            <a:r>
              <a:rPr lang="pt-BR" dirty="0"/>
              <a:t>Eles têm vários algoritmos e aplicações.</a:t>
            </a:r>
          </a:p>
          <a:p>
            <a:r>
              <a:rPr lang="pt-BR" dirty="0"/>
              <a:t>Alguns podem ser </a:t>
            </a:r>
            <a:r>
              <a:rPr lang="pt-BR" b="1" dirty="0"/>
              <a:t>divididos em diferentes tarefas</a:t>
            </a:r>
            <a:r>
              <a:rPr lang="pt-BR" dirty="0"/>
              <a:t>, como regressão e classificação, no caso do aprendizado </a:t>
            </a:r>
            <a:r>
              <a:rPr lang="pt-BR" b="1" dirty="0"/>
              <a:t>supervisionado</a:t>
            </a:r>
            <a:r>
              <a:rPr lang="pt-BR" dirty="0"/>
              <a:t>.</a:t>
            </a:r>
          </a:p>
        </p:txBody>
      </p:sp>
      <p:pic>
        <p:nvPicPr>
          <p:cNvPr id="1026" name="Picture 2" descr="Image"/>
          <p:cNvPicPr>
            <a:picLocks noChangeAspect="1" noChangeArrowheads="1"/>
          </p:cNvPicPr>
          <p:nvPr/>
        </p:nvPicPr>
        <p:blipFill rotWithShape="1">
          <a:blip r:embed="rId2">
            <a:extLst>
              <a:ext uri="{28A0092B-C50C-407E-A947-70E740481C1C}">
                <a14:useLocalDpi xmlns:a14="http://schemas.microsoft.com/office/drawing/2010/main" val="0"/>
              </a:ext>
            </a:extLst>
          </a:blip>
          <a:srcRect t="23092" b="5293"/>
          <a:stretch/>
        </p:blipFill>
        <p:spPr bwMode="auto">
          <a:xfrm>
            <a:off x="297682" y="2223260"/>
            <a:ext cx="5398943" cy="386645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5942644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supervisionado</a:t>
            </a:r>
          </a:p>
        </p:txBody>
      </p:sp>
      <p:pic>
        <p:nvPicPr>
          <p:cNvPr id="7170" name="Picture 2" descr="Supervised Learning | What is, Types, Applications and Example | Edureka"/>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65771" y="1863813"/>
            <a:ext cx="5796338" cy="4304212"/>
          </a:xfrm>
          <a:prstGeom prst="rect">
            <a:avLst/>
          </a:prstGeom>
          <a:noFill/>
          <a:extLst>
            <a:ext uri="{909E8E84-426E-40DD-AFC4-6F175D3DCCD1}">
              <a14:hiddenFill xmlns:a14="http://schemas.microsoft.com/office/drawing/2010/main">
                <a:solidFill>
                  <a:srgbClr val="FFFFFF"/>
                </a:solidFill>
              </a14:hiddenFill>
            </a:ext>
          </a:extLst>
        </p:spPr>
      </p:pic>
      <p:sp>
        <p:nvSpPr>
          <p:cNvPr id="4" name="Retângulo 3"/>
          <p:cNvSpPr/>
          <p:nvPr/>
        </p:nvSpPr>
        <p:spPr>
          <a:xfrm>
            <a:off x="8724499" y="2974990"/>
            <a:ext cx="3192476" cy="1569660"/>
          </a:xfrm>
          <a:prstGeom prst="rect">
            <a:avLst/>
          </a:prstGeom>
        </p:spPr>
        <p:txBody>
          <a:bodyPr wrap="none">
            <a:spAutoFit/>
          </a:bodyPr>
          <a:lstStyle/>
          <a:p>
            <a:pPr algn="ctr"/>
            <a:r>
              <a:rPr lang="pt-BR" sz="3200" b="1" dirty="0"/>
              <a:t>Aluno e professor</a:t>
            </a:r>
          </a:p>
          <a:p>
            <a:pPr algn="ctr"/>
            <a:r>
              <a:rPr lang="pt-BR" sz="3200" b="1" dirty="0"/>
              <a:t>=</a:t>
            </a:r>
          </a:p>
          <a:p>
            <a:pPr algn="ctr"/>
            <a:r>
              <a:rPr lang="pt-BR" sz="3200" b="1" dirty="0"/>
              <a:t>Modelo e rótulos</a:t>
            </a:r>
          </a:p>
        </p:txBody>
      </p:sp>
    </p:spTree>
    <p:extLst>
      <p:ext uri="{BB962C8B-B14F-4D97-AF65-F5344CB8AC3E}">
        <p14:creationId xmlns:p14="http://schemas.microsoft.com/office/powerpoint/2010/main" val="61864184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94AB8438-E56E-2412-517C-8456E4CA773C}"/>
              </a:ext>
            </a:extLst>
          </p:cNvPr>
          <p:cNvSpPr>
            <a:spLocks noGrp="1"/>
          </p:cNvSpPr>
          <p:nvPr>
            <p:ph type="title"/>
          </p:nvPr>
        </p:nvSpPr>
        <p:spPr/>
        <p:txBody>
          <a:bodyPr/>
          <a:lstStyle/>
          <a:p>
            <a:r>
              <a:rPr lang="pt-BR" dirty="0"/>
              <a:t>Aprendizado supervisionado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F7E2B09C-6D56-4C9F-A364-B904CCE2F1A0}"/>
                  </a:ext>
                </a:extLst>
              </p:cNvPr>
              <p:cNvSpPr>
                <a:spLocks noGrp="1"/>
              </p:cNvSpPr>
              <p:nvPr>
                <p:ph idx="1"/>
              </p:nvPr>
            </p:nvSpPr>
            <p:spPr>
              <a:xfrm>
                <a:off x="838199" y="1825624"/>
                <a:ext cx="11132127" cy="5032375"/>
              </a:xfrm>
            </p:spPr>
            <p:txBody>
              <a:bodyPr>
                <a:normAutofit/>
              </a:bodyPr>
              <a:lstStyle/>
              <a:p>
                <a:r>
                  <a:rPr lang="pt-BR" dirty="0"/>
                  <a:t>Este é o método mais comum de ensinar uma máquina. </a:t>
                </a:r>
              </a:p>
              <a:p>
                <a:r>
                  <a:rPr lang="pt-BR" dirty="0"/>
                  <a:t>Ele depende de </a:t>
                </a:r>
                <a:r>
                  <a:rPr lang="pt-BR" b="1" dirty="0"/>
                  <a:t>dados rotulados</a:t>
                </a:r>
                <a:r>
                  <a:rPr lang="pt-BR" dirty="0"/>
                  <a:t>, ou seja, exemplos que contêm a resposta correta.</a:t>
                </a:r>
              </a:p>
              <a:p>
                <a:r>
                  <a:rPr lang="pt-BR" b="1" dirty="0"/>
                  <a:t>Como funciona:</a:t>
                </a:r>
                <a:r>
                  <a:rPr lang="pt-BR" dirty="0"/>
                  <a:t> O modelo recebe entradas, </a:t>
                </a:r>
                <a14:m>
                  <m:oMath xmlns:m="http://schemas.openxmlformats.org/officeDocument/2006/math">
                    <m:r>
                      <a:rPr lang="pt-BR" b="0" i="1" smtClean="0">
                        <a:latin typeface="Cambria Math" panose="02040503050406030204" pitchFamily="18" charset="0"/>
                      </a:rPr>
                      <m:t>𝑥</m:t>
                    </m:r>
                  </m:oMath>
                </a14:m>
                <a:r>
                  <a:rPr lang="pt-BR" dirty="0"/>
                  <a:t>, e as respostas corretas, </a:t>
                </a:r>
                <a14:m>
                  <m:oMath xmlns:m="http://schemas.openxmlformats.org/officeDocument/2006/math">
                    <m:r>
                      <a:rPr lang="pt-BR" b="0" i="1" smtClean="0">
                        <a:latin typeface="Cambria Math" panose="02040503050406030204" pitchFamily="18" charset="0"/>
                      </a:rPr>
                      <m:t>𝑦</m:t>
                    </m:r>
                  </m:oMath>
                </a14:m>
                <a:r>
                  <a:rPr lang="pt-BR" dirty="0"/>
                  <a:t>.</a:t>
                </a:r>
              </a:p>
              <a:p>
                <a:r>
                  <a:rPr lang="pt-BR" b="1" dirty="0"/>
                  <a:t>O professor:</a:t>
                </a:r>
                <a:r>
                  <a:rPr lang="pt-BR" dirty="0"/>
                  <a:t> É o conjunto de </a:t>
                </a:r>
                <a:r>
                  <a:rPr lang="pt-BR" b="1" dirty="0"/>
                  <a:t>dados rotulados </a:t>
                </a:r>
                <a:r>
                  <a:rPr lang="pt-BR" dirty="0"/>
                  <a:t>que "diz" à máquina se ela acertou ou errou durante o treinamento.</a:t>
                </a:r>
              </a:p>
              <a:p>
                <a:r>
                  <a:rPr lang="pt-BR" b="1" dirty="0"/>
                  <a:t>O aluno</a:t>
                </a:r>
                <a:r>
                  <a:rPr lang="pt-BR" dirty="0"/>
                  <a:t>: É o modelo que deve ser </a:t>
                </a:r>
                <a:r>
                  <a:rPr lang="pt-BR" b="1" dirty="0"/>
                  <a:t>ajustado</a:t>
                </a:r>
                <a:r>
                  <a:rPr lang="pt-BR" dirty="0"/>
                  <a:t> para </a:t>
                </a:r>
                <a:r>
                  <a:rPr lang="pt-BR" b="1" dirty="0"/>
                  <a:t>mapear</a:t>
                </a:r>
                <a:r>
                  <a:rPr lang="pt-BR" dirty="0"/>
                  <a:t> </a:t>
                </a:r>
                <a14:m>
                  <m:oMath xmlns:m="http://schemas.openxmlformats.org/officeDocument/2006/math">
                    <m:r>
                      <a:rPr lang="pt-BR" i="1">
                        <a:latin typeface="Cambria Math" panose="02040503050406030204" pitchFamily="18" charset="0"/>
                      </a:rPr>
                      <m:t>𝑥</m:t>
                    </m:r>
                  </m:oMath>
                </a14:m>
                <a:r>
                  <a:rPr lang="pt-BR" dirty="0"/>
                  <a:t> em </a:t>
                </a:r>
                <a14:m>
                  <m:oMath xmlns:m="http://schemas.openxmlformats.org/officeDocument/2006/math">
                    <m:r>
                      <a:rPr lang="pt-BR" b="0" i="1" smtClean="0">
                        <a:latin typeface="Cambria Math" panose="02040503050406030204" pitchFamily="18" charset="0"/>
                      </a:rPr>
                      <m:t>𝑦</m:t>
                    </m:r>
                  </m:oMath>
                </a14:m>
                <a:r>
                  <a:rPr lang="pt-BR" dirty="0"/>
                  <a:t>.</a:t>
                </a:r>
              </a:p>
              <a:p>
                <a:r>
                  <a:rPr lang="pt-BR" b="1" dirty="0"/>
                  <a:t>O objetivo:</a:t>
                </a:r>
                <a:r>
                  <a:rPr lang="pt-BR" dirty="0"/>
                  <a:t> Aprender a mapear a entrada na saída esperada para poder prever respostas de </a:t>
                </a:r>
                <a:r>
                  <a:rPr lang="pt-BR" dirty="0" smtClean="0"/>
                  <a:t>entradas inéditas.</a:t>
                </a:r>
                <a:endParaRPr lang="pt-BR" dirty="0"/>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F7E2B09C-6D56-4C9F-A364-B904CCE2F1A0}"/>
                  </a:ext>
                </a:extLst>
              </p:cNvPr>
              <p:cNvSpPr>
                <a:spLocks noGrp="1" noRot="1" noChangeAspect="1" noMove="1" noResize="1" noEditPoints="1" noAdjustHandles="1" noChangeArrowheads="1" noChangeShapeType="1" noTextEdit="1"/>
              </p:cNvSpPr>
              <p:nvPr>
                <p:ph idx="1"/>
              </p:nvPr>
            </p:nvSpPr>
            <p:spPr>
              <a:xfrm>
                <a:off x="838199" y="1825624"/>
                <a:ext cx="11132127" cy="5032375"/>
              </a:xfrm>
              <a:blipFill rotWithShape="0">
                <a:blip r:embed="rId2"/>
                <a:stretch>
                  <a:fillRect l="-930" t="-1937"/>
                </a:stretch>
              </a:blipFill>
            </p:spPr>
            <p:txBody>
              <a:bodyPr/>
              <a:lstStyle/>
              <a:p>
                <a:r>
                  <a:rPr lang="pt-BR">
                    <a:noFill/>
                  </a:rPr>
                  <a:t> </a:t>
                </a:r>
              </a:p>
            </p:txBody>
          </p:sp>
        </mc:Fallback>
      </mc:AlternateContent>
    </p:spTree>
    <p:extLst>
      <p:ext uri="{BB962C8B-B14F-4D97-AF65-F5344CB8AC3E}">
        <p14:creationId xmlns:p14="http://schemas.microsoft.com/office/powerpoint/2010/main" val="318707159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94AB8438-E56E-2412-517C-8456E4CA773C}"/>
              </a:ext>
            </a:extLst>
          </p:cNvPr>
          <p:cNvSpPr>
            <a:spLocks noGrp="1"/>
          </p:cNvSpPr>
          <p:nvPr>
            <p:ph type="title"/>
          </p:nvPr>
        </p:nvSpPr>
        <p:spPr/>
        <p:txBody>
          <a:bodyPr/>
          <a:lstStyle/>
          <a:p>
            <a:r>
              <a:rPr lang="pt-BR" dirty="0"/>
              <a:t>Aprendizado supervisionado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F7E2B09C-6D56-4C9F-A364-B904CCE2F1A0}"/>
                  </a:ext>
                </a:extLst>
              </p:cNvPr>
              <p:cNvSpPr>
                <a:spLocks noGrp="1"/>
              </p:cNvSpPr>
              <p:nvPr>
                <p:ph idx="1"/>
              </p:nvPr>
            </p:nvSpPr>
            <p:spPr>
              <a:xfrm>
                <a:off x="838199" y="1825624"/>
                <a:ext cx="11132127" cy="5032375"/>
              </a:xfrm>
            </p:spPr>
            <p:txBody>
              <a:bodyPr>
                <a:normAutofit/>
              </a:bodyPr>
              <a:lstStyle/>
              <a:p>
                <a:pPr marL="0" indent="0">
                  <a:buNone/>
                </a:pPr>
                <a:r>
                  <a:rPr lang="pt-BR" b="1" dirty="0"/>
                  <a:t>A lógica por trás:</a:t>
                </a:r>
              </a:p>
              <a:p>
                <a:r>
                  <a:rPr lang="pt-BR" dirty="0"/>
                  <a:t>No fundo, a máquina está tentando </a:t>
                </a:r>
                <a:r>
                  <a:rPr lang="pt-BR" b="1" dirty="0" smtClean="0">
                    <a:solidFill>
                      <a:srgbClr val="7030A0"/>
                    </a:solidFill>
                  </a:rPr>
                  <a:t>aprender</a:t>
                </a:r>
                <a:r>
                  <a:rPr lang="pt-BR" dirty="0" smtClean="0"/>
                  <a:t> uma </a:t>
                </a:r>
                <a:r>
                  <a:rPr lang="pt-BR" dirty="0"/>
                  <a:t>equação matemática:</a:t>
                </a:r>
              </a:p>
              <a:p>
                <a:pPr marL="0" indent="0">
                  <a:buNone/>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𝑦</m:t>
                      </m:r>
                      <m:r>
                        <a:rPr lang="pt-BR" b="0" i="1" smtClean="0">
                          <a:latin typeface="Cambria Math" panose="02040503050406030204" pitchFamily="18" charset="0"/>
                        </a:rPr>
                        <m:t>=</m:t>
                      </m:r>
                      <m:r>
                        <a:rPr lang="pt-BR" b="0" i="1" smtClean="0">
                          <a:latin typeface="Cambria Math" panose="02040503050406030204" pitchFamily="18" charset="0"/>
                        </a:rPr>
                        <m:t>𝑓</m:t>
                      </m:r>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m:t>
                      </m:r>
                    </m:oMath>
                  </m:oMathPara>
                </a14:m>
                <a:endParaRPr lang="pt-BR" dirty="0"/>
              </a:p>
              <a:p>
                <a14:m>
                  <m:oMath xmlns:m="http://schemas.openxmlformats.org/officeDocument/2006/math">
                    <m:r>
                      <a:rPr lang="pt-BR" b="0" i="1" smtClean="0">
                        <a:latin typeface="Cambria Math" panose="02040503050406030204" pitchFamily="18" charset="0"/>
                      </a:rPr>
                      <m:t>𝑥</m:t>
                    </m:r>
                  </m:oMath>
                </a14:m>
                <a:r>
                  <a:rPr lang="pt-BR" b="1" dirty="0"/>
                  <a:t> (Entrada/Atributos):</a:t>
                </a:r>
                <a:r>
                  <a:rPr lang="pt-BR" dirty="0"/>
                  <a:t> As características (e.g., temperatura média).</a:t>
                </a:r>
              </a:p>
              <a:p>
                <a14:m>
                  <m:oMath xmlns:m="http://schemas.openxmlformats.org/officeDocument/2006/math">
                    <m:r>
                      <a:rPr lang="pt-BR" i="1">
                        <a:latin typeface="Cambria Math" panose="02040503050406030204" pitchFamily="18" charset="0"/>
                      </a:rPr>
                      <m:t>𝑦</m:t>
                    </m:r>
                  </m:oMath>
                </a14:m>
                <a:r>
                  <a:rPr lang="pt-BR" b="1" dirty="0"/>
                  <a:t> (Saída/Rótulo):</a:t>
                </a:r>
                <a:r>
                  <a:rPr lang="pt-BR" dirty="0"/>
                  <a:t> A resposta esperada (e.g., quantidade de paletas).</a:t>
                </a:r>
              </a:p>
              <a:p>
                <a14:m>
                  <m:oMath xmlns:m="http://schemas.openxmlformats.org/officeDocument/2006/math">
                    <m:r>
                      <a:rPr lang="pt-BR" b="0" i="1">
                        <a:latin typeface="Cambria Math" panose="02040503050406030204" pitchFamily="18" charset="0"/>
                      </a:rPr>
                      <m:t>𝑓</m:t>
                    </m:r>
                  </m:oMath>
                </a14:m>
                <a:r>
                  <a:rPr lang="pt-BR" dirty="0"/>
                  <a:t>(.)</a:t>
                </a:r>
                <a:r>
                  <a:rPr lang="pt-BR" b="1" dirty="0"/>
                  <a:t> (a função ou modelo):</a:t>
                </a:r>
                <a:r>
                  <a:rPr lang="pt-BR" dirty="0"/>
                  <a:t> O que a máquina precisa "aprender" para sempre acertar o alvo (i.e., generalizar).</a:t>
                </a:r>
              </a:p>
              <a:p>
                <a:r>
                  <a:rPr lang="pt-BR" dirty="0"/>
                  <a:t>Esse tipo de aprendizado é dividido em </a:t>
                </a:r>
                <a:r>
                  <a:rPr lang="pt-BR" b="1" dirty="0"/>
                  <a:t>tarefas </a:t>
                </a:r>
                <a:r>
                  <a:rPr lang="pt-BR" dirty="0"/>
                  <a:t>de </a:t>
                </a:r>
                <a:r>
                  <a:rPr lang="pt-BR" b="1" dirty="0">
                    <a:solidFill>
                      <a:srgbClr val="7030A0"/>
                    </a:solidFill>
                  </a:rPr>
                  <a:t>regressão</a:t>
                </a:r>
                <a:r>
                  <a:rPr lang="pt-BR" b="1" dirty="0"/>
                  <a:t> </a:t>
                </a:r>
                <a:r>
                  <a:rPr lang="pt-BR" dirty="0"/>
                  <a:t>e </a:t>
                </a:r>
                <a:r>
                  <a:rPr lang="pt-BR" b="1" dirty="0">
                    <a:solidFill>
                      <a:srgbClr val="7030A0"/>
                    </a:solidFill>
                  </a:rPr>
                  <a:t>classificação</a:t>
                </a:r>
                <a:r>
                  <a:rPr lang="pt-BR" dirty="0"/>
                  <a:t> dependendo do tipo do rótulo.</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F7E2B09C-6D56-4C9F-A364-B904CCE2F1A0}"/>
                  </a:ext>
                </a:extLst>
              </p:cNvPr>
              <p:cNvSpPr>
                <a:spLocks noGrp="1" noRot="1" noChangeAspect="1" noMove="1" noResize="1" noEditPoints="1" noAdjustHandles="1" noChangeArrowheads="1" noChangeShapeType="1" noTextEdit="1"/>
              </p:cNvSpPr>
              <p:nvPr>
                <p:ph idx="1"/>
              </p:nvPr>
            </p:nvSpPr>
            <p:spPr>
              <a:xfrm>
                <a:off x="838199" y="1825624"/>
                <a:ext cx="11132127" cy="5032375"/>
              </a:xfrm>
              <a:blipFill rotWithShape="0">
                <a:blip r:embed="rId3"/>
                <a:stretch>
                  <a:fillRect l="-1095" t="-1937"/>
                </a:stretch>
              </a:blipFill>
            </p:spPr>
            <p:txBody>
              <a:bodyPr/>
              <a:lstStyle/>
              <a:p>
                <a:r>
                  <a:rPr lang="pt-BR">
                    <a:noFill/>
                  </a:rPr>
                  <a:t> </a:t>
                </a:r>
              </a:p>
            </p:txBody>
          </p:sp>
        </mc:Fallback>
      </mc:AlternateContent>
    </p:spTree>
    <p:extLst>
      <p:ext uri="{BB962C8B-B14F-4D97-AF65-F5344CB8AC3E}">
        <p14:creationId xmlns:p14="http://schemas.microsoft.com/office/powerpoint/2010/main" val="152404081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supervisionado</a:t>
            </a:r>
          </a:p>
        </p:txBody>
      </p:sp>
      <p:sp>
        <p:nvSpPr>
          <p:cNvPr id="3" name="Espaço Reservado para Conteúdo 2"/>
          <p:cNvSpPr>
            <a:spLocks noGrp="1"/>
          </p:cNvSpPr>
          <p:nvPr>
            <p:ph idx="1"/>
          </p:nvPr>
        </p:nvSpPr>
        <p:spPr>
          <a:xfrm>
            <a:off x="5569526" y="1825624"/>
            <a:ext cx="6450677" cy="5032375"/>
          </a:xfrm>
        </p:spPr>
        <p:txBody>
          <a:bodyPr>
            <a:normAutofit/>
          </a:bodyPr>
          <a:lstStyle/>
          <a:p>
            <a:r>
              <a:rPr lang="pt-BR" b="1" dirty="0"/>
              <a:t>Regressão</a:t>
            </a:r>
            <a:r>
              <a:rPr lang="pt-BR" dirty="0"/>
              <a:t>: Os rótulos pertencem a um </a:t>
            </a:r>
            <a:r>
              <a:rPr lang="pt-BR" b="1" dirty="0"/>
              <a:t>conjunto infinito </a:t>
            </a:r>
            <a:r>
              <a:rPr lang="pt-BR" dirty="0"/>
              <a:t>de valores, i.e., são números reais.</a:t>
            </a:r>
          </a:p>
          <a:p>
            <a:r>
              <a:rPr lang="pt-BR" dirty="0"/>
              <a:t>Aplicações:</a:t>
            </a:r>
          </a:p>
          <a:p>
            <a:pPr lvl="1">
              <a:buFont typeface="Wingdings" panose="05000000000000000000" pitchFamily="2" charset="2"/>
              <a:buChar char="§"/>
            </a:pPr>
            <a:r>
              <a:rPr lang="pt-BR" dirty="0"/>
              <a:t>Previsão do preço de </a:t>
            </a:r>
            <a:r>
              <a:rPr lang="pt-BR" dirty="0" smtClean="0"/>
              <a:t>imóveis.</a:t>
            </a:r>
            <a:endParaRPr lang="pt-BR" dirty="0"/>
          </a:p>
          <a:p>
            <a:pPr lvl="1">
              <a:buFont typeface="Wingdings" panose="05000000000000000000" pitchFamily="2" charset="2"/>
              <a:buChar char="§"/>
            </a:pPr>
            <a:r>
              <a:rPr lang="pt-BR" dirty="0"/>
              <a:t>Previsão da temperatura de </a:t>
            </a:r>
            <a:r>
              <a:rPr lang="pt-BR" dirty="0" smtClean="0"/>
              <a:t>amanhã.</a:t>
            </a:r>
            <a:endParaRPr lang="pt-BR" dirty="0"/>
          </a:p>
          <a:p>
            <a:pPr lvl="1">
              <a:buFont typeface="Wingdings" panose="05000000000000000000" pitchFamily="2" charset="2"/>
              <a:buChar char="§"/>
            </a:pPr>
            <a:r>
              <a:rPr lang="pt-BR" dirty="0"/>
              <a:t>Estimativa do tempo de entrega de um pedido.</a:t>
            </a:r>
          </a:p>
          <a:p>
            <a:pPr lvl="1">
              <a:buFont typeface="Wingdings" panose="05000000000000000000" pitchFamily="2" charset="2"/>
              <a:buChar char="§"/>
            </a:pPr>
            <a:endParaRPr lang="pt-BR" dirty="0"/>
          </a:p>
        </p:txBody>
      </p:sp>
      <p:pic>
        <p:nvPicPr>
          <p:cNvPr id="4" name="Picture 10" descr="Investir em imóveis: como identificar oportunidades de valorização no  mercado"/>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4006" y="1690688"/>
            <a:ext cx="2751827" cy="1835447"/>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Weather forecast: 410 mil imagens, fotos e ilustrações stock livres de  direitos | Shutterstock"/>
          <p:cNvPicPr>
            <a:picLocks noChangeAspect="1" noChangeArrowheads="1"/>
          </p:cNvPicPr>
          <p:nvPr/>
        </p:nvPicPr>
        <p:blipFill rotWithShape="1">
          <a:blip r:embed="rId4">
            <a:extLst>
              <a:ext uri="{28A0092B-C50C-407E-A947-70E740481C1C}">
                <a14:useLocalDpi xmlns:a14="http://schemas.microsoft.com/office/drawing/2010/main" val="0"/>
              </a:ext>
            </a:extLst>
          </a:blip>
          <a:srcRect b="9634"/>
          <a:stretch/>
        </p:blipFill>
        <p:spPr bwMode="auto">
          <a:xfrm>
            <a:off x="1206733" y="3752893"/>
            <a:ext cx="2935778" cy="1904674"/>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How to Display Estimated Delivery Date and Time in Shopif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347555" y="5296246"/>
            <a:ext cx="2776449" cy="156175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3450083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supervisionado</a:t>
            </a:r>
          </a:p>
        </p:txBody>
      </p:sp>
      <p:sp>
        <p:nvSpPr>
          <p:cNvPr id="3" name="Espaço Reservado para Conteúdo 2"/>
          <p:cNvSpPr>
            <a:spLocks noGrp="1"/>
          </p:cNvSpPr>
          <p:nvPr>
            <p:ph idx="1"/>
          </p:nvPr>
        </p:nvSpPr>
        <p:spPr>
          <a:xfrm>
            <a:off x="5902037" y="1825624"/>
            <a:ext cx="6118168" cy="5032375"/>
          </a:xfrm>
        </p:spPr>
        <p:txBody>
          <a:bodyPr>
            <a:normAutofit/>
          </a:bodyPr>
          <a:lstStyle/>
          <a:p>
            <a:r>
              <a:rPr lang="pt-BR" b="1" dirty="0"/>
              <a:t>Classificação</a:t>
            </a:r>
            <a:r>
              <a:rPr lang="pt-BR" dirty="0"/>
              <a:t>: Os rótulos pertencem a um </a:t>
            </a:r>
            <a:r>
              <a:rPr lang="pt-BR" b="1" dirty="0"/>
              <a:t>conjunto finito e discreto</a:t>
            </a:r>
            <a:r>
              <a:rPr lang="pt-BR" dirty="0"/>
              <a:t> de valores, i.e., pertencem a categorias (ou classes).</a:t>
            </a:r>
          </a:p>
          <a:p>
            <a:r>
              <a:rPr lang="pt-BR" dirty="0"/>
              <a:t>Aplicações: </a:t>
            </a:r>
          </a:p>
          <a:p>
            <a:pPr lvl="1">
              <a:buFont typeface="Wingdings" panose="05000000000000000000" pitchFamily="2" charset="2"/>
              <a:buChar char="§"/>
            </a:pPr>
            <a:r>
              <a:rPr lang="pt-BR" dirty="0"/>
              <a:t>Filtro de Spam: “spam” ou “não-spam”</a:t>
            </a:r>
          </a:p>
          <a:p>
            <a:pPr lvl="1">
              <a:buFont typeface="Wingdings" panose="05000000000000000000" pitchFamily="2" charset="2"/>
              <a:buChar char="§"/>
            </a:pPr>
            <a:r>
              <a:rPr lang="pt-BR" dirty="0"/>
              <a:t>Diagnóstico médico: “saudável” ou “doente”</a:t>
            </a:r>
          </a:p>
          <a:p>
            <a:pPr lvl="1">
              <a:buFont typeface="Wingdings" panose="05000000000000000000" pitchFamily="2" charset="2"/>
              <a:buChar char="§"/>
            </a:pPr>
            <a:r>
              <a:rPr lang="pt-BR" dirty="0"/>
              <a:t>Reconhecimento facial: “dono” e “não-dono” do aparelho celular.</a:t>
            </a:r>
          </a:p>
          <a:p>
            <a:pPr lvl="1">
              <a:buFont typeface="Wingdings" panose="05000000000000000000" pitchFamily="2" charset="2"/>
              <a:buChar char="§"/>
            </a:pPr>
            <a:r>
              <a:rPr lang="pt-BR" dirty="0"/>
              <a:t>Classificação de animais em imagens: gato, cachorro ou pássaro</a:t>
            </a:r>
          </a:p>
        </p:txBody>
      </p:sp>
      <p:pic>
        <p:nvPicPr>
          <p:cNvPr id="4" name="Picture 2" descr="💌 Email Spam Classification With Accuracy &gt; 98%🔰"/>
          <p:cNvPicPr>
            <a:picLocks noChangeAspect="1" noChangeArrowheads="1"/>
          </p:cNvPicPr>
          <p:nvPr/>
        </p:nvPicPr>
        <p:blipFill rotWithShape="1">
          <a:blip r:embed="rId3">
            <a:extLst>
              <a:ext uri="{28A0092B-C50C-407E-A947-70E740481C1C}">
                <a14:useLocalDpi xmlns:a14="http://schemas.microsoft.com/office/drawing/2010/main" val="0"/>
              </a:ext>
            </a:extLst>
          </a:blip>
          <a:srcRect l="8273" r="14503"/>
          <a:stretch/>
        </p:blipFill>
        <p:spPr bwMode="auto">
          <a:xfrm>
            <a:off x="199505" y="1461567"/>
            <a:ext cx="2826327" cy="1696887"/>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descr="5 vantagens do reconhecimento facial no pagamento - Varejo S.A"/>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4503" y="5266166"/>
            <a:ext cx="2567534" cy="1545870"/>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6" descr="Diagnóstico IA: limites e potencial da inteligência artificial na medicina"/>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34931" y="3378562"/>
            <a:ext cx="2629003" cy="17526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4840063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a:xfrm>
            <a:off x="838200" y="365125"/>
            <a:ext cx="11050782" cy="1325563"/>
          </a:xfrm>
        </p:spPr>
        <p:txBody>
          <a:bodyPr/>
          <a:lstStyle/>
          <a:p>
            <a:r>
              <a:rPr lang="pt-BR" dirty="0"/>
              <a:t>Alguns problemas do aprendizado supervisionado</a:t>
            </a:r>
          </a:p>
        </p:txBody>
      </p:sp>
      <p:sp>
        <p:nvSpPr>
          <p:cNvPr id="4" name="Retângulo 3"/>
          <p:cNvSpPr/>
          <p:nvPr/>
        </p:nvSpPr>
        <p:spPr>
          <a:xfrm>
            <a:off x="7990114" y="3032983"/>
            <a:ext cx="3898868" cy="1077218"/>
          </a:xfrm>
          <a:prstGeom prst="rect">
            <a:avLst/>
          </a:prstGeom>
        </p:spPr>
        <p:txBody>
          <a:bodyPr wrap="square">
            <a:spAutoFit/>
          </a:bodyPr>
          <a:lstStyle/>
          <a:p>
            <a:pPr algn="ctr"/>
            <a:r>
              <a:rPr lang="pt-BR" sz="3200" b="1" dirty="0"/>
              <a:t>Falta de dados de treinamento</a:t>
            </a:r>
          </a:p>
        </p:txBody>
      </p:sp>
      <p:pic>
        <p:nvPicPr>
          <p:cNvPr id="8196" name="Picture 4" descr="Supervised machine learning : r/ProgrammerHumor"/>
          <p:cNvPicPr>
            <a:picLocks noChangeAspect="1" noChangeArrowheads="1"/>
          </p:cNvPicPr>
          <p:nvPr/>
        </p:nvPicPr>
        <p:blipFill rotWithShape="1">
          <a:blip r:embed="rId3">
            <a:extLst>
              <a:ext uri="{28A0092B-C50C-407E-A947-70E740481C1C}">
                <a14:useLocalDpi xmlns:a14="http://schemas.microsoft.com/office/drawing/2010/main" val="0"/>
              </a:ext>
            </a:extLst>
          </a:blip>
          <a:srcRect t="14876"/>
          <a:stretch/>
        </p:blipFill>
        <p:spPr bwMode="auto">
          <a:xfrm>
            <a:off x="2576751" y="1690688"/>
            <a:ext cx="4948440" cy="503068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 xmlns:a16="http://schemas.microsoft.com/office/drawing/2014/main" id="{2D3DEF00-33DF-2EE5-2E59-089B3EDDB4BF}"/>
              </a:ext>
            </a:extLst>
          </p:cNvPr>
          <p:cNvSpPr txBox="1"/>
          <p:nvPr/>
        </p:nvSpPr>
        <p:spPr>
          <a:xfrm>
            <a:off x="2656113" y="1690688"/>
            <a:ext cx="1654629" cy="369332"/>
          </a:xfrm>
          <a:prstGeom prst="rect">
            <a:avLst/>
          </a:prstGeom>
          <a:noFill/>
        </p:spPr>
        <p:txBody>
          <a:bodyPr wrap="square" rtlCol="0">
            <a:spAutoFit/>
          </a:bodyPr>
          <a:lstStyle/>
          <a:p>
            <a:r>
              <a:rPr lang="pt-BR" b="1" dirty="0"/>
              <a:t>Treinamento</a:t>
            </a:r>
            <a:endParaRPr lang="en-US" b="1" dirty="0"/>
          </a:p>
        </p:txBody>
      </p:sp>
      <p:sp>
        <p:nvSpPr>
          <p:cNvPr id="5" name="TextBox 4">
            <a:extLst>
              <a:ext uri="{FF2B5EF4-FFF2-40B4-BE49-F238E27FC236}">
                <a16:creationId xmlns="" xmlns:a16="http://schemas.microsoft.com/office/drawing/2014/main" id="{8A0828A3-A905-2F67-2810-D518A797B031}"/>
              </a:ext>
            </a:extLst>
          </p:cNvPr>
          <p:cNvSpPr txBox="1"/>
          <p:nvPr/>
        </p:nvSpPr>
        <p:spPr>
          <a:xfrm>
            <a:off x="5275709" y="1690688"/>
            <a:ext cx="1654629" cy="369332"/>
          </a:xfrm>
          <a:prstGeom prst="rect">
            <a:avLst/>
          </a:prstGeom>
          <a:noFill/>
        </p:spPr>
        <p:txBody>
          <a:bodyPr wrap="square" rtlCol="0">
            <a:spAutoFit/>
          </a:bodyPr>
          <a:lstStyle/>
          <a:p>
            <a:r>
              <a:rPr lang="pt-BR" b="1" dirty="0"/>
              <a:t>Inferência</a:t>
            </a:r>
            <a:endParaRPr lang="en-US" b="1" dirty="0"/>
          </a:p>
        </p:txBody>
      </p:sp>
      <p:sp>
        <p:nvSpPr>
          <p:cNvPr id="6" name="TextBox 5">
            <a:extLst>
              <a:ext uri="{FF2B5EF4-FFF2-40B4-BE49-F238E27FC236}">
                <a16:creationId xmlns="" xmlns:a16="http://schemas.microsoft.com/office/drawing/2014/main" id="{CE66D74E-DF26-B796-7F03-85239531317B}"/>
              </a:ext>
            </a:extLst>
          </p:cNvPr>
          <p:cNvSpPr txBox="1"/>
          <p:nvPr/>
        </p:nvSpPr>
        <p:spPr>
          <a:xfrm>
            <a:off x="2576751" y="4206029"/>
            <a:ext cx="1654629" cy="369332"/>
          </a:xfrm>
          <a:prstGeom prst="rect">
            <a:avLst/>
          </a:prstGeom>
          <a:noFill/>
        </p:spPr>
        <p:txBody>
          <a:bodyPr wrap="square" rtlCol="0">
            <a:spAutoFit/>
          </a:bodyPr>
          <a:lstStyle/>
          <a:p>
            <a:r>
              <a:rPr lang="pt-BR" b="1" dirty="0"/>
              <a:t>Inferência</a:t>
            </a:r>
            <a:endParaRPr lang="en-US" b="1" dirty="0"/>
          </a:p>
        </p:txBody>
      </p:sp>
      <p:sp>
        <p:nvSpPr>
          <p:cNvPr id="7" name="TextBox 6">
            <a:extLst>
              <a:ext uri="{FF2B5EF4-FFF2-40B4-BE49-F238E27FC236}">
                <a16:creationId xmlns="" xmlns:a16="http://schemas.microsoft.com/office/drawing/2014/main" id="{A113C324-9DF5-F869-C4B8-2C92BCF896FA}"/>
              </a:ext>
            </a:extLst>
          </p:cNvPr>
          <p:cNvSpPr txBox="1"/>
          <p:nvPr/>
        </p:nvSpPr>
        <p:spPr>
          <a:xfrm>
            <a:off x="5050971" y="4206029"/>
            <a:ext cx="1654629" cy="369332"/>
          </a:xfrm>
          <a:prstGeom prst="rect">
            <a:avLst/>
          </a:prstGeom>
          <a:noFill/>
        </p:spPr>
        <p:txBody>
          <a:bodyPr wrap="square" rtlCol="0">
            <a:spAutoFit/>
          </a:bodyPr>
          <a:lstStyle/>
          <a:p>
            <a:r>
              <a:rPr lang="pt-BR" b="1" dirty="0"/>
              <a:t>Inferência</a:t>
            </a:r>
            <a:endParaRPr lang="en-US" b="1" dirty="0"/>
          </a:p>
        </p:txBody>
      </p:sp>
      <p:sp>
        <p:nvSpPr>
          <p:cNvPr id="9" name="TextBox 8">
            <a:extLst>
              <a:ext uri="{FF2B5EF4-FFF2-40B4-BE49-F238E27FC236}">
                <a16:creationId xmlns="" xmlns:a16="http://schemas.microsoft.com/office/drawing/2014/main" id="{3BC6319B-2436-D3A4-22BA-498B9F37F06D}"/>
              </a:ext>
            </a:extLst>
          </p:cNvPr>
          <p:cNvSpPr txBox="1"/>
          <p:nvPr/>
        </p:nvSpPr>
        <p:spPr>
          <a:xfrm>
            <a:off x="8179328" y="4390695"/>
            <a:ext cx="3520440" cy="1569660"/>
          </a:xfrm>
          <a:prstGeom prst="rect">
            <a:avLst/>
          </a:prstGeom>
          <a:noFill/>
        </p:spPr>
        <p:txBody>
          <a:bodyPr wrap="square">
            <a:spAutoFit/>
          </a:bodyPr>
          <a:lstStyle/>
          <a:p>
            <a:pPr algn="ctr" rtl="0"/>
            <a:r>
              <a:rPr lang="pt-BR" sz="2400" kern="1200" dirty="0">
                <a:solidFill>
                  <a:schemeClr val="tx1"/>
                </a:solidFill>
                <a:effectLst/>
                <a:latin typeface="+mn-lt"/>
                <a:ea typeface="+mn-ea"/>
                <a:cs typeface="+mn-cs"/>
              </a:rPr>
              <a:t>O bebê aprende quem é seu pai </a:t>
            </a:r>
            <a:r>
              <a:rPr lang="pt-BR" sz="2400" dirty="0"/>
              <a:t>o observando de </a:t>
            </a:r>
            <a:r>
              <a:rPr lang="pt-BR" sz="2400" b="1" dirty="0" smtClean="0"/>
              <a:t>apenas uma </a:t>
            </a:r>
            <a:r>
              <a:rPr lang="pt-BR" sz="2400" kern="1200" dirty="0">
                <a:solidFill>
                  <a:schemeClr val="tx1"/>
                </a:solidFill>
                <a:effectLst/>
                <a:latin typeface="+mn-lt"/>
                <a:ea typeface="+mn-ea"/>
                <a:cs typeface="+mn-cs"/>
              </a:rPr>
              <a:t>posição específica.</a:t>
            </a:r>
          </a:p>
        </p:txBody>
      </p:sp>
    </p:spTree>
    <p:extLst>
      <p:ext uri="{BB962C8B-B14F-4D97-AF65-F5344CB8AC3E}">
        <p14:creationId xmlns:p14="http://schemas.microsoft.com/office/powerpoint/2010/main" val="423729076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1EDB1A1F-3A92-A4D5-30C5-0A2F37C6E95A}"/>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118E843B-FF95-CC81-50C0-D29F09673D0C}"/>
              </a:ext>
            </a:extLst>
          </p:cNvPr>
          <p:cNvSpPr>
            <a:spLocks noGrp="1"/>
          </p:cNvSpPr>
          <p:nvPr>
            <p:ph type="title"/>
          </p:nvPr>
        </p:nvSpPr>
        <p:spPr/>
        <p:txBody>
          <a:bodyPr/>
          <a:lstStyle/>
          <a:p>
            <a:r>
              <a:rPr lang="pt-BR" dirty="0"/>
              <a:t>Alguns problemas do aprendizado supervisionado</a:t>
            </a:r>
          </a:p>
        </p:txBody>
      </p:sp>
      <p:sp>
        <p:nvSpPr>
          <p:cNvPr id="4" name="Retângulo 3">
            <a:extLst>
              <a:ext uri="{FF2B5EF4-FFF2-40B4-BE49-F238E27FC236}">
                <a16:creationId xmlns="" xmlns:a16="http://schemas.microsoft.com/office/drawing/2014/main" id="{9AC0F0FB-86A6-1327-90D4-AAA53078838E}"/>
              </a:ext>
            </a:extLst>
          </p:cNvPr>
          <p:cNvSpPr/>
          <p:nvPr/>
        </p:nvSpPr>
        <p:spPr>
          <a:xfrm>
            <a:off x="7932964" y="2644170"/>
            <a:ext cx="3898868" cy="1569660"/>
          </a:xfrm>
          <a:prstGeom prst="rect">
            <a:avLst/>
          </a:prstGeom>
        </p:spPr>
        <p:txBody>
          <a:bodyPr wrap="square">
            <a:spAutoFit/>
          </a:bodyPr>
          <a:lstStyle/>
          <a:p>
            <a:pPr algn="ctr"/>
            <a:r>
              <a:rPr lang="pt-BR" sz="3200" b="1" dirty="0" smtClean="0"/>
              <a:t>A falta </a:t>
            </a:r>
            <a:r>
              <a:rPr lang="pt-BR" sz="3200" b="1" dirty="0"/>
              <a:t>de dados de treinamento causa </a:t>
            </a:r>
            <a:r>
              <a:rPr lang="pt-BR" sz="3200" b="1" dirty="0">
                <a:solidFill>
                  <a:srgbClr val="7030A0"/>
                </a:solidFill>
              </a:rPr>
              <a:t>sobreajuste</a:t>
            </a:r>
          </a:p>
        </p:txBody>
      </p:sp>
      <p:pic>
        <p:nvPicPr>
          <p:cNvPr id="8196" name="Picture 4" descr="Supervised machine learning : r/ProgrammerHumor">
            <a:extLst>
              <a:ext uri="{FF2B5EF4-FFF2-40B4-BE49-F238E27FC236}">
                <a16:creationId xmlns="" xmlns:a16="http://schemas.microsoft.com/office/drawing/2014/main" id="{FDC7A532-D603-2988-28DC-2C80760B657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4876"/>
          <a:stretch/>
        </p:blipFill>
        <p:spPr bwMode="auto">
          <a:xfrm>
            <a:off x="2576751" y="1690688"/>
            <a:ext cx="4948440" cy="503068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 xmlns:a16="http://schemas.microsoft.com/office/drawing/2014/main" id="{6AF85D3C-E67E-4B71-2EAB-69BA01E312DC}"/>
              </a:ext>
            </a:extLst>
          </p:cNvPr>
          <p:cNvSpPr txBox="1"/>
          <p:nvPr/>
        </p:nvSpPr>
        <p:spPr>
          <a:xfrm>
            <a:off x="2656113" y="1690688"/>
            <a:ext cx="1654629" cy="369332"/>
          </a:xfrm>
          <a:prstGeom prst="rect">
            <a:avLst/>
          </a:prstGeom>
          <a:noFill/>
        </p:spPr>
        <p:txBody>
          <a:bodyPr wrap="square" rtlCol="0">
            <a:spAutoFit/>
          </a:bodyPr>
          <a:lstStyle/>
          <a:p>
            <a:r>
              <a:rPr lang="pt-BR" b="1" dirty="0"/>
              <a:t>Treinamento</a:t>
            </a:r>
            <a:endParaRPr lang="en-US" b="1" dirty="0"/>
          </a:p>
        </p:txBody>
      </p:sp>
      <p:sp>
        <p:nvSpPr>
          <p:cNvPr id="5" name="TextBox 4">
            <a:extLst>
              <a:ext uri="{FF2B5EF4-FFF2-40B4-BE49-F238E27FC236}">
                <a16:creationId xmlns="" xmlns:a16="http://schemas.microsoft.com/office/drawing/2014/main" id="{14FF5DC3-30B3-CB68-A2C8-11C3C97E5FBA}"/>
              </a:ext>
            </a:extLst>
          </p:cNvPr>
          <p:cNvSpPr txBox="1"/>
          <p:nvPr/>
        </p:nvSpPr>
        <p:spPr>
          <a:xfrm>
            <a:off x="5275709" y="1690688"/>
            <a:ext cx="1654629" cy="369332"/>
          </a:xfrm>
          <a:prstGeom prst="rect">
            <a:avLst/>
          </a:prstGeom>
          <a:noFill/>
        </p:spPr>
        <p:txBody>
          <a:bodyPr wrap="square" rtlCol="0">
            <a:spAutoFit/>
          </a:bodyPr>
          <a:lstStyle/>
          <a:p>
            <a:r>
              <a:rPr lang="pt-BR" b="1" dirty="0"/>
              <a:t>Inferência</a:t>
            </a:r>
            <a:endParaRPr lang="en-US" b="1" dirty="0"/>
          </a:p>
        </p:txBody>
      </p:sp>
      <p:sp>
        <p:nvSpPr>
          <p:cNvPr id="6" name="TextBox 5">
            <a:extLst>
              <a:ext uri="{FF2B5EF4-FFF2-40B4-BE49-F238E27FC236}">
                <a16:creationId xmlns="" xmlns:a16="http://schemas.microsoft.com/office/drawing/2014/main" id="{4F43D926-53BD-1955-FB6C-17AE6223AAC7}"/>
              </a:ext>
            </a:extLst>
          </p:cNvPr>
          <p:cNvSpPr txBox="1"/>
          <p:nvPr/>
        </p:nvSpPr>
        <p:spPr>
          <a:xfrm>
            <a:off x="2576751" y="4206029"/>
            <a:ext cx="1654629" cy="369332"/>
          </a:xfrm>
          <a:prstGeom prst="rect">
            <a:avLst/>
          </a:prstGeom>
          <a:noFill/>
        </p:spPr>
        <p:txBody>
          <a:bodyPr wrap="square" rtlCol="0">
            <a:spAutoFit/>
          </a:bodyPr>
          <a:lstStyle/>
          <a:p>
            <a:r>
              <a:rPr lang="pt-BR" b="1" dirty="0"/>
              <a:t>Inferência</a:t>
            </a:r>
            <a:endParaRPr lang="en-US" b="1" dirty="0"/>
          </a:p>
        </p:txBody>
      </p:sp>
      <p:sp>
        <p:nvSpPr>
          <p:cNvPr id="7" name="TextBox 6">
            <a:extLst>
              <a:ext uri="{FF2B5EF4-FFF2-40B4-BE49-F238E27FC236}">
                <a16:creationId xmlns="" xmlns:a16="http://schemas.microsoft.com/office/drawing/2014/main" id="{4CAB0EB4-B1BF-56FC-C5E3-FB55CE671799}"/>
              </a:ext>
            </a:extLst>
          </p:cNvPr>
          <p:cNvSpPr txBox="1"/>
          <p:nvPr/>
        </p:nvSpPr>
        <p:spPr>
          <a:xfrm>
            <a:off x="5050971" y="4206029"/>
            <a:ext cx="1654629" cy="369332"/>
          </a:xfrm>
          <a:prstGeom prst="rect">
            <a:avLst/>
          </a:prstGeom>
          <a:noFill/>
        </p:spPr>
        <p:txBody>
          <a:bodyPr wrap="square" rtlCol="0">
            <a:spAutoFit/>
          </a:bodyPr>
          <a:lstStyle/>
          <a:p>
            <a:r>
              <a:rPr lang="pt-BR" b="1" dirty="0"/>
              <a:t>Inferência</a:t>
            </a:r>
            <a:endParaRPr lang="en-US" b="1" dirty="0"/>
          </a:p>
        </p:txBody>
      </p:sp>
      <p:sp>
        <p:nvSpPr>
          <p:cNvPr id="8" name="TextBox 7">
            <a:extLst>
              <a:ext uri="{FF2B5EF4-FFF2-40B4-BE49-F238E27FC236}">
                <a16:creationId xmlns="" xmlns:a16="http://schemas.microsoft.com/office/drawing/2014/main" id="{B8F3D006-C8F1-A5D7-9F1B-45BDE05787EB}"/>
              </a:ext>
            </a:extLst>
          </p:cNvPr>
          <p:cNvSpPr txBox="1"/>
          <p:nvPr/>
        </p:nvSpPr>
        <p:spPr>
          <a:xfrm>
            <a:off x="8202188" y="4390695"/>
            <a:ext cx="3520440" cy="1938992"/>
          </a:xfrm>
          <a:prstGeom prst="rect">
            <a:avLst/>
          </a:prstGeom>
          <a:noFill/>
        </p:spPr>
        <p:txBody>
          <a:bodyPr wrap="square">
            <a:spAutoFit/>
          </a:bodyPr>
          <a:lstStyle/>
          <a:p>
            <a:pPr algn="ctr"/>
            <a:r>
              <a:rPr lang="pt-BR" sz="2400" kern="1200" dirty="0">
                <a:solidFill>
                  <a:schemeClr val="tx1"/>
                </a:solidFill>
                <a:effectLst/>
                <a:latin typeface="+mn-lt"/>
                <a:ea typeface="+mn-ea"/>
                <a:cs typeface="+mn-cs"/>
              </a:rPr>
              <a:t>Por não ter muitos exemplos, o </a:t>
            </a:r>
            <a:r>
              <a:rPr lang="pt-BR" sz="2400" dirty="0" smtClean="0"/>
              <a:t>bebê "</a:t>
            </a:r>
            <a:r>
              <a:rPr lang="pt-BR" sz="2400" b="1" dirty="0" smtClean="0"/>
              <a:t>decora</a:t>
            </a:r>
            <a:r>
              <a:rPr lang="pt-BR" sz="2400" dirty="0"/>
              <a:t>" características muito específicas dos dados de </a:t>
            </a:r>
            <a:r>
              <a:rPr lang="pt-BR" sz="2400" b="1" dirty="0"/>
              <a:t>treinamento</a:t>
            </a:r>
            <a:r>
              <a:rPr lang="pt-BR" sz="2400" dirty="0"/>
              <a:t>. </a:t>
            </a:r>
            <a:endParaRPr lang="pt-BR" sz="2400" kern="1200" dirty="0">
              <a:solidFill>
                <a:schemeClr val="tx1"/>
              </a:solidFill>
              <a:effectLst/>
              <a:latin typeface="+mn-lt"/>
              <a:ea typeface="+mn-ea"/>
              <a:cs typeface="+mn-cs"/>
            </a:endParaRPr>
          </a:p>
        </p:txBody>
      </p:sp>
    </p:spTree>
    <p:extLst>
      <p:ext uri="{BB962C8B-B14F-4D97-AF65-F5344CB8AC3E}">
        <p14:creationId xmlns:p14="http://schemas.microsoft.com/office/powerpoint/2010/main" val="20931448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9FD08DC0-6222-9B76-41EF-5AD5C40F8D30}"/>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ED8AE3A1-B727-6EBE-3422-D88B7FE38009}"/>
              </a:ext>
            </a:extLst>
          </p:cNvPr>
          <p:cNvSpPr>
            <a:spLocks noGrp="1"/>
          </p:cNvSpPr>
          <p:nvPr>
            <p:ph type="title"/>
          </p:nvPr>
        </p:nvSpPr>
        <p:spPr/>
        <p:txBody>
          <a:bodyPr/>
          <a:lstStyle/>
          <a:p>
            <a:r>
              <a:rPr lang="pt-BR" dirty="0"/>
              <a:t>Alguns problemas do aprendizado supervisionado</a:t>
            </a:r>
          </a:p>
        </p:txBody>
      </p:sp>
      <p:sp>
        <p:nvSpPr>
          <p:cNvPr id="4" name="Retângulo 3">
            <a:extLst>
              <a:ext uri="{FF2B5EF4-FFF2-40B4-BE49-F238E27FC236}">
                <a16:creationId xmlns="" xmlns:a16="http://schemas.microsoft.com/office/drawing/2014/main" id="{504C956C-20D8-281F-D56E-19E190FDD24B}"/>
              </a:ext>
            </a:extLst>
          </p:cNvPr>
          <p:cNvSpPr/>
          <p:nvPr/>
        </p:nvSpPr>
        <p:spPr>
          <a:xfrm>
            <a:off x="7875814" y="2151727"/>
            <a:ext cx="3898868" cy="2062103"/>
          </a:xfrm>
          <a:prstGeom prst="rect">
            <a:avLst/>
          </a:prstGeom>
        </p:spPr>
        <p:txBody>
          <a:bodyPr wrap="square">
            <a:spAutoFit/>
          </a:bodyPr>
          <a:lstStyle/>
          <a:p>
            <a:pPr algn="ctr"/>
            <a:r>
              <a:rPr lang="pt-BR" sz="3200" dirty="0"/>
              <a:t>Um modelo que se </a:t>
            </a:r>
            <a:r>
              <a:rPr lang="pt-BR" sz="3200" b="1" dirty="0"/>
              <a:t>sobreajuste</a:t>
            </a:r>
            <a:r>
              <a:rPr lang="pt-BR" sz="3200" dirty="0"/>
              <a:t> ao dados de treinamento, </a:t>
            </a:r>
            <a:r>
              <a:rPr lang="pt-BR" sz="3200" b="1" dirty="0"/>
              <a:t>não generaliza</a:t>
            </a:r>
            <a:r>
              <a:rPr lang="pt-BR" sz="3200" dirty="0"/>
              <a:t>.</a:t>
            </a:r>
          </a:p>
        </p:txBody>
      </p:sp>
      <p:pic>
        <p:nvPicPr>
          <p:cNvPr id="8196" name="Picture 4" descr="Supervised machine learning : r/ProgrammerHumor">
            <a:extLst>
              <a:ext uri="{FF2B5EF4-FFF2-40B4-BE49-F238E27FC236}">
                <a16:creationId xmlns="" xmlns:a16="http://schemas.microsoft.com/office/drawing/2014/main" id="{EEFC10BD-A52F-B234-44BF-210FBBE9818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4876"/>
          <a:stretch/>
        </p:blipFill>
        <p:spPr bwMode="auto">
          <a:xfrm>
            <a:off x="2483763" y="1690688"/>
            <a:ext cx="4948440" cy="503068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 xmlns:a16="http://schemas.microsoft.com/office/drawing/2014/main" id="{A3CB9FFA-823B-ACB9-E4D3-638825D5ACEE}"/>
              </a:ext>
            </a:extLst>
          </p:cNvPr>
          <p:cNvSpPr txBox="1"/>
          <p:nvPr/>
        </p:nvSpPr>
        <p:spPr>
          <a:xfrm>
            <a:off x="2656113" y="1690688"/>
            <a:ext cx="1654629" cy="369332"/>
          </a:xfrm>
          <a:prstGeom prst="rect">
            <a:avLst/>
          </a:prstGeom>
          <a:noFill/>
        </p:spPr>
        <p:txBody>
          <a:bodyPr wrap="square" rtlCol="0">
            <a:spAutoFit/>
          </a:bodyPr>
          <a:lstStyle/>
          <a:p>
            <a:r>
              <a:rPr lang="pt-BR" b="1" dirty="0"/>
              <a:t>Treinamento</a:t>
            </a:r>
            <a:endParaRPr lang="en-US" b="1" dirty="0"/>
          </a:p>
        </p:txBody>
      </p:sp>
      <p:sp>
        <p:nvSpPr>
          <p:cNvPr id="5" name="TextBox 4">
            <a:extLst>
              <a:ext uri="{FF2B5EF4-FFF2-40B4-BE49-F238E27FC236}">
                <a16:creationId xmlns="" xmlns:a16="http://schemas.microsoft.com/office/drawing/2014/main" id="{D21CF58E-C23F-F4B2-B5D2-14B751507E90}"/>
              </a:ext>
            </a:extLst>
          </p:cNvPr>
          <p:cNvSpPr txBox="1"/>
          <p:nvPr/>
        </p:nvSpPr>
        <p:spPr>
          <a:xfrm>
            <a:off x="5058737" y="1690688"/>
            <a:ext cx="1654629" cy="369332"/>
          </a:xfrm>
          <a:prstGeom prst="rect">
            <a:avLst/>
          </a:prstGeom>
          <a:noFill/>
        </p:spPr>
        <p:txBody>
          <a:bodyPr wrap="square" rtlCol="0">
            <a:spAutoFit/>
          </a:bodyPr>
          <a:lstStyle/>
          <a:p>
            <a:r>
              <a:rPr lang="pt-BR" b="1" dirty="0"/>
              <a:t>Inferência</a:t>
            </a:r>
            <a:endParaRPr lang="en-US" b="1" dirty="0"/>
          </a:p>
        </p:txBody>
      </p:sp>
      <p:sp>
        <p:nvSpPr>
          <p:cNvPr id="6" name="TextBox 5">
            <a:extLst>
              <a:ext uri="{FF2B5EF4-FFF2-40B4-BE49-F238E27FC236}">
                <a16:creationId xmlns="" xmlns:a16="http://schemas.microsoft.com/office/drawing/2014/main" id="{2386A6AA-43F6-BFD8-22F2-EC1474CB4007}"/>
              </a:ext>
            </a:extLst>
          </p:cNvPr>
          <p:cNvSpPr txBox="1"/>
          <p:nvPr/>
        </p:nvSpPr>
        <p:spPr>
          <a:xfrm>
            <a:off x="2576751" y="4206029"/>
            <a:ext cx="1654629" cy="369332"/>
          </a:xfrm>
          <a:prstGeom prst="rect">
            <a:avLst/>
          </a:prstGeom>
          <a:noFill/>
        </p:spPr>
        <p:txBody>
          <a:bodyPr wrap="square" rtlCol="0">
            <a:spAutoFit/>
          </a:bodyPr>
          <a:lstStyle/>
          <a:p>
            <a:r>
              <a:rPr lang="pt-BR" b="1" dirty="0"/>
              <a:t>Inferência</a:t>
            </a:r>
            <a:endParaRPr lang="en-US" b="1" dirty="0"/>
          </a:p>
        </p:txBody>
      </p:sp>
      <p:sp>
        <p:nvSpPr>
          <p:cNvPr id="7" name="TextBox 6">
            <a:extLst>
              <a:ext uri="{FF2B5EF4-FFF2-40B4-BE49-F238E27FC236}">
                <a16:creationId xmlns="" xmlns:a16="http://schemas.microsoft.com/office/drawing/2014/main" id="{33A29B42-78F6-E405-5B9E-3070A46287B8}"/>
              </a:ext>
            </a:extLst>
          </p:cNvPr>
          <p:cNvSpPr txBox="1"/>
          <p:nvPr/>
        </p:nvSpPr>
        <p:spPr>
          <a:xfrm>
            <a:off x="5004477" y="4175033"/>
            <a:ext cx="1654629" cy="369332"/>
          </a:xfrm>
          <a:prstGeom prst="rect">
            <a:avLst/>
          </a:prstGeom>
          <a:noFill/>
        </p:spPr>
        <p:txBody>
          <a:bodyPr wrap="square" rtlCol="0">
            <a:spAutoFit/>
          </a:bodyPr>
          <a:lstStyle/>
          <a:p>
            <a:r>
              <a:rPr lang="pt-BR" b="1" dirty="0"/>
              <a:t>Inferência</a:t>
            </a:r>
            <a:endParaRPr lang="en-US" b="1" dirty="0"/>
          </a:p>
        </p:txBody>
      </p:sp>
      <p:sp>
        <p:nvSpPr>
          <p:cNvPr id="8" name="TextBox 7">
            <a:extLst>
              <a:ext uri="{FF2B5EF4-FFF2-40B4-BE49-F238E27FC236}">
                <a16:creationId xmlns="" xmlns:a16="http://schemas.microsoft.com/office/drawing/2014/main" id="{124C20D5-A6A6-96E0-3C12-7A857A36A489}"/>
              </a:ext>
            </a:extLst>
          </p:cNvPr>
          <p:cNvSpPr txBox="1"/>
          <p:nvPr/>
        </p:nvSpPr>
        <p:spPr>
          <a:xfrm>
            <a:off x="7525191" y="4390695"/>
            <a:ext cx="4535837" cy="2246769"/>
          </a:xfrm>
          <a:prstGeom prst="rect">
            <a:avLst/>
          </a:prstGeom>
          <a:noFill/>
        </p:spPr>
        <p:txBody>
          <a:bodyPr wrap="square">
            <a:spAutoFit/>
          </a:bodyPr>
          <a:lstStyle/>
          <a:p>
            <a:pPr algn="ctr"/>
            <a:r>
              <a:rPr lang="pt-BR" sz="2400" kern="1200" dirty="0" smtClean="0">
                <a:solidFill>
                  <a:schemeClr val="tx1"/>
                </a:solidFill>
                <a:effectLst/>
                <a:latin typeface="+mn-lt"/>
                <a:ea typeface="+mn-ea"/>
                <a:cs typeface="+mn-cs"/>
              </a:rPr>
              <a:t>Se o </a:t>
            </a:r>
            <a:r>
              <a:rPr lang="pt-BR" sz="2400" kern="1200" dirty="0">
                <a:solidFill>
                  <a:schemeClr val="tx1"/>
                </a:solidFill>
                <a:effectLst/>
                <a:latin typeface="+mn-lt"/>
                <a:ea typeface="+mn-ea"/>
                <a:cs typeface="+mn-cs"/>
              </a:rPr>
              <a:t>bebê </a:t>
            </a:r>
            <a:r>
              <a:rPr lang="pt-BR" sz="2400" kern="1200" dirty="0" smtClean="0">
                <a:solidFill>
                  <a:schemeClr val="tx1"/>
                </a:solidFill>
                <a:effectLst/>
                <a:latin typeface="+mn-lt"/>
                <a:ea typeface="+mn-ea"/>
                <a:cs typeface="+mn-cs"/>
              </a:rPr>
              <a:t>generalizasse, ele reconheceria seu </a:t>
            </a:r>
            <a:r>
              <a:rPr lang="pt-BR" sz="2400" kern="1200" dirty="0">
                <a:solidFill>
                  <a:schemeClr val="tx1"/>
                </a:solidFill>
                <a:effectLst/>
                <a:latin typeface="+mn-lt"/>
                <a:ea typeface="+mn-ea"/>
                <a:cs typeface="+mn-cs"/>
              </a:rPr>
              <a:t>pai mesmo ele estando de pé, de chapéu, etc.</a:t>
            </a:r>
          </a:p>
          <a:p>
            <a:pPr algn="ctr"/>
            <a:endParaRPr lang="pt-BR" sz="2000" kern="1200" dirty="0">
              <a:solidFill>
                <a:schemeClr val="tx1"/>
              </a:solidFill>
              <a:effectLst/>
              <a:latin typeface="+mn-lt"/>
              <a:ea typeface="+mn-ea"/>
              <a:cs typeface="+mn-cs"/>
            </a:endParaRPr>
          </a:p>
          <a:p>
            <a:pPr algn="ctr"/>
            <a:r>
              <a:rPr lang="pt-BR" sz="2400" dirty="0"/>
              <a:t>Ele também deveria saber o que não é seu pai.</a:t>
            </a:r>
            <a:endParaRPr lang="pt-BR" sz="2400" kern="1200" dirty="0">
              <a:solidFill>
                <a:schemeClr val="tx1"/>
              </a:solidFill>
              <a:effectLst/>
              <a:latin typeface="+mn-lt"/>
              <a:ea typeface="+mn-ea"/>
              <a:cs typeface="+mn-cs"/>
            </a:endParaRPr>
          </a:p>
        </p:txBody>
      </p:sp>
    </p:spTree>
    <p:extLst>
      <p:ext uri="{BB962C8B-B14F-4D97-AF65-F5344CB8AC3E}">
        <p14:creationId xmlns:p14="http://schemas.microsoft.com/office/powerpoint/2010/main" val="125539756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não-supervisionado</a:t>
            </a:r>
          </a:p>
        </p:txBody>
      </p:sp>
      <p:pic>
        <p:nvPicPr>
          <p:cNvPr id="3080" name="Picture 8" descr="trying to show your a &quot;qualified Developper in 2024&quot; but your using Qwik  Framework / city 😎 currently working on: 👇 &quot;what could be a e-commerce  platform&quot; https://lnkd.in/eUS3tZfp of course… | Jean-Philippe"/>
          <p:cNvPicPr>
            <a:picLocks noChangeAspect="1" noChangeArrowheads="1"/>
          </p:cNvPicPr>
          <p:nvPr/>
        </p:nvPicPr>
        <p:blipFill rotWithShape="1">
          <a:blip r:embed="rId3">
            <a:extLst>
              <a:ext uri="{28A0092B-C50C-407E-A947-70E740481C1C}">
                <a14:useLocalDpi xmlns:a14="http://schemas.microsoft.com/office/drawing/2010/main" val="0"/>
              </a:ext>
            </a:extLst>
          </a:blip>
          <a:srcRect l="2814" t="22215" r="2227" b="4038"/>
          <a:stretch/>
        </p:blipFill>
        <p:spPr bwMode="auto">
          <a:xfrm>
            <a:off x="838200" y="2161307"/>
            <a:ext cx="6817423" cy="3657602"/>
          </a:xfrm>
          <a:prstGeom prst="rect">
            <a:avLst/>
          </a:prstGeom>
          <a:noFill/>
          <a:extLst>
            <a:ext uri="{909E8E84-426E-40DD-AFC4-6F175D3DCCD1}">
              <a14:hiddenFill xmlns:a14="http://schemas.microsoft.com/office/drawing/2010/main">
                <a:solidFill>
                  <a:srgbClr val="FFFFFF"/>
                </a:solidFill>
              </a14:hiddenFill>
            </a:ext>
          </a:extLst>
        </p:spPr>
      </p:pic>
      <p:sp>
        <p:nvSpPr>
          <p:cNvPr id="5" name="Retângulo 4"/>
          <p:cNvSpPr/>
          <p:nvPr/>
        </p:nvSpPr>
        <p:spPr>
          <a:xfrm>
            <a:off x="7863842" y="2800858"/>
            <a:ext cx="3895898" cy="2062103"/>
          </a:xfrm>
          <a:prstGeom prst="rect">
            <a:avLst/>
          </a:prstGeom>
        </p:spPr>
        <p:txBody>
          <a:bodyPr wrap="square">
            <a:spAutoFit/>
          </a:bodyPr>
          <a:lstStyle/>
          <a:p>
            <a:pPr algn="ctr"/>
            <a:r>
              <a:rPr lang="pt-BR" sz="3200" dirty="0"/>
              <a:t>Diferente do paradigma anterior, aqui </a:t>
            </a:r>
            <a:r>
              <a:rPr lang="pt-BR" sz="3200" b="1" dirty="0"/>
              <a:t>não existe um tutor (i.e., professor)</a:t>
            </a:r>
            <a:r>
              <a:rPr lang="pt-BR" sz="3200" dirty="0"/>
              <a:t> </a:t>
            </a:r>
            <a:endParaRPr lang="pt-BR" sz="3200" b="1" dirty="0"/>
          </a:p>
        </p:txBody>
      </p:sp>
    </p:spTree>
    <p:extLst>
      <p:ext uri="{BB962C8B-B14F-4D97-AF65-F5344CB8AC3E}">
        <p14:creationId xmlns:p14="http://schemas.microsoft.com/office/powerpoint/2010/main" val="117758888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não-supervisionado</a:t>
            </a:r>
          </a:p>
        </p:txBody>
      </p:sp>
      <p:pic>
        <p:nvPicPr>
          <p:cNvPr id="2050" name="Picture 2" descr="The difference between supervised and unsupervised learning, illustrated by  @Ciaraioch #supervisedlearning #unsupervisedlearning #machinelearning  #dataanalytics #BigData #Analytics #DataScience #Statistics #DataScientists  #StatisticalLiteracy"/>
          <p:cNvPicPr>
            <a:picLocks noChangeAspect="1" noChangeArrowheads="1"/>
          </p:cNvPicPr>
          <p:nvPr/>
        </p:nvPicPr>
        <p:blipFill rotWithShape="1">
          <a:blip r:embed="rId2">
            <a:extLst>
              <a:ext uri="{28A0092B-C50C-407E-A947-70E740481C1C}">
                <a14:useLocalDpi xmlns:a14="http://schemas.microsoft.com/office/drawing/2010/main" val="0"/>
              </a:ext>
            </a:extLst>
          </a:blip>
          <a:srcRect l="50714"/>
          <a:stretch/>
        </p:blipFill>
        <p:spPr bwMode="auto">
          <a:xfrm>
            <a:off x="1448922" y="1690688"/>
            <a:ext cx="6038493" cy="4553673"/>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p:cNvSpPr/>
          <p:nvPr/>
        </p:nvSpPr>
        <p:spPr>
          <a:xfrm>
            <a:off x="7869036" y="3005028"/>
            <a:ext cx="3841530" cy="1077218"/>
          </a:xfrm>
          <a:prstGeom prst="rect">
            <a:avLst/>
          </a:prstGeom>
        </p:spPr>
        <p:txBody>
          <a:bodyPr wrap="square">
            <a:spAutoFit/>
          </a:bodyPr>
          <a:lstStyle/>
          <a:p>
            <a:pPr algn="ctr"/>
            <a:r>
              <a:rPr lang="pt-BR" sz="3200" b="1" dirty="0"/>
              <a:t>Ou seja, não existem rótulos.</a:t>
            </a:r>
          </a:p>
        </p:txBody>
      </p:sp>
    </p:spTree>
    <p:extLst>
      <p:ext uri="{BB962C8B-B14F-4D97-AF65-F5344CB8AC3E}">
        <p14:creationId xmlns:p14="http://schemas.microsoft.com/office/powerpoint/2010/main" val="372136156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não-supervisionado</a:t>
            </a:r>
          </a:p>
        </p:txBody>
      </p:sp>
      <p:pic>
        <p:nvPicPr>
          <p:cNvPr id="1026" name="Picture 2" descr="Clustering: From Fruits to Finance, Unraveling Data Mysteries”"/>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3032" y="2203530"/>
            <a:ext cx="6524195" cy="4345115"/>
          </a:xfrm>
          <a:prstGeom prst="rect">
            <a:avLst/>
          </a:prstGeom>
          <a:noFill/>
          <a:extLst>
            <a:ext uri="{909E8E84-426E-40DD-AFC4-6F175D3DCCD1}">
              <a14:hiddenFill xmlns:a14="http://schemas.microsoft.com/office/drawing/2010/main">
                <a:solidFill>
                  <a:srgbClr val="FFFFFF"/>
                </a:solidFill>
              </a14:hiddenFill>
            </a:ext>
          </a:extLst>
        </p:spPr>
      </p:pic>
      <p:sp>
        <p:nvSpPr>
          <p:cNvPr id="5" name="Retângulo 4"/>
          <p:cNvSpPr/>
          <p:nvPr/>
        </p:nvSpPr>
        <p:spPr>
          <a:xfrm>
            <a:off x="7408190" y="3123116"/>
            <a:ext cx="4583362" cy="2062103"/>
          </a:xfrm>
          <a:prstGeom prst="rect">
            <a:avLst/>
          </a:prstGeom>
        </p:spPr>
        <p:txBody>
          <a:bodyPr wrap="square">
            <a:spAutoFit/>
          </a:bodyPr>
          <a:lstStyle/>
          <a:p>
            <a:pPr algn="ctr"/>
            <a:r>
              <a:rPr lang="pt-BR" sz="3200" dirty="0"/>
              <a:t>Eu </a:t>
            </a:r>
            <a:r>
              <a:rPr lang="pt-BR" sz="3200" b="1" dirty="0">
                <a:solidFill>
                  <a:srgbClr val="7030A0"/>
                </a:solidFill>
              </a:rPr>
              <a:t>não sei </a:t>
            </a:r>
            <a:r>
              <a:rPr lang="pt-BR" sz="3200" dirty="0"/>
              <a:t>o que </a:t>
            </a:r>
            <a:r>
              <a:rPr lang="pt-BR" sz="3200" dirty="0" smtClean="0"/>
              <a:t>são esses objetos, </a:t>
            </a:r>
            <a:r>
              <a:rPr lang="pt-BR" sz="3200" dirty="0"/>
              <a:t>mas esses aqui se </a:t>
            </a:r>
            <a:r>
              <a:rPr lang="pt-BR" sz="3200" b="1" dirty="0">
                <a:solidFill>
                  <a:srgbClr val="7030A0"/>
                </a:solidFill>
              </a:rPr>
              <a:t>parecem e esses são diferentes</a:t>
            </a:r>
            <a:r>
              <a:rPr lang="pt-BR" sz="3200" dirty="0"/>
              <a:t>!</a:t>
            </a:r>
          </a:p>
        </p:txBody>
      </p:sp>
    </p:spTree>
    <p:extLst>
      <p:ext uri="{BB962C8B-B14F-4D97-AF65-F5344CB8AC3E}">
        <p14:creationId xmlns:p14="http://schemas.microsoft.com/office/powerpoint/2010/main" val="208474524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083FFF02-0FC8-9F0B-AAB0-565FC99EA70D}"/>
              </a:ext>
            </a:extLst>
          </p:cNvPr>
          <p:cNvSpPr>
            <a:spLocks noGrp="1"/>
          </p:cNvSpPr>
          <p:nvPr>
            <p:ph type="title"/>
          </p:nvPr>
        </p:nvSpPr>
        <p:spPr/>
        <p:txBody>
          <a:bodyPr/>
          <a:lstStyle/>
          <a:p>
            <a:r>
              <a:rPr lang="pt-BR" dirty="0"/>
              <a:t>Aprendizado não-supervisionado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8C5488AE-34B4-EF1D-F674-507FF2FCD122}"/>
                  </a:ext>
                </a:extLst>
              </p:cNvPr>
              <p:cNvSpPr>
                <a:spLocks noGrp="1"/>
              </p:cNvSpPr>
              <p:nvPr>
                <p:ph idx="1"/>
              </p:nvPr>
            </p:nvSpPr>
            <p:spPr>
              <a:xfrm>
                <a:off x="5540285" y="1825624"/>
                <a:ext cx="6513169" cy="5032375"/>
              </a:xfrm>
            </p:spPr>
            <p:txBody>
              <a:bodyPr>
                <a:normAutofit/>
              </a:bodyPr>
              <a:lstStyle/>
              <a:p>
                <a:r>
                  <a:rPr lang="pt-BR" b="1" dirty="0"/>
                  <a:t>Como funciona:</a:t>
                </a:r>
                <a:r>
                  <a:rPr lang="pt-BR" dirty="0"/>
                  <a:t> O modelo recebe apenas a entrada, </a:t>
                </a:r>
                <a14:m>
                  <m:oMath xmlns:m="http://schemas.openxmlformats.org/officeDocument/2006/math">
                    <m:r>
                      <a:rPr lang="pt-BR" b="0" i="1" smtClean="0">
                        <a:latin typeface="Cambria Math" panose="02040503050406030204" pitchFamily="18" charset="0"/>
                      </a:rPr>
                      <m:t>𝑥</m:t>
                    </m:r>
                  </m:oMath>
                </a14:m>
                <a:r>
                  <a:rPr lang="pt-BR" dirty="0"/>
                  <a:t>. </a:t>
                </a:r>
              </a:p>
              <a:p>
                <a:pPr lvl="1">
                  <a:buFont typeface="Wingdings" panose="05000000000000000000" pitchFamily="2" charset="2"/>
                  <a:buChar char="§"/>
                </a:pPr>
                <a:r>
                  <a:rPr lang="pt-BR" b="1" dirty="0"/>
                  <a:t>Não há um rótulo</a:t>
                </a:r>
                <a:r>
                  <a:rPr lang="pt-BR" dirty="0"/>
                  <a:t>, </a:t>
                </a:r>
                <a14:m>
                  <m:oMath xmlns:m="http://schemas.openxmlformats.org/officeDocument/2006/math">
                    <m:r>
                      <a:rPr lang="pt-BR" b="0" i="1" smtClean="0">
                        <a:latin typeface="Cambria Math" panose="02040503050406030204" pitchFamily="18" charset="0"/>
                      </a:rPr>
                      <m:t>𝑦</m:t>
                    </m:r>
                  </m:oMath>
                </a14:m>
                <a:r>
                  <a:rPr lang="pt-BR" dirty="0"/>
                  <a:t>, dizendo o que é o quê.</a:t>
                </a:r>
              </a:p>
              <a:p>
                <a:r>
                  <a:rPr lang="pt-BR" b="1" dirty="0"/>
                  <a:t>O objetivo:</a:t>
                </a:r>
                <a:r>
                  <a:rPr lang="pt-BR" dirty="0"/>
                  <a:t> Encontrar estruturas, semelhanças e grupos escondidos nos dados.</a:t>
                </a:r>
              </a:p>
              <a:p>
                <a:r>
                  <a:rPr lang="pt-BR" b="1" dirty="0"/>
                  <a:t>O “</a:t>
                </a:r>
                <a:r>
                  <a:rPr lang="pt-BR" b="1" i="1" dirty="0"/>
                  <a:t>insight</a:t>
                </a:r>
                <a:r>
                  <a:rPr lang="pt-BR" b="1" dirty="0"/>
                  <a:t>":</a:t>
                </a:r>
                <a:r>
                  <a:rPr lang="pt-BR" dirty="0"/>
                  <a:t> A máquina </a:t>
                </a:r>
                <a:r>
                  <a:rPr lang="pt-BR" b="1" dirty="0"/>
                  <a:t>não sabe o que encontrou</a:t>
                </a:r>
                <a:r>
                  <a:rPr lang="pt-BR" dirty="0"/>
                  <a:t>, mas sabe que "estes itens aqui são </a:t>
                </a:r>
                <a:r>
                  <a:rPr lang="pt-BR" b="1" dirty="0"/>
                  <a:t>parecidos/similares </a:t>
                </a:r>
                <a:r>
                  <a:rPr lang="pt-BR" dirty="0"/>
                  <a:t>entre si e </a:t>
                </a:r>
                <a:r>
                  <a:rPr lang="pt-BR" b="1" dirty="0"/>
                  <a:t>diferentes</a:t>
                </a:r>
                <a:r>
                  <a:rPr lang="pt-BR" dirty="0"/>
                  <a:t> daqueles ali”.</a:t>
                </a:r>
              </a:p>
            </p:txBody>
          </p:sp>
        </mc:Choice>
        <mc:Fallback xmlns="">
          <p:sp>
            <p:nvSpPr>
              <p:cNvPr id="3" name="Espaço Reservado para Conteúdo 2">
                <a:extLst>
                  <a:ext uri="{FF2B5EF4-FFF2-40B4-BE49-F238E27FC236}">
                    <a16:creationId xmlns:a16="http://schemas.microsoft.com/office/drawing/2014/main" id="{8C5488AE-34B4-EF1D-F674-507FF2FCD122}"/>
                  </a:ext>
                </a:extLst>
              </p:cNvPr>
              <p:cNvSpPr>
                <a:spLocks noGrp="1" noRot="1" noChangeAspect="1" noMove="1" noResize="1" noEditPoints="1" noAdjustHandles="1" noChangeArrowheads="1" noChangeShapeType="1" noTextEdit="1"/>
              </p:cNvSpPr>
              <p:nvPr>
                <p:ph idx="1"/>
              </p:nvPr>
            </p:nvSpPr>
            <p:spPr>
              <a:xfrm>
                <a:off x="5540285" y="1825624"/>
                <a:ext cx="6513169" cy="5032375"/>
              </a:xfrm>
              <a:blipFill>
                <a:blip r:embed="rId3"/>
                <a:stretch>
                  <a:fillRect l="-1685" t="-1937" r="-1685"/>
                </a:stretch>
              </a:blipFill>
            </p:spPr>
            <p:txBody>
              <a:bodyPr/>
              <a:lstStyle/>
              <a:p>
                <a:r>
                  <a:rPr lang="en-US">
                    <a:noFill/>
                  </a:rPr>
                  <a:t> </a:t>
                </a:r>
              </a:p>
            </p:txBody>
          </p:sp>
        </mc:Fallback>
      </mc:AlternateContent>
      <p:grpSp>
        <p:nvGrpSpPr>
          <p:cNvPr id="5" name="Grupo 4"/>
          <p:cNvGrpSpPr/>
          <p:nvPr/>
        </p:nvGrpSpPr>
        <p:grpSpPr>
          <a:xfrm>
            <a:off x="-12216" y="1634257"/>
            <a:ext cx="5552502" cy="5014422"/>
            <a:chOff x="187286" y="1634257"/>
            <a:chExt cx="5552502" cy="5014422"/>
          </a:xfrm>
        </p:grpSpPr>
        <p:pic>
          <p:nvPicPr>
            <p:cNvPr id="6" name="Picture 2" descr="K-means: A Complete Introduction. K-means is an unsupervised clustering… |  by Alan Jeffares | Towards Data Science">
              <a:extLst>
                <a:ext uri="{FF2B5EF4-FFF2-40B4-BE49-F238E27FC236}">
                  <a16:creationId xmlns="" xmlns:a16="http://schemas.microsoft.com/office/drawing/2014/main" id="{E01884DA-152B-FB68-C204-EDCDD46E5B46}"/>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391" t="11502" r="54947" b="10772"/>
            <a:stretch/>
          </p:blipFill>
          <p:spPr bwMode="auto">
            <a:xfrm>
              <a:off x="1797441" y="1634257"/>
              <a:ext cx="2918634" cy="2164814"/>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descr="Diagrama">
              <a:extLst>
                <a:ext uri="{FF2B5EF4-FFF2-40B4-BE49-F238E27FC236}">
                  <a16:creationId xmlns="" xmlns:a16="http://schemas.microsoft.com/office/drawing/2014/main" id="{8B9A1E77-24B1-7DF5-03C9-94E6E4C7F39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6249" t="10730" b="10771"/>
            <a:stretch/>
          </p:blipFill>
          <p:spPr bwMode="auto">
            <a:xfrm>
              <a:off x="1797441" y="4466752"/>
              <a:ext cx="2918634" cy="2181927"/>
            </a:xfrm>
            <a:prstGeom prst="rect">
              <a:avLst/>
            </a:prstGeom>
            <a:noFill/>
            <a:extLst>
              <a:ext uri="{909E8E84-426E-40DD-AFC4-6F175D3DCCD1}">
                <a14:hiddenFill xmlns:a14="http://schemas.microsoft.com/office/drawing/2010/main">
                  <a:solidFill>
                    <a:srgbClr val="FFFFFF"/>
                  </a:solidFill>
                </a14:hiddenFill>
              </a:ext>
            </a:extLst>
          </p:spPr>
        </p:pic>
        <p:sp>
          <p:nvSpPr>
            <p:cNvPr id="8" name="Seta: para Baixo 4">
              <a:extLst>
                <a:ext uri="{FF2B5EF4-FFF2-40B4-BE49-F238E27FC236}">
                  <a16:creationId xmlns="" xmlns:a16="http://schemas.microsoft.com/office/drawing/2014/main" id="{9E19AC8B-C706-78C1-076D-5A1287FC616E}"/>
                </a:ext>
              </a:extLst>
            </p:cNvPr>
            <p:cNvSpPr/>
            <p:nvPr/>
          </p:nvSpPr>
          <p:spPr>
            <a:xfrm>
              <a:off x="3108030" y="3893589"/>
              <a:ext cx="297455" cy="47864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CaixaDeTexto 8">
              <a:extLst>
                <a:ext uri="{FF2B5EF4-FFF2-40B4-BE49-F238E27FC236}">
                  <a16:creationId xmlns="" xmlns:a16="http://schemas.microsoft.com/office/drawing/2014/main" id="{1F4FDDD9-F55E-36C2-19FF-7B20360E355B}"/>
                </a:ext>
              </a:extLst>
            </p:cNvPr>
            <p:cNvSpPr txBox="1"/>
            <p:nvPr/>
          </p:nvSpPr>
          <p:spPr>
            <a:xfrm>
              <a:off x="574569" y="2311840"/>
              <a:ext cx="1222872" cy="646331"/>
            </a:xfrm>
            <a:prstGeom prst="rect">
              <a:avLst/>
            </a:prstGeom>
            <a:noFill/>
          </p:spPr>
          <p:txBody>
            <a:bodyPr wrap="square" rtlCol="0">
              <a:spAutoFit/>
            </a:bodyPr>
            <a:lstStyle/>
            <a:p>
              <a:pPr algn="ctr"/>
              <a:r>
                <a:rPr lang="pt-BR" b="1" dirty="0"/>
                <a:t>Dados não rotulados</a:t>
              </a:r>
            </a:p>
          </p:txBody>
        </p:sp>
        <p:sp>
          <p:nvSpPr>
            <p:cNvPr id="10" name="CaixaDeTexto 9">
              <a:extLst>
                <a:ext uri="{FF2B5EF4-FFF2-40B4-BE49-F238E27FC236}">
                  <a16:creationId xmlns="" xmlns:a16="http://schemas.microsoft.com/office/drawing/2014/main" id="{2733FB70-7468-6FEE-704E-38F210F09CBE}"/>
                </a:ext>
              </a:extLst>
            </p:cNvPr>
            <p:cNvSpPr txBox="1"/>
            <p:nvPr/>
          </p:nvSpPr>
          <p:spPr>
            <a:xfrm>
              <a:off x="187286" y="5096050"/>
              <a:ext cx="1610155" cy="923330"/>
            </a:xfrm>
            <a:prstGeom prst="rect">
              <a:avLst/>
            </a:prstGeom>
            <a:noFill/>
          </p:spPr>
          <p:txBody>
            <a:bodyPr wrap="square" rtlCol="0">
              <a:spAutoFit/>
            </a:bodyPr>
            <a:lstStyle/>
            <a:p>
              <a:pPr algn="ctr"/>
              <a:r>
                <a:rPr lang="pt-BR" b="1" dirty="0"/>
                <a:t>Dados agrupados por proximidade</a:t>
              </a:r>
            </a:p>
          </p:txBody>
        </p:sp>
        <p:sp>
          <p:nvSpPr>
            <p:cNvPr id="11" name="CaixaDeTexto 10">
              <a:extLst>
                <a:ext uri="{FF2B5EF4-FFF2-40B4-BE49-F238E27FC236}">
                  <a16:creationId xmlns="" xmlns:a16="http://schemas.microsoft.com/office/drawing/2014/main" id="{2150A039-C911-B65B-8594-4F8B7895B339}"/>
                </a:ext>
              </a:extLst>
            </p:cNvPr>
            <p:cNvSpPr txBox="1"/>
            <p:nvPr/>
          </p:nvSpPr>
          <p:spPr>
            <a:xfrm>
              <a:off x="3317350" y="3840524"/>
              <a:ext cx="2422438" cy="584775"/>
            </a:xfrm>
            <a:prstGeom prst="rect">
              <a:avLst/>
            </a:prstGeom>
            <a:noFill/>
          </p:spPr>
          <p:txBody>
            <a:bodyPr wrap="square">
              <a:spAutoFit/>
            </a:bodyPr>
            <a:lstStyle/>
            <a:p>
              <a:pPr algn="ctr"/>
              <a:r>
                <a:rPr lang="pt-BR" sz="1600" dirty="0"/>
                <a:t>Algoritmo de aprendizado não-supervisionado</a:t>
              </a:r>
            </a:p>
          </p:txBody>
        </p:sp>
      </p:grpSp>
    </p:spTree>
    <p:extLst>
      <p:ext uri="{BB962C8B-B14F-4D97-AF65-F5344CB8AC3E}">
        <p14:creationId xmlns:p14="http://schemas.microsoft.com/office/powerpoint/2010/main" val="154725955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não-supervisionado</a:t>
            </a:r>
          </a:p>
        </p:txBody>
      </p:sp>
      <p:sp>
        <p:nvSpPr>
          <p:cNvPr id="3" name="Espaço Reservado para Conteúdo 2"/>
          <p:cNvSpPr>
            <a:spLocks noGrp="1"/>
          </p:cNvSpPr>
          <p:nvPr>
            <p:ph idx="1"/>
          </p:nvPr>
        </p:nvSpPr>
        <p:spPr>
          <a:xfrm>
            <a:off x="838201" y="1825624"/>
            <a:ext cx="11098876" cy="5032375"/>
          </a:xfrm>
        </p:spPr>
        <p:txBody>
          <a:bodyPr>
            <a:normAutofit/>
          </a:bodyPr>
          <a:lstStyle/>
          <a:p>
            <a:r>
              <a:rPr lang="pt-BR" dirty="0"/>
              <a:t>Algoritmos não-supervisionados tratam problemas de </a:t>
            </a:r>
          </a:p>
          <a:p>
            <a:pPr lvl="1">
              <a:buFont typeface="Wingdings" panose="05000000000000000000" pitchFamily="2" charset="2"/>
              <a:buChar char="§"/>
            </a:pPr>
            <a:r>
              <a:rPr lang="pt-BR" b="1" dirty="0"/>
              <a:t>clusterização, </a:t>
            </a:r>
          </a:p>
          <a:p>
            <a:pPr lvl="1">
              <a:buFont typeface="Wingdings" panose="05000000000000000000" pitchFamily="2" charset="2"/>
              <a:buChar char="§"/>
            </a:pPr>
            <a:r>
              <a:rPr lang="pt-BR" b="1" dirty="0"/>
              <a:t>detecção de anomalias (</a:t>
            </a:r>
            <a:r>
              <a:rPr lang="pt-BR" b="1" i="1" dirty="0" err="1"/>
              <a:t>outliers</a:t>
            </a:r>
            <a:r>
              <a:rPr lang="pt-BR" b="1" dirty="0"/>
              <a:t>), </a:t>
            </a:r>
          </a:p>
          <a:p>
            <a:pPr lvl="1">
              <a:buFont typeface="Wingdings" panose="05000000000000000000" pitchFamily="2" charset="2"/>
              <a:buChar char="§"/>
            </a:pPr>
            <a:r>
              <a:rPr lang="pt-BR" b="1" dirty="0"/>
              <a:t>redução de dimensionalidade.</a:t>
            </a:r>
          </a:p>
        </p:txBody>
      </p:sp>
    </p:spTree>
    <p:extLst>
      <p:ext uri="{BB962C8B-B14F-4D97-AF65-F5344CB8AC3E}">
        <p14:creationId xmlns:p14="http://schemas.microsoft.com/office/powerpoint/2010/main" val="216374428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não-supervisionado</a:t>
            </a:r>
          </a:p>
        </p:txBody>
      </p:sp>
      <p:sp>
        <p:nvSpPr>
          <p:cNvPr id="3" name="Espaço Reservado para Conteúdo 2"/>
          <p:cNvSpPr>
            <a:spLocks noGrp="1"/>
          </p:cNvSpPr>
          <p:nvPr>
            <p:ph idx="1"/>
          </p:nvPr>
        </p:nvSpPr>
        <p:spPr>
          <a:xfrm>
            <a:off x="5802086" y="1825624"/>
            <a:ext cx="6251369" cy="5032375"/>
          </a:xfrm>
        </p:spPr>
        <p:txBody>
          <a:bodyPr>
            <a:normAutofit lnSpcReduction="10000"/>
          </a:bodyPr>
          <a:lstStyle/>
          <a:p>
            <a:r>
              <a:rPr lang="pt-BR" b="1" i="1" dirty="0"/>
              <a:t>Clustering</a:t>
            </a:r>
            <a:r>
              <a:rPr lang="pt-BR" b="1" dirty="0"/>
              <a:t> (ou agrupamento):</a:t>
            </a:r>
            <a:r>
              <a:rPr lang="pt-BR" dirty="0"/>
              <a:t> serve para </a:t>
            </a:r>
            <a:r>
              <a:rPr lang="pt-BR" b="1" dirty="0"/>
              <a:t>encontrar grupos</a:t>
            </a:r>
            <a:r>
              <a:rPr lang="pt-BR" dirty="0"/>
              <a:t>, muitas vezes escondidos (i.e., latentes), nos dados.</a:t>
            </a:r>
          </a:p>
          <a:p>
            <a:r>
              <a:rPr lang="pt-BR" b="1" dirty="0"/>
              <a:t>Exemplos:</a:t>
            </a:r>
            <a:r>
              <a:rPr lang="pt-BR" dirty="0"/>
              <a:t> "Quem viu, ouviu ou comprou isso, também viu, ouviu ou comprou aquilo".</a:t>
            </a:r>
          </a:p>
          <a:p>
            <a:pPr lvl="1">
              <a:buFont typeface="Wingdings" panose="05000000000000000000" pitchFamily="2" charset="2"/>
              <a:buChar char="§"/>
            </a:pPr>
            <a:r>
              <a:rPr lang="pt-BR" dirty="0"/>
              <a:t>A </a:t>
            </a:r>
            <a:r>
              <a:rPr lang="pt-BR" dirty="0" err="1"/>
              <a:t>Netflix</a:t>
            </a:r>
            <a:r>
              <a:rPr lang="pt-BR" dirty="0"/>
              <a:t>, </a:t>
            </a:r>
            <a:r>
              <a:rPr lang="pt-BR" dirty="0" err="1"/>
              <a:t>Spotify</a:t>
            </a:r>
            <a:r>
              <a:rPr lang="pt-BR" dirty="0"/>
              <a:t>, etc. utilizam </a:t>
            </a:r>
            <a:r>
              <a:rPr lang="pt-BR" i="1" dirty="0"/>
              <a:t>clustering</a:t>
            </a:r>
            <a:r>
              <a:rPr lang="pt-BR" dirty="0"/>
              <a:t> para recomendar filmes e músicas baseando-se em grupos de usuários com comportamentos e gostos similares aos seus.</a:t>
            </a:r>
          </a:p>
          <a:p>
            <a:pPr lvl="1">
              <a:buFont typeface="Wingdings" panose="05000000000000000000" pitchFamily="2" charset="2"/>
              <a:buChar char="§"/>
            </a:pPr>
            <a:r>
              <a:rPr lang="pt-BR" dirty="0"/>
              <a:t>A </a:t>
            </a:r>
            <a:r>
              <a:rPr lang="pt-BR" dirty="0" err="1"/>
              <a:t>Amazon</a:t>
            </a:r>
            <a:r>
              <a:rPr lang="pt-BR" dirty="0"/>
              <a:t>, Mercado Livre, etc. agrupam clientes que compram coisas parecidas para recomendar produtos.</a:t>
            </a:r>
          </a:p>
        </p:txBody>
      </p:sp>
      <p:pic>
        <p:nvPicPr>
          <p:cNvPr id="4" name="Picture 2" descr="https://www.ecloudvalley.com/wp-content/uploads/2019/09/Unsupervised-learning.png">
            <a:extLst>
              <a:ext uri="{FF2B5EF4-FFF2-40B4-BE49-F238E27FC236}">
                <a16:creationId xmlns="" xmlns:a16="http://schemas.microsoft.com/office/drawing/2014/main" id="{D5263760-ABE7-908A-A483-E7B4239BF936}"/>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3667" t="10299" r="3988" b="11337"/>
          <a:stretch/>
        </p:blipFill>
        <p:spPr bwMode="auto">
          <a:xfrm>
            <a:off x="268363" y="2864556"/>
            <a:ext cx="5317591" cy="2266969"/>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 xmlns:a16="http://schemas.microsoft.com/office/drawing/2014/main" id="{022A91D9-CA32-6007-7F08-7CA46B022D97}"/>
              </a:ext>
            </a:extLst>
          </p:cNvPr>
          <p:cNvSpPr txBox="1"/>
          <p:nvPr/>
        </p:nvSpPr>
        <p:spPr>
          <a:xfrm>
            <a:off x="179911" y="5266461"/>
            <a:ext cx="5406043" cy="584775"/>
          </a:xfrm>
          <a:prstGeom prst="rect">
            <a:avLst/>
          </a:prstGeom>
          <a:noFill/>
        </p:spPr>
        <p:txBody>
          <a:bodyPr wrap="square">
            <a:spAutoFit/>
          </a:bodyPr>
          <a:lstStyle/>
          <a:p>
            <a:pPr algn="ctr"/>
            <a:r>
              <a:rPr lang="pt-BR" sz="1600" baseline="0" dirty="0"/>
              <a:t>Agrupar clientes similares em termos de comportamento para envio de propaganda personalizada.</a:t>
            </a:r>
          </a:p>
        </p:txBody>
      </p:sp>
    </p:spTree>
    <p:extLst>
      <p:ext uri="{BB962C8B-B14F-4D97-AF65-F5344CB8AC3E}">
        <p14:creationId xmlns:p14="http://schemas.microsoft.com/office/powerpoint/2010/main" val="276529009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não-supervisionado</a:t>
            </a:r>
          </a:p>
        </p:txBody>
      </p:sp>
      <p:sp>
        <p:nvSpPr>
          <p:cNvPr id="3" name="Espaço Reservado para Conteúdo 2"/>
          <p:cNvSpPr>
            <a:spLocks noGrp="1"/>
          </p:cNvSpPr>
          <p:nvPr>
            <p:ph idx="1"/>
          </p:nvPr>
        </p:nvSpPr>
        <p:spPr>
          <a:xfrm>
            <a:off x="5858325" y="1825624"/>
            <a:ext cx="6195129" cy="5032375"/>
          </a:xfrm>
        </p:spPr>
        <p:txBody>
          <a:bodyPr>
            <a:normAutofit/>
          </a:bodyPr>
          <a:lstStyle/>
          <a:p>
            <a:r>
              <a:rPr lang="pt-BR" b="1" dirty="0"/>
              <a:t>Redução de dimensionalidade:</a:t>
            </a:r>
            <a:r>
              <a:rPr lang="pt-BR" dirty="0"/>
              <a:t> Serve para </a:t>
            </a:r>
            <a:r>
              <a:rPr lang="pt-BR" b="1" dirty="0"/>
              <a:t>simplificar dados complexos</a:t>
            </a:r>
            <a:r>
              <a:rPr lang="pt-BR" dirty="0"/>
              <a:t>, focando apenas no que importa.</a:t>
            </a:r>
          </a:p>
          <a:p>
            <a:r>
              <a:rPr lang="pt-BR" b="1" dirty="0"/>
              <a:t>Exemplos:</a:t>
            </a:r>
            <a:r>
              <a:rPr lang="pt-BR" dirty="0"/>
              <a:t> </a:t>
            </a:r>
          </a:p>
          <a:p>
            <a:pPr lvl="1">
              <a:buFont typeface="Wingdings" panose="05000000000000000000" pitchFamily="2" charset="2"/>
              <a:buChar char="§"/>
            </a:pPr>
            <a:r>
              <a:rPr lang="pt-BR" dirty="0"/>
              <a:t>Comprimir uma imagem mantendo uma boa qualidade. </a:t>
            </a:r>
          </a:p>
          <a:p>
            <a:pPr lvl="1">
              <a:buFont typeface="Wingdings" panose="05000000000000000000" pitchFamily="2" charset="2"/>
              <a:buChar char="§"/>
            </a:pPr>
            <a:r>
              <a:rPr lang="pt-BR" dirty="0"/>
              <a:t>Remover informações inúteis de um banco de dados ou imagens gigantes para processá-los mais rápido.</a:t>
            </a:r>
          </a:p>
          <a:p>
            <a:pPr lvl="1">
              <a:buFont typeface="Wingdings" panose="05000000000000000000" pitchFamily="2" charset="2"/>
              <a:buChar char="§"/>
            </a:pPr>
            <a:r>
              <a:rPr lang="pt-BR" dirty="0"/>
              <a:t>Transformar tabelas com 100 colunas em um gráfico 2D/3D que humanos consigam visualizar e interpretar.</a:t>
            </a:r>
          </a:p>
        </p:txBody>
      </p:sp>
      <p:grpSp>
        <p:nvGrpSpPr>
          <p:cNvPr id="8" name="Group 7">
            <a:extLst>
              <a:ext uri="{FF2B5EF4-FFF2-40B4-BE49-F238E27FC236}">
                <a16:creationId xmlns="" xmlns:a16="http://schemas.microsoft.com/office/drawing/2014/main" id="{3EE784E4-0432-EEC2-8AA3-C27FB900767E}"/>
              </a:ext>
            </a:extLst>
          </p:cNvPr>
          <p:cNvGrpSpPr/>
          <p:nvPr/>
        </p:nvGrpSpPr>
        <p:grpSpPr>
          <a:xfrm>
            <a:off x="10886" y="2808514"/>
            <a:ext cx="5858325" cy="2187247"/>
            <a:chOff x="0" y="3222171"/>
            <a:chExt cx="5858325" cy="2187247"/>
          </a:xfrm>
        </p:grpSpPr>
        <p:pic>
          <p:nvPicPr>
            <p:cNvPr id="1026" name="Picture 2" descr="What is Dimensionality Reduction? A Guide.">
              <a:extLst>
                <a:ext uri="{FF2B5EF4-FFF2-40B4-BE49-F238E27FC236}">
                  <a16:creationId xmlns="" xmlns:a16="http://schemas.microsoft.com/office/drawing/2014/main" id="{751C1A17-3E7B-7C53-9D9F-A6DFBA8EFA7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3328"/>
            <a:stretch>
              <a:fillRect/>
            </a:stretch>
          </p:blipFill>
          <p:spPr bwMode="auto">
            <a:xfrm>
              <a:off x="0" y="3222171"/>
              <a:ext cx="5858325" cy="1645785"/>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 xmlns:a16="http://schemas.microsoft.com/office/drawing/2014/main" id="{2660F266-864D-5E91-3AE9-A08790411A54}"/>
                </a:ext>
              </a:extLst>
            </p:cNvPr>
            <p:cNvSpPr txBox="1"/>
            <p:nvPr/>
          </p:nvSpPr>
          <p:spPr>
            <a:xfrm>
              <a:off x="653143" y="5040086"/>
              <a:ext cx="444352" cy="369332"/>
            </a:xfrm>
            <a:prstGeom prst="rect">
              <a:avLst/>
            </a:prstGeom>
            <a:noFill/>
          </p:spPr>
          <p:txBody>
            <a:bodyPr wrap="none" rtlCol="0">
              <a:spAutoFit/>
            </a:bodyPr>
            <a:lstStyle/>
            <a:p>
              <a:r>
                <a:rPr lang="pt-BR" dirty="0"/>
                <a:t>3D</a:t>
              </a:r>
              <a:endParaRPr lang="en-US" dirty="0"/>
            </a:p>
          </p:txBody>
        </p:sp>
        <p:sp>
          <p:nvSpPr>
            <p:cNvPr id="6" name="TextBox 5">
              <a:extLst>
                <a:ext uri="{FF2B5EF4-FFF2-40B4-BE49-F238E27FC236}">
                  <a16:creationId xmlns="" xmlns:a16="http://schemas.microsoft.com/office/drawing/2014/main" id="{6AFF691B-67D6-AC9A-C3BB-D85E4B569AAE}"/>
                </a:ext>
              </a:extLst>
            </p:cNvPr>
            <p:cNvSpPr txBox="1"/>
            <p:nvPr/>
          </p:nvSpPr>
          <p:spPr>
            <a:xfrm>
              <a:off x="2787648" y="5040086"/>
              <a:ext cx="444352" cy="369332"/>
            </a:xfrm>
            <a:prstGeom prst="rect">
              <a:avLst/>
            </a:prstGeom>
            <a:noFill/>
          </p:spPr>
          <p:txBody>
            <a:bodyPr wrap="none" rtlCol="0">
              <a:spAutoFit/>
            </a:bodyPr>
            <a:lstStyle/>
            <a:p>
              <a:r>
                <a:rPr lang="pt-BR" dirty="0"/>
                <a:t>2D</a:t>
              </a:r>
              <a:endParaRPr lang="en-US" dirty="0"/>
            </a:p>
          </p:txBody>
        </p:sp>
        <p:sp>
          <p:nvSpPr>
            <p:cNvPr id="7" name="TextBox 6">
              <a:extLst>
                <a:ext uri="{FF2B5EF4-FFF2-40B4-BE49-F238E27FC236}">
                  <a16:creationId xmlns="" xmlns:a16="http://schemas.microsoft.com/office/drawing/2014/main" id="{E711F437-6F5C-15ED-E872-0F4EA536DFF3}"/>
                </a:ext>
              </a:extLst>
            </p:cNvPr>
            <p:cNvSpPr txBox="1"/>
            <p:nvPr/>
          </p:nvSpPr>
          <p:spPr>
            <a:xfrm>
              <a:off x="4922153" y="5040086"/>
              <a:ext cx="444352" cy="369332"/>
            </a:xfrm>
            <a:prstGeom prst="rect">
              <a:avLst/>
            </a:prstGeom>
            <a:noFill/>
          </p:spPr>
          <p:txBody>
            <a:bodyPr wrap="none" rtlCol="0">
              <a:spAutoFit/>
            </a:bodyPr>
            <a:lstStyle/>
            <a:p>
              <a:r>
                <a:rPr lang="pt-BR" dirty="0"/>
                <a:t>1D</a:t>
              </a:r>
              <a:endParaRPr lang="en-US" dirty="0"/>
            </a:p>
          </p:txBody>
        </p:sp>
      </p:grpSp>
    </p:spTree>
    <p:extLst>
      <p:ext uri="{BB962C8B-B14F-4D97-AF65-F5344CB8AC3E}">
        <p14:creationId xmlns:p14="http://schemas.microsoft.com/office/powerpoint/2010/main" val="80179368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não-supervisionado</a:t>
            </a:r>
          </a:p>
        </p:txBody>
      </p:sp>
      <p:sp>
        <p:nvSpPr>
          <p:cNvPr id="3" name="Espaço Reservado para Conteúdo 2"/>
          <p:cNvSpPr>
            <a:spLocks noGrp="1"/>
          </p:cNvSpPr>
          <p:nvPr>
            <p:ph idx="1"/>
          </p:nvPr>
        </p:nvSpPr>
        <p:spPr>
          <a:xfrm>
            <a:off x="5660571" y="1825624"/>
            <a:ext cx="6392883" cy="5032375"/>
          </a:xfrm>
        </p:spPr>
        <p:txBody>
          <a:bodyPr>
            <a:normAutofit/>
          </a:bodyPr>
          <a:lstStyle/>
          <a:p>
            <a:r>
              <a:rPr lang="pt-BR" b="1" dirty="0"/>
              <a:t>Detecção de anomalias ou </a:t>
            </a:r>
            <a:r>
              <a:rPr lang="pt-BR" b="1" i="1" dirty="0"/>
              <a:t>outliers</a:t>
            </a:r>
            <a:r>
              <a:rPr lang="pt-BR" b="1" dirty="0"/>
              <a:t>:</a:t>
            </a:r>
            <a:r>
              <a:rPr lang="pt-BR" dirty="0"/>
              <a:t> Serve para identificar padrões que </a:t>
            </a:r>
            <a:r>
              <a:rPr lang="pt-BR" b="1" dirty="0"/>
              <a:t>fogem</a:t>
            </a:r>
            <a:r>
              <a:rPr lang="pt-BR" dirty="0"/>
              <a:t> completamente </a:t>
            </a:r>
            <a:r>
              <a:rPr lang="pt-BR" b="1" dirty="0"/>
              <a:t>do normal</a:t>
            </a:r>
            <a:r>
              <a:rPr lang="pt-BR" dirty="0"/>
              <a:t>.</a:t>
            </a:r>
          </a:p>
          <a:p>
            <a:r>
              <a:rPr lang="pt-BR" b="1" dirty="0"/>
              <a:t>Exemplos:</a:t>
            </a:r>
            <a:r>
              <a:rPr lang="pt-BR" dirty="0"/>
              <a:t> </a:t>
            </a:r>
          </a:p>
          <a:p>
            <a:pPr lvl="1">
              <a:buFont typeface="Wingdings" panose="05000000000000000000" pitchFamily="2" charset="2"/>
              <a:buChar char="§"/>
            </a:pPr>
            <a:r>
              <a:rPr lang="pt-BR" dirty="0"/>
              <a:t>Detectar compras suspeitas no seu cartão de crédito por não condizerem com seus hábitos de compra.</a:t>
            </a:r>
          </a:p>
          <a:p>
            <a:pPr lvl="1">
              <a:buFont typeface="Wingdings" panose="05000000000000000000" pitchFamily="2" charset="2"/>
              <a:buChar char="§"/>
            </a:pPr>
            <a:r>
              <a:rPr lang="pt-BR" dirty="0"/>
              <a:t>Identificar acessos incomuns em uma rede que podem indicar a presença de um </a:t>
            </a:r>
            <a:r>
              <a:rPr lang="pt-BR" i="1" dirty="0"/>
              <a:t>hacker</a:t>
            </a:r>
            <a:r>
              <a:rPr lang="pt-BR" dirty="0"/>
              <a:t>.</a:t>
            </a:r>
          </a:p>
          <a:p>
            <a:pPr lvl="1">
              <a:buFont typeface="Wingdings" panose="05000000000000000000" pitchFamily="2" charset="2"/>
              <a:buChar char="§"/>
            </a:pPr>
            <a:r>
              <a:rPr lang="pt-BR" dirty="0"/>
              <a:t>Detectar vibrações ou ruídos estranhos em motores de aviões ou máquinas industriais antes que elas quebrem.</a:t>
            </a:r>
            <a:endParaRPr lang="en-US" dirty="0"/>
          </a:p>
        </p:txBody>
      </p:sp>
      <p:pic>
        <p:nvPicPr>
          <p:cNvPr id="2050" name="Picture 2" descr="Anomaly Detection cheat sheet | Towards Data Science">
            <a:extLst>
              <a:ext uri="{FF2B5EF4-FFF2-40B4-BE49-F238E27FC236}">
                <a16:creationId xmlns="" xmlns:a16="http://schemas.microsoft.com/office/drawing/2014/main" id="{9805FBE7-0000-2800-22C2-692FE1A528F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4915" y="1690688"/>
            <a:ext cx="4533650" cy="2210324"/>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Univariate Anomaly Detection | Anomaly Detection Algorithms">
            <a:extLst>
              <a:ext uri="{FF2B5EF4-FFF2-40B4-BE49-F238E27FC236}">
                <a16:creationId xmlns="" xmlns:a16="http://schemas.microsoft.com/office/drawing/2014/main" id="{4BBEA88B-BFF4-E843-D88E-56AF9B6D8B4F}"/>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3870" t="3007" r="2623"/>
          <a:stretch>
            <a:fillRect/>
          </a:stretch>
        </p:blipFill>
        <p:spPr bwMode="auto">
          <a:xfrm>
            <a:off x="1295399" y="4373913"/>
            <a:ext cx="3204699" cy="248408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8315114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por reforço</a:t>
            </a:r>
          </a:p>
        </p:txBody>
      </p:sp>
      <p:pic>
        <p:nvPicPr>
          <p:cNvPr id="3074" name="Picture 2" descr="a meme about types of machine learning training.">
            <a:extLst>
              <a:ext uri="{FF2B5EF4-FFF2-40B4-BE49-F238E27FC236}">
                <a16:creationId xmlns="" xmlns:a16="http://schemas.microsoft.com/office/drawing/2014/main" id="{87B80028-672E-A4F8-8FCA-899F5EDE831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254" t="9930" r="8414" b="18413"/>
          <a:stretch>
            <a:fillRect/>
          </a:stretch>
        </p:blipFill>
        <p:spPr bwMode="auto">
          <a:xfrm>
            <a:off x="1001485" y="1690687"/>
            <a:ext cx="5758544" cy="4951663"/>
          </a:xfrm>
          <a:prstGeom prst="rect">
            <a:avLst/>
          </a:prstGeom>
          <a:noFill/>
          <a:extLst>
            <a:ext uri="{909E8E84-426E-40DD-AFC4-6F175D3DCCD1}">
              <a14:hiddenFill xmlns:a14="http://schemas.microsoft.com/office/drawing/2010/main">
                <a:solidFill>
                  <a:srgbClr val="FFFFFF"/>
                </a:solidFill>
              </a14:hiddenFill>
            </a:ext>
          </a:extLst>
        </p:spPr>
      </p:pic>
      <p:sp>
        <p:nvSpPr>
          <p:cNvPr id="4" name="Retângulo 4">
            <a:extLst>
              <a:ext uri="{FF2B5EF4-FFF2-40B4-BE49-F238E27FC236}">
                <a16:creationId xmlns="" xmlns:a16="http://schemas.microsoft.com/office/drawing/2014/main" id="{2A422EC3-388D-F3A0-AED4-DB3FF0CF5ADA}"/>
              </a:ext>
            </a:extLst>
          </p:cNvPr>
          <p:cNvSpPr/>
          <p:nvPr/>
        </p:nvSpPr>
        <p:spPr>
          <a:xfrm>
            <a:off x="7162800" y="2889246"/>
            <a:ext cx="4680857" cy="2554545"/>
          </a:xfrm>
          <a:prstGeom prst="rect">
            <a:avLst/>
          </a:prstGeom>
        </p:spPr>
        <p:txBody>
          <a:bodyPr wrap="square">
            <a:spAutoFit/>
          </a:bodyPr>
          <a:lstStyle/>
          <a:p>
            <a:pPr algn="ctr"/>
            <a:r>
              <a:rPr lang="pt-BR" sz="3200" dirty="0"/>
              <a:t>Diferente dos paradigmas anteriores, aqui </a:t>
            </a:r>
            <a:r>
              <a:rPr lang="pt-BR" sz="3200" b="1" dirty="0"/>
              <a:t>não existe nenhum tipo de dado para treinamento, sejam eles rotulados ou não</a:t>
            </a:r>
          </a:p>
        </p:txBody>
      </p:sp>
    </p:spTree>
    <p:extLst>
      <p:ext uri="{BB962C8B-B14F-4D97-AF65-F5344CB8AC3E}">
        <p14:creationId xmlns:p14="http://schemas.microsoft.com/office/powerpoint/2010/main" val="426836061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2EEA04B5-A809-75EC-C12D-9BECB2144E9A}"/>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ED1DC7EF-44FB-EC55-3791-69D1AE99D78C}"/>
              </a:ext>
            </a:extLst>
          </p:cNvPr>
          <p:cNvSpPr>
            <a:spLocks noGrp="1"/>
          </p:cNvSpPr>
          <p:nvPr>
            <p:ph type="title"/>
          </p:nvPr>
        </p:nvSpPr>
        <p:spPr/>
        <p:txBody>
          <a:bodyPr/>
          <a:lstStyle/>
          <a:p>
            <a:r>
              <a:rPr lang="pt-BR" dirty="0"/>
              <a:t>Aprendizado por reforço</a:t>
            </a:r>
          </a:p>
        </p:txBody>
      </p:sp>
      <p:sp>
        <p:nvSpPr>
          <p:cNvPr id="4" name="Retângulo 4">
            <a:extLst>
              <a:ext uri="{FF2B5EF4-FFF2-40B4-BE49-F238E27FC236}">
                <a16:creationId xmlns="" xmlns:a16="http://schemas.microsoft.com/office/drawing/2014/main" id="{2473F592-518F-18B8-A819-E8C34622396F}"/>
              </a:ext>
            </a:extLst>
          </p:cNvPr>
          <p:cNvSpPr/>
          <p:nvPr/>
        </p:nvSpPr>
        <p:spPr>
          <a:xfrm>
            <a:off x="7801887" y="3429000"/>
            <a:ext cx="4030885" cy="1077218"/>
          </a:xfrm>
          <a:prstGeom prst="rect">
            <a:avLst/>
          </a:prstGeom>
        </p:spPr>
        <p:txBody>
          <a:bodyPr wrap="square">
            <a:spAutoFit/>
          </a:bodyPr>
          <a:lstStyle/>
          <a:p>
            <a:pPr algn="ctr"/>
            <a:r>
              <a:rPr lang="pt-BR" sz="3200" dirty="0"/>
              <a:t>A máquina aprende por </a:t>
            </a:r>
            <a:r>
              <a:rPr lang="pt-BR" sz="3200" b="1" dirty="0"/>
              <a:t>tentativa e erro</a:t>
            </a:r>
          </a:p>
        </p:txBody>
      </p:sp>
      <p:pic>
        <p:nvPicPr>
          <p:cNvPr id="4098" name="Picture 2" descr="Aprendizado por Reforço - Robô Empilhando Blocos">
            <a:extLst>
              <a:ext uri="{FF2B5EF4-FFF2-40B4-BE49-F238E27FC236}">
                <a16:creationId xmlns="" xmlns:a16="http://schemas.microsoft.com/office/drawing/2014/main" id="{81311FD4-B76E-4AAE-0265-373566E02DB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9228" y="1933896"/>
            <a:ext cx="7282542" cy="40651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4154951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4BE6ABBE-EEAC-89C8-4C61-9F87B4D5EF0C}"/>
              </a:ext>
            </a:extLst>
          </p:cNvPr>
          <p:cNvSpPr>
            <a:spLocks noGrp="1"/>
          </p:cNvSpPr>
          <p:nvPr>
            <p:ph type="title"/>
          </p:nvPr>
        </p:nvSpPr>
        <p:spPr/>
        <p:txBody>
          <a:bodyPr/>
          <a:lstStyle/>
          <a:p>
            <a:r>
              <a:rPr lang="pt-BR" dirty="0"/>
              <a:t>Aprendizado por reforço</a:t>
            </a:r>
            <a:endParaRPr lang="en-US" dirty="0"/>
          </a:p>
        </p:txBody>
      </p:sp>
      <p:sp>
        <p:nvSpPr>
          <p:cNvPr id="3" name="Content Placeholder 2">
            <a:extLst>
              <a:ext uri="{FF2B5EF4-FFF2-40B4-BE49-F238E27FC236}">
                <a16:creationId xmlns="" xmlns:a16="http://schemas.microsoft.com/office/drawing/2014/main" id="{0B782CB8-3144-9339-DCFD-E69C7F9FD6FD}"/>
              </a:ext>
            </a:extLst>
          </p:cNvPr>
          <p:cNvSpPr>
            <a:spLocks noGrp="1"/>
          </p:cNvSpPr>
          <p:nvPr>
            <p:ph idx="1"/>
          </p:nvPr>
        </p:nvSpPr>
        <p:spPr>
          <a:xfrm>
            <a:off x="5588000" y="1825624"/>
            <a:ext cx="6451600" cy="5032375"/>
          </a:xfrm>
        </p:spPr>
        <p:txBody>
          <a:bodyPr/>
          <a:lstStyle/>
          <a:p>
            <a:r>
              <a:rPr lang="pt-BR" b="1" dirty="0"/>
              <a:t>Como funciona</a:t>
            </a:r>
            <a:r>
              <a:rPr lang="pt-BR" dirty="0"/>
              <a:t>: é um processo de tentativa e erro onde um agente (i.e., a máquina) aprende a tomar decisões em um ambiente através de </a:t>
            </a:r>
            <a:r>
              <a:rPr lang="pt-BR" b="1" dirty="0"/>
              <a:t>recompensas ou punições</a:t>
            </a:r>
            <a:r>
              <a:rPr lang="pt-BR" dirty="0"/>
              <a:t>. </a:t>
            </a:r>
          </a:p>
          <a:p>
            <a:r>
              <a:rPr lang="pt-BR" b="1" dirty="0"/>
              <a:t>Objetivo</a:t>
            </a:r>
            <a:r>
              <a:rPr lang="pt-BR" dirty="0"/>
              <a:t>: maximizar as recompensas e evitar punições.</a:t>
            </a:r>
          </a:p>
          <a:p>
            <a:r>
              <a:rPr lang="pt-BR" dirty="0"/>
              <a:t>O </a:t>
            </a:r>
            <a:r>
              <a:rPr lang="pt-BR" b="1" dirty="0"/>
              <a:t>agente</a:t>
            </a:r>
            <a:r>
              <a:rPr lang="pt-BR" dirty="0"/>
              <a:t> observa o </a:t>
            </a:r>
            <a:r>
              <a:rPr lang="pt-BR" b="1" dirty="0"/>
              <a:t>estado</a:t>
            </a:r>
            <a:r>
              <a:rPr lang="pt-BR" dirty="0"/>
              <a:t> do </a:t>
            </a:r>
            <a:r>
              <a:rPr lang="pt-BR" b="1" dirty="0"/>
              <a:t>ambiente</a:t>
            </a:r>
            <a:r>
              <a:rPr lang="pt-BR" dirty="0"/>
              <a:t>, seleciona e executa uma </a:t>
            </a:r>
            <a:r>
              <a:rPr lang="pt-BR" b="1" dirty="0"/>
              <a:t>ação </a:t>
            </a:r>
            <a:r>
              <a:rPr lang="pt-BR" dirty="0"/>
              <a:t>e recebe um </a:t>
            </a:r>
            <a:r>
              <a:rPr lang="pt-BR" b="1" dirty="0"/>
              <a:t>reforço positivo ou negativo</a:t>
            </a:r>
            <a:r>
              <a:rPr lang="pt-BR" dirty="0"/>
              <a:t> em consequência da </a:t>
            </a:r>
            <a:r>
              <a:rPr lang="pt-BR" b="1" dirty="0"/>
              <a:t>ação</a:t>
            </a:r>
            <a:r>
              <a:rPr lang="pt-BR" dirty="0"/>
              <a:t> tomada.</a:t>
            </a:r>
          </a:p>
        </p:txBody>
      </p:sp>
      <p:pic>
        <p:nvPicPr>
          <p:cNvPr id="5124" name="Picture 4" descr="A Beginner's Guide to Reinforcement Learning and its Basic Implementation  from Scratch | by Tanvi Penumudy | Analytics Vidhya | Medium">
            <a:extLst>
              <a:ext uri="{FF2B5EF4-FFF2-40B4-BE49-F238E27FC236}">
                <a16:creationId xmlns="" xmlns:a16="http://schemas.microsoft.com/office/drawing/2014/main" id="{4AD15FF8-FD85-831A-EC64-25388445D7E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2400" y="2437369"/>
            <a:ext cx="5344886" cy="268720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20140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0BCC5691-CEC7-1961-035F-C7A540CA18A3}"/>
              </a:ext>
            </a:extLst>
          </p:cNvPr>
          <p:cNvSpPr>
            <a:spLocks noGrp="1"/>
          </p:cNvSpPr>
          <p:nvPr>
            <p:ph type="title"/>
          </p:nvPr>
        </p:nvSpPr>
        <p:spPr/>
        <p:txBody>
          <a:bodyPr/>
          <a:lstStyle/>
          <a:p>
            <a:r>
              <a:rPr lang="pt-BR" dirty="0"/>
              <a:t>Aprendizado por reforço</a:t>
            </a:r>
            <a:endParaRPr lang="en-US" dirty="0"/>
          </a:p>
        </p:txBody>
      </p:sp>
      <p:sp>
        <p:nvSpPr>
          <p:cNvPr id="3" name="Content Placeholder 2">
            <a:extLst>
              <a:ext uri="{FF2B5EF4-FFF2-40B4-BE49-F238E27FC236}">
                <a16:creationId xmlns="" xmlns:a16="http://schemas.microsoft.com/office/drawing/2014/main" id="{CE7F3ABE-51DE-7390-3323-29DE5DD50C10}"/>
              </a:ext>
            </a:extLst>
          </p:cNvPr>
          <p:cNvSpPr>
            <a:spLocks noGrp="1"/>
          </p:cNvSpPr>
          <p:nvPr>
            <p:ph idx="1"/>
          </p:nvPr>
        </p:nvSpPr>
        <p:spPr>
          <a:xfrm>
            <a:off x="4996543" y="1825624"/>
            <a:ext cx="7043057" cy="5032375"/>
          </a:xfrm>
        </p:spPr>
        <p:txBody>
          <a:bodyPr>
            <a:normAutofit/>
          </a:bodyPr>
          <a:lstStyle/>
          <a:p>
            <a:r>
              <a:rPr lang="pt-BR" dirty="0"/>
              <a:t>Por tentativa e erro, o agente aprende por si só qual a melhor </a:t>
            </a:r>
            <a:r>
              <a:rPr lang="pt-BR" b="1" dirty="0"/>
              <a:t>estratégia</a:t>
            </a:r>
            <a:r>
              <a:rPr lang="pt-BR" dirty="0"/>
              <a:t>, chamada de </a:t>
            </a:r>
            <a:r>
              <a:rPr lang="pt-BR" b="1" dirty="0"/>
              <a:t>política</a:t>
            </a:r>
            <a:r>
              <a:rPr lang="pt-BR" dirty="0"/>
              <a:t>, para obter a </a:t>
            </a:r>
            <a:r>
              <a:rPr lang="pt-BR" b="1" dirty="0"/>
              <a:t>maior recompensa possível ao longo do tempo</a:t>
            </a:r>
            <a:r>
              <a:rPr lang="pt-BR" dirty="0"/>
              <a:t>.</a:t>
            </a:r>
          </a:p>
          <a:p>
            <a:r>
              <a:rPr lang="pt-BR" dirty="0"/>
              <a:t>Uma </a:t>
            </a:r>
            <a:r>
              <a:rPr lang="pt-BR" b="1" dirty="0"/>
              <a:t>política</a:t>
            </a:r>
            <a:r>
              <a:rPr lang="pt-BR" dirty="0"/>
              <a:t> define qual </a:t>
            </a:r>
            <a:r>
              <a:rPr lang="pt-BR" b="1" dirty="0"/>
              <a:t>ação</a:t>
            </a:r>
            <a:r>
              <a:rPr lang="pt-BR" dirty="0"/>
              <a:t> o </a:t>
            </a:r>
            <a:r>
              <a:rPr lang="pt-BR" b="1" dirty="0"/>
              <a:t>agente</a:t>
            </a:r>
            <a:r>
              <a:rPr lang="pt-BR" dirty="0"/>
              <a:t> deve escolher quando o </a:t>
            </a:r>
            <a:r>
              <a:rPr lang="pt-BR" b="1" dirty="0"/>
              <a:t>ambiente</a:t>
            </a:r>
            <a:r>
              <a:rPr lang="pt-BR" dirty="0"/>
              <a:t> estiver em um determinado </a:t>
            </a:r>
            <a:r>
              <a:rPr lang="pt-BR" b="1" dirty="0"/>
              <a:t>estado</a:t>
            </a:r>
            <a:r>
              <a:rPr lang="pt-BR" dirty="0"/>
              <a:t>.</a:t>
            </a:r>
          </a:p>
          <a:p>
            <a:r>
              <a:rPr lang="pt-BR" dirty="0"/>
              <a:t>Portanto, a </a:t>
            </a:r>
            <a:r>
              <a:rPr lang="pt-BR" b="1" dirty="0"/>
              <a:t>política</a:t>
            </a:r>
            <a:r>
              <a:rPr lang="pt-BR" dirty="0"/>
              <a:t> é uma</a:t>
            </a:r>
            <a:r>
              <a:rPr lang="pt-BR" b="1" dirty="0"/>
              <a:t> função que mapeia os estados do ambiente em ações </a:t>
            </a:r>
            <a:r>
              <a:rPr lang="pt-BR" dirty="0"/>
              <a:t>que o </a:t>
            </a:r>
            <a:r>
              <a:rPr lang="pt-BR" b="1" dirty="0"/>
              <a:t>agente</a:t>
            </a:r>
            <a:r>
              <a:rPr lang="pt-BR" dirty="0"/>
              <a:t> deve tomar para </a:t>
            </a:r>
            <a:r>
              <a:rPr lang="pt-BR" b="1" dirty="0"/>
              <a:t>maximizar as recompensas</a:t>
            </a:r>
            <a:r>
              <a:rPr lang="pt-BR" dirty="0"/>
              <a:t>.</a:t>
            </a:r>
            <a:endParaRPr lang="en-US" dirty="0"/>
          </a:p>
        </p:txBody>
      </p:sp>
      <p:pic>
        <p:nvPicPr>
          <p:cNvPr id="4" name="Imagem 16">
            <a:extLst>
              <a:ext uri="{FF2B5EF4-FFF2-40B4-BE49-F238E27FC236}">
                <a16:creationId xmlns="" xmlns:a16="http://schemas.microsoft.com/office/drawing/2014/main" id="{DBF5DA34-1AFA-91BB-3A5B-17C30434F47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778000" y="1177900"/>
            <a:ext cx="1865294" cy="5814060"/>
          </a:xfrm>
          <a:prstGeom prst="rect">
            <a:avLst/>
          </a:prstGeom>
        </p:spPr>
      </p:pic>
    </p:spTree>
    <p:extLst>
      <p:ext uri="{BB962C8B-B14F-4D97-AF65-F5344CB8AC3E}">
        <p14:creationId xmlns:p14="http://schemas.microsoft.com/office/powerpoint/2010/main" val="406394666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B14FA7E6-7BA0-FE65-126F-8F1D373F1630}"/>
              </a:ext>
            </a:extLst>
          </p:cNvPr>
          <p:cNvSpPr>
            <a:spLocks noGrp="1"/>
          </p:cNvSpPr>
          <p:nvPr>
            <p:ph type="title"/>
          </p:nvPr>
        </p:nvSpPr>
        <p:spPr/>
        <p:txBody>
          <a:bodyPr/>
          <a:lstStyle/>
          <a:p>
            <a:r>
              <a:rPr lang="pt-BR" dirty="0"/>
              <a:t>Aprendizado por reforço</a:t>
            </a:r>
            <a:endParaRPr lang="en-US" dirty="0"/>
          </a:p>
        </p:txBody>
      </p:sp>
      <p:sp>
        <p:nvSpPr>
          <p:cNvPr id="3" name="Content Placeholder 2">
            <a:extLst>
              <a:ext uri="{FF2B5EF4-FFF2-40B4-BE49-F238E27FC236}">
                <a16:creationId xmlns="" xmlns:a16="http://schemas.microsoft.com/office/drawing/2014/main" id="{B45DADDE-244A-CD46-F7ED-BAF0F4421932}"/>
              </a:ext>
            </a:extLst>
          </p:cNvPr>
          <p:cNvSpPr>
            <a:spLocks noGrp="1"/>
          </p:cNvSpPr>
          <p:nvPr>
            <p:ph idx="1"/>
          </p:nvPr>
        </p:nvSpPr>
        <p:spPr>
          <a:xfrm>
            <a:off x="5519057" y="1825624"/>
            <a:ext cx="6509657" cy="5032375"/>
          </a:xfrm>
        </p:spPr>
        <p:txBody>
          <a:bodyPr>
            <a:normAutofit/>
          </a:bodyPr>
          <a:lstStyle/>
          <a:p>
            <a:r>
              <a:rPr lang="pt-BR" dirty="0"/>
              <a:t>Aplicações:</a:t>
            </a:r>
          </a:p>
          <a:p>
            <a:pPr lvl="1">
              <a:buFont typeface="Wingdings" panose="05000000000000000000" pitchFamily="2" charset="2"/>
              <a:buChar char="§"/>
            </a:pPr>
            <a:r>
              <a:rPr lang="pt-BR" dirty="0"/>
              <a:t>Agentes que aprendem a jogar jogos (e.g., Dota, Go, etc.)</a:t>
            </a:r>
          </a:p>
          <a:p>
            <a:pPr lvl="1">
              <a:buFont typeface="Wingdings" panose="05000000000000000000" pitchFamily="2" charset="2"/>
              <a:buChar char="§"/>
            </a:pPr>
            <a:r>
              <a:rPr lang="pt-BR" dirty="0"/>
              <a:t>Veículos autônomos (e.g., carros, drones, etc.): aprendem a acelerar, frear, desviar de obstáculos (inicialmente, </a:t>
            </a:r>
            <a:r>
              <a:rPr lang="en-US" dirty="0" err="1"/>
              <a:t>em</a:t>
            </a:r>
            <a:r>
              <a:rPr lang="en-US" dirty="0"/>
              <a:t> </a:t>
            </a:r>
            <a:r>
              <a:rPr lang="en-US" dirty="0" err="1"/>
              <a:t>simuladores</a:t>
            </a:r>
            <a:r>
              <a:rPr lang="en-US" dirty="0"/>
              <a:t>).</a:t>
            </a:r>
          </a:p>
          <a:p>
            <a:pPr lvl="1">
              <a:buFont typeface="Wingdings" panose="05000000000000000000" pitchFamily="2" charset="2"/>
              <a:buChar char="§"/>
            </a:pPr>
            <a:r>
              <a:rPr lang="pt-BR" dirty="0"/>
              <a:t>Robôs investidores que aprendem o melhor momento para comprar ou vender ações na bolsa para maximizar o lucro a longo prazo.</a:t>
            </a:r>
          </a:p>
        </p:txBody>
      </p:sp>
      <p:pic>
        <p:nvPicPr>
          <p:cNvPr id="6146" name="Picture 2" descr="Artificial intelligence: Google's AlphaGo beats Go master Lee Se-dol - BBC  News">
            <a:extLst>
              <a:ext uri="{FF2B5EF4-FFF2-40B4-BE49-F238E27FC236}">
                <a16:creationId xmlns="" xmlns:a16="http://schemas.microsoft.com/office/drawing/2014/main" id="{A616A1B8-25C6-0F11-E031-08AA5F368E29}"/>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5362" y="1655985"/>
            <a:ext cx="2725057" cy="1532845"/>
          </a:xfrm>
          <a:prstGeom prst="rect">
            <a:avLst/>
          </a:prstGeom>
          <a:noFill/>
          <a:extLst>
            <a:ext uri="{909E8E84-426E-40DD-AFC4-6F175D3DCCD1}">
              <a14:hiddenFill xmlns:a14="http://schemas.microsoft.com/office/drawing/2010/main">
                <a:solidFill>
                  <a:srgbClr val="FFFFFF"/>
                </a:solidFill>
              </a14:hiddenFill>
            </a:ext>
          </a:extLst>
        </p:spPr>
      </p:pic>
      <p:pic>
        <p:nvPicPr>
          <p:cNvPr id="6148" name="Picture 4" descr="Automated Vehicles – How to Keep Humans in Control? – SINTEF Blog">
            <a:extLst>
              <a:ext uri="{FF2B5EF4-FFF2-40B4-BE49-F238E27FC236}">
                <a16:creationId xmlns="" xmlns:a16="http://schemas.microsoft.com/office/drawing/2014/main" id="{918211D7-A16E-FF10-3ECF-FFAD1A9593DC}"/>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464128" y="3337488"/>
            <a:ext cx="2820610" cy="1752486"/>
          </a:xfrm>
          <a:prstGeom prst="rect">
            <a:avLst/>
          </a:prstGeom>
          <a:noFill/>
          <a:extLst>
            <a:ext uri="{909E8E84-426E-40DD-AFC4-6F175D3DCCD1}">
              <a14:hiddenFill xmlns:a14="http://schemas.microsoft.com/office/drawing/2010/main">
                <a:solidFill>
                  <a:srgbClr val="FFFFFF"/>
                </a:solidFill>
              </a14:hiddenFill>
            </a:ext>
          </a:extLst>
        </p:spPr>
      </p:pic>
      <p:pic>
        <p:nvPicPr>
          <p:cNvPr id="6150" name="Picture 6" descr="Insiders Discuss How to Invest in AI: 5 Key Takeaways | Worth">
            <a:extLst>
              <a:ext uri="{FF2B5EF4-FFF2-40B4-BE49-F238E27FC236}">
                <a16:creationId xmlns="" xmlns:a16="http://schemas.microsoft.com/office/drawing/2014/main" id="{71174079-7777-DA29-7216-9995A66D5AEA}"/>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630152" y="5238633"/>
            <a:ext cx="2888905" cy="1619367"/>
          </a:xfrm>
          <a:prstGeom prst="rect">
            <a:avLst/>
          </a:prstGeom>
          <a:noFill/>
          <a:extLst>
            <a:ext uri="{909E8E84-426E-40DD-AFC4-6F175D3DCCD1}">
              <a14:hiddenFill xmlns:a14="http://schemas.microsoft.com/office/drawing/2010/main">
                <a:solidFill>
                  <a:srgbClr val="FFFFFF"/>
                </a:solidFill>
              </a14:hiddenFill>
            </a:ext>
          </a:extLst>
        </p:spPr>
      </p:pic>
      <p:sp>
        <p:nvSpPr>
          <p:cNvPr id="4" name="Retângulo 3"/>
          <p:cNvSpPr/>
          <p:nvPr/>
        </p:nvSpPr>
        <p:spPr>
          <a:xfrm>
            <a:off x="8380892" y="6550223"/>
            <a:ext cx="3811108" cy="307777"/>
          </a:xfrm>
          <a:prstGeom prst="rect">
            <a:avLst/>
          </a:prstGeom>
        </p:spPr>
        <p:txBody>
          <a:bodyPr wrap="none">
            <a:spAutoFit/>
          </a:bodyPr>
          <a:lstStyle/>
          <a:p>
            <a:r>
              <a:rPr lang="pt-BR" sz="1400" dirty="0">
                <a:hlinkClick r:id="rId6"/>
              </a:rPr>
              <a:t>https://www.youtube.com/watch?v=V1eYniJ0Rnk</a:t>
            </a:r>
            <a:endParaRPr lang="pt-BR" sz="1400" dirty="0"/>
          </a:p>
        </p:txBody>
      </p:sp>
    </p:spTree>
    <p:extLst>
      <p:ext uri="{BB962C8B-B14F-4D97-AF65-F5344CB8AC3E}">
        <p14:creationId xmlns:p14="http://schemas.microsoft.com/office/powerpoint/2010/main" val="191431834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 xmlns:a16="http://schemas.microsoft.com/office/drawing/2014/main" id="{D6B8C9E1-3C59-54BF-2715-C15C57327877}"/>
              </a:ext>
            </a:extLst>
          </p:cNvPr>
          <p:cNvSpPr>
            <a:spLocks noGrp="1"/>
          </p:cNvSpPr>
          <p:nvPr>
            <p:ph idx="1"/>
          </p:nvPr>
        </p:nvSpPr>
        <p:spPr>
          <a:xfrm>
            <a:off x="838200" y="2823255"/>
            <a:ext cx="10515600" cy="1211489"/>
          </a:xfrm>
        </p:spPr>
        <p:txBody>
          <a:bodyPr>
            <a:normAutofit/>
          </a:bodyPr>
          <a:lstStyle/>
          <a:p>
            <a:pPr marL="0" indent="0" algn="ctr">
              <a:buNone/>
            </a:pPr>
            <a:r>
              <a:rPr lang="pt-BR" sz="8000" dirty="0"/>
              <a:t>Quiz</a:t>
            </a:r>
            <a:endParaRPr lang="en-US" sz="8000" dirty="0"/>
          </a:p>
        </p:txBody>
      </p:sp>
    </p:spTree>
    <p:extLst>
      <p:ext uri="{BB962C8B-B14F-4D97-AF65-F5344CB8AC3E}">
        <p14:creationId xmlns:p14="http://schemas.microsoft.com/office/powerpoint/2010/main" val="172872954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B28A9759-CA4F-DA4F-85C2-F6E51DCED2D9}"/>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072F732D-34CE-6153-324F-D7F6821577F0}"/>
              </a:ext>
            </a:extLst>
          </p:cNvPr>
          <p:cNvSpPr>
            <a:spLocks noGrp="1"/>
          </p:cNvSpPr>
          <p:nvPr>
            <p:ph type="title"/>
          </p:nvPr>
        </p:nvSpPr>
        <p:spPr/>
        <p:txBody>
          <a:bodyPr/>
          <a:lstStyle/>
          <a:p>
            <a:r>
              <a:rPr lang="pt-BR" dirty="0"/>
              <a:t>Qual paradigma usar?</a:t>
            </a:r>
          </a:p>
        </p:txBody>
      </p:sp>
      <p:sp>
        <p:nvSpPr>
          <p:cNvPr id="3" name="Espaço Reservado para Conteúdo 2">
            <a:extLst>
              <a:ext uri="{FF2B5EF4-FFF2-40B4-BE49-F238E27FC236}">
                <a16:creationId xmlns="" xmlns:a16="http://schemas.microsoft.com/office/drawing/2014/main" id="{62A55622-8E11-E5D7-8EAF-7AE2CCAA3321}"/>
              </a:ext>
            </a:extLst>
          </p:cNvPr>
          <p:cNvSpPr>
            <a:spLocks noGrp="1"/>
          </p:cNvSpPr>
          <p:nvPr>
            <p:ph idx="1"/>
          </p:nvPr>
        </p:nvSpPr>
        <p:spPr>
          <a:xfrm>
            <a:off x="838199" y="1825625"/>
            <a:ext cx="11146971" cy="5032376"/>
          </a:xfrm>
        </p:spPr>
        <p:txBody>
          <a:bodyPr>
            <a:normAutofit/>
          </a:bodyPr>
          <a:lstStyle/>
          <a:p>
            <a:r>
              <a:rPr lang="pt-BR" b="1" dirty="0"/>
              <a:t>Caso A</a:t>
            </a:r>
            <a:r>
              <a:rPr lang="pt-BR" dirty="0"/>
              <a:t>: 50k imagens com peças danificadas, todas rotuladas. </a:t>
            </a:r>
          </a:p>
          <a:p>
            <a:pPr lvl="1">
              <a:buFont typeface="Wingdings" panose="05000000000000000000" pitchFamily="2" charset="2"/>
              <a:buChar char="§"/>
            </a:pPr>
            <a:r>
              <a:rPr lang="pt-BR" b="1" dirty="0"/>
              <a:t>Objetivo</a:t>
            </a:r>
            <a:r>
              <a:rPr lang="pt-BR" dirty="0"/>
              <a:t>: identificar defeitos em peças.</a:t>
            </a:r>
          </a:p>
          <a:p>
            <a:r>
              <a:rPr lang="pt-BR" b="1" dirty="0"/>
              <a:t>Caso B</a:t>
            </a:r>
            <a:r>
              <a:rPr lang="pt-BR" dirty="0"/>
              <a:t>: robô recém implantado em um armazém desconhecido e superlotado para coletar e armazenar caixas.</a:t>
            </a:r>
          </a:p>
          <a:p>
            <a:pPr lvl="1">
              <a:buFont typeface="Wingdings" panose="05000000000000000000" pitchFamily="2" charset="2"/>
              <a:buChar char="§"/>
            </a:pPr>
            <a:r>
              <a:rPr lang="pt-BR" b="1" dirty="0"/>
              <a:t>Objetivo</a:t>
            </a:r>
            <a:r>
              <a:rPr lang="pt-BR" dirty="0"/>
              <a:t>: decidir rotas mais rápidas e seguras para coletar e armazenar as caixas.</a:t>
            </a:r>
          </a:p>
          <a:p>
            <a:r>
              <a:rPr lang="pt-BR" b="1" dirty="0"/>
              <a:t>Caso C</a:t>
            </a:r>
            <a:r>
              <a:rPr lang="pt-BR" dirty="0"/>
              <a:t>: conjunto de textos da internet sem rótulos.</a:t>
            </a:r>
          </a:p>
          <a:p>
            <a:pPr lvl="1">
              <a:buFont typeface="Wingdings" panose="05000000000000000000" pitchFamily="2" charset="2"/>
              <a:buChar char="§"/>
            </a:pPr>
            <a:r>
              <a:rPr lang="pt-BR" b="1" dirty="0"/>
              <a:t>Objetivo</a:t>
            </a:r>
            <a:r>
              <a:rPr lang="pt-BR" dirty="0"/>
              <a:t>: agrupar textos e descobrir tópicos.</a:t>
            </a:r>
          </a:p>
          <a:p>
            <a:r>
              <a:rPr lang="pt-BR" b="1" dirty="0"/>
              <a:t>Caso D</a:t>
            </a:r>
            <a:r>
              <a:rPr lang="pt-BR" dirty="0"/>
              <a:t>: um sistema que observa o fluxo normal de gastos de um cliente e detecta uma compra de alto valor em um país distante.</a:t>
            </a:r>
          </a:p>
          <a:p>
            <a:pPr lvl="1">
              <a:buFont typeface="Wingdings" panose="05000000000000000000" pitchFamily="2" charset="2"/>
              <a:buChar char="§"/>
            </a:pPr>
            <a:r>
              <a:rPr lang="pt-BR" b="1" dirty="0"/>
              <a:t>Objetivo:</a:t>
            </a:r>
            <a:r>
              <a:rPr lang="pt-BR" dirty="0"/>
              <a:t> identificar padrões que fogem completamente do normal para bloquear possíveis fraudes.</a:t>
            </a:r>
          </a:p>
        </p:txBody>
      </p:sp>
    </p:spTree>
    <p:extLst>
      <p:ext uri="{BB962C8B-B14F-4D97-AF65-F5344CB8AC3E}">
        <p14:creationId xmlns:p14="http://schemas.microsoft.com/office/powerpoint/2010/main" val="152181125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E8FD0E11-3B37-4336-5BF0-C8C033354AF6}"/>
              </a:ext>
            </a:extLst>
          </p:cNvPr>
          <p:cNvSpPr>
            <a:spLocks noGrp="1"/>
          </p:cNvSpPr>
          <p:nvPr>
            <p:ph type="title"/>
          </p:nvPr>
        </p:nvSpPr>
        <p:spPr/>
        <p:txBody>
          <a:bodyPr/>
          <a:lstStyle/>
          <a:p>
            <a:r>
              <a:rPr lang="pt-BR" dirty="0"/>
              <a:t>Lista de </a:t>
            </a:r>
            <a:r>
              <a:rPr lang="pt-BR" dirty="0" err="1"/>
              <a:t>exrcícios</a:t>
            </a:r>
            <a:endParaRPr lang="en-US" dirty="0"/>
          </a:p>
        </p:txBody>
      </p:sp>
      <p:sp>
        <p:nvSpPr>
          <p:cNvPr id="3" name="Content Placeholder 2">
            <a:extLst>
              <a:ext uri="{FF2B5EF4-FFF2-40B4-BE49-F238E27FC236}">
                <a16:creationId xmlns="" xmlns:a16="http://schemas.microsoft.com/office/drawing/2014/main" id="{32CB14AB-72E4-05EB-962C-F8B4618D0574}"/>
              </a:ext>
            </a:extLst>
          </p:cNvPr>
          <p:cNvSpPr>
            <a:spLocks noGrp="1"/>
          </p:cNvSpPr>
          <p:nvPr>
            <p:ph idx="1"/>
          </p:nvPr>
        </p:nvSpPr>
        <p:spPr/>
        <p:txBody>
          <a:bodyPr/>
          <a:lstStyle/>
          <a:p>
            <a:pPr marL="0" indent="0">
              <a:buNone/>
            </a:pPr>
            <a:r>
              <a:rPr lang="pt-BR" dirty="0">
                <a:hlinkClick r:id="rId2"/>
              </a:rPr>
              <a:t>Lista #2 - Paradigmas</a:t>
            </a:r>
            <a:endParaRPr lang="en-US" dirty="0"/>
          </a:p>
        </p:txBody>
      </p:sp>
    </p:spTree>
    <p:extLst>
      <p:ext uri="{BB962C8B-B14F-4D97-AF65-F5344CB8AC3E}">
        <p14:creationId xmlns:p14="http://schemas.microsoft.com/office/powerpoint/2010/main" val="420935604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8464</TotalTime>
  <Words>4844</Words>
  <Application>Microsoft Office PowerPoint</Application>
  <PresentationFormat>Widescreen</PresentationFormat>
  <Paragraphs>363</Paragraphs>
  <Slides>40</Slides>
  <Notes>25</Notes>
  <HiddenSlides>0</HiddenSlides>
  <MMClips>0</MMClips>
  <ScaleCrop>false</ScaleCrop>
  <HeadingPairs>
    <vt:vector size="6" baseType="variant">
      <vt:variant>
        <vt:lpstr>Fontes usadas</vt:lpstr>
      </vt:variant>
      <vt:variant>
        <vt:i4>6</vt:i4>
      </vt:variant>
      <vt:variant>
        <vt:lpstr>Tema</vt:lpstr>
      </vt:variant>
      <vt:variant>
        <vt:i4>1</vt:i4>
      </vt:variant>
      <vt:variant>
        <vt:lpstr>Títulos de slides</vt:lpstr>
      </vt:variant>
      <vt:variant>
        <vt:i4>40</vt:i4>
      </vt:variant>
    </vt:vector>
  </HeadingPairs>
  <TitlesOfParts>
    <vt:vector size="47" baseType="lpstr">
      <vt:lpstr>Arial</vt:lpstr>
      <vt:lpstr>Calibri</vt:lpstr>
      <vt:lpstr>Calibri Light</vt:lpstr>
      <vt:lpstr>Cambria Math</vt:lpstr>
      <vt:lpstr>Söhne</vt:lpstr>
      <vt:lpstr>Wingdings</vt:lpstr>
      <vt:lpstr>Tema do Office</vt:lpstr>
      <vt:lpstr>C24 – Inteligência Artificial: Paradigmas de aprendizado de máquina</vt:lpstr>
      <vt:lpstr>Apresentação do PowerPoint</vt:lpstr>
      <vt:lpstr>Apresentação do PowerPoint</vt:lpstr>
      <vt:lpstr>Paradigma da programação tradicional</vt:lpstr>
      <vt:lpstr>Apresentação do PowerPoint</vt:lpstr>
      <vt:lpstr>Paradigma do aprendizado de máquina</vt:lpstr>
      <vt:lpstr>Paradigma do aprendizado de máquina</vt:lpstr>
      <vt:lpstr>Generalização</vt:lpstr>
      <vt:lpstr>Generalização</vt:lpstr>
      <vt:lpstr>Apresentação do PowerPoint</vt:lpstr>
      <vt:lpstr>Generalização</vt:lpstr>
      <vt:lpstr>Generalização</vt:lpstr>
      <vt:lpstr>Os paradigmas de aprendizado</vt:lpstr>
      <vt:lpstr>Os paradigmas de aprendizado</vt:lpstr>
      <vt:lpstr>Aprendizado supervisionado</vt:lpstr>
      <vt:lpstr>Aprendizado supervisionado</vt:lpstr>
      <vt:lpstr>Aprendizado supervisionado</vt:lpstr>
      <vt:lpstr>Aprendizado supervisionado</vt:lpstr>
      <vt:lpstr>Aprendizado supervisionado</vt:lpstr>
      <vt:lpstr>Alguns problemas do aprendizado supervisionado</vt:lpstr>
      <vt:lpstr>Alguns problemas do aprendizado supervisionado</vt:lpstr>
      <vt:lpstr>Alguns problemas do aprendizado supervisionado</vt:lpstr>
      <vt:lpstr>Aprendizado não-supervisionado</vt:lpstr>
      <vt:lpstr>Aprendizado não-supervisionado</vt:lpstr>
      <vt:lpstr>Aprendizado não-supervisionado</vt:lpstr>
      <vt:lpstr>Aprendizado não-supervisionado</vt:lpstr>
      <vt:lpstr>Aprendizado não-supervisionado</vt:lpstr>
      <vt:lpstr>Aprendizado não-supervisionado</vt:lpstr>
      <vt:lpstr>Aprendizado não-supervisionado</vt:lpstr>
      <vt:lpstr>Aprendizado não-supervisionado</vt:lpstr>
      <vt:lpstr>Aprendizado por reforço</vt:lpstr>
      <vt:lpstr>Aprendizado por reforço</vt:lpstr>
      <vt:lpstr>Aprendizado por reforço</vt:lpstr>
      <vt:lpstr>Aprendizado por reforço</vt:lpstr>
      <vt:lpstr>Aprendizado por reforço</vt:lpstr>
      <vt:lpstr>Apresentação do PowerPoint</vt:lpstr>
      <vt:lpstr>Qual paradigma usar?</vt:lpstr>
      <vt:lpstr>Lista de exrcícios</vt:lpstr>
      <vt:lpstr>Apresentação do PowerPoint</vt:lpstr>
      <vt:lpstr>Apresentação do PowerPoint</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1897</cp:revision>
  <dcterms:created xsi:type="dcterms:W3CDTF">2020-01-20T13:50:05Z</dcterms:created>
  <dcterms:modified xsi:type="dcterms:W3CDTF">2026-08-02T21:23:58Z</dcterms:modified>
</cp:coreProperties>
</file>