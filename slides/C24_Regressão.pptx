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handoutMasterIdLst>
    <p:handoutMasterId r:id="rId67"/>
  </p:handoutMasterIdLst>
  <p:sldIdLst>
    <p:sldId id="256" r:id="rId2"/>
    <p:sldId id="296" r:id="rId3"/>
    <p:sldId id="463" r:id="rId4"/>
    <p:sldId id="517" r:id="rId5"/>
    <p:sldId id="518" r:id="rId6"/>
    <p:sldId id="464" r:id="rId7"/>
    <p:sldId id="470" r:id="rId8"/>
    <p:sldId id="471" r:id="rId9"/>
    <p:sldId id="472" r:id="rId10"/>
    <p:sldId id="465" r:id="rId11"/>
    <p:sldId id="520" r:id="rId12"/>
    <p:sldId id="522" r:id="rId13"/>
    <p:sldId id="523" r:id="rId14"/>
    <p:sldId id="524" r:id="rId15"/>
    <p:sldId id="481" r:id="rId16"/>
    <p:sldId id="525" r:id="rId17"/>
    <p:sldId id="320" r:id="rId18"/>
    <p:sldId id="526" r:id="rId19"/>
    <p:sldId id="527" r:id="rId20"/>
    <p:sldId id="528" r:id="rId21"/>
    <p:sldId id="529" r:id="rId22"/>
    <p:sldId id="541" r:id="rId23"/>
    <p:sldId id="532" r:id="rId24"/>
    <p:sldId id="533" r:id="rId25"/>
    <p:sldId id="435" r:id="rId26"/>
    <p:sldId id="448" r:id="rId27"/>
    <p:sldId id="536" r:id="rId28"/>
    <p:sldId id="407" r:id="rId29"/>
    <p:sldId id="449" r:id="rId30"/>
    <p:sldId id="409" r:id="rId31"/>
    <p:sldId id="410" r:id="rId32"/>
    <p:sldId id="433" r:id="rId33"/>
    <p:sldId id="411" r:id="rId34"/>
    <p:sldId id="432" r:id="rId35"/>
    <p:sldId id="415" r:id="rId36"/>
    <p:sldId id="412" r:id="rId37"/>
    <p:sldId id="413" r:id="rId38"/>
    <p:sldId id="450" r:id="rId39"/>
    <p:sldId id="434" r:id="rId40"/>
    <p:sldId id="414" r:id="rId41"/>
    <p:sldId id="416" r:id="rId42"/>
    <p:sldId id="451" r:id="rId43"/>
    <p:sldId id="417" r:id="rId44"/>
    <p:sldId id="419" r:id="rId45"/>
    <p:sldId id="425" r:id="rId46"/>
    <p:sldId id="537" r:id="rId47"/>
    <p:sldId id="418" r:id="rId48"/>
    <p:sldId id="539" r:id="rId49"/>
    <p:sldId id="521" r:id="rId50"/>
    <p:sldId id="542" r:id="rId51"/>
    <p:sldId id="452" r:id="rId52"/>
    <p:sldId id="423" r:id="rId53"/>
    <p:sldId id="424" r:id="rId54"/>
    <p:sldId id="543" r:id="rId55"/>
    <p:sldId id="429" r:id="rId56"/>
    <p:sldId id="540" r:id="rId57"/>
    <p:sldId id="431" r:id="rId58"/>
    <p:sldId id="535" r:id="rId59"/>
    <p:sldId id="534" r:id="rId60"/>
    <p:sldId id="531" r:id="rId61"/>
    <p:sldId id="420" r:id="rId62"/>
    <p:sldId id="421" r:id="rId63"/>
    <p:sldId id="293" r:id="rId64"/>
    <p:sldId id="306" r:id="rId6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7240" autoAdjust="0"/>
  </p:normalViewPr>
  <p:slideViewPr>
    <p:cSldViewPr snapToGrid="0">
      <p:cViewPr varScale="1">
        <p:scale>
          <a:sx n="85" d="100"/>
          <a:sy n="85" d="100"/>
        </p:scale>
        <p:origin x="1818"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13/02/2026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13/02/2026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8296323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4.xml.rels><?xml version="1.0" encoding="UTF-8" standalone="yes"?>
<Relationships xmlns="http://schemas.openxmlformats.org/package/2006/relationships"><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5.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26.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2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1.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5.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4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gif"/><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mc:Choice xmlns:a14="http://schemas.microsoft.com/office/drawing/2010/main"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0B404-F3ED-8087-A024-C72B793DE4C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6D4684C-15AE-EBFA-CC52-BE2B10624210}"/>
              </a:ext>
            </a:extLst>
          </p:cNvPr>
          <p:cNvSpPr>
            <a:spLocks noGrp="1"/>
          </p:cNvSpPr>
          <p:nvPr>
            <p:ph idx="1"/>
          </p:nvPr>
        </p:nvSpPr>
        <p:spPr/>
        <p:txBody>
          <a:bodyPr>
            <a:normAutofit/>
          </a:bodyPr>
          <a:lstStyle/>
          <a:p>
            <a:r>
              <a:rPr lang="pt-BR" sz="4800" b="1" dirty="0">
                <a:solidFill>
                  <a:srgbClr val="FF0000"/>
                </a:solidFill>
              </a:rPr>
              <a:t>PAREI AQUI!!!!!!!!!!!</a:t>
            </a:r>
            <a:endParaRPr lang="en-US" sz="4800" b="1" dirty="0">
              <a:solidFill>
                <a:srgbClr val="FF0000"/>
              </a:solidFill>
            </a:endParaRPr>
          </a:p>
        </p:txBody>
      </p:sp>
    </p:spTree>
    <p:extLst>
      <p:ext uri="{BB962C8B-B14F-4D97-AF65-F5344CB8AC3E}">
        <p14:creationId xmlns:p14="http://schemas.microsoft.com/office/powerpoint/2010/main" val="2407210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5"/>
                <a:ext cx="10913533" cy="4351338"/>
              </a:xfrm>
            </p:spPr>
            <p:txBody>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br>
                  <a:rPr lang="pt-BR" dirty="0"/>
                </a:br>
                <a:endParaRPr lang="pt-BR" dirty="0"/>
              </a:p>
            </p:txBody>
          </p:sp>
        </mc:Choice>
        <mc:Fallback>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5"/>
                <a:ext cx="10913533" cy="4351338"/>
              </a:xfrm>
              <a:blipFill>
                <a:blip r:embed="rId2"/>
                <a:stretch>
                  <a:fillRect l="-949" t="-2241"/>
                </a:stretch>
              </a:blipFill>
            </p:spPr>
            <p:txBody>
              <a:bodyPr/>
              <a:lstStyle/>
              <a:p>
                <a:r>
                  <a:rPr lang="en-US">
                    <a:noFill/>
                  </a:rPr>
                  <a:t> </a:t>
                </a:r>
              </a:p>
            </p:txBody>
          </p:sp>
        </mc:Fallback>
      </mc:AlternateContent>
    </p:spTree>
    <p:extLst>
      <p:ext uri="{BB962C8B-B14F-4D97-AF65-F5344CB8AC3E}">
        <p14:creationId xmlns:p14="http://schemas.microsoft.com/office/powerpoint/2010/main" val="19488496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4C256-67E9-87B6-BEB4-E1C4381ABF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F5BFF62-1086-E1C4-7E4C-D48AB8AEFD5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C6F75BE-92B0-78C0-4EF8-0FB67C1B5D49}"/>
                  </a:ext>
                </a:extLst>
              </p:cNvPr>
              <p:cNvSpPr>
                <a:spLocks noGrp="1"/>
              </p:cNvSpPr>
              <p:nvPr>
                <p:ph idx="1"/>
              </p:nvPr>
            </p:nvSpPr>
            <p:spPr>
              <a:xfrm>
                <a:off x="838200" y="1825624"/>
                <a:ext cx="10983686" cy="5032375"/>
              </a:xfrm>
            </p:spPr>
            <p:txBody>
              <a:bodyPr/>
              <a:lstStyle/>
              <a:p>
                <a:r>
                  <a:rPr lang="pt-BR" dirty="0"/>
                  <a:t>Considerando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𝐾</m:t>
                          </m:r>
                        </m:sup>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𝑖</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 …</m:t>
                    </m:r>
                    <m:sSub>
                      <m:sSubPr>
                        <m:ctrlPr>
                          <a:rPr lang="pt-BR" i="1">
                            <a:latin typeface="Cambria Math" panose="02040503050406030204" pitchFamily="18" charset="0"/>
                          </a:rPr>
                        </m:ctrlPr>
                      </m:sSubPr>
                      <m:e>
                        <m:r>
                          <a:rPr lang="pt-BR" b="0" i="1" smtClean="0">
                            <a:latin typeface="Cambria Math" panose="02040503050406030204" pitchFamily="18" charset="0"/>
                          </a:rPr>
                          <m:t> </m:t>
                        </m:r>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m:t>
                    </m:r>
                    <m:sSup>
                      <m:sSupPr>
                        <m:ctrlPr>
                          <a:rPr lang="pt-BR" b="0" i="1" smtClean="0">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b="0" i="1" smtClean="0">
                        <a:latin typeface="Cambria Math" panose="02040503050406030204" pitchFamily="18" charset="0"/>
                      </a:rPr>
                      <m:t>𝑛</m:t>
                    </m:r>
                  </m:oMath>
                </a14:m>
                <a:r>
                  <a:rPr lang="pt-BR" dirty="0"/>
                  <a:t>-</a:t>
                </a:r>
                <a:r>
                  <a:rPr lang="pt-BR" dirty="0" err="1"/>
                  <a:t>ésima</a:t>
                </a:r>
                <a:r>
                  <a:rPr lang="pt-BR" dirty="0"/>
                  <a:t> amostra de treinamento.</a:t>
                </a:r>
              </a:p>
              <a:p>
                <a:r>
                  <a:rPr lang="pt-BR" dirty="0"/>
                  <a:t>Agora podemos encontrar o vetor gradiente.</a:t>
                </a:r>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BC6F75BE-92B0-78C0-4EF8-0FB67C1B5D49}"/>
                  </a:ext>
                </a:extLst>
              </p:cNvPr>
              <p:cNvSpPr>
                <a:spLocks noGrp="1" noRot="1" noChangeAspect="1" noMove="1" noResize="1" noEditPoints="1" noAdjustHandles="1" noChangeArrowheads="1" noChangeShapeType="1" noTextEdit="1"/>
              </p:cNvSpPr>
              <p:nvPr>
                <p:ph idx="1"/>
              </p:nvPr>
            </p:nvSpPr>
            <p:spPr>
              <a:xfrm>
                <a:off x="838200" y="1825624"/>
                <a:ext cx="10983686" cy="5032375"/>
              </a:xfrm>
              <a:blipFill>
                <a:blip r:embed="rId2"/>
                <a:stretch>
                  <a:fillRect l="-1166" t="-1937" r="-1832"/>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92D9B997-AF12-2B84-E07D-347B1165E183}"/>
              </a:ext>
            </a:extLst>
          </p:cNvPr>
          <p:cNvSpPr/>
          <p:nvPr/>
        </p:nvSpPr>
        <p:spPr>
          <a:xfrm rot="5400000">
            <a:off x="4911573" y="1296871"/>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8FFBEF8-FD51-2A8C-89D0-7A1E2E5B632F}"/>
              </a:ext>
            </a:extLst>
          </p:cNvPr>
          <p:cNvSpPr txBox="1"/>
          <p:nvPr/>
        </p:nvSpPr>
        <p:spPr>
          <a:xfrm>
            <a:off x="2816133" y="3557187"/>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29522137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smtClean="0">
                              <a:latin typeface="Cambria Math" panose="02040503050406030204" pitchFamily="18" charset="0"/>
                            </a:rPr>
                          </m:ctrlPr>
                        </m:fPr>
                        <m:num>
                          <m:r>
                            <a:rPr lang="pt-BR" i="0" smtClean="0">
                              <a:latin typeface="Cambria Math" panose="02040503050406030204" pitchFamily="18" charset="0"/>
                            </a:rPr>
                            <m:t>𝜕</m:t>
                          </m:r>
                          <m:sSub>
                            <m:sSubPr>
                              <m:ctrlPr>
                                <a:rPr lang="pt-BR">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smtClean="0">
                              <a:latin typeface="Cambria Math" panose="02040503050406030204" pitchFamily="18" charset="0"/>
                            </a:rPr>
                          </m:ctrlPr>
                        </m:dPr>
                        <m:e>
                          <m:f>
                            <m:fPr>
                              <m:ctrlPr>
                                <a:rPr lang="pt-BR">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smtClean="0">
                                      <a:latin typeface="Cambria Math" panose="02040503050406030204" pitchFamily="18" charset="0"/>
                                    </a:rPr>
                                  </m:ctrlPr>
                                </m:sSupPr>
                                <m:e>
                                  <m:d>
                                    <m:dPr>
                                      <m:ctrlPr>
                                        <a:rPr lang="pt-BR" smtClean="0">
                                          <a:latin typeface="Cambria Math" panose="02040503050406030204" pitchFamily="18" charset="0"/>
                                        </a:rPr>
                                      </m:ctrlPr>
                                    </m:dPr>
                                    <m:e>
                                      <m:r>
                                        <a:rPr lang="pt-BR" b="0"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a:latin typeface="Cambria Math" panose="02040503050406030204" pitchFamily="18" charset="0"/>
                                            </a:rPr>
                                          </m:ctrlPr>
                                        </m:accPr>
                                        <m:e>
                                          <m:r>
                                            <a:rPr lang="pt-BR" smtClean="0">
                                              <a:latin typeface="Cambria Math" panose="02040503050406030204" pitchFamily="18" charset="0"/>
                                            </a:rPr>
                                            <m:t>𝑦</m:t>
                                          </m:r>
                                        </m:e>
                                      </m:acc>
                                      <m:d>
                                        <m:dPr>
                                          <m:ctrlPr>
                                            <a:rPr lang="pt-BR">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a:latin typeface="Cambria Math" panose="02040503050406030204" pitchFamily="18" charset="0"/>
                                </a:rPr>
                              </m:ctrlPr>
                            </m:dPr>
                            <m:e>
                              <m:r>
                                <a:rPr lang="pt-BR" smtClean="0">
                                  <a:latin typeface="Cambria Math" panose="02040503050406030204" pitchFamily="18" charset="0"/>
                                </a:rPr>
                                <m:t>𝑦</m:t>
                              </m:r>
                              <m:d>
                                <m:dPr>
                                  <m:ctrlPr>
                                    <a:rPr lang="pt-BR">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a:latin typeface="Cambria Math" panose="02040503050406030204" pitchFamily="18" charset="0"/>
                                    </a:rPr>
                                  </m:ctrlPr>
                                </m:accPr>
                                <m:e>
                                  <m:r>
                                    <a:rPr lang="pt-BR" smtClean="0">
                                      <a:latin typeface="Cambria Math" panose="02040503050406030204" pitchFamily="18" charset="0"/>
                                    </a:rPr>
                                    <m:t>𝑦</m:t>
                                  </m:r>
                                </m:e>
                              </m:acc>
                              <m:d>
                                <m:dPr>
                                  <m:ctrlPr>
                                    <a:rPr lang="pt-BR">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a:latin typeface="Cambria Math" panose="02040503050406030204" pitchFamily="18" charset="0"/>
                            </a:rPr>
                          </m:ctrlPr>
                        </m:sSupPr>
                        <m:e>
                          <m:r>
                            <a:rPr lang="pt-BR" smtClean="0">
                              <a:latin typeface="Cambria Math" panose="02040503050406030204" pitchFamily="18" charset="0"/>
                            </a:rPr>
                            <m:t>−</m:t>
                          </m:r>
                          <m:f>
                            <m:fPr>
                              <m:ctrlPr>
                                <a:rPr lang="pt-BR">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nl-BE" dirty="0"/>
                  <a:t>Esse cálculo pode ser diretamente estendido a polinômios.</a:t>
                </a:r>
              </a:p>
              <a:p>
                <a:r>
                  <a:rPr lang="pt-BR" dirty="0"/>
                  <a:t>Usamos um hiperplano, mas todos os resultados e conclusões se aplicam a polinômios, em geral.</a:t>
                </a:r>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923" t="-2041" r="-1466"/>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0" smtClean="0">
                          <a:latin typeface="Cambria Math" panose="02040503050406030204" pitchFamily="18" charset="0"/>
                        </a:rPr>
                        <m:t>𝐚</m:t>
                      </m:r>
                      <m:r>
                        <a:rPr lang="pt-BR" b="1" i="0" smtClean="0">
                          <a:latin typeface="Cambria Math" panose="02040503050406030204" pitchFamily="18" charset="0"/>
                        </a:rPr>
                        <m:t>=</m:t>
                      </m:r>
                      <m:r>
                        <a:rPr lang="pt-BR" b="1" i="0" smtClean="0">
                          <a:latin typeface="Cambria Math" panose="02040503050406030204" pitchFamily="18" charset="0"/>
                        </a:rPr>
                        <m:t>𝐚</m:t>
                      </m:r>
                      <m:r>
                        <a:rPr lang="pt-BR" b="1" i="0" smtClean="0">
                          <a:latin typeface="Cambria Math" panose="02040503050406030204" pitchFamily="18" charset="0"/>
                        </a:rPr>
                        <m:t>−</m:t>
                      </m:r>
                      <m:r>
                        <m:rPr>
                          <m:sty m:val="p"/>
                        </m:rPr>
                        <a:rPr lang="pt-BR" i="0" smtClean="0">
                          <a:latin typeface="Cambria Math" panose="02040503050406030204" pitchFamily="18" charset="0"/>
                          <a:ea typeface="Cambria Math" panose="02040503050406030204" pitchFamily="18" charset="0"/>
                        </a:rPr>
                        <m:t>α</m:t>
                      </m:r>
                      <m:f>
                        <m:fPr>
                          <m:ctrlPr>
                            <a:rPr lang="pt-BR">
                              <a:latin typeface="Cambria Math" panose="02040503050406030204" pitchFamily="18" charset="0"/>
                            </a:rPr>
                          </m:ctrlPr>
                        </m:fPr>
                        <m:num>
                          <m:r>
                            <a:rPr lang="pt-BR" i="0" smtClean="0">
                              <a:latin typeface="Cambria Math" panose="02040503050406030204" pitchFamily="18" charset="0"/>
                            </a:rPr>
                            <m:t>𝜕</m:t>
                          </m:r>
                          <m:sSub>
                            <m:sSubPr>
                              <m:ctrlPr>
                                <a:rPr lang="pt-BR">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1" smtClean="0">
                          <a:latin typeface="Cambria Math" panose="02040503050406030204" pitchFamily="18" charset="0"/>
                        </a:rPr>
                        <m:t>𝒂</m:t>
                      </m:r>
                      <m:r>
                        <a:rPr lang="pt-BR" b="0" smtClean="0">
                          <a:latin typeface="Cambria Math" panose="02040503050406030204" pitchFamily="18" charset="0"/>
                        </a:rPr>
                        <m:t>+</m:t>
                      </m:r>
                      <m:r>
                        <a:rPr lang="pt-BR" smtClean="0">
                          <a:latin typeface="Cambria Math" panose="02040503050406030204" pitchFamily="18" charset="0"/>
                          <a:ea typeface="Cambria Math" panose="02040503050406030204" pitchFamily="18" charset="0"/>
                        </a:rPr>
                        <m:t>𝛼</m:t>
                      </m:r>
                      <m:f>
                        <m:fPr>
                          <m:ctrlPr>
                            <a:rPr lang="pt-BR">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a:latin typeface="Cambria Math" panose="02040503050406030204" pitchFamily="18" charset="0"/>
                            </a:rPr>
                          </m:ctrlPr>
                        </m:naryPr>
                        <m:sub>
                          <m:r>
                            <a:rPr lang="pt-BR" smtClean="0">
                              <a:latin typeface="Cambria Math" panose="02040503050406030204" pitchFamily="18" charset="0"/>
                            </a:rPr>
                            <m:t>𝑛</m:t>
                          </m:r>
                          <m:r>
                            <a:rPr lang="pt-BR" smtClean="0">
                              <a:latin typeface="Cambria Math" panose="02040503050406030204" pitchFamily="18" charset="0"/>
                            </a:rPr>
                            <m:t>=0</m:t>
                          </m:r>
                        </m:sub>
                        <m:sup>
                          <m:r>
                            <a:rPr lang="pt-BR" b="0" smtClean="0">
                              <a:latin typeface="Cambria Math" panose="02040503050406030204" pitchFamily="18" charset="0"/>
                            </a:rPr>
                            <m:t>𝑀</m:t>
                          </m:r>
                          <m:r>
                            <a:rPr lang="pt-BR" smtClean="0">
                              <a:latin typeface="Cambria Math" panose="02040503050406030204" pitchFamily="18" charset="0"/>
                            </a:rPr>
                            <m:t>−1</m:t>
                          </m:r>
                        </m:sup>
                        <m:e>
                          <m:d>
                            <m:dPr>
                              <m:begChr m:val="["/>
                              <m:endChr m:val="]"/>
                              <m:ctrlPr>
                                <a:rPr lang="pt-BR">
                                  <a:latin typeface="Cambria Math" panose="02040503050406030204" pitchFamily="18" charset="0"/>
                                </a:rPr>
                              </m:ctrlPr>
                            </m:dPr>
                            <m:e>
                              <m:r>
                                <a:rPr lang="pt-BR" smtClean="0">
                                  <a:latin typeface="Cambria Math" panose="02040503050406030204" pitchFamily="18" charset="0"/>
                                </a:rPr>
                                <m:t>𝑦</m:t>
                              </m:r>
                              <m:d>
                                <m:dPr>
                                  <m:ctrlPr>
                                    <a:rPr lang="pt-BR">
                                      <a:latin typeface="Cambria Math" panose="02040503050406030204" pitchFamily="18" charset="0"/>
                                    </a:rPr>
                                  </m:ctrlPr>
                                </m:dPr>
                                <m:e>
                                  <m:r>
                                    <a:rPr lang="pt-BR" smtClean="0">
                                      <a:latin typeface="Cambria Math" panose="02040503050406030204" pitchFamily="18" charset="0"/>
                                    </a:rPr>
                                    <m:t>𝑛</m:t>
                                  </m:r>
                                </m:e>
                              </m:d>
                              <m:r>
                                <a:rPr lang="pt-BR" smtClean="0">
                                  <a:latin typeface="Cambria Math" panose="02040503050406030204" pitchFamily="18" charset="0"/>
                                </a:rPr>
                                <m:t>−</m:t>
                              </m:r>
                              <m:acc>
                                <m:accPr>
                                  <m:chr m:val="̂"/>
                                  <m:ctrlPr>
                                    <a:rPr lang="pt-BR">
                                      <a:latin typeface="Cambria Math" panose="02040503050406030204" pitchFamily="18" charset="0"/>
                                    </a:rPr>
                                  </m:ctrlPr>
                                </m:accPr>
                                <m:e>
                                  <m:r>
                                    <a:rPr lang="pt-BR" smtClean="0">
                                      <a:latin typeface="Cambria Math" panose="02040503050406030204" pitchFamily="18" charset="0"/>
                                    </a:rPr>
                                    <m:t>𝑦</m:t>
                                  </m:r>
                                </m:e>
                              </m:acc>
                              <m:d>
                                <m:dPr>
                                  <m:ctrlPr>
                                    <a:rPr lang="pt-BR">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r>
                            <a:rPr lang="pt-BR" smtClean="0">
                              <a:latin typeface="Cambria Math" panose="02040503050406030204" pitchFamily="18" charset="0"/>
                            </a:rPr>
                            <m:t>(</m:t>
                          </m:r>
                          <m:r>
                            <a:rPr lang="pt-BR" smtClean="0">
                              <a:latin typeface="Cambria Math" panose="02040503050406030204" pitchFamily="18" charset="0"/>
                            </a:rPr>
                            <m:t>𝑛</m:t>
                          </m:r>
                          <m:r>
                            <a:rPr lang="pt-BR"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exemplos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no somatório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99443-9546-7B48-3727-4ACAAED70A4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3B98C1A-DEB5-1607-B7B3-1D51B27044A2}"/>
              </a:ext>
            </a:extLst>
          </p:cNvPr>
          <p:cNvSpPr>
            <a:spLocks noGrp="1"/>
          </p:cNvSpPr>
          <p:nvPr>
            <p:ph idx="1"/>
          </p:nvPr>
        </p:nvSpPr>
        <p:spPr/>
        <p:txBody>
          <a:bodyPr/>
          <a:lstStyle/>
          <a:p>
            <a:r>
              <a:rPr lang="pt-BR" dirty="0"/>
              <a:t>A versão mais comumente </a:t>
            </a:r>
            <a:r>
              <a:rPr lang="pt-BR" dirty="0" err="1"/>
              <a:t>implemtda</a:t>
            </a:r>
            <a:r>
              <a:rPr lang="pt-BR" dirty="0"/>
              <a:t> do gradiente descendente é a do </a:t>
            </a:r>
            <a:r>
              <a:rPr lang="pt-BR" dirty="0" err="1"/>
              <a:t>mini-btach</a:t>
            </a:r>
            <a:endParaRPr lang="en-US" dirty="0"/>
          </a:p>
          <a:p>
            <a:endParaRPr lang="en-US" dirty="0"/>
          </a:p>
        </p:txBody>
      </p:sp>
    </p:spTree>
    <p:extLst>
      <p:ext uri="{BB962C8B-B14F-4D97-AF65-F5344CB8AC3E}">
        <p14:creationId xmlns:p14="http://schemas.microsoft.com/office/powerpoint/2010/main" val="374348204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107615"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Utiliza </a:t>
                </a:r>
                <a:r>
                  <a:rPr lang="pt-BR" b="1" i="1" dirty="0">
                    <a:solidFill>
                      <a:srgbClr val="00B050"/>
                    </a:solidFill>
                  </a:rPr>
                  <a:t>todos os exemplos</a:t>
                </a:r>
                <a:r>
                  <a:rPr lang="pt-BR" b="0"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𝑁</m:t>
                    </m:r>
                  </m:oMath>
                </a14:m>
                <a:r>
                  <a:rPr lang="pt-BR" b="0" dirty="0"/>
                  <a:t>) para o cálculo do gradiente</a:t>
                </a:r>
                <a:r>
                  <a:rPr lang="pt-BR" dirty="0"/>
                  <a:t>.</a:t>
                </a:r>
              </a:p>
              <a:p>
                <a:r>
                  <a:rPr lang="pt-BR" dirty="0"/>
                  <a:t>Pode ser </a:t>
                </a:r>
                <a:r>
                  <a:rPr lang="pt-BR" b="1" i="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pode ser lento em conjuntos muito grandes e consumir muita memória.</a:t>
                </a:r>
              </a:p>
              <a:p>
                <a:r>
                  <a:rPr lang="pt-BR" b="1" i="1" dirty="0">
                    <a:solidFill>
                      <a:srgbClr val="00B050"/>
                    </a:solidFill>
                  </a:rPr>
                  <a:t>Convergência</a:t>
                </a:r>
                <a:r>
                  <a:rPr lang="pt-BR" dirty="0"/>
                  <a:t> para o </a:t>
                </a:r>
                <a:r>
                  <a:rPr lang="pt-BR" b="1" i="1" dirty="0">
                    <a:solidFill>
                      <a:srgbClr val="7030A0"/>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 e o passo não é grande demais</a:t>
                </a:r>
                <a:r>
                  <a:rPr lang="pt-BR" dirty="0"/>
                  <a:t>.</a:t>
                </a:r>
              </a:p>
              <a:p>
                <a:r>
                  <a:rPr lang="pt-BR" dirty="0"/>
                  <a:t>É a versão que </a:t>
                </a:r>
                <a:r>
                  <a:rPr lang="pt-BR" b="1" i="1" dirty="0">
                    <a:solidFill>
                      <a:srgbClr val="00B050"/>
                    </a:solidFill>
                  </a:rPr>
                  <a:t>obtém os melhores resultados</a:t>
                </a:r>
                <a:r>
                  <a:rPr lang="pt-BR" dirty="0"/>
                  <a:t>.</a:t>
                </a:r>
              </a:p>
              <a:p>
                <a:pPr marL="0" indent="0">
                  <a:buNone/>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107615" cy="5167311"/>
              </a:xfrm>
              <a:blipFill>
                <a:blip r:embed="rId3"/>
                <a:stretch>
                  <a:fillRect l="-988" r="-1207"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 exemplo</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1536"/>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exemplos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ser flexível,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r="-435"/>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5223C-13CE-85B8-7435-F5FD8B0F326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CBE2EEF-C84F-43D4-5D37-9D34BEB00B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4388248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A6293-8106-AE33-8C88-C10E0BFB3EEA}"/>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642E11AF-6191-ACB1-1CE8-7B4C4CFE41C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552436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62A92-55C2-431E-3FAA-7DC08A0AC671}"/>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44A91331-8D79-4209-9910-250A54A6D3D3}"/>
              </a:ext>
            </a:extLst>
          </p:cNvPr>
          <p:cNvSpPr>
            <a:spLocks noGrp="1"/>
          </p:cNvSpPr>
          <p:nvPr>
            <p:ph idx="1"/>
          </p:nvPr>
        </p:nvSpPr>
        <p:spPr/>
        <p:txBody>
          <a:bodyPr/>
          <a:lstStyle/>
          <a:p>
            <a:r>
              <a:rPr lang="pt-BR" dirty="0"/>
              <a:t>Validação cruzada para encontrar grau dos polinômios</a:t>
            </a:r>
            <a:endParaRPr lang="en-US" dirty="0"/>
          </a:p>
        </p:txBody>
      </p:sp>
    </p:spTree>
    <p:extLst>
      <p:ext uri="{BB962C8B-B14F-4D97-AF65-F5344CB8AC3E}">
        <p14:creationId xmlns:p14="http://schemas.microsoft.com/office/powerpoint/2010/main" val="15001855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110645" cy="1851657"/>
          </a:xfrm>
        </p:spPr>
        <p:txBody>
          <a:bodyPr/>
          <a:lstStyle/>
          <a:p>
            <a:r>
              <a:rPr lang="pt-BR" dirty="0"/>
              <a:t>Após o treinamento do modelo, o usamos para fazer </a:t>
            </a:r>
            <a:r>
              <a:rPr lang="pt-BR" b="1" i="1" dirty="0">
                <a:solidFill>
                  <a:srgbClr val="00B050"/>
                </a:solidFill>
              </a:rPr>
              <a:t>inferências</a:t>
            </a:r>
            <a:r>
              <a:rPr lang="pt-BR" dirty="0"/>
              <a:t>.</a:t>
            </a:r>
          </a:p>
          <a:p>
            <a:r>
              <a:rPr lang="pt-BR" dirty="0"/>
              <a:t>Ou seja, o usamos para fazer </a:t>
            </a:r>
            <a:r>
              <a:rPr lang="pt-BR" b="1" i="1" dirty="0">
                <a:solidFill>
                  <a:srgbClr val="00B050"/>
                </a:solidFill>
              </a:rPr>
              <a:t>predições</a:t>
            </a:r>
            <a:r>
              <a:rPr lang="pt-BR" dirty="0"/>
              <a:t> (i.e., valores de saídas) </a:t>
            </a:r>
            <a:r>
              <a:rPr lang="pt-BR" b="1" i="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i="1" dirty="0"/>
              <a:t>apenas para os dados do conjunto de treinamento</a:t>
            </a:r>
            <a:r>
              <a:rPr lang="pt-BR" dirty="0"/>
              <a:t>.</a:t>
            </a:r>
          </a:p>
          <a:p>
            <a:r>
              <a:rPr lang="pt-BR" dirty="0"/>
              <a:t>O </a:t>
            </a:r>
            <a:r>
              <a:rPr lang="pt-BR" b="1" i="1" dirty="0"/>
              <a:t>algoritmo</a:t>
            </a:r>
            <a:r>
              <a:rPr lang="pt-BR" dirty="0"/>
              <a:t> de ML deve </a:t>
            </a:r>
            <a:r>
              <a:rPr lang="pt-BR" b="1" i="1" dirty="0"/>
              <a:t>treinar</a:t>
            </a:r>
            <a:r>
              <a:rPr lang="pt-BR" dirty="0"/>
              <a:t> um </a:t>
            </a:r>
            <a:r>
              <a:rPr lang="pt-BR" b="1" i="1" dirty="0"/>
              <a:t>modelo</a:t>
            </a:r>
            <a:r>
              <a:rPr lang="pt-BR" dirty="0"/>
              <a:t> que </a:t>
            </a:r>
            <a:r>
              <a:rPr lang="pt-BR" b="1" i="1" dirty="0"/>
              <a:t>aprenda</a:t>
            </a:r>
            <a:r>
              <a:rPr lang="pt-BR" dirty="0"/>
              <a:t> uma </a:t>
            </a:r>
            <a:r>
              <a:rPr lang="pt-BR" b="1" i="1" dirty="0">
                <a:solidFill>
                  <a:srgbClr val="7030A0"/>
                </a:solidFill>
              </a:rPr>
              <a:t>solução geral</a:t>
            </a:r>
            <a:r>
              <a:rPr lang="pt-BR" dirty="0"/>
              <a:t>, ou seja, um modelo que </a:t>
            </a:r>
            <a:r>
              <a:rPr lang="pt-BR" b="1" i="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i="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8565</TotalTime>
  <Words>7756</Words>
  <Application>Microsoft Office PowerPoint</Application>
  <PresentationFormat>Widescreen</PresentationFormat>
  <Paragraphs>637</Paragraphs>
  <Slides>64</Slides>
  <Notes>36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64</vt:i4>
      </vt:variant>
    </vt:vector>
  </HeadingPairs>
  <TitlesOfParts>
    <vt:vector size="73"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PowerPoint Presentation</vt:lpstr>
      <vt:lpstr>Versões do gradiente descendente</vt:lpstr>
      <vt:lpstr>Versões do gradiente descendente</vt:lpstr>
      <vt:lpstr>Versões do gradiente descendente</vt:lpstr>
      <vt:lpstr>Versões do gradiente descendente</vt:lpstr>
      <vt:lpstr>PowerPoint Presentation</vt:lpstr>
      <vt:lpstr>Gradiente descendente em batelada</vt:lpstr>
      <vt:lpstr>Gradiente descendente estocástico</vt:lpstr>
      <vt:lpstr>Gradiente descendente em mini-lotes</vt:lpstr>
      <vt:lpstr>PowerPoint Presentation</vt:lpstr>
      <vt:lpstr>PowerPoint Presentation</vt:lpstr>
      <vt:lpstr>Validação cruzada</vt:lpstr>
      <vt:lpstr>Inferência</vt:lpstr>
      <vt:lpstr>Generalização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1881</cp:revision>
  <dcterms:created xsi:type="dcterms:W3CDTF">2020-01-20T13:50:05Z</dcterms:created>
  <dcterms:modified xsi:type="dcterms:W3CDTF">2026-02-13T14:46:19Z</dcterms:modified>
</cp:coreProperties>
</file>