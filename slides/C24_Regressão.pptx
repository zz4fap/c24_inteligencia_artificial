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8"/>
  </p:notesMasterIdLst>
  <p:handoutMasterIdLst>
    <p:handoutMasterId r:id="rId29"/>
  </p:handoutMasterIdLst>
  <p:sldIdLst>
    <p:sldId id="256" r:id="rId2"/>
    <p:sldId id="296" r:id="rId3"/>
    <p:sldId id="463" r:id="rId4"/>
    <p:sldId id="517" r:id="rId5"/>
    <p:sldId id="518" r:id="rId6"/>
    <p:sldId id="464" r:id="rId7"/>
    <p:sldId id="470" r:id="rId8"/>
    <p:sldId id="471" r:id="rId9"/>
    <p:sldId id="472" r:id="rId10"/>
    <p:sldId id="465" r:id="rId11"/>
    <p:sldId id="520" r:id="rId12"/>
    <p:sldId id="522" r:id="rId13"/>
    <p:sldId id="523" r:id="rId14"/>
    <p:sldId id="524" r:id="rId15"/>
    <p:sldId id="481" r:id="rId16"/>
    <p:sldId id="525" r:id="rId17"/>
    <p:sldId id="320" r:id="rId18"/>
    <p:sldId id="526" r:id="rId19"/>
    <p:sldId id="527" r:id="rId20"/>
    <p:sldId id="528" r:id="rId21"/>
    <p:sldId id="521" r:id="rId22"/>
    <p:sldId id="529" r:id="rId23"/>
    <p:sldId id="530" r:id="rId24"/>
    <p:sldId id="531" r:id="rId25"/>
    <p:sldId id="293" r:id="rId26"/>
    <p:sldId id="306" r:id="rId27"/>
  </p:sldIdLst>
  <p:sldSz cx="12192000" cy="6858000"/>
  <p:notesSz cx="7315200" cy="96012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F1F5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3FCA41B-7398-400B-83DC-FDE8722EB923}" v="79" dt="2020-02-09T01:28:39.66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078" autoAdjust="0"/>
    <p:restoredTop sz="92857" autoAdjust="0"/>
  </p:normalViewPr>
  <p:slideViewPr>
    <p:cSldViewPr snapToGrid="0">
      <p:cViewPr varScale="1">
        <p:scale>
          <a:sx n="103" d="100"/>
          <a:sy n="103" d="100"/>
        </p:scale>
        <p:origin x="1134" y="96"/>
      </p:cViewPr>
      <p:guideLst/>
    </p:cSldViewPr>
  </p:slideViewPr>
  <p:outlineViewPr>
    <p:cViewPr>
      <p:scale>
        <a:sx n="33" d="100"/>
        <a:sy n="33" d="100"/>
      </p:scale>
      <p:origin x="0" y="-8862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microsoft.com/office/2016/11/relationships/changesInfo" Target="changesInfos/changesInfo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handoutMaster" Target="handoutMasters/handout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35" Type="http://schemas.microsoft.com/office/2015/10/relationships/revisionInfo" Target="revisionInfo.xml"/><Relationship Id="rId8" Type="http://schemas.openxmlformats.org/officeDocument/2006/relationships/slide" Target="slides/slide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elipe Augusto Pereira de Figueiredo" userId="e1771b70d906f94b" providerId="Windows Live" clId="Web-{B3FCA41B-7398-400B-83DC-FDE8722EB923}"/>
    <pc:docChg chg="modSld">
      <pc:chgData name="Felipe Augusto Pereira de Figueiredo" userId="e1771b70d906f94b" providerId="Windows Live" clId="Web-{B3FCA41B-7398-400B-83DC-FDE8722EB923}" dt="2020-02-09T01:40:38.055" v="257"/>
      <pc:docMkLst>
        <pc:docMk/>
      </pc:docMkLst>
      <pc:sldChg chg="modSp modNotes">
        <pc:chgData name="Felipe Augusto Pereira de Figueiredo" userId="e1771b70d906f94b" providerId="Windows Live" clId="Web-{B3FCA41B-7398-400B-83DC-FDE8722EB923}" dt="2020-02-09T01:26:20.191" v="45"/>
        <pc:sldMkLst>
          <pc:docMk/>
          <pc:sldMk cId="636059476" sldId="259"/>
        </pc:sldMkLst>
        <pc:spChg chg="mod">
          <ac:chgData name="Felipe Augusto Pereira de Figueiredo" userId="e1771b70d906f94b" providerId="Windows Live" clId="Web-{B3FCA41B-7398-400B-83DC-FDE8722EB923}" dt="2020-02-09T01:22:23.081" v="18" actId="1076"/>
          <ac:spMkLst>
            <pc:docMk/>
            <pc:sldMk cId="636059476" sldId="259"/>
            <ac:spMk id="3" creationId="{979D29AC-E01B-406F-AC75-55866B75A7CC}"/>
          </ac:spMkLst>
        </pc:spChg>
      </pc:sldChg>
      <pc:sldChg chg="modNotes">
        <pc:chgData name="Felipe Augusto Pereira de Figueiredo" userId="e1771b70d906f94b" providerId="Windows Live" clId="Web-{B3FCA41B-7398-400B-83DC-FDE8722EB923}" dt="2020-02-09T01:21:46.721" v="16"/>
        <pc:sldMkLst>
          <pc:docMk/>
          <pc:sldMk cId="248504461" sldId="267"/>
        </pc:sldMkLst>
      </pc:sldChg>
      <pc:sldChg chg="modSp modNotes">
        <pc:chgData name="Felipe Augusto Pereira de Figueiredo" userId="e1771b70d906f94b" providerId="Windows Live" clId="Web-{B3FCA41B-7398-400B-83DC-FDE8722EB923}" dt="2020-02-09T01:40:38.055" v="257"/>
        <pc:sldMkLst>
          <pc:docMk/>
          <pc:sldMk cId="2076219387" sldId="277"/>
        </pc:sldMkLst>
        <pc:spChg chg="mod">
          <ac:chgData name="Felipe Augusto Pereira de Figueiredo" userId="e1771b70d906f94b" providerId="Windows Live" clId="Web-{B3FCA41B-7398-400B-83DC-FDE8722EB923}" dt="2020-02-09T01:28:39.664" v="120" actId="14100"/>
          <ac:spMkLst>
            <pc:docMk/>
            <pc:sldMk cId="2076219387" sldId="277"/>
            <ac:spMk id="3" creationId="{5E0262E2-3A0F-4805-BCCB-6745237D1574}"/>
          </ac:spMkLst>
        </pc:spChg>
      </pc:sldChg>
    </pc:docChg>
  </pc:docChgLst>
  <pc:docChgLst>
    <pc:chgData name="Felipe Augusto Pereira de Figueiredo" userId="e1771b70d906f94b" providerId="Windows Live" clId="Web-{1FA475AF-6444-47C2-89B1-9776BABC0E66}"/>
    <pc:docChg chg="modSld">
      <pc:chgData name="Felipe Augusto Pereira de Figueiredo" userId="e1771b70d906f94b" providerId="Windows Live" clId="Web-{1FA475AF-6444-47C2-89B1-9776BABC0E66}" dt="2020-02-09T18:53:52.767" v="85"/>
      <pc:docMkLst>
        <pc:docMk/>
      </pc:docMkLst>
      <pc:sldChg chg="modNotes">
        <pc:chgData name="Felipe Augusto Pereira de Figueiredo" userId="e1771b70d906f94b" providerId="Windows Live" clId="Web-{1FA475AF-6444-47C2-89B1-9776BABC0E66}" dt="2020-02-09T18:53:52.767" v="85"/>
        <pc:sldMkLst>
          <pc:docMk/>
          <pc:sldMk cId="248504461" sldId="267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143589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144F1436-6906-4D93-B7A2-786C327BFA14}" type="datetimeFigureOut">
              <a:rPr lang="nl-BE" smtClean="0"/>
              <a:t>12/02/2026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143589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F7E56D9B-79AD-444A-AFED-DEC23408F8B4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635331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5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143592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AA8CD09E-2914-4F47-B6C1-51B2C31814C9}" type="datetimeFigureOut">
              <a:rPr lang="pt-BR" smtClean="0"/>
              <a:t>12/02/2026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68634" tIns="84317" rIns="168634" bIns="84317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31522" y="18254135"/>
            <a:ext cx="5852160" cy="14935200"/>
          </a:xfrm>
          <a:prstGeom prst="rect">
            <a:avLst/>
          </a:prstGeom>
        </p:spPr>
        <p:txBody>
          <a:bodyPr vert="horz" lIns="168634" tIns="84317" rIns="168634" bIns="84317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5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143592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6FC8D850-966F-45A6-8DE7-15B891E7D40D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18147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mathworld.wolfram.com/WeierstrassApproximationTheorem.html" TargetMode="External"/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aseline="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07474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83302132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Exemplos de aplicações</a:t>
            </a:r>
            <a:r>
              <a:rPr lang="pt-BR" baseline="0" dirty="0"/>
              <a:t> de regressão linear:</a:t>
            </a:r>
            <a:endParaRPr lang="pt-BR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Modelos para predição do preço de casas.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Modelos para predição do salário de um empregado baseado em sua idade.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pt-BR" dirty="0"/>
          </a:p>
          <a:p>
            <a:r>
              <a:rPr lang="pt-BR" b="1" dirty="0"/>
              <a:t>📊 1. Previsão de vendas em negócios</a:t>
            </a:r>
          </a:p>
          <a:p>
            <a:r>
              <a:rPr lang="pt-BR" dirty="0"/>
              <a:t>Empresas analisam dados históricos de vendas, publicidade, sazonalidade e indicadores econômicos para </a:t>
            </a:r>
            <a:r>
              <a:rPr lang="pt-BR" b="1" dirty="0"/>
              <a:t>prever vendas futuras</a:t>
            </a:r>
            <a:r>
              <a:rPr lang="pt-BR" dirty="0"/>
              <a:t>. Isso ajuda no planejamento de estoque, orçamento e campanhas de marketing.</a:t>
            </a:r>
          </a:p>
          <a:p>
            <a:endParaRPr lang="en-US" dirty="0"/>
          </a:p>
          <a:p>
            <a:r>
              <a:rPr lang="pt-BR" b="1" dirty="0"/>
              <a:t>🏠 2. Estimativa de preços de imóveis</a:t>
            </a:r>
          </a:p>
          <a:p>
            <a:r>
              <a:rPr lang="pt-BR" dirty="0"/>
              <a:t>Corretores e analistas usam regressão para </a:t>
            </a:r>
            <a:r>
              <a:rPr lang="pt-BR" b="1" dirty="0"/>
              <a:t>estimar o preço de uma casa</a:t>
            </a:r>
            <a:r>
              <a:rPr lang="pt-BR" dirty="0"/>
              <a:t> com base em características como área, número de quartos, localização e proximidade de escolas.</a:t>
            </a:r>
          </a:p>
          <a:p>
            <a:endParaRPr lang="en-US" dirty="0"/>
          </a:p>
          <a:p>
            <a:r>
              <a:rPr lang="pt-BR" b="1" dirty="0"/>
              <a:t>💳 4. Avaliação de risco de crédito</a:t>
            </a:r>
          </a:p>
          <a:p>
            <a:r>
              <a:rPr lang="pt-BR" dirty="0"/>
              <a:t>Bancos e instituições financeiras aplicam regressão para </a:t>
            </a:r>
            <a:r>
              <a:rPr lang="pt-BR" b="1" dirty="0"/>
              <a:t>predizer probabilidade de inadimplência</a:t>
            </a:r>
            <a:r>
              <a:rPr lang="pt-BR" dirty="0"/>
              <a:t> de clientes, analisando renda, histórico de crédito, emprego, etc., orientando decisões de empréstimos.</a:t>
            </a:r>
          </a:p>
          <a:p>
            <a:endParaRPr lang="en-US" dirty="0"/>
          </a:p>
          <a:p>
            <a:endParaRPr lang="en-US" dirty="0"/>
          </a:p>
          <a:p>
            <a:pPr marL="171450" indent="-171450">
              <a:buFont typeface="Arial" panose="020B0604020202020204" pitchFamily="34" charset="0"/>
              <a:buChar char="•"/>
            </a:pPr>
            <a:endParaRPr lang="pt-BR" dirty="0"/>
          </a:p>
          <a:p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4100982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insight</a:t>
            </a:r>
            <a:r>
              <a:rPr lang="pt-BR" dirty="0"/>
              <a:t>: percepção; intuição; compreensão.</a:t>
            </a:r>
          </a:p>
          <a:p>
            <a:endParaRPr lang="pt-BR" dirty="0"/>
          </a:p>
          <a:p>
            <a:r>
              <a:rPr lang="pt-BR" dirty="0"/>
              <a:t>O termo "regressão" foi cunhado por Francis </a:t>
            </a:r>
            <a:r>
              <a:rPr lang="pt-BR" dirty="0" err="1"/>
              <a:t>Galton</a:t>
            </a:r>
            <a:r>
              <a:rPr lang="pt-BR" dirty="0"/>
              <a:t> no século 19 para descrever um fenômeno biológico. O fenômeno foi que as alturas dos descendentes de ancestrais altos tendem a </a:t>
            </a:r>
            <a:r>
              <a:rPr lang="pt-BR" b="1" i="1" dirty="0"/>
              <a:t>regredir</a:t>
            </a:r>
            <a:r>
              <a:rPr lang="pt-BR" dirty="0"/>
              <a:t> para a média (um fenômeno também é conhecido como </a:t>
            </a:r>
            <a:r>
              <a:rPr lang="pt-BR" b="1" dirty="0"/>
              <a:t>regressão à média</a:t>
            </a:r>
            <a:r>
              <a:rPr lang="pt-BR" dirty="0"/>
              <a:t>).</a:t>
            </a:r>
          </a:p>
          <a:p>
            <a:endParaRPr lang="pt-BR" dirty="0"/>
          </a:p>
          <a:p>
            <a:r>
              <a:rPr lang="pt-BR" dirty="0"/>
              <a:t>Os algoritmos de aprendizado de máquina são descritos como o aprendizado de uma função,</a:t>
            </a:r>
            <a:r>
              <a:rPr lang="pt-BR" baseline="0" dirty="0"/>
              <a:t> </a:t>
            </a:r>
            <a:r>
              <a:rPr lang="pt-BR" i="1" baseline="0" dirty="0"/>
              <a:t>h</a:t>
            </a:r>
            <a:r>
              <a:rPr lang="pt-BR" dirty="0"/>
              <a:t>, que melhor mapeie as variáveis de entrada x em uma variável de saída y: y = </a:t>
            </a:r>
            <a:r>
              <a:rPr lang="pt-BR" i="1" dirty="0"/>
              <a:t>h</a:t>
            </a:r>
            <a:r>
              <a:rPr lang="pt-BR" dirty="0"/>
              <a:t>(x)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2286664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insight</a:t>
            </a:r>
            <a:r>
              <a:rPr lang="pt-BR" dirty="0"/>
              <a:t>: percepção; intuição; compreensão.</a:t>
            </a:r>
          </a:p>
          <a:p>
            <a:endParaRPr lang="pt-BR" dirty="0"/>
          </a:p>
          <a:p>
            <a:r>
              <a:rPr lang="pt-BR" dirty="0"/>
              <a:t>O termo "regressão" foi cunhado por Francis </a:t>
            </a:r>
            <a:r>
              <a:rPr lang="pt-BR" dirty="0" err="1"/>
              <a:t>Galton</a:t>
            </a:r>
            <a:r>
              <a:rPr lang="pt-BR" dirty="0"/>
              <a:t> no século 19 para descrever um fenômeno biológico. O fenômeno foi que as alturas dos descendentes de ancestrais altos tendem a </a:t>
            </a:r>
            <a:r>
              <a:rPr lang="pt-BR" b="1" i="1" dirty="0"/>
              <a:t>regredir</a:t>
            </a:r>
            <a:r>
              <a:rPr lang="pt-BR" dirty="0"/>
              <a:t> para a média (um fenômeno também é conhecido como </a:t>
            </a:r>
            <a:r>
              <a:rPr lang="pt-BR" b="1" dirty="0"/>
              <a:t>regressão à média</a:t>
            </a:r>
            <a:r>
              <a:rPr lang="pt-BR" dirty="0"/>
              <a:t>).</a:t>
            </a:r>
          </a:p>
          <a:p>
            <a:endParaRPr lang="pt-BR" dirty="0"/>
          </a:p>
          <a:p>
            <a:r>
              <a:rPr lang="pt-BR" dirty="0"/>
              <a:t>Os algoritmos de aprendizado de máquina são descritos como o aprendizado de uma função,</a:t>
            </a:r>
            <a:r>
              <a:rPr lang="pt-BR" baseline="0" dirty="0"/>
              <a:t> </a:t>
            </a:r>
            <a:r>
              <a:rPr lang="pt-BR" i="1" baseline="0" dirty="0"/>
              <a:t>h</a:t>
            </a:r>
            <a:r>
              <a:rPr lang="pt-BR" dirty="0"/>
              <a:t>, que melhor mapeie as variáveis de entrada x em uma variável de saída y: y = </a:t>
            </a:r>
            <a:r>
              <a:rPr lang="pt-BR" i="1" dirty="0"/>
              <a:t>h</a:t>
            </a:r>
            <a:r>
              <a:rPr lang="pt-BR" dirty="0"/>
              <a:t>(x)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93354049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teorema</a:t>
            </a:r>
            <a:r>
              <a:rPr lang="en-US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ornece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uma maneira de aproximar funções complexas e não polinomiais por meio de polinômios simples.</a:t>
            </a:r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Weierstrass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approximation theorem assures us that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polynomial approximation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can get arbitrarily close to any continuous function as the polynomial order is increased.</a:t>
            </a:r>
          </a:p>
          <a:p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Referências</a:t>
            </a:r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[1] https://ccrma.stanford.edu/~jos/st/Weierstrass_Approximation_Theorem.html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[2] https://people.bath.ac.uk/mw2319/ma30252/sec-approx.html</a:t>
            </a:r>
            <a:endParaRPr lang="pt-BR" dirty="0"/>
          </a:p>
          <a:p>
            <a:endParaRPr lang="pt-BR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6370874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Para aproximar uma função senoidal usando um polinômio, o método mais comum e elegante é a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Série de Taylor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(especificamente a Série de </a:t>
            </a:r>
            <a:r>
              <a:rPr lang="pt-B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Maclaurin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quando centrada em zero).</a:t>
            </a: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fórmula para o seno é:</a:t>
            </a: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$$\</a:t>
            </a:r>
            <a:r>
              <a:rPr lang="pt-B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sin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(x) \</a:t>
            </a:r>
            <a:r>
              <a:rPr lang="pt-B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approx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x - \</a:t>
            </a:r>
            <a:r>
              <a:rPr lang="pt-B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frac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{x^3}{3!} + \</a:t>
            </a:r>
            <a:r>
              <a:rPr lang="pt-B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frac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{x^5}{5!} - \</a:t>
            </a:r>
            <a:r>
              <a:rPr lang="pt-B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frac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{x^7}{7!} + \</a:t>
            </a:r>
            <a:r>
              <a:rPr lang="pt-B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dots</a:t>
            </a:r>
            <a:r>
              <a:rPr lang="pt-BR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$$</a:t>
            </a:r>
          </a:p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0580796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pt-BR" dirty="0"/>
                  <a:t>Percebam que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𝑒</m:t>
                        </m:r>
                      </m:sub>
                    </m:sSub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𝒂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 é função do vetor de pesos, pois variando os valores dos pesos, ficamos mais próximos ou distantes da função hipótese que minimiza o erro.</a:t>
                </a:r>
              </a:p>
            </p:txBody>
          </p:sp>
        </mc:Choice>
        <mc:Fallback xmlns="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pt-BR" dirty="0"/>
                  <a:t>Percebam que </a:t>
                </a:r>
                <a:r>
                  <a:rPr lang="pt-BR" i="0">
                    <a:latin typeface="Cambria Math" panose="02040503050406030204" pitchFamily="18" charset="0"/>
                  </a:rPr>
                  <a:t>𝐽_𝑒 (</a:t>
                </a:r>
                <a:r>
                  <a:rPr lang="pt-BR" b="1" i="0">
                    <a:latin typeface="Cambria Math" panose="02040503050406030204" pitchFamily="18" charset="0"/>
                  </a:rPr>
                  <a:t>𝒂</a:t>
                </a:r>
                <a:r>
                  <a:rPr lang="pt-BR" i="0">
                    <a:latin typeface="Cambria Math" panose="02040503050406030204" pitchFamily="18" charset="0"/>
                  </a:rPr>
                  <a:t>)</a:t>
                </a:r>
                <a:r>
                  <a:rPr lang="pt-BR" dirty="0"/>
                  <a:t> é função do vetor de pesos, pois variando os valores dos pesos, ficamos mais próximos ou distantes da função hipótese que minimiza o erro.</a:t>
                </a:r>
              </a:p>
            </p:txBody>
          </p:sp>
        </mc:Fallback>
      </mc:AlternateContent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15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28959932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17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81866092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DB9B4FF-B06E-403C-A326-BDC64D8FF9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47BDFCE-746E-45BF-A319-4733D58D16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EDE2778-5372-4104-B96D-968184DA8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12/02/2026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1DD0F41-C861-4051-988D-3024A37A4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07E5967E-D980-431A-A5DB-3F0C5030A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9754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1BD44A5-8F21-4626-A01D-48A1C874B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79E8085-65A9-48AA-951D-71D978BFF4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05BE1AF-51EA-425D-B188-DE7BD67500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12/02/2026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21BE632-29CF-4CB9-B365-C9EF38F89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0CF3DD1-9AEC-4A57-B461-4E4DD86FA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9079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4AB2FF0-A4D7-4E28-991D-FF26140D5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E2AC45B0-4145-40DB-8E61-1054611706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50F1D3FB-740A-4EBA-A309-2CE71D12E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12/02/2026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DCAB18F-8715-4465-A940-F9C193A2A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353466C6-8248-429F-8056-FF040BF50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5227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BB9F0-F14B-4A91-B2B7-35BC47FE4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C1FC1C4-73DA-47A6-8496-B0B457F7D3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E92F06A8-A449-4D92-9912-76873E529B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938070A4-BC2F-4D55-BD8D-DEAF11BB9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12/02/2026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45CC2DB8-844A-465F-BA9A-7734C80C7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4CC606A8-097B-4040-94E0-CD8C88280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8544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6D66686-0143-4CB6-8C09-BA326F1E7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0227AB85-F59E-4BCE-B846-4FA0992C2F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3373456C-7319-4D0A-827D-D29F6B083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4CD109D0-2E83-4262-8029-A871CEC474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AD706E3A-CFBB-4A6C-A65F-D0360A9E74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4172C0E5-5AF0-4805-BB51-443733CD2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12/02/2026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0E801648-156F-497E-99CF-797DF4805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EEE23D32-80E7-4796-A137-66BF842E4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2245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BCE2379-C78F-47E1-8CFC-B846E7AF1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342600A9-7F92-4E22-9D94-E4717252A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12/02/2026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192E6BED-F546-40CC-A2DF-99CBA8536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6091CC40-A8C4-4063-80EB-CC5099621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413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DD19515C-212C-4EAE-84A3-8FF4BC844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12/02/2026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94D3D120-B3E8-4C96-861D-7A4F12F49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42E49B68-FA1B-468B-9F17-D5C09243D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812321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C17BCBE-A897-4319-85EC-D87909C24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226F885-0204-4913-868B-4B8B82576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00F9F784-A858-441B-8AB5-6970981417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A4DC363A-5000-472E-8B17-02E7DCB88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12/02/2026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5548425D-2C21-4C56-BAD4-662978775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C63E9726-E64C-42B2-AE8A-8C235A956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86100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1086A78-3E74-450C-96A6-CA8AC37AF7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5F5B7312-975A-4DBC-9B2F-3652ADA006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AAF805F5-1DFF-41C6-944C-7D79FE0D09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02113D81-8665-4516-BD81-C6A1F254E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12/02/2026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2B00C88B-FF32-40AA-A187-727D96FD7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A04D1A2D-69F7-4B8F-A730-BC26DC340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4646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36C49F-3E68-4175-81BA-3C3FEE443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426FA736-3DD3-4D4E-B57B-BBE1D8F7D4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9E8855C-D8FD-48F6-B14E-861E0DE4D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12/02/2026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7C0BB88-2F21-42A5-ACFF-83DA47F2D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CB462B3-1F22-4C05-B4B8-7A279FB7D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3481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EAEAB728-701C-4207-A9D5-23FF45C605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BA8C8CCF-7823-480A-9A19-0F664DD17E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21D5734-7B1F-425D-942F-6EB733440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12/02/2026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E1AAEAC-F08D-45FE-89EC-B1B349A86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BAA44493-9911-47B2-87A6-C2141A972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2454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E69A0273-1966-4A1B-9370-4C1CE5036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3B9CF87A-0448-49A7-AB25-EBC1D56A40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2EF7B1F2-BB5A-44D0-816D-16AD2C7143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289F7E-B80B-496E-81B4-D396C37C9454}" type="datetimeFigureOut">
              <a:rPr lang="pt-BR" smtClean="0"/>
              <a:t>12/02/2026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703F94C-2CC8-4DAA-BC35-14FC3E841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4051336-7048-457A-8B61-D94291D716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6292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felipe.figueiredo@Inatel.br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jpeg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Relationship Id="rId9" Type="http://schemas.openxmlformats.org/officeDocument/2006/relationships/image" Target="../media/image9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14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140.png"/><Relationship Id="rId4" Type="http://schemas.openxmlformats.org/officeDocument/2006/relationships/image" Target="../media/image1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140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0.png"/><Relationship Id="rId5" Type="http://schemas.openxmlformats.org/officeDocument/2006/relationships/image" Target="../media/image140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00.png"/><Relationship Id="rId4" Type="http://schemas.openxmlformats.org/officeDocument/2006/relationships/image" Target="../media/image41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ixaDeTexto 3">
            <a:extLst>
              <a:ext uri="{FF2B5EF4-FFF2-40B4-BE49-F238E27FC236}">
                <a16:creationId xmlns:a16="http://schemas.microsoft.com/office/drawing/2014/main" id="{430EB894-B7D4-434C-9D1A-A14094D9BEEC}"/>
              </a:ext>
            </a:extLst>
          </p:cNvPr>
          <p:cNvSpPr txBox="1"/>
          <p:nvPr/>
        </p:nvSpPr>
        <p:spPr>
          <a:xfrm>
            <a:off x="7915801" y="5780602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Felipe A. P. de Figueiredo</a:t>
            </a:r>
          </a:p>
          <a:p>
            <a:r>
              <a:rPr lang="pt-BR" dirty="0">
                <a:hlinkClick r:id="rId3"/>
              </a:rPr>
              <a:t>felipe.figueiredo@Inatel.br</a:t>
            </a:r>
            <a:endParaRPr lang="pt-BR" dirty="0"/>
          </a:p>
        </p:txBody>
      </p:sp>
      <p:pic>
        <p:nvPicPr>
          <p:cNvPr id="1026" name="Picture 2" descr="Logo">
            <a:extLst>
              <a:ext uri="{FF2B5EF4-FFF2-40B4-BE49-F238E27FC236}">
                <a16:creationId xmlns:a16="http://schemas.microsoft.com/office/drawing/2014/main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393306" y="5780602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:a16="http://schemas.microsoft.com/office/drawing/2014/main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4965305" y="3439886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1767" y="836433"/>
            <a:ext cx="10906298" cy="2690156"/>
          </a:xfrm>
        </p:spPr>
        <p:txBody>
          <a:bodyPr anchor="ctr">
            <a:noAutofit/>
          </a:bodyPr>
          <a:lstStyle/>
          <a:p>
            <a:r>
              <a:rPr lang="pt-BR" sz="6600" dirty="0"/>
              <a:t>C24 – Inteligência Artificial:</a:t>
            </a:r>
            <a:br>
              <a:rPr lang="pt-BR" sz="7200" dirty="0"/>
            </a:br>
            <a:r>
              <a:rPr lang="pt-BR" sz="7200" b="1" i="1" dirty="0"/>
              <a:t>Regressão</a:t>
            </a:r>
          </a:p>
        </p:txBody>
      </p:sp>
    </p:spTree>
    <p:extLst>
      <p:ext uri="{BB962C8B-B14F-4D97-AF65-F5344CB8AC3E}">
        <p14:creationId xmlns:p14="http://schemas.microsoft.com/office/powerpoint/2010/main" val="6866526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Motivação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5520" y="2921704"/>
            <a:ext cx="2224946" cy="1481651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14109" y="2920986"/>
            <a:ext cx="1965031" cy="1473773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09597" y="2929582"/>
            <a:ext cx="2620040" cy="1473773"/>
          </a:xfrm>
          <a:prstGeom prst="rect">
            <a:avLst/>
          </a:prstGeom>
        </p:spPr>
      </p:pic>
      <p:sp>
        <p:nvSpPr>
          <p:cNvPr id="9" name="Content Placeholder 2"/>
          <p:cNvSpPr>
            <a:spLocks noGrp="1"/>
          </p:cNvSpPr>
          <p:nvPr>
            <p:ph idx="1"/>
          </p:nvPr>
        </p:nvSpPr>
        <p:spPr>
          <a:xfrm>
            <a:off x="627847" y="1654206"/>
            <a:ext cx="10515600" cy="1073439"/>
          </a:xfrm>
        </p:spPr>
        <p:txBody>
          <a:bodyPr>
            <a:normAutofit/>
          </a:bodyPr>
          <a:lstStyle/>
          <a:p>
            <a:r>
              <a:rPr lang="pt-BR" b="1" dirty="0"/>
              <a:t>Exemplo 1</a:t>
            </a:r>
            <a:r>
              <a:rPr lang="pt-BR" dirty="0"/>
              <a:t>: Estimar o preço de casas.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Content Placeholder 2"/>
              <p:cNvSpPr txBox="1">
                <a:spLocks/>
              </p:cNvSpPr>
              <p:nvPr/>
            </p:nvSpPr>
            <p:spPr>
              <a:xfrm>
                <a:off x="734291" y="5122567"/>
                <a:ext cx="11185960" cy="1735434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 lnSpcReduction="10000"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pt-BR" dirty="0"/>
                  <a:t>Podemos usar </a:t>
                </a:r>
                <a:r>
                  <a:rPr lang="pt-BR" b="1" i="1" dirty="0"/>
                  <a:t>regressão</a:t>
                </a:r>
                <a:r>
                  <a:rPr lang="pt-BR" dirty="0"/>
                  <a:t> para encontrar uma </a:t>
                </a:r>
                <a:r>
                  <a:rPr lang="pt-BR" b="1" i="1" dirty="0">
                    <a:solidFill>
                      <a:srgbClr val="0070C0"/>
                    </a:solidFill>
                  </a:rPr>
                  <a:t>relação matemática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, entre o n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°</m:t>
                    </m:r>
                  </m:oMath>
                </a14:m>
                <a:r>
                  <a:rPr lang="pt-BR" dirty="0"/>
                  <a:t> de quartos, n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° </m:t>
                    </m:r>
                  </m:oMath>
                </a14:m>
                <a:r>
                  <a:rPr lang="pt-BR" dirty="0"/>
                  <a:t>de vagas na garagem, se tem piscina, localização, área, etc. de uma casa e seu valor.</a:t>
                </a:r>
              </a:p>
              <a:p>
                <a:r>
                  <a:rPr lang="pt-BR" b="1" dirty="0">
                    <a:solidFill>
                      <a:srgbClr val="00B050"/>
                    </a:solidFill>
                  </a:rPr>
                  <a:t>Objetivo</a:t>
                </a:r>
                <a:r>
                  <a:rPr lang="pt-BR" dirty="0"/>
                  <a:t>: agilizar o processo de avaliação de propriedades.</a:t>
                </a:r>
              </a:p>
            </p:txBody>
          </p:sp>
        </mc:Choice>
        <mc:Fallback xmlns="">
          <p:sp>
            <p:nvSpPr>
              <p:cNvPr id="10" name="Content Placeholder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4291" y="5122567"/>
                <a:ext cx="11185960" cy="1735434"/>
              </a:xfrm>
              <a:prstGeom prst="rect">
                <a:avLst/>
              </a:prstGeom>
              <a:blipFill>
                <a:blip r:embed="rId6"/>
                <a:stretch>
                  <a:fillRect l="-981" t="-7719" r="-1035" b="-175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/>
          <p:cNvSpPr txBox="1"/>
          <p:nvPr/>
        </p:nvSpPr>
        <p:spPr>
          <a:xfrm>
            <a:off x="1555520" y="4556041"/>
            <a:ext cx="22249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dirty="0"/>
              <a:t>R$ 1.000.000,00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14109" y="4567526"/>
            <a:ext cx="20030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dirty="0"/>
              <a:t>R$ 200.000,00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07147" y="4517680"/>
            <a:ext cx="262004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400" b="1" dirty="0">
                <a:solidFill>
                  <a:srgbClr val="FF0000"/>
                </a:solidFill>
              </a:rPr>
              <a:t>???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/>
              <p:cNvSpPr txBox="1"/>
              <p:nvPr/>
            </p:nvSpPr>
            <p:spPr>
              <a:xfrm>
                <a:off x="1260591" y="2308362"/>
                <a:ext cx="2923229" cy="5903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1600" dirty="0"/>
                  <a:t>5 quartos, 3 vagas na garagem, 1 piscina, cond. de luxo, 500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sz="160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p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pt-BR" sz="1600" dirty="0"/>
              </a:p>
            </p:txBody>
          </p:sp>
        </mc:Choice>
        <mc:Fallback xmlns="">
          <p:sp>
            <p:nvSpPr>
              <p:cNvPr id="4" name="TextBox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60591" y="2308362"/>
                <a:ext cx="2923229" cy="590354"/>
              </a:xfrm>
              <a:prstGeom prst="rect">
                <a:avLst/>
              </a:prstGeom>
              <a:blipFill>
                <a:blip r:embed="rId7"/>
                <a:stretch>
                  <a:fillRect l="-418" t="-3093" r="-1879" b="-1237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/>
              <p:cNvSpPr txBox="1"/>
              <p:nvPr/>
            </p:nvSpPr>
            <p:spPr>
              <a:xfrm>
                <a:off x="4694503" y="2316101"/>
                <a:ext cx="2804242" cy="5903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nl-BE"/>
                </a:defPPr>
                <a:lvl1pPr algn="ctr">
                  <a:defRPr sz="1600"/>
                </a:lvl1pPr>
              </a:lstStyle>
              <a:p>
                <a:r>
                  <a:rPr lang="pt-BR" dirty="0"/>
                  <a:t>1 quarto, sem vaga na garagem, bairro afastado, 70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p>
                        <m:r>
                          <a:rPr lang="pt-BR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pt-BR" dirty="0"/>
              </a:p>
            </p:txBody>
          </p:sp>
        </mc:Choice>
        <mc:Fallback xmlns="">
          <p:sp>
            <p:nvSpPr>
              <p:cNvPr id="13" name="TextBox 1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94503" y="2316101"/>
                <a:ext cx="2804242" cy="590354"/>
              </a:xfrm>
              <a:prstGeom prst="rect">
                <a:avLst/>
              </a:prstGeom>
              <a:blipFill>
                <a:blip r:embed="rId8"/>
                <a:stretch>
                  <a:fillRect l="-870" t="-3093" r="-3043" b="-1237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/>
              <p:cNvSpPr txBox="1"/>
              <p:nvPr/>
            </p:nvSpPr>
            <p:spPr>
              <a:xfrm>
                <a:off x="8207147" y="2361659"/>
                <a:ext cx="2622490" cy="5903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nl-BE"/>
                </a:defPPr>
                <a:lvl1pPr algn="ctr">
                  <a:defRPr sz="1600"/>
                </a:lvl1pPr>
              </a:lstStyle>
              <a:p>
                <a:r>
                  <a:rPr lang="pt-BR" dirty="0"/>
                  <a:t>2 quartos, 1 vaga na garagem, centro, 200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p>
                        <m:r>
                          <a:rPr lang="pt-BR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pt-BR" dirty="0"/>
              </a:p>
            </p:txBody>
          </p:sp>
        </mc:Choice>
        <mc:Fallback xmlns="">
          <p:sp>
            <p:nvSpPr>
              <p:cNvPr id="14" name="TextBox 1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07147" y="2361659"/>
                <a:ext cx="2622490" cy="590354"/>
              </a:xfrm>
              <a:prstGeom prst="rect">
                <a:avLst/>
              </a:prstGeom>
              <a:blipFill>
                <a:blip r:embed="rId9"/>
                <a:stretch>
                  <a:fillRect t="-3093" b="-1237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18024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Motivação</a:t>
            </a:r>
          </a:p>
        </p:txBody>
      </p:sp>
      <p:sp>
        <p:nvSpPr>
          <p:cNvPr id="9" name="Content Placeholder 2"/>
          <p:cNvSpPr>
            <a:spLocks noGrp="1"/>
          </p:cNvSpPr>
          <p:nvPr>
            <p:ph idx="1"/>
          </p:nvPr>
        </p:nvSpPr>
        <p:spPr>
          <a:xfrm>
            <a:off x="627847" y="1654207"/>
            <a:ext cx="10515600" cy="604252"/>
          </a:xfrm>
        </p:spPr>
        <p:txBody>
          <a:bodyPr>
            <a:normAutofit/>
          </a:bodyPr>
          <a:lstStyle/>
          <a:p>
            <a:r>
              <a:rPr lang="pt-BR" b="1" dirty="0"/>
              <a:t>Exemplo 2</a:t>
            </a:r>
            <a:r>
              <a:rPr lang="pt-BR" dirty="0"/>
              <a:t>: Estimar as vendas de picolés.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Content Placeholder 2"/>
              <p:cNvSpPr txBox="1">
                <a:spLocks/>
              </p:cNvSpPr>
              <p:nvPr/>
            </p:nvSpPr>
            <p:spPr>
              <a:xfrm>
                <a:off x="734290" y="5532439"/>
                <a:ext cx="11230027" cy="1325562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 lnSpcReduction="10000"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pt-BR" dirty="0"/>
                  <a:t>Podemos usar regressão para encontrar um </a:t>
                </a:r>
                <a:r>
                  <a:rPr lang="pt-BR" b="1" i="1" dirty="0">
                    <a:solidFill>
                      <a:srgbClr val="0070C0"/>
                    </a:solidFill>
                  </a:rPr>
                  <a:t>mapeamento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, entre a temperatura média de um dia e a quantidade de picolés vendidos.</a:t>
                </a:r>
              </a:p>
              <a:p>
                <a:r>
                  <a:rPr lang="pt-BR" b="1" dirty="0">
                    <a:solidFill>
                      <a:srgbClr val="00B050"/>
                    </a:solidFill>
                  </a:rPr>
                  <a:t>Objetivo</a:t>
                </a:r>
                <a:r>
                  <a:rPr lang="pt-BR" dirty="0"/>
                  <a:t>: reduzir o desperdício e aumentar os lucros.</a:t>
                </a:r>
              </a:p>
            </p:txBody>
          </p:sp>
        </mc:Choice>
        <mc:Fallback xmlns="">
          <p:sp>
            <p:nvSpPr>
              <p:cNvPr id="10" name="Content Placeholder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4290" y="5532439"/>
                <a:ext cx="11230027" cy="1325562"/>
              </a:xfrm>
              <a:prstGeom prst="rect">
                <a:avLst/>
              </a:prstGeom>
              <a:blipFill>
                <a:blip r:embed="rId3"/>
                <a:stretch>
                  <a:fillRect l="-977" t="-10599" b="-783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Imagem 4">
            <a:extLst>
              <a:ext uri="{FF2B5EF4-FFF2-40B4-BE49-F238E27FC236}">
                <a16:creationId xmlns:a16="http://schemas.microsoft.com/office/drawing/2014/main" id="{D3B9ED84-5245-7889-8D8D-F74C85EB5B65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3762" t="9838" r="8646"/>
          <a:stretch/>
        </p:blipFill>
        <p:spPr>
          <a:xfrm>
            <a:off x="3811838" y="2364559"/>
            <a:ext cx="3800818" cy="2934238"/>
          </a:xfrm>
          <a:prstGeom prst="rect">
            <a:avLst/>
          </a:prstGeom>
        </p:spPr>
      </p:pic>
      <p:pic>
        <p:nvPicPr>
          <p:cNvPr id="15" name="Picture 2" descr="Picolé Electron – Sorvete Itália">
            <a:extLst>
              <a:ext uri="{FF2B5EF4-FFF2-40B4-BE49-F238E27FC236}">
                <a16:creationId xmlns:a16="http://schemas.microsoft.com/office/drawing/2014/main" id="{673E1C42-10C3-AF6F-1FF0-110BD135CF8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26446" y="3547541"/>
            <a:ext cx="1075397" cy="10753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067771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36C16A22-1E29-D959-69D9-364EB3DA76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593975"/>
            <a:ext cx="10515600" cy="1670050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4800" i="1" dirty="0"/>
              <a:t>Como podemos resolver esses problemas de estimação?</a:t>
            </a:r>
          </a:p>
        </p:txBody>
      </p:sp>
    </p:spTree>
    <p:extLst>
      <p:ext uri="{BB962C8B-B14F-4D97-AF65-F5344CB8AC3E}">
        <p14:creationId xmlns:p14="http://schemas.microsoft.com/office/powerpoint/2010/main" val="38307653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Machine Learning : 'Regression' - Day 3">
            <a:extLst>
              <a:ext uri="{FF2B5EF4-FFF2-40B4-BE49-F238E27FC236}">
                <a16:creationId xmlns:a16="http://schemas.microsoft.com/office/drawing/2014/main" id="{8C5B78AE-E842-ED4F-93D3-10BD1150033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0089" y="1589917"/>
            <a:ext cx="6332081" cy="40519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8207647-D845-CF7E-6030-46E4389E11DD}"/>
              </a:ext>
            </a:extLst>
          </p:cNvPr>
          <p:cNvSpPr txBox="1"/>
          <p:nvPr/>
        </p:nvSpPr>
        <p:spPr>
          <a:xfrm>
            <a:off x="7304313" y="2798019"/>
            <a:ext cx="4321630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pt-BR" sz="4800" dirty="0"/>
              <a:t>Usando regressão linear!</a:t>
            </a:r>
            <a:endParaRPr lang="en-US" sz="4800" dirty="0"/>
          </a:p>
        </p:txBody>
      </p:sp>
    </p:spTree>
    <p:extLst>
      <p:ext uri="{BB962C8B-B14F-4D97-AF65-F5344CB8AC3E}">
        <p14:creationId xmlns:p14="http://schemas.microsoft.com/office/powerpoint/2010/main" val="69547260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E06FD5B-6F51-847E-A4A8-1A8128322F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Regressão linear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76F0953-075A-79EF-554F-4E05524F1D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52501" y="1825624"/>
            <a:ext cx="6533004" cy="5032375"/>
          </a:xfrm>
        </p:spPr>
        <p:txBody>
          <a:bodyPr>
            <a:normAutofit/>
          </a:bodyPr>
          <a:lstStyle/>
          <a:p>
            <a:r>
              <a:rPr lang="pt-BR" dirty="0"/>
              <a:t>É um dos algoritmos mais simples, antigos e usados de aprendizado de máquina.</a:t>
            </a:r>
          </a:p>
          <a:p>
            <a:r>
              <a:rPr lang="pt-BR" dirty="0"/>
              <a:t>Nos dará </a:t>
            </a:r>
            <a:r>
              <a:rPr lang="pt-BR" b="1" i="1" dirty="0"/>
              <a:t>intuições</a:t>
            </a:r>
            <a:r>
              <a:rPr lang="pt-BR" dirty="0"/>
              <a:t> importantes para o </a:t>
            </a:r>
            <a:r>
              <a:rPr lang="pt-BR" b="1" i="1" dirty="0"/>
              <a:t>entendimento</a:t>
            </a:r>
            <a:r>
              <a:rPr lang="pt-BR" dirty="0"/>
              <a:t> de </a:t>
            </a:r>
            <a:r>
              <a:rPr lang="pt-BR" b="1" i="1" dirty="0"/>
              <a:t>algoritmos mais complexos</a:t>
            </a:r>
            <a:r>
              <a:rPr lang="pt-BR" dirty="0"/>
              <a:t>, como </a:t>
            </a:r>
            <a:r>
              <a:rPr lang="pt-BR" b="1" i="1" dirty="0"/>
              <a:t>classificadores</a:t>
            </a:r>
            <a:r>
              <a:rPr lang="pt-BR" dirty="0"/>
              <a:t> e </a:t>
            </a:r>
            <a:r>
              <a:rPr lang="pt-BR" b="1" i="1" dirty="0"/>
              <a:t>redes neurais</a:t>
            </a:r>
            <a:r>
              <a:rPr lang="pt-BR" dirty="0"/>
              <a:t>.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CAA6EE23-CD07-9149-8335-18879B84AB15}"/>
              </a:ext>
            </a:extLst>
          </p:cNvPr>
          <p:cNvGrpSpPr/>
          <p:nvPr/>
        </p:nvGrpSpPr>
        <p:grpSpPr>
          <a:xfrm>
            <a:off x="313057" y="2511846"/>
            <a:ext cx="4622500" cy="3152391"/>
            <a:chOff x="313057" y="2511846"/>
            <a:chExt cx="4622500" cy="3152391"/>
          </a:xfrm>
        </p:grpSpPr>
        <p:grpSp>
          <p:nvGrpSpPr>
            <p:cNvPr id="7" name="Agrupar 8">
              <a:extLst>
                <a:ext uri="{FF2B5EF4-FFF2-40B4-BE49-F238E27FC236}">
                  <a16:creationId xmlns:a16="http://schemas.microsoft.com/office/drawing/2014/main" id="{CF20AF4F-BFBD-21EC-07E1-41C0B2191505}"/>
                </a:ext>
              </a:extLst>
            </p:cNvPr>
            <p:cNvGrpSpPr/>
            <p:nvPr/>
          </p:nvGrpSpPr>
          <p:grpSpPr>
            <a:xfrm>
              <a:off x="313057" y="2511846"/>
              <a:ext cx="4622500" cy="3152391"/>
              <a:chOff x="379861" y="2379643"/>
              <a:chExt cx="4622500" cy="3152391"/>
            </a:xfrm>
          </p:grpSpPr>
          <p:pic>
            <p:nvPicPr>
              <p:cNvPr id="11" name="Imagem 4">
                <a:extLst>
                  <a:ext uri="{FF2B5EF4-FFF2-40B4-BE49-F238E27FC236}">
                    <a16:creationId xmlns:a16="http://schemas.microsoft.com/office/drawing/2014/main" id="{4D31E461-1A6A-29D1-2297-DFBFD51CB0D8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3463" t="9957" r="8514"/>
              <a:stretch/>
            </p:blipFill>
            <p:spPr>
              <a:xfrm>
                <a:off x="379861" y="2379643"/>
                <a:ext cx="4622500" cy="3152391"/>
              </a:xfrm>
              <a:prstGeom prst="rect">
                <a:avLst/>
              </a:prstGeom>
            </p:spPr>
          </p:pic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" name="CaixaDeTexto 5">
                    <a:extLst>
                      <a:ext uri="{FF2B5EF4-FFF2-40B4-BE49-F238E27FC236}">
                        <a16:creationId xmlns:a16="http://schemas.microsoft.com/office/drawing/2014/main" id="{E01136AD-4899-EC9B-8DFF-D35176FFB912}"/>
                      </a:ext>
                    </a:extLst>
                  </p:cNvPr>
                  <p:cNvSpPr txBox="1"/>
                  <p:nvPr/>
                </p:nvSpPr>
                <p:spPr>
                  <a:xfrm>
                    <a:off x="3410072" y="3635566"/>
                    <a:ext cx="738130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6" name="CaixaDeTexto 5">
                    <a:extLst>
                      <a:ext uri="{FF2B5EF4-FFF2-40B4-BE49-F238E27FC236}">
                        <a16:creationId xmlns:a16="http://schemas.microsoft.com/office/drawing/2014/main" id="{10491C75-CC2B-4E6F-00D1-D7BCDA1CAC5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410072" y="3635566"/>
                    <a:ext cx="738130" cy="36933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b="-13115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3" name="Conector de Seta Reta 7">
                <a:extLst>
                  <a:ext uri="{FF2B5EF4-FFF2-40B4-BE49-F238E27FC236}">
                    <a16:creationId xmlns:a16="http://schemas.microsoft.com/office/drawing/2014/main" id="{E6A4E71A-8296-6E9B-6F53-58CD005C17C6}"/>
                  </a:ext>
                </a:extLst>
              </p:cNvPr>
              <p:cNvCxnSpPr/>
              <p:nvPr/>
            </p:nvCxnSpPr>
            <p:spPr>
              <a:xfrm>
                <a:off x="3150824" y="3602516"/>
                <a:ext cx="374574" cy="198303"/>
              </a:xfrm>
              <a:prstGeom prst="straightConnector1">
                <a:avLst/>
              </a:prstGeom>
              <a:ln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CaixaDeTexto 3">
                  <a:extLst>
                    <a:ext uri="{FF2B5EF4-FFF2-40B4-BE49-F238E27FC236}">
                      <a16:creationId xmlns:a16="http://schemas.microsoft.com/office/drawing/2014/main" id="{9E8479D2-8EC0-0456-F706-2969C0BC1122}"/>
                    </a:ext>
                  </a:extLst>
                </p:cNvPr>
                <p:cNvSpPr txBox="1"/>
                <p:nvPr/>
              </p:nvSpPr>
              <p:spPr>
                <a:xfrm>
                  <a:off x="2409352" y="2755948"/>
                  <a:ext cx="738130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4" name="CaixaDeTexto 3">
                  <a:extLst>
                    <a:ext uri="{FF2B5EF4-FFF2-40B4-BE49-F238E27FC236}">
                      <a16:creationId xmlns:a16="http://schemas.microsoft.com/office/drawing/2014/main" id="{B6371B7D-BB1A-D7F3-A54B-3E89596BFE8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09352" y="2755948"/>
                  <a:ext cx="738130" cy="307777"/>
                </a:xfrm>
                <a:prstGeom prst="rect">
                  <a:avLst/>
                </a:prstGeom>
                <a:blipFill>
                  <a:blip r:embed="rId6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46901249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E06FD5B-6F51-847E-A4A8-1A8128322F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Qual o objetivo da regressão linear?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B76F0953-075A-79EF-554F-4E05524F1DC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355771" y="1825624"/>
                <a:ext cx="6729733" cy="5032375"/>
              </a:xfrm>
            </p:spPr>
            <p:txBody>
              <a:bodyPr>
                <a:normAutofit/>
              </a:bodyPr>
              <a:lstStyle/>
              <a:p>
                <a:r>
                  <a:rPr lang="pt-BR" b="1" dirty="0"/>
                  <a:t>Objetivo</a:t>
                </a:r>
                <a:r>
                  <a:rPr lang="pt-BR" dirty="0"/>
                  <a:t>: encontrar uma função,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h</m:t>
                    </m:r>
                    <m:d>
                      <m:dPr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, que </a:t>
                </a:r>
                <a:r>
                  <a:rPr lang="pt-BR" b="1" dirty="0">
                    <a:solidFill>
                      <a:srgbClr val="00B050"/>
                    </a:solidFill>
                  </a:rPr>
                  <a:t>mapeie</a:t>
                </a:r>
                <a:r>
                  <a:rPr lang="pt-BR" dirty="0"/>
                  <a:t> os </a:t>
                </a:r>
                <a:r>
                  <a:rPr lang="pt-BR" b="1" dirty="0">
                    <a:solidFill>
                      <a:srgbClr val="7030A0"/>
                    </a:solidFill>
                  </a:rPr>
                  <a:t>atributos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pt-BR" dirty="0"/>
                  <a:t>, em uma variável de saída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𝑦</m:t>
                        </m:r>
                      </m:e>
                    </m:acc>
                    <m:r>
                      <a:rPr lang="pt-BR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h</m:t>
                    </m:r>
                    <m:d>
                      <m:dPr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, de tal forma que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h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 se ajuste aos dados coletados de </a:t>
                </a:r>
                <a:r>
                  <a:rPr lang="pt-BR" b="1" dirty="0">
                    <a:solidFill>
                      <a:srgbClr val="00B050"/>
                    </a:solidFill>
                  </a:rPr>
                  <a:t>forma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 </a:t>
                </a:r>
                <a:r>
                  <a:rPr lang="pt-BR" b="1" dirty="0">
                    <a:solidFill>
                      <a:srgbClr val="00B050"/>
                    </a:solidFill>
                  </a:rPr>
                  <a:t>ótima</a:t>
                </a:r>
                <a:r>
                  <a:rPr lang="pt-BR" dirty="0"/>
                  <a:t>.</a:t>
                </a:r>
              </a:p>
              <a:p>
                <a:r>
                  <a:rPr lang="pt-BR" b="0" i="0" dirty="0">
                    <a:solidFill>
                      <a:schemeClr val="tx1"/>
                    </a:solidFill>
                    <a:effectLst/>
                  </a:rPr>
                  <a:t>Ótimo no sentido da </a:t>
                </a:r>
                <a:r>
                  <a:rPr lang="pt-BR" b="1" dirty="0">
                    <a:solidFill>
                      <a:srgbClr val="00B050"/>
                    </a:solidFill>
                    <a:effectLst/>
                  </a:rPr>
                  <a:t>minimização</a:t>
                </a:r>
                <a:r>
                  <a:rPr lang="pt-BR" b="1" i="1" dirty="0">
                    <a:solidFill>
                      <a:srgbClr val="00B050"/>
                    </a:solidFill>
                    <a:effectLst/>
                  </a:rPr>
                  <a:t> </a:t>
                </a:r>
                <a:r>
                  <a:rPr lang="pt-BR" b="1" dirty="0">
                    <a:solidFill>
                      <a:srgbClr val="00B050"/>
                    </a:solidFill>
                    <a:effectLst/>
                  </a:rPr>
                  <a:t>da diferença</a:t>
                </a:r>
                <a:r>
                  <a:rPr lang="pt-BR" b="1" i="1" dirty="0">
                    <a:solidFill>
                      <a:srgbClr val="00B050"/>
                    </a:solidFill>
                    <a:effectLst/>
                  </a:rPr>
                  <a:t> </a:t>
                </a:r>
                <a:r>
                  <a:rPr lang="pt-BR" b="0" i="0" dirty="0">
                    <a:solidFill>
                      <a:schemeClr val="tx1"/>
                    </a:solidFill>
                    <a:effectLst/>
                  </a:rPr>
                  <a:t>entre as predições feitas por </a:t>
                </a:r>
                <a14:m>
                  <m:oMath xmlns:m="http://schemas.openxmlformats.org/officeDocument/2006/math">
                    <m:r>
                      <a:rPr lang="pt-BR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h</m:t>
                    </m:r>
                    <m:r>
                      <a:rPr lang="pt-BR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b="0" i="0" dirty="0">
                    <a:solidFill>
                      <a:schemeClr val="tx1"/>
                    </a:solidFill>
                    <a:effectLst/>
                  </a:rPr>
                  <a:t>, (i.e., os valores de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𝑦</m:t>
                        </m:r>
                      </m:e>
                    </m:acc>
                  </m:oMath>
                </a14:m>
                <a:r>
                  <a:rPr lang="pt-BR" b="0" i="0" dirty="0">
                    <a:solidFill>
                      <a:schemeClr val="tx1"/>
                    </a:solidFill>
                    <a:effectLst/>
                  </a:rPr>
                  <a:t>), e os </a:t>
                </a:r>
                <a:r>
                  <a:rPr lang="pt-BR" b="1" i="0" dirty="0">
                    <a:solidFill>
                      <a:srgbClr val="7030A0"/>
                    </a:solidFill>
                    <a:effectLst/>
                  </a:rPr>
                  <a:t>rótulos</a:t>
                </a:r>
                <a:r>
                  <a:rPr lang="pt-BR" b="0" i="0" dirty="0">
                    <a:solidFill>
                      <a:schemeClr val="tx1"/>
                    </a:solidFill>
                    <a:effectLst/>
                  </a:rPr>
                  <a:t>, (i.e., os </a:t>
                </a:r>
                <a:r>
                  <a:rPr lang="pt-BR" dirty="0"/>
                  <a:t>valores esperados de saída, </a:t>
                </a:r>
                <a14:m>
                  <m:oMath xmlns:m="http://schemas.openxmlformats.org/officeDocument/2006/math">
                    <m:r>
                      <a:rPr lang="pt-BR" b="0" i="1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pt-BR" b="0" i="0" dirty="0">
                    <a:solidFill>
                      <a:schemeClr val="tx1"/>
                    </a:solidFill>
                    <a:effectLst/>
                  </a:rPr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B76F0953-075A-79EF-554F-4E05524F1DC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355771" y="1825624"/>
                <a:ext cx="6729733" cy="5032375"/>
              </a:xfrm>
              <a:blipFill>
                <a:blip r:embed="rId3"/>
                <a:stretch>
                  <a:fillRect l="-1630" t="-1937" r="-27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7" name="Group 6">
            <a:extLst>
              <a:ext uri="{FF2B5EF4-FFF2-40B4-BE49-F238E27FC236}">
                <a16:creationId xmlns:a16="http://schemas.microsoft.com/office/drawing/2014/main" id="{0B11DDB3-BDC9-57EF-0BC8-921A1B6B8D9B}"/>
              </a:ext>
            </a:extLst>
          </p:cNvPr>
          <p:cNvGrpSpPr/>
          <p:nvPr/>
        </p:nvGrpSpPr>
        <p:grpSpPr>
          <a:xfrm>
            <a:off x="313057" y="2511846"/>
            <a:ext cx="4622500" cy="3152391"/>
            <a:chOff x="313057" y="2511846"/>
            <a:chExt cx="4622500" cy="3152391"/>
          </a:xfrm>
        </p:grpSpPr>
        <p:grpSp>
          <p:nvGrpSpPr>
            <p:cNvPr id="9" name="Agrupar 8">
              <a:extLst>
                <a:ext uri="{FF2B5EF4-FFF2-40B4-BE49-F238E27FC236}">
                  <a16:creationId xmlns:a16="http://schemas.microsoft.com/office/drawing/2014/main" id="{7184A45B-D6CC-54CD-EE0B-7CE85A9D94D5}"/>
                </a:ext>
              </a:extLst>
            </p:cNvPr>
            <p:cNvGrpSpPr/>
            <p:nvPr/>
          </p:nvGrpSpPr>
          <p:grpSpPr>
            <a:xfrm>
              <a:off x="313057" y="2511846"/>
              <a:ext cx="4622500" cy="3152391"/>
              <a:chOff x="379861" y="2379643"/>
              <a:chExt cx="4622500" cy="3152391"/>
            </a:xfrm>
          </p:grpSpPr>
          <p:pic>
            <p:nvPicPr>
              <p:cNvPr id="5" name="Imagem 4">
                <a:extLst>
                  <a:ext uri="{FF2B5EF4-FFF2-40B4-BE49-F238E27FC236}">
                    <a16:creationId xmlns:a16="http://schemas.microsoft.com/office/drawing/2014/main" id="{AF1170FE-5534-DC43-8150-E2919F18F249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4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3463" t="9957" r="8514"/>
              <a:stretch/>
            </p:blipFill>
            <p:spPr>
              <a:xfrm>
                <a:off x="379861" y="2379643"/>
                <a:ext cx="4622500" cy="3152391"/>
              </a:xfrm>
              <a:prstGeom prst="rect">
                <a:avLst/>
              </a:prstGeom>
            </p:spPr>
          </p:pic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" name="CaixaDeTexto 5">
                    <a:extLst>
                      <a:ext uri="{FF2B5EF4-FFF2-40B4-BE49-F238E27FC236}">
                        <a16:creationId xmlns:a16="http://schemas.microsoft.com/office/drawing/2014/main" id="{10491C75-CC2B-4E6F-00D1-D7BCDA1CAC51}"/>
                      </a:ext>
                    </a:extLst>
                  </p:cNvPr>
                  <p:cNvSpPr txBox="1"/>
                  <p:nvPr/>
                </p:nvSpPr>
                <p:spPr>
                  <a:xfrm>
                    <a:off x="3410072" y="3635566"/>
                    <a:ext cx="738130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6" name="CaixaDeTexto 5">
                    <a:extLst>
                      <a:ext uri="{FF2B5EF4-FFF2-40B4-BE49-F238E27FC236}">
                        <a16:creationId xmlns:a16="http://schemas.microsoft.com/office/drawing/2014/main" id="{10491C75-CC2B-4E6F-00D1-D7BCDA1CAC5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410072" y="3635566"/>
                    <a:ext cx="738130" cy="36933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b="-13115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8" name="Conector de Seta Reta 7">
                <a:extLst>
                  <a:ext uri="{FF2B5EF4-FFF2-40B4-BE49-F238E27FC236}">
                    <a16:creationId xmlns:a16="http://schemas.microsoft.com/office/drawing/2014/main" id="{29596D1D-F48C-73D6-3778-6E52A3153EFC}"/>
                  </a:ext>
                </a:extLst>
              </p:cNvPr>
              <p:cNvCxnSpPr/>
              <p:nvPr/>
            </p:nvCxnSpPr>
            <p:spPr>
              <a:xfrm>
                <a:off x="3150824" y="3602516"/>
                <a:ext cx="374574" cy="198303"/>
              </a:xfrm>
              <a:prstGeom prst="straightConnector1">
                <a:avLst/>
              </a:prstGeom>
              <a:ln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CaixaDeTexto 3">
                  <a:extLst>
                    <a:ext uri="{FF2B5EF4-FFF2-40B4-BE49-F238E27FC236}">
                      <a16:creationId xmlns:a16="http://schemas.microsoft.com/office/drawing/2014/main" id="{B6371B7D-BB1A-D7F3-A54B-3E89596BFE8C}"/>
                    </a:ext>
                  </a:extLst>
                </p:cNvPr>
                <p:cNvSpPr txBox="1"/>
                <p:nvPr/>
              </p:nvSpPr>
              <p:spPr>
                <a:xfrm>
                  <a:off x="2409352" y="2755948"/>
                  <a:ext cx="738130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4" name="CaixaDeTexto 3">
                  <a:extLst>
                    <a:ext uri="{FF2B5EF4-FFF2-40B4-BE49-F238E27FC236}">
                      <a16:creationId xmlns:a16="http://schemas.microsoft.com/office/drawing/2014/main" id="{B6371B7D-BB1A-D7F3-A54B-3E89596BFE8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09352" y="2755948"/>
                  <a:ext cx="738130" cy="307777"/>
                </a:xfrm>
                <a:prstGeom prst="rect">
                  <a:avLst/>
                </a:prstGeom>
                <a:blipFill>
                  <a:blip r:embed="rId6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418058722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C106918-4928-8D8F-109D-FE4154A6AC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Qual é o paradigma de aprendizado?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5873D4D9-70C9-4892-D3C8-28B1750BC29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541485" y="1825624"/>
                <a:ext cx="6477918" cy="5032375"/>
              </a:xfrm>
            </p:spPr>
            <p:txBody>
              <a:bodyPr/>
              <a:lstStyle/>
              <a:p>
                <a:r>
                  <a:rPr lang="pt-BR" dirty="0"/>
                  <a:t>Dado que possuímos um </a:t>
                </a:r>
                <a:r>
                  <a:rPr lang="pt-BR" b="1" dirty="0"/>
                  <a:t>conjunto</a:t>
                </a:r>
                <a:r>
                  <a:rPr lang="pt-BR" dirty="0"/>
                  <a:t> de valores de entrada,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pt-BR" dirty="0"/>
                  <a:t> (os </a:t>
                </a:r>
                <a:r>
                  <a:rPr lang="pt-BR" b="1" dirty="0"/>
                  <a:t>atributos</a:t>
                </a:r>
                <a:r>
                  <a:rPr lang="pt-BR" dirty="0"/>
                  <a:t>), e os seus respectivos valores esperados de saída,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pt-BR" dirty="0"/>
                  <a:t> (os </a:t>
                </a:r>
                <a:r>
                  <a:rPr lang="pt-BR" b="1" dirty="0"/>
                  <a:t>rótulos</a:t>
                </a:r>
                <a:r>
                  <a:rPr lang="pt-BR" dirty="0"/>
                  <a:t>), </a:t>
                </a:r>
                <a:r>
                  <a:rPr lang="pt-BR" b="1" dirty="0">
                    <a:solidFill>
                      <a:srgbClr val="00B0F0"/>
                    </a:solidFill>
                  </a:rPr>
                  <a:t>que tipo de aprendizado é realizado pela regressão linear?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5873D4D9-70C9-4892-D3C8-28B1750BC29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541485" y="1825624"/>
                <a:ext cx="6477918" cy="5032375"/>
              </a:xfrm>
              <a:blipFill>
                <a:blip r:embed="rId2"/>
                <a:stretch>
                  <a:fillRect l="-1693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" name="Group 4">
            <a:extLst>
              <a:ext uri="{FF2B5EF4-FFF2-40B4-BE49-F238E27FC236}">
                <a16:creationId xmlns:a16="http://schemas.microsoft.com/office/drawing/2014/main" id="{1235B076-2510-BA54-045E-9FDA19549589}"/>
              </a:ext>
            </a:extLst>
          </p:cNvPr>
          <p:cNvGrpSpPr/>
          <p:nvPr/>
        </p:nvGrpSpPr>
        <p:grpSpPr>
          <a:xfrm>
            <a:off x="313057" y="2511846"/>
            <a:ext cx="4622500" cy="3152391"/>
            <a:chOff x="313057" y="2511846"/>
            <a:chExt cx="4622500" cy="3152391"/>
          </a:xfrm>
        </p:grpSpPr>
        <p:grpSp>
          <p:nvGrpSpPr>
            <p:cNvPr id="8" name="Agrupar 8">
              <a:extLst>
                <a:ext uri="{FF2B5EF4-FFF2-40B4-BE49-F238E27FC236}">
                  <a16:creationId xmlns:a16="http://schemas.microsoft.com/office/drawing/2014/main" id="{6BA6F8C4-313D-7B7A-8A78-327F3069654F}"/>
                </a:ext>
              </a:extLst>
            </p:cNvPr>
            <p:cNvGrpSpPr/>
            <p:nvPr/>
          </p:nvGrpSpPr>
          <p:grpSpPr>
            <a:xfrm>
              <a:off x="313057" y="2511846"/>
              <a:ext cx="4622500" cy="3152391"/>
              <a:chOff x="379861" y="2379643"/>
              <a:chExt cx="4622500" cy="3152391"/>
            </a:xfrm>
          </p:grpSpPr>
          <p:pic>
            <p:nvPicPr>
              <p:cNvPr id="10" name="Imagem 4">
                <a:extLst>
                  <a:ext uri="{FF2B5EF4-FFF2-40B4-BE49-F238E27FC236}">
                    <a16:creationId xmlns:a16="http://schemas.microsoft.com/office/drawing/2014/main" id="{2FDB8C03-A236-C2AB-BA26-35BCEB125546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3463" t="9957" r="8514"/>
              <a:stretch/>
            </p:blipFill>
            <p:spPr>
              <a:xfrm>
                <a:off x="379861" y="2379643"/>
                <a:ext cx="4622500" cy="3152391"/>
              </a:xfrm>
              <a:prstGeom prst="rect">
                <a:avLst/>
              </a:prstGeom>
            </p:spPr>
          </p:pic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" name="CaixaDeTexto 5">
                    <a:extLst>
                      <a:ext uri="{FF2B5EF4-FFF2-40B4-BE49-F238E27FC236}">
                        <a16:creationId xmlns:a16="http://schemas.microsoft.com/office/drawing/2014/main" id="{D1A24C38-EFA6-2F8B-5C0C-9C486DD9AA95}"/>
                      </a:ext>
                    </a:extLst>
                  </p:cNvPr>
                  <p:cNvSpPr txBox="1"/>
                  <p:nvPr/>
                </p:nvSpPr>
                <p:spPr>
                  <a:xfrm>
                    <a:off x="3410072" y="3635566"/>
                    <a:ext cx="738130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6" name="CaixaDeTexto 5">
                    <a:extLst>
                      <a:ext uri="{FF2B5EF4-FFF2-40B4-BE49-F238E27FC236}">
                        <a16:creationId xmlns:a16="http://schemas.microsoft.com/office/drawing/2014/main" id="{10491C75-CC2B-4E6F-00D1-D7BCDA1CAC5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410072" y="3635566"/>
                    <a:ext cx="738130" cy="36933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b="-13115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2" name="Conector de Seta Reta 7">
                <a:extLst>
                  <a:ext uri="{FF2B5EF4-FFF2-40B4-BE49-F238E27FC236}">
                    <a16:creationId xmlns:a16="http://schemas.microsoft.com/office/drawing/2014/main" id="{57EE6B8B-A053-340A-CAEE-30CFEBD53D7E}"/>
                  </a:ext>
                </a:extLst>
              </p:cNvPr>
              <p:cNvCxnSpPr/>
              <p:nvPr/>
            </p:nvCxnSpPr>
            <p:spPr>
              <a:xfrm>
                <a:off x="3150824" y="3602516"/>
                <a:ext cx="374574" cy="198303"/>
              </a:xfrm>
              <a:prstGeom prst="straightConnector1">
                <a:avLst/>
              </a:prstGeom>
              <a:ln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CaixaDeTexto 3">
                  <a:extLst>
                    <a:ext uri="{FF2B5EF4-FFF2-40B4-BE49-F238E27FC236}">
                      <a16:creationId xmlns:a16="http://schemas.microsoft.com/office/drawing/2014/main" id="{84693792-F9CA-4DDE-7B29-0D00BA687EFA}"/>
                    </a:ext>
                  </a:extLst>
                </p:cNvPr>
                <p:cNvSpPr txBox="1"/>
                <p:nvPr/>
              </p:nvSpPr>
              <p:spPr>
                <a:xfrm>
                  <a:off x="2409352" y="2755948"/>
                  <a:ext cx="738130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9" name="CaixaDeTexto 3">
                  <a:extLst>
                    <a:ext uri="{FF2B5EF4-FFF2-40B4-BE49-F238E27FC236}">
                      <a16:creationId xmlns:a16="http://schemas.microsoft.com/office/drawing/2014/main" id="{84693792-F9CA-4DDE-7B29-0D00BA687EF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09352" y="2755948"/>
                  <a:ext cx="738130" cy="307777"/>
                </a:xfrm>
                <a:prstGeom prst="rect">
                  <a:avLst/>
                </a:prstGeom>
                <a:blipFill>
                  <a:blip r:embed="rId6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26564449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C106918-4928-8D8F-109D-FE4154A6AC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Qual é o paradigma de aprendizado?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77D13973-0CC4-804D-B65C-ACF1497CA131}"/>
              </a:ext>
            </a:extLst>
          </p:cNvPr>
          <p:cNvSpPr txBox="1"/>
          <p:nvPr/>
        </p:nvSpPr>
        <p:spPr>
          <a:xfrm>
            <a:off x="6543036" y="3032554"/>
            <a:ext cx="3983450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pt-BR" sz="4400" b="1" dirty="0">
                <a:solidFill>
                  <a:srgbClr val="00B050"/>
                </a:solidFill>
              </a:rPr>
              <a:t>Aprendizado supervisionado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74FA83DA-1176-B494-DF6D-26AABD487B72}"/>
              </a:ext>
            </a:extLst>
          </p:cNvPr>
          <p:cNvGrpSpPr/>
          <p:nvPr/>
        </p:nvGrpSpPr>
        <p:grpSpPr>
          <a:xfrm>
            <a:off x="606971" y="2326789"/>
            <a:ext cx="4622500" cy="3152391"/>
            <a:chOff x="313057" y="2511846"/>
            <a:chExt cx="4622500" cy="3152391"/>
          </a:xfrm>
        </p:grpSpPr>
        <p:grpSp>
          <p:nvGrpSpPr>
            <p:cNvPr id="8" name="Agrupar 8">
              <a:extLst>
                <a:ext uri="{FF2B5EF4-FFF2-40B4-BE49-F238E27FC236}">
                  <a16:creationId xmlns:a16="http://schemas.microsoft.com/office/drawing/2014/main" id="{3601490F-BA92-2E2F-4176-8548977CDC6B}"/>
                </a:ext>
              </a:extLst>
            </p:cNvPr>
            <p:cNvGrpSpPr/>
            <p:nvPr/>
          </p:nvGrpSpPr>
          <p:grpSpPr>
            <a:xfrm>
              <a:off x="313057" y="2511846"/>
              <a:ext cx="4622500" cy="3152391"/>
              <a:chOff x="379861" y="2379643"/>
              <a:chExt cx="4622500" cy="3152391"/>
            </a:xfrm>
          </p:grpSpPr>
          <p:pic>
            <p:nvPicPr>
              <p:cNvPr id="10" name="Imagem 4">
                <a:extLst>
                  <a:ext uri="{FF2B5EF4-FFF2-40B4-BE49-F238E27FC236}">
                    <a16:creationId xmlns:a16="http://schemas.microsoft.com/office/drawing/2014/main" id="{5C8759EA-A495-1092-5721-C2D5BB969782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2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3463" t="9957" r="8514"/>
              <a:stretch/>
            </p:blipFill>
            <p:spPr>
              <a:xfrm>
                <a:off x="379861" y="2379643"/>
                <a:ext cx="4622500" cy="3152391"/>
              </a:xfrm>
              <a:prstGeom prst="rect">
                <a:avLst/>
              </a:prstGeom>
            </p:spPr>
          </p:pic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" name="CaixaDeTexto 5">
                    <a:extLst>
                      <a:ext uri="{FF2B5EF4-FFF2-40B4-BE49-F238E27FC236}">
                        <a16:creationId xmlns:a16="http://schemas.microsoft.com/office/drawing/2014/main" id="{3DC28E94-1E78-E96F-81AC-6660B1EAE0DB}"/>
                      </a:ext>
                    </a:extLst>
                  </p:cNvPr>
                  <p:cNvSpPr txBox="1"/>
                  <p:nvPr/>
                </p:nvSpPr>
                <p:spPr>
                  <a:xfrm>
                    <a:off x="3410072" y="3635566"/>
                    <a:ext cx="738130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6" name="CaixaDeTexto 5">
                    <a:extLst>
                      <a:ext uri="{FF2B5EF4-FFF2-40B4-BE49-F238E27FC236}">
                        <a16:creationId xmlns:a16="http://schemas.microsoft.com/office/drawing/2014/main" id="{10491C75-CC2B-4E6F-00D1-D7BCDA1CAC5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410072" y="3635566"/>
                    <a:ext cx="738130" cy="36933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b="-13115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2" name="Conector de Seta Reta 7">
                <a:extLst>
                  <a:ext uri="{FF2B5EF4-FFF2-40B4-BE49-F238E27FC236}">
                    <a16:creationId xmlns:a16="http://schemas.microsoft.com/office/drawing/2014/main" id="{18708C14-B461-C0FC-A091-97D0B01047D3}"/>
                  </a:ext>
                </a:extLst>
              </p:cNvPr>
              <p:cNvCxnSpPr/>
              <p:nvPr/>
            </p:nvCxnSpPr>
            <p:spPr>
              <a:xfrm>
                <a:off x="3150824" y="3602516"/>
                <a:ext cx="374574" cy="198303"/>
              </a:xfrm>
              <a:prstGeom prst="straightConnector1">
                <a:avLst/>
              </a:prstGeom>
              <a:ln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CaixaDeTexto 3">
                  <a:extLst>
                    <a:ext uri="{FF2B5EF4-FFF2-40B4-BE49-F238E27FC236}">
                      <a16:creationId xmlns:a16="http://schemas.microsoft.com/office/drawing/2014/main" id="{CD48A18A-A494-29A6-49E8-BAE3B1ECBF7E}"/>
                    </a:ext>
                  </a:extLst>
                </p:cNvPr>
                <p:cNvSpPr txBox="1"/>
                <p:nvPr/>
              </p:nvSpPr>
              <p:spPr>
                <a:xfrm>
                  <a:off x="2409352" y="2755948"/>
                  <a:ext cx="738130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9" name="CaixaDeTexto 3">
                  <a:extLst>
                    <a:ext uri="{FF2B5EF4-FFF2-40B4-BE49-F238E27FC236}">
                      <a16:creationId xmlns:a16="http://schemas.microsoft.com/office/drawing/2014/main" id="{CD48A18A-A494-29A6-49E8-BAE3B1ECBF7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09352" y="2755948"/>
                  <a:ext cx="738130" cy="307777"/>
                </a:xfrm>
                <a:prstGeom prst="rect">
                  <a:avLst/>
                </a:prstGeom>
                <a:blipFill>
                  <a:blip r:embed="rId6"/>
                  <a:stretch>
                    <a:fillRect b="-8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72006878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3645331-4B2E-BB50-BF81-FDF8C639EE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Por que linear?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67745B10-6162-30F7-6050-58C45B78185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155325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Porque a saída da </a:t>
                </a:r>
                <a:r>
                  <a:rPr lang="pt-BR" b="1" i="1" dirty="0"/>
                  <a:t>função aproximadora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r>
                      <a:rPr lang="pt-BR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h</m:t>
                    </m:r>
                    <m:d>
                      <m:dPr>
                        <m:ctrlP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, é </a:t>
                </a:r>
                <a:r>
                  <a:rPr lang="pt-BR" b="1" i="1" dirty="0">
                    <a:solidFill>
                      <a:srgbClr val="FF0000"/>
                    </a:solidFill>
                  </a:rPr>
                  <a:t>modelada</a:t>
                </a:r>
                <a:r>
                  <a:rPr lang="pt-BR" dirty="0"/>
                  <a:t> como sendo uma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combinação linear dos atributos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pt-BR" dirty="0"/>
                  <a:t>, </a:t>
                </a:r>
                <a:r>
                  <a:rPr lang="pt-BR" b="1" dirty="0">
                    <a:solidFill>
                      <a:srgbClr val="7030A0"/>
                    </a:solidFill>
                  </a:rPr>
                  <a:t>em relação aos pesos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Em geral, usamos </a:t>
                </a:r>
                <a:r>
                  <a:rPr lang="pt-BR" b="1" dirty="0">
                    <a:solidFill>
                      <a:srgbClr val="7030A0"/>
                    </a:solidFill>
                  </a:rPr>
                  <a:t>polinômios</a:t>
                </a:r>
                <a:r>
                  <a:rPr lang="pt-BR" dirty="0"/>
                  <a:t> para modelar essa relação.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r>
                      <a:rPr lang="pt-BR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h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=1+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𝑥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+2</m:t>
                    </m:r>
                    <m:sSup>
                      <m:sSupPr>
                        <m:ctrlPr>
                          <a:rPr lang="pt-BR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pt-BR" i="1" dirty="0"/>
                  <a:t> </a:t>
                </a:r>
                <a:r>
                  <a:rPr lang="pt-BR" dirty="0"/>
                  <a:t>(</a:t>
                </a:r>
                <a:r>
                  <a:rPr lang="en-US" dirty="0" err="1"/>
                  <a:t>polinômio</a:t>
                </a:r>
                <a:r>
                  <a:rPr lang="en-US" dirty="0"/>
                  <a:t> de </a:t>
                </a:r>
                <a:r>
                  <a:rPr lang="en-US" dirty="0" err="1"/>
                  <a:t>grau</a:t>
                </a:r>
                <a:r>
                  <a:rPr lang="en-US" dirty="0"/>
                  <a:t> 2 </a:t>
                </a:r>
                <a:r>
                  <a:rPr lang="en-US" dirty="0" err="1"/>
                  <a:t>em</a:t>
                </a:r>
                <a:r>
                  <a:rPr lang="en-US" dirty="0"/>
                  <a:t> </a:t>
                </a:r>
                <a:r>
                  <a:rPr lang="en-US" dirty="0" err="1"/>
                  <a:t>uma</a:t>
                </a:r>
                <a:r>
                  <a:rPr lang="en-US" dirty="0"/>
                  <a:t> </a:t>
                </a:r>
                <a:r>
                  <a:rPr lang="en-US" dirty="0" err="1"/>
                  <a:t>variável</a:t>
                </a:r>
                <a:r>
                  <a:rPr lang="en-US" dirty="0"/>
                  <a:t>).</a:t>
                </a:r>
                <a:endParaRPr lang="pt-BR" i="1" dirty="0"/>
              </a:p>
              <a:p>
                <a:r>
                  <a:rPr lang="pt-BR" dirty="0"/>
                  <a:t>Pois segundo o teorema da aproximação de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Stone-</a:t>
                </a:r>
                <a:r>
                  <a:rPr lang="pt-BR" b="1" i="1" dirty="0" err="1">
                    <a:solidFill>
                      <a:srgbClr val="00B050"/>
                    </a:solidFill>
                  </a:rPr>
                  <a:t>Weierstrass</a:t>
                </a:r>
                <a:r>
                  <a:rPr lang="pt-BR" dirty="0"/>
                  <a:t> “</a:t>
                </a:r>
                <a:r>
                  <a:rPr lang="pt-BR" i="1" dirty="0"/>
                  <a:t>qualquer função contínua no intervalo fechado [a, b] pode ser uniformemente aproximada por um </a:t>
                </a:r>
                <a:r>
                  <a:rPr lang="pt-BR" b="1" i="1" dirty="0">
                    <a:solidFill>
                      <a:schemeClr val="accent2"/>
                    </a:solidFill>
                  </a:rPr>
                  <a:t>polinômio</a:t>
                </a:r>
                <a:r>
                  <a:rPr lang="pt-BR" i="1" dirty="0"/>
                  <a:t>”.</a:t>
                </a:r>
              </a:p>
              <a:p>
                <a:r>
                  <a:rPr lang="pt-BR" dirty="0"/>
                  <a:t>Portanto, polinômios podem modelar qualquer tipo de mapeamento  (lineares ou não lineares) entre os atributos,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pt-BR" dirty="0"/>
                  <a:t>, e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r>
                      <a:rPr lang="pt-BR" b="0" i="0" smtClean="0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pt-BR" i="1" dirty="0"/>
                  <a:t> </a:t>
                </a:r>
                <a:r>
                  <a:rPr lang="pt-BR" dirty="0"/>
                  <a:t>bastando apenas </a:t>
                </a:r>
                <a:r>
                  <a:rPr lang="pt-BR" b="1" dirty="0">
                    <a:solidFill>
                      <a:srgbClr val="7030A0"/>
                    </a:solidFill>
                  </a:rPr>
                  <a:t>encontrar os pesos e o grau (ou ordem) ideal</a:t>
                </a:r>
                <a:r>
                  <a:rPr lang="pt-BR" dirty="0">
                    <a:solidFill>
                      <a:srgbClr val="7030A0"/>
                    </a:solidFill>
                  </a:rPr>
                  <a:t>.</a:t>
                </a:r>
              </a:p>
              <a:p>
                <a:endParaRPr lang="pt-BR" i="1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67745B10-6162-30F7-6050-58C45B78185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155325" cy="5032375"/>
              </a:xfrm>
              <a:blipFill>
                <a:blip r:embed="rId3"/>
                <a:stretch>
                  <a:fillRect l="-984" t="-1937" r="-16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8287733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50803C-34C9-CCF4-6673-47CCCF2C74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7B6B386-02B2-D964-73F3-196F9F79BA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Por que linear?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9C482631-ECEA-B4D7-2D72-82A636953AC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691742" y="1825624"/>
                <a:ext cx="7413171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Podemos modelar um </a:t>
                </a:r>
                <a:r>
                  <a:rPr lang="pt-BR" b="1" dirty="0"/>
                  <a:t>mapeamento linear</a:t>
                </a:r>
                <a:r>
                  <a:rPr lang="pt-BR" dirty="0"/>
                  <a:t> com a equação de uma reta:</a:t>
                </a:r>
              </a:p>
              <a:p>
                <a:pPr marL="457200" lvl="1" indent="0" algn="ctr">
                  <a:buNone/>
                </a:pP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r>
                      <a:rPr lang="pt-BR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h</m:t>
                    </m:r>
                    <m:d>
                      <m:dPr>
                        <m:ctrlPr>
                          <a:rPr lang="pt-BR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pt-BR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pt-BR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pt-BR" dirty="0"/>
                  <a:t> +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Podemos ter um </a:t>
                </a:r>
                <a:r>
                  <a:rPr lang="pt-BR" b="1" dirty="0"/>
                  <a:t>mapeamento não-linear</a:t>
                </a:r>
                <a:r>
                  <a:rPr lang="pt-BR" dirty="0"/>
                  <a:t> com uma equação que aproxima uma </a:t>
                </a:r>
                <a:r>
                  <a:rPr lang="pt-BR" dirty="0" err="1"/>
                  <a:t>senoide</a:t>
                </a:r>
                <a:r>
                  <a:rPr lang="pt-BR" dirty="0"/>
                  <a:t>:</a:t>
                </a:r>
              </a:p>
              <a:p>
                <a:pPr marL="457200" lvl="1" indent="0" algn="ctr">
                  <a:buNone/>
                </a:pP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r>
                      <a:rPr lang="pt-BR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h</m:t>
                    </m:r>
                    <m:d>
                      <m:dPr>
                        <m:ctrlP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pt-BR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𝑥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sup>
                    </m:sSup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sub>
                    </m:sSub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5</m:t>
                        </m:r>
                      </m:sup>
                    </m:sSup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4</m:t>
                        </m:r>
                      </m:sub>
                    </m:sSub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7</m:t>
                        </m:r>
                      </m:sup>
                    </m:sSup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5</m:t>
                        </m:r>
                      </m:sub>
                    </m:sSub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9</m:t>
                        </m:r>
                      </m:sup>
                    </m:sSup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Também podemos ter mapeamentos lineares e não lineares </a:t>
                </a:r>
                <a:r>
                  <a:rPr lang="pt-BR" b="1" dirty="0"/>
                  <a:t>com dois ou mais atributos</a:t>
                </a:r>
                <a:r>
                  <a:rPr lang="pt-BR" dirty="0"/>
                  <a:t>.</a:t>
                </a:r>
                <a:endParaRPr lang="pt-BR" i="1" dirty="0">
                  <a:latin typeface="Cambria Math" panose="02040503050406030204" pitchFamily="18" charset="0"/>
                </a:endParaRPr>
              </a:p>
              <a:p>
                <a:pPr marL="457200" lvl="1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h</m:t>
                      </m:r>
                      <m:d>
                        <m:dPr>
                          <m:ctrlPr>
                            <a:rPr lang="pt-BR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sSub>
                        <m:sSub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  <m:sSup>
                        <m:s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p>
                      <m:r>
                        <a:rPr lang="pt-BR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</m:sSub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p>
                        <m:s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e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9C482631-ECEA-B4D7-2D72-82A636953AC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691742" y="1825624"/>
                <a:ext cx="7413171" cy="5032375"/>
              </a:xfrm>
              <a:blipFill>
                <a:blip r:embed="rId3"/>
                <a:stretch>
                  <a:fillRect l="-1480" t="-1937" r="-11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8" name="Picture 4">
            <a:extLst>
              <a:ext uri="{FF2B5EF4-FFF2-40B4-BE49-F238E27FC236}">
                <a16:creationId xmlns:a16="http://schemas.microsoft.com/office/drawing/2014/main" id="{12007748-1241-43BA-BCB2-C3CEA1054E9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4915" y="1690688"/>
            <a:ext cx="3456316" cy="25179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>
            <a:extLst>
              <a:ext uri="{FF2B5EF4-FFF2-40B4-BE49-F238E27FC236}">
                <a16:creationId xmlns:a16="http://schemas.microsoft.com/office/drawing/2014/main" id="{D0BE679B-48AF-4331-B659-21FE08DC204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4915" y="4275212"/>
            <a:ext cx="3456316" cy="25179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0942531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91E141-9BEA-1A7F-F3BE-B2EC1675E2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636E6F2-3CD7-063A-5B72-5FF656E61D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593975"/>
            <a:ext cx="10515600" cy="1670050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5400" i="1" dirty="0"/>
              <a:t>Como encontramos os pesos e o melhor grau?</a:t>
            </a:r>
          </a:p>
        </p:txBody>
      </p:sp>
    </p:spTree>
    <p:extLst>
      <p:ext uri="{BB962C8B-B14F-4D97-AF65-F5344CB8AC3E}">
        <p14:creationId xmlns:p14="http://schemas.microsoft.com/office/powerpoint/2010/main" val="281979794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8D1460-F0A9-8CC3-99B3-716DC45441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Objetivo da regressão linear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8F1D988-6925-C286-BA9F-B4A4851E2FF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157857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Por enquanto, vamos assumir que já conhecemos o melhor grau do polinômio.</a:t>
                </a:r>
              </a:p>
              <a:p>
                <a:r>
                  <a:rPr lang="pt-BR" dirty="0"/>
                  <a:t>Como temos as entradas (i.e., atributos) e as saídas esperadas (i.e., rótulos), o </a:t>
                </a:r>
                <a:r>
                  <a:rPr lang="pt-BR" b="1" dirty="0"/>
                  <a:t>objetivo</a:t>
                </a:r>
                <a:r>
                  <a:rPr lang="pt-BR" dirty="0"/>
                  <a:t> passa a ser encontrar os </a:t>
                </a:r>
                <a:r>
                  <a:rPr lang="pt-BR" b="1" dirty="0"/>
                  <a:t>pesos ótimos</a:t>
                </a:r>
                <a:r>
                  <a:rPr lang="pt-BR" dirty="0"/>
                  <a:t> que </a:t>
                </a:r>
                <a:r>
                  <a:rPr lang="pt-BR" b="1" dirty="0"/>
                  <a:t>minimizam a distância (i.e., </a:t>
                </a:r>
                <a:r>
                  <a:rPr lang="pt-BR" b="1" dirty="0">
                    <a:solidFill>
                      <a:srgbClr val="7030A0"/>
                    </a:solidFill>
                  </a:rPr>
                  <a:t>erro</a:t>
                </a:r>
                <a:r>
                  <a:rPr lang="pt-BR" b="1" dirty="0"/>
                  <a:t>) entre predição</a:t>
                </a:r>
                <a:r>
                  <a:rPr lang="pt-BR" dirty="0"/>
                  <a:t>,</a:t>
                </a:r>
                <a:r>
                  <a:rPr lang="pt-BR" b="1" dirty="0"/>
                  <a:t>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</m:oMath>
                </a14:m>
                <a:r>
                  <a:rPr lang="pt-BR" dirty="0"/>
                  <a:t> (i.e., saída do modelo) </a:t>
                </a:r>
                <a:r>
                  <a:rPr lang="pt-BR" b="1" dirty="0"/>
                  <a:t>e os rótulos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Escrevendo como um problema de otimização, temos que o objetivo é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Encontrar o </a:t>
                </a:r>
                <a:r>
                  <a:rPr lang="pt-BR" b="1" dirty="0">
                    <a:solidFill>
                      <a:srgbClr val="0070C0"/>
                    </a:solidFill>
                  </a:rPr>
                  <a:t>vetor de pesos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𝒂</m:t>
                    </m:r>
                    <m:r>
                      <a:rPr lang="pt-BR" b="1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[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…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𝐾</m:t>
                            </m:r>
                          </m:sub>
                        </m:s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]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pt-BR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𝐾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+1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×1</m:t>
                        </m:r>
                      </m:sup>
                    </m:sSup>
                  </m:oMath>
                </a14:m>
                <a:r>
                  <a:rPr lang="pt-BR" dirty="0"/>
                  <a:t>, que minimize o </a:t>
                </a:r>
                <a:r>
                  <a:rPr lang="pt-BR" b="1" dirty="0"/>
                  <a:t>erro</a:t>
                </a:r>
                <a:r>
                  <a:rPr lang="pt-BR" dirty="0"/>
                  <a:t>, dado por uma </a:t>
                </a:r>
                <a:r>
                  <a:rPr lang="pt-BR" b="1" dirty="0"/>
                  <a:t>função de erro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𝑒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e>
                    </m:d>
                  </m:oMath>
                </a14:m>
                <a:r>
                  <a:rPr lang="pt-BR" dirty="0"/>
                  <a:t>, entre a aproximação,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</m:oMath>
                </a14:m>
                <a:r>
                  <a:rPr lang="pt-BR" dirty="0"/>
                  <a:t>, e o valor esperado,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pt-BR" dirty="0"/>
                  <a:t>, </a:t>
                </a:r>
                <a:r>
                  <a:rPr lang="pt-BR" b="1" dirty="0">
                    <a:solidFill>
                      <a:srgbClr val="00B050"/>
                    </a:solidFill>
                  </a:rPr>
                  <a:t>para todos </a:t>
                </a:r>
                <a:r>
                  <a:rPr lang="pt-BR" b="1" dirty="0">
                    <a:solidFill>
                      <a:srgbClr val="0070C0"/>
                    </a:solidFill>
                  </a:rPr>
                  <a:t>os exemplos do conjunto de treinamento</a:t>
                </a:r>
                <a:r>
                  <a:rPr lang="pt-BR" dirty="0"/>
                  <a:t>.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pt-BR">
                                <a:latin typeface="Cambria Math" panose="02040503050406030204" pitchFamily="18" charset="0"/>
                              </a:rPr>
                              <m:t>min</m:t>
                            </m:r>
                          </m:e>
                          <m:lim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𝒂</m:t>
                            </m:r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 </m:t>
                            </m:r>
                          </m:lim>
                        </m:limLow>
                      </m:fName>
                      <m:e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𝐽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𝑒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8F1D988-6925-C286-BA9F-B4A4851E2FF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157857" cy="5032375"/>
              </a:xfrm>
              <a:blipFill>
                <a:blip r:embed="rId2"/>
                <a:stretch>
                  <a:fillRect l="-928" t="-1937" r="-15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A6B354F9-74E2-2FAD-DDBA-5FD514A114CE}"/>
                  </a:ext>
                </a:extLst>
              </p:cNvPr>
              <p:cNvSpPr txBox="1"/>
              <p:nvPr/>
            </p:nvSpPr>
            <p:spPr>
              <a:xfrm>
                <a:off x="9753600" y="6550223"/>
                <a:ext cx="2438400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pt-BR" sz="1400" b="1" dirty="0">
                    <a:ea typeface="Cambria Math" panose="02040503050406030204" pitchFamily="18" charset="0"/>
                  </a:rPr>
                  <a:t>OBS</a:t>
                </a:r>
                <a:r>
                  <a:rPr lang="pt-BR" sz="1400" dirty="0">
                    <a:ea typeface="Cambria Math" panose="02040503050406030204" pitchFamily="18" charset="0"/>
                  </a:rPr>
                  <a:t>.: </a:t>
                </a:r>
                <a14:m>
                  <m:oMath xmlns:m="http://schemas.openxmlformats.org/officeDocument/2006/math">
                    <m:r>
                      <a:rPr lang="pt-BR" sz="1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pt-BR" sz="1400" dirty="0"/>
                  <a:t> é o número de pesos.</a:t>
                </a:r>
                <a:endParaRPr lang="en-US" sz="14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A6B354F9-74E2-2FAD-DDBA-5FD514A114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53600" y="6550223"/>
                <a:ext cx="2438400" cy="307777"/>
              </a:xfrm>
              <a:prstGeom prst="rect">
                <a:avLst/>
              </a:prstGeom>
              <a:blipFill>
                <a:blip r:embed="rId3"/>
                <a:stretch>
                  <a:fillRect l="-750" t="-4000" b="-2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7814284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AA1FF2-610F-29DC-A1C0-06044CE6D7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EB786D8-DC7C-3952-8523-439D463A8F4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2593975"/>
            <a:ext cx="10853057" cy="2228396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5400" i="1" dirty="0"/>
              <a:t>Para treinarmos o modelo, precisamos de uma função de erro</a:t>
            </a:r>
          </a:p>
        </p:txBody>
      </p:sp>
    </p:spTree>
    <p:extLst>
      <p:ext uri="{BB962C8B-B14F-4D97-AF65-F5344CB8AC3E}">
        <p14:creationId xmlns:p14="http://schemas.microsoft.com/office/powerpoint/2010/main" val="320899160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22F9E6F-04DB-ABA7-5277-8F56D03FB9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Função de erro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843752C2-61B6-8E7E-17CE-7C009ECA9D6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Existem várias possibilidades para a </a:t>
                </a:r>
                <a:r>
                  <a:rPr lang="pt-BR" b="1" dirty="0"/>
                  <a:t>função de erro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Porém, em problemas de regressão, é comum utilizar-se o </a:t>
                </a:r>
                <a:r>
                  <a:rPr lang="pt-BR" b="1" dirty="0">
                    <a:solidFill>
                      <a:srgbClr val="00B050"/>
                    </a:solidFill>
                  </a:rPr>
                  <a:t>erro quadrático médio (EQM)</a:t>
                </a:r>
                <a:endParaRPr lang="pt-BR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pt-BR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)−</m:t>
                                  </m:r>
                                  <m:acc>
                                    <m:accPr>
                                      <m:chr m:val="̂"/>
                                      <m:ctrlPr>
                                        <a:rPr lang="pt-BR" i="1" dirty="0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pt-BR" b="0" i="1" dirty="0" smtClean="0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</m:acc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</m:d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nary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limLow>
                        <m:limLow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groupChr>
                            <m:groupChrPr>
                              <m:chr m:val="⏟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groupChrPr>
                            <m:e>
                              <m:f>
                                <m:f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𝑁</m:t>
                                  </m:r>
                                </m:den>
                              </m:f>
                              <m:sSup>
                                <m:s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begChr m:val="‖"/>
                                      <m:endChr m:val="‖"/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𝒚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 −</m:t>
                                      </m:r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𝑿𝒂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groupChr>
                        </m:e>
                        <m:lim>
                          <m:r>
                            <m:rPr>
                              <m:sty m:val="p"/>
                            </m:rPr>
                            <a:rPr lang="pt-BR" b="0" i="0" smtClean="0">
                              <a:latin typeface="Cambria Math" panose="02040503050406030204" pitchFamily="18" charset="0"/>
                            </a:rPr>
                            <m:t>forma</m:t>
                          </m:r>
                          <m:r>
                            <a:rPr lang="pt-BR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b="0" i="0" smtClean="0">
                              <a:latin typeface="Cambria Math" panose="02040503050406030204" pitchFamily="18" charset="0"/>
                            </a:rPr>
                            <m:t>matricial</m:t>
                          </m:r>
                        </m:lim>
                      </m:limLow>
                      <m:r>
                        <a:rPr lang="pt-BR" b="0" i="0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pt-BR" dirty="0"/>
                  <a:t> é o número total de exemplos (ou amostras),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pt-BR" dirty="0"/>
                  <a:t> o número do exemplo,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𝒚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(0)</m:t>
                        </m:r>
                        <m: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…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−1)</m:t>
                        </m:r>
                        <m:r>
                          <a:rPr lang="pt-BR" b="1" i="1">
                            <a:latin typeface="Cambria Math" panose="02040503050406030204" pitchFamily="18" charset="0"/>
                          </a:rPr>
                          <m:t>]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sSup>
                      <m:sSupPr>
                        <m:ctrlP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𝑁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×1</m:t>
                        </m:r>
                      </m:sup>
                    </m:sSup>
                  </m:oMath>
                </a14:m>
                <a:r>
                  <a:rPr lang="pt-BR" dirty="0"/>
                  <a:t>é um </a:t>
                </a:r>
                <a:r>
                  <a:rPr lang="pt-BR" b="1" dirty="0">
                    <a:solidFill>
                      <a:srgbClr val="0070C0"/>
                    </a:solidFill>
                  </a:rPr>
                  <a:t>vetor</a:t>
                </a:r>
                <a:r>
                  <a:rPr lang="pt-BR" b="1" i="1" dirty="0">
                    <a:solidFill>
                      <a:srgbClr val="0070C0"/>
                    </a:solidFill>
                  </a:rPr>
                  <a:t> </a:t>
                </a:r>
                <a:r>
                  <a:rPr lang="pt-BR" dirty="0"/>
                  <a:t>contendo todos os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𝑁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pt-BR" dirty="0"/>
                  <a:t>valores esperados e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𝑿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(0)</m:t>
                        </m:r>
                        <m: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…</m:t>
                        </m:r>
                        <m: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𝒙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−1)</m:t>
                        </m:r>
                        <m:r>
                          <a:rPr lang="pt-BR" b="1" i="1">
                            <a:latin typeface="Cambria Math" panose="02040503050406030204" pitchFamily="18" charset="0"/>
                          </a:rPr>
                          <m:t>]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</m:oMath>
                </a14:m>
                <a:r>
                  <a:rPr lang="pt-BR" b="1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a:rPr lang="pt-BR" b="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pt-BR" b="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𝑁</m:t>
                        </m:r>
                        <m:r>
                          <a:rPr lang="pt-BR" b="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𝐾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+1</m:t>
                        </m:r>
                      </m:sup>
                    </m:sSup>
                  </m:oMath>
                </a14:m>
                <a:r>
                  <a:rPr lang="pt-BR" dirty="0"/>
                  <a:t> é uma </a:t>
                </a:r>
                <a:r>
                  <a:rPr lang="pt-BR" b="1" dirty="0">
                    <a:solidFill>
                      <a:srgbClr val="0070C0"/>
                    </a:solidFill>
                  </a:rPr>
                  <a:t>matriz</a:t>
                </a:r>
                <a:r>
                  <a:rPr lang="pt-BR" dirty="0"/>
                  <a:t> contendo todos os vetores de atributo.</a:t>
                </a:r>
              </a:p>
              <a:p>
                <a:r>
                  <a:rPr lang="pt-BR" dirty="0"/>
                  <a:t>O </a:t>
                </a:r>
                <a:r>
                  <a:rPr lang="pt-BR" b="1" dirty="0">
                    <a:solidFill>
                      <a:srgbClr val="00B050"/>
                    </a:solidFill>
                  </a:rPr>
                  <a:t>EQM</a:t>
                </a:r>
                <a:r>
                  <a:rPr lang="pt-BR" dirty="0"/>
                  <a:t> nada mais é do que a </a:t>
                </a:r>
                <a:r>
                  <a:rPr lang="pt-BR" b="1" dirty="0">
                    <a:solidFill>
                      <a:srgbClr val="00B050"/>
                    </a:solidFill>
                  </a:rPr>
                  <a:t>média aritmética do quadrado dos erros</a:t>
                </a:r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843752C2-61B6-8E7E-17CE-7C009ECA9D6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  <a:blipFill>
                <a:blip r:embed="rId3"/>
                <a:stretch>
                  <a:fillRect l="-1128" t="-1937" r="-5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DA1B5748-659A-1A33-A0BB-36FDFC0D922B}"/>
              </a:ext>
            </a:extLst>
          </p:cNvPr>
          <p:cNvSpPr txBox="1"/>
          <p:nvPr/>
        </p:nvSpPr>
        <p:spPr>
          <a:xfrm>
            <a:off x="10424847" y="2782669"/>
            <a:ext cx="164740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200" dirty="0"/>
              <a:t>Erro entre a saída esperada e a saída da função hipótese.</a:t>
            </a:r>
          </a:p>
        </p:txBody>
      </p:sp>
      <p:cxnSp>
        <p:nvCxnSpPr>
          <p:cNvPr id="5" name="Straight Arrow Connector 5">
            <a:extLst>
              <a:ext uri="{FF2B5EF4-FFF2-40B4-BE49-F238E27FC236}">
                <a16:creationId xmlns:a16="http://schemas.microsoft.com/office/drawing/2014/main" id="{533A37AF-2E19-6028-AE93-9CF06895589A}"/>
              </a:ext>
            </a:extLst>
          </p:cNvPr>
          <p:cNvCxnSpPr>
            <a:cxnSpLocks/>
          </p:cNvCxnSpPr>
          <p:nvPr/>
        </p:nvCxnSpPr>
        <p:spPr>
          <a:xfrm flipH="1">
            <a:off x="8675914" y="2967726"/>
            <a:ext cx="1839686" cy="646331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7833499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C4E842-F6C8-EE87-0AA0-9BEFA4B974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Minimização da função de erro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A581B72-317A-3CC1-4214-6CBD69B4A60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157857" cy="5032375"/>
              </a:xfrm>
            </p:spPr>
            <p:txBody>
              <a:bodyPr/>
              <a:lstStyle/>
              <a:p>
                <a:r>
                  <a:rPr lang="pt-BR" dirty="0"/>
                  <a:t>Então, para encontrarmos o </a:t>
                </a:r>
                <a:r>
                  <a:rPr lang="pt-BR" b="1" dirty="0"/>
                  <a:t>vetor de pesos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𝒂</m:t>
                    </m:r>
                  </m:oMath>
                </a14:m>
                <a:r>
                  <a:rPr lang="pt-BR" dirty="0"/>
                  <a:t>, devemos </a:t>
                </a:r>
                <a:r>
                  <a:rPr lang="pt-BR" b="1" dirty="0">
                    <a:solidFill>
                      <a:srgbClr val="00B050"/>
                    </a:solidFill>
                  </a:rPr>
                  <a:t>minimizar a função de erro</a:t>
                </a:r>
                <a:endParaRPr lang="pt-BR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nl-BE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nl-BE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nl-BE">
                                  <a:latin typeface="Cambria Math" panose="02040503050406030204" pitchFamily="18" charset="0"/>
                                </a:rPr>
                                <m:t>min</m:t>
                              </m:r>
                            </m:e>
                            <m:lim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  </m:t>
                              </m:r>
                            </m:lim>
                          </m:limLow>
                        </m:fName>
                        <m:e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f>
                                <m:f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𝑁</m:t>
                                  </m:r>
                                </m:den>
                              </m:f>
                              <m:d>
                                <m:dPr>
                                  <m:begChr m:val="‖"/>
                                  <m:endChr m:val="‖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𝒚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 −</m:t>
                                  </m:r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𝑿𝒂</m:t>
                                  </m:r>
                                </m:e>
                              </m:d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func>
                      <m:r>
                        <a:rPr lang="pt-BR" b="0" i="0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Por ser constante, o termo 1/𝑁 não influencia na minimização e, portanto, pode ser omitido na equação acima.</a:t>
                </a:r>
              </a:p>
              <a:p>
                <a:pPr marL="0" indent="0">
                  <a:buNone/>
                </a:pPr>
                <a:endParaRPr lang="pt-BR" dirty="0"/>
              </a:p>
              <a:p>
                <a:pPr marL="0" indent="0" algn="ctr">
                  <a:buNone/>
                </a:pPr>
                <a:r>
                  <a:rPr lang="pt-BR" sz="4400" i="1" dirty="0"/>
                  <a:t>Como encontramos os pesos que minimizam a função de erro?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A581B72-317A-3CC1-4214-6CBD69B4A60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157857" cy="5032375"/>
              </a:xfrm>
              <a:blipFill>
                <a:blip r:embed="rId2"/>
                <a:stretch>
                  <a:fillRect l="-928" t="-1937" r="-15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1175689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5DC745-C86C-4971-B0AF-00EE88E914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952231"/>
          </a:xfrm>
        </p:spPr>
        <p:txBody>
          <a:bodyPr/>
          <a:lstStyle/>
          <a:p>
            <a:r>
              <a:rPr lang="pt-BR" dirty="0"/>
              <a:t>Resumo do problema da regressão linear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130550-3E6D-44FC-BB82-8D97663749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46371" y="1551214"/>
            <a:ext cx="5698145" cy="5306785"/>
          </a:xfrm>
        </p:spPr>
        <p:txBody>
          <a:bodyPr>
            <a:normAutofit/>
          </a:bodyPr>
          <a:lstStyle/>
          <a:p>
            <a:r>
              <a:rPr lang="pt-BR" dirty="0"/>
              <a:t>Portanto, resumindo, nosso objetivo é </a:t>
            </a:r>
            <a:r>
              <a:rPr lang="pt-BR" b="1" dirty="0">
                <a:solidFill>
                  <a:srgbClr val="00B050"/>
                </a:solidFill>
              </a:rPr>
              <a:t>treinar</a:t>
            </a:r>
            <a:r>
              <a:rPr lang="pt-BR" dirty="0"/>
              <a:t> um </a:t>
            </a:r>
            <a:r>
              <a:rPr lang="pt-BR" b="1" dirty="0">
                <a:solidFill>
                  <a:srgbClr val="00B050"/>
                </a:solidFill>
              </a:rPr>
              <a:t>modelo</a:t>
            </a:r>
            <a:r>
              <a:rPr lang="pt-BR" dirty="0"/>
              <a:t>, a partir de um </a:t>
            </a:r>
            <a:r>
              <a:rPr lang="pt-BR" b="1" dirty="0">
                <a:solidFill>
                  <a:srgbClr val="00B050"/>
                </a:solidFill>
              </a:rPr>
              <a:t>conjunto de treinamento</a:t>
            </a:r>
            <a:r>
              <a:rPr lang="pt-BR" dirty="0"/>
              <a:t>, que </a:t>
            </a:r>
            <a:r>
              <a:rPr lang="pt-BR" b="1" dirty="0">
                <a:solidFill>
                  <a:srgbClr val="00B050"/>
                </a:solidFill>
              </a:rPr>
              <a:t>minimize o erro de aproximação</a:t>
            </a:r>
            <a:r>
              <a:rPr lang="pt-BR" dirty="0"/>
              <a:t>.</a:t>
            </a:r>
          </a:p>
          <a:p>
            <a:r>
              <a:rPr lang="pt-BR" dirty="0"/>
              <a:t>Assim, para </a:t>
            </a:r>
            <a:r>
              <a:rPr lang="pt-BR" b="1" dirty="0">
                <a:solidFill>
                  <a:srgbClr val="00B050"/>
                </a:solidFill>
              </a:rPr>
              <a:t>treinar</a:t>
            </a:r>
            <a:r>
              <a:rPr lang="pt-BR" dirty="0"/>
              <a:t> o modelo, precisamos encontrar </a:t>
            </a:r>
            <a:r>
              <a:rPr lang="pt-BR" b="1" dirty="0">
                <a:solidFill>
                  <a:srgbClr val="7030A0"/>
                </a:solidFill>
              </a:rPr>
              <a:t>maneiras</a:t>
            </a:r>
            <a:r>
              <a:rPr lang="pt-BR" b="1" dirty="0">
                <a:solidFill>
                  <a:srgbClr val="00B050"/>
                </a:solidFill>
              </a:rPr>
              <a:t> </a:t>
            </a:r>
            <a:r>
              <a:rPr lang="pt-BR" dirty="0"/>
              <a:t>de </a:t>
            </a:r>
            <a:r>
              <a:rPr lang="pt-BR" b="1" dirty="0">
                <a:solidFill>
                  <a:schemeClr val="accent2"/>
                </a:solidFill>
              </a:rPr>
              <a:t>ajustar seus pesos</a:t>
            </a:r>
            <a:r>
              <a:rPr lang="pt-BR" b="1" dirty="0">
                <a:solidFill>
                  <a:srgbClr val="00B050"/>
                </a:solidFill>
              </a:rPr>
              <a:t> </a:t>
            </a:r>
            <a:r>
              <a:rPr lang="pt-BR" dirty="0"/>
              <a:t>de forma que o erro seja minimizado.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DF988A4E-4866-35AF-BF8F-8DD7FA3EE9A8}"/>
              </a:ext>
            </a:extLst>
          </p:cNvPr>
          <p:cNvGrpSpPr/>
          <p:nvPr/>
        </p:nvGrpSpPr>
        <p:grpSpPr>
          <a:xfrm>
            <a:off x="936690" y="1871206"/>
            <a:ext cx="4908940" cy="3623775"/>
            <a:chOff x="342900" y="1658935"/>
            <a:chExt cx="4908940" cy="3623775"/>
          </a:xfrm>
        </p:grpSpPr>
        <p:grpSp>
          <p:nvGrpSpPr>
            <p:cNvPr id="7" name="Agrupar 6">
              <a:extLst>
                <a:ext uri="{FF2B5EF4-FFF2-40B4-BE49-F238E27FC236}">
                  <a16:creationId xmlns:a16="http://schemas.microsoft.com/office/drawing/2014/main" id="{A9CFBE1F-E739-ECB1-A43E-891E3E546A8C}"/>
                </a:ext>
              </a:extLst>
            </p:cNvPr>
            <p:cNvGrpSpPr/>
            <p:nvPr/>
          </p:nvGrpSpPr>
          <p:grpSpPr>
            <a:xfrm>
              <a:off x="342900" y="2251139"/>
              <a:ext cx="4908940" cy="3031571"/>
              <a:chOff x="157187" y="2378075"/>
              <a:chExt cx="4908940" cy="3031571"/>
            </a:xfrm>
          </p:grpSpPr>
          <p:sp>
            <p:nvSpPr>
              <p:cNvPr id="20" name="Retângulo 19">
                <a:extLst>
                  <a:ext uri="{FF2B5EF4-FFF2-40B4-BE49-F238E27FC236}">
                    <a16:creationId xmlns:a16="http://schemas.microsoft.com/office/drawing/2014/main" id="{C94DB9DA-6651-67B4-2FCB-6138D2059179}"/>
                  </a:ext>
                </a:extLst>
              </p:cNvPr>
              <p:cNvSpPr/>
              <p:nvPr/>
            </p:nvSpPr>
            <p:spPr>
              <a:xfrm>
                <a:off x="425788" y="3029858"/>
                <a:ext cx="463575" cy="1935842"/>
              </a:xfrm>
              <a:prstGeom prst="rect">
                <a:avLst/>
              </a:prstGeom>
              <a:solidFill>
                <a:schemeClr val="accent1">
                  <a:alpha val="41000"/>
                </a:schemeClr>
              </a:solidFill>
              <a:ln>
                <a:solidFill>
                  <a:schemeClr val="accent1">
                    <a:shade val="1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dirty="0"/>
              </a:p>
            </p:txBody>
          </p:sp>
          <p:sp>
            <p:nvSpPr>
              <p:cNvPr id="8" name="Rectangle 12">
                <a:extLst>
                  <a:ext uri="{FF2B5EF4-FFF2-40B4-BE49-F238E27FC236}">
                    <a16:creationId xmlns:a16="http://schemas.microsoft.com/office/drawing/2014/main" id="{5707A7FC-2643-5BF6-4ADB-DCD3B83DF68F}"/>
                  </a:ext>
                </a:extLst>
              </p:cNvPr>
              <p:cNvSpPr/>
              <p:nvPr/>
            </p:nvSpPr>
            <p:spPr>
              <a:xfrm>
                <a:off x="1361788" y="3029857"/>
                <a:ext cx="1216819" cy="849086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pt-BR" dirty="0">
                    <a:solidFill>
                      <a:schemeClr val="tx1"/>
                    </a:solidFill>
                  </a:rPr>
                  <a:t>Modelo de ML</a:t>
                </a:r>
                <a:br>
                  <a:rPr lang="pt-BR" dirty="0">
                    <a:solidFill>
                      <a:schemeClr val="tx1"/>
                    </a:solidFill>
                  </a:rPr>
                </a:br>
                <a:r>
                  <a:rPr lang="pt-BR" sz="1200" dirty="0">
                    <a:solidFill>
                      <a:schemeClr val="tx1"/>
                    </a:solidFill>
                  </a:rPr>
                  <a:t>(e.g., polinômio)</a:t>
                </a:r>
                <a:endParaRPr lang="pt-BR" sz="1600" dirty="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10" name="Straight Arrow Connector 14">
                <a:extLst>
                  <a:ext uri="{FF2B5EF4-FFF2-40B4-BE49-F238E27FC236}">
                    <a16:creationId xmlns:a16="http://schemas.microsoft.com/office/drawing/2014/main" id="{71024B44-4FCA-AB48-FD6A-BC22BAF1FE3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93787" y="3471233"/>
                <a:ext cx="468000" cy="0"/>
              </a:xfrm>
              <a:prstGeom prst="straightConnector1">
                <a:avLst/>
              </a:prstGeom>
              <a:ln w="190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" name="Straight Arrow Connector 14">
                <a:extLst>
                  <a:ext uri="{FF2B5EF4-FFF2-40B4-BE49-F238E27FC236}">
                    <a16:creationId xmlns:a16="http://schemas.microsoft.com/office/drawing/2014/main" id="{AFAD5EB5-BD73-1AA8-2DE8-86B253D42465}"/>
                  </a:ext>
                </a:extLst>
              </p:cNvPr>
              <p:cNvCxnSpPr>
                <a:cxnSpLocks/>
                <a:stCxn id="8" idx="3"/>
                <a:endCxn id="12" idx="1"/>
              </p:cNvCxnSpPr>
              <p:nvPr/>
            </p:nvCxnSpPr>
            <p:spPr>
              <a:xfrm>
                <a:off x="2578607" y="3454400"/>
                <a:ext cx="840366" cy="0"/>
              </a:xfrm>
              <a:prstGeom prst="straightConnector1">
                <a:avLst/>
              </a:prstGeom>
              <a:ln w="1905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2" name="Rectangle 12">
                <a:extLst>
                  <a:ext uri="{FF2B5EF4-FFF2-40B4-BE49-F238E27FC236}">
                    <a16:creationId xmlns:a16="http://schemas.microsoft.com/office/drawing/2014/main" id="{70B31B89-FB10-2FE0-309F-D08BB4008A71}"/>
                  </a:ext>
                </a:extLst>
              </p:cNvPr>
              <p:cNvSpPr/>
              <p:nvPr/>
            </p:nvSpPr>
            <p:spPr>
              <a:xfrm>
                <a:off x="3418973" y="3029857"/>
                <a:ext cx="1216818" cy="849086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pt-BR" dirty="0">
                    <a:solidFill>
                      <a:schemeClr val="tx1"/>
                    </a:solidFill>
                  </a:rPr>
                  <a:t>Função de erro</a:t>
                </a: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3" name="CaixaDeTexto 12">
                    <a:extLst>
                      <a:ext uri="{FF2B5EF4-FFF2-40B4-BE49-F238E27FC236}">
                        <a16:creationId xmlns:a16="http://schemas.microsoft.com/office/drawing/2014/main" id="{37A5E096-7B54-8ADE-2BF6-C2E99C2CDB16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436587" y="3162012"/>
                    <a:ext cx="467999" cy="461665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pt-BR" sz="2400" b="1" i="1" smtClean="0">
                              <a:latin typeface="Cambria Math" panose="02040503050406030204" pitchFamily="18" charset="0"/>
                            </a:rPr>
                            <m:t>𝑿</m:t>
                          </m:r>
                        </m:oMath>
                      </m:oMathPara>
                    </a14:m>
                    <a:endParaRPr lang="pt-BR" sz="2400" b="1" dirty="0"/>
                  </a:p>
                </p:txBody>
              </p:sp>
            </mc:Choice>
            <mc:Fallback xmlns="">
              <p:sp>
                <p:nvSpPr>
                  <p:cNvPr id="13" name="CaixaDeTexto 12">
                    <a:extLst>
                      <a:ext uri="{FF2B5EF4-FFF2-40B4-BE49-F238E27FC236}">
                        <a16:creationId xmlns:a16="http://schemas.microsoft.com/office/drawing/2014/main" id="{37A5E096-7B54-8ADE-2BF6-C2E99C2CDB1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436587" y="3162012"/>
                    <a:ext cx="467999" cy="461665"/>
                  </a:xfrm>
                  <a:prstGeom prst="rect">
                    <a:avLst/>
                  </a:prstGeom>
                  <a:blipFill>
                    <a:blip r:embed="rId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" name="CaixaDeTexto 13">
                    <a:extLst>
                      <a:ext uri="{FF2B5EF4-FFF2-40B4-BE49-F238E27FC236}">
                        <a16:creationId xmlns:a16="http://schemas.microsoft.com/office/drawing/2014/main" id="{6AFC799D-58CB-E1E2-0D69-3033A3F20565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425788" y="4367212"/>
                    <a:ext cx="467999" cy="461665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pt-BR" sz="2400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oMath>
                      </m:oMathPara>
                    </a14:m>
                    <a:endParaRPr lang="pt-BR" sz="2400" b="1" i="1" dirty="0"/>
                  </a:p>
                </p:txBody>
              </p:sp>
            </mc:Choice>
            <mc:Fallback xmlns="">
              <p:sp>
                <p:nvSpPr>
                  <p:cNvPr id="14" name="CaixaDeTexto 13">
                    <a:extLst>
                      <a:ext uri="{FF2B5EF4-FFF2-40B4-BE49-F238E27FC236}">
                        <a16:creationId xmlns:a16="http://schemas.microsoft.com/office/drawing/2014/main" id="{6AFC799D-58CB-E1E2-0D69-3033A3F2056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425788" y="4367212"/>
                    <a:ext cx="467999" cy="461665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b="-12000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" name="CaixaDeTexto 14">
                    <a:extLst>
                      <a:ext uri="{FF2B5EF4-FFF2-40B4-BE49-F238E27FC236}">
                        <a16:creationId xmlns:a16="http://schemas.microsoft.com/office/drawing/2014/main" id="{50292170-E093-D561-BEDB-71584050F297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2578604" y="2978956"/>
                    <a:ext cx="801039" cy="461665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acc>
                            <m:accPr>
                              <m:chr m:val="̂"/>
                              <m:ctrlP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oMath>
                      </m:oMathPara>
                    </a14:m>
                    <a:endParaRPr lang="pt-BR" sz="2400" dirty="0"/>
                  </a:p>
                </p:txBody>
              </p:sp>
            </mc:Choice>
            <mc:Fallback xmlns="">
              <p:sp>
                <p:nvSpPr>
                  <p:cNvPr id="15" name="CaixaDeTexto 14">
                    <a:extLst>
                      <a:ext uri="{FF2B5EF4-FFF2-40B4-BE49-F238E27FC236}">
                        <a16:creationId xmlns:a16="http://schemas.microsoft.com/office/drawing/2014/main" id="{50292170-E093-D561-BEDB-71584050F29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2578604" y="2978956"/>
                    <a:ext cx="801039" cy="461665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t="-3947" r="-21970" b="-10526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6" name="Conector: Angulado 15">
                <a:extLst>
                  <a:ext uri="{FF2B5EF4-FFF2-40B4-BE49-F238E27FC236}">
                    <a16:creationId xmlns:a16="http://schemas.microsoft.com/office/drawing/2014/main" id="{B009E62F-DEAF-CE49-8684-D2F3889690CD}"/>
                  </a:ext>
                </a:extLst>
              </p:cNvPr>
              <p:cNvCxnSpPr>
                <a:cxnSpLocks/>
                <a:stCxn id="14" idx="1"/>
                <a:endCxn id="12" idx="2"/>
              </p:cNvCxnSpPr>
              <p:nvPr/>
            </p:nvCxnSpPr>
            <p:spPr>
              <a:xfrm flipV="1">
                <a:off x="893787" y="3878943"/>
                <a:ext cx="3133595" cy="719102"/>
              </a:xfrm>
              <a:prstGeom prst="bentConnector2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Conector: Angulado 16">
                <a:extLst>
                  <a:ext uri="{FF2B5EF4-FFF2-40B4-BE49-F238E27FC236}">
                    <a16:creationId xmlns:a16="http://schemas.microsoft.com/office/drawing/2014/main" id="{F90DC347-B7E4-3023-60C7-1C8283B3C88E}"/>
                  </a:ext>
                </a:extLst>
              </p:cNvPr>
              <p:cNvCxnSpPr>
                <a:cxnSpLocks/>
                <a:stCxn id="12" idx="3"/>
              </p:cNvCxnSpPr>
              <p:nvPr/>
            </p:nvCxnSpPr>
            <p:spPr>
              <a:xfrm flipH="1" flipV="1">
                <a:off x="2662503" y="2378075"/>
                <a:ext cx="1973288" cy="1076325"/>
              </a:xfrm>
              <a:prstGeom prst="bentConnector3">
                <a:avLst>
                  <a:gd name="adj1" fmla="val -11585"/>
                </a:avLst>
              </a:prstGeom>
              <a:ln>
                <a:prstDash val="dash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Conector reto 17">
                <a:extLst>
                  <a:ext uri="{FF2B5EF4-FFF2-40B4-BE49-F238E27FC236}">
                    <a16:creationId xmlns:a16="http://schemas.microsoft.com/office/drawing/2014/main" id="{29EF8501-71B8-2FB0-7ED2-028287A0A5BB}"/>
                  </a:ext>
                </a:extLst>
              </p:cNvPr>
              <p:cNvCxnSpPr/>
              <p:nvPr/>
            </p:nvCxnSpPr>
            <p:spPr>
              <a:xfrm flipH="1">
                <a:off x="1450107" y="2378075"/>
                <a:ext cx="1212396" cy="1743075"/>
              </a:xfrm>
              <a:prstGeom prst="line">
                <a:avLst/>
              </a:prstGeom>
              <a:ln>
                <a:prstDash val="dash"/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9" name="CaixaDeTexto 18">
                <a:extLst>
                  <a:ext uri="{FF2B5EF4-FFF2-40B4-BE49-F238E27FC236}">
                    <a16:creationId xmlns:a16="http://schemas.microsoft.com/office/drawing/2014/main" id="{2B889678-B98C-9E1D-C61A-60F719853781}"/>
                  </a:ext>
                </a:extLst>
              </p:cNvPr>
              <p:cNvSpPr txBox="1"/>
              <p:nvPr/>
            </p:nvSpPr>
            <p:spPr>
              <a:xfrm>
                <a:off x="841698" y="4084657"/>
                <a:ext cx="1321837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1200" dirty="0"/>
                  <a:t>Ajuste dos pesos do modelo</a:t>
                </a:r>
              </a:p>
            </p:txBody>
          </p:sp>
          <p:sp>
            <p:nvSpPr>
              <p:cNvPr id="21" name="CaixaDeTexto 20">
                <a:extLst>
                  <a:ext uri="{FF2B5EF4-FFF2-40B4-BE49-F238E27FC236}">
                    <a16:creationId xmlns:a16="http://schemas.microsoft.com/office/drawing/2014/main" id="{D4DEEE4B-BFB7-7180-B620-019C107089CA}"/>
                  </a:ext>
                </a:extLst>
              </p:cNvPr>
              <p:cNvSpPr txBox="1"/>
              <p:nvPr/>
            </p:nvSpPr>
            <p:spPr>
              <a:xfrm>
                <a:off x="157187" y="4947981"/>
                <a:ext cx="1047413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1200" dirty="0"/>
                  <a:t>Conjunto de treinamento</a:t>
                </a:r>
              </a:p>
            </p:txBody>
          </p:sp>
          <p:sp>
            <p:nvSpPr>
              <p:cNvPr id="22" name="CaixaDeTexto 21">
                <a:extLst>
                  <a:ext uri="{FF2B5EF4-FFF2-40B4-BE49-F238E27FC236}">
                    <a16:creationId xmlns:a16="http://schemas.microsoft.com/office/drawing/2014/main" id="{CB35AE44-A8A6-55E4-AF7C-6D1B1C22FD76}"/>
                  </a:ext>
                </a:extLst>
              </p:cNvPr>
              <p:cNvSpPr txBox="1"/>
              <p:nvPr/>
            </p:nvSpPr>
            <p:spPr>
              <a:xfrm>
                <a:off x="2578607" y="3490140"/>
                <a:ext cx="840365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1200" dirty="0"/>
                  <a:t>predição</a:t>
                </a:r>
              </a:p>
            </p:txBody>
          </p:sp>
          <p:sp>
            <p:nvSpPr>
              <p:cNvPr id="23" name="CaixaDeTexto 22">
                <a:extLst>
                  <a:ext uri="{FF2B5EF4-FFF2-40B4-BE49-F238E27FC236}">
                    <a16:creationId xmlns:a16="http://schemas.microsoft.com/office/drawing/2014/main" id="{253F27F5-AE53-A49B-F8E5-AF810876A343}"/>
                  </a:ext>
                </a:extLst>
              </p:cNvPr>
              <p:cNvSpPr txBox="1"/>
              <p:nvPr/>
            </p:nvSpPr>
            <p:spPr>
              <a:xfrm>
                <a:off x="4611210" y="3440621"/>
                <a:ext cx="454917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1200" dirty="0"/>
                  <a:t>erro</a:t>
                </a:r>
              </a:p>
            </p:txBody>
          </p:sp>
        </p:grpSp>
        <p:sp>
          <p:nvSpPr>
            <p:cNvPr id="5" name="CaixaDeTexto 4">
              <a:extLst>
                <a:ext uri="{FF2B5EF4-FFF2-40B4-BE49-F238E27FC236}">
                  <a16:creationId xmlns:a16="http://schemas.microsoft.com/office/drawing/2014/main" id="{C18E8975-8592-CC3B-612B-6E6728CAA35F}"/>
                </a:ext>
              </a:extLst>
            </p:cNvPr>
            <p:cNvSpPr txBox="1"/>
            <p:nvPr/>
          </p:nvSpPr>
          <p:spPr>
            <a:xfrm>
              <a:off x="2848216" y="1658935"/>
              <a:ext cx="2209559" cy="6001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100" b="1" i="1" dirty="0">
                  <a:solidFill>
                    <a:schemeClr val="accent2"/>
                  </a:solidFill>
                </a:rPr>
                <a:t>Indicação para onde deve-se caminhar </a:t>
              </a:r>
              <a:r>
                <a:rPr lang="pt-BR" sz="1100" dirty="0"/>
                <a:t>no espaço de hipóteses para que o erro seja minimizado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68591389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7CA9BC-BDB8-0017-DAF6-E2CF307E39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encontrar os pesos ótimos?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E0FC8F8-ADC7-A068-C2BC-465BFAC99DC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190514" cy="5032375"/>
              </a:xfrm>
            </p:spPr>
            <p:txBody>
              <a:bodyPr/>
              <a:lstStyle/>
              <a:p>
                <a:r>
                  <a:rPr lang="pt-BR" dirty="0"/>
                  <a:t>Existem dois caminhos principais para se encontrar o </a:t>
                </a:r>
                <a:r>
                  <a:rPr lang="pt-BR" b="1" dirty="0">
                    <a:solidFill>
                      <a:srgbClr val="00B050"/>
                    </a:solidFill>
                  </a:rPr>
                  <a:t>conjunto de pesos ótimo</a:t>
                </a:r>
                <a:endParaRPr lang="pt-BR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en-US" b="1" dirty="0" err="1"/>
                  <a:t>Equação</a:t>
                </a:r>
                <a:r>
                  <a:rPr lang="en-US" b="1" dirty="0"/>
                  <a:t> normal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en-US" dirty="0" err="1"/>
                  <a:t>Também</a:t>
                </a:r>
                <a:r>
                  <a:rPr lang="en-US" dirty="0"/>
                  <a:t> </a:t>
                </a:r>
                <a:r>
                  <a:rPr lang="en-US" dirty="0" err="1"/>
                  <a:t>conhecido</a:t>
                </a:r>
                <a:r>
                  <a:rPr lang="en-US" dirty="0"/>
                  <a:t> </a:t>
                </a:r>
                <a:r>
                  <a:rPr lang="en-US" dirty="0" err="1"/>
                  <a:t>como</a:t>
                </a:r>
                <a:r>
                  <a:rPr lang="en-US" dirty="0"/>
                  <a:t> </a:t>
                </a:r>
                <a:r>
                  <a:rPr lang="en-US" dirty="0" err="1"/>
                  <a:t>método</a:t>
                </a:r>
                <a:r>
                  <a:rPr lang="en-US" dirty="0"/>
                  <a:t> dos </a:t>
                </a:r>
                <a:r>
                  <a:rPr lang="en-US" dirty="0" err="1"/>
                  <a:t>mínimos</a:t>
                </a:r>
                <a:r>
                  <a:rPr lang="en-US" dirty="0"/>
                  <a:t> </a:t>
                </a:r>
                <a:r>
                  <a:rPr lang="en-US" dirty="0" err="1"/>
                  <a:t>quadrados</a:t>
                </a:r>
                <a:r>
                  <a:rPr lang="en-US" dirty="0"/>
                  <a:t> </a:t>
                </a:r>
                <a:r>
                  <a:rPr lang="en-US" dirty="0" err="1"/>
                  <a:t>ordinários</a:t>
                </a:r>
                <a:r>
                  <a:rPr lang="en-US" dirty="0"/>
                  <a:t>.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en-US" dirty="0"/>
                  <a:t>É </a:t>
                </a:r>
                <a:r>
                  <a:rPr lang="en-US" dirty="0" err="1"/>
                  <a:t>uma</a:t>
                </a:r>
                <a:r>
                  <a:rPr lang="en-US" dirty="0"/>
                  <a:t> </a:t>
                </a:r>
                <a:r>
                  <a:rPr lang="en-US" dirty="0" err="1"/>
                  <a:t>solução</a:t>
                </a:r>
                <a:r>
                  <a:rPr lang="en-US" dirty="0"/>
                  <a:t> </a:t>
                </a:r>
                <a:r>
                  <a:rPr lang="en-US" dirty="0" err="1"/>
                  <a:t>analítica</a:t>
                </a:r>
                <a:r>
                  <a:rPr lang="en-US" dirty="0"/>
                  <a:t>.</a:t>
                </a:r>
                <a:endParaRPr lang="pt-BR" dirty="0"/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dirty="0"/>
                  <a:t>É uma abordagem puramente algébrica, resultando em uma equação fechada.</a:t>
                </a:r>
              </a:p>
              <a:p>
                <a:pPr marL="914400" lvl="2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pt-BR">
                              <a:latin typeface="Cambria Math" panose="02040503050406030204" pitchFamily="18" charset="0"/>
                            </a:rPr>
                            <m:t>opt</m:t>
                          </m:r>
                        </m:sub>
                      </m:sSub>
                      <m:r>
                        <a:rPr lang="pt-BR" b="1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pt-BR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𝑿</m:t>
                                  </m:r>
                                </m:e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𝑿</m:t>
                              </m:r>
                            </m:e>
                          </m:d>
                        </m:e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sSup>
                        <m:s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𝑿</m:t>
                          </m:r>
                        </m:e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r>
                        <a:rPr lang="pt-BR" b="1" i="1">
                          <a:latin typeface="Cambria Math" panose="02040503050406030204" pitchFamily="18" charset="0"/>
                        </a:rPr>
                        <m:t>𝒚</m:t>
                      </m:r>
                    </m:oMath>
                  </m:oMathPara>
                </a14:m>
                <a:endParaRPr lang="pt-BR" dirty="0"/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dirty="0"/>
                  <a:t>Encontra a solução ótima de uma única vez.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en-US" b="1" dirty="0" err="1"/>
                  <a:t>Gradiente</a:t>
                </a:r>
                <a:r>
                  <a:rPr lang="en-US" b="1" dirty="0"/>
                  <a:t> </a:t>
                </a:r>
                <a:r>
                  <a:rPr lang="en-US" b="1" dirty="0" err="1"/>
                  <a:t>descendente</a:t>
                </a:r>
                <a:endParaRPr lang="en-US" b="1" dirty="0"/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en-US" dirty="0"/>
                  <a:t>É </a:t>
                </a:r>
                <a:r>
                  <a:rPr lang="en-US" dirty="0" err="1"/>
                  <a:t>uma</a:t>
                </a:r>
                <a:r>
                  <a:rPr lang="en-US" dirty="0"/>
                  <a:t> </a:t>
                </a:r>
                <a:r>
                  <a:rPr lang="en-US" dirty="0" err="1"/>
                  <a:t>otimização</a:t>
                </a:r>
                <a:r>
                  <a:rPr lang="en-US" dirty="0"/>
                  <a:t> </a:t>
                </a:r>
                <a:r>
                  <a:rPr lang="en-US" dirty="0" err="1"/>
                  <a:t>iterativa</a:t>
                </a:r>
                <a:r>
                  <a:rPr lang="en-US" dirty="0"/>
                  <a:t>.</a:t>
                </a:r>
                <a:endParaRPr lang="pt-BR" dirty="0"/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dirty="0"/>
                  <a:t>O modelo aprende os pesos "passo a passo".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dirty="0"/>
                  <a:t>Pode não encontrar a solução ótima, devido a vários fatores (e.g., passo de aprendizagem, sobreajuste/subajuste, número de iterações, etc.)</a:t>
                </a:r>
              </a:p>
              <a:p>
                <a:pPr marL="914400" lvl="2" indent="0">
                  <a:buNone/>
                </a:pPr>
                <a:endParaRPr lang="en-US" b="1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E0FC8F8-ADC7-A068-C2BC-465BFAC99DC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190514" cy="5032375"/>
              </a:xfrm>
              <a:blipFill>
                <a:blip r:embed="rId2"/>
                <a:stretch>
                  <a:fillRect l="-981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0613731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8226F9-1BF6-0C19-88C6-7B4563BEBD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noProof="0" dirty="0"/>
              <a:t>Comparativo das abordagens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4" name="Content Placeholder 3">
                <a:extLst>
                  <a:ext uri="{FF2B5EF4-FFF2-40B4-BE49-F238E27FC236}">
                    <a16:creationId xmlns:a16="http://schemas.microsoft.com/office/drawing/2014/main" id="{9F89DE01-7C6C-8A47-35FC-16E58BA14EAA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4230852870"/>
                  </p:ext>
                </p:extLst>
              </p:nvPr>
            </p:nvGraphicFramePr>
            <p:xfrm>
              <a:off x="241041" y="1690688"/>
              <a:ext cx="11709918" cy="3992880"/>
            </p:xfrm>
            <a:graphic>
              <a:graphicData uri="http://schemas.openxmlformats.org/drawingml/2006/table">
                <a:tbl>
                  <a:tblPr/>
                  <a:tblGrid>
                    <a:gridCol w="2008663">
                      <a:extLst>
                        <a:ext uri="{9D8B030D-6E8A-4147-A177-3AD203B41FA5}">
                          <a16:colId xmlns:a16="http://schemas.microsoft.com/office/drawing/2014/main" val="2676689337"/>
                        </a:ext>
                      </a:extLst>
                    </a:gridCol>
                    <a:gridCol w="4742847">
                      <a:extLst>
                        <a:ext uri="{9D8B030D-6E8A-4147-A177-3AD203B41FA5}">
                          <a16:colId xmlns:a16="http://schemas.microsoft.com/office/drawing/2014/main" val="921422884"/>
                        </a:ext>
                      </a:extLst>
                    </a:gridCol>
                    <a:gridCol w="4958408">
                      <a:extLst>
                        <a:ext uri="{9D8B030D-6E8A-4147-A177-3AD203B41FA5}">
                          <a16:colId xmlns:a16="http://schemas.microsoft.com/office/drawing/2014/main" val="4252031962"/>
                        </a:ext>
                      </a:extLst>
                    </a:gridCol>
                  </a:tblGrid>
                  <a:tr h="0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2000" b="1" noProof="0" dirty="0">
                              <a:latin typeface="+mn-lt"/>
                            </a:rPr>
                            <a:t>Característica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2000" b="1" noProof="0" dirty="0">
                              <a:latin typeface="+mn-lt"/>
                            </a:rPr>
                            <a:t>Gradiente descendente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2000" b="1" noProof="0" dirty="0">
                              <a:latin typeface="+mn-lt"/>
                            </a:rPr>
                            <a:t>Equação normal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904083088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2000" b="1" noProof="0" dirty="0">
                              <a:latin typeface="+mn-lt"/>
                            </a:rPr>
                            <a:t>Tipo</a:t>
                          </a:r>
                          <a:endParaRPr lang="pt-BR" sz="2000" noProof="0" dirty="0">
                            <a:latin typeface="+mn-lt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2000" noProof="0" dirty="0">
                              <a:latin typeface="+mn-lt"/>
                            </a:rPr>
                            <a:t>Algorítmico/Iterativo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2000" noProof="0" dirty="0">
                              <a:latin typeface="+mn-lt"/>
                            </a:rPr>
                            <a:t>Analítico/Direto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085415063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2000" b="1" noProof="0" dirty="0">
                              <a:latin typeface="+mn-lt"/>
                            </a:rPr>
                            <a:t>Complexidade</a:t>
                          </a:r>
                          <a:endParaRPr lang="pt-BR" sz="2000" noProof="0" dirty="0">
                            <a:latin typeface="+mn-lt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pt-BR" sz="2000" i="1" noProof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sz="2000" b="0" i="1" noProof="0" smtClean="0">
                                        <a:latin typeface="Cambria Math" panose="02040503050406030204" pitchFamily="18" charset="0"/>
                                      </a:rPr>
                                      <m:t>𝑂</m:t>
                                    </m:r>
                                    <m:r>
                                      <a:rPr lang="pt-BR" sz="2000" b="0" i="1" noProof="0" smtClean="0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pt-BR" sz="2000" b="0" i="1" noProof="0" smtClean="0">
                                        <a:latin typeface="Cambria Math" panose="02040503050406030204" pitchFamily="18" charset="0"/>
                                      </a:rPr>
                                      <m:t>𝐼</m:t>
                                    </m:r>
                                    <m:sSup>
                                      <m:sSupPr>
                                        <m:ctrlPr>
                                          <a:rPr lang="pt-BR" sz="2000" b="0" i="1" noProof="0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pt-BR" sz="2000" b="0" i="1" noProof="0" smtClean="0">
                                            <a:latin typeface="Cambria Math" panose="02040503050406030204" pitchFamily="18" charset="0"/>
                                          </a:rPr>
                                          <m:t>𝐾</m:t>
                                        </m:r>
                                      </m:e>
                                      <m:sup>
                                        <m:r>
                                          <a:rPr lang="pt-BR" sz="2000" b="0" i="1" noProof="0" smtClean="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  <m:r>
                                      <a:rPr lang="pt-BR" sz="2000" b="0" i="1" noProof="0" smtClean="0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  <m:sup>
                                    <m:r>
                                      <a:rPr lang="pt-BR" sz="2000" b="0" i="1" noProof="0" smtClean="0">
                                        <a:latin typeface="Cambria Math" panose="02040503050406030204" pitchFamily="18" charset="0"/>
                                      </a:rPr>
                                      <m:t>∗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pt-BR" sz="2000" noProof="0" dirty="0">
                            <a:latin typeface="+mn-lt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pt-BR" sz="2000" i="1" noProof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sz="2000" b="0" i="1" noProof="0" smtClean="0">
                                        <a:latin typeface="Cambria Math" panose="02040503050406030204" pitchFamily="18" charset="0"/>
                                      </a:rPr>
                                      <m:t>𝑂</m:t>
                                    </m:r>
                                    <m:d>
                                      <m:dPr>
                                        <m:ctrlPr>
                                          <a:rPr lang="pt-BR" sz="2000" b="0" i="1" noProof="0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sSup>
                                          <m:sSupPr>
                                            <m:ctrlPr>
                                              <a:rPr lang="pt-BR" sz="2000" b="0" i="1" noProof="0" smtClean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pPr>
                                          <m:e>
                                            <m:r>
                                              <a:rPr lang="pt-BR" sz="2000" b="0" i="1" noProof="0" smtClean="0">
                                                <a:latin typeface="Cambria Math" panose="02040503050406030204" pitchFamily="18" charset="0"/>
                                              </a:rPr>
                                              <m:t>𝐾</m:t>
                                            </m:r>
                                          </m:e>
                                          <m:sup>
                                            <m:r>
                                              <a:rPr lang="pt-BR" sz="2000" b="0" i="1" noProof="0" smtClean="0">
                                                <a:latin typeface="Cambria Math" panose="02040503050406030204" pitchFamily="18" charset="0"/>
                                              </a:rPr>
                                              <m:t>3</m:t>
                                            </m:r>
                                          </m:sup>
                                        </m:sSup>
                                      </m:e>
                                    </m:d>
                                  </m:e>
                                  <m:sup>
                                    <m:r>
                                      <a:rPr lang="pt-BR" sz="2000" b="0" i="1" noProof="0" smtClean="0">
                                        <a:latin typeface="Cambria Math" panose="02040503050406030204" pitchFamily="18" charset="0"/>
                                      </a:rPr>
                                      <m:t>∗∗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pt-BR" sz="2000" noProof="0" dirty="0">
                            <a:latin typeface="+mn-lt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585385241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2000" b="1" noProof="0" dirty="0">
                              <a:latin typeface="+mn-lt"/>
                            </a:rPr>
                            <a:t>Escalabilidade</a:t>
                          </a:r>
                          <a:endParaRPr lang="pt-BR" sz="2000" noProof="0" dirty="0">
                            <a:latin typeface="+mn-lt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2000" noProof="0" dirty="0">
                              <a:latin typeface="+mn-lt"/>
                            </a:rPr>
                            <a:t>Alta (lida bem com milhões de dados)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2000" noProof="0" dirty="0">
                              <a:latin typeface="+mn-lt"/>
                            </a:rPr>
                            <a:t>Baixa (lenta para muitas variáveis)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293643069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2000" b="1" noProof="0" dirty="0">
                              <a:latin typeface="+mn-lt"/>
                            </a:rPr>
                            <a:t>Parâmetros</a:t>
                          </a:r>
                          <a:endParaRPr lang="pt-BR" sz="2000" noProof="0" dirty="0">
                            <a:latin typeface="+mn-lt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2000" noProof="0" dirty="0">
                              <a:latin typeface="+mn-lt"/>
                            </a:rPr>
                            <a:t>Exige ajuste de </a:t>
                          </a:r>
                          <a14:m>
                            <m:oMath xmlns:m="http://schemas.openxmlformats.org/officeDocument/2006/math">
                              <m:r>
                                <a:rPr lang="pt-BR" sz="2000" i="1" noProof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𝛼</m:t>
                              </m:r>
                            </m:oMath>
                          </a14:m>
                          <a:endParaRPr lang="pt-BR" sz="2000" noProof="0" dirty="0">
                            <a:latin typeface="+mn-lt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2000" noProof="0" dirty="0">
                              <a:latin typeface="+mn-lt"/>
                            </a:rPr>
                            <a:t>Nenhum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874329883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2000" b="1" noProof="0" dirty="0">
                              <a:latin typeface="+mn-lt"/>
                            </a:rPr>
                            <a:t>Uso principal</a:t>
                          </a:r>
                          <a:endParaRPr lang="pt-BR" sz="2000" noProof="0" dirty="0">
                            <a:latin typeface="+mn-lt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2000" noProof="0" dirty="0">
                              <a:latin typeface="+mn-lt"/>
                            </a:rPr>
                            <a:t>Regressão linear e logística/Redes neurais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2000" noProof="0" dirty="0">
                              <a:latin typeface="+mn-lt"/>
                            </a:rPr>
                            <a:t>Estatística clássica/</a:t>
                          </a:r>
                          <a:r>
                            <a:rPr lang="pt-BR" sz="2000" i="1" noProof="0" dirty="0" err="1">
                              <a:latin typeface="+mn-lt"/>
                            </a:rPr>
                            <a:t>Datasets</a:t>
                          </a:r>
                          <a:r>
                            <a:rPr lang="pt-BR" sz="2000" noProof="0" dirty="0">
                              <a:latin typeface="+mn-lt"/>
                            </a:rPr>
                            <a:t> pequenos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234521875"/>
                      </a:ext>
                    </a:extLst>
                  </a:tr>
                  <a:tr h="392816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2000" b="1" noProof="0" dirty="0">
                              <a:latin typeface="+mn-lt"/>
                            </a:rPr>
                            <a:t>Observações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342900" indent="-342900" algn="l">
                            <a:buFont typeface="Arial" panose="020B0604020202020204" pitchFamily="34" charset="0"/>
                            <a:buChar char="•"/>
                          </a:pPr>
                          <a:r>
                            <a:rPr lang="pt-BR" sz="2000" noProof="0" dirty="0">
                              <a:latin typeface="+mn-lt"/>
                            </a:rPr>
                            <a:t>Pode exigir muitas iterações para convergir.</a:t>
                          </a:r>
                        </a:p>
                        <a:p>
                          <a:pPr marL="342900" indent="-342900" algn="l">
                            <a:buFont typeface="Arial" panose="020B0604020202020204" pitchFamily="34" charset="0"/>
                            <a:buChar char="•"/>
                          </a:pPr>
                          <a:r>
                            <a:rPr lang="pt-BR" sz="2000" noProof="0" dirty="0">
                              <a:latin typeface="+mn-lt"/>
                            </a:rPr>
                            <a:t>A função de erro deve ser </a:t>
                          </a:r>
                          <a:r>
                            <a:rPr lang="pt-BR" sz="2000" noProof="0" dirty="0" err="1">
                              <a:latin typeface="+mn-lt"/>
                            </a:rPr>
                            <a:t>diferenciável</a:t>
                          </a:r>
                          <a:r>
                            <a:rPr lang="pt-BR" sz="2000" noProof="0" dirty="0">
                              <a:latin typeface="+mn-lt"/>
                            </a:rPr>
                            <a:t>.</a:t>
                          </a:r>
                        </a:p>
                        <a:p>
                          <a:pPr marL="342900" indent="-342900" algn="l">
                            <a:buFont typeface="Arial" panose="020B0604020202020204" pitchFamily="34" charset="0"/>
                            <a:buChar char="•"/>
                          </a:pPr>
                          <a:r>
                            <a:rPr lang="pt-BR" sz="2000" noProof="0" dirty="0">
                              <a:latin typeface="+mn-lt"/>
                            </a:rPr>
                            <a:t>É flexível, podendo ser ajustado à quantidade de memória disponível.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342900" indent="-342900" algn="l">
                            <a:buFont typeface="Arial" panose="020B0604020202020204" pitchFamily="34" charset="0"/>
                            <a:buChar char="•"/>
                          </a:pPr>
                          <a:r>
                            <a:rPr lang="pt-BR" sz="2000" noProof="0" dirty="0">
                              <a:latin typeface="+mn-lt"/>
                            </a:rPr>
                            <a:t>Não encontra solução para modelos puramente não lineares (e.g., redes neurais).</a:t>
                          </a:r>
                        </a:p>
                        <a:p>
                          <a:pPr marL="342900" indent="-342900" algn="l">
                            <a:buFont typeface="Arial" panose="020B0604020202020204" pitchFamily="34" charset="0"/>
                            <a:buChar char="•"/>
                          </a:pPr>
                          <a:r>
                            <a:rPr lang="pt-BR" sz="2000" noProof="0" dirty="0">
                              <a:latin typeface="+mn-lt"/>
                            </a:rPr>
                            <a:t>Consome</a:t>
                          </a:r>
                          <a:r>
                            <a:rPr lang="pt-BR" sz="2000" baseline="0" noProof="0" dirty="0">
                              <a:latin typeface="+mn-lt"/>
                            </a:rPr>
                            <a:t> muita memória s</a:t>
                          </a:r>
                          <a:r>
                            <a:rPr lang="pt-BR" sz="2000" noProof="0" dirty="0">
                              <a:latin typeface="+mn-lt"/>
                            </a:rPr>
                            <a:t>e </a:t>
                          </a:r>
                          <a14:m>
                            <m:oMath xmlns:m="http://schemas.openxmlformats.org/officeDocument/2006/math">
                              <m:r>
                                <a:rPr lang="pt-BR" sz="2000" b="0" i="1" noProof="0" smtClean="0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oMath>
                          </a14:m>
                          <a:r>
                            <a:rPr lang="pt-BR" sz="2000" noProof="0" dirty="0">
                              <a:latin typeface="+mn-lt"/>
                            </a:rPr>
                            <a:t> e </a:t>
                          </a:r>
                          <a14:m>
                            <m:oMath xmlns:m="http://schemas.openxmlformats.org/officeDocument/2006/math">
                              <m:r>
                                <a:rPr lang="pt-BR" sz="2000" b="0" i="1" noProof="0" smtClean="0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oMath>
                          </a14:m>
                          <a:r>
                            <a:rPr lang="pt-BR" sz="2000" noProof="0" dirty="0">
                              <a:latin typeface="+mn-lt"/>
                            </a:rPr>
                            <a:t> são muito</a:t>
                          </a:r>
                          <a:r>
                            <a:rPr lang="pt-BR" sz="2000" baseline="0" noProof="0" dirty="0">
                              <a:latin typeface="+mn-lt"/>
                            </a:rPr>
                            <a:t> grandes.</a:t>
                          </a:r>
                          <a:endParaRPr lang="pt-BR" sz="2000" noProof="0" dirty="0">
                            <a:latin typeface="+mn-lt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070400338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4" name="Content Placeholder 3">
                <a:extLst>
                  <a:ext uri="{FF2B5EF4-FFF2-40B4-BE49-F238E27FC236}">
                    <a16:creationId xmlns:a16="http://schemas.microsoft.com/office/drawing/2014/main" id="{9F89DE01-7C6C-8A47-35FC-16E58BA14EAA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4230852870"/>
                  </p:ext>
                </p:extLst>
              </p:nvPr>
            </p:nvGraphicFramePr>
            <p:xfrm>
              <a:off x="241041" y="1690688"/>
              <a:ext cx="11709918" cy="3992880"/>
            </p:xfrm>
            <a:graphic>
              <a:graphicData uri="http://schemas.openxmlformats.org/drawingml/2006/table">
                <a:tbl>
                  <a:tblPr/>
                  <a:tblGrid>
                    <a:gridCol w="2008663">
                      <a:extLst>
                        <a:ext uri="{9D8B030D-6E8A-4147-A177-3AD203B41FA5}">
                          <a16:colId xmlns:a16="http://schemas.microsoft.com/office/drawing/2014/main" val="2676689337"/>
                        </a:ext>
                      </a:extLst>
                    </a:gridCol>
                    <a:gridCol w="4742847">
                      <a:extLst>
                        <a:ext uri="{9D8B030D-6E8A-4147-A177-3AD203B41FA5}">
                          <a16:colId xmlns:a16="http://schemas.microsoft.com/office/drawing/2014/main" val="921422884"/>
                        </a:ext>
                      </a:extLst>
                    </a:gridCol>
                    <a:gridCol w="4958408">
                      <a:extLst>
                        <a:ext uri="{9D8B030D-6E8A-4147-A177-3AD203B41FA5}">
                          <a16:colId xmlns:a16="http://schemas.microsoft.com/office/drawing/2014/main" val="4252031962"/>
                        </a:ext>
                      </a:extLst>
                    </a:gridCol>
                  </a:tblGrid>
                  <a:tr h="396240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2000" b="1" noProof="0" dirty="0">
                              <a:latin typeface="+mn-lt"/>
                            </a:rPr>
                            <a:t>Característica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2000" b="1" noProof="0" dirty="0">
                              <a:latin typeface="+mn-lt"/>
                            </a:rPr>
                            <a:t>Gradiente descendente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2000" b="1" noProof="0" dirty="0">
                              <a:latin typeface="+mn-lt"/>
                            </a:rPr>
                            <a:t>Equação normal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904083088"/>
                      </a:ext>
                    </a:extLst>
                  </a:tr>
                  <a:tr h="396240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2000" b="1" noProof="0" dirty="0">
                              <a:latin typeface="+mn-lt"/>
                            </a:rPr>
                            <a:t>Tipo</a:t>
                          </a:r>
                          <a:endParaRPr lang="pt-BR" sz="2000" noProof="0" dirty="0">
                            <a:latin typeface="+mn-lt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2000" noProof="0" dirty="0">
                              <a:latin typeface="+mn-lt"/>
                            </a:rPr>
                            <a:t>Algorítmico/Iterativo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2000" noProof="0" dirty="0">
                              <a:latin typeface="+mn-lt"/>
                            </a:rPr>
                            <a:t>Analítico/Direto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085415063"/>
                      </a:ext>
                    </a:extLst>
                  </a:tr>
                  <a:tr h="396240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2000" b="1" noProof="0" dirty="0">
                              <a:latin typeface="+mn-lt"/>
                            </a:rPr>
                            <a:t>Complexidade</a:t>
                          </a:r>
                          <a:endParaRPr lang="pt-BR" sz="2000" noProof="0" dirty="0">
                            <a:latin typeface="+mn-lt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42545" t="-207692" r="-104884" b="-73538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36241" t="-207692" r="-246" b="-73538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585385241"/>
                      </a:ext>
                    </a:extLst>
                  </a:tr>
                  <a:tr h="396240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2000" b="1" noProof="0" dirty="0">
                              <a:latin typeface="+mn-lt"/>
                            </a:rPr>
                            <a:t>Escalabilidade</a:t>
                          </a:r>
                          <a:endParaRPr lang="pt-BR" sz="2000" noProof="0" dirty="0">
                            <a:latin typeface="+mn-lt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2000" noProof="0" dirty="0">
                              <a:latin typeface="+mn-lt"/>
                            </a:rPr>
                            <a:t>Alta (lida bem com milhões de dados)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2000" noProof="0" dirty="0">
                              <a:latin typeface="+mn-lt"/>
                            </a:rPr>
                            <a:t>Baixa (lenta para muitas variáveis)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293643069"/>
                      </a:ext>
                    </a:extLst>
                  </a:tr>
                  <a:tr h="396240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2000" b="1" noProof="0" dirty="0">
                              <a:latin typeface="+mn-lt"/>
                            </a:rPr>
                            <a:t>Parâmetros</a:t>
                          </a:r>
                          <a:endParaRPr lang="pt-BR" sz="2000" noProof="0" dirty="0">
                            <a:latin typeface="+mn-lt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42545" t="-407692" r="-104884" b="-53538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2000" noProof="0" dirty="0">
                              <a:latin typeface="+mn-lt"/>
                            </a:rPr>
                            <a:t>Nenhum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874329883"/>
                      </a:ext>
                    </a:extLst>
                  </a:tr>
                  <a:tr h="396240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2000" b="1" noProof="0" dirty="0">
                              <a:latin typeface="+mn-lt"/>
                            </a:rPr>
                            <a:t>Uso principal</a:t>
                          </a:r>
                          <a:endParaRPr lang="pt-BR" sz="2000" noProof="0" dirty="0">
                            <a:latin typeface="+mn-lt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2000" noProof="0" dirty="0">
                              <a:latin typeface="+mn-lt"/>
                            </a:rPr>
                            <a:t>Regressão linear e logística/Redes neurais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2000" noProof="0" dirty="0">
                              <a:latin typeface="+mn-lt"/>
                            </a:rPr>
                            <a:t>Estatística clássica/</a:t>
                          </a:r>
                          <a:r>
                            <a:rPr lang="pt-BR" sz="2000" i="1" noProof="0" dirty="0" err="1">
                              <a:latin typeface="+mn-lt"/>
                            </a:rPr>
                            <a:t>Datasets</a:t>
                          </a:r>
                          <a:r>
                            <a:rPr lang="pt-BR" sz="2000" noProof="0" dirty="0">
                              <a:latin typeface="+mn-lt"/>
                            </a:rPr>
                            <a:t> pequenos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234521875"/>
                      </a:ext>
                    </a:extLst>
                  </a:tr>
                  <a:tr h="1615440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2000" b="1" noProof="0" dirty="0">
                              <a:latin typeface="+mn-lt"/>
                            </a:rPr>
                            <a:t>Observações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342900" indent="-342900" algn="l">
                            <a:buFont typeface="Arial" panose="020B0604020202020204" pitchFamily="34" charset="0"/>
                            <a:buChar char="•"/>
                          </a:pPr>
                          <a:r>
                            <a:rPr lang="pt-BR" sz="2000" noProof="0" dirty="0">
                              <a:latin typeface="+mn-lt"/>
                            </a:rPr>
                            <a:t>Pode exigir muitas iterações para convergir.</a:t>
                          </a:r>
                        </a:p>
                        <a:p>
                          <a:pPr marL="342900" indent="-342900" algn="l">
                            <a:buFont typeface="Arial" panose="020B0604020202020204" pitchFamily="34" charset="0"/>
                            <a:buChar char="•"/>
                          </a:pPr>
                          <a:r>
                            <a:rPr lang="pt-BR" sz="2000" noProof="0" dirty="0">
                              <a:latin typeface="+mn-lt"/>
                            </a:rPr>
                            <a:t>A função de erro deve ser </a:t>
                          </a:r>
                          <a:r>
                            <a:rPr lang="pt-BR" sz="2000" noProof="0" dirty="0" err="1">
                              <a:latin typeface="+mn-lt"/>
                            </a:rPr>
                            <a:t>diferenciável</a:t>
                          </a:r>
                          <a:r>
                            <a:rPr lang="pt-BR" sz="2000" noProof="0" dirty="0">
                              <a:latin typeface="+mn-lt"/>
                            </a:rPr>
                            <a:t>.</a:t>
                          </a:r>
                        </a:p>
                        <a:p>
                          <a:pPr marL="342900" indent="-342900" algn="l">
                            <a:buFont typeface="Arial" panose="020B0604020202020204" pitchFamily="34" charset="0"/>
                            <a:buChar char="•"/>
                          </a:pPr>
                          <a:r>
                            <a:rPr lang="pt-BR" sz="2000" noProof="0" dirty="0">
                              <a:latin typeface="+mn-lt"/>
                            </a:rPr>
                            <a:t>É flexível, podendo ser ajustado à quantidade de memória disponível.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36241" t="-149434" r="-246" b="-641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70400338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B6ADA1D5-0763-3EF2-0C26-C666D2EF6C89}"/>
                  </a:ext>
                </a:extLst>
              </p:cNvPr>
              <p:cNvSpPr txBox="1"/>
              <p:nvPr/>
            </p:nvSpPr>
            <p:spPr>
              <a:xfrm>
                <a:off x="161481" y="5683568"/>
                <a:ext cx="6096000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:r>
                  <a:rPr lang="pt-BR" sz="1400" noProof="0" dirty="0"/>
                  <a:t>* </a:t>
                </a:r>
                <a14:m>
                  <m:oMath xmlns:m="http://schemas.openxmlformats.org/officeDocument/2006/math">
                    <m:r>
                      <a:rPr lang="pt-BR" sz="1400" i="1">
                        <a:latin typeface="Cambria Math" panose="02040503050406030204" pitchFamily="18" charset="0"/>
                      </a:rPr>
                      <m:t>𝐼</m:t>
                    </m:r>
                  </m:oMath>
                </a14:m>
                <a:r>
                  <a:rPr lang="pt-BR" sz="1400" dirty="0"/>
                  <a:t> é o número de iterações</a:t>
                </a:r>
                <a:endParaRPr lang="pt-BR" sz="1400" noProof="0" dirty="0"/>
              </a:p>
              <a:p>
                <a:pPr/>
                <a:r>
                  <a:rPr lang="pt-BR" sz="1400" dirty="0"/>
                  <a:t>** </a:t>
                </a:r>
                <a:r>
                  <a:rPr lang="pt-BR" sz="1400" noProof="0" dirty="0"/>
                  <a:t>Complexidade para o cálculo da inversa de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sz="1400" i="1" noProof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sz="1400" b="0" i="1" noProof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p>
                        <m:r>
                          <a:rPr lang="pt-BR" sz="1400" b="0" i="1" noProof="0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pt-BR" sz="1400" b="0" i="1" noProof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pt-BR" sz="1400" noProof="0" dirty="0"/>
                  <a:t> </a:t>
                </a:r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B6ADA1D5-0763-3EF2-0C26-C666D2EF6C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1481" y="5683568"/>
                <a:ext cx="6096000" cy="523220"/>
              </a:xfrm>
              <a:prstGeom prst="rect">
                <a:avLst/>
              </a:prstGeom>
              <a:blipFill>
                <a:blip r:embed="rId3"/>
                <a:stretch>
                  <a:fillRect l="-300" t="-1163" b="-127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4638053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FA39D5-1A7D-603C-1F90-C3C1D9D9D7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99220"/>
            <a:ext cx="10515600" cy="3259559"/>
          </a:xfrm>
        </p:spPr>
        <p:txBody>
          <a:bodyPr/>
          <a:lstStyle/>
          <a:p>
            <a:pPr marL="0" indent="0" algn="ctr">
              <a:buNone/>
            </a:pPr>
            <a:r>
              <a:rPr lang="pt-BR" sz="5400" i="1" dirty="0"/>
              <a:t>Como o gradiente descendente é a abordagem mais usada com boa parte dos algoritmos de ML, vamos focar no seu aprendizado.</a:t>
            </a:r>
            <a:endParaRPr lang="en-US" sz="5400" i="1" dirty="0"/>
          </a:p>
        </p:txBody>
      </p:sp>
    </p:spTree>
    <p:extLst>
      <p:ext uri="{BB962C8B-B14F-4D97-AF65-F5344CB8AC3E}">
        <p14:creationId xmlns:p14="http://schemas.microsoft.com/office/powerpoint/2010/main" val="319501055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D0B404-F3ED-8087-A024-C72B793DE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D4684C-15AE-EBFA-CC52-BE2B106242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pt-BR" sz="4800" b="1" dirty="0">
                <a:solidFill>
                  <a:srgbClr val="FF0000"/>
                </a:solidFill>
              </a:rPr>
              <a:t>PAREI AQUI!!!!!!!!!!!</a:t>
            </a:r>
            <a:endParaRPr lang="en-US" sz="48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5612562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B225A9-57A2-5D4C-C592-FC96B4AB25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Superfície de erro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E2E11B-9833-18C1-2157-693893D8C1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Antes de discutirmos como o gradiente </a:t>
            </a:r>
            <a:r>
              <a:rPr lang="pt-BR" dirty="0" err="1"/>
              <a:t>descendete</a:t>
            </a:r>
            <a:r>
              <a:rPr lang="pt-BR" dirty="0"/>
              <a:t> funciona, precisamos entender o que é a superfície de erro.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5654928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56DF96-42E3-2871-6B68-006B83AA25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22F058-3AE4-7D79-7745-EC0140C3D9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O </a:t>
            </a:r>
            <a:r>
              <a:rPr lang="pt-BR" dirty="0" err="1"/>
              <a:t>gradinete</a:t>
            </a:r>
            <a:r>
              <a:rPr lang="pt-BR" dirty="0"/>
              <a:t> descendente é a busca iterativa pela parte mais baixa da superfície de erro,.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3147205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862A92-55C2-431E-3FAA-7DC08A0AC6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Validação cruzada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A91331-8D79-4209-9910-250A54A6D3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Validação cruzada para encontrar grau dos polinômios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0018551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Perguntas?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377300566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Obrigado!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265570461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8273</TotalTime>
  <Words>1923</Words>
  <Application>Microsoft Office PowerPoint</Application>
  <PresentationFormat>Widescreen</PresentationFormat>
  <Paragraphs>178</Paragraphs>
  <Slides>26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33" baseType="lpstr">
      <vt:lpstr>Arial</vt:lpstr>
      <vt:lpstr>Calibri</vt:lpstr>
      <vt:lpstr>Calibri Light</vt:lpstr>
      <vt:lpstr>Cambria Math</vt:lpstr>
      <vt:lpstr>Courier New</vt:lpstr>
      <vt:lpstr>Wingdings</vt:lpstr>
      <vt:lpstr>Tema do Office</vt:lpstr>
      <vt:lpstr>C24 – Inteligência Artificial: Regressão</vt:lpstr>
      <vt:lpstr>Motivação</vt:lpstr>
      <vt:lpstr>Motivação</vt:lpstr>
      <vt:lpstr>PowerPoint Presentation</vt:lpstr>
      <vt:lpstr>PowerPoint Presentation</vt:lpstr>
      <vt:lpstr>Regressão linear</vt:lpstr>
      <vt:lpstr>Qual o objetivo da regressão linear?</vt:lpstr>
      <vt:lpstr>Qual é o paradigma de aprendizado?</vt:lpstr>
      <vt:lpstr>Qual é o paradigma de aprendizado?</vt:lpstr>
      <vt:lpstr>Por que linear?</vt:lpstr>
      <vt:lpstr>Por que linear?</vt:lpstr>
      <vt:lpstr>PowerPoint Presentation</vt:lpstr>
      <vt:lpstr>Objetivo da regressão linear</vt:lpstr>
      <vt:lpstr>PowerPoint Presentation</vt:lpstr>
      <vt:lpstr>Função de erro</vt:lpstr>
      <vt:lpstr>Minimização da função de erro</vt:lpstr>
      <vt:lpstr>Resumo do problema da regressão linear</vt:lpstr>
      <vt:lpstr>Como encontrar os pesos ótimos?</vt:lpstr>
      <vt:lpstr>Comparativo das abordagens</vt:lpstr>
      <vt:lpstr>PowerPoint Presentation</vt:lpstr>
      <vt:lpstr>PowerPoint Presentation</vt:lpstr>
      <vt:lpstr>Superfície de erro</vt:lpstr>
      <vt:lpstr>PowerPoint Presentation</vt:lpstr>
      <vt:lpstr>Validação cruzada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TP555 - Inteligência Artificial e Machine Learning</dc:title>
  <dc:creator>Felipe Augusto Pereira de Figueiredo</dc:creator>
  <cp:lastModifiedBy>Felipe Augusto Pereira de Figueiredo</cp:lastModifiedBy>
  <cp:revision>1805</cp:revision>
  <dcterms:created xsi:type="dcterms:W3CDTF">2020-01-20T13:50:05Z</dcterms:created>
  <dcterms:modified xsi:type="dcterms:W3CDTF">2026-02-12T21:20:36Z</dcterms:modified>
</cp:coreProperties>
</file>