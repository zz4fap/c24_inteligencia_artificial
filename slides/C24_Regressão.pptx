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9"/>
  </p:notesMasterIdLst>
  <p:handoutMasterIdLst>
    <p:handoutMasterId r:id="rId70"/>
  </p:handoutMasterIdLst>
  <p:sldIdLst>
    <p:sldId id="256" r:id="rId2"/>
    <p:sldId id="296" r:id="rId3"/>
    <p:sldId id="463" r:id="rId4"/>
    <p:sldId id="517" r:id="rId5"/>
    <p:sldId id="518" r:id="rId6"/>
    <p:sldId id="464" r:id="rId7"/>
    <p:sldId id="470" r:id="rId8"/>
    <p:sldId id="471" r:id="rId9"/>
    <p:sldId id="472" r:id="rId10"/>
    <p:sldId id="465" r:id="rId11"/>
    <p:sldId id="520" r:id="rId12"/>
    <p:sldId id="522" r:id="rId13"/>
    <p:sldId id="523" r:id="rId14"/>
    <p:sldId id="524" r:id="rId15"/>
    <p:sldId id="481" r:id="rId16"/>
    <p:sldId id="525" r:id="rId17"/>
    <p:sldId id="320" r:id="rId18"/>
    <p:sldId id="526" r:id="rId19"/>
    <p:sldId id="527" r:id="rId20"/>
    <p:sldId id="547" r:id="rId21"/>
    <p:sldId id="528" r:id="rId22"/>
    <p:sldId id="529" r:id="rId23"/>
    <p:sldId id="541" r:id="rId24"/>
    <p:sldId id="532" r:id="rId25"/>
    <p:sldId id="533" r:id="rId26"/>
    <p:sldId id="435" r:id="rId27"/>
    <p:sldId id="448" r:id="rId28"/>
    <p:sldId id="536" r:id="rId29"/>
    <p:sldId id="407" r:id="rId30"/>
    <p:sldId id="449" r:id="rId31"/>
    <p:sldId id="409" r:id="rId32"/>
    <p:sldId id="410" r:id="rId33"/>
    <p:sldId id="433" r:id="rId34"/>
    <p:sldId id="411" r:id="rId35"/>
    <p:sldId id="432" r:id="rId36"/>
    <p:sldId id="415" r:id="rId37"/>
    <p:sldId id="412" r:id="rId38"/>
    <p:sldId id="413" r:id="rId39"/>
    <p:sldId id="450" r:id="rId40"/>
    <p:sldId id="434" r:id="rId41"/>
    <p:sldId id="414" r:id="rId42"/>
    <p:sldId id="416" r:id="rId43"/>
    <p:sldId id="451" r:id="rId44"/>
    <p:sldId id="417" r:id="rId45"/>
    <p:sldId id="419" r:id="rId46"/>
    <p:sldId id="425" r:id="rId47"/>
    <p:sldId id="537" r:id="rId48"/>
    <p:sldId id="418" r:id="rId49"/>
    <p:sldId id="539" r:id="rId50"/>
    <p:sldId id="542" r:id="rId51"/>
    <p:sldId id="423" r:id="rId52"/>
    <p:sldId id="424" r:id="rId53"/>
    <p:sldId id="429" r:id="rId54"/>
    <p:sldId id="540" r:id="rId55"/>
    <p:sldId id="431" r:id="rId56"/>
    <p:sldId id="546" r:id="rId57"/>
    <p:sldId id="543" r:id="rId58"/>
    <p:sldId id="437" r:id="rId59"/>
    <p:sldId id="436" r:id="rId60"/>
    <p:sldId id="443" r:id="rId61"/>
    <p:sldId id="444" r:id="rId62"/>
    <p:sldId id="420" r:id="rId63"/>
    <p:sldId id="421" r:id="rId64"/>
    <p:sldId id="338" r:id="rId65"/>
    <p:sldId id="370" r:id="rId66"/>
    <p:sldId id="293" r:id="rId67"/>
    <p:sldId id="306" r:id="rId68"/>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7240" autoAdjust="0"/>
  </p:normalViewPr>
  <p:slideViewPr>
    <p:cSldViewPr snapToGrid="0">
      <p:cViewPr varScale="1">
        <p:scale>
          <a:sx n="85" d="100"/>
          <a:sy n="85" d="100"/>
        </p:scale>
        <p:origin x="1818" y="9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handoutMaster" Target="handoutMasters/handoutMaster1.xml"/><Relationship Id="rId7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13/02/2026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13/02/2026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id="{564B5010-A526-F1A7-081A-837B0A1AAEC5}"/>
              </a:ext>
            </a:extLst>
          </p:cNvPr>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57</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58</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59</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60</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61</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40.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5.xml.rels><?xml version="1.0" encoding="UTF-8" standalone="yes"?>
<Relationships xmlns="http://schemas.openxmlformats.org/package/2006/relationships"><Relationship Id="rId7"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27.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3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2.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8.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0.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2.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4.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4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2.gif"/><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62.png"/></Relationships>
</file>

<file path=ppt/slides/_rels/slide61.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uma </a:t>
                </a:r>
                <a:r>
                  <a:rPr lang="pt-BR" b="1" i="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i="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rgbClr val="00B050"/>
                    </a:solidFill>
                  </a:rPr>
                  <a:t>ótima</a:t>
                </a:r>
                <a:r>
                  <a:rPr lang="pt-BR" dirty="0"/>
                  <a:t>.</a:t>
                </a:r>
              </a:p>
              <a:p>
                <a:r>
                  <a:rPr lang="pt-BR" b="0" i="0" dirty="0">
                    <a:solidFill>
                      <a:schemeClr val="tx1"/>
                    </a:solidFill>
                    <a:effectLst/>
                  </a:rPr>
                  <a:t>Ótimo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0B11DDB3-BDC9-57EF-0BC8-921A1B6B8D9B}"/>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dirty="0"/>
                  <a:t>conjunto</a:t>
                </a:r>
                <a:r>
                  <a:rPr lang="pt-BR" dirty="0"/>
                  <a:t> de valores de entrada, </a:t>
                </a:r>
                <a14:m>
                  <m:oMath xmlns:m="http://schemas.openxmlformats.org/officeDocument/2006/math">
                    <m:r>
                      <a:rPr lang="pt-BR" b="1" i="1" smtClean="0">
                        <a:latin typeface="Cambria Math" panose="02040503050406030204" pitchFamily="18" charset="0"/>
                      </a:rPr>
                      <m:t>𝒙</m:t>
                    </m:r>
                  </m:oMath>
                </a14:m>
                <a:r>
                  <a:rPr lang="pt-BR" dirty="0"/>
                  <a:t> (os </a:t>
                </a:r>
                <a:r>
                  <a:rPr lang="pt-BR" b="1" dirty="0"/>
                  <a:t>atributos</a:t>
                </a:r>
                <a:r>
                  <a:rPr lang="pt-BR" dirty="0"/>
                  <a:t>), e os seus respectivos valores esperados de saída, </a:t>
                </a:r>
                <a14:m>
                  <m:oMath xmlns:m="http://schemas.openxmlformats.org/officeDocument/2006/math">
                    <m:r>
                      <a:rPr lang="pt-BR" b="0" i="1" smtClean="0">
                        <a:latin typeface="Cambria Math" panose="02040503050406030204" pitchFamily="18" charset="0"/>
                      </a:rPr>
                      <m:t>𝑦</m:t>
                    </m:r>
                  </m:oMath>
                </a14:m>
                <a:r>
                  <a:rPr lang="pt-BR" dirty="0"/>
                  <a:t> (os </a:t>
                </a:r>
                <a:r>
                  <a:rPr lang="pt-BR" b="1" dirty="0"/>
                  <a:t>rótulos</a:t>
                </a:r>
                <a:r>
                  <a:rPr lang="pt-BR" dirty="0"/>
                  <a:t>), </a:t>
                </a:r>
                <a:r>
                  <a:rPr lang="pt-BR" b="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35B076-2510-BA54-045E-9FDA19549589}"/>
              </a:ext>
            </a:extLst>
          </p:cNvPr>
          <p:cNvGrpSpPr/>
          <p:nvPr/>
        </p:nvGrpSpPr>
        <p:grpSpPr>
          <a:xfrm>
            <a:off x="313057" y="2511846"/>
            <a:ext cx="4622500" cy="3152391"/>
            <a:chOff x="313057" y="2511846"/>
            <a:chExt cx="4622500" cy="3152391"/>
          </a:xfrm>
        </p:grpSpPr>
        <p:grpSp>
          <p:nvGrpSpPr>
            <p:cNvPr id="8" name="Agrupar 8">
              <a:extLst>
                <a:ext uri="{FF2B5EF4-FFF2-40B4-BE49-F238E27FC236}">
                  <a16:creationId xmlns:a16="http://schemas.microsoft.com/office/drawing/2014/main" id="{6BA6F8C4-313D-7B7A-8A78-327F3069654F}"/>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2FDB8C03-A236-C2AB-BA26-35BCEB12554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D1A24C38-EFA6-2F8B-5C0C-9C486DD9AA95}"/>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57EE6B8B-A053-340A-CAEE-30CFEBD53D7E}"/>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84693792-F9CA-4DDE-7B29-0D00BA687EFA}"/>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2656444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id="{77D13973-0CC4-804D-B65C-ACF1497CA131}"/>
              </a:ext>
            </a:extLst>
          </p:cNvPr>
          <p:cNvSpPr txBox="1"/>
          <p:nvPr/>
        </p:nvSpPr>
        <p:spPr>
          <a:xfrm>
            <a:off x="6543036" y="3032554"/>
            <a:ext cx="3983450" cy="1446550"/>
          </a:xfrm>
          <a:prstGeom prst="rect">
            <a:avLst/>
          </a:prstGeom>
          <a:noFill/>
        </p:spPr>
        <p:txBody>
          <a:bodyPr wrap="square">
            <a:spAutoFit/>
          </a:bodyPr>
          <a:lstStyle/>
          <a:p>
            <a:pPr marL="0" indent="0" algn="ctr">
              <a:buNone/>
            </a:pPr>
            <a:r>
              <a:rPr lang="pt-BR" sz="4400" b="1" dirty="0">
                <a:solidFill>
                  <a:srgbClr val="00B050"/>
                </a:solidFill>
              </a:rPr>
              <a:t>Aprendizado supervisionado</a:t>
            </a:r>
          </a:p>
        </p:txBody>
      </p:sp>
      <p:grpSp>
        <p:nvGrpSpPr>
          <p:cNvPr id="4" name="Group 3">
            <a:extLst>
              <a:ext uri="{FF2B5EF4-FFF2-40B4-BE49-F238E27FC236}">
                <a16:creationId xmlns:a16="http://schemas.microsoft.com/office/drawing/2014/main" id="{74FA83DA-1176-B494-DF6D-26AABD487B72}"/>
              </a:ext>
            </a:extLst>
          </p:cNvPr>
          <p:cNvGrpSpPr/>
          <p:nvPr/>
        </p:nvGrpSpPr>
        <p:grpSpPr>
          <a:xfrm>
            <a:off x="606971" y="2326789"/>
            <a:ext cx="4622500" cy="3152391"/>
            <a:chOff x="313057" y="2511846"/>
            <a:chExt cx="4622500" cy="3152391"/>
          </a:xfrm>
        </p:grpSpPr>
        <p:grpSp>
          <p:nvGrpSpPr>
            <p:cNvPr id="8" name="Agrupar 8">
              <a:extLst>
                <a:ext uri="{FF2B5EF4-FFF2-40B4-BE49-F238E27FC236}">
                  <a16:creationId xmlns:a16="http://schemas.microsoft.com/office/drawing/2014/main" id="{3601490F-BA92-2E2F-4176-8548977CDC6B}"/>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5C8759EA-A495-1092-5721-C2D5BB9697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3DC28E94-1E78-E96F-81AC-6660B1EAE0DB}"/>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18708C14-B461-C0FC-A091-97D0B01047D3}"/>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CD48A18A-A494-29A6-49E8-BAE3B1ECBF7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CD48A18A-A494-29A6-49E8-BAE3B1ECBF7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8000"/>
                  </a:stretch>
                </a:blipFill>
              </p:spPr>
              <p:txBody>
                <a:bodyPr/>
                <a:lstStyle/>
                <a:p>
                  <a:r>
                    <a:rPr lang="en-US">
                      <a:noFill/>
                    </a:rPr>
                    <a:t> </a:t>
                  </a:r>
                </a:p>
              </p:txBody>
            </p:sp>
          </mc:Fallback>
        </mc:AlternateContent>
      </p:grpSp>
    </p:spTree>
    <p:extLst>
      <p:ext uri="{BB962C8B-B14F-4D97-AF65-F5344CB8AC3E}">
        <p14:creationId xmlns:p14="http://schemas.microsoft.com/office/powerpoint/2010/main" val="172006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i="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relação.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+2</m:t>
                    </m:r>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a:t>
                </a:r>
                <a:r>
                  <a:rPr lang="en-US" dirty="0" err="1"/>
                  <a:t>em</a:t>
                </a:r>
                <a:r>
                  <a:rPr lang="en-US" dirty="0"/>
                  <a:t> </a:t>
                </a:r>
                <a:r>
                  <a:rPr lang="en-US" dirty="0" err="1"/>
                  <a:t>uma</a:t>
                </a:r>
                <a:r>
                  <a:rPr lang="en-US" dirty="0"/>
                  <a:t> </a:t>
                </a:r>
                <a:r>
                  <a:rPr lang="en-US" dirty="0" err="1"/>
                  <a:t>variável</a:t>
                </a:r>
                <a:r>
                  <a:rPr lang="en-US" dirty="0"/>
                  <a:t>).</a:t>
                </a:r>
                <a:endParaRPr lang="pt-BR" i="1" dirty="0"/>
              </a:p>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e o grau (ou ordem)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62755" y="978248"/>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7303912" y="2274838"/>
            <a:ext cx="4391376" cy="2308324"/>
          </a:xfrm>
          <a:prstGeom prst="rect">
            <a:avLst/>
          </a:prstGeom>
          <a:noFill/>
        </p:spPr>
        <p:txBody>
          <a:bodyPr wrap="square" rtlCol="0">
            <a:spAutoFit/>
          </a:bodyPr>
          <a:lstStyle/>
          <a:p>
            <a:pPr algn="ctr"/>
            <a:r>
              <a:rPr lang="pt-BR" sz="3600" dirty="0"/>
              <a:t>O gradiente descendente está por trás dos algoritmos mais populares de ML.</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m:rPr>
                        <m:sty m:val="p"/>
                      </m:rP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m:rPr>
                          <m:sty m:val="p"/>
                        </m:rP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777430"/>
                <a:ext cx="11223662"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hiperplano, mas todos os resultados e conclusões que tiraremos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777430"/>
                <a:ext cx="11223662" cy="5080570"/>
              </a:xfrm>
              <a:blipFill>
                <a:blip r:embed="rId2"/>
                <a:stretch>
                  <a:fillRect l="-92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no somatório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107615"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Utiliza </a:t>
                </a:r>
                <a:r>
                  <a:rPr lang="pt-BR" b="1" i="1" dirty="0">
                    <a:solidFill>
                      <a:srgbClr val="00B050"/>
                    </a:solidFill>
                  </a:rPr>
                  <a:t>todos os exemplos</a:t>
                </a:r>
                <a:r>
                  <a:rPr lang="pt-BR" b="0"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𝑁</m:t>
                    </m:r>
                  </m:oMath>
                </a14:m>
                <a:r>
                  <a:rPr lang="pt-BR" b="0" dirty="0"/>
                  <a:t>) para o cálculo do gradiente</a:t>
                </a:r>
                <a:r>
                  <a:rPr lang="pt-BR" dirty="0"/>
                  <a:t>.</a:t>
                </a:r>
              </a:p>
              <a:p>
                <a:r>
                  <a:rPr lang="pt-BR" dirty="0"/>
                  <a:t>Pode ser </a:t>
                </a:r>
                <a:r>
                  <a:rPr lang="pt-BR" b="1" i="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pode ser lento em conjuntos muito grandes e consumir muita memória.</a:t>
                </a:r>
              </a:p>
              <a:p>
                <a:r>
                  <a:rPr lang="pt-BR" b="1" i="1" dirty="0">
                    <a:solidFill>
                      <a:srgbClr val="00B050"/>
                    </a:solidFill>
                  </a:rPr>
                  <a:t>Convergência</a:t>
                </a:r>
                <a:r>
                  <a:rPr lang="pt-BR" dirty="0"/>
                  <a:t> para o </a:t>
                </a:r>
                <a:r>
                  <a:rPr lang="pt-BR" b="1" i="1" dirty="0">
                    <a:solidFill>
                      <a:srgbClr val="7030A0"/>
                    </a:solidFill>
                  </a:rPr>
                  <a:t>mínimo global </a:t>
                </a:r>
                <a:r>
                  <a:rPr lang="pt-BR" dirty="0"/>
                  <a:t>é </a:t>
                </a:r>
                <a:r>
                  <a:rPr lang="pt-BR" b="1" i="1" dirty="0">
                    <a:solidFill>
                      <a:srgbClr val="00B050"/>
                    </a:solidFill>
                  </a:rPr>
                  <a:t>garantida</a:t>
                </a:r>
                <a:r>
                  <a:rPr lang="pt-BR" dirty="0"/>
                  <a:t> quando a função de erro é </a:t>
                </a:r>
                <a:r>
                  <a:rPr lang="pt-BR" b="1" i="1" dirty="0">
                    <a:solidFill>
                      <a:srgbClr val="00B050"/>
                    </a:solidFill>
                  </a:rPr>
                  <a:t>convexa e o passo não é grande demais</a:t>
                </a:r>
                <a:r>
                  <a:rPr lang="pt-BR" dirty="0"/>
                  <a:t>.</a:t>
                </a:r>
              </a:p>
              <a:p>
                <a:r>
                  <a:rPr lang="pt-BR" dirty="0"/>
                  <a:t>É a versão que </a:t>
                </a:r>
                <a:r>
                  <a:rPr lang="pt-BR" b="1" i="1" dirty="0">
                    <a:solidFill>
                      <a:srgbClr val="00B050"/>
                    </a:solidFill>
                  </a:rPr>
                  <a:t>obtém os melhores resultados</a:t>
                </a:r>
                <a:r>
                  <a:rPr lang="pt-BR" dirty="0"/>
                  <a:t>.</a:t>
                </a:r>
              </a:p>
              <a:p>
                <a:pPr marL="0" indent="0">
                  <a:buNone/>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107615" cy="5167311"/>
              </a:xfrm>
              <a:blipFill>
                <a:blip r:embed="rId3"/>
                <a:stretch>
                  <a:fillRect l="-988" r="-1207"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 exemplo</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1536"/>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exemplos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487311"/>
            <a:ext cx="10515600" cy="3883378"/>
          </a:xfrm>
        </p:spPr>
        <p:txBody>
          <a:bodyPr>
            <a:normAutofit/>
          </a:bodyPr>
          <a:lstStyle/>
          <a:p>
            <a:pPr marL="0" indent="0" algn="ctr">
              <a:buNone/>
            </a:pPr>
            <a:r>
              <a:rPr lang="pt-BR" sz="5400" i="1" dirty="0"/>
              <a:t>Já sabemos como encontrar os pesos de um dado polinômio, mas como descobrimos a complexidade ideal, i.e.,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6096000" y="1825624"/>
            <a:ext cx="595630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p>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a:t>Lista #5 </a:t>
            </a:r>
            <a:r>
              <a:rPr lang="en-US" dirty="0"/>
              <a:t>- </a:t>
            </a:r>
            <a:r>
              <a:rPr lang="en-US" dirty="0" err="1"/>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8629</TotalTime>
  <Words>10139</Words>
  <Application>Microsoft Office PowerPoint</Application>
  <PresentationFormat>Widescreen</PresentationFormat>
  <Paragraphs>739</Paragraphs>
  <Slides>67</Slides>
  <Notes>42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67</vt:i4>
      </vt:variant>
    </vt:vector>
  </HeadingPairs>
  <TitlesOfParts>
    <vt:vector size="76"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Motivação</vt:lpstr>
      <vt:lpstr>Motivação</vt:lpstr>
      <vt:lpstr>PowerPoint Presentation</vt:lpstr>
      <vt:lpstr>PowerPoint Presentation</vt:lpstr>
      <vt:lpstr>Regressão linear</vt:lpstr>
      <vt:lpstr>Qual o objetivo da regressão linear?</vt:lpstr>
      <vt:lpstr>Qual é o paradigma de aprendizado?</vt:lpstr>
      <vt:lpstr>Qual é o paradigma de aprendizado?</vt:lpstr>
      <vt:lpstr>Por que linear?</vt:lpstr>
      <vt:lpstr>Por que linear?</vt:lpstr>
      <vt:lpstr>PowerPoint Presentation</vt:lpstr>
      <vt:lpstr>Objetivo da regressão linear</vt:lpstr>
      <vt:lpstr>PowerPoint Presentation</vt:lpstr>
      <vt:lpstr>Função de erro</vt:lpstr>
      <vt:lpstr>Minimização da função de erro</vt:lpstr>
      <vt:lpstr>Resumo do problema da regressão linear</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Gradiente descendente</vt:lpstr>
      <vt:lpstr>Gradiente descendente</vt:lpstr>
      <vt:lpstr>Gradiente descendente</vt:lpstr>
      <vt:lpstr>PowerPoint Presentation</vt:lpstr>
      <vt:lpstr>Vetores gradiente</vt:lpstr>
      <vt:lpstr>Formato da função de erro</vt:lpstr>
      <vt:lpstr>Ponto de mínimo de uma função convexa</vt:lpstr>
      <vt:lpstr>O erro indica o caminho a ser seguido</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Validação cruzada</vt:lpstr>
      <vt:lpstr>Validação cruzada</vt:lpstr>
      <vt:lpstr>Validação cruzada</vt:lpstr>
      <vt:lpstr>k-fold</vt:lpstr>
      <vt:lpstr>k-fold</vt:lpstr>
      <vt:lpstr>Inferência</vt:lpstr>
      <vt:lpstr>Generalização</vt:lpstr>
      <vt:lpstr>Exemplo</vt:lpstr>
      <vt:lpstr>Lista de exercícios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1903</cp:revision>
  <dcterms:created xsi:type="dcterms:W3CDTF">2020-01-20T13:50:05Z</dcterms:created>
  <dcterms:modified xsi:type="dcterms:W3CDTF">2026-02-13T17:53:35Z</dcterms:modified>
</cp:coreProperties>
</file>