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2"/>
  </p:notesMasterIdLst>
  <p:handoutMasterIdLst>
    <p:handoutMasterId r:id="rId83"/>
  </p:handoutMasterIdLst>
  <p:sldIdLst>
    <p:sldId id="256" r:id="rId2"/>
    <p:sldId id="296" r:id="rId3"/>
    <p:sldId id="463" r:id="rId4"/>
    <p:sldId id="517" r:id="rId5"/>
    <p:sldId id="518" r:id="rId6"/>
    <p:sldId id="464" r:id="rId7"/>
    <p:sldId id="470" r:id="rId8"/>
    <p:sldId id="471" r:id="rId9"/>
    <p:sldId id="472" r:id="rId10"/>
    <p:sldId id="465" r:id="rId11"/>
    <p:sldId id="520" r:id="rId12"/>
    <p:sldId id="550" r:id="rId13"/>
    <p:sldId id="522" r:id="rId14"/>
    <p:sldId id="523" r:id="rId15"/>
    <p:sldId id="524" r:id="rId16"/>
    <p:sldId id="481" r:id="rId17"/>
    <p:sldId id="525" r:id="rId18"/>
    <p:sldId id="320" r:id="rId19"/>
    <p:sldId id="526" r:id="rId20"/>
    <p:sldId id="527" r:id="rId21"/>
    <p:sldId id="547" r:id="rId22"/>
    <p:sldId id="528" r:id="rId23"/>
    <p:sldId id="529" r:id="rId24"/>
    <p:sldId id="541" r:id="rId25"/>
    <p:sldId id="532" r:id="rId26"/>
    <p:sldId id="533" r:id="rId27"/>
    <p:sldId id="435" r:id="rId28"/>
    <p:sldId id="448" r:id="rId29"/>
    <p:sldId id="536" r:id="rId30"/>
    <p:sldId id="407" r:id="rId31"/>
    <p:sldId id="449" r:id="rId32"/>
    <p:sldId id="409" r:id="rId33"/>
    <p:sldId id="410" r:id="rId34"/>
    <p:sldId id="433" r:id="rId35"/>
    <p:sldId id="411" r:id="rId36"/>
    <p:sldId id="432" r:id="rId37"/>
    <p:sldId id="415" r:id="rId38"/>
    <p:sldId id="412" r:id="rId39"/>
    <p:sldId id="413" r:id="rId40"/>
    <p:sldId id="450" r:id="rId41"/>
    <p:sldId id="434" r:id="rId42"/>
    <p:sldId id="414" r:id="rId43"/>
    <p:sldId id="416" r:id="rId44"/>
    <p:sldId id="451" r:id="rId45"/>
    <p:sldId id="417" r:id="rId46"/>
    <p:sldId id="419" r:id="rId47"/>
    <p:sldId id="425" r:id="rId48"/>
    <p:sldId id="537" r:id="rId49"/>
    <p:sldId id="418" r:id="rId50"/>
    <p:sldId id="539" r:id="rId51"/>
    <p:sldId id="542" r:id="rId52"/>
    <p:sldId id="423" r:id="rId53"/>
    <p:sldId id="424" r:id="rId54"/>
    <p:sldId id="429" r:id="rId55"/>
    <p:sldId id="540" r:id="rId56"/>
    <p:sldId id="431" r:id="rId57"/>
    <p:sldId id="546" r:id="rId58"/>
    <p:sldId id="543" r:id="rId59"/>
    <p:sldId id="437" r:id="rId60"/>
    <p:sldId id="436" r:id="rId61"/>
    <p:sldId id="443" r:id="rId62"/>
    <p:sldId id="444" r:id="rId63"/>
    <p:sldId id="549" r:id="rId64"/>
    <p:sldId id="548" r:id="rId65"/>
    <p:sldId id="420" r:id="rId66"/>
    <p:sldId id="421" r:id="rId67"/>
    <p:sldId id="338" r:id="rId68"/>
    <p:sldId id="370" r:id="rId69"/>
    <p:sldId id="293" r:id="rId70"/>
    <p:sldId id="306" r:id="rId71"/>
    <p:sldId id="446" r:id="rId72"/>
    <p:sldId id="438" r:id="rId73"/>
    <p:sldId id="440" r:id="rId74"/>
    <p:sldId id="441" r:id="rId75"/>
    <p:sldId id="551" r:id="rId76"/>
    <p:sldId id="442" r:id="rId77"/>
    <p:sldId id="552" r:id="rId78"/>
    <p:sldId id="553" r:id="rId79"/>
    <p:sldId id="445" r:id="rId80"/>
    <p:sldId id="447" r:id="rId81"/>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85" d="100"/>
          <a:sy n="85" d="100"/>
        </p:scale>
        <p:origin x="1818"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89" Type="http://schemas.microsoft.com/office/2015/10/relationships/revisionInfo" Target="revisionInfo.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handoutMaster" Target="handoutMasters/handoutMaster1.xml"/><Relationship Id="rId88"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notesMaster" Target="notesMasters/notesMaster1.xml"/><Relationship Id="rId19" Type="http://schemas.openxmlformats.org/officeDocument/2006/relationships/slide" Target="slides/slide1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58</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59</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60</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61</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62</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8.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2.gi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62.png"/></Relationships>
</file>

<file path=ppt/slides/_rels/slide6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92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no somatório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107615"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Utiliza </a:t>
                </a:r>
                <a:r>
                  <a:rPr lang="pt-BR" b="1" i="1" dirty="0">
                    <a:solidFill>
                      <a:srgbClr val="00B050"/>
                    </a:solidFill>
                  </a:rPr>
                  <a:t>todos os exemplos</a:t>
                </a:r>
                <a:r>
                  <a:rPr lang="pt-BR" b="0"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𝑁</m:t>
                    </m:r>
                  </m:oMath>
                </a14:m>
                <a:r>
                  <a:rPr lang="pt-BR" b="0" dirty="0"/>
                  <a:t>) para o cálculo do gradiente</a:t>
                </a:r>
                <a:r>
                  <a:rPr lang="pt-BR" dirty="0"/>
                  <a:t>.</a:t>
                </a:r>
              </a:p>
              <a:p>
                <a:r>
                  <a:rPr lang="pt-BR" dirty="0"/>
                  <a:t>Pode ser </a:t>
                </a:r>
                <a:r>
                  <a:rPr lang="pt-BR" b="1" i="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pode ser lento em conjuntos muito grandes e consumir muita memória.</a:t>
                </a:r>
              </a:p>
              <a:p>
                <a:r>
                  <a:rPr lang="pt-BR" b="1" i="1" dirty="0">
                    <a:solidFill>
                      <a:srgbClr val="00B050"/>
                    </a:solidFill>
                  </a:rPr>
                  <a:t>Convergência</a:t>
                </a:r>
                <a:r>
                  <a:rPr lang="pt-BR" dirty="0"/>
                  <a:t> para o </a:t>
                </a:r>
                <a:r>
                  <a:rPr lang="pt-BR" b="1" i="1" dirty="0">
                    <a:solidFill>
                      <a:srgbClr val="7030A0"/>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 e o passo não é grande demais</a:t>
                </a:r>
                <a:r>
                  <a:rPr lang="pt-BR" dirty="0"/>
                  <a:t>.</a:t>
                </a:r>
              </a:p>
              <a:p>
                <a:r>
                  <a:rPr lang="pt-BR" dirty="0"/>
                  <a:t>É a versão que </a:t>
                </a:r>
                <a:r>
                  <a:rPr lang="pt-BR" b="1" i="1" dirty="0">
                    <a:solidFill>
                      <a:srgbClr val="00B050"/>
                    </a:solidFill>
                  </a:rPr>
                  <a:t>obtém os melhores resultados</a:t>
                </a:r>
                <a:r>
                  <a:rPr lang="pt-BR" dirty="0"/>
                  <a:t>.</a:t>
                </a:r>
              </a:p>
              <a:p>
                <a:pPr marL="0" indent="0">
                  <a:buNone/>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107615" cy="5167311"/>
              </a:xfrm>
              <a:blipFill>
                <a:blip r:embed="rId3"/>
                <a:stretch>
                  <a:fillRect l="-988" r="-1207"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 exemplo</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1536"/>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exemplos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6096000" y="1825624"/>
            <a:ext cx="595630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p>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p:txBody>
          <a:bodyPr/>
          <a:lstStyle/>
          <a:p>
            <a:r>
              <a:rPr lang="pt-BR" dirty="0"/>
              <a:t>Conforme o </a:t>
            </a:r>
            <a:endParaRPr lang="en-US" dirty="0"/>
          </a:p>
        </p:txBody>
      </p:sp>
    </p:spTree>
    <p:extLst>
      <p:ext uri="{BB962C8B-B14F-4D97-AF65-F5344CB8AC3E}">
        <p14:creationId xmlns:p14="http://schemas.microsoft.com/office/powerpoint/2010/main" val="17805254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17D7CA-961A-34EA-CC38-E91BF8496F7E}"/>
              </a:ext>
            </a:extLst>
          </p:cNvPr>
          <p:cNvSpPr>
            <a:spLocks noGrp="1"/>
          </p:cNvSpPr>
          <p:nvPr>
            <p:ph type="title"/>
          </p:nvPr>
        </p:nvSpPr>
        <p:spPr/>
        <p:txBody>
          <a:bodyPr/>
          <a:lstStyle/>
          <a:p>
            <a:r>
              <a:rPr lang="en-US" i="1" dirty="0"/>
              <a:t>Underfitting</a:t>
            </a:r>
            <a:r>
              <a:rPr lang="en-US" dirty="0"/>
              <a:t> e </a:t>
            </a:r>
            <a:r>
              <a:rPr lang="en-US" i="1" dirty="0"/>
              <a:t>Overfitting</a:t>
            </a:r>
          </a:p>
        </p:txBody>
      </p:sp>
      <p:sp>
        <p:nvSpPr>
          <p:cNvPr id="3" name="Content Placeholder 2">
            <a:extLst>
              <a:ext uri="{FF2B5EF4-FFF2-40B4-BE49-F238E27FC236}">
                <a16:creationId xmlns:a16="http://schemas.microsoft.com/office/drawing/2014/main" id="{99B71F15-9D95-6E31-4AB9-83C848844729}"/>
              </a:ext>
            </a:extLst>
          </p:cNvPr>
          <p:cNvSpPr>
            <a:spLocks noGrp="1"/>
          </p:cNvSpPr>
          <p:nvPr>
            <p:ph idx="1"/>
          </p:nvPr>
        </p:nvSpPr>
        <p:spPr>
          <a:xfrm>
            <a:off x="5565422" y="1825624"/>
            <a:ext cx="6378222" cy="5032375"/>
          </a:xfrm>
        </p:spPr>
        <p:txBody>
          <a:bodyPr>
            <a:normAutofit fontScale="92500" lnSpcReduction="10000"/>
          </a:bodyPr>
          <a:lstStyle/>
          <a:p>
            <a:r>
              <a:rPr lang="pt-BR" b="1" dirty="0"/>
              <a:t>Underfitting:</a:t>
            </a:r>
            <a:endParaRPr lang="pt-BR" dirty="0"/>
          </a:p>
          <a:p>
            <a:r>
              <a:rPr lang="pt-BR" dirty="0"/>
              <a:t>Modelo simples demais</a:t>
            </a:r>
          </a:p>
          <a:p>
            <a:r>
              <a:rPr lang="pt-BR" dirty="0"/>
              <a:t>Não captura o padrão dos dados</a:t>
            </a:r>
          </a:p>
          <a:p>
            <a:r>
              <a:rPr lang="pt-BR" dirty="0"/>
              <a:t>Alto viés</a:t>
            </a:r>
          </a:p>
          <a:p>
            <a:r>
              <a:rPr lang="pt-BR" b="1" dirty="0" err="1"/>
              <a:t>Overfitting</a:t>
            </a:r>
            <a:r>
              <a:rPr lang="pt-BR" b="1" dirty="0"/>
              <a:t>:</a:t>
            </a:r>
            <a:endParaRPr lang="pt-BR" dirty="0"/>
          </a:p>
          <a:p>
            <a:r>
              <a:rPr lang="pt-BR" dirty="0"/>
              <a:t>Modelo complexo demais</a:t>
            </a:r>
          </a:p>
          <a:p>
            <a:r>
              <a:rPr lang="pt-BR" dirty="0"/>
              <a:t>Ajusta ruído em vez de padrão</a:t>
            </a:r>
          </a:p>
          <a:p>
            <a:r>
              <a:rPr lang="pt-BR" dirty="0"/>
              <a:t>Alta variância</a:t>
            </a:r>
          </a:p>
          <a:p>
            <a:r>
              <a:rPr lang="pt-BR" dirty="0"/>
              <a:t>Relação com grau do polinômio:</a:t>
            </a:r>
          </a:p>
          <a:p>
            <a:r>
              <a:rPr lang="pt-BR" dirty="0"/>
              <a:t>Grau baixo → underfitting</a:t>
            </a:r>
          </a:p>
          <a:p>
            <a:r>
              <a:rPr lang="pt-BR" dirty="0"/>
              <a:t>Grau alto → </a:t>
            </a:r>
            <a:r>
              <a:rPr lang="pt-BR" dirty="0" err="1"/>
              <a:t>overfitting</a:t>
            </a:r>
            <a:endParaRPr lang="pt-BR" dirty="0"/>
          </a:p>
          <a:p>
            <a:pPr marL="0" indent="0">
              <a:buNone/>
            </a:pPr>
            <a:endParaRPr lang="en-US" dirty="0"/>
          </a:p>
        </p:txBody>
      </p:sp>
    </p:spTree>
    <p:extLst>
      <p:ext uri="{BB962C8B-B14F-4D97-AF65-F5344CB8AC3E}">
        <p14:creationId xmlns:p14="http://schemas.microsoft.com/office/powerpoint/2010/main" val="13655629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8647</TotalTime>
  <Words>10778</Words>
  <Application>Microsoft Office PowerPoint</Application>
  <PresentationFormat>Widescreen</PresentationFormat>
  <Paragraphs>812</Paragraphs>
  <Slides>80</Slides>
  <Notes>42</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80</vt:i4>
      </vt:variant>
    </vt:vector>
  </HeadingPairs>
  <TitlesOfParts>
    <vt:vector size="89"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A flexibilidade dos polinômios</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Validação cruzada</vt:lpstr>
      <vt:lpstr>Validação cruzada</vt:lpstr>
      <vt:lpstr>Validação cruzada</vt:lpstr>
      <vt:lpstr>k-fold</vt:lpstr>
      <vt:lpstr>k-fold</vt:lpstr>
      <vt:lpstr>Underfitting e Overfitting</vt:lpstr>
      <vt:lpstr>Underfitting e Overfitting</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1909</cp:revision>
  <dcterms:created xsi:type="dcterms:W3CDTF">2020-01-20T13:50:05Z</dcterms:created>
  <dcterms:modified xsi:type="dcterms:W3CDTF">2026-02-16T13:36:54Z</dcterms:modified>
</cp:coreProperties>
</file>