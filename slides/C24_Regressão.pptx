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8"/>
  </p:notesMasterIdLst>
  <p:handoutMasterIdLst>
    <p:handoutMasterId r:id="rId129"/>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616" r:id="rId14"/>
    <p:sldId id="550" r:id="rId15"/>
    <p:sldId id="522" r:id="rId16"/>
    <p:sldId id="523" r:id="rId17"/>
    <p:sldId id="524" r:id="rId18"/>
    <p:sldId id="481" r:id="rId19"/>
    <p:sldId id="525" r:id="rId20"/>
    <p:sldId id="526" r:id="rId21"/>
    <p:sldId id="527" r:id="rId22"/>
    <p:sldId id="547" r:id="rId23"/>
    <p:sldId id="528" r:id="rId24"/>
    <p:sldId id="529" r:id="rId25"/>
    <p:sldId id="541" r:id="rId26"/>
    <p:sldId id="532" r:id="rId27"/>
    <p:sldId id="617" r:id="rId28"/>
    <p:sldId id="533" r:id="rId29"/>
    <p:sldId id="435" r:id="rId30"/>
    <p:sldId id="448" r:id="rId31"/>
    <p:sldId id="536" r:id="rId32"/>
    <p:sldId id="411" r:id="rId33"/>
    <p:sldId id="432" r:id="rId34"/>
    <p:sldId id="415" r:id="rId35"/>
    <p:sldId id="566" r:id="rId36"/>
    <p:sldId id="412" r:id="rId37"/>
    <p:sldId id="413" r:id="rId38"/>
    <p:sldId id="450" r:id="rId39"/>
    <p:sldId id="434" r:id="rId40"/>
    <p:sldId id="614" r:id="rId41"/>
    <p:sldId id="615" r:id="rId42"/>
    <p:sldId id="414" r:id="rId43"/>
    <p:sldId id="572" r:id="rId44"/>
    <p:sldId id="416" r:id="rId45"/>
    <p:sldId id="451" r:id="rId46"/>
    <p:sldId id="417" r:id="rId47"/>
    <p:sldId id="419" r:id="rId48"/>
    <p:sldId id="425" r:id="rId49"/>
    <p:sldId id="537" r:id="rId50"/>
    <p:sldId id="418" r:id="rId51"/>
    <p:sldId id="539" r:id="rId52"/>
    <p:sldId id="542" r:id="rId53"/>
    <p:sldId id="423" r:id="rId54"/>
    <p:sldId id="580" r:id="rId55"/>
    <p:sldId id="424" r:id="rId56"/>
    <p:sldId id="429" r:id="rId57"/>
    <p:sldId id="540" r:id="rId58"/>
    <p:sldId id="431" r:id="rId59"/>
    <p:sldId id="583" r:id="rId60"/>
    <p:sldId id="584" r:id="rId61"/>
    <p:sldId id="554" r:id="rId62"/>
    <p:sldId id="555" r:id="rId63"/>
    <p:sldId id="549" r:id="rId64"/>
    <p:sldId id="461" r:id="rId65"/>
    <p:sldId id="557" r:id="rId66"/>
    <p:sldId id="558" r:id="rId67"/>
    <p:sldId id="559" r:id="rId68"/>
    <p:sldId id="560" r:id="rId69"/>
    <p:sldId id="561" r:id="rId70"/>
    <p:sldId id="562" r:id="rId71"/>
    <p:sldId id="563" r:id="rId72"/>
    <p:sldId id="543" r:id="rId73"/>
    <p:sldId id="437" r:id="rId74"/>
    <p:sldId id="436" r:id="rId75"/>
    <p:sldId id="443" r:id="rId76"/>
    <p:sldId id="444" r:id="rId77"/>
    <p:sldId id="565" r:id="rId78"/>
    <p:sldId id="567" r:id="rId79"/>
    <p:sldId id="568" r:id="rId80"/>
    <p:sldId id="604" r:id="rId81"/>
    <p:sldId id="605" r:id="rId82"/>
    <p:sldId id="467" r:id="rId83"/>
    <p:sldId id="338" r:id="rId84"/>
    <p:sldId id="573" r:id="rId85"/>
    <p:sldId id="370" r:id="rId86"/>
    <p:sldId id="293" r:id="rId87"/>
    <p:sldId id="306" r:id="rId88"/>
    <p:sldId id="446" r:id="rId89"/>
    <p:sldId id="438" r:id="rId90"/>
    <p:sldId id="440" r:id="rId91"/>
    <p:sldId id="441" r:id="rId92"/>
    <p:sldId id="551" r:id="rId93"/>
    <p:sldId id="442" r:id="rId94"/>
    <p:sldId id="552" r:id="rId95"/>
    <p:sldId id="553" r:id="rId96"/>
    <p:sldId id="445" r:id="rId97"/>
    <p:sldId id="447" r:id="rId98"/>
    <p:sldId id="608" r:id="rId99"/>
    <p:sldId id="607" r:id="rId100"/>
    <p:sldId id="452" r:id="rId101"/>
    <p:sldId id="569" r:id="rId102"/>
    <p:sldId id="589" r:id="rId103"/>
    <p:sldId id="582" r:id="rId104"/>
    <p:sldId id="586" r:id="rId105"/>
    <p:sldId id="587" r:id="rId106"/>
    <p:sldId id="588" r:id="rId107"/>
    <p:sldId id="590" r:id="rId108"/>
    <p:sldId id="591" r:id="rId109"/>
    <p:sldId id="592" r:id="rId110"/>
    <p:sldId id="593" r:id="rId111"/>
    <p:sldId id="594" r:id="rId112"/>
    <p:sldId id="595" r:id="rId113"/>
    <p:sldId id="597" r:id="rId114"/>
    <p:sldId id="600" r:id="rId115"/>
    <p:sldId id="458" r:id="rId116"/>
    <p:sldId id="601" r:id="rId117"/>
    <p:sldId id="384" r:id="rId118"/>
    <p:sldId id="602" r:id="rId119"/>
    <p:sldId id="611" r:id="rId120"/>
    <p:sldId id="459" r:id="rId121"/>
    <p:sldId id="610" r:id="rId122"/>
    <p:sldId id="399" r:id="rId123"/>
    <p:sldId id="397" r:id="rId124"/>
    <p:sldId id="609" r:id="rId125"/>
    <p:sldId id="579" r:id="rId126"/>
    <p:sldId id="577" r:id="rId1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85109" autoAdjust="0"/>
  </p:normalViewPr>
  <p:slideViewPr>
    <p:cSldViewPr snapToGrid="0">
      <p:cViewPr varScale="1">
        <p:scale>
          <a:sx n="94" d="100"/>
          <a:sy n="94" d="100"/>
        </p:scale>
        <p:origin x="145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microsoft.com/office/2016/11/relationships/changesInfo" Target="changesInfos/changesInfo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handoutMaster" Target="handoutMasters/handout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presProps" Target="presProps.xml"/><Relationship Id="rId135" Type="http://schemas.microsoft.com/office/2015/10/relationships/revisionInfo" Target="revisionInfo.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31/08/2026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31/08/2026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7.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 geral, regressão linear não funciona bem com extrapolação, apenas com interpolação (</a:t>
            </a:r>
            <a:r>
              <a:rPr lang="en-US" dirty="0" err="1"/>
              <a:t>prever</a:t>
            </a:r>
            <a:r>
              <a:rPr lang="en-US" dirty="0"/>
              <a:t> </a:t>
            </a:r>
            <a:r>
              <a:rPr lang="en-US" dirty="0" err="1"/>
              <a:t>dentro</a:t>
            </a:r>
            <a:r>
              <a:rPr lang="en-US" dirty="0"/>
              <a:t> do </a:t>
            </a:r>
            <a:r>
              <a:rPr lang="en-US" dirty="0" err="1"/>
              <a:t>intervalo</a:t>
            </a:r>
            <a:r>
              <a:rPr lang="en-US" dirty="0"/>
              <a:t> </a:t>
            </a:r>
            <a:r>
              <a:rPr lang="en-US" dirty="0" err="1"/>
              <a:t>em</a:t>
            </a:r>
            <a:r>
              <a:rPr lang="en-US" dirty="0"/>
              <a:t> </a:t>
            </a:r>
            <a:r>
              <a:rPr lang="en-US" dirty="0" err="1"/>
              <a:t>que</a:t>
            </a:r>
            <a:r>
              <a:rPr lang="en-US" dirty="0"/>
              <a:t> </a:t>
            </a:r>
            <a:r>
              <a:rPr lang="en-US" dirty="0" err="1"/>
              <a:t>temos</a:t>
            </a:r>
            <a:r>
              <a:rPr lang="en-US" dirty="0"/>
              <a:t> dados).</a:t>
            </a:r>
          </a:p>
          <a:p>
            <a:endParaRPr lang="en-US" dirty="0"/>
          </a:p>
          <a:p>
            <a:r>
              <a:rPr lang="en-US" b="1" dirty="0"/>
              <a:t>“Bulk rate”</a:t>
            </a:r>
            <a:r>
              <a:rPr lang="en-US" dirty="0"/>
              <a:t> </a:t>
            </a:r>
            <a:r>
              <a:rPr lang="en-US" dirty="0" err="1"/>
              <a:t>significa</a:t>
            </a:r>
            <a:r>
              <a:rPr lang="en-US" dirty="0"/>
              <a:t> </a:t>
            </a:r>
            <a:r>
              <a:rPr lang="en-US" b="1" dirty="0"/>
              <a:t>“</a:t>
            </a:r>
            <a:r>
              <a:rPr lang="en-US" b="1" dirty="0" err="1"/>
              <a:t>preço</a:t>
            </a:r>
            <a:r>
              <a:rPr lang="en-US" b="1" dirty="0"/>
              <a:t> para </a:t>
            </a:r>
            <a:r>
              <a:rPr lang="en-US" b="1" dirty="0" err="1"/>
              <a:t>compra</a:t>
            </a:r>
            <a:r>
              <a:rPr lang="en-US" b="1" dirty="0"/>
              <a:t> </a:t>
            </a:r>
            <a:r>
              <a:rPr lang="en-US" b="1" dirty="0" err="1"/>
              <a:t>em</a:t>
            </a:r>
            <a:r>
              <a:rPr lang="en-US" b="1" dirty="0"/>
              <a:t> grande </a:t>
            </a:r>
            <a:r>
              <a:rPr lang="en-US" b="1" dirty="0" err="1"/>
              <a:t>quantidade</a:t>
            </a:r>
            <a:r>
              <a:rPr lang="en-US" b="1" dirty="0"/>
              <a:t>”</a:t>
            </a:r>
            <a:r>
              <a:rPr lang="en-US" dirty="0"/>
              <a:t> </a:t>
            </a:r>
            <a:r>
              <a:rPr lang="en-US" dirty="0" err="1"/>
              <a:t>ou</a:t>
            </a:r>
            <a:r>
              <a:rPr lang="en-US" dirty="0"/>
              <a:t> </a:t>
            </a:r>
            <a:r>
              <a:rPr lang="en-US" b="1" dirty="0"/>
              <a:t>“</a:t>
            </a:r>
            <a:r>
              <a:rPr lang="en-US" b="1" dirty="0" err="1"/>
              <a:t>preço</a:t>
            </a:r>
            <a:r>
              <a:rPr lang="en-US" b="1" dirty="0"/>
              <a:t> </a:t>
            </a:r>
            <a:r>
              <a:rPr lang="en-US" b="1" dirty="0" err="1"/>
              <a:t>por</a:t>
            </a:r>
            <a:r>
              <a:rPr lang="en-US" b="1" dirty="0"/>
              <a:t> </a:t>
            </a:r>
            <a:r>
              <a:rPr lang="en-US" b="1" dirty="0" err="1"/>
              <a:t>atacado</a:t>
            </a:r>
            <a:r>
              <a:rPr lang="en-US" b="1" dirty="0"/>
              <a:t>”</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071453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Se um peso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pesos.</a:t>
            </a:r>
            <a:r>
              <a:rPr lang="en-US" dirty="0"/>
              <a:t> </a:t>
            </a:r>
            <a:br>
              <a:rPr lang="en-US" dirty="0"/>
            </a:b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ponto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inflexão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mudança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direção</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Graus </a:t>
            </a:r>
            <a:r>
              <a:rPr lang="en-US" sz="1200" b="0" i="0" kern="1200" dirty="0" err="1">
                <a:solidFill>
                  <a:schemeClr val="tx1"/>
                </a:solidFill>
                <a:effectLst/>
                <a:latin typeface="+mn-lt"/>
                <a:ea typeface="+mn-ea"/>
                <a:cs typeface="+mn-cs"/>
              </a:rPr>
              <a:t>maiores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capazes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fazer</a:t>
            </a:r>
            <a:r>
              <a:rPr lang="en-US" sz="1200" b="0" i="0" kern="1200" dirty="0">
                <a:solidFill>
                  <a:schemeClr val="tx1"/>
                </a:solidFill>
                <a:effectLst/>
                <a:latin typeface="+mn-lt"/>
                <a:ea typeface="+mn-ea"/>
                <a:cs typeface="+mn-cs"/>
              </a:rPr>
              <a:t> curvas e </a:t>
            </a:r>
            <a:r>
              <a:rPr lang="en-US" sz="1200" b="0" i="0" kern="1200" dirty="0" err="1">
                <a:solidFill>
                  <a:schemeClr val="tx1"/>
                </a:solidFill>
                <a:effectLst/>
                <a:latin typeface="+mn-lt"/>
                <a:ea typeface="+mn-ea"/>
                <a:cs typeface="+mn-cs"/>
              </a:rPr>
              <a:t>ondulações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complexas</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aproximar</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verdadeira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trás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pontos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ruidosos</a:t>
            </a:r>
            <a:r>
              <a:rPr lang="en-US" sz="1200" b="0" i="0" kern="1200" dirty="0">
                <a:solidFill>
                  <a:schemeClr val="tx1"/>
                </a:solidFill>
                <a:effectLst/>
                <a:latin typeface="+mn-lt"/>
                <a:ea typeface="+mn-ea"/>
                <a:cs typeface="+mn-cs"/>
              </a:rPr>
              <a:t>.</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852450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1825251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Equação normal: resolução de um sistema de equações lineares.</a:t>
            </a:r>
          </a:p>
          <a:p>
            <a:endParaRPr lang="pt-BR" dirty="0"/>
          </a:p>
          <a:p>
            <a:r>
              <a:rPr lang="pt-BR" dirty="0"/>
              <a:t>Temos soluções apenas se o sistema for determinado ou </a:t>
            </a:r>
            <a:r>
              <a:rPr lang="pt-BR" dirty="0" err="1"/>
              <a:t>sobre-determinado</a:t>
            </a:r>
            <a:r>
              <a:rPr lang="pt-BR" dirty="0"/>
              <a:t> e os atributos forem linearmente independentes.</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5992637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 bola "sabe" para qual </a:t>
            </a:r>
            <a:r>
              <a:rPr lang="en-US" sz="1200" b="0" i="0" kern="1200" dirty="0" err="1">
                <a:solidFill>
                  <a:schemeClr val="tx1"/>
                </a:solidFill>
                <a:effectLst/>
                <a:latin typeface="+mn-lt"/>
                <a:ea typeface="+mn-ea"/>
                <a:cs typeface="+mn-cs"/>
              </a:rPr>
              <a:t>lado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descer</a:t>
            </a:r>
            <a:r>
              <a:rPr lang="en-US" sz="1200" b="0" i="0" kern="1200" dirty="0">
                <a:solidFill>
                  <a:schemeClr val="tx1"/>
                </a:solidFill>
                <a:effectLst/>
                <a:latin typeface="+mn-lt"/>
                <a:ea typeface="+mn-ea"/>
                <a:cs typeface="+mn-cs"/>
              </a:rPr>
              <a:t>, mas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longo</a:t>
            </a:r>
            <a:r>
              <a:rPr lang="en-US" sz="1200" b="0" i="0" kern="1200" dirty="0">
                <a:solidFill>
                  <a:schemeClr val="tx1"/>
                </a:solidFill>
                <a:effectLst/>
                <a:latin typeface="+mn-lt"/>
                <a:ea typeface="+mn-ea"/>
                <a:cs typeface="+mn-cs"/>
              </a:rPr>
              <a:t> é o </a:t>
            </a:r>
            <a:r>
              <a:rPr lang="en-US" sz="1200" b="0" i="0" kern="1200" dirty="0" err="1">
                <a:solidFill>
                  <a:schemeClr val="tx1"/>
                </a:solidFill>
                <a:effectLst/>
                <a:latin typeface="+mn-lt"/>
                <a:ea typeface="+mn-ea"/>
                <a:cs typeface="+mn-cs"/>
              </a:rPr>
              <a:t>caminho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até</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fundo</a:t>
            </a:r>
            <a:r>
              <a:rPr lang="en-US" sz="1200" b="0" i="0" kern="1200" dirty="0">
                <a:solidFill>
                  <a:schemeClr val="tx1"/>
                </a:solidFill>
                <a:effectLst/>
                <a:latin typeface="+mn-lt"/>
                <a:ea typeface="+mn-ea"/>
                <a:cs typeface="+mn-cs"/>
              </a:rPr>
              <a:t>.</a:t>
            </a:r>
            <a:endParaRPr lang="pt-BR" dirty="0"/>
          </a:p>
          <a:p>
            <a:endParaRPr lang="pt-BR" dirty="0"/>
          </a:p>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CA096-53F7-4485-A453-1D949025DCA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5779427-8D44-CA0C-2C83-24A15441D10B}"/>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9B96E5B5-5B52-5D5A-D236-273FB017D9E7}"/>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55A0622F-F347-8783-B556-41DB3D1DCCEF}"/>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8447821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C01C7-6726-5536-F240-55221261462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68F8CB8-0170-42D6-1175-4B2E71EB072C}"/>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9EBB2433-A125-29BA-44A9-1FBD2151BA0E}"/>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6B015FDE-78CE-5A22-BEB0-1E4BEEBD7920}"/>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441074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operação de derivada é distributiva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8365724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Cada </a:t>
            </a:r>
            <a:r>
              <a:rPr lang="en-US" dirty="0" err="1"/>
              <a:t>termo</a:t>
            </a:r>
            <a:r>
              <a:rPr lang="en-US" dirty="0"/>
              <a:t> do </a:t>
            </a:r>
            <a:r>
              <a:rPr lang="en-US" dirty="0" err="1"/>
              <a:t>somatório</a:t>
            </a:r>
            <a:r>
              <a:rPr lang="en-US" dirty="0"/>
              <a:t> </a:t>
            </a:r>
            <a:r>
              <a:rPr lang="en-US" dirty="0" err="1"/>
              <a:t>pode</a:t>
            </a:r>
            <a:r>
              <a:rPr lang="en-US" dirty="0"/>
              <a:t> </a:t>
            </a:r>
            <a:r>
              <a:rPr lang="en-US" dirty="0" err="1"/>
              <a:t>apontar</a:t>
            </a:r>
            <a:r>
              <a:rPr lang="en-US" dirty="0"/>
              <a:t> para </a:t>
            </a:r>
            <a:r>
              <a:rPr lang="en-US" dirty="0" err="1"/>
              <a:t>uma</a:t>
            </a:r>
            <a:r>
              <a:rPr lang="en-US" dirty="0"/>
              <a:t> </a:t>
            </a:r>
            <a:r>
              <a:rPr lang="en-US" dirty="0" err="1"/>
              <a:t>direção</a:t>
            </a:r>
            <a:r>
              <a:rPr lang="en-US" dirty="0"/>
              <a:t> </a:t>
            </a:r>
            <a:r>
              <a:rPr lang="en-US" dirty="0" err="1"/>
              <a:t>diferente</a:t>
            </a:r>
            <a:r>
              <a:rPr lang="en-US" dirty="0"/>
              <a:t>, mas a </a:t>
            </a:r>
            <a:r>
              <a:rPr lang="en-US" dirty="0" err="1"/>
              <a:t>média</a:t>
            </a:r>
            <a:r>
              <a:rPr lang="en-US" dirty="0"/>
              <a:t> dos </a:t>
            </a:r>
            <a:r>
              <a:rPr lang="en-US" dirty="0" err="1"/>
              <a:t>vetores</a:t>
            </a:r>
            <a:r>
              <a:rPr lang="en-US" dirty="0"/>
              <a:t> </a:t>
            </a:r>
            <a:r>
              <a:rPr lang="en-US" dirty="0" err="1"/>
              <a:t>aponta</a:t>
            </a:r>
            <a:r>
              <a:rPr lang="en-US" dirty="0"/>
              <a:t> para </a:t>
            </a:r>
            <a:r>
              <a:rPr lang="en-US" dirty="0" err="1"/>
              <a:t>uma</a:t>
            </a:r>
            <a:r>
              <a:rPr lang="en-US" dirty="0"/>
              <a:t> </a:t>
            </a:r>
            <a:r>
              <a:rPr lang="en-US" dirty="0" err="1"/>
              <a:t>única</a:t>
            </a:r>
            <a:r>
              <a:rPr lang="en-US" dirty="0"/>
              <a:t> </a:t>
            </a:r>
            <a:r>
              <a:rPr lang="en-US" dirty="0" err="1"/>
              <a:t>direção</a:t>
            </a:r>
            <a:r>
              <a:rPr lang="en-US" dirty="0"/>
              <a:t>: a </a:t>
            </a:r>
            <a:r>
              <a:rPr lang="en-US" dirty="0" err="1"/>
              <a:t>direção</a:t>
            </a:r>
            <a:r>
              <a:rPr lang="en-US" dirty="0"/>
              <a:t> do </a:t>
            </a:r>
            <a:r>
              <a:rPr lang="en-US" dirty="0" err="1"/>
              <a:t>gradiente</a:t>
            </a:r>
            <a:r>
              <a:rPr lang="en-US" dirty="0"/>
              <a:t> da </a:t>
            </a:r>
            <a:r>
              <a:rPr lang="en-US" dirty="0" err="1"/>
              <a:t>função</a:t>
            </a:r>
            <a:r>
              <a:rPr lang="en-US" dirty="0"/>
              <a:t> de </a:t>
            </a:r>
            <a:r>
              <a:rPr lang="en-US" dirty="0" err="1"/>
              <a:t>erro</a:t>
            </a:r>
            <a:r>
              <a:rPr lang="en-US" dirty="0"/>
              <a:t> completa.</a:t>
            </a:r>
          </a:p>
          <a:p>
            <a:endParaRPr lang="en-US" dirty="0"/>
          </a:p>
          <a:p>
            <a:r>
              <a:rPr lang="en-US" dirty="0"/>
              <a:t>O </a:t>
            </a:r>
            <a:r>
              <a:rPr lang="en-US" dirty="0" err="1"/>
              <a:t>gradiente</a:t>
            </a:r>
            <a:r>
              <a:rPr lang="en-US" dirty="0"/>
              <a:t> </a:t>
            </a:r>
            <a:r>
              <a:rPr lang="en-US" dirty="0" err="1"/>
              <a:t>médio</a:t>
            </a:r>
            <a:r>
              <a:rPr lang="en-US" dirty="0"/>
              <a:t> </a:t>
            </a:r>
            <a:r>
              <a:rPr lang="en-US" dirty="0" err="1"/>
              <a:t>aponta</a:t>
            </a:r>
            <a:r>
              <a:rPr lang="en-US" dirty="0"/>
              <a:t> para a </a:t>
            </a:r>
            <a:r>
              <a:rPr lang="en-US" dirty="0" err="1"/>
              <a:t>direção</a:t>
            </a:r>
            <a:r>
              <a:rPr lang="en-US" dirty="0"/>
              <a:t> de </a:t>
            </a:r>
            <a:r>
              <a:rPr lang="en-US" dirty="0" err="1"/>
              <a:t>maior</a:t>
            </a:r>
            <a:r>
              <a:rPr lang="en-US" dirty="0"/>
              <a:t> </a:t>
            </a:r>
            <a:r>
              <a:rPr lang="en-US" dirty="0" err="1"/>
              <a:t>crescimento</a:t>
            </a:r>
            <a:r>
              <a:rPr lang="en-US" dirty="0"/>
              <a:t> </a:t>
            </a:r>
            <a:r>
              <a:rPr lang="en-US" dirty="0" err="1"/>
              <a:t>médio</a:t>
            </a:r>
            <a:r>
              <a:rPr lang="en-US" dirty="0"/>
              <a:t> da </a:t>
            </a:r>
            <a:r>
              <a:rPr lang="en-US" dirty="0" err="1"/>
              <a:t>função</a:t>
            </a:r>
            <a:r>
              <a:rPr lang="en-US" dirty="0"/>
              <a:t> de </a:t>
            </a:r>
            <a:r>
              <a:rPr lang="en-US" dirty="0" err="1"/>
              <a:t>erro</a:t>
            </a:r>
            <a:endParaRPr lang="en-US" dirty="0"/>
          </a:p>
          <a:p>
            <a:endParaRPr lang="en-US" dirty="0"/>
          </a:p>
          <a:p>
            <a:endParaRPr lang="en-US" dirty="0"/>
          </a:p>
          <a:p>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71</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Um </a:t>
            </a:r>
            <a:r>
              <a:rPr lang="en-US" dirty="0" err="1"/>
              <a:t>desvio</a:t>
            </a:r>
            <a:r>
              <a:rPr lang="en-US" dirty="0"/>
              <a:t> </a:t>
            </a:r>
            <a:r>
              <a:rPr lang="en-US" dirty="0" err="1"/>
              <a:t>padrão</a:t>
            </a:r>
            <a:r>
              <a:rPr lang="en-US" dirty="0"/>
              <a:t> </a:t>
            </a:r>
            <a:r>
              <a:rPr lang="en-US" dirty="0" err="1"/>
              <a:t>baixo</a:t>
            </a:r>
            <a:r>
              <a:rPr lang="en-US" dirty="0"/>
              <a:t> indica </a:t>
            </a:r>
            <a:r>
              <a:rPr lang="en-US" dirty="0" err="1"/>
              <a:t>que</a:t>
            </a:r>
            <a:r>
              <a:rPr lang="en-US" dirty="0"/>
              <a:t> o </a:t>
            </a:r>
            <a:r>
              <a:rPr lang="en-US" dirty="0" err="1"/>
              <a:t>desempenho</a:t>
            </a:r>
            <a:r>
              <a:rPr lang="en-US" dirty="0"/>
              <a:t> do </a:t>
            </a:r>
            <a:r>
              <a:rPr lang="en-US" dirty="0" err="1"/>
              <a:t>modelo</a:t>
            </a:r>
            <a:r>
              <a:rPr lang="en-US" dirty="0"/>
              <a:t> é </a:t>
            </a:r>
            <a:r>
              <a:rPr lang="en-US" dirty="0" err="1"/>
              <a:t>consistente</a:t>
            </a:r>
            <a:r>
              <a:rPr lang="en-US" dirty="0"/>
              <a:t> </a:t>
            </a:r>
            <a:r>
              <a:rPr lang="en-US" dirty="0" err="1"/>
              <a:t>independentemente</a:t>
            </a:r>
            <a:r>
              <a:rPr lang="en-US" dirty="0"/>
              <a:t> de </a:t>
            </a:r>
            <a:r>
              <a:rPr lang="en-US" dirty="0" err="1"/>
              <a:t>como</a:t>
            </a:r>
            <a:r>
              <a:rPr lang="en-US" dirty="0"/>
              <a:t> </a:t>
            </a:r>
            <a:r>
              <a:rPr lang="en-US" dirty="0" err="1"/>
              <a:t>os</a:t>
            </a:r>
            <a:r>
              <a:rPr lang="en-US" dirty="0"/>
              <a:t> dados </a:t>
            </a:r>
            <a:r>
              <a:rPr lang="en-US" dirty="0" err="1"/>
              <a:t>foram</a:t>
            </a:r>
            <a:r>
              <a:rPr lang="en-US" dirty="0"/>
              <a:t> </a:t>
            </a:r>
            <a:r>
              <a:rPr lang="en-US" dirty="0" err="1"/>
              <a:t>divididos</a:t>
            </a:r>
            <a:r>
              <a:rPr lang="en-US" dirty="0"/>
              <a:t>.</a:t>
            </a:r>
            <a:endParaRPr lang="pt-BR" dirty="0"/>
          </a:p>
          <a:p>
            <a:endParaRPr lang="pt-BR" dirty="0"/>
          </a:p>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77</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Occam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79</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Encerra o treinamento quando o modelo começa sobreajustar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82</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83</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101</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105</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106</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108</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118</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0BC36-1FDF-FEE8-C541-46697B67C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BC82F-8B5B-3288-61CC-79BFAF89D13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6BC0EC4-1ACB-EF06-1D16-DF2771364701}"/>
              </a:ext>
            </a:extLst>
          </p:cNvPr>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a:extLst>
              <a:ext uri="{FF2B5EF4-FFF2-40B4-BE49-F238E27FC236}">
                <a16:creationId xmlns:a16="http://schemas.microsoft.com/office/drawing/2014/main" id="{9D01B4F3-B3B8-A2F5-DD71-1CD91D7458CF}"/>
              </a:ext>
            </a:extLst>
          </p:cNvPr>
          <p:cNvSpPr>
            <a:spLocks noGrp="1"/>
          </p:cNvSpPr>
          <p:nvPr>
            <p:ph type="sldNum" sz="quarter" idx="10"/>
          </p:nvPr>
        </p:nvSpPr>
        <p:spPr/>
        <p:txBody>
          <a:bodyPr/>
          <a:lstStyle/>
          <a:p>
            <a:fld id="{DA8B99DF-01BC-492A-8CEF-4FD88D18DD9D}" type="slidenum">
              <a:rPr lang="nl-BE" smtClean="0"/>
              <a:t>119</a:t>
            </a:fld>
            <a:endParaRPr lang="nl-BE"/>
          </a:p>
        </p:txBody>
      </p:sp>
    </p:spTree>
    <p:extLst>
      <p:ext uri="{BB962C8B-B14F-4D97-AF65-F5344CB8AC3E}">
        <p14:creationId xmlns:p14="http://schemas.microsoft.com/office/powerpoint/2010/main" val="292409399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120</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D4D6D-2CF8-B4CF-5A39-21E7475993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A627-C493-7BC5-26F0-8F8BC31570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B7C94AC-0241-614C-2069-9EC3FCC509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a:extLst>
              <a:ext uri="{FF2B5EF4-FFF2-40B4-BE49-F238E27FC236}">
                <a16:creationId xmlns:a16="http://schemas.microsoft.com/office/drawing/2014/main" id="{873FE963-A65D-1D91-323F-535C42DC5ED4}"/>
              </a:ext>
            </a:extLst>
          </p:cNvPr>
          <p:cNvSpPr>
            <a:spLocks noGrp="1"/>
          </p:cNvSpPr>
          <p:nvPr>
            <p:ph type="sldNum" sz="quarter" idx="10"/>
          </p:nvPr>
        </p:nvSpPr>
        <p:spPr/>
        <p:txBody>
          <a:bodyPr/>
          <a:lstStyle/>
          <a:p>
            <a:fld id="{DA8B99DF-01BC-492A-8CEF-4FD88D18DD9D}" type="slidenum">
              <a:rPr lang="nl-BE" smtClean="0"/>
              <a:t>121</a:t>
            </a:fld>
            <a:endParaRPr lang="nl-BE"/>
          </a:p>
        </p:txBody>
      </p:sp>
    </p:spTree>
    <p:extLst>
      <p:ext uri="{BB962C8B-B14F-4D97-AF65-F5344CB8AC3E}">
        <p14:creationId xmlns:p14="http://schemas.microsoft.com/office/powerpoint/2010/main" val="359330880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122</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123</a:t>
            </a:fld>
            <a:endParaRPr lang="nl-BE"/>
          </a:p>
        </p:txBody>
      </p:sp>
    </p:spTree>
    <p:extLst>
      <p:ext uri="{BB962C8B-B14F-4D97-AF65-F5344CB8AC3E}">
        <p14:creationId xmlns:p14="http://schemas.microsoft.com/office/powerpoint/2010/main" val="125058782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33155-29A2-1C0C-E69A-007969EC5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F37CF-1D76-2644-52BE-23ADA5650B5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96DEEC-7B59-6E0B-D5BB-863C3C3EF3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a:extLst>
              <a:ext uri="{FF2B5EF4-FFF2-40B4-BE49-F238E27FC236}">
                <a16:creationId xmlns:a16="http://schemas.microsoft.com/office/drawing/2014/main" id="{8B1F7C99-86C3-4AAA-56E8-11E1CD345EC4}"/>
              </a:ext>
            </a:extLst>
          </p:cNvPr>
          <p:cNvSpPr>
            <a:spLocks noGrp="1"/>
          </p:cNvSpPr>
          <p:nvPr>
            <p:ph type="sldNum" sz="quarter" idx="10"/>
          </p:nvPr>
        </p:nvSpPr>
        <p:spPr/>
        <p:txBody>
          <a:bodyPr/>
          <a:lstStyle/>
          <a:p>
            <a:fld id="{DA8B99DF-01BC-492A-8CEF-4FD88D18DD9D}" type="slidenum">
              <a:rPr lang="nl-BE" smtClean="0"/>
              <a:t>124</a:t>
            </a:fld>
            <a:endParaRPr lang="nl-BE"/>
          </a:p>
        </p:txBody>
      </p:sp>
    </p:spTree>
    <p:extLst>
      <p:ext uri="{BB962C8B-B14F-4D97-AF65-F5344CB8AC3E}">
        <p14:creationId xmlns:p14="http://schemas.microsoft.com/office/powerpoint/2010/main" val="2384716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2.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3.png"/><Relationship Id="rId7" Type="http://schemas.openxmlformats.org/officeDocument/2006/relationships/image" Target="../media/image18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3.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image" Target="../media/image510.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31.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9.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0.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2.png"/></Relationships>
</file>

<file path=ppt/slides/_rels/slide51.xml.rels><?xml version="1.0" encoding="UTF-8" standalone="yes"?>
<Relationships xmlns="http://schemas.openxmlformats.org/package/2006/relationships"><Relationship Id="rId3" Type="http://schemas.openxmlformats.org/officeDocument/2006/relationships/image" Target="../media/image542.png"/><Relationship Id="rId2" Type="http://schemas.openxmlformats.org/officeDocument/2006/relationships/image" Target="../media/image57.gi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3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65.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6.jpe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67.jpeg"/></Relationships>
</file>

<file path=ppt/slides/_rels/slide64.xml.rels><?xml version="1.0" encoding="UTF-8" standalone="yes"?>
<Relationships xmlns="http://schemas.openxmlformats.org/package/2006/relationships"><Relationship Id="rId2" Type="http://schemas.openxmlformats.org/officeDocument/2006/relationships/image" Target="../media/image68.jpe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74.png"/><Relationship Id="rId4" Type="http://schemas.openxmlformats.org/officeDocument/2006/relationships/image" Target="../media/image620.png"/></Relationships>
</file>

<file path=ppt/slides/_rels/slide7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74.png"/></Relationships>
</file>

<file path=ppt/slides/_rels/slide7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78.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1.png"/><Relationship Id="rId4" Type="http://schemas.openxmlformats.org/officeDocument/2006/relationships/image" Target="../media/image78.png"/></Relationships>
</file>

<file path=ppt/slides/_rels/slide8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82.png"/><Relationship Id="rId5" Type="http://schemas.openxmlformats.org/officeDocument/2006/relationships/image" Target="../media/image81.jpeg"/><Relationship Id="rId4" Type="http://schemas.openxmlformats.org/officeDocument/2006/relationships/image" Target="../media/image8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2.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87.png"/></Relationships>
</file>

<file path=ppt/slides/_rels/slide115.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89.pn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NULL"/><Relationship Id="rId4" Type="http://schemas.openxmlformats.org/officeDocument/2006/relationships/image" Target="NUL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75.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92.pn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notesSlide" Target="../notesSlides/notesSlide81.xml"/><Relationship Id="rId1"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s>
</file>

<file path=ppt/slides/_rels/slide124.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95.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72150" y="1825624"/>
                <a:ext cx="6329539"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ℎ</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72150" y="1825624"/>
                <a:ext cx="6329539" cy="5032375"/>
              </a:xfrm>
              <a:blipFill>
                <a:blip r:embed="rId2"/>
                <a:stretch>
                  <a:fillRect l="-1734" t="-1937"/>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ℎ</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ℎ</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ℎ</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a:t>
                </a:r>
                <a:r>
                  <a:rPr lang="pt-BR" b="1" i="0" dirty="0">
                    <a:solidFill>
                      <a:srgbClr val="7030A0"/>
                    </a:solidFill>
                    <a:effectLst/>
                  </a:rPr>
                  <a:t>predições</a:t>
                </a:r>
                <a:r>
                  <a:rPr lang="pt-BR" b="0" i="0" dirty="0">
                    <a:solidFill>
                      <a:schemeClr val="tx1"/>
                    </a:solidFill>
                    <a:effectLst/>
                  </a:rPr>
                  <a:t> feitas por </a:t>
                </a:r>
                <a14:m>
                  <m:oMath xmlns:m="http://schemas.openxmlformats.org/officeDocument/2006/math">
                    <m:r>
                      <a:rPr lang="pt-BR"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299C8109-7B44-7AAE-62A5-EC1B3B38CE3B}"/>
              </a:ext>
            </a:extLst>
          </p:cNvPr>
          <p:cNvGrpSpPr/>
          <p:nvPr/>
        </p:nvGrpSpPr>
        <p:grpSpPr>
          <a:xfrm>
            <a:off x="313057" y="2511846"/>
            <a:ext cx="4622500" cy="3152391"/>
            <a:chOff x="313057" y="2511846"/>
            <a:chExt cx="4622500" cy="3152391"/>
          </a:xfrm>
        </p:grpSpPr>
        <p:grpSp>
          <p:nvGrpSpPr>
            <p:cNvPr id="5" name="Agrupar 8">
              <a:extLst>
                <a:ext uri="{FF2B5EF4-FFF2-40B4-BE49-F238E27FC236}">
                  <a16:creationId xmlns:a16="http://schemas.microsoft.com/office/drawing/2014/main" id="{6CF47A44-089A-EED4-1C0F-DBEE30497D2C}"/>
                </a:ext>
              </a:extLst>
            </p:cNvPr>
            <p:cNvGrpSpPr/>
            <p:nvPr/>
          </p:nvGrpSpPr>
          <p:grpSpPr>
            <a:xfrm>
              <a:off x="313057" y="2511846"/>
              <a:ext cx="4622500" cy="3152391"/>
              <a:chOff x="379861" y="2379643"/>
              <a:chExt cx="4622500" cy="3152391"/>
            </a:xfrm>
          </p:grpSpPr>
          <p:pic>
            <p:nvPicPr>
              <p:cNvPr id="7" name="Imagem 4">
                <a:extLst>
                  <a:ext uri="{FF2B5EF4-FFF2-40B4-BE49-F238E27FC236}">
                    <a16:creationId xmlns:a16="http://schemas.microsoft.com/office/drawing/2014/main" id="{207C86B7-33F0-3722-F20C-A3B590DBE6E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8" name="CaixaDeTexto 5">
                    <a:extLst>
                      <a:ext uri="{FF2B5EF4-FFF2-40B4-BE49-F238E27FC236}">
                        <a16:creationId xmlns:a16="http://schemas.microsoft.com/office/drawing/2014/main" id="{9A0E37AE-542C-72FE-0797-741EF14E0E9D}"/>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9" name="Conector de Seta Reta 7">
                <a:extLst>
                  <a:ext uri="{FF2B5EF4-FFF2-40B4-BE49-F238E27FC236}">
                    <a16:creationId xmlns:a16="http://schemas.microsoft.com/office/drawing/2014/main" id="{F8F60646-79A9-EBB1-F018-2AB82B9FEA0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 name="CaixaDeTexto 3">
                  <a:extLst>
                    <a:ext uri="{FF2B5EF4-FFF2-40B4-BE49-F238E27FC236}">
                      <a16:creationId xmlns:a16="http://schemas.microsoft.com/office/drawing/2014/main" id="{69731479-AED1-F761-09C8-881CB61F7F2D}"/>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00B05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353800"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b="0"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b="0"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67275" y="1825624"/>
                <a:ext cx="7324724"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senoide:</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67275" y="1825624"/>
                <a:ext cx="7324724" cy="5032375"/>
              </a:xfrm>
              <a:blipFill>
                <a:blip r:embed="rId3"/>
                <a:stretch>
                  <a:fillRect l="-1498" t="-1937" r="-2246"/>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45697-3A02-BDB2-D0B5-7E4CF1D492B9}"/>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41F5C589-0027-B2EA-0A39-ABD85D084F2C}"/>
              </a:ext>
            </a:extLst>
          </p:cNvPr>
          <p:cNvSpPr>
            <a:spLocks noGrp="1"/>
          </p:cNvSpPr>
          <p:nvPr>
            <p:ph idx="1"/>
          </p:nvPr>
        </p:nvSpPr>
        <p:spPr>
          <a:xfrm>
            <a:off x="838200" y="2593975"/>
            <a:ext cx="10515600" cy="1644650"/>
          </a:xfrm>
        </p:spPr>
        <p:txBody>
          <a:bodyPr>
            <a:normAutofit/>
          </a:bodyPr>
          <a:lstStyle/>
          <a:p>
            <a:pPr marL="0" indent="0" algn="ctr">
              <a:buNone/>
            </a:pPr>
            <a:r>
              <a:rPr lang="pt-BR" sz="5400" dirty="0"/>
              <a:t>Mas devemos tomar cuidado com a flexibilidade dos polinômios!</a:t>
            </a:r>
          </a:p>
        </p:txBody>
      </p:sp>
    </p:spTree>
    <p:extLst>
      <p:ext uri="{BB962C8B-B14F-4D97-AF65-F5344CB8AC3E}">
        <p14:creationId xmlns:p14="http://schemas.microsoft.com/office/powerpoint/2010/main" val="31577155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6" y="1825624"/>
            <a:ext cx="6671733" cy="5032375"/>
          </a:xfrm>
        </p:spPr>
        <p:txBody>
          <a:bodyPr>
            <a:normAutofit lnSpcReduction="10000"/>
          </a:bodyPr>
          <a:lstStyle/>
          <a:p>
            <a:r>
              <a:rPr lang="pt-BR" noProof="0" dirty="0"/>
              <a:t>Grau 1: linha reta</a:t>
            </a:r>
          </a:p>
          <a:p>
            <a:r>
              <a:rPr lang="pt-BR" noProof="0" dirty="0"/>
              <a:t>Grau 2: parábola com um </a:t>
            </a:r>
            <a:r>
              <a:rPr lang="pt-BR" b="1" noProof="0" dirty="0"/>
              <a:t>ponto de inflexão</a:t>
            </a:r>
            <a:r>
              <a:rPr lang="pt-BR" noProof="0" dirty="0"/>
              <a:t> (i.e., mudança de direção)</a:t>
            </a:r>
          </a:p>
          <a:p>
            <a:r>
              <a:rPr lang="pt-BR" noProof="0" dirty="0"/>
              <a:t>Grau 3: curva com até dois pontos de inflexão</a:t>
            </a:r>
          </a:p>
          <a:p>
            <a:r>
              <a:rPr lang="pt-BR" noProof="0" dirty="0"/>
              <a:t>Graus maiores: curvas </a:t>
            </a:r>
            <a:r>
              <a:rPr lang="pt-BR" b="1" noProof="0" dirty="0">
                <a:solidFill>
                  <a:srgbClr val="7030A0"/>
                </a:solidFill>
              </a:rPr>
              <a:t>cada vez mais flexíveis</a:t>
            </a:r>
          </a:p>
          <a:p>
            <a:r>
              <a:rPr lang="pt-BR" b="1" noProof="0" dirty="0"/>
              <a:t>Observações</a:t>
            </a:r>
            <a:r>
              <a:rPr lang="pt-BR" noProof="0" dirty="0"/>
              <a:t>:</a:t>
            </a:r>
          </a:p>
          <a:p>
            <a:pPr lvl="1">
              <a:buFont typeface="Wingdings" panose="05000000000000000000" pitchFamily="2" charset="2"/>
              <a:buChar char="§"/>
            </a:pPr>
            <a:r>
              <a:rPr lang="pt-BR" noProof="0" dirty="0"/>
              <a:t>Maior grau ≠ modelo melhor.</a:t>
            </a:r>
          </a:p>
          <a:p>
            <a:pPr lvl="1">
              <a:buFont typeface="Wingdings" panose="05000000000000000000" pitchFamily="2" charset="2"/>
              <a:buChar char="§"/>
            </a:pPr>
            <a:r>
              <a:rPr lang="pt-BR" noProof="0" dirty="0"/>
              <a:t>Flexibilidade excessiva pode levar ao </a:t>
            </a:r>
            <a:r>
              <a:rPr lang="pt-BR" i="1" noProof="0" dirty="0" err="1"/>
              <a:t>overfitting</a:t>
            </a:r>
            <a:r>
              <a:rPr lang="pt-BR" i="1" noProof="0" dirty="0"/>
              <a:t>.</a:t>
            </a:r>
          </a:p>
          <a:p>
            <a:pPr lvl="1">
              <a:buFont typeface="Wingdings" panose="05000000000000000000" pitchFamily="2" charset="2"/>
              <a:buChar char="§"/>
            </a:pPr>
            <a:r>
              <a:rPr lang="pt-BR" noProof="0" dirty="0"/>
              <a:t>Por outro lado, flexibilidade de menos pode levar ao </a:t>
            </a:r>
            <a:r>
              <a:rPr lang="pt-BR" i="1" noProof="0" dirty="0"/>
              <a:t>underfitting</a:t>
            </a:r>
            <a:r>
              <a:rPr lang="pt-BR" noProof="0"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244C24D-7C66-269F-87CC-D8B1A348C837}"/>
                  </a:ext>
                </a:extLst>
              </p:cNvPr>
              <p:cNvSpPr txBox="1"/>
              <p:nvPr/>
            </p:nvSpPr>
            <p:spPr>
              <a:xfrm>
                <a:off x="838200" y="5702124"/>
                <a:ext cx="4144787" cy="830997"/>
              </a:xfrm>
              <a:prstGeom prst="rect">
                <a:avLst/>
              </a:prstGeom>
              <a:noFill/>
            </p:spPr>
            <p:txBody>
              <a:bodyPr wrap="square">
                <a:spAutoFit/>
              </a:bodyPr>
              <a:lstStyle/>
              <a:p>
                <a:pPr algn="ctr"/>
                <a:r>
                  <a:rPr lang="pt-BR" sz="1600" b="0" i="0" kern="1200" noProof="0" dirty="0">
                    <a:solidFill>
                      <a:schemeClr val="tx1"/>
                    </a:solidFill>
                    <a:effectLst/>
                    <a:latin typeface="+mn-lt"/>
                    <a:ea typeface="+mn-ea"/>
                    <a:cs typeface="+mn-cs"/>
                  </a:rPr>
                  <a:t>O objetivo é encontrar uma função hipótese, </a:t>
                </a:r>
                <a14:m>
                  <m:oMath xmlns:m="http://schemas.openxmlformats.org/officeDocument/2006/math">
                    <m:r>
                      <a:rPr lang="pt-BR" sz="1600" b="0" i="1" kern="1200" noProof="0" smtClean="0">
                        <a:solidFill>
                          <a:schemeClr val="tx1"/>
                        </a:solidFill>
                        <a:effectLst/>
                        <a:latin typeface="Cambria Math" panose="02040503050406030204" pitchFamily="18" charset="0"/>
                        <a:ea typeface="+mn-ea"/>
                        <a:cs typeface="+mn-cs"/>
                      </a:rPr>
                      <m:t>ℎ</m:t>
                    </m:r>
                    <m:r>
                      <a:rPr lang="pt-BR" sz="1600" b="0" i="1" kern="1200" noProof="0" smtClean="0">
                        <a:solidFill>
                          <a:schemeClr val="tx1"/>
                        </a:solidFill>
                        <a:effectLst/>
                        <a:latin typeface="Cambria Math" panose="02040503050406030204" pitchFamily="18" charset="0"/>
                        <a:ea typeface="+mn-ea"/>
                        <a:cs typeface="+mn-cs"/>
                      </a:rPr>
                      <m:t>(</m:t>
                    </m:r>
                    <m:r>
                      <a:rPr lang="pt-BR" sz="1600" b="0" i="1" kern="1200" noProof="0" smtClean="0">
                        <a:solidFill>
                          <a:schemeClr val="tx1"/>
                        </a:solidFill>
                        <a:effectLst/>
                        <a:latin typeface="Cambria Math" panose="02040503050406030204" pitchFamily="18" charset="0"/>
                        <a:ea typeface="+mn-ea"/>
                        <a:cs typeface="+mn-cs"/>
                      </a:rPr>
                      <m:t>𝑥</m:t>
                    </m:r>
                    <m:r>
                      <a:rPr lang="pt-BR" sz="1600" b="0" i="1" kern="1200" noProof="0" smtClean="0">
                        <a:solidFill>
                          <a:schemeClr val="tx1"/>
                        </a:solidFill>
                        <a:effectLst/>
                        <a:latin typeface="Cambria Math" panose="02040503050406030204" pitchFamily="18" charset="0"/>
                        <a:ea typeface="+mn-ea"/>
                        <a:cs typeface="+mn-cs"/>
                      </a:rPr>
                      <m:t>)</m:t>
                    </m:r>
                  </m:oMath>
                </a14:m>
                <a:r>
                  <a:rPr lang="pt-BR" sz="1600" b="0" i="0" kern="1200" noProof="0" dirty="0">
                    <a:solidFill>
                      <a:schemeClr val="tx1"/>
                    </a:solidFill>
                    <a:effectLst/>
                    <a:latin typeface="+mn-lt"/>
                    <a:ea typeface="+mn-ea"/>
                    <a:cs typeface="+mn-cs"/>
                  </a:rPr>
                  <a:t>, que </a:t>
                </a:r>
                <a:r>
                  <a:rPr lang="pt-BR" sz="1600" b="1" i="0" kern="1200" noProof="0" dirty="0">
                    <a:solidFill>
                      <a:srgbClr val="00B050"/>
                    </a:solidFill>
                    <a:effectLst/>
                    <a:latin typeface="+mn-lt"/>
                    <a:ea typeface="+mn-ea"/>
                    <a:cs typeface="+mn-cs"/>
                  </a:rPr>
                  <a:t>aproxime a função verdadeira por trás dos pontos ruidosos</a:t>
                </a:r>
                <a:r>
                  <a:rPr lang="pt-BR" sz="1600" b="0" i="0" kern="1200" noProof="0" dirty="0">
                    <a:solidFill>
                      <a:schemeClr val="tx1"/>
                    </a:solidFill>
                    <a:effectLst/>
                    <a:latin typeface="+mn-lt"/>
                    <a:ea typeface="+mn-ea"/>
                    <a:cs typeface="+mn-cs"/>
                  </a:rPr>
                  <a:t>.</a:t>
                </a:r>
                <a:endParaRPr lang="pt-BR" sz="1600" noProof="0" dirty="0"/>
              </a:p>
            </p:txBody>
          </p:sp>
        </mc:Choice>
        <mc:Fallback xmlns="">
          <p:sp>
            <p:nvSpPr>
              <p:cNvPr id="5" name="CaixaDeTexto 4">
                <a:extLst>
                  <a:ext uri="{FF2B5EF4-FFF2-40B4-BE49-F238E27FC236}">
                    <a16:creationId xmlns:a16="http://schemas.microsoft.com/office/drawing/2014/main" id="{A244C24D-7C66-269F-87CC-D8B1A348C837}"/>
                  </a:ext>
                </a:extLst>
              </p:cNvPr>
              <p:cNvSpPr txBox="1">
                <a:spLocks noRot="1" noChangeAspect="1" noMove="1" noResize="1" noEditPoints="1" noAdjustHandles="1" noChangeArrowheads="1" noChangeShapeType="1" noTextEdit="1"/>
              </p:cNvSpPr>
              <p:nvPr/>
            </p:nvSpPr>
            <p:spPr>
              <a:xfrm>
                <a:off x="838200" y="5702124"/>
                <a:ext cx="4144787" cy="830997"/>
              </a:xfrm>
              <a:prstGeom prst="rect">
                <a:avLst/>
              </a:prstGeom>
              <a:blipFill>
                <a:blip r:embed="rId4"/>
                <a:stretch>
                  <a:fillRect t="-2190" b="-8029"/>
                </a:stretch>
              </a:blipFill>
            </p:spPr>
            <p:txBody>
              <a:bodyPr/>
              <a:lstStyle/>
              <a:p>
                <a:r>
                  <a:rPr lang="en-US">
                    <a:noFill/>
                  </a:rPr>
                  <a:t> </a:t>
                </a:r>
              </a:p>
            </p:txBody>
          </p:sp>
        </mc:Fallback>
      </mc:AlternateContent>
    </p:spTree>
    <p:extLst>
      <p:ext uri="{BB962C8B-B14F-4D97-AF65-F5344CB8AC3E}">
        <p14:creationId xmlns:p14="http://schemas.microsoft.com/office/powerpoint/2010/main" val="1814500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249968"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solidFill>
                      <a:srgbClr val="7030A0"/>
                    </a:solidFill>
                  </a:rPr>
                  <a:t>minimizam o erro </a:t>
                </a:r>
                <a:r>
                  <a:rPr lang="pt-BR" b="1" dirty="0"/>
                  <a:t>entre as predições</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saídas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a:t>
                </a:r>
                <a:r>
                  <a:rPr lang="pt-BR" b="1" dirty="0">
                    <a:solidFill>
                      <a:schemeClr val="accent2"/>
                    </a:solidFill>
                  </a:rPr>
                  <a:t>problema de otimização</a:t>
                </a:r>
                <a:r>
                  <a:rPr lang="pt-BR" dirty="0"/>
                  <a:t>,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249968" cy="5032375"/>
              </a:xfrm>
              <a:blipFill>
                <a:blip r:embed="rId3"/>
                <a:stretch>
                  <a:fillRect l="-921" t="-1937" r="-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4"/>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smtClean="0">
                                              <a:latin typeface="Cambria Math" panose="02040503050406030204" pitchFamily="18" charset="0"/>
                                            </a:rPr>
                                            <m:t>=</m:t>
                                          </m:r>
                                          <m:r>
                                            <a:rPr lang="pt-BR" b="0" i="1" dirty="0" smtClean="0">
                                              <a:latin typeface="Cambria Math" panose="02040503050406030204" pitchFamily="18" charset="0"/>
                                            </a:rPr>
                                            <m:t>ℎ</m:t>
                                          </m:r>
                                          <m:r>
                                            <a:rPr lang="pt-BR" b="1" i="1" dirty="0" smtClean="0">
                                              <a:latin typeface="Cambria Math" panose="02040503050406030204" pitchFamily="18" charset="0"/>
                                            </a:rPr>
                                            <m:t>(</m:t>
                                          </m:r>
                                          <m:r>
                                            <a:rPr lang="pt-BR" b="1" i="1" dirty="0" smtClean="0">
                                              <a:latin typeface="Cambria Math" panose="02040503050406030204" pitchFamily="18" charset="0"/>
                                            </a:rPr>
                                            <m:t>𝒙</m:t>
                                          </m:r>
                                          <m:r>
                                            <a:rPr lang="pt-BR" b="1" i="1" dirty="0" smtClean="0">
                                              <a:latin typeface="Cambria Math" panose="02040503050406030204" pitchFamily="18" charset="0"/>
                                            </a:rPr>
                                            <m:t>)</m:t>
                                          </m:r>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b="0"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 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r>
                      <a:rPr lang="pt-BR" b="0"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𝑛</m:t>
                    </m:r>
                  </m:oMath>
                </a14:m>
                <a:r>
                  <a:rPr lang="pt-BR" dirty="0"/>
                  <a:t>.</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a:latin typeface="Cambria Math" panose="02040503050406030204" pitchFamily="18" charset="0"/>
                                        </a:rPr>
                                        <m:t>=</m:t>
                                      </m:r>
                                      <m:r>
                                        <a:rPr lang="pt-BR" i="1" dirty="0">
                                          <a:latin typeface="Cambria Math" panose="02040503050406030204" pitchFamily="18" charset="0"/>
                                        </a:rPr>
                                        <m:t>ℎ</m:t>
                                      </m:r>
                                      <m:r>
                                        <a:rPr lang="pt-BR" b="1" i="1" dirty="0">
                                          <a:latin typeface="Cambria Math" panose="02040503050406030204" pitchFamily="18" charset="0"/>
                                        </a:rPr>
                                        <m:t>(</m:t>
                                      </m:r>
                                      <m:r>
                                        <a:rPr lang="pt-BR" b="1" i="1" dirty="0">
                                          <a:latin typeface="Cambria Math" panose="02040503050406030204" pitchFamily="18" charset="0"/>
                                        </a:rPr>
                                        <m:t>𝒙</m:t>
                                      </m:r>
                                      <m:r>
                                        <a:rPr lang="pt-BR" b="1" i="1" dirty="0">
                                          <a:latin typeface="Cambria Math" panose="02040503050406030204" pitchFamily="18" charset="0"/>
                                        </a:rPr>
                                        <m:t>)</m:t>
                                      </m:r>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rotWithShape="0">
                <a:blip r:embed="rId2"/>
                <a:stretch>
                  <a:fillRect l="-928" t="-1937" r="-1584"/>
                </a:stretch>
              </a:blipFill>
            </p:spPr>
            <p:txBody>
              <a:bodyPr/>
              <a:lstStyle/>
              <a:p>
                <a:r>
                  <a:rPr lang="pt-BR">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353800"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b="1" i="1">
                              <a:latin typeface="Cambria Math" panose="02040503050406030204" pitchFamily="18" charset="0"/>
                            </a:rPr>
                          </m:ctrlPr>
                        </m:sSupPr>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2">
                  <a:buFont typeface="Courier New" panose="02070309020205020404" pitchFamily="49" charset="0"/>
                  <a:buChar char="o"/>
                </a:pPr>
                <a:r>
                  <a:rPr lang="pt-BR" dirty="0"/>
                  <a:t>Só funciona se os atributos forem linearmente independentes e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r>
                  <a:rPr lang="pt-BR" dirty="0"/>
                  <a:t>.</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taxa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da</a:t>
                          </a:r>
                          <a:r>
                            <a:rPr lang="pt-BR" sz="2000" baseline="0" noProof="0" dirty="0">
                              <a:latin typeface="+mn-lt"/>
                            </a:rPr>
                            <a:t> taxa de aprendizagem,</a:t>
                          </a:r>
                          <a:r>
                            <a:rPr lang="pt-BR" sz="2000" noProof="0" dirty="0">
                              <a:latin typeface="+mn-lt"/>
                            </a:rPr>
                            <a:t>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 e classificadores).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 xmlns:a16="http://schemas.microsoft.com/office/drawing/2014/main" xmlns:a14="http://schemas.microsoft.com/office/drawing/2010/main"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 xmlns:a16="http://schemas.microsoft.com/office/drawing/2014/main" xmlns:a14="http://schemas.microsoft.com/office/drawing/2010/main" val="2676689337"/>
                        </a:ext>
                      </a:extLst>
                    </a:gridCol>
                    <a:gridCol w="5046642">
                      <a:extLst>
                        <a:ext uri="{9D8B030D-6E8A-4147-A177-3AD203B41FA5}">
                          <a16:colId xmlns="" xmlns:a16="http://schemas.microsoft.com/office/drawing/2014/main" xmlns:a14="http://schemas.microsoft.com/office/drawing/2010/main" val="921422884"/>
                        </a:ext>
                      </a:extLst>
                    </a:gridCol>
                    <a:gridCol w="4654613">
                      <a:extLst>
                        <a:ext uri="{9D8B030D-6E8A-4147-A177-3AD203B41FA5}">
                          <a16:colId xmlns="" xmlns:a16="http://schemas.microsoft.com/office/drawing/2014/main" xmlns:a14="http://schemas.microsoft.com/office/drawing/2010/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207692" r="-92512" b="-812308"/>
                          </a:stretch>
                        </a:blip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207692" r="-262" b="-812308"/>
                          </a:stretch>
                        </a:blipFill>
                      </a:tcPr>
                    </a:tc>
                    <a:extLst>
                      <a:ext uri="{0D108BD9-81ED-4DB2-BD59-A6C34878D82A}">
                        <a16:rowId xmlns="" xmlns:a16="http://schemas.microsoft.com/office/drawing/2014/main" xmlns:a14="http://schemas.microsoft.com/office/drawing/2010/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3293643069"/>
                      </a:ext>
                    </a:extLst>
                  </a:tr>
                  <a:tr h="39624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168302" r="-262" b="-6415"/>
                          </a:stretch>
                        </a:blipFill>
                      </a:tcPr>
                    </a:tc>
                    <a:extLst>
                      <a:ext uri="{0D108BD9-81ED-4DB2-BD59-A6C34878D82A}">
                        <a16:rowId xmlns="" xmlns:a16="http://schemas.microsoft.com/office/drawing/2014/main" xmlns:a14="http://schemas.microsoft.com/office/drawing/2010/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b="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 e </a:t>
            </a:r>
            <a:r>
              <a:rPr lang="pt-BR" sz="2400" i="1" dirty="0"/>
              <a:t>softmax</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e visual da função de erro.</a:t>
                </a:r>
              </a:p>
              <a:p>
                <a:r>
                  <a:rPr lang="pt-BR" dirty="0"/>
                  <a:t>Ela mostra o quão "errado" o modelo está </a:t>
                </a:r>
                <a:r>
                  <a:rPr lang="pt-BR" b="1" dirty="0"/>
                  <a:t>para cada combinação possível de pesos</a:t>
                </a:r>
                <a:endParaRPr lang="pt-BR" dirty="0"/>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 xmlns:a16="http://schemas.microsoft.com/office/drawing/2014/main" xmlns:a14="http://schemas.microsoft.com/office/drawing/2010/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rotWithShape="0">
                <a:blip r:embed="rId3"/>
                <a:stretch>
                  <a:fillRect l="-1592" t="-1937" r="-2299"/>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0" y="6581000"/>
            <a:ext cx="5034223" cy="276999"/>
          </a:xfrm>
          <a:prstGeom prst="rect">
            <a:avLst/>
          </a:prstGeom>
          <a:noFill/>
        </p:spPr>
        <p:txBody>
          <a:bodyPr wrap="square" rtlCol="0">
            <a:spAutoFit/>
          </a:bodyPr>
          <a:lstStyle/>
          <a:p>
            <a:r>
              <a:rPr lang="pt-BR" sz="1200" b="1" dirty="0"/>
              <a:t>OBS</a:t>
            </a:r>
            <a:r>
              <a:rPr lang="pt-BR" sz="1200" dirty="0"/>
              <a:t>.: Superfície de erro para um função hipótese com um atributo e um peso.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o vetor de </a:t>
                </a:r>
                <a:r>
                  <a:rPr lang="pt-BR" b="1" dirty="0"/>
                  <a:t>pesos ótimo,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
                      <m:sSup>
                        <m:sSupPr>
                          <m:ctrlPr>
                            <a:rPr lang="pt-BR" sz="2400" i="1">
                              <a:latin typeface="Cambria Math" panose="02040503050406030204" pitchFamily="18" charset="0"/>
                            </a:rPr>
                          </m:ctrlPr>
                        </m:sSupPr>
                        <m:e>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b="1" i="1">
                                  <a:latin typeface="Cambria Math" panose="02040503050406030204" pitchFamily="18" charset="0"/>
                                </a:rPr>
                              </m:ctrlPr>
                            </m:dPr>
                            <m:e>
                              <m:r>
                                <a:rPr lang="pt-BR" sz="2400" b="1" i="1">
                                  <a:latin typeface="Cambria Math" panose="02040503050406030204" pitchFamily="18" charset="0"/>
                                </a:rPr>
                                <m:t>𝒂</m:t>
                              </m:r>
                            </m:e>
                          </m:d>
                          <m:r>
                            <a:rPr lang="pt-BR" sz="24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i="1">
                                  <a:latin typeface="Cambria Math" panose="02040503050406030204" pitchFamily="18" charset="0"/>
                                </a:rPr>
                                <m:t>𝑁</m:t>
                              </m:r>
                            </m:den>
                          </m:f>
                          <m:d>
                            <m:dPr>
                              <m:begChr m:val="‖"/>
                              <m:endChr m:val="‖"/>
                              <m:ctrlPr>
                                <a:rPr lang="pt-BR" sz="2000" b="1" i="1">
                                  <a:latin typeface="Cambria Math" panose="02040503050406030204" pitchFamily="18" charset="0"/>
                                </a:rPr>
                              </m:ctrlPr>
                            </m:dPr>
                            <m:e>
                              <m:r>
                                <a:rPr lang="pt-BR" sz="2000" b="1" i="1">
                                  <a:latin typeface="Cambria Math" panose="02040503050406030204" pitchFamily="18" charset="0"/>
                                </a:rPr>
                                <m:t>𝒚</m:t>
                              </m:r>
                              <m:r>
                                <a:rPr lang="pt-BR" sz="2000" i="1">
                                  <a:latin typeface="Cambria Math" panose="02040503050406030204" pitchFamily="18" charset="0"/>
                                </a:rPr>
                                <m:t> −</m:t>
                              </m:r>
                              <m:r>
                                <a:rPr lang="pt-BR" sz="2000" b="1" i="1">
                                  <a:latin typeface="Cambria Math" panose="02040503050406030204" pitchFamily="18" charset="0"/>
                                </a:rPr>
                                <m:t>𝑿𝒂</m:t>
                              </m:r>
                            </m:e>
                          </m:d>
                        </m:e>
                        <m:sup>
                          <m:r>
                            <a:rPr lang="pt-BR" sz="20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b="1" i="1" dirty="0">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i="0" dirty="0"/>
                          <m:t>− </m:t>
                        </m:r>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limLow>
                          <m:limLowPr>
                            <m:ctrlPr>
                              <a:rPr lang="pt-BR" sz="2400" b="1" i="1">
                                <a:latin typeface="Cambria Math" panose="02040503050406030204" pitchFamily="18" charset="0"/>
                              </a:rPr>
                            </m:ctrlPr>
                          </m:limLowPr>
                          <m:e>
                            <m:groupChr>
                              <m:groupChrPr>
                                <m:chr m:val="⏟"/>
                                <m:pos m:val="bot"/>
                                <m:vertJc m:val="top"/>
                                <m:ctrlPr>
                                  <a:rPr lang="pt-BR" sz="2400" b="1" i="1">
                                    <a:latin typeface="Cambria Math" panose="02040503050406030204" pitchFamily="18" charset="0"/>
                                  </a:rPr>
                                </m:ctrlPr>
                              </m:groupChrPr>
                              <m:e>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terá o formato de uma</a:t>
                </a:r>
                <a:r>
                  <a:rPr lang="pt-BR" dirty="0"/>
                  <a:t> </a:t>
                </a:r>
                <a:r>
                  <a:rPr lang="pt-BR" b="1" dirty="0">
                    <a:solidFill>
                      <a:schemeClr val="accent2"/>
                    </a:solidFill>
                  </a:rPr>
                  <a:t>parábola</a:t>
                </a:r>
                <a:r>
                  <a:rPr lang="pt-BR" dirty="0"/>
                  <a:t>.</a:t>
                </a:r>
              </a:p>
              <a:p>
                <a:r>
                  <a:rPr lang="pt-BR" dirty="0"/>
                  <a:t>Além disso, devido ao termo quadrático ser </a:t>
                </a:r>
                <a:r>
                  <a:rPr lang="pt-BR" b="1" dirty="0">
                    <a:solidFill>
                      <a:srgbClr val="00B0F0"/>
                    </a:solidFill>
                  </a:rPr>
                  <a:t>positivo</a:t>
                </a:r>
                <a:r>
                  <a:rPr lang="pt-BR" dirty="0"/>
                  <a:t>,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 xmlns:a16="http://schemas.microsoft.com/office/drawing/2014/main" xmlns:a14="http://schemas.microsoft.com/office/drawing/2010/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rotWithShape="0">
                <a:blip r:embed="rId3"/>
                <a:stretch>
                  <a:fillRect l="-1810" t="-1937"/>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773714"/>
            <a:ext cx="1158957" cy="75474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noProof="0"/>
                  <a:t>O que isso significa na prática?</a:t>
                </a:r>
              </a:p>
              <a:p>
                <a:pPr lvl="1">
                  <a:buFont typeface="Wingdings" panose="05000000000000000000" pitchFamily="2" charset="2"/>
                  <a:buChar char="§"/>
                </a:pPr>
                <a:r>
                  <a:rPr lang="pt-BR" noProof="0" dirty="0"/>
                  <a:t>A </a:t>
                </a:r>
                <a:r>
                  <a:rPr lang="pt-BR" b="1" noProof="0" dirty="0"/>
                  <a:t>superfície de erro </a:t>
                </a:r>
                <a:r>
                  <a:rPr lang="pt-BR" noProof="0" dirty="0"/>
                  <a:t>tem o formato de uma </a:t>
                </a:r>
                <a:r>
                  <a:rPr lang="pt-BR" b="1" noProof="0" dirty="0">
                    <a:solidFill>
                      <a:srgbClr val="00B0F0"/>
                    </a:solidFill>
                  </a:rPr>
                  <a:t>parábola convexa</a:t>
                </a:r>
                <a:r>
                  <a:rPr lang="pt-BR" b="1" noProof="0" dirty="0"/>
                  <a:t> </a:t>
                </a:r>
                <a:r>
                  <a:rPr lang="pt-BR" noProof="0" dirty="0"/>
                  <a:t>(i.e., formato de uma </a:t>
                </a:r>
                <a:r>
                  <a:rPr lang="pt-BR" b="1" noProof="0" dirty="0"/>
                  <a:t>tigela </a:t>
                </a:r>
                <a:r>
                  <a:rPr lang="pt-BR" noProof="0" dirty="0"/>
                  <a:t>ou </a:t>
                </a:r>
                <a:r>
                  <a:rPr lang="pt-BR" b="1" noProof="0" dirty="0"/>
                  <a:t>vale</a:t>
                </a:r>
                <a:r>
                  <a:rPr lang="pt-BR" noProof="0" dirty="0"/>
                  <a:t>).</a:t>
                </a:r>
              </a:p>
              <a:p>
                <a:pPr lvl="1">
                  <a:buFont typeface="Wingdings" panose="05000000000000000000" pitchFamily="2" charset="2"/>
                  <a:buChar char="§"/>
                </a:pPr>
                <a:r>
                  <a:rPr lang="pt-BR" noProof="0" dirty="0"/>
                  <a:t>Consequentemente, existe apenas </a:t>
                </a:r>
                <a:r>
                  <a:rPr lang="pt-BR" b="1" noProof="0" dirty="0">
                    <a:solidFill>
                      <a:schemeClr val="accent2"/>
                    </a:solidFill>
                  </a:rPr>
                  <a:t>um único </a:t>
                </a:r>
                <a:r>
                  <a:rPr lang="pt-BR" b="1" noProof="0" dirty="0"/>
                  <a:t>ponto mais baixo</a:t>
                </a:r>
                <a:r>
                  <a:rPr lang="pt-BR" noProof="0" dirty="0"/>
                  <a:t> (chamado de </a:t>
                </a:r>
                <a:r>
                  <a:rPr lang="pt-BR" b="1" noProof="0" dirty="0">
                    <a:solidFill>
                      <a:srgbClr val="7030A0"/>
                    </a:solidFill>
                  </a:rPr>
                  <a:t>mínimo global</a:t>
                </a:r>
                <a:r>
                  <a:rPr lang="pt-BR" noProof="0" dirty="0"/>
                  <a:t>).</a:t>
                </a:r>
              </a:p>
              <a:p>
                <a:pPr lvl="1">
                  <a:buFont typeface="Wingdings" panose="05000000000000000000" pitchFamily="2" charset="2"/>
                  <a:buChar char="§"/>
                </a:pPr>
                <a:r>
                  <a:rPr lang="pt-BR" noProof="0" dirty="0"/>
                  <a:t>Portanto, basta </a:t>
                </a:r>
                <a:r>
                  <a:rPr lang="pt-BR" b="1" noProof="0" dirty="0">
                    <a:solidFill>
                      <a:schemeClr val="accent1"/>
                    </a:solidFill>
                  </a:rPr>
                  <a:t>seguirmos ladeira abaixo</a:t>
                </a:r>
                <a:r>
                  <a:rPr lang="pt-BR" noProof="0" dirty="0"/>
                  <a:t> </a:t>
                </a:r>
                <a:r>
                  <a:rPr lang="pt-BR" b="1" noProof="0" dirty="0">
                    <a:solidFill>
                      <a:srgbClr val="00B050"/>
                    </a:solidFill>
                  </a:rPr>
                  <a:t>a partir de qualquer ponto</a:t>
                </a:r>
                <a:r>
                  <a:rPr lang="pt-BR" noProof="0" dirty="0"/>
                  <a:t> que encontraremos a melhor solução possível,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𝒂</m:t>
                        </m:r>
                      </m:e>
                      <m:sub>
                        <m:r>
                          <a:rPr lang="pt-BR" noProof="0">
                            <a:latin typeface="Cambria Math" panose="02040503050406030204" pitchFamily="18" charset="0"/>
                          </a:rPr>
                          <m:t>ó</m:t>
                        </m:r>
                        <m:r>
                          <m:rPr>
                            <m:sty m:val="p"/>
                          </m:rPr>
                          <a:rPr lang="pt-BR" noProof="0">
                            <a:latin typeface="Cambria Math" panose="02040503050406030204" pitchFamily="18" charset="0"/>
                          </a:rPr>
                          <m:t>timo</m:t>
                        </m:r>
                      </m:sub>
                    </m:sSub>
                  </m:oMath>
                </a14:m>
                <a:r>
                  <a:rPr lang="pt-BR" noProof="0" dirty="0"/>
                  <a:t>.</a:t>
                </a:r>
              </a:p>
              <a:p>
                <a:r>
                  <a:rPr lang="pt-BR" noProof="0" dirty="0"/>
                  <a:t>Em geral, o </a:t>
                </a:r>
                <a:r>
                  <a:rPr lang="pt-BR" b="1" noProof="0" dirty="0">
                    <a:solidFill>
                      <a:srgbClr val="7030A0"/>
                    </a:solidFill>
                  </a:rPr>
                  <a:t>erro mínimo</a:t>
                </a:r>
                <a:r>
                  <a:rPr lang="pt-BR" noProof="0" dirty="0"/>
                  <a:t> nunca será igual a 0 devido aos dados estarem corrompidos por algum tipo de ruído.</a:t>
                </a:r>
              </a:p>
              <a:p>
                <a:pPr lvl="1">
                  <a:buFont typeface="Wingdings" panose="05000000000000000000" pitchFamily="2" charset="2"/>
                  <a:buChar char="§"/>
                </a:pPr>
                <a:endParaRPr lang="pt-BR" noProof="0"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1716" b="-969"/>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590265"/>
            <a:ext cx="6561983" cy="276999"/>
          </a:xfrm>
          <a:prstGeom prst="rect">
            <a:avLst/>
          </a:prstGeom>
          <a:noFill/>
        </p:spPr>
        <p:txBody>
          <a:bodyPr wrap="square" rtlCol="0">
            <a:spAutoFit/>
          </a:bodyPr>
          <a:lstStyle/>
          <a:p>
            <a:r>
              <a:rPr lang="pt-BR" sz="1200" b="1" dirty="0"/>
              <a:t>OBS</a:t>
            </a:r>
            <a:r>
              <a:rPr lang="pt-BR" sz="1200" dirty="0"/>
              <a:t>.: Superfície de erro para um função hipótese com dois atributos e dois pesos.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81743" y="2394306"/>
            <a:ext cx="10515600" cy="1742265"/>
          </a:xfrm>
        </p:spPr>
        <p:txBody>
          <a:bodyPr/>
          <a:lstStyle/>
          <a:p>
            <a:pPr marL="0" indent="0" algn="ctr">
              <a:buNone/>
            </a:pPr>
            <a:r>
              <a:rPr lang="pt-BR" sz="5400" dirty="0"/>
              <a:t>Qual é a ideia geral por trás do gradiente descendente?</a:t>
            </a:r>
            <a:endParaRPr lang="en-US" sz="5400" dirty="0"/>
          </a:p>
        </p:txBody>
      </p:sp>
    </p:spTree>
    <p:extLst>
      <p:ext uri="{BB962C8B-B14F-4D97-AF65-F5344CB8AC3E}">
        <p14:creationId xmlns:p14="http://schemas.microsoft.com/office/powerpoint/2010/main" val="5780893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452338" cy="5032375"/>
              </a:xfrm>
            </p:spPr>
            <p:txBody>
              <a:bodyPr/>
              <a:lstStyle/>
              <a:p>
                <a:r>
                  <a:rPr lang="pt-BR" dirty="0"/>
                  <a:t>O </a:t>
                </a:r>
                <a:r>
                  <a:rPr lang="pt-BR" b="1" dirty="0">
                    <a:solidFill>
                      <a:schemeClr val="accent2"/>
                    </a:solidFill>
                  </a:rPr>
                  <a:t>algoritmo do 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solidFill>
                      <a:srgbClr val="00B0F0"/>
                    </a:solidFill>
                  </a:rPr>
                  <a:t>pesos aleatórios </a:t>
                </a:r>
                <a:r>
                  <a:rPr lang="pt-BR" b="1" dirty="0"/>
                  <a:t>(i.e., ponto aleatório) </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452338" cy="5032375"/>
              </a:xfrm>
              <a:blipFill rotWithShape="0">
                <a:blip r:embed="rId2"/>
                <a:stretch>
                  <a:fillRect l="-1701" t="-1937"/>
                </a:stretch>
              </a:blipFill>
            </p:spPr>
            <p:txBody>
              <a:bodyPr/>
              <a:lstStyle/>
              <a:p>
                <a:r>
                  <a:rPr lang="pt-BR">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na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a:p>
                <a:r>
                  <a:rPr lang="en-US" dirty="0"/>
                  <a:t>Sua</a:t>
                </a:r>
                <a:r>
                  <a:rPr lang="en-US" b="1" dirty="0"/>
                  <a:t> norma </a:t>
                </a:r>
                <a14:m>
                  <m:oMath xmlns:m="http://schemas.openxmlformats.org/officeDocument/2006/math">
                    <m:d>
                      <m:dPr>
                        <m:begChr m:val="‖"/>
                        <m:endChr m:val="‖"/>
                        <m:ctrlPr>
                          <a:rPr lang="pt-BR" i="1" dirty="0">
                            <a:latin typeface="Cambria Math" panose="02040503050406030204" pitchFamily="18" charset="0"/>
                            <a:ea typeface="Cambria Math" panose="02040503050406030204" pitchFamily="18" charset="0"/>
                          </a:rPr>
                        </m:ctrlPr>
                      </m:dPr>
                      <m:e>
                        <m:r>
                          <a:rPr lang="pt-BR" i="1" dirty="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e>
                    </m:d>
                  </m:oMath>
                </a14:m>
                <a:r>
                  <a:rPr lang="en-US" dirty="0"/>
                  <a:t> </a:t>
                </a:r>
                <a:r>
                  <a:rPr lang="en-US" dirty="0" err="1"/>
                  <a:t>mede</a:t>
                </a:r>
                <a:r>
                  <a:rPr lang="en-US" dirty="0"/>
                  <a:t> o </a:t>
                </a:r>
                <a:r>
                  <a:rPr lang="en-US" dirty="0" err="1"/>
                  <a:t>quão</a:t>
                </a:r>
                <a:r>
                  <a:rPr lang="en-US" dirty="0"/>
                  <a:t> </a:t>
                </a:r>
                <a:r>
                  <a:rPr lang="en-US" dirty="0" err="1"/>
                  <a:t>íngreme</a:t>
                </a:r>
                <a:r>
                  <a:rPr lang="en-US" dirty="0"/>
                  <a:t> é a </a:t>
                </a:r>
                <a:r>
                  <a:rPr lang="en-US" dirty="0" err="1"/>
                  <a:t>subida</a:t>
                </a:r>
                <a:r>
                  <a:rPr lang="en-US" dirty="0"/>
                  <a:t>.</a:t>
                </a:r>
                <a:endParaRPr lang="pt-BR" b="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a:stretch>
              </a:blipFill>
            </p:spPr>
            <p:txBody>
              <a:bodyPr/>
              <a:lstStyle/>
              <a:p>
                <a:r>
                  <a:rPr lang="en-US">
                    <a:noFill/>
                  </a:rPr>
                  <a:t> </a:t>
                </a:r>
              </a:p>
            </p:txBody>
          </p:sp>
        </mc:Fallback>
      </mc:AlternateContent>
      <p:grpSp>
        <p:nvGrpSpPr>
          <p:cNvPr id="5" name="Agrupar 4">
            <a:extLst>
              <a:ext uri="{FF2B5EF4-FFF2-40B4-BE49-F238E27FC236}">
                <a16:creationId xmlns:a16="http://schemas.microsoft.com/office/drawing/2014/main" id="{12E4ADCF-A7FD-F345-12BA-0CF9505FCCF4}"/>
              </a:ext>
            </a:extLst>
          </p:cNvPr>
          <p:cNvGrpSpPr/>
          <p:nvPr/>
        </p:nvGrpSpPr>
        <p:grpSpPr>
          <a:xfrm>
            <a:off x="973059" y="2353695"/>
            <a:ext cx="3963570" cy="2939416"/>
            <a:chOff x="973059" y="2353695"/>
            <a:chExt cx="3963570" cy="2939416"/>
          </a:xfrm>
        </p:grpSpPr>
        <p:sp>
          <p:nvSpPr>
            <p:cNvPr id="16" name="Forma Livre: Forma 15">
              <a:extLst>
                <a:ext uri="{FF2B5EF4-FFF2-40B4-BE49-F238E27FC236}">
                  <a16:creationId xmlns:a16="http://schemas.microsoft.com/office/drawing/2014/main" id="{C6A784CD-F591-D77A-216C-711CC8B1FCCE}"/>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8" name="Conector de Seta Reta 17">
              <a:extLst>
                <a:ext uri="{FF2B5EF4-FFF2-40B4-BE49-F238E27FC236}">
                  <a16:creationId xmlns:a16="http://schemas.microsoft.com/office/drawing/2014/main" id="{C6B749B0-5566-BE1C-2F81-1FBD023AC4A5}"/>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273CB2E1-5B19-11A9-517D-C293F25403DE}"/>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8E54EE22-65BF-1CD4-BAB8-944D023139BC}"/>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26" name="CaixaDeTexto 25">
              <a:extLst>
                <a:ext uri="{FF2B5EF4-FFF2-40B4-BE49-F238E27FC236}">
                  <a16:creationId xmlns:a16="http://schemas.microsoft.com/office/drawing/2014/main" id="{0E87A25C-A581-62CE-5B3A-7966C68CCA3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7" name="Conector reto 26">
              <a:extLst>
                <a:ext uri="{FF2B5EF4-FFF2-40B4-BE49-F238E27FC236}">
                  <a16:creationId xmlns:a16="http://schemas.microsoft.com/office/drawing/2014/main" id="{5021288C-7C99-655C-B6EE-D9AD2742D963}"/>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a16="http://schemas.microsoft.com/office/drawing/2014/main" id="{92256FBD-47D1-5290-996D-60B79CD35FE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29" name="Conector reto 28">
              <a:extLst>
                <a:ext uri="{FF2B5EF4-FFF2-40B4-BE49-F238E27FC236}">
                  <a16:creationId xmlns:a16="http://schemas.microsoft.com/office/drawing/2014/main" id="{3380337A-C41F-1BA8-D436-3889DF59F95C}"/>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0" name="Elipse 29">
              <a:extLst>
                <a:ext uri="{FF2B5EF4-FFF2-40B4-BE49-F238E27FC236}">
                  <a16:creationId xmlns:a16="http://schemas.microsoft.com/office/drawing/2014/main" id="{F8833596-2A9C-2454-1545-DF1D1B9BB1DE}"/>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Elipse 30">
              <a:extLst>
                <a:ext uri="{FF2B5EF4-FFF2-40B4-BE49-F238E27FC236}">
                  <a16:creationId xmlns:a16="http://schemas.microsoft.com/office/drawing/2014/main" id="{B32BC633-2BBD-3B18-4F71-BF6A0FDED51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2" name="Conector reto 31">
              <a:extLst>
                <a:ext uri="{FF2B5EF4-FFF2-40B4-BE49-F238E27FC236}">
                  <a16:creationId xmlns:a16="http://schemas.microsoft.com/office/drawing/2014/main" id="{7CA9B95D-CB51-98E9-107C-C69BB0B5118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85E82FE4-2BE8-73DD-CE7E-9C9E72B636E5}"/>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CaixaDeTexto 33">
              <a:extLst>
                <a:ext uri="{FF2B5EF4-FFF2-40B4-BE49-F238E27FC236}">
                  <a16:creationId xmlns:a16="http://schemas.microsoft.com/office/drawing/2014/main" id="{D420AE38-FACE-EFB5-CDC4-F0EE816FAB60}"/>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62416D29-AFD5-94D4-5356-93BB16BD24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4837DF0-4DE2-DA43-15A6-6ACEAE06312C}"/>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37" name="Conector de Seta Reta 36">
            <a:extLst>
              <a:ext uri="{FF2B5EF4-FFF2-40B4-BE49-F238E27FC236}">
                <a16:creationId xmlns:a16="http://schemas.microsoft.com/office/drawing/2014/main" id="{D7C90129-1F0B-65C5-8B58-FAD7F81AFB00}"/>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1" y="1825624"/>
            <a:ext cx="6894771"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o gradiente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da norma </a:t>
            </a:r>
            <a:r>
              <a:rPr lang="pt-BR" dirty="0">
                <a:solidFill>
                  <a:schemeClr val="tx1"/>
                </a:solidFill>
                <a:effectLst/>
              </a:rPr>
              <a:t>do vetor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a:t>
            </a:r>
            <a:r>
              <a:rPr lang="pt-BR" b="1" dirty="0">
                <a:solidFill>
                  <a:srgbClr val="00B0F0"/>
                </a:solidFill>
              </a:rPr>
              <a:t>valor igual a 0 </a:t>
            </a:r>
            <a:r>
              <a:rPr lang="pt-BR" b="1" dirty="0"/>
              <a:t>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sp>
        <p:nvSpPr>
          <p:cNvPr id="5" name="CaixaDeTexto 4">
            <a:extLst>
              <a:ext uri="{FF2B5EF4-FFF2-40B4-BE49-F238E27FC236}">
                <a16:creationId xmlns:a16="http://schemas.microsoft.com/office/drawing/2014/main" id="{0C28C885-5E71-B2B1-A1C0-BB5E866BD112}"/>
              </a:ext>
            </a:extLst>
          </p:cNvPr>
          <p:cNvSpPr txBox="1"/>
          <p:nvPr/>
        </p:nvSpPr>
        <p:spPr>
          <a:xfrm>
            <a:off x="580571" y="5485769"/>
            <a:ext cx="4573780" cy="830997"/>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cxnSp>
        <p:nvCxnSpPr>
          <p:cNvPr id="16" name="Conector de Seta Reta 15">
            <a:extLst>
              <a:ext uri="{FF2B5EF4-FFF2-40B4-BE49-F238E27FC236}">
                <a16:creationId xmlns:a16="http://schemas.microsoft.com/office/drawing/2014/main" id="{2EA8176B-5ADC-D0FA-51E4-AB57F89F1F6E}"/>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5503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8" y="1825624"/>
                <a:ext cx="6547091" cy="5032376"/>
              </a:xfrm>
            </p:spPr>
            <p:txBody>
              <a:bodyPr>
                <a:normAutofit/>
              </a:bodyPr>
              <a:lstStyle/>
              <a:p>
                <a:r>
                  <a:rPr lang="pt-BR" dirty="0">
                    <a:solidFill>
                      <a:schemeClr val="tx1"/>
                    </a:solidFill>
                  </a:rPr>
                  <a:t>Porém, queremos </a:t>
                </a:r>
                <a:r>
                  <a:rPr lang="pt-BR" b="1" dirty="0">
                    <a:solidFill>
                      <a:srgbClr val="00B050"/>
                    </a:solidFill>
                  </a:rPr>
                  <a:t>encontrar o ponto de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o gradiente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8" y="1825624"/>
                <a:ext cx="6547091" cy="5032376"/>
              </a:xfrm>
              <a:blipFill>
                <a:blip r:embed="rId3"/>
                <a:stretch>
                  <a:fillRect l="-1676" t="-1937"/>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t>
            </a:r>
            <a:r>
              <a:rPr lang="pt-BR" b="1" dirty="0">
                <a:solidFill>
                  <a:srgbClr val="00B0F0"/>
                </a:solidFill>
              </a:rPr>
              <a:t>a direção e a taxa de crescimento</a:t>
            </a:r>
            <a:r>
              <a:rPr lang="pt-BR" dirty="0"/>
              <a:t>.</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47010" y="1825624"/>
                <a:ext cx="6844990"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devemos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(de aprendizagem) para darmos naquela direção.</a:t>
                </a:r>
              </a:p>
              <a:p>
                <a:r>
                  <a:rPr lang="pt-BR" dirty="0"/>
                  <a:t>O tamanho do passo é definido pela </a:t>
                </a:r>
                <a:r>
                  <a:rPr lang="pt-BR" b="1" dirty="0">
                    <a:solidFill>
                      <a:schemeClr val="accent1"/>
                    </a:solidFill>
                  </a:rPr>
                  <a:t>taxa de aprendizagem</a:t>
                </a:r>
                <a:r>
                  <a:rPr lang="pt-BR" dirty="0"/>
                  <a:t>,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a:t>
                </a: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347010" y="1825624"/>
                <a:ext cx="6844990" cy="5032376"/>
              </a:xfrm>
              <a:blipFill>
                <a:blip r:embed="rId3"/>
                <a:stretch>
                  <a:fillRect l="-1603" t="-1937" r="-204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p:sp>
          <p:nvSpPr>
            <p:cNvPr id="44" name="CaixaDeTexto 43">
              <a:extLst>
                <a:ext uri="{FF2B5EF4-FFF2-40B4-BE49-F238E27FC236}">
                  <a16:creationId xmlns:a16="http://schemas.microsoft.com/office/drawing/2014/main" id="{0B96B558-FD3C-575E-D9A1-D3E273AF2DEB}"/>
                </a:ext>
              </a:extLst>
            </p:cNvPr>
            <p:cNvSpPr txBox="1"/>
            <p:nvPr/>
          </p:nvSpPr>
          <p:spPr>
            <a:xfrm>
              <a:off x="1644527" y="3277391"/>
              <a:ext cx="1195676" cy="461665"/>
            </a:xfrm>
            <a:prstGeom prst="rect">
              <a:avLst/>
            </a:prstGeom>
            <a:noFill/>
          </p:spPr>
          <p:txBody>
            <a:bodyPr wrap="square">
              <a:spAutoFit/>
            </a:bodyPr>
            <a:lstStyle/>
            <a:p>
              <a:pPr algn="ctr"/>
              <a:r>
                <a:rPr lang="pt-BR" sz="1200" dirty="0"/>
                <a:t>Passo de aprendizagem </a:t>
              </a:r>
            </a:p>
          </p:txBody>
        </p:sp>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2" y="1825624"/>
                <a:ext cx="6294765" cy="5032376"/>
              </a:xfrm>
            </p:spPr>
            <p:txBody>
              <a:bodyPr>
                <a:normAutofit/>
              </a:bodyPr>
              <a:lstStyle/>
              <a:p>
                <a:r>
                  <a:rPr lang="pt-BR" dirty="0"/>
                  <a:t>A taxa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Os pesos são </a:t>
                </a:r>
                <a:r>
                  <a:rPr lang="pt-BR" b="1" dirty="0">
                    <a:solidFill>
                      <a:srgbClr val="00B0F0"/>
                    </a:solidFill>
                  </a:rPr>
                  <a:t>atualizados iterativamente </a:t>
                </a:r>
                <a:r>
                  <a:rPr lang="pt-BR" dirty="0"/>
                  <a:t>usando a equação:</a:t>
                </a:r>
              </a:p>
              <a:p>
                <a:pPr marL="0" indent="0">
                  <a:buNone/>
                </a:pPr>
                <a:endParaRPr lang="pt-BR" sz="100" dirty="0"/>
              </a:p>
              <a:p>
                <a:pPr marL="0" indent="0">
                  <a:buNone/>
                </a:pPr>
                <a14:m>
                  <m:oMathPara xmlns:m="http://schemas.openxmlformats.org/officeDocument/2006/math">
                    <m:oMath>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0" dirty="0" smtClean="0">
                              <a:latin typeface="Cambria Math" panose="02040503050406030204" pitchFamily="18" charset="0"/>
                            </a:rPr>
                          </m:ctrlPr>
                        </m:fPr>
                        <m:num>
                          <m:r>
                            <a:rPr lang="pt-BR" i="0" dirty="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smtClean="0">
                                  <a:latin typeface="Cambria Math" panose="02040503050406030204" pitchFamily="18" charset="0"/>
                                </a:rPr>
                              </m:ctrlPr>
                            </m:dPr>
                            <m:e>
                              <m:sSub>
                                <m:sSubPr>
                                  <m:ctrlPr>
                                    <a:rPr lang="pt-BR" smtClean="0">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e>
                          </m:d>
                        </m:num>
                        <m:den>
                          <m:r>
                            <a:rPr lang="pt-BR" dirty="0" smtClean="0">
                              <a:latin typeface="Cambria Math" panose="02040503050406030204" pitchFamily="18" charset="0"/>
                            </a:rPr>
                            <m:t>𝜕</m:t>
                          </m:r>
                          <m:r>
                            <a:rPr lang="pt-BR" dirty="0" smtClean="0">
                              <a:latin typeface="Cambria Math" panose="02040503050406030204" pitchFamily="18" charset="0"/>
                            </a:rPr>
                            <m:t>𝑎</m:t>
                          </m:r>
                        </m:den>
                      </m:f>
                      <m:r>
                        <a:rPr lang="pt-BR" b="0" i="1" dirty="0" smtClean="0">
                          <a:latin typeface="Cambria Math" panose="02040503050406030204" pitchFamily="18" charset="0"/>
                        </a:rPr>
                        <m:t>,</m:t>
                      </m:r>
                    </m:oMath>
                  </m:oMathPara>
                </a14:m>
                <a:endParaRPr lang="pt-BR" dirty="0"/>
              </a:p>
              <a:p>
                <a:pPr marL="0" indent="0">
                  <a:buNone/>
                </a:pPr>
                <a:r>
                  <a:rPr lang="pt-BR" dirty="0">
                    <a:ea typeface="Cambria Math" panose="02040503050406030204" pitchFamily="18" charset="0"/>
                  </a:rPr>
                  <a:t>onde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deve ser sempre maior do que 0.</a:t>
                </a:r>
                <a:endParaRPr lang="pt-BR" sz="1400" dirty="0"/>
              </a:p>
              <a:p>
                <a:r>
                  <a:rPr lang="pt-BR" dirty="0"/>
                  <a:t>Ela é chamada de </a:t>
                </a:r>
                <a:r>
                  <a:rPr lang="pt-BR" b="1" dirty="0">
                    <a:solidFill>
                      <a:srgbClr val="7030A0"/>
                    </a:solidFill>
                  </a:rPr>
                  <a:t>equação de atualização dos pesos.</a:t>
                </a:r>
              </a:p>
              <a:p>
                <a:r>
                  <a:rPr lang="pt-BR" dirty="0"/>
                  <a:t>Vejamos como ela funciona.</a:t>
                </a:r>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2" y="1825624"/>
                <a:ext cx="6294765" cy="5032376"/>
              </a:xfrm>
              <a:blipFill>
                <a:blip r:embed="rId3"/>
                <a:stretch>
                  <a:fillRect l="-1936" t="-1937" r="-3291" b="-1574"/>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9044614" y="3479939"/>
            <a:ext cx="1598943" cy="430887"/>
          </a:xfrm>
          <a:prstGeom prst="rect">
            <a:avLst/>
          </a:prstGeom>
          <a:noFill/>
        </p:spPr>
        <p:txBody>
          <a:bodyPr wrap="square" rtlCol="0">
            <a:spAutoFit/>
          </a:bodyPr>
          <a:lstStyle/>
          <a:p>
            <a:pPr algn="ctr"/>
            <a:r>
              <a:rPr lang="pt-BR" sz="11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V="1">
            <a:off x="9044614" y="3867167"/>
            <a:ext cx="413711" cy="47464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pPr lvl="1">
                  <a:buFont typeface="Wingdings" panose="05000000000000000000" pitchFamily="2" charset="2"/>
                  <a:buChar char="§"/>
                </a:pPr>
                <a:r>
                  <a:rPr lang="pt-BR" dirty="0"/>
                  <a:t>À esquerda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negativo,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positivo,</a:t>
                </a:r>
              </a:p>
              <a:p>
                <a:pPr lvl="1">
                  <a:buFont typeface="Wingdings" panose="05000000000000000000" pitchFamily="2" charset="2"/>
                  <a:buChar char="§"/>
                </a:pPr>
                <a:r>
                  <a:rPr lang="pt-BR" dirty="0"/>
                  <a:t>Que faz com que </a:t>
                </a:r>
                <a14:m>
                  <m:oMath xmlns:m="http://schemas.openxmlformats.org/officeDocument/2006/math">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seja </a:t>
                </a:r>
                <a:r>
                  <a:rPr lang="pt-BR" b="1" dirty="0">
                    <a:solidFill>
                      <a:srgbClr val="00B050"/>
                    </a:solidFill>
                  </a:rPr>
                  <a:t>somado</a:t>
                </a:r>
                <a:r>
                  <a:rPr lang="pt-BR" dirty="0"/>
                  <a:t> à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oMath>
                </a14:m>
                <a:r>
                  <a:rPr lang="pt-BR" dirty="0"/>
                  <a:t>.</a:t>
                </a: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r="-1375"/>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55B36-34CE-4878-83B4-42D1324C2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8DC80DC-35D1-9045-6686-A446DEAFC710}"/>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802007BE-0A55-45A9-97D1-1F1399046C83}"/>
                  </a:ext>
                </a:extLst>
              </p:cNvPr>
              <p:cNvSpPr>
                <a:spLocks noGrp="1"/>
              </p:cNvSpPr>
              <p:nvPr>
                <p:ph idx="1"/>
              </p:nvPr>
            </p:nvSpPr>
            <p:spPr>
              <a:xfrm>
                <a:off x="5897233" y="1825624"/>
                <a:ext cx="6205337" cy="5032376"/>
              </a:xfrm>
            </p:spPr>
            <p:txBody>
              <a:bodyPr>
                <a:normAutofit/>
              </a:bodyPr>
              <a:lstStyle/>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pPr lvl="1">
                  <a:buFont typeface="Wingdings" panose="05000000000000000000" pitchFamily="2" charset="2"/>
                  <a:buChar char="§"/>
                </a:pPr>
                <a:r>
                  <a:rPr lang="pt-BR" dirty="0"/>
                  <a:t>À direita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positivo,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negativo.</a:t>
                </a:r>
              </a:p>
              <a:p>
                <a:pPr lvl="1">
                  <a:buFont typeface="Wingdings" panose="05000000000000000000" pitchFamily="2" charset="2"/>
                  <a:buChar char="§"/>
                </a:pPr>
                <a:r>
                  <a:rPr lang="pt-BR" dirty="0"/>
                  <a:t>Que faz com que </a:t>
                </a:r>
                <a14:m>
                  <m:oMath xmlns:m="http://schemas.openxmlformats.org/officeDocument/2006/math">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seja </a:t>
                </a:r>
                <a:r>
                  <a:rPr lang="pt-BR" b="1" dirty="0">
                    <a:solidFill>
                      <a:srgbClr val="00B050"/>
                    </a:solidFill>
                  </a:rPr>
                  <a:t>subtraído</a:t>
                </a:r>
                <a:r>
                  <a:rPr lang="pt-BR" dirty="0"/>
                  <a:t> 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oMath>
                </a14:m>
                <a:r>
                  <a:rPr lang="pt-BR" dirty="0"/>
                  <a:t>.</a:t>
                </a:r>
              </a:p>
              <a:p>
                <a:endParaRPr lang="pt-BR" dirty="0"/>
              </a:p>
            </p:txBody>
          </p:sp>
        </mc:Choice>
        <mc:Fallback>
          <p:sp>
            <p:nvSpPr>
              <p:cNvPr id="3" name="Espaço Reservado para Conteúdo 2">
                <a:extLst>
                  <a:ext uri="{FF2B5EF4-FFF2-40B4-BE49-F238E27FC236}">
                    <a16:creationId xmlns:a16="http://schemas.microsoft.com/office/drawing/2014/main" id="{802007BE-0A55-45A9-97D1-1F1399046C83}"/>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sp>
        <p:nvSpPr>
          <p:cNvPr id="24" name="Forma Livre: Forma 23">
            <a:extLst>
              <a:ext uri="{FF2B5EF4-FFF2-40B4-BE49-F238E27FC236}">
                <a16:creationId xmlns:a16="http://schemas.microsoft.com/office/drawing/2014/main" id="{95AD1E5E-4D52-4805-C53B-35E995960688}"/>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E62A43FE-99D1-E4A5-BCAA-CF0A08BB8A4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54C9D9B1-14A6-AB3C-5EDD-20A8FCC9B42E}"/>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C9810D7C-618F-42D7-D15F-E07BF0143A5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C9810D7C-618F-42D7-D15F-E07BF0143A5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a:blip r:embed="rId4"/>
                <a:stretch>
                  <a:fillRect l="-2000" t="-8197" b="-24590"/>
                </a:stretch>
              </a:blipFill>
            </p:spPr>
            <p:txBody>
              <a:bodyPr/>
              <a:lstStyle/>
              <a:p>
                <a:r>
                  <a:rPr lang="en-US">
                    <a:noFill/>
                  </a:rPr>
                  <a:t> </a:t>
                </a:r>
              </a:p>
            </p:txBody>
          </p:sp>
        </mc:Fallback>
      </mc:AlternateContent>
      <p:sp>
        <p:nvSpPr>
          <p:cNvPr id="9" name="CaixaDeTexto 8">
            <a:extLst>
              <a:ext uri="{FF2B5EF4-FFF2-40B4-BE49-F238E27FC236}">
                <a16:creationId xmlns:a16="http://schemas.microsoft.com/office/drawing/2014/main" id="{79409339-B873-6CD8-ABD2-05EB218DE072}"/>
              </a:ext>
            </a:extLst>
          </p:cNvPr>
          <p:cNvSpPr txBox="1"/>
          <p:nvPr/>
        </p:nvSpPr>
        <p:spPr>
          <a:xfrm>
            <a:off x="4570743" y="4280317"/>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039EA0C5-8C71-7A67-014E-9B8BFDF0F5AC}"/>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2FE34480-3A98-C37D-1CC7-C4D46C84C191}"/>
              </a:ext>
            </a:extLst>
          </p:cNvPr>
          <p:cNvSpPr txBox="1"/>
          <p:nvPr/>
        </p:nvSpPr>
        <p:spPr>
          <a:xfrm>
            <a:off x="2367751" y="3934283"/>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4134F0A-4EEF-6DAE-478A-B7431749E1EC}"/>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15DD9BF6-B244-29D4-119F-C6B3781653C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CDA6E95E-D9EC-3537-8F77-6EE3F47192AB}"/>
              </a:ext>
            </a:extLst>
          </p:cNvPr>
          <p:cNvSpPr/>
          <p:nvPr/>
        </p:nvSpPr>
        <p:spPr>
          <a:xfrm>
            <a:off x="44359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FE0C45FA-56C4-F642-30D0-8D2DDF54AF46}"/>
              </a:ext>
            </a:extLst>
          </p:cNvPr>
          <p:cNvCxnSpPr/>
          <p:nvPr/>
        </p:nvCxnSpPr>
        <p:spPr>
          <a:xfrm>
            <a:off x="973059" y="2886646"/>
            <a:ext cx="349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E7D13DB9-4C75-078A-6958-6C154EC05952}"/>
              </a:ext>
            </a:extLst>
          </p:cNvPr>
          <p:cNvCxnSpPr>
            <a:cxnSpLocks/>
          </p:cNvCxnSpPr>
          <p:nvPr/>
        </p:nvCxnSpPr>
        <p:spPr>
          <a:xfrm>
            <a:off x="4457397" y="2893989"/>
            <a:ext cx="0" cy="17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2223F3-5DD2-71FD-B16F-33B193B11964}"/>
              </a:ext>
            </a:extLst>
          </p:cNvPr>
          <p:cNvSpPr txBox="1"/>
          <p:nvPr/>
        </p:nvSpPr>
        <p:spPr>
          <a:xfrm>
            <a:off x="3517064" y="2599556"/>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0EE88986-EB8C-724C-244A-3D5A37DAF924}"/>
                  </a:ext>
                </a:extLst>
              </p:cNvPr>
              <p:cNvSpPr txBox="1"/>
              <p:nvPr/>
            </p:nvSpPr>
            <p:spPr>
              <a:xfrm>
                <a:off x="4044575" y="459203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0EE88986-EB8C-724C-244A-3D5A37DAF924}"/>
                  </a:ext>
                </a:extLst>
              </p:cNvPr>
              <p:cNvSpPr txBox="1">
                <a:spLocks noRot="1" noChangeAspect="1" noMove="1" noResize="1" noEditPoints="1" noAdjustHandles="1" noChangeArrowheads="1" noChangeShapeType="1" noTextEdit="1"/>
              </p:cNvSpPr>
              <p:nvPr/>
            </p:nvSpPr>
            <p:spPr>
              <a:xfrm>
                <a:off x="4044575" y="4592036"/>
                <a:ext cx="867941"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C20C4FF7-F2B2-21E5-6E82-822BAEAF5190}"/>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C20C4FF7-F2B2-21E5-6E82-822BAEAF5190}"/>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a:blip r:embed="rId6"/>
                <a:stretch>
                  <a:fillRect/>
                </a:stretch>
              </a:blipFill>
            </p:spPr>
            <p:txBody>
              <a:bodyPr/>
              <a:lstStyle/>
              <a:p>
                <a:r>
                  <a:rPr lang="en-US">
                    <a:noFill/>
                  </a:rPr>
                  <a:t> </a:t>
                </a:r>
              </a:p>
            </p:txBody>
          </p:sp>
        </mc:Fallback>
      </mc:AlternateContent>
      <p:cxnSp>
        <p:nvCxnSpPr>
          <p:cNvPr id="4" name="Conector de Seta Reta 3">
            <a:extLst>
              <a:ext uri="{FF2B5EF4-FFF2-40B4-BE49-F238E27FC236}">
                <a16:creationId xmlns:a16="http://schemas.microsoft.com/office/drawing/2014/main" id="{DC244B52-4334-BD96-C961-7980C8966554}"/>
              </a:ext>
            </a:extLst>
          </p:cNvPr>
          <p:cNvCxnSpPr>
            <a:cxnSpLocks/>
          </p:cNvCxnSpPr>
          <p:nvPr/>
        </p:nvCxnSpPr>
        <p:spPr>
          <a:xfrm flipH="1">
            <a:off x="4000500" y="2896738"/>
            <a:ext cx="447243" cy="7318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9D1FBDB5-A30B-552C-6312-3B6BD90ACEA3}"/>
              </a:ext>
            </a:extLst>
          </p:cNvPr>
          <p:cNvSpPr/>
          <p:nvPr/>
        </p:nvSpPr>
        <p:spPr>
          <a:xfrm>
            <a:off x="377485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7CF6E555-725C-0E5C-C537-9555F01F314A}"/>
              </a:ext>
            </a:extLst>
          </p:cNvPr>
          <p:cNvSpPr txBox="1"/>
          <p:nvPr/>
        </p:nvSpPr>
        <p:spPr>
          <a:xfrm>
            <a:off x="2870595" y="3628610"/>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D1B49863-995B-5C94-39FC-9775AB496188}"/>
                  </a:ext>
                </a:extLst>
              </p:cNvPr>
              <p:cNvSpPr txBox="1"/>
              <p:nvPr/>
            </p:nvSpPr>
            <p:spPr>
              <a:xfrm>
                <a:off x="2833286" y="3005203"/>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D1B49863-995B-5C94-39FC-9775AB496188}"/>
                  </a:ext>
                </a:extLst>
              </p:cNvPr>
              <p:cNvSpPr txBox="1">
                <a:spLocks noRot="1" noChangeAspect="1" noMove="1" noResize="1" noEditPoints="1" noAdjustHandles="1" noChangeArrowheads="1" noChangeShapeType="1" noTextEdit="1"/>
              </p:cNvSpPr>
              <p:nvPr/>
            </p:nvSpPr>
            <p:spPr>
              <a:xfrm>
                <a:off x="2833286" y="3005203"/>
                <a:ext cx="756505" cy="444032"/>
              </a:xfrm>
              <a:prstGeom prst="rect">
                <a:avLst/>
              </a:prstGeom>
              <a:blipFill>
                <a:blip r:embed="rId7"/>
                <a:stretch>
                  <a:fillRect r="-37903" b="-1370"/>
                </a:stretch>
              </a:blipFill>
            </p:spPr>
            <p:txBody>
              <a:bodyPr/>
              <a:lstStyle/>
              <a:p>
                <a:r>
                  <a:rPr lang="en-US">
                    <a:noFill/>
                  </a:rPr>
                  <a:t> </a:t>
                </a:r>
              </a:p>
            </p:txBody>
          </p:sp>
        </mc:Fallback>
      </mc:AlternateContent>
      <p:cxnSp>
        <p:nvCxnSpPr>
          <p:cNvPr id="45" name="Conector reto 44">
            <a:extLst>
              <a:ext uri="{FF2B5EF4-FFF2-40B4-BE49-F238E27FC236}">
                <a16:creationId xmlns:a16="http://schemas.microsoft.com/office/drawing/2014/main" id="{F372B741-B2B5-BA49-3507-12F27F931DA6}"/>
              </a:ext>
            </a:extLst>
          </p:cNvPr>
          <p:cNvCxnSpPr>
            <a:cxnSpLocks/>
          </p:cNvCxnSpPr>
          <p:nvPr/>
        </p:nvCxnSpPr>
        <p:spPr>
          <a:xfrm>
            <a:off x="379809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2A2FFB7B-0A97-529B-F3AB-053420899F77}"/>
                  </a:ext>
                </a:extLst>
              </p:cNvPr>
              <p:cNvSpPr txBox="1"/>
              <p:nvPr/>
            </p:nvSpPr>
            <p:spPr>
              <a:xfrm>
                <a:off x="3383787" y="4572994"/>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2A2FFB7B-0A97-529B-F3AB-053420899F77}"/>
                  </a:ext>
                </a:extLst>
              </p:cNvPr>
              <p:cNvSpPr txBox="1">
                <a:spLocks noRot="1" noChangeAspect="1" noMove="1" noResize="1" noEditPoints="1" noAdjustHandles="1" noChangeArrowheads="1" noChangeShapeType="1" noTextEdit="1"/>
              </p:cNvSpPr>
              <p:nvPr/>
            </p:nvSpPr>
            <p:spPr>
              <a:xfrm>
                <a:off x="3383787" y="4572994"/>
                <a:ext cx="86794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EACF50E9-CB50-D05F-FA10-9A32D5DB4608}"/>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FB6EA329-858B-8339-B316-5B6D0837F3CE}"/>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6F971FB6-8DFF-4302-CEFF-DA4495AEEA22}"/>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C036354-5F62-B69D-2156-D972DE6F41D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9C9CF1AE-34A8-0556-A9E5-E6F607CD3AC4}"/>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cxnSp>
        <p:nvCxnSpPr>
          <p:cNvPr id="28" name="Conector: Curvo 27">
            <a:extLst>
              <a:ext uri="{FF2B5EF4-FFF2-40B4-BE49-F238E27FC236}">
                <a16:creationId xmlns:a16="http://schemas.microsoft.com/office/drawing/2014/main" id="{81FD9F85-70A2-0DE8-FFC5-5557062E1604}"/>
              </a:ext>
            </a:extLst>
          </p:cNvPr>
          <p:cNvCxnSpPr>
            <a:cxnSpLocks/>
            <a:stCxn id="14" idx="2"/>
            <a:endCxn id="19" idx="2"/>
          </p:cNvCxnSpPr>
          <p:nvPr/>
        </p:nvCxnSpPr>
        <p:spPr>
          <a:xfrm rot="10800000" flipV="1">
            <a:off x="3774859" y="2886865"/>
            <a:ext cx="661089" cy="875168"/>
          </a:xfrm>
          <a:prstGeom prst="curvedConnector3">
            <a:avLst>
              <a:gd name="adj1" fmla="val 91931"/>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84138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E2277-700F-9E43-790B-9D23711BFFB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62D35D-B6EE-88FD-F460-EBB18CA173BC}"/>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F249910-0A57-AEAC-E6E9-68DE1A336706}"/>
              </a:ext>
            </a:extLst>
          </p:cNvPr>
          <p:cNvSpPr>
            <a:spLocks noGrp="1"/>
          </p:cNvSpPr>
          <p:nvPr>
            <p:ph idx="1"/>
          </p:nvPr>
        </p:nvSpPr>
        <p:spPr>
          <a:xfrm>
            <a:off x="5897233" y="1825624"/>
            <a:ext cx="6205337" cy="5032376"/>
          </a:xfrm>
        </p:spPr>
        <p:txBody>
          <a:bodyPr>
            <a:normAutofit/>
          </a:bodyPr>
          <a:lstStyle/>
          <a:p>
            <a:r>
              <a:rPr lang="pt-BR" dirty="0"/>
              <a:t>Portanto, dado o</a:t>
            </a:r>
            <a:r>
              <a:rPr lang="pt-BR" b="1" dirty="0">
                <a:solidFill>
                  <a:srgbClr val="00B050"/>
                </a:solidFill>
              </a:rPr>
              <a:t> vetor gradiente </a:t>
            </a:r>
            <a:r>
              <a:rPr lang="pt-BR" dirty="0"/>
              <a:t>(direção e taxa de crescimento) </a:t>
            </a:r>
            <a:r>
              <a:rPr lang="pt-BR" b="1" dirty="0">
                <a:solidFill>
                  <a:srgbClr val="00B050"/>
                </a:solidFill>
              </a:rPr>
              <a:t>e uma taxa de aprendizagem</a:t>
            </a:r>
            <a:r>
              <a:rPr lang="pt-BR" dirty="0"/>
              <a:t>, podemos caminhar </a:t>
            </a:r>
            <a:r>
              <a:rPr lang="pt-BR" b="1" dirty="0">
                <a:solidFill>
                  <a:schemeClr val="accent1"/>
                </a:solidFill>
              </a:rPr>
              <a:t>iterativamente</a:t>
            </a:r>
            <a:r>
              <a:rPr lang="pt-BR" b="1" dirty="0">
                <a:solidFill>
                  <a:srgbClr val="00B050"/>
                </a:solidFill>
              </a:rPr>
              <a:t> </a:t>
            </a:r>
            <a:r>
              <a:rPr lang="pt-BR" dirty="0"/>
              <a:t>em direção ao ponto de mínimo.</a:t>
            </a:r>
          </a:p>
        </p:txBody>
      </p:sp>
      <p:sp>
        <p:nvSpPr>
          <p:cNvPr id="24" name="Forma Livre: Forma 23">
            <a:extLst>
              <a:ext uri="{FF2B5EF4-FFF2-40B4-BE49-F238E27FC236}">
                <a16:creationId xmlns:a16="http://schemas.microsoft.com/office/drawing/2014/main" id="{9A12137B-7F18-FBD1-C41B-49EAEE2E86BB}"/>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6601733F-F691-6113-4CE5-21289B583C5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B8CFE0C7-A4E7-CB3C-2885-FF1D03CA5B16}"/>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6BD4D9E-8F31-6602-8EEC-75C6316A991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xmlns="" xmlns:a14="http://schemas.microsoft.com/office/drawing/2010/main" id="{36BD4D9E-8F31-6602-8EEC-75C6316A991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rotWithShape="0">
                <a:blip r:embed="rId3"/>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2628AFDC-5BFB-8F3F-6004-42AA7668BB44}"/>
              </a:ext>
            </a:extLst>
          </p:cNvPr>
          <p:cNvSpPr txBox="1"/>
          <p:nvPr/>
        </p:nvSpPr>
        <p:spPr>
          <a:xfrm>
            <a:off x="4300295" y="4625832"/>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6658C28E-0283-FC4A-0B5C-5DCDAE0EE825}"/>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1B97234F-4121-972D-142A-35653790BFFF}"/>
              </a:ext>
            </a:extLst>
          </p:cNvPr>
          <p:cNvSpPr txBox="1"/>
          <p:nvPr/>
        </p:nvSpPr>
        <p:spPr>
          <a:xfrm>
            <a:off x="2683583" y="4163759"/>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A266EC2-2029-0C02-4116-56D7140603B0}"/>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A0E030FB-67BC-546E-A99D-10C41F6A8A3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DFCED1A8-F4A0-74EF-81A0-62573FF0B969}"/>
              </a:ext>
            </a:extLst>
          </p:cNvPr>
          <p:cNvSpPr/>
          <p:nvPr/>
        </p:nvSpPr>
        <p:spPr>
          <a:xfrm>
            <a:off x="12736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8DDE6786-40C0-06F9-CF5C-BA07DAFCB799}"/>
              </a:ext>
            </a:extLst>
          </p:cNvPr>
          <p:cNvCxnSpPr/>
          <p:nvPr/>
        </p:nvCxnSpPr>
        <p:spPr>
          <a:xfrm>
            <a:off x="973059" y="2886646"/>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CAA5059E-2CB9-4291-0468-98399C4B2773}"/>
              </a:ext>
            </a:extLst>
          </p:cNvPr>
          <p:cNvCxnSpPr>
            <a:cxnSpLocks/>
          </p:cNvCxnSpPr>
          <p:nvPr/>
        </p:nvCxnSpPr>
        <p:spPr>
          <a:xfrm>
            <a:off x="1295097" y="2865414"/>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8CE3E78D-2832-6D21-5620-AF91D0D92A40}"/>
              </a:ext>
            </a:extLst>
          </p:cNvPr>
          <p:cNvSpPr txBox="1"/>
          <p:nvPr/>
        </p:nvSpPr>
        <p:spPr>
          <a:xfrm>
            <a:off x="1173996" y="268441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009E9506-63AD-0EFC-ECF4-7CD8F23DBFF3}"/>
                  </a:ext>
                </a:extLst>
              </p:cNvPr>
              <p:cNvSpPr txBox="1"/>
              <p:nvPr/>
            </p:nvSpPr>
            <p:spPr>
              <a:xfrm>
                <a:off x="1074774" y="457026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xmlns="" xmlns:a14="http://schemas.microsoft.com/office/drawing/2010/main" id="{009E9506-63AD-0EFC-ECF4-7CD8F23DBFF3}"/>
                  </a:ext>
                </a:extLst>
              </p:cNvPr>
              <p:cNvSpPr txBox="1">
                <a:spLocks noRot="1" noChangeAspect="1" noMove="1" noResize="1" noEditPoints="1" noAdjustHandles="1" noChangeArrowheads="1" noChangeShapeType="1" noTextEdit="1"/>
              </p:cNvSpPr>
              <p:nvPr/>
            </p:nvSpPr>
            <p:spPr>
              <a:xfrm>
                <a:off x="1074774" y="4570269"/>
                <a:ext cx="867941" cy="307777"/>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3616B305-9CB0-B473-C7BF-EA4FB5BC2D55}"/>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xmlns="" xmlns:a14="http://schemas.microsoft.com/office/drawing/2010/main" id="{3616B305-9CB0-B473-C7BF-EA4FB5BC2D55}"/>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rotWithShape="0">
                <a:blip r:embed="rId5"/>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D8D8EBA8-9252-FA17-0758-3EC098D4A552}"/>
              </a:ext>
            </a:extLst>
          </p:cNvPr>
          <p:cNvCxnSpPr>
            <a:cxnSpLocks/>
          </p:cNvCxnSpPr>
          <p:nvPr/>
        </p:nvCxnSpPr>
        <p:spPr>
          <a:xfrm>
            <a:off x="1295851" y="2885809"/>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5C3BA385-0F21-9DE3-C731-2E356FD76FBC}"/>
              </a:ext>
            </a:extLst>
          </p:cNvPr>
          <p:cNvSpPr/>
          <p:nvPr/>
        </p:nvSpPr>
        <p:spPr>
          <a:xfrm>
            <a:off x="190160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2D44C00B-D931-A8A7-3AD9-75A394317A2C}"/>
              </a:ext>
            </a:extLst>
          </p:cNvPr>
          <p:cNvSpPr/>
          <p:nvPr/>
        </p:nvSpPr>
        <p:spPr>
          <a:xfrm>
            <a:off x="1314106" y="2884757"/>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FBAEB95B-710F-E24C-28C3-5A9AC998E627}"/>
              </a:ext>
            </a:extLst>
          </p:cNvPr>
          <p:cNvSpPr txBox="1"/>
          <p:nvPr/>
        </p:nvSpPr>
        <p:spPr>
          <a:xfrm>
            <a:off x="1872422" y="3579652"/>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C175C0BA-5097-143C-81A3-F410417F7E1C}"/>
                  </a:ext>
                </a:extLst>
              </p:cNvPr>
              <p:cNvSpPr txBox="1"/>
              <p:nvPr/>
            </p:nvSpPr>
            <p:spPr>
              <a:xfrm>
                <a:off x="2328284" y="3803376"/>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novo</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xmlns="" xmlns:a14="http://schemas.microsoft.com/office/drawing/2010/main" id="{C175C0BA-5097-143C-81A3-F410417F7E1C}"/>
                  </a:ext>
                </a:extLst>
              </p:cNvPr>
              <p:cNvSpPr txBox="1">
                <a:spLocks noRot="1" noChangeAspect="1" noMove="1" noResize="1" noEditPoints="1" noAdjustHandles="1" noChangeArrowheads="1" noChangeShapeType="1" noTextEdit="1"/>
              </p:cNvSpPr>
              <p:nvPr/>
            </p:nvSpPr>
            <p:spPr>
              <a:xfrm>
                <a:off x="2328284" y="3803376"/>
                <a:ext cx="756505" cy="444032"/>
              </a:xfrm>
              <a:prstGeom prst="rect">
                <a:avLst/>
              </a:prstGeom>
              <a:blipFill rotWithShape="0">
                <a:blip r:embed="rId6"/>
                <a:stretch>
                  <a:fillRect r="-29032"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7BA96501-5A5A-E5AB-9D1D-9FD5C2346EB1}"/>
              </a:ext>
            </a:extLst>
          </p:cNvPr>
          <p:cNvCxnSpPr>
            <a:cxnSpLocks/>
          </p:cNvCxnSpPr>
          <p:nvPr/>
        </p:nvCxnSpPr>
        <p:spPr>
          <a:xfrm>
            <a:off x="192484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C19EAC35-A140-C8F7-7653-05C10318AAB8}"/>
                  </a:ext>
                </a:extLst>
              </p:cNvPr>
              <p:cNvSpPr txBox="1"/>
              <p:nvPr/>
            </p:nvSpPr>
            <p:spPr>
              <a:xfrm>
                <a:off x="1703016" y="4581082"/>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xmlns="" xmlns:a14="http://schemas.microsoft.com/office/drawing/2010/main" id="{C19EAC35-A140-C8F7-7653-05C10318AAB8}"/>
                  </a:ext>
                </a:extLst>
              </p:cNvPr>
              <p:cNvSpPr txBox="1">
                <a:spLocks noRot="1" noChangeAspect="1" noMove="1" noResize="1" noEditPoints="1" noAdjustHandles="1" noChangeArrowheads="1" noChangeShapeType="1" noTextEdit="1"/>
              </p:cNvSpPr>
              <p:nvPr/>
            </p:nvSpPr>
            <p:spPr>
              <a:xfrm>
                <a:off x="1703016" y="4581082"/>
                <a:ext cx="867941" cy="307777"/>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D33E10AB-FEF7-84CD-FDCE-1ED204C52B50}"/>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4AE040C1-4906-8D50-4FF3-FA03EBBAA2E3}"/>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7D7F8FAE-E203-A39C-9C19-0BF73A9CD1A4}"/>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55A5996C-9053-5970-0342-0500D2C5EF44}"/>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A019FC8F-5684-7736-FEA0-2C289609A66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32" name="Forma Livre: Forma 40">
            <a:extLst>
              <a:ext uri="{FF2B5EF4-FFF2-40B4-BE49-F238E27FC236}">
                <a16:creationId xmlns:a16="http://schemas.microsoft.com/office/drawing/2014/main" id="{2D44C00B-D931-A8A7-3AD9-75A394317A2C}"/>
              </a:ext>
            </a:extLst>
          </p:cNvPr>
          <p:cNvSpPr/>
          <p:nvPr/>
        </p:nvSpPr>
        <p:spPr>
          <a:xfrm rot="20350615">
            <a:off x="2058423" y="3706083"/>
            <a:ext cx="310198" cy="6817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4" name="Elipse 33">
            <a:extLst>
              <a:ext uri="{FF2B5EF4-FFF2-40B4-BE49-F238E27FC236}">
                <a16:creationId xmlns:a16="http://schemas.microsoft.com/office/drawing/2014/main" id="{5C3BA385-0F21-9DE3-C731-2E356FD76FBC}"/>
              </a:ext>
            </a:extLst>
          </p:cNvPr>
          <p:cNvSpPr/>
          <p:nvPr/>
        </p:nvSpPr>
        <p:spPr>
          <a:xfrm>
            <a:off x="2445619" y="427001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Conector reto 34">
            <a:extLst>
              <a:ext uri="{FF2B5EF4-FFF2-40B4-BE49-F238E27FC236}">
                <a16:creationId xmlns:a16="http://schemas.microsoft.com/office/drawing/2014/main" id="{8DDE6786-40C0-06F9-CF5C-BA07DAFCB799}"/>
              </a:ext>
            </a:extLst>
          </p:cNvPr>
          <p:cNvCxnSpPr/>
          <p:nvPr/>
        </p:nvCxnSpPr>
        <p:spPr>
          <a:xfrm>
            <a:off x="958483" y="3773958"/>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6" name="Conector reto 35">
            <a:extLst>
              <a:ext uri="{FF2B5EF4-FFF2-40B4-BE49-F238E27FC236}">
                <a16:creationId xmlns:a16="http://schemas.microsoft.com/office/drawing/2014/main" id="{8DDE6786-40C0-06F9-CF5C-BA07DAFCB799}"/>
              </a:ext>
            </a:extLst>
          </p:cNvPr>
          <p:cNvCxnSpPr/>
          <p:nvPr/>
        </p:nvCxnSpPr>
        <p:spPr>
          <a:xfrm>
            <a:off x="968008" y="4297833"/>
            <a:ext cx="151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22445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432986"/>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id="{75B195AC-8D57-E609-4AEB-9B162275450D}"/>
                  </a:ext>
                </a:extLst>
              </p:cNvPr>
              <p:cNvSpPr txBox="1"/>
              <p:nvPr/>
            </p:nvSpPr>
            <p:spPr>
              <a:xfrm>
                <a:off x="947049" y="1980762"/>
                <a:ext cx="4078575" cy="678519"/>
              </a:xfrm>
              <a:prstGeom prst="rect">
                <a:avLst/>
              </a:prstGeom>
              <a:noFill/>
            </p:spPr>
            <p:txBody>
              <a:bodyPr wrap="square" rtlCol="0">
                <a:spAutoFit/>
              </a:bodyPr>
              <a:lstStyle/>
              <a:p>
                <a:pPr algn="ct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𝒂</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47049" y="1980762"/>
                <a:ext cx="4078575" cy="67851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 que é ditado pela </a:t>
                </a:r>
                <a:r>
                  <a:rPr lang="pt-BR" b="1" dirty="0">
                    <a:solidFill>
                      <a:srgbClr val="00B0F0"/>
                    </a:solidFill>
                  </a:rPr>
                  <a:t>taxa de aprendizagem</a:t>
                </a:r>
                <a:r>
                  <a:rPr lang="pt-BR"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2" y="1825624"/>
            <a:ext cx="6294765" cy="5032376"/>
          </a:xfrm>
        </p:spPr>
        <p:txBody>
          <a:bodyPr>
            <a:normAutofit/>
          </a:bodyPr>
          <a:lstStyle/>
          <a:p>
            <a:r>
              <a:rPr lang="pt-BR" dirty="0"/>
              <a:t>A </a:t>
            </a:r>
            <a:r>
              <a:rPr lang="pt-BR" b="0" dirty="0">
                <a:effectLst/>
              </a:rPr>
              <a:t>taxa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a:t>
            </a:r>
          </a:p>
          <a:p>
            <a:r>
              <a:rPr lang="pt-BR" dirty="0"/>
              <a:t>O valor da</a:t>
            </a:r>
            <a:r>
              <a:rPr lang="pt-BR" b="0" dirty="0">
                <a:effectLst/>
              </a:rPr>
              <a:t> </a:t>
            </a:r>
            <a:r>
              <a:rPr lang="pt-BR" b="1" dirty="0">
                <a:solidFill>
                  <a:srgbClr val="00B0F0"/>
                </a:solidFill>
                <a:effectLst/>
              </a:rPr>
              <a:t>taxa de aprendizagem</a:t>
            </a:r>
            <a:r>
              <a:rPr lang="pt-BR" b="1" dirty="0">
                <a:solidFill>
                  <a:srgbClr val="00B0F0"/>
                </a:solidFill>
              </a:rPr>
              <a:t> influencia diretamente o tamanho do passo</a:t>
            </a:r>
            <a:r>
              <a:rPr lang="pt-BR" dirty="0"/>
              <a:t> de aprendizagem.</a:t>
            </a:r>
          </a:p>
          <a:p>
            <a:r>
              <a:rPr lang="pt-BR" b="0" dirty="0">
                <a:effectLst/>
              </a:rPr>
              <a:t>Que conseque</a:t>
            </a:r>
            <a:r>
              <a:rPr lang="pt-BR" dirty="0"/>
              <a:t>ntemente,</a:t>
            </a:r>
            <a:r>
              <a:rPr lang="pt-BR" b="0" dirty="0">
                <a:effectLst/>
              </a:rPr>
              <a:t>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no algoritmo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635927" y="1825624"/>
            <a:ext cx="6364289" cy="5032376"/>
          </a:xfrm>
        </p:spPr>
        <p:txBody>
          <a:bodyPr>
            <a:normAutofit lnSpcReduction="10000"/>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muitas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996107" y="1825624"/>
            <a:ext cx="7195894" cy="5032376"/>
          </a:xfrm>
        </p:spPr>
        <p:txBody>
          <a:bodyPr>
            <a:normAutofit lnSpcReduction="10000"/>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 ou otimização.</a:t>
            </a:r>
            <a:endParaRPr lang="pt-BR" dirty="0"/>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 usando informação histórica dos gradientes.</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240443" y="2004952"/>
                <a:ext cx="7675164" cy="1466363"/>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en-US" b="1" dirty="0">
                    <a:ea typeface="Cambria Math" panose="02040503050406030204" pitchFamily="18" charset="0"/>
                  </a:rPr>
                  <a:t> </a:t>
                </a:r>
                <a14:m>
                  <m:oMath xmlns:m="http://schemas.openxmlformats.org/officeDocument/2006/math">
                    <m:r>
                      <a:rPr lang="pt-BR" b="1" i="0" dirty="0" smtClean="0">
                        <a:latin typeface="Cambria Math" panose="02040503050406030204" pitchFamily="18" charset="0"/>
                        <a:ea typeface="Cambria Math" panose="02040503050406030204" pitchFamily="18" charset="0"/>
                      </a:rPr>
                      <m:t> </m:t>
                    </m:r>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taxa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de</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aprendizagem</m:t>
                    </m:r>
                    <m:r>
                      <a:rPr lang="en-US" dirty="0">
                        <a:latin typeface="Cambria Math" panose="02040503050406030204" pitchFamily="18" charset="0"/>
                        <a:ea typeface="Cambria Math" panose="02040503050406030204" pitchFamily="18" charset="0"/>
                      </a:rPr>
                      <m:t> </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004952"/>
                <a:ext cx="7675164" cy="1466363"/>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a:t>
            </a:r>
            <a:r>
              <a:rPr lang="pt-BR" b="1" dirty="0">
                <a:solidFill>
                  <a:srgbClr val="00B0F0"/>
                </a:solidFill>
              </a:rPr>
              <a:t>pontos azuis</a:t>
            </a:r>
            <a:r>
              <a:rPr lang="pt-BR" dirty="0"/>
              <a:t>).</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pt-BR" noProof="0"/>
              <a:t>Versões do gradiente descendente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353801" cy="5032375"/>
              </a:xfrm>
            </p:spPr>
            <p:txBody>
              <a:bodyPr>
                <a:normAutofit/>
              </a:bodyPr>
              <a:lstStyle/>
              <a:p>
                <a:r>
                  <a:rPr lang="pt-BR" dirty="0"/>
                  <a:t>O GD pode ser implementado de </a:t>
                </a:r>
                <a:r>
                  <a:rPr lang="pt-BR" b="1" dirty="0"/>
                  <a:t>3 formas diferentes dependendo de como calculamos o vetor gradiente na equação de atualização dos pesos</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b="1" i="1" smtClean="0">
                              <a:latin typeface="Cambria Math" panose="02040503050406030204" pitchFamily="18" charset="0"/>
                            </a:rPr>
                          </m:ctrlPr>
                        </m:sSupPr>
                        <m:e>
                          <m:r>
                            <a:rPr lang="pt-BR" b="1" i="1" smtClean="0">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 e </a:t>
                </a:r>
                <a14:m>
                  <m:oMath xmlns:m="http://schemas.openxmlformats.org/officeDocument/2006/math">
                    <m:r>
                      <a:rPr lang="pt-BR" b="1" i="1">
                        <a:latin typeface="Cambria Math" panose="02040503050406030204" pitchFamily="18" charset="0"/>
                      </a:rPr>
                      <m:t>𝒂</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110679" y="3108768"/>
            <a:ext cx="164878" cy="457334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
                      <m:f>
                        <m:fPr>
                          <m:ctrlPr>
                            <a:rPr lang="pt-BR" i="0" smtClean="0">
                              <a:latin typeface="Cambria Math" panose="02040503050406030204" pitchFamily="18" charset="0"/>
                            </a:rPr>
                          </m:ctrlPr>
                        </m:fPr>
                        <m:num>
                          <m:r>
                            <a:rPr lang="pt-BR" i="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smtClean="0">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i="1" smtClean="0">
                              <a:latin typeface="Cambria Math" panose="02040503050406030204" pitchFamily="18" charset="0"/>
                            </a:rPr>
                          </m:ctrlPr>
                        </m:dPr>
                        <m:e>
                          <m:f>
                            <m:fPr>
                              <m:ctrlPr>
                                <a:rPr lang="pt-BR" smtClean="0">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smtClean="0">
                                          <a:latin typeface="Cambria Math" panose="02040503050406030204" pitchFamily="18" charset="0"/>
                                        </a:rPr>
                                      </m:ctrlPr>
                                    </m:dPr>
                                    <m:e>
                                      <m:r>
                                        <a:rPr lang="pt-BR" b="0"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a:latin typeface="Cambria Math" panose="02040503050406030204" pitchFamily="18" charset="0"/>
                                </a:rPr>
                              </m:ctrlPr>
                            </m:dPr>
                            <m:e>
                              <m:f>
                                <m:fPr>
                                  <m:ctrlPr>
                                    <a:rPr lang="pt-BR">
                                      <a:latin typeface="Cambria Math" panose="02040503050406030204" pitchFamily="18" charset="0"/>
                                    </a:rPr>
                                  </m:ctrlPr>
                                </m:fPr>
                                <m:num>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a:latin typeface="Cambria Math" panose="02040503050406030204" pitchFamily="18" charset="0"/>
                                            </a:rPr>
                                          </m:ctrlPr>
                                        </m:dPr>
                                        <m:e>
                                          <m:r>
                                            <a:rPr lang="pt-BR">
                                              <a:latin typeface="Cambria Math" panose="02040503050406030204" pitchFamily="18" charset="0"/>
                                            </a:rPr>
                                            <m:t>𝑦</m:t>
                                          </m:r>
                                          <m:d>
                                            <m:dPr>
                                              <m:ctrlPr>
                                                <a:rPr lang="pt-BR">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acc>
                                                    <m:accPr>
                                                      <m:chr m:val="̂"/>
                                                      <m:ctrlPr>
                                                        <a:rPr lang="pt-BR">
                                                          <a:latin typeface="Cambria Math" panose="02040503050406030204" pitchFamily="18" charset="0"/>
                                                        </a:rPr>
                                                      </m:ctrlPr>
                                                    </m:accPr>
                                                    <m:e>
                                                      <m:r>
                                                        <a:rPr lang="pt-BR">
                                                          <a:latin typeface="Cambria Math" panose="02040503050406030204" pitchFamily="18" charset="0"/>
                                                        </a:rPr>
                                                        <m:t>𝑦</m:t>
                                                      </m:r>
                                                    </m:e>
                                                  </m:acc>
                                                  <m:d>
                                                    <m:dPr>
                                                      <m:ctrlPr>
                                                        <a:rPr lang="pt-BR">
                                                          <a:latin typeface="Cambria Math" panose="02040503050406030204" pitchFamily="18" charset="0"/>
                                                        </a:rPr>
                                                      </m:ctrlPr>
                                                    </m:dPr>
                                                    <m:e>
                                                      <m:r>
                                                        <a:rPr lang="pt-BR">
                                                          <a:latin typeface="Cambria Math" panose="02040503050406030204" pitchFamily="18" charset="0"/>
                                                        </a:rPr>
                                                        <m:t>𝑛</m:t>
                                                      </m:r>
                                                    </m:e>
                                                  </m:d>
                                                </m:e>
                                              </m:groupChr>
                                            </m:e>
                                            <m:lim>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lim>
                                          </m:limLow>
                                        </m:e>
                                      </m:d>
                                    </m:e>
                                    <m:sup>
                                      <m:r>
                                        <a:rPr lang="pt-BR" b="0" i="1" smtClean="0">
                                          <a:latin typeface="Cambria Math" panose="02040503050406030204" pitchFamily="18" charset="0"/>
                                        </a:rPr>
                                        <m:t>2</m:t>
                                      </m:r>
                                    </m:sup>
                                  </m:sSup>
                                </m:num>
                                <m:den>
                                  <m:r>
                                    <a:rPr lang="pt-BR">
                                      <a:latin typeface="Cambria Math" panose="02040503050406030204" pitchFamily="18" charset="0"/>
                                    </a:rPr>
                                    <m:t>𝜕</m:t>
                                  </m:r>
                                  <m:r>
                                    <a:rPr lang="pt-BR" b="1">
                                      <a:latin typeface="Cambria Math" panose="02040503050406030204" pitchFamily="18" charset="0"/>
                                    </a:rPr>
                                    <m:t>𝒂</m:t>
                                  </m:r>
                                </m:den>
                              </m:f>
                            </m:e>
                          </m:d>
                        </m:e>
                      </m:nary>
                    </m:oMath>
                  </m:oMathPara>
                </a14:m>
                <a:endParaRPr lang="pt-BR" b="1" dirty="0">
                  <a:latin typeface="Cambria Math" panose="02040503050406030204" pitchFamily="18" charset="0"/>
                </a:endParaRPr>
              </a:p>
              <a:p>
                <a:pPr marL="0" indent="0">
                  <a:buNone/>
                </a:pPr>
                <a14:m>
                  <m:oMathPara xmlns:m="http://schemas.openxmlformats.org/officeDocument/2006/math">
                    <m:oMath>
                      <m:r>
                        <a:rPr lang="pt-BR" b="1" smtClean="0">
                          <a:latin typeface="Cambria Math" panose="02040503050406030204" pitchFamily="18" charset="0"/>
                        </a:rPr>
                        <m:t>=</m:t>
                      </m:r>
                      <m:r>
                        <a:rPr lang="pt-BR" b="0"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smtClean="0">
                                  <a:latin typeface="Cambria Math" panose="02040503050406030204" pitchFamily="18" charset="0"/>
                                </a:rPr>
                              </m:ctrlPr>
                            </m:dPr>
                            <m:e>
                              <m:r>
                                <a:rPr lang="pt-BR"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smtClean="0">
                              <a:latin typeface="Cambria Math" panose="02040503050406030204" pitchFamily="18" charset="0"/>
                            </a:rPr>
                          </m:ctrlPr>
                        </m:sSupPr>
                        <m:e>
                          <m:r>
                            <a:rPr lang="pt-BR"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b="1" smtClean="0">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b="1" smtClean="0">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individuais </a:t>
                </a:r>
                <a:r>
                  <a:rPr lang="pt-BR" dirty="0"/>
                  <a:t>de todos os exemplos de treinamento.</a:t>
                </a:r>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3"/>
                <a:stretch>
                  <a:fillRect l="-913" t="-204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E2087D00-439A-0E0E-1C8F-E952F9A1797C}"/>
              </a:ext>
            </a:extLst>
          </p:cNvPr>
          <p:cNvSpPr txBox="1"/>
          <p:nvPr/>
        </p:nvSpPr>
        <p:spPr>
          <a:xfrm>
            <a:off x="7897042" y="6581001"/>
            <a:ext cx="4294958" cy="276999"/>
          </a:xfrm>
          <a:prstGeom prst="rect">
            <a:avLst/>
          </a:prstGeom>
          <a:noFill/>
        </p:spPr>
        <p:txBody>
          <a:bodyPr wrap="none" rtlCol="0">
            <a:spAutoFit/>
          </a:bodyPr>
          <a:lstStyle/>
          <a:p>
            <a:r>
              <a:rPr lang="pt-BR" sz="1200" dirty="0"/>
              <a:t>Detalhes sobre como encontrar o vetor gradiente estão no Anexo I</a:t>
            </a:r>
            <a:endParaRPr lang="en-US" sz="1200" dirty="0"/>
          </a:p>
        </p:txBody>
      </p:sp>
    </p:spTree>
    <p:extLst>
      <p:ext uri="{BB962C8B-B14F-4D97-AF65-F5344CB8AC3E}">
        <p14:creationId xmlns:p14="http://schemas.microsoft.com/office/powerpoint/2010/main" val="558431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
                      <m:f>
                        <m:fPr>
                          <m:ctrlPr>
                            <a:rPr lang="pt-BR" sz="2600" i="0" noProof="0" smtClean="0">
                              <a:latin typeface="Cambria Math" panose="02040503050406030204" pitchFamily="18" charset="0"/>
                            </a:rPr>
                          </m:ctrlPr>
                        </m:fPr>
                        <m:num>
                          <m:r>
                            <a:rPr lang="pt-BR" sz="2600" i="0" noProof="0" smtClean="0">
                              <a:latin typeface="Cambria Math" panose="02040503050406030204" pitchFamily="18" charset="0"/>
                            </a:rPr>
                            <m:t>𝜕</m:t>
                          </m:r>
                          <m:sSub>
                            <m:sSubPr>
                              <m:ctrlPr>
                                <a:rPr lang="pt-BR" sz="2600" noProof="0" smtClean="0">
                                  <a:latin typeface="Cambria Math" panose="02040503050406030204" pitchFamily="18" charset="0"/>
                                </a:rPr>
                              </m:ctrlPr>
                            </m:sSubPr>
                            <m:e>
                              <m:r>
                                <a:rPr lang="pt-BR" sz="2600" noProof="0" smtClean="0">
                                  <a:latin typeface="Cambria Math" panose="02040503050406030204" pitchFamily="18" charset="0"/>
                                </a:rPr>
                                <m:t>𝐽</m:t>
                              </m:r>
                            </m:e>
                            <m:sub>
                              <m:r>
                                <a:rPr lang="pt-BR" sz="2600" noProof="0" smtClean="0">
                                  <a:latin typeface="Cambria Math" panose="02040503050406030204" pitchFamily="18" charset="0"/>
                                </a:rPr>
                                <m:t>𝑒</m:t>
                              </m:r>
                            </m:sub>
                          </m:sSub>
                          <m:d>
                            <m:dPr>
                              <m:ctrlPr>
                                <a:rPr lang="pt-BR" sz="2600" b="1" noProof="0" smtClean="0">
                                  <a:latin typeface="Cambria Math" panose="02040503050406030204" pitchFamily="18" charset="0"/>
                                </a:rPr>
                              </m:ctrlPr>
                            </m:dPr>
                            <m:e>
                              <m:r>
                                <a:rPr lang="pt-BR" sz="2600" b="1" noProof="0" smtClean="0">
                                  <a:latin typeface="Cambria Math" panose="02040503050406030204" pitchFamily="18" charset="0"/>
                                </a:rPr>
                                <m:t>𝒂</m:t>
                              </m:r>
                            </m:e>
                          </m:d>
                        </m:num>
                        <m:den>
                          <m:r>
                            <a:rPr lang="pt-BR" sz="2600" noProof="0" smtClean="0">
                              <a:latin typeface="Cambria Math" panose="02040503050406030204" pitchFamily="18" charset="0"/>
                            </a:rPr>
                            <m:t>𝜕</m:t>
                          </m:r>
                          <m:r>
                            <a:rPr lang="pt-BR" sz="2600" b="1" noProof="0" smtClean="0">
                              <a:latin typeface="Cambria Math" panose="02040503050406030204" pitchFamily="18" charset="0"/>
                            </a:rPr>
                            <m:t>𝒂</m:t>
                          </m:r>
                        </m:den>
                      </m:f>
                      <m:r>
                        <a:rPr lang="pt-BR" sz="2600" b="1" noProof="0" smtClean="0">
                          <a:latin typeface="Cambria Math" panose="02040503050406030204" pitchFamily="18" charset="0"/>
                        </a:rPr>
                        <m:t>=</m:t>
                      </m:r>
                      <m:r>
                        <a:rPr lang="pt-BR" sz="2600" b="0" noProof="0" smtClean="0">
                          <a:latin typeface="Cambria Math" panose="02040503050406030204" pitchFamily="18" charset="0"/>
                        </a:rPr>
                        <m:t>−</m:t>
                      </m:r>
                      <m:f>
                        <m:fPr>
                          <m:ctrlPr>
                            <a:rPr lang="pt-BR" sz="2600" b="0" noProof="0" smtClean="0">
                              <a:latin typeface="Cambria Math" panose="02040503050406030204" pitchFamily="18" charset="0"/>
                            </a:rPr>
                          </m:ctrlPr>
                        </m:fPr>
                        <m:num>
                          <m:r>
                            <a:rPr lang="pt-BR" sz="2600" b="0" noProof="0" smtClean="0">
                              <a:latin typeface="Cambria Math" panose="02040503050406030204" pitchFamily="18" charset="0"/>
                            </a:rPr>
                            <m:t>2</m:t>
                          </m:r>
                        </m:num>
                        <m:den>
                          <m:r>
                            <a:rPr lang="pt-BR" sz="2600" noProof="0" smtClean="0">
                              <a:latin typeface="Cambria Math" panose="02040503050406030204" pitchFamily="18" charset="0"/>
                            </a:rPr>
                            <m:t>𝑁</m:t>
                          </m:r>
                        </m:den>
                      </m:f>
                      <m:nary>
                        <m:naryPr>
                          <m:chr m:val="∑"/>
                          <m:ctrlPr>
                            <a:rPr lang="pt-BR" sz="2600" b="0" noProof="0" smtClean="0">
                              <a:latin typeface="Cambria Math" panose="02040503050406030204" pitchFamily="18" charset="0"/>
                            </a:rPr>
                          </m:ctrlPr>
                        </m:naryPr>
                        <m:sub>
                          <m:r>
                            <a:rPr lang="pt-BR" sz="2600" b="0" noProof="0" smtClean="0">
                              <a:latin typeface="Cambria Math" panose="02040503050406030204" pitchFamily="18" charset="0"/>
                            </a:rPr>
                            <m:t>𝑛</m:t>
                          </m:r>
                          <m:r>
                            <a:rPr lang="pt-BR" sz="2600" noProof="0" smtClean="0">
                              <a:latin typeface="Cambria Math" panose="02040503050406030204" pitchFamily="18" charset="0"/>
                            </a:rPr>
                            <m:t>=0</m:t>
                          </m:r>
                        </m:sub>
                        <m:sup>
                          <m:r>
                            <a:rPr lang="pt-BR" sz="2600" noProof="0" smtClean="0">
                              <a:latin typeface="Cambria Math" panose="02040503050406030204" pitchFamily="18" charset="0"/>
                            </a:rPr>
                            <m:t>𝑁</m:t>
                          </m:r>
                          <m:r>
                            <a:rPr lang="pt-BR" sz="2600" noProof="0" smtClean="0">
                              <a:latin typeface="Cambria Math" panose="02040503050406030204" pitchFamily="18" charset="0"/>
                            </a:rPr>
                            <m:t>−1</m:t>
                          </m:r>
                        </m:sup>
                        <m:e>
                          <m:d>
                            <m:dPr>
                              <m:begChr m:val="["/>
                              <m:endChr m:val="]"/>
                              <m:ctrlPr>
                                <a:rPr lang="pt-BR" sz="2600" noProof="0" smtClean="0">
                                  <a:latin typeface="Cambria Math" panose="02040503050406030204" pitchFamily="18" charset="0"/>
                                </a:rPr>
                              </m:ctrlPr>
                            </m:dPr>
                            <m:e>
                              <m:r>
                                <a:rPr lang="pt-BR" sz="2600" noProof="0" smtClean="0">
                                  <a:latin typeface="Cambria Math" panose="02040503050406030204" pitchFamily="18" charset="0"/>
                                </a:rPr>
                                <m:t>𝑦</m:t>
                              </m:r>
                              <m:d>
                                <m:dPr>
                                  <m:ctrlPr>
                                    <a:rPr lang="pt-BR" sz="2600" b="0" noProof="0" smtClean="0">
                                      <a:latin typeface="Cambria Math" panose="02040503050406030204" pitchFamily="18" charset="0"/>
                                    </a:rPr>
                                  </m:ctrlPr>
                                </m:dPr>
                                <m:e>
                                  <m:r>
                                    <a:rPr lang="pt-BR" sz="2600" b="0" noProof="0" smtClean="0">
                                      <a:latin typeface="Cambria Math" panose="02040503050406030204" pitchFamily="18" charset="0"/>
                                    </a:rPr>
                                    <m:t>𝑛</m:t>
                                  </m:r>
                                </m:e>
                              </m:d>
                              <m:r>
                                <a:rPr lang="pt-BR" sz="2600" noProof="0" smtClean="0">
                                  <a:latin typeface="Cambria Math" panose="02040503050406030204" pitchFamily="18" charset="0"/>
                                </a:rPr>
                                <m:t>−</m:t>
                              </m:r>
                              <m:acc>
                                <m:accPr>
                                  <m:chr m:val="̂"/>
                                  <m:ctrlPr>
                                    <a:rPr lang="pt-BR" sz="2600" noProof="0" smtClean="0">
                                      <a:latin typeface="Cambria Math" panose="02040503050406030204" pitchFamily="18" charset="0"/>
                                    </a:rPr>
                                  </m:ctrlPr>
                                </m:accPr>
                                <m:e>
                                  <m:r>
                                    <a:rPr lang="pt-BR" sz="2600" noProof="0" smtClean="0">
                                      <a:latin typeface="Cambria Math" panose="02040503050406030204" pitchFamily="18" charset="0"/>
                                    </a:rPr>
                                    <m:t>𝑦</m:t>
                                  </m:r>
                                </m:e>
                              </m:acc>
                              <m:d>
                                <m:dPr>
                                  <m:ctrlPr>
                                    <a:rPr lang="pt-BR" sz="2600" noProof="0" smtClean="0">
                                      <a:latin typeface="Cambria Math" panose="02040503050406030204" pitchFamily="18" charset="0"/>
                                    </a:rPr>
                                  </m:ctrlPr>
                                </m:dPr>
                                <m:e>
                                  <m:r>
                                    <a:rPr lang="pt-BR" sz="2600" noProof="0" smtClean="0">
                                      <a:latin typeface="Cambria Math" panose="02040503050406030204" pitchFamily="18" charset="0"/>
                                    </a:rPr>
                                    <m:t>𝑛</m:t>
                                  </m:r>
                                </m:e>
                              </m:d>
                            </m:e>
                          </m:d>
                          <m:r>
                            <a:rPr lang="pt-BR" sz="2600" b="1" noProof="0" smtClean="0">
                              <a:latin typeface="Cambria Math" panose="02040503050406030204" pitchFamily="18" charset="0"/>
                            </a:rPr>
                            <m:t>𝒙</m:t>
                          </m:r>
                          <m:d>
                            <m:dPr>
                              <m:ctrlPr>
                                <a:rPr lang="pt-BR" sz="2600" b="0" noProof="0" smtClean="0">
                                  <a:latin typeface="Cambria Math" panose="02040503050406030204" pitchFamily="18" charset="0"/>
                                </a:rPr>
                              </m:ctrlPr>
                            </m:dPr>
                            <m:e>
                              <m:r>
                                <a:rPr lang="pt-BR" sz="2600" b="0" noProof="0" smtClean="0">
                                  <a:latin typeface="Cambria Math" panose="02040503050406030204" pitchFamily="18" charset="0"/>
                                </a:rPr>
                                <m:t>𝑛</m:t>
                              </m:r>
                            </m:e>
                          </m:d>
                        </m:e>
                      </m:nary>
                      <m:r>
                        <a:rPr lang="pt-BR" sz="2600" b="0" i="1" noProof="0" smtClean="0">
                          <a:latin typeface="Cambria Math" panose="02040503050406030204" pitchFamily="18" charset="0"/>
                          <a:ea typeface="Cambria Math" panose="02040503050406030204" pitchFamily="18" charset="0"/>
                        </a:rPr>
                        <m:t>≈</m:t>
                      </m:r>
                      <m:sSub>
                        <m:sSubPr>
                          <m:ctrlPr>
                            <a:rPr lang="pt-BR" sz="2600" i="1" noProof="0">
                              <a:latin typeface="Cambria Math" panose="02040503050406030204" pitchFamily="18" charset="0"/>
                            </a:rPr>
                          </m:ctrlPr>
                        </m:sSubPr>
                        <m:e>
                          <m:f>
                            <m:fPr>
                              <m:ctrlPr>
                                <a:rPr lang="pt-BR" sz="2600" noProof="0">
                                  <a:latin typeface="Cambria Math" panose="02040503050406030204" pitchFamily="18" charset="0"/>
                                </a:rPr>
                              </m:ctrlPr>
                            </m:fPr>
                            <m:num>
                              <m:r>
                                <a:rPr lang="pt-BR" sz="2600" noProof="0">
                                  <a:latin typeface="Cambria Math" panose="02040503050406030204" pitchFamily="18" charset="0"/>
                                </a:rPr>
                                <m:t>𝜕</m:t>
                              </m:r>
                              <m:sSub>
                                <m:sSubPr>
                                  <m:ctrlPr>
                                    <a:rPr lang="pt-BR" sz="2600" noProof="0">
                                      <a:latin typeface="Cambria Math" panose="02040503050406030204" pitchFamily="18" charset="0"/>
                                    </a:rPr>
                                  </m:ctrlPr>
                                </m:sSubPr>
                                <m:e>
                                  <m:r>
                                    <a:rPr lang="pt-BR" sz="2600" noProof="0">
                                      <a:latin typeface="Cambria Math" panose="02040503050406030204" pitchFamily="18" charset="0"/>
                                    </a:rPr>
                                    <m:t>𝐽</m:t>
                                  </m:r>
                                </m:e>
                                <m:sub>
                                  <m:r>
                                    <a:rPr lang="pt-BR" sz="2600" noProof="0">
                                      <a:latin typeface="Cambria Math" panose="02040503050406030204" pitchFamily="18" charset="0"/>
                                    </a:rPr>
                                    <m:t>𝑒</m:t>
                                  </m:r>
                                </m:sub>
                              </m:sSub>
                              <m:d>
                                <m:dPr>
                                  <m:ctrlPr>
                                    <a:rPr lang="pt-BR" sz="2600" b="1" noProof="0">
                                      <a:latin typeface="Cambria Math" panose="02040503050406030204" pitchFamily="18" charset="0"/>
                                    </a:rPr>
                                  </m:ctrlPr>
                                </m:dPr>
                                <m:e>
                                  <m:r>
                                    <a:rPr lang="pt-BR" sz="2600" b="1" noProof="0">
                                      <a:latin typeface="Cambria Math" panose="02040503050406030204" pitchFamily="18" charset="0"/>
                                    </a:rPr>
                                    <m:t>𝒂</m:t>
                                  </m:r>
                                </m:e>
                              </m:d>
                            </m:num>
                            <m:den>
                              <m:r>
                                <a:rPr lang="pt-BR" sz="2600" noProof="0">
                                  <a:latin typeface="Cambria Math" panose="02040503050406030204" pitchFamily="18" charset="0"/>
                                </a:rPr>
                                <m:t>𝜕</m:t>
                              </m:r>
                              <m:r>
                                <a:rPr lang="pt-BR" sz="2600" b="1" noProof="0">
                                  <a:latin typeface="Cambria Math" panose="02040503050406030204" pitchFamily="18" charset="0"/>
                                </a:rPr>
                                <m:t>𝒂</m:t>
                              </m:r>
                            </m:den>
                          </m:f>
                        </m:e>
                        <m:sub>
                          <m:r>
                            <m:rPr>
                              <m:sty m:val="p"/>
                            </m:rPr>
                            <a:rPr lang="pt-BR" sz="2600" b="0" i="0" noProof="0" smtClean="0">
                              <a:latin typeface="Cambria Math" panose="02040503050406030204" pitchFamily="18" charset="0"/>
                            </a:rPr>
                            <m:t>verdadeiro</m:t>
                          </m:r>
                        </m:sub>
                      </m:sSub>
                      <m:r>
                        <a:rPr lang="pt-BR" sz="2600" b="0" i="1" noProof="0" smtClean="0">
                          <a:latin typeface="Cambria Math" panose="02040503050406030204" pitchFamily="18" charset="0"/>
                        </a:rPr>
                        <m:t>+</m:t>
                      </m:r>
                      <m:r>
                        <m:rPr>
                          <m:sty m:val="p"/>
                        </m:rPr>
                        <a:rPr lang="pt-BR" sz="2600" b="0" i="0" noProof="0" smtClean="0">
                          <a:latin typeface="Cambria Math" panose="02040503050406030204" pitchFamily="18" charset="0"/>
                        </a:rPr>
                        <m:t>ru</m:t>
                      </m:r>
                      <m:r>
                        <a:rPr lang="pt-BR" sz="2600" b="0" i="0" noProof="0" smtClean="0">
                          <a:latin typeface="Cambria Math" panose="02040503050406030204" pitchFamily="18" charset="0"/>
                        </a:rPr>
                        <m:t>í</m:t>
                      </m:r>
                      <m:r>
                        <m:rPr>
                          <m:sty m:val="p"/>
                        </m:rPr>
                        <a:rPr lang="pt-BR" sz="2600" b="0" i="0" noProof="0" smtClean="0">
                          <a:latin typeface="Cambria Math" panose="02040503050406030204" pitchFamily="18" charset="0"/>
                        </a:rPr>
                        <m:t>do</m:t>
                      </m:r>
                      <m:r>
                        <a:rPr lang="pt-BR" sz="2600" b="0" i="0" noProof="0" smtClean="0">
                          <a:latin typeface="Cambria Math" panose="02040503050406030204" pitchFamily="18" charset="0"/>
                        </a:rPr>
                        <m:t>.</m:t>
                      </m:r>
                    </m:oMath>
                  </m:oMathPara>
                </a14:m>
                <a:endParaRPr lang="pt-BR" sz="2600" noProof="0" dirty="0"/>
              </a:p>
              <a:p>
                <a:r>
                  <a:rPr lang="pt-BR" noProof="0" dirty="0"/>
                  <a:t>Cada </a:t>
                </a:r>
                <a:r>
                  <a:rPr lang="pt-BR" b="1" noProof="0" dirty="0">
                    <a:solidFill>
                      <a:srgbClr val="00B050"/>
                    </a:solidFill>
                  </a:rPr>
                  <a:t>termo do somatório </a:t>
                </a:r>
                <a:r>
                  <a:rPr lang="pt-BR" noProof="0" dirty="0"/>
                  <a:t>representa a </a:t>
                </a:r>
                <a:r>
                  <a:rPr lang="pt-BR" b="1" noProof="0" dirty="0">
                    <a:solidFill>
                      <a:srgbClr val="00B050"/>
                    </a:solidFill>
                  </a:rPr>
                  <a:t>contribuição de uma amostra para o gradiente</a:t>
                </a:r>
                <a:r>
                  <a:rPr lang="pt-BR" noProof="0" dirty="0"/>
                  <a:t>.</a:t>
                </a:r>
              </a:p>
              <a:p>
                <a:r>
                  <a:rPr lang="pt-BR" noProof="0" dirty="0"/>
                  <a:t>No contexto do GD, o termo indica a </a:t>
                </a:r>
                <a:r>
                  <a:rPr lang="pt-BR" b="1" noProof="0" dirty="0">
                    <a:solidFill>
                      <a:srgbClr val="00B0F0"/>
                    </a:solidFill>
                  </a:rPr>
                  <a:t>direção e a magnitude </a:t>
                </a:r>
                <a:r>
                  <a:rPr lang="pt-BR" b="1" noProof="0" dirty="0">
                    <a:solidFill>
                      <a:schemeClr val="accent2"/>
                    </a:solidFill>
                  </a:rPr>
                  <a:t>da contribuição de cada amostra para a atualização dos pesos</a:t>
                </a:r>
                <a:r>
                  <a:rPr lang="pt-BR" noProof="0" dirty="0"/>
                  <a:t>.</a:t>
                </a:r>
              </a:p>
              <a:p>
                <a:pPr lvl="1">
                  <a:buFont typeface="Wingdings" panose="05000000000000000000" pitchFamily="2" charset="2"/>
                  <a:buChar char="§"/>
                </a:pPr>
                <a:r>
                  <a:rPr lang="pt-BR" noProof="0" dirty="0"/>
                  <a:t>O gradiente é a </a:t>
                </a:r>
                <a:r>
                  <a:rPr lang="pt-BR" b="1" noProof="0" dirty="0">
                    <a:solidFill>
                      <a:srgbClr val="7030A0"/>
                    </a:solidFill>
                  </a:rPr>
                  <a:t>média</a:t>
                </a:r>
                <a:r>
                  <a:rPr lang="pt-BR" noProof="0" dirty="0"/>
                  <a:t> das contribuições de todas as amostras.</a:t>
                </a:r>
                <a:endParaRPr lang="pt-BR" b="1" noProof="0" dirty="0">
                  <a:solidFill>
                    <a:srgbClr val="FF0000"/>
                  </a:solidFill>
                </a:endParaRPr>
              </a:p>
              <a:p>
                <a:r>
                  <a:rPr lang="pt-BR" noProof="0" dirty="0"/>
                  <a:t>Assim, quanto </a:t>
                </a:r>
                <a:r>
                  <a:rPr lang="pt-BR" b="1" noProof="0" dirty="0">
                    <a:solidFill>
                      <a:srgbClr val="7030A0"/>
                    </a:solidFill>
                  </a:rPr>
                  <a:t>menos amostras</a:t>
                </a:r>
                <a:r>
                  <a:rPr lang="pt-BR" noProof="0" dirty="0"/>
                  <a:t>, </a:t>
                </a:r>
                <a:r>
                  <a:rPr lang="pt-BR" b="1" noProof="0" dirty="0">
                    <a:solidFill>
                      <a:srgbClr val="7030A0"/>
                    </a:solidFill>
                  </a:rPr>
                  <a:t>maior a variância </a:t>
                </a:r>
                <a:r>
                  <a:rPr lang="pt-BR" noProof="0" dirty="0"/>
                  <a:t>do </a:t>
                </a:r>
                <a:r>
                  <a:rPr lang="pt-BR" b="1" noProof="0" dirty="0">
                    <a:solidFill>
                      <a:schemeClr val="accent2"/>
                    </a:solidFill>
                  </a:rPr>
                  <a:t>gradiente estimado</a:t>
                </a:r>
                <a:r>
                  <a:rPr lang="pt-BR" noProof="0" dirty="0"/>
                  <a:t>.</a:t>
                </a:r>
              </a:p>
              <a:p>
                <a:r>
                  <a:rPr lang="pt-BR" noProof="0" dirty="0"/>
                  <a:t>É como se tivéssemos o </a:t>
                </a:r>
                <a:r>
                  <a:rPr lang="pt-BR" b="1" noProof="0" dirty="0">
                    <a:solidFill>
                      <a:srgbClr val="92D050"/>
                    </a:solidFill>
                  </a:rPr>
                  <a:t>valor verdadeiro do gradiente mais um ruído</a:t>
                </a:r>
                <a:r>
                  <a:rPr lang="pt-BR" noProof="0" dirty="0"/>
                  <a:t>, que tem variância alta quando </a:t>
                </a:r>
                <a14:m>
                  <m:oMath xmlns:m="http://schemas.openxmlformats.org/officeDocument/2006/math">
                    <m:r>
                      <a:rPr lang="pt-BR" b="0" i="1" noProof="0" smtClean="0">
                        <a:latin typeface="Cambria Math" panose="02040503050406030204" pitchFamily="18" charset="0"/>
                      </a:rPr>
                      <m:t>𝑁</m:t>
                    </m:r>
                  </m:oMath>
                </a14:m>
                <a:r>
                  <a:rPr lang="pt-BR" noProof="0" dirty="0"/>
                  <a:t> é pequeno.</a:t>
                </a:r>
              </a:p>
              <a:p>
                <a:pPr lvl="1">
                  <a:buFont typeface="Wingdings" panose="05000000000000000000" pitchFamily="2" charset="2"/>
                  <a:buChar char="§"/>
                </a:pPr>
                <a:r>
                  <a:rPr lang="pt-BR" dirty="0"/>
                  <a:t>Com poucas amostras, o gradiente estimado pode se afastar do gradiente verdadeiro.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3"/>
                <a:stretch>
                  <a:fillRect l="-913" r="-590" b="-1321"/>
                </a:stretch>
              </a:blipFill>
            </p:spPr>
            <p:txBody>
              <a:bodyPr/>
              <a:lstStyle/>
              <a:p>
                <a:r>
                  <a:rPr lang="en-US">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smtClean="0">
                              <a:latin typeface="Cambria Math" panose="02040503050406030204" pitchFamily="18" charset="0"/>
                            </a:rPr>
                          </m:ctrlPr>
                        </m:fPr>
                        <m:num>
                          <m:r>
                            <a:rPr lang="pt-BR" i="1" smtClean="0">
                              <a:latin typeface="Cambria Math" panose="02040503050406030204" pitchFamily="18" charset="0"/>
                            </a:rPr>
                            <m:t>𝜕</m:t>
                          </m:r>
                          <m:sSub>
                            <m:sSubPr>
                              <m:ctrlPr>
                                <a:rPr lang="pt-BR" i="1" smtClean="0">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smtClean="0">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i="1" smtClean="0">
                                  <a:latin typeface="Cambria Math" panose="02040503050406030204" pitchFamily="18" charset="0"/>
                                </a:rPr>
                                <m:t>𝑦</m:t>
                              </m:r>
                              <m:d>
                                <m:dPr>
                                  <m:ctrlPr>
                                    <a:rPr lang="pt-BR" i="1" smtClean="0">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smtClean="0">
                                      <a:latin typeface="Cambria Math" panose="02040503050406030204" pitchFamily="18" charset="0"/>
                                    </a:rPr>
                                  </m:ctrlPr>
                                </m:accPr>
                                <m:e>
                                  <m:r>
                                    <a:rPr lang="pt-BR" i="1" smtClean="0">
                                      <a:latin typeface="Cambria Math" panose="02040503050406030204" pitchFamily="18" charset="0"/>
                                    </a:rPr>
                                    <m:t>𝑦</m:t>
                                  </m:r>
                                </m:e>
                              </m:acc>
                              <m:d>
                                <m:dPr>
                                  <m:ctrlPr>
                                    <a:rPr lang="pt-BR" i="1" smtClean="0">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consideradas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custoso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353801" cy="5032375"/>
              </a:xfrm>
            </p:spPr>
            <p:txBody>
              <a:bodyPr>
                <a:normAutofit lnSpcReduction="10000"/>
              </a:bodyPr>
              <a:lstStyle/>
              <a:p>
                <a:pPr marL="0" indent="0">
                  <a:buNone/>
                </a:pPr>
                <a14:m>
                  <m:oMathPara xmlns:m="http://schemas.openxmlformats.org/officeDocument/2006/math">
                    <m:oMath>
                      <m:r>
                        <a:rPr lang="pt-BR" b="1" i="1" noProof="0" smtClean="0">
                          <a:latin typeface="Cambria Math" panose="02040503050406030204" pitchFamily="18" charset="0"/>
                        </a:rPr>
                        <m:t>𝒂</m:t>
                      </m:r>
                      <m:r>
                        <a:rPr lang="pt-BR" b="1" i="1" noProof="0">
                          <a:latin typeface="Cambria Math" panose="02040503050406030204" pitchFamily="18" charset="0"/>
                        </a:rPr>
                        <m:t>=</m:t>
                      </m:r>
                      <m:r>
                        <a:rPr lang="pt-BR" b="1" i="1" noProof="0">
                          <a:latin typeface="Cambria Math" panose="02040503050406030204" pitchFamily="18" charset="0"/>
                        </a:rPr>
                        <m:t>𝒂</m:t>
                      </m:r>
                      <m:r>
                        <a:rPr lang="pt-BR" b="0" i="1" noProof="0" smtClean="0">
                          <a:latin typeface="Cambria Math" panose="02040503050406030204" pitchFamily="18" charset="0"/>
                        </a:rPr>
                        <m:t>+2</m:t>
                      </m:r>
                      <m:r>
                        <a:rPr lang="pt-BR" i="1" noProof="0">
                          <a:latin typeface="Cambria Math" panose="02040503050406030204" pitchFamily="18" charset="0"/>
                          <a:ea typeface="Cambria Math" panose="02040503050406030204" pitchFamily="18" charset="0"/>
                        </a:rPr>
                        <m:t>𝛼</m:t>
                      </m:r>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𝑦</m:t>
                          </m:r>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𝑛</m:t>
                                  </m:r>
                                </m:e>
                                <m:sub>
                                  <m:r>
                                    <m:rPr>
                                      <m:sty m:val="p"/>
                                    </m:rPr>
                                    <a:rPr lang="pt-BR" b="0" i="0" noProof="0" smtClean="0">
                                      <a:latin typeface="Cambria Math" panose="02040503050406030204" pitchFamily="18" charset="0"/>
                                    </a:rPr>
                                    <m:t>random</m:t>
                                  </m:r>
                                </m:sub>
                              </m:sSub>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𝑛</m:t>
                                  </m:r>
                                </m:e>
                                <m:sub>
                                  <m:r>
                                    <m:rPr>
                                      <m:sty m:val="p"/>
                                    </m:rPr>
                                    <a:rPr lang="pt-BR" noProof="0">
                                      <a:latin typeface="Cambria Math" panose="02040503050406030204" pitchFamily="18" charset="0"/>
                                    </a:rPr>
                                    <m:t>random</m:t>
                                  </m:r>
                                </m:sub>
                              </m:sSub>
                            </m:e>
                          </m:d>
                        </m:e>
                      </m:d>
                      <m:r>
                        <a:rPr lang="pt-BR" b="1" i="1" noProof="0">
                          <a:latin typeface="Cambria Math" panose="02040503050406030204" pitchFamily="18" charset="0"/>
                        </a:rPr>
                        <m:t>𝒙</m:t>
                      </m:r>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𝑛</m:t>
                          </m:r>
                        </m:e>
                        <m:sub>
                          <m:r>
                            <m:rPr>
                              <m:sty m:val="p"/>
                            </m:rPr>
                            <a:rPr lang="pt-BR" noProof="0">
                              <a:latin typeface="Cambria Math" panose="02040503050406030204" pitchFamily="18" charset="0"/>
                            </a:rPr>
                            <m:t>random</m:t>
                          </m:r>
                        </m:sub>
                      </m:sSub>
                      <m:r>
                        <a:rPr lang="pt-BR" i="1" noProof="0">
                          <a:latin typeface="Cambria Math" panose="02040503050406030204" pitchFamily="18" charset="0"/>
                        </a:rPr>
                        <m:t>)</m:t>
                      </m:r>
                      <m:r>
                        <a:rPr lang="pt-BR" b="0" i="0" noProof="0" smtClean="0">
                          <a:latin typeface="Cambria Math" panose="02040503050406030204" pitchFamily="18" charset="0"/>
                        </a:rPr>
                        <m:t>.</m:t>
                      </m:r>
                    </m:oMath>
                  </m:oMathPara>
                </a14:m>
                <a:endParaRPr lang="pt-BR" b="0" i="0" noProof="0" dirty="0"/>
              </a:p>
              <a:p>
                <a:pPr marL="0" indent="0">
                  <a:buNone/>
                </a:pPr>
                <a:endParaRPr lang="pt-BR" sz="100" b="0" i="0" noProof="0" dirty="0"/>
              </a:p>
              <a:p>
                <a:r>
                  <a:rPr lang="pt-BR" noProof="0" dirty="0"/>
                  <a:t>Utiliza </a:t>
                </a:r>
                <a:r>
                  <a:rPr lang="pt-BR" b="1" noProof="0" dirty="0">
                    <a:solidFill>
                      <a:srgbClr val="00B050"/>
                    </a:solidFill>
                  </a:rPr>
                  <a:t>apenas uma amostra</a:t>
                </a:r>
                <a:r>
                  <a:rPr lang="pt-BR" noProof="0" dirty="0"/>
                  <a:t> de treinamento (</a:t>
                </a:r>
                <a14:m>
                  <m:oMath xmlns:m="http://schemas.openxmlformats.org/officeDocument/2006/math">
                    <m:r>
                      <m:rPr>
                        <m:sty m:val="p"/>
                      </m:rPr>
                      <a:rPr lang="pt-BR" noProof="0">
                        <a:latin typeface="Cambria Math" panose="02040503050406030204" pitchFamily="18" charset="0"/>
                      </a:rPr>
                      <m:t>M</m:t>
                    </m:r>
                    <m:r>
                      <a:rPr lang="pt-BR" noProof="0">
                        <a:latin typeface="Cambria Math" panose="02040503050406030204" pitchFamily="18" charset="0"/>
                      </a:rPr>
                      <m:t>=1</m:t>
                    </m:r>
                  </m:oMath>
                </a14:m>
                <a:r>
                  <a:rPr lang="pt-BR" noProof="0" dirty="0"/>
                  <a:t>) para calcular uma </a:t>
                </a:r>
                <a:r>
                  <a:rPr lang="pt-BR" b="1" noProof="0" dirty="0">
                    <a:solidFill>
                      <a:srgbClr val="00B050"/>
                    </a:solidFill>
                  </a:rPr>
                  <a:t>estimativa </a:t>
                </a:r>
                <a:r>
                  <a:rPr lang="pt-BR" b="1" noProof="0" dirty="0">
                    <a:solidFill>
                      <a:srgbClr val="7030A0"/>
                    </a:solidFill>
                  </a:rPr>
                  <a:t>estocástica</a:t>
                </a:r>
                <a:r>
                  <a:rPr lang="pt-BR" b="1" noProof="0" dirty="0">
                    <a:solidFill>
                      <a:srgbClr val="00B050"/>
                    </a:solidFill>
                  </a:rPr>
                  <a:t> do gradiente</a:t>
                </a:r>
                <a:r>
                  <a:rPr lang="pt-BR" noProof="0" dirty="0"/>
                  <a:t>.</a:t>
                </a:r>
              </a:p>
              <a:p>
                <a:pPr lvl="1">
                  <a:buFont typeface="Wingdings" panose="05000000000000000000" pitchFamily="2" charset="2"/>
                  <a:buChar char="§"/>
                </a:pPr>
                <a:r>
                  <a:rPr lang="pt-BR" b="1" noProof="0" dirty="0">
                    <a:solidFill>
                      <a:srgbClr val="7030A0"/>
                    </a:solidFill>
                  </a:rPr>
                  <a:t>Estocástica</a:t>
                </a:r>
                <a:r>
                  <a:rPr lang="pt-BR" noProof="0" dirty="0"/>
                  <a:t>: a cada iteração, toma-se uma amostra </a:t>
                </a:r>
                <a:r>
                  <a:rPr lang="pt-BR" b="1" noProof="0" dirty="0">
                    <a:solidFill>
                      <a:srgbClr val="00B050"/>
                    </a:solidFill>
                  </a:rPr>
                  <a:t>aleatória</a:t>
                </a:r>
                <a:r>
                  <a:rPr lang="pt-BR" noProof="0" dirty="0"/>
                  <a:t> do conjunto para atualizar </a:t>
                </a:r>
                <a14:m>
                  <m:oMath xmlns:m="http://schemas.openxmlformats.org/officeDocument/2006/math">
                    <m:r>
                      <a:rPr lang="pt-BR" b="1" i="1" noProof="0">
                        <a:latin typeface="Cambria Math" panose="02040503050406030204" pitchFamily="18" charset="0"/>
                      </a:rPr>
                      <m:t>𝒂</m:t>
                    </m:r>
                  </m:oMath>
                </a14:m>
                <a:r>
                  <a:rPr lang="pt-BR" noProof="0" dirty="0"/>
                  <a:t>.</a:t>
                </a:r>
              </a:p>
              <a:p>
                <a:pPr lvl="1">
                  <a:buFont typeface="Wingdings" panose="05000000000000000000" pitchFamily="2" charset="2"/>
                  <a:buChar char="§"/>
                </a:pPr>
                <a:r>
                  <a:rPr lang="pt-BR" dirty="0"/>
                  <a:t>Como diferentes amostras produzem diferentes estimativas, a </a:t>
                </a:r>
                <a:r>
                  <a:rPr lang="pt-BR" b="1" dirty="0">
                    <a:solidFill>
                      <a:schemeClr val="accent2"/>
                    </a:solidFill>
                  </a:rPr>
                  <a:t>estimativa do gradiente pode apontar para direções diferentes</a:t>
                </a:r>
                <a:r>
                  <a:rPr lang="pt-BR" dirty="0"/>
                  <a:t> a cada atualização.</a:t>
                </a:r>
                <a:endParaRPr lang="pt-BR" noProof="0" dirty="0"/>
              </a:p>
              <a:p>
                <a:r>
                  <a:rPr lang="pt-BR" noProof="0" dirty="0"/>
                  <a:t>Quando os </a:t>
                </a:r>
                <a:r>
                  <a:rPr lang="pt-BR" b="1" noProof="0" dirty="0">
                    <a:solidFill>
                      <a:srgbClr val="00B050"/>
                    </a:solidFill>
                  </a:rPr>
                  <a:t>d</a:t>
                </a:r>
                <a:r>
                  <a:rPr lang="pt-BR" b="1" noProof="0" dirty="0">
                    <a:solidFill>
                      <a:srgbClr val="00B050"/>
                    </a:solidFill>
                    <a:effectLst/>
                  </a:rPr>
                  <a:t>ados de treinamento estão </a:t>
                </a:r>
                <a:r>
                  <a:rPr lang="pt-BR" b="1" noProof="0" dirty="0">
                    <a:solidFill>
                      <a:schemeClr val="accent2"/>
                    </a:solidFill>
                    <a:effectLst/>
                  </a:rPr>
                  <a:t>contaminados com ruído</a:t>
                </a:r>
                <a:r>
                  <a:rPr lang="pt-BR" b="0" noProof="0" dirty="0">
                    <a:effectLst/>
                  </a:rPr>
                  <a:t>, a</a:t>
                </a:r>
                <a:r>
                  <a:rPr lang="pt-BR" noProof="0" dirty="0"/>
                  <a:t> </a:t>
                </a:r>
                <a:r>
                  <a:rPr lang="pt-BR" b="1" noProof="0" dirty="0">
                    <a:solidFill>
                      <a:srgbClr val="00B050"/>
                    </a:solidFill>
                  </a:rPr>
                  <a:t>estimativa</a:t>
                </a:r>
                <a:r>
                  <a:rPr lang="pt-BR" noProof="0" dirty="0"/>
                  <a:t> do gradiente pode apresentar </a:t>
                </a:r>
                <a:r>
                  <a:rPr lang="pt-BR" b="1" noProof="0" dirty="0">
                    <a:solidFill>
                      <a:srgbClr val="00B050"/>
                    </a:solidFill>
                  </a:rPr>
                  <a:t>maior variância</a:t>
                </a:r>
                <a:r>
                  <a:rPr lang="pt-BR" noProof="0" dirty="0"/>
                  <a:t>, tornando a </a:t>
                </a:r>
                <a:r>
                  <a:rPr lang="pt-BR" b="1" noProof="0" dirty="0">
                    <a:solidFill>
                      <a:srgbClr val="7030A0"/>
                    </a:solidFill>
                  </a:rPr>
                  <a:t>trajetória de otimização mais oscilatória</a:t>
                </a:r>
                <a:r>
                  <a:rPr lang="pt-BR" noProof="0" dirty="0"/>
                  <a:t>.</a:t>
                </a:r>
              </a:p>
              <a:p>
                <a:pPr lvl="1">
                  <a:buFont typeface="Wingdings" panose="05000000000000000000" pitchFamily="2" charset="2"/>
                  <a:buChar char="§"/>
                </a:pPr>
                <a:r>
                  <a:rPr lang="pt-BR" noProof="0" dirty="0"/>
                  <a:t>O ruído faz com que o </a:t>
                </a:r>
                <a:r>
                  <a:rPr lang="pt-BR" b="1" noProof="0" dirty="0">
                    <a:solidFill>
                      <a:srgbClr val="0070C0"/>
                    </a:solidFill>
                  </a:rPr>
                  <a:t>gradiente oscile </a:t>
                </a:r>
                <a:r>
                  <a:rPr lang="pt-BR" noProof="0" dirty="0"/>
                  <a:t>ao redor do ponto de </a:t>
                </a:r>
                <a:r>
                  <a:rPr lang="pt-BR" dirty="0"/>
                  <a:t>mínimo, fazendo com que a </a:t>
                </a:r>
                <a:r>
                  <a:rPr lang="pt-BR" b="1" dirty="0">
                    <a:solidFill>
                      <a:schemeClr val="accent2"/>
                    </a:solidFill>
                  </a:rPr>
                  <a:t>convergência</a:t>
                </a:r>
                <a:r>
                  <a:rPr lang="pt-BR" b="1" dirty="0">
                    <a:solidFill>
                      <a:srgbClr val="00B050"/>
                    </a:solidFill>
                  </a:rPr>
                  <a:t> não seja garantida</a:t>
                </a:r>
                <a:r>
                  <a:rPr lang="pt-BR" noProof="0" dirty="0"/>
                  <a:t>.</a:t>
                </a:r>
              </a:p>
              <a:p>
                <a:r>
                  <a:rPr lang="pt-BR" noProof="0" dirty="0"/>
                  <a:t>Entretanto, é mais </a:t>
                </a:r>
                <a:r>
                  <a:rPr lang="pt-BR" b="1" noProof="0" dirty="0">
                    <a:solidFill>
                      <a:srgbClr val="00B0F0"/>
                    </a:solidFill>
                  </a:rPr>
                  <a:t>rápido e usa menos CPU e memória </a:t>
                </a:r>
                <a:r>
                  <a:rPr lang="pt-BR" noProof="0" dirty="0"/>
                  <a:t>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574" b="-2785"/>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chamado de </a:t>
                </a:r>
                <a:r>
                  <a:rPr lang="pt-BR" i="1" dirty="0"/>
                  <a:t>mini-batch</a:t>
                </a:r>
                <a:r>
                  <a:rPr lang="pt-BR" dirty="0"/>
                  <a:t> </a:t>
                </a:r>
                <a14:m>
                  <m:oMath xmlns:m="http://schemas.openxmlformats.org/officeDocument/2006/math">
                    <m:r>
                      <a:rPr lang="pt-BR" b="0" i="0" smtClean="0">
                        <a:latin typeface="Cambria Math" panose="02040503050406030204" pitchFamily="18" charset="0"/>
                      </a:rPr>
                      <m:t>(</m:t>
                    </m:r>
                    <m:r>
                      <a:rPr lang="pt-BR" i="1">
                        <a:latin typeface="Cambria Math" panose="02040503050406030204" pitchFamily="18" charset="0"/>
                      </a:rPr>
                      <m:t>𝑀𝐵</m:t>
                    </m:r>
                    <m:r>
                      <a:rPr lang="pt-BR" b="0" i="1" smtClean="0">
                        <a:latin typeface="Cambria Math" panose="02040503050406030204" pitchFamily="18" charset="0"/>
                      </a:rPr>
                      <m:t>)</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Devido a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a:t>
            </a:r>
            <a:r>
              <a:rPr lang="pt-BR" sz="5400" b="1" dirty="0"/>
              <a:t>complexidade</a:t>
            </a:r>
            <a:r>
              <a:rPr lang="pt-BR" sz="5400" dirty="0"/>
              <a:t>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técnica usada para </a:t>
            </a:r>
            <a:r>
              <a:rPr lang="pt-BR" b="1" dirty="0">
                <a:solidFill>
                  <a:srgbClr val="00B0F0"/>
                </a:solidFill>
              </a:rPr>
              <a:t>avaliar</a:t>
            </a:r>
            <a:r>
              <a:rPr lang="pt-BR" dirty="0"/>
              <a:t> </a:t>
            </a:r>
            <a:r>
              <a:rPr lang="pt-BR" b="1" dirty="0">
                <a:solidFill>
                  <a:schemeClr val="accent2"/>
                </a:solidFill>
              </a:rPr>
              <a:t>a capacidade de generalização de um modelo</a:t>
            </a:r>
            <a:r>
              <a:rPr lang="pt-BR" dirty="0"/>
              <a:t>.</a:t>
            </a:r>
          </a:p>
          <a:p>
            <a:r>
              <a:rPr lang="pt-BR" b="1" dirty="0"/>
              <a:t>Objetivo</a:t>
            </a:r>
            <a:r>
              <a:rPr lang="pt-BR" dirty="0"/>
              <a:t>: </a:t>
            </a:r>
            <a:r>
              <a:rPr lang="pt-BR" b="1" dirty="0">
                <a:solidFill>
                  <a:srgbClr val="00B050"/>
                </a:solidFill>
              </a:rPr>
              <a:t>encontrar a complexidade </a:t>
            </a:r>
            <a:r>
              <a:rPr lang="pt-BR" dirty="0"/>
              <a:t>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353800" cy="5032375"/>
          </a:xfrm>
        </p:spPr>
        <p:txBody>
          <a:bodyPr/>
          <a:lstStyle/>
          <a:p>
            <a:r>
              <a:rPr lang="pt-BR" dirty="0"/>
              <a:t>Antes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481216" y="1825624"/>
            <a:ext cx="6710783" cy="5032375"/>
          </a:xfrm>
        </p:spPr>
        <p:txBody>
          <a:bodyPr>
            <a:normAutofit/>
          </a:bodyPr>
          <a:lstStyle/>
          <a:p>
            <a:r>
              <a:rPr lang="pt-BR" dirty="0"/>
              <a:t>O modelo é tão flexível (i.e., complexo) que ele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a:t>
            </a:r>
            <a:r>
              <a:rPr lang="pt-BR" b="1" dirty="0">
                <a:solidFill>
                  <a:srgbClr val="00B0F0"/>
                </a:solidFill>
              </a:rPr>
              <a:t>extremamente sensível</a:t>
            </a:r>
            <a:r>
              <a:rPr lang="pt-BR" b="1" dirty="0">
                <a:solidFill>
                  <a:srgbClr val="00B050"/>
                </a:solidFill>
              </a:rPr>
              <a:t>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006195" cy="201217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46964" y="3489952"/>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t>
            </a:r>
            <a:r>
              <a:rPr lang="pt-BR" b="1" dirty="0">
                <a:effectLst/>
              </a:rPr>
              <a:t>aprender</a:t>
            </a:r>
            <a:r>
              <a:rPr lang="pt-BR" dirty="0">
                <a:effectLst/>
              </a:rPr>
              <a:t>/</a:t>
            </a:r>
            <a:r>
              <a:rPr lang="pt-BR" b="1" dirty="0">
                <a:effectLst/>
              </a:rPr>
              <a:t>capturar o padrão geral </a:t>
            </a:r>
            <a:r>
              <a:rPr lang="pt-BR" dirty="0">
                <a:effectLst/>
              </a:rPr>
              <a:t>por trás dos dados de treinamento.</a:t>
            </a:r>
          </a:p>
          <a:p>
            <a:r>
              <a:rPr lang="pt-BR" b="1" dirty="0"/>
              <a:t>Alto viés</a:t>
            </a:r>
            <a:r>
              <a:rPr lang="pt-BR" dirty="0"/>
              <a:t>: o modelo faz uma </a:t>
            </a:r>
            <a:r>
              <a:rPr lang="pt-BR" b="1" dirty="0">
                <a:solidFill>
                  <a:srgbClr val="00B050"/>
                </a:solidFill>
              </a:rPr>
              <a:t>suposição muito forte sobre a </a:t>
            </a:r>
            <a:r>
              <a:rPr lang="pt-BR" b="1" dirty="0">
                <a:solidFill>
                  <a:srgbClr val="7030A0"/>
                </a:solidFill>
              </a:rPr>
              <a:t>forma</a:t>
            </a:r>
            <a:r>
              <a:rPr lang="pt-BR" b="1" dirty="0">
                <a:solidFill>
                  <a:srgbClr val="00B050"/>
                </a:solidFill>
              </a:rPr>
              <a:t> da função hipótese.</a:t>
            </a:r>
          </a:p>
          <a:p>
            <a:pPr lvl="1">
              <a:buFont typeface="Wingdings" panose="05000000000000000000" pitchFamily="2" charset="2"/>
              <a:buChar char="§"/>
            </a:pPr>
            <a:r>
              <a:rPr lang="pt-BR" dirty="0"/>
              <a:t>Por exemplo, assumir linearidade quando a relação é curva: reta para aproximar uma parábola.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86338"/>
            <a:ext cx="11353802" cy="1871661"/>
          </a:xfrm>
        </p:spPr>
        <p:txBody>
          <a:bodyPr>
            <a:normAutofit fontScale="92500" lnSpcReduction="2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validação e teste</a:t>
            </a:r>
            <a:r>
              <a:rPr lang="pt-BR" dirty="0"/>
              <a:t>.</a:t>
            </a:r>
          </a:p>
          <a:p>
            <a:r>
              <a:rPr lang="pt-BR" dirty="0"/>
              <a:t>Esse padrão de erros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 para deixá-lo mais representativo.</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a:t>
            </a:r>
            <a:r>
              <a:rPr lang="pt-BR" b="1" dirty="0">
                <a:solidFill>
                  <a:srgbClr val="00B0F0"/>
                </a:solidFill>
              </a:rPr>
              <a:t>tendendo a zero</a:t>
            </a:r>
            <a:r>
              <a:rPr lang="pt-BR" dirty="0"/>
              <a:t>, </a:t>
            </a:r>
            <a:r>
              <a:rPr lang="pt-BR" b="1" dirty="0"/>
              <a:t>no conjunto de treinamento</a:t>
            </a:r>
            <a:r>
              <a:rPr lang="pt-BR" dirty="0"/>
              <a:t> e </a:t>
            </a:r>
            <a:r>
              <a:rPr lang="pt-BR" b="1" dirty="0"/>
              <a:t>muito alto nos conjuntos de validação e de teste</a:t>
            </a:r>
            <a:r>
              <a:rPr lang="pt-BR" dirty="0"/>
              <a:t>.</a:t>
            </a:r>
          </a:p>
          <a:p>
            <a:r>
              <a:rPr lang="pt-BR" dirty="0"/>
              <a:t>Esse padrão de erros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867563"/>
            <a:ext cx="11216148" cy="1990437"/>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noProof="0"/>
              <a:t>Ponto de equilíbrio</a:t>
            </a:r>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a:t>
            </a:r>
            <a:r>
              <a:rPr lang="pt-BR" b="1" dirty="0">
                <a:solidFill>
                  <a:schemeClr val="accent2"/>
                </a:solidFill>
              </a:rPr>
              <a:t> erros de treinamento, validação e teste pequenos e próximos</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o quão bem ele generaliza</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a:t>
            </a:r>
            <a:r>
              <a:rPr lang="pt-BR" b="1" dirty="0">
                <a:solidFill>
                  <a:schemeClr val="accent2"/>
                </a:solidFill>
                <a:effectLst/>
              </a:rPr>
              <a:t>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dos erros de treinamento e validação </a:t>
                </a:r>
                <a:r>
                  <a:rPr lang="pt-BR" dirty="0"/>
                  <a:t>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r="-652"/>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endParaRPr lang="pt-BR" i="1" dirty="0"/>
              </a:p>
            </p:txBody>
          </p:sp>
        </mc:Choice>
        <mc:Fallback>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en-US">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endParaRPr lang="pt-BR" i="1" dirty="0"/>
              </a:p>
            </p:txBody>
          </p:sp>
        </mc:Choice>
        <mc:Fallback>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en-US">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3440" y="1825624"/>
            <a:ext cx="625856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 modelo.</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00B0F0"/>
                </a:solidFill>
              </a:rPr>
              <a:t>estabilidade</a:t>
            </a:r>
            <a:r>
              <a:rPr lang="pt-BR" b="1" dirty="0">
                <a:solidFill>
                  <a:srgbClr val="7030A0"/>
                </a:solidFill>
              </a:rPr>
              <a:t>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endParaRPr lang="pt-BR" i="1" dirty="0"/>
              </a:p>
            </p:txBody>
          </p:sp>
        </mc:Choice>
        <mc:Fallback>
          <p:sp>
            <p:nvSpPr>
              <p:cNvPr id="2" name="Título 1">
                <a:extLst>
                  <a:ext uri="{FF2B5EF4-FFF2-40B4-BE49-F238E27FC236}">
                    <a16:creationId xmlns:a16="http://schemas.microsoft.com/office/drawing/2014/main" id="{626500EB-428E-627B-4A36-F1786ED03F75}"/>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en-US">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Caso os </a:t>
            </a:r>
            <a:r>
              <a:rPr lang="pt-BR" i="1" dirty="0">
                <a:solidFill>
                  <a:srgbClr val="0F0F0F"/>
                </a:solidFill>
              </a:rPr>
              <a:t>folds</a:t>
            </a:r>
            <a:r>
              <a:rPr lang="pt-BR" dirty="0">
                <a:solidFill>
                  <a:srgbClr val="0F0F0F"/>
                </a:solidFill>
              </a:rPr>
              <a:t> não sejam representativos, temos o 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 devido a esse problema.</a:t>
            </a:r>
          </a:p>
        </p:txBody>
      </p:sp>
      <p:grpSp>
        <p:nvGrpSpPr>
          <p:cNvPr id="6" name="Agrupar 8">
            <a:extLst>
              <a:ext uri="{FF2B5EF4-FFF2-40B4-BE49-F238E27FC236}">
                <a16:creationId xmlns:a16="http://schemas.microsoft.com/office/drawing/2014/main"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619538" cy="4868781"/>
          </a:xfrm>
        </p:spPr>
        <p:txBody>
          <a:bodyPr>
            <a:normAutofit lnSpcReduction="10000"/>
          </a:bodyPr>
          <a:lstStyle/>
          <a:p>
            <a:r>
              <a:rPr lang="pt-BR" dirty="0"/>
              <a:t>A figura ao lado apresenta a média do EQM para vários graus de polinômio.</a:t>
            </a:r>
          </a:p>
          <a:p>
            <a:r>
              <a:rPr lang="pt-BR" dirty="0"/>
              <a:t>Após o grau 2, a média do EQM é baixo e praticamente constante.</a:t>
            </a:r>
          </a:p>
          <a:p>
            <a:r>
              <a:rPr lang="pt-BR" dirty="0"/>
              <a:t>Essa situação ocorre quando o número de amostras é muito maior do que a flexibilidade (e.g., o grau) do modelo.</a:t>
            </a:r>
          </a:p>
          <a:p>
            <a:pPr lvl="1">
              <a:buFont typeface="Wingdings" panose="05000000000000000000" pitchFamily="2" charset="2"/>
              <a:buChar char="§"/>
            </a:pPr>
            <a:r>
              <a:rPr lang="pt-BR" dirty="0"/>
              <a:t>O modelo não consegue memorizar todas as amostras.</a:t>
            </a:r>
          </a:p>
          <a:p>
            <a:r>
              <a:rPr lang="pt-BR" b="1" dirty="0">
                <a:solidFill>
                  <a:srgbClr val="00B050"/>
                </a:solidFill>
              </a:rPr>
              <a:t>Qual grau devemos escolher quando o erro é mínimo e praticamente constante para vários graus de polinômio?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353800" cy="5032375"/>
          </a:xfrm>
        </p:spPr>
        <p:txBody>
          <a:bodyPr>
            <a:normAutofit/>
          </a:bodyPr>
          <a:lstStyle/>
          <a:p>
            <a:r>
              <a:rPr lang="pt-BR" noProof="0" dirty="0"/>
              <a:t>A resposta é aplicar o </a:t>
            </a:r>
            <a:r>
              <a:rPr lang="pt-BR" b="1" noProof="0" dirty="0"/>
              <a:t>princípio da navalha de Occam</a:t>
            </a:r>
            <a:r>
              <a:rPr lang="pt-BR" noProof="0" dirty="0"/>
              <a:t>.</a:t>
            </a:r>
          </a:p>
          <a:p>
            <a:r>
              <a:rPr lang="pt-BR" noProof="0" dirty="0"/>
              <a:t>A </a:t>
            </a:r>
            <a:r>
              <a:rPr lang="pt-BR" b="1" noProof="0" dirty="0"/>
              <a:t>navalha de Occam </a:t>
            </a:r>
            <a:r>
              <a:rPr lang="pt-BR" noProof="0" dirty="0"/>
              <a:t>é um princípio lógico que diz que, </a:t>
            </a:r>
            <a:r>
              <a:rPr lang="pt-BR" b="1" noProof="0" dirty="0">
                <a:solidFill>
                  <a:srgbClr val="7030A0"/>
                </a:solidFill>
                <a:effectLst/>
              </a:rPr>
              <a:t>entre várias explicações igualmente plausíveis</a:t>
            </a:r>
            <a:r>
              <a:rPr lang="pt-BR" b="0" noProof="0" dirty="0">
                <a:solidFill>
                  <a:srgbClr val="0F0F0F"/>
                </a:solidFill>
                <a:effectLst/>
              </a:rPr>
              <a:t> para um conjunto de observações, a </a:t>
            </a:r>
            <a:r>
              <a:rPr lang="pt-BR" b="1" noProof="0" dirty="0">
                <a:solidFill>
                  <a:srgbClr val="7030A0"/>
                </a:solidFill>
                <a:effectLst/>
              </a:rPr>
              <a:t>mais simples deve ser preferida</a:t>
            </a:r>
            <a:r>
              <a:rPr lang="pt-BR" b="0" noProof="0" dirty="0">
                <a:solidFill>
                  <a:srgbClr val="0F0F0F"/>
                </a:solidFill>
                <a:effectLst/>
              </a:rPr>
              <a:t>.</a:t>
            </a:r>
            <a:endParaRPr lang="pt-BR" noProof="0" dirty="0"/>
          </a:p>
          <a:p>
            <a:pPr lvl="1">
              <a:buFont typeface="Wingdings" panose="05000000000000000000" pitchFamily="2" charset="2"/>
              <a:buChar char="§"/>
            </a:pPr>
            <a:r>
              <a:rPr lang="pt-BR" noProof="0" dirty="0"/>
              <a:t>Ou seja, deve-se </a:t>
            </a:r>
            <a:r>
              <a:rPr lang="pt-BR" b="1" noProof="0" dirty="0">
                <a:solidFill>
                  <a:srgbClr val="0070C0"/>
                </a:solidFill>
              </a:rPr>
              <a:t>preferir explicações mais simples às mais complexas</a:t>
            </a:r>
            <a:r>
              <a:rPr lang="pt-BR" noProof="0" dirty="0"/>
              <a:t>.</a:t>
            </a:r>
          </a:p>
          <a:p>
            <a:r>
              <a:rPr lang="pt-BR" noProof="0" dirty="0"/>
              <a:t>Portanto, aplicando a </a:t>
            </a:r>
            <a:r>
              <a:rPr lang="pt-BR" b="1" noProof="0" dirty="0"/>
              <a:t>navalha de Occam</a:t>
            </a:r>
            <a:r>
              <a:rPr lang="pt-BR" noProof="0" dirty="0"/>
              <a:t>, escolhemos a </a:t>
            </a:r>
            <a:r>
              <a:rPr lang="pt-BR" b="1" noProof="0" dirty="0">
                <a:solidFill>
                  <a:srgbClr val="002060"/>
                </a:solidFill>
              </a:rPr>
              <a:t>função hipótese polinomial</a:t>
            </a:r>
            <a:r>
              <a:rPr lang="pt-BR" b="1" noProof="0" dirty="0">
                <a:solidFill>
                  <a:srgbClr val="00B050"/>
                </a:solidFill>
              </a:rPr>
              <a:t> com menor grau</a:t>
            </a:r>
            <a:r>
              <a:rPr lang="pt-BR" noProof="0" dirty="0"/>
              <a:t> (i.e., menos complexa), </a:t>
            </a:r>
            <a:r>
              <a:rPr lang="pt-BR" b="1" noProof="0" dirty="0">
                <a:solidFill>
                  <a:srgbClr val="00B050"/>
                </a:solidFill>
              </a:rPr>
              <a:t>mas que ainda se ajusta bem ao comportamento geral dos dados</a:t>
            </a:r>
            <a:r>
              <a:rPr lang="pt-BR" noProof="0" dirty="0"/>
              <a:t>.</a:t>
            </a:r>
          </a:p>
          <a:p>
            <a:pPr lvl="1">
              <a:buFont typeface="Wingdings" panose="05000000000000000000" pitchFamily="2" charset="2"/>
              <a:buChar char="§"/>
            </a:pPr>
            <a:r>
              <a:rPr lang="pt-BR" noProof="0" dirty="0"/>
              <a:t>Ou seja, escolhemos o </a:t>
            </a:r>
            <a:r>
              <a:rPr lang="pt-BR" b="1" noProof="0" dirty="0">
                <a:solidFill>
                  <a:schemeClr val="accent2"/>
                </a:solidFill>
              </a:rPr>
              <a:t>modelo mais simples </a:t>
            </a:r>
            <a:r>
              <a:rPr lang="pt-BR" noProof="0" dirty="0"/>
              <a:t>em termos de quantidade de cálculos, </a:t>
            </a:r>
            <a:r>
              <a:rPr lang="pt-BR" b="1" noProof="0" dirty="0">
                <a:solidFill>
                  <a:schemeClr val="accent2"/>
                </a:solidFill>
              </a:rPr>
              <a:t>mas que possua uma boa capacidade de generalização</a:t>
            </a:r>
            <a:r>
              <a:rPr lang="pt-BR" noProof="0" dirty="0"/>
              <a:t>.</a:t>
            </a:r>
          </a:p>
        </p:txBody>
      </p:sp>
    </p:spTree>
    <p:extLst>
      <p:ext uri="{BB962C8B-B14F-4D97-AF65-F5344CB8AC3E}">
        <p14:creationId xmlns:p14="http://schemas.microsoft.com/office/powerpoint/2010/main" val="245174827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id="{20AB6FA0-AEEA-DD68-71A9-D05F91264E51}"/>
              </a:ext>
            </a:extLst>
          </p:cNvPr>
          <p:cNvPicPr>
            <a:picLocks noChangeAspect="1"/>
          </p:cNvPicPr>
          <p:nvPr/>
        </p:nvPicPr>
        <p:blipFill>
          <a:blip r:embed="rId3"/>
          <a:stretch>
            <a:fillRect/>
          </a:stretch>
        </p:blipFill>
        <p:spPr>
          <a:xfrm>
            <a:off x="2247921" y="4084320"/>
            <a:ext cx="2071039" cy="2753360"/>
          </a:xfrm>
          <a:prstGeom prst="rect">
            <a:avLst/>
          </a:prstGeom>
        </p:spPr>
      </p:pic>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49235" y="1825624"/>
            <a:ext cx="6642765"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 IV).</a:t>
            </a:r>
          </a:p>
        </p:txBody>
      </p:sp>
      <mc:AlternateContent xmlns:mc="http://schemas.openxmlformats.org/markup-compatibility/2006">
        <mc:Choice xmlns:a14="http://schemas.microsoft.com/office/drawing/2010/main" Requires="a14">
          <p:sp>
            <p:nvSpPr>
              <p:cNvPr id="5" name="CaixaDeTexto 4">
                <a:extLst>
                  <a:ext uri="{FF2B5EF4-FFF2-40B4-BE49-F238E27FC236}">
                    <a16:creationId xmlns:a16="http://schemas.microsoft.com/office/drawing/2014/main" id="{A5D2EFB5-F853-0ECE-6705-DF53B688DBE6}"/>
                  </a:ext>
                </a:extLst>
              </p:cNvPr>
              <p:cNvSpPr txBox="1"/>
              <p:nvPr/>
            </p:nvSpPr>
            <p:spPr>
              <a:xfrm>
                <a:off x="1146518" y="2670430"/>
                <a:ext cx="3803434" cy="147098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146518" y="267043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b="1" i="1">
                                  <a:latin typeface="Cambria Math" panose="02040503050406030204" pitchFamily="18" charset="0"/>
                                </a:rPr>
                              </m:ctrlPr>
                            </m:dPr>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id="{0DBFA6D4-9D17-89FF-09AD-0BB33A989E37}"/>
              </a:ext>
            </a:extLst>
          </p:cNvPr>
          <p:cNvSpPr/>
          <p:nvPr/>
        </p:nvSpPr>
        <p:spPr>
          <a:xfrm rot="5400000">
            <a:off x="2899256" y="42182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id="{4A11FE2E-094D-7109-7D29-CDC23773C411}"/>
              </a:ext>
            </a:extLst>
          </p:cNvPr>
          <p:cNvSpPr txBox="1"/>
          <p:nvPr/>
        </p:nvSpPr>
        <p:spPr>
          <a:xfrm>
            <a:off x="3760167" y="1450727"/>
            <a:ext cx="1546449" cy="369332"/>
          </a:xfrm>
          <a:prstGeom prst="rect">
            <a:avLst/>
          </a:prstGeom>
          <a:noFill/>
        </p:spPr>
        <p:txBody>
          <a:bodyPr wrap="none" rtlCol="0">
            <a:spAutoFit/>
          </a:bodyPr>
          <a:lstStyle/>
          <a:p>
            <a:r>
              <a:rPr lang="pt-BR" dirty="0"/>
              <a:t>Penalização L2</a:t>
            </a:r>
          </a:p>
        </p:txBody>
      </p:sp>
      <p:sp>
        <p:nvSpPr>
          <p:cNvPr id="4" name="CaixaDeTexto 3">
            <a:extLst>
              <a:ext uri="{FF2B5EF4-FFF2-40B4-BE49-F238E27FC236}">
                <a16:creationId xmlns:a16="http://schemas.microsoft.com/office/drawing/2014/main" id="{43959B52-339F-CDCA-CE87-AD5996D76152}"/>
              </a:ext>
            </a:extLst>
          </p:cNvPr>
          <p:cNvSpPr txBox="1"/>
          <p:nvPr/>
        </p:nvSpPr>
        <p:spPr>
          <a:xfrm>
            <a:off x="1437482" y="2400052"/>
            <a:ext cx="3197049" cy="261610"/>
          </a:xfrm>
          <a:prstGeom prst="rect">
            <a:avLst/>
          </a:prstGeom>
          <a:noFill/>
        </p:spPr>
        <p:txBody>
          <a:bodyPr wrap="square" rtlCol="0">
            <a:spAutoFit/>
          </a:bodyPr>
          <a:lstStyle/>
          <a:p>
            <a:pPr algn="ctr"/>
            <a:r>
              <a:rPr lang="pt-BR" sz="1100" dirty="0"/>
              <a:t>Reescrevendo como um problema de minimização</a:t>
            </a:r>
            <a:endParaRPr lang="en-US" sz="1100" dirty="0"/>
          </a:p>
        </p:txBody>
      </p:sp>
    </p:spTree>
    <p:extLst>
      <p:ext uri="{BB962C8B-B14F-4D97-AF65-F5344CB8AC3E}">
        <p14:creationId xmlns:p14="http://schemas.microsoft.com/office/powerpoint/2010/main" val="16683456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30312" y="1825624"/>
            <a:ext cx="6661688"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1" dirty="0">
                <a:solidFill>
                  <a:srgbClr val="00B050"/>
                </a:solidFill>
              </a:rPr>
              <a:t>I</a:t>
            </a:r>
            <a:r>
              <a:rPr lang="pt-BR" b="1" dirty="0">
                <a:solidFill>
                  <a:srgbClr val="00B050"/>
                </a:solidFill>
                <a:effectLst/>
              </a:rPr>
              <a:t>nterrompe o treinamento do modelo assim que o desempenho no conjunto de validação começa a piorar</a:t>
            </a:r>
            <a:r>
              <a:rPr lang="pt-BR" b="0" dirty="0">
                <a:effectLst/>
              </a:rPr>
              <a:t> (início do sobreajuste</a:t>
            </a:r>
            <a:r>
              <a:rPr lang="pt-BR" dirty="0"/>
              <a:t>).</a:t>
            </a:r>
            <a:endParaRPr lang="pt-BR" b="0" dirty="0">
              <a:effectLst/>
            </a:endParaRP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o suficiente para aprender o padrão geral, levando ao </a:t>
            </a:r>
            <a:r>
              <a:rPr lang="pt-BR" b="1" dirty="0">
                <a:solidFill>
                  <a:srgbClr val="FF0000"/>
                </a:solidFill>
                <a:effectLst/>
              </a:rPr>
              <a:t>subajuste</a:t>
            </a:r>
            <a:r>
              <a:rPr lang="pt-BR" b="0" dirty="0">
                <a:solidFill>
                  <a:srgbClr val="1F1F1F"/>
                </a:solidFill>
                <a:effectLst/>
              </a:rPr>
              <a:t>.</a:t>
            </a:r>
          </a:p>
          <a:p>
            <a:pPr lvl="2">
              <a:buFont typeface="Courier New" panose="02070309020205020404" pitchFamily="49" charset="0"/>
              <a:buChar char="o"/>
            </a:pPr>
            <a:r>
              <a:rPr lang="pt-BR" dirty="0">
                <a:solidFill>
                  <a:srgbClr val="1F1F1F"/>
                </a:solidFill>
              </a:rPr>
              <a:t>Cuidado, pois o treinamento pode ser encerrado precocemente devido à oscilação do erro.</a:t>
            </a:r>
            <a:endParaRPr lang="pt-BR" dirty="0">
              <a:effectLst/>
            </a:endParaRPr>
          </a:p>
        </p:txBody>
      </p:sp>
      <p:grpSp>
        <p:nvGrpSpPr>
          <p:cNvPr id="8" name="Agrupar 7">
            <a:extLst>
              <a:ext uri="{FF2B5EF4-FFF2-40B4-BE49-F238E27FC236}">
                <a16:creationId xmlns:a16="http://schemas.microsoft.com/office/drawing/2014/main"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353801" cy="5032375"/>
          </a:xfrm>
        </p:spPr>
        <p:txBody>
          <a:bodyPr>
            <a:normAutofit lnSpcReduction="10000"/>
          </a:bodyPr>
          <a:lstStyle/>
          <a:p>
            <a:r>
              <a:rPr lang="pt-BR" noProof="0"/>
              <a:t>NP1: 28/09/2026 - Sala I-5</a:t>
            </a:r>
          </a:p>
          <a:p>
            <a:r>
              <a:rPr lang="pt-BR" noProof="0" dirty="0"/>
              <a:t>A prova será em papel.</a:t>
            </a:r>
          </a:p>
          <a:p>
            <a:r>
              <a:rPr lang="pt-BR" noProof="0" dirty="0"/>
              <a:t>Ela conterá apenas questões de múltipla escolha (1 item correto por questão).</a:t>
            </a:r>
          </a:p>
          <a:p>
            <a:r>
              <a:rPr lang="pt-BR" noProof="0" dirty="0"/>
              <a:t>Além de questões teóricas, podem haver questões práticas.</a:t>
            </a:r>
          </a:p>
          <a:p>
            <a:r>
              <a:rPr lang="pt-BR" noProof="0" dirty="0"/>
              <a:t>Estudem o material, não só as listas.</a:t>
            </a:r>
          </a:p>
          <a:p>
            <a:r>
              <a:rPr lang="pt-BR" noProof="0" dirty="0"/>
              <a:t>Vocês podem trazer uma folha com anotações escritas à mão, mas só podem usar a parte da FRENTE de uma folha A4. </a:t>
            </a:r>
          </a:p>
          <a:p>
            <a:r>
              <a:rPr lang="pt-BR" b="1" noProof="0" dirty="0">
                <a:solidFill>
                  <a:srgbClr val="7030A0"/>
                </a:solidFill>
              </a:rPr>
              <a:t>Alunos com anotações nos dois lados e que não forem escritas à mão terão a folha descartada.</a:t>
            </a:r>
          </a:p>
          <a:p>
            <a:r>
              <a:rPr lang="pt-BR" noProof="0" dirty="0"/>
              <a:t>Conteúdo: até o que for apresentado na aula do dia 21/09/2026.</a:t>
            </a:r>
          </a:p>
        </p:txBody>
      </p:sp>
    </p:spTree>
    <p:extLst>
      <p:ext uri="{BB962C8B-B14F-4D97-AF65-F5344CB8AC3E}">
        <p14:creationId xmlns:p14="http://schemas.microsoft.com/office/powerpoint/2010/main" val="31061024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2E5602A-661E-0742-2B1B-2D2F60E5F350}"/>
                  </a:ext>
                </a:extLst>
              </p:cNvPr>
              <p:cNvSpPr>
                <a:spLocks noGrp="1"/>
              </p:cNvSpPr>
              <p:nvPr>
                <p:ph idx="1"/>
              </p:nvPr>
            </p:nvSpPr>
            <p:spPr>
              <a:xfrm>
                <a:off x="838198" y="1825624"/>
                <a:ext cx="11353801" cy="5032375"/>
              </a:xfrm>
            </p:spPr>
            <p:txBody>
              <a:bodyPr>
                <a:normAutofit lnSpcReduction="10000"/>
              </a:bodyPr>
              <a:lstStyle/>
              <a:p>
                <a:r>
                  <a:rPr lang="pt-BR" dirty="0"/>
                  <a:t>Para a seguinte função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 0&lt;</m:t>
                      </m:r>
                      <m:r>
                        <a:rPr lang="pt-BR" b="0" i="1" smtClean="0">
                          <a:latin typeface="Cambria Math" panose="02040503050406030204" pitchFamily="18" charset="0"/>
                        </a:rPr>
                        <m:t>𝑛</m:t>
                      </m:r>
                      <m:r>
                        <a:rPr lang="pt-BR" b="0" i="0" smtClean="0">
                          <a:latin typeface="Cambria Math" panose="02040503050406030204" pitchFamily="18" charset="0"/>
                        </a:rPr>
                        <m:t>&lt;</m:t>
                      </m:r>
                      <m:r>
                        <m:rPr>
                          <m:sty m:val="p"/>
                        </m:rPr>
                        <a:rPr lang="pt-BR" b="0" i="0" smtClean="0">
                          <a:latin typeface="Cambria Math" panose="02040503050406030204" pitchFamily="18" charset="0"/>
                        </a:rPr>
                        <m:t>N</m:t>
                      </m:r>
                      <m:r>
                        <a:rPr lang="pt-BR" b="0" i="0" smtClean="0">
                          <a:latin typeface="Cambria Math" panose="02040503050406030204" pitchFamily="18" charset="0"/>
                        </a:rPr>
                        <m:t>−1</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para todas </a:t>
                </a:r>
                <a14:m>
                  <m:oMath xmlns:m="http://schemas.openxmlformats.org/officeDocument/2006/math">
                    <m:r>
                      <m:rPr>
                        <m:sty m:val="p"/>
                      </m:rPr>
                      <a:rPr lang="pt-BR" b="0" i="0" smtClean="0">
                        <a:latin typeface="Cambria Math" panose="02040503050406030204" pitchFamily="18" charset="0"/>
                      </a:rPr>
                      <m:t>N</m:t>
                    </m:r>
                  </m:oMath>
                </a14:m>
                <a:r>
                  <a:rPr lang="pt-BR" dirty="0"/>
                  <a:t> amostras fica da seguinte forma </a:t>
                </a:r>
              </a:p>
              <a:p>
                <a:pPr marL="0" indent="0">
                  <a:buNone/>
                </a:pPr>
                <a14:m>
                  <m:oMathPara xmlns:m="http://schemas.openxmlformats.org/officeDocument/2006/math">
                    <m:oMath>
                      <m:r>
                        <a:rPr lang="pt-BR" sz="2600" b="1" i="1" smtClean="0">
                          <a:latin typeface="Cambria Math" panose="02040503050406030204" pitchFamily="18" charset="0"/>
                        </a:rPr>
                        <m:t>𝑿</m:t>
                      </m:r>
                      <m:r>
                        <a:rPr lang="pt-BR" sz="2600" b="0" i="1" smtClean="0">
                          <a:latin typeface="Cambria Math" panose="02040503050406030204" pitchFamily="18" charset="0"/>
                        </a:rPr>
                        <m:t>=</m:t>
                      </m:r>
                      <m:d>
                        <m:dPr>
                          <m:begChr m:val="["/>
                          <m:endChr m:val="]"/>
                          <m:ctrlPr>
                            <a:rPr lang="pt-BR" sz="2600" b="1" i="1" smtClean="0">
                              <a:latin typeface="Cambria Math" panose="02040503050406030204" pitchFamily="18" charset="0"/>
                            </a:rPr>
                          </m:ctrlPr>
                        </m:dPr>
                        <m:e>
                          <m:m>
                            <m:mPr>
                              <m:mcs>
                                <m:mc>
                                  <m:mcPr>
                                    <m:count m:val="3"/>
                                    <m:mcJc m:val="center"/>
                                  </m:mcPr>
                                </m:mc>
                              </m:mcs>
                              <m:ctrlPr>
                                <a:rPr lang="pt-BR" sz="2600" b="1" i="1" smtClean="0">
                                  <a:latin typeface="Cambria Math" panose="02040503050406030204" pitchFamily="18" charset="0"/>
                                </a:rPr>
                              </m:ctrlPr>
                            </m:mPr>
                            <m:mr>
                              <m:e>
                                <m:r>
                                  <a:rPr lang="pt-BR" sz="2600" b="0" i="1" smtClean="0">
                                    <a:latin typeface="Cambria Math" panose="02040503050406030204" pitchFamily="18" charset="0"/>
                                  </a:rPr>
                                  <m:t>1</m:t>
                                </m:r>
                              </m:e>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e>
                                <m:m>
                                  <m:mPr>
                                    <m:mcs>
                                      <m:mc>
                                        <m:mcPr>
                                          <m:count m:val="2"/>
                                          <m:mcJc m:val="center"/>
                                        </m:mcPr>
                                      </m:mc>
                                    </m:mcs>
                                    <m:ctrlPr>
                                      <a:rPr lang="pt-BR" sz="2600" b="1" i="1" smtClean="0">
                                        <a:latin typeface="Cambria Math" panose="02040503050406030204" pitchFamily="18" charset="0"/>
                                      </a:rPr>
                                    </m:ctrlPr>
                                  </m:mPr>
                                  <m:mr>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2</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e>
                                      <m:m>
                                        <m:mPr>
                                          <m:mcs>
                                            <m:mc>
                                              <m:mcPr>
                                                <m:count m:val="2"/>
                                                <m:mcJc m:val="center"/>
                                              </m:mcPr>
                                            </m:mc>
                                          </m:mcs>
                                          <m:ctrlPr>
                                            <a:rPr lang="pt-BR" sz="2600" b="1" i="1" smtClean="0">
                                              <a:latin typeface="Cambria Math" panose="02040503050406030204" pitchFamily="18" charset="0"/>
                                            </a:rPr>
                                          </m:ctrlPr>
                                        </m:mPr>
                                        <m:mr>
                                          <m:e>
                                            <m:r>
                                              <m:rPr>
                                                <m:brk m:alnAt="7"/>
                                              </m:rPr>
                                              <a:rPr lang="pt-BR" sz="2600" b="1" i="1">
                                                <a:latin typeface="Cambria Math" panose="02040503050406030204" pitchFamily="18" charset="0"/>
                                              </a:rPr>
                                              <m:t>⋯</m:t>
                                            </m:r>
                                          </m:e>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𝑀</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mr>
                                      </m:m>
                                    </m:e>
                                  </m:mr>
                                </m:m>
                              </m:e>
                            </m:mr>
                            <m:mr>
                              <m:e>
                                <m:r>
                                  <a:rPr lang="pt-BR" sz="2600" b="1" i="1" smtClean="0">
                                    <a:latin typeface="Cambria Math" panose="02040503050406030204" pitchFamily="18" charset="0"/>
                                  </a:rPr>
                                  <m:t>⋮</m:t>
                                </m:r>
                              </m:e>
                              <m:e>
                                <m:r>
                                  <a:rPr lang="pt-BR" sz="2600" b="1" i="1">
                                    <a:latin typeface="Cambria Math" panose="02040503050406030204" pitchFamily="18" charset="0"/>
                                  </a:rPr>
                                  <m:t>⋮</m:t>
                                </m:r>
                              </m:e>
                              <m:e>
                                <m:m>
                                  <m:mPr>
                                    <m:mcs>
                                      <m:mc>
                                        <m:mcPr>
                                          <m:count m:val="3"/>
                                          <m:mcJc m:val="center"/>
                                        </m:mcPr>
                                      </m:mc>
                                    </m:mcs>
                                    <m:ctrlPr>
                                      <a:rPr lang="pt-BR" sz="2600" b="1" i="1" smtClean="0">
                                        <a:latin typeface="Cambria Math" panose="02040503050406030204" pitchFamily="18" charset="0"/>
                                      </a:rPr>
                                    </m:ctrlPr>
                                  </m:mPr>
                                  <m:mr>
                                    <m:e>
                                      <m:r>
                                        <a:rPr lang="pt-BR" sz="2600" b="1" i="1">
                                          <a:latin typeface="Cambria Math" panose="02040503050406030204" pitchFamily="18" charset="0"/>
                                        </a:rPr>
                                        <m:t>⋮</m:t>
                                      </m:r>
                                    </m:e>
                                    <m:e>
                                      <m:r>
                                        <a:rPr lang="pt-BR" sz="2600" b="1" i="1" smtClean="0">
                                          <a:latin typeface="Cambria Math" panose="02040503050406030204" pitchFamily="18" charset="0"/>
                                        </a:rPr>
                                        <m:t>       ⋱        </m:t>
                                      </m:r>
                                    </m:e>
                                    <m:e>
                                      <m:r>
                                        <a:rPr lang="pt-BR" sz="2600" b="1" i="1" smtClean="0">
                                          <a:latin typeface="Cambria Math" panose="02040503050406030204" pitchFamily="18" charset="0"/>
                                        </a:rPr>
                                        <m:t>⋮</m:t>
                                      </m:r>
                                    </m:e>
                                  </m:mr>
                                </m:m>
                              </m:e>
                            </m:mr>
                            <m:mr>
                              <m:e>
                                <m:r>
                                  <a:rPr lang="pt-BR" sz="2600" i="1" smtClean="0">
                                    <a:latin typeface="Cambria Math" panose="02040503050406030204" pitchFamily="18" charset="0"/>
                                  </a:rPr>
                                  <m:t>1</m:t>
                                </m:r>
                              </m:e>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e>
                                <m:m>
                                  <m:mPr>
                                    <m:mcs>
                                      <m:mc>
                                        <m:mcPr>
                                          <m:count m:val="2"/>
                                          <m:mcJc m:val="center"/>
                                        </m:mcPr>
                                      </m:mc>
                                    </m:mcs>
                                    <m:ctrlPr>
                                      <a:rPr lang="pt-BR" sz="2600" b="1" i="1" smtClean="0">
                                        <a:latin typeface="Cambria Math" panose="02040503050406030204" pitchFamily="18" charset="0"/>
                                      </a:rPr>
                                    </m:ctrlPr>
                                  </m:mPr>
                                  <m:mr>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2</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e>
                                      <m:m>
                                        <m:mPr>
                                          <m:mcs>
                                            <m:mc>
                                              <m:mcPr>
                                                <m:count m:val="2"/>
                                                <m:mcJc m:val="center"/>
                                              </m:mcPr>
                                            </m:mc>
                                          </m:mcs>
                                          <m:ctrlPr>
                                            <a:rPr lang="pt-BR" sz="2600" b="1" i="1" smtClean="0">
                                              <a:latin typeface="Cambria Math" panose="02040503050406030204" pitchFamily="18" charset="0"/>
                                            </a:rPr>
                                          </m:ctrlPr>
                                        </m:mPr>
                                        <m:mr>
                                          <m:e>
                                            <m:r>
                                              <m:rPr>
                                                <m:brk m:alnAt="7"/>
                                              </m:rPr>
                                              <a:rPr lang="pt-BR" sz="2600" b="1" i="1">
                                                <a:latin typeface="Cambria Math" panose="02040503050406030204" pitchFamily="18" charset="0"/>
                                              </a:rPr>
                                              <m:t>⋯</m:t>
                                            </m:r>
                                          </m:e>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𝑀</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mr>
                                      </m:m>
                                    </m:e>
                                  </m:mr>
                                </m:m>
                              </m:e>
                            </m:mr>
                          </m:m>
                        </m:e>
                      </m:d>
                      <m:r>
                        <a:rPr lang="pt-BR" sz="2600" i="1">
                          <a:latin typeface="Cambria Math" panose="02040503050406030204" pitchFamily="18" charset="0"/>
                          <a:ea typeface="Cambria Math" panose="02040503050406030204" pitchFamily="18" charset="0"/>
                        </a:rPr>
                        <m:t>∈</m:t>
                      </m:r>
                      <m:sSup>
                        <m:sSupPr>
                          <m:ctrlPr>
                            <a:rPr lang="pt-BR" sz="2600" i="1">
                              <a:latin typeface="Cambria Math" panose="02040503050406030204" pitchFamily="18" charset="0"/>
                              <a:ea typeface="Cambria Math" panose="02040503050406030204" pitchFamily="18" charset="0"/>
                            </a:rPr>
                          </m:ctrlPr>
                        </m:sSupPr>
                        <m:e>
                          <m:r>
                            <a:rPr lang="pt-BR" sz="2600" i="1">
                              <a:latin typeface="Cambria Math" panose="02040503050406030204" pitchFamily="18" charset="0"/>
                              <a:ea typeface="Cambria Math" panose="02040503050406030204" pitchFamily="18" charset="0"/>
                            </a:rPr>
                            <m:t>ℝ</m:t>
                          </m:r>
                        </m:e>
                        <m:sup>
                          <m:r>
                            <a:rPr lang="pt-BR" sz="2600" i="1">
                              <a:latin typeface="Cambria Math" panose="02040503050406030204" pitchFamily="18" charset="0"/>
                              <a:ea typeface="Cambria Math" panose="02040503050406030204" pitchFamily="18" charset="0"/>
                            </a:rPr>
                            <m:t>𝑁</m:t>
                          </m:r>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𝑀</m:t>
                          </m:r>
                          <m:r>
                            <a:rPr lang="pt-BR" sz="2600" i="1">
                              <a:latin typeface="Cambria Math" panose="02040503050406030204" pitchFamily="18" charset="0"/>
                              <a:ea typeface="Cambria Math" panose="02040503050406030204" pitchFamily="18" charset="0"/>
                            </a:rPr>
                            <m:t>+1</m:t>
                          </m:r>
                        </m:sup>
                      </m:sSup>
                      <m:r>
                        <a:rPr lang="pt-BR" sz="2600" b="0" i="0" smtClean="0">
                          <a:latin typeface="Cambria Math" panose="02040503050406030204" pitchFamily="18" charset="0"/>
                          <a:ea typeface="Cambria Math" panose="02040503050406030204" pitchFamily="18" charset="0"/>
                        </a:rPr>
                        <m:t>,</m:t>
                      </m:r>
                    </m:oMath>
                  </m:oMathPara>
                </a14:m>
                <a:endParaRPr lang="pt-BR" sz="2600" dirty="0"/>
              </a:p>
              <a:p>
                <a:pPr marL="0" indent="0">
                  <a:buNone/>
                </a:pPr>
                <a:r>
                  <a:rPr lang="pt-BR" dirty="0"/>
                  <a:t>onde cada coluna contém um atributo (original, transformação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 e do grau do polinômio.</a:t>
                </a:r>
              </a:p>
              <a:p>
                <a:pPr lvl="1">
                  <a:buFont typeface="Wingdings" panose="05000000000000000000" pitchFamily="2" charset="2"/>
                  <a:buChar char="§"/>
                </a:pPr>
                <a:r>
                  <a:rPr lang="pt-BR" dirty="0"/>
                  <a:t>Por padrão, ela cria automaticamente a coluna do atributo de </a:t>
                </a:r>
                <a:r>
                  <a:rPr lang="pt-BR" i="1" dirty="0"/>
                  <a:t>bias</a:t>
                </a:r>
                <a:r>
                  <a:rPr lang="pt-BR" dirty="0"/>
                  <a:t> (valores iguais a 1).</a:t>
                </a:r>
              </a:p>
              <a:p>
                <a:endParaRPr lang="en-US" dirty="0"/>
              </a:p>
              <a:p>
                <a:endParaRPr lang="pt-BR" dirty="0"/>
              </a:p>
            </p:txBody>
          </p:sp>
        </mc:Choice>
        <mc:Fallback>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2663" b="-2785"/>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a:latin typeface="Cambria Math" panose="02040503050406030204" pitchFamily="18" charset="0"/>
                                    <a:ea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b="1" i="1">
                                <a:latin typeface="Cambria Math" panose="02040503050406030204" pitchFamily="18" charset="0"/>
                              </a:rPr>
                            </m:ctrlPr>
                          </m:dPr>
                          <m:e>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b="1" i="1">
                                    <a:latin typeface="Cambria Math" panose="02040503050406030204" pitchFamily="18" charset="0"/>
                                  </a:rPr>
                                </m:ctrlPr>
                              </m:sSub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b="1" i="1">
                            <a:latin typeface="Cambria Math" panose="02040503050406030204" pitchFamily="18" charset="0"/>
                          </a:rPr>
                        </m:ctrlPr>
                      </m:sSub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5CA03AE-9771-A5F3-3DD5-E1C42035D04B}"/>
                  </a:ext>
                </a:extLst>
              </p:cNvPr>
              <p:cNvSpPr>
                <a:spLocks noGrp="1"/>
              </p:cNvSpPr>
              <p:nvPr>
                <p:ph idx="1"/>
              </p:nvPr>
            </p:nvSpPr>
            <p:spPr>
              <a:xfrm>
                <a:off x="4730045" y="1825624"/>
                <a:ext cx="7303912" cy="5032375"/>
              </a:xfrm>
            </p:spPr>
            <p:txBody>
              <a:bodyPr/>
              <a:lstStyle/>
              <a:p>
                <a:r>
                  <a:rPr lang="pt-BR" sz="2800" b="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dirty="0">
                    <a:solidFill>
                      <a:srgbClr val="00B050"/>
                    </a:solidFill>
                  </a:rPr>
                  <a:t>raio do círculo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dirty="0"/>
                  <a:t>erro regularizado</a:t>
                </a:r>
                <a:r>
                  <a:rPr lang="pt-BR" dirty="0"/>
                  <a:t>, </a:t>
                </a:r>
              </a:p>
              <a:p>
                <a:pPr marL="0" indent="0">
                  <a:buNone/>
                </a:pPr>
                <a14:m>
                  <m:oMathPara xmlns:m="http://schemas.openxmlformats.org/officeDocument/2006/math">
                    <m:o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dirty="0"/>
                  <a:t>continua sendo </a:t>
                </a:r>
                <a:r>
                  <a:rPr lang="pt-BR" b="1" dirty="0">
                    <a:solidFill>
                      <a:schemeClr val="accent5"/>
                    </a:solidFill>
                  </a:rPr>
                  <a:t>quadrática</a:t>
                </a:r>
                <a:r>
                  <a:rPr lang="pt-BR" b="1" dirty="0"/>
                  <a:t> com relação aos pesos</a:t>
                </a:r>
                <a:r>
                  <a:rPr lang="pt-BR" dirty="0"/>
                  <a:t>, e, portanto, a </a:t>
                </a:r>
                <a:r>
                  <a:rPr lang="pt-BR" b="1" dirty="0"/>
                  <a:t>superfície de erro continua sendo </a:t>
                </a:r>
                <a:r>
                  <a:rPr lang="pt-BR" b="1" dirty="0">
                    <a:solidFill>
                      <a:schemeClr val="accent5"/>
                    </a:solidFill>
                  </a:rPr>
                  <a:t>convexa</a:t>
                </a:r>
                <a:r>
                  <a:rPr lang="pt-BR" dirty="0"/>
                  <a:t>.</a:t>
                </a:r>
              </a:p>
            </p:txBody>
          </p:sp>
        </mc:Choice>
        <mc:Fallback>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1336"/>
                </a:stretch>
              </a:blipFill>
            </p:spPr>
            <p:txBody>
              <a:bodyPr/>
              <a:lstStyle/>
              <a:p>
                <a:r>
                  <a:rPr lang="en-US">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sSup>
                      <m:sSupPr>
                        <m:ctrlPr>
                          <a:rPr lang="pt-BR" sz="2200" b="1" i="1" smtClean="0">
                            <a:latin typeface="Cambria Math" panose="02040503050406030204" pitchFamily="18" charset="0"/>
                          </a:rPr>
                        </m:ctrlPr>
                      </m:sSupPr>
                      <m:e>
                        <m:d>
                          <m:dPr>
                            <m:ctrlPr>
                              <a:rPr lang="pt-BR" sz="2200" b="1" i="1" smtClean="0">
                                <a:latin typeface="Cambria Math" panose="02040503050406030204" pitchFamily="18" charset="0"/>
                              </a:rPr>
                            </m:ctrlPr>
                          </m:dPr>
                          <m:e>
                            <m:sSup>
                              <m:sSupPr>
                                <m:ctrlPr>
                                  <a:rPr lang="pt-BR" sz="2200" b="1" i="1" smtClean="0">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b="0"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i="0"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rPr>
                        </m:ctrlPr>
                      </m:dPr>
                      <m:e>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b="0"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r>
                        <m:rPr>
                          <m:nor/>
                        </m:rPr>
                        <a:rPr lang="pt-BR" i="0"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e>
                    </m:d>
                    <m:r>
                      <m:rPr>
                        <m:nor/>
                      </m:rPr>
                      <a:rPr lang="pt-BR" i="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dirty="0"/>
              <a:t>seleção de atributos</a:t>
            </a:r>
            <a:r>
              <a:rPr lang="pt-BR" dirty="0"/>
              <a:t>, a regressão Ridge resulta em um modelo:</a:t>
            </a:r>
          </a:p>
          <a:p>
            <a:pPr lvl="1">
              <a:buFont typeface="Wingdings" panose="05000000000000000000" pitchFamily="2" charset="2"/>
              <a:buChar char="§"/>
            </a:pPr>
            <a:r>
              <a:rPr lang="pt-BR" b="1" dirty="0"/>
              <a:t>Com baixa </a:t>
            </a:r>
            <a:r>
              <a:rPr lang="pt-BR" b="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dirty="0"/>
              <a:t>Complexo</a:t>
            </a:r>
            <a:r>
              <a:rPr lang="pt-BR" dirty="0"/>
              <a:t>: por </a:t>
            </a:r>
            <a:r>
              <a:rPr lang="pt-BR" b="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dirty="0"/>
              <a:t>fator de regularização não for ideal</a:t>
            </a:r>
            <a:r>
              <a:rPr lang="pt-BR" dirty="0"/>
              <a:t>, pode levar a um </a:t>
            </a:r>
            <a:r>
              <a:rPr lang="pt-BR" b="1" dirty="0"/>
              <a:t>modelo muito simples </a:t>
            </a:r>
            <a:r>
              <a:rPr lang="pt-BR" dirty="0"/>
              <a:t>que não inclui todas os atributos importantes (devido à seleção de atributos).</a:t>
            </a:r>
          </a:p>
          <a:p>
            <a:pPr lvl="1">
              <a:buFont typeface="Wingdings" panose="05000000000000000000" pitchFamily="2" charset="2"/>
              <a:buChar char="§"/>
            </a:pPr>
            <a:r>
              <a:rPr lang="pt-BR" b="1" dirty="0"/>
              <a:t>Numericamente instável </a:t>
            </a:r>
            <a:r>
              <a:rPr lang="pt-BR" dirty="0"/>
              <a:t>para valores pequenos do </a:t>
            </a:r>
            <a:r>
              <a:rPr lang="pt-BR" b="1" dirty="0"/>
              <a:t>fator de regularização, principalmente para casos subdeterminados, i.e., </a:t>
            </a:r>
            <a:r>
              <a:rPr lang="pt-BR" b="1" i="1" dirty="0"/>
              <a:t>K &gt; N.</a:t>
            </a:r>
            <a:endParaRPr lang="pt-BR" dirty="0"/>
          </a:p>
          <a:p>
            <a:r>
              <a:rPr lang="pt-BR" dirty="0"/>
              <a:t>Nesses casos, a regressão </a:t>
            </a:r>
            <a:r>
              <a:rPr lang="pt-BR" i="1" dirty="0" err="1"/>
              <a:t>Elastic</a:t>
            </a:r>
            <a:r>
              <a:rPr lang="pt-BR" i="1" dirty="0"/>
              <a:t>-Net</a:t>
            </a:r>
            <a:r>
              <a:rPr lang="pt-BR" dirty="0"/>
              <a: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i="1" dirty="0" err="1"/>
              <a:t>Elastic</a:t>
            </a:r>
            <a:r>
              <a:rPr lang="pt-BR" i="1" dirty="0"/>
              <a:t>-Net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dirty="0"/>
                  <a:t>resolver as limitações de ambas</a:t>
                </a:r>
                <a:r>
                  <a:rPr lang="pt-BR" dirty="0"/>
                  <a:t>.</a:t>
                </a:r>
              </a:p>
              <a:p>
                <a:r>
                  <a:rPr lang="pt-BR" dirty="0"/>
                  <a:t>Realiza </a:t>
                </a:r>
                <a:r>
                  <a:rPr lang="pt-BR" b="1" dirty="0"/>
                  <a:t>seleção automática de atributos</a:t>
                </a:r>
                <a:r>
                  <a:rPr lang="pt-BR" dirty="0"/>
                  <a:t> e </a:t>
                </a:r>
                <a:r>
                  <a:rPr lang="pt-BR" b="1" dirty="0"/>
                  <a:t>regularização</a:t>
                </a:r>
                <a:r>
                  <a:rPr lang="pt-BR" dirty="0"/>
                  <a:t> simultaneamente.</a:t>
                </a:r>
              </a:p>
              <a:p>
                <a:r>
                  <a:rPr lang="pt-BR" dirty="0"/>
                  <a:t>Nada mais é do que uma </a:t>
                </a:r>
                <a:r>
                  <a:rPr lang="pt-BR" b="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dirty="0"/>
                  <a:t>fator de elasticidade </a:t>
                </a:r>
                <a:r>
                  <a:rPr lang="pt-BR" dirty="0"/>
                  <a:t>entre as duas normas, ou seja, estabelece uma </a:t>
                </a:r>
                <a:r>
                  <a:rPr lang="pt-BR" b="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dirty="0"/>
                  <a:t>validação cruzada</a:t>
                </a:r>
                <a:r>
                  <a:rPr lang="pt-BR"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a:blip r:embed="rId3"/>
                <a:stretch>
                  <a:fillRect l="-980" t="-3365" r="-1471"/>
                </a:stretch>
              </a:blipFill>
            </p:spPr>
            <p:txBody>
              <a:bodyPr/>
              <a:lstStyle/>
              <a:p>
                <a:r>
                  <a:rPr lang="en-US">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Tree>
    <p:extLst>
      <p:ext uri="{BB962C8B-B14F-4D97-AF65-F5344CB8AC3E}">
        <p14:creationId xmlns:p14="http://schemas.microsoft.com/office/powerpoint/2010/main" val="120408615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p:sp>
        <p:nvSpPr>
          <p:cNvPr id="3" name="Content Placeholder 2"/>
          <p:cNvSpPr>
            <a:spLocks noGrp="1"/>
          </p:cNvSpPr>
          <p:nvPr>
            <p:ph idx="1"/>
          </p:nvPr>
        </p:nvSpPr>
        <p:spPr>
          <a:xfrm>
            <a:off x="838199" y="1286933"/>
            <a:ext cx="11132128" cy="5571067"/>
          </a:xfrm>
        </p:spPr>
        <p:txBody>
          <a:bodyPr>
            <a:normAutofit/>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dirty="0"/>
              <a:t>número de atributos, K, for maior que o número de exemplos de treinamento, N</a:t>
            </a:r>
            <a:r>
              <a:rPr lang="pt-BR" dirty="0"/>
              <a:t>. Nesse caso, ele </a:t>
            </a:r>
            <a:r>
              <a:rPr lang="pt-BR" b="1" dirty="0"/>
              <a:t>encontra no máximo N pesos diferentes de zero</a:t>
            </a:r>
            <a:r>
              <a:rPr lang="pt-BR" dirty="0"/>
              <a:t>, mesmo que os K atributos sejam relevantes.</a:t>
            </a:r>
          </a:p>
          <a:p>
            <a:pPr lvl="1">
              <a:buFont typeface="Wingdings" panose="05000000000000000000" pitchFamily="2" charset="2"/>
              <a:buChar char="§"/>
            </a:pPr>
            <a:r>
              <a:rPr lang="pt-BR" dirty="0"/>
              <a:t>Se houverem </a:t>
            </a:r>
            <a:r>
              <a:rPr lang="pt-BR" b="1" dirty="0"/>
              <a:t>atributos fortemente correlacionados entre si</a:t>
            </a:r>
            <a:r>
              <a:rPr lang="pt-BR" dirty="0"/>
              <a:t>, ela </a:t>
            </a:r>
            <a:r>
              <a:rPr lang="pt-BR" b="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a:t>
            </a:r>
            <a:r>
              <a:rPr lang="pt-BR" i="1" dirty="0" err="1"/>
              <a:t>Elastic</a:t>
            </a:r>
            <a:r>
              <a:rPr lang="pt-BR" i="1" dirty="0"/>
              <a:t>-Net</a:t>
            </a:r>
            <a:r>
              <a:rPr lang="pt-BR" dirty="0"/>
              <a:t>.</a:t>
            </a:r>
          </a:p>
        </p:txBody>
      </p:sp>
    </p:spTree>
    <p:extLst>
      <p:ext uri="{BB962C8B-B14F-4D97-AF65-F5344CB8AC3E}">
        <p14:creationId xmlns:p14="http://schemas.microsoft.com/office/powerpoint/2010/main" val="82685464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A62-FC8F-1D16-E88D-8C3ADD438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91348-0647-8E31-A338-714CD525620E}"/>
              </a:ext>
            </a:extLst>
          </p:cNvPr>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87EA34-8ECE-4144-1EEE-338463F0EF97}"/>
                  </a:ext>
                </a:extLst>
              </p:cNvPr>
              <p:cNvSpPr>
                <a:spLocks noGrp="1"/>
              </p:cNvSpPr>
              <p:nvPr>
                <p:ph idx="1"/>
              </p:nvPr>
            </p:nvSpPr>
            <p:spPr>
              <a:xfrm>
                <a:off x="838199" y="1286933"/>
                <a:ext cx="11132128" cy="5571067"/>
              </a:xfrm>
            </p:spPr>
            <p:txBody>
              <a:bodyPr>
                <a:normAutofit/>
              </a:bodyPr>
              <a:lstStyle/>
              <a:p>
                <a:r>
                  <a:rPr lang="pt-BR" b="1" dirty="0"/>
                  <a:t>Regressão </a:t>
                </a:r>
                <a:r>
                  <a:rPr lang="pt-BR" b="1" i="1" dirty="0" err="1"/>
                  <a:t>Elastic</a:t>
                </a:r>
                <a:r>
                  <a:rPr lang="pt-BR" b="1" i="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a:extLst>
                  <a:ext uri="{FF2B5EF4-FFF2-40B4-BE49-F238E27FC236}">
                    <a16:creationId xmlns:a16="http://schemas.microsoft.com/office/drawing/2014/main" xmlns="" xmlns:a14="http://schemas.microsoft.com/office/drawing/2010/main" id="{9D87EA34-8ECE-4144-1EEE-338463F0EF97}"/>
                  </a:ext>
                </a:extLst>
              </p:cNvPr>
              <p:cNvSpPr>
                <a:spLocks noGrp="1" noRot="1" noChangeAspect="1" noMove="1" noResize="1" noEditPoints="1" noAdjustHandles="1" noChangeArrowheads="1" noChangeShapeType="1" noTextEdit="1"/>
              </p:cNvSpPr>
              <p:nvPr>
                <p:ph idx="1"/>
              </p:nvPr>
            </p:nvSpPr>
            <p:spPr>
              <a:xfrm>
                <a:off x="838199" y="1286933"/>
                <a:ext cx="11132128" cy="5571067"/>
              </a:xfrm>
              <a:blipFill rotWithShape="0">
                <a:blip r:embed="rId3"/>
                <a:stretch>
                  <a:fillRect l="-930" t="-1751"/>
                </a:stretch>
              </a:blipFill>
            </p:spPr>
            <p:txBody>
              <a:bodyPr/>
              <a:lstStyle/>
              <a:p>
                <a:r>
                  <a:rPr lang="pt-BR">
                    <a:noFill/>
                  </a:rPr>
                  <a:t> </a:t>
                </a:r>
              </a:p>
            </p:txBody>
          </p:sp>
        </mc:Fallback>
      </mc:AlternateContent>
    </p:spTree>
    <p:extLst>
      <p:ext uri="{BB962C8B-B14F-4D97-AF65-F5344CB8AC3E}">
        <p14:creationId xmlns:p14="http://schemas.microsoft.com/office/powerpoint/2010/main" val="360398584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i="1" dirty="0">
                <a:ea typeface="+mj-lt"/>
                <a:cs typeface="+mj-lt"/>
              </a:rPr>
              <a:t>Early-stopping</a:t>
            </a:r>
            <a:r>
              <a:rPr lang="pt-BR" dirty="0">
                <a:ea typeface="+mj-lt"/>
                <a:cs typeface="+mj-lt"/>
              </a:rPr>
              <a:t>: parada antecipada</a:t>
            </a:r>
            <a:endParaRPr lang="pt-BR" dirty="0"/>
          </a:p>
        </p:txBody>
      </p:sp>
      <p:sp>
        <p:nvSpPr>
          <p:cNvPr id="3" name="Content Placeholder 2"/>
          <p:cNvSpPr>
            <a:spLocks noGrp="1"/>
          </p:cNvSpPr>
          <p:nvPr>
            <p:ph idx="1"/>
          </p:nvPr>
        </p:nvSpPr>
        <p:spPr>
          <a:xfrm>
            <a:off x="5457824" y="1825624"/>
            <a:ext cx="6734175" cy="5032375"/>
          </a:xfrm>
        </p:spPr>
        <p:txBody>
          <a:bodyPr>
            <a:normAutofit/>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179" y="2628116"/>
            <a:ext cx="4108870" cy="26082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418AF-3036-F161-1FF9-6A27441E9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639BFA-229B-7127-1F96-31668420945A}"/>
              </a:ext>
            </a:extLst>
          </p:cNvPr>
          <p:cNvSpPr>
            <a:spLocks noGrp="1"/>
          </p:cNvSpPr>
          <p:nvPr>
            <p:ph type="title"/>
          </p:nvPr>
        </p:nvSpPr>
        <p:spPr/>
        <p:txBody>
          <a:bodyPr/>
          <a:lstStyle/>
          <a:p>
            <a:r>
              <a:rPr lang="pt-BR" i="1" dirty="0">
                <a:ea typeface="+mj-lt"/>
                <a:cs typeface="+mj-lt"/>
              </a:rPr>
              <a:t>Early-stopping</a:t>
            </a:r>
            <a:r>
              <a:rPr lang="pt-BR" dirty="0">
                <a:ea typeface="+mj-lt"/>
                <a:cs typeface="+mj-lt"/>
              </a:rPr>
              <a:t>: parada antecipada</a:t>
            </a:r>
            <a:endParaRPr lang="pt-BR" dirty="0"/>
          </a:p>
        </p:txBody>
      </p:sp>
      <p:sp>
        <p:nvSpPr>
          <p:cNvPr id="3" name="Content Placeholder 2">
            <a:extLst>
              <a:ext uri="{FF2B5EF4-FFF2-40B4-BE49-F238E27FC236}">
                <a16:creationId xmlns:a16="http://schemas.microsoft.com/office/drawing/2014/main" id="{EFAA1ABA-7ACE-DB23-CF74-348BF290443B}"/>
              </a:ext>
            </a:extLst>
          </p:cNvPr>
          <p:cNvSpPr>
            <a:spLocks noGrp="1"/>
          </p:cNvSpPr>
          <p:nvPr>
            <p:ph idx="1"/>
          </p:nvPr>
        </p:nvSpPr>
        <p:spPr>
          <a:xfrm>
            <a:off x="5524500" y="1825624"/>
            <a:ext cx="6667500" cy="5032375"/>
          </a:xfrm>
        </p:spPr>
        <p:txBody>
          <a:bodyPr>
            <a:normAutofit lnSpcReduction="10000"/>
          </a:bodyPr>
          <a:lstStyle/>
          <a:p>
            <a:r>
              <a:rPr lang="pt-BR" dirty="0"/>
              <a:t>Essa abordagem é chamada de </a:t>
            </a:r>
            <a:r>
              <a:rPr lang="pt-BR" b="1" i="1" dirty="0"/>
              <a:t>early-stopping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a:extLst>
              <a:ext uri="{FF2B5EF4-FFF2-40B4-BE49-F238E27FC236}">
                <a16:creationId xmlns:a16="http://schemas.microsoft.com/office/drawing/2014/main" id="{30DEB1CD-B16E-369D-76E1-708BFBBC78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9073" y="2782912"/>
            <a:ext cx="4318940" cy="2741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8871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27E34-0D58-4F7C-A44C-874904CC31AB}"/>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dirty="0">
                <a:solidFill>
                  <a:srgbClr val="00B050"/>
                </a:solidFill>
                <a:ea typeface="+mn-lt"/>
                <a:cs typeface="+mn-lt"/>
              </a:rPr>
              <a:t>erro de validação </a:t>
            </a:r>
            <a:r>
              <a:rPr lang="pt-BR" sz="2800" dirty="0">
                <a:ea typeface="+mn-lt"/>
                <a:cs typeface="+mn-lt"/>
              </a:rPr>
              <a:t>aumentar por </a:t>
            </a:r>
            <a:r>
              <a:rPr lang="pt-BR" sz="2800" b="1" dirty="0">
                <a:ea typeface="+mn-lt"/>
                <a:cs typeface="+mn-lt"/>
              </a:rPr>
              <a:t>P</a:t>
            </a:r>
            <a:r>
              <a:rPr lang="pt-BR" sz="2800" dirty="0">
                <a:ea typeface="+mn-lt"/>
                <a:cs typeface="+mn-lt"/>
              </a:rPr>
              <a:t> épocas sucessivas, sendo o parâmetro </a:t>
            </a:r>
            <a:r>
              <a:rPr lang="pt-BR" sz="2800" b="1" dirty="0">
                <a:ea typeface="+mn-lt"/>
                <a:cs typeface="+mn-lt"/>
              </a:rPr>
              <a:t>P</a:t>
            </a:r>
            <a:r>
              <a:rPr lang="pt-BR" sz="2800" dirty="0">
                <a:ea typeface="+mn-lt"/>
                <a:cs typeface="+mn-lt"/>
              </a:rPr>
              <a:t> chamado de </a:t>
            </a:r>
            <a:r>
              <a:rPr lang="pt-BR" sz="2800" b="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dirty="0">
                <a:ea typeface="+mn-lt"/>
                <a:cs typeface="+mn-lt"/>
              </a:rPr>
              <a:t>menor erro de validação</a:t>
            </a:r>
            <a:r>
              <a:rPr lang="pt-BR" sz="2800" dirty="0">
                <a:ea typeface="+mn-lt"/>
                <a:cs typeface="+mn-lt"/>
              </a:rPr>
              <a:t>. Ao final do treinamento, os </a:t>
            </a:r>
            <a:r>
              <a:rPr lang="pt-BR" sz="2800" b="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i="1" dirty="0"/>
              <a:t>Early-stopping</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5524500" y="1343392"/>
                <a:ext cx="6667499" cy="5514608"/>
              </a:xfrm>
            </p:spPr>
            <p:txBody>
              <a:bodyPr>
                <a:normAutofit/>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dirty="0"/>
                  <a:t>ordem do modelo é muito maior do que a ordem da função verdadeira </a:t>
                </a:r>
                <a:r>
                  <a:rPr lang="pt-BR" dirty="0"/>
                  <a:t>(alta flexibilidade), além de ser maior do que o número de amostras de treinamento (sobreajuste).</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5524500" y="1343392"/>
                <a:ext cx="6667499" cy="5514608"/>
              </a:xfrm>
              <a:blipFill>
                <a:blip r:embed="rId3"/>
                <a:stretch>
                  <a:fillRect l="-1828" t="-1768" r="-2377"/>
                </a:stretch>
              </a:blipFill>
            </p:spPr>
            <p:txBody>
              <a:bodyPr/>
              <a:lstStyle/>
              <a:p>
                <a:r>
                  <a:rPr lang="en-US">
                    <a:noFill/>
                  </a:rPr>
                  <a:t> </a:t>
                </a:r>
              </a:p>
            </p:txBody>
          </p:sp>
        </mc:Fallback>
      </mc:AlternateContent>
      <p:pic>
        <p:nvPicPr>
          <p:cNvPr id="4" name="Picture 3"/>
          <p:cNvPicPr>
            <a:picLocks noChangeAspect="1"/>
          </p:cNvPicPr>
          <p:nvPr/>
        </p:nvPicPr>
        <p:blipFill rotWithShape="1">
          <a:blip r:embed="rId4" cstate="print">
            <a:extLst>
              <a:ext uri="{28A0092B-C50C-407E-A947-70E740481C1C}">
                <a14:useLocalDpi xmlns:a14="http://schemas.microsoft.com/office/drawing/2010/main" val="0"/>
              </a:ext>
            </a:extLst>
          </a:blip>
          <a:srcRect l="1814" t="10842" r="9071"/>
          <a:stretch/>
        </p:blipFill>
        <p:spPr>
          <a:xfrm>
            <a:off x="1204786" y="1343392"/>
            <a:ext cx="3660735" cy="2441657"/>
          </a:xfrm>
          <a:prstGeom prst="rect">
            <a:avLst/>
          </a:prstGeom>
        </p:spPr>
      </p:pic>
      <p:pic>
        <p:nvPicPr>
          <p:cNvPr id="7" name="Picture 6"/>
          <p:cNvPicPr>
            <a:picLocks noChangeAspect="1"/>
          </p:cNvPicPr>
          <p:nvPr/>
        </p:nvPicPr>
        <p:blipFill rotWithShape="1">
          <a:blip r:embed="rId5" cstate="print">
            <a:extLst>
              <a:ext uri="{28A0092B-C50C-407E-A947-70E740481C1C}">
                <a14:useLocalDpi xmlns:a14="http://schemas.microsoft.com/office/drawing/2010/main" val="0"/>
              </a:ext>
            </a:extLst>
          </a:blip>
          <a:srcRect l="3854" t="9822" r="9410"/>
          <a:stretch/>
        </p:blipFill>
        <p:spPr>
          <a:xfrm>
            <a:off x="1205490" y="4214429"/>
            <a:ext cx="3665347" cy="2540590"/>
          </a:xfrm>
          <a:prstGeom prst="rect">
            <a:avLst/>
          </a:prstGeom>
        </p:spPr>
      </p:pic>
      <p:sp>
        <p:nvSpPr>
          <p:cNvPr id="8" name="Retângulo 7"/>
          <p:cNvSpPr/>
          <p:nvPr/>
        </p:nvSpPr>
        <p:spPr>
          <a:xfrm>
            <a:off x="8055934" y="3429000"/>
            <a:ext cx="2116766" cy="44132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10497878" y="3823697"/>
            <a:ext cx="1379797" cy="276999"/>
          </a:xfrm>
          <a:prstGeom prst="rect">
            <a:avLst/>
          </a:prstGeom>
          <a:noFill/>
        </p:spPr>
        <p:txBody>
          <a:bodyPr wrap="square" rtlCol="0">
            <a:spAutoFit/>
          </a:bodyPr>
          <a:lstStyle/>
          <a:p>
            <a:r>
              <a:rPr lang="pt-BR" sz="1200" dirty="0"/>
              <a:t>Função verdadeira</a:t>
            </a:r>
          </a:p>
        </p:txBody>
      </p:sp>
      <p:cxnSp>
        <p:nvCxnSpPr>
          <p:cNvPr id="10" name="Conector angulado 9"/>
          <p:cNvCxnSpPr>
            <a:cxnSpLocks/>
            <a:stCxn id="8" idx="2"/>
            <a:endCxn id="5" idx="1"/>
          </p:cNvCxnSpPr>
          <p:nvPr/>
        </p:nvCxnSpPr>
        <p:spPr>
          <a:xfrm rot="16200000" flipH="1">
            <a:off x="9760159" y="3224477"/>
            <a:ext cx="91877" cy="1383561"/>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F4080-29F1-FBEF-FCCD-15BCE9A0F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DB576-C5F6-2436-521C-8978099483B0}"/>
              </a:ext>
            </a:extLst>
          </p:cNvPr>
          <p:cNvSpPr>
            <a:spLocks noGrp="1"/>
          </p:cNvSpPr>
          <p:nvPr>
            <p:ph type="title"/>
          </p:nvPr>
        </p:nvSpPr>
        <p:spPr>
          <a:xfrm>
            <a:off x="838199" y="227053"/>
            <a:ext cx="10515600" cy="898361"/>
          </a:xfrm>
        </p:spPr>
        <p:txBody>
          <a:bodyPr>
            <a:normAutofit/>
          </a:bodyPr>
          <a:lstStyle/>
          <a:p>
            <a:r>
              <a:rPr lang="pt-BR" i="1" dirty="0"/>
              <a:t>Early-stopping</a:t>
            </a:r>
          </a:p>
        </p:txBody>
      </p:sp>
      <p:sp>
        <p:nvSpPr>
          <p:cNvPr id="6" name="Content Placeholder 2">
            <a:extLst>
              <a:ext uri="{FF2B5EF4-FFF2-40B4-BE49-F238E27FC236}">
                <a16:creationId xmlns:a16="http://schemas.microsoft.com/office/drawing/2014/main" id="{544AA3A2-679B-3AA1-CC10-28280789EE1D}"/>
              </a:ext>
            </a:extLst>
          </p:cNvPr>
          <p:cNvSpPr>
            <a:spLocks noGrp="1"/>
          </p:cNvSpPr>
          <p:nvPr>
            <p:ph idx="1"/>
          </p:nvPr>
        </p:nvSpPr>
        <p:spPr>
          <a:xfrm>
            <a:off x="5172075" y="1343392"/>
            <a:ext cx="7019924" cy="5514608"/>
          </a:xfrm>
        </p:spPr>
        <p:txBody>
          <a:bodyPr>
            <a:normAutofit/>
          </a:bodyPr>
          <a:lstStyle/>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p:pic>
        <p:nvPicPr>
          <p:cNvPr id="4" name="Picture 3">
            <a:extLst>
              <a:ext uri="{FF2B5EF4-FFF2-40B4-BE49-F238E27FC236}">
                <a16:creationId xmlns:a16="http://schemas.microsoft.com/office/drawing/2014/main" id="{BC513528-9446-C8AA-A136-1A46C8D2F35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14" t="10842" r="9071"/>
          <a:stretch/>
        </p:blipFill>
        <p:spPr>
          <a:xfrm>
            <a:off x="838199" y="1343392"/>
            <a:ext cx="3660735" cy="2441657"/>
          </a:xfrm>
          <a:prstGeom prst="rect">
            <a:avLst/>
          </a:prstGeom>
        </p:spPr>
      </p:pic>
      <p:pic>
        <p:nvPicPr>
          <p:cNvPr id="7" name="Picture 6">
            <a:extLst>
              <a:ext uri="{FF2B5EF4-FFF2-40B4-BE49-F238E27FC236}">
                <a16:creationId xmlns:a16="http://schemas.microsoft.com/office/drawing/2014/main" id="{3C1D437B-A83C-554E-D000-BDD101D0079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54" t="9822" r="9410"/>
          <a:stretch/>
        </p:blipFill>
        <p:spPr>
          <a:xfrm>
            <a:off x="838903" y="4214429"/>
            <a:ext cx="3665347" cy="2540590"/>
          </a:xfrm>
          <a:prstGeom prst="rect">
            <a:avLst/>
          </a:prstGeom>
        </p:spPr>
      </p:pic>
    </p:spTree>
    <p:extLst>
      <p:ext uri="{BB962C8B-B14F-4D97-AF65-F5344CB8AC3E}">
        <p14:creationId xmlns:p14="http://schemas.microsoft.com/office/powerpoint/2010/main" val="287535121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
                        <m:r>
                          <m:rPr>
                            <m:nor/>
                          </m:rPr>
                          <a:rPr lang="pt-BR" i="0" dirty="0"/>
                          <m:t>Função de erro,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10035</TotalTime>
  <Words>21614</Words>
  <Application>Microsoft Office PowerPoint</Application>
  <PresentationFormat>Widescreen</PresentationFormat>
  <Paragraphs>1510</Paragraphs>
  <Slides>126</Slides>
  <Notes>82</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126</vt:i4>
      </vt:variant>
    </vt:vector>
  </HeadingPairs>
  <TitlesOfParts>
    <vt:vector size="134"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Apresentação do PowerPoint</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Apresentação do PowerPoint</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Apresentação do PowerPoint</vt:lpstr>
      <vt:lpstr>Regularização</vt:lpstr>
      <vt:lpstr>Early-stopping (parada antecipada)</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Regressão polinomial</vt:lpstr>
      <vt:lpstr>Apresentação do PowerPoint</vt:lpstr>
      <vt:lpstr>Impacto de outliers no modelo aprendido</vt:lpstr>
      <vt:lpstr>Apresentação do PowerPoint</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Quando utilizar cada tipo de regressão?</vt:lpstr>
      <vt:lpstr>Early-stopping: parada antecipada</vt:lpstr>
      <vt:lpstr>Early-stopping: parada antecipada</vt:lpstr>
      <vt:lpstr>Early-stopping: critério de parada</vt:lpstr>
      <vt:lpstr>Early-stopping</vt:lpstr>
      <vt:lpstr>Early-stopping</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2297</cp:revision>
  <dcterms:created xsi:type="dcterms:W3CDTF">2020-01-20T13:50:05Z</dcterms:created>
  <dcterms:modified xsi:type="dcterms:W3CDTF">2026-08-31T18:40:22Z</dcterms:modified>
</cp:coreProperties>
</file>