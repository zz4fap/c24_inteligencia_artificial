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8"/>
  </p:notesMasterIdLst>
  <p:handoutMasterIdLst>
    <p:handoutMasterId r:id="rId129"/>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617" r:id="rId28"/>
    <p:sldId id="533" r:id="rId29"/>
    <p:sldId id="435" r:id="rId30"/>
    <p:sldId id="448" r:id="rId31"/>
    <p:sldId id="536" r:id="rId32"/>
    <p:sldId id="411" r:id="rId33"/>
    <p:sldId id="432" r:id="rId34"/>
    <p:sldId id="415" r:id="rId35"/>
    <p:sldId id="566" r:id="rId36"/>
    <p:sldId id="412" r:id="rId37"/>
    <p:sldId id="413" r:id="rId38"/>
    <p:sldId id="450" r:id="rId39"/>
    <p:sldId id="434" r:id="rId40"/>
    <p:sldId id="614" r:id="rId41"/>
    <p:sldId id="615" r:id="rId42"/>
    <p:sldId id="414" r:id="rId43"/>
    <p:sldId id="572" r:id="rId44"/>
    <p:sldId id="416" r:id="rId45"/>
    <p:sldId id="451" r:id="rId46"/>
    <p:sldId id="417" r:id="rId47"/>
    <p:sldId id="419" r:id="rId48"/>
    <p:sldId id="425" r:id="rId49"/>
    <p:sldId id="537" r:id="rId50"/>
    <p:sldId id="418" r:id="rId51"/>
    <p:sldId id="539" r:id="rId52"/>
    <p:sldId id="542" r:id="rId53"/>
    <p:sldId id="423" r:id="rId54"/>
    <p:sldId id="580" r:id="rId55"/>
    <p:sldId id="424" r:id="rId56"/>
    <p:sldId id="429" r:id="rId57"/>
    <p:sldId id="540" r:id="rId58"/>
    <p:sldId id="431" r:id="rId59"/>
    <p:sldId id="583" r:id="rId60"/>
    <p:sldId id="584" r:id="rId61"/>
    <p:sldId id="554" r:id="rId62"/>
    <p:sldId id="555" r:id="rId63"/>
    <p:sldId id="549" r:id="rId64"/>
    <p:sldId id="461" r:id="rId65"/>
    <p:sldId id="557" r:id="rId66"/>
    <p:sldId id="558" r:id="rId67"/>
    <p:sldId id="559" r:id="rId68"/>
    <p:sldId id="560" r:id="rId69"/>
    <p:sldId id="561" r:id="rId70"/>
    <p:sldId id="562" r:id="rId71"/>
    <p:sldId id="563" r:id="rId72"/>
    <p:sldId id="543" r:id="rId73"/>
    <p:sldId id="437" r:id="rId74"/>
    <p:sldId id="436" r:id="rId75"/>
    <p:sldId id="443" r:id="rId76"/>
    <p:sldId id="444" r:id="rId77"/>
    <p:sldId id="565" r:id="rId78"/>
    <p:sldId id="567" r:id="rId79"/>
    <p:sldId id="568" r:id="rId80"/>
    <p:sldId id="604" r:id="rId81"/>
    <p:sldId id="605" r:id="rId82"/>
    <p:sldId id="467" r:id="rId83"/>
    <p:sldId id="338" r:id="rId84"/>
    <p:sldId id="573" r:id="rId85"/>
    <p:sldId id="370" r:id="rId86"/>
    <p:sldId id="293" r:id="rId87"/>
    <p:sldId id="306" r:id="rId88"/>
    <p:sldId id="446" r:id="rId89"/>
    <p:sldId id="438" r:id="rId90"/>
    <p:sldId id="440" r:id="rId91"/>
    <p:sldId id="441" r:id="rId92"/>
    <p:sldId id="551" r:id="rId93"/>
    <p:sldId id="442" r:id="rId94"/>
    <p:sldId id="552" r:id="rId95"/>
    <p:sldId id="553" r:id="rId96"/>
    <p:sldId id="445" r:id="rId97"/>
    <p:sldId id="447" r:id="rId98"/>
    <p:sldId id="608" r:id="rId99"/>
    <p:sldId id="607" r:id="rId100"/>
    <p:sldId id="452" r:id="rId101"/>
    <p:sldId id="569" r:id="rId102"/>
    <p:sldId id="589" r:id="rId103"/>
    <p:sldId id="582" r:id="rId104"/>
    <p:sldId id="586" r:id="rId105"/>
    <p:sldId id="587" r:id="rId106"/>
    <p:sldId id="588" r:id="rId107"/>
    <p:sldId id="590" r:id="rId108"/>
    <p:sldId id="591" r:id="rId109"/>
    <p:sldId id="592" r:id="rId110"/>
    <p:sldId id="593" r:id="rId111"/>
    <p:sldId id="594" r:id="rId112"/>
    <p:sldId id="595" r:id="rId113"/>
    <p:sldId id="597" r:id="rId114"/>
    <p:sldId id="600" r:id="rId115"/>
    <p:sldId id="458" r:id="rId116"/>
    <p:sldId id="601" r:id="rId117"/>
    <p:sldId id="384" r:id="rId118"/>
    <p:sldId id="602" r:id="rId119"/>
    <p:sldId id="611" r:id="rId120"/>
    <p:sldId id="459" r:id="rId121"/>
    <p:sldId id="610" r:id="rId122"/>
    <p:sldId id="399" r:id="rId123"/>
    <p:sldId id="397" r:id="rId124"/>
    <p:sldId id="609" r:id="rId125"/>
    <p:sldId id="579" r:id="rId126"/>
    <p:sldId id="577" r:id="rId1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5109" autoAdjust="0"/>
  </p:normalViewPr>
  <p:slideViewPr>
    <p:cSldViewPr snapToGrid="0">
      <p:cViewPr varScale="1">
        <p:scale>
          <a:sx n="62" d="100"/>
          <a:sy n="62" d="100"/>
        </p:scale>
        <p:origin x="1218"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presProps" Target="presProps.xml"/><Relationship Id="rId13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31/08/2026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31/08/2026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7.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05CC10E0-E8FB-599D-848C-D0CE71AD542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xmlns=""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8A3BB93D-CB06-261C-C4E9-14F7677A3D2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xmlns=""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EE31795-1D92-213A-9CDF-25BD6D59EAA3}"/>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xmlns=""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 bola "sabe" para qual </a:t>
            </a:r>
            <a:r>
              <a:rPr lang="en-US" sz="1200" b="0" i="0" kern="1200" dirty="0" err="1">
                <a:solidFill>
                  <a:schemeClr val="tx1"/>
                </a:solidFill>
                <a:effectLst/>
                <a:latin typeface="+mn-lt"/>
                <a:ea typeface="+mn-ea"/>
                <a:cs typeface="+mn-cs"/>
              </a:rPr>
              <a:t>lado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descer</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longo</a:t>
            </a:r>
            <a:r>
              <a:rPr lang="en-US" sz="1200" b="0" i="0" kern="1200" dirty="0">
                <a:solidFill>
                  <a:schemeClr val="tx1"/>
                </a:solidFill>
                <a:effectLst/>
                <a:latin typeface="+mn-lt"/>
                <a:ea typeface="+mn-ea"/>
                <a:cs typeface="+mn-cs"/>
              </a:rPr>
              <a:t> é o </a:t>
            </a:r>
            <a:r>
              <a:rPr lang="en-US" sz="1200" b="0" i="0" kern="1200" dirty="0" err="1">
                <a:solidFill>
                  <a:schemeClr val="tx1"/>
                </a:solidFill>
                <a:effectLst/>
                <a:latin typeface="+mn-lt"/>
                <a:ea typeface="+mn-ea"/>
                <a:cs typeface="+mn-cs"/>
              </a:rPr>
              <a:t>caminho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até</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fundo</a:t>
            </a:r>
            <a:r>
              <a:rPr lang="en-US" sz="1200" b="0" i="0" kern="1200" dirty="0">
                <a:solidFill>
                  <a:schemeClr val="tx1"/>
                </a:solidFill>
                <a:effectLst/>
                <a:latin typeface="+mn-lt"/>
                <a:ea typeface="+mn-ea"/>
                <a:cs typeface="+mn-cs"/>
              </a:rPr>
              <a:t>.</a:t>
            </a:r>
            <a:endParaRPr lang="pt-BR" dirty="0"/>
          </a:p>
          <a:p>
            <a:endParaRPr lang="pt-BR" dirty="0"/>
          </a:p>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AF18AB7-E93B-53DF-E1B4-3107CF6AFB54}"/>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5779427-8D44-CA0C-2C83-24A15441D10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55A0622F-F347-8783-B556-41DB3D1DCCEF}"/>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68F8CB8-0170-42D6-1175-4B2E71EB072C}"/>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6B015FDE-78CE-5A22-BEB0-1E4BEEBD792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B974647-2308-D5CF-6296-CD0D0A521FC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operação de derivada é distributiva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365724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Cada </a:t>
            </a:r>
            <a:r>
              <a:rPr lang="en-US" dirty="0" err="1"/>
              <a:t>termo</a:t>
            </a:r>
            <a:r>
              <a:rPr lang="en-US" dirty="0"/>
              <a:t> do </a:t>
            </a:r>
            <a:r>
              <a:rPr lang="en-US" dirty="0" err="1"/>
              <a:t>somatório</a:t>
            </a:r>
            <a:r>
              <a:rPr lang="en-US" dirty="0"/>
              <a:t> </a:t>
            </a:r>
            <a:r>
              <a:rPr lang="en-US" dirty="0" err="1"/>
              <a:t>pode</a:t>
            </a:r>
            <a:r>
              <a:rPr lang="en-US" dirty="0"/>
              <a:t> </a:t>
            </a:r>
            <a:r>
              <a:rPr lang="en-US" dirty="0" err="1"/>
              <a:t>apontar</a:t>
            </a:r>
            <a:r>
              <a:rPr lang="en-US" dirty="0"/>
              <a:t> para </a:t>
            </a:r>
            <a:r>
              <a:rPr lang="en-US" dirty="0" err="1"/>
              <a:t>uma</a:t>
            </a:r>
            <a:r>
              <a:rPr lang="en-US" dirty="0"/>
              <a:t> </a:t>
            </a:r>
            <a:r>
              <a:rPr lang="en-US" dirty="0" err="1"/>
              <a:t>direção</a:t>
            </a:r>
            <a:r>
              <a:rPr lang="en-US" dirty="0"/>
              <a:t> </a:t>
            </a:r>
            <a:r>
              <a:rPr lang="en-US" dirty="0" err="1"/>
              <a:t>diferente</a:t>
            </a:r>
            <a:r>
              <a:rPr lang="en-US" dirty="0"/>
              <a:t>, mas a </a:t>
            </a:r>
            <a:r>
              <a:rPr lang="en-US" dirty="0" err="1"/>
              <a:t>média</a:t>
            </a:r>
            <a:r>
              <a:rPr lang="en-US" dirty="0"/>
              <a:t> dos </a:t>
            </a:r>
            <a:r>
              <a:rPr lang="en-US" dirty="0" err="1"/>
              <a:t>vetores</a:t>
            </a:r>
            <a:r>
              <a:rPr lang="en-US" dirty="0"/>
              <a:t> </a:t>
            </a:r>
            <a:r>
              <a:rPr lang="en-US" dirty="0" err="1"/>
              <a:t>aponta</a:t>
            </a:r>
            <a:r>
              <a:rPr lang="en-US" dirty="0"/>
              <a:t> para </a:t>
            </a:r>
            <a:r>
              <a:rPr lang="en-US" dirty="0" err="1"/>
              <a:t>uma</a:t>
            </a:r>
            <a:r>
              <a:rPr lang="en-US" dirty="0"/>
              <a:t> </a:t>
            </a:r>
            <a:r>
              <a:rPr lang="en-US" dirty="0" err="1"/>
              <a:t>única</a:t>
            </a:r>
            <a:r>
              <a:rPr lang="en-US" dirty="0"/>
              <a:t> </a:t>
            </a:r>
            <a:r>
              <a:rPr lang="en-US" dirty="0" err="1"/>
              <a:t>direção</a:t>
            </a:r>
            <a:r>
              <a:rPr lang="en-US" dirty="0"/>
              <a:t>: a </a:t>
            </a:r>
            <a:r>
              <a:rPr lang="en-US" dirty="0" err="1"/>
              <a:t>direção</a:t>
            </a:r>
            <a:r>
              <a:rPr lang="en-US" dirty="0"/>
              <a:t> do </a:t>
            </a:r>
            <a:r>
              <a:rPr lang="en-US" dirty="0" err="1"/>
              <a:t>gradiente</a:t>
            </a:r>
            <a:r>
              <a:rPr lang="en-US" dirty="0"/>
              <a:t> da </a:t>
            </a:r>
            <a:r>
              <a:rPr lang="en-US" dirty="0" err="1"/>
              <a:t>função</a:t>
            </a:r>
            <a:r>
              <a:rPr lang="en-US" dirty="0"/>
              <a:t> de </a:t>
            </a:r>
            <a:r>
              <a:rPr lang="en-US" dirty="0" err="1"/>
              <a:t>erro</a:t>
            </a:r>
            <a:r>
              <a:rPr lang="en-US" dirty="0"/>
              <a:t> completa.</a:t>
            </a:r>
          </a:p>
          <a:p>
            <a:endParaRPr lang="en-US" dirty="0"/>
          </a:p>
          <a:p>
            <a:r>
              <a:rPr lang="en-US" dirty="0"/>
              <a:t>O </a:t>
            </a:r>
            <a:r>
              <a:rPr lang="en-US" dirty="0" err="1"/>
              <a:t>gradiente</a:t>
            </a:r>
            <a:r>
              <a:rPr lang="en-US" dirty="0"/>
              <a:t> </a:t>
            </a:r>
            <a:r>
              <a:rPr lang="en-US" dirty="0" err="1"/>
              <a:t>médio</a:t>
            </a:r>
            <a:r>
              <a:rPr lang="en-US" dirty="0"/>
              <a:t> </a:t>
            </a:r>
            <a:r>
              <a:rPr lang="en-US" dirty="0" err="1"/>
              <a:t>aponta</a:t>
            </a:r>
            <a:r>
              <a:rPr lang="en-US" dirty="0"/>
              <a:t> para a </a:t>
            </a:r>
            <a:r>
              <a:rPr lang="en-US" dirty="0" err="1"/>
              <a:t>direção</a:t>
            </a:r>
            <a:r>
              <a:rPr lang="en-US" dirty="0"/>
              <a:t> de </a:t>
            </a:r>
            <a:r>
              <a:rPr lang="en-US" dirty="0" err="1"/>
              <a:t>maior</a:t>
            </a:r>
            <a:r>
              <a:rPr lang="en-US" dirty="0"/>
              <a:t> </a:t>
            </a:r>
            <a:r>
              <a:rPr lang="en-US" dirty="0" err="1"/>
              <a:t>crescimento</a:t>
            </a:r>
            <a:r>
              <a:rPr lang="en-US" dirty="0"/>
              <a:t> </a:t>
            </a:r>
            <a:r>
              <a:rPr lang="en-US" dirty="0" err="1"/>
              <a:t>médio</a:t>
            </a:r>
            <a:r>
              <a:rPr lang="en-US" dirty="0"/>
              <a:t> da </a:t>
            </a:r>
            <a:r>
              <a:rPr lang="en-US" dirty="0" err="1"/>
              <a:t>função</a:t>
            </a:r>
            <a:r>
              <a:rPr lang="en-US" dirty="0"/>
              <a:t> de </a:t>
            </a:r>
            <a:r>
              <a:rPr lang="en-US" dirty="0" err="1"/>
              <a:t>erro</a:t>
            </a:r>
            <a:endParaRPr lang="en-US" dirty="0"/>
          </a:p>
          <a:p>
            <a:endParaRPr lang="en-US" dirty="0"/>
          </a:p>
          <a:p>
            <a:endParaRPr lang="en-US" dirty="0"/>
          </a:p>
          <a:p>
            <a:r>
              <a:rPr lang="pt-BR" dirty="0"/>
              <a:t/>
            </a:r>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 </a:t>
            </a:r>
            <a:r>
              <a:rPr lang="en-US" dirty="0" err="1"/>
              <a:t>desvio</a:t>
            </a:r>
            <a:r>
              <a:rPr lang="en-US" dirty="0"/>
              <a:t> </a:t>
            </a:r>
            <a:r>
              <a:rPr lang="en-US" dirty="0" err="1"/>
              <a:t>padrão</a:t>
            </a:r>
            <a:r>
              <a:rPr lang="en-US" dirty="0"/>
              <a:t> </a:t>
            </a:r>
            <a:r>
              <a:rPr lang="en-US" dirty="0" err="1"/>
              <a:t>baixo</a:t>
            </a:r>
            <a:r>
              <a:rPr lang="en-US" dirty="0"/>
              <a:t> indica </a:t>
            </a:r>
            <a:r>
              <a:rPr lang="en-US" dirty="0" err="1"/>
              <a:t>que</a:t>
            </a:r>
            <a:r>
              <a:rPr lang="en-US" dirty="0"/>
              <a:t> o </a:t>
            </a:r>
            <a:r>
              <a:rPr lang="en-US" dirty="0" err="1"/>
              <a:t>desempenho</a:t>
            </a:r>
            <a:r>
              <a:rPr lang="en-US" dirty="0"/>
              <a:t> do </a:t>
            </a:r>
            <a:r>
              <a:rPr lang="en-US" dirty="0" err="1"/>
              <a:t>modelo</a:t>
            </a:r>
            <a:r>
              <a:rPr lang="en-US" dirty="0"/>
              <a:t> é </a:t>
            </a:r>
            <a:r>
              <a:rPr lang="en-US" dirty="0" err="1"/>
              <a:t>consistente</a:t>
            </a:r>
            <a:r>
              <a:rPr lang="en-US" dirty="0"/>
              <a:t> </a:t>
            </a:r>
            <a:r>
              <a:rPr lang="en-US" dirty="0" err="1"/>
              <a:t>independentemente</a:t>
            </a:r>
            <a:r>
              <a:rPr lang="en-US" dirty="0"/>
              <a:t> de </a:t>
            </a:r>
            <a:r>
              <a:rPr lang="en-US" dirty="0" err="1"/>
              <a:t>como</a:t>
            </a:r>
            <a:r>
              <a:rPr lang="en-US" dirty="0"/>
              <a:t> </a:t>
            </a:r>
            <a:r>
              <a:rPr lang="en-US" dirty="0" err="1"/>
              <a:t>os</a:t>
            </a:r>
            <a:r>
              <a:rPr lang="en-US" dirty="0"/>
              <a:t> dados </a:t>
            </a:r>
            <a:r>
              <a:rPr lang="en-US" dirty="0" err="1"/>
              <a:t>foram</a:t>
            </a:r>
            <a:r>
              <a:rPr lang="en-US" dirty="0"/>
              <a:t> </a:t>
            </a:r>
            <a:r>
              <a:rPr lang="en-US" dirty="0" err="1"/>
              <a:t>divididos</a:t>
            </a:r>
            <a:r>
              <a:rPr lang="en-US" dirty="0"/>
              <a:t>.</a:t>
            </a:r>
            <a:endParaRPr lang="pt-BR" dirty="0"/>
          </a:p>
          <a:p>
            <a:endParaRPr lang="pt-BR" dirty="0"/>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8C5B482-0D08-D7C1-40A0-E159FB91CD1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xmlns="" id="{F4876685-75FD-D2D5-B8B2-395812A47E16}"/>
              </a:ext>
            </a:extLst>
          </p:cNvPr>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Occam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79</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Encerra o treinamento quando o modelo começa sobreajustar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xmlns=""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83</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101</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9EBC82F-8B5B-3288-61CC-79BFAF89D13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xmlns="" id="{9D01B4F3-B3B8-A2F5-DD71-1CD91D7458CF}"/>
              </a:ext>
            </a:extLst>
          </p:cNvPr>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826A627-C493-7BC5-26F0-8F8BC31570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xmlns="" id="{873FE963-A65D-1D91-323F-535C42DC5ED4}"/>
              </a:ext>
            </a:extLst>
          </p:cNvPr>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17F37CF-1D76-2644-52BE-23ADA5650B5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xmlns="" id="{8B1F7C99-86C3-4AAA-56E8-11E1CD345EC4}"/>
              </a:ext>
            </a:extLst>
          </p:cNvPr>
          <p:cNvSpPr>
            <a:spLocks noGrp="1"/>
          </p:cNvSpPr>
          <p:nvPr>
            <p:ph type="sldNum" sz="quarter" idx="10"/>
          </p:nvPr>
        </p:nvSpPr>
        <p:spPr/>
        <p:txBody>
          <a:bodyPr/>
          <a:lstStyle/>
          <a:p>
            <a:fld id="{DA8B99DF-01BC-492A-8CEF-4FD88D18DD9D}" type="slidenum">
              <a:rPr lang="nl-BE" smtClean="0"/>
              <a:t>124</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1.xml.rels><?xml version="1.0" encoding="UTF-8" standalone="yes"?>
<Relationships xmlns="http://schemas.openxmlformats.org/package/2006/relationships"><Relationship Id="rId3" Type="http://schemas.openxmlformats.org/officeDocument/2006/relationships/image" Target="../media/image542.png"/><Relationship Id="rId2" Type="http://schemas.openxmlformats.org/officeDocument/2006/relationships/image" Target="../media/image58.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68.jpeg"/></Relationships>
</file>

<file path=ppt/slides/_rels/slide6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74.png"/><Relationship Id="rId4" Type="http://schemas.openxmlformats.org/officeDocument/2006/relationships/image" Target="../media/image620.png"/></Relationships>
</file>

<file path=ppt/slides/_rels/slide7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74.png"/></Relationships>
</file>

<file path=ppt/slides/_rels/slide7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78.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78.png"/></Relationships>
</file>

<file path=ppt/slides/_rels/slide8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1.jpeg"/><Relationship Id="rId4" Type="http://schemas.openxmlformats.org/officeDocument/2006/relationships/image" Target="../media/image8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87.png"/></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89.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NULL"/><Relationship Id="rId4" Type="http://schemas.openxmlformats.org/officeDocument/2006/relationships/image" Target="NUL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7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92.pn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12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95.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xmlns=""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xmlns=""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xmlns=""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xmlns=""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xmlns=""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xmlns=""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xmlns=""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xmlns=""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xmlns=""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a16="http://schemas.microsoft.com/office/drawing/2014/main" xmlns=""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a16="http://schemas.microsoft.com/office/drawing/2014/main" xmlns=""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xmlns=""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a16="http://schemas.microsoft.com/office/drawing/2014/main" xmlns=""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a16="http://schemas.microsoft.com/office/drawing/2014/main" xmlns=""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r>
                  <a:rPr lang="pt-BR" dirty="0"/>
                  <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xmlns=""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xmlns=""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xmlns=""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xmlns=""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xmlns=""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xmlns=""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xmlns=""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xmlns=""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xmlns=""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xmlns=""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h</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h</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 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oMath>
                </a14:m>
                <a:r>
                  <a:rPr lang="pt-BR" dirty="0"/>
                  <a:t>.</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a:latin typeface="Cambria Math" panose="02040503050406030204" pitchFamily="18" charset="0"/>
                                        </a:rPr>
                                        <m:t>=</m:t>
                                      </m:r>
                                      <m:r>
                                        <a:rPr lang="pt-BR" i="1" dirty="0">
                                          <a:latin typeface="Cambria Math" panose="02040503050406030204" pitchFamily="18" charset="0"/>
                                        </a:rPr>
                                        <m:t>h</m:t>
                                      </m:r>
                                      <m:r>
                                        <a:rPr lang="pt-BR" b="1" i="1" dirty="0">
                                          <a:latin typeface="Cambria Math" panose="02040503050406030204" pitchFamily="18" charset="0"/>
                                        </a:rPr>
                                        <m:t>(</m:t>
                                      </m:r>
                                      <m:r>
                                        <a:rPr lang="pt-BR" b="1" i="1" dirty="0">
                                          <a:latin typeface="Cambria Math" panose="02040503050406030204" pitchFamily="18" charset="0"/>
                                        </a:rPr>
                                        <m:t>𝒙</m:t>
                                      </m:r>
                                      <m:r>
                                        <a:rPr lang="pt-BR" b="1" i="1" dirty="0">
                                          <a:latin typeface="Cambria Math" panose="02040503050406030204" pitchFamily="18" charset="0"/>
                                        </a:rPr>
                                        <m:t>)</m:t>
                                      </m:r>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rotWithShape="0">
                <a:blip r:embed="rId2"/>
                <a:stretch>
                  <a:fillRect l="-928" t="-1937" r="-1584"/>
                </a:stretch>
              </a:blipFill>
            </p:spPr>
            <p:txBody>
              <a:bodyPr/>
              <a:lstStyle/>
              <a:p>
                <a:r>
                  <a:rPr lang="pt-BR">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b="1"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xmlns=""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xmlns="" val="2676689337"/>
                        </a:ext>
                      </a:extLst>
                    </a:gridCol>
                    <a:gridCol w="5046642">
                      <a:extLst>
                        <a:ext uri="{9D8B030D-6E8A-4147-A177-3AD203B41FA5}">
                          <a16:colId xmlns:a16="http://schemas.microsoft.com/office/drawing/2014/main" xmlns="" val="921422884"/>
                        </a:ext>
                      </a:extLst>
                    </a:gridCol>
                    <a:gridCol w="4654613">
                      <a:extLst>
                        <a:ext uri="{9D8B030D-6E8A-4147-A177-3AD203B41FA5}">
                          <a16:colId xmlns:a16="http://schemas.microsoft.com/office/drawing/2014/main" xmlns=""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da</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70400338"/>
                      </a:ext>
                    </a:extLst>
                  </a:tr>
                </a:tbl>
              </a:graphicData>
            </a:graphic>
          </p:graphicFrame>
        </mc:Choice>
        <mc:Fallback xmlns="">
          <p:graphicFrame>
            <p:nvGraphicFramePr>
              <p:cNvPr id="4" name="Content Placeholder 3">
                <a:extLst>
                  <a:ext uri="{FF2B5EF4-FFF2-40B4-BE49-F238E27FC236}">
                    <a16:creationId xmlns="" xmlns:a16="http://schemas.microsoft.com/office/drawing/2014/main" xmlns:a14="http://schemas.microsoft.com/office/drawing/2010/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 xmlns:a16="http://schemas.microsoft.com/office/drawing/2014/main" xmlns:a14="http://schemas.microsoft.com/office/drawing/2010/main" val="2676689337"/>
                        </a:ext>
                      </a:extLst>
                    </a:gridCol>
                    <a:gridCol w="5046642">
                      <a:extLst>
                        <a:ext uri="{9D8B030D-6E8A-4147-A177-3AD203B41FA5}">
                          <a16:colId xmlns="" xmlns:a16="http://schemas.microsoft.com/office/drawing/2014/main" xmlns:a14="http://schemas.microsoft.com/office/drawing/2010/main" val="921422884"/>
                        </a:ext>
                      </a:extLst>
                    </a:gridCol>
                    <a:gridCol w="4654613">
                      <a:extLst>
                        <a:ext uri="{9D8B030D-6E8A-4147-A177-3AD203B41FA5}">
                          <a16:colId xmlns="" xmlns:a16="http://schemas.microsoft.com/office/drawing/2014/main" xmlns:a14="http://schemas.microsoft.com/office/drawing/2010/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207692" r="-92512" b="-812308"/>
                          </a:stretch>
                        </a:blip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207692" r="-262" b="-812308"/>
                          </a:stretch>
                        </a:blipFill>
                      </a:tcPr>
                    </a:tc>
                    <a:extLst>
                      <a:ext uri="{0D108BD9-81ED-4DB2-BD59-A6C34878D82A}">
                        <a16:rowId xmlns="" xmlns:a16="http://schemas.microsoft.com/office/drawing/2014/main" xmlns:a14="http://schemas.microsoft.com/office/drawing/2010/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168302" r="-262" b="-6415"/>
                          </a:stretch>
                        </a:blipFill>
                      </a:tcPr>
                    </a:tc>
                    <a:extLst>
                      <a:ext uri="{0D108BD9-81ED-4DB2-BD59-A6C34878D82A}">
                        <a16:rowId xmlns="" xmlns:a16="http://schemas.microsoft.com/office/drawing/2014/main" xmlns:a14="http://schemas.microsoft.com/office/drawing/2010/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xmlns=""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e visual da 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 xmlns:a16="http://schemas.microsoft.com/office/drawing/2014/main" xmlns:a14="http://schemas.microsoft.com/office/drawing/2010/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rotWithShape="0">
                <a:blip r:embed="rId3"/>
                <a:stretch>
                  <a:fillRect l="-1592" t="-1937" r="-2299"/>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xmlns=""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𝒂</m:t>
                              </m:r>
                            </m:e>
                          </m:d>
                          <m:r>
                            <a:rPr lang="pt-BR" sz="24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i="1">
                                  <a:latin typeface="Cambria Math" panose="02040503050406030204" pitchFamily="18" charset="0"/>
                                </a:rPr>
                                <m:t>𝑁</m:t>
                              </m:r>
                            </m:den>
                          </m:f>
                          <m:d>
                            <m:dPr>
                              <m:begChr m:val="‖"/>
                              <m:endChr m:val="‖"/>
                              <m:ctrlPr>
                                <a:rPr lang="pt-BR" sz="2000" b="1" i="1">
                                  <a:latin typeface="Cambria Math" panose="02040503050406030204" pitchFamily="18" charset="0"/>
                                </a:rPr>
                              </m:ctrlPr>
                            </m:dPr>
                            <m:e>
                              <m:r>
                                <a:rPr lang="pt-BR" sz="2000" b="1" i="1">
                                  <a:latin typeface="Cambria Math" panose="02040503050406030204" pitchFamily="18" charset="0"/>
                                </a:rPr>
                                <m:t>𝒚</m:t>
                              </m:r>
                              <m:r>
                                <a:rPr lang="pt-BR" sz="2000" i="1">
                                  <a:latin typeface="Cambria Math" panose="02040503050406030204" pitchFamily="18" charset="0"/>
                                </a:rPr>
                                <m:t> −</m:t>
                              </m:r>
                              <m:r>
                                <a:rPr lang="pt-BR" sz="2000" b="1" i="1">
                                  <a:latin typeface="Cambria Math" panose="02040503050406030204" pitchFamily="18" charset="0"/>
                                </a:rPr>
                                <m:t>𝑿𝒂</m:t>
                              </m:r>
                            </m:e>
                          </m:d>
                        </m:e>
                        <m:sup>
                          <m:r>
                            <a:rPr lang="pt-BR" sz="20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pt-BR" sz="2400" b="1" i="1">
                                <a:latin typeface="Cambria Math" panose="02040503050406030204" pitchFamily="18" charset="0"/>
                              </a:rPr>
                            </m:ctrlPr>
                          </m:limLowPr>
                          <m:e>
                            <m:groupChr>
                              <m:groupChrPr>
                                <m:chr m:val="⏟"/>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terá 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 xmlns:a16="http://schemas.microsoft.com/office/drawing/2014/main" xmlns:a14="http://schemas.microsoft.com/office/drawing/2010/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rotWithShape="0">
                <a:blip r:embed="rId3"/>
                <a:stretch>
                  <a:fillRect l="-1810"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xmlns=""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xmlns="" id="{2E75DE34-0603-3089-D41E-8F16B6BD358C}"/>
              </a:ext>
            </a:extLst>
          </p:cNvPr>
          <p:cNvSpPr/>
          <p:nvPr/>
        </p:nvSpPr>
        <p:spPr>
          <a:xfrm>
            <a:off x="9889255" y="3773714"/>
            <a:ext cx="1158957" cy="7547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xmlns=""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xmlns="" id="{937BDBF2-CD1E-BFE4-16C2-CB92C782157B}"/>
              </a:ext>
            </a:extLst>
          </p:cNvPr>
          <p:cNvSpPr txBox="1"/>
          <p:nvPr/>
        </p:nvSpPr>
        <p:spPr>
          <a:xfrm>
            <a:off x="0" y="6590265"/>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81743" y="2394306"/>
            <a:ext cx="10515600" cy="1742265"/>
          </a:xfrm>
        </p:spPr>
        <p:txBody>
          <a:bodyPr/>
          <a:lstStyle/>
          <a:p>
            <a:pPr marL="0" indent="0" algn="ctr">
              <a:buNone/>
            </a:pPr>
            <a:r>
              <a:rPr lang="pt-BR" sz="5400" dirty="0"/>
              <a:t>Qual é a ideia geral por trás do gradiente descendente?</a:t>
            </a:r>
            <a:endParaRPr lang="en-US" sz="5400" dirty="0"/>
          </a:p>
        </p:txBody>
      </p:sp>
    </p:spTree>
    <p:extLst>
      <p:ext uri="{BB962C8B-B14F-4D97-AF65-F5344CB8AC3E}">
        <p14:creationId xmlns:p14="http://schemas.microsoft.com/office/powerpoint/2010/main" val="5780893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solidFill>
                      <a:srgbClr val="00B0F0"/>
                    </a:solidFill>
                  </a:rPr>
                  <a:t>pesos aleatórios </a:t>
                </a:r>
                <a:r>
                  <a:rPr lang="pt-BR" b="1" dirty="0"/>
                  <a:t>(i.e., ponto aleatório) </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rotWithShape="0">
                <a:blip r:embed="rId2"/>
                <a:stretch>
                  <a:fillRect l="-1701" t="-1937"/>
                </a:stretch>
              </a:blipFill>
            </p:spPr>
            <p:txBody>
              <a:bodyPr/>
              <a:lstStyle/>
              <a:p>
                <a:r>
                  <a:rPr lang="pt-BR">
                    <a:noFill/>
                  </a:rPr>
                  <a:t> </a:t>
                </a:r>
              </a:p>
            </p:txBody>
          </p:sp>
        </mc:Fallback>
      </mc:AlternateContent>
      <p:grpSp>
        <p:nvGrpSpPr>
          <p:cNvPr id="4" name="Agrupar 4">
            <a:extLst>
              <a:ext uri="{FF2B5EF4-FFF2-40B4-BE49-F238E27FC236}">
                <a16:creationId xmlns:a16="http://schemas.microsoft.com/office/drawing/2014/main" xmlns=""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xmlns=""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xmlns=""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xmlns=""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xmlns=""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xmlns=""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xmlns=""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xmlns=""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xmlns=""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xmlns=""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xmlns=""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xmlns=""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xmlns=""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xmlns=""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xmlns=""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xmlns=""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xmlns=""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xmlns=""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xmlns=""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xmlns=""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xmlns=""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xmlns=""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xmlns=""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xmlns=""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xmlns=""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xmlns=""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xmlns=""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xmlns=""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xmlns=""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xmlns=""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xmlns="" id="{0C28C885-5E71-B2B1-A1C0-BB5E866BD112}"/>
              </a:ext>
            </a:extLst>
          </p:cNvPr>
          <p:cNvSpPr txBox="1"/>
          <p:nvPr/>
        </p:nvSpPr>
        <p:spPr>
          <a:xfrm>
            <a:off x="580571" y="5485769"/>
            <a:ext cx="4573780" cy="830997"/>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xmlns=""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xmlns=""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xmlns=""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47010" y="1825624"/>
                <a:ext cx="684499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devemos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pela </a:t>
                </a:r>
                <a:r>
                  <a:rPr lang="pt-BR" b="1" dirty="0">
                    <a:solidFill>
                      <a:schemeClr val="accent1"/>
                    </a:solidFill>
                  </a:rPr>
                  <a:t>taxa de aprendizagem</a:t>
                </a:r>
                <a:r>
                  <a:rPr lang="pt-BR" dirty="0"/>
                  <a:t>,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347010" y="1825624"/>
                <a:ext cx="6844990" cy="5032376"/>
              </a:xfrm>
              <a:blipFill>
                <a:blip r:embed="rId3"/>
                <a:stretch>
                  <a:fillRect l="-1603" t="-1937" r="-204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xmlns=""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DAFB368-64B7-FC99-5EB4-63434C72A0BE}"/>
                  </a:ext>
                </a:extLst>
              </p:cNvPr>
              <p:cNvSpPr>
                <a:spLocks noGrp="1"/>
              </p:cNvSpPr>
              <p:nvPr>
                <p:ph idx="1"/>
              </p:nvPr>
            </p:nvSpPr>
            <p:spPr>
              <a:xfrm>
                <a:off x="5897232" y="1825624"/>
                <a:ext cx="6294765"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Os pesos são </a:t>
                </a:r>
                <a:r>
                  <a:rPr lang="pt-BR" b="1" dirty="0">
                    <a:solidFill>
                      <a:srgbClr val="00B0F0"/>
                    </a:solidFill>
                  </a:rPr>
                  <a:t>atualizados iterativamente </a:t>
                </a:r>
                <a:r>
                  <a:rPr lang="pt-BR" dirty="0"/>
                  <a:t>usando a equação:</a:t>
                </a:r>
              </a:p>
              <a:p>
                <a:pPr marL="0" indent="0">
                  <a:buNone/>
                </a:pPr>
                <a:endParaRPr lang="pt-BR" sz="100" dirty="0"/>
              </a:p>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e>
                          </m:d>
                        </m:num>
                        <m:den>
                          <m:r>
                            <a:rPr lang="pt-BR" dirty="0" smtClean="0">
                              <a:latin typeface="Cambria Math" panose="02040503050406030204" pitchFamily="18" charset="0"/>
                            </a:rPr>
                            <m:t>𝜕</m:t>
                          </m:r>
                          <m:r>
                            <a:rPr lang="pt-BR" dirty="0" smtClean="0">
                              <a:latin typeface="Cambria Math" panose="02040503050406030204" pitchFamily="18" charset="0"/>
                            </a:rPr>
                            <m:t>𝑎</m:t>
                          </m:r>
                        </m:den>
                      </m:f>
                      <m:r>
                        <a:rPr lang="pt-BR" b="0" i="1" dirty="0" smtClean="0">
                          <a:latin typeface="Cambria Math" panose="02040503050406030204" pitchFamily="18" charset="0"/>
                        </a:rPr>
                        <m:t>,</m:t>
                      </m:r>
                    </m:oMath>
                  </m:oMathPara>
                </a14:m>
                <a:endParaRPr lang="pt-BR" dirty="0"/>
              </a:p>
              <a:p>
                <a:pPr marL="0" indent="0">
                  <a:buNone/>
                </a:pPr>
                <a:r>
                  <a:rPr lang="pt-BR" dirty="0">
                    <a:ea typeface="Cambria Math" panose="02040503050406030204" pitchFamily="18" charset="0"/>
                  </a:rPr>
                  <a:t>onde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deve ser sempre maior do que 0.</a:t>
                </a:r>
                <a:endParaRPr lang="pt-BR" sz="1400" dirty="0"/>
              </a:p>
              <a:p>
                <a:r>
                  <a:rPr lang="pt-BR" dirty="0"/>
                  <a:t>Ela é chamada de </a:t>
                </a:r>
                <a:r>
                  <a:rPr lang="pt-BR" b="1" dirty="0">
                    <a:solidFill>
                      <a:srgbClr val="7030A0"/>
                    </a:solidFill>
                  </a:rPr>
                  <a:t>equação de atualização dos pesos.</a:t>
                </a:r>
              </a:p>
              <a:p>
                <a:r>
                  <a:rPr lang="pt-BR" dirty="0"/>
                  <a:t>Vejamos como ela funciona.</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2" y="1825624"/>
                <a:ext cx="6294765" cy="5032376"/>
              </a:xfrm>
              <a:blipFill>
                <a:blip r:embed="rId3"/>
                <a:stretch>
                  <a:fillRect l="-1936" t="-1937" r="-3291" b="-1574"/>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xmlns="" id="{01C22BBB-35EB-E308-FDB7-BCA9B063B091}"/>
              </a:ext>
            </a:extLst>
          </p:cNvPr>
          <p:cNvSpPr txBox="1"/>
          <p:nvPr/>
        </p:nvSpPr>
        <p:spPr>
          <a:xfrm>
            <a:off x="9044614" y="3479939"/>
            <a:ext cx="1598943" cy="430887"/>
          </a:xfrm>
          <a:prstGeom prst="rect">
            <a:avLst/>
          </a:prstGeom>
          <a:noFill/>
        </p:spPr>
        <p:txBody>
          <a:bodyPr wrap="square" rtlCol="0">
            <a:spAutoFit/>
          </a:bodyPr>
          <a:lstStyle/>
          <a:p>
            <a:pPr algn="ctr"/>
            <a:r>
              <a:rPr lang="pt-BR" sz="1100" dirty="0"/>
              <a:t>sentido aposto ao apontado pelo gradiente</a:t>
            </a:r>
          </a:p>
        </p:txBody>
      </p:sp>
      <p:cxnSp>
        <p:nvCxnSpPr>
          <p:cNvPr id="16" name="Conector de Seta Reta 49">
            <a:extLst>
              <a:ext uri="{FF2B5EF4-FFF2-40B4-BE49-F238E27FC236}">
                <a16:creationId xmlns:a16="http://schemas.microsoft.com/office/drawing/2014/main" xmlns="" id="{A6DFF2D4-9482-CE1A-10F2-E2E0D4FD3158}"/>
              </a:ext>
            </a:extLst>
          </p:cNvPr>
          <p:cNvCxnSpPr>
            <a:cxnSpLocks/>
          </p:cNvCxnSpPr>
          <p:nvPr/>
        </p:nvCxnSpPr>
        <p:spPr>
          <a:xfrm flipV="1">
            <a:off x="9044614" y="3867167"/>
            <a:ext cx="413711" cy="47464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b="1" dirty="0">
                    <a:solidFill>
                      <a:srgbClr val="00B050"/>
                    </a:solidFill>
                  </a:rPr>
                  <a:t>somado</a:t>
                </a:r>
                <a:r>
                  <a:rPr lang="pt-BR" dirty="0"/>
                  <a:t>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r="-1375"/>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b="1" dirty="0">
                    <a:solidFill>
                      <a:srgbClr val="00B050"/>
                    </a:solidFill>
                  </a:rPr>
                  <a:t>subtraído</a:t>
                </a:r>
                <a:r>
                  <a:rPr lang="pt-BR" dirty="0"/>
                  <a:t> 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a16="http://schemas.microsoft.com/office/drawing/2014/main" xmlns=""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xmlns="" id="{79409339-B873-6CD8-ABD2-05EB218DE072}"/>
              </a:ext>
            </a:extLst>
          </p:cNvPr>
          <p:cNvSpPr txBox="1"/>
          <p:nvPr/>
        </p:nvSpPr>
        <p:spPr>
          <a:xfrm>
            <a:off x="4570743" y="4280317"/>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0EE88986-EB8C-724C-244A-3D5A37DAF924}"/>
                  </a:ext>
                </a:extLst>
              </p:cNvPr>
              <p:cNvSpPr txBox="1"/>
              <p:nvPr/>
            </p:nvSpPr>
            <p:spPr>
              <a:xfrm>
                <a:off x="4044575" y="459203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4044575" y="4592036"/>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xmlns=""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xmlns=""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2A2FFB7B-0A97-529B-F3AB-053420899F77}"/>
                  </a:ext>
                </a:extLst>
              </p:cNvPr>
              <p:cNvSpPr txBox="1"/>
              <p:nvPr/>
            </p:nvSpPr>
            <p:spPr>
              <a:xfrm>
                <a:off x="3383787" y="4572994"/>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3383787" y="4572994"/>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xmlns=""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xmlns=""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a:t>
            </a:r>
            <a:r>
              <a:rPr lang="pt-BR" dirty="0"/>
              <a:t>(direção e taxa de crescimento) </a:t>
            </a:r>
            <a:r>
              <a:rPr lang="pt-BR" b="1" dirty="0">
                <a:solidFill>
                  <a:srgbClr val="00B050"/>
                </a:solidFill>
              </a:rPr>
              <a:t>e uma taxa de aprendizagem</a:t>
            </a:r>
            <a:r>
              <a:rPr lang="pt-BR" dirty="0"/>
              <a:t>,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sp>
        <p:nvSpPr>
          <p:cNvPr id="24" name="Forma Livre: Forma 23">
            <a:extLst>
              <a:ext uri="{FF2B5EF4-FFF2-40B4-BE49-F238E27FC236}">
                <a16:creationId xmlns:a16="http://schemas.microsoft.com/office/drawing/2014/main" xmlns="" id="{9A12137B-7F18-FBD1-C41B-49EAEE2E86BB}"/>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6601733F-F691-6113-4CE5-21289B583C5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B8CFE0C7-A4E7-CB3C-2885-FF1D03CA5B16}"/>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6BD4D9E-8F31-6602-8EEC-75C6316A991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xmlns="" xmlns:a14="http://schemas.microsoft.com/office/drawing/2010/main" id="{36BD4D9E-8F31-6602-8EEC-75C6316A991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rotWithShape="0">
                <a:blip r:embed="rId3"/>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2628AFDC-5BFB-8F3F-6004-42AA7668BB44}"/>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6658C28E-0283-FC4A-0B5C-5DCDAE0EE825}"/>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1B97234F-4121-972D-142A-35653790BFFF}"/>
              </a:ext>
            </a:extLst>
          </p:cNvPr>
          <p:cNvSpPr txBox="1"/>
          <p:nvPr/>
        </p:nvSpPr>
        <p:spPr>
          <a:xfrm>
            <a:off x="2683583" y="4163759"/>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6A266EC2-2029-0C02-4116-56D7140603B0}"/>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A0E030FB-67BC-546E-A99D-10C41F6A8A3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DFCED1A8-F4A0-74EF-81A0-62573FF0B969}"/>
              </a:ext>
            </a:extLst>
          </p:cNvPr>
          <p:cNvSpPr/>
          <p:nvPr/>
        </p:nvSpPr>
        <p:spPr>
          <a:xfrm>
            <a:off x="12736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8DDE6786-40C0-06F9-CF5C-BA07DAFCB799}"/>
              </a:ext>
            </a:extLst>
          </p:cNvPr>
          <p:cNvCxnSpPr/>
          <p:nvPr/>
        </p:nvCxnSpPr>
        <p:spPr>
          <a:xfrm>
            <a:off x="973059" y="2886646"/>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CAA5059E-2CB9-4291-0468-98399C4B2773}"/>
              </a:ext>
            </a:extLst>
          </p:cNvPr>
          <p:cNvCxnSpPr>
            <a:cxnSpLocks/>
          </p:cNvCxnSpPr>
          <p:nvPr/>
        </p:nvCxnSpPr>
        <p:spPr>
          <a:xfrm>
            <a:off x="1295097" y="2865414"/>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8CE3E78D-2832-6D21-5620-AF91D0D92A40}"/>
              </a:ext>
            </a:extLst>
          </p:cNvPr>
          <p:cNvSpPr txBox="1"/>
          <p:nvPr/>
        </p:nvSpPr>
        <p:spPr>
          <a:xfrm>
            <a:off x="1173996" y="268441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009E9506-63AD-0EFC-ECF4-7CD8F23DBFF3}"/>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xmlns="" xmlns:a14="http://schemas.microsoft.com/office/drawing/2010/main" id="{009E9506-63AD-0EFC-ECF4-7CD8F23DBFF3}"/>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3616B305-9CB0-B473-C7BF-EA4FB5BC2D55}"/>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xmlns="" xmlns:a14="http://schemas.microsoft.com/office/drawing/2010/main" id="{3616B305-9CB0-B473-C7BF-EA4FB5BC2D55}"/>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rotWithShape="0">
                <a:blip r:embed="rId5"/>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D8D8EBA8-9252-FA17-0758-3EC098D4A552}"/>
              </a:ext>
            </a:extLst>
          </p:cNvPr>
          <p:cNvCxnSpPr>
            <a:cxnSpLocks/>
          </p:cNvCxnSpPr>
          <p:nvPr/>
        </p:nvCxnSpPr>
        <p:spPr>
          <a:xfrm>
            <a:off x="1295851" y="2885809"/>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5C3BA385-0F21-9DE3-C731-2E356FD76FBC}"/>
              </a:ext>
            </a:extLst>
          </p:cNvPr>
          <p:cNvSpPr/>
          <p:nvPr/>
        </p:nvSpPr>
        <p:spPr>
          <a:xfrm>
            <a:off x="190160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2D44C00B-D931-A8A7-3AD9-75A394317A2C}"/>
              </a:ext>
            </a:extLst>
          </p:cNvPr>
          <p:cNvSpPr/>
          <p:nvPr/>
        </p:nvSpPr>
        <p:spPr>
          <a:xfrm>
            <a:off x="1314106" y="2884757"/>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FBAEB95B-710F-E24C-28C3-5A9AC998E627}"/>
              </a:ext>
            </a:extLst>
          </p:cNvPr>
          <p:cNvSpPr txBox="1"/>
          <p:nvPr/>
        </p:nvSpPr>
        <p:spPr>
          <a:xfrm>
            <a:off x="1872422" y="3579652"/>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C175C0BA-5097-143C-81A3-F410417F7E1C}"/>
                  </a:ext>
                </a:extLst>
              </p:cNvPr>
              <p:cNvSpPr txBox="1"/>
              <p:nvPr/>
            </p:nvSpPr>
            <p:spPr>
              <a:xfrm>
                <a:off x="2328284" y="38033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novo</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xmlns="" xmlns:a14="http://schemas.microsoft.com/office/drawing/2010/main" id="{C175C0BA-5097-143C-81A3-F410417F7E1C}"/>
                  </a:ext>
                </a:extLst>
              </p:cNvPr>
              <p:cNvSpPr txBox="1">
                <a:spLocks noRot="1" noChangeAspect="1" noMove="1" noResize="1" noEditPoints="1" noAdjustHandles="1" noChangeArrowheads="1" noChangeShapeType="1" noTextEdit="1"/>
              </p:cNvSpPr>
              <p:nvPr/>
            </p:nvSpPr>
            <p:spPr>
              <a:xfrm>
                <a:off x="2328284" y="3803376"/>
                <a:ext cx="756505" cy="444032"/>
              </a:xfrm>
              <a:prstGeom prst="rect">
                <a:avLst/>
              </a:prstGeom>
              <a:blipFill rotWithShape="0">
                <a:blip r:embed="rId6"/>
                <a:stretch>
                  <a:fillRect r="-29032"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7BA96501-5A5A-E5AB-9D1D-9FD5C2346EB1}"/>
              </a:ext>
            </a:extLst>
          </p:cNvPr>
          <p:cNvCxnSpPr>
            <a:cxnSpLocks/>
          </p:cNvCxnSpPr>
          <p:nvPr/>
        </p:nvCxnSpPr>
        <p:spPr>
          <a:xfrm>
            <a:off x="192484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C19EAC35-A140-C8F7-7653-05C10318AAB8}"/>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xmlns="" xmlns:a14="http://schemas.microsoft.com/office/drawing/2010/main" id="{C19EAC35-A140-C8F7-7653-05C10318AAB8}"/>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32" name="Forma Livre: Forma 40">
            <a:extLst>
              <a:ext uri="{FF2B5EF4-FFF2-40B4-BE49-F238E27FC236}">
                <a16:creationId xmlns:a16="http://schemas.microsoft.com/office/drawing/2014/main" xmlns="" id="{2D44C00B-D931-A8A7-3AD9-75A394317A2C}"/>
              </a:ext>
            </a:extLst>
          </p:cNvPr>
          <p:cNvSpPr/>
          <p:nvPr/>
        </p:nvSpPr>
        <p:spPr>
          <a:xfrm rot="20350615">
            <a:off x="2058423" y="3706083"/>
            <a:ext cx="310198" cy="6817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4" name="Elipse 33">
            <a:extLst>
              <a:ext uri="{FF2B5EF4-FFF2-40B4-BE49-F238E27FC236}">
                <a16:creationId xmlns:a16="http://schemas.microsoft.com/office/drawing/2014/main" xmlns="" id="{5C3BA385-0F21-9DE3-C731-2E356FD76FBC}"/>
              </a:ext>
            </a:extLst>
          </p:cNvPr>
          <p:cNvSpPr/>
          <p:nvPr/>
        </p:nvSpPr>
        <p:spPr>
          <a:xfrm>
            <a:off x="2445619" y="427001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Conector reto 34">
            <a:extLst>
              <a:ext uri="{FF2B5EF4-FFF2-40B4-BE49-F238E27FC236}">
                <a16:creationId xmlns:a16="http://schemas.microsoft.com/office/drawing/2014/main" xmlns="" id="{8DDE6786-40C0-06F9-CF5C-BA07DAFCB799}"/>
              </a:ext>
            </a:extLst>
          </p:cNvPr>
          <p:cNvCxnSpPr/>
          <p:nvPr/>
        </p:nvCxnSpPr>
        <p:spPr>
          <a:xfrm>
            <a:off x="958483" y="3773958"/>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6" name="Conector reto 35">
            <a:extLst>
              <a:ext uri="{FF2B5EF4-FFF2-40B4-BE49-F238E27FC236}">
                <a16:creationId xmlns:a16="http://schemas.microsoft.com/office/drawing/2014/main" xmlns="" id="{8DDE6786-40C0-06F9-CF5C-BA07DAFCB799}"/>
              </a:ext>
            </a:extLst>
          </p:cNvPr>
          <p:cNvCxnSpPr/>
          <p:nvPr/>
        </p:nvCxnSpPr>
        <p:spPr>
          <a:xfrm>
            <a:off x="968008" y="4297833"/>
            <a:ext cx="151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2244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xmlns=""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xmlns=""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xmlns=""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xmlns=""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xmlns=""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xmlns=""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xmlns="" id="{38BE7280-D6C2-F198-63A6-75BAA02AF46C}"/>
              </a:ext>
            </a:extLst>
          </p:cNvPr>
          <p:cNvSpPr txBox="1"/>
          <p:nvPr/>
        </p:nvSpPr>
        <p:spPr>
          <a:xfrm>
            <a:off x="654563" y="6432986"/>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xmlns="" id="{C9EC55E5-C8A8-27F2-D000-5CBB479BF656}"/>
              </a:ext>
            </a:extLst>
          </p:cNvPr>
          <p:cNvSpPr>
            <a:spLocks noGrp="1"/>
          </p:cNvSpPr>
          <p:nvPr>
            <p:ph idx="1"/>
          </p:nvPr>
        </p:nvSpPr>
        <p:spPr>
          <a:xfrm>
            <a:off x="5684362" y="1825624"/>
            <a:ext cx="6410228" cy="5032375"/>
          </a:xfrm>
        </p:spPr>
        <p:txBody>
          <a:bodyPr>
            <a:normAutofit/>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a:t>
            </a:r>
            <a:r>
              <a:rPr lang="pt-BR" dirty="0" smtClean="0"/>
              <a:t>pode-se encerrar </a:t>
            </a:r>
            <a:r>
              <a:rPr lang="pt-BR" dirty="0"/>
              <a:t>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xmlns=""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xmlns=""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xmlns=""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xmlns=""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a:t>
                </a:r>
                <a:r>
                  <a:rPr lang="pt-BR" dirty="0" smtClean="0"/>
                  <a:t>mova o vetor de pesos, </a:t>
                </a:r>
                <a14:m>
                  <m:oMath xmlns:m="http://schemas.openxmlformats.org/officeDocument/2006/math">
                    <m:r>
                      <a:rPr lang="pt-BR" i="1">
                        <a:latin typeface="Cambria Math" panose="02040503050406030204" pitchFamily="18" charset="0"/>
                      </a:rPr>
                      <m:t>𝑎</m:t>
                    </m:r>
                  </m:oMath>
                </a14:m>
                <a:r>
                  <a:rPr lang="pt-BR" dirty="0" smtClean="0"/>
                  <a:t>, </a:t>
                </a:r>
                <a:r>
                  <a:rPr lang="pt-BR" dirty="0"/>
                  <a:t>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rotWithShape="0">
                <a:blip r:embed="rId3"/>
                <a:stretch>
                  <a:fillRect l="-1796" t="-1937" r="-3293"/>
                </a:stretch>
              </a:blipFill>
            </p:spPr>
            <p:txBody>
              <a:bodyPr/>
              <a:lstStyle/>
              <a:p>
                <a:r>
                  <a:rPr lang="pt-BR">
                    <a:noFill/>
                  </a:rPr>
                  <a:t> </a:t>
                </a:r>
              </a:p>
            </p:txBody>
          </p:sp>
        </mc:Fallback>
      </mc:AlternateContent>
      <p:grpSp>
        <p:nvGrpSpPr>
          <p:cNvPr id="9" name="Agrupar 8">
            <a:extLst>
              <a:ext uri="{FF2B5EF4-FFF2-40B4-BE49-F238E27FC236}">
                <a16:creationId xmlns:a16="http://schemas.microsoft.com/office/drawing/2014/main" xmlns=""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xmlns=""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xmlns=""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a:t>
            </a:r>
            <a:r>
              <a:rPr lang="pt-BR" dirty="0" smtClean="0"/>
              <a:t>superfície </a:t>
            </a:r>
            <a:r>
              <a:rPr lang="pt-BR" b="1" dirty="0" smtClean="0">
                <a:solidFill>
                  <a:srgbClr val="00B050"/>
                </a:solidFill>
              </a:rPr>
              <a:t>sem </a:t>
            </a:r>
            <a:r>
              <a:rPr lang="pt-BR" b="1" dirty="0">
                <a:solidFill>
                  <a:srgbClr val="00B050"/>
                </a:solidFill>
              </a:rPr>
              <a:t>nunca atingir o ponto de mínimo</a:t>
            </a:r>
            <a:r>
              <a:rPr lang="pt-BR" dirty="0"/>
              <a:t>.</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xmlns=""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no algoritmo de atualização dos pesos.</a:t>
            </a:r>
          </a:p>
        </p:txBody>
      </p:sp>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xmlns=""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xmlns=""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xmlns=""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xmlns=""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xmlns=""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xmlns=""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635927" y="1825624"/>
            <a:ext cx="6364289" cy="5032376"/>
          </a:xfrm>
        </p:spPr>
        <p:txBody>
          <a:bodyPr>
            <a:normAutofit lnSpcReduction="10000"/>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muitas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xmlns=""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xmlns=""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xmlns=""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xmlns=""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xmlns=""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xmlns=""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xmlns=""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xmlns=""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xmlns=""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xmlns=""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xmlns=""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xmlns=""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xmlns=""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xmlns=""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xmlns=""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xmlns=""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xmlns=""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xmlns=""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xmlns=""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xmlns=""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xmlns=""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xmlns=""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xmlns=""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xmlns=""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xmlns=""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xmlns=""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xmlns=""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xmlns=""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xmlns=""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xmlns=""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xmlns=""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xmlns=""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xmlns=""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xmlns=""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xmlns=""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xmlns=""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xmlns=""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xmlns=""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xmlns=""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xmlns=""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xmlns=""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xmlns=""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xmlns=""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xmlns="" id="{8AA55DA5-8239-8A32-8EFE-CC711352420F}"/>
              </a:ext>
            </a:extLst>
          </p:cNvPr>
          <p:cNvSpPr>
            <a:spLocks noGrp="1"/>
          </p:cNvSpPr>
          <p:nvPr>
            <p:ph idx="1"/>
          </p:nvPr>
        </p:nvSpPr>
        <p:spPr>
          <a:xfrm>
            <a:off x="4996107" y="1825624"/>
            <a:ext cx="7195894" cy="5032376"/>
          </a:xfrm>
        </p:spPr>
        <p:txBody>
          <a:bodyPr>
            <a:normAutofit lnSpcReduction="10000"/>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 usando informação histórica dos gradientes.</a:t>
            </a:r>
          </a:p>
        </p:txBody>
      </p:sp>
      <p:grpSp>
        <p:nvGrpSpPr>
          <p:cNvPr id="4" name="Group 3">
            <a:extLst>
              <a:ext uri="{FF2B5EF4-FFF2-40B4-BE49-F238E27FC236}">
                <a16:creationId xmlns:a16="http://schemas.microsoft.com/office/drawing/2014/main" xmlns=""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xmlns=""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xmlns=""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xmlns=""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xmlns=""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xmlns=""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xmlns=""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xmlns=""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xmlns=""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xmlns=""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xmlns=""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xmlns=""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xmlns=""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xmlns=""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xmlns=""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xmlns=""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xmlns=""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xmlns=""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xmlns=""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xmlns=""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a:t>
            </a:r>
            <a:r>
              <a:rPr lang="pt-BR" b="1" dirty="0">
                <a:solidFill>
                  <a:srgbClr val="00B0F0"/>
                </a:solidFill>
              </a:rPr>
              <a:t>pontos azuis</a:t>
            </a:r>
            <a:r>
              <a:rPr lang="pt-BR" dirty="0"/>
              <a:t>).</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9AACDD9-40E5-A4AE-278D-AF1FDC8863A4}"/>
              </a:ext>
            </a:extLst>
          </p:cNvPr>
          <p:cNvSpPr>
            <a:spLocks noGrp="1"/>
          </p:cNvSpPr>
          <p:nvPr>
            <p:ph type="title"/>
          </p:nvPr>
        </p:nvSpPr>
        <p:spPr/>
        <p:txBody>
          <a:bodyPr/>
          <a:lstStyle/>
          <a:p>
            <a:r>
              <a:rPr lang="pt-BR" noProof="0"/>
              <a:t>Versões do gradiente descendente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C0ECCFF5-5C4A-6AD6-A038-D9C133F0B029}"/>
                  </a:ext>
                </a:extLst>
              </p:cNvPr>
              <p:cNvSpPr>
                <a:spLocks noGrp="1"/>
              </p:cNvSpPr>
              <p:nvPr>
                <p:ph idx="1"/>
              </p:nvPr>
            </p:nvSpPr>
            <p:spPr>
              <a:xfrm>
                <a:off x="838199" y="1825624"/>
                <a:ext cx="11353801" cy="5032375"/>
              </a:xfrm>
            </p:spPr>
            <p:txBody>
              <a:bodyPr>
                <a:normAutofit/>
              </a:bodyPr>
              <a:lstStyle/>
              <a:p>
                <a:r>
                  <a:rPr lang="pt-BR" dirty="0"/>
                  <a:t>O GD pode ser implementado de </a:t>
                </a:r>
                <a:r>
                  <a:rPr lang="pt-BR" b="1" dirty="0"/>
                  <a:t>3 formas diferentes dependendo de como calculamos o vetor gradiente na equação de atualização dos pesos</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a:t>
                </a:r>
                <a:r>
                  <a:rPr lang="pt-BR" dirty="0"/>
                  <a:t>e </a:t>
                </a:r>
                <a:r>
                  <a:rPr lang="pt-BR" dirty="0" smtClean="0"/>
                  <a:t>o</a:t>
                </a:r>
                <a:r>
                  <a:rPr lang="pt-BR" b="1" dirty="0" smtClean="0">
                    <a:solidFill>
                      <a:schemeClr val="accent2"/>
                    </a:solidFill>
                  </a:rPr>
                  <a:t> </a:t>
                </a:r>
                <a:r>
                  <a:rPr lang="pt-BR" b="1" dirty="0" smtClean="0">
                    <a:solidFill>
                      <a:srgbClr val="7030A0"/>
                    </a:solidFill>
                  </a:rPr>
                  <a:t>hiperplano </a:t>
                </a:r>
                <a:r>
                  <a:rPr lang="pt-BR" b="1" dirty="0">
                    <a:solidFill>
                      <a:srgbClr val="7030A0"/>
                    </a:solidFill>
                  </a:rPr>
                  <a:t>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smtClean="0">
                              <a:latin typeface="Cambria Math" panose="02040503050406030204" pitchFamily="18" charset="0"/>
                            </a:rPr>
                          </m:ctrlPr>
                        </m:sSupPr>
                        <m:e>
                          <m:r>
                            <a:rPr lang="pt-BR" b="1" i="1" smtClean="0">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 e </a:t>
                </a:r>
                <a14:m>
                  <m:oMath xmlns:m="http://schemas.openxmlformats.org/officeDocument/2006/math">
                    <m:r>
                      <a:rPr lang="pt-BR" b="1" i="1">
                        <a:latin typeface="Cambria Math" panose="02040503050406030204" pitchFamily="18" charset="0"/>
                      </a:rPr>
                      <m:t>𝒂</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a:t>
                </a:r>
              </a:p>
            </p:txBody>
          </p:sp>
        </mc:Choice>
        <mc:Fallback>
          <p:sp>
            <p:nvSpPr>
              <p:cNvPr id="3" name="Content Placeholder 2">
                <a:extLst>
                  <a:ext uri="{FF2B5EF4-FFF2-40B4-BE49-F238E27FC236}">
                    <a16:creationId xmlns:a16="http://schemas.microsoft.com/office/drawing/2014/main" xmlns:a14="http://schemas.microsoft.com/office/drawing/2010/main" xmlns=""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xmlns="" id="{021EE6D7-9930-A65A-DD1C-3A4F859A185C}"/>
              </a:ext>
            </a:extLst>
          </p:cNvPr>
          <p:cNvSpPr/>
          <p:nvPr/>
        </p:nvSpPr>
        <p:spPr>
          <a:xfrm rot="5400000">
            <a:off x="5110679" y="3108768"/>
            <a:ext cx="164878" cy="457334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xmlns=""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i="1"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groupChr>
                                            </m:e>
                                            <m:lim>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lim>
                                          </m:limLow>
                                        </m:e>
                                      </m:d>
                                    </m:e>
                                    <m:sup>
                                      <m:r>
                                        <a:rPr lang="pt-BR" b="0" i="1" smtClean="0">
                                          <a:latin typeface="Cambria Math" panose="02040503050406030204" pitchFamily="18" charset="0"/>
                                        </a:rPr>
                                        <m:t>2</m:t>
                                      </m:r>
                                    </m:sup>
                                  </m:sSup>
                                </m:num>
                                <m:den>
                                  <m:r>
                                    <a:rPr lang="pt-BR">
                                      <a:latin typeface="Cambria Math" panose="02040503050406030204" pitchFamily="18" charset="0"/>
                                    </a:rPr>
                                    <m:t>𝜕</m:t>
                                  </m:r>
                                  <m:r>
                                    <a:rPr lang="pt-BR" b="1">
                                      <a:latin typeface="Cambria Math" panose="02040503050406030204" pitchFamily="18" charset="0"/>
                                    </a:rPr>
                                    <m:t>𝒂</m:t>
                                  </m:r>
                                </m:den>
                              </m:f>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smtClean="0">
                              <a:latin typeface="Cambria Math" panose="02040503050406030204" pitchFamily="18" charset="0"/>
                            </a:rPr>
                          </m:ctrlPr>
                        </m:sSupPr>
                        <m:e>
                          <m:r>
                            <a:rPr lang="pt-BR"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i="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i="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individuais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t="-204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E2087D00-439A-0E0E-1C8F-E952F9A1797C}"/>
              </a:ext>
            </a:extLst>
          </p:cNvPr>
          <p:cNvSpPr txBox="1"/>
          <p:nvPr/>
        </p:nvSpPr>
        <p:spPr>
          <a:xfrm>
            <a:off x="7897042" y="6581001"/>
            <a:ext cx="4294958" cy="276999"/>
          </a:xfrm>
          <a:prstGeom prst="rect">
            <a:avLst/>
          </a:prstGeom>
          <a:noFill/>
        </p:spPr>
        <p:txBody>
          <a:bodyPr wrap="none" rtlCol="0">
            <a:spAutoFit/>
          </a:bodyPr>
          <a:lstStyle/>
          <a:p>
            <a:r>
              <a:rPr lang="pt-BR" sz="1200" dirty="0"/>
              <a:t>Detalhes sobre como encontrar o vetor gradiente estão no Anexo I</a:t>
            </a:r>
            <a:endParaRPr lang="en-US" sz="1200" dirty="0"/>
          </a:p>
        </p:txBody>
      </p:sp>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sz="2600" i="1" noProof="0" smtClean="0">
                              <a:latin typeface="Cambria Math" panose="02040503050406030204" pitchFamily="18" charset="0"/>
                            </a:rPr>
                          </m:ctrlPr>
                        </m:fPr>
                        <m:num>
                          <m:r>
                            <a:rPr lang="pt-BR" sz="2600" i="0" noProof="0" smtClean="0">
                              <a:latin typeface="Cambria Math" panose="02040503050406030204" pitchFamily="18" charset="0"/>
                            </a:rPr>
                            <m:t>𝜕</m:t>
                          </m:r>
                          <m:sSub>
                            <m:sSubPr>
                              <m:ctrlPr>
                                <a:rPr lang="pt-BR" sz="2600" i="1" noProof="0" smtClean="0">
                                  <a:latin typeface="Cambria Math" panose="02040503050406030204" pitchFamily="18" charset="0"/>
                                </a:rPr>
                              </m:ctrlPr>
                            </m:sSubPr>
                            <m:e>
                              <m:r>
                                <a:rPr lang="pt-BR" sz="2600" noProof="0" smtClean="0">
                                  <a:latin typeface="Cambria Math" panose="02040503050406030204" pitchFamily="18" charset="0"/>
                                </a:rPr>
                                <m:t>𝐽</m:t>
                              </m:r>
                            </m:e>
                            <m:sub>
                              <m:r>
                                <a:rPr lang="pt-BR" sz="2600" noProof="0" smtClean="0">
                                  <a:latin typeface="Cambria Math" panose="02040503050406030204" pitchFamily="18" charset="0"/>
                                </a:rPr>
                                <m:t>𝑒</m:t>
                              </m:r>
                            </m:sub>
                          </m:sSub>
                          <m:d>
                            <m:dPr>
                              <m:ctrlPr>
                                <a:rPr lang="pt-BR" sz="2600" b="1" i="1" noProof="0" smtClean="0">
                                  <a:latin typeface="Cambria Math" panose="02040503050406030204" pitchFamily="18" charset="0"/>
                                </a:rPr>
                              </m:ctrlPr>
                            </m:dPr>
                            <m:e>
                              <m:r>
                                <a:rPr lang="pt-BR" sz="2600" b="1" noProof="0" smtClean="0">
                                  <a:latin typeface="Cambria Math" panose="02040503050406030204" pitchFamily="18" charset="0"/>
                                </a:rPr>
                                <m:t>𝒂</m:t>
                              </m:r>
                            </m:e>
                          </m:d>
                        </m:num>
                        <m:den>
                          <m:r>
                            <a:rPr lang="pt-BR" sz="2600" noProof="0" smtClean="0">
                              <a:latin typeface="Cambria Math" panose="02040503050406030204" pitchFamily="18" charset="0"/>
                            </a:rPr>
                            <m:t>𝜕</m:t>
                          </m:r>
                          <m:r>
                            <a:rPr lang="pt-BR" sz="2600" b="1" noProof="0" smtClean="0">
                              <a:latin typeface="Cambria Math" panose="02040503050406030204" pitchFamily="18" charset="0"/>
                            </a:rPr>
                            <m:t>𝒂</m:t>
                          </m:r>
                        </m:den>
                      </m:f>
                      <m:r>
                        <a:rPr lang="pt-BR" sz="2600" b="1" noProof="0" smtClean="0">
                          <a:latin typeface="Cambria Math" panose="02040503050406030204" pitchFamily="18" charset="0"/>
                        </a:rPr>
                        <m:t>=</m:t>
                      </m:r>
                      <m:r>
                        <a:rPr lang="pt-BR" sz="2600" b="0" noProof="0" smtClean="0">
                          <a:latin typeface="Cambria Math" panose="02040503050406030204" pitchFamily="18" charset="0"/>
                        </a:rPr>
                        <m:t>−</m:t>
                      </m:r>
                      <m:f>
                        <m:fPr>
                          <m:ctrlPr>
                            <a:rPr lang="pt-BR" sz="2600" b="0" i="1" noProof="0" smtClean="0">
                              <a:latin typeface="Cambria Math" panose="02040503050406030204" pitchFamily="18" charset="0"/>
                            </a:rPr>
                          </m:ctrlPr>
                        </m:fPr>
                        <m:num>
                          <m:r>
                            <a:rPr lang="pt-BR" sz="2600" b="0" noProof="0" smtClean="0">
                              <a:latin typeface="Cambria Math" panose="02040503050406030204" pitchFamily="18" charset="0"/>
                            </a:rPr>
                            <m:t>2</m:t>
                          </m:r>
                        </m:num>
                        <m:den>
                          <m:r>
                            <a:rPr lang="pt-BR" sz="2600" noProof="0" smtClean="0">
                              <a:latin typeface="Cambria Math" panose="02040503050406030204" pitchFamily="18" charset="0"/>
                            </a:rPr>
                            <m:t>𝑁</m:t>
                          </m:r>
                        </m:den>
                      </m:f>
                      <m:nary>
                        <m:naryPr>
                          <m:chr m:val="∑"/>
                          <m:ctrlPr>
                            <a:rPr lang="pt-BR" sz="2600" b="0" i="1" noProof="0" smtClean="0">
                              <a:latin typeface="Cambria Math" panose="02040503050406030204" pitchFamily="18" charset="0"/>
                            </a:rPr>
                          </m:ctrlPr>
                        </m:naryPr>
                        <m:sub>
                          <m:r>
                            <a:rPr lang="pt-BR" sz="2600" b="0" noProof="0" smtClean="0">
                              <a:latin typeface="Cambria Math" panose="02040503050406030204" pitchFamily="18" charset="0"/>
                            </a:rPr>
                            <m:t>𝑛</m:t>
                          </m:r>
                          <m:r>
                            <a:rPr lang="pt-BR" sz="2600" noProof="0" smtClean="0">
                              <a:latin typeface="Cambria Math" panose="02040503050406030204" pitchFamily="18" charset="0"/>
                            </a:rPr>
                            <m:t>=0</m:t>
                          </m:r>
                        </m:sub>
                        <m:sup>
                          <m:r>
                            <a:rPr lang="pt-BR" sz="2600" noProof="0" smtClean="0">
                              <a:latin typeface="Cambria Math" panose="02040503050406030204" pitchFamily="18" charset="0"/>
                            </a:rPr>
                            <m:t>𝑁</m:t>
                          </m:r>
                          <m:r>
                            <a:rPr lang="pt-BR" sz="2600" noProof="0" smtClean="0">
                              <a:latin typeface="Cambria Math" panose="02040503050406030204" pitchFamily="18" charset="0"/>
                            </a:rPr>
                            <m:t>−1</m:t>
                          </m:r>
                        </m:sup>
                        <m:e>
                          <m:d>
                            <m:dPr>
                              <m:begChr m:val="["/>
                              <m:endChr m:val="]"/>
                              <m:ctrlPr>
                                <a:rPr lang="pt-BR" sz="2600" i="1" noProof="0" smtClean="0">
                                  <a:latin typeface="Cambria Math" panose="02040503050406030204" pitchFamily="18" charset="0"/>
                                </a:rPr>
                              </m:ctrlPr>
                            </m:dPr>
                            <m:e>
                              <m:r>
                                <a:rPr lang="pt-BR" sz="2600" noProof="0" smtClean="0">
                                  <a:latin typeface="Cambria Math" panose="02040503050406030204" pitchFamily="18" charset="0"/>
                                </a:rPr>
                                <m:t>𝑦</m:t>
                              </m:r>
                              <m:d>
                                <m:dPr>
                                  <m:ctrlPr>
                                    <a:rPr lang="pt-BR" sz="2600" b="0" i="1" noProof="0" smtClean="0">
                                      <a:latin typeface="Cambria Math" panose="02040503050406030204" pitchFamily="18" charset="0"/>
                                    </a:rPr>
                                  </m:ctrlPr>
                                </m:dPr>
                                <m:e>
                                  <m:r>
                                    <a:rPr lang="pt-BR" sz="2600" b="0" noProof="0" smtClean="0">
                                      <a:latin typeface="Cambria Math" panose="02040503050406030204" pitchFamily="18" charset="0"/>
                                    </a:rPr>
                                    <m:t>𝑛</m:t>
                                  </m:r>
                                </m:e>
                              </m:d>
                              <m:r>
                                <a:rPr lang="pt-BR" sz="2600" noProof="0" smtClean="0">
                                  <a:latin typeface="Cambria Math" panose="02040503050406030204" pitchFamily="18" charset="0"/>
                                </a:rPr>
                                <m:t>−</m:t>
                              </m:r>
                              <m:acc>
                                <m:accPr>
                                  <m:chr m:val="̂"/>
                                  <m:ctrlPr>
                                    <a:rPr lang="pt-BR" sz="2600" i="1" noProof="0" smtClean="0">
                                      <a:latin typeface="Cambria Math" panose="02040503050406030204" pitchFamily="18" charset="0"/>
                                    </a:rPr>
                                  </m:ctrlPr>
                                </m:accPr>
                                <m:e>
                                  <m:r>
                                    <a:rPr lang="pt-BR" sz="2600" noProof="0" smtClean="0">
                                      <a:latin typeface="Cambria Math" panose="02040503050406030204" pitchFamily="18" charset="0"/>
                                    </a:rPr>
                                    <m:t>𝑦</m:t>
                                  </m:r>
                                </m:e>
                              </m:acc>
                              <m:d>
                                <m:dPr>
                                  <m:ctrlPr>
                                    <a:rPr lang="pt-BR" sz="2600" i="1" noProof="0" smtClean="0">
                                      <a:latin typeface="Cambria Math" panose="02040503050406030204" pitchFamily="18" charset="0"/>
                                    </a:rPr>
                                  </m:ctrlPr>
                                </m:dPr>
                                <m:e>
                                  <m:r>
                                    <a:rPr lang="pt-BR" sz="2600" noProof="0" smtClean="0">
                                      <a:latin typeface="Cambria Math" panose="02040503050406030204" pitchFamily="18" charset="0"/>
                                    </a:rPr>
                                    <m:t>𝑛</m:t>
                                  </m:r>
                                </m:e>
                              </m:d>
                            </m:e>
                          </m:d>
                          <m:r>
                            <a:rPr lang="pt-BR" sz="2600" b="1" noProof="0" smtClean="0">
                              <a:latin typeface="Cambria Math" panose="02040503050406030204" pitchFamily="18" charset="0"/>
                            </a:rPr>
                            <m:t>𝒙</m:t>
                          </m:r>
                          <m:d>
                            <m:dPr>
                              <m:ctrlPr>
                                <a:rPr lang="pt-BR" sz="2600" b="0" i="1" noProof="0" smtClean="0">
                                  <a:latin typeface="Cambria Math" panose="02040503050406030204" pitchFamily="18" charset="0"/>
                                </a:rPr>
                              </m:ctrlPr>
                            </m:dPr>
                            <m:e>
                              <m:r>
                                <a:rPr lang="pt-BR" sz="2600" b="0" noProof="0" smtClean="0">
                                  <a:latin typeface="Cambria Math" panose="02040503050406030204" pitchFamily="18" charset="0"/>
                                </a:rPr>
                                <m:t>𝑛</m:t>
                              </m:r>
                            </m:e>
                          </m:d>
                        </m:e>
                      </m:nary>
                      <m:r>
                        <a:rPr lang="pt-BR" sz="2600" b="0" i="1" noProof="0" smtClean="0">
                          <a:latin typeface="Cambria Math" panose="02040503050406030204" pitchFamily="18" charset="0"/>
                          <a:ea typeface="Cambria Math" panose="02040503050406030204" pitchFamily="18" charset="0"/>
                        </a:rPr>
                        <m:t>≈</m:t>
                      </m:r>
                      <m:sSub>
                        <m:sSubPr>
                          <m:ctrlPr>
                            <a:rPr lang="pt-BR" sz="2600" i="1" noProof="0">
                              <a:latin typeface="Cambria Math" panose="02040503050406030204" pitchFamily="18" charset="0"/>
                            </a:rPr>
                          </m:ctrlPr>
                        </m:sSubPr>
                        <m:e>
                          <m:f>
                            <m:fPr>
                              <m:ctrlPr>
                                <a:rPr lang="pt-BR" sz="2600" i="1" noProof="0">
                                  <a:latin typeface="Cambria Math" panose="02040503050406030204" pitchFamily="18" charset="0"/>
                                </a:rPr>
                              </m:ctrlPr>
                            </m:fPr>
                            <m:num>
                              <m:r>
                                <a:rPr lang="pt-BR" sz="2600" noProof="0">
                                  <a:latin typeface="Cambria Math" panose="02040503050406030204" pitchFamily="18" charset="0"/>
                                </a:rPr>
                                <m:t>𝜕</m:t>
                              </m:r>
                              <m:sSub>
                                <m:sSubPr>
                                  <m:ctrlPr>
                                    <a:rPr lang="pt-BR" sz="2600" i="1" noProof="0">
                                      <a:latin typeface="Cambria Math" panose="02040503050406030204" pitchFamily="18" charset="0"/>
                                    </a:rPr>
                                  </m:ctrlPr>
                                </m:sSubPr>
                                <m:e>
                                  <m:r>
                                    <a:rPr lang="pt-BR" sz="2600" noProof="0">
                                      <a:latin typeface="Cambria Math" panose="02040503050406030204" pitchFamily="18" charset="0"/>
                                    </a:rPr>
                                    <m:t>𝐽</m:t>
                                  </m:r>
                                </m:e>
                                <m:sub>
                                  <m:r>
                                    <a:rPr lang="pt-BR" sz="2600" noProof="0">
                                      <a:latin typeface="Cambria Math" panose="02040503050406030204" pitchFamily="18" charset="0"/>
                                    </a:rPr>
                                    <m:t>𝑒</m:t>
                                  </m:r>
                                </m:sub>
                              </m:sSub>
                              <m:d>
                                <m:dPr>
                                  <m:ctrlPr>
                                    <a:rPr lang="pt-BR" sz="2600" b="1" i="1" noProof="0">
                                      <a:latin typeface="Cambria Math" panose="02040503050406030204" pitchFamily="18" charset="0"/>
                                    </a:rPr>
                                  </m:ctrlPr>
                                </m:dPr>
                                <m:e>
                                  <m:r>
                                    <a:rPr lang="pt-BR" sz="2600" b="1" noProof="0">
                                      <a:latin typeface="Cambria Math" panose="02040503050406030204" pitchFamily="18" charset="0"/>
                                    </a:rPr>
                                    <m:t>𝒂</m:t>
                                  </m:r>
                                </m:e>
                              </m:d>
                            </m:num>
                            <m:den>
                              <m:r>
                                <a:rPr lang="pt-BR" sz="2600" noProof="0">
                                  <a:latin typeface="Cambria Math" panose="02040503050406030204" pitchFamily="18" charset="0"/>
                                </a:rPr>
                                <m:t>𝜕</m:t>
                              </m:r>
                              <m:r>
                                <a:rPr lang="pt-BR" sz="2600" b="1" noProof="0">
                                  <a:latin typeface="Cambria Math" panose="02040503050406030204" pitchFamily="18" charset="0"/>
                                </a:rPr>
                                <m:t>𝒂</m:t>
                              </m:r>
                            </m:den>
                          </m:f>
                        </m:e>
                        <m:sub>
                          <m:r>
                            <m:rPr>
                              <m:sty m:val="p"/>
                            </m:rPr>
                            <a:rPr lang="pt-BR" sz="2600" b="0" i="0" noProof="0" smtClean="0">
                              <a:latin typeface="Cambria Math" panose="02040503050406030204" pitchFamily="18" charset="0"/>
                            </a:rPr>
                            <m:t>verdadeiro</m:t>
                          </m:r>
                        </m:sub>
                      </m:sSub>
                      <m:r>
                        <a:rPr lang="pt-BR" sz="2600" b="0" i="1" noProof="0" smtClean="0">
                          <a:latin typeface="Cambria Math" panose="02040503050406030204" pitchFamily="18" charset="0"/>
                        </a:rPr>
                        <m:t>+</m:t>
                      </m:r>
                      <m:r>
                        <m:rPr>
                          <m:sty m:val="p"/>
                        </m:rPr>
                        <a:rPr lang="pt-BR" sz="2600" b="0" i="0" noProof="0" smtClean="0">
                          <a:latin typeface="Cambria Math" panose="02040503050406030204" pitchFamily="18" charset="0"/>
                        </a:rPr>
                        <m:t>ru</m:t>
                      </m:r>
                      <m:r>
                        <a:rPr lang="pt-BR" sz="2600" b="0" i="0" noProof="0" smtClean="0">
                          <a:latin typeface="Cambria Math" panose="02040503050406030204" pitchFamily="18" charset="0"/>
                        </a:rPr>
                        <m:t>í</m:t>
                      </m:r>
                      <m:r>
                        <m:rPr>
                          <m:sty m:val="p"/>
                        </m:rPr>
                        <a:rPr lang="pt-BR" sz="2600" b="0" i="0" noProof="0" smtClean="0">
                          <a:latin typeface="Cambria Math" panose="02040503050406030204" pitchFamily="18" charset="0"/>
                        </a:rPr>
                        <m:t>do</m:t>
                      </m:r>
                      <m:r>
                        <a:rPr lang="pt-BR" sz="2600" b="0" i="0" noProof="0" smtClean="0">
                          <a:latin typeface="Cambria Math" panose="02040503050406030204" pitchFamily="18" charset="0"/>
                        </a:rPr>
                        <m:t>.</m:t>
                      </m:r>
                    </m:oMath>
                  </m:oMathPara>
                </a14:m>
                <a:endParaRPr lang="pt-BR" sz="2600" noProof="0" dirty="0"/>
              </a:p>
              <a:p>
                <a:r>
                  <a:rPr lang="pt-BR" noProof="0" dirty="0"/>
                  <a:t>Cada </a:t>
                </a:r>
                <a:r>
                  <a:rPr lang="pt-BR" b="1" noProof="0" dirty="0">
                    <a:solidFill>
                      <a:srgbClr val="00B050"/>
                    </a:solidFill>
                  </a:rPr>
                  <a:t>termo do somatório </a:t>
                </a:r>
                <a:r>
                  <a:rPr lang="pt-BR" noProof="0" dirty="0"/>
                  <a:t>representa a </a:t>
                </a:r>
                <a:r>
                  <a:rPr lang="pt-BR" b="1" noProof="0" dirty="0">
                    <a:solidFill>
                      <a:srgbClr val="00B050"/>
                    </a:solidFill>
                  </a:rPr>
                  <a:t>contribuição de uma amostra para o gradiente</a:t>
                </a:r>
                <a:r>
                  <a:rPr lang="pt-BR" noProof="0" dirty="0"/>
                  <a:t>.</a:t>
                </a:r>
              </a:p>
              <a:p>
                <a:r>
                  <a:rPr lang="pt-BR" noProof="0" dirty="0"/>
                  <a:t>No contexto do GD, </a:t>
                </a:r>
                <a:r>
                  <a:rPr lang="pt-BR" noProof="0" dirty="0" smtClean="0"/>
                  <a:t>cada </a:t>
                </a:r>
                <a:r>
                  <a:rPr lang="pt-BR" noProof="0" dirty="0"/>
                  <a:t>termo indica a </a:t>
                </a:r>
                <a:r>
                  <a:rPr lang="pt-BR" b="1" noProof="0" dirty="0">
                    <a:solidFill>
                      <a:srgbClr val="00B0F0"/>
                    </a:solidFill>
                  </a:rPr>
                  <a:t>direção e a magnitude </a:t>
                </a:r>
                <a:r>
                  <a:rPr lang="pt-BR" b="1" noProof="0" dirty="0">
                    <a:solidFill>
                      <a:schemeClr val="accent2"/>
                    </a:solidFill>
                  </a:rPr>
                  <a:t>da contribuição de </a:t>
                </a:r>
                <a:r>
                  <a:rPr lang="pt-BR" b="1" noProof="0" dirty="0" smtClean="0">
                    <a:solidFill>
                      <a:schemeClr val="accent2"/>
                    </a:solidFill>
                  </a:rPr>
                  <a:t>uma amostra </a:t>
                </a:r>
                <a:r>
                  <a:rPr lang="pt-BR" b="1" noProof="0" dirty="0">
                    <a:solidFill>
                      <a:schemeClr val="accent2"/>
                    </a:solidFill>
                  </a:rPr>
                  <a:t>para a atualização dos pesos</a:t>
                </a:r>
                <a:r>
                  <a:rPr lang="pt-BR" noProof="0" dirty="0"/>
                  <a:t>.</a:t>
                </a:r>
              </a:p>
              <a:p>
                <a:pPr lvl="1">
                  <a:buFont typeface="Wingdings" panose="05000000000000000000" pitchFamily="2" charset="2"/>
                  <a:buChar char="§"/>
                </a:pPr>
                <a:r>
                  <a:rPr lang="pt-BR" noProof="0" dirty="0"/>
                  <a:t>O gradiente é a </a:t>
                </a:r>
                <a:r>
                  <a:rPr lang="pt-BR" b="1" noProof="0" dirty="0">
                    <a:solidFill>
                      <a:srgbClr val="7030A0"/>
                    </a:solidFill>
                  </a:rPr>
                  <a:t>média</a:t>
                </a:r>
                <a:r>
                  <a:rPr lang="pt-BR" noProof="0" dirty="0"/>
                  <a:t> das contribuições de todas as amostras.</a:t>
                </a:r>
                <a:endParaRPr lang="pt-BR" b="1" noProof="0" dirty="0">
                  <a:solidFill>
                    <a:srgbClr val="FF0000"/>
                  </a:solidFill>
                </a:endParaRPr>
              </a:p>
              <a:p>
                <a:r>
                  <a:rPr lang="pt-BR" noProof="0" dirty="0"/>
                  <a:t>Assim, quanto </a:t>
                </a:r>
                <a:r>
                  <a:rPr lang="pt-BR" b="1" noProof="0" dirty="0">
                    <a:solidFill>
                      <a:srgbClr val="7030A0"/>
                    </a:solidFill>
                  </a:rPr>
                  <a:t>menos amostras</a:t>
                </a:r>
                <a:r>
                  <a:rPr lang="pt-BR" noProof="0" dirty="0"/>
                  <a:t>, </a:t>
                </a:r>
                <a:r>
                  <a:rPr lang="pt-BR" b="1" noProof="0" dirty="0">
                    <a:solidFill>
                      <a:srgbClr val="7030A0"/>
                    </a:solidFill>
                  </a:rPr>
                  <a:t>maior a variância </a:t>
                </a:r>
                <a:r>
                  <a:rPr lang="pt-BR" noProof="0" dirty="0"/>
                  <a:t>do </a:t>
                </a:r>
                <a:r>
                  <a:rPr lang="pt-BR" b="1" noProof="0" dirty="0">
                    <a:solidFill>
                      <a:schemeClr val="accent2"/>
                    </a:solidFill>
                  </a:rPr>
                  <a:t>gradiente estimado</a:t>
                </a:r>
                <a:r>
                  <a:rPr lang="pt-BR" noProof="0" dirty="0"/>
                  <a:t>.</a:t>
                </a:r>
              </a:p>
              <a:p>
                <a:r>
                  <a:rPr lang="pt-BR" noProof="0" dirty="0"/>
                  <a:t>É como se tivéssemos o </a:t>
                </a:r>
                <a:r>
                  <a:rPr lang="pt-BR" b="1" noProof="0" dirty="0">
                    <a:solidFill>
                      <a:srgbClr val="92D050"/>
                    </a:solidFill>
                  </a:rPr>
                  <a:t>valor verdadeiro do gradiente mais um ruído</a:t>
                </a:r>
                <a:r>
                  <a:rPr lang="pt-BR" noProof="0" dirty="0"/>
                  <a:t>, que tem variância alta quando </a:t>
                </a:r>
                <a14:m>
                  <m:oMath xmlns:m="http://schemas.openxmlformats.org/officeDocument/2006/math">
                    <m:r>
                      <a:rPr lang="pt-BR" b="0" i="1" noProof="0" smtClean="0">
                        <a:latin typeface="Cambria Math" panose="02040503050406030204" pitchFamily="18" charset="0"/>
                      </a:rPr>
                      <m:t>𝑁</m:t>
                    </m:r>
                  </m:oMath>
                </a14:m>
                <a:r>
                  <a:rPr lang="pt-BR" noProof="0" dirty="0"/>
                  <a:t> é pequeno.</a:t>
                </a:r>
              </a:p>
              <a:p>
                <a:pPr lvl="1">
                  <a:buFont typeface="Wingdings" panose="05000000000000000000" pitchFamily="2" charset="2"/>
                  <a:buChar char="§"/>
                </a:pPr>
                <a:r>
                  <a:rPr lang="pt-BR" dirty="0"/>
                  <a:t>Com poucas amostras, o gradiente estimado pode se afastar do gradiente verdadeiro.</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590" b="-132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consideradas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a:t>
                </a:r>
                <a:r>
                  <a:rPr lang="pt-BR" b="1" dirty="0" smtClean="0">
                    <a:solidFill>
                      <a:srgbClr val="00B050"/>
                    </a:solidFill>
                  </a:rPr>
                  <a:t>passo de aprendizagem </a:t>
                </a:r>
                <a:r>
                  <a:rPr lang="pt-BR" b="1" dirty="0">
                    <a:solidFill>
                      <a:srgbClr val="00B050"/>
                    </a:solidFill>
                  </a:rPr>
                  <a:t>não é grande demais</a:t>
                </a:r>
                <a:r>
                  <a:rPr lang="pt-BR" dirty="0"/>
                  <a:t>.</a:t>
                </a:r>
              </a:p>
              <a:p>
                <a:r>
                  <a:rPr lang="pt-BR" dirty="0"/>
                  <a:t>Pode ser </a:t>
                </a:r>
                <a:r>
                  <a:rPr lang="pt-BR" b="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a:t>
                </a:r>
                <a:r>
                  <a:rPr lang="pt-BR" dirty="0" smtClean="0"/>
                  <a:t>grandes, além de consumir </a:t>
                </a:r>
                <a:r>
                  <a:rPr lang="pt-BR" dirty="0"/>
                  <a:t>muita memória.</a:t>
                </a:r>
              </a:p>
              <a:p>
                <a:r>
                  <a:rPr lang="pt-BR" dirty="0"/>
                  <a:t>Das 3, é a versão que </a:t>
                </a:r>
                <a:r>
                  <a:rPr lang="pt-BR" b="1" dirty="0">
                    <a:solidFill>
                      <a:srgbClr val="00B050"/>
                    </a:solidFill>
                  </a:rPr>
                  <a:t>obtém os melhores resultados</a:t>
                </a:r>
                <a:r>
                  <a:rPr lang="pt-BR" dirty="0"/>
                  <a:t>.</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rotWithShape="0">
                <a:blip r:embed="rId3"/>
                <a:stretch>
                  <a:fillRect l="-967" r="-591" b="-1887"/>
                </a:stretch>
              </a:blipFill>
            </p:spPr>
            <p:txBody>
              <a:bodyPr/>
              <a:lstStyle/>
              <a:p>
                <a:r>
                  <a:rPr lang="pt-BR">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9E7C9F4C-5009-7EC3-F599-AD0E3603A4A3}"/>
                  </a:ext>
                </a:extLst>
              </p:cNvPr>
              <p:cNvSpPr>
                <a:spLocks noGrp="1"/>
              </p:cNvSpPr>
              <p:nvPr>
                <p:ph idx="1"/>
              </p:nvPr>
            </p:nvSpPr>
            <p:spPr>
              <a:xfrm>
                <a:off x="838199" y="1825624"/>
                <a:ext cx="11353801"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noProof="0" smtClean="0">
                          <a:latin typeface="Cambria Math" panose="02040503050406030204" pitchFamily="18" charset="0"/>
                        </a:rPr>
                        <m:t>𝒂</m:t>
                      </m:r>
                      <m:r>
                        <a:rPr lang="pt-BR" b="1" i="1" noProof="0">
                          <a:latin typeface="Cambria Math" panose="02040503050406030204" pitchFamily="18" charset="0"/>
                        </a:rPr>
                        <m:t>=</m:t>
                      </m:r>
                      <m:r>
                        <a:rPr lang="pt-BR" b="1" i="1" noProof="0">
                          <a:latin typeface="Cambria Math" panose="02040503050406030204" pitchFamily="18" charset="0"/>
                        </a:rPr>
                        <m:t>𝒂</m:t>
                      </m:r>
                      <m:r>
                        <a:rPr lang="pt-BR" b="0" i="1" noProof="0" smtClean="0">
                          <a:latin typeface="Cambria Math" panose="02040503050406030204" pitchFamily="18" charset="0"/>
                        </a:rPr>
                        <m:t>+2</m:t>
                      </m:r>
                      <m:r>
                        <a:rPr lang="pt-BR" i="1" noProof="0">
                          <a:latin typeface="Cambria Math" panose="02040503050406030204" pitchFamily="18" charset="0"/>
                          <a:ea typeface="Cambria Math" panose="02040503050406030204" pitchFamily="18" charset="0"/>
                        </a:rPr>
                        <m:t>𝛼</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𝑦</m:t>
                          </m:r>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𝑛</m:t>
                                  </m:r>
                                </m:e>
                                <m:sub>
                                  <m:r>
                                    <m:rPr>
                                      <m:sty m:val="p"/>
                                    </m:rPr>
                                    <a:rPr lang="pt-BR" b="0" i="0" noProof="0" smtClean="0">
                                      <a:latin typeface="Cambria Math" panose="02040503050406030204" pitchFamily="18" charset="0"/>
                                    </a:rPr>
                                    <m:t>random</m:t>
                                  </m:r>
                                </m:sub>
                              </m:sSub>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e>
                          </m:d>
                        </m:e>
                      </m:d>
                      <m:r>
                        <a:rPr lang="pt-BR" b="1" i="1" noProof="0">
                          <a:latin typeface="Cambria Math" panose="02040503050406030204" pitchFamily="18" charset="0"/>
                        </a:rPr>
                        <m:t>𝒙</m:t>
                      </m:r>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r>
                        <a:rPr lang="pt-BR" i="1" noProof="0">
                          <a:latin typeface="Cambria Math" panose="02040503050406030204" pitchFamily="18" charset="0"/>
                        </a:rPr>
                        <m:t>)</m:t>
                      </m:r>
                      <m:r>
                        <a:rPr lang="pt-BR" b="0" i="0" noProof="0" smtClean="0">
                          <a:latin typeface="Cambria Math" panose="02040503050406030204" pitchFamily="18" charset="0"/>
                        </a:rPr>
                        <m:t>.</m:t>
                      </m:r>
                    </m:oMath>
                  </m:oMathPara>
                </a14:m>
                <a:endParaRPr lang="pt-BR" b="0" i="0" noProof="0" dirty="0"/>
              </a:p>
              <a:p>
                <a:pPr marL="0" indent="0">
                  <a:buNone/>
                </a:pPr>
                <a:endParaRPr lang="pt-BR" sz="100" b="0" i="0" noProof="0" dirty="0"/>
              </a:p>
              <a:p>
                <a:r>
                  <a:rPr lang="pt-BR" noProof="0" dirty="0"/>
                  <a:t>Utiliza </a:t>
                </a:r>
                <a:r>
                  <a:rPr lang="pt-BR" b="1" noProof="0" dirty="0">
                    <a:solidFill>
                      <a:srgbClr val="00B050"/>
                    </a:solidFill>
                  </a:rPr>
                  <a:t>apenas uma amostra</a:t>
                </a:r>
                <a:r>
                  <a:rPr lang="pt-BR" noProof="0" dirty="0"/>
                  <a:t> de treinamento (</a:t>
                </a:r>
                <a14:m>
                  <m:oMath xmlns:m="http://schemas.openxmlformats.org/officeDocument/2006/math">
                    <m:r>
                      <m:rPr>
                        <m:sty m:val="p"/>
                      </m:rPr>
                      <a:rPr lang="pt-BR" noProof="0">
                        <a:latin typeface="Cambria Math" panose="02040503050406030204" pitchFamily="18" charset="0"/>
                      </a:rPr>
                      <m:t>M</m:t>
                    </m:r>
                    <m:r>
                      <a:rPr lang="pt-BR" noProof="0">
                        <a:latin typeface="Cambria Math" panose="02040503050406030204" pitchFamily="18" charset="0"/>
                      </a:rPr>
                      <m:t>=1</m:t>
                    </m:r>
                  </m:oMath>
                </a14:m>
                <a:r>
                  <a:rPr lang="pt-BR" noProof="0" dirty="0"/>
                  <a:t>) para calcular uma </a:t>
                </a:r>
                <a:r>
                  <a:rPr lang="pt-BR" b="1" noProof="0" dirty="0">
                    <a:solidFill>
                      <a:srgbClr val="00B050"/>
                    </a:solidFill>
                  </a:rPr>
                  <a:t>estimativa </a:t>
                </a:r>
                <a:r>
                  <a:rPr lang="pt-BR" b="1" noProof="0" dirty="0">
                    <a:solidFill>
                      <a:srgbClr val="7030A0"/>
                    </a:solidFill>
                  </a:rPr>
                  <a:t>estocástica</a:t>
                </a:r>
                <a:r>
                  <a:rPr lang="pt-BR" b="1" noProof="0" dirty="0">
                    <a:solidFill>
                      <a:srgbClr val="00B050"/>
                    </a:solidFill>
                  </a:rPr>
                  <a:t> do gradiente</a:t>
                </a:r>
                <a:r>
                  <a:rPr lang="pt-BR" noProof="0" dirty="0"/>
                  <a:t>.</a:t>
                </a:r>
              </a:p>
              <a:p>
                <a:pPr lvl="1">
                  <a:buFont typeface="Wingdings" panose="05000000000000000000" pitchFamily="2" charset="2"/>
                  <a:buChar char="§"/>
                </a:pPr>
                <a:r>
                  <a:rPr lang="pt-BR" b="1" noProof="0" dirty="0">
                    <a:solidFill>
                      <a:srgbClr val="7030A0"/>
                    </a:solidFill>
                  </a:rPr>
                  <a:t>Estocástica</a:t>
                </a:r>
                <a:r>
                  <a:rPr lang="pt-BR" noProof="0" dirty="0"/>
                  <a:t>: a cada iteração, toma-se uma amostra </a:t>
                </a:r>
                <a:r>
                  <a:rPr lang="pt-BR" b="1" noProof="0" dirty="0">
                    <a:solidFill>
                      <a:srgbClr val="00B050"/>
                    </a:solidFill>
                  </a:rPr>
                  <a:t>aleatória</a:t>
                </a:r>
                <a:r>
                  <a:rPr lang="pt-BR" noProof="0" dirty="0"/>
                  <a:t> do conjunto para atualizar </a:t>
                </a:r>
                <a14:m>
                  <m:oMath xmlns:m="http://schemas.openxmlformats.org/officeDocument/2006/math">
                    <m:r>
                      <a:rPr lang="pt-BR" b="1" i="1" noProof="0">
                        <a:latin typeface="Cambria Math" panose="02040503050406030204" pitchFamily="18" charset="0"/>
                      </a:rPr>
                      <m:t>𝒂</m:t>
                    </m:r>
                  </m:oMath>
                </a14:m>
                <a:r>
                  <a:rPr lang="pt-BR" noProof="0" dirty="0"/>
                  <a:t>.</a:t>
                </a:r>
              </a:p>
              <a:p>
                <a:pPr lvl="1">
                  <a:buFont typeface="Wingdings" panose="05000000000000000000" pitchFamily="2" charset="2"/>
                  <a:buChar char="§"/>
                </a:pPr>
                <a:r>
                  <a:rPr lang="pt-BR" dirty="0" smtClean="0"/>
                  <a:t>Por usa apenas uma amostra, </a:t>
                </a:r>
                <a:r>
                  <a:rPr lang="pt-BR" dirty="0"/>
                  <a:t>a </a:t>
                </a:r>
                <a:r>
                  <a:rPr lang="pt-BR" b="1" dirty="0">
                    <a:solidFill>
                      <a:schemeClr val="accent2"/>
                    </a:solidFill>
                  </a:rPr>
                  <a:t>estimativa do gradiente pode apontar para direções diferentes</a:t>
                </a:r>
                <a:r>
                  <a:rPr lang="pt-BR" dirty="0"/>
                  <a:t> a cada atualização.</a:t>
                </a:r>
                <a:endParaRPr lang="pt-BR" noProof="0" dirty="0"/>
              </a:p>
              <a:p>
                <a:r>
                  <a:rPr lang="pt-BR" noProof="0" dirty="0"/>
                  <a:t>Quando os </a:t>
                </a:r>
                <a:r>
                  <a:rPr lang="pt-BR" b="1" noProof="0" dirty="0">
                    <a:solidFill>
                      <a:srgbClr val="00B050"/>
                    </a:solidFill>
                  </a:rPr>
                  <a:t>d</a:t>
                </a:r>
                <a:r>
                  <a:rPr lang="pt-BR" b="1" noProof="0" dirty="0">
                    <a:solidFill>
                      <a:srgbClr val="00B050"/>
                    </a:solidFill>
                    <a:effectLst/>
                  </a:rPr>
                  <a:t>ados de treinamento estão </a:t>
                </a:r>
                <a:r>
                  <a:rPr lang="pt-BR" b="1" noProof="0" dirty="0">
                    <a:solidFill>
                      <a:schemeClr val="accent2"/>
                    </a:solidFill>
                    <a:effectLst/>
                  </a:rPr>
                  <a:t>contaminados com ruído</a:t>
                </a:r>
                <a:r>
                  <a:rPr lang="pt-BR" b="0" noProof="0" dirty="0">
                    <a:effectLst/>
                  </a:rPr>
                  <a:t>, a</a:t>
                </a:r>
                <a:r>
                  <a:rPr lang="pt-BR" noProof="0" dirty="0"/>
                  <a:t> </a:t>
                </a:r>
                <a:r>
                  <a:rPr lang="pt-BR" b="1" noProof="0" dirty="0">
                    <a:solidFill>
                      <a:srgbClr val="00B050"/>
                    </a:solidFill>
                  </a:rPr>
                  <a:t>estimativa</a:t>
                </a:r>
                <a:r>
                  <a:rPr lang="pt-BR" noProof="0" dirty="0"/>
                  <a:t> do gradiente pode apresentar </a:t>
                </a:r>
                <a:r>
                  <a:rPr lang="pt-BR" b="1" noProof="0" dirty="0">
                    <a:solidFill>
                      <a:srgbClr val="00B050"/>
                    </a:solidFill>
                  </a:rPr>
                  <a:t>maior variância</a:t>
                </a:r>
                <a:r>
                  <a:rPr lang="pt-BR" noProof="0" dirty="0"/>
                  <a:t>, tornando a </a:t>
                </a:r>
                <a:r>
                  <a:rPr lang="pt-BR" b="1" noProof="0" dirty="0">
                    <a:solidFill>
                      <a:srgbClr val="7030A0"/>
                    </a:solidFill>
                  </a:rPr>
                  <a:t>trajetória de otimização mais oscilatória</a:t>
                </a:r>
                <a:r>
                  <a:rPr lang="pt-BR" noProof="0" dirty="0"/>
                  <a:t>.</a:t>
                </a:r>
              </a:p>
              <a:p>
                <a:pPr lvl="1">
                  <a:buFont typeface="Wingdings" panose="05000000000000000000" pitchFamily="2" charset="2"/>
                  <a:buChar char="§"/>
                </a:pPr>
                <a:r>
                  <a:rPr lang="pt-BR" noProof="0" dirty="0"/>
                  <a:t>O ruído faz com que o </a:t>
                </a:r>
                <a:r>
                  <a:rPr lang="pt-BR" b="1" noProof="0" dirty="0">
                    <a:solidFill>
                      <a:srgbClr val="0070C0"/>
                    </a:solidFill>
                  </a:rPr>
                  <a:t>gradiente oscile </a:t>
                </a:r>
                <a:r>
                  <a:rPr lang="pt-BR" noProof="0" dirty="0"/>
                  <a:t>ao redor do ponto de </a:t>
                </a:r>
                <a:r>
                  <a:rPr lang="pt-BR" dirty="0"/>
                  <a:t>mínimo, fazendo com que a </a:t>
                </a:r>
                <a:r>
                  <a:rPr lang="pt-BR" b="1" dirty="0">
                    <a:solidFill>
                      <a:schemeClr val="accent2"/>
                    </a:solidFill>
                  </a:rPr>
                  <a:t>convergência</a:t>
                </a:r>
                <a:r>
                  <a:rPr lang="pt-BR" b="1" dirty="0">
                    <a:solidFill>
                      <a:srgbClr val="00B050"/>
                    </a:solidFill>
                  </a:rPr>
                  <a:t> não seja garantida</a:t>
                </a:r>
                <a:r>
                  <a:rPr lang="pt-BR" noProof="0" dirty="0"/>
                  <a:t>.</a:t>
                </a:r>
              </a:p>
              <a:p>
                <a:r>
                  <a:rPr lang="pt-BR" noProof="0" dirty="0"/>
                  <a:t>Entretanto, é mais </a:t>
                </a:r>
                <a:r>
                  <a:rPr lang="pt-BR" b="1" noProof="0" dirty="0">
                    <a:solidFill>
                      <a:srgbClr val="00B0F0"/>
                    </a:solidFill>
                  </a:rPr>
                  <a:t>rápido e usa menos CPU e memória </a:t>
                </a:r>
                <a:r>
                  <a:rPr lang="pt-BR" noProof="0" dirty="0"/>
                  <a:t>do que o GDB.</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r="-1235" b="-2785"/>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t>
                </a:r>
                <a:r>
                  <a:rPr lang="pt-BR" b="1" dirty="0" smtClean="0">
                    <a:solidFill>
                      <a:srgbClr val="00B050"/>
                    </a:solidFill>
                  </a:rPr>
                  <a:t>amostras</a:t>
                </a:r>
                <a:r>
                  <a:rPr lang="pt-BR" dirty="0" smtClean="0"/>
                  <a:t> </a:t>
                </a:r>
                <a:r>
                  <a:rPr lang="pt-BR" dirty="0"/>
                  <a:t>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smtClean="0"/>
                  <a:t>), </a:t>
                </a:r>
                <a:r>
                  <a:rPr lang="pt-BR" dirty="0"/>
                  <a:t>chamado de </a:t>
                </a:r>
                <a:r>
                  <a:rPr lang="pt-BR" i="1" dirty="0"/>
                  <a:t>mini-batch</a:t>
                </a:r>
                <a:r>
                  <a:rPr lang="pt-BR" dirty="0"/>
                  <a:t> </a:t>
                </a:r>
                <a14:m>
                  <m:oMath xmlns:m="http://schemas.openxmlformats.org/officeDocument/2006/math">
                    <m:d>
                      <m:dPr>
                        <m:ctrlPr>
                          <a:rPr lang="pt-BR">
                            <a:latin typeface="Cambria Math" panose="02040503050406030204" pitchFamily="18" charset="0"/>
                          </a:rPr>
                        </m:ctrlPr>
                      </m:dPr>
                      <m:e>
                        <m:r>
                          <a:rPr lang="pt-BR" i="1">
                            <a:latin typeface="Cambria Math" panose="02040503050406030204" pitchFamily="18" charset="0"/>
                          </a:rPr>
                          <m:t>𝑀𝐵</m:t>
                        </m:r>
                      </m:e>
                    </m:d>
                  </m:oMath>
                </a14:m>
                <a:r>
                  <a:rPr lang="pt-BR" dirty="0" smtClean="0"/>
                  <a:t>, para </a:t>
                </a:r>
                <a:r>
                  <a:rPr lang="pt-BR" dirty="0"/>
                  <a:t>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Devido a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rotWithShape="0">
                <a:blip r:embed="rId3"/>
                <a:stretch>
                  <a:fillRect l="-967"/>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a:t>
            </a:r>
            <a:r>
              <a:rPr lang="pt-BR" sz="5400" b="1" dirty="0"/>
              <a:t>complexidade</a:t>
            </a:r>
            <a:r>
              <a:rPr lang="pt-BR" sz="5400" dirty="0"/>
              <a:t>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xmlns=""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técnica usada para </a:t>
            </a:r>
            <a:r>
              <a:rPr lang="pt-BR" b="1" dirty="0">
                <a:solidFill>
                  <a:srgbClr val="00B0F0"/>
                </a:solidFill>
              </a:rPr>
              <a:t>avaliar</a:t>
            </a:r>
            <a:r>
              <a:rPr lang="pt-BR" dirty="0"/>
              <a:t> </a:t>
            </a:r>
            <a:r>
              <a:rPr lang="pt-BR" b="1" dirty="0">
                <a:solidFill>
                  <a:schemeClr val="accent2"/>
                </a:solidFill>
              </a:rPr>
              <a:t>a capacidade de generalização de um modelo</a:t>
            </a:r>
            <a:r>
              <a:rPr lang="pt-BR" dirty="0"/>
              <a:t>.</a:t>
            </a:r>
          </a:p>
          <a:p>
            <a:r>
              <a:rPr lang="pt-BR" b="1" dirty="0"/>
              <a:t>Objetivo</a:t>
            </a:r>
            <a:r>
              <a:rPr lang="pt-BR" dirty="0"/>
              <a:t>: </a:t>
            </a:r>
            <a:r>
              <a:rPr lang="pt-BR" b="1" dirty="0">
                <a:solidFill>
                  <a:srgbClr val="00B050"/>
                </a:solidFill>
              </a:rPr>
              <a:t>encontrar a complexidade </a:t>
            </a:r>
            <a:r>
              <a:rPr lang="pt-BR" dirty="0"/>
              <a:t>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xmlns="" id="{8926E79E-7E8D-D875-50B2-B636DE18FB89}"/>
              </a:ext>
            </a:extLst>
          </p:cNvPr>
          <p:cNvSpPr>
            <a:spLocks noGrp="1"/>
          </p:cNvSpPr>
          <p:nvPr>
            <p:ph idx="1"/>
          </p:nvPr>
        </p:nvSpPr>
        <p:spPr>
          <a:xfrm>
            <a:off x="838200" y="1825624"/>
            <a:ext cx="11353800" cy="5032375"/>
          </a:xfrm>
        </p:spPr>
        <p:txBody>
          <a:bodyPr/>
          <a:lstStyle/>
          <a:p>
            <a:r>
              <a:rPr lang="pt-BR" dirty="0"/>
              <a:t>Antes </a:t>
            </a:r>
            <a:r>
              <a:rPr lang="pt-BR" dirty="0" smtClean="0"/>
              <a:t>de entendermos </a:t>
            </a:r>
            <a:r>
              <a:rPr lang="pt-BR" dirty="0"/>
              <a:t>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xmlns=""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xmlns="" id="{98558359-53B1-7971-801A-18F311722EC8}"/>
              </a:ext>
            </a:extLst>
          </p:cNvPr>
          <p:cNvSpPr>
            <a:spLocks noGrp="1"/>
          </p:cNvSpPr>
          <p:nvPr>
            <p:ph idx="1"/>
          </p:nvPr>
        </p:nvSpPr>
        <p:spPr>
          <a:xfrm>
            <a:off x="5481216" y="1825624"/>
            <a:ext cx="6710783" cy="5032375"/>
          </a:xfrm>
        </p:spPr>
        <p:txBody>
          <a:bodyPr>
            <a:normAutofit/>
          </a:bodyPr>
          <a:lstStyle/>
          <a:p>
            <a:r>
              <a:rPr lang="pt-BR" dirty="0"/>
              <a:t>O modelo é tão flexível (i.e., complexo) que ele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a:t>
            </a:r>
            <a:r>
              <a:rPr lang="pt-BR" b="1" dirty="0">
                <a:solidFill>
                  <a:srgbClr val="00B0F0"/>
                </a:solidFill>
              </a:rPr>
              <a:t>extremamente sensível</a:t>
            </a:r>
            <a:r>
              <a:rPr lang="pt-BR" b="1" dirty="0">
                <a:solidFill>
                  <a:srgbClr val="00B050"/>
                </a:solidFill>
              </a:rPr>
              <a:t>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xmlns="" id="{23F554F9-134B-9317-4597-E080F6732D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186" y="1690688"/>
            <a:ext cx="3006195" cy="201217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xmlns=""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46964" y="3489952"/>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xmlns="" id="{1FDFAB3D-88C4-A40C-1FFE-5BF9FD5EB0EC}"/>
              </a:ext>
            </a:extLst>
          </p:cNvPr>
          <p:cNvSpPr>
            <a:spLocks noGrp="1"/>
          </p:cNvSpPr>
          <p:nvPr>
            <p:ph idx="1"/>
          </p:nvPr>
        </p:nvSpPr>
        <p:spPr>
          <a:xfrm>
            <a:off x="5858359" y="1825624"/>
            <a:ext cx="6218027" cy="5032375"/>
          </a:xfrm>
        </p:spPr>
        <p:txBody>
          <a:bodyPr/>
          <a:lstStyle/>
          <a:p>
            <a:r>
              <a:rPr lang="pt-BR" dirty="0">
                <a:effectLst/>
              </a:rPr>
              <a:t>O modelo é </a:t>
            </a:r>
            <a:r>
              <a:rPr lang="pt-BR" b="1" dirty="0">
                <a:effectLst/>
              </a:rPr>
              <a:t>muito simples </a:t>
            </a:r>
            <a:r>
              <a:rPr lang="pt-BR" dirty="0">
                <a:effectLst/>
              </a:rPr>
              <a:t>(i.e., tem pouca flexibilidade) para </a:t>
            </a:r>
            <a:r>
              <a:rPr lang="pt-BR" b="1" dirty="0">
                <a:effectLst/>
              </a:rPr>
              <a:t>aprender</a:t>
            </a:r>
            <a:r>
              <a:rPr lang="pt-BR" dirty="0">
                <a:effectLst/>
              </a:rPr>
              <a:t>/</a:t>
            </a:r>
            <a:r>
              <a:rPr lang="pt-BR" b="1" dirty="0">
                <a:effectLst/>
              </a:rPr>
              <a:t>capturar o padrão geral </a:t>
            </a:r>
            <a:r>
              <a:rPr lang="pt-BR" dirty="0">
                <a:effectLst/>
              </a:rPr>
              <a:t>por trás dos dados de treinamento.</a:t>
            </a:r>
          </a:p>
          <a:p>
            <a:r>
              <a:rPr lang="pt-BR" b="1" dirty="0"/>
              <a:t>Alto viés</a:t>
            </a:r>
            <a:r>
              <a:rPr lang="pt-BR" dirty="0"/>
              <a:t>: o modelo faz uma </a:t>
            </a:r>
            <a:r>
              <a:rPr lang="pt-BR" b="1" dirty="0">
                <a:solidFill>
                  <a:srgbClr val="00B050"/>
                </a:solidFill>
              </a:rPr>
              <a:t>suposição muito forte sobre a </a:t>
            </a:r>
            <a:r>
              <a:rPr lang="pt-BR" b="1" dirty="0">
                <a:solidFill>
                  <a:srgbClr val="7030A0"/>
                </a:solidFill>
              </a:rPr>
              <a:t>forma</a:t>
            </a:r>
            <a:r>
              <a:rPr lang="pt-BR" b="1" dirty="0">
                <a:solidFill>
                  <a:srgbClr val="00B050"/>
                </a:solidFill>
              </a:rPr>
              <a:t> da função hipótese.</a:t>
            </a:r>
          </a:p>
          <a:p>
            <a:pPr lvl="1">
              <a:buFont typeface="Wingdings" panose="05000000000000000000" pitchFamily="2" charset="2"/>
              <a:buChar char="§"/>
            </a:pPr>
            <a:r>
              <a:rPr lang="pt-BR" dirty="0"/>
              <a:t>Por exemplo, assumir linearidade quando a relação é </a:t>
            </a:r>
            <a:r>
              <a:rPr lang="pt-BR" dirty="0" smtClean="0"/>
              <a:t>não linear: usar uma reta </a:t>
            </a:r>
            <a:r>
              <a:rPr lang="pt-BR" dirty="0"/>
              <a:t>para aproximar uma parábola.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xmlns=""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86338"/>
            <a:ext cx="11353802" cy="1871661"/>
          </a:xfrm>
        </p:spPr>
        <p:txBody>
          <a:bodyPr>
            <a:normAutofit fontScale="92500" lnSpcReduction="2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validação e teste</a:t>
            </a:r>
            <a:r>
              <a:rPr lang="pt-BR" dirty="0"/>
              <a:t>.</a:t>
            </a:r>
          </a:p>
          <a:p>
            <a:r>
              <a:rPr lang="pt-BR" dirty="0"/>
              <a:t>Esse padrão de erros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 para deixá-lo mais representativo.</a:t>
            </a:r>
          </a:p>
          <a:p>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a:t>
            </a:r>
            <a:r>
              <a:rPr lang="pt-BR" b="1" dirty="0">
                <a:solidFill>
                  <a:srgbClr val="00B0F0"/>
                </a:solidFill>
              </a:rPr>
              <a:t>tendendo a zero</a:t>
            </a:r>
            <a:r>
              <a:rPr lang="pt-BR" dirty="0"/>
              <a:t>, </a:t>
            </a:r>
            <a:r>
              <a:rPr lang="pt-BR" b="1" dirty="0"/>
              <a:t>no conjunto de treinamento</a:t>
            </a:r>
            <a:r>
              <a:rPr lang="pt-BR" dirty="0"/>
              <a:t> e </a:t>
            </a:r>
            <a:r>
              <a:rPr lang="pt-BR" b="1" dirty="0"/>
              <a:t>muito alto nos conjuntos de validação e de teste</a:t>
            </a:r>
            <a:r>
              <a:rPr lang="pt-BR" dirty="0"/>
              <a:t>.</a:t>
            </a:r>
          </a:p>
          <a:p>
            <a:r>
              <a:rPr lang="pt-BR" dirty="0"/>
              <a:t>Esse padrão de erros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867563"/>
            <a:ext cx="11216148" cy="1990437"/>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noProof="0"/>
              <a:t>Ponto de equilíbrio</a:t>
            </a:r>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a:t>
            </a:r>
            <a:r>
              <a:rPr lang="pt-BR" b="1" dirty="0">
                <a:solidFill>
                  <a:schemeClr val="accent2"/>
                </a:solidFill>
              </a:rPr>
              <a:t> erros de treinamento, validação e teste pequenos e próximos</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a:t>
            </a:r>
            <a:r>
              <a:rPr lang="pt-BR" b="1" dirty="0">
                <a:solidFill>
                  <a:srgbClr val="00B0F0"/>
                </a:solidFill>
                <a:effectLst/>
              </a:rPr>
              <a:t>quantitativamente</a:t>
            </a:r>
            <a:r>
              <a:rPr lang="pt-BR" b="1" dirty="0">
                <a:solidFill>
                  <a:srgbClr val="00B050"/>
                </a:solidFill>
                <a:effectLst/>
              </a:rPr>
              <a:t>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o quão bem ele generaliza</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a:t>
            </a:r>
            <a:r>
              <a:rPr lang="pt-BR" b="1" dirty="0">
                <a:solidFill>
                  <a:schemeClr val="accent2"/>
                </a:solidFill>
                <a:effectLst/>
              </a:rPr>
              <a:t>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dos erros de treinamento e validação </a:t>
                </a:r>
                <a:r>
                  <a:rPr lang="pt-BR" dirty="0"/>
                  <a:t>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r="-652"/>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xmlns=""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xmlns=""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xmlns="" id="{F55CE789-94DC-AEE8-1D38-D05D40B0BF3A}"/>
              </a:ext>
            </a:extLst>
          </p:cNvPr>
          <p:cNvSpPr>
            <a:spLocks noGrp="1"/>
          </p:cNvSpPr>
          <p:nvPr>
            <p:ph idx="1"/>
          </p:nvPr>
        </p:nvSpPr>
        <p:spPr>
          <a:xfrm>
            <a:off x="5933440" y="1825624"/>
            <a:ext cx="625856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 modelo.</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00B0F0"/>
                </a:solidFill>
              </a:rPr>
              <a:t>estabilidade</a:t>
            </a:r>
            <a:r>
              <a:rPr lang="pt-BR" b="1" dirty="0">
                <a:solidFill>
                  <a:srgbClr val="7030A0"/>
                </a:solidFill>
              </a:rPr>
              <a:t>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xmlns=""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626500EB-428E-627B-4A36-F1786ED03F75}"/>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xmlns=""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Caso os </a:t>
            </a:r>
            <a:r>
              <a:rPr lang="pt-BR" i="1" dirty="0">
                <a:solidFill>
                  <a:srgbClr val="0F0F0F"/>
                </a:solidFill>
              </a:rPr>
              <a:t>folds</a:t>
            </a:r>
            <a:r>
              <a:rPr lang="pt-BR" dirty="0">
                <a:solidFill>
                  <a:srgbClr val="0F0F0F"/>
                </a:solidFill>
              </a:rPr>
              <a:t> não sejam representativos, temos o 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 devido a esse problema.</a:t>
            </a:r>
          </a:p>
        </p:txBody>
      </p:sp>
      <p:grpSp>
        <p:nvGrpSpPr>
          <p:cNvPr id="6" name="Agrupar 8">
            <a:extLst>
              <a:ext uri="{FF2B5EF4-FFF2-40B4-BE49-F238E27FC236}">
                <a16:creationId xmlns:a16="http://schemas.microsoft.com/office/drawing/2014/main" xmlns=""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xmlns=""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xmlns=""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xmlns=""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xmlns=""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xmlns=""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139ADDD6-6BAF-0757-3736-516A20794509}"/>
              </a:ext>
            </a:extLst>
          </p:cNvPr>
          <p:cNvSpPr>
            <a:spLocks noGrp="1"/>
          </p:cNvSpPr>
          <p:nvPr>
            <p:ph idx="1"/>
          </p:nvPr>
        </p:nvSpPr>
        <p:spPr>
          <a:xfrm>
            <a:off x="5572462" y="2005846"/>
            <a:ext cx="6619538" cy="4868781"/>
          </a:xfrm>
        </p:spPr>
        <p:txBody>
          <a:bodyPr>
            <a:normAutofit fontScale="92500"/>
          </a:bodyPr>
          <a:lstStyle/>
          <a:p>
            <a:r>
              <a:rPr lang="pt-BR" dirty="0"/>
              <a:t>A figura ao lado apresenta a </a:t>
            </a:r>
            <a:r>
              <a:rPr lang="pt-BR" b="1" dirty="0">
                <a:solidFill>
                  <a:srgbClr val="7030A0"/>
                </a:solidFill>
              </a:rPr>
              <a:t>média do EQM </a:t>
            </a:r>
            <a:r>
              <a:rPr lang="pt-BR" b="1" dirty="0" smtClean="0">
                <a:solidFill>
                  <a:srgbClr val="7030A0"/>
                </a:solidFill>
              </a:rPr>
              <a:t>de validação</a:t>
            </a:r>
            <a:r>
              <a:rPr lang="pt-BR" dirty="0" smtClean="0"/>
              <a:t> para </a:t>
            </a:r>
            <a:r>
              <a:rPr lang="pt-BR" dirty="0"/>
              <a:t>vários graus de polinômio.</a:t>
            </a:r>
          </a:p>
          <a:p>
            <a:r>
              <a:rPr lang="pt-BR" dirty="0"/>
              <a:t>Após o grau 2, a média do EQM é </a:t>
            </a:r>
            <a:r>
              <a:rPr lang="pt-BR" dirty="0" smtClean="0"/>
              <a:t>baixa </a:t>
            </a:r>
            <a:r>
              <a:rPr lang="pt-BR" dirty="0"/>
              <a:t>e praticamente constante.</a:t>
            </a:r>
          </a:p>
          <a:p>
            <a:r>
              <a:rPr lang="pt-BR" dirty="0"/>
              <a:t>Essa situação ocorre quando o número de amostras é muito maior do que a flexibilidade (e.g., o grau) </a:t>
            </a:r>
            <a:r>
              <a:rPr lang="pt-BR" dirty="0" smtClean="0"/>
              <a:t>dos modelos.</a:t>
            </a:r>
            <a:endParaRPr lang="pt-BR" dirty="0"/>
          </a:p>
          <a:p>
            <a:pPr lvl="1">
              <a:buFont typeface="Wingdings" panose="05000000000000000000" pitchFamily="2" charset="2"/>
              <a:buChar char="§"/>
            </a:pPr>
            <a:r>
              <a:rPr lang="pt-BR" dirty="0" smtClean="0"/>
              <a:t>O</a:t>
            </a:r>
            <a:r>
              <a:rPr lang="pt-BR" dirty="0" smtClean="0"/>
              <a:t>s modelos </a:t>
            </a:r>
            <a:r>
              <a:rPr lang="pt-BR" dirty="0"/>
              <a:t>não </a:t>
            </a:r>
            <a:r>
              <a:rPr lang="pt-BR" dirty="0" smtClean="0"/>
              <a:t>conseguem </a:t>
            </a:r>
            <a:r>
              <a:rPr lang="pt-BR" dirty="0"/>
              <a:t>memorizar todas as amostras.</a:t>
            </a:r>
          </a:p>
          <a:p>
            <a:r>
              <a:rPr lang="pt-BR" b="1" dirty="0">
                <a:solidFill>
                  <a:srgbClr val="00B050"/>
                </a:solidFill>
              </a:rPr>
              <a:t>Qual grau devemos escolher quando o erro é mínimo e praticamente constante para vários graus de polinômio?</a:t>
            </a:r>
          </a:p>
        </p:txBody>
      </p:sp>
      <p:pic>
        <p:nvPicPr>
          <p:cNvPr id="4" name="Picture 2">
            <a:extLst>
              <a:ext uri="{FF2B5EF4-FFF2-40B4-BE49-F238E27FC236}">
                <a16:creationId xmlns:a16="http://schemas.microsoft.com/office/drawing/2014/main" xmlns=""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39A11C6A-E0FA-69E8-0E7C-434857DB5D45}"/>
              </a:ext>
            </a:extLst>
          </p:cNvPr>
          <p:cNvSpPr>
            <a:spLocks noGrp="1"/>
          </p:cNvSpPr>
          <p:nvPr>
            <p:ph idx="1"/>
          </p:nvPr>
        </p:nvSpPr>
        <p:spPr>
          <a:xfrm>
            <a:off x="838200" y="1825624"/>
            <a:ext cx="11353800" cy="5032375"/>
          </a:xfrm>
        </p:spPr>
        <p:txBody>
          <a:bodyPr>
            <a:normAutofit/>
          </a:bodyPr>
          <a:lstStyle/>
          <a:p>
            <a:r>
              <a:rPr lang="pt-BR" noProof="0" dirty="0"/>
              <a:t>A resposta é aplicar o </a:t>
            </a:r>
            <a:r>
              <a:rPr lang="pt-BR" b="1" noProof="0" dirty="0"/>
              <a:t>princípio da navalha de Occam</a:t>
            </a:r>
            <a:r>
              <a:rPr lang="pt-BR" noProof="0" dirty="0"/>
              <a:t>.</a:t>
            </a:r>
          </a:p>
          <a:p>
            <a:r>
              <a:rPr lang="pt-BR" noProof="0" dirty="0"/>
              <a:t>A </a:t>
            </a:r>
            <a:r>
              <a:rPr lang="pt-BR" b="1" noProof="0" dirty="0"/>
              <a:t>navalha de Occam </a:t>
            </a:r>
            <a:r>
              <a:rPr lang="pt-BR" noProof="0" dirty="0"/>
              <a:t>é um princípio lógico que diz que, </a:t>
            </a:r>
            <a:r>
              <a:rPr lang="pt-BR" b="1" noProof="0" dirty="0">
                <a:solidFill>
                  <a:srgbClr val="7030A0"/>
                </a:solidFill>
                <a:effectLst/>
              </a:rPr>
              <a:t>entre várias explicações igualmente plausíveis</a:t>
            </a:r>
            <a:r>
              <a:rPr lang="pt-BR" b="0" noProof="0" dirty="0">
                <a:solidFill>
                  <a:srgbClr val="0F0F0F"/>
                </a:solidFill>
                <a:effectLst/>
              </a:rPr>
              <a:t> para um conjunto de observações, a </a:t>
            </a:r>
            <a:r>
              <a:rPr lang="pt-BR" b="1" noProof="0" dirty="0">
                <a:solidFill>
                  <a:srgbClr val="7030A0"/>
                </a:solidFill>
                <a:effectLst/>
              </a:rPr>
              <a:t>mais simples deve ser preferida</a:t>
            </a:r>
            <a:r>
              <a:rPr lang="pt-BR" b="0" noProof="0" dirty="0">
                <a:solidFill>
                  <a:srgbClr val="0F0F0F"/>
                </a:solidFill>
                <a:effectLst/>
              </a:rPr>
              <a:t>.</a:t>
            </a:r>
            <a:endParaRPr lang="pt-BR" noProof="0" dirty="0"/>
          </a:p>
          <a:p>
            <a:pPr lvl="1">
              <a:buFont typeface="Wingdings" panose="05000000000000000000" pitchFamily="2" charset="2"/>
              <a:buChar char="§"/>
            </a:pPr>
            <a:r>
              <a:rPr lang="pt-BR" noProof="0" dirty="0"/>
              <a:t>Ou seja, deve-se </a:t>
            </a:r>
            <a:r>
              <a:rPr lang="pt-BR" b="1" noProof="0" dirty="0">
                <a:solidFill>
                  <a:srgbClr val="0070C0"/>
                </a:solidFill>
              </a:rPr>
              <a:t>preferir explicações mais simples às mais complexas</a:t>
            </a:r>
            <a:r>
              <a:rPr lang="pt-BR" noProof="0" dirty="0"/>
              <a:t>.</a:t>
            </a:r>
          </a:p>
          <a:p>
            <a:r>
              <a:rPr lang="pt-BR" noProof="0" dirty="0"/>
              <a:t>Portanto, aplicando a </a:t>
            </a:r>
            <a:r>
              <a:rPr lang="pt-BR" b="1" noProof="0" dirty="0"/>
              <a:t>navalha de Occam</a:t>
            </a:r>
            <a:r>
              <a:rPr lang="pt-BR" noProof="0" dirty="0"/>
              <a:t>, escolhemos a </a:t>
            </a:r>
            <a:r>
              <a:rPr lang="pt-BR" b="1" noProof="0" dirty="0">
                <a:solidFill>
                  <a:srgbClr val="002060"/>
                </a:solidFill>
              </a:rPr>
              <a:t>função hipótese polinomial</a:t>
            </a:r>
            <a:r>
              <a:rPr lang="pt-BR" b="1" noProof="0" dirty="0">
                <a:solidFill>
                  <a:srgbClr val="00B050"/>
                </a:solidFill>
              </a:rPr>
              <a:t> com menor grau</a:t>
            </a:r>
            <a:r>
              <a:rPr lang="pt-BR" noProof="0" dirty="0"/>
              <a:t> (i.e., menos complexa), </a:t>
            </a:r>
            <a:r>
              <a:rPr lang="pt-BR" b="1" noProof="0" dirty="0">
                <a:solidFill>
                  <a:srgbClr val="00B050"/>
                </a:solidFill>
              </a:rPr>
              <a:t>mas que ainda se ajusta bem ao comportamento geral dos dados</a:t>
            </a:r>
            <a:r>
              <a:rPr lang="pt-BR" noProof="0" dirty="0"/>
              <a:t>.</a:t>
            </a:r>
          </a:p>
          <a:p>
            <a:pPr lvl="1">
              <a:buFont typeface="Wingdings" panose="05000000000000000000" pitchFamily="2" charset="2"/>
              <a:buChar char="§"/>
            </a:pPr>
            <a:r>
              <a:rPr lang="pt-BR" noProof="0" dirty="0"/>
              <a:t>Ou seja, escolhemos o </a:t>
            </a:r>
            <a:r>
              <a:rPr lang="pt-BR" b="1" noProof="0" dirty="0">
                <a:solidFill>
                  <a:schemeClr val="accent2"/>
                </a:solidFill>
              </a:rPr>
              <a:t>modelo mais simples </a:t>
            </a:r>
            <a:r>
              <a:rPr lang="pt-BR" noProof="0" dirty="0"/>
              <a:t>em termos de quantidade de cálculos, </a:t>
            </a:r>
            <a:r>
              <a:rPr lang="pt-BR" b="1" noProof="0" dirty="0">
                <a:solidFill>
                  <a:schemeClr val="accent2"/>
                </a:solidFill>
              </a:rPr>
              <a:t>mas que possua uma boa capacidade de generalização</a:t>
            </a:r>
            <a:r>
              <a:rPr lang="pt-BR" noProof="0" dirty="0"/>
              <a:t>.</a:t>
            </a:r>
          </a:p>
        </p:txBody>
      </p:sp>
    </p:spTree>
    <p:extLst>
      <p:ext uri="{BB962C8B-B14F-4D97-AF65-F5344CB8AC3E}">
        <p14:creationId xmlns:p14="http://schemas.microsoft.com/office/powerpoint/2010/main" val="24517482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xmlns="" id="{20AB6FA0-AEEA-DD68-71A9-D05F91264E51}"/>
              </a:ext>
            </a:extLst>
          </p:cNvPr>
          <p:cNvPicPr>
            <a:picLocks noChangeAspect="1"/>
          </p:cNvPicPr>
          <p:nvPr/>
        </p:nvPicPr>
        <p:blipFill>
          <a:blip r:embed="rId3"/>
          <a:stretch>
            <a:fillRect/>
          </a:stretch>
        </p:blipFill>
        <p:spPr>
          <a:xfrm>
            <a:off x="2247921" y="4084320"/>
            <a:ext cx="2071039" cy="2753360"/>
          </a:xfrm>
          <a:prstGeom prst="rect">
            <a:avLst/>
          </a:prstGeom>
        </p:spPr>
      </p:pic>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549235" y="1825624"/>
            <a:ext cx="6642765"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 IV).</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5D2EFB5-F853-0ECE-6705-DF53B688DBE6}"/>
                  </a:ext>
                </a:extLst>
              </p:cNvPr>
              <p:cNvSpPr txBox="1"/>
              <p:nvPr/>
            </p:nvSpPr>
            <p:spPr>
              <a:xfrm>
                <a:off x="1146518" y="267043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146518" y="267043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xmlns=""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xmlns="" id="{0DBFA6D4-9D17-89FF-09AD-0BB33A989E37}"/>
              </a:ext>
            </a:extLst>
          </p:cNvPr>
          <p:cNvSpPr/>
          <p:nvPr/>
        </p:nvSpPr>
        <p:spPr>
          <a:xfrm rot="5400000">
            <a:off x="2899256" y="42182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xmlns=""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xmlns="" id="{4A11FE2E-094D-7109-7D29-CDC23773C411}"/>
              </a:ext>
            </a:extLst>
          </p:cNvPr>
          <p:cNvSpPr txBox="1"/>
          <p:nvPr/>
        </p:nvSpPr>
        <p:spPr>
          <a:xfrm>
            <a:off x="3760167" y="1450727"/>
            <a:ext cx="1546449" cy="369332"/>
          </a:xfrm>
          <a:prstGeom prst="rect">
            <a:avLst/>
          </a:prstGeom>
          <a:noFill/>
        </p:spPr>
        <p:txBody>
          <a:bodyPr wrap="none" rtlCol="0">
            <a:spAutoFit/>
          </a:bodyPr>
          <a:lstStyle/>
          <a:p>
            <a:r>
              <a:rPr lang="pt-BR" dirty="0"/>
              <a:t>Penalização L2</a:t>
            </a:r>
          </a:p>
        </p:txBody>
      </p:sp>
      <p:sp>
        <p:nvSpPr>
          <p:cNvPr id="4" name="CaixaDeTexto 3">
            <a:extLst>
              <a:ext uri="{FF2B5EF4-FFF2-40B4-BE49-F238E27FC236}">
                <a16:creationId xmlns:a16="http://schemas.microsoft.com/office/drawing/2014/main" xmlns="" id="{43959B52-339F-CDCA-CE87-AD5996D76152}"/>
              </a:ext>
            </a:extLst>
          </p:cNvPr>
          <p:cNvSpPr txBox="1"/>
          <p:nvPr/>
        </p:nvSpPr>
        <p:spPr>
          <a:xfrm>
            <a:off x="1437482" y="2400052"/>
            <a:ext cx="3197049" cy="261610"/>
          </a:xfrm>
          <a:prstGeom prst="rect">
            <a:avLst/>
          </a:prstGeom>
          <a:noFill/>
        </p:spPr>
        <p:txBody>
          <a:bodyPr wrap="square" rtlCol="0">
            <a:spAutoFit/>
          </a:bodyPr>
          <a:lstStyle/>
          <a:p>
            <a:pPr algn="ctr"/>
            <a:r>
              <a:rPr lang="pt-BR" sz="1100" dirty="0"/>
              <a:t>Reescrevendo como um problema de minimização</a:t>
            </a:r>
            <a:endParaRPr lang="en-US" sz="1100" dirty="0"/>
          </a:p>
        </p:txBody>
      </p:sp>
    </p:spTree>
    <p:extLst>
      <p:ext uri="{BB962C8B-B14F-4D97-AF65-F5344CB8AC3E}">
        <p14:creationId xmlns:p14="http://schemas.microsoft.com/office/powerpoint/2010/main" val="166834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530312" y="1825624"/>
            <a:ext cx="6661688"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1" dirty="0">
                <a:solidFill>
                  <a:srgbClr val="00B050"/>
                </a:solidFill>
              </a:rPr>
              <a:t>I</a:t>
            </a:r>
            <a:r>
              <a:rPr lang="pt-BR" b="1" dirty="0">
                <a:solidFill>
                  <a:srgbClr val="00B050"/>
                </a:solidFill>
                <a:effectLst/>
              </a:rPr>
              <a:t>nterrompe o treinamento do modelo assim que o desempenho no conjunto de validação começa a piorar</a:t>
            </a:r>
            <a:r>
              <a:rPr lang="pt-BR" b="0" dirty="0">
                <a:effectLst/>
              </a:rPr>
              <a:t> (início do sobreajuste</a:t>
            </a:r>
            <a:r>
              <a:rPr lang="pt-BR" dirty="0"/>
              <a:t>).</a:t>
            </a:r>
            <a:endParaRPr lang="pt-BR" b="0" dirty="0">
              <a:effectLst/>
            </a:endParaRP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o suficiente para aprender o padrão geral, levando ao </a:t>
            </a:r>
            <a:r>
              <a:rPr lang="pt-BR" b="1" dirty="0">
                <a:solidFill>
                  <a:srgbClr val="FF0000"/>
                </a:solidFill>
                <a:effectLst/>
              </a:rPr>
              <a:t>subajuste</a:t>
            </a:r>
            <a:r>
              <a:rPr lang="pt-BR" b="0" dirty="0">
                <a:solidFill>
                  <a:srgbClr val="1F1F1F"/>
                </a:solidFill>
                <a:effectLst/>
              </a:rPr>
              <a:t>.</a:t>
            </a:r>
          </a:p>
          <a:p>
            <a:pPr lvl="2">
              <a:buFont typeface="Courier New" panose="02070309020205020404" pitchFamily="49" charset="0"/>
              <a:buChar char="o"/>
            </a:pPr>
            <a:r>
              <a:rPr lang="pt-BR" dirty="0">
                <a:solidFill>
                  <a:srgbClr val="1F1F1F"/>
                </a:solidFill>
              </a:rPr>
              <a:t>Cuidado, pois o treinamento pode ser encerrado precocemente devido à oscilação do erro.</a:t>
            </a:r>
            <a:endParaRPr lang="pt-BR" dirty="0">
              <a:effectLst/>
            </a:endParaRPr>
          </a:p>
        </p:txBody>
      </p:sp>
      <p:grpSp>
        <p:nvGrpSpPr>
          <p:cNvPr id="8" name="Agrupar 7">
            <a:extLst>
              <a:ext uri="{FF2B5EF4-FFF2-40B4-BE49-F238E27FC236}">
                <a16:creationId xmlns:a16="http://schemas.microsoft.com/office/drawing/2014/main" xmlns=""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xmlns=""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xmlns=""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xmlns=""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xmlns=""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xmlns="" id="{3EFA45DD-DE5E-7F12-4C62-6BFB35041C7C}"/>
              </a:ext>
            </a:extLst>
          </p:cNvPr>
          <p:cNvSpPr>
            <a:spLocks noGrp="1"/>
          </p:cNvSpPr>
          <p:nvPr>
            <p:ph idx="1"/>
          </p:nvPr>
        </p:nvSpPr>
        <p:spPr>
          <a:xfrm>
            <a:off x="838199" y="1825624"/>
            <a:ext cx="11353801" cy="5032375"/>
          </a:xfrm>
        </p:spPr>
        <p:txBody>
          <a:bodyPr>
            <a:normAutofit lnSpcReduction="10000"/>
          </a:bodyPr>
          <a:lstStyle/>
          <a:p>
            <a:r>
              <a:rPr lang="pt-BR" noProof="0"/>
              <a:t>NP1: 28/09/2026 - Sala I-5</a:t>
            </a:r>
          </a:p>
          <a:p>
            <a:r>
              <a:rPr lang="pt-BR" noProof="0" dirty="0"/>
              <a:t>A prova será em papel.</a:t>
            </a:r>
          </a:p>
          <a:p>
            <a:r>
              <a:rPr lang="pt-BR" noProof="0" dirty="0"/>
              <a:t>Ela conterá apenas questões de múltipla escolha (1 item correto por questão).</a:t>
            </a:r>
          </a:p>
          <a:p>
            <a:r>
              <a:rPr lang="pt-BR" noProof="0" dirty="0"/>
              <a:t>Além de questões teóricas, podem haver questões práticas.</a:t>
            </a:r>
          </a:p>
          <a:p>
            <a:r>
              <a:rPr lang="pt-BR" noProof="0" dirty="0"/>
              <a:t>Estudem o material, não só as listas.</a:t>
            </a:r>
          </a:p>
          <a:p>
            <a:r>
              <a:rPr lang="pt-BR" noProof="0" dirty="0"/>
              <a:t>Vocês podem trazer uma folha com anotações escritas à mão, mas só podem usar a parte da FRENTE de uma folha A4. </a:t>
            </a:r>
          </a:p>
          <a:p>
            <a:r>
              <a:rPr lang="pt-BR" b="1" noProof="0" dirty="0">
                <a:solidFill>
                  <a:srgbClr val="7030A0"/>
                </a:solidFill>
              </a:rPr>
              <a:t>Alunos com anotações nos dois lados e que não forem escritas à mão terão a folha descartada.</a:t>
            </a:r>
          </a:p>
          <a:p>
            <a:r>
              <a:rPr lang="pt-BR" noProof="0" dirty="0"/>
              <a:t>Conteúdo: até o que for apresentado na aula do dia 21/09/2026.</a:t>
            </a:r>
          </a:p>
        </p:txBody>
      </p:sp>
    </p:spTree>
    <p:extLst>
      <p:ext uri="{BB962C8B-B14F-4D97-AF65-F5344CB8AC3E}">
        <p14:creationId xmlns:p14="http://schemas.microsoft.com/office/powerpoint/2010/main" val="31061024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2E5602A-661E-0742-2B1B-2D2F60E5F350}"/>
                  </a:ext>
                </a:extLst>
              </p:cNvPr>
              <p:cNvSpPr>
                <a:spLocks noGrp="1"/>
              </p:cNvSpPr>
              <p:nvPr>
                <p:ph idx="1"/>
              </p:nvPr>
            </p:nvSpPr>
            <p:spPr>
              <a:xfrm>
                <a:off x="838198" y="1825624"/>
                <a:ext cx="11353801" cy="5032375"/>
              </a:xfrm>
            </p:spPr>
            <p:txBody>
              <a:bodyPr>
                <a:normAutofit lnSpcReduction="10000"/>
              </a:bodyPr>
              <a:lstStyle/>
              <a:p>
                <a:r>
                  <a:rPr lang="pt-BR" dirty="0"/>
                  <a:t>Para a seguinte função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 0&lt;</m:t>
                      </m:r>
                      <m:r>
                        <a:rPr lang="pt-BR" b="0" i="1" smtClean="0">
                          <a:latin typeface="Cambria Math" panose="02040503050406030204" pitchFamily="18" charset="0"/>
                        </a:rPr>
                        <m:t>𝑛</m:t>
                      </m:r>
                      <m:r>
                        <a:rPr lang="pt-BR" b="0" i="0" smtClean="0">
                          <a:latin typeface="Cambria Math" panose="02040503050406030204" pitchFamily="18" charset="0"/>
                        </a:rPr>
                        <m:t>&lt;</m:t>
                      </m:r>
                      <m:r>
                        <m:rPr>
                          <m:sty m:val="p"/>
                        </m:rPr>
                        <a:rPr lang="pt-BR" b="0" i="0" smtClean="0">
                          <a:latin typeface="Cambria Math" panose="02040503050406030204" pitchFamily="18" charset="0"/>
                        </a:rPr>
                        <m:t>N</m:t>
                      </m:r>
                      <m:r>
                        <a:rPr lang="pt-BR" b="0" i="0" smtClean="0">
                          <a:latin typeface="Cambria Math" panose="02040503050406030204" pitchFamily="18" charset="0"/>
                        </a:rPr>
                        <m:t>−1</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para todas </a:t>
                </a:r>
                <a14:m>
                  <m:oMath xmlns:m="http://schemas.openxmlformats.org/officeDocument/2006/math">
                    <m:r>
                      <m:rPr>
                        <m:sty m:val="p"/>
                      </m:rPr>
                      <a:rPr lang="pt-BR" b="0" i="0" smtClean="0">
                        <a:latin typeface="Cambria Math" panose="02040503050406030204" pitchFamily="18" charset="0"/>
                      </a:rPr>
                      <m:t>N</m:t>
                    </m:r>
                  </m:oMath>
                </a14:m>
                <a:r>
                  <a:rPr lang="pt-BR" dirty="0"/>
                  <a:t> amostras fica da seguinte forma </a:t>
                </a:r>
              </a:p>
              <a:p>
                <a:pPr marL="0" indent="0">
                  <a:buNone/>
                </a:pPr>
                <a14:m>
                  <m:oMathPara xmlns:m="http://schemas.openxmlformats.org/officeDocument/2006/math">
                    <m:oMathParaPr>
                      <m:jc m:val="centerGroup"/>
                    </m:oMathParaPr>
                    <m:oMath xmlns:m="http://schemas.openxmlformats.org/officeDocument/2006/math">
                      <m:r>
                        <a:rPr lang="pt-BR" sz="2600" b="1" i="1" smtClean="0">
                          <a:latin typeface="Cambria Math" panose="02040503050406030204" pitchFamily="18" charset="0"/>
                        </a:rPr>
                        <m:t>𝑿</m:t>
                      </m:r>
                      <m:r>
                        <a:rPr lang="pt-BR" sz="2600" b="0" i="1" smtClean="0">
                          <a:latin typeface="Cambria Math" panose="02040503050406030204" pitchFamily="18" charset="0"/>
                        </a:rPr>
                        <m:t>=</m:t>
                      </m:r>
                      <m:d>
                        <m:dPr>
                          <m:begChr m:val="["/>
                          <m:endChr m:val="]"/>
                          <m:ctrlPr>
                            <a:rPr lang="pt-BR" sz="2600" b="1" i="1" smtClean="0">
                              <a:latin typeface="Cambria Math" panose="02040503050406030204" pitchFamily="18" charset="0"/>
                            </a:rPr>
                          </m:ctrlPr>
                        </m:dPr>
                        <m:e>
                          <m:m>
                            <m:mPr>
                              <m:mcs>
                                <m:mc>
                                  <m:mcPr>
                                    <m:count m:val="3"/>
                                    <m:mcJc m:val="center"/>
                                  </m:mcPr>
                                </m:mc>
                              </m:mcs>
                              <m:ctrlPr>
                                <a:rPr lang="pt-BR" sz="2600" b="1" i="1" smtClean="0">
                                  <a:latin typeface="Cambria Math" panose="02040503050406030204" pitchFamily="18" charset="0"/>
                                </a:rPr>
                              </m:ctrlPr>
                            </m:mPr>
                            <m:mr>
                              <m:e>
                                <m:r>
                                  <a:rPr lang="pt-BR" sz="2600" b="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mr>
                                      </m:m>
                                    </m:e>
                                  </m:mr>
                                </m:m>
                              </m:e>
                            </m:mr>
                            <m:mr>
                              <m:e>
                                <m:r>
                                  <a:rPr lang="pt-BR" sz="2600" b="1" i="1" smtClean="0">
                                    <a:latin typeface="Cambria Math" panose="02040503050406030204" pitchFamily="18" charset="0"/>
                                  </a:rPr>
                                  <m:t>⋮</m:t>
                                </m:r>
                              </m:e>
                              <m:e>
                                <m:r>
                                  <a:rPr lang="pt-BR" sz="2600" b="1" i="1">
                                    <a:latin typeface="Cambria Math" panose="02040503050406030204" pitchFamily="18" charset="0"/>
                                  </a:rPr>
                                  <m:t>⋮</m:t>
                                </m:r>
                              </m:e>
                              <m:e>
                                <m:m>
                                  <m:mPr>
                                    <m:mcs>
                                      <m:mc>
                                        <m:mcPr>
                                          <m:count m:val="3"/>
                                          <m:mcJc m:val="center"/>
                                        </m:mcPr>
                                      </m:mc>
                                    </m:mcs>
                                    <m:ctrlPr>
                                      <a:rPr lang="pt-BR" sz="2600" b="1" i="1" smtClean="0">
                                        <a:latin typeface="Cambria Math" panose="02040503050406030204" pitchFamily="18" charset="0"/>
                                      </a:rPr>
                                    </m:ctrlPr>
                                  </m:mPr>
                                  <m:mr>
                                    <m:e>
                                      <m:r>
                                        <a:rPr lang="pt-BR" sz="2600" b="1" i="1">
                                          <a:latin typeface="Cambria Math" panose="02040503050406030204" pitchFamily="18" charset="0"/>
                                        </a:rPr>
                                        <m:t>⋮</m:t>
                                      </m:r>
                                    </m:e>
                                    <m:e>
                                      <m:r>
                                        <a:rPr lang="pt-BR" sz="2600" b="1" i="1" smtClean="0">
                                          <a:latin typeface="Cambria Math" panose="02040503050406030204" pitchFamily="18" charset="0"/>
                                        </a:rPr>
                                        <m:t>       ⋱        </m:t>
                                      </m:r>
                                    </m:e>
                                    <m:e>
                                      <m:r>
                                        <a:rPr lang="pt-BR" sz="2600" b="1" i="1" smtClean="0">
                                          <a:latin typeface="Cambria Math" panose="02040503050406030204" pitchFamily="18" charset="0"/>
                                        </a:rPr>
                                        <m:t>⋮</m:t>
                                      </m:r>
                                    </m:e>
                                  </m:mr>
                                </m:m>
                              </m:e>
                            </m:mr>
                            <m:mr>
                              <m:e>
                                <m:r>
                                  <a:rPr lang="pt-BR" sz="260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mr>
                                      </m:m>
                                    </m:e>
                                  </m:mr>
                                </m:m>
                              </m:e>
                            </m:mr>
                          </m:m>
                        </m:e>
                      </m:d>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r>
                            <a:rPr lang="pt-BR" sz="2600" i="1">
                              <a:latin typeface="Cambria Math" panose="02040503050406030204" pitchFamily="18" charset="0"/>
                              <a:ea typeface="Cambria Math" panose="02040503050406030204" pitchFamily="18" charset="0"/>
                            </a:rPr>
                            <m:t>ℝ</m:t>
                          </m:r>
                        </m:e>
                        <m:sup>
                          <m:r>
                            <a:rPr lang="pt-BR" sz="2600" i="1">
                              <a:latin typeface="Cambria Math" panose="02040503050406030204" pitchFamily="18" charset="0"/>
                              <a:ea typeface="Cambria Math" panose="02040503050406030204" pitchFamily="18" charset="0"/>
                            </a:rPr>
                            <m:t>𝑁</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𝑀</m:t>
                          </m:r>
                          <m:r>
                            <a:rPr lang="pt-BR" sz="2600" i="1">
                              <a:latin typeface="Cambria Math" panose="02040503050406030204" pitchFamily="18" charset="0"/>
                              <a:ea typeface="Cambria Math" panose="02040503050406030204" pitchFamily="18" charset="0"/>
                            </a:rPr>
                            <m:t>+1</m:t>
                          </m:r>
                        </m:sup>
                      </m:sSup>
                      <m:r>
                        <a:rPr lang="pt-BR" sz="2600" b="0" i="0" smtClean="0">
                          <a:latin typeface="Cambria Math" panose="02040503050406030204" pitchFamily="18" charset="0"/>
                          <a:ea typeface="Cambria Math" panose="02040503050406030204" pitchFamily="18" charset="0"/>
                        </a:rPr>
                        <m:t>,</m:t>
                      </m:r>
                    </m:oMath>
                  </m:oMathPara>
                </a14:m>
                <a:endParaRPr lang="pt-BR" sz="2600" dirty="0"/>
              </a:p>
              <a:p>
                <a:pPr marL="0" indent="0">
                  <a:buNone/>
                </a:pPr>
                <a:r>
                  <a:rPr lang="pt-BR" dirty="0"/>
                  <a:t>onde cada coluna contém um atributo (original, transformação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 e do grau do polinômio.</a:t>
                </a:r>
              </a:p>
              <a:p>
                <a:pPr lvl="1">
                  <a:buFont typeface="Wingdings" panose="05000000000000000000" pitchFamily="2" charset="2"/>
                  <a:buChar char="§"/>
                </a:pPr>
                <a:r>
                  <a:rPr lang="pt-BR" dirty="0"/>
                  <a:t>Por padrão, ela cria automaticamente a coluna do atributo de </a:t>
                </a:r>
                <a:r>
                  <a:rPr lang="pt-BR" i="1" dirty="0"/>
                  <a:t>bias</a:t>
                </a:r>
                <a:r>
                  <a:rPr lang="pt-BR" dirty="0"/>
                  <a:t> (valores iguais a 1).</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2663" b="-2785"/>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xmlns=""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xmlns=""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xmlns=""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i="1">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xmlns=""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5CA03AE-9771-A5F3-3DD5-E1C42035D04B}"/>
                  </a:ext>
                </a:extLst>
              </p:cNvPr>
              <p:cNvSpPr>
                <a:spLocks noGrp="1"/>
              </p:cNvSpPr>
              <p:nvPr>
                <p:ph idx="1"/>
              </p:nvPr>
            </p:nvSpPr>
            <p:spPr>
              <a:xfrm>
                <a:off x="4730045" y="1825624"/>
                <a:ext cx="7303912" cy="5032375"/>
              </a:xfrm>
            </p:spPr>
            <p:txBody>
              <a:bodyPr/>
              <a:lstStyle/>
              <a:p>
                <a:r>
                  <a:rPr lang="pt-BR" sz="2800" b="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dirty="0">
                    <a:solidFill>
                      <a:srgbClr val="00B050"/>
                    </a:solidFill>
                  </a:rPr>
                  <a:t>raio do círculo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dirty="0"/>
                  <a:t>erro regularizado</a:t>
                </a:r>
                <a:r>
                  <a:rPr lang="pt-BR" dirty="0"/>
                  <a:t>, </a:t>
                </a:r>
              </a:p>
              <a:p>
                <a:pPr marL="0" indent="0">
                  <a:buNone/>
                </a:pPr>
                <a14:m>
                  <m:oMathPara xmlns:m="http://schemas.openxmlformats.org/officeDocument/2006/math">
                    <m:oMathParaPr>
                      <m:jc m:val="centerGroup"/>
                    </m:oMathParaPr>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dirty="0"/>
                  <a:t>continua sendo </a:t>
                </a:r>
                <a:r>
                  <a:rPr lang="pt-BR" b="1" dirty="0">
                    <a:solidFill>
                      <a:schemeClr val="accent5"/>
                    </a:solidFill>
                  </a:rPr>
                  <a:t>quadrática</a:t>
                </a:r>
                <a:r>
                  <a:rPr lang="pt-BR" b="1" dirty="0"/>
                  <a:t> com relação aos pesos</a:t>
                </a:r>
                <a:r>
                  <a:rPr lang="pt-BR" dirty="0"/>
                  <a:t>, e, portanto, a </a:t>
                </a:r>
                <a:r>
                  <a:rPr lang="pt-BR" b="1" dirty="0"/>
                  <a:t>superfície de erro continua sendo </a:t>
                </a:r>
                <a:r>
                  <a:rPr lang="pt-BR" b="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1336"/>
                </a:stretch>
              </a:blipFill>
            </p:spPr>
            <p:txBody>
              <a:bodyPr/>
              <a:lstStyle/>
              <a:p>
                <a:r>
                  <a:rPr lang="en-US">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xmlns=""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b="1" i="1" smtClean="0">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xmlns=""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xmlns=""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xmlns=""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xmlns=""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xmlns=""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dirty="0"/>
              <a:t>seleção de atributos</a:t>
            </a:r>
            <a:r>
              <a:rPr lang="pt-BR" dirty="0"/>
              <a:t>, a regressão Ridge resulta em um modelo:</a:t>
            </a:r>
          </a:p>
          <a:p>
            <a:pPr lvl="1">
              <a:buFont typeface="Wingdings" panose="05000000000000000000" pitchFamily="2" charset="2"/>
              <a:buChar char="§"/>
            </a:pPr>
            <a:r>
              <a:rPr lang="pt-BR" b="1" dirty="0"/>
              <a:t>Com baixa </a:t>
            </a:r>
            <a:r>
              <a:rPr lang="pt-BR" b="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dirty="0"/>
              <a:t>Complexo</a:t>
            </a:r>
            <a:r>
              <a:rPr lang="pt-BR" dirty="0"/>
              <a:t>: por </a:t>
            </a:r>
            <a:r>
              <a:rPr lang="pt-BR" b="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dirty="0"/>
              <a:t>fator de regularização não for ideal</a:t>
            </a:r>
            <a:r>
              <a:rPr lang="pt-BR" dirty="0"/>
              <a:t>, pode levar a um </a:t>
            </a:r>
            <a:r>
              <a:rPr lang="pt-BR" b="1" dirty="0"/>
              <a:t>modelo muito simples </a:t>
            </a:r>
            <a:r>
              <a:rPr lang="pt-BR" dirty="0"/>
              <a:t>que não inclui todas os atributos importantes (devido à seleção de atributos).</a:t>
            </a:r>
          </a:p>
          <a:p>
            <a:pPr lvl="1">
              <a:buFont typeface="Wingdings" panose="05000000000000000000" pitchFamily="2" charset="2"/>
              <a:buChar char="§"/>
            </a:pPr>
            <a:r>
              <a:rPr lang="pt-BR" b="1" dirty="0"/>
              <a:t>Numericamente instável </a:t>
            </a:r>
            <a:r>
              <a:rPr lang="pt-BR" dirty="0"/>
              <a:t>para valores pequenos do </a:t>
            </a:r>
            <a:r>
              <a:rPr lang="pt-BR" b="1" dirty="0"/>
              <a:t>fator de regularização, principalmente para casos subdeterminados, i.e., </a:t>
            </a:r>
            <a:r>
              <a:rPr lang="pt-BR" b="1" i="1" dirty="0"/>
              <a:t>K &gt; N.</a:t>
            </a:r>
            <a:endParaRPr lang="pt-BR" dirty="0"/>
          </a:p>
          <a:p>
            <a:r>
              <a:rPr lang="pt-BR" dirty="0"/>
              <a:t>Nesses casos, a regressão </a:t>
            </a:r>
            <a:r>
              <a:rPr lang="pt-BR" i="1" dirty="0" err="1"/>
              <a:t>Elastic</a:t>
            </a:r>
            <a:r>
              <a:rPr lang="pt-BR" i="1" dirty="0"/>
              <a:t>-Net</a:t>
            </a:r>
            <a:r>
              <a:rPr lang="pt-BR" dirty="0"/>
              <a: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dirty="0"/>
                  <a:t>resolver as limitações de ambas</a:t>
                </a:r>
                <a:r>
                  <a:rPr lang="pt-BR" dirty="0"/>
                  <a:t>.</a:t>
                </a:r>
              </a:p>
              <a:p>
                <a:r>
                  <a:rPr lang="pt-BR" dirty="0"/>
                  <a:t>Realiza </a:t>
                </a:r>
                <a:r>
                  <a:rPr lang="pt-BR" b="1" dirty="0"/>
                  <a:t>seleção automática de atributos</a:t>
                </a:r>
                <a:r>
                  <a:rPr lang="pt-BR" dirty="0"/>
                  <a:t> e </a:t>
                </a:r>
                <a:r>
                  <a:rPr lang="pt-BR" b="1" dirty="0"/>
                  <a:t>regularização</a:t>
                </a:r>
                <a:r>
                  <a:rPr lang="pt-BR" dirty="0"/>
                  <a:t> simultaneamente.</a:t>
                </a:r>
              </a:p>
              <a:p>
                <a:r>
                  <a:rPr lang="pt-BR" dirty="0"/>
                  <a:t>Nada mais é do que uma </a:t>
                </a:r>
                <a:r>
                  <a:rPr lang="pt-BR" b="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dirty="0"/>
                  <a:t>fator de elasticidade </a:t>
                </a:r>
                <a:r>
                  <a:rPr lang="pt-BR" dirty="0"/>
                  <a:t>entre as duas normas, ou seja, estabelece uma </a:t>
                </a:r>
                <a:r>
                  <a:rPr lang="pt-BR" b="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a:blip r:embed="rId3"/>
                <a:stretch>
                  <a:fillRect l="-980" t="-3365" r="-1471"/>
                </a:stretch>
              </a:blipFill>
            </p:spPr>
            <p:txBody>
              <a:bodyPr/>
              <a:lstStyle/>
              <a:p>
                <a:r>
                  <a:rPr lang="en-US">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dirty="0"/>
              <a:t>número de atributos, K, for maior que o número de exemplos de treinamento, N</a:t>
            </a:r>
            <a:r>
              <a:rPr lang="pt-BR" dirty="0"/>
              <a:t>. Nesse caso, ele </a:t>
            </a:r>
            <a:r>
              <a:rPr lang="pt-BR" b="1" dirty="0"/>
              <a:t>encontra no máximo N pesos diferentes de zero</a:t>
            </a:r>
            <a:r>
              <a:rPr lang="pt-BR" dirty="0"/>
              <a:t>, mesmo que os K atributos sejam relevantes.</a:t>
            </a:r>
          </a:p>
          <a:p>
            <a:pPr lvl="1">
              <a:buFont typeface="Wingdings" panose="05000000000000000000" pitchFamily="2" charset="2"/>
              <a:buChar char="§"/>
            </a:pPr>
            <a:r>
              <a:rPr lang="pt-BR" dirty="0"/>
              <a:t>Se houverem </a:t>
            </a:r>
            <a:r>
              <a:rPr lang="pt-BR" b="1" dirty="0"/>
              <a:t>atributos fortemente correlacionados entre si</a:t>
            </a:r>
            <a:r>
              <a:rPr lang="pt-BR" dirty="0"/>
              <a:t>, ela </a:t>
            </a:r>
            <a:r>
              <a:rPr lang="pt-BR" b="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i="1" dirty="0" err="1"/>
              <a:t>Elastic</a:t>
            </a:r>
            <a:r>
              <a:rPr lang="pt-BR" i="1" dirty="0"/>
              <a:t>-Net</a:t>
            </a:r>
            <a:r>
              <a:rPr lang="pt-BR" dirty="0"/>
              <a:t>.</a:t>
            </a:r>
          </a:p>
        </p:txBody>
      </p:sp>
    </p:spTree>
    <p:extLst>
      <p:ext uri="{BB962C8B-B14F-4D97-AF65-F5344CB8AC3E}">
        <p14:creationId xmlns:p14="http://schemas.microsoft.com/office/powerpoint/2010/main" val="82685464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i="1" dirty="0" err="1"/>
                  <a:t>Elastic</a:t>
                </a:r>
                <a:r>
                  <a:rPr lang="pt-BR" b="1" i="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xmlns="" xmlns:a14="http://schemas.microsoft.com/office/drawing/2010/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930" t="-1751"/>
                </a:stretch>
              </a:blipFill>
            </p:spPr>
            <p:txBody>
              <a:bodyPr/>
              <a:lstStyle/>
              <a:p>
                <a:r>
                  <a:rPr lang="pt-BR">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i="1" dirty="0">
                <a:ea typeface="+mj-lt"/>
                <a:cs typeface="+mj-lt"/>
              </a:rPr>
              <a:t>Early-stopping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E639BFA-229B-7127-1F96-31668420945A}"/>
              </a:ext>
            </a:extLst>
          </p:cNvPr>
          <p:cNvSpPr>
            <a:spLocks noGrp="1"/>
          </p:cNvSpPr>
          <p:nvPr>
            <p:ph type="title"/>
          </p:nvPr>
        </p:nvSpPr>
        <p:spPr/>
        <p:txBody>
          <a:bodyPr/>
          <a:lstStyle/>
          <a:p>
            <a:r>
              <a:rPr lang="pt-BR" i="1" dirty="0">
                <a:ea typeface="+mj-lt"/>
                <a:cs typeface="+mj-lt"/>
              </a:rPr>
              <a:t>Early-stopping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xmlns=""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xmlns=""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xmlns=""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xmlns=""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xmlns=""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xmlns=""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xmlns=""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xmlns=""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xmlns=""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xmlns=""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xmlns=""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xmlns=""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xmlns=""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xmlns=""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xmlns=""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xmlns=""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xmlns=""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xmlns=""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xmlns=""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i="0" dirty="0"/>
                          <m:t>Fun</m:t>
                        </m:r>
                        <m:r>
                          <m:rPr>
                            <m:nor/>
                          </m:rPr>
                          <a:rPr lang="pt-BR" i="0" dirty="0"/>
                          <m:t>çã</m:t>
                        </m:r>
                        <m:r>
                          <m:rPr>
                            <m:nor/>
                          </m:rPr>
                          <a:rPr lang="pt-BR" i="0" dirty="0"/>
                          <m:t>o</m:t>
                        </m:r>
                        <m:r>
                          <m:rPr>
                            <m:nor/>
                          </m:rPr>
                          <a:rPr lang="pt-BR" i="0" dirty="0"/>
                          <m:t> </m:t>
                        </m:r>
                        <m:r>
                          <m:rPr>
                            <m:nor/>
                          </m:rPr>
                          <a:rPr lang="pt-BR" i="0" dirty="0"/>
                          <m:t>de</m:t>
                        </m:r>
                        <m:r>
                          <m:rPr>
                            <m:nor/>
                          </m:rPr>
                          <a:rPr lang="pt-BR" i="0" dirty="0"/>
                          <m:t> </m:t>
                        </m:r>
                        <m:r>
                          <m:rPr>
                            <m:nor/>
                          </m:rPr>
                          <a:rPr lang="pt-BR" i="0" dirty="0"/>
                          <m:t>erro</m:t>
                        </m:r>
                        <m:r>
                          <m:rPr>
                            <m:nor/>
                          </m:rPr>
                          <a:rPr lang="pt-BR" i="0"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xmlns=""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xmlns=""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xmlns=""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10114</TotalTime>
  <Words>16419</Words>
  <Application>Microsoft Office PowerPoint</Application>
  <PresentationFormat>Widescreen</PresentationFormat>
  <Paragraphs>1510</Paragraphs>
  <Slides>126</Slides>
  <Notes>82</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126</vt:i4>
      </vt:variant>
    </vt:vector>
  </HeadingPairs>
  <TitlesOfParts>
    <vt:vector size="134"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Apresentação do PowerPoint</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2312</cp:revision>
  <dcterms:created xsi:type="dcterms:W3CDTF">2020-01-20T13:50:05Z</dcterms:created>
  <dcterms:modified xsi:type="dcterms:W3CDTF">2026-08-31T21:41:03Z</dcterms:modified>
</cp:coreProperties>
</file>