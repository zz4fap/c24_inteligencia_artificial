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2"/>
    <p:sldId id="296" r:id="rId3"/>
    <p:sldId id="463" r:id="rId4"/>
    <p:sldId id="517" r:id="rId5"/>
    <p:sldId id="518" r:id="rId6"/>
    <p:sldId id="464" r:id="rId7"/>
    <p:sldId id="470" r:id="rId8"/>
    <p:sldId id="471" r:id="rId9"/>
    <p:sldId id="472" r:id="rId10"/>
    <p:sldId id="465" r:id="rId11"/>
    <p:sldId id="521" r:id="rId12"/>
    <p:sldId id="520" r:id="rId13"/>
    <p:sldId id="519" r:id="rId14"/>
    <p:sldId id="293" r:id="rId15"/>
    <p:sldId id="306" r:id="rId16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90" d="100"/>
          <a:sy n="90" d="100"/>
        </p:scale>
        <p:origin x="1614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12/02/2026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30213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Exemplos de aplicações</a:t>
            </a:r>
            <a:r>
              <a:rPr lang="pt-BR" baseline="0" dirty="0"/>
              <a:t> de regressão linear:</a:t>
            </a: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preço de casas.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Modelos para predição do salário de um empregado baseado em sua 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r>
              <a:rPr lang="pt-BR" b="1" dirty="0"/>
              <a:t>📊 1. Previsão de vendas em negócios</a:t>
            </a:r>
          </a:p>
          <a:p>
            <a:r>
              <a:rPr lang="pt-BR" dirty="0"/>
              <a:t>Empresas analisam dados históricos de vendas, publicidade, sazonalidade e indicadores econômicos para </a:t>
            </a:r>
            <a:r>
              <a:rPr lang="pt-BR" b="1" dirty="0"/>
              <a:t>prever vendas futuras</a:t>
            </a:r>
            <a:r>
              <a:rPr lang="pt-BR" dirty="0"/>
              <a:t>. Isso ajuda no planejamento de estoque, orçamento e campanhas de marketing.</a:t>
            </a:r>
          </a:p>
          <a:p>
            <a:endParaRPr lang="en-US" dirty="0"/>
          </a:p>
          <a:p>
            <a:r>
              <a:rPr lang="pt-BR" b="1" dirty="0"/>
              <a:t>🏠 2. Estimativa de preços de imóveis</a:t>
            </a:r>
          </a:p>
          <a:p>
            <a:r>
              <a:rPr lang="pt-BR" dirty="0"/>
              <a:t>Corretores e analistas usam regressão para </a:t>
            </a:r>
            <a:r>
              <a:rPr lang="pt-BR" b="1" dirty="0"/>
              <a:t>estimar o preço de uma casa</a:t>
            </a:r>
            <a:r>
              <a:rPr lang="pt-BR" dirty="0"/>
              <a:t> com base em características como área, número de quartos, localização e proximidade de escolas.</a:t>
            </a:r>
          </a:p>
          <a:p>
            <a:endParaRPr lang="en-US" dirty="0"/>
          </a:p>
          <a:p>
            <a:r>
              <a:rPr lang="pt-BR" b="1" dirty="0"/>
              <a:t>💳 4. Avaliação de risco de crédito</a:t>
            </a:r>
          </a:p>
          <a:p>
            <a:r>
              <a:rPr lang="pt-BR" dirty="0"/>
              <a:t>Bancos e instituições financeiras aplicam regressão para </a:t>
            </a:r>
            <a:r>
              <a:rPr lang="pt-BR" b="1" dirty="0"/>
              <a:t>predizer probabilidade de inadimplência</a:t>
            </a:r>
            <a:r>
              <a:rPr lang="pt-BR" dirty="0"/>
              <a:t> de clientes, analisando renda, histórico de crédito, emprego, etc., orientando decisões de empréstimos.</a:t>
            </a:r>
          </a:p>
          <a:p>
            <a:endParaRPr lang="en-US" dirty="0"/>
          </a:p>
          <a:p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1009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28666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insight</a:t>
            </a:r>
            <a:r>
              <a:rPr lang="pt-BR" dirty="0"/>
              <a:t>: percepção; intuição; compreensão.</a:t>
            </a:r>
          </a:p>
          <a:p>
            <a:endParaRPr lang="pt-BR" dirty="0"/>
          </a:p>
          <a:p>
            <a:r>
              <a:rPr lang="pt-BR" dirty="0"/>
              <a:t>O termo "regressão" foi cunhado por Francis </a:t>
            </a:r>
            <a:r>
              <a:rPr lang="pt-BR" dirty="0" err="1"/>
              <a:t>Galton</a:t>
            </a:r>
            <a:r>
              <a:rPr lang="pt-BR" dirty="0"/>
              <a:t> no século 19 para descrever um fenômeno biológico. O fenômeno foi que as alturas dos descendentes de ancestrais altos tendem a </a:t>
            </a:r>
            <a:r>
              <a:rPr lang="pt-BR" b="1" i="1" dirty="0"/>
              <a:t>regredir</a:t>
            </a:r>
            <a:r>
              <a:rPr lang="pt-BR" dirty="0"/>
              <a:t> para a média (um fenômeno também é conhecido como </a:t>
            </a:r>
            <a:r>
              <a:rPr lang="pt-BR" b="1" dirty="0"/>
              <a:t>regressão à média</a:t>
            </a:r>
            <a:r>
              <a:rPr lang="pt-BR" dirty="0"/>
              <a:t>).</a:t>
            </a:r>
          </a:p>
          <a:p>
            <a:endParaRPr lang="pt-BR" dirty="0"/>
          </a:p>
          <a:p>
            <a:r>
              <a:rPr lang="pt-BR" dirty="0"/>
              <a:t>Os algoritmos de aprendizado de máquina são descritos como o aprendizado de uma função,</a:t>
            </a:r>
            <a:r>
              <a:rPr lang="pt-BR" baseline="0" dirty="0"/>
              <a:t> </a:t>
            </a:r>
            <a:r>
              <a:rPr lang="pt-BR" i="1" baseline="0" dirty="0"/>
              <a:t>h</a:t>
            </a:r>
            <a:r>
              <a:rPr lang="pt-BR" dirty="0"/>
              <a:t>, que melhor mapeie as variáveis de entrada x em uma variável de saída y: y = </a:t>
            </a:r>
            <a:r>
              <a:rPr lang="pt-BR" i="1" dirty="0"/>
              <a:t>h</a:t>
            </a:r>
            <a:r>
              <a:rPr lang="pt-BR" dirty="0"/>
              <a:t>(x)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335404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37087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aproximar uma função senoidal usando um polinômio, o método mais comum e elegante é 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Série de Taylor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(especificamente a Série de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Maclaurin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quando centrada em zero).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fórmula para o seno é: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(x)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x -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{x^3}{3!} +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{x^5}{5!} -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{x^7}{7!} +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dots</a:t>
            </a:r>
            <a:r>
              <a:rPr lang="pt-BR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$$</a:t>
            </a:r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58079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4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image" Target="../media/image1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Regressão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520" y="2921704"/>
            <a:ext cx="2224946" cy="148165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109" y="2920986"/>
            <a:ext cx="1965031" cy="147377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597" y="2929582"/>
            <a:ext cx="2620040" cy="1473773"/>
          </a:xfrm>
          <a:prstGeom prst="rect">
            <a:avLst/>
          </a:prstGeom>
        </p:spPr>
      </p:pic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6"/>
            <a:ext cx="10515600" cy="1073439"/>
          </a:xfrm>
        </p:spPr>
        <p:txBody>
          <a:bodyPr>
            <a:normAutofit/>
          </a:bodyPr>
          <a:lstStyle/>
          <a:p>
            <a:r>
              <a:rPr lang="pt-BR" b="1" dirty="0"/>
              <a:t>Exemplo 1</a:t>
            </a:r>
            <a:r>
              <a:rPr lang="pt-BR" dirty="0"/>
              <a:t>: Estimar o preço de casas.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</a:t>
                </a:r>
                <a:r>
                  <a:rPr lang="pt-BR" b="1" i="1" dirty="0"/>
                  <a:t>regressão</a:t>
                </a:r>
                <a:r>
                  <a:rPr lang="pt-BR" dirty="0"/>
                  <a:t> para encontrar uma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relação matemática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o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pt-BR" dirty="0"/>
                  <a:t> de quartos, n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 </m:t>
                    </m:r>
                  </m:oMath>
                </a14:m>
                <a:r>
                  <a:rPr lang="pt-BR" dirty="0"/>
                  <a:t>de vagas na garagem, se tem piscina, localização, área, etc. de uma casa e seu valor.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agilizar o processo de avaliação de propriedades.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1" y="5122567"/>
                <a:ext cx="11185960" cy="1735434"/>
              </a:xfrm>
              <a:prstGeom prst="rect">
                <a:avLst/>
              </a:prstGeom>
              <a:blipFill>
                <a:blip r:embed="rId6"/>
                <a:stretch>
                  <a:fillRect l="-981" t="-7719" r="-1035" b="-1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1555520" y="4556041"/>
            <a:ext cx="2224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R$ 1.000.000,00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4109" y="4567526"/>
            <a:ext cx="2003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R$ 200.000,00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7147" y="4517680"/>
            <a:ext cx="26200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rgbClr val="FF0000"/>
                </a:solidFill>
              </a:rPr>
              <a:t>???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600" dirty="0"/>
                  <a:t>5 quartos, 3 vagas na garagem, 1 piscina, cond. de luxo, 500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sz="1600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591" y="2308362"/>
                <a:ext cx="2923229" cy="590354"/>
              </a:xfrm>
              <a:prstGeom prst="rect">
                <a:avLst/>
              </a:prstGeom>
              <a:blipFill>
                <a:blip r:embed="rId7"/>
                <a:stretch>
                  <a:fillRect l="-418" t="-3093" r="-1879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1 quarto, sem vaga na garagem, bairro afastado, 70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4503" y="2316101"/>
                <a:ext cx="2804242" cy="590354"/>
              </a:xfrm>
              <a:prstGeom prst="rect">
                <a:avLst/>
              </a:prstGeom>
              <a:blipFill>
                <a:blip r:embed="rId8"/>
                <a:stretch>
                  <a:fillRect l="-870" t="-3093" r="-304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nl-BE"/>
                </a:defPPr>
                <a:lvl1pPr algn="ctr">
                  <a:defRPr sz="1600"/>
                </a:lvl1pPr>
              </a:lstStyle>
              <a:p>
                <a:r>
                  <a:rPr lang="pt-BR" dirty="0"/>
                  <a:t>2 quartos, 1 vaga na garagem, centro, 200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7147" y="2361659"/>
                <a:ext cx="2622490" cy="590354"/>
              </a:xfrm>
              <a:prstGeom prst="rect">
                <a:avLst/>
              </a:prstGeom>
              <a:blipFill>
                <a:blip r:embed="rId9"/>
                <a:stretch>
                  <a:fillRect t="-3093" b="-12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802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627847" y="1654207"/>
            <a:ext cx="10515600" cy="604252"/>
          </a:xfrm>
        </p:spPr>
        <p:txBody>
          <a:bodyPr>
            <a:normAutofit/>
          </a:bodyPr>
          <a:lstStyle/>
          <a:p>
            <a:r>
              <a:rPr lang="pt-BR" b="1" dirty="0"/>
              <a:t>Exemplo 2</a:t>
            </a:r>
            <a:r>
              <a:rPr lang="pt-BR" dirty="0"/>
              <a:t>: Estimar as vendas de picolés.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/>
              <p:cNvSpPr txBox="1">
                <a:spLocks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dirty="0"/>
                  <a:t>Podemos usar regressão para encontrar um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mapeamento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entre a temperatura média de um dia e a quantidade de picolés vendidos.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Objetivo</a:t>
                </a:r>
                <a:r>
                  <a:rPr lang="pt-BR" dirty="0"/>
                  <a:t>: reduzir o desperdício e aumentar os lucros.</a:t>
                </a:r>
              </a:p>
            </p:txBody>
          </p:sp>
        </mc:Choice>
        <mc:Fallback xmlns="">
          <p:sp>
            <p:nvSpPr>
              <p:cNvPr id="10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90" y="5532439"/>
                <a:ext cx="11230027" cy="1325562"/>
              </a:xfrm>
              <a:prstGeom prst="rect">
                <a:avLst/>
              </a:prstGeom>
              <a:blipFill>
                <a:blip r:embed="rId3"/>
                <a:stretch>
                  <a:fillRect l="-977" t="-10599" b="-78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D3B9ED84-5245-7889-8D8D-F74C85EB5B6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62" t="9838" r="8646"/>
          <a:stretch/>
        </p:blipFill>
        <p:spPr>
          <a:xfrm>
            <a:off x="3811838" y="2364559"/>
            <a:ext cx="3800818" cy="2934238"/>
          </a:xfrm>
          <a:prstGeom prst="rect">
            <a:avLst/>
          </a:prstGeom>
        </p:spPr>
      </p:pic>
      <p:pic>
        <p:nvPicPr>
          <p:cNvPr id="15" name="Picture 2" descr="Picolé Electron – Sorvete Itália">
            <a:extLst>
              <a:ext uri="{FF2B5EF4-FFF2-40B4-BE49-F238E27FC236}">
                <a16:creationId xmlns:a16="http://schemas.microsoft.com/office/drawing/2014/main" id="{673E1C42-10C3-AF6F-1FF0-110BD135C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6446" y="3547541"/>
            <a:ext cx="1075397" cy="107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7771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C16A22-1E29-D959-69D9-364EB3DA76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93975"/>
            <a:ext cx="10515600" cy="16700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i="1" dirty="0"/>
              <a:t>Como podemos resolver esses problemas de estimação?</a:t>
            </a:r>
          </a:p>
        </p:txBody>
      </p:sp>
    </p:spTree>
    <p:extLst>
      <p:ext uri="{BB962C8B-B14F-4D97-AF65-F5344CB8AC3E}">
        <p14:creationId xmlns:p14="http://schemas.microsoft.com/office/powerpoint/2010/main" val="383076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Machine Learning : 'Regression' - Day 3">
            <a:extLst>
              <a:ext uri="{FF2B5EF4-FFF2-40B4-BE49-F238E27FC236}">
                <a16:creationId xmlns:a16="http://schemas.microsoft.com/office/drawing/2014/main" id="{8C5B78AE-E842-ED4F-93D3-10BD115003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089" y="1589917"/>
            <a:ext cx="6332081" cy="4051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8207647-D845-CF7E-6030-46E4389E11DD}"/>
              </a:ext>
            </a:extLst>
          </p:cNvPr>
          <p:cNvSpPr txBox="1"/>
          <p:nvPr/>
        </p:nvSpPr>
        <p:spPr>
          <a:xfrm>
            <a:off x="7304313" y="2798019"/>
            <a:ext cx="432163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800" dirty="0"/>
              <a:t>Usando regressão linear!</a:t>
            </a:r>
            <a:endParaRPr lang="en-US" sz="4800" dirty="0"/>
          </a:p>
        </p:txBody>
      </p:sp>
    </p:spTree>
    <p:extLst>
      <p:ext uri="{BB962C8B-B14F-4D97-AF65-F5344CB8AC3E}">
        <p14:creationId xmlns:p14="http://schemas.microsoft.com/office/powerpoint/2010/main" val="695472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linear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6F0953-075A-79EF-554F-4E05524F1D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2501" y="1825624"/>
            <a:ext cx="6533004" cy="5032375"/>
          </a:xfrm>
        </p:spPr>
        <p:txBody>
          <a:bodyPr>
            <a:normAutofit/>
          </a:bodyPr>
          <a:lstStyle/>
          <a:p>
            <a:r>
              <a:rPr lang="pt-BR" dirty="0"/>
              <a:t>É um dos algoritmos mais simples, antigos e usados de aprendizado de máquina.</a:t>
            </a:r>
          </a:p>
          <a:p>
            <a:r>
              <a:rPr lang="pt-BR" dirty="0"/>
              <a:t>Nos dará </a:t>
            </a:r>
            <a:r>
              <a:rPr lang="pt-BR" b="1" i="1" dirty="0"/>
              <a:t>intuições</a:t>
            </a:r>
            <a:r>
              <a:rPr lang="pt-BR" dirty="0"/>
              <a:t> importantes para o </a:t>
            </a:r>
            <a:r>
              <a:rPr lang="pt-BR" b="1" i="1" dirty="0"/>
              <a:t>entendimento</a:t>
            </a:r>
            <a:r>
              <a:rPr lang="pt-BR" dirty="0"/>
              <a:t> de </a:t>
            </a:r>
            <a:r>
              <a:rPr lang="pt-BR" b="1" i="1" dirty="0"/>
              <a:t>algoritmos mais complexos</a:t>
            </a:r>
            <a:r>
              <a:rPr lang="pt-BR" dirty="0"/>
              <a:t>, como </a:t>
            </a:r>
            <a:r>
              <a:rPr lang="pt-BR" b="1" i="1" dirty="0"/>
              <a:t>classificadores</a:t>
            </a:r>
            <a:r>
              <a:rPr lang="pt-BR" dirty="0"/>
              <a:t> e </a:t>
            </a:r>
            <a:r>
              <a:rPr lang="pt-BR" b="1" i="1" dirty="0"/>
              <a:t>redes neurais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AA6EE23-CD07-9149-8335-18879B84AB15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7" name="Agrupar 8">
              <a:extLst>
                <a:ext uri="{FF2B5EF4-FFF2-40B4-BE49-F238E27FC236}">
                  <a16:creationId xmlns:a16="http://schemas.microsoft.com/office/drawing/2014/main" id="{CF20AF4F-BFBD-21EC-07E1-41C0B219150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1" name="Imagem 4">
                <a:extLst>
                  <a:ext uri="{FF2B5EF4-FFF2-40B4-BE49-F238E27FC236}">
                    <a16:creationId xmlns:a16="http://schemas.microsoft.com/office/drawing/2014/main" id="{4D31E461-1A6A-29D1-2297-DFBFD51CB0D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CaixaDeTexto 5">
                    <a:extLst>
                      <a:ext uri="{FF2B5EF4-FFF2-40B4-BE49-F238E27FC236}">
                        <a16:creationId xmlns:a16="http://schemas.microsoft.com/office/drawing/2014/main" id="{E01136AD-4899-EC9B-8DFF-D35176FFB912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Conector de Seta Reta 7">
                <a:extLst>
                  <a:ext uri="{FF2B5EF4-FFF2-40B4-BE49-F238E27FC236}">
                    <a16:creationId xmlns:a16="http://schemas.microsoft.com/office/drawing/2014/main" id="{E6A4E71A-8296-6E9B-6F53-58CD005C17C6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3">
                  <a:extLst>
                    <a:ext uri="{FF2B5EF4-FFF2-40B4-BE49-F238E27FC236}">
                      <a16:creationId xmlns:a16="http://schemas.microsoft.com/office/drawing/2014/main" id="{9E8479D2-8EC0-0456-F706-2969C0BC1122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9012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6FD5B-6F51-847E-A4A8-1A8128322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o objetivo da regressão linear?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Objetivo</a:t>
                </a:r>
                <a:r>
                  <a:rPr lang="pt-BR" dirty="0"/>
                  <a:t>: encontrar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</a:t>
                </a:r>
                <a:r>
                  <a:rPr lang="pt-BR" b="1" dirty="0">
                    <a:solidFill>
                      <a:srgbClr val="00B050"/>
                    </a:solidFill>
                  </a:rPr>
                  <a:t>mapeie</a:t>
                </a:r>
                <a:r>
                  <a:rPr lang="pt-BR" dirty="0"/>
                  <a:t> os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em uma variável de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 ajuste aos dados coletados de </a:t>
                </a:r>
                <a:r>
                  <a:rPr lang="pt-BR" b="1" dirty="0">
                    <a:solidFill>
                      <a:srgbClr val="00B050"/>
                    </a:solidFill>
                  </a:rPr>
                  <a:t>forma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ótima</a:t>
                </a:r>
                <a:r>
                  <a:rPr lang="pt-BR" dirty="0"/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Ótimo no sentido da </a:t>
                </a:r>
                <a:r>
                  <a:rPr lang="pt-BR" b="1" dirty="0">
                    <a:solidFill>
                      <a:srgbClr val="00B050"/>
                    </a:solidFill>
                    <a:effectLst/>
                  </a:rPr>
                  <a:t>minimização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1" dirty="0">
                    <a:solidFill>
                      <a:srgbClr val="00B050"/>
                    </a:solidFill>
                    <a:effectLst/>
                  </a:rPr>
                  <a:t>da diferença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entre as predições feitas por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valores de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), e os </a:t>
                </a:r>
                <a:r>
                  <a:rPr lang="pt-BR" b="1" i="0" dirty="0">
                    <a:solidFill>
                      <a:srgbClr val="7030A0"/>
                    </a:solidFill>
                    <a:effectLst/>
                  </a:rPr>
                  <a:t>rótulos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(i.e., os </a:t>
                </a:r>
                <a:r>
                  <a:rPr lang="pt-BR" dirty="0"/>
                  <a:t>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76F0953-075A-79EF-554F-4E05524F1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55771" y="1825624"/>
                <a:ext cx="6729733" cy="5032375"/>
              </a:xfrm>
              <a:blipFill>
                <a:blip r:embed="rId3"/>
                <a:stretch>
                  <a:fillRect l="-1630" t="-1937" r="-27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B11DDB3-BDC9-57EF-0BC8-921A1B6B8D9B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9" name="Agrupar 8">
              <a:extLst>
                <a:ext uri="{FF2B5EF4-FFF2-40B4-BE49-F238E27FC236}">
                  <a16:creationId xmlns:a16="http://schemas.microsoft.com/office/drawing/2014/main" id="{7184A45B-D6CC-54CD-EE0B-7CE85A9D94D5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5" name="Imagem 4">
                <a:extLst>
                  <a:ext uri="{FF2B5EF4-FFF2-40B4-BE49-F238E27FC236}">
                    <a16:creationId xmlns:a16="http://schemas.microsoft.com/office/drawing/2014/main" id="{AF1170FE-5534-DC43-8150-E2919F18F24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" name="Conector de Seta Reta 7">
                <a:extLst>
                  <a:ext uri="{FF2B5EF4-FFF2-40B4-BE49-F238E27FC236}">
                    <a16:creationId xmlns:a16="http://schemas.microsoft.com/office/drawing/2014/main" id="{29596D1D-F48C-73D6-3778-6E52A3153EFC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" name="CaixaDeTexto 3">
                  <a:extLst>
                    <a:ext uri="{FF2B5EF4-FFF2-40B4-BE49-F238E27FC236}">
                      <a16:creationId xmlns:a16="http://schemas.microsoft.com/office/drawing/2014/main" id="{B6371B7D-BB1A-D7F3-A54B-3E89596BF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80587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</p:spPr>
            <p:txBody>
              <a:bodyPr/>
              <a:lstStyle/>
              <a:p>
                <a:r>
                  <a:rPr lang="pt-BR" dirty="0"/>
                  <a:t>Dado que possuímos um </a:t>
                </a:r>
                <a:r>
                  <a:rPr lang="pt-BR" b="1" dirty="0"/>
                  <a:t>conjunto</a:t>
                </a:r>
                <a:r>
                  <a:rPr lang="pt-BR" dirty="0"/>
                  <a:t> de valores de entrada,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dirty="0"/>
                  <a:t>atributos</a:t>
                </a:r>
                <a:r>
                  <a:rPr lang="pt-BR" dirty="0"/>
                  <a:t>), e os seus respectivos valores esperados de saída,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/>
                  <a:t> (os </a:t>
                </a:r>
                <a:r>
                  <a:rPr lang="pt-BR" b="1" dirty="0"/>
                  <a:t>rótulos</a:t>
                </a:r>
                <a:r>
                  <a:rPr lang="pt-BR" dirty="0"/>
                  <a:t>), </a:t>
                </a:r>
                <a:r>
                  <a:rPr lang="pt-BR" b="1" dirty="0">
                    <a:solidFill>
                      <a:srgbClr val="00B0F0"/>
                    </a:solidFill>
                  </a:rPr>
                  <a:t>que tipo de aprendizado é realizado pela regressão linear?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873D4D9-70C9-4892-D3C8-28B1750B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41485" y="1825624"/>
                <a:ext cx="6477918" cy="5032375"/>
              </a:xfrm>
              <a:blipFill>
                <a:blip r:embed="rId2"/>
                <a:stretch>
                  <a:fillRect l="-169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1235B076-2510-BA54-045E-9FDA19549589}"/>
              </a:ext>
            </a:extLst>
          </p:cNvPr>
          <p:cNvGrpSpPr/>
          <p:nvPr/>
        </p:nvGrpSpPr>
        <p:grpSpPr>
          <a:xfrm>
            <a:off x="313057" y="2511846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id="{6BA6F8C4-313D-7B7A-8A78-327F3069654F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id="{2FDB8C03-A236-C2AB-BA26-35BCEB1255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id="{D1A24C38-EFA6-2F8B-5C0C-9C486DD9AA95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id="{57EE6B8B-A053-340A-CAEE-30CFEBD53D7E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84693792-F9CA-4DDE-7B29-0D00BA687E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65644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106918-4928-8D8F-109D-FE4154A6A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Qual é o paradigma de aprendizado?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7D13973-0CC4-804D-B65C-ACF1497CA131}"/>
              </a:ext>
            </a:extLst>
          </p:cNvPr>
          <p:cNvSpPr txBox="1"/>
          <p:nvPr/>
        </p:nvSpPr>
        <p:spPr>
          <a:xfrm>
            <a:off x="6543036" y="3032554"/>
            <a:ext cx="398345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4400" b="1" dirty="0">
                <a:solidFill>
                  <a:srgbClr val="00B050"/>
                </a:solidFill>
              </a:rPr>
              <a:t>Aprendizado supervisionado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4FA83DA-1176-B494-DF6D-26AABD487B72}"/>
              </a:ext>
            </a:extLst>
          </p:cNvPr>
          <p:cNvGrpSpPr/>
          <p:nvPr/>
        </p:nvGrpSpPr>
        <p:grpSpPr>
          <a:xfrm>
            <a:off x="606971" y="2326789"/>
            <a:ext cx="4622500" cy="3152391"/>
            <a:chOff x="313057" y="2511846"/>
            <a:chExt cx="4622500" cy="3152391"/>
          </a:xfrm>
        </p:grpSpPr>
        <p:grpSp>
          <p:nvGrpSpPr>
            <p:cNvPr id="8" name="Agrupar 8">
              <a:extLst>
                <a:ext uri="{FF2B5EF4-FFF2-40B4-BE49-F238E27FC236}">
                  <a16:creationId xmlns:a16="http://schemas.microsoft.com/office/drawing/2014/main" id="{3601490F-BA92-2E2F-4176-8548977CDC6B}"/>
                </a:ext>
              </a:extLst>
            </p:cNvPr>
            <p:cNvGrpSpPr/>
            <p:nvPr/>
          </p:nvGrpSpPr>
          <p:grpSpPr>
            <a:xfrm>
              <a:off x="313057" y="2511846"/>
              <a:ext cx="4622500" cy="3152391"/>
              <a:chOff x="379861" y="2379643"/>
              <a:chExt cx="4622500" cy="3152391"/>
            </a:xfrm>
          </p:grpSpPr>
          <p:pic>
            <p:nvPicPr>
              <p:cNvPr id="10" name="Imagem 4">
                <a:extLst>
                  <a:ext uri="{FF2B5EF4-FFF2-40B4-BE49-F238E27FC236}">
                    <a16:creationId xmlns:a16="http://schemas.microsoft.com/office/drawing/2014/main" id="{5C8759EA-A495-1092-5721-C2D5BB9697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463" t="9957" r="8514"/>
              <a:stretch/>
            </p:blipFill>
            <p:spPr>
              <a:xfrm>
                <a:off x="379861" y="2379643"/>
                <a:ext cx="4622500" cy="3152391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ixaDeTexto 5">
                    <a:extLst>
                      <a:ext uri="{FF2B5EF4-FFF2-40B4-BE49-F238E27FC236}">
                        <a16:creationId xmlns:a16="http://schemas.microsoft.com/office/drawing/2014/main" id="{3DC28E94-1E78-E96F-81AC-6660B1EAE0DB}"/>
                      </a:ext>
                    </a:extLst>
                  </p:cNvPr>
                  <p:cNvSpPr txBox="1"/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CaixaDeTexto 5">
                    <a:extLst>
                      <a:ext uri="{FF2B5EF4-FFF2-40B4-BE49-F238E27FC236}">
                        <a16:creationId xmlns:a16="http://schemas.microsoft.com/office/drawing/2014/main" id="{10491C75-CC2B-4E6F-00D1-D7BCDA1CAC5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0072" y="3635566"/>
                    <a:ext cx="73813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Conector de Seta Reta 7">
                <a:extLst>
                  <a:ext uri="{FF2B5EF4-FFF2-40B4-BE49-F238E27FC236}">
                    <a16:creationId xmlns:a16="http://schemas.microsoft.com/office/drawing/2014/main" id="{18708C14-B461-C0FC-A091-97D0B01047D3}"/>
                  </a:ext>
                </a:extLst>
              </p:cNvPr>
              <p:cNvCxnSpPr/>
              <p:nvPr/>
            </p:nvCxnSpPr>
            <p:spPr>
              <a:xfrm>
                <a:off x="3150824" y="3602516"/>
                <a:ext cx="374574" cy="198303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/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3">
                  <a:extLst>
                    <a:ext uri="{FF2B5EF4-FFF2-40B4-BE49-F238E27FC236}">
                      <a16:creationId xmlns:a16="http://schemas.microsoft.com/office/drawing/2014/main" id="{CD48A18A-A494-29A6-49E8-BAE3B1ECB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9352" y="2755948"/>
                  <a:ext cx="738130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20068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645331-4B2E-BB50-BF81-FDF8C639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linear?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7745B10-6162-30F7-6050-58C45B7818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53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Porque a saída da </a:t>
                </a:r>
                <a:r>
                  <a:rPr lang="pt-BR" b="1" i="1" dirty="0"/>
                  <a:t>função aproximadora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é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modelada</a:t>
                </a:r>
                <a:r>
                  <a:rPr lang="pt-BR" dirty="0"/>
                  <a:t> como sendo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linear dos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em relação aos pesos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usamos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polinômios</a:t>
                </a:r>
                <a:r>
                  <a:rPr lang="pt-BR" dirty="0"/>
                  <a:t> para modelar essa relação.</a:t>
                </a:r>
              </a:p>
              <a:p>
                <a:r>
                  <a:rPr lang="pt-BR" dirty="0"/>
                  <a:t>Pois segundo o teorema da aproximação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Stone-</a:t>
                </a:r>
                <a:r>
                  <a:rPr lang="pt-BR" b="1" i="1" dirty="0" err="1">
                    <a:solidFill>
                      <a:srgbClr val="00B050"/>
                    </a:solidFill>
                  </a:rPr>
                  <a:t>Weierstrass</a:t>
                </a:r>
                <a:r>
                  <a:rPr lang="pt-BR" dirty="0"/>
                  <a:t> “</a:t>
                </a:r>
                <a:r>
                  <a:rPr lang="pt-BR" i="1" dirty="0"/>
                  <a:t>qualquer função contínua no intervalo fechado [a, b] pode ser uniformemente aproximada por um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polinômio</a:t>
                </a:r>
                <a:r>
                  <a:rPr lang="pt-BR" i="1" dirty="0"/>
                  <a:t>”.</a:t>
                </a:r>
              </a:p>
              <a:p>
                <a:r>
                  <a:rPr lang="pt-BR" dirty="0"/>
                  <a:t>Portanto, polinômios podem modelar qualquer tipo de mapeamento  (lineares ou não lineares) entre os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bastando apenas </a:t>
                </a:r>
                <a:r>
                  <a:rPr lang="pt-BR" b="1" dirty="0">
                    <a:solidFill>
                      <a:srgbClr val="7030A0"/>
                    </a:solidFill>
                  </a:rPr>
                  <a:t>encontrar seu grau (ou ordem) ideal e os pesos</a:t>
                </a:r>
                <a:r>
                  <a:rPr lang="pt-BR" dirty="0"/>
                  <a:t>.</a:t>
                </a:r>
              </a:p>
              <a:p>
                <a:endParaRPr lang="pt-BR" i="1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7745B10-6162-30F7-6050-58C45B7818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5325" cy="5032375"/>
              </a:xfrm>
              <a:blipFill>
                <a:blip r:embed="rId3"/>
                <a:stretch>
                  <a:fillRect l="-984" t="-1937" r="-1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2877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0B404-F3ED-8087-A024-C72B793DE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4684C-15AE-EBFA-CC52-BE2B10624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4800" b="1" dirty="0">
                <a:solidFill>
                  <a:srgbClr val="FF0000"/>
                </a:solidFill>
              </a:rPr>
              <a:t>PAREI AQUI!!!!!!!!!!!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1256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0803C-34C9-CCF4-6673-47CCCF2C7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6B386-02B2-D964-73F3-196F9F79B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linear?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482631-ECEA-B4D7-2D72-82A636953A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78326" y="1825624"/>
                <a:ext cx="75136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Podemos modelar um </a:t>
                </a:r>
                <a:r>
                  <a:rPr lang="pt-BR" b="1" dirty="0"/>
                  <a:t>mapeamento linear</a:t>
                </a:r>
                <a:r>
                  <a:rPr lang="pt-BR" dirty="0"/>
                  <a:t> com a equação de uma reta: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ter um </a:t>
                </a:r>
                <a:r>
                  <a:rPr lang="pt-BR" b="1" dirty="0"/>
                  <a:t>mapeamento não-linear</a:t>
                </a:r>
                <a:r>
                  <a:rPr lang="pt-BR" dirty="0"/>
                  <a:t> com uma equação que aproxima uma </a:t>
                </a:r>
                <a:r>
                  <a:rPr lang="pt-BR" dirty="0" err="1"/>
                  <a:t>senoide</a:t>
                </a:r>
                <a:r>
                  <a:rPr lang="pt-BR" dirty="0"/>
                  <a:t>:</a:t>
                </a:r>
              </a:p>
              <a:p>
                <a:pPr marL="457200" lvl="1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7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b>
                    </m:sSub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ter mapeamentos lineares e não lineares com 2 ou mais atributos.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482631-ECEA-B4D7-2D72-82A636953A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78326" y="1825624"/>
                <a:ext cx="7513674" cy="5032375"/>
              </a:xfrm>
              <a:blipFill>
                <a:blip r:embed="rId3"/>
                <a:stretch>
                  <a:fillRect l="-1460" t="-1937" r="-4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>
            <a:extLst>
              <a:ext uri="{FF2B5EF4-FFF2-40B4-BE49-F238E27FC236}">
                <a16:creationId xmlns:a16="http://schemas.microsoft.com/office/drawing/2014/main" id="{12007748-1241-43BA-BCB2-C3CEA1054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632" y="1690688"/>
            <a:ext cx="3157316" cy="2300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D0BE679B-48AF-4331-B659-21FE08DC20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632" y="4193397"/>
            <a:ext cx="3157316" cy="2300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9425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2650-1C1A-E0B4-4844-CCDD72B1E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726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8043</TotalTime>
  <Words>1128</Words>
  <Application>Microsoft Office PowerPoint</Application>
  <PresentationFormat>Widescreen</PresentationFormat>
  <Paragraphs>94</Paragraphs>
  <Slides>15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Tema do Office</vt:lpstr>
      <vt:lpstr>C24 – Inteligência Artificial: Regressão</vt:lpstr>
      <vt:lpstr>Motivação</vt:lpstr>
      <vt:lpstr>Motivação</vt:lpstr>
      <vt:lpstr>Apresentação do PowerPoint</vt:lpstr>
      <vt:lpstr>Apresentação do PowerPoint</vt:lpstr>
      <vt:lpstr>Regressão linear</vt:lpstr>
      <vt:lpstr>Qual o objetivo da regressão linear?</vt:lpstr>
      <vt:lpstr>Qual é o paradigma de aprendizado?</vt:lpstr>
      <vt:lpstr>Qual é o paradigma de aprendizado?</vt:lpstr>
      <vt:lpstr>Por que linear?</vt:lpstr>
      <vt:lpstr>Apresentação do PowerPoint</vt:lpstr>
      <vt:lpstr>Por que linear?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1758</cp:revision>
  <dcterms:created xsi:type="dcterms:W3CDTF">2020-01-20T13:50:05Z</dcterms:created>
  <dcterms:modified xsi:type="dcterms:W3CDTF">2026-02-12T12:10:28Z</dcterms:modified>
</cp:coreProperties>
</file>