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handoutMasterIdLst>
    <p:handoutMasterId r:id="rId67"/>
  </p:handoutMasterIdLst>
  <p:sldIdLst>
    <p:sldId id="256" r:id="rId2"/>
    <p:sldId id="296" r:id="rId3"/>
    <p:sldId id="463" r:id="rId4"/>
    <p:sldId id="517" r:id="rId5"/>
    <p:sldId id="518" r:id="rId6"/>
    <p:sldId id="464" r:id="rId7"/>
    <p:sldId id="470" r:id="rId8"/>
    <p:sldId id="471" r:id="rId9"/>
    <p:sldId id="472" r:id="rId10"/>
    <p:sldId id="465" r:id="rId11"/>
    <p:sldId id="520" r:id="rId12"/>
    <p:sldId id="522" r:id="rId13"/>
    <p:sldId id="523" r:id="rId14"/>
    <p:sldId id="524" r:id="rId15"/>
    <p:sldId id="481" r:id="rId16"/>
    <p:sldId id="525" r:id="rId17"/>
    <p:sldId id="320" r:id="rId18"/>
    <p:sldId id="526" r:id="rId19"/>
    <p:sldId id="527" r:id="rId20"/>
    <p:sldId id="528" r:id="rId21"/>
    <p:sldId id="529" r:id="rId22"/>
    <p:sldId id="532" r:id="rId23"/>
    <p:sldId id="533" r:id="rId24"/>
    <p:sldId id="435" r:id="rId25"/>
    <p:sldId id="448" r:id="rId26"/>
    <p:sldId id="536" r:id="rId27"/>
    <p:sldId id="521" r:id="rId28"/>
    <p:sldId id="407" r:id="rId29"/>
    <p:sldId id="428" r:id="rId30"/>
    <p:sldId id="408" r:id="rId31"/>
    <p:sldId id="449" r:id="rId32"/>
    <p:sldId id="409" r:id="rId33"/>
    <p:sldId id="410" r:id="rId34"/>
    <p:sldId id="433" r:id="rId35"/>
    <p:sldId id="411" r:id="rId36"/>
    <p:sldId id="432" r:id="rId37"/>
    <p:sldId id="415" r:id="rId38"/>
    <p:sldId id="412" r:id="rId39"/>
    <p:sldId id="413" r:id="rId40"/>
    <p:sldId id="450" r:id="rId41"/>
    <p:sldId id="434" r:id="rId42"/>
    <p:sldId id="414" r:id="rId43"/>
    <p:sldId id="416" r:id="rId44"/>
    <p:sldId id="451" r:id="rId45"/>
    <p:sldId id="417" r:id="rId46"/>
    <p:sldId id="419" r:id="rId47"/>
    <p:sldId id="425" r:id="rId48"/>
    <p:sldId id="537" r:id="rId49"/>
    <p:sldId id="418" r:id="rId50"/>
    <p:sldId id="538" r:id="rId51"/>
    <p:sldId id="539" r:id="rId52"/>
    <p:sldId id="452" r:id="rId53"/>
    <p:sldId id="423" r:id="rId54"/>
    <p:sldId id="424" r:id="rId55"/>
    <p:sldId id="429" r:id="rId56"/>
    <p:sldId id="540" r:id="rId57"/>
    <p:sldId id="431" r:id="rId58"/>
    <p:sldId id="535" r:id="rId59"/>
    <p:sldId id="534" r:id="rId60"/>
    <p:sldId id="531" r:id="rId61"/>
    <p:sldId id="420" r:id="rId62"/>
    <p:sldId id="421" r:id="rId63"/>
    <p:sldId id="293" r:id="rId64"/>
    <p:sldId id="306" r:id="rId6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2857" autoAdjust="0"/>
  </p:normalViewPr>
  <p:slideViewPr>
    <p:cSldViewPr snapToGrid="0">
      <p:cViewPr varScale="1">
        <p:scale>
          <a:sx n="103" d="100"/>
          <a:sy n="103" d="100"/>
        </p:scale>
        <p:origin x="1134"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12/02/2026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12/02/2026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19443618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8296323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12/02/2026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12/02/2026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12/02/2026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12/02/2026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12/02/2026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12/02/2026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12/02/2026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12/02/2026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12/02/2026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12/02/2026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12/02/2026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12/02/2026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4.xml.rels><?xml version="1.0" encoding="UTF-8" standalone="yes"?>
<Relationships xmlns="http://schemas.openxmlformats.org/package/2006/relationships"><Relationship Id="rId3" Type="http://schemas.openxmlformats.org/officeDocument/2006/relationships/image" Target="../media/image550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580.png"/><Relationship Id="rId5" Type="http://schemas.openxmlformats.org/officeDocument/2006/relationships/image" Target="../media/image570.png"/><Relationship Id="rId4" Type="http://schemas.openxmlformats.org/officeDocument/2006/relationships/image" Target="../media/image5600.png"/></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58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2.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29.xml.rels><?xml version="1.0" encoding="UTF-8" standalone="yes"?>
<Relationships xmlns="http://schemas.openxmlformats.org/package/2006/relationships"><Relationship Id="rId3" Type="http://schemas.openxmlformats.org/officeDocument/2006/relationships/image" Target="../media/image80.png"/><Relationship Id="rId1" Type="http://schemas.openxmlformats.org/officeDocument/2006/relationships/slideLayout" Target="../slideLayouts/slideLayout2.xml"/><Relationship Id="rId5" Type="http://schemas.openxmlformats.org/officeDocument/2006/relationships/image" Target="../media/image101.png"/><Relationship Id="rId4" Type="http://schemas.openxmlformats.org/officeDocument/2006/relationships/image" Target="../media/image91.png"/></Relationships>
</file>

<file path=ppt/slides/_rels/slide3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3.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50.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image" Target="../media/image290.png"/><Relationship Id="rId1" Type="http://schemas.openxmlformats.org/officeDocument/2006/relationships/slideLayout" Target="../slideLayouts/slideLayout2.xml"/><Relationship Id="rId4" Type="http://schemas.openxmlformats.org/officeDocument/2006/relationships/image" Target="../media/image311.png"/></Relationships>
</file>

<file path=ppt/slides/_rels/slide5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gi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a:t>
                </a:r>
              </a:p>
              <a:p>
                <a:r>
                  <a:rPr lang="pt-BR" dirty="0"/>
                  <a:t>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exemplos (ou amostras), </a:t>
                </a:r>
                <a14:m>
                  <m:oMath xmlns:m="http://schemas.openxmlformats.org/officeDocument/2006/math">
                    <m:r>
                      <a:rPr lang="pt-BR" i="1">
                        <a:latin typeface="Cambria Math" panose="02040503050406030204" pitchFamily="18" charset="0"/>
                      </a:rPr>
                      <m:t>𝑖</m:t>
                    </m:r>
                  </m:oMath>
                </a14:m>
                <a:r>
                  <a:rPr lang="pt-BR" dirty="0"/>
                  <a:t> o número do exemplo,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é um </a:t>
                </a:r>
                <a:r>
                  <a:rPr lang="pt-BR" b="1" dirty="0">
                    <a:solidFill>
                      <a:srgbClr val="0070C0"/>
                    </a:solidFill>
                  </a:rPr>
                  <a:t>vetor</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valores esperados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r="-54"/>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3122598902"/>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xmlns:a14="http://schemas.microsoft.com/office/drawing/2010/main" xmlns="" id="{9F89DE01-7C6C-8A47-35FC-16E58BA14EAA}"/>
                  </a:ext>
                </a:extLst>
              </p:cNvPr>
              <p:cNvGraphicFramePr>
                <a:graphicFrameLocks noGrp="1"/>
              </p:cNvGraphicFramePr>
              <p:nvPr>
                <p:ph idx="1"/>
                <p:extLst>
                  <p:ext uri="{D42A27DB-BD31-4B8C-83A1-F6EECF244321}">
                    <p14:modId xmlns:p14="http://schemas.microsoft.com/office/powerpoint/2010/main" val="3122598902"/>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xmlns:a14="http://schemas.microsoft.com/office/drawing/2010/main" xmlns="" val="2676689337"/>
                        </a:ext>
                      </a:extLst>
                    </a:gridCol>
                    <a:gridCol w="4742847">
                      <a:extLst>
                        <a:ext uri="{9D8B030D-6E8A-4147-A177-3AD203B41FA5}">
                          <a16:colId xmlns:a16="http://schemas.microsoft.com/office/drawing/2014/main" xmlns:a14="http://schemas.microsoft.com/office/drawing/2010/main" xmlns="" val="921422884"/>
                        </a:ext>
                      </a:extLst>
                    </a:gridCol>
                    <a:gridCol w="4958408">
                      <a:extLst>
                        <a:ext uri="{9D8B030D-6E8A-4147-A177-3AD203B41FA5}">
                          <a16:colId xmlns:a16="http://schemas.microsoft.com/office/drawing/2014/main" xmlns:a14="http://schemas.microsoft.com/office/drawing/2010/main" xmlns=""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2"/>
                          <a:stretch>
                            <a:fillRect l="-42545" t="-207692" r="-104884" b="-812308"/>
                          </a:stretch>
                        </a:blip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2"/>
                          <a:stretch>
                            <a:fillRect l="-136241" t="-207692" r="-246" b="-812308"/>
                          </a:stretch>
                        </a:blipFill>
                      </a:tcPr>
                    </a:tc>
                    <a:extLst>
                      <a:ext uri="{0D108BD9-81ED-4DB2-BD59-A6C34878D82A}">
                        <a16:rowId xmlns:a16="http://schemas.microsoft.com/office/drawing/2014/main" xmlns:a14="http://schemas.microsoft.com/office/drawing/2010/main" xmlns=""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2"/>
                          <a:stretch>
                            <a:fillRect l="-42545" t="-407692" r="-104884"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2874329883"/>
                      </a:ext>
                    </a:extLst>
                  </a:tr>
                  <a:tr h="3962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smtClean="0">
                              <a:latin typeface="+mn-lt"/>
                            </a:rPr>
                            <a:t>diferenciável</a:t>
                          </a:r>
                          <a:r>
                            <a:rPr lang="pt-BR" sz="2000" noProof="0" dirty="0" smtClean="0">
                              <a:latin typeface="+mn-lt"/>
                            </a:rPr>
                            <a:t>.</a:t>
                          </a:r>
                        </a:p>
                        <a:p>
                          <a:pPr marL="342900" indent="-342900" algn="l">
                            <a:buFont typeface="Arial" panose="020B0604020202020204" pitchFamily="34" charset="0"/>
                            <a:buChar char="•"/>
                          </a:pPr>
                          <a:r>
                            <a:rPr lang="pt-BR" sz="2000" b="0" i="0" noProof="0" dirty="0" smtClean="0">
                              <a:solidFill>
                                <a:schemeClr val="tx1"/>
                              </a:solidFill>
                              <a:latin typeface="+mn-lt"/>
                            </a:rPr>
                            <a:t>C</a:t>
                          </a:r>
                          <a:r>
                            <a:rPr lang="pt-BR" sz="2000" b="0" i="0" dirty="0" err="1" smtClean="0">
                              <a:solidFill>
                                <a:schemeClr val="tx1"/>
                              </a:solidFill>
                            </a:rPr>
                            <a:t>omplexidade</a:t>
                          </a:r>
                          <a:r>
                            <a:rPr lang="pt-BR" sz="2000" b="0" i="0" dirty="0" smtClean="0">
                              <a:solidFill>
                                <a:schemeClr val="tx1"/>
                              </a:solidFill>
                            </a:rPr>
                            <a:t> computacional ajustável</a:t>
                          </a:r>
                          <a:r>
                            <a:rPr lang="pt-BR" sz="2000" b="0" i="0" baseline="0" dirty="0" smtClean="0">
                              <a:solidFill>
                                <a:schemeClr val="tx1"/>
                              </a:solidFill>
                            </a:rPr>
                            <a:t> à </a:t>
                          </a:r>
                          <a:r>
                            <a:rPr lang="pt-BR" sz="2000" b="0" i="0" noProof="0" dirty="0" smtClean="0">
                              <a:solidFill>
                                <a:schemeClr val="tx1"/>
                              </a:solidFill>
                              <a:latin typeface="+mn-lt"/>
                            </a:rPr>
                            <a:t>quantidade </a:t>
                          </a:r>
                          <a:r>
                            <a:rPr lang="pt-BR" sz="2000" b="0" i="0" noProof="0" dirty="0">
                              <a:solidFill>
                                <a:schemeClr val="tx1"/>
                              </a:solidFill>
                              <a:latin typeface="+mn-lt"/>
                            </a:rPr>
                            <a:t>de memória </a:t>
                          </a:r>
                          <a:r>
                            <a:rPr lang="pt-BR" sz="2000" b="0" i="0" noProof="0" dirty="0" smtClean="0">
                              <a:solidFill>
                                <a:schemeClr val="tx1"/>
                              </a:solidFill>
                              <a:latin typeface="+mn-lt"/>
                            </a:rPr>
                            <a:t>e recursos disponíveis.</a:t>
                          </a:r>
                          <a:endParaRPr lang="pt-BR" sz="2000" b="0" i="0" noProof="0" dirty="0">
                            <a:solidFill>
                              <a:schemeClr val="tx1"/>
                            </a:solidFill>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2"/>
                          <a:stretch>
                            <a:fillRect l="-136241" t="-125714" r="-246" b="-5397"/>
                          </a:stretch>
                        </a:blipFill>
                      </a:tcPr>
                    </a:tc>
                    <a:extLst>
                      <a:ext uri="{0D108BD9-81ED-4DB2-BD59-A6C34878D82A}">
                        <a16:rowId xmlns:a16="http://schemas.microsoft.com/office/drawing/2014/main" xmlns:a14="http://schemas.microsoft.com/office/drawing/2010/main" xmlns=""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5988368"/>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xmlns:a14="http://schemas.microsoft.com/office/drawing/2010/main" xmlns="" id="{B6ADA1D5-0763-3EF2-0C26-C666D2EF6C89}"/>
                  </a:ext>
                </a:extLst>
              </p:cNvPr>
              <p:cNvSpPr txBox="1">
                <a:spLocks noRot="1" noChangeAspect="1" noMove="1" noResize="1" noEditPoints="1" noAdjustHandles="1" noChangeArrowheads="1" noChangeShapeType="1" noTextEdit="1"/>
              </p:cNvSpPr>
              <p:nvPr/>
            </p:nvSpPr>
            <p:spPr>
              <a:xfrm>
                <a:off x="241041" y="5988368"/>
                <a:ext cx="6096000" cy="523220"/>
              </a:xfrm>
              <a:prstGeom prst="rect">
                <a:avLst/>
              </a:prstGeom>
              <a:blipFill rotWithShape="0">
                <a:blip r:embed="rId3"/>
                <a:stretch>
                  <a:fillRect l="-300" t="-1163" b="-12791"/>
                </a:stretch>
              </a:blipFill>
            </p:spPr>
            <p:txBody>
              <a:bodyPr/>
              <a:lstStyle/>
              <a:p>
                <a:r>
                  <a:rPr lang="pt-BR">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401994" y="1825624"/>
                <a:ext cx="6790006"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r>
                  <a:rPr lang="pt-BR" dirty="0"/>
                  <a:t>.</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Quando usamos a função do EQM, a superfície resultante tem sempre o formato de uma </a:t>
                </a:r>
                <a:r>
                  <a:rPr lang="pt-BR" b="1" dirty="0"/>
                  <a:t>tigela</a:t>
                </a:r>
                <a:r>
                  <a:rPr lang="pt-BR" dirty="0"/>
                  <a:t> (i.e., é uma superfície convexa).</a:t>
                </a:r>
              </a:p>
            </p:txBody>
          </p:sp>
        </mc:Choice>
        <mc:Fallback xmlns="">
          <p:sp>
            <p:nvSpPr>
              <p:cNvPr id="3" name="Content Placeholder 2">
                <a:extLst>
                  <a:ext uri="{FF2B5EF4-FFF2-40B4-BE49-F238E27FC236}">
                    <a16:creationId xmlns:a16="http://schemas.microsoft.com/office/drawing/2014/main" xmlns="" id="{84E2E11B-9833-18C1-2157-693893D8C114}"/>
                  </a:ext>
                </a:extLst>
              </p:cNvPr>
              <p:cNvSpPr>
                <a:spLocks noGrp="1" noRot="1" noChangeAspect="1" noMove="1" noResize="1" noEditPoints="1" noAdjustHandles="1" noChangeArrowheads="1" noChangeShapeType="1" noTextEdit="1"/>
              </p:cNvSpPr>
              <p:nvPr>
                <p:ph idx="1"/>
              </p:nvPr>
            </p:nvSpPr>
            <p:spPr>
              <a:xfrm>
                <a:off x="5401994" y="1825624"/>
                <a:ext cx="6790006" cy="5032375"/>
              </a:xfrm>
              <a:blipFill rotWithShape="0">
                <a:blip r:embed="rId2"/>
                <a:stretch>
                  <a:fillRect l="-1616" t="-1937" r="-1795" b="-847"/>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381189" cy="4083507"/>
            <a:chOff x="55618" y="2251324"/>
            <a:chExt cx="4381189" cy="4083507"/>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083507"/>
              <a:chOff x="930667" y="1938641"/>
              <a:chExt cx="4381189" cy="4083507"/>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083507"/>
                <a:chOff x="447782" y="1825625"/>
                <a:chExt cx="4381189" cy="4083507"/>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307777"/>
                </a:xfrm>
                <a:prstGeom prst="rect">
                  <a:avLst/>
                </a:prstGeom>
                <a:noFill/>
              </p:spPr>
              <p:txBody>
                <a:bodyPr wrap="square" rtlCol="0">
                  <a:spAutoFit/>
                </a:bodyPr>
                <a:lstStyle/>
                <a:p>
                  <a:r>
                    <a:rPr lang="pt-BR" sz="1400" b="1" dirty="0">
                      <a:solidFill>
                        <a:srgbClr val="00B0F0"/>
                      </a:solidFill>
                    </a:rPr>
                    <a:t>ponto de mínimo</a:t>
                  </a:r>
                </a:p>
              </p:txBody>
            </p:sp>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083507"/>
            <a:chOff x="55618" y="2251324"/>
            <a:chExt cx="4381189" cy="4083507"/>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083507"/>
              <a:chOff x="930667" y="1938641"/>
              <a:chExt cx="4381189" cy="4083507"/>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083507"/>
                <a:chOff x="447782" y="1825625"/>
                <a:chExt cx="4381189" cy="4083507"/>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307777"/>
                </a:xfrm>
                <a:prstGeom prst="rect">
                  <a:avLst/>
                </a:prstGeom>
                <a:noFill/>
              </p:spPr>
              <p:txBody>
                <a:bodyPr wrap="square" rtlCol="0">
                  <a:spAutoFit/>
                </a:bodyPr>
                <a:lstStyle/>
                <a:p>
                  <a:r>
                    <a:rPr lang="pt-BR" sz="1400" b="1" dirty="0">
                      <a:solidFill>
                        <a:srgbClr val="00B0F0"/>
                      </a:solidFill>
                    </a:rPr>
                    <a:t>ponto de mínimo</a:t>
                  </a:r>
                </a:p>
              </p:txBody>
            </p:sp>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Otimização (treinamento) do modelo</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083507"/>
            <a:chOff x="447782" y="1825625"/>
            <a:chExt cx="4381189" cy="4083507"/>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307777"/>
            </a:xfrm>
            <a:prstGeom prst="rect">
              <a:avLst/>
            </a:prstGeom>
            <a:noFill/>
          </p:spPr>
          <p:txBody>
            <a:bodyPr wrap="square" rtlCol="0">
              <a:spAutoFit/>
            </a:bodyPr>
            <a:lstStyle/>
            <a:p>
              <a:r>
                <a:rPr lang="pt-BR" sz="1400" b="1" dirty="0">
                  <a:solidFill>
                    <a:srgbClr val="00B0F0"/>
                  </a:solidFill>
                </a:rPr>
                <a:t>ponto de mínimo</a:t>
              </a:r>
            </a:p>
          </p:txBody>
        </p:sp>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6"/>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Otimização (treinamento) do modelo</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083507"/>
            <a:chOff x="447782" y="1825625"/>
            <a:chExt cx="4381189" cy="4083507"/>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307777"/>
            </a:xfrm>
            <a:prstGeom prst="rect">
              <a:avLst/>
            </a:prstGeom>
            <a:noFill/>
          </p:spPr>
          <p:txBody>
            <a:bodyPr wrap="square" rtlCol="0">
              <a:spAutoFit/>
            </a:bodyPr>
            <a:lstStyle/>
            <a:p>
              <a:r>
                <a:rPr lang="pt-BR" sz="1400" b="1" dirty="0">
                  <a:solidFill>
                    <a:srgbClr val="00B0F0"/>
                  </a:solidFill>
                </a:rPr>
                <a:t>ponto de mínimo</a:t>
              </a:r>
            </a:p>
          </p:txBody>
        </p:sp>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0B404-F3ED-8087-A024-C72B793DE4C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6D4684C-15AE-EBFA-CC52-BE2B10624210}"/>
              </a:ext>
            </a:extLst>
          </p:cNvPr>
          <p:cNvSpPr>
            <a:spLocks noGrp="1"/>
          </p:cNvSpPr>
          <p:nvPr>
            <p:ph idx="1"/>
          </p:nvPr>
        </p:nvSpPr>
        <p:spPr/>
        <p:txBody>
          <a:bodyPr>
            <a:normAutofit/>
          </a:bodyPr>
          <a:lstStyle/>
          <a:p>
            <a:r>
              <a:rPr lang="pt-BR" sz="4800" b="1" dirty="0">
                <a:solidFill>
                  <a:srgbClr val="FF0000"/>
                </a:solidFill>
              </a:rPr>
              <a:t>PAREI AQUI!!!!!!!!!!!</a:t>
            </a:r>
            <a:endParaRPr lang="en-US" sz="4800" b="1" dirty="0">
              <a:solidFill>
                <a:srgbClr val="FF0000"/>
              </a:solidFill>
            </a:endParaRPr>
          </a:p>
        </p:txBody>
      </p:sp>
    </p:spTree>
    <p:extLst>
      <p:ext uri="{BB962C8B-B14F-4D97-AF65-F5344CB8AC3E}">
        <p14:creationId xmlns:p14="http://schemas.microsoft.com/office/powerpoint/2010/main" val="9561256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6096001" y="1825624"/>
                <a:ext cx="5920148" cy="5032375"/>
              </a:xfrm>
            </p:spPr>
            <p:txBody>
              <a:bodyPr/>
              <a:lstStyle/>
              <a:p>
                <a:r>
                  <a:rPr lang="pt-BR" dirty="0"/>
                  <a:t>Vamos primeiro ver com vetores gradiente nos ajudam a minimizar o erro.</a:t>
                </a:r>
              </a:p>
              <a:p>
                <a:r>
                  <a:rPr lang="pt-BR" dirty="0"/>
                  <a:t>Ou seja, entender como eles nos ajudam a encontrar o </a:t>
                </a:r>
                <a:r>
                  <a:rPr lang="pt-BR" b="1" i="1" dirty="0">
                    <a:solidFill>
                      <a:srgbClr val="00B050"/>
                    </a:solidFill>
                  </a:rPr>
                  <a:t>ponto de mínimo da função de erro</a:t>
                </a:r>
                <a:r>
                  <a:rPr lang="pt-BR" dirty="0"/>
                  <a:t>.</a:t>
                </a:r>
              </a:p>
              <a:p>
                <a:r>
                  <a:rPr lang="pt-BR" dirty="0"/>
                  <a:t>Consequentemente, entenderemos como o algoritmo de otimização (ou treinamento) dos modelos funciona.</a:t>
                </a:r>
              </a:p>
              <a:p>
                <a:r>
                  <a:rPr lang="pt-BR" b="1" dirty="0"/>
                  <a:t>OBS</a:t>
                </a:r>
                <a:r>
                  <a:rPr lang="pt-BR" dirty="0"/>
                  <a:t>.: Vamos usar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i="1">
                            <a:latin typeface="Cambria Math" panose="02040503050406030204" pitchFamily="18" charset="0"/>
                          </a:rPr>
                          <m:t>𝑎</m:t>
                        </m:r>
                      </m:e>
                    </m:d>
                  </m:oMath>
                </a14:m>
                <a:r>
                  <a:rPr lang="pt-BR" dirty="0"/>
                  <a:t> para definir uma </a:t>
                </a:r>
                <a:r>
                  <a:rPr lang="pt-BR" b="1" i="1" dirty="0">
                    <a:solidFill>
                      <a:srgbClr val="FF0000"/>
                    </a:solidFill>
                  </a:rPr>
                  <a:t>função de erro genérica</a:t>
                </a:r>
                <a:r>
                  <a:rPr lang="pt-BR" dirty="0"/>
                  <a:t>.</a:t>
                </a:r>
              </a:p>
            </p:txBody>
          </p:sp>
        </mc:Choice>
        <mc:Fallback xmlns="">
          <p:sp>
            <p:nvSpPr>
              <p:cNvPr id="3" name="Espaço Reservado para Conteúdo 2">
                <a:extLst>
                  <a:ext uri="{FF2B5EF4-FFF2-40B4-BE49-F238E27FC236}">
                    <a16:creationId xmlns:a16="http://schemas.microsoft.com/office/drawing/2014/main" id="{1DDC095D-537A-22C7-EBAE-27CDB323C57B}"/>
                  </a:ext>
                </a:extLst>
              </p:cNvPr>
              <p:cNvSpPr>
                <a:spLocks noGrp="1" noRot="1" noChangeAspect="1" noMove="1" noResize="1" noEditPoints="1" noAdjustHandles="1" noChangeArrowheads="1" noChangeShapeType="1" noTextEdit="1"/>
              </p:cNvSpPr>
              <p:nvPr>
                <p:ph idx="1"/>
              </p:nvPr>
            </p:nvSpPr>
            <p:spPr>
              <a:xfrm>
                <a:off x="6096001" y="1825624"/>
                <a:ext cx="5920148" cy="5032375"/>
              </a:xfrm>
              <a:blipFill>
                <a:blip r:embed="rId2"/>
                <a:stretch>
                  <a:fillRect l="-1854" t="-1937"/>
                </a:stretch>
              </a:blipFill>
            </p:spPr>
            <p:txBody>
              <a:bodyPr/>
              <a:lstStyle/>
              <a:p>
                <a:r>
                  <a:rPr lang="en-US">
                    <a:noFill/>
                  </a:rPr>
                  <a:t> </a:t>
                </a:r>
              </a:p>
            </p:txBody>
          </p:sp>
        </mc:Fallback>
      </mc:AlternateContent>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Função de erro</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6096001" y="1825624"/>
            <a:ext cx="5920148" cy="5032375"/>
          </a:xfrm>
        </p:spPr>
        <p:txBody>
          <a:bodyPr/>
          <a:lstStyle/>
          <a:p>
            <a:r>
              <a:rPr lang="pt-BR" dirty="0"/>
              <a:t>Lembrem-se que a função de erro é </a:t>
            </a:r>
            <a:r>
              <a:rPr lang="pt-BR" b="1" i="1" dirty="0">
                <a:solidFill>
                  <a:srgbClr val="00B050"/>
                </a:solidFill>
              </a:rPr>
              <a:t>função dos pesos</a:t>
            </a:r>
            <a:r>
              <a:rPr lang="pt-BR" dirty="0"/>
              <a:t>.</a:t>
            </a:r>
          </a:p>
          <a:p>
            <a:r>
              <a:rPr lang="pt-BR" dirty="0"/>
              <a:t>Ou seja, o erro varia se variarmos os valores dos pesos.</a:t>
            </a:r>
          </a:p>
          <a:p>
            <a:r>
              <a:rPr lang="pt-BR" dirty="0"/>
              <a:t>Portanto, variando os pesos, conseguimos, em alguns casos, visualizar a superfície de erro.</a:t>
            </a:r>
          </a:p>
          <a:p>
            <a:r>
              <a:rPr lang="pt-BR" dirty="0"/>
              <a:t>O ponto mais baixo dessa superfície nos dá os valores dos pesos que minimizam a função de erro.</a:t>
            </a:r>
          </a:p>
        </p:txBody>
      </p:sp>
      <p:sp>
        <p:nvSpPr>
          <p:cNvPr id="5" name="Forma Livre: Forma 4">
            <a:extLst>
              <a:ext uri="{FF2B5EF4-FFF2-40B4-BE49-F238E27FC236}">
                <a16:creationId xmlns:a16="http://schemas.microsoft.com/office/drawing/2014/main" id="{DEF42327-FE25-D06C-1BA4-1044BB88E6BA}"/>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nvGrpSpPr>
          <p:cNvPr id="7" name="Agrupar 6">
            <a:extLst>
              <a:ext uri="{FF2B5EF4-FFF2-40B4-BE49-F238E27FC236}">
                <a16:creationId xmlns:a16="http://schemas.microsoft.com/office/drawing/2014/main" id="{67ABC768-3815-E831-0C97-E8855096661A}"/>
              </a:ext>
            </a:extLst>
          </p:cNvPr>
          <p:cNvGrpSpPr>
            <a:grpSpLocks noChangeAspect="1"/>
          </p:cNvGrpSpPr>
          <p:nvPr/>
        </p:nvGrpSpPr>
        <p:grpSpPr>
          <a:xfrm>
            <a:off x="974017" y="2353696"/>
            <a:ext cx="3962612" cy="2939417"/>
            <a:chOff x="1323650" y="2793841"/>
            <a:chExt cx="3325297" cy="2466665"/>
          </a:xfrm>
        </p:grpSpPr>
        <p:cxnSp>
          <p:nvCxnSpPr>
            <p:cNvPr id="9" name="Conector de Seta Reta 8">
              <a:extLst>
                <a:ext uri="{FF2B5EF4-FFF2-40B4-BE49-F238E27FC236}">
                  <a16:creationId xmlns:a16="http://schemas.microsoft.com/office/drawing/2014/main" id="{7AB11825-DED9-0755-3C01-AE4F9FE399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1">
              <a:extLst>
                <a:ext uri="{FF2B5EF4-FFF2-40B4-BE49-F238E27FC236}">
                  <a16:creationId xmlns:a16="http://schemas.microsoft.com/office/drawing/2014/main" id="{EA05BAC9-6B44-423D-2536-0E084678E60E}"/>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03916136-D69B-2BB8-2BFB-565DB4343C26}"/>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15" name="CaixaDeTexto 14">
              <a:extLst>
                <a:ext uri="{FF2B5EF4-FFF2-40B4-BE49-F238E27FC236}">
                  <a16:creationId xmlns:a16="http://schemas.microsoft.com/office/drawing/2014/main" id="{350198C6-074B-8C9E-4D2C-61E27F2097E6}"/>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8" name="Conector reto 17">
              <a:extLst>
                <a:ext uri="{FF2B5EF4-FFF2-40B4-BE49-F238E27FC236}">
                  <a16:creationId xmlns:a16="http://schemas.microsoft.com/office/drawing/2014/main" id="{D23054B4-76D1-FDE0-C4E0-B50F8C5B9F06}"/>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36A116B3-306D-3108-C86D-792D43CB524A}"/>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21" name="Conector reto 20">
              <a:extLst>
                <a:ext uri="{FF2B5EF4-FFF2-40B4-BE49-F238E27FC236}">
                  <a16:creationId xmlns:a16="http://schemas.microsoft.com/office/drawing/2014/main" id="{042FAB7B-7B31-CDA5-BF9F-700F09D71BB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4" name="Elipse 23">
              <a:extLst>
                <a:ext uri="{FF2B5EF4-FFF2-40B4-BE49-F238E27FC236}">
                  <a16:creationId xmlns:a16="http://schemas.microsoft.com/office/drawing/2014/main" id="{3BCE11F1-B4F2-C22B-2609-D0E654B43F80}"/>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E7AA64F-3A3B-2E0F-04AA-AEDD3865818F}"/>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26" name="CaixaDeTexto 25">
                <a:extLst>
                  <a:ext uri="{FF2B5EF4-FFF2-40B4-BE49-F238E27FC236}">
                    <a16:creationId xmlns:a16="http://schemas.microsoft.com/office/drawing/2014/main" id="{5E7AA64F-3A3B-2E0F-04AA-AEDD3865818F}"/>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B6EBFD90-37A8-DED8-FEF5-28643B6939A3}"/>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7" name="CaixaDeTexto 26">
                <a:extLst>
                  <a:ext uri="{FF2B5EF4-FFF2-40B4-BE49-F238E27FC236}">
                    <a16:creationId xmlns:a16="http://schemas.microsoft.com/office/drawing/2014/main" id="{B6EBFD90-37A8-DED8-FEF5-28643B6939A3}"/>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1869622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Forma Livre: Forma 14">
            <a:extLst>
              <a:ext uri="{FF2B5EF4-FFF2-40B4-BE49-F238E27FC236}">
                <a16:creationId xmlns:a16="http://schemas.microsoft.com/office/drawing/2014/main" id="{830BE789-9BD9-1C30-4AE5-57AC2F02EA4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989041" y="1825624"/>
            <a:ext cx="6011175" cy="5032376"/>
          </a:xfrm>
        </p:spPr>
        <p:txBody>
          <a:bodyPr>
            <a:normAutofit/>
          </a:bodyPr>
          <a:lstStyle/>
          <a:p>
            <a:r>
              <a:rPr lang="pt-BR" dirty="0"/>
              <a:t>Lembrem-se que a função de erro que usamos anteriormente, a </a:t>
            </a:r>
            <a:r>
              <a:rPr lang="pt-BR" b="1" i="1" dirty="0">
                <a:solidFill>
                  <a:srgbClr val="00B050"/>
                </a:solidFill>
              </a:rPr>
              <a:t>função do EQM, é </a:t>
            </a:r>
            <a:r>
              <a:rPr lang="pt-BR" b="1" i="1" dirty="0">
                <a:solidFill>
                  <a:srgbClr val="7030A0"/>
                </a:solidFill>
              </a:rPr>
              <a:t>quadrática</a:t>
            </a:r>
            <a:r>
              <a:rPr lang="pt-BR" dirty="0"/>
              <a:t>.</a:t>
            </a:r>
          </a:p>
          <a:p>
            <a:r>
              <a:rPr lang="pt-BR" dirty="0"/>
              <a:t>E como vimos no exemplo, </a:t>
            </a:r>
            <a:r>
              <a:rPr lang="pt-BR" b="1" i="1" dirty="0">
                <a:solidFill>
                  <a:srgbClr val="00B050"/>
                </a:solidFill>
              </a:rPr>
              <a:t>funções quadráticas </a:t>
            </a:r>
            <a:r>
              <a:rPr lang="pt-BR" dirty="0"/>
              <a:t>têm a</a:t>
            </a:r>
            <a:r>
              <a:rPr lang="pt-BR" b="1" i="1" dirty="0">
                <a:solidFill>
                  <a:srgbClr val="00B050"/>
                </a:solidFill>
              </a:rPr>
              <a:t> forma de</a:t>
            </a:r>
            <a:r>
              <a:rPr lang="pt-BR" dirty="0"/>
              <a:t> </a:t>
            </a:r>
            <a:r>
              <a:rPr lang="pt-BR" b="1" i="1" dirty="0">
                <a:solidFill>
                  <a:srgbClr val="00B050"/>
                </a:solidFill>
              </a:rPr>
              <a:t>parábolas</a:t>
            </a:r>
            <a:r>
              <a:rPr lang="pt-BR" dirty="0"/>
              <a:t> </a:t>
            </a:r>
            <a:r>
              <a:rPr lang="pt-BR" b="1" i="1" dirty="0">
                <a:solidFill>
                  <a:srgbClr val="00B050"/>
                </a:solidFill>
              </a:rPr>
              <a:t>convexas</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43DA85D1-4D90-5FC1-15B5-A84453E4F6E7}"/>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356027E-1373-2AE7-2282-A045FF430AE9}"/>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0287309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a:p>
            <a:r>
              <a:rPr lang="pt-BR" b="1" dirty="0"/>
              <a:t>OBS</a:t>
            </a:r>
            <a:r>
              <a:rPr lang="pt-BR" dirty="0"/>
              <a:t>.: Em geral, o erro nunca será igual a 0 devido aos dados estarem corrompidos por algum tipo de ruído.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1442016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789799"/>
            <a:ext cx="10515600" cy="1278402"/>
          </a:xfrm>
        </p:spPr>
        <p:txBody>
          <a:bodyPr>
            <a:normAutofit fontScale="92500" lnSpcReduction="20000"/>
          </a:bodyPr>
          <a:lstStyle/>
          <a:p>
            <a:pPr marL="0" indent="0" algn="ctr">
              <a:buNone/>
            </a:pPr>
            <a:r>
              <a:rPr lang="pt-BR" sz="5400"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ao lado é chamada de </a:t>
            </a:r>
            <a:r>
              <a:rPr lang="pt-BR" b="1" i="1" dirty="0">
                <a:solidFill>
                  <a:srgbClr val="7030A0"/>
                </a:solidFill>
              </a:rPr>
              <a:t>equação de atualização dos pesos</a:t>
            </a:r>
            <a:r>
              <a:rPr lang="pt-BR" dirty="0"/>
              <a:t>.</a:t>
            </a:r>
          </a:p>
        </p:txBody>
      </p:sp>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072763D2-FACD-39A6-9E58-FF55BA3CD1A0}"/>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5E37C1F1-7EA1-2169-BB38-D423F8A41806}"/>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897233" y="1825624"/>
            <a:ext cx="6040763"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96D026F-8855-ABAE-BAA7-3C440EE13525}"/>
              </a:ext>
            </a:extLst>
          </p:cNvPr>
          <p:cNvSpPr>
            <a:spLocks noGrp="1"/>
          </p:cNvSpPr>
          <p:nvPr>
            <p:ph type="title"/>
          </p:nvPr>
        </p:nvSpPr>
        <p:spPr>
          <a:xfrm>
            <a:off x="838200" y="365125"/>
            <a:ext cx="10915436" cy="1325563"/>
          </a:xfrm>
        </p:spPr>
        <p:txBody>
          <a:bodyPr/>
          <a:lstStyle/>
          <a:p>
            <a:r>
              <a:rPr lang="pt-BR" dirty="0"/>
              <a:t>Formas de se ajustar o passo de aprendizagem</a:t>
            </a:r>
          </a:p>
        </p:txBody>
      </p:sp>
      <p:sp>
        <p:nvSpPr>
          <p:cNvPr id="3" name="Espaço Reservado para Conteúdo 2">
            <a:extLst>
              <a:ext uri="{FF2B5EF4-FFF2-40B4-BE49-F238E27FC236}">
                <a16:creationId xmlns:a16="http://schemas.microsoft.com/office/drawing/2014/main" id="{DE281130-A3D0-02AB-4895-7A25FD256364}"/>
              </a:ext>
            </a:extLst>
          </p:cNvPr>
          <p:cNvSpPr>
            <a:spLocks noGrp="1"/>
          </p:cNvSpPr>
          <p:nvPr>
            <p:ph idx="1"/>
          </p:nvPr>
        </p:nvSpPr>
        <p:spPr>
          <a:xfrm>
            <a:off x="5291191" y="1825624"/>
            <a:ext cx="6770671" cy="5032375"/>
          </a:xfrm>
        </p:spPr>
        <p:txBody>
          <a:bodyPr>
            <a:normAutofit/>
          </a:bodyPr>
          <a:lstStyle/>
          <a:p>
            <a:r>
              <a:rPr lang="pt-BR" b="0" i="0" dirty="0">
                <a:effectLst/>
              </a:rPr>
              <a:t>Além do passo constante, existem técnicas que ajustam o passo durante o treinamento:</a:t>
            </a:r>
          </a:p>
          <a:p>
            <a:pPr lvl="1">
              <a:buFont typeface="Wingdings" panose="05000000000000000000" pitchFamily="2" charset="2"/>
              <a:buChar char="§"/>
            </a:pPr>
            <a:r>
              <a:rPr lang="pt-BR" dirty="0"/>
              <a:t>D</a:t>
            </a:r>
            <a:r>
              <a:rPr lang="pt-BR" b="0" i="0" dirty="0">
                <a:effectLst/>
              </a:rPr>
              <a:t>ecaimento linear e exponencial, </a:t>
            </a:r>
          </a:p>
          <a:p>
            <a:pPr lvl="1">
              <a:buFont typeface="Wingdings" panose="05000000000000000000" pitchFamily="2" charset="2"/>
              <a:buChar char="§"/>
            </a:pPr>
            <a:r>
              <a:rPr lang="pt-BR" dirty="0"/>
              <a:t>A</a:t>
            </a:r>
            <a:r>
              <a:rPr lang="pt-BR" b="0" i="0" dirty="0">
                <a:effectLst/>
              </a:rPr>
              <a:t>daptação automática com os algoritmos </a:t>
            </a:r>
            <a:r>
              <a:rPr lang="pt-BR" b="0" i="0" dirty="0" err="1">
                <a:effectLst/>
              </a:rPr>
              <a:t>Adagrad</a:t>
            </a:r>
            <a:r>
              <a:rPr lang="pt-BR" b="0" i="0" dirty="0">
                <a:effectLst/>
              </a:rPr>
              <a:t>, </a:t>
            </a:r>
            <a:r>
              <a:rPr lang="pt-BR" b="0" i="0" dirty="0" err="1">
                <a:effectLst/>
              </a:rPr>
              <a:t>RMSProp</a:t>
            </a:r>
            <a:r>
              <a:rPr lang="pt-BR" b="0" i="0" dirty="0">
                <a:effectLst/>
              </a:rPr>
              <a:t> e Adam.</a:t>
            </a:r>
          </a:p>
          <a:p>
            <a:pPr>
              <a:buFont typeface="Wingdings" panose="05000000000000000000" pitchFamily="2" charset="2"/>
              <a:buChar char="§"/>
            </a:pPr>
            <a:r>
              <a:rPr lang="pt-BR" dirty="0"/>
              <a:t>O passo constante e a primeira usam </a:t>
            </a:r>
            <a:r>
              <a:rPr lang="pt-BR" b="1" i="1" dirty="0">
                <a:solidFill>
                  <a:srgbClr val="00B050"/>
                </a:solidFill>
              </a:rPr>
              <a:t>um passo para todos os pesos</a:t>
            </a:r>
            <a:r>
              <a:rPr lang="pt-BR" dirty="0"/>
              <a:t>, já a última, usa </a:t>
            </a:r>
            <a:r>
              <a:rPr lang="pt-BR" b="1" i="1" dirty="0">
                <a:solidFill>
                  <a:srgbClr val="00B050"/>
                </a:solidFill>
              </a:rPr>
              <a:t>um passo independente por peso</a:t>
            </a:r>
            <a:r>
              <a:rPr lang="pt-BR" dirty="0"/>
              <a:t>.</a:t>
            </a:r>
            <a:endParaRPr lang="pt-BR" b="0" i="0" dirty="0">
              <a:effectLst/>
            </a:endParaRPr>
          </a:p>
          <a:p>
            <a:r>
              <a:rPr lang="pt-BR" b="0" i="0" dirty="0">
                <a:effectLst/>
              </a:rPr>
              <a:t>Cada técnica visa diminuir o tempo de convergência </a:t>
            </a:r>
            <a:r>
              <a:rPr lang="pt-BR" b="0" i="0">
                <a:effectLst/>
              </a:rPr>
              <a:t>e aumentar o desempenho dos modelos.</a:t>
            </a:r>
            <a:endParaRPr lang="pt-BR" dirty="0"/>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86FB339-FAA3-7311-384D-BADD98B8DD7E}"/>
                  </a:ext>
                </a:extLst>
              </p:cNvPr>
              <p:cNvSpPr txBox="1"/>
              <p:nvPr/>
            </p:nvSpPr>
            <p:spPr>
              <a:xfrm>
                <a:off x="525381" y="2600976"/>
                <a:ext cx="4524370" cy="678584"/>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sz="2000" b="1" i="1" smtClean="0">
                          <a:latin typeface="Cambria Math" panose="02040503050406030204" pitchFamily="18" charset="0"/>
                        </a:rPr>
                        <m:t>𝒂</m:t>
                      </m:r>
                      <m:r>
                        <a:rPr lang="pt-BR" sz="2000" b="0" i="1" smtClean="0">
                          <a:latin typeface="Cambria Math" panose="02040503050406030204" pitchFamily="18" charset="0"/>
                        </a:rPr>
                        <m:t>(</m:t>
                      </m:r>
                      <m:r>
                        <a:rPr lang="pt-BR" sz="2000" b="0" i="1" smtClean="0">
                          <a:latin typeface="Cambria Math" panose="02040503050406030204" pitchFamily="18" charset="0"/>
                        </a:rPr>
                        <m:t>𝑖</m:t>
                      </m:r>
                      <m:r>
                        <a:rPr lang="pt-BR" sz="2000" b="0" i="1" smtClean="0">
                          <a:latin typeface="Cambria Math" panose="02040503050406030204" pitchFamily="18" charset="0"/>
                        </a:rPr>
                        <m:t>+1)</m:t>
                      </m:r>
                      <m:r>
                        <a:rPr lang="pt-BR" sz="2000" b="0" i="0" smtClean="0">
                          <a:latin typeface="Cambria Math" panose="02040503050406030204" pitchFamily="18" charset="0"/>
                        </a:rPr>
                        <m:t>=</m:t>
                      </m:r>
                      <m:r>
                        <a:rPr lang="pt-BR" sz="2000" b="1" i="1" smtClean="0">
                          <a:latin typeface="Cambria Math" panose="02040503050406030204" pitchFamily="18" charset="0"/>
                        </a:rPr>
                        <m:t>𝒂</m:t>
                      </m:r>
                      <m:r>
                        <a:rPr lang="pt-BR" sz="2000" b="0" i="1" smtClean="0">
                          <a:latin typeface="Cambria Math" panose="02040503050406030204" pitchFamily="18" charset="0"/>
                        </a:rPr>
                        <m:t>(</m:t>
                      </m:r>
                      <m:r>
                        <a:rPr lang="pt-BR" sz="2000" b="0" i="1" smtClean="0">
                          <a:latin typeface="Cambria Math" panose="02040503050406030204" pitchFamily="18" charset="0"/>
                        </a:rPr>
                        <m:t>𝑖</m:t>
                      </m:r>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r>
                            <a:rPr lang="pt-BR" sz="2000" b="1" i="1" smtClean="0">
                              <a:latin typeface="Cambria Math" panose="02040503050406030204" pitchFamily="18" charset="0"/>
                            </a:rPr>
                            <m:t>𝒂</m:t>
                          </m:r>
                          <m:r>
                            <a:rPr lang="pt-BR" sz="2000" b="0" i="1" smtClean="0">
                              <a:latin typeface="Cambria Math" panose="02040503050406030204" pitchFamily="18" charset="0"/>
                            </a:rPr>
                            <m:t>(</m:t>
                          </m:r>
                          <m:r>
                            <a:rPr lang="pt-BR" sz="2000" b="0" i="1" smtClean="0">
                              <a:latin typeface="Cambria Math" panose="02040503050406030204" pitchFamily="18" charset="0"/>
                            </a:rPr>
                            <m:t>𝑖</m:t>
                          </m:r>
                          <m:r>
                            <a:rPr lang="pt-BR" sz="2000" b="0" i="1" smtClean="0">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5" name="CaixaDeTexto 4">
                <a:extLst>
                  <a:ext uri="{FF2B5EF4-FFF2-40B4-BE49-F238E27FC236}">
                    <a16:creationId xmlns:a16="http://schemas.microsoft.com/office/drawing/2014/main" id="{A86FB339-FAA3-7311-384D-BADD98B8DD7E}"/>
                  </a:ext>
                </a:extLst>
              </p:cNvPr>
              <p:cNvSpPr txBox="1">
                <a:spLocks noRot="1" noChangeAspect="1" noMove="1" noResize="1" noEditPoints="1" noAdjustHandles="1" noChangeArrowheads="1" noChangeShapeType="1" noTextEdit="1"/>
              </p:cNvSpPr>
              <p:nvPr/>
            </p:nvSpPr>
            <p:spPr>
              <a:xfrm>
                <a:off x="525381" y="2600976"/>
                <a:ext cx="4524370" cy="67858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2719009-3372-778D-D2F1-4809B958A29B}"/>
                  </a:ext>
                </a:extLst>
              </p:cNvPr>
              <p:cNvSpPr txBox="1"/>
              <p:nvPr/>
            </p:nvSpPr>
            <p:spPr>
              <a:xfrm>
                <a:off x="509429" y="4155857"/>
                <a:ext cx="4524370" cy="678584"/>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sz="2000" b="1" i="1" smtClean="0">
                          <a:latin typeface="Cambria Math" panose="02040503050406030204" pitchFamily="18" charset="0"/>
                        </a:rPr>
                        <m:t>𝒂</m:t>
                      </m:r>
                      <m:r>
                        <a:rPr lang="pt-BR" sz="2000" b="0" i="1" smtClean="0">
                          <a:latin typeface="Cambria Math" panose="02040503050406030204" pitchFamily="18" charset="0"/>
                        </a:rPr>
                        <m:t>(</m:t>
                      </m:r>
                      <m:r>
                        <a:rPr lang="pt-BR" sz="2000" b="0" i="1" smtClean="0">
                          <a:latin typeface="Cambria Math" panose="02040503050406030204" pitchFamily="18" charset="0"/>
                        </a:rPr>
                        <m:t>𝑖</m:t>
                      </m:r>
                      <m:r>
                        <a:rPr lang="pt-BR" sz="2000" b="0" i="1" smtClean="0">
                          <a:latin typeface="Cambria Math" panose="02040503050406030204" pitchFamily="18" charset="0"/>
                        </a:rPr>
                        <m:t>+1)</m:t>
                      </m:r>
                      <m:r>
                        <a:rPr lang="pt-BR" sz="2000" b="0" i="0" smtClean="0">
                          <a:latin typeface="Cambria Math" panose="02040503050406030204" pitchFamily="18" charset="0"/>
                        </a:rPr>
                        <m:t>=</m:t>
                      </m:r>
                      <m:r>
                        <a:rPr lang="pt-BR" sz="2000" b="1" i="1" smtClean="0">
                          <a:latin typeface="Cambria Math" panose="02040503050406030204" pitchFamily="18" charset="0"/>
                        </a:rPr>
                        <m:t>𝒂</m:t>
                      </m:r>
                      <m:r>
                        <a:rPr lang="pt-BR" sz="2000" b="0" i="1" smtClean="0">
                          <a:latin typeface="Cambria Math" panose="02040503050406030204" pitchFamily="18" charset="0"/>
                        </a:rPr>
                        <m:t>(</m:t>
                      </m:r>
                      <m:r>
                        <a:rPr lang="pt-BR" sz="2000" b="0" i="1" smtClean="0">
                          <a:latin typeface="Cambria Math" panose="02040503050406030204" pitchFamily="18" charset="0"/>
                        </a:rPr>
                        <m:t>𝑖</m:t>
                      </m:r>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r>
                        <a:rPr lang="pt-BR" sz="2000" b="0" i="1" dirty="0" smtClean="0">
                          <a:latin typeface="Cambria Math" panose="02040503050406030204" pitchFamily="18" charset="0"/>
                          <a:ea typeface="Cambria Math" panose="02040503050406030204" pitchFamily="18" charset="0"/>
                        </a:rPr>
                        <m:t>(</m:t>
                      </m:r>
                      <m:r>
                        <a:rPr lang="pt-BR" sz="2000" b="0" i="1" dirty="0" smtClean="0">
                          <a:latin typeface="Cambria Math" panose="02040503050406030204" pitchFamily="18" charset="0"/>
                          <a:ea typeface="Cambria Math" panose="02040503050406030204" pitchFamily="18" charset="0"/>
                        </a:rPr>
                        <m:t>𝑖</m:t>
                      </m:r>
                      <m:r>
                        <a:rPr lang="pt-BR" sz="2000" b="0" i="1" dirty="0" smtClean="0">
                          <a:latin typeface="Cambria Math" panose="02040503050406030204" pitchFamily="18" charset="0"/>
                          <a:ea typeface="Cambria Math" panose="02040503050406030204" pitchFamily="18" charset="0"/>
                        </a:rPr>
                        <m:t>)</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r>
                            <a:rPr lang="pt-BR" sz="2000" b="1" i="1" smtClean="0">
                              <a:latin typeface="Cambria Math" panose="02040503050406030204" pitchFamily="18" charset="0"/>
                            </a:rPr>
                            <m:t>𝒂</m:t>
                          </m:r>
                          <m:r>
                            <a:rPr lang="pt-BR" sz="2000" b="0" i="1" smtClean="0">
                              <a:latin typeface="Cambria Math" panose="02040503050406030204" pitchFamily="18" charset="0"/>
                            </a:rPr>
                            <m:t>(</m:t>
                          </m:r>
                          <m:r>
                            <a:rPr lang="pt-BR" sz="2000" b="0" i="1" smtClean="0">
                              <a:latin typeface="Cambria Math" panose="02040503050406030204" pitchFamily="18" charset="0"/>
                            </a:rPr>
                            <m:t>𝑖</m:t>
                          </m:r>
                          <m:r>
                            <a:rPr lang="pt-BR" sz="2000" b="0" i="1" smtClean="0">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6" name="CaixaDeTexto 5">
                <a:extLst>
                  <a:ext uri="{FF2B5EF4-FFF2-40B4-BE49-F238E27FC236}">
                    <a16:creationId xmlns:a16="http://schemas.microsoft.com/office/drawing/2014/main" id="{72719009-3372-778D-D2F1-4809B958A29B}"/>
                  </a:ext>
                </a:extLst>
              </p:cNvPr>
              <p:cNvSpPr txBox="1">
                <a:spLocks noRot="1" noChangeAspect="1" noMove="1" noResize="1" noEditPoints="1" noAdjustHandles="1" noChangeArrowheads="1" noChangeShapeType="1" noTextEdit="1"/>
              </p:cNvSpPr>
              <p:nvPr/>
            </p:nvSpPr>
            <p:spPr>
              <a:xfrm>
                <a:off x="509429" y="4155857"/>
                <a:ext cx="4524370" cy="67858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BDB93DF7-591B-3B8F-3372-DBAB944CDC4D}"/>
                  </a:ext>
                </a:extLst>
              </p:cNvPr>
              <p:cNvSpPr txBox="1"/>
              <p:nvPr/>
            </p:nvSpPr>
            <p:spPr>
              <a:xfrm>
                <a:off x="525381" y="5696662"/>
                <a:ext cx="4422169"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2000" b="1" i="1" smtClean="0">
                          <a:latin typeface="Cambria Math" panose="02040503050406030204" pitchFamily="18" charset="0"/>
                        </a:rPr>
                        <m:t>𝒂</m:t>
                      </m:r>
                      <m:r>
                        <a:rPr lang="pt-BR" sz="2000" b="0" i="1" smtClean="0">
                          <a:latin typeface="Cambria Math" panose="02040503050406030204" pitchFamily="18" charset="0"/>
                        </a:rPr>
                        <m:t>(</m:t>
                      </m:r>
                      <m:r>
                        <a:rPr lang="pt-BR" sz="2000" b="0" i="1" smtClean="0">
                          <a:latin typeface="Cambria Math" panose="02040503050406030204" pitchFamily="18" charset="0"/>
                        </a:rPr>
                        <m:t>𝑖</m:t>
                      </m:r>
                      <m:r>
                        <a:rPr lang="pt-BR" sz="2000" b="0" i="1" smtClean="0">
                          <a:latin typeface="Cambria Math" panose="02040503050406030204" pitchFamily="18" charset="0"/>
                        </a:rPr>
                        <m:t>+1)</m:t>
                      </m:r>
                      <m:r>
                        <a:rPr lang="pt-BR" sz="2000" b="0" i="0" smtClean="0">
                          <a:latin typeface="Cambria Math" panose="02040503050406030204" pitchFamily="18" charset="0"/>
                        </a:rPr>
                        <m:t>=</m:t>
                      </m:r>
                      <m:r>
                        <a:rPr lang="pt-BR" sz="2000" b="1" i="1" smtClean="0">
                          <a:latin typeface="Cambria Math" panose="02040503050406030204" pitchFamily="18" charset="0"/>
                        </a:rPr>
                        <m:t>𝒂</m:t>
                      </m:r>
                      <m:r>
                        <a:rPr lang="pt-BR" sz="2000" b="0" i="1" smtClean="0">
                          <a:latin typeface="Cambria Math" panose="02040503050406030204" pitchFamily="18" charset="0"/>
                        </a:rPr>
                        <m:t>(</m:t>
                      </m:r>
                      <m:r>
                        <a:rPr lang="pt-BR" sz="2000" b="0" i="1" smtClean="0">
                          <a:latin typeface="Cambria Math" panose="02040503050406030204" pitchFamily="18" charset="0"/>
                        </a:rPr>
                        <m:t>𝑖</m:t>
                      </m:r>
                      <m:r>
                        <a:rPr lang="pt-BR" sz="2000" b="0" i="0" smtClean="0">
                          <a:latin typeface="Cambria Math" panose="02040503050406030204" pitchFamily="18" charset="0"/>
                        </a:rPr>
                        <m:t>)−</m:t>
                      </m:r>
                      <m:r>
                        <a:rPr lang="pt-BR" sz="2000" b="1" i="1" dirty="0">
                          <a:latin typeface="Cambria Math" panose="02040503050406030204" pitchFamily="18" charset="0"/>
                          <a:ea typeface="Cambria Math" panose="02040503050406030204" pitchFamily="18" charset="0"/>
                        </a:rPr>
                        <m:t>𝜶</m:t>
                      </m:r>
                      <m:r>
                        <a:rPr lang="pt-BR" sz="2000" b="0" i="1" dirty="0" smtClean="0">
                          <a:latin typeface="Cambria Math" panose="02040503050406030204" pitchFamily="18" charset="0"/>
                          <a:ea typeface="Cambria Math" panose="02040503050406030204" pitchFamily="18" charset="0"/>
                        </a:rPr>
                        <m:t>(</m:t>
                      </m:r>
                      <m:r>
                        <a:rPr lang="pt-BR" sz="2000" b="0" i="1" dirty="0" smtClean="0">
                          <a:latin typeface="Cambria Math" panose="02040503050406030204" pitchFamily="18" charset="0"/>
                          <a:ea typeface="Cambria Math" panose="02040503050406030204" pitchFamily="18" charset="0"/>
                        </a:rPr>
                        <m:t>𝑖</m:t>
                      </m:r>
                      <m:r>
                        <a:rPr lang="pt-BR" sz="2000" b="0" i="1" dirty="0" smtClean="0">
                          <a:latin typeface="Cambria Math" panose="02040503050406030204" pitchFamily="18" charset="0"/>
                          <a:ea typeface="Cambria Math" panose="02040503050406030204" pitchFamily="18" charset="0"/>
                        </a:rPr>
                        <m:t>)</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r>
                            <a:rPr lang="pt-BR" sz="2000" b="1" i="1" smtClean="0">
                              <a:latin typeface="Cambria Math" panose="02040503050406030204" pitchFamily="18" charset="0"/>
                            </a:rPr>
                            <m:t>𝒂</m:t>
                          </m:r>
                          <m:r>
                            <a:rPr lang="pt-BR" sz="2000" b="0" i="1" smtClean="0">
                              <a:latin typeface="Cambria Math" panose="02040503050406030204" pitchFamily="18" charset="0"/>
                            </a:rPr>
                            <m:t>(</m:t>
                          </m:r>
                          <m:r>
                            <a:rPr lang="pt-BR" sz="2000" b="0" i="1" smtClean="0">
                              <a:latin typeface="Cambria Math" panose="02040503050406030204" pitchFamily="18" charset="0"/>
                            </a:rPr>
                            <m:t>𝑖</m:t>
                          </m:r>
                          <m:r>
                            <a:rPr lang="pt-BR" sz="2000" b="0" i="1" smtClean="0">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7" name="CaixaDeTexto 6">
                <a:extLst>
                  <a:ext uri="{FF2B5EF4-FFF2-40B4-BE49-F238E27FC236}">
                    <a16:creationId xmlns:a16="http://schemas.microsoft.com/office/drawing/2014/main" id="{BDB93DF7-591B-3B8F-3372-DBAB944CDC4D}"/>
                  </a:ext>
                </a:extLst>
              </p:cNvPr>
              <p:cNvSpPr txBox="1">
                <a:spLocks noRot="1" noChangeAspect="1" noMove="1" noResize="1" noEditPoints="1" noAdjustHandles="1" noChangeArrowheads="1" noChangeShapeType="1" noTextEdit="1"/>
              </p:cNvSpPr>
              <p:nvPr/>
            </p:nvSpPr>
            <p:spPr>
              <a:xfrm>
                <a:off x="525381" y="5696662"/>
                <a:ext cx="4422169" cy="678584"/>
              </a:xfrm>
              <a:prstGeom prst="rect">
                <a:avLst/>
              </a:prstGeom>
              <a:blipFill>
                <a:blip r:embed="rId4"/>
                <a:stretch>
                  <a:fillRect/>
                </a:stretch>
              </a:blipFill>
            </p:spPr>
            <p:txBody>
              <a:bodyPr/>
              <a:lstStyle/>
              <a:p>
                <a:r>
                  <a:rPr lang="en-US">
                    <a:noFill/>
                  </a:rPr>
                  <a:t> </a:t>
                </a:r>
              </a:p>
            </p:txBody>
          </p:sp>
        </mc:Fallback>
      </mc:AlternateContent>
      <p:sp>
        <p:nvSpPr>
          <p:cNvPr id="9" name="CaixaDeTexto 8">
            <a:extLst>
              <a:ext uri="{FF2B5EF4-FFF2-40B4-BE49-F238E27FC236}">
                <a16:creationId xmlns:a16="http://schemas.microsoft.com/office/drawing/2014/main" id="{1E2F2899-FF44-EB88-8285-1EE67ECD29DB}"/>
              </a:ext>
            </a:extLst>
          </p:cNvPr>
          <p:cNvSpPr txBox="1"/>
          <p:nvPr/>
        </p:nvSpPr>
        <p:spPr>
          <a:xfrm>
            <a:off x="525381" y="2208430"/>
            <a:ext cx="4524370" cy="369332"/>
          </a:xfrm>
          <a:prstGeom prst="rect">
            <a:avLst/>
          </a:prstGeom>
          <a:noFill/>
        </p:spPr>
        <p:txBody>
          <a:bodyPr wrap="square">
            <a:spAutoFit/>
          </a:bodyPr>
          <a:lstStyle/>
          <a:p>
            <a:pPr algn="ctr"/>
            <a:r>
              <a:rPr lang="pt-BR" b="1" dirty="0"/>
              <a:t>T</a:t>
            </a:r>
            <a:r>
              <a:rPr lang="pt-BR" b="1" i="0" dirty="0">
                <a:effectLst/>
              </a:rPr>
              <a:t>axa constante</a:t>
            </a:r>
            <a:endParaRPr lang="pt-BR" b="1" dirty="0"/>
          </a:p>
        </p:txBody>
      </p:sp>
      <p:sp>
        <p:nvSpPr>
          <p:cNvPr id="11" name="CaixaDeTexto 10">
            <a:extLst>
              <a:ext uri="{FF2B5EF4-FFF2-40B4-BE49-F238E27FC236}">
                <a16:creationId xmlns:a16="http://schemas.microsoft.com/office/drawing/2014/main" id="{DD4A8F32-0764-6960-5419-91CC5586BB60}"/>
              </a:ext>
            </a:extLst>
          </p:cNvPr>
          <p:cNvSpPr txBox="1"/>
          <p:nvPr/>
        </p:nvSpPr>
        <p:spPr>
          <a:xfrm>
            <a:off x="525381" y="3772448"/>
            <a:ext cx="4524370" cy="369332"/>
          </a:xfrm>
          <a:prstGeom prst="rect">
            <a:avLst/>
          </a:prstGeom>
          <a:noFill/>
        </p:spPr>
        <p:txBody>
          <a:bodyPr wrap="square">
            <a:spAutoFit/>
          </a:bodyPr>
          <a:lstStyle/>
          <a:p>
            <a:pPr algn="ctr"/>
            <a:r>
              <a:rPr lang="pt-BR" b="1" dirty="0"/>
              <a:t>D</a:t>
            </a:r>
            <a:r>
              <a:rPr lang="pt-BR" b="1" i="0" dirty="0">
                <a:effectLst/>
              </a:rPr>
              <a:t>ecaimento linear e exponencial</a:t>
            </a:r>
            <a:endParaRPr lang="pt-BR" b="1" dirty="0"/>
          </a:p>
        </p:txBody>
      </p:sp>
      <p:sp>
        <p:nvSpPr>
          <p:cNvPr id="13" name="CaixaDeTexto 12">
            <a:extLst>
              <a:ext uri="{FF2B5EF4-FFF2-40B4-BE49-F238E27FC236}">
                <a16:creationId xmlns:a16="http://schemas.microsoft.com/office/drawing/2014/main" id="{8B8ED506-6B67-FE15-B7CB-D0F78A6846B0}"/>
              </a:ext>
            </a:extLst>
          </p:cNvPr>
          <p:cNvSpPr txBox="1"/>
          <p:nvPr/>
        </p:nvSpPr>
        <p:spPr>
          <a:xfrm>
            <a:off x="525381" y="5327330"/>
            <a:ext cx="4406218" cy="369332"/>
          </a:xfrm>
          <a:prstGeom prst="rect">
            <a:avLst/>
          </a:prstGeom>
          <a:noFill/>
        </p:spPr>
        <p:txBody>
          <a:bodyPr wrap="square">
            <a:spAutoFit/>
          </a:bodyPr>
          <a:lstStyle/>
          <a:p>
            <a:pPr algn="ctr"/>
            <a:r>
              <a:rPr lang="pt-BR" b="1" dirty="0"/>
              <a:t>A</a:t>
            </a:r>
            <a:r>
              <a:rPr lang="pt-BR" b="1" i="0" dirty="0">
                <a:effectLst/>
              </a:rPr>
              <a:t>daptação automática</a:t>
            </a:r>
            <a:endParaRPr lang="pt-BR" b="1" dirty="0"/>
          </a:p>
        </p:txBody>
      </p:sp>
      <p:sp>
        <p:nvSpPr>
          <p:cNvPr id="4" name="CaixaDeTexto 3">
            <a:extLst>
              <a:ext uri="{FF2B5EF4-FFF2-40B4-BE49-F238E27FC236}">
                <a16:creationId xmlns:a16="http://schemas.microsoft.com/office/drawing/2014/main" id="{78F7AA6B-BD2A-A2E7-3F9D-C00C7009CA72}"/>
              </a:ext>
            </a:extLst>
          </p:cNvPr>
          <p:cNvSpPr txBox="1"/>
          <p:nvPr/>
        </p:nvSpPr>
        <p:spPr>
          <a:xfrm>
            <a:off x="3064967" y="6396335"/>
            <a:ext cx="1984783" cy="461665"/>
          </a:xfrm>
          <a:prstGeom prst="rect">
            <a:avLst/>
          </a:prstGeom>
          <a:noFill/>
        </p:spPr>
        <p:txBody>
          <a:bodyPr wrap="square" rtlCol="0">
            <a:spAutoFit/>
          </a:bodyPr>
          <a:lstStyle/>
          <a:p>
            <a:pPr algn="ctr"/>
            <a:r>
              <a:rPr lang="pt-BR" sz="1200" dirty="0"/>
              <a:t>Um passo por elemento do vetor gradiente</a:t>
            </a:r>
          </a:p>
        </p:txBody>
      </p:sp>
      <p:cxnSp>
        <p:nvCxnSpPr>
          <p:cNvPr id="10" name="Conector de Seta Reta 9">
            <a:extLst>
              <a:ext uri="{FF2B5EF4-FFF2-40B4-BE49-F238E27FC236}">
                <a16:creationId xmlns:a16="http://schemas.microsoft.com/office/drawing/2014/main" id="{F1A23D85-24F0-16CF-3C02-31EFEBE7B17B}"/>
              </a:ext>
            </a:extLst>
          </p:cNvPr>
          <p:cNvCxnSpPr>
            <a:cxnSpLocks/>
          </p:cNvCxnSpPr>
          <p:nvPr/>
        </p:nvCxnSpPr>
        <p:spPr>
          <a:xfrm>
            <a:off x="3064968" y="6189551"/>
            <a:ext cx="417973" cy="30332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67300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CBC1B99C-52BB-79A2-FE2C-F9490FF76F6E}"/>
              </a:ext>
            </a:extLst>
          </p:cNvPr>
          <p:cNvSpPr>
            <a:spLocks noGrp="1"/>
          </p:cNvSpPr>
          <p:nvPr>
            <p:ph idx="1"/>
          </p:nvPr>
        </p:nvSpPr>
        <p:spPr>
          <a:xfrm>
            <a:off x="5938463" y="1825624"/>
            <a:ext cx="6128288" cy="5032375"/>
          </a:xfrm>
        </p:spPr>
        <p:txBody>
          <a:bodyPr>
            <a:normAutofit/>
          </a:bodyPr>
          <a:lstStyle/>
          <a:p>
            <a:pPr algn="l"/>
            <a:r>
              <a:rPr lang="pt-BR" b="0" i="0" dirty="0">
                <a:effectLst/>
              </a:rPr>
              <a:t>Esse </a:t>
            </a:r>
            <a:r>
              <a:rPr lang="pt-BR" b="1" i="1" dirty="0">
                <a:effectLst/>
              </a:rPr>
              <a:t>processo iterativo de otimização</a:t>
            </a:r>
            <a:r>
              <a:rPr lang="pt-BR" b="0" i="0" dirty="0">
                <a:effectLst/>
              </a:rPr>
              <a:t> que discutimos até agora é chamado de </a:t>
            </a:r>
            <a:r>
              <a:rPr lang="pt-BR" b="1" i="1" dirty="0">
                <a:effectLst/>
              </a:rPr>
              <a:t>gradiente descendente (GD)</a:t>
            </a:r>
            <a:r>
              <a:rPr lang="pt-BR" b="0" i="0" dirty="0">
                <a:effectLst/>
              </a:rPr>
              <a:t>.</a:t>
            </a:r>
          </a:p>
          <a:p>
            <a:r>
              <a:rPr lang="pt-BR" b="0" i="0" dirty="0">
                <a:effectLst/>
              </a:rPr>
              <a:t>Ele está por trás do aprendizado de vários algoritmos de ML: regressão linear, regressão logística, redes neurais em geral, máquinas de vetores de suporte, aprendizado por reforço, etc.</a:t>
            </a:r>
          </a:p>
          <a:p>
            <a:r>
              <a:rPr lang="pt-BR" dirty="0"/>
              <a:t>Como veremos, o GD pode ser implementado de </a:t>
            </a:r>
            <a:r>
              <a:rPr lang="pt-BR" b="1" i="1" dirty="0">
                <a:solidFill>
                  <a:srgbClr val="00B050"/>
                </a:solidFill>
              </a:rPr>
              <a:t>3 formas diferentes dependendo de como calculamos o vetor gradiente</a:t>
            </a:r>
            <a:r>
              <a:rPr lang="pt-BR" dirty="0"/>
              <a:t>.</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86893" y="1825624"/>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086032"/>
                <a:ext cx="5713136" cy="1037335"/>
              </a:xfrm>
              <a:prstGeom prst="rect">
                <a:avLst/>
              </a:prstGeom>
              <a:ln>
                <a:solidFill>
                  <a:schemeClr val="tx1"/>
                </a:solidFill>
              </a:ln>
            </p:spPr>
            <p:txBody>
              <a:bodyPr wrap="square">
                <a:spAutoFit/>
              </a:bodyPr>
              <a:lstStyle/>
              <a:p>
                <a14:m>
                  <m:oMath xmlns:m="http://schemas.openxmlformats.org/officeDocument/2006/math">
                    <m:r>
                      <a:rPr lang="pt-BR" sz="1600" b="1" i="1" smtClean="0">
                        <a:latin typeface="Cambria Math" panose="02040503050406030204" pitchFamily="18" charset="0"/>
                      </a:rPr>
                      <m:t>𝒂</m:t>
                    </m:r>
                    <m:r>
                      <a:rPr lang="pt-BR" sz="1600" b="1" i="1" smtClean="0">
                        <a:latin typeface="Cambria Math" panose="02040503050406030204" pitchFamily="18" charset="0"/>
                      </a:rPr>
                      <m:t> </m:t>
                    </m:r>
                  </m:oMath>
                </a14:m>
                <a:r>
                  <a:rPr lang="en-US" sz="1600" b="1" dirty="0"/>
                  <a:t> </a:t>
                </a:r>
                <a14:m>
                  <m:oMath xmlns:m="http://schemas.openxmlformats.org/officeDocument/2006/math">
                    <m:r>
                      <a:rPr lang="en-US" sz="1600" b="1" i="1" dirty="0">
                        <a:latin typeface="Cambria Math" panose="02040503050406030204" pitchFamily="18" charset="0"/>
                        <a:ea typeface="Cambria Math" panose="02040503050406030204" pitchFamily="18" charset="0"/>
                      </a:rPr>
                      <m:t>←</m:t>
                    </m:r>
                    <m:r>
                      <m:rPr>
                        <m:sty m:val="p"/>
                      </m:rPr>
                      <a:rPr lang="en-US" sz="1600" dirty="0">
                        <a:latin typeface="Cambria Math" panose="02040503050406030204" pitchFamily="18" charset="0"/>
                        <a:ea typeface="Cambria Math" panose="02040503050406030204" pitchFamily="18" charset="0"/>
                      </a:rPr>
                      <m:t>inicializa</m:t>
                    </m:r>
                    <m:r>
                      <a:rPr lang="en-US" sz="1600" dirty="0">
                        <a:latin typeface="Cambria Math" panose="02040503050406030204" pitchFamily="18" charset="0"/>
                        <a:ea typeface="Cambria Math" panose="02040503050406030204" pitchFamily="18" charset="0"/>
                      </a:rPr>
                      <m:t> </m:t>
                    </m:r>
                    <m:r>
                      <m:rPr>
                        <m:sty m:val="p"/>
                      </m:rPr>
                      <a:rPr lang="en-US" sz="1600" dirty="0">
                        <a:latin typeface="Cambria Math" panose="02040503050406030204" pitchFamily="18" charset="0"/>
                        <a:ea typeface="Cambria Math" panose="02040503050406030204" pitchFamily="18" charset="0"/>
                      </a:rPr>
                      <m:t>em</m:t>
                    </m:r>
                    <m:r>
                      <a:rPr lang="en-US" sz="1600" dirty="0">
                        <a:latin typeface="Cambria Math" panose="02040503050406030204" pitchFamily="18" charset="0"/>
                        <a:ea typeface="Cambria Math" panose="02040503050406030204" pitchFamily="18" charset="0"/>
                      </a:rPr>
                      <m:t> </m:t>
                    </m:r>
                    <m:r>
                      <m:rPr>
                        <m:sty m:val="p"/>
                      </m:rPr>
                      <a:rPr lang="pt-BR" sz="1600" dirty="0">
                        <a:latin typeface="Cambria Math" panose="02040503050406030204" pitchFamily="18" charset="0"/>
                        <a:ea typeface="Cambria Math" panose="02040503050406030204" pitchFamily="18" charset="0"/>
                      </a:rPr>
                      <m:t>um</m:t>
                    </m:r>
                    <m:r>
                      <a:rPr lang="pt-BR" sz="1600" dirty="0">
                        <a:latin typeface="Cambria Math" panose="02040503050406030204" pitchFamily="18" charset="0"/>
                        <a:ea typeface="Cambria Math" panose="02040503050406030204" pitchFamily="18" charset="0"/>
                      </a:rPr>
                      <m:t> </m:t>
                    </m:r>
                    <m:r>
                      <m:rPr>
                        <m:sty m:val="p"/>
                      </m:rPr>
                      <a:rPr lang="pt-BR" sz="1600" dirty="0">
                        <a:latin typeface="Cambria Math" panose="02040503050406030204" pitchFamily="18" charset="0"/>
                        <a:ea typeface="Cambria Math" panose="02040503050406030204" pitchFamily="18" charset="0"/>
                      </a:rPr>
                      <m:t>ponto</m:t>
                    </m:r>
                    <m:r>
                      <a:rPr lang="pt-BR" sz="1600" dirty="0">
                        <a:latin typeface="Cambria Math" panose="02040503050406030204" pitchFamily="18" charset="0"/>
                        <a:ea typeface="Cambria Math" panose="02040503050406030204" pitchFamily="18" charset="0"/>
                      </a:rPr>
                      <m:t> </m:t>
                    </m:r>
                    <m:r>
                      <m:rPr>
                        <m:sty m:val="p"/>
                      </m:rPr>
                      <a:rPr lang="pt-BR" sz="1600" dirty="0">
                        <a:latin typeface="Cambria Math" panose="02040503050406030204" pitchFamily="18" charset="0"/>
                        <a:ea typeface="Cambria Math" panose="02040503050406030204" pitchFamily="18" charset="0"/>
                      </a:rPr>
                      <m:t>qualquer</m:t>
                    </m:r>
                    <m:r>
                      <a:rPr lang="pt-BR" sz="1600" dirty="0">
                        <a:latin typeface="Cambria Math" panose="02040503050406030204" pitchFamily="18" charset="0"/>
                        <a:ea typeface="Cambria Math" panose="02040503050406030204" pitchFamily="18" charset="0"/>
                      </a:rPr>
                      <m:t> </m:t>
                    </m:r>
                    <m:r>
                      <m:rPr>
                        <m:sty m:val="p"/>
                      </m:rPr>
                      <a:rPr lang="pt-BR" sz="1600" dirty="0">
                        <a:latin typeface="Cambria Math" panose="02040503050406030204" pitchFamily="18" charset="0"/>
                        <a:ea typeface="Cambria Math" panose="02040503050406030204" pitchFamily="18" charset="0"/>
                      </a:rPr>
                      <m:t>do</m:t>
                    </m:r>
                    <m:r>
                      <a:rPr lang="pt-BR" sz="1600" dirty="0">
                        <a:latin typeface="Cambria Math" panose="02040503050406030204" pitchFamily="18" charset="0"/>
                        <a:ea typeface="Cambria Math" panose="02040503050406030204" pitchFamily="18" charset="0"/>
                      </a:rPr>
                      <m:t> </m:t>
                    </m:r>
                    <m:r>
                      <m:rPr>
                        <m:sty m:val="p"/>
                      </m:rPr>
                      <a:rPr lang="pt-BR" sz="1600" dirty="0">
                        <a:latin typeface="Cambria Math" panose="02040503050406030204" pitchFamily="18" charset="0"/>
                        <a:ea typeface="Cambria Math" panose="02040503050406030204" pitchFamily="18" charset="0"/>
                      </a:rPr>
                      <m:t>espa</m:t>
                    </m:r>
                    <m:r>
                      <a:rPr lang="pt-BR" sz="1600" dirty="0">
                        <a:latin typeface="Cambria Math" panose="02040503050406030204" pitchFamily="18" charset="0"/>
                        <a:ea typeface="Cambria Math" panose="02040503050406030204" pitchFamily="18" charset="0"/>
                      </a:rPr>
                      <m:t>ç</m:t>
                    </m:r>
                    <m:r>
                      <m:rPr>
                        <m:sty m:val="p"/>
                      </m:rPr>
                      <a:rPr lang="pt-BR" sz="1600" dirty="0">
                        <a:latin typeface="Cambria Math" panose="02040503050406030204" pitchFamily="18" charset="0"/>
                        <a:ea typeface="Cambria Math" panose="02040503050406030204" pitchFamily="18" charset="0"/>
                      </a:rPr>
                      <m:t>o</m:t>
                    </m:r>
                    <m:r>
                      <a:rPr lang="pt-BR" sz="1600" dirty="0">
                        <a:latin typeface="Cambria Math" panose="02040503050406030204" pitchFamily="18" charset="0"/>
                        <a:ea typeface="Cambria Math" panose="02040503050406030204" pitchFamily="18" charset="0"/>
                      </a:rPr>
                      <m:t> </m:t>
                    </m:r>
                    <m:r>
                      <m:rPr>
                        <m:sty m:val="p"/>
                      </m:rPr>
                      <a:rPr lang="pt-BR" sz="1600" dirty="0">
                        <a:latin typeface="Cambria Math" panose="02040503050406030204" pitchFamily="18" charset="0"/>
                        <a:ea typeface="Cambria Math" panose="02040503050406030204" pitchFamily="18" charset="0"/>
                      </a:rPr>
                      <m:t>de</m:t>
                    </m:r>
                    <m:r>
                      <a:rPr lang="pt-BR" sz="1600" dirty="0">
                        <a:latin typeface="Cambria Math" panose="02040503050406030204" pitchFamily="18" charset="0"/>
                        <a:ea typeface="Cambria Math" panose="02040503050406030204" pitchFamily="18" charset="0"/>
                      </a:rPr>
                      <m:t> </m:t>
                    </m:r>
                    <m:r>
                      <m:rPr>
                        <m:sty m:val="p"/>
                      </m:rPr>
                      <a:rPr lang="pt-BR" sz="1600" b="0" i="0" dirty="0" smtClean="0">
                        <a:latin typeface="Cambria Math" panose="02040503050406030204" pitchFamily="18" charset="0"/>
                        <a:ea typeface="Cambria Math" panose="02040503050406030204" pitchFamily="18" charset="0"/>
                      </a:rPr>
                      <m:t>pesos</m:t>
                    </m:r>
                  </m:oMath>
                </a14:m>
                <a:endParaRPr lang="pt-BR" sz="1600" b="0" dirty="0">
                  <a:ea typeface="Cambria Math" panose="02040503050406030204" pitchFamily="18" charset="0"/>
                </a:endParaRPr>
              </a:p>
              <a:p>
                <a:r>
                  <a:rPr lang="pt-BR" sz="1600" b="1" dirty="0">
                    <a:latin typeface="Cambria Math" panose="02040503050406030204" pitchFamily="18" charset="0"/>
                    <a:ea typeface="Cambria Math" panose="02040503050406030204" pitchFamily="18" charset="0"/>
                  </a:rPr>
                  <a:t>loop até </a:t>
                </a:r>
                <a:r>
                  <a:rPr lang="pt-BR" sz="1600" dirty="0">
                    <a:latin typeface="Cambria Math" panose="02040503050406030204" pitchFamily="18" charset="0"/>
                    <a:ea typeface="Cambria Math" panose="02040503050406030204" pitchFamily="18" charset="0"/>
                  </a:rPr>
                  <a:t>convergir </a:t>
                </a:r>
                <a:r>
                  <a:rPr lang="pt-BR" sz="1600" b="1" dirty="0">
                    <a:latin typeface="Cambria Math" panose="02040503050406030204" pitchFamily="18" charset="0"/>
                    <a:ea typeface="Cambria Math" panose="02040503050406030204" pitchFamily="18" charset="0"/>
                  </a:rPr>
                  <a:t>ou </a:t>
                </a:r>
                <a:r>
                  <a:rPr lang="pt-BR" sz="1600" dirty="0">
                    <a:latin typeface="Cambria Math" panose="02040503050406030204" pitchFamily="18" charset="0"/>
                    <a:ea typeface="Cambria Math" panose="02040503050406030204" pitchFamily="18" charset="0"/>
                  </a:rPr>
                  <a:t>atingir o número máximo de iterações </a:t>
                </a:r>
                <a:r>
                  <a:rPr lang="pt-BR" sz="1600" b="1" dirty="0">
                    <a:latin typeface="Cambria Math" panose="02040503050406030204" pitchFamily="18" charset="0"/>
                    <a:ea typeface="Cambria Math" panose="02040503050406030204" pitchFamily="18" charset="0"/>
                  </a:rPr>
                  <a:t>do</a:t>
                </a:r>
              </a:p>
              <a:p>
                <a:r>
                  <a:rPr lang="en-US" sz="2000" dirty="0"/>
                  <a:t>	</a:t>
                </a:r>
                <a14:m>
                  <m:oMath xmlns:m="http://schemas.openxmlformats.org/officeDocument/2006/math">
                    <m:r>
                      <a:rPr lang="pt-BR" sz="2000" b="1" i="1">
                        <a:latin typeface="Cambria Math" panose="02040503050406030204" pitchFamily="18" charset="0"/>
                      </a:rPr>
                      <m:t>𝒂</m:t>
                    </m:r>
                    <m:r>
                      <a:rPr lang="en-US" sz="2000" b="1"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𝛼</m:t>
                    </m:r>
                    <m:f>
                      <m:fPr>
                        <m:ctrlPr>
                          <a:rPr lang="pt-BR" sz="2000" i="1" smtClean="0">
                            <a:latin typeface="Cambria Math" panose="02040503050406030204" pitchFamily="18" charset="0"/>
                            <a:ea typeface="Cambria Math" panose="02040503050406030204" pitchFamily="18" charset="0"/>
                          </a:rPr>
                        </m:ctrlPr>
                      </m:fPr>
                      <m:num>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num>
                      <m:den>
                        <m:r>
                          <a:rPr lang="pt-BR" sz="2000" i="1" smtClean="0">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den>
                    </m:f>
                  </m:oMath>
                </a14:m>
                <a:r>
                  <a:rPr lang="nl-BE" sz="2000" dirty="0"/>
                  <a:t> </a:t>
                </a:r>
                <a:r>
                  <a:rPr lang="nl-BE" sz="1600" dirty="0"/>
                  <a:t>(</a:t>
                </a:r>
                <a:r>
                  <a:rPr lang="nl-BE" sz="1600" b="1" i="1" dirty="0">
                    <a:solidFill>
                      <a:srgbClr val="00B0F0"/>
                    </a:solidFill>
                  </a:rPr>
                  <a:t>eq. de atualização dos pesos</a:t>
                </a:r>
                <a:r>
                  <a:rPr lang="nl-BE" sz="1600"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086032"/>
                <a:ext cx="5713136" cy="1037335"/>
              </a:xfrm>
              <a:prstGeom prst="rect">
                <a:avLst/>
              </a:prstGeom>
              <a:blipFill>
                <a:blip r:embed="rId3"/>
                <a:stretch>
                  <a:fillRect l="-426"/>
                </a:stretch>
              </a:blipFill>
              <a:ln>
                <a:solidFill>
                  <a:schemeClr val="tx1"/>
                </a:solidFill>
              </a:ln>
            </p:spPr>
            <p:txBody>
              <a:bodyPr/>
              <a:lstStyle/>
              <a:p>
                <a:r>
                  <a:rPr lang="pt-BR">
                    <a:noFill/>
                  </a:rPr>
                  <a:t> </a:t>
                </a:r>
              </a:p>
            </p:txBody>
          </p:sp>
        </mc:Fallback>
      </mc:AlternateContent>
    </p:spTree>
    <p:extLst>
      <p:ext uri="{BB962C8B-B14F-4D97-AF65-F5344CB8AC3E}">
        <p14:creationId xmlns:p14="http://schemas.microsoft.com/office/powerpoint/2010/main" val="59476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4C256-67E9-87B6-BEB4-E1C4381ABF9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F5BFF62-1086-E1C4-7E4C-D48AB8AEFD5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6F75BE-92B0-78C0-4EF8-0FB67C1B5D49}"/>
                  </a:ext>
                </a:extLst>
              </p:cNvPr>
              <p:cNvSpPr>
                <a:spLocks noGrp="1"/>
              </p:cNvSpPr>
              <p:nvPr>
                <p:ph idx="1"/>
              </p:nvPr>
            </p:nvSpPr>
            <p:spPr>
              <a:xfrm>
                <a:off x="838200" y="1825624"/>
                <a:ext cx="10983686" cy="5032375"/>
              </a:xfrm>
            </p:spPr>
            <p:txBody>
              <a:bodyPr/>
              <a:lstStyle/>
              <a:p>
                <a:r>
                  <a:rPr lang="pt-BR" dirty="0"/>
                  <a:t>Para entendermos as 3 versões do GD, vamos primeiro encontrar o vetor gradiente, </a:t>
                </a:r>
                <a14:m>
                  <m:oMath xmlns:m="http://schemas.openxmlformats.org/officeDocument/2006/math">
                    <m:f>
                      <m:fPr>
                        <m:ctrlPr>
                          <a:rPr lang="pt-BR" sz="2800" i="1" smtClean="0">
                            <a:latin typeface="Cambria Math" panose="02040503050406030204" pitchFamily="18" charset="0"/>
                            <a:ea typeface="Cambria Math" panose="02040503050406030204" pitchFamily="18" charset="0"/>
                          </a:rPr>
                        </m:ctrlPr>
                      </m:fPr>
                      <m:num>
                        <m:r>
                          <a:rPr lang="pt-BR" sz="2800" i="1" smtClean="0">
                            <a:latin typeface="Cambria Math" panose="02040503050406030204" pitchFamily="18" charset="0"/>
                            <a:ea typeface="Cambria Math" panose="02040503050406030204" pitchFamily="18" charset="0"/>
                          </a:rPr>
                          <m:t>𝜕</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𝐽</m:t>
                            </m:r>
                          </m:e>
                          <m:sub>
                            <m:r>
                              <a:rPr lang="pt-BR" sz="2800" i="1">
                                <a:latin typeface="Cambria Math" panose="02040503050406030204" pitchFamily="18" charset="0"/>
                                <a:ea typeface="Cambria Math" panose="02040503050406030204" pitchFamily="18" charset="0"/>
                              </a:rPr>
                              <m:t>𝑒</m:t>
                            </m:r>
                          </m:sub>
                        </m:sSub>
                        <m:r>
                          <a:rPr lang="pt-BR" sz="2800" i="1">
                            <a:latin typeface="Cambria Math" panose="02040503050406030204" pitchFamily="18" charset="0"/>
                            <a:ea typeface="Cambria Math" panose="02040503050406030204" pitchFamily="18" charset="0"/>
                          </a:rPr>
                          <m:t>(</m:t>
                        </m:r>
                        <m:r>
                          <a:rPr lang="pt-BR" sz="2800" b="1" i="1">
                            <a:latin typeface="Cambria Math" panose="02040503050406030204" pitchFamily="18" charset="0"/>
                            <a:ea typeface="Cambria Math" panose="02040503050406030204" pitchFamily="18" charset="0"/>
                          </a:rPr>
                          <m:t>𝒂</m:t>
                        </m:r>
                        <m:r>
                          <a:rPr lang="pt-BR" sz="2800" i="1">
                            <a:latin typeface="Cambria Math" panose="02040503050406030204" pitchFamily="18" charset="0"/>
                            <a:ea typeface="Cambria Math" panose="02040503050406030204" pitchFamily="18" charset="0"/>
                          </a:rPr>
                          <m:t>)</m:t>
                        </m:r>
                      </m:num>
                      <m:den>
                        <m:r>
                          <a:rPr lang="pt-BR" sz="2800" i="1" smtClean="0">
                            <a:latin typeface="Cambria Math" panose="02040503050406030204" pitchFamily="18" charset="0"/>
                            <a:ea typeface="Cambria Math" panose="02040503050406030204" pitchFamily="18" charset="0"/>
                          </a:rPr>
                          <m:t>𝜕</m:t>
                        </m:r>
                        <m:r>
                          <a:rPr lang="pt-BR" sz="2800" b="1" i="1">
                            <a:latin typeface="Cambria Math" panose="02040503050406030204" pitchFamily="18" charset="0"/>
                          </a:rPr>
                          <m:t>𝒂</m:t>
                        </m:r>
                      </m:den>
                    </m:f>
                  </m:oMath>
                </a14:m>
                <a:r>
                  <a:rPr lang="pt-BR" dirty="0"/>
                  <a:t>, e substituí-lo na equação de atualização dos pesos.</a:t>
                </a:r>
              </a:p>
              <a:p>
                <a:r>
                  <a:rPr lang="pt-BR" dirty="0"/>
                  <a:t>Considerando o EQM como função de erro e a seguinte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𝐾</m:t>
                          </m:r>
                        </m:sup>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𝑖</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𝐾</m:t>
                    </m:r>
                  </m:oMath>
                </a14:m>
                <a:r>
                  <a:rPr lang="pt-BR" dirty="0"/>
                  <a:t> é o número de entradas (chamadas de </a:t>
                </a:r>
                <a:r>
                  <a:rPr lang="pt-BR" b="1" i="1" dirty="0"/>
                  <a:t>atributos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𝑖</m:t>
                    </m:r>
                  </m:oMath>
                </a14:m>
                <a:r>
                  <a:rPr lang="pt-BR" dirty="0"/>
                  <a:t> são os pesos e entradas da função, respectivamente,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r>
                      <a:rPr lang="pt-BR" b="0" i="1" smtClean="0">
                        <a:latin typeface="Cambria Math" panose="02040503050406030204" pitchFamily="18" charset="0"/>
                      </a:rPr>
                      <m:t>=1</m:t>
                    </m:r>
                  </m:oMath>
                </a14:m>
                <a:r>
                  <a:rPr lang="pt-BR" dirty="0"/>
                  <a:t> (</a:t>
                </a:r>
                <a:r>
                  <a:rPr lang="pt-BR" b="1" i="1" dirty="0"/>
                  <a:t>atributo de bias</a:t>
                </a:r>
                <a:r>
                  <a:rPr lang="pt-BR" dirty="0"/>
                  <a:t>) e </a:t>
                </a:r>
                <a14:m>
                  <m:oMath xmlns:m="http://schemas.openxmlformats.org/officeDocument/2006/math">
                    <m:r>
                      <a:rPr lang="pt-BR" b="1" i="1">
                        <a:latin typeface="Cambria Math" panose="02040503050406030204" pitchFamily="18" charset="0"/>
                      </a:rPr>
                      <m:t>𝒂</m:t>
                    </m:r>
                  </m:oMath>
                </a14:m>
                <a:r>
                  <a:rPr lang="pt-BR" dirty="0"/>
                  <a:t> e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são vetores coluna com todos os pesos e entradas, respectivamente.</a:t>
                </a:r>
              </a:p>
              <a:p>
                <a:r>
                  <a:rPr lang="pt-BR" dirty="0"/>
                  <a:t>Agora podemos encontrar o vetor gradiente.</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BC309D38-8A49-3EA1-A804-53619DB2A0A7}"/>
                  </a:ext>
                </a:extLst>
              </p:cNvPr>
              <p:cNvSpPr>
                <a:spLocks noGrp="1" noRot="1" noChangeAspect="1" noMove="1" noResize="1" noEditPoints="1" noAdjustHandles="1" noChangeArrowheads="1" noChangeShapeType="1" noTextEdit="1"/>
              </p:cNvSpPr>
              <p:nvPr>
                <p:ph idx="1"/>
              </p:nvPr>
            </p:nvSpPr>
            <p:spPr>
              <a:xfrm>
                <a:off x="838200" y="1825624"/>
                <a:ext cx="10983686" cy="5032375"/>
              </a:xfrm>
              <a:blipFill>
                <a:blip r:embed="rId2"/>
                <a:stretch>
                  <a:fillRect l="-1166" t="-1937" r="-1055"/>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id="{92D9B997-AF12-2B84-E07D-347B1165E183}"/>
              </a:ext>
            </a:extLst>
          </p:cNvPr>
          <p:cNvSpPr/>
          <p:nvPr/>
        </p:nvSpPr>
        <p:spPr>
          <a:xfrm rot="5400000">
            <a:off x="4900283" y="1962855"/>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8FFBEF8-FD51-2A8C-89D0-7A1E2E5B632F}"/>
              </a:ext>
            </a:extLst>
          </p:cNvPr>
          <p:cNvSpPr txBox="1"/>
          <p:nvPr/>
        </p:nvSpPr>
        <p:spPr>
          <a:xfrm>
            <a:off x="2804843" y="4223171"/>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295221372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777430"/>
                <a:ext cx="11223662" cy="5080570"/>
              </a:xfrm>
            </p:spPr>
            <p:txBody>
              <a:bodyPr>
                <a:normAutofit lnSpcReduction="10000"/>
              </a:bodyPr>
              <a:lstStyle/>
              <a:p>
                <a:r>
                  <a:rPr lang="pt-BR" dirty="0"/>
                  <a:t>O </a:t>
                </a:r>
                <a:r>
                  <a:rPr lang="pt-BR" b="1" i="1" dirty="0"/>
                  <a:t>vetor gradiente </a:t>
                </a:r>
                <a:r>
                  <a:rPr lang="pt-BR" dirty="0"/>
                  <a:t>da</a:t>
                </a:r>
                <a:r>
                  <a:rPr lang="pt-BR" b="1" i="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nary>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0" i="1" smtClean="0">
                          <a:latin typeface="Cambria Math" panose="02040503050406030204" pitchFamily="18" charset="0"/>
                        </a:rPr>
                        <m:t>,</m:t>
                      </m:r>
                    </m:oMath>
                  </m:oMathPara>
                </a14:m>
                <a:endParaRPr lang="pt-BR" dirty="0"/>
              </a:p>
              <a:p>
                <a:pPr marL="0" indent="0">
                  <a:buNone/>
                </a:pPr>
                <a:r>
                  <a:rPr lang="nl-BE" dirty="0"/>
                  <a:t>onde </a:t>
                </a:r>
                <a14:m>
                  <m:oMath xmlns:m="http://schemas.openxmlformats.org/officeDocument/2006/math">
                    <m:r>
                      <a:rPr lang="pt-BR" b="1" i="1" smtClean="0">
                        <a:latin typeface="Cambria Math" panose="02040503050406030204" pitchFamily="18" charset="0"/>
                      </a:rPr>
                      <m:t>𝑿</m:t>
                    </m:r>
                  </m:oMath>
                </a14:m>
                <a:r>
                  <a:rPr lang="nl-BE" dirty="0"/>
                  <a:t> 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r>
                  <a:rPr lang="nl-BE"/>
                  <a:t>Esse cálculo </a:t>
                </a:r>
                <a:r>
                  <a:rPr lang="nl-BE" dirty="0"/>
                  <a:t>pode ser diretamente estendido a polinômios.</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2"/>
                <a:stretch>
                  <a:fillRect l="-1086" t="-2761" b="-2761"/>
                </a:stretch>
              </a:blipFill>
            </p:spPr>
            <p:txBody>
              <a:bodyPr/>
              <a:lstStyle/>
              <a:p>
                <a:r>
                  <a:rPr lang="pt-BR">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i="1" dirty="0"/>
                  <a:t>vetor gradiente</a:t>
                </a:r>
                <a:r>
                  <a:rPr lang="pt-BR" dirty="0"/>
                  <a:t> na </a:t>
                </a:r>
                <a:r>
                  <a:rPr lang="pt-BR" b="1" i="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Podemos ter </a:t>
                </a:r>
                <a:r>
                  <a:rPr lang="pt-BR" b="1" i="1" dirty="0">
                    <a:solidFill>
                      <a:srgbClr val="00B050"/>
                    </a:solidFill>
                  </a:rPr>
                  <a:t>3 versões diferentes, dependendo da </a:t>
                </a:r>
                <a:r>
                  <a:rPr lang="pt-BR" b="1" i="1" dirty="0">
                    <a:solidFill>
                      <a:srgbClr val="FF0000"/>
                    </a:solidFill>
                  </a:rPr>
                  <a:t>quantidade de exemplos</a:t>
                </a:r>
                <a:r>
                  <a:rPr lang="pt-BR" dirty="0"/>
                  <a:t>, </a:t>
                </a:r>
                <a14:m>
                  <m:oMath xmlns:m="http://schemas.openxmlformats.org/officeDocument/2006/math">
                    <m:r>
                      <a:rPr lang="pt-BR" b="1" i="1" smtClean="0">
                        <a:solidFill>
                          <a:srgbClr val="7030A0"/>
                        </a:solidFill>
                        <a:latin typeface="Cambria Math" panose="02040503050406030204" pitchFamily="18" charset="0"/>
                      </a:rPr>
                      <m:t>𝑴</m:t>
                    </m:r>
                  </m:oMath>
                </a14:m>
                <a:r>
                  <a:rPr lang="pt-BR" dirty="0"/>
                  <a:t>, considerados no somatório acima:</a:t>
                </a:r>
              </a:p>
              <a:p>
                <a:pPr lvl="1">
                  <a:buFont typeface="Wingdings" panose="05000000000000000000" pitchFamily="2" charset="2"/>
                  <a:buChar char="§"/>
                </a:pPr>
                <a:r>
                  <a:rPr lang="pt-BR" b="1" i="1" dirty="0"/>
                  <a:t>Gradiente descendente em batelada</a:t>
                </a:r>
                <a:r>
                  <a:rPr lang="pt-BR" b="1" dirty="0"/>
                  <a:t> (GDB).</a:t>
                </a:r>
              </a:p>
              <a:p>
                <a:pPr lvl="1">
                  <a:buFont typeface="Wingdings" panose="05000000000000000000" pitchFamily="2" charset="2"/>
                  <a:buChar char="§"/>
                </a:pPr>
                <a:r>
                  <a:rPr lang="pt-BR" b="1" i="1" dirty="0"/>
                  <a:t>Gradiente descendente estocástico </a:t>
                </a:r>
                <a:r>
                  <a:rPr lang="pt-BR" b="1" dirty="0"/>
                  <a:t>(GDE)</a:t>
                </a:r>
                <a:r>
                  <a:rPr lang="pt-BR" b="1" i="1" dirty="0"/>
                  <a:t>.</a:t>
                </a:r>
              </a:p>
              <a:p>
                <a:pPr lvl="1">
                  <a:buFont typeface="Wingdings" panose="05000000000000000000" pitchFamily="2" charset="2"/>
                  <a:buChar char="§"/>
                </a:pPr>
                <a:r>
                  <a:rPr lang="nl-BE" b="1" i="1" dirty="0"/>
                  <a:t>Gradiente descendente em mini-lotes</a:t>
                </a:r>
                <a:r>
                  <a:rPr lang="pt-BR" b="1" i="1" dirty="0"/>
                  <a:t> </a:t>
                </a:r>
                <a:r>
                  <a:rPr lang="pt-BR" b="1" dirty="0"/>
                  <a:t>(GDML)</a:t>
                </a:r>
                <a:r>
                  <a:rPr lang="pt-BR" b="1" i="1" dirty="0"/>
                  <a:t>.</a:t>
                </a:r>
                <a:endParaRPr lang="pt-BR" b="1" dirty="0"/>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107615"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Utiliza </a:t>
                </a:r>
                <a:r>
                  <a:rPr lang="pt-BR" b="1" i="1" dirty="0">
                    <a:solidFill>
                      <a:srgbClr val="00B050"/>
                    </a:solidFill>
                  </a:rPr>
                  <a:t>todos os exemplos</a:t>
                </a:r>
                <a:r>
                  <a:rPr lang="pt-BR" b="0"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𝑁</m:t>
                    </m:r>
                  </m:oMath>
                </a14:m>
                <a:r>
                  <a:rPr lang="pt-BR" b="0" dirty="0"/>
                  <a:t>) para o cálculo do gradiente</a:t>
                </a:r>
                <a:r>
                  <a:rPr lang="pt-BR" dirty="0"/>
                  <a:t>.</a:t>
                </a:r>
              </a:p>
              <a:p>
                <a:r>
                  <a:rPr lang="pt-BR" dirty="0"/>
                  <a:t>Pode ser </a:t>
                </a:r>
                <a:r>
                  <a:rPr lang="pt-BR" b="1" i="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pode ser lento em conjuntos muito grandes e consumir muita memória.</a:t>
                </a:r>
              </a:p>
              <a:p>
                <a:r>
                  <a:rPr lang="pt-BR" b="1" i="1" dirty="0">
                    <a:solidFill>
                      <a:srgbClr val="00B050"/>
                    </a:solidFill>
                  </a:rPr>
                  <a:t>Convergência</a:t>
                </a:r>
                <a:r>
                  <a:rPr lang="pt-BR" dirty="0"/>
                  <a:t> para o </a:t>
                </a:r>
                <a:r>
                  <a:rPr lang="pt-BR" b="1" i="1" dirty="0">
                    <a:solidFill>
                      <a:srgbClr val="7030A0"/>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 e o passo não é grande demais</a:t>
                </a:r>
                <a:r>
                  <a:rPr lang="pt-BR" dirty="0"/>
                  <a:t>.</a:t>
                </a:r>
              </a:p>
              <a:p>
                <a:r>
                  <a:rPr lang="pt-BR" dirty="0"/>
                  <a:t>É a versão que </a:t>
                </a:r>
                <a:r>
                  <a:rPr lang="pt-BR" b="1" i="1" dirty="0">
                    <a:solidFill>
                      <a:srgbClr val="00B050"/>
                    </a:solidFill>
                  </a:rPr>
                  <a:t>obtém os melhores resultados</a:t>
                </a:r>
                <a:r>
                  <a:rPr lang="pt-BR" dirty="0"/>
                  <a:t>.</a:t>
                </a:r>
              </a:p>
              <a:p>
                <a:pPr marL="0" indent="0">
                  <a:buNone/>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107615" cy="5167311"/>
              </a:xfrm>
              <a:blipFill>
                <a:blip r:embed="rId3"/>
                <a:stretch>
                  <a:fillRect l="-988" r="-1207"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 exemplo</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1536"/>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exemplos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ser flexível,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r="-435"/>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5223C-13CE-85B8-7435-F5FD8B0F326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CBE2EEF-C84F-43D4-5D37-9D34BEB00B3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4388248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A6293-8106-AE33-8C88-C10E0BFB3EEA}"/>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642E11AF-6191-ACB1-1CE8-7B4C4CFE41C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552436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62A92-55C2-431E-3FAA-7DC08A0AC671}"/>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44A91331-8D79-4209-9910-250A54A6D3D3}"/>
              </a:ext>
            </a:extLst>
          </p:cNvPr>
          <p:cNvSpPr>
            <a:spLocks noGrp="1"/>
          </p:cNvSpPr>
          <p:nvPr>
            <p:ph idx="1"/>
          </p:nvPr>
        </p:nvSpPr>
        <p:spPr/>
        <p:txBody>
          <a:bodyPr/>
          <a:lstStyle/>
          <a:p>
            <a:r>
              <a:rPr lang="pt-BR" dirty="0"/>
              <a:t>Validação cruzada para encontrar grau dos polinômios</a:t>
            </a:r>
            <a:endParaRPr lang="en-US" dirty="0"/>
          </a:p>
        </p:txBody>
      </p:sp>
    </p:spTree>
    <p:extLst>
      <p:ext uri="{BB962C8B-B14F-4D97-AF65-F5344CB8AC3E}">
        <p14:creationId xmlns:p14="http://schemas.microsoft.com/office/powerpoint/2010/main" val="15001855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110645" cy="1851657"/>
          </a:xfrm>
        </p:spPr>
        <p:txBody>
          <a:bodyPr/>
          <a:lstStyle/>
          <a:p>
            <a:r>
              <a:rPr lang="pt-BR" dirty="0"/>
              <a:t>Após o treinamento do modelo, o usamos para fazer </a:t>
            </a:r>
            <a:r>
              <a:rPr lang="pt-BR" b="1" i="1" dirty="0">
                <a:solidFill>
                  <a:srgbClr val="00B050"/>
                </a:solidFill>
              </a:rPr>
              <a:t>inferências</a:t>
            </a:r>
            <a:r>
              <a:rPr lang="pt-BR" dirty="0"/>
              <a:t>.</a:t>
            </a:r>
          </a:p>
          <a:p>
            <a:r>
              <a:rPr lang="pt-BR" dirty="0"/>
              <a:t>Ou seja, o usamos para fazer </a:t>
            </a:r>
            <a:r>
              <a:rPr lang="pt-BR" b="1" i="1" dirty="0">
                <a:solidFill>
                  <a:srgbClr val="00B050"/>
                </a:solidFill>
              </a:rPr>
              <a:t>predições</a:t>
            </a:r>
            <a:r>
              <a:rPr lang="pt-BR" dirty="0"/>
              <a:t> (i.e., valores de saídas) </a:t>
            </a:r>
            <a:r>
              <a:rPr lang="pt-BR" b="1" i="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i="1" dirty="0"/>
              <a:t>apenas para os dados do conjunto de treinamento</a:t>
            </a:r>
            <a:r>
              <a:rPr lang="pt-BR" dirty="0"/>
              <a:t>.</a:t>
            </a:r>
          </a:p>
          <a:p>
            <a:r>
              <a:rPr lang="pt-BR" dirty="0"/>
              <a:t>O </a:t>
            </a:r>
            <a:r>
              <a:rPr lang="pt-BR" b="1" i="1" dirty="0"/>
              <a:t>algoritmo</a:t>
            </a:r>
            <a:r>
              <a:rPr lang="pt-BR" dirty="0"/>
              <a:t> de ML deve </a:t>
            </a:r>
            <a:r>
              <a:rPr lang="pt-BR" b="1" i="1" dirty="0"/>
              <a:t>treinar</a:t>
            </a:r>
            <a:r>
              <a:rPr lang="pt-BR" dirty="0"/>
              <a:t> um </a:t>
            </a:r>
            <a:r>
              <a:rPr lang="pt-BR" b="1" i="1" dirty="0"/>
              <a:t>modelo</a:t>
            </a:r>
            <a:r>
              <a:rPr lang="pt-BR" dirty="0"/>
              <a:t> que </a:t>
            </a:r>
            <a:r>
              <a:rPr lang="pt-BR" b="1" i="1" dirty="0"/>
              <a:t>aprenda</a:t>
            </a:r>
            <a:r>
              <a:rPr lang="pt-BR" dirty="0"/>
              <a:t> uma </a:t>
            </a:r>
            <a:r>
              <a:rPr lang="pt-BR" b="1" i="1" dirty="0">
                <a:solidFill>
                  <a:srgbClr val="7030A0"/>
                </a:solidFill>
              </a:rPr>
              <a:t>solução geral</a:t>
            </a:r>
            <a:r>
              <a:rPr lang="pt-BR" dirty="0"/>
              <a:t>, ou seja, um modelo que </a:t>
            </a:r>
            <a:r>
              <a:rPr lang="pt-BR" b="1" i="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i="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8327</TotalTime>
  <Words>7904</Words>
  <Application>Microsoft Office PowerPoint</Application>
  <PresentationFormat>Widescreen</PresentationFormat>
  <Paragraphs>642</Paragraphs>
  <Slides>64</Slides>
  <Notes>34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64</vt:i4>
      </vt:variant>
    </vt:vector>
  </HeadingPairs>
  <TitlesOfParts>
    <vt:vector size="73"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Motivação</vt:lpstr>
      <vt:lpstr>Motivação</vt:lpstr>
      <vt:lpstr>PowerPoint Presentation</vt:lpstr>
      <vt:lpstr>PowerPoint Presentation</vt:lpstr>
      <vt:lpstr>Regressão linear</vt:lpstr>
      <vt:lpstr>Qual o objetivo da regressão linear?</vt:lpstr>
      <vt:lpstr>Qual é o paradigma de aprendizado?</vt:lpstr>
      <vt:lpstr>Qual é o paradigma de aprendizado?</vt:lpstr>
      <vt:lpstr>Por que linear?</vt:lpstr>
      <vt:lpstr>Por que linear?</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Superfície de erro</vt:lpstr>
      <vt:lpstr>Superfície de erro</vt:lpstr>
      <vt:lpstr>Gradiente descendente</vt:lpstr>
      <vt:lpstr>Otimização (treinamento) do modelo</vt:lpstr>
      <vt:lpstr>Otimização (treinamento) do modelo</vt:lpstr>
      <vt:lpstr>PowerPoint Presentation</vt:lpstr>
      <vt:lpstr>PowerPoint Presentation</vt:lpstr>
      <vt:lpstr>Vetores gradiente</vt:lpstr>
      <vt:lpstr>Função de erro</vt:lpstr>
      <vt:lpstr>Formato da função de erro</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Formas de se ajustar o passo de aprendizagem</vt:lpstr>
      <vt:lpstr>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PowerPoint Presentation</vt:lpstr>
      <vt:lpstr>Validação cruzada</vt:lpstr>
      <vt:lpstr>Inferência</vt:lpstr>
      <vt:lpstr>Generalização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1832</cp:revision>
  <dcterms:created xsi:type="dcterms:W3CDTF">2020-01-20T13:50:05Z</dcterms:created>
  <dcterms:modified xsi:type="dcterms:W3CDTF">2026-02-13T02:13:49Z</dcterms:modified>
</cp:coreProperties>
</file>