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7"/>
  </p:notesMasterIdLst>
  <p:handoutMasterIdLst>
    <p:handoutMasterId r:id="rId128"/>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533" r:id="rId28"/>
    <p:sldId id="435" r:id="rId29"/>
    <p:sldId id="448" r:id="rId30"/>
    <p:sldId id="536" r:id="rId31"/>
    <p:sldId id="411" r:id="rId32"/>
    <p:sldId id="432" r:id="rId33"/>
    <p:sldId id="415" r:id="rId34"/>
    <p:sldId id="566" r:id="rId35"/>
    <p:sldId id="412" r:id="rId36"/>
    <p:sldId id="413" r:id="rId37"/>
    <p:sldId id="450" r:id="rId38"/>
    <p:sldId id="434" r:id="rId39"/>
    <p:sldId id="614" r:id="rId40"/>
    <p:sldId id="615" r:id="rId41"/>
    <p:sldId id="414" r:id="rId42"/>
    <p:sldId id="572" r:id="rId43"/>
    <p:sldId id="416" r:id="rId44"/>
    <p:sldId id="451" r:id="rId45"/>
    <p:sldId id="417" r:id="rId46"/>
    <p:sldId id="419" r:id="rId47"/>
    <p:sldId id="425" r:id="rId48"/>
    <p:sldId id="537" r:id="rId49"/>
    <p:sldId id="418" r:id="rId50"/>
    <p:sldId id="539" r:id="rId51"/>
    <p:sldId id="542" r:id="rId52"/>
    <p:sldId id="423" r:id="rId53"/>
    <p:sldId id="580" r:id="rId54"/>
    <p:sldId id="424" r:id="rId55"/>
    <p:sldId id="429" r:id="rId56"/>
    <p:sldId id="540" r:id="rId57"/>
    <p:sldId id="431" r:id="rId58"/>
    <p:sldId id="583" r:id="rId59"/>
    <p:sldId id="584" r:id="rId60"/>
    <p:sldId id="554" r:id="rId61"/>
    <p:sldId id="555" r:id="rId62"/>
    <p:sldId id="549" r:id="rId63"/>
    <p:sldId id="461" r:id="rId64"/>
    <p:sldId id="557" r:id="rId65"/>
    <p:sldId id="558" r:id="rId66"/>
    <p:sldId id="559" r:id="rId67"/>
    <p:sldId id="560" r:id="rId68"/>
    <p:sldId id="561" r:id="rId69"/>
    <p:sldId id="562" r:id="rId70"/>
    <p:sldId id="563" r:id="rId71"/>
    <p:sldId id="543" r:id="rId72"/>
    <p:sldId id="437" r:id="rId73"/>
    <p:sldId id="436" r:id="rId74"/>
    <p:sldId id="443" r:id="rId75"/>
    <p:sldId id="444" r:id="rId76"/>
    <p:sldId id="565" r:id="rId77"/>
    <p:sldId id="567" r:id="rId78"/>
    <p:sldId id="568" r:id="rId79"/>
    <p:sldId id="604" r:id="rId80"/>
    <p:sldId id="605" r:id="rId81"/>
    <p:sldId id="467" r:id="rId82"/>
    <p:sldId id="338" r:id="rId83"/>
    <p:sldId id="573" r:id="rId84"/>
    <p:sldId id="370" r:id="rId85"/>
    <p:sldId id="293" r:id="rId86"/>
    <p:sldId id="306" r:id="rId87"/>
    <p:sldId id="446" r:id="rId88"/>
    <p:sldId id="438" r:id="rId89"/>
    <p:sldId id="440" r:id="rId90"/>
    <p:sldId id="441" r:id="rId91"/>
    <p:sldId id="551" r:id="rId92"/>
    <p:sldId id="442" r:id="rId93"/>
    <p:sldId id="552" r:id="rId94"/>
    <p:sldId id="553" r:id="rId95"/>
    <p:sldId id="445" r:id="rId96"/>
    <p:sldId id="447" r:id="rId97"/>
    <p:sldId id="608" r:id="rId98"/>
    <p:sldId id="607" r:id="rId99"/>
    <p:sldId id="452" r:id="rId100"/>
    <p:sldId id="569" r:id="rId101"/>
    <p:sldId id="589" r:id="rId102"/>
    <p:sldId id="582" r:id="rId103"/>
    <p:sldId id="586" r:id="rId104"/>
    <p:sldId id="587" r:id="rId105"/>
    <p:sldId id="588" r:id="rId106"/>
    <p:sldId id="590" r:id="rId107"/>
    <p:sldId id="591" r:id="rId108"/>
    <p:sldId id="592" r:id="rId109"/>
    <p:sldId id="593" r:id="rId110"/>
    <p:sldId id="594" r:id="rId111"/>
    <p:sldId id="595" r:id="rId112"/>
    <p:sldId id="597" r:id="rId113"/>
    <p:sldId id="600" r:id="rId114"/>
    <p:sldId id="458" r:id="rId115"/>
    <p:sldId id="601" r:id="rId116"/>
    <p:sldId id="384" r:id="rId117"/>
    <p:sldId id="602" r:id="rId118"/>
    <p:sldId id="611" r:id="rId119"/>
    <p:sldId id="459" r:id="rId120"/>
    <p:sldId id="610" r:id="rId121"/>
    <p:sldId id="399" r:id="rId122"/>
    <p:sldId id="397" r:id="rId123"/>
    <p:sldId id="609" r:id="rId124"/>
    <p:sldId id="579" r:id="rId125"/>
    <p:sldId id="577" r:id="rId12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0073" autoAdjust="0"/>
  </p:normalViewPr>
  <p:slideViewPr>
    <p:cSldViewPr snapToGrid="0">
      <p:cViewPr varScale="1">
        <p:scale>
          <a:sx n="100" d="100"/>
          <a:sy n="100" d="100"/>
        </p:scale>
        <p:origin x="1218"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handoutMaster" Target="handoutMasters/handout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microsoft.com/office/2015/10/relationships/revisionInfo" Target="revisionInfo.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24/08/2026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24/08/2026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6.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 bola "sabe" para qual </a:t>
            </a:r>
            <a:r>
              <a:rPr lang="en-US" sz="1200" b="0" i="0" kern="1200" dirty="0" err="1">
                <a:solidFill>
                  <a:schemeClr val="tx1"/>
                </a:solidFill>
                <a:effectLst/>
                <a:latin typeface="+mn-lt"/>
                <a:ea typeface="+mn-ea"/>
                <a:cs typeface="+mn-cs"/>
              </a:rPr>
              <a:t>lado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descer</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longo</a:t>
            </a:r>
            <a:r>
              <a:rPr lang="en-US" sz="1200" b="0" i="0" kern="1200" dirty="0">
                <a:solidFill>
                  <a:schemeClr val="tx1"/>
                </a:solidFill>
                <a:effectLst/>
                <a:latin typeface="+mn-lt"/>
                <a:ea typeface="+mn-ea"/>
                <a:cs typeface="+mn-cs"/>
              </a:rPr>
              <a:t> é o </a:t>
            </a:r>
            <a:r>
              <a:rPr lang="en-US" sz="1200" b="0" i="0" kern="1200" dirty="0" err="1">
                <a:solidFill>
                  <a:schemeClr val="tx1"/>
                </a:solidFill>
                <a:effectLst/>
                <a:latin typeface="+mn-lt"/>
                <a:ea typeface="+mn-ea"/>
                <a:cs typeface="+mn-cs"/>
              </a:rPr>
              <a:t>caminho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até</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fundo</a:t>
            </a:r>
            <a:r>
              <a:rPr lang="en-US" sz="1200" b="0" i="0" kern="1200" dirty="0">
                <a:solidFill>
                  <a:schemeClr val="tx1"/>
                </a:solidFill>
                <a:effectLst/>
                <a:latin typeface="+mn-lt"/>
                <a:ea typeface="+mn-ea"/>
                <a:cs typeface="+mn-cs"/>
              </a:rPr>
              <a:t>.</a:t>
            </a:r>
            <a:endParaRPr lang="pt-BR" dirty="0"/>
          </a:p>
          <a:p>
            <a:endParaRPr lang="pt-BR" dirty="0"/>
          </a:p>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5779427-8D44-CA0C-2C83-24A15441D10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55A0622F-F347-8783-B556-41DB3D1DCCEF}"/>
              </a:ext>
            </a:extLst>
          </p:cNvPr>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68F8CB8-0170-42D6-1175-4B2E71EB072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6B015FDE-78CE-5A22-BEB0-1E4BEEBD7920}"/>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78</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100</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102</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110</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BC82F-8B5B-3288-61CC-79BFAF89D1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A627-C493-7BC5-26F0-8F8BC3157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F37CF-1D76-2644-52BE-23ADA5650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9.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2.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gi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9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4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56.jpeg"/></Relationships>
</file>

<file path=ppt/slides/_rels/slide63.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620.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59.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7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640.png"/></Relationships>
</file>

<file path=ppt/slides/_rels/slide8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jpeg"/><Relationship Id="rId4" Type="http://schemas.openxmlformats.org/officeDocument/2006/relationships/image" Target="../media/image6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NUL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3.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6.pn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NULL"/><Relationship Id="rId4" Type="http://schemas.openxmlformats.org/officeDocument/2006/relationships/image" Target="NUL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7.png"/></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0.png"/></Relationships>
</file>

<file path=ppt/slides/_rels/slide12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8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ℎ</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ℎ</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ℎ</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a16="http://schemas.microsoft.com/office/drawing/2014/main"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a16="http://schemas.microsoft.com/office/drawing/2014/main"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a16="http://schemas.microsoft.com/office/drawing/2014/main"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a16="http://schemas.microsoft.com/office/drawing/2014/main"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ℎ</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ℎ</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b="1"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86633497"/>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do</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86633497"/>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pt-BR" sz="2400" b="1" i="1">
                                <a:latin typeface="Cambria Math" panose="02040503050406030204" pitchFamily="18" charset="0"/>
                              </a:rPr>
                            </m:ctrlPr>
                          </m:limLowPr>
                          <m:e>
                            <m:groupChr>
                              <m:groupChrPr>
                                <m:chr m:val="⏟"/>
                                <m:pos m:val="bot"/>
                                <m:vertJc m:val="top"/>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pontos) </a:t>
                </a:r>
                <a:r>
                  <a:rPr lang="pt-BR" b="1" dirty="0">
                    <a:solidFill>
                      <a:srgbClr val="00B0F0"/>
                    </a:solidFill>
                  </a:rPr>
                  <a:t>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a:blip r:embed="rId2"/>
                <a:stretch>
                  <a:fillRect l="-1701" t="-1937" r="-1607"/>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79387" y="1825624"/>
                <a:ext cx="652318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taxa de aprendizagem</a:t>
                </a:r>
                <a:r>
                  <a:rPr lang="pt-BR" dirty="0"/>
                  <a:t>.</a:t>
                </a:r>
              </a:p>
              <a:p>
                <a:pPr lvl="1">
                  <a:buFont typeface="Wingdings" panose="05000000000000000000" pitchFamily="2" charset="2"/>
                  <a:buChar char="§"/>
                </a:pPr>
                <a14:m>
                  <m:oMath xmlns:m="http://schemas.openxmlformats.org/officeDocument/2006/math">
                    <m:r>
                      <m:rPr>
                        <m:sty m:val="p"/>
                      </m:rPr>
                      <a:rPr lang="pt-BR" dirty="0" smtClean="0">
                        <a:latin typeface="Cambria Math" panose="02040503050406030204" pitchFamily="18" charset="0"/>
                        <a:ea typeface="Cambria Math" panose="02040503050406030204" pitchFamily="18" charset="0"/>
                      </a:rPr>
                      <m:t>α</m:t>
                    </m:r>
                  </m:oMath>
                </a14:m>
                <a:r>
                  <a:rPr lang="pt-BR" dirty="0"/>
                  <a:t> é sempre maior do que 0.</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79387" y="1825624"/>
                <a:ext cx="6523180" cy="5032376"/>
              </a:xfrm>
              <a:blipFill>
                <a:blip r:embed="rId3"/>
                <a:stretch>
                  <a:fillRect l="-1682" t="-1937" r="-3084"/>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2" y="1825624"/>
                <a:ext cx="6294765"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Os pesos são </a:t>
                </a:r>
                <a:r>
                  <a:rPr lang="pt-BR" b="1" dirty="0">
                    <a:solidFill>
                      <a:srgbClr val="00B0F0"/>
                    </a:solidFill>
                  </a:rPr>
                  <a:t>atualizados iterativamente </a:t>
                </a:r>
                <a:r>
                  <a:rPr lang="pt-BR" dirty="0"/>
                  <a:t>usando a equação:</a:t>
                </a:r>
              </a:p>
              <a:p>
                <a:pPr marL="0" indent="0">
                  <a:buNone/>
                </a:pPr>
                <a:endParaRPr lang="pt-BR" sz="700" dirty="0"/>
              </a:p>
              <a:p>
                <a:pPr marL="0" indent="0">
                  <a:buNone/>
                </a:pPr>
                <a14:m>
                  <m:oMathPara xmlns:m="http://schemas.openxmlformats.org/officeDocument/2006/math">
                    <m:oMath>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0"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a:p>
                <a:pPr marL="0" indent="0">
                  <a:buNone/>
                </a:pPr>
                <a:endParaRPr lang="pt-BR" dirty="0"/>
              </a:p>
              <a:p>
                <a:r>
                  <a:rPr lang="pt-BR" dirty="0"/>
                  <a:t>Ela é chamada de </a:t>
                </a:r>
                <a:r>
                  <a:rPr lang="pt-BR" b="1" dirty="0">
                    <a:solidFill>
                      <a:srgbClr val="7030A0"/>
                    </a:solidFill>
                  </a:rPr>
                  <a:t>equação de atualização dos pesos.</a:t>
                </a:r>
              </a:p>
              <a:p>
                <a:r>
                  <a:rPr lang="pt-BR" dirty="0"/>
                  <a:t>Vejamos como ela funciona.</a:t>
                </a:r>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2" y="1825624"/>
                <a:ext cx="6294765" cy="5032376"/>
              </a:xfrm>
              <a:blipFill>
                <a:blip r:embed="rId3"/>
                <a:stretch>
                  <a:fillRect l="-1742" t="-1937" r="-3291" b="-302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557417" y="5186806"/>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896350" y="4610100"/>
            <a:ext cx="200025" cy="57670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endParaRPr lang="pt-BR" dirty="0"/>
              </a:p>
            </p:txBody>
          </p:sp>
        </mc:Choice>
        <mc:Fallback xmlns="">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a16="http://schemas.microsoft.com/office/drawing/2014/main"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id="{79409339-B873-6CD8-ABD2-05EB218DE072}"/>
              </a:ext>
            </a:extLst>
          </p:cNvPr>
          <p:cNvSpPr txBox="1"/>
          <p:nvPr/>
        </p:nvSpPr>
        <p:spPr>
          <a:xfrm>
            <a:off x="4570743" y="4280317"/>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mc:Choice xmlns:a14="http://schemas.microsoft.com/office/drawing/2010/main" Requires="a14">
          <p:sp>
            <p:nvSpPr>
              <p:cNvPr id="22" name="CaixaDeTexto 21">
                <a:extLst>
                  <a:ext uri="{FF2B5EF4-FFF2-40B4-BE49-F238E27FC236}">
                    <a16:creationId xmlns:a16="http://schemas.microsoft.com/office/drawing/2014/main" id="{0EE88986-EB8C-724C-244A-3D5A37DAF924}"/>
                  </a:ext>
                </a:extLst>
              </p:cNvPr>
              <p:cNvSpPr txBox="1"/>
              <p:nvPr/>
            </p:nvSpPr>
            <p:spPr>
              <a:xfrm>
                <a:off x="4044575" y="459203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4044575" y="4592036"/>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6" name="CaixaDeTexto 45">
                <a:extLst>
                  <a:ext uri="{FF2B5EF4-FFF2-40B4-BE49-F238E27FC236}">
                    <a16:creationId xmlns:a16="http://schemas.microsoft.com/office/drawing/2014/main" id="{2A2FFB7B-0A97-529B-F3AB-053420899F77}"/>
                  </a:ext>
                </a:extLst>
              </p:cNvPr>
              <p:cNvSpPr txBox="1"/>
              <p:nvPr/>
            </p:nvSpPr>
            <p:spPr>
              <a:xfrm>
                <a:off x="3383787" y="4572994"/>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3383787" y="4572994"/>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(direção e taxa de crescimento) e uma taxa de aprendizagem</a:t>
            </a:r>
            <a:r>
              <a:rPr lang="pt-BR" dirty="0"/>
              <a:t>, agora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grpSp>
        <p:nvGrpSpPr>
          <p:cNvPr id="52" name="Agrupar 51">
            <a:extLst>
              <a:ext uri="{FF2B5EF4-FFF2-40B4-BE49-F238E27FC236}">
                <a16:creationId xmlns:a16="http://schemas.microsoft.com/office/drawing/2014/main" id="{4B27E292-8EDA-771F-C523-04EA3AFE2EA0}"/>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9A12137B-7F18-FBD1-C41B-49EAEE2E86BB}"/>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6601733F-F691-6113-4CE5-21289B583C5B}"/>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B8CFE0C7-A4E7-CB3C-2885-FF1D03CA5B1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6BD4D9E-8F31-6602-8EEC-75C6316A991D}"/>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2628AFDC-5BFB-8F3F-6004-42AA7668BB44}"/>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6658C28E-0283-FC4A-0B5C-5DCDAE0EE825}"/>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1B97234F-4121-972D-142A-35653790BFFF}"/>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A266EC2-2029-0C02-4116-56D7140603B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A0E030FB-67BC-546E-A99D-10C41F6A8A3D}"/>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DFCED1A8-F4A0-74EF-81A0-62573FF0B969}"/>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8DDE6786-40C0-06F9-CF5C-BA07DAFCB799}"/>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CAA5059E-2CB9-4291-0468-98399C4B277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8CE3E78D-2832-6D21-5620-AF91D0D92A40}"/>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09E9506-63AD-0EFC-ECF4-7CD8F23DBFF3}"/>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3616B305-9CB0-B473-C7BF-EA4FB5BC2D55}"/>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D8D8EBA8-9252-FA17-0758-3EC098D4A552}"/>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5C3BA385-0F21-9DE3-C731-2E356FD76FBC}"/>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2D44C00B-D931-A8A7-3AD9-75A394317A2C}"/>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FBAEB95B-710F-E24C-28C3-5A9AC998E627}"/>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C175C0BA-5097-143C-81A3-F410417F7E1C}"/>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7BA96501-5A5A-E5AB-9D1D-9FD5C2346EB1}"/>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C19EAC35-A140-C8F7-7653-05C10318AAB8}"/>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9322445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883081" y="1825624"/>
            <a:ext cx="7308920"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smtClean="0">
                                          <a:latin typeface="Cambria Math" panose="02040503050406030204" pitchFamily="18" charset="0"/>
                                        </a:rPr>
                                      </m:ctrlPr>
                                    </m:dPr>
                                    <m:e>
                                      <m:r>
                                        <a:rPr lang="pt-BR" b="0"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sSup>
                                <m:sSupPr>
                                  <m:ctrlPr>
                                    <a:rPr lang="pt-BR" i="1">
                                      <a:latin typeface="Cambria Math" panose="02040503050406030204" pitchFamily="18" charset="0"/>
                                    </a:rPr>
                                  </m:ctrlPr>
                                </m:sSupPr>
                                <m:e>
                                  <m:f>
                                    <m:fPr>
                                      <m:ctrlPr>
                                        <a:rPr lang="pt-BR">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a:latin typeface="Cambria Math" panose="02040503050406030204" pitchFamily="18" charset="0"/>
                                        </a:rPr>
                                      </m:ctrlPr>
                                    </m:dPr>
                                    <m:e>
                                      <m:r>
                                        <a:rPr lang="pt-BR">
                                          <a:latin typeface="Cambria Math" panose="02040503050406030204" pitchFamily="18" charset="0"/>
                                        </a:rPr>
                                        <m:t>𝑦</m:t>
                                      </m:r>
                                      <m:d>
                                        <m:dPr>
                                          <m:ctrlPr>
                                            <a:rPr lang="pt-BR">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a:latin typeface="Cambria Math" panose="02040503050406030204" pitchFamily="18" charset="0"/>
                                            </a:rPr>
                                          </m:ctrlPr>
                                        </m:accPr>
                                        <m:e>
                                          <m:r>
                                            <a:rPr lang="pt-BR">
                                              <a:latin typeface="Cambria Math" panose="02040503050406030204" pitchFamily="18" charset="0"/>
                                            </a:rPr>
                                            <m:t>𝑦</m:t>
                                          </m:r>
                                        </m:e>
                                      </m:acc>
                                      <m:d>
                                        <m:dPr>
                                          <m:ctrlPr>
                                            <a:rPr lang="pt-BR">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smtClean="0">
                              <a:latin typeface="Cambria Math" panose="02040503050406030204" pitchFamily="18" charset="0"/>
                            </a:rPr>
                          </m:ctrlPr>
                        </m:sSupPr>
                        <m:e>
                          <m:r>
                            <a:rPr lang="pt-BR"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f>
                            <m:fPr>
                              <m:ctrlPr>
                                <a:rPr lang="pt-BR">
                                  <a:latin typeface="Cambria Math" panose="02040503050406030204" pitchFamily="18" charset="0"/>
                                </a:rPr>
                              </m:ctrlPr>
                            </m:fPr>
                            <m:num>
                              <m:r>
                                <a:rPr lang="pt-BR">
                                  <a:latin typeface="Cambria Math" panose="02040503050406030204" pitchFamily="18" charset="0"/>
                                </a:rPr>
                                <m:t>𝜕</m:t>
                              </m:r>
                              <m:sSub>
                                <m:sSubPr>
                                  <m:ctrlPr>
                                    <a:rPr lang="pt-BR">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b="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o termo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a:t>)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ambos os erros, treinamento e validação,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b="1" i="1" smtClean="0">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dirty="0" err="1"/>
              <a:t>Elastic</a:t>
            </a:r>
            <a:r>
              <a:rPr lang="pt-BR" dirty="0"/>
              <a:t>-Net.</a:t>
            </a:r>
          </a:p>
        </p:txBody>
      </p:sp>
    </p:spTree>
    <p:extLst>
      <p:ext uri="{BB962C8B-B14F-4D97-AF65-F5344CB8AC3E}">
        <p14:creationId xmlns:p14="http://schemas.microsoft.com/office/powerpoint/2010/main" val="82685464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a:blip r:embed="rId3"/>
                <a:stretch>
                  <a:fillRect l="-930" t="-1751"/>
                </a:stretch>
              </a:blipFill>
            </p:spPr>
            <p:txBody>
              <a:bodyPr/>
              <a:lstStyle/>
              <a:p>
                <a:r>
                  <a:rPr lang="en-US">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39BFA-229B-7127-1F96-31668420945A}"/>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
                        <m:r>
                          <m:rPr>
                            <m:nor/>
                          </m:rPr>
                          <a:rPr lang="pt-BR" i="0" dirty="0"/>
                          <m:t>Função de erro,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9639</TotalTime>
  <Words>21317</Words>
  <Application>Microsoft Office PowerPoint</Application>
  <PresentationFormat>Widescreen</PresentationFormat>
  <Paragraphs>1487</Paragraphs>
  <Slides>125</Slides>
  <Notes>81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125</vt:i4>
      </vt:variant>
    </vt:vector>
  </HeadingPairs>
  <TitlesOfParts>
    <vt:vector size="133"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2197</cp:revision>
  <dcterms:created xsi:type="dcterms:W3CDTF">2020-01-20T13:50:05Z</dcterms:created>
  <dcterms:modified xsi:type="dcterms:W3CDTF">2026-08-24T20:04:16Z</dcterms:modified>
</cp:coreProperties>
</file>