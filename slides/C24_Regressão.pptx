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256" r:id="rId2"/>
    <p:sldId id="296" r:id="rId3"/>
    <p:sldId id="463" r:id="rId4"/>
    <p:sldId id="517" r:id="rId5"/>
    <p:sldId id="518" r:id="rId6"/>
    <p:sldId id="464" r:id="rId7"/>
    <p:sldId id="470" r:id="rId8"/>
    <p:sldId id="471" r:id="rId9"/>
    <p:sldId id="472" r:id="rId10"/>
    <p:sldId id="465" r:id="rId11"/>
    <p:sldId id="520" r:id="rId12"/>
    <p:sldId id="522" r:id="rId13"/>
    <p:sldId id="523" r:id="rId14"/>
    <p:sldId id="524" r:id="rId15"/>
    <p:sldId id="481" r:id="rId16"/>
    <p:sldId id="525" r:id="rId17"/>
    <p:sldId id="320" r:id="rId18"/>
    <p:sldId id="526" r:id="rId19"/>
    <p:sldId id="527" r:id="rId20"/>
    <p:sldId id="528" r:id="rId21"/>
    <p:sldId id="529" r:id="rId22"/>
    <p:sldId id="541" r:id="rId23"/>
    <p:sldId id="532" r:id="rId24"/>
    <p:sldId id="533" r:id="rId25"/>
    <p:sldId id="435" r:id="rId26"/>
    <p:sldId id="448" r:id="rId27"/>
    <p:sldId id="536" r:id="rId28"/>
    <p:sldId id="407" r:id="rId29"/>
    <p:sldId id="449" r:id="rId30"/>
    <p:sldId id="409" r:id="rId31"/>
    <p:sldId id="410" r:id="rId32"/>
    <p:sldId id="433" r:id="rId33"/>
    <p:sldId id="411" r:id="rId34"/>
    <p:sldId id="432" r:id="rId35"/>
    <p:sldId id="415" r:id="rId36"/>
    <p:sldId id="412" r:id="rId37"/>
    <p:sldId id="413" r:id="rId38"/>
    <p:sldId id="450" r:id="rId39"/>
    <p:sldId id="434" r:id="rId40"/>
    <p:sldId id="414" r:id="rId41"/>
    <p:sldId id="416" r:id="rId42"/>
    <p:sldId id="451" r:id="rId43"/>
    <p:sldId id="417" r:id="rId44"/>
    <p:sldId id="419" r:id="rId45"/>
    <p:sldId id="425" r:id="rId46"/>
    <p:sldId id="537" r:id="rId47"/>
    <p:sldId id="418" r:id="rId48"/>
    <p:sldId id="539" r:id="rId49"/>
    <p:sldId id="542" r:id="rId50"/>
    <p:sldId id="423" r:id="rId51"/>
    <p:sldId id="424" r:id="rId52"/>
    <p:sldId id="429" r:id="rId53"/>
    <p:sldId id="540" r:id="rId54"/>
    <p:sldId id="431" r:id="rId55"/>
    <p:sldId id="546" r:id="rId56"/>
    <p:sldId id="521" r:id="rId57"/>
    <p:sldId id="543" r:id="rId58"/>
    <p:sldId id="437" r:id="rId59"/>
    <p:sldId id="436" r:id="rId60"/>
    <p:sldId id="443" r:id="rId61"/>
    <p:sldId id="444" r:id="rId62"/>
    <p:sldId id="544" r:id="rId63"/>
    <p:sldId id="535" r:id="rId64"/>
    <p:sldId id="534" r:id="rId65"/>
    <p:sldId id="531" r:id="rId66"/>
    <p:sldId id="420" r:id="rId67"/>
    <p:sldId id="421" r:id="rId68"/>
    <p:sldId id="293" r:id="rId69"/>
    <p:sldId id="306" r:id="rId7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13/02/2026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13/02/2026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59</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60</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61</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0F0F0F"/>
                </a:solidFill>
                <a:effectLst/>
                <a:latin typeface="Söhne"/>
              </a:rPr>
              <a:t>A validação cruzada k-</a:t>
            </a:r>
            <a:r>
              <a:rPr lang="pt-BR" b="0" i="0" dirty="0" err="1">
                <a:solidFill>
                  <a:srgbClr val="0F0F0F"/>
                </a:solidFill>
                <a:effectLst/>
                <a:latin typeface="Söhne"/>
              </a:rPr>
              <a:t>fold</a:t>
            </a:r>
            <a:r>
              <a:rPr lang="pt-BR" b="0" i="0" dirty="0">
                <a:solidFill>
                  <a:srgbClr val="0F0F0F"/>
                </a:solidFill>
                <a:effectLst/>
                <a:latin typeface="Söhne"/>
              </a:rPr>
              <a:t> aborda o problema do viés de seleção ao realizar k iterações de treinamento e teste, cada vez usando uma divisão diferente dos dados. Isso ajuda a mitigar o impacto de uma única divisão de dados na avaliação final do modelo, tornando a avaliação mais robusta e menos sensível à escolha específica dos conjuntos de treinamento e teste.</a:t>
            </a:r>
          </a:p>
          <a:p>
            <a:endParaRPr lang="pt-BR" b="0" i="0" dirty="0">
              <a:solidFill>
                <a:srgbClr val="0F0F0F"/>
              </a:solidFill>
              <a:effectLst/>
              <a:latin typeface="Söhne"/>
            </a:endParaRPr>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a:t>
            </a:r>
            <a:r>
              <a:rPr lang="pt-BR" dirty="0" err="1"/>
              <a:t>folds</a:t>
            </a:r>
            <a:r>
              <a:rPr lang="pt-BR" dirty="0"/>
              <a:t>. A estimativa de erro é calculada sobre todos os k </a:t>
            </a:r>
            <a:r>
              <a:rPr lang="pt-BR" dirty="0" err="1"/>
              <a:t>folds</a:t>
            </a:r>
            <a:r>
              <a:rPr lang="pt-BR" dirty="0"/>
              <a:t>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62</a:t>
            </a:fld>
            <a:endParaRPr lang="nl-BE"/>
          </a:p>
        </p:txBody>
      </p:sp>
    </p:spTree>
    <p:extLst>
      <p:ext uri="{BB962C8B-B14F-4D97-AF65-F5344CB8AC3E}">
        <p14:creationId xmlns:p14="http://schemas.microsoft.com/office/powerpoint/2010/main" val="6948392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18296323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13/02/2026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4.xml.rels><?xml version="1.0" encoding="UTF-8" standalone="yes"?>
<Relationships xmlns="http://schemas.openxmlformats.org/package/2006/relationships"><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5.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6.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2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1.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5.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4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2.gif"/><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62.png"/></Relationships>
</file>

<file path=ppt/slides/_rels/slide6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5.png"/></Relationships>
</file>

<file path=ppt/slides/_rels/slide62.xml.rels><?xml version="1.0" encoding="UTF-8" standalone="yes"?>
<Relationships xmlns="http://schemas.openxmlformats.org/package/2006/relationships"><Relationship Id="rId3" Type="http://schemas.openxmlformats.org/officeDocument/2006/relationships/image" Target="../media/image70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hiperplano, mas todos os resultados e conclusões que tiraremos </a:t>
                </a:r>
                <a:r>
                  <a:rPr lang="nl-BE" dirty="0"/>
                  <a:t>podem ser diretamente estendidos a polinômios.</a:t>
                </a:r>
                <a:endParaRPr lang="pt-BR" dirty="0"/>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92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no somatório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107615"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Utiliza </a:t>
                </a:r>
                <a:r>
                  <a:rPr lang="pt-BR" b="1" i="1" dirty="0">
                    <a:solidFill>
                      <a:srgbClr val="00B050"/>
                    </a:solidFill>
                  </a:rPr>
                  <a:t>todos os exemplos</a:t>
                </a:r>
                <a:r>
                  <a:rPr lang="pt-BR" b="0"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𝑁</m:t>
                    </m:r>
                  </m:oMath>
                </a14:m>
                <a:r>
                  <a:rPr lang="pt-BR" b="0" dirty="0"/>
                  <a:t>) para o cálculo do gradiente</a:t>
                </a:r>
                <a:r>
                  <a:rPr lang="pt-BR" dirty="0"/>
                  <a:t>.</a:t>
                </a:r>
              </a:p>
              <a:p>
                <a:r>
                  <a:rPr lang="pt-BR" dirty="0"/>
                  <a:t>Pode ser </a:t>
                </a:r>
                <a:r>
                  <a:rPr lang="pt-BR" b="1" i="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pode ser lento em conjuntos muito grandes e consumir muita memória.</a:t>
                </a:r>
              </a:p>
              <a:p>
                <a:r>
                  <a:rPr lang="pt-BR" b="1" i="1" dirty="0">
                    <a:solidFill>
                      <a:srgbClr val="00B050"/>
                    </a:solidFill>
                  </a:rPr>
                  <a:t>Convergência</a:t>
                </a:r>
                <a:r>
                  <a:rPr lang="pt-BR" dirty="0"/>
                  <a:t> para o </a:t>
                </a:r>
                <a:r>
                  <a:rPr lang="pt-BR" b="1" i="1" dirty="0">
                    <a:solidFill>
                      <a:srgbClr val="7030A0"/>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 e o passo não é grande demais</a:t>
                </a:r>
                <a:r>
                  <a:rPr lang="pt-BR" dirty="0"/>
                  <a:t>.</a:t>
                </a:r>
              </a:p>
              <a:p>
                <a:r>
                  <a:rPr lang="pt-BR" dirty="0"/>
                  <a:t>É a versão que </a:t>
                </a:r>
                <a:r>
                  <a:rPr lang="pt-BR" b="1" i="1" dirty="0">
                    <a:solidFill>
                      <a:srgbClr val="00B050"/>
                    </a:solidFill>
                  </a:rPr>
                  <a:t>obtém os melhores resultados</a:t>
                </a:r>
                <a:r>
                  <a:rPr lang="pt-BR" dirty="0"/>
                  <a:t>.</a:t>
                </a:r>
              </a:p>
              <a:p>
                <a:pPr marL="0" indent="0">
                  <a:buNone/>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107615" cy="5167311"/>
              </a:xfrm>
              <a:blipFill>
                <a:blip r:embed="rId3"/>
                <a:stretch>
                  <a:fillRect l="-988" r="-1207"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 exemplo</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1536"/>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exemplos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487311"/>
            <a:ext cx="10515600" cy="3883378"/>
          </a:xfrm>
        </p:spPr>
        <p:txBody>
          <a:bodyPr>
            <a:normAutofit/>
          </a:bodyPr>
          <a:lstStyle/>
          <a:p>
            <a:pPr marL="0" indent="0" algn="ctr">
              <a:buNone/>
            </a:pPr>
            <a:r>
              <a:rPr lang="pt-BR" sz="5400" i="1" dirty="0"/>
              <a:t>Já sabemos como encontrar os pesos de uma dada função hipótese polinomial, mas como descobrirmos a complexidade ideal, ou seja,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0B404-F3ED-8087-A024-C72B793DE4C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6D4684C-15AE-EBFA-CC52-BE2B10624210}"/>
              </a:ext>
            </a:extLst>
          </p:cNvPr>
          <p:cNvSpPr>
            <a:spLocks noGrp="1"/>
          </p:cNvSpPr>
          <p:nvPr>
            <p:ph idx="1"/>
          </p:nvPr>
        </p:nvSpPr>
        <p:spPr/>
        <p:txBody>
          <a:bodyPr>
            <a:normAutofit/>
          </a:bodyPr>
          <a:lstStyle/>
          <a:p>
            <a:r>
              <a:rPr lang="pt-BR" sz="4800" b="1" dirty="0">
                <a:solidFill>
                  <a:srgbClr val="FF0000"/>
                </a:solidFill>
              </a:rPr>
              <a:t>PAREI AQUI!!!!!!!!!!!</a:t>
            </a:r>
            <a:endParaRPr lang="en-US" sz="4800" b="1" dirty="0">
              <a:solidFill>
                <a:srgbClr val="FF0000"/>
              </a:solidFill>
            </a:endParaRPr>
          </a:p>
        </p:txBody>
      </p:sp>
    </p:spTree>
    <p:extLst>
      <p:ext uri="{BB962C8B-B14F-4D97-AF65-F5344CB8AC3E}">
        <p14:creationId xmlns:p14="http://schemas.microsoft.com/office/powerpoint/2010/main" val="24072101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i="0" dirty="0">
                <a:solidFill>
                  <a:srgbClr val="0F0F0F"/>
                </a:solidFill>
                <a:effectLst/>
              </a:rPr>
              <a:t>A validação cruzada é uma técnica utilizada para </a:t>
            </a:r>
            <a:r>
              <a:rPr lang="pt-BR" b="1" i="1" dirty="0">
                <a:solidFill>
                  <a:srgbClr val="00B050"/>
                </a:solidFill>
                <a:effectLst/>
              </a:rPr>
              <a:t>avaliar quantitativamente o desempenho</a:t>
            </a:r>
            <a:r>
              <a:rPr lang="pt-BR" b="0" i="0" dirty="0">
                <a:solidFill>
                  <a:srgbClr val="0F0F0F"/>
                </a:solidFill>
                <a:effectLst/>
              </a:rPr>
              <a:t> de um </a:t>
            </a:r>
            <a:r>
              <a:rPr lang="pt-BR" b="1" i="1" dirty="0">
                <a:solidFill>
                  <a:srgbClr val="7030A0"/>
                </a:solidFill>
                <a:effectLst/>
              </a:rPr>
              <a:t>modelo</a:t>
            </a:r>
            <a:r>
              <a:rPr lang="pt-BR" b="0" i="0" dirty="0">
                <a:solidFill>
                  <a:srgbClr val="0F0F0F"/>
                </a:solidFill>
                <a:effectLst/>
              </a:rPr>
              <a:t> e </a:t>
            </a:r>
            <a:r>
              <a:rPr lang="pt-BR" b="1" i="1" dirty="0">
                <a:solidFill>
                  <a:srgbClr val="00B050"/>
                </a:solidFill>
                <a:effectLst/>
              </a:rPr>
              <a:t>garantir que ele generalize bem para dados inéditos</a:t>
            </a:r>
            <a:r>
              <a:rPr lang="pt-BR" b="0" i="0" dirty="0">
                <a:solidFill>
                  <a:srgbClr val="0F0F0F"/>
                </a:solidFill>
                <a:effectLst/>
              </a:rPr>
              <a:t>, evitando assim problemas de subajuste ou sobreajuste.</a:t>
            </a:r>
          </a:p>
          <a:p>
            <a:r>
              <a:rPr lang="pt-BR" b="0" i="0" dirty="0">
                <a:solidFill>
                  <a:srgbClr val="0F0F0F"/>
                </a:solidFill>
                <a:effectLst/>
              </a:rPr>
              <a:t>O processo de validação cruzada envolve </a:t>
            </a:r>
            <a:r>
              <a:rPr lang="pt-BR" b="1" i="1" dirty="0">
                <a:solidFill>
                  <a:srgbClr val="7030A0"/>
                </a:solidFill>
                <a:effectLst/>
              </a:rPr>
              <a:t>dividir o conjunto total de dados em subconjuntos</a:t>
            </a:r>
            <a:r>
              <a:rPr lang="pt-BR" b="0" i="0" dirty="0">
                <a:solidFill>
                  <a:srgbClr val="0F0F0F"/>
                </a:solidFill>
                <a:effectLst/>
              </a:rPr>
              <a:t> e realizar</a:t>
            </a:r>
            <a:r>
              <a:rPr lang="pt-BR" b="1" i="1" dirty="0">
                <a:solidFill>
                  <a:srgbClr val="7030A0"/>
                </a:solidFill>
                <a:effectLst/>
              </a:rPr>
              <a:t> uma ou mais rodadas de treinamento e validação </a:t>
            </a:r>
            <a:r>
              <a:rPr lang="pt-BR" b="0" i="0" dirty="0">
                <a:solidFill>
                  <a:srgbClr val="0F0F0F"/>
                </a:solidFill>
                <a:effectLst/>
              </a:rPr>
              <a:t>do modelo com </a:t>
            </a:r>
            <a:r>
              <a:rPr lang="pt-BR" b="1" i="1" dirty="0">
                <a:solidFill>
                  <a:srgbClr val="7030A0"/>
                </a:solidFill>
                <a:effectLst/>
              </a:rPr>
              <a:t>uma ou mais combinações desses subconjuntos</a:t>
            </a:r>
            <a:r>
              <a:rPr lang="pt-BR" dirty="0">
                <a:solidFill>
                  <a:srgbClr val="0F0F0F"/>
                </a:solidFill>
              </a:rPr>
              <a:t>.</a:t>
            </a:r>
            <a:endParaRPr lang="pt-BR" b="0" i="0" dirty="0">
              <a:solidFill>
                <a:srgbClr val="0F0F0F"/>
              </a:solidFill>
              <a:effectLst/>
            </a:endParaRPr>
          </a:p>
          <a:p>
            <a:r>
              <a:rPr lang="pt-BR" b="0" i="0" dirty="0">
                <a:solidFill>
                  <a:srgbClr val="0F0F0F"/>
                </a:solidFill>
                <a:effectLst/>
              </a:rPr>
              <a:t>A validação cruzada é uma ferramenta importante para </a:t>
            </a:r>
            <a:r>
              <a:rPr lang="pt-BR" b="1" i="1" dirty="0">
                <a:solidFill>
                  <a:srgbClr val="0070C0"/>
                </a:solidFill>
                <a:effectLst/>
              </a:rPr>
              <a:t>comparar e selecionar modelos</a:t>
            </a:r>
            <a:r>
              <a:rPr lang="pt-BR" b="0" i="0" dirty="0">
                <a:solidFill>
                  <a:srgbClr val="0F0F0F"/>
                </a:solidFill>
                <a:effectLst/>
              </a:rPr>
              <a:t> e para </a:t>
            </a:r>
            <a:r>
              <a:rPr lang="pt-BR" b="1" i="1" dirty="0">
                <a:solidFill>
                  <a:schemeClr val="accent2"/>
                </a:solidFill>
                <a:effectLst/>
              </a:rPr>
              <a:t>ajustar hiperparâmetros</a:t>
            </a:r>
            <a:r>
              <a:rPr lang="pt-BR" b="0" i="0" dirty="0">
                <a:solidFill>
                  <a:srgbClr val="0F0F0F"/>
                </a:solidFill>
                <a:effectLst/>
              </a:rPr>
              <a:t> como, por exemplo, o </a:t>
            </a:r>
            <a:r>
              <a:rPr lang="pt-BR" b="1" i="1" dirty="0">
                <a:solidFill>
                  <a:srgbClr val="0070C0"/>
                </a:solidFill>
                <a:effectLst/>
              </a:rPr>
              <a:t>passo de aprendizagem</a:t>
            </a:r>
            <a:r>
              <a:rPr lang="pt-BR" b="0" i="0" dirty="0">
                <a:solidFill>
                  <a:srgbClr val="0F0F0F"/>
                </a:solidFill>
                <a:effectLst/>
              </a:rPr>
              <a:t>, o </a:t>
            </a:r>
            <a:r>
              <a:rPr lang="pt-BR" b="1" i="1" dirty="0">
                <a:solidFill>
                  <a:srgbClr val="0070C0"/>
                </a:solidFill>
                <a:effectLst/>
              </a:rPr>
              <a:t>grau do polinômio</a:t>
            </a:r>
            <a:r>
              <a:rPr lang="pt-BR" b="0" i="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i="1" dirty="0">
                <a:solidFill>
                  <a:srgbClr val="0070C0"/>
                </a:solidFill>
              </a:rPr>
              <a:t>objetivo</a:t>
            </a:r>
            <a:r>
              <a:rPr lang="pt-BR" dirty="0"/>
              <a:t> da </a:t>
            </a:r>
            <a:r>
              <a:rPr lang="pt-BR" b="1" i="1" dirty="0"/>
              <a:t>validação cruzada </a:t>
            </a:r>
            <a:r>
              <a:rPr lang="pt-BR" dirty="0"/>
              <a:t>é encontrar um </a:t>
            </a:r>
            <a:r>
              <a:rPr lang="pt-BR" b="1" i="1" dirty="0">
                <a:solidFill>
                  <a:srgbClr val="0070C0"/>
                </a:solidFill>
              </a:rPr>
              <a:t>ponto de equilíbrio</a:t>
            </a:r>
            <a:r>
              <a:rPr lang="pt-BR" dirty="0"/>
              <a:t> entre a </a:t>
            </a:r>
            <a:r>
              <a:rPr lang="pt-BR" b="1" i="1" dirty="0">
                <a:solidFill>
                  <a:srgbClr val="7030A0"/>
                </a:solidFill>
              </a:rPr>
              <a:t>flexibilidade</a:t>
            </a:r>
            <a:r>
              <a:rPr lang="pt-BR" dirty="0"/>
              <a:t> e a </a:t>
            </a:r>
            <a:r>
              <a:rPr lang="pt-BR" b="1" i="1" dirty="0">
                <a:solidFill>
                  <a:srgbClr val="7030A0"/>
                </a:solidFill>
              </a:rPr>
              <a:t>capacidade de generalização</a:t>
            </a:r>
            <a:r>
              <a:rPr lang="pt-BR" dirty="0"/>
              <a:t> do modelo (e.g., polinômio).</a:t>
            </a:r>
          </a:p>
          <a:p>
            <a:r>
              <a:rPr lang="pt-BR" dirty="0"/>
              <a:t>Um </a:t>
            </a:r>
            <a:r>
              <a:rPr lang="pt-BR" b="1" i="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i="1" dirty="0">
                <a:solidFill>
                  <a:schemeClr val="accent2"/>
                </a:solidFill>
              </a:rPr>
              <a:t>suficiente</a:t>
            </a:r>
            <a:r>
              <a:rPr lang="pt-BR" dirty="0"/>
              <a:t> para se ajustar ao </a:t>
            </a:r>
            <a:r>
              <a:rPr lang="pt-BR" b="1" i="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i="1" dirty="0">
                <a:solidFill>
                  <a:srgbClr val="7030A0"/>
                </a:solidFill>
              </a:rPr>
              <a:t>flexibilidade</a:t>
            </a:r>
            <a:r>
              <a:rPr lang="pt-BR" dirty="0"/>
              <a:t> de um modelo é </a:t>
            </a:r>
            <a:r>
              <a:rPr lang="pt-BR" b="1" i="1" dirty="0">
                <a:solidFill>
                  <a:srgbClr val="00B050"/>
                </a:solidFill>
              </a:rPr>
              <a:t>estimada</a:t>
            </a:r>
            <a:r>
              <a:rPr lang="pt-BR" dirty="0"/>
              <a:t> através do </a:t>
            </a:r>
            <a:r>
              <a:rPr lang="pt-BR" b="1" i="1" dirty="0">
                <a:solidFill>
                  <a:srgbClr val="00B050"/>
                </a:solidFill>
              </a:rPr>
              <a:t>erro de treinamento</a:t>
            </a:r>
            <a:r>
              <a:rPr lang="pt-BR" dirty="0"/>
              <a:t> e a </a:t>
            </a:r>
            <a:r>
              <a:rPr lang="pt-BR" b="1" i="1" dirty="0">
                <a:solidFill>
                  <a:srgbClr val="7030A0"/>
                </a:solidFill>
              </a:rPr>
              <a:t>capacidade de generalização</a:t>
            </a:r>
            <a:r>
              <a:rPr lang="pt-BR" dirty="0"/>
              <a:t> é </a:t>
            </a:r>
            <a:r>
              <a:rPr lang="pt-BR" b="1" i="1" dirty="0">
                <a:solidFill>
                  <a:srgbClr val="00B050"/>
                </a:solidFill>
              </a:rPr>
              <a:t>estimada</a:t>
            </a:r>
            <a:r>
              <a:rPr lang="pt-BR" dirty="0"/>
              <a:t> através do </a:t>
            </a:r>
            <a:r>
              <a:rPr lang="pt-BR" b="1" i="1" dirty="0">
                <a:solidFill>
                  <a:srgbClr val="00B050"/>
                </a:solidFill>
              </a:rPr>
              <a:t>erro de validação</a:t>
            </a:r>
            <a:r>
              <a:rPr lang="pt-BR" dirty="0"/>
              <a:t> ou </a:t>
            </a:r>
            <a:r>
              <a:rPr lang="pt-BR" b="1" i="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i="1" dirty="0">
                    <a:solidFill>
                      <a:srgbClr val="00B050"/>
                    </a:solidFill>
                  </a:rPr>
                  <a:t>validação cruzada</a:t>
                </a:r>
                <a:r>
                  <a:rPr lang="pt-BR" dirty="0"/>
                  <a:t> para </a:t>
                </a:r>
                <a:r>
                  <a:rPr lang="pt-BR" b="1" i="1" dirty="0">
                    <a:solidFill>
                      <a:srgbClr val="00B050"/>
                    </a:solidFill>
                  </a:rPr>
                  <a:t>encontrar o grau ideal da função hipótese polinomial</a:t>
                </a:r>
                <a:r>
                  <a:rPr lang="pt-BR" dirty="0"/>
                  <a:t>, o </a:t>
                </a:r>
                <a:r>
                  <a:rPr lang="pt-BR" b="1" i="1" dirty="0">
                    <a:solidFill>
                      <a:srgbClr val="7030A0"/>
                    </a:solidFill>
                  </a:rPr>
                  <a:t>comportamento destes dois erros</a:t>
                </a:r>
                <a:r>
                  <a:rPr lang="pt-BR" dirty="0"/>
                  <a:t> vai nos ajudar a verificar </a:t>
                </a:r>
                <a:r>
                  <a:rPr lang="pt-BR" b="1" i="1" dirty="0">
                    <a:solidFill>
                      <a:srgbClr val="0070C0"/>
                    </a:solidFill>
                  </a:rPr>
                  <a:t>quais graus fazem o modelo se ajustar demais</a:t>
                </a:r>
                <a:r>
                  <a:rPr lang="pt-BR" dirty="0"/>
                  <a:t> </a:t>
                </a:r>
                <a:r>
                  <a:rPr lang="pt-BR" b="1" i="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a:latin typeface="Cambria Math" panose="02040503050406030204" pitchFamily="18" charset="0"/>
                      </a:rPr>
                      <m:t>𝑘</m:t>
                    </m:r>
                  </m:oMath>
                </a14:m>
                <a:r>
                  <a:rPr lang="pt-BR" dirty="0"/>
                  <a:t>-</a:t>
                </a:r>
                <a:r>
                  <a:rPr lang="pt-BR" i="1" dirty="0" err="1"/>
                  <a:t>fold</a:t>
                </a:r>
                <a:r>
                  <a:rPr lang="pt-BR" i="1" dirty="0"/>
                  <a:t>.</a:t>
                </a:r>
                <a:endParaRPr lang="pt-BR" dirty="0"/>
              </a:p>
              <a:p>
                <a:r>
                  <a:rPr lang="pt-BR" dirty="0"/>
                  <a:t>Existem outras, como </a:t>
                </a:r>
                <a:r>
                  <a:rPr lang="pt-BR" dirty="0" err="1"/>
                  <a:t>holdout</a:t>
                </a:r>
                <a:r>
                  <a:rPr lang="pt-BR" dirty="0"/>
                  <a:t> e </a:t>
                </a:r>
                <a:r>
                  <a:rPr lang="pt-BR" dirty="0" err="1"/>
                  <a:t>leave-pout</a:t>
                </a:r>
                <a:r>
                  <a:rPr lang="pt-BR" dirty="0"/>
                  <a:t>, mas focaremos no </a:t>
                </a:r>
                <a14:m>
                  <m:oMath xmlns:m="http://schemas.openxmlformats.org/officeDocument/2006/math">
                    <m:r>
                      <a:rPr lang="pt-BR" i="1">
                        <a:latin typeface="Cambria Math" panose="02040503050406030204" pitchFamily="18" charset="0"/>
                      </a:rPr>
                      <m:t>𝑘</m:t>
                    </m:r>
                  </m:oMath>
                </a14:m>
                <a:r>
                  <a:rPr lang="pt-BR" dirty="0"/>
                  <a:t>-</a:t>
                </a:r>
                <a:r>
                  <a:rPr lang="pt-BR" i="1" dirty="0" err="1"/>
                  <a:t>fold</a:t>
                </a:r>
                <a:r>
                  <a:rPr lang="pt-BR" i="1" dirty="0"/>
                  <a:t>.</a:t>
                </a:r>
              </a:p>
            </p:txBody>
          </p:sp>
        </mc:Choice>
        <mc:Fallback>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lnSpcReduction="10000"/>
          </a:bodyPr>
          <a:lstStyle/>
          <a:p>
            <a:r>
              <a:rPr lang="pt-BR" dirty="0"/>
              <a:t>É uma estratégia mais elaborada do que a do </a:t>
            </a:r>
            <a:r>
              <a:rPr lang="pt-BR" i="1" dirty="0" err="1"/>
              <a:t>holdout</a:t>
            </a:r>
            <a:r>
              <a:rPr lang="pt-BR" dirty="0"/>
              <a:t>.</a:t>
            </a:r>
          </a:p>
          <a:p>
            <a:r>
              <a:rPr lang="pt-BR" dirty="0">
                <a:solidFill>
                  <a:srgbClr val="0F0F0F"/>
                </a:solidFill>
              </a:rPr>
              <a:t>A estratégia consiste em embaralhar (opcional) e </a:t>
            </a:r>
            <a:r>
              <a:rPr lang="pt-BR" b="1" i="1" dirty="0">
                <a:solidFill>
                  <a:srgbClr val="00B050"/>
                </a:solidFill>
              </a:rPr>
              <a:t>dividir o </a:t>
            </a:r>
            <a:r>
              <a:rPr lang="pt-BR" b="1" i="1" dirty="0">
                <a:solidFill>
                  <a:srgbClr val="00B050"/>
                </a:solidFill>
                <a:effectLst/>
              </a:rPr>
              <a:t>conjunto total de dados em</a:t>
            </a:r>
            <a:r>
              <a:rPr lang="pt-BR" b="0" i="0" dirty="0">
                <a:solidFill>
                  <a:srgbClr val="0F0F0F"/>
                </a:solidFill>
                <a:effectLst/>
              </a:rPr>
              <a:t> 𝒌</a:t>
            </a:r>
            <a:r>
              <a:rPr lang="pt-BR" dirty="0">
                <a:solidFill>
                  <a:srgbClr val="0F0F0F"/>
                </a:solidFill>
              </a:rPr>
              <a:t> </a:t>
            </a:r>
            <a:r>
              <a:rPr lang="pt-BR" b="1" i="1" dirty="0">
                <a:solidFill>
                  <a:srgbClr val="00B050"/>
                </a:solidFill>
                <a:effectLst/>
              </a:rPr>
              <a:t>partes</a:t>
            </a:r>
            <a:r>
              <a:rPr lang="pt-BR" b="0" i="0" dirty="0">
                <a:solidFill>
                  <a:srgbClr val="0F0F0F"/>
                </a:solidFill>
                <a:effectLst/>
              </a:rPr>
              <a:t> (ou </a:t>
            </a:r>
            <a:r>
              <a:rPr lang="pt-BR" b="0" i="1" dirty="0">
                <a:solidFill>
                  <a:srgbClr val="0F0F0F"/>
                </a:solidFill>
                <a:effectLst/>
              </a:rPr>
              <a:t>folds</a:t>
            </a:r>
            <a:r>
              <a:rPr lang="pt-BR" b="0" i="0" dirty="0">
                <a:solidFill>
                  <a:srgbClr val="0F0F0F"/>
                </a:solidFill>
                <a:effectLst/>
              </a:rPr>
              <a:t>) </a:t>
            </a:r>
            <a:r>
              <a:rPr lang="pt-BR" b="1" i="1" dirty="0">
                <a:solidFill>
                  <a:srgbClr val="00B050"/>
                </a:solidFill>
                <a:effectLst/>
              </a:rPr>
              <a:t>iguais</a:t>
            </a:r>
            <a:r>
              <a:rPr lang="pt-BR" b="0" i="0" dirty="0">
                <a:solidFill>
                  <a:srgbClr val="0F0F0F"/>
                </a:solidFill>
                <a:effectLst/>
              </a:rPr>
              <a:t>. </a:t>
            </a:r>
          </a:p>
          <a:p>
            <a:r>
              <a:rPr lang="pt-BR" b="0" i="0" dirty="0">
                <a:solidFill>
                  <a:srgbClr val="0F0F0F"/>
                </a:solidFill>
                <a:effectLst/>
              </a:rPr>
              <a:t>O </a:t>
            </a:r>
            <a:r>
              <a:rPr lang="pt-BR" b="1" i="1" dirty="0">
                <a:solidFill>
                  <a:srgbClr val="7030A0"/>
                </a:solidFill>
                <a:effectLst/>
              </a:rPr>
              <a:t>modelo é treinado</a:t>
            </a:r>
            <a:r>
              <a:rPr lang="pt-BR" b="0" i="0" dirty="0">
                <a:solidFill>
                  <a:srgbClr val="0F0F0F"/>
                </a:solidFill>
                <a:effectLst/>
              </a:rPr>
              <a:t> 𝒌 </a:t>
            </a:r>
            <a:r>
              <a:rPr lang="pt-BR" b="1" i="1" dirty="0">
                <a:solidFill>
                  <a:srgbClr val="7030A0"/>
                </a:solidFill>
                <a:effectLst/>
              </a:rPr>
              <a:t>vezes</a:t>
            </a:r>
            <a:r>
              <a:rPr lang="pt-BR" b="0" i="0" dirty="0">
                <a:solidFill>
                  <a:srgbClr val="0F0F0F"/>
                </a:solidFill>
                <a:effectLst/>
              </a:rPr>
              <a:t>, cada vez usando 𝒌</a:t>
            </a:r>
            <a:r>
              <a:rPr lang="pt-BR" b="1" i="1" dirty="0">
                <a:solidFill>
                  <a:srgbClr val="0F0F0F"/>
                </a:solidFill>
                <a:effectLst/>
              </a:rPr>
              <a:t>-1</a:t>
            </a:r>
            <a:r>
              <a:rPr lang="pt-BR" b="0" i="0" dirty="0">
                <a:solidFill>
                  <a:srgbClr val="0F0F0F"/>
                </a:solidFill>
                <a:effectLst/>
              </a:rPr>
              <a:t> partes como conjunto de treinamento e a parte restante como conjunto de validação.</a:t>
            </a:r>
          </a:p>
          <a:p>
            <a:r>
              <a:rPr lang="pt-BR" dirty="0">
                <a:solidFill>
                  <a:srgbClr val="0F0F0F"/>
                </a:solidFill>
              </a:rPr>
              <a:t>O </a:t>
            </a:r>
            <a:r>
              <a:rPr lang="pt-BR" b="1" i="1" dirty="0">
                <a:solidFill>
                  <a:srgbClr val="0070C0"/>
                </a:solidFill>
              </a:rPr>
              <a:t>EQM com cada conjunto de validação</a:t>
            </a:r>
            <a:r>
              <a:rPr lang="pt-BR" dirty="0">
                <a:solidFill>
                  <a:srgbClr val="0F0F0F"/>
                </a:solidFill>
              </a:rPr>
              <a:t> é calculado </a:t>
            </a:r>
            <a:r>
              <a:rPr lang="pt-BR" b="1" i="1" dirty="0">
                <a:solidFill>
                  <a:srgbClr val="0070C0"/>
                </a:solidFill>
              </a:rPr>
              <a:t>ao final de cada treinamento</a:t>
            </a:r>
            <a:r>
              <a:rPr lang="pt-BR" dirty="0">
                <a:solidFill>
                  <a:srgbClr val="0F0F0F"/>
                </a:solidFill>
              </a:rPr>
              <a:t>.</a:t>
            </a:r>
            <a:endParaRPr lang="pt-BR" b="0" i="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6096000" y="1825624"/>
            <a:ext cx="5956300" cy="5032375"/>
          </a:xfrm>
        </p:spPr>
        <p:txBody>
          <a:bodyPr>
            <a:normAutofit/>
          </a:bodyPr>
          <a:lstStyle/>
          <a:p>
            <a:r>
              <a:rPr lang="pt-BR" b="0" i="0" dirty="0">
                <a:solidFill>
                  <a:srgbClr val="0F0F0F"/>
                </a:solidFill>
                <a:effectLst/>
              </a:rPr>
              <a:t>Ao final dos 𝒌 treinamentos, calcula-se a </a:t>
            </a:r>
            <a:r>
              <a:rPr lang="pt-BR" b="1" i="1" dirty="0">
                <a:solidFill>
                  <a:srgbClr val="0070C0"/>
                </a:solidFill>
                <a:effectLst/>
              </a:rPr>
              <a:t>média</a:t>
            </a:r>
            <a:r>
              <a:rPr lang="pt-BR" b="0" i="0" dirty="0">
                <a:solidFill>
                  <a:srgbClr val="0F0F0F"/>
                </a:solidFill>
                <a:effectLst/>
              </a:rPr>
              <a:t> e o </a:t>
            </a:r>
            <a:r>
              <a:rPr lang="pt-BR" b="1" i="1" dirty="0">
                <a:solidFill>
                  <a:srgbClr val="0070C0"/>
                </a:solidFill>
                <a:effectLst/>
              </a:rPr>
              <a:t>desvio padrão</a:t>
            </a:r>
            <a:r>
              <a:rPr lang="pt-BR" b="0" i="0" dirty="0">
                <a:solidFill>
                  <a:srgbClr val="0F0F0F"/>
                </a:solidFill>
                <a:effectLst/>
              </a:rPr>
              <a:t> dos 𝒌 </a:t>
            </a:r>
            <a:r>
              <a:rPr lang="pt-BR" b="0" i="0" dirty="0" err="1">
                <a:solidFill>
                  <a:srgbClr val="0F0F0F"/>
                </a:solidFill>
                <a:effectLst/>
              </a:rPr>
              <a:t>EQMs</a:t>
            </a:r>
            <a:r>
              <a:rPr lang="pt-BR" b="0" i="0" dirty="0">
                <a:solidFill>
                  <a:srgbClr val="0F0F0F"/>
                </a:solidFill>
                <a:effectLst/>
              </a:rPr>
              <a:t> de validação para fornecer uma </a:t>
            </a:r>
            <a:r>
              <a:rPr lang="pt-BR" b="1" i="1" dirty="0">
                <a:solidFill>
                  <a:srgbClr val="00B050"/>
                </a:solidFill>
                <a:effectLst/>
              </a:rPr>
              <a:t>avaliação geral do desempenho do modelo.</a:t>
            </a:r>
          </a:p>
          <a:p>
            <a:r>
              <a:rPr lang="pt-BR" sz="2800" dirty="0"/>
              <a:t>Em geral, utiliza-se </a:t>
            </a:r>
            <a:r>
              <a:rPr lang="pt-BR" b="0" i="0" dirty="0">
                <a:solidFill>
                  <a:srgbClr val="0F0F0F"/>
                </a:solidFill>
                <a:effectLst/>
              </a:rPr>
              <a:t>𝒌</a:t>
            </a:r>
            <a:r>
              <a:rPr lang="pt-BR" sz="2800" dirty="0"/>
              <a:t> = 5 ou 10.</a:t>
            </a:r>
          </a:p>
          <a:p>
            <a:r>
              <a:rPr lang="pt-BR" sz="2800" dirty="0"/>
              <a:t>Porém, </a:t>
            </a:r>
            <a:r>
              <a:rPr lang="pt-BR" b="0" i="0" dirty="0">
                <a:solidFill>
                  <a:srgbClr val="0F0F0F"/>
                </a:solidFill>
                <a:effectLst/>
              </a:rPr>
              <a:t>𝒌</a:t>
            </a:r>
            <a:r>
              <a:rPr lang="pt-BR" sz="2800" dirty="0"/>
              <a:t> deve ser escolhido de forma que os </a:t>
            </a:r>
            <a:r>
              <a:rPr lang="pt-BR" sz="2800" i="1" dirty="0"/>
              <a:t>folds</a:t>
            </a:r>
            <a:r>
              <a:rPr lang="pt-BR" sz="2800" dirty="0"/>
              <a:t> sejam </a:t>
            </a:r>
            <a:r>
              <a:rPr lang="pt-BR" sz="2800" b="1" i="1" dirty="0">
                <a:solidFill>
                  <a:schemeClr val="accent2"/>
                </a:solidFill>
              </a:rPr>
              <a:t>representativos</a:t>
            </a:r>
            <a:r>
              <a:rPr lang="pt-BR" sz="2800" b="1" i="1" dirty="0"/>
              <a:t> do padrão presente nos dados.</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39771852-6C63-AF70-4850-767FD5F1D2F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39771852-6C63-AF70-4850-767FD5F1D2F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6A88D6D-1190-332D-27ED-32512817224F}"/>
                  </a:ext>
                </a:extLst>
              </p:cNvPr>
              <p:cNvSpPr>
                <a:spLocks noGrp="1"/>
              </p:cNvSpPr>
              <p:nvPr>
                <p:ph idx="1"/>
              </p:nvPr>
            </p:nvSpPr>
            <p:spPr>
              <a:xfrm>
                <a:off x="838200" y="1825624"/>
                <a:ext cx="11099800" cy="5032375"/>
              </a:xfrm>
            </p:spPr>
            <p:txBody>
              <a:bodyPr>
                <a:normAutofit/>
              </a:bodyPr>
              <a:lstStyle/>
              <a:p>
                <a:r>
                  <a:rPr lang="pt-BR" sz="2800" dirty="0"/>
                  <a:t>O </a:t>
                </a:r>
                <a14:m>
                  <m:oMath xmlns:m="http://schemas.openxmlformats.org/officeDocument/2006/math">
                    <m:r>
                      <a:rPr lang="pt-BR" sz="2800" b="0" i="1" smtClean="0">
                        <a:solidFill>
                          <a:srgbClr val="0F0F0F"/>
                        </a:solidFill>
                        <a:effectLst/>
                        <a:latin typeface="Cambria Math" panose="02040503050406030204" pitchFamily="18" charset="0"/>
                      </a:rPr>
                      <m:t>𝑘</m:t>
                    </m:r>
                  </m:oMath>
                </a14:m>
                <a:r>
                  <a:rPr lang="pt-BR" sz="2800" dirty="0"/>
                  <a:t>-</a:t>
                </a:r>
                <a:r>
                  <a:rPr lang="pt-BR" sz="2800" i="1" dirty="0" err="1"/>
                  <a:t>fold</a:t>
                </a:r>
                <a:r>
                  <a:rPr lang="pt-BR" sz="2800" dirty="0"/>
                  <a:t> é a estratégia de validação cruzada mais usada por </a:t>
                </a:r>
                <a:r>
                  <a:rPr lang="pt-BR" dirty="0"/>
                  <a:t>fornecer </a:t>
                </a:r>
                <a:r>
                  <a:rPr lang="pt-BR" b="1" i="1" dirty="0">
                    <a:solidFill>
                      <a:srgbClr val="7030A0"/>
                    </a:solidFill>
                  </a:rPr>
                  <a:t>indicações mais claras</a:t>
                </a:r>
                <a:r>
                  <a:rPr lang="pt-BR" dirty="0">
                    <a:solidFill>
                      <a:srgbClr val="7030A0"/>
                    </a:solidFill>
                  </a:rPr>
                  <a:t> </a:t>
                </a:r>
                <a:r>
                  <a:rPr lang="pt-BR" dirty="0"/>
                  <a:t>sobre desempenho do modelo, devido à média tomada.</a:t>
                </a:r>
              </a:p>
              <a:p>
                <a:r>
                  <a:rPr lang="pt-BR" dirty="0"/>
                  <a:t>Essa avaliação</a:t>
                </a:r>
                <a:r>
                  <a:rPr lang="pt-BR" b="1" i="1" dirty="0">
                    <a:solidFill>
                      <a:srgbClr val="00B050"/>
                    </a:solidFill>
                  </a:rPr>
                  <a:t> minimiza os possíveis efeitos provocados pelo </a:t>
                </a:r>
                <a:r>
                  <a:rPr lang="pt-BR" b="1" i="1" dirty="0">
                    <a:solidFill>
                      <a:srgbClr val="7030A0"/>
                    </a:solidFill>
                  </a:rPr>
                  <a:t>viés de seleção</a:t>
                </a:r>
                <a:r>
                  <a:rPr lang="pt-BR" dirty="0"/>
                  <a:t>, pois o modelo é treinado e validado </a:t>
                </a:r>
                <a:r>
                  <a:rPr lang="pt-BR" dirty="0">
                    <a:solidFill>
                      <a:srgbClr val="0F0F0F"/>
                    </a:solidFill>
                  </a:rPr>
                  <a:t>𝒌 vezes, </a:t>
                </a:r>
                <a:r>
                  <a:rPr lang="pt-BR" dirty="0"/>
                  <a:t>cada vez com uma divisão diferente dos dados.</a:t>
                </a:r>
              </a:p>
              <a:p>
                <a:pPr lvl="1">
                  <a:buFont typeface="Wingdings" panose="05000000000000000000" pitchFamily="2" charset="2"/>
                  <a:buChar char="§"/>
                </a:pPr>
                <a:r>
                  <a:rPr lang="pt-BR" dirty="0"/>
                  <a:t>Isso faz com que a </a:t>
                </a:r>
                <a:r>
                  <a:rPr lang="pt-BR" b="1" i="1" dirty="0">
                    <a:solidFill>
                      <a:srgbClr val="00B0F0"/>
                    </a:solidFill>
                  </a:rPr>
                  <a:t>avaliação geral do modelo </a:t>
                </a:r>
                <a:r>
                  <a:rPr lang="pt-BR" b="1" i="1" dirty="0">
                    <a:solidFill>
                      <a:schemeClr val="accent2"/>
                    </a:solidFill>
                  </a:rPr>
                  <a:t>se torne menos sensível à divisão dos dados</a:t>
                </a:r>
                <a:r>
                  <a:rPr lang="pt-BR" dirty="0"/>
                  <a:t>.</a:t>
                </a:r>
              </a:p>
              <a:p>
                <a:r>
                  <a:rPr lang="pt-BR" dirty="0"/>
                  <a:t>Entretanto, em relação ao </a:t>
                </a:r>
                <a:r>
                  <a:rPr lang="pt-BR" i="1" dirty="0"/>
                  <a:t>holdout</a:t>
                </a:r>
                <a:r>
                  <a:rPr lang="pt-BR" dirty="0"/>
                  <a:t>, o </a:t>
                </a:r>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r>
                  <a:rPr lang="pt-BR" dirty="0"/>
                  <a:t> tem um </a:t>
                </a:r>
                <a:r>
                  <a:rPr lang="pt-BR" b="1" i="1" dirty="0">
                    <a:solidFill>
                      <a:schemeClr val="accent5"/>
                    </a:solidFill>
                  </a:rPr>
                  <a:t>tempo de validação maior (cerca de </a:t>
                </a:r>
                <a:r>
                  <a:rPr lang="pt-BR" b="1" dirty="0">
                    <a:solidFill>
                      <a:schemeClr val="accent5"/>
                    </a:solidFill>
                  </a:rPr>
                  <a:t>𝒌</a:t>
                </a:r>
                <a:r>
                  <a:rPr lang="pt-BR" b="1" i="1" dirty="0">
                    <a:solidFill>
                      <a:schemeClr val="accent5"/>
                    </a:solidFill>
                  </a:rPr>
                  <a:t> vezes)</a:t>
                </a:r>
                <a:r>
                  <a:rPr lang="pt-BR" dirty="0"/>
                  <a:t>, pois deve-se realizar </a:t>
                </a:r>
                <a:r>
                  <a:rPr lang="pt-BR" dirty="0">
                    <a:solidFill>
                      <a:srgbClr val="0F0F0F"/>
                    </a:solidFill>
                  </a:rPr>
                  <a:t>𝒌</a:t>
                </a:r>
                <a:r>
                  <a:rPr lang="pt-BR" dirty="0"/>
                  <a:t> treinamentos e validações, enquanto que com o </a:t>
                </a:r>
                <a:r>
                  <a:rPr lang="pt-BR" i="1" dirty="0"/>
                  <a:t>holdout</a:t>
                </a:r>
                <a:r>
                  <a:rPr lang="pt-BR" dirty="0"/>
                  <a:t>, realiza-se apenas um treinamento e validação.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86A88D6D-1190-332D-27ED-32512817224F}"/>
                  </a:ext>
                </a:extLst>
              </p:cNvPr>
              <p:cNvSpPr>
                <a:spLocks noGrp="1" noRot="1" noChangeAspect="1" noMove="1" noResize="1" noEditPoints="1" noAdjustHandles="1" noChangeArrowheads="1" noChangeShapeType="1" noTextEdit="1"/>
              </p:cNvSpPr>
              <p:nvPr>
                <p:ph idx="1"/>
              </p:nvPr>
            </p:nvSpPr>
            <p:spPr>
              <a:xfrm>
                <a:off x="838200" y="1825624"/>
                <a:ext cx="11099800" cy="5032375"/>
              </a:xfrm>
              <a:blipFill rotWithShape="0">
                <a:blip r:embed="rId4"/>
                <a:stretch>
                  <a:fillRect l="-989" t="-1937" b="-969"/>
                </a:stretch>
              </a:blipFill>
            </p:spPr>
            <p:txBody>
              <a:bodyPr/>
              <a:lstStyle/>
              <a:p>
                <a:r>
                  <a:rPr lang="pt-BR">
                    <a:noFill/>
                  </a:rPr>
                  <a:t> </a:t>
                </a:r>
              </a:p>
            </p:txBody>
          </p:sp>
        </mc:Fallback>
      </mc:AlternateContent>
    </p:spTree>
    <p:extLst>
      <p:ext uri="{BB962C8B-B14F-4D97-AF65-F5344CB8AC3E}">
        <p14:creationId xmlns:p14="http://schemas.microsoft.com/office/powerpoint/2010/main" val="36458005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5223C-13CE-85B8-7435-F5FD8B0F326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CBE2EEF-C84F-43D4-5D37-9D34BEB00B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6438824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A6293-8106-AE33-8C88-C10E0BFB3EEA}"/>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642E11AF-6191-ACB1-1CE8-7B4C4CFE41C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5524368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62A92-55C2-431E-3FAA-7DC08A0AC671}"/>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44A91331-8D79-4209-9910-250A54A6D3D3}"/>
              </a:ext>
            </a:extLst>
          </p:cNvPr>
          <p:cNvSpPr>
            <a:spLocks noGrp="1"/>
          </p:cNvSpPr>
          <p:nvPr>
            <p:ph idx="1"/>
          </p:nvPr>
        </p:nvSpPr>
        <p:spPr/>
        <p:txBody>
          <a:bodyPr/>
          <a:lstStyle/>
          <a:p>
            <a:r>
              <a:rPr lang="pt-BR" dirty="0"/>
              <a:t>Validação cruzada para encontrar grau dos polinômios</a:t>
            </a:r>
            <a:endParaRPr lang="en-US" dirty="0"/>
          </a:p>
        </p:txBody>
      </p:sp>
    </p:spTree>
    <p:extLst>
      <p:ext uri="{BB962C8B-B14F-4D97-AF65-F5344CB8AC3E}">
        <p14:creationId xmlns:p14="http://schemas.microsoft.com/office/powerpoint/2010/main" val="15001855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110645" cy="1851657"/>
          </a:xfrm>
        </p:spPr>
        <p:txBody>
          <a:bodyPr/>
          <a:lstStyle/>
          <a:p>
            <a:r>
              <a:rPr lang="pt-BR" dirty="0"/>
              <a:t>Após o treinamento do modelo, o usamos para fazer </a:t>
            </a:r>
            <a:r>
              <a:rPr lang="pt-BR" b="1" i="1" dirty="0">
                <a:solidFill>
                  <a:srgbClr val="00B050"/>
                </a:solidFill>
              </a:rPr>
              <a:t>inferências</a:t>
            </a:r>
            <a:r>
              <a:rPr lang="pt-BR" dirty="0"/>
              <a:t>.</a:t>
            </a:r>
          </a:p>
          <a:p>
            <a:r>
              <a:rPr lang="pt-BR" dirty="0"/>
              <a:t>Ou seja, o usamos para fazer </a:t>
            </a:r>
            <a:r>
              <a:rPr lang="pt-BR" b="1" i="1" dirty="0">
                <a:solidFill>
                  <a:srgbClr val="00B050"/>
                </a:solidFill>
              </a:rPr>
              <a:t>predições</a:t>
            </a:r>
            <a:r>
              <a:rPr lang="pt-BR" dirty="0"/>
              <a:t> (i.e., valores de saídas) </a:t>
            </a:r>
            <a:r>
              <a:rPr lang="pt-BR" b="1" i="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i="1" dirty="0"/>
              <a:t>apenas para os dados do conjunto de treinamento</a:t>
            </a:r>
            <a:r>
              <a:rPr lang="pt-BR" dirty="0"/>
              <a:t>.</a:t>
            </a:r>
          </a:p>
          <a:p>
            <a:r>
              <a:rPr lang="pt-BR" dirty="0"/>
              <a:t>O </a:t>
            </a:r>
            <a:r>
              <a:rPr lang="pt-BR" b="1" i="1" dirty="0"/>
              <a:t>algoritmo</a:t>
            </a:r>
            <a:r>
              <a:rPr lang="pt-BR" dirty="0"/>
              <a:t> de ML deve </a:t>
            </a:r>
            <a:r>
              <a:rPr lang="pt-BR" b="1" i="1" dirty="0"/>
              <a:t>treinar</a:t>
            </a:r>
            <a:r>
              <a:rPr lang="pt-BR" dirty="0"/>
              <a:t> um </a:t>
            </a:r>
            <a:r>
              <a:rPr lang="pt-BR" b="1" i="1" dirty="0"/>
              <a:t>modelo</a:t>
            </a:r>
            <a:r>
              <a:rPr lang="pt-BR" dirty="0"/>
              <a:t> que </a:t>
            </a:r>
            <a:r>
              <a:rPr lang="pt-BR" b="1" i="1" dirty="0"/>
              <a:t>aprenda</a:t>
            </a:r>
            <a:r>
              <a:rPr lang="pt-BR" dirty="0"/>
              <a:t> uma </a:t>
            </a:r>
            <a:r>
              <a:rPr lang="pt-BR" b="1" i="1" dirty="0">
                <a:solidFill>
                  <a:srgbClr val="7030A0"/>
                </a:solidFill>
              </a:rPr>
              <a:t>solução geral</a:t>
            </a:r>
            <a:r>
              <a:rPr lang="pt-BR" dirty="0"/>
              <a:t>, ou seja, um modelo que </a:t>
            </a:r>
            <a:r>
              <a:rPr lang="pt-BR" b="1" i="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i="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8576</TotalTime>
  <Words>10713</Words>
  <Application>Microsoft Office PowerPoint</Application>
  <PresentationFormat>Widescreen</PresentationFormat>
  <Paragraphs>763</Paragraphs>
  <Slides>69</Slides>
  <Notes>42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69</vt:i4>
      </vt:variant>
    </vt:vector>
  </HeadingPairs>
  <TitlesOfParts>
    <vt:vector size="78"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PowerPoint Presentation</vt:lpstr>
      <vt:lpstr>Validação cruzada</vt:lpstr>
      <vt:lpstr>Validação cruzada</vt:lpstr>
      <vt:lpstr>Validação cruzada</vt:lpstr>
      <vt:lpstr>k-fold</vt:lpstr>
      <vt:lpstr>k-fold</vt:lpstr>
      <vt:lpstr>k-fold</vt:lpstr>
      <vt:lpstr>PowerPoint Presentation</vt:lpstr>
      <vt:lpstr>PowerPoint Presentation</vt:lpstr>
      <vt:lpstr>Validação cruzada</vt:lpstr>
      <vt:lpstr>Inferência</vt:lpstr>
      <vt:lpstr>Generalização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1891</cp:revision>
  <dcterms:created xsi:type="dcterms:W3CDTF">2020-01-20T13:50:05Z</dcterms:created>
  <dcterms:modified xsi:type="dcterms:W3CDTF">2026-02-13T15:24:49Z</dcterms:modified>
</cp:coreProperties>
</file>