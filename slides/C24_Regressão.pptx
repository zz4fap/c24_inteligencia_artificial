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3"/>
  </p:notesMasterIdLst>
  <p:handoutMasterIdLst>
    <p:handoutMasterId r:id="rId94"/>
  </p:handoutMasterIdLst>
  <p:sldIdLst>
    <p:sldId id="256" r:id="rId2"/>
    <p:sldId id="296" r:id="rId3"/>
    <p:sldId id="463" r:id="rId4"/>
    <p:sldId id="517" r:id="rId5"/>
    <p:sldId id="518" r:id="rId6"/>
    <p:sldId id="464" r:id="rId7"/>
    <p:sldId id="470" r:id="rId8"/>
    <p:sldId id="471" r:id="rId9"/>
    <p:sldId id="472" r:id="rId10"/>
    <p:sldId id="465" r:id="rId11"/>
    <p:sldId id="520" r:id="rId12"/>
    <p:sldId id="550" r:id="rId13"/>
    <p:sldId id="522" r:id="rId14"/>
    <p:sldId id="523" r:id="rId15"/>
    <p:sldId id="524" r:id="rId16"/>
    <p:sldId id="481" r:id="rId17"/>
    <p:sldId id="525" r:id="rId18"/>
    <p:sldId id="320" r:id="rId19"/>
    <p:sldId id="526" r:id="rId20"/>
    <p:sldId id="527" r:id="rId21"/>
    <p:sldId id="547" r:id="rId22"/>
    <p:sldId id="528" r:id="rId23"/>
    <p:sldId id="529" r:id="rId24"/>
    <p:sldId id="541" r:id="rId25"/>
    <p:sldId id="532" r:id="rId26"/>
    <p:sldId id="564" r:id="rId27"/>
    <p:sldId id="533" r:id="rId28"/>
    <p:sldId id="435" r:id="rId29"/>
    <p:sldId id="448" r:id="rId30"/>
    <p:sldId id="536" r:id="rId31"/>
    <p:sldId id="407" r:id="rId32"/>
    <p:sldId id="449" r:id="rId33"/>
    <p:sldId id="409" r:id="rId34"/>
    <p:sldId id="410" r:id="rId35"/>
    <p:sldId id="433" r:id="rId36"/>
    <p:sldId id="411" r:id="rId37"/>
    <p:sldId id="432" r:id="rId38"/>
    <p:sldId id="415" r:id="rId39"/>
    <p:sldId id="412" r:id="rId40"/>
    <p:sldId id="413" r:id="rId41"/>
    <p:sldId id="450" r:id="rId42"/>
    <p:sldId id="434" r:id="rId43"/>
    <p:sldId id="414" r:id="rId44"/>
    <p:sldId id="416" r:id="rId45"/>
    <p:sldId id="451" r:id="rId46"/>
    <p:sldId id="417" r:id="rId47"/>
    <p:sldId id="419" r:id="rId48"/>
    <p:sldId id="425" r:id="rId49"/>
    <p:sldId id="537" r:id="rId50"/>
    <p:sldId id="418" r:id="rId51"/>
    <p:sldId id="539" r:id="rId52"/>
    <p:sldId id="542" r:id="rId53"/>
    <p:sldId id="423" r:id="rId54"/>
    <p:sldId id="424" r:id="rId55"/>
    <p:sldId id="429" r:id="rId56"/>
    <p:sldId id="540" r:id="rId57"/>
    <p:sldId id="431" r:id="rId58"/>
    <p:sldId id="546" r:id="rId59"/>
    <p:sldId id="554" r:id="rId60"/>
    <p:sldId id="555" r:id="rId61"/>
    <p:sldId id="549" r:id="rId62"/>
    <p:sldId id="461" r:id="rId63"/>
    <p:sldId id="557" r:id="rId64"/>
    <p:sldId id="558" r:id="rId65"/>
    <p:sldId id="559" r:id="rId66"/>
    <p:sldId id="560" r:id="rId67"/>
    <p:sldId id="561" r:id="rId68"/>
    <p:sldId id="562" r:id="rId69"/>
    <p:sldId id="563" r:id="rId70"/>
    <p:sldId id="543" r:id="rId71"/>
    <p:sldId id="437" r:id="rId72"/>
    <p:sldId id="436" r:id="rId73"/>
    <p:sldId id="443" r:id="rId74"/>
    <p:sldId id="444" r:id="rId75"/>
    <p:sldId id="565" r:id="rId76"/>
    <p:sldId id="420" r:id="rId77"/>
    <p:sldId id="421" r:id="rId78"/>
    <p:sldId id="338" r:id="rId79"/>
    <p:sldId id="370" r:id="rId80"/>
    <p:sldId id="293" r:id="rId81"/>
    <p:sldId id="306" r:id="rId82"/>
    <p:sldId id="446" r:id="rId83"/>
    <p:sldId id="438" r:id="rId84"/>
    <p:sldId id="440" r:id="rId85"/>
    <p:sldId id="441" r:id="rId86"/>
    <p:sldId id="551" r:id="rId87"/>
    <p:sldId id="442" r:id="rId88"/>
    <p:sldId id="552" r:id="rId89"/>
    <p:sldId id="553" r:id="rId90"/>
    <p:sldId id="445" r:id="rId91"/>
    <p:sldId id="447" r:id="rId92"/>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7240" autoAdjust="0"/>
  </p:normalViewPr>
  <p:slideViewPr>
    <p:cSldViewPr snapToGrid="0">
      <p:cViewPr varScale="1">
        <p:scale>
          <a:sx n="85" d="100"/>
          <a:sy n="85" d="100"/>
        </p:scale>
        <p:origin x="181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handoutMaster" Target="handoutMasters/handoutMaster1.xml"/><Relationship Id="rId9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notesMaster" Target="notesMasters/notesMaster1.xml"/><Relationship Id="rId98"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17/02/2026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17/02/2026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16</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id="{564B5010-A526-F1A7-081A-837B0A1AAEC5}"/>
              </a:ext>
            </a:extLst>
          </p:cNvPr>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70</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77</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78</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17/02/2026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17/02/2026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17/02/2026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17/02/2026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17/02/2026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17/02/2026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17/02/2026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17/02/2026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17/02/2026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17/02/2026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17/02/2026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17/02/2026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40.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7"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7" Type="http://schemas.openxmlformats.org/officeDocument/2006/relationships/image" Target="../media/image34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3" Type="http://schemas.openxmlformats.org/officeDocument/2006/relationships/image" Target="../media/image5500.png"/><Relationship Id="rId7" Type="http://schemas.openxmlformats.org/officeDocument/2006/relationships/image" Target="../media/image58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570.png"/><Relationship Id="rId4" Type="http://schemas.openxmlformats.org/officeDocument/2006/relationships/image" Target="../media/image5600.png"/></Relationships>
</file>

<file path=ppt/slides/_rels/slide29.xml.rels><?xml version="1.0" encoding="UTF-8" standalone="yes"?>
<Relationships xmlns="http://schemas.openxmlformats.org/package/2006/relationships"><Relationship Id="rId8" Type="http://schemas.openxmlformats.org/officeDocument/2006/relationships/image" Target="../media/image58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3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36.png"/><Relationship Id="rId7" Type="http://schemas.openxmlformats.org/officeDocument/2006/relationships/image" Target="../media/image18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2.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3.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4.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9.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0.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5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gi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8.jpeg"/></Relationships>
</file>

<file path=ppt/slides/_rels/slide62.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4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62.png"/></Relationships>
</file>

<file path=ppt/slides/_rels/slide74.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52.png"/></Relationships>
</file>

<file path=ppt/slides/_rels/slide7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5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4.jpeg"/><Relationship Id="rId4" Type="http://schemas.openxmlformats.org/officeDocument/2006/relationships/image" Target="../media/image5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uma </a:t>
                </a:r>
                <a:r>
                  <a:rPr lang="pt-BR" b="1" i="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i="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rgbClr val="00B050"/>
                    </a:solidFill>
                  </a:rPr>
                  <a:t>ótima</a:t>
                </a:r>
                <a:r>
                  <a:rPr lang="pt-BR" dirty="0"/>
                  <a:t>.</a:t>
                </a:r>
              </a:p>
              <a:p>
                <a:r>
                  <a:rPr lang="pt-BR" b="0" i="0" dirty="0">
                    <a:solidFill>
                      <a:schemeClr val="tx1"/>
                    </a:solidFill>
                    <a:effectLst/>
                  </a:rPr>
                  <a:t>Ótimo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0B11DDB3-BDC9-57EF-0BC8-921A1B6B8D9B}"/>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id="{AF1170FE-5534-DC43-8150-E2919F18F24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dirty="0"/>
                  <a:t>conjunto</a:t>
                </a:r>
                <a:r>
                  <a:rPr lang="pt-BR" dirty="0"/>
                  <a:t> de valores de entrada, </a:t>
                </a:r>
                <a14:m>
                  <m:oMath xmlns:m="http://schemas.openxmlformats.org/officeDocument/2006/math">
                    <m:r>
                      <a:rPr lang="pt-BR" b="1" i="1" smtClean="0">
                        <a:latin typeface="Cambria Math" panose="02040503050406030204" pitchFamily="18" charset="0"/>
                      </a:rPr>
                      <m:t>𝒙</m:t>
                    </m:r>
                  </m:oMath>
                </a14:m>
                <a:r>
                  <a:rPr lang="pt-BR" dirty="0"/>
                  <a:t> (os </a:t>
                </a:r>
                <a:r>
                  <a:rPr lang="pt-BR" b="1" dirty="0"/>
                  <a:t>atributos</a:t>
                </a:r>
                <a:r>
                  <a:rPr lang="pt-BR" dirty="0"/>
                  <a:t>), e os seus respectivos valores esperados de saída, </a:t>
                </a:r>
                <a14:m>
                  <m:oMath xmlns:m="http://schemas.openxmlformats.org/officeDocument/2006/math">
                    <m:r>
                      <a:rPr lang="pt-BR" b="0" i="1" smtClean="0">
                        <a:latin typeface="Cambria Math" panose="02040503050406030204" pitchFamily="18" charset="0"/>
                      </a:rPr>
                      <m:t>𝑦</m:t>
                    </m:r>
                  </m:oMath>
                </a14:m>
                <a:r>
                  <a:rPr lang="pt-BR" dirty="0"/>
                  <a:t> (os </a:t>
                </a:r>
                <a:r>
                  <a:rPr lang="pt-BR" b="1" dirty="0"/>
                  <a:t>rótulos</a:t>
                </a:r>
                <a:r>
                  <a:rPr lang="pt-BR" dirty="0"/>
                  <a:t>), </a:t>
                </a:r>
                <a:r>
                  <a:rPr lang="pt-BR" b="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35B076-2510-BA54-045E-9FDA19549589}"/>
              </a:ext>
            </a:extLst>
          </p:cNvPr>
          <p:cNvGrpSpPr/>
          <p:nvPr/>
        </p:nvGrpSpPr>
        <p:grpSpPr>
          <a:xfrm>
            <a:off x="313057" y="2511846"/>
            <a:ext cx="4622500" cy="3152391"/>
            <a:chOff x="313057" y="2511846"/>
            <a:chExt cx="4622500" cy="3152391"/>
          </a:xfrm>
        </p:grpSpPr>
        <p:grpSp>
          <p:nvGrpSpPr>
            <p:cNvPr id="8" name="Agrupar 8">
              <a:extLst>
                <a:ext uri="{FF2B5EF4-FFF2-40B4-BE49-F238E27FC236}">
                  <a16:creationId xmlns:a16="http://schemas.microsoft.com/office/drawing/2014/main" id="{6BA6F8C4-313D-7B7A-8A78-327F3069654F}"/>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2FDB8C03-A236-C2AB-BA26-35BCEB12554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D1A24C38-EFA6-2F8B-5C0C-9C486DD9AA95}"/>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57EE6B8B-A053-340A-CAEE-30CFEBD53D7E}"/>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84693792-F9CA-4DDE-7B29-0D00BA687EFA}"/>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2656444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id="{77D13973-0CC4-804D-B65C-ACF1497CA131}"/>
              </a:ext>
            </a:extLst>
          </p:cNvPr>
          <p:cNvSpPr txBox="1"/>
          <p:nvPr/>
        </p:nvSpPr>
        <p:spPr>
          <a:xfrm>
            <a:off x="6543036" y="3032554"/>
            <a:ext cx="3983450" cy="1446550"/>
          </a:xfrm>
          <a:prstGeom prst="rect">
            <a:avLst/>
          </a:prstGeom>
          <a:noFill/>
        </p:spPr>
        <p:txBody>
          <a:bodyPr wrap="square">
            <a:spAutoFit/>
          </a:bodyPr>
          <a:lstStyle/>
          <a:p>
            <a:pPr marL="0" indent="0" algn="ctr">
              <a:buNone/>
            </a:pPr>
            <a:r>
              <a:rPr lang="pt-BR" sz="4400" b="1" dirty="0">
                <a:solidFill>
                  <a:srgbClr val="00B050"/>
                </a:solidFill>
              </a:rPr>
              <a:t>Aprendizado supervisionado</a:t>
            </a:r>
          </a:p>
        </p:txBody>
      </p:sp>
      <p:grpSp>
        <p:nvGrpSpPr>
          <p:cNvPr id="4" name="Group 3">
            <a:extLst>
              <a:ext uri="{FF2B5EF4-FFF2-40B4-BE49-F238E27FC236}">
                <a16:creationId xmlns:a16="http://schemas.microsoft.com/office/drawing/2014/main" id="{74FA83DA-1176-B494-DF6D-26AABD487B72}"/>
              </a:ext>
            </a:extLst>
          </p:cNvPr>
          <p:cNvGrpSpPr/>
          <p:nvPr/>
        </p:nvGrpSpPr>
        <p:grpSpPr>
          <a:xfrm>
            <a:off x="606971" y="2326789"/>
            <a:ext cx="4622500" cy="3152391"/>
            <a:chOff x="313057" y="2511846"/>
            <a:chExt cx="4622500" cy="3152391"/>
          </a:xfrm>
        </p:grpSpPr>
        <p:grpSp>
          <p:nvGrpSpPr>
            <p:cNvPr id="8" name="Agrupar 8">
              <a:extLst>
                <a:ext uri="{FF2B5EF4-FFF2-40B4-BE49-F238E27FC236}">
                  <a16:creationId xmlns:a16="http://schemas.microsoft.com/office/drawing/2014/main" id="{3601490F-BA92-2E2F-4176-8548977CDC6B}"/>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5C8759EA-A495-1092-5721-C2D5BB9697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3DC28E94-1E78-E96F-81AC-6660B1EAE0DB}"/>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18708C14-B461-C0FC-A091-97D0B01047D3}"/>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CD48A18A-A494-29A6-49E8-BAE3B1ECBF7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CD48A18A-A494-29A6-49E8-BAE3B1ECBF7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8000"/>
                  </a:stretch>
                </a:blipFill>
              </p:spPr>
              <p:txBody>
                <a:bodyPr/>
                <a:lstStyle/>
                <a:p>
                  <a:r>
                    <a:rPr lang="en-US">
                      <a:noFill/>
                    </a:rPr>
                    <a:t> </a:t>
                  </a:r>
                </a:p>
              </p:txBody>
            </p:sp>
          </mc:Fallback>
        </mc:AlternateContent>
      </p:grpSp>
    </p:spTree>
    <p:extLst>
      <p:ext uri="{BB962C8B-B14F-4D97-AF65-F5344CB8AC3E}">
        <p14:creationId xmlns:p14="http://schemas.microsoft.com/office/powerpoint/2010/main" val="1720068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i="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relação.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+2</m:t>
                    </m:r>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a:t>
                </a:r>
                <a:r>
                  <a:rPr lang="en-US" dirty="0" err="1"/>
                  <a:t>em</a:t>
                </a:r>
                <a:r>
                  <a:rPr lang="en-US" dirty="0"/>
                  <a:t> </a:t>
                </a:r>
                <a:r>
                  <a:rPr lang="en-US" dirty="0" err="1"/>
                  <a:t>uma</a:t>
                </a:r>
                <a:r>
                  <a:rPr lang="en-US" dirty="0"/>
                  <a:t> </a:t>
                </a:r>
                <a:r>
                  <a:rPr lang="en-US" dirty="0" err="1"/>
                  <a:t>variável</a:t>
                </a:r>
                <a:r>
                  <a:rPr lang="en-US" dirty="0"/>
                  <a:t>).</a:t>
                </a:r>
                <a:endParaRPr lang="pt-BR" i="1" dirty="0"/>
              </a:p>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e o grau (ou ordem)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691742" y="1825624"/>
                <a:ext cx="7413171"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lineares e não lineares </a:t>
                </a:r>
                <a:r>
                  <a:rPr lang="pt-BR" b="1" dirty="0"/>
                  <a:t>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691742" y="1825624"/>
                <a:ext cx="7413171" cy="5032375"/>
              </a:xfrm>
              <a:blipFill>
                <a:blip r:embed="rId3"/>
                <a:stretch>
                  <a:fillRect l="-1480" t="-1937" r="-1151"/>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a:t>
            </a:r>
          </a:p>
          <a:p>
            <a:r>
              <a:rPr lang="pt-BR" dirty="0"/>
              <a:t>Grau 3: curva com até dois pontos de inflexão</a:t>
            </a:r>
          </a:p>
          <a:p>
            <a:r>
              <a:rPr lang="pt-BR" dirty="0"/>
              <a:t>Graus maiores: curvas 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endParaRPr lang="pt-BR" i="1" dirty="0"/>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i="1"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as entradas (i.e., atributos) e as saídas esperadas (i.e., rótulos), o </a:t>
                </a:r>
                <a:r>
                  <a:rPr lang="pt-BR" b="1" dirty="0"/>
                  <a:t>objetivo</a:t>
                </a:r>
                <a:r>
                  <a:rPr lang="pt-BR" dirty="0"/>
                  <a:t> passa a ser encontrar os </a:t>
                </a:r>
                <a:r>
                  <a:rPr lang="pt-BR" b="1" dirty="0"/>
                  <a:t>pesos ótimos</a:t>
                </a:r>
                <a:r>
                  <a:rPr lang="pt-BR" dirty="0"/>
                  <a:t> que </a:t>
                </a:r>
                <a:r>
                  <a:rPr lang="pt-BR" b="1" dirty="0"/>
                  <a:t>minimizam a distância (i.e., </a:t>
                </a:r>
                <a:r>
                  <a:rPr lang="pt-BR" b="1" dirty="0">
                    <a:solidFill>
                      <a:srgbClr val="7030A0"/>
                    </a:solidFill>
                  </a:rPr>
                  <a:t>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objetivo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753600" y="6550223"/>
                <a:ext cx="2438400"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pesos.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753600" y="6550223"/>
                <a:ext cx="2438400" cy="307777"/>
              </a:xfrm>
              <a:prstGeom prst="rect">
                <a:avLst/>
              </a:prstGeom>
              <a:blipFill>
                <a:blip r:embed="rId3"/>
                <a:stretch>
                  <a:fillRect l="-750"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207692" r="-104884" b="-889231"/>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207692" r="-246" b="-889231"/>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407692" r="-104884" b="-689231"/>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141587" r="-246" b="-5397"/>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62755" y="978248"/>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7303912" y="2274838"/>
            <a:ext cx="4391376" cy="2308324"/>
          </a:xfrm>
          <a:prstGeom prst="rect">
            <a:avLst/>
          </a:prstGeom>
          <a:noFill/>
        </p:spPr>
        <p:txBody>
          <a:bodyPr wrap="square" rtlCol="0">
            <a:spAutoFit/>
          </a:bodyPr>
          <a:lstStyle/>
          <a:p>
            <a:pPr algn="ctr"/>
            <a:r>
              <a:rPr lang="pt-BR" sz="3600" dirty="0"/>
              <a:t>O gradiente descendente está por trás dos algoritmos mais populares de ML.</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305778" y="1825624"/>
            <a:ext cx="6762044" cy="5032375"/>
          </a:xfrm>
        </p:spPr>
        <p:txBody>
          <a:bodyPr>
            <a:normAutofit/>
          </a:bodyPr>
          <a:lstStyle/>
          <a:p>
            <a:r>
              <a:rPr lang="pt-BR" dirty="0"/>
              <a:t>O ponto mais baixo nos dá os valores dos </a:t>
            </a:r>
            <a:r>
              <a:rPr lang="pt-BR" b="1" dirty="0"/>
              <a:t>pesos que minimizam a função de erro</a:t>
            </a:r>
            <a:r>
              <a:rPr lang="pt-BR" dirty="0"/>
              <a:t>.</a:t>
            </a:r>
          </a:p>
          <a:p>
            <a:r>
              <a:rPr lang="pt-BR" dirty="0"/>
              <a:t>Quando usamos a função do EQM, por ela ter uma </a:t>
            </a:r>
            <a:r>
              <a:rPr lang="pt-BR" b="1" dirty="0"/>
              <a:t>forma quadrática</a:t>
            </a:r>
            <a:r>
              <a:rPr lang="pt-BR" dirty="0"/>
              <a:t>, a superfície resultante </a:t>
            </a:r>
            <a:r>
              <a:rPr lang="pt-BR" b="1" dirty="0"/>
              <a:t>terá sempre o formato de uma tigela.</a:t>
            </a:r>
            <a:endParaRPr lang="pt-BR" dirty="0"/>
          </a:p>
          <a:p>
            <a:r>
              <a:rPr lang="pt-BR" dirty="0"/>
              <a:t>Ou seja, ela tem o formato de uma </a:t>
            </a:r>
            <a:r>
              <a:rPr lang="pt-BR" b="1" dirty="0"/>
              <a:t>parábola</a:t>
            </a:r>
            <a:r>
              <a:rPr lang="pt-BR" dirty="0"/>
              <a:t>.</a:t>
            </a:r>
          </a:p>
          <a:p>
            <a:r>
              <a:rPr lang="pt-BR" dirty="0"/>
              <a:t>Além disso, devido ao termo quadrático ser positivo, ela terá a </a:t>
            </a:r>
            <a:r>
              <a:rPr lang="pt-BR" b="1" dirty="0"/>
              <a:t>concavidade sempre voltada para cima.</a:t>
            </a:r>
            <a:endParaRPr lang="pt-BR" dirty="0"/>
          </a:p>
        </p:txBody>
      </p:sp>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a:extLst>
              <a:ext uri="{FF2B5EF4-FFF2-40B4-BE49-F238E27FC236}">
                <a16:creationId xmlns:a16="http://schemas.microsoft.com/office/drawing/2014/main" id="{7AB69D25-AF5B-907B-2C8C-AA5F45BF04EF}"/>
              </a:ext>
            </a:extLst>
          </p:cNvPr>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500575" y="1825624"/>
            <a:ext cx="4456768" cy="4360505"/>
            <a:chOff x="55618" y="2251324"/>
            <a:chExt cx="4456768"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456768" cy="4360505"/>
              <a:chOff x="930667" y="1938641"/>
              <a:chExt cx="4456768"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456768" cy="4360505"/>
                <a:chOff x="447782" y="1825625"/>
                <a:chExt cx="4456768"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1" i="1" smtClean="0">
                                    <a:solidFill>
                                      <a:schemeClr val="tx1"/>
                                    </a:solidFill>
                                    <a:latin typeface="Cambria Math" panose="02040503050406030204" pitchFamily="18" charset="0"/>
                                  </a:rPr>
                                  <m:t>ó</m:t>
                                </m:r>
                                <m:r>
                                  <a:rPr lang="pt-BR" b="1" i="1" smtClean="0">
                                    <a:solidFill>
                                      <a:schemeClr val="tx1"/>
                                    </a:solidFill>
                                    <a:latin typeface="Cambria Math" panose="02040503050406030204" pitchFamily="18" charset="0"/>
                                  </a:rPr>
                                  <m:t>𝒕𝒊𝒎𝒐</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 de erro</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Modelos não lineares, como redes neurais, apresentam superfícies de erro totalmente irregulares, com</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 Platôs: região plana com erro alto.</a:t>
            </a:r>
          </a:p>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360505"/>
            <a:chOff x="55618" y="2251324"/>
            <a:chExt cx="4381189"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360505"/>
              <a:chOff x="930667" y="1938641"/>
              <a:chExt cx="4381189"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360505"/>
                <a:chOff x="447782" y="1825625"/>
                <a:chExt cx="4381189"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105"/>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6"/>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8"/>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B66D1129-3E5F-BB00-90C5-B1ADC369787A}"/>
              </a:ext>
            </a:extLst>
          </p:cNvPr>
          <p:cNvSpPr>
            <a:spLocks noGrp="1"/>
          </p:cNvSpPr>
          <p:nvPr>
            <p:ph type="title"/>
          </p:nvPr>
        </p:nvSpPr>
        <p:spPr/>
        <p:txBody>
          <a:bodyPr/>
          <a:lstStyle/>
          <a:p>
            <a:r>
              <a:rPr lang="pt-BR" dirty="0"/>
              <a:t>Vetores gradiente</a:t>
            </a:r>
          </a:p>
        </p:txBody>
      </p:sp>
      <p:sp>
        <p:nvSpPr>
          <p:cNvPr id="3" name="Espaço Reservado para Conteúdo 2">
            <a:extLst>
              <a:ext uri="{FF2B5EF4-FFF2-40B4-BE49-F238E27FC236}">
                <a16:creationId xmlns:a16="http://schemas.microsoft.com/office/drawing/2014/main" id="{1DDC095D-537A-22C7-EBAE-27CDB323C57B}"/>
              </a:ext>
            </a:extLst>
          </p:cNvPr>
          <p:cNvSpPr>
            <a:spLocks noGrp="1"/>
          </p:cNvSpPr>
          <p:nvPr>
            <p:ph idx="1"/>
          </p:nvPr>
        </p:nvSpPr>
        <p:spPr>
          <a:xfrm>
            <a:off x="5587421" y="1825624"/>
            <a:ext cx="6428728" cy="5032375"/>
          </a:xfrm>
        </p:spPr>
        <p:txBody>
          <a:bodyPr/>
          <a:lstStyle/>
          <a:p>
            <a:r>
              <a:rPr lang="pt-BR" dirty="0"/>
              <a:t>Vamos primeiro ver como os vetores gradiente nos ajudam a minimizar o erro.</a:t>
            </a:r>
          </a:p>
          <a:p>
            <a:r>
              <a:rPr lang="pt-BR" dirty="0"/>
              <a:t>Ou seja, como encontrar o </a:t>
            </a:r>
            <a:r>
              <a:rPr lang="pt-BR" b="1" i="1" dirty="0">
                <a:solidFill>
                  <a:srgbClr val="00B050"/>
                </a:solidFill>
              </a:rPr>
              <a:t>ponto de mínimo da função de erro</a:t>
            </a:r>
            <a:r>
              <a:rPr lang="pt-BR" dirty="0"/>
              <a:t>.</a:t>
            </a:r>
          </a:p>
        </p:txBody>
      </p:sp>
      <p:grpSp>
        <p:nvGrpSpPr>
          <p:cNvPr id="22" name="Agrupar 21">
            <a:extLst>
              <a:ext uri="{FF2B5EF4-FFF2-40B4-BE49-F238E27FC236}">
                <a16:creationId xmlns:a16="http://schemas.microsoft.com/office/drawing/2014/main"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da superfície de erro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
        <p:nvSpPr>
          <p:cNvPr id="5" name="TextBox 4">
            <a:extLst>
              <a:ext uri="{FF2B5EF4-FFF2-40B4-BE49-F238E27FC236}">
                <a16:creationId xmlns:a16="http://schemas.microsoft.com/office/drawing/2014/main" id="{4FE89500-E230-5856-4374-C3752C426D23}"/>
              </a:ext>
            </a:extLst>
          </p:cNvPr>
          <p:cNvSpPr txBox="1"/>
          <p:nvPr/>
        </p:nvSpPr>
        <p:spPr>
          <a:xfrm>
            <a:off x="838200" y="5705092"/>
            <a:ext cx="10838016" cy="338554"/>
          </a:xfrm>
          <a:prstGeom prst="rect">
            <a:avLst/>
          </a:prstGeom>
          <a:noFill/>
        </p:spPr>
        <p:txBody>
          <a:bodyPr wrap="square">
            <a:spAutoFit/>
          </a:bodyPr>
          <a:lstStyle/>
          <a:p>
            <a:r>
              <a:rPr lang="pt-BR" sz="1600" b="1" dirty="0"/>
              <a:t>OBS</a:t>
            </a:r>
            <a:r>
              <a:rPr lang="pt-BR" sz="1600" dirty="0"/>
              <a:t>.: Em geral, o erro nunca será igual a 0 devido aos dados estarem corrompidos por algum tipo de ruído.</a:t>
            </a:r>
          </a:p>
        </p:txBody>
      </p:sp>
    </p:spTree>
    <p:extLst>
      <p:ext uri="{BB962C8B-B14F-4D97-AF65-F5344CB8AC3E}">
        <p14:creationId xmlns:p14="http://schemas.microsoft.com/office/powerpoint/2010/main" val="21442016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072272-6A7D-4F6A-0F0F-8EECA4B0D90E}"/>
              </a:ext>
            </a:extLst>
          </p:cNvPr>
          <p:cNvSpPr>
            <a:spLocks noGrp="1"/>
          </p:cNvSpPr>
          <p:nvPr>
            <p:ph idx="1"/>
          </p:nvPr>
        </p:nvSpPr>
        <p:spPr>
          <a:xfrm>
            <a:off x="838200" y="2583055"/>
            <a:ext cx="10515600" cy="1691890"/>
          </a:xfrm>
        </p:spPr>
        <p:txBody>
          <a:bodyPr>
            <a:normAutofit/>
          </a:bodyPr>
          <a:lstStyle/>
          <a:p>
            <a:pPr marL="0" indent="0" algn="ctr">
              <a:buNone/>
            </a:pPr>
            <a:r>
              <a:rPr lang="pt-BR" sz="5400" i="1"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abaixo é chamada de </a:t>
                </a:r>
                <a:r>
                  <a:rPr lang="pt-BR" b="1" i="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novo</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99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b="1" dirty="0"/>
                  <a:t>OBS</a:t>
                </a:r>
                <a:r>
                  <a:rPr lang="pt-BR" dirty="0"/>
                  <a:t>.: Notem que o gradiente é a média dos gradientes de todos os exemplos de treinamento.</a:t>
                </a:r>
              </a:p>
              <a:p>
                <a:r>
                  <a:rPr lang="pt-BR" dirty="0"/>
                  <a:t>Usamos um hiperplano, mas todos os resultados e conclusões que tiraremos </a:t>
                </a:r>
                <a:r>
                  <a:rPr lang="nl-BE" dirty="0"/>
                  <a:t>podem ser diretamente estendidos a polinômios.</a:t>
                </a:r>
                <a:endParaRPr lang="pt-BR" dirty="0"/>
              </a:p>
            </p:txBody>
          </p:sp>
        </mc:Choice>
        <mc:Fallback>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00B05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em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uma amostra</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Atualiza os pesos a cada exemplo processado, gerando uma trajetória oscilatória que flutua ao redor do mínimo devido à estimativa ruidosa do gradiente.</a:t>
                </a:r>
              </a:p>
              <a:p>
                <a:r>
                  <a:rPr lang="pt-BR" dirty="0"/>
                  <a:t>Entretanto, é mais rápido e usa menos CPU e memória do que o GDB.</a:t>
                </a:r>
              </a:p>
            </p:txBody>
          </p:sp>
        </mc:Choice>
        <mc:Fallback>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219" b="-1574"/>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amostras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i="1" dirty="0"/>
              <a:t>Já sabemos como encontrar os pesos de um dado polinômio, mas como descobrimos a complexidade ideal, i.e., o grau deste polinômio?</a:t>
            </a:r>
            <a:endParaRPr lang="en-US" sz="5400" i="1" dirty="0"/>
          </a:p>
        </p:txBody>
      </p:sp>
    </p:spTree>
    <p:extLst>
      <p:ext uri="{BB962C8B-B14F-4D97-AF65-F5344CB8AC3E}">
        <p14:creationId xmlns:p14="http://schemas.microsoft.com/office/powerpoint/2010/main" val="395084870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105444" cy="5032375"/>
          </a:xfrm>
        </p:spPr>
        <p:txBody>
          <a:bodyPr/>
          <a:lstStyle/>
          <a:p>
            <a:r>
              <a:rPr lang="pt-BR" dirty="0"/>
              <a:t>Antes de falarmos sobre a validação cruzada, que é a forma mais usada para de encontrar o melhor modelo, precisamos discutir sobre alguns comportamentos que vamos encontrar durante essa busca.</a:t>
            </a:r>
          </a:p>
          <a:p>
            <a:r>
              <a:rPr lang="pt-BR" dirty="0"/>
              <a:t>Dependendo da complexidade (ou graus de liberdade) do modelo, no caso da regressão, do grau do polinômio, podemos nos deparar com dois comportamentos indesejados:</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9" y="1825624"/>
            <a:ext cx="6449924" cy="5032375"/>
          </a:xfrm>
        </p:spPr>
        <p:txBody>
          <a:bodyPr/>
          <a:lstStyle/>
          <a:p>
            <a:r>
              <a:rPr lang="pt-BR" dirty="0"/>
              <a:t>O modelo é tão flexível (i.e., complexo) que “</a:t>
            </a:r>
            <a:r>
              <a:rPr lang="pt-BR" b="1" dirty="0"/>
              <a:t>memoriza</a:t>
            </a:r>
            <a:r>
              <a:rPr lang="pt-BR" dirty="0"/>
              <a:t>” o conjunto de treinamento.</a:t>
            </a:r>
          </a:p>
          <a:p>
            <a:r>
              <a:rPr lang="pt-BR" dirty="0"/>
              <a:t>Ele se ajusta ao ruído em vez do padrão geral por trás dos dados.</a:t>
            </a:r>
          </a:p>
          <a:p>
            <a:r>
              <a:rPr lang="pt-BR" b="1" dirty="0"/>
              <a:t>Alta variância</a:t>
            </a:r>
            <a:r>
              <a:rPr lang="pt-BR" dirty="0"/>
              <a:t>: o modelo é extremamente sensível ao conjunto de treino.</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não generaliza bem.</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aprender/capturar o padrão geral por trás dos dados de treinamento.</a:t>
            </a:r>
          </a:p>
          <a:p>
            <a:r>
              <a:rPr lang="pt-BR" b="1" dirty="0"/>
              <a:t>Alto viés</a:t>
            </a:r>
            <a:r>
              <a:rPr lang="pt-BR" dirty="0"/>
              <a:t>: faz suposições muito fortes sobre a forma da função (e.g., assumir linearidade quando a relação é curva).</a:t>
            </a:r>
          </a:p>
          <a:p>
            <a:r>
              <a:rPr lang="pt-BR" dirty="0"/>
              <a:t>O modelo não generaliza bem.</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090852"/>
            <a:ext cx="11216148" cy="1767147"/>
          </a:xfrm>
        </p:spPr>
        <p:txBody>
          <a:bodyPr>
            <a:normAutofit lnSpcReduction="10000"/>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a:p>
            <a:r>
              <a:rPr lang="pt-BR" dirty="0"/>
              <a:t>Esse padrão indica alto viés.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dirty="0"/>
              <a:t>Algumas causas: modelo </a:t>
            </a:r>
            <a:r>
              <a:rPr lang="pt-BR" b="1" dirty="0"/>
              <a:t>sem complexidade</a:t>
            </a:r>
            <a:r>
              <a:rPr lang="pt-BR" dirty="0"/>
              <a:t>, </a:t>
            </a:r>
            <a:r>
              <a:rPr lang="pt-BR" b="1" dirty="0"/>
              <a:t>poucas épocas de treinamento</a:t>
            </a:r>
            <a:r>
              <a:rPr lang="pt-BR" dirty="0"/>
              <a:t> e </a:t>
            </a:r>
            <a:r>
              <a:rPr lang="pt-BR" b="1" dirty="0"/>
              <a:t>falta de dados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dirty="0"/>
              <a:t>Como mitigar: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lnSpcReduction="10000"/>
          </a:bodyPr>
          <a:lstStyle/>
          <a:p>
            <a:r>
              <a:rPr lang="pt-BR" dirty="0"/>
              <a:t>O </a:t>
            </a:r>
            <a:r>
              <a:rPr lang="pt-BR" dirty="0">
                <a:effectLst/>
              </a:rPr>
              <a:t>modelo se ajusta excessivamente aos dados de treinamento e perde a capacidade de generalizar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alta variância.</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dirty="0"/>
              <a:t>Algumas causas: </a:t>
            </a:r>
            <a:r>
              <a:rPr lang="pt-BR" b="1" dirty="0"/>
              <a:t>modelo muito complexo </a:t>
            </a:r>
            <a:r>
              <a:rPr lang="pt-BR" dirty="0"/>
              <a:t>em relação à quantidade de dados,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dirty="0"/>
              <a:t>Como mitigar: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 </a:t>
            </a:r>
            <a:r>
              <a:rPr lang="en-US" dirty="0"/>
              <a:t>e</a:t>
            </a:r>
            <a:r>
              <a:rPr lang="en-US" i="1" dirty="0"/>
              <a:t> 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216148"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Ou seja, devemos encontrar um </a:t>
            </a:r>
            <a:r>
              <a:rPr lang="pt-BR" b="1" dirty="0">
                <a:solidFill>
                  <a:srgbClr val="00B050"/>
                </a:solidFill>
                <a:effectLst/>
              </a:rPr>
              <a:t>equilíbrio entre </a:t>
            </a:r>
            <a:r>
              <a:rPr lang="pt-BR" dirty="0">
                <a:effectLst/>
              </a:rPr>
              <a:t>um </a:t>
            </a:r>
            <a:r>
              <a:rPr lang="pt-BR" b="1" dirty="0">
                <a:solidFill>
                  <a:srgbClr val="00B050"/>
                </a:solidFill>
                <a:effectLst/>
              </a:rPr>
              <a:t>modelo muito simples </a:t>
            </a:r>
            <a:r>
              <a:rPr lang="pt-BR" dirty="0">
                <a:effectLst/>
              </a:rPr>
              <a:t>(</a:t>
            </a:r>
            <a:r>
              <a:rPr lang="pt-BR" dirty="0" err="1">
                <a:effectLst/>
              </a:rPr>
              <a:t>subajuste</a:t>
            </a:r>
            <a:r>
              <a:rPr lang="pt-BR" dirty="0">
                <a:effectLst/>
              </a:rPr>
              <a:t>) e um </a:t>
            </a:r>
            <a:r>
              <a:rPr lang="pt-BR" b="1" dirty="0">
                <a:solidFill>
                  <a:srgbClr val="00B050"/>
                </a:solidFill>
                <a:effectLst/>
              </a:rPr>
              <a:t>modelo muito complexo </a:t>
            </a:r>
            <a:r>
              <a:rPr lang="pt-BR" dirty="0">
                <a:effectLst/>
              </a:rPr>
              <a:t>(sobreajuste).</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937956" y="1825624"/>
            <a:ext cx="6254044"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média fornece uma estimativa da capacidade de generalização do</a:t>
            </a:r>
            <a:br>
              <a:rPr lang="pt-BR" dirty="0"/>
            </a:br>
            <a:r>
              <a:rPr lang="pt-BR" dirty="0"/>
              <a:t>modelo em dados inéditos.</a:t>
            </a:r>
          </a:p>
          <a:p>
            <a:pPr lvl="1">
              <a:buFont typeface="Wingdings" panose="05000000000000000000" pitchFamily="2" charset="2"/>
              <a:buChar char="§"/>
            </a:pPr>
            <a:r>
              <a:rPr lang="pt-BR" dirty="0"/>
              <a:t>O desvio padrão indica a</a:t>
            </a:r>
            <a:br>
              <a:rPr lang="pt-BR" dirty="0"/>
            </a:br>
            <a:r>
              <a:rPr lang="pt-BR" dirty="0"/>
              <a:t>estabilidade do modelo diante de diferentes subconjuntos de</a:t>
            </a:r>
            <a:br>
              <a:rPr lang="pt-BR" dirty="0"/>
            </a:br>
            <a:r>
              <a:rPr lang="pt-BR" dirty="0"/>
              <a:t>treinamento.</a:t>
            </a:r>
            <a:endParaRPr lang="pt-BR" b="1" dirty="0">
              <a:solidFill>
                <a:srgbClr val="00B050"/>
              </a:solidFill>
              <a:effectLst/>
            </a:endParaRP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5956300" cy="5032375"/>
          </a:xfrm>
        </p:spPr>
        <p:txBody>
          <a:bodyPr>
            <a:normAutofit/>
          </a:bodyPr>
          <a:lstStyle/>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0E04963A-77E5-6FCB-B4EC-DE7DB68E615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BA8092F3-11FA-DB4A-4D61-8C2EAB8F811F}"/>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216426563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a:t>Lista #5 </a:t>
            </a:r>
            <a:r>
              <a:rPr lang="en-US" dirty="0"/>
              <a:t>- </a:t>
            </a:r>
            <a:r>
              <a:rPr lang="en-US" dirty="0" err="1"/>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pt-BR">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8751</TotalTime>
  <Words>13306</Words>
  <Application>Microsoft Office PowerPoint</Application>
  <PresentationFormat>Widescreen</PresentationFormat>
  <Paragraphs>992</Paragraphs>
  <Slides>91</Slides>
  <Notes>52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91</vt:i4>
      </vt:variant>
    </vt:vector>
  </HeadingPairs>
  <TitlesOfParts>
    <vt:vector size="100"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Motivação</vt:lpstr>
      <vt:lpstr>Motivação</vt:lpstr>
      <vt:lpstr>PowerPoint Presentation</vt:lpstr>
      <vt:lpstr>PowerPoint Presentation</vt:lpstr>
      <vt:lpstr>Regressão linear</vt:lpstr>
      <vt:lpstr>Qual o objetivo da regressão linear?</vt:lpstr>
      <vt:lpstr>Qual é o paradigma de aprendizado?</vt:lpstr>
      <vt:lpstr>Qual é o paradigma de aprendizado?</vt:lpstr>
      <vt:lpstr>Por que linear?</vt:lpstr>
      <vt:lpstr>Por que linear?</vt:lpstr>
      <vt:lpstr>A flexibilidade dos polinômios</vt:lpstr>
      <vt:lpstr>PowerPoint Presentation</vt:lpstr>
      <vt:lpstr>Objetivo da regressão linear</vt:lpstr>
      <vt:lpstr>PowerPoint Presentation</vt:lpstr>
      <vt:lpstr>Função de erro</vt:lpstr>
      <vt:lpstr>Minimização da função de erro</vt:lpstr>
      <vt:lpstr>Resumo do problema da regressão linear</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Superfície de erro</vt:lpstr>
      <vt:lpstr>Gradiente descendente</vt:lpstr>
      <vt:lpstr>Gradiente descendente</vt:lpstr>
      <vt:lpstr>Gradiente descendente</vt:lpstr>
      <vt:lpstr>PowerPoint Presentation</vt:lpstr>
      <vt:lpstr>Vetores gradiente</vt:lpstr>
      <vt:lpstr>Formato da função de erro</vt:lpstr>
      <vt:lpstr>Ponto de mínimo de uma função convexa</vt:lpstr>
      <vt:lpstr>O erro indica o caminho a ser seguido</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Overfitting e underfitting</vt:lpstr>
      <vt:lpstr>Validação cruzada</vt:lpstr>
      <vt:lpstr>Validação cruzada</vt:lpstr>
      <vt:lpstr>Validação cruzada</vt:lpstr>
      <vt:lpstr>k-fold</vt:lpstr>
      <vt:lpstr>k-fold</vt:lpstr>
      <vt:lpstr>k-fold</vt:lpstr>
      <vt:lpstr>Inferência</vt:lpstr>
      <vt:lpstr>Generalização</vt:lpstr>
      <vt:lpstr>Exemplo</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1943</cp:revision>
  <dcterms:created xsi:type="dcterms:W3CDTF">2020-01-20T13:50:05Z</dcterms:created>
  <dcterms:modified xsi:type="dcterms:W3CDTF">2026-02-17T12:10:33Z</dcterms:modified>
</cp:coreProperties>
</file>