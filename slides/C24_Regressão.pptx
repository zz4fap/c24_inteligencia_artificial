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9"/>
  </p:notesMasterIdLst>
  <p:handoutMasterIdLst>
    <p:handoutMasterId r:id="rId130"/>
  </p:handoutMasterIdLst>
  <p:sldIdLst>
    <p:sldId id="256" r:id="rId2"/>
    <p:sldId id="347" r:id="rId3"/>
    <p:sldId id="296" r:id="rId4"/>
    <p:sldId id="463" r:id="rId5"/>
    <p:sldId id="517" r:id="rId6"/>
    <p:sldId id="518" r:id="rId7"/>
    <p:sldId id="464" r:id="rId8"/>
    <p:sldId id="470" r:id="rId9"/>
    <p:sldId id="571" r:id="rId10"/>
    <p:sldId id="465" r:id="rId11"/>
    <p:sldId id="570" r:id="rId12"/>
    <p:sldId id="520" r:id="rId13"/>
    <p:sldId id="616" r:id="rId14"/>
    <p:sldId id="550" r:id="rId15"/>
    <p:sldId id="522" r:id="rId16"/>
    <p:sldId id="523" r:id="rId17"/>
    <p:sldId id="524" r:id="rId18"/>
    <p:sldId id="481" r:id="rId19"/>
    <p:sldId id="525" r:id="rId20"/>
    <p:sldId id="526" r:id="rId21"/>
    <p:sldId id="527" r:id="rId22"/>
    <p:sldId id="547" r:id="rId23"/>
    <p:sldId id="528" r:id="rId24"/>
    <p:sldId id="529" r:id="rId25"/>
    <p:sldId id="541" r:id="rId26"/>
    <p:sldId id="532" r:id="rId27"/>
    <p:sldId id="617" r:id="rId28"/>
    <p:sldId id="533" r:id="rId29"/>
    <p:sldId id="435" r:id="rId30"/>
    <p:sldId id="448" r:id="rId31"/>
    <p:sldId id="536" r:id="rId32"/>
    <p:sldId id="411" r:id="rId33"/>
    <p:sldId id="432" r:id="rId34"/>
    <p:sldId id="415" r:id="rId35"/>
    <p:sldId id="566" r:id="rId36"/>
    <p:sldId id="412" r:id="rId37"/>
    <p:sldId id="413" r:id="rId38"/>
    <p:sldId id="450" r:id="rId39"/>
    <p:sldId id="434" r:id="rId40"/>
    <p:sldId id="614" r:id="rId41"/>
    <p:sldId id="615" r:id="rId42"/>
    <p:sldId id="414" r:id="rId43"/>
    <p:sldId id="572" r:id="rId44"/>
    <p:sldId id="416" r:id="rId45"/>
    <p:sldId id="451" r:id="rId46"/>
    <p:sldId id="417" r:id="rId47"/>
    <p:sldId id="419" r:id="rId48"/>
    <p:sldId id="425" r:id="rId49"/>
    <p:sldId id="537" r:id="rId50"/>
    <p:sldId id="418" r:id="rId51"/>
    <p:sldId id="539" r:id="rId52"/>
    <p:sldId id="542" r:id="rId53"/>
    <p:sldId id="423" r:id="rId54"/>
    <p:sldId id="580" r:id="rId55"/>
    <p:sldId id="424" r:id="rId56"/>
    <p:sldId id="429" r:id="rId57"/>
    <p:sldId id="540" r:id="rId58"/>
    <p:sldId id="431" r:id="rId59"/>
    <p:sldId id="583" r:id="rId60"/>
    <p:sldId id="584" r:id="rId61"/>
    <p:sldId id="554" r:id="rId62"/>
    <p:sldId id="555" r:id="rId63"/>
    <p:sldId id="549" r:id="rId64"/>
    <p:sldId id="461" r:id="rId65"/>
    <p:sldId id="557" r:id="rId66"/>
    <p:sldId id="558" r:id="rId67"/>
    <p:sldId id="559" r:id="rId68"/>
    <p:sldId id="560" r:id="rId69"/>
    <p:sldId id="561" r:id="rId70"/>
    <p:sldId id="562" r:id="rId71"/>
    <p:sldId id="563" r:id="rId72"/>
    <p:sldId id="543" r:id="rId73"/>
    <p:sldId id="437" r:id="rId74"/>
    <p:sldId id="436" r:id="rId75"/>
    <p:sldId id="443" r:id="rId76"/>
    <p:sldId id="444" r:id="rId77"/>
    <p:sldId id="565" r:id="rId78"/>
    <p:sldId id="567" r:id="rId79"/>
    <p:sldId id="568" r:id="rId80"/>
    <p:sldId id="604" r:id="rId81"/>
    <p:sldId id="605" r:id="rId82"/>
    <p:sldId id="467" r:id="rId83"/>
    <p:sldId id="338" r:id="rId84"/>
    <p:sldId id="573" r:id="rId85"/>
    <p:sldId id="370" r:id="rId86"/>
    <p:sldId id="293" r:id="rId87"/>
    <p:sldId id="306" r:id="rId88"/>
    <p:sldId id="446" r:id="rId89"/>
    <p:sldId id="438" r:id="rId90"/>
    <p:sldId id="440" r:id="rId91"/>
    <p:sldId id="441" r:id="rId92"/>
    <p:sldId id="551" r:id="rId93"/>
    <p:sldId id="442" r:id="rId94"/>
    <p:sldId id="552" r:id="rId95"/>
    <p:sldId id="553" r:id="rId96"/>
    <p:sldId id="445" r:id="rId97"/>
    <p:sldId id="447" r:id="rId98"/>
    <p:sldId id="608" r:id="rId99"/>
    <p:sldId id="607" r:id="rId100"/>
    <p:sldId id="452" r:id="rId101"/>
    <p:sldId id="569" r:id="rId102"/>
    <p:sldId id="589" r:id="rId103"/>
    <p:sldId id="582" r:id="rId104"/>
    <p:sldId id="586" r:id="rId105"/>
    <p:sldId id="587" r:id="rId106"/>
    <p:sldId id="588" r:id="rId107"/>
    <p:sldId id="590" r:id="rId108"/>
    <p:sldId id="591" r:id="rId109"/>
    <p:sldId id="592" r:id="rId110"/>
    <p:sldId id="593" r:id="rId111"/>
    <p:sldId id="594" r:id="rId112"/>
    <p:sldId id="595" r:id="rId113"/>
    <p:sldId id="597" r:id="rId114"/>
    <p:sldId id="600" r:id="rId115"/>
    <p:sldId id="458" r:id="rId116"/>
    <p:sldId id="618" r:id="rId117"/>
    <p:sldId id="601" r:id="rId118"/>
    <p:sldId id="384" r:id="rId119"/>
    <p:sldId id="602" r:id="rId120"/>
    <p:sldId id="611" r:id="rId121"/>
    <p:sldId id="459" r:id="rId122"/>
    <p:sldId id="610" r:id="rId123"/>
    <p:sldId id="399" r:id="rId124"/>
    <p:sldId id="397" r:id="rId125"/>
    <p:sldId id="609" r:id="rId126"/>
    <p:sldId id="579" r:id="rId127"/>
    <p:sldId id="577" r:id="rId128"/>
  </p:sldIdLst>
  <p:sldSz cx="12192000" cy="6858000"/>
  <p:notesSz cx="7315200" cy="96012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F1F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FCA41B-7398-400B-83DC-FDE8722EB923}" v="79" dt="2020-02-09T01:28:39.6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078" autoAdjust="0"/>
    <p:restoredTop sz="85109" autoAdjust="0"/>
  </p:normalViewPr>
  <p:slideViewPr>
    <p:cSldViewPr snapToGrid="0">
      <p:cViewPr varScale="1">
        <p:scale>
          <a:sx n="94" d="100"/>
          <a:sy n="94" d="100"/>
        </p:scale>
        <p:origin x="1458" y="84"/>
      </p:cViewPr>
      <p:guideLst/>
    </p:cSldViewPr>
  </p:slideViewPr>
  <p:outlineViewPr>
    <p:cViewPr>
      <p:scale>
        <a:sx n="33" d="100"/>
        <a:sy n="33" d="100"/>
      </p:scale>
      <p:origin x="0" y="-886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notesMaster" Target="notesMasters/notes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handoutMaster" Target="handoutMasters/handoutMaster1.xml"/><Relationship Id="rId135" Type="http://schemas.microsoft.com/office/2016/11/relationships/changesInfo" Target="changesInfos/changesInfo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presProps" Target="presProps.xml"/><Relationship Id="rId136" Type="http://schemas.microsoft.com/office/2015/10/relationships/revisionInfo" Target="revisionInfo.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lipe Augusto Pereira de Figueiredo" userId="e1771b70d906f94b" providerId="Windows Live" clId="Web-{B3FCA41B-7398-400B-83DC-FDE8722EB923}"/>
    <pc:docChg chg="modSld">
      <pc:chgData name="Felipe Augusto Pereira de Figueiredo" userId="e1771b70d906f94b" providerId="Windows Live" clId="Web-{B3FCA41B-7398-400B-83DC-FDE8722EB923}" dt="2020-02-09T01:40:38.055" v="257"/>
      <pc:docMkLst>
        <pc:docMk/>
      </pc:docMkLst>
      <pc:sldChg chg="modSp modNotes">
        <pc:chgData name="Felipe Augusto Pereira de Figueiredo" userId="e1771b70d906f94b" providerId="Windows Live" clId="Web-{B3FCA41B-7398-400B-83DC-FDE8722EB923}" dt="2020-02-09T01:26:20.191" v="45"/>
        <pc:sldMkLst>
          <pc:docMk/>
          <pc:sldMk cId="636059476" sldId="259"/>
        </pc:sldMkLst>
        <pc:spChg chg="mod">
          <ac:chgData name="Felipe Augusto Pereira de Figueiredo" userId="e1771b70d906f94b" providerId="Windows Live" clId="Web-{B3FCA41B-7398-400B-83DC-FDE8722EB923}" dt="2020-02-09T01:22:23.081" v="18" actId="1076"/>
          <ac:spMkLst>
            <pc:docMk/>
            <pc:sldMk cId="636059476" sldId="259"/>
            <ac:spMk id="3" creationId="{979D29AC-E01B-406F-AC75-55866B75A7CC}"/>
          </ac:spMkLst>
        </pc:spChg>
      </pc:sldChg>
      <pc:sldChg chg="modNotes">
        <pc:chgData name="Felipe Augusto Pereira de Figueiredo" userId="e1771b70d906f94b" providerId="Windows Live" clId="Web-{B3FCA41B-7398-400B-83DC-FDE8722EB923}" dt="2020-02-09T01:21:46.721" v="16"/>
        <pc:sldMkLst>
          <pc:docMk/>
          <pc:sldMk cId="248504461" sldId="267"/>
        </pc:sldMkLst>
      </pc:sldChg>
      <pc:sldChg chg="modSp modNotes">
        <pc:chgData name="Felipe Augusto Pereira de Figueiredo" userId="e1771b70d906f94b" providerId="Windows Live" clId="Web-{B3FCA41B-7398-400B-83DC-FDE8722EB923}" dt="2020-02-09T01:40:38.055" v="257"/>
        <pc:sldMkLst>
          <pc:docMk/>
          <pc:sldMk cId="2076219387" sldId="277"/>
        </pc:sldMkLst>
        <pc:spChg chg="mod">
          <ac:chgData name="Felipe Augusto Pereira de Figueiredo" userId="e1771b70d906f94b" providerId="Windows Live" clId="Web-{B3FCA41B-7398-400B-83DC-FDE8722EB923}" dt="2020-02-09T01:28:39.664" v="120" actId="14100"/>
          <ac:spMkLst>
            <pc:docMk/>
            <pc:sldMk cId="2076219387" sldId="277"/>
            <ac:spMk id="3" creationId="{5E0262E2-3A0F-4805-BCCB-6745237D1574}"/>
          </ac:spMkLst>
        </pc:spChg>
      </pc:sldChg>
    </pc:docChg>
  </pc:docChgLst>
  <pc:docChgLst>
    <pc:chgData name="Felipe Augusto Pereira de Figueiredo" userId="e1771b70d906f94b" providerId="Windows Live" clId="Web-{1FA475AF-6444-47C2-89B1-9776BABC0E66}"/>
    <pc:docChg chg="modSld">
      <pc:chgData name="Felipe Augusto Pereira de Figueiredo" userId="e1771b70d906f94b" providerId="Windows Live" clId="Web-{1FA475AF-6444-47C2-89B1-9776BABC0E66}" dt="2020-02-09T18:53:52.767" v="85"/>
      <pc:docMkLst>
        <pc:docMk/>
      </pc:docMkLst>
      <pc:sldChg chg="modNotes">
        <pc:chgData name="Felipe Augusto Pereira de Figueiredo" userId="e1771b70d906f94b" providerId="Windows Live" clId="Web-{1FA475AF-6444-47C2-89B1-9776BABC0E66}" dt="2020-02-09T18:53:52.767" v="85"/>
        <pc:sldMkLst>
          <pc:docMk/>
          <pc:sldMk cId="248504461" sldId="26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169922" cy="480722"/>
          </a:xfrm>
          <a:prstGeom prst="rect">
            <a:avLst/>
          </a:prstGeom>
        </p:spPr>
        <p:txBody>
          <a:bodyPr vert="horz" lIns="168634" tIns="84317" rIns="168634" bIns="84317" rtlCol="0"/>
          <a:lstStyle>
            <a:lvl1pPr algn="l">
              <a:defRPr sz="2200"/>
            </a:lvl1pPr>
          </a:lstStyle>
          <a:p>
            <a:endParaRPr lang="nl-BE"/>
          </a:p>
        </p:txBody>
      </p:sp>
      <p:sp>
        <p:nvSpPr>
          <p:cNvPr id="3" name="Date Placeholder 2"/>
          <p:cNvSpPr>
            <a:spLocks noGrp="1"/>
          </p:cNvSpPr>
          <p:nvPr>
            <p:ph type="dt" sz="quarter" idx="1"/>
          </p:nvPr>
        </p:nvSpPr>
        <p:spPr>
          <a:xfrm>
            <a:off x="4143589" y="0"/>
            <a:ext cx="3169922" cy="480722"/>
          </a:xfrm>
          <a:prstGeom prst="rect">
            <a:avLst/>
          </a:prstGeom>
        </p:spPr>
        <p:txBody>
          <a:bodyPr vert="horz" lIns="168634" tIns="84317" rIns="168634" bIns="84317" rtlCol="0"/>
          <a:lstStyle>
            <a:lvl1pPr algn="r">
              <a:defRPr sz="2200"/>
            </a:lvl1pPr>
          </a:lstStyle>
          <a:p>
            <a:fld id="{144F1436-6906-4D93-B7A2-786C327BFA14}" type="datetimeFigureOut">
              <a:rPr lang="nl-BE" smtClean="0"/>
              <a:t>21/09/2026</a:t>
            </a:fld>
            <a:endParaRPr lang="nl-BE"/>
          </a:p>
        </p:txBody>
      </p:sp>
      <p:sp>
        <p:nvSpPr>
          <p:cNvPr id="4" name="Footer Placeholder 3"/>
          <p:cNvSpPr>
            <a:spLocks noGrp="1"/>
          </p:cNvSpPr>
          <p:nvPr>
            <p:ph type="ftr" sz="quarter" idx="2"/>
          </p:nvPr>
        </p:nvSpPr>
        <p:spPr>
          <a:xfrm>
            <a:off x="1" y="9120488"/>
            <a:ext cx="3169922" cy="480718"/>
          </a:xfrm>
          <a:prstGeom prst="rect">
            <a:avLst/>
          </a:prstGeom>
        </p:spPr>
        <p:txBody>
          <a:bodyPr vert="horz" lIns="168634" tIns="84317" rIns="168634" bIns="84317" rtlCol="0" anchor="b"/>
          <a:lstStyle>
            <a:lvl1pPr algn="l">
              <a:defRPr sz="2200"/>
            </a:lvl1pPr>
          </a:lstStyle>
          <a:p>
            <a:endParaRPr lang="nl-BE"/>
          </a:p>
        </p:txBody>
      </p:sp>
      <p:sp>
        <p:nvSpPr>
          <p:cNvPr id="5" name="Slide Number Placeholder 4"/>
          <p:cNvSpPr>
            <a:spLocks noGrp="1"/>
          </p:cNvSpPr>
          <p:nvPr>
            <p:ph type="sldNum" sz="quarter" idx="3"/>
          </p:nvPr>
        </p:nvSpPr>
        <p:spPr>
          <a:xfrm>
            <a:off x="4143589" y="9120488"/>
            <a:ext cx="3169922" cy="480718"/>
          </a:xfrm>
          <a:prstGeom prst="rect">
            <a:avLst/>
          </a:prstGeom>
        </p:spPr>
        <p:txBody>
          <a:bodyPr vert="horz" lIns="168634" tIns="84317" rIns="168634" bIns="84317" rtlCol="0" anchor="b"/>
          <a:lstStyle>
            <a:lvl1pPr algn="r">
              <a:defRPr sz="2200"/>
            </a:lvl1pPr>
          </a:lstStyle>
          <a:p>
            <a:fld id="{F7E56D9B-79AD-444A-AFED-DEC23408F8B4}" type="slidenum">
              <a:rPr lang="nl-BE" smtClean="0"/>
              <a:t>‹nº›</a:t>
            </a:fld>
            <a:endParaRPr lang="nl-BE"/>
          </a:p>
        </p:txBody>
      </p:sp>
    </p:spTree>
    <p:extLst>
      <p:ext uri="{BB962C8B-B14F-4D97-AF65-F5344CB8AC3E}">
        <p14:creationId xmlns:p14="http://schemas.microsoft.com/office/powerpoint/2010/main" val="31635331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5" y="1"/>
            <a:ext cx="3169922" cy="1903121"/>
          </a:xfrm>
          <a:prstGeom prst="rect">
            <a:avLst/>
          </a:prstGeom>
        </p:spPr>
        <p:txBody>
          <a:bodyPr vert="horz" lIns="168634" tIns="84317" rIns="168634" bIns="84317" rtlCol="0"/>
          <a:lstStyle>
            <a:lvl1pPr algn="l">
              <a:defRPr sz="2200"/>
            </a:lvl1pPr>
          </a:lstStyle>
          <a:p>
            <a:endParaRPr lang="pt-BR"/>
          </a:p>
        </p:txBody>
      </p:sp>
      <p:sp>
        <p:nvSpPr>
          <p:cNvPr id="3" name="Espaço Reservado para Data 2"/>
          <p:cNvSpPr>
            <a:spLocks noGrp="1"/>
          </p:cNvSpPr>
          <p:nvPr>
            <p:ph type="dt" idx="1"/>
          </p:nvPr>
        </p:nvSpPr>
        <p:spPr>
          <a:xfrm>
            <a:off x="4143592" y="1"/>
            <a:ext cx="3169922" cy="1903121"/>
          </a:xfrm>
          <a:prstGeom prst="rect">
            <a:avLst/>
          </a:prstGeom>
        </p:spPr>
        <p:txBody>
          <a:bodyPr vert="horz" lIns="168634" tIns="84317" rIns="168634" bIns="84317" rtlCol="0"/>
          <a:lstStyle>
            <a:lvl1pPr algn="r">
              <a:defRPr sz="2200"/>
            </a:lvl1pPr>
          </a:lstStyle>
          <a:p>
            <a:fld id="{AA8CD09E-2914-4F47-B6C1-51B2C31814C9}" type="datetimeFigureOut">
              <a:rPr lang="pt-BR" smtClean="0"/>
              <a:t>21/09/2026</a:t>
            </a:fld>
            <a:endParaRPr lang="pt-BR"/>
          </a:p>
        </p:txBody>
      </p:sp>
      <p:sp>
        <p:nvSpPr>
          <p:cNvPr id="4" name="Espaço Reservado para Imagem de Slide 3"/>
          <p:cNvSpPr>
            <a:spLocks noGrp="1" noRot="1" noChangeAspect="1"/>
          </p:cNvSpPr>
          <p:nvPr>
            <p:ph type="sldImg" idx="2"/>
          </p:nvPr>
        </p:nvSpPr>
        <p:spPr>
          <a:xfrm>
            <a:off x="-7721600" y="4740275"/>
            <a:ext cx="22758400" cy="12801600"/>
          </a:xfrm>
          <a:prstGeom prst="rect">
            <a:avLst/>
          </a:prstGeom>
          <a:noFill/>
          <a:ln w="12700">
            <a:solidFill>
              <a:prstClr val="black"/>
            </a:solidFill>
          </a:ln>
        </p:spPr>
        <p:txBody>
          <a:bodyPr vert="horz" lIns="168634" tIns="84317" rIns="168634" bIns="84317" rtlCol="0" anchor="ctr"/>
          <a:lstStyle/>
          <a:p>
            <a:endParaRPr lang="pt-BR"/>
          </a:p>
        </p:txBody>
      </p:sp>
      <p:sp>
        <p:nvSpPr>
          <p:cNvPr id="5" name="Espaço Reservado para Anotações 4"/>
          <p:cNvSpPr>
            <a:spLocks noGrp="1"/>
          </p:cNvSpPr>
          <p:nvPr>
            <p:ph type="body" sz="quarter" idx="3"/>
          </p:nvPr>
        </p:nvSpPr>
        <p:spPr>
          <a:xfrm>
            <a:off x="731522" y="18254135"/>
            <a:ext cx="5852160" cy="14935200"/>
          </a:xfrm>
          <a:prstGeom prst="rect">
            <a:avLst/>
          </a:prstGeom>
        </p:spPr>
        <p:txBody>
          <a:bodyPr vert="horz" lIns="168634" tIns="84317" rIns="168634" bIns="84317" rtlCol="0"/>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5" y="36027558"/>
            <a:ext cx="3169922" cy="1903117"/>
          </a:xfrm>
          <a:prstGeom prst="rect">
            <a:avLst/>
          </a:prstGeom>
        </p:spPr>
        <p:txBody>
          <a:bodyPr vert="horz" lIns="168634" tIns="84317" rIns="168634" bIns="84317" rtlCol="0" anchor="b"/>
          <a:lstStyle>
            <a:lvl1pPr algn="l">
              <a:defRPr sz="2200"/>
            </a:lvl1pPr>
          </a:lstStyle>
          <a:p>
            <a:endParaRPr lang="pt-BR"/>
          </a:p>
        </p:txBody>
      </p:sp>
      <p:sp>
        <p:nvSpPr>
          <p:cNvPr id="7" name="Espaço Reservado para Número de Slide 6"/>
          <p:cNvSpPr>
            <a:spLocks noGrp="1"/>
          </p:cNvSpPr>
          <p:nvPr>
            <p:ph type="sldNum" sz="quarter" idx="5"/>
          </p:nvPr>
        </p:nvSpPr>
        <p:spPr>
          <a:xfrm>
            <a:off x="4143592" y="36027558"/>
            <a:ext cx="3169922" cy="1903117"/>
          </a:xfrm>
          <a:prstGeom prst="rect">
            <a:avLst/>
          </a:prstGeom>
        </p:spPr>
        <p:txBody>
          <a:bodyPr vert="horz" lIns="168634" tIns="84317" rIns="168634" bIns="84317" rtlCol="0" anchor="b"/>
          <a:lstStyle>
            <a:lvl1pPr algn="r">
              <a:defRPr sz="2200"/>
            </a:lvl1pPr>
          </a:lstStyle>
          <a:p>
            <a:fld id="{6FC8D850-966F-45A6-8DE7-15B891E7D40D}" type="slidenum">
              <a:rPr lang="pt-BR" smtClean="0"/>
              <a:t>‹nº›</a:t>
            </a:fld>
            <a:endParaRPr lang="pt-BR"/>
          </a:p>
        </p:txBody>
      </p:sp>
    </p:spTree>
    <p:extLst>
      <p:ext uri="{BB962C8B-B14F-4D97-AF65-F5344CB8AC3E}">
        <p14:creationId xmlns:p14="http://schemas.microsoft.com/office/powerpoint/2010/main" val="3541814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mathworld.wolfram.com/WeierstrassApproximationTheorem.html"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mathworld.wolfram.com/WeierstrassApproximationTheorem.html"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3" Type="http://schemas.openxmlformats.org/officeDocument/2006/relationships/hyperlink" Target="https://www.kaggle.com/code/imoore/intro-to-exploratory-data-analysis-eda-in-python" TargetMode="External"/><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8" Type="http://schemas.openxmlformats.org/officeDocument/2006/relationships/hyperlink" Target="https://stats.stackexchange.com/questions/86991/reason-for-not-shrinking-the-bias-intercept-term-in-regression" TargetMode="External"/><Relationship Id="rId3" Type="http://schemas.openxmlformats.org/officeDocument/2006/relationships/hyperlink" Target="https://en.wikipedia.org/wiki/Norm_(mathematics)#Euclidean_norm" TargetMode="External"/><Relationship Id="rId7" Type="http://schemas.openxmlformats.org/officeDocument/2006/relationships/hyperlink" Target="https://en.wikipedia.org/wiki/Norm_(mathematics)#Euclidean_norm" TargetMode="External"/><Relationship Id="rId2" Type="http://schemas.openxmlformats.org/officeDocument/2006/relationships/slide" Target="../slides/slide107.xml"/><Relationship Id="rId1" Type="http://schemas.openxmlformats.org/officeDocument/2006/relationships/notesMaster" Target="../notesMasters/notesMaster1.xml"/><Relationship Id="rId6" Type="http://schemas.openxmlformats.org/officeDocument/2006/relationships/hyperlink" Target="https://stackoverflow.com/questions/12578336/why-is-the-bias-term-not-regularized-in-ridge-regression" TargetMode="External"/><Relationship Id="rId5" Type="http://schemas.openxmlformats.org/officeDocument/2006/relationships/hyperlink" Target="https://stackoverflow.com/questions/54017246/why-is-theta0-skipped-while-performing-regulariztion-on-regression" TargetMode="External"/><Relationship Id="rId10" Type="http://schemas.openxmlformats.org/officeDocument/2006/relationships/hyperlink" Target="https://stackoverflow.com/questions/12578336/why-is-the-bias-term-not-regularized-in-ridge-regression" TargetMode="External"/><Relationship Id="rId4" Type="http://schemas.openxmlformats.org/officeDocument/2006/relationships/hyperlink" Target="https://stats.stackexchange.com/questions/86991/reason-for-not-shrinking-the-bias-intercept-term-in-regression" TargetMode="External"/><Relationship Id="rId9" Type="http://schemas.openxmlformats.org/officeDocument/2006/relationships/hyperlink" Target="https://stackoverflow.com/questions/54017246/why-is-theta0-skipped-while-performing-regulariztion-on-regression" TargetMode="Externa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3" Type="http://schemas.openxmlformats.org/officeDocument/2006/relationships/hyperlink" Target="https://colab.research.google.com/github/zz4fap/tp555-machine-learning/blob/master/exemplos/polynomial/regularization/elastic_net_regression.ipynb" TargetMode="External"/><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a:t>
            </a:fld>
            <a:endParaRPr lang="pt-BR"/>
          </a:p>
        </p:txBody>
      </p:sp>
    </p:spTree>
    <p:extLst>
      <p:ext uri="{BB962C8B-B14F-4D97-AF65-F5344CB8AC3E}">
        <p14:creationId xmlns:p14="http://schemas.microsoft.com/office/powerpoint/2010/main" val="16607474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10"/>
          </p:nvPr>
        </p:nvSpPr>
        <p:spPr/>
        <p:txBody>
          <a:bodyPr/>
          <a:lstStyle/>
          <a:p>
            <a:fld id="{DA8B99DF-01BC-492A-8CEF-4FD88D18DD9D}" type="slidenum">
              <a:rPr lang="nl-BE" smtClean="0"/>
              <a:t>3</a:t>
            </a:fld>
            <a:endParaRPr lang="nl-BE"/>
          </a:p>
        </p:txBody>
      </p:sp>
    </p:spTree>
    <p:extLst>
      <p:ext uri="{BB962C8B-B14F-4D97-AF65-F5344CB8AC3E}">
        <p14:creationId xmlns:p14="http://schemas.microsoft.com/office/powerpoint/2010/main" val="28330213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pt-BR" dirty="0"/>
              <a:t>Exemplos de aplicações</a:t>
            </a:r>
            <a:r>
              <a:rPr lang="pt-BR" baseline="0" dirty="0"/>
              <a:t> de regressão linear:</a:t>
            </a:r>
            <a:endParaRPr lang="pt-BR" dirty="0"/>
          </a:p>
          <a:p>
            <a:pPr marL="171450" indent="-171450">
              <a:buFont typeface="Arial" panose="020B0604020202020204" pitchFamily="34" charset="0"/>
              <a:buChar char="•"/>
            </a:pPr>
            <a:r>
              <a:rPr lang="pt-BR" dirty="0"/>
              <a:t>Modelos para predição do preço de casas.</a:t>
            </a:r>
          </a:p>
          <a:p>
            <a:pPr marL="171450" indent="-171450">
              <a:buFont typeface="Arial" panose="020B0604020202020204" pitchFamily="34" charset="0"/>
              <a:buChar char="•"/>
            </a:pPr>
            <a:r>
              <a:rPr lang="pt-BR" dirty="0"/>
              <a:t>Modelos para predição do salário de um empregado baseado em sua idade.</a:t>
            </a:r>
          </a:p>
          <a:p>
            <a:pPr marL="171450" indent="-171450">
              <a:buFont typeface="Arial" panose="020B0604020202020204" pitchFamily="34" charset="0"/>
              <a:buChar char="•"/>
            </a:pPr>
            <a:endParaRPr lang="pt-BR" dirty="0"/>
          </a:p>
          <a:p>
            <a:r>
              <a:rPr lang="pt-BR" b="1" dirty="0"/>
              <a:t>📊 1. Previsão de vendas em negócios</a:t>
            </a:r>
          </a:p>
          <a:p>
            <a:r>
              <a:rPr lang="pt-BR" dirty="0"/>
              <a:t>Empresas analisam dados históricos de vendas, publicidade, sazonalidade e indicadores econômicos para </a:t>
            </a:r>
            <a:r>
              <a:rPr lang="pt-BR" b="1" dirty="0"/>
              <a:t>prever vendas futuras</a:t>
            </a:r>
            <a:r>
              <a:rPr lang="pt-BR" dirty="0"/>
              <a:t>. Isso ajuda no planejamento de estoque, orçamento e campanhas de marketing.</a:t>
            </a:r>
          </a:p>
          <a:p>
            <a:endParaRPr lang="en-US" dirty="0"/>
          </a:p>
          <a:p>
            <a:r>
              <a:rPr lang="pt-BR" b="1" dirty="0"/>
              <a:t>🏠 2. Estimativa de preços de imóveis</a:t>
            </a:r>
          </a:p>
          <a:p>
            <a:r>
              <a:rPr lang="pt-BR" dirty="0"/>
              <a:t>Corretores e analistas usam regressão para </a:t>
            </a:r>
            <a:r>
              <a:rPr lang="pt-BR" b="1" dirty="0"/>
              <a:t>estimar o preço de uma casa</a:t>
            </a:r>
            <a:r>
              <a:rPr lang="pt-BR" dirty="0"/>
              <a:t> com base em características como área, número de quartos, localização e proximidade de escolas.</a:t>
            </a:r>
          </a:p>
          <a:p>
            <a:endParaRPr lang="en-US" dirty="0"/>
          </a:p>
          <a:p>
            <a:r>
              <a:rPr lang="pt-BR" b="1" dirty="0"/>
              <a:t>💳 4. Avaliação de risco de crédito</a:t>
            </a:r>
          </a:p>
          <a:p>
            <a:r>
              <a:rPr lang="pt-BR" dirty="0"/>
              <a:t>Bancos e instituições financeiras aplicam regressão para </a:t>
            </a:r>
            <a:r>
              <a:rPr lang="pt-BR" b="1" dirty="0"/>
              <a:t>predizer probabilidade de inadimplência</a:t>
            </a:r>
            <a:r>
              <a:rPr lang="pt-BR" dirty="0"/>
              <a:t> de clientes, analisando renda, histórico de crédito, emprego, etc., orientando decisões de empréstimos.</a:t>
            </a:r>
          </a:p>
          <a:p>
            <a:endParaRPr lang="en-US" dirty="0"/>
          </a:p>
          <a:p>
            <a:endParaRPr lang="en-US" dirty="0"/>
          </a:p>
          <a:p>
            <a:pPr marL="171450" indent="-171450">
              <a:buFont typeface="Arial" panose="020B0604020202020204" pitchFamily="34" charset="0"/>
              <a:buChar char="•"/>
            </a:pPr>
            <a:endParaRPr lang="pt-BR" dirty="0"/>
          </a:p>
          <a:p>
            <a:endParaRPr lang="pt-BR" dirty="0"/>
          </a:p>
        </p:txBody>
      </p:sp>
      <p:sp>
        <p:nvSpPr>
          <p:cNvPr id="4" name="Slide Number Placeholder 3"/>
          <p:cNvSpPr>
            <a:spLocks noGrp="1"/>
          </p:cNvSpPr>
          <p:nvPr>
            <p:ph type="sldNum" sz="quarter" idx="10"/>
          </p:nvPr>
        </p:nvSpPr>
        <p:spPr/>
        <p:txBody>
          <a:bodyPr/>
          <a:lstStyle/>
          <a:p>
            <a:fld id="{DA8B99DF-01BC-492A-8CEF-4FD88D18DD9D}" type="slidenum">
              <a:rPr lang="nl-BE" smtClean="0"/>
              <a:t>4</a:t>
            </a:fld>
            <a:endParaRPr lang="nl-BE"/>
          </a:p>
        </p:txBody>
      </p:sp>
    </p:spTree>
    <p:extLst>
      <p:ext uri="{BB962C8B-B14F-4D97-AF65-F5344CB8AC3E}">
        <p14:creationId xmlns:p14="http://schemas.microsoft.com/office/powerpoint/2010/main" val="4410098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dirty="0"/>
              <a:t>Em geral, regressão linear não funciona bem com extrapolação, apenas com interpolação (</a:t>
            </a:r>
            <a:r>
              <a:rPr lang="en-US" dirty="0" err="1"/>
              <a:t>prever</a:t>
            </a:r>
            <a:r>
              <a:rPr lang="en-US" dirty="0"/>
              <a:t> </a:t>
            </a:r>
            <a:r>
              <a:rPr lang="en-US" dirty="0" err="1"/>
              <a:t>dentro</a:t>
            </a:r>
            <a:r>
              <a:rPr lang="en-US" dirty="0"/>
              <a:t> do </a:t>
            </a:r>
            <a:r>
              <a:rPr lang="en-US" dirty="0" err="1"/>
              <a:t>intervalo</a:t>
            </a:r>
            <a:r>
              <a:rPr lang="en-US" dirty="0"/>
              <a:t> </a:t>
            </a:r>
            <a:r>
              <a:rPr lang="en-US" dirty="0" err="1"/>
              <a:t>em</a:t>
            </a:r>
            <a:r>
              <a:rPr lang="en-US" dirty="0"/>
              <a:t> </a:t>
            </a:r>
            <a:r>
              <a:rPr lang="en-US" dirty="0" err="1"/>
              <a:t>que</a:t>
            </a:r>
            <a:r>
              <a:rPr lang="en-US" dirty="0"/>
              <a:t> </a:t>
            </a:r>
            <a:r>
              <a:rPr lang="en-US" dirty="0" err="1"/>
              <a:t>temos</a:t>
            </a:r>
            <a:r>
              <a:rPr lang="en-US" dirty="0"/>
              <a:t> dados).</a:t>
            </a:r>
          </a:p>
          <a:p>
            <a:endParaRPr lang="en-US" dirty="0"/>
          </a:p>
          <a:p>
            <a:r>
              <a:rPr lang="en-US" b="1" dirty="0"/>
              <a:t>“Bulk rate”</a:t>
            </a:r>
            <a:r>
              <a:rPr lang="en-US" dirty="0"/>
              <a:t> </a:t>
            </a:r>
            <a:r>
              <a:rPr lang="en-US" dirty="0" err="1"/>
              <a:t>significa</a:t>
            </a:r>
            <a:r>
              <a:rPr lang="en-US" dirty="0"/>
              <a:t> </a:t>
            </a:r>
            <a:r>
              <a:rPr lang="en-US" b="1" dirty="0"/>
              <a:t>“</a:t>
            </a:r>
            <a:r>
              <a:rPr lang="en-US" b="1" dirty="0" err="1"/>
              <a:t>preço</a:t>
            </a:r>
            <a:r>
              <a:rPr lang="en-US" b="1" dirty="0"/>
              <a:t> para </a:t>
            </a:r>
            <a:r>
              <a:rPr lang="en-US" b="1" dirty="0" err="1"/>
              <a:t>compra</a:t>
            </a:r>
            <a:r>
              <a:rPr lang="en-US" b="1" dirty="0"/>
              <a:t> </a:t>
            </a:r>
            <a:r>
              <a:rPr lang="en-US" b="1" dirty="0" err="1"/>
              <a:t>em</a:t>
            </a:r>
            <a:r>
              <a:rPr lang="en-US" b="1" dirty="0"/>
              <a:t> grande </a:t>
            </a:r>
            <a:r>
              <a:rPr lang="en-US" b="1" dirty="0" err="1"/>
              <a:t>quantidade</a:t>
            </a:r>
            <a:r>
              <a:rPr lang="en-US" b="1" dirty="0"/>
              <a:t>”</a:t>
            </a:r>
            <a:r>
              <a:rPr lang="en-US" dirty="0"/>
              <a:t> </a:t>
            </a:r>
            <a:r>
              <a:rPr lang="en-US" dirty="0" err="1"/>
              <a:t>ou</a:t>
            </a:r>
            <a:r>
              <a:rPr lang="en-US" dirty="0"/>
              <a:t> </a:t>
            </a:r>
            <a:r>
              <a:rPr lang="en-US" b="1" dirty="0"/>
              <a:t>“</a:t>
            </a:r>
            <a:r>
              <a:rPr lang="en-US" b="1" dirty="0" err="1"/>
              <a:t>preço</a:t>
            </a:r>
            <a:r>
              <a:rPr lang="en-US" b="1" dirty="0"/>
              <a:t> </a:t>
            </a:r>
            <a:r>
              <a:rPr lang="en-US" b="1" dirty="0" err="1"/>
              <a:t>por</a:t>
            </a:r>
            <a:r>
              <a:rPr lang="en-US" b="1" dirty="0"/>
              <a:t> </a:t>
            </a:r>
            <a:r>
              <a:rPr lang="en-US" b="1" dirty="0" err="1"/>
              <a:t>atacado</a:t>
            </a:r>
            <a:r>
              <a:rPr lang="en-US" b="1" dirty="0"/>
              <a:t>”</a:t>
            </a:r>
            <a:r>
              <a:rPr lang="en-US" dirty="0"/>
              <a:t>.</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6</a:t>
            </a:fld>
            <a:endParaRPr lang="pt-BR"/>
          </a:p>
        </p:txBody>
      </p:sp>
    </p:spTree>
    <p:extLst>
      <p:ext uri="{BB962C8B-B14F-4D97-AF65-F5344CB8AC3E}">
        <p14:creationId xmlns:p14="http://schemas.microsoft.com/office/powerpoint/2010/main" val="10714538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b="1" dirty="0"/>
              <a:t>insight</a:t>
            </a:r>
            <a:r>
              <a:rPr lang="pt-BR" dirty="0"/>
              <a:t>: percepção; intuição; compreensão.</a:t>
            </a:r>
          </a:p>
          <a:p>
            <a:endParaRPr lang="pt-BR" dirty="0"/>
          </a:p>
          <a:p>
            <a:r>
              <a:rPr lang="pt-BR" dirty="0"/>
              <a:t>O termo "regressão" foi cunhado por Francis </a:t>
            </a:r>
            <a:r>
              <a:rPr lang="pt-BR" dirty="0" err="1"/>
              <a:t>Galton</a:t>
            </a:r>
            <a:r>
              <a:rPr lang="pt-BR" dirty="0"/>
              <a:t> no século 19 para descrever um fenômeno biológico. O fenômeno foi que as alturas dos descendentes de ancestrais altos tendem a </a:t>
            </a:r>
            <a:r>
              <a:rPr lang="pt-BR" b="1" i="1" dirty="0"/>
              <a:t>regredir</a:t>
            </a:r>
            <a:r>
              <a:rPr lang="pt-BR" dirty="0"/>
              <a:t> para a média (um fenômeno também é conhecido como </a:t>
            </a:r>
            <a:r>
              <a:rPr lang="pt-BR" b="1" dirty="0"/>
              <a:t>regressão à média</a:t>
            </a:r>
            <a:r>
              <a:rPr lang="pt-BR" dirty="0"/>
              <a:t>).</a:t>
            </a:r>
          </a:p>
          <a:p>
            <a:endParaRPr lang="pt-BR" dirty="0"/>
          </a:p>
          <a:p>
            <a:r>
              <a:rPr lang="pt-BR" dirty="0"/>
              <a:t>Os algoritmos de aprendizado de máquina são descritos como o aprendizado de uma função,</a:t>
            </a:r>
            <a:r>
              <a:rPr lang="pt-BR" baseline="0" dirty="0"/>
              <a:t> </a:t>
            </a:r>
            <a:r>
              <a:rPr lang="pt-BR" i="1" baseline="0" dirty="0"/>
              <a:t>h</a:t>
            </a:r>
            <a:r>
              <a:rPr lang="pt-BR" dirty="0"/>
              <a:t>, que melhor mapeie as variáveis de entrada x em uma variável de saída y: y = </a:t>
            </a:r>
            <a:r>
              <a:rPr lang="pt-BR" i="1" dirty="0"/>
              <a:t>h</a:t>
            </a:r>
            <a:r>
              <a:rPr lang="pt-BR" dirty="0"/>
              <a:t>(x)</a:t>
            </a:r>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7</a:t>
            </a:fld>
            <a:endParaRPr lang="nl-BE"/>
          </a:p>
        </p:txBody>
      </p:sp>
    </p:spTree>
    <p:extLst>
      <p:ext uri="{BB962C8B-B14F-4D97-AF65-F5344CB8AC3E}">
        <p14:creationId xmlns:p14="http://schemas.microsoft.com/office/powerpoint/2010/main" val="1228666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b="1" dirty="0"/>
              <a:t>insight</a:t>
            </a:r>
            <a:r>
              <a:rPr lang="pt-BR" dirty="0"/>
              <a:t>: percepção; intuição; compreensão.</a:t>
            </a:r>
          </a:p>
          <a:p>
            <a:endParaRPr lang="pt-BR" dirty="0"/>
          </a:p>
          <a:p>
            <a:r>
              <a:rPr lang="pt-BR" dirty="0"/>
              <a:t>O termo "regressão" foi cunhado por Francis </a:t>
            </a:r>
            <a:r>
              <a:rPr lang="pt-BR" dirty="0" err="1"/>
              <a:t>Galton</a:t>
            </a:r>
            <a:r>
              <a:rPr lang="pt-BR" dirty="0"/>
              <a:t> no século 19 para descrever um fenômeno biológico. O fenômeno foi que as alturas dos descendentes de ancestrais altos tendem a </a:t>
            </a:r>
            <a:r>
              <a:rPr lang="pt-BR" b="1" i="1" dirty="0"/>
              <a:t>regredir</a:t>
            </a:r>
            <a:r>
              <a:rPr lang="pt-BR" dirty="0"/>
              <a:t> para a média (um fenômeno também é conhecido como </a:t>
            </a:r>
            <a:r>
              <a:rPr lang="pt-BR" b="1" dirty="0"/>
              <a:t>regressão à média</a:t>
            </a:r>
            <a:r>
              <a:rPr lang="pt-BR" dirty="0"/>
              <a:t>).</a:t>
            </a:r>
          </a:p>
          <a:p>
            <a:endParaRPr lang="pt-BR" dirty="0"/>
          </a:p>
          <a:p>
            <a:r>
              <a:rPr lang="pt-BR" dirty="0"/>
              <a:t>Os algoritmos de aprendizado de máquina são descritos como o aprendizado de uma função,</a:t>
            </a:r>
            <a:r>
              <a:rPr lang="pt-BR" baseline="0" dirty="0"/>
              <a:t> </a:t>
            </a:r>
            <a:r>
              <a:rPr lang="pt-BR" i="1" baseline="0" dirty="0"/>
              <a:t>h</a:t>
            </a:r>
            <a:r>
              <a:rPr lang="pt-BR" dirty="0"/>
              <a:t>, que melhor mapeie as variáveis de entrada x em uma variável de saída y: y = </a:t>
            </a:r>
            <a:r>
              <a:rPr lang="pt-BR" i="1" dirty="0"/>
              <a:t>h</a:t>
            </a:r>
            <a:r>
              <a:rPr lang="pt-BR" dirty="0"/>
              <a:t>(x)</a:t>
            </a:r>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8</a:t>
            </a:fld>
            <a:endParaRPr lang="nl-BE"/>
          </a:p>
        </p:txBody>
      </p:sp>
    </p:spTree>
    <p:extLst>
      <p:ext uri="{BB962C8B-B14F-4D97-AF65-F5344CB8AC3E}">
        <p14:creationId xmlns:p14="http://schemas.microsoft.com/office/powerpoint/2010/main" val="29335404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9C5A2-3B71-6EEE-787F-4D8BB4B4391E}"/>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5CC10E0-E8FB-599D-848C-D0CE71AD5429}"/>
              </a:ext>
            </a:extLst>
          </p:cNvPr>
          <p:cNvSpPr>
            <a:spLocks noGrp="1" noRot="1" noChangeAspect="1"/>
          </p:cNvSpPr>
          <p:nvPr>
            <p:ph type="sldImg"/>
          </p:nvPr>
        </p:nvSpPr>
        <p:spPr/>
        <p:txBody>
          <a:bodyPr/>
          <a:lstStyle/>
          <a:p>
            <a:endParaRPr lang="en-US"/>
          </a:p>
        </p:txBody>
      </p:sp>
      <p:sp>
        <p:nvSpPr>
          <p:cNvPr id="3" name="Espaço Reservado para Anotações 2">
            <a:extLst>
              <a:ext uri="{FF2B5EF4-FFF2-40B4-BE49-F238E27FC236}">
                <a16:creationId xmlns:a16="http://schemas.microsoft.com/office/drawing/2014/main" id="{D25A5A04-61A8-161E-E4C7-753CB3DC0277}"/>
              </a:ext>
            </a:extLst>
          </p:cNvPr>
          <p:cNvSpPr>
            <a:spLocks noGrp="1"/>
          </p:cNvSpPr>
          <p:nvPr>
            <p:ph type="body" idx="1"/>
          </p:nvPr>
        </p:nvSpPr>
        <p:spPr/>
        <p:txBody>
          <a:bodyPr/>
          <a:lstStyle/>
          <a:p>
            <a:r>
              <a:rPr lang="pt-BR" b="1" dirty="0"/>
              <a:t>insight</a:t>
            </a:r>
            <a:r>
              <a:rPr lang="pt-BR" dirty="0"/>
              <a:t>: percepção; intuição; compreensão.</a:t>
            </a:r>
          </a:p>
          <a:p>
            <a:endParaRPr lang="pt-BR" dirty="0"/>
          </a:p>
          <a:p>
            <a:r>
              <a:rPr lang="pt-BR" dirty="0"/>
              <a:t>O termo "regressão" foi cunhado por Francis </a:t>
            </a:r>
            <a:r>
              <a:rPr lang="pt-BR" dirty="0" err="1"/>
              <a:t>Galton</a:t>
            </a:r>
            <a:r>
              <a:rPr lang="pt-BR" dirty="0"/>
              <a:t> no século 19 para descrever um fenômeno biológico. O fenômeno foi que as alturas dos descendentes de ancestrais altos tendem a </a:t>
            </a:r>
            <a:r>
              <a:rPr lang="pt-BR" b="1" i="1" dirty="0"/>
              <a:t>regredir</a:t>
            </a:r>
            <a:r>
              <a:rPr lang="pt-BR" dirty="0"/>
              <a:t> para a média (um fenômeno também é conhecido como </a:t>
            </a:r>
            <a:r>
              <a:rPr lang="pt-BR" b="1" dirty="0"/>
              <a:t>regressão à média</a:t>
            </a:r>
            <a:r>
              <a:rPr lang="pt-BR" dirty="0"/>
              <a:t>).</a:t>
            </a:r>
          </a:p>
          <a:p>
            <a:endParaRPr lang="pt-BR" dirty="0"/>
          </a:p>
          <a:p>
            <a:r>
              <a:rPr lang="pt-BR" dirty="0"/>
              <a:t>Os algoritmos de aprendizado de máquina são descritos como o aprendizado de uma função,</a:t>
            </a:r>
            <a:r>
              <a:rPr lang="pt-BR" baseline="0" dirty="0"/>
              <a:t> </a:t>
            </a:r>
            <a:r>
              <a:rPr lang="pt-BR" i="1" baseline="0" dirty="0"/>
              <a:t>h</a:t>
            </a:r>
            <a:r>
              <a:rPr lang="pt-BR" dirty="0"/>
              <a:t>, que melhor mapeie as variáveis de entrada x em uma variável de saída y: y = </a:t>
            </a:r>
            <a:r>
              <a:rPr lang="pt-BR" i="1" dirty="0"/>
              <a:t>h</a:t>
            </a:r>
            <a:r>
              <a:rPr lang="pt-BR" dirty="0"/>
              <a:t>(x)</a:t>
            </a:r>
          </a:p>
          <a:p>
            <a:endParaRPr lang="pt-BR" dirty="0"/>
          </a:p>
        </p:txBody>
      </p:sp>
      <p:sp>
        <p:nvSpPr>
          <p:cNvPr id="4" name="Espaço Reservado para Número de Slide 3">
            <a:extLst>
              <a:ext uri="{FF2B5EF4-FFF2-40B4-BE49-F238E27FC236}">
                <a16:creationId xmlns:a16="http://schemas.microsoft.com/office/drawing/2014/main" id="{5FCA8359-C79F-9E40-F0F9-8AE5B2ECFFA9}"/>
              </a:ext>
            </a:extLst>
          </p:cNvPr>
          <p:cNvSpPr>
            <a:spLocks noGrp="1"/>
          </p:cNvSpPr>
          <p:nvPr>
            <p:ph type="sldNum" sz="quarter" idx="5"/>
          </p:nvPr>
        </p:nvSpPr>
        <p:spPr/>
        <p:txBody>
          <a:bodyPr/>
          <a:lstStyle/>
          <a:p>
            <a:fld id="{DA8B99DF-01BC-492A-8CEF-4FD88D18DD9D}" type="slidenum">
              <a:rPr lang="nl-BE" smtClean="0"/>
              <a:t>9</a:t>
            </a:fld>
            <a:endParaRPr lang="nl-BE"/>
          </a:p>
        </p:txBody>
      </p:sp>
    </p:spTree>
    <p:extLst>
      <p:ext uri="{BB962C8B-B14F-4D97-AF65-F5344CB8AC3E}">
        <p14:creationId xmlns:p14="http://schemas.microsoft.com/office/powerpoint/2010/main" val="9819423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Se um peso </a:t>
            </a:r>
            <a:r>
              <a:rPr lang="en-US" sz="1200" b="0" i="0" kern="1200" dirty="0" err="1">
                <a:solidFill>
                  <a:schemeClr val="tx1"/>
                </a:solidFill>
                <a:effectLst/>
                <a:latin typeface="+mn-lt"/>
                <a:ea typeface="+mn-ea"/>
                <a:cs typeface="+mn-cs"/>
              </a:rPr>
              <a:t>aparece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dentro</a:t>
            </a:r>
            <a:r>
              <a:rPr lang="en-US" sz="1200" b="0" i="0" kern="1200" dirty="0">
                <a:solidFill>
                  <a:schemeClr val="tx1"/>
                </a:solidFill>
                <a:effectLst/>
                <a:latin typeface="+mn-lt"/>
                <a:ea typeface="+mn-ea"/>
                <a:cs typeface="+mn-cs"/>
              </a:rPr>
              <a:t> de </a:t>
            </a:r>
            <a:r>
              <a:rPr lang="en-US" sz="1200" b="0" i="0" kern="1200" dirty="0" err="1">
                <a:solidFill>
                  <a:schemeClr val="tx1"/>
                </a:solidFill>
                <a:effectLst/>
                <a:latin typeface="+mn-lt"/>
                <a:ea typeface="+mn-ea"/>
                <a:cs typeface="+mn-cs"/>
              </a:rPr>
              <a:t>uma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função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não</a:t>
            </a:r>
            <a:r>
              <a:rPr lang="en-US" sz="1200" b="0" i="0" kern="1200" dirty="0">
                <a:solidFill>
                  <a:schemeClr val="tx1"/>
                </a:solidFill>
                <a:effectLst/>
                <a:latin typeface="+mn-lt"/>
                <a:ea typeface="+mn-ea"/>
                <a:cs typeface="+mn-cs"/>
              </a:rPr>
              <a:t> linear, o </a:t>
            </a:r>
            <a:r>
              <a:rPr lang="en-US" sz="1200" b="0" i="0" kern="1200" dirty="0" err="1">
                <a:solidFill>
                  <a:schemeClr val="tx1"/>
                </a:solidFill>
                <a:effectLst/>
                <a:latin typeface="+mn-lt"/>
                <a:ea typeface="+mn-ea"/>
                <a:cs typeface="+mn-cs"/>
              </a:rPr>
              <a:t>modelo</a:t>
            </a:r>
            <a:r>
              <a:rPr lang="en-US" sz="1200" b="0" i="0" kern="1200" dirty="0">
                <a:solidFill>
                  <a:schemeClr val="tx1"/>
                </a:solidFill>
                <a:effectLst/>
                <a:latin typeface="+mn-lt"/>
                <a:ea typeface="+mn-ea"/>
                <a:cs typeface="+mn-cs"/>
              </a:rPr>
              <a:t> é </a:t>
            </a:r>
            <a:r>
              <a:rPr lang="en-US" sz="1200" b="0" i="0" kern="1200" dirty="0" err="1">
                <a:solidFill>
                  <a:schemeClr val="tx1"/>
                </a:solidFill>
                <a:effectLst/>
                <a:latin typeface="+mn-lt"/>
                <a:ea typeface="+mn-ea"/>
                <a:cs typeface="+mn-cs"/>
              </a:rPr>
              <a:t>não</a:t>
            </a:r>
            <a:r>
              <a:rPr lang="en-US" sz="1200" b="0" i="0" kern="1200" dirty="0">
                <a:solidFill>
                  <a:schemeClr val="tx1"/>
                </a:solidFill>
                <a:effectLst/>
                <a:latin typeface="+mn-lt"/>
                <a:ea typeface="+mn-ea"/>
                <a:cs typeface="+mn-cs"/>
              </a:rPr>
              <a:t> linear </a:t>
            </a:r>
            <a:r>
              <a:rPr lang="en-US" sz="1200" b="0" i="0" kern="1200" dirty="0" err="1">
                <a:solidFill>
                  <a:schemeClr val="tx1"/>
                </a:solidFill>
                <a:effectLst/>
                <a:latin typeface="+mn-lt"/>
                <a:ea typeface="+mn-ea"/>
                <a:cs typeface="+mn-cs"/>
              </a:rPr>
              <a:t>nos</a:t>
            </a:r>
            <a:r>
              <a:rPr lang="en-US" sz="1200" b="0" i="0" kern="1200" dirty="0">
                <a:solidFill>
                  <a:schemeClr val="tx1"/>
                </a:solidFill>
                <a:effectLst/>
                <a:latin typeface="+mn-lt"/>
                <a:ea typeface="+mn-ea"/>
                <a:cs typeface="+mn-cs"/>
              </a:rPr>
              <a:t> pesos.</a:t>
            </a:r>
            <a:r>
              <a:rPr lang="en-US" dirty="0"/>
              <a:t> </a:t>
            </a:r>
            <a:br>
              <a:rPr lang="en-US" dirty="0"/>
            </a:b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O </a:t>
            </a:r>
            <a:r>
              <a:rPr lang="en-US" sz="1200" b="0" i="0" kern="1200" dirty="0" err="1">
                <a:solidFill>
                  <a:schemeClr val="tx1"/>
                </a:solidFill>
                <a:effectLst/>
                <a:latin typeface="+mn-lt"/>
                <a:ea typeface="+mn-ea"/>
                <a:cs typeface="+mn-cs"/>
              </a:rPr>
              <a:t>teorema</a:t>
            </a:r>
            <a:r>
              <a:rPr lang="en-US" sz="1200" b="0" i="0" kern="1200" baseline="0" dirty="0">
                <a:solidFill>
                  <a:schemeClr val="tx1"/>
                </a:solidFill>
                <a:effectLst/>
                <a:latin typeface="+mn-lt"/>
                <a:ea typeface="+mn-ea"/>
                <a:cs typeface="+mn-cs"/>
              </a:rPr>
              <a:t> f</a:t>
            </a:r>
            <a:r>
              <a:rPr lang="pt-BR" sz="1200" b="0" i="0" kern="1200" dirty="0" err="1">
                <a:solidFill>
                  <a:schemeClr val="tx1"/>
                </a:solidFill>
                <a:effectLst/>
                <a:latin typeface="+mn-lt"/>
                <a:ea typeface="+mn-ea"/>
                <a:cs typeface="+mn-cs"/>
              </a:rPr>
              <a:t>ornece</a:t>
            </a:r>
            <a:r>
              <a:rPr lang="pt-BR" sz="1200" b="0" i="0" kern="1200" dirty="0">
                <a:solidFill>
                  <a:schemeClr val="tx1"/>
                </a:solidFill>
                <a:effectLst/>
                <a:latin typeface="+mn-lt"/>
                <a:ea typeface="+mn-ea"/>
                <a:cs typeface="+mn-cs"/>
              </a:rPr>
              <a:t> uma maneira de aproximar funções complexas e não polinomiais por meio de polinômios simples.</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a:t>
            </a:r>
            <a:r>
              <a:rPr lang="en-US" sz="1200" b="0" i="0" kern="1200" dirty="0" err="1">
                <a:solidFill>
                  <a:schemeClr val="tx1"/>
                </a:solidFill>
                <a:effectLst/>
                <a:latin typeface="+mn-lt"/>
                <a:ea typeface="+mn-ea"/>
                <a:cs typeface="+mn-cs"/>
              </a:rPr>
              <a:t>Weierstrass</a:t>
            </a:r>
            <a:r>
              <a:rPr lang="en-US" sz="1200" b="0" i="0" kern="1200" dirty="0">
                <a:solidFill>
                  <a:schemeClr val="tx1"/>
                </a:solidFill>
                <a:effectLst/>
                <a:latin typeface="+mn-lt"/>
                <a:ea typeface="+mn-ea"/>
                <a:cs typeface="+mn-cs"/>
              </a:rPr>
              <a:t> approximation theorem assures us that </a:t>
            </a:r>
            <a:r>
              <a:rPr lang="en-US" sz="1200" b="0" i="0" u="none" strike="noStrike" kern="1200" dirty="0">
                <a:solidFill>
                  <a:schemeClr val="tx1"/>
                </a:solidFill>
                <a:effectLst/>
                <a:latin typeface="+mn-lt"/>
                <a:ea typeface="+mn-ea"/>
                <a:cs typeface="+mn-cs"/>
                <a:hlinkClick r:id="rId3"/>
              </a:rPr>
              <a:t>polynomial approximation</a:t>
            </a:r>
            <a:r>
              <a:rPr lang="en-US" sz="1200" b="0" i="0" kern="1200" dirty="0">
                <a:solidFill>
                  <a:schemeClr val="tx1"/>
                </a:solidFill>
                <a:effectLst/>
                <a:latin typeface="+mn-lt"/>
                <a:ea typeface="+mn-ea"/>
                <a:cs typeface="+mn-cs"/>
              </a:rPr>
              <a:t> can get arbitrarily close to any continuous function as the polynomial order is increased.</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err="1">
                <a:solidFill>
                  <a:schemeClr val="tx1"/>
                </a:solidFill>
                <a:effectLst/>
                <a:latin typeface="+mn-lt"/>
                <a:ea typeface="+mn-ea"/>
                <a:cs typeface="+mn-cs"/>
              </a:rPr>
              <a:t>Referências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[1] https://ccrma.stanford.edu/~jos/st/Weierstrass_Approximation_Theorem.html</a:t>
            </a:r>
          </a:p>
          <a:p>
            <a:r>
              <a:rPr lang="en-US" sz="1200" b="0" i="0" kern="1200" dirty="0">
                <a:solidFill>
                  <a:schemeClr val="tx1"/>
                </a:solidFill>
                <a:effectLst/>
                <a:latin typeface="+mn-lt"/>
                <a:ea typeface="+mn-ea"/>
                <a:cs typeface="+mn-cs"/>
              </a:rPr>
              <a:t>[2] https://people.bath.ac.uk/mw2319/ma30252/sec-approx.html</a:t>
            </a:r>
            <a:endParaRPr lang="pt-BR" dirty="0"/>
          </a:p>
          <a:p>
            <a:endParaRPr lang="pt-BR" dirty="0"/>
          </a:p>
          <a:p>
            <a:endParaRPr lang="en-US" dirty="0"/>
          </a:p>
        </p:txBody>
      </p:sp>
      <p:sp>
        <p:nvSpPr>
          <p:cNvPr id="4" name="Slide Number Placeholder 3"/>
          <p:cNvSpPr>
            <a:spLocks noGrp="1"/>
          </p:cNvSpPr>
          <p:nvPr>
            <p:ph type="sldNum" sz="quarter" idx="5"/>
          </p:nvPr>
        </p:nvSpPr>
        <p:spPr/>
        <p:txBody>
          <a:bodyPr/>
          <a:lstStyle/>
          <a:p>
            <a:fld id="{6FC8D850-966F-45A6-8DE7-15B891E7D40D}" type="slidenum">
              <a:rPr lang="pt-BR" smtClean="0"/>
              <a:t>10</a:t>
            </a:fld>
            <a:endParaRPr lang="pt-BR"/>
          </a:p>
        </p:txBody>
      </p:sp>
    </p:spTree>
    <p:extLst>
      <p:ext uri="{BB962C8B-B14F-4D97-AF65-F5344CB8AC3E}">
        <p14:creationId xmlns:p14="http://schemas.microsoft.com/office/powerpoint/2010/main" val="7637087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E99E7-FE5B-A544-E93B-642C25F115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3BB93D-CB06-261C-C4E9-14F7677A3D2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300C054-8F41-8C5A-6FE0-B4978AD62C89}"/>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O </a:t>
            </a:r>
            <a:r>
              <a:rPr lang="en-US" sz="1200" b="0" i="0" kern="1200" dirty="0" err="1">
                <a:solidFill>
                  <a:schemeClr val="tx1"/>
                </a:solidFill>
                <a:effectLst/>
                <a:latin typeface="+mn-lt"/>
                <a:ea typeface="+mn-ea"/>
                <a:cs typeface="+mn-cs"/>
              </a:rPr>
              <a:t>teorema</a:t>
            </a:r>
            <a:r>
              <a:rPr lang="en-US" sz="1200" b="0" i="0" kern="1200" baseline="0" dirty="0">
                <a:solidFill>
                  <a:schemeClr val="tx1"/>
                </a:solidFill>
                <a:effectLst/>
                <a:latin typeface="+mn-lt"/>
                <a:ea typeface="+mn-ea"/>
                <a:cs typeface="+mn-cs"/>
              </a:rPr>
              <a:t> f</a:t>
            </a:r>
            <a:r>
              <a:rPr lang="pt-BR" sz="1200" b="0" i="0" kern="1200" dirty="0" err="1">
                <a:solidFill>
                  <a:schemeClr val="tx1"/>
                </a:solidFill>
                <a:effectLst/>
                <a:latin typeface="+mn-lt"/>
                <a:ea typeface="+mn-ea"/>
                <a:cs typeface="+mn-cs"/>
              </a:rPr>
              <a:t>ornece</a:t>
            </a:r>
            <a:r>
              <a:rPr lang="pt-BR" sz="1200" b="0" i="0" kern="1200" dirty="0">
                <a:solidFill>
                  <a:schemeClr val="tx1"/>
                </a:solidFill>
                <a:effectLst/>
                <a:latin typeface="+mn-lt"/>
                <a:ea typeface="+mn-ea"/>
                <a:cs typeface="+mn-cs"/>
              </a:rPr>
              <a:t> uma maneira de aproximar funções complexas e não polinomiais por meio de polinômios simples.</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a:t>
            </a:r>
            <a:r>
              <a:rPr lang="en-US" sz="1200" b="0" i="0" kern="1200" dirty="0" err="1">
                <a:solidFill>
                  <a:schemeClr val="tx1"/>
                </a:solidFill>
                <a:effectLst/>
                <a:latin typeface="+mn-lt"/>
                <a:ea typeface="+mn-ea"/>
                <a:cs typeface="+mn-cs"/>
              </a:rPr>
              <a:t>Weierstrass</a:t>
            </a:r>
            <a:r>
              <a:rPr lang="en-US" sz="1200" b="0" i="0" kern="1200" dirty="0">
                <a:solidFill>
                  <a:schemeClr val="tx1"/>
                </a:solidFill>
                <a:effectLst/>
                <a:latin typeface="+mn-lt"/>
                <a:ea typeface="+mn-ea"/>
                <a:cs typeface="+mn-cs"/>
              </a:rPr>
              <a:t> approximation theorem assures us that </a:t>
            </a:r>
            <a:r>
              <a:rPr lang="en-US" sz="1200" b="0" i="0" u="none" strike="noStrike" kern="1200" dirty="0">
                <a:solidFill>
                  <a:schemeClr val="tx1"/>
                </a:solidFill>
                <a:effectLst/>
                <a:latin typeface="+mn-lt"/>
                <a:ea typeface="+mn-ea"/>
                <a:cs typeface="+mn-cs"/>
                <a:hlinkClick r:id="rId3"/>
              </a:rPr>
              <a:t>polynomial approximation</a:t>
            </a:r>
            <a:r>
              <a:rPr lang="en-US" sz="1200" b="0" i="0" kern="1200" dirty="0">
                <a:solidFill>
                  <a:schemeClr val="tx1"/>
                </a:solidFill>
                <a:effectLst/>
                <a:latin typeface="+mn-lt"/>
                <a:ea typeface="+mn-ea"/>
                <a:cs typeface="+mn-cs"/>
              </a:rPr>
              <a:t> can get arbitrarily close to any continuous function as the polynomial order is increased.</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err="1">
                <a:solidFill>
                  <a:schemeClr val="tx1"/>
                </a:solidFill>
                <a:effectLst/>
                <a:latin typeface="+mn-lt"/>
                <a:ea typeface="+mn-ea"/>
                <a:cs typeface="+mn-cs"/>
              </a:rPr>
              <a:t>Referências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[1] https://ccrma.stanford.edu/~jos/st/Weierstrass_Approximation_Theorem.html</a:t>
            </a:r>
          </a:p>
          <a:p>
            <a:r>
              <a:rPr lang="en-US" sz="1200" b="0" i="0" kern="1200" dirty="0">
                <a:solidFill>
                  <a:schemeClr val="tx1"/>
                </a:solidFill>
                <a:effectLst/>
                <a:latin typeface="+mn-lt"/>
                <a:ea typeface="+mn-ea"/>
                <a:cs typeface="+mn-cs"/>
              </a:rPr>
              <a:t>[2] https://people.bath.ac.uk/mw2319/ma30252/sec-approx.html</a:t>
            </a:r>
            <a:endParaRPr lang="pt-BR" dirty="0"/>
          </a:p>
          <a:p>
            <a:endParaRPr lang="pt-BR" dirty="0"/>
          </a:p>
          <a:p>
            <a:endParaRPr lang="en-US" dirty="0"/>
          </a:p>
        </p:txBody>
      </p:sp>
      <p:sp>
        <p:nvSpPr>
          <p:cNvPr id="4" name="Slide Number Placeholder 3">
            <a:extLst>
              <a:ext uri="{FF2B5EF4-FFF2-40B4-BE49-F238E27FC236}">
                <a16:creationId xmlns:a16="http://schemas.microsoft.com/office/drawing/2014/main" id="{0B8FDBB6-3437-2A56-5E8F-03C719363D60}"/>
              </a:ext>
            </a:extLst>
          </p:cNvPr>
          <p:cNvSpPr>
            <a:spLocks noGrp="1"/>
          </p:cNvSpPr>
          <p:nvPr>
            <p:ph type="sldNum" sz="quarter" idx="5"/>
          </p:nvPr>
        </p:nvSpPr>
        <p:spPr/>
        <p:txBody>
          <a:bodyPr/>
          <a:lstStyle/>
          <a:p>
            <a:fld id="{6FC8D850-966F-45A6-8DE7-15B891E7D40D}" type="slidenum">
              <a:rPr lang="pt-BR" smtClean="0"/>
              <a:t>11</a:t>
            </a:fld>
            <a:endParaRPr lang="pt-BR"/>
          </a:p>
        </p:txBody>
      </p:sp>
    </p:spTree>
    <p:extLst>
      <p:ext uri="{BB962C8B-B14F-4D97-AF65-F5344CB8AC3E}">
        <p14:creationId xmlns:p14="http://schemas.microsoft.com/office/powerpoint/2010/main" val="41606919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sz="1200" kern="1200" dirty="0">
                <a:solidFill>
                  <a:schemeClr val="tx1"/>
                </a:solidFill>
                <a:effectLst/>
                <a:latin typeface="+mn-lt"/>
                <a:ea typeface="+mn-ea"/>
                <a:cs typeface="+mn-cs"/>
              </a:rPr>
              <a:t>Para aproximar uma função senoidal usando um polinômio, o método mais comum e elegante é a </a:t>
            </a:r>
            <a:r>
              <a:rPr lang="pt-BR" sz="1200" b="1" kern="1200" dirty="0">
                <a:solidFill>
                  <a:schemeClr val="tx1"/>
                </a:solidFill>
                <a:effectLst/>
                <a:latin typeface="+mn-lt"/>
                <a:ea typeface="+mn-ea"/>
                <a:cs typeface="+mn-cs"/>
              </a:rPr>
              <a:t>Série de Taylor</a:t>
            </a:r>
            <a:r>
              <a:rPr lang="pt-BR" sz="1200" kern="1200" dirty="0">
                <a:solidFill>
                  <a:schemeClr val="tx1"/>
                </a:solidFill>
                <a:effectLst/>
                <a:latin typeface="+mn-lt"/>
                <a:ea typeface="+mn-ea"/>
                <a:cs typeface="+mn-cs"/>
              </a:rPr>
              <a:t> (especificamente a Série de </a:t>
            </a:r>
            <a:r>
              <a:rPr lang="pt-BR" sz="1200" kern="1200" dirty="0" err="1">
                <a:solidFill>
                  <a:schemeClr val="tx1"/>
                </a:solidFill>
                <a:effectLst/>
                <a:latin typeface="+mn-lt"/>
                <a:ea typeface="+mn-ea"/>
                <a:cs typeface="+mn-cs"/>
              </a:rPr>
              <a:t>Maclaurin</a:t>
            </a:r>
            <a:r>
              <a:rPr lang="pt-BR" sz="1200" kern="1200" dirty="0">
                <a:solidFill>
                  <a:schemeClr val="tx1"/>
                </a:solidFill>
                <a:effectLst/>
                <a:latin typeface="+mn-lt"/>
                <a:ea typeface="+mn-ea"/>
                <a:cs typeface="+mn-cs"/>
              </a:rPr>
              <a:t>, quando centrada em zero).</a:t>
            </a:r>
          </a:p>
          <a:p>
            <a:r>
              <a:rPr lang="pt-BR" sz="1200" kern="1200" dirty="0">
                <a:solidFill>
                  <a:schemeClr val="tx1"/>
                </a:solidFill>
                <a:effectLst/>
                <a:latin typeface="+mn-lt"/>
                <a:ea typeface="+mn-ea"/>
                <a:cs typeface="+mn-cs"/>
              </a:rPr>
              <a:t>A fórmula para o seno é:</a:t>
            </a:r>
          </a:p>
          <a:p>
            <a:r>
              <a:rPr lang="pt-BR" sz="1200" kern="1200" dirty="0">
                <a:solidFill>
                  <a:schemeClr val="tx1"/>
                </a:solidFill>
                <a:effectLst/>
                <a:latin typeface="+mn-lt"/>
                <a:ea typeface="+mn-ea"/>
                <a:cs typeface="+mn-cs"/>
              </a:rPr>
              <a:t>$$\</a:t>
            </a:r>
            <a:r>
              <a:rPr lang="pt-BR" sz="1200" kern="1200" dirty="0" err="1">
                <a:solidFill>
                  <a:schemeClr val="tx1"/>
                </a:solidFill>
                <a:effectLst/>
                <a:latin typeface="+mn-lt"/>
                <a:ea typeface="+mn-ea"/>
                <a:cs typeface="+mn-cs"/>
              </a:rPr>
              <a:t>sin</a:t>
            </a:r>
            <a:r>
              <a:rPr lang="pt-BR" sz="1200" kern="1200" dirty="0">
                <a:solidFill>
                  <a:schemeClr val="tx1"/>
                </a:solidFill>
                <a:effectLst/>
                <a:latin typeface="+mn-lt"/>
                <a:ea typeface="+mn-ea"/>
                <a:cs typeface="+mn-cs"/>
              </a:rPr>
              <a:t>(x) \</a:t>
            </a:r>
            <a:r>
              <a:rPr lang="pt-BR" sz="1200" kern="1200" dirty="0" err="1">
                <a:solidFill>
                  <a:schemeClr val="tx1"/>
                </a:solidFill>
                <a:effectLst/>
                <a:latin typeface="+mn-lt"/>
                <a:ea typeface="+mn-ea"/>
                <a:cs typeface="+mn-cs"/>
              </a:rPr>
              <a:t>approx</a:t>
            </a:r>
            <a:r>
              <a:rPr lang="pt-BR" sz="1200" kern="1200" dirty="0">
                <a:solidFill>
                  <a:schemeClr val="tx1"/>
                </a:solidFill>
                <a:effectLst/>
                <a:latin typeface="+mn-lt"/>
                <a:ea typeface="+mn-ea"/>
                <a:cs typeface="+mn-cs"/>
              </a:rPr>
              <a:t> x - \</a:t>
            </a:r>
            <a:r>
              <a:rPr lang="pt-BR" sz="1200" kern="1200" dirty="0" err="1">
                <a:solidFill>
                  <a:schemeClr val="tx1"/>
                </a:solidFill>
                <a:effectLst/>
                <a:latin typeface="+mn-lt"/>
                <a:ea typeface="+mn-ea"/>
                <a:cs typeface="+mn-cs"/>
              </a:rPr>
              <a:t>frac</a:t>
            </a:r>
            <a:r>
              <a:rPr lang="pt-BR" sz="1200" kern="1200" dirty="0">
                <a:solidFill>
                  <a:schemeClr val="tx1"/>
                </a:solidFill>
                <a:effectLst/>
                <a:latin typeface="+mn-lt"/>
                <a:ea typeface="+mn-ea"/>
                <a:cs typeface="+mn-cs"/>
              </a:rPr>
              <a:t>{x^3}{3!} + \</a:t>
            </a:r>
            <a:r>
              <a:rPr lang="pt-BR" sz="1200" kern="1200" dirty="0" err="1">
                <a:solidFill>
                  <a:schemeClr val="tx1"/>
                </a:solidFill>
                <a:effectLst/>
                <a:latin typeface="+mn-lt"/>
                <a:ea typeface="+mn-ea"/>
                <a:cs typeface="+mn-cs"/>
              </a:rPr>
              <a:t>frac</a:t>
            </a:r>
            <a:r>
              <a:rPr lang="pt-BR" sz="1200" kern="1200" dirty="0">
                <a:solidFill>
                  <a:schemeClr val="tx1"/>
                </a:solidFill>
                <a:effectLst/>
                <a:latin typeface="+mn-lt"/>
                <a:ea typeface="+mn-ea"/>
                <a:cs typeface="+mn-cs"/>
              </a:rPr>
              <a:t>{x^5}{5!} - \</a:t>
            </a:r>
            <a:r>
              <a:rPr lang="pt-BR" sz="1200" kern="1200" dirty="0" err="1">
                <a:solidFill>
                  <a:schemeClr val="tx1"/>
                </a:solidFill>
                <a:effectLst/>
                <a:latin typeface="+mn-lt"/>
                <a:ea typeface="+mn-ea"/>
                <a:cs typeface="+mn-cs"/>
              </a:rPr>
              <a:t>frac</a:t>
            </a:r>
            <a:r>
              <a:rPr lang="pt-BR" sz="1200" kern="1200" dirty="0">
                <a:solidFill>
                  <a:schemeClr val="tx1"/>
                </a:solidFill>
                <a:effectLst/>
                <a:latin typeface="+mn-lt"/>
                <a:ea typeface="+mn-ea"/>
                <a:cs typeface="+mn-cs"/>
              </a:rPr>
              <a:t>{x^7}{7!} + \</a:t>
            </a:r>
            <a:r>
              <a:rPr lang="pt-BR" sz="1200" kern="1200" dirty="0" err="1">
                <a:solidFill>
                  <a:schemeClr val="tx1"/>
                </a:solidFill>
                <a:effectLst/>
                <a:latin typeface="+mn-lt"/>
                <a:ea typeface="+mn-ea"/>
                <a:cs typeface="+mn-cs"/>
              </a:rPr>
              <a:t>dots</a:t>
            </a:r>
            <a:r>
              <a:rPr lang="pt-BR" sz="1200" kern="1200">
                <a:solidFill>
                  <a:schemeClr val="tx1"/>
                </a:solidFill>
                <a:effectLst/>
                <a:latin typeface="+mn-lt"/>
                <a:ea typeface="+mn-ea"/>
                <a:cs typeface="+mn-cs"/>
              </a:rPr>
              <a:t>$$</a:t>
            </a:r>
          </a:p>
          <a:p>
            <a:endParaRPr lang="pt-B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12</a:t>
            </a:fld>
            <a:endParaRPr lang="pt-BR"/>
          </a:p>
        </p:txBody>
      </p:sp>
    </p:spTree>
    <p:extLst>
      <p:ext uri="{BB962C8B-B14F-4D97-AF65-F5344CB8AC3E}">
        <p14:creationId xmlns:p14="http://schemas.microsoft.com/office/powerpoint/2010/main" val="28058079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ponto</a:t>
            </a:r>
            <a:r>
              <a:rPr lang="en-US" sz="1200" b="0" i="0" kern="1200" dirty="0">
                <a:solidFill>
                  <a:schemeClr val="tx1"/>
                </a:solidFill>
                <a:effectLst/>
                <a:latin typeface="+mn-lt"/>
                <a:ea typeface="+mn-ea"/>
                <a:cs typeface="+mn-cs"/>
              </a:rPr>
              <a:t> de </a:t>
            </a:r>
            <a:r>
              <a:rPr lang="en-US" sz="1200" b="0" i="0" kern="1200" dirty="0" err="1">
                <a:solidFill>
                  <a:schemeClr val="tx1"/>
                </a:solidFill>
                <a:effectLst/>
                <a:latin typeface="+mn-lt"/>
                <a:ea typeface="+mn-ea"/>
                <a:cs typeface="+mn-cs"/>
              </a:rPr>
              <a:t>inflexão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mudança</a:t>
            </a:r>
            <a:r>
              <a:rPr lang="en-US" sz="1200" b="0" i="0" kern="1200" dirty="0">
                <a:solidFill>
                  <a:schemeClr val="tx1"/>
                </a:solidFill>
                <a:effectLst/>
                <a:latin typeface="+mn-lt"/>
                <a:ea typeface="+mn-ea"/>
                <a:cs typeface="+mn-cs"/>
              </a:rPr>
              <a:t> de </a:t>
            </a:r>
            <a:r>
              <a:rPr lang="en-US" sz="1200" b="0" i="0" kern="1200" dirty="0" err="1">
                <a:solidFill>
                  <a:schemeClr val="tx1"/>
                </a:solidFill>
                <a:effectLst/>
                <a:latin typeface="+mn-lt"/>
                <a:ea typeface="+mn-ea"/>
                <a:cs typeface="+mn-cs"/>
              </a:rPr>
              <a:t>direção</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Graus </a:t>
            </a:r>
            <a:r>
              <a:rPr lang="en-US" sz="1200" b="0" i="0" kern="1200" dirty="0" err="1">
                <a:solidFill>
                  <a:schemeClr val="tx1"/>
                </a:solidFill>
                <a:effectLst/>
                <a:latin typeface="+mn-lt"/>
                <a:ea typeface="+mn-ea"/>
                <a:cs typeface="+mn-cs"/>
              </a:rPr>
              <a:t>maiores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são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capazes</a:t>
            </a:r>
            <a:r>
              <a:rPr lang="en-US" sz="1200" b="0" i="0" kern="1200" dirty="0">
                <a:solidFill>
                  <a:schemeClr val="tx1"/>
                </a:solidFill>
                <a:effectLst/>
                <a:latin typeface="+mn-lt"/>
                <a:ea typeface="+mn-ea"/>
                <a:cs typeface="+mn-cs"/>
              </a:rPr>
              <a:t> de </a:t>
            </a:r>
            <a:r>
              <a:rPr lang="en-US" sz="1200" b="0" i="0" kern="1200" dirty="0" err="1">
                <a:solidFill>
                  <a:schemeClr val="tx1"/>
                </a:solidFill>
                <a:effectLst/>
                <a:latin typeface="+mn-lt"/>
                <a:ea typeface="+mn-ea"/>
                <a:cs typeface="+mn-cs"/>
              </a:rPr>
              <a:t>fazer</a:t>
            </a:r>
            <a:r>
              <a:rPr lang="en-US" sz="1200" b="0" i="0" kern="1200" dirty="0">
                <a:solidFill>
                  <a:schemeClr val="tx1"/>
                </a:solidFill>
                <a:effectLst/>
                <a:latin typeface="+mn-lt"/>
                <a:ea typeface="+mn-ea"/>
                <a:cs typeface="+mn-cs"/>
              </a:rPr>
              <a:t> curvas e </a:t>
            </a:r>
            <a:r>
              <a:rPr lang="en-US" sz="1200" b="0" i="0" kern="1200" dirty="0" err="1">
                <a:solidFill>
                  <a:schemeClr val="tx1"/>
                </a:solidFill>
                <a:effectLst/>
                <a:latin typeface="+mn-lt"/>
                <a:ea typeface="+mn-ea"/>
                <a:cs typeface="+mn-cs"/>
              </a:rPr>
              <a:t>ondulações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mais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complexas</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O </a:t>
            </a:r>
            <a:r>
              <a:rPr lang="en-US" sz="1200" b="0" i="0" kern="1200" dirty="0" err="1">
                <a:solidFill>
                  <a:schemeClr val="tx1"/>
                </a:solidFill>
                <a:effectLst/>
                <a:latin typeface="+mn-lt"/>
                <a:ea typeface="+mn-ea"/>
                <a:cs typeface="+mn-cs"/>
              </a:rPr>
              <a:t>modelo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tenta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aproximar</a:t>
            </a:r>
            <a:r>
              <a:rPr lang="en-US" sz="1200" b="0" i="0" kern="1200" dirty="0">
                <a:solidFill>
                  <a:schemeClr val="tx1"/>
                </a:solidFill>
                <a:effectLst/>
                <a:latin typeface="+mn-lt"/>
                <a:ea typeface="+mn-ea"/>
                <a:cs typeface="+mn-cs"/>
              </a:rPr>
              <a:t> a </a:t>
            </a:r>
            <a:r>
              <a:rPr lang="en-US" sz="1200" b="0" i="0" kern="1200" dirty="0" err="1">
                <a:solidFill>
                  <a:schemeClr val="tx1"/>
                </a:solidFill>
                <a:effectLst/>
                <a:latin typeface="+mn-lt"/>
                <a:ea typeface="+mn-ea"/>
                <a:cs typeface="+mn-cs"/>
              </a:rPr>
              <a:t>função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verdadeira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por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trás</a:t>
            </a:r>
            <a:r>
              <a:rPr lang="en-US" sz="1200" b="0" i="0" kern="1200" dirty="0">
                <a:solidFill>
                  <a:schemeClr val="tx1"/>
                </a:solidFill>
                <a:effectLst/>
                <a:latin typeface="+mn-lt"/>
                <a:ea typeface="+mn-ea"/>
                <a:cs typeface="+mn-cs"/>
              </a:rPr>
              <a:t> dos </a:t>
            </a:r>
            <a:r>
              <a:rPr lang="en-US" sz="1200" b="0" i="0" kern="1200" dirty="0" err="1">
                <a:solidFill>
                  <a:schemeClr val="tx1"/>
                </a:solidFill>
                <a:effectLst/>
                <a:latin typeface="+mn-lt"/>
                <a:ea typeface="+mn-ea"/>
                <a:cs typeface="+mn-cs"/>
              </a:rPr>
              <a:t>pontos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ruidosos</a:t>
            </a:r>
            <a:r>
              <a:rPr lang="en-US" sz="1200" b="0" i="0" kern="1200" dirty="0">
                <a:solidFill>
                  <a:schemeClr val="tx1"/>
                </a:solidFill>
                <a:effectLst/>
                <a:latin typeface="+mn-lt"/>
                <a:ea typeface="+mn-ea"/>
                <a:cs typeface="+mn-cs"/>
              </a:rPr>
              <a:t>.</a:t>
            </a:r>
            <a:endParaRPr lang="en-US"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14</a:t>
            </a:fld>
            <a:endParaRPr lang="pt-BR"/>
          </a:p>
        </p:txBody>
      </p:sp>
    </p:spTree>
    <p:extLst>
      <p:ext uri="{BB962C8B-B14F-4D97-AF65-F5344CB8AC3E}">
        <p14:creationId xmlns:p14="http://schemas.microsoft.com/office/powerpoint/2010/main" val="28524507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endParaRPr lang="en-US"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16</a:t>
            </a:fld>
            <a:endParaRPr lang="pt-BR"/>
          </a:p>
        </p:txBody>
      </p:sp>
    </p:spTree>
    <p:extLst>
      <p:ext uri="{BB962C8B-B14F-4D97-AF65-F5344CB8AC3E}">
        <p14:creationId xmlns:p14="http://schemas.microsoft.com/office/powerpoint/2010/main" val="31825251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mc:AlternateContent xmlns:mc="http://schemas.openxmlformats.org/markup-compatibility/2006" xmlns:a14="http://schemas.microsoft.com/office/drawing/2010/main">
        <mc:Choice Requires="a14">
          <p:sp>
            <p:nvSpPr>
              <p:cNvPr id="3" name="Espaço Reservado para Anotações 2"/>
              <p:cNvSpPr>
                <a:spLocks noGrp="1"/>
              </p:cNvSpPr>
              <p:nvPr>
                <p:ph type="body" idx="1"/>
              </p:nvPr>
            </p:nvSpPr>
            <p:spPr/>
            <p:txBody>
              <a:bodyPr/>
              <a:lstStyle/>
              <a:p>
                <a:r>
                  <a:rPr lang="pt-BR" dirty="0"/>
                  <a:t>Percebam que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r>
                      <a:rPr lang="pt-BR" i="1">
                        <a:latin typeface="Cambria Math" panose="02040503050406030204" pitchFamily="18" charset="0"/>
                      </a:rPr>
                      <m:t>(</m:t>
                    </m:r>
                    <m:r>
                      <a:rPr lang="pt-BR" b="1" i="1">
                        <a:latin typeface="Cambria Math" panose="02040503050406030204" pitchFamily="18" charset="0"/>
                      </a:rPr>
                      <m:t>𝒂</m:t>
                    </m:r>
                    <m:r>
                      <a:rPr lang="pt-BR" i="1">
                        <a:latin typeface="Cambria Math" panose="02040503050406030204" pitchFamily="18" charset="0"/>
                      </a:rPr>
                      <m:t>)</m:t>
                    </m:r>
                  </m:oMath>
                </a14:m>
                <a:r>
                  <a:rPr lang="pt-BR" dirty="0"/>
                  <a:t> é função do vetor de pesos, pois variando os valores dos pesos, ficamos mais próximos ou distantes da função hipótese que minimiza o erro.</a:t>
                </a:r>
              </a:p>
              <a:p>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onde </a:t>
                </a:r>
                <a14:m>
                  <m:oMath xmlns:m="http://schemas.openxmlformats.org/officeDocument/2006/math">
                    <m:r>
                      <a:rPr lang="pt-BR" b="1" i="1" smtClean="0">
                        <a:latin typeface="Cambria Math" panose="02040503050406030204" pitchFamily="18" charset="0"/>
                      </a:rPr>
                      <m:t>𝑿</m:t>
                    </m:r>
                    <m:r>
                      <a:rPr lang="pt-BR" i="1">
                        <a:latin typeface="Cambria Math" panose="02040503050406030204" pitchFamily="18" charset="0"/>
                        <a:ea typeface="Cambria Math" panose="02040503050406030204" pitchFamily="18" charset="0"/>
                      </a:rPr>
                      <m:t>∈</m:t>
                    </m:r>
                    <m:sSup>
                      <m:sSupPr>
                        <m:ctrlPr>
                          <a:rPr lang="pt-BR" i="1">
                            <a:latin typeface="Cambria Math" panose="02040503050406030204" pitchFamily="18" charset="0"/>
                            <a:ea typeface="Cambria Math" panose="02040503050406030204" pitchFamily="18" charset="0"/>
                          </a:rPr>
                        </m:ctrlPr>
                      </m:sSupPr>
                      <m:e>
                        <m:r>
                          <a:rPr lang="pt-BR" i="1">
                            <a:latin typeface="Cambria Math" panose="02040503050406030204" pitchFamily="18" charset="0"/>
                            <a:ea typeface="Cambria Math" panose="02040503050406030204" pitchFamily="18" charset="0"/>
                          </a:rPr>
                          <m:t>ℝ</m:t>
                        </m:r>
                      </m:e>
                      <m:sup>
                        <m:r>
                          <a:rPr lang="pt-BR" b="0" i="1" smtClean="0">
                            <a:latin typeface="Cambria Math" panose="02040503050406030204" pitchFamily="18" charset="0"/>
                            <a:ea typeface="Cambria Math" panose="02040503050406030204" pitchFamily="18" charset="0"/>
                          </a:rPr>
                          <m:t>𝑁</m:t>
                        </m:r>
                        <m:r>
                          <a:rPr lang="pt-BR" i="1">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𝐾</m:t>
                        </m:r>
                        <m:r>
                          <a:rPr lang="pt-BR" b="0" i="1" smtClean="0">
                            <a:latin typeface="Cambria Math" panose="02040503050406030204" pitchFamily="18" charset="0"/>
                            <a:ea typeface="Cambria Math" panose="02040503050406030204" pitchFamily="18" charset="0"/>
                          </a:rPr>
                          <m:t>+1</m:t>
                        </m:r>
                      </m:sup>
                    </m:sSup>
                  </m:oMath>
                </a14:m>
                <a:r>
                  <a:rPr lang="nl-BE" dirty="0"/>
                  <a:t>é uma matriz </a:t>
                </a:r>
                <a14:m>
                  <m:oMath xmlns:m="http://schemas.openxmlformats.org/officeDocument/2006/math">
                    <m:r>
                      <a:rPr lang="pt-BR" b="0" i="1" smtClean="0">
                        <a:latin typeface="Cambria Math" panose="02040503050406030204" pitchFamily="18" charset="0"/>
                      </a:rPr>
                      <m:t>(</m:t>
                    </m:r>
                    <m:r>
                      <a:rPr lang="pt-BR" b="0" i="1" dirty="0" smtClean="0">
                        <a:latin typeface="Cambria Math" panose="02040503050406030204" pitchFamily="18" charset="0"/>
                      </a:rPr>
                      <m:t>𝑁</m:t>
                    </m:r>
                    <m:r>
                      <a:rPr lang="pt-BR" b="0" i="1" dirty="0" smtClean="0">
                        <a:latin typeface="Cambria Math" panose="02040503050406030204" pitchFamily="18" charset="0"/>
                        <a:ea typeface="Cambria Math" panose="02040503050406030204" pitchFamily="18" charset="0"/>
                      </a:rPr>
                      <m:t>×</m:t>
                    </m:r>
                    <m:r>
                      <a:rPr lang="pt-BR" b="0" i="1" dirty="0" smtClean="0">
                        <a:latin typeface="Cambria Math" panose="02040503050406030204" pitchFamily="18" charset="0"/>
                        <a:ea typeface="Cambria Math" panose="02040503050406030204" pitchFamily="18" charset="0"/>
                      </a:rPr>
                      <m:t>𝐾</m:t>
                    </m:r>
                    <m:r>
                      <a:rPr lang="pt-BR" b="0" i="1" dirty="0" smtClean="0">
                        <a:latin typeface="Cambria Math" panose="02040503050406030204" pitchFamily="18" charset="0"/>
                        <a:ea typeface="Cambria Math" panose="02040503050406030204" pitchFamily="18" charset="0"/>
                      </a:rPr>
                      <m:t>+1)</m:t>
                    </m:r>
                  </m:oMath>
                </a14:m>
                <a:r>
                  <a:rPr lang="nl-BE" dirty="0"/>
                  <a:t> com todos os atributos para os </a:t>
                </a:r>
                <a14:m>
                  <m:oMath xmlns:m="http://schemas.openxmlformats.org/officeDocument/2006/math">
                    <m:r>
                      <a:rPr lang="pt-BR" i="1">
                        <a:latin typeface="Cambria Math" panose="02040503050406030204" pitchFamily="18" charset="0"/>
                      </a:rPr>
                      <m:t>𝑁</m:t>
                    </m:r>
                  </m:oMath>
                </a14:m>
                <a:r>
                  <a:rPr lang="nl-BE" dirty="0"/>
                  <a:t> instantes de tempo considerados (i.e., </a:t>
                </a:r>
                <a14:m>
                  <m:oMath xmlns:m="http://schemas.openxmlformats.org/officeDocument/2006/math">
                    <m:r>
                      <a:rPr lang="pt-BR" i="1">
                        <a:latin typeface="Cambria Math" panose="02040503050406030204" pitchFamily="18" charset="0"/>
                      </a:rPr>
                      <m:t>𝑁</m:t>
                    </m:r>
                    <m:r>
                      <a:rPr lang="pt-BR" i="1">
                        <a:latin typeface="Cambria Math" panose="02040503050406030204" pitchFamily="18" charset="0"/>
                      </a:rPr>
                      <m:t> </m:t>
                    </m:r>
                  </m:oMath>
                </a14:m>
                <a:r>
                  <a:rPr lang="nl-BE" dirty="0"/>
                  <a:t>é o </a:t>
                </a:r>
                <a:r>
                  <a:rPr lang="nl-BE" b="1" i="1" dirty="0"/>
                  <a:t>número de exemplos coletados</a:t>
                </a:r>
                <a:r>
                  <a:rPr lang="nl-BE" dirty="0"/>
                  <a:t>) e </a:t>
                </a:r>
                <a14:m>
                  <m:oMath xmlns:m="http://schemas.openxmlformats.org/officeDocument/2006/math">
                    <m:r>
                      <a:rPr lang="pt-BR" b="1" i="1">
                        <a:latin typeface="Cambria Math" panose="02040503050406030204" pitchFamily="18" charset="0"/>
                      </a:rPr>
                      <m:t>𝒚</m:t>
                    </m:r>
                  </m:oMath>
                </a14:m>
                <a:r>
                  <a:rPr lang="nl-BE" dirty="0"/>
                  <a:t> e </a:t>
                </a:r>
                <a14:m>
                  <m:oMath xmlns:m="http://schemas.openxmlformats.org/officeDocument/2006/math">
                    <m:acc>
                      <m:accPr>
                        <m:chr m:val="̂"/>
                        <m:ctrlPr>
                          <a:rPr lang="pt-BR" b="1" i="1">
                            <a:latin typeface="Cambria Math" panose="02040503050406030204" pitchFamily="18" charset="0"/>
                          </a:rPr>
                        </m:ctrlPr>
                      </m:accPr>
                      <m:e>
                        <m:r>
                          <a:rPr lang="pt-BR" b="1" i="1">
                            <a:latin typeface="Cambria Math" panose="02040503050406030204" pitchFamily="18" charset="0"/>
                          </a:rPr>
                          <m:t>𝒚</m:t>
                        </m:r>
                      </m:e>
                    </m:acc>
                  </m:oMath>
                </a14:m>
                <a:r>
                  <a:rPr lang="nl-BE" dirty="0"/>
                  <a:t> são vetores coluna </a:t>
                </a:r>
                <a14:m>
                  <m:oMath xmlns:m="http://schemas.openxmlformats.org/officeDocument/2006/math">
                    <m:r>
                      <a:rPr lang="pt-BR" i="1">
                        <a:latin typeface="Cambria Math" panose="02040503050406030204" pitchFamily="18" charset="0"/>
                      </a:rPr>
                      <m:t>(</m:t>
                    </m:r>
                    <m:r>
                      <a:rPr lang="pt-BR" i="1" dirty="0">
                        <a:latin typeface="Cambria Math" panose="02040503050406030204" pitchFamily="18" charset="0"/>
                      </a:rPr>
                      <m:t>𝑁</m:t>
                    </m:r>
                    <m:r>
                      <a:rPr lang="pt-BR" i="1" dirty="0">
                        <a:latin typeface="Cambria Math" panose="02040503050406030204" pitchFamily="18" charset="0"/>
                        <a:ea typeface="Cambria Math" panose="02040503050406030204" pitchFamily="18" charset="0"/>
                      </a:rPr>
                      <m:t>×1)</m:t>
                    </m:r>
                  </m:oMath>
                </a14:m>
                <a:r>
                  <a:rPr lang="nl-BE" dirty="0"/>
                  <a:t> com todos os valores esperados e de saída da função hipótese para os </a:t>
                </a:r>
                <a14:m>
                  <m:oMath xmlns:m="http://schemas.openxmlformats.org/officeDocument/2006/math">
                    <m:r>
                      <a:rPr lang="pt-BR" i="1">
                        <a:latin typeface="Cambria Math" panose="02040503050406030204" pitchFamily="18" charset="0"/>
                      </a:rPr>
                      <m:t>𝑁</m:t>
                    </m:r>
                  </m:oMath>
                </a14:m>
                <a:r>
                  <a:rPr lang="nl-BE" dirty="0"/>
                  <a:t> instantes de tempo considerados, respectivamente.</a:t>
                </a:r>
              </a:p>
              <a:p>
                <a:endParaRPr lang="pt-BR" dirty="0"/>
              </a:p>
            </p:txBody>
          </p:sp>
        </mc:Choice>
        <mc:Fallback xmlns="">
          <p:sp>
            <p:nvSpPr>
              <p:cNvPr id="3" name="Espaço Reservado para Anotações 2"/>
              <p:cNvSpPr>
                <a:spLocks noGrp="1"/>
              </p:cNvSpPr>
              <p:nvPr>
                <p:ph type="body" idx="1"/>
              </p:nvPr>
            </p:nvSpPr>
            <p:spPr/>
            <p:txBody>
              <a:bodyPr/>
              <a:lstStyle/>
              <a:p>
                <a:r>
                  <a:rPr lang="pt-BR" dirty="0"/>
                  <a:t>Percebam que </a:t>
                </a:r>
                <a:r>
                  <a:rPr lang="pt-BR" i="0">
                    <a:latin typeface="Cambria Math" panose="02040503050406030204" pitchFamily="18" charset="0"/>
                  </a:rPr>
                  <a:t>𝐽_𝑒 (</a:t>
                </a:r>
                <a:r>
                  <a:rPr lang="pt-BR" b="1" i="0">
                    <a:latin typeface="Cambria Math" panose="02040503050406030204" pitchFamily="18" charset="0"/>
                  </a:rPr>
                  <a:t>𝒂</a:t>
                </a:r>
                <a:r>
                  <a:rPr lang="pt-BR" i="0">
                    <a:latin typeface="Cambria Math" panose="02040503050406030204" pitchFamily="18" charset="0"/>
                  </a:rPr>
                  <a:t>)</a:t>
                </a:r>
                <a:r>
                  <a:rPr lang="pt-BR" dirty="0"/>
                  <a:t> é função do vetor de pesos, pois variando os valores dos pesos, ficamos mais próximos ou distantes da função hipótese que minimiza o erro.</a:t>
                </a:r>
              </a:p>
            </p:txBody>
          </p:sp>
        </mc:Fallback>
      </mc:AlternateContent>
      <p:sp>
        <p:nvSpPr>
          <p:cNvPr id="4" name="Espaço Reservado para Número de Slide 3"/>
          <p:cNvSpPr>
            <a:spLocks noGrp="1"/>
          </p:cNvSpPr>
          <p:nvPr>
            <p:ph type="sldNum" sz="quarter" idx="5"/>
          </p:nvPr>
        </p:nvSpPr>
        <p:spPr/>
        <p:txBody>
          <a:bodyPr/>
          <a:lstStyle/>
          <a:p>
            <a:fld id="{DA8B99DF-01BC-492A-8CEF-4FD88D18DD9D}" type="slidenum">
              <a:rPr lang="nl-BE" smtClean="0"/>
              <a:t>18</a:t>
            </a:fld>
            <a:endParaRPr lang="nl-BE"/>
          </a:p>
        </p:txBody>
      </p:sp>
    </p:spTree>
    <p:extLst>
      <p:ext uri="{BB962C8B-B14F-4D97-AF65-F5344CB8AC3E}">
        <p14:creationId xmlns:p14="http://schemas.microsoft.com/office/powerpoint/2010/main" val="42895993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dirty="0"/>
              <a:t>Equação normal: resolução de um sistema de equações lineares.</a:t>
            </a:r>
          </a:p>
          <a:p>
            <a:endParaRPr lang="pt-BR" dirty="0"/>
          </a:p>
          <a:p>
            <a:r>
              <a:rPr lang="pt-BR" dirty="0"/>
              <a:t>Temos soluções apenas se o sistema for determinado ou </a:t>
            </a:r>
            <a:r>
              <a:rPr lang="pt-BR" dirty="0" err="1"/>
              <a:t>sobre-determinado</a:t>
            </a:r>
            <a:r>
              <a:rPr lang="pt-BR" dirty="0"/>
              <a:t> e os atributos forem linearmente independentes.</a:t>
            </a:r>
            <a:endParaRPr lang="en-US"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20</a:t>
            </a:fld>
            <a:endParaRPr lang="pt-BR"/>
          </a:p>
        </p:txBody>
      </p:sp>
    </p:spTree>
    <p:extLst>
      <p:ext uri="{BB962C8B-B14F-4D97-AF65-F5344CB8AC3E}">
        <p14:creationId xmlns:p14="http://schemas.microsoft.com/office/powerpoint/2010/main" val="35992637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FC8D850-966F-45A6-8DE7-15B891E7D40D}" type="slidenum">
              <a:rPr lang="pt-BR" smtClean="0"/>
              <a:t>21</a:t>
            </a:fld>
            <a:endParaRPr lang="pt-BR"/>
          </a:p>
        </p:txBody>
      </p:sp>
    </p:spTree>
    <p:extLst>
      <p:ext uri="{BB962C8B-B14F-4D97-AF65-F5344CB8AC3E}">
        <p14:creationId xmlns:p14="http://schemas.microsoft.com/office/powerpoint/2010/main" val="23927833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pt-BR" dirty="0"/>
                  <a:t>Se expandirmos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oMath>
                </a14:m>
                <a:r>
                  <a:rPr lang="nl-BE" dirty="0"/>
                  <a:t> notamos que ela possui</a:t>
                </a:r>
                <a:r>
                  <a:rPr lang="pt-BR" dirty="0"/>
                  <a:t> forma </a:t>
                </a:r>
                <a:r>
                  <a:rPr lang="pt-BR" b="1" i="1" dirty="0">
                    <a:solidFill>
                      <a:srgbClr val="7030A0"/>
                    </a:solidFill>
                  </a:rPr>
                  <a:t>quadrática</a:t>
                </a:r>
                <a:r>
                  <a:rPr lang="pt-BR" dirty="0"/>
                  <a:t> com relação ao </a:t>
                </a:r>
                <a:r>
                  <a:rPr lang="pt-BR" b="1" i="1" dirty="0"/>
                  <a:t>vetor de pesos</a:t>
                </a:r>
                <a:r>
                  <a:rPr lang="pt-BR" dirty="0"/>
                  <a:t>,</a:t>
                </a:r>
                <a:r>
                  <a:rPr lang="pt-BR" b="1" i="1" dirty="0"/>
                  <a:t> </a:t>
                </a:r>
                <a14:m>
                  <m:oMath xmlns:m="http://schemas.openxmlformats.org/officeDocument/2006/math">
                    <m:r>
                      <a:rPr lang="pt-BR" b="1" i="1">
                        <a:latin typeface="Cambria Math" panose="02040503050406030204" pitchFamily="18" charset="0"/>
                      </a:rPr>
                      <m:t>𝒂</m:t>
                    </m:r>
                    <m:r>
                      <a:rPr lang="en-US">
                        <a:latin typeface="Cambria Math" panose="02040503050406030204" pitchFamily="18" charset="0"/>
                      </a:rPr>
                      <m:t>.</m:t>
                    </m:r>
                  </m:oMath>
                </a14:m>
                <a:endParaRPr lang="en-US" i="1" dirty="0"/>
              </a:p>
              <a:p>
                <a:pPr marL="0" indent="0" algn="ctr">
                  <a:buNone/>
                </a:pP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r>
                      <a:rPr lang="pt-BR" b="1" i="1">
                        <a:latin typeface="Cambria Math" panose="02040503050406030204" pitchFamily="18" charset="0"/>
                      </a:rPr>
                      <m:t>=</m:t>
                    </m:r>
                    <m:sSup>
                      <m:sSupPr>
                        <m:ctrlPr>
                          <a:rPr lang="pt-BR" i="1">
                            <a:latin typeface="Cambria Math" panose="02040503050406030204" pitchFamily="18" charset="0"/>
                          </a:rPr>
                        </m:ctrlPr>
                      </m:sSupPr>
                      <m:e>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𝑁</m:t>
                            </m:r>
                          </m:den>
                        </m:f>
                        <m:d>
                          <m:dPr>
                            <m:begChr m:val="‖"/>
                            <m:endChr m:val="‖"/>
                            <m:ctrlPr>
                              <a:rPr lang="pt-BR" b="1" i="1">
                                <a:latin typeface="Cambria Math" panose="02040503050406030204" pitchFamily="18" charset="0"/>
                              </a:rPr>
                            </m:ctrlPr>
                          </m:dPr>
                          <m:e>
                            <m:r>
                              <a:rPr lang="pt-BR" b="1" i="1">
                                <a:latin typeface="Cambria Math" panose="02040503050406030204" pitchFamily="18" charset="0"/>
                              </a:rPr>
                              <m:t>𝒚</m:t>
                            </m:r>
                            <m:r>
                              <a:rPr lang="pt-BR" i="1">
                                <a:latin typeface="Cambria Math" panose="02040503050406030204" pitchFamily="18" charset="0"/>
                              </a:rPr>
                              <m:t> −</m:t>
                            </m:r>
                            <m:r>
                              <a:rPr lang="pt-BR" b="1" i="1" smtClean="0">
                                <a:latin typeface="Cambria Math" panose="02040503050406030204" pitchFamily="18" charset="0"/>
                              </a:rPr>
                              <m:t>𝑿</m:t>
                            </m:r>
                            <m:r>
                              <a:rPr lang="pt-BR" b="1" i="1">
                                <a:latin typeface="Cambria Math" panose="02040503050406030204" pitchFamily="18" charset="0"/>
                              </a:rPr>
                              <m:t>𝒂</m:t>
                            </m:r>
                          </m:e>
                        </m:d>
                      </m:e>
                      <m:sup>
                        <m:r>
                          <a:rPr lang="pt-BR" i="1">
                            <a:latin typeface="Cambria Math" panose="02040503050406030204" pitchFamily="18" charset="0"/>
                          </a:rPr>
                          <m:t>2</m:t>
                        </m:r>
                      </m:sup>
                    </m:sSup>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𝑁</m:t>
                        </m:r>
                      </m:den>
                    </m:f>
                    <m:d>
                      <m:dPr>
                        <m:ctrlPr>
                          <a:rPr lang="pt-BR" b="1" i="1" dirty="0">
                            <a:latin typeface="Cambria Math" panose="02040503050406030204" pitchFamily="18" charset="0"/>
                          </a:rPr>
                        </m:ctrlPr>
                      </m:dPr>
                      <m:e>
                        <m:sSup>
                          <m:sSupPr>
                            <m:ctrlPr>
                              <a:rPr lang="pt-BR" b="1" i="1" dirty="0">
                                <a:latin typeface="Cambria Math" panose="02040503050406030204" pitchFamily="18" charset="0"/>
                              </a:rPr>
                            </m:ctrlPr>
                          </m:sSupPr>
                          <m:e>
                            <m:r>
                              <a:rPr lang="pt-BR" b="1" i="1" dirty="0">
                                <a:latin typeface="Cambria Math" panose="02040503050406030204" pitchFamily="18" charset="0"/>
                              </a:rPr>
                              <m:t>𝒚</m:t>
                            </m:r>
                          </m:e>
                          <m:sup>
                            <m:r>
                              <a:rPr lang="pt-BR" i="1" dirty="0">
                                <a:latin typeface="Cambria Math" panose="02040503050406030204" pitchFamily="18" charset="0"/>
                              </a:rPr>
                              <m:t>𝑇</m:t>
                            </m:r>
                          </m:sup>
                        </m:sSup>
                        <m:r>
                          <m:rPr>
                            <m:nor/>
                          </m:rPr>
                          <a:rPr lang="pt-BR" b="1" i="0" dirty="0"/>
                          <m:t> </m:t>
                        </m:r>
                        <m:r>
                          <a:rPr lang="pt-BR" b="1" i="1">
                            <a:latin typeface="Cambria Math" panose="02040503050406030204" pitchFamily="18" charset="0"/>
                          </a:rPr>
                          <m:t>𝒚</m:t>
                        </m:r>
                        <m:r>
                          <m:rPr>
                            <m:nor/>
                          </m:rPr>
                          <a:rPr lang="nl-BE" i="0" dirty="0"/>
                          <m:t> − </m:t>
                        </m:r>
                        <m:sSup>
                          <m:sSupPr>
                            <m:ctrlPr>
                              <a:rPr lang="pt-BR" b="1" i="1" dirty="0">
                                <a:latin typeface="Cambria Math" panose="02040503050406030204" pitchFamily="18" charset="0"/>
                              </a:rPr>
                            </m:ctrlPr>
                          </m:sSupPr>
                          <m:e>
                            <m:sSup>
                              <m:sSupPr>
                                <m:ctrlPr>
                                  <a:rPr lang="pt-BR" b="1" i="1" dirty="0">
                                    <a:latin typeface="Cambria Math" panose="02040503050406030204" pitchFamily="18" charset="0"/>
                                  </a:rPr>
                                </m:ctrlPr>
                              </m:sSupPr>
                              <m:e>
                                <m:r>
                                  <a:rPr lang="pt-BR" b="1" i="1" dirty="0">
                                    <a:latin typeface="Cambria Math" panose="02040503050406030204" pitchFamily="18" charset="0"/>
                                  </a:rPr>
                                  <m:t>𝒚</m:t>
                                </m:r>
                              </m:e>
                              <m:sup>
                                <m:r>
                                  <a:rPr lang="pt-BR" i="1" dirty="0">
                                    <a:latin typeface="Cambria Math" panose="02040503050406030204" pitchFamily="18" charset="0"/>
                                  </a:rPr>
                                  <m:t>𝑇</m:t>
                                </m:r>
                              </m:sup>
                            </m:sSup>
                            <m:r>
                              <a:rPr lang="pt-BR" b="1" i="1">
                                <a:latin typeface="Cambria Math" panose="02040503050406030204" pitchFamily="18" charset="0"/>
                              </a:rPr>
                              <m:t>𝑿</m:t>
                            </m:r>
                            <m:r>
                              <a:rPr lang="pt-BR" b="1" i="1" dirty="0">
                                <a:latin typeface="Cambria Math" panose="02040503050406030204" pitchFamily="18" charset="0"/>
                              </a:rPr>
                              <m:t>𝒂</m:t>
                            </m:r>
                          </m:e>
                          <m:sup>
                            <m:r>
                              <a:rPr lang="pt-BR" i="1" dirty="0">
                                <a:latin typeface="Cambria Math" panose="02040503050406030204" pitchFamily="18" charset="0"/>
                              </a:rPr>
                              <m:t>𝑇</m:t>
                            </m:r>
                          </m:sup>
                        </m:sSup>
                        <m:r>
                          <m:rPr>
                            <m:nor/>
                          </m:rPr>
                          <a:rPr lang="nl-BE" i="0" dirty="0"/>
                          <m:t>− </m:t>
                        </m:r>
                        <m:sSup>
                          <m:sSupPr>
                            <m:ctrlPr>
                              <a:rPr lang="pt-BR" b="1" i="1">
                                <a:latin typeface="Cambria Math" panose="02040503050406030204" pitchFamily="18" charset="0"/>
                              </a:rPr>
                            </m:ctrlPr>
                          </m:sSupPr>
                          <m:e>
                            <m:r>
                              <a:rPr lang="pt-BR" b="1" i="1">
                                <a:latin typeface="Cambria Math" panose="02040503050406030204" pitchFamily="18" charset="0"/>
                              </a:rPr>
                              <m:t>𝒂</m:t>
                            </m:r>
                          </m:e>
                          <m:sup>
                            <m:r>
                              <a:rPr lang="pt-BR" i="1">
                                <a:latin typeface="Cambria Math" panose="02040503050406030204" pitchFamily="18" charset="0"/>
                              </a:rPr>
                              <m:t>𝑇</m:t>
                            </m:r>
                          </m:sup>
                        </m:sSup>
                        <m:sSup>
                          <m:sSupPr>
                            <m:ctrlPr>
                              <a:rPr lang="pt-BR" b="1" i="1">
                                <a:latin typeface="Cambria Math" panose="02040503050406030204" pitchFamily="18" charset="0"/>
                              </a:rPr>
                            </m:ctrlPr>
                          </m:sSupPr>
                          <m:e>
                            <m:r>
                              <a:rPr lang="pt-BR" b="1" i="1">
                                <a:latin typeface="Cambria Math" panose="02040503050406030204" pitchFamily="18" charset="0"/>
                              </a:rPr>
                              <m:t>𝑿</m:t>
                            </m:r>
                          </m:e>
                          <m:sup>
                            <m:r>
                              <a:rPr lang="pt-BR" i="1">
                                <a:latin typeface="Cambria Math" panose="02040503050406030204" pitchFamily="18" charset="0"/>
                              </a:rPr>
                              <m:t>𝑇</m:t>
                            </m:r>
                          </m:sup>
                        </m:sSup>
                        <m:r>
                          <m:rPr>
                            <m:nor/>
                          </m:rPr>
                          <a:rPr lang="pt-BR" b="1" i="0" dirty="0"/>
                          <m:t> </m:t>
                        </m:r>
                        <m:r>
                          <a:rPr lang="pt-BR" b="1" i="1">
                            <a:latin typeface="Cambria Math" panose="02040503050406030204" pitchFamily="18" charset="0"/>
                          </a:rPr>
                          <m:t>𝒚</m:t>
                        </m:r>
                        <m:r>
                          <m:rPr>
                            <m:nor/>
                          </m:rPr>
                          <a:rPr lang="nl-BE" i="0" dirty="0"/>
                          <m:t> + </m:t>
                        </m:r>
                        <m:sSup>
                          <m:sSupPr>
                            <m:ctrlPr>
                              <a:rPr lang="pt-BR" b="1" i="1">
                                <a:latin typeface="Cambria Math" panose="02040503050406030204" pitchFamily="18" charset="0"/>
                              </a:rPr>
                            </m:ctrlPr>
                          </m:sSupPr>
                          <m:e>
                            <m:r>
                              <a:rPr lang="pt-BR" b="1" i="1">
                                <a:latin typeface="Cambria Math" panose="02040503050406030204" pitchFamily="18" charset="0"/>
                              </a:rPr>
                              <m:t>𝒂</m:t>
                            </m:r>
                          </m:e>
                          <m:sup>
                            <m:r>
                              <a:rPr lang="pt-BR" i="1">
                                <a:latin typeface="Cambria Math" panose="02040503050406030204" pitchFamily="18" charset="0"/>
                              </a:rPr>
                              <m:t>𝑇</m:t>
                            </m:r>
                          </m:sup>
                        </m:sSup>
                        <m:sSup>
                          <m:sSupPr>
                            <m:ctrlPr>
                              <a:rPr lang="pt-BR" b="1" i="1">
                                <a:latin typeface="Cambria Math" panose="02040503050406030204" pitchFamily="18" charset="0"/>
                              </a:rPr>
                            </m:ctrlPr>
                          </m:sSupPr>
                          <m:e>
                            <m:r>
                              <a:rPr lang="pt-BR" b="1" i="1">
                                <a:latin typeface="Cambria Math" panose="02040503050406030204" pitchFamily="18" charset="0"/>
                              </a:rPr>
                              <m:t>𝑿</m:t>
                            </m:r>
                          </m:e>
                          <m:sup>
                            <m:r>
                              <a:rPr lang="pt-BR" i="1">
                                <a:latin typeface="Cambria Math" panose="02040503050406030204" pitchFamily="18" charset="0"/>
                              </a:rPr>
                              <m:t>𝑇</m:t>
                            </m:r>
                          </m:sup>
                        </m:sSup>
                        <m:r>
                          <a:rPr lang="pt-BR" b="1" i="1">
                            <a:latin typeface="Cambria Math" panose="02040503050406030204" pitchFamily="18" charset="0"/>
                          </a:rPr>
                          <m:t>𝑿𝒂</m:t>
                        </m:r>
                      </m:e>
                    </m:d>
                  </m:oMath>
                </a14:m>
                <a:r>
                  <a:rPr lang="nl-BE" dirty="0"/>
                  <a:t>.</a:t>
                </a:r>
              </a:p>
              <a:p>
                <a:r>
                  <a:rPr lang="pt-BR" dirty="0"/>
                  <a:t>O gráfico de uma função quadrática é uma </a:t>
                </a:r>
                <a:r>
                  <a:rPr lang="pt-BR" b="1" i="1" dirty="0">
                    <a:solidFill>
                      <a:srgbClr val="7030A0"/>
                    </a:solidFill>
                  </a:rPr>
                  <a:t>parábola</a:t>
                </a:r>
                <a:r>
                  <a:rPr lang="pt-BR" dirty="0"/>
                  <a:t>. </a:t>
                </a:r>
              </a:p>
              <a:p>
                <a:r>
                  <a:rPr lang="pt-BR" dirty="0"/>
                  <a:t>Essa parábola tem a </a:t>
                </a:r>
                <a:r>
                  <a:rPr lang="pt-BR" b="1" i="1" dirty="0">
                    <a:solidFill>
                      <a:srgbClr val="7030A0"/>
                    </a:solidFill>
                  </a:rPr>
                  <a:t>concavidade voltada para cima</a:t>
                </a:r>
                <a:r>
                  <a:rPr lang="pt-BR" dirty="0"/>
                  <a:t>, pois </a:t>
                </a:r>
                <a14:m>
                  <m:oMath xmlns:m="http://schemas.openxmlformats.org/officeDocument/2006/math">
                    <m:sSup>
                      <m:sSupPr>
                        <m:ctrlPr>
                          <a:rPr lang="pt-BR" b="1" i="1">
                            <a:latin typeface="Cambria Math" panose="02040503050406030204" pitchFamily="18" charset="0"/>
                          </a:rPr>
                        </m:ctrlPr>
                      </m:sSupPr>
                      <m:e>
                        <m:d>
                          <m:dPr>
                            <m:begChr m:val="‖"/>
                            <m:endChr m:val="‖"/>
                            <m:ctrlPr>
                              <a:rPr lang="pt-BR" b="1" i="1">
                                <a:latin typeface="Cambria Math" panose="02040503050406030204" pitchFamily="18" charset="0"/>
                              </a:rPr>
                            </m:ctrlPr>
                          </m:dPr>
                          <m:e>
                            <m:r>
                              <a:rPr lang="pt-BR" b="1" i="1">
                                <a:latin typeface="Cambria Math" panose="02040503050406030204" pitchFamily="18" charset="0"/>
                              </a:rPr>
                              <m:t>𝑿𝒂</m:t>
                            </m:r>
                          </m:e>
                        </m:d>
                      </m:e>
                      <m:sup>
                        <m:r>
                          <a:rPr lang="pt-BR" i="1">
                            <a:latin typeface="Cambria Math" panose="02040503050406030204" pitchFamily="18" charset="0"/>
                          </a:rPr>
                          <m:t>2</m:t>
                        </m:r>
                      </m:sup>
                    </m:sSup>
                    <m:r>
                      <a:rPr lang="pt-BR" b="0" i="0" smtClean="0">
                        <a:latin typeface="Cambria Math" panose="02040503050406030204" pitchFamily="18" charset="0"/>
                      </a:rPr>
                      <m:t>≥0</m:t>
                    </m:r>
                    <m:r>
                      <a:rPr lang="pt-BR">
                        <a:latin typeface="Cambria Math" panose="02040503050406030204" pitchFamily="18" charset="0"/>
                      </a:rPr>
                      <m:t>.</m:t>
                    </m:r>
                  </m:oMath>
                </a14:m>
                <a:endParaRPr lang="pt-BR" dirty="0"/>
              </a:p>
              <a:p>
                <a:r>
                  <a:rPr lang="pt-BR" dirty="0"/>
                  <a:t>O que isso significa?</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Isso significa que a </a:t>
                </a:r>
                <a:r>
                  <a:rPr lang="pt-BR" b="1" i="1" dirty="0">
                    <a:solidFill>
                      <a:srgbClr val="00B050"/>
                    </a:solidFill>
                  </a:rPr>
                  <a:t>superfície de erro</a:t>
                </a:r>
                <a:r>
                  <a:rPr lang="pt-BR" dirty="0"/>
                  <a:t> tem o formato de uma </a:t>
                </a:r>
                <a:r>
                  <a:rPr lang="pt-BR" b="1" i="1" dirty="0">
                    <a:solidFill>
                      <a:srgbClr val="00B050"/>
                    </a:solidFill>
                  </a:rPr>
                  <a:t>parábola convexa</a:t>
                </a:r>
                <a:r>
                  <a:rPr lang="pt-BR" b="1" i="1" dirty="0"/>
                  <a:t> </a:t>
                </a:r>
                <a:r>
                  <a:rPr lang="pt-BR" dirty="0"/>
                  <a:t>(i.e., tem formato de </a:t>
                </a:r>
                <a:r>
                  <a:rPr lang="pt-BR" b="1" i="1" dirty="0"/>
                  <a:t>tigela </a:t>
                </a:r>
                <a:r>
                  <a:rPr lang="pt-BR" dirty="0"/>
                  <a:t>ou </a:t>
                </a:r>
                <a:r>
                  <a:rPr lang="pt-BR" b="1" i="1" dirty="0"/>
                  <a:t>vale</a:t>
                </a:r>
                <a:r>
                  <a:rPr lang="pt-BR" dirty="0"/>
                  <a:t>).</a:t>
                </a:r>
              </a:p>
              <a:p>
                <a:endParaRPr lang="en-US" dirty="0"/>
              </a:p>
            </p:txBody>
          </p:sp>
        </mc:Choice>
        <mc:Fallback xmlns="">
          <p:sp>
            <p:nvSpPr>
              <p:cNvPr id="3" name="Notes Placeholder 2"/>
              <p:cNvSpPr>
                <a:spLocks noGrp="1"/>
              </p:cNvSpPr>
              <p:nvPr>
                <p:ph type="body" idx="1"/>
              </p:nvPr>
            </p:nvSpPr>
            <p:spPr/>
            <p:txBody>
              <a:bodyPr/>
              <a:lstStyle/>
              <a:p>
                <a:r>
                  <a:rPr lang="pt-BR" dirty="0"/>
                  <a:t>Se expandirmos </a:t>
                </a:r>
                <a:r>
                  <a:rPr lang="pt-BR" i="0">
                    <a:latin typeface="Cambria Math" panose="02040503050406030204" pitchFamily="18" charset="0"/>
                  </a:rPr>
                  <a:t>𝐽_𝑒 (</a:t>
                </a:r>
                <a:r>
                  <a:rPr lang="pt-BR" b="1" i="0">
                    <a:latin typeface="Cambria Math" panose="02040503050406030204" pitchFamily="18" charset="0"/>
                  </a:rPr>
                  <a:t>𝒂)</a:t>
                </a:r>
                <a:r>
                  <a:rPr lang="nl-BE" dirty="0"/>
                  <a:t> notamos que ela possui</a:t>
                </a:r>
                <a:r>
                  <a:rPr lang="pt-BR" dirty="0"/>
                  <a:t> forma </a:t>
                </a:r>
                <a:r>
                  <a:rPr lang="pt-BR" b="1" i="1" dirty="0">
                    <a:solidFill>
                      <a:srgbClr val="7030A0"/>
                    </a:solidFill>
                  </a:rPr>
                  <a:t>quadrática</a:t>
                </a:r>
                <a:r>
                  <a:rPr lang="pt-BR" dirty="0"/>
                  <a:t> com relação ao </a:t>
                </a:r>
                <a:r>
                  <a:rPr lang="pt-BR" b="1" i="1" dirty="0"/>
                  <a:t>vetor de pesos</a:t>
                </a:r>
                <a:r>
                  <a:rPr lang="pt-BR" dirty="0"/>
                  <a:t>,</a:t>
                </a:r>
                <a:r>
                  <a:rPr lang="pt-BR" b="1" i="1" dirty="0"/>
                  <a:t> </a:t>
                </a:r>
                <a:r>
                  <a:rPr lang="pt-BR" b="1" i="0">
                    <a:latin typeface="Cambria Math" panose="02040503050406030204" pitchFamily="18" charset="0"/>
                  </a:rPr>
                  <a:t>𝒂</a:t>
                </a:r>
                <a:r>
                  <a:rPr lang="en-US" i="0">
                    <a:latin typeface="Cambria Math" panose="02040503050406030204" pitchFamily="18" charset="0"/>
                  </a:rPr>
                  <a:t>.</a:t>
                </a:r>
                <a:endParaRPr lang="en-US" i="1" dirty="0"/>
              </a:p>
              <a:p>
                <a:pPr marL="0" indent="0" algn="ctr">
                  <a:buNone/>
                </a:pPr>
                <a:r>
                  <a:rPr lang="pt-BR" i="0">
                    <a:latin typeface="Cambria Math" panose="02040503050406030204" pitchFamily="18" charset="0"/>
                  </a:rPr>
                  <a:t>𝐽_𝑒 (</a:t>
                </a:r>
                <a:r>
                  <a:rPr lang="pt-BR" b="1" i="0">
                    <a:latin typeface="Cambria Math" panose="02040503050406030204" pitchFamily="18" charset="0"/>
                  </a:rPr>
                  <a:t>𝒂)=</a:t>
                </a:r>
                <a:r>
                  <a:rPr lang="pt-BR" i="0">
                    <a:latin typeface="Cambria Math" panose="02040503050406030204" pitchFamily="18" charset="0"/>
                  </a:rPr>
                  <a:t>〖1/𝑁 ‖</a:t>
                </a:r>
                <a:r>
                  <a:rPr lang="pt-BR" b="1" i="0">
                    <a:latin typeface="Cambria Math" panose="02040503050406030204" pitchFamily="18" charset="0"/>
                  </a:rPr>
                  <a:t>𝒚</a:t>
                </a:r>
                <a:r>
                  <a:rPr lang="pt-BR" i="0">
                    <a:latin typeface="Cambria Math" panose="02040503050406030204" pitchFamily="18" charset="0"/>
                  </a:rPr>
                  <a:t> −</a:t>
                </a:r>
                <a:r>
                  <a:rPr lang="pt-BR" b="1" i="0">
                    <a:latin typeface="Cambria Math" panose="02040503050406030204" pitchFamily="18" charset="0"/>
                  </a:rPr>
                  <a:t>𝑿𝒂‖〗^</a:t>
                </a:r>
                <a:r>
                  <a:rPr lang="pt-BR" i="0">
                    <a:latin typeface="Cambria Math" panose="02040503050406030204" pitchFamily="18" charset="0"/>
                  </a:rPr>
                  <a:t>2=1/𝑁 (</a:t>
                </a:r>
                <a:r>
                  <a:rPr lang="pt-BR" b="1" i="0" dirty="0">
                    <a:latin typeface="Cambria Math" panose="02040503050406030204" pitchFamily="18" charset="0"/>
                  </a:rPr>
                  <a:t>𝒚^</a:t>
                </a:r>
                <a:r>
                  <a:rPr lang="pt-BR" i="0" dirty="0">
                    <a:latin typeface="Cambria Math" panose="02040503050406030204" pitchFamily="18" charset="0"/>
                  </a:rPr>
                  <a:t>𝑇</a:t>
                </a:r>
                <a:r>
                  <a:rPr lang="pt-BR" b="1" i="0" dirty="0">
                    <a:latin typeface="Cambria Math" panose="02040503050406030204" pitchFamily="18" charset="0"/>
                  </a:rPr>
                  <a:t> "</a:t>
                </a:r>
                <a:r>
                  <a:rPr lang="pt-BR" b="1" i="0" dirty="0"/>
                  <a:t> </a:t>
                </a:r>
                <a:r>
                  <a:rPr lang="pt-BR" b="1" i="0">
                    <a:latin typeface="Cambria Math" panose="02040503050406030204" pitchFamily="18" charset="0"/>
                  </a:rPr>
                  <a:t>" 𝒚</a:t>
                </a:r>
                <a:r>
                  <a:rPr lang="nl-BE" b="1" i="0" dirty="0">
                    <a:latin typeface="Cambria Math" panose="02040503050406030204" pitchFamily="18" charset="0"/>
                  </a:rPr>
                  <a:t>"</a:t>
                </a:r>
                <a:r>
                  <a:rPr lang="nl-BE" i="0" dirty="0"/>
                  <a:t> − </a:t>
                </a:r>
                <a:r>
                  <a:rPr lang="pt-BR" b="1" i="0" dirty="0">
                    <a:latin typeface="Cambria Math" panose="02040503050406030204" pitchFamily="18" charset="0"/>
                  </a:rPr>
                  <a:t>" 〖𝒚^</a:t>
                </a:r>
                <a:r>
                  <a:rPr lang="pt-BR" i="0" dirty="0">
                    <a:latin typeface="Cambria Math" panose="02040503050406030204" pitchFamily="18" charset="0"/>
                  </a:rPr>
                  <a:t>𝑇</a:t>
                </a:r>
                <a:r>
                  <a:rPr lang="pt-BR" b="1" i="0">
                    <a:latin typeface="Cambria Math" panose="02040503050406030204" pitchFamily="18" charset="0"/>
                  </a:rPr>
                  <a:t> 𝑿</a:t>
                </a:r>
                <a:r>
                  <a:rPr lang="pt-BR" b="1" i="0" dirty="0">
                    <a:latin typeface="Cambria Math" panose="02040503050406030204" pitchFamily="18" charset="0"/>
                  </a:rPr>
                  <a:t>𝒂〗^</a:t>
                </a:r>
                <a:r>
                  <a:rPr lang="pt-BR" i="0" dirty="0">
                    <a:latin typeface="Cambria Math" panose="02040503050406030204" pitchFamily="18" charset="0"/>
                  </a:rPr>
                  <a:t>𝑇</a:t>
                </a:r>
                <a:r>
                  <a:rPr lang="nl-BE" i="0" dirty="0">
                    <a:latin typeface="Cambria Math" panose="02040503050406030204" pitchFamily="18" charset="0"/>
                  </a:rPr>
                  <a:t> "</a:t>
                </a:r>
                <a:r>
                  <a:rPr lang="nl-BE" i="0" dirty="0"/>
                  <a:t>− </a:t>
                </a:r>
                <a:r>
                  <a:rPr lang="nl-BE" i="0">
                    <a:latin typeface="Cambria Math" panose="02040503050406030204" pitchFamily="18" charset="0"/>
                  </a:rPr>
                  <a:t>" </a:t>
                </a:r>
                <a:r>
                  <a:rPr lang="pt-BR" b="1" i="0">
                    <a:latin typeface="Cambria Math" panose="02040503050406030204" pitchFamily="18" charset="0"/>
                  </a:rPr>
                  <a:t>𝒂</a:t>
                </a:r>
                <a:r>
                  <a:rPr lang="nl-BE" b="1" i="0">
                    <a:latin typeface="Cambria Math" panose="02040503050406030204" pitchFamily="18" charset="0"/>
                  </a:rPr>
                  <a:t>^</a:t>
                </a:r>
                <a:r>
                  <a:rPr lang="pt-BR" i="0">
                    <a:latin typeface="Cambria Math" panose="02040503050406030204" pitchFamily="18" charset="0"/>
                  </a:rPr>
                  <a:t>𝑇</a:t>
                </a:r>
                <a:r>
                  <a:rPr lang="nl-BE" i="0">
                    <a:latin typeface="Cambria Math" panose="02040503050406030204" pitchFamily="18" charset="0"/>
                  </a:rPr>
                  <a:t> </a:t>
                </a:r>
                <a:r>
                  <a:rPr lang="pt-BR" b="1" i="0">
                    <a:latin typeface="Cambria Math" panose="02040503050406030204" pitchFamily="18" charset="0"/>
                  </a:rPr>
                  <a:t>𝑿</a:t>
                </a:r>
                <a:r>
                  <a:rPr lang="nl-BE" b="1" i="0">
                    <a:latin typeface="Cambria Math" panose="02040503050406030204" pitchFamily="18" charset="0"/>
                  </a:rPr>
                  <a:t>^</a:t>
                </a:r>
                <a:r>
                  <a:rPr lang="pt-BR" i="0">
                    <a:latin typeface="Cambria Math" panose="02040503050406030204" pitchFamily="18" charset="0"/>
                  </a:rPr>
                  <a:t>𝑇</a:t>
                </a:r>
                <a:r>
                  <a:rPr lang="pt-BR" b="1" i="0" dirty="0">
                    <a:latin typeface="Cambria Math" panose="02040503050406030204" pitchFamily="18" charset="0"/>
                  </a:rPr>
                  <a:t> "</a:t>
                </a:r>
                <a:r>
                  <a:rPr lang="pt-BR" b="1" i="0" dirty="0"/>
                  <a:t> </a:t>
                </a:r>
                <a:r>
                  <a:rPr lang="pt-BR" b="1" i="0">
                    <a:latin typeface="Cambria Math" panose="02040503050406030204" pitchFamily="18" charset="0"/>
                  </a:rPr>
                  <a:t>" 𝒚</a:t>
                </a:r>
                <a:r>
                  <a:rPr lang="nl-BE" b="1" i="0" dirty="0">
                    <a:latin typeface="Cambria Math" panose="02040503050406030204" pitchFamily="18" charset="0"/>
                  </a:rPr>
                  <a:t>"</a:t>
                </a:r>
                <a:r>
                  <a:rPr lang="nl-BE" i="0" dirty="0"/>
                  <a:t> + </a:t>
                </a:r>
                <a:r>
                  <a:rPr lang="nl-BE" i="0">
                    <a:latin typeface="Cambria Math" panose="02040503050406030204" pitchFamily="18" charset="0"/>
                  </a:rPr>
                  <a:t>" </a:t>
                </a:r>
                <a:r>
                  <a:rPr lang="pt-BR" b="1" i="0">
                    <a:latin typeface="Cambria Math" panose="02040503050406030204" pitchFamily="18" charset="0"/>
                  </a:rPr>
                  <a:t>𝒂</a:t>
                </a:r>
                <a:r>
                  <a:rPr lang="nl-BE" b="1" i="0">
                    <a:latin typeface="Cambria Math" panose="02040503050406030204" pitchFamily="18" charset="0"/>
                  </a:rPr>
                  <a:t>^</a:t>
                </a:r>
                <a:r>
                  <a:rPr lang="pt-BR" i="0">
                    <a:latin typeface="Cambria Math" panose="02040503050406030204" pitchFamily="18" charset="0"/>
                  </a:rPr>
                  <a:t>𝑇</a:t>
                </a:r>
                <a:r>
                  <a:rPr lang="nl-BE" i="0">
                    <a:latin typeface="Cambria Math" panose="02040503050406030204" pitchFamily="18" charset="0"/>
                  </a:rPr>
                  <a:t> </a:t>
                </a:r>
                <a:r>
                  <a:rPr lang="pt-BR" b="1" i="0">
                    <a:latin typeface="Cambria Math" panose="02040503050406030204" pitchFamily="18" charset="0"/>
                  </a:rPr>
                  <a:t>𝑿</a:t>
                </a:r>
                <a:r>
                  <a:rPr lang="nl-BE" b="1" i="0">
                    <a:latin typeface="Cambria Math" panose="02040503050406030204" pitchFamily="18" charset="0"/>
                  </a:rPr>
                  <a:t>^</a:t>
                </a:r>
                <a:r>
                  <a:rPr lang="pt-BR" i="0">
                    <a:latin typeface="Cambria Math" panose="02040503050406030204" pitchFamily="18" charset="0"/>
                  </a:rPr>
                  <a:t>𝑇</a:t>
                </a:r>
                <a:r>
                  <a:rPr lang="pt-BR" b="1" i="0">
                    <a:latin typeface="Cambria Math" panose="02040503050406030204" pitchFamily="18" charset="0"/>
                  </a:rPr>
                  <a:t> 𝑿𝒂)</a:t>
                </a:r>
                <a:r>
                  <a:rPr lang="nl-BE" dirty="0"/>
                  <a:t>.</a:t>
                </a:r>
              </a:p>
              <a:p>
                <a:r>
                  <a:rPr lang="pt-BR" dirty="0"/>
                  <a:t>O gráfico de uma função quadrática é uma </a:t>
                </a:r>
                <a:r>
                  <a:rPr lang="pt-BR" b="1" i="1" dirty="0">
                    <a:solidFill>
                      <a:srgbClr val="7030A0"/>
                    </a:solidFill>
                  </a:rPr>
                  <a:t>parábola</a:t>
                </a:r>
                <a:r>
                  <a:rPr lang="pt-BR" dirty="0"/>
                  <a:t>. </a:t>
                </a:r>
              </a:p>
              <a:p>
                <a:r>
                  <a:rPr lang="pt-BR" dirty="0"/>
                  <a:t>Essa parábola tem a </a:t>
                </a:r>
                <a:r>
                  <a:rPr lang="pt-BR" b="1" i="1" dirty="0">
                    <a:solidFill>
                      <a:srgbClr val="7030A0"/>
                    </a:solidFill>
                  </a:rPr>
                  <a:t>concavidade voltada para cima</a:t>
                </a:r>
                <a:r>
                  <a:rPr lang="pt-BR" dirty="0"/>
                  <a:t>, pois </a:t>
                </a:r>
                <a:r>
                  <a:rPr lang="pt-BR" i="0">
                    <a:latin typeface="Cambria Math" panose="02040503050406030204" pitchFamily="18" charset="0"/>
                  </a:rPr>
                  <a:t>‖</a:t>
                </a:r>
                <a:r>
                  <a:rPr lang="pt-BR" b="1" i="0">
                    <a:latin typeface="Cambria Math" panose="02040503050406030204" pitchFamily="18" charset="0"/>
                  </a:rPr>
                  <a:t>𝑿𝒂‖^</a:t>
                </a:r>
                <a:r>
                  <a:rPr lang="pt-BR" i="0">
                    <a:latin typeface="Cambria Math" panose="02040503050406030204" pitchFamily="18" charset="0"/>
                  </a:rPr>
                  <a:t>2</a:t>
                </a:r>
                <a:r>
                  <a:rPr lang="pt-BR" b="0" i="0">
                    <a:latin typeface="Cambria Math" panose="02040503050406030204" pitchFamily="18" charset="0"/>
                  </a:rPr>
                  <a:t>≥0</a:t>
                </a:r>
                <a:r>
                  <a:rPr lang="pt-BR" i="0">
                    <a:latin typeface="Cambria Math" panose="02040503050406030204" pitchFamily="18" charset="0"/>
                  </a:rPr>
                  <a:t>.</a:t>
                </a:r>
                <a:endParaRPr lang="pt-BR" dirty="0"/>
              </a:p>
              <a:p>
                <a:r>
                  <a:rPr lang="pt-BR" dirty="0"/>
                  <a:t>O que isso significa?</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Isso significa que a </a:t>
                </a:r>
                <a:r>
                  <a:rPr lang="pt-BR" b="1" i="1" dirty="0">
                    <a:solidFill>
                      <a:srgbClr val="00B050"/>
                    </a:solidFill>
                  </a:rPr>
                  <a:t>superfície de erro</a:t>
                </a:r>
                <a:r>
                  <a:rPr lang="pt-BR" dirty="0"/>
                  <a:t> tem o formato de uma </a:t>
                </a:r>
                <a:r>
                  <a:rPr lang="pt-BR" b="1" i="1" dirty="0">
                    <a:solidFill>
                      <a:srgbClr val="00B050"/>
                    </a:solidFill>
                  </a:rPr>
                  <a:t>parábola convexa</a:t>
                </a:r>
                <a:r>
                  <a:rPr lang="pt-BR" b="1" i="1" dirty="0"/>
                  <a:t> </a:t>
                </a:r>
                <a:r>
                  <a:rPr lang="pt-BR" dirty="0"/>
                  <a:t>(i.e., tem formato de </a:t>
                </a:r>
                <a:r>
                  <a:rPr lang="pt-BR" b="1" i="1" dirty="0"/>
                  <a:t>tigela </a:t>
                </a:r>
                <a:r>
                  <a:rPr lang="pt-BR" dirty="0"/>
                  <a:t>ou </a:t>
                </a:r>
                <a:r>
                  <a:rPr lang="pt-BR" b="1" i="1" dirty="0"/>
                  <a:t>vale</a:t>
                </a:r>
                <a:r>
                  <a:rPr lang="pt-BR" dirty="0"/>
                  <a:t>).</a:t>
                </a:r>
              </a:p>
              <a:p>
                <a:endParaRPr lang="en-US" dirty="0"/>
              </a:p>
            </p:txBody>
          </p:sp>
        </mc:Fallback>
      </mc:AlternateContent>
      <p:sp>
        <p:nvSpPr>
          <p:cNvPr id="4" name="Slide Number Placeholder 3"/>
          <p:cNvSpPr>
            <a:spLocks noGrp="1"/>
          </p:cNvSpPr>
          <p:nvPr>
            <p:ph type="sldNum" sz="quarter" idx="5"/>
          </p:nvPr>
        </p:nvSpPr>
        <p:spPr/>
        <p:txBody>
          <a:bodyPr/>
          <a:lstStyle/>
          <a:p>
            <a:fld id="{6FC8D850-966F-45A6-8DE7-15B891E7D40D}" type="slidenum">
              <a:rPr lang="pt-BR" smtClean="0"/>
              <a:t>24</a:t>
            </a:fld>
            <a:endParaRPr lang="pt-BR"/>
          </a:p>
        </p:txBody>
      </p:sp>
    </p:spTree>
    <p:extLst>
      <p:ext uri="{BB962C8B-B14F-4D97-AF65-F5344CB8AC3E}">
        <p14:creationId xmlns:p14="http://schemas.microsoft.com/office/powerpoint/2010/main" val="23338299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A1E8E-C676-D391-F3AB-06DA1E751B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E31795-1D92-213A-9CDF-25BD6D59EAA3}"/>
              </a:ext>
            </a:extLst>
          </p:cNvPr>
          <p:cNvSpPr>
            <a:spLocks noGrp="1" noRot="1" noChangeAspect="1"/>
          </p:cNvSpPr>
          <p:nvPr>
            <p:ph type="sldImg"/>
          </p:nvPr>
        </p:nvSpPr>
        <p:spPr/>
        <p:txBody>
          <a:bodyPr/>
          <a:lstStyle/>
          <a:p>
            <a:endParaRPr lang="en-US"/>
          </a:p>
        </p:txBody>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B9D8ED50-39A7-01E8-5FC1-85AC9E30A765}"/>
                  </a:ext>
                </a:extLst>
              </p:cNvPr>
              <p:cNvSpPr>
                <a:spLocks noGrp="1"/>
              </p:cNvSpPr>
              <p:nvPr>
                <p:ph type="body" idx="1"/>
              </p:nvPr>
            </p:nvSpPr>
            <p:spPr/>
            <p:txBody>
              <a:bodyPr/>
              <a:lstStyle/>
              <a:p>
                <a:r>
                  <a:rPr lang="pt-BR" dirty="0"/>
                  <a:t>Se expandirmos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oMath>
                </a14:m>
                <a:r>
                  <a:rPr lang="nl-BE" dirty="0"/>
                  <a:t> notamos que ela possui</a:t>
                </a:r>
                <a:r>
                  <a:rPr lang="pt-BR" dirty="0"/>
                  <a:t> forma </a:t>
                </a:r>
                <a:r>
                  <a:rPr lang="pt-BR" b="1" i="1" dirty="0">
                    <a:solidFill>
                      <a:srgbClr val="7030A0"/>
                    </a:solidFill>
                  </a:rPr>
                  <a:t>quadrática</a:t>
                </a:r>
                <a:r>
                  <a:rPr lang="pt-BR" dirty="0"/>
                  <a:t> com relação ao </a:t>
                </a:r>
                <a:r>
                  <a:rPr lang="pt-BR" b="1" i="1" dirty="0"/>
                  <a:t>vetor de pesos</a:t>
                </a:r>
                <a:r>
                  <a:rPr lang="pt-BR" dirty="0"/>
                  <a:t>,</a:t>
                </a:r>
                <a:r>
                  <a:rPr lang="pt-BR" b="1" i="1" dirty="0"/>
                  <a:t> </a:t>
                </a:r>
                <a14:m>
                  <m:oMath xmlns:m="http://schemas.openxmlformats.org/officeDocument/2006/math">
                    <m:r>
                      <a:rPr lang="pt-BR" b="1" i="1">
                        <a:latin typeface="Cambria Math" panose="02040503050406030204" pitchFamily="18" charset="0"/>
                      </a:rPr>
                      <m:t>𝒂</m:t>
                    </m:r>
                    <m:r>
                      <a:rPr lang="en-US">
                        <a:latin typeface="Cambria Math" panose="02040503050406030204" pitchFamily="18" charset="0"/>
                      </a:rPr>
                      <m:t>.</m:t>
                    </m:r>
                  </m:oMath>
                </a14:m>
                <a:endParaRPr lang="en-US" i="1" dirty="0"/>
              </a:p>
              <a:p>
                <a:pPr marL="0" indent="0" algn="ctr">
                  <a:buNone/>
                </a:pP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r>
                      <a:rPr lang="pt-BR" b="1" i="1">
                        <a:latin typeface="Cambria Math" panose="02040503050406030204" pitchFamily="18" charset="0"/>
                      </a:rPr>
                      <m:t>=</m:t>
                    </m:r>
                    <m:sSup>
                      <m:sSupPr>
                        <m:ctrlPr>
                          <a:rPr lang="pt-BR" i="1">
                            <a:latin typeface="Cambria Math" panose="02040503050406030204" pitchFamily="18" charset="0"/>
                          </a:rPr>
                        </m:ctrlPr>
                      </m:sSupPr>
                      <m:e>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𝑁</m:t>
                            </m:r>
                          </m:den>
                        </m:f>
                        <m:d>
                          <m:dPr>
                            <m:begChr m:val="‖"/>
                            <m:endChr m:val="‖"/>
                            <m:ctrlPr>
                              <a:rPr lang="pt-BR" b="1" i="1">
                                <a:latin typeface="Cambria Math" panose="02040503050406030204" pitchFamily="18" charset="0"/>
                              </a:rPr>
                            </m:ctrlPr>
                          </m:dPr>
                          <m:e>
                            <m:r>
                              <a:rPr lang="pt-BR" b="1" i="1">
                                <a:latin typeface="Cambria Math" panose="02040503050406030204" pitchFamily="18" charset="0"/>
                              </a:rPr>
                              <m:t>𝒚</m:t>
                            </m:r>
                            <m:r>
                              <a:rPr lang="pt-BR" i="1">
                                <a:latin typeface="Cambria Math" panose="02040503050406030204" pitchFamily="18" charset="0"/>
                              </a:rPr>
                              <m:t> −</m:t>
                            </m:r>
                            <m:r>
                              <a:rPr lang="pt-BR" b="1" i="1" smtClean="0">
                                <a:latin typeface="Cambria Math" panose="02040503050406030204" pitchFamily="18" charset="0"/>
                              </a:rPr>
                              <m:t>𝑿</m:t>
                            </m:r>
                            <m:r>
                              <a:rPr lang="pt-BR" b="1" i="1">
                                <a:latin typeface="Cambria Math" panose="02040503050406030204" pitchFamily="18" charset="0"/>
                              </a:rPr>
                              <m:t>𝒂</m:t>
                            </m:r>
                          </m:e>
                        </m:d>
                      </m:e>
                      <m:sup>
                        <m:r>
                          <a:rPr lang="pt-BR" i="1">
                            <a:latin typeface="Cambria Math" panose="02040503050406030204" pitchFamily="18" charset="0"/>
                          </a:rPr>
                          <m:t>2</m:t>
                        </m:r>
                      </m:sup>
                    </m:sSup>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𝑁</m:t>
                        </m:r>
                      </m:den>
                    </m:f>
                    <m:d>
                      <m:dPr>
                        <m:ctrlPr>
                          <a:rPr lang="pt-BR" b="1" i="1" dirty="0">
                            <a:latin typeface="Cambria Math" panose="02040503050406030204" pitchFamily="18" charset="0"/>
                          </a:rPr>
                        </m:ctrlPr>
                      </m:dPr>
                      <m:e>
                        <m:sSup>
                          <m:sSupPr>
                            <m:ctrlPr>
                              <a:rPr lang="pt-BR" b="1" i="1" dirty="0">
                                <a:latin typeface="Cambria Math" panose="02040503050406030204" pitchFamily="18" charset="0"/>
                              </a:rPr>
                            </m:ctrlPr>
                          </m:sSupPr>
                          <m:e>
                            <m:r>
                              <a:rPr lang="pt-BR" b="1" i="1" dirty="0">
                                <a:latin typeface="Cambria Math" panose="02040503050406030204" pitchFamily="18" charset="0"/>
                              </a:rPr>
                              <m:t>𝒚</m:t>
                            </m:r>
                          </m:e>
                          <m:sup>
                            <m:r>
                              <a:rPr lang="pt-BR" i="1" dirty="0">
                                <a:latin typeface="Cambria Math" panose="02040503050406030204" pitchFamily="18" charset="0"/>
                              </a:rPr>
                              <m:t>𝑇</m:t>
                            </m:r>
                          </m:sup>
                        </m:sSup>
                        <m:r>
                          <m:rPr>
                            <m:nor/>
                          </m:rPr>
                          <a:rPr lang="pt-BR" b="1" i="0" dirty="0"/>
                          <m:t> </m:t>
                        </m:r>
                        <m:r>
                          <a:rPr lang="pt-BR" b="1" i="1">
                            <a:latin typeface="Cambria Math" panose="02040503050406030204" pitchFamily="18" charset="0"/>
                          </a:rPr>
                          <m:t>𝒚</m:t>
                        </m:r>
                        <m:r>
                          <m:rPr>
                            <m:nor/>
                          </m:rPr>
                          <a:rPr lang="nl-BE" i="0" dirty="0"/>
                          <m:t> − </m:t>
                        </m:r>
                        <m:sSup>
                          <m:sSupPr>
                            <m:ctrlPr>
                              <a:rPr lang="pt-BR" b="1" i="1" dirty="0">
                                <a:latin typeface="Cambria Math" panose="02040503050406030204" pitchFamily="18" charset="0"/>
                              </a:rPr>
                            </m:ctrlPr>
                          </m:sSupPr>
                          <m:e>
                            <m:sSup>
                              <m:sSupPr>
                                <m:ctrlPr>
                                  <a:rPr lang="pt-BR" b="1" i="1" dirty="0">
                                    <a:latin typeface="Cambria Math" panose="02040503050406030204" pitchFamily="18" charset="0"/>
                                  </a:rPr>
                                </m:ctrlPr>
                              </m:sSupPr>
                              <m:e>
                                <m:r>
                                  <a:rPr lang="pt-BR" b="1" i="1" dirty="0">
                                    <a:latin typeface="Cambria Math" panose="02040503050406030204" pitchFamily="18" charset="0"/>
                                  </a:rPr>
                                  <m:t>𝒚</m:t>
                                </m:r>
                              </m:e>
                              <m:sup>
                                <m:r>
                                  <a:rPr lang="pt-BR" i="1" dirty="0">
                                    <a:latin typeface="Cambria Math" panose="02040503050406030204" pitchFamily="18" charset="0"/>
                                  </a:rPr>
                                  <m:t>𝑇</m:t>
                                </m:r>
                              </m:sup>
                            </m:sSup>
                            <m:r>
                              <a:rPr lang="pt-BR" b="1" i="1">
                                <a:latin typeface="Cambria Math" panose="02040503050406030204" pitchFamily="18" charset="0"/>
                              </a:rPr>
                              <m:t>𝑿</m:t>
                            </m:r>
                            <m:r>
                              <a:rPr lang="pt-BR" b="1" i="1" dirty="0">
                                <a:latin typeface="Cambria Math" panose="02040503050406030204" pitchFamily="18" charset="0"/>
                              </a:rPr>
                              <m:t>𝒂</m:t>
                            </m:r>
                          </m:e>
                          <m:sup>
                            <m:r>
                              <a:rPr lang="pt-BR" i="1" dirty="0">
                                <a:latin typeface="Cambria Math" panose="02040503050406030204" pitchFamily="18" charset="0"/>
                              </a:rPr>
                              <m:t>𝑇</m:t>
                            </m:r>
                          </m:sup>
                        </m:sSup>
                        <m:r>
                          <m:rPr>
                            <m:nor/>
                          </m:rPr>
                          <a:rPr lang="nl-BE" i="0" dirty="0"/>
                          <m:t>− </m:t>
                        </m:r>
                        <m:sSup>
                          <m:sSupPr>
                            <m:ctrlPr>
                              <a:rPr lang="pt-BR" b="1" i="1">
                                <a:latin typeface="Cambria Math" panose="02040503050406030204" pitchFamily="18" charset="0"/>
                              </a:rPr>
                            </m:ctrlPr>
                          </m:sSupPr>
                          <m:e>
                            <m:r>
                              <a:rPr lang="pt-BR" b="1" i="1">
                                <a:latin typeface="Cambria Math" panose="02040503050406030204" pitchFamily="18" charset="0"/>
                              </a:rPr>
                              <m:t>𝒂</m:t>
                            </m:r>
                          </m:e>
                          <m:sup>
                            <m:r>
                              <a:rPr lang="pt-BR" i="1">
                                <a:latin typeface="Cambria Math" panose="02040503050406030204" pitchFamily="18" charset="0"/>
                              </a:rPr>
                              <m:t>𝑇</m:t>
                            </m:r>
                          </m:sup>
                        </m:sSup>
                        <m:sSup>
                          <m:sSupPr>
                            <m:ctrlPr>
                              <a:rPr lang="pt-BR" b="1" i="1">
                                <a:latin typeface="Cambria Math" panose="02040503050406030204" pitchFamily="18" charset="0"/>
                              </a:rPr>
                            </m:ctrlPr>
                          </m:sSupPr>
                          <m:e>
                            <m:r>
                              <a:rPr lang="pt-BR" b="1" i="1">
                                <a:latin typeface="Cambria Math" panose="02040503050406030204" pitchFamily="18" charset="0"/>
                              </a:rPr>
                              <m:t>𝑿</m:t>
                            </m:r>
                          </m:e>
                          <m:sup>
                            <m:r>
                              <a:rPr lang="pt-BR" i="1">
                                <a:latin typeface="Cambria Math" panose="02040503050406030204" pitchFamily="18" charset="0"/>
                              </a:rPr>
                              <m:t>𝑇</m:t>
                            </m:r>
                          </m:sup>
                        </m:sSup>
                        <m:r>
                          <m:rPr>
                            <m:nor/>
                          </m:rPr>
                          <a:rPr lang="pt-BR" b="1" i="0" dirty="0"/>
                          <m:t> </m:t>
                        </m:r>
                        <m:r>
                          <a:rPr lang="pt-BR" b="1" i="1">
                            <a:latin typeface="Cambria Math" panose="02040503050406030204" pitchFamily="18" charset="0"/>
                          </a:rPr>
                          <m:t>𝒚</m:t>
                        </m:r>
                        <m:r>
                          <m:rPr>
                            <m:nor/>
                          </m:rPr>
                          <a:rPr lang="nl-BE" i="0" dirty="0"/>
                          <m:t> + </m:t>
                        </m:r>
                        <m:sSup>
                          <m:sSupPr>
                            <m:ctrlPr>
                              <a:rPr lang="pt-BR" b="1" i="1">
                                <a:latin typeface="Cambria Math" panose="02040503050406030204" pitchFamily="18" charset="0"/>
                              </a:rPr>
                            </m:ctrlPr>
                          </m:sSupPr>
                          <m:e>
                            <m:r>
                              <a:rPr lang="pt-BR" b="1" i="1">
                                <a:latin typeface="Cambria Math" panose="02040503050406030204" pitchFamily="18" charset="0"/>
                              </a:rPr>
                              <m:t>𝒂</m:t>
                            </m:r>
                          </m:e>
                          <m:sup>
                            <m:r>
                              <a:rPr lang="pt-BR" i="1">
                                <a:latin typeface="Cambria Math" panose="02040503050406030204" pitchFamily="18" charset="0"/>
                              </a:rPr>
                              <m:t>𝑇</m:t>
                            </m:r>
                          </m:sup>
                        </m:sSup>
                        <m:sSup>
                          <m:sSupPr>
                            <m:ctrlPr>
                              <a:rPr lang="pt-BR" b="1" i="1">
                                <a:latin typeface="Cambria Math" panose="02040503050406030204" pitchFamily="18" charset="0"/>
                              </a:rPr>
                            </m:ctrlPr>
                          </m:sSupPr>
                          <m:e>
                            <m:r>
                              <a:rPr lang="pt-BR" b="1" i="1">
                                <a:latin typeface="Cambria Math" panose="02040503050406030204" pitchFamily="18" charset="0"/>
                              </a:rPr>
                              <m:t>𝑿</m:t>
                            </m:r>
                          </m:e>
                          <m:sup>
                            <m:r>
                              <a:rPr lang="pt-BR" i="1">
                                <a:latin typeface="Cambria Math" panose="02040503050406030204" pitchFamily="18" charset="0"/>
                              </a:rPr>
                              <m:t>𝑇</m:t>
                            </m:r>
                          </m:sup>
                        </m:sSup>
                        <m:r>
                          <a:rPr lang="pt-BR" b="1" i="1">
                            <a:latin typeface="Cambria Math" panose="02040503050406030204" pitchFamily="18" charset="0"/>
                          </a:rPr>
                          <m:t>𝑿𝒂</m:t>
                        </m:r>
                      </m:e>
                    </m:d>
                  </m:oMath>
                </a14:m>
                <a:r>
                  <a:rPr lang="nl-BE" dirty="0"/>
                  <a:t>.</a:t>
                </a:r>
              </a:p>
              <a:p>
                <a:r>
                  <a:rPr lang="pt-BR" dirty="0"/>
                  <a:t>O gráfico de uma função quadrática é uma </a:t>
                </a:r>
                <a:r>
                  <a:rPr lang="pt-BR" b="1" i="1" dirty="0">
                    <a:solidFill>
                      <a:srgbClr val="7030A0"/>
                    </a:solidFill>
                  </a:rPr>
                  <a:t>parábola</a:t>
                </a:r>
                <a:r>
                  <a:rPr lang="pt-BR" dirty="0"/>
                  <a:t>. </a:t>
                </a:r>
              </a:p>
              <a:p>
                <a:r>
                  <a:rPr lang="pt-BR" dirty="0"/>
                  <a:t>Essa parábola tem a </a:t>
                </a:r>
                <a:r>
                  <a:rPr lang="pt-BR" b="1" i="1" dirty="0">
                    <a:solidFill>
                      <a:srgbClr val="7030A0"/>
                    </a:solidFill>
                  </a:rPr>
                  <a:t>concavidade voltada para cima</a:t>
                </a:r>
                <a:r>
                  <a:rPr lang="pt-BR" dirty="0"/>
                  <a:t>, pois </a:t>
                </a:r>
                <a14:m>
                  <m:oMath xmlns:m="http://schemas.openxmlformats.org/officeDocument/2006/math">
                    <m:sSup>
                      <m:sSupPr>
                        <m:ctrlPr>
                          <a:rPr lang="pt-BR" b="1" i="1">
                            <a:latin typeface="Cambria Math" panose="02040503050406030204" pitchFamily="18" charset="0"/>
                          </a:rPr>
                        </m:ctrlPr>
                      </m:sSupPr>
                      <m:e>
                        <m:d>
                          <m:dPr>
                            <m:begChr m:val="‖"/>
                            <m:endChr m:val="‖"/>
                            <m:ctrlPr>
                              <a:rPr lang="pt-BR" b="1" i="1">
                                <a:latin typeface="Cambria Math" panose="02040503050406030204" pitchFamily="18" charset="0"/>
                              </a:rPr>
                            </m:ctrlPr>
                          </m:dPr>
                          <m:e>
                            <m:r>
                              <a:rPr lang="pt-BR" b="1" i="1">
                                <a:latin typeface="Cambria Math" panose="02040503050406030204" pitchFamily="18" charset="0"/>
                              </a:rPr>
                              <m:t>𝑿𝒂</m:t>
                            </m:r>
                          </m:e>
                        </m:d>
                      </m:e>
                      <m:sup>
                        <m:r>
                          <a:rPr lang="pt-BR" i="1">
                            <a:latin typeface="Cambria Math" panose="02040503050406030204" pitchFamily="18" charset="0"/>
                          </a:rPr>
                          <m:t>2</m:t>
                        </m:r>
                      </m:sup>
                    </m:sSup>
                    <m:r>
                      <a:rPr lang="pt-BR" b="0" i="0" smtClean="0">
                        <a:latin typeface="Cambria Math" panose="02040503050406030204" pitchFamily="18" charset="0"/>
                      </a:rPr>
                      <m:t>≥0</m:t>
                    </m:r>
                    <m:r>
                      <a:rPr lang="pt-BR">
                        <a:latin typeface="Cambria Math" panose="02040503050406030204" pitchFamily="18" charset="0"/>
                      </a:rPr>
                      <m:t>.</m:t>
                    </m:r>
                  </m:oMath>
                </a14:m>
                <a:endParaRPr lang="pt-BR" dirty="0"/>
              </a:p>
              <a:p>
                <a:r>
                  <a:rPr lang="pt-BR" dirty="0"/>
                  <a:t>O que isso significa?</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Isso significa que a </a:t>
                </a:r>
                <a:r>
                  <a:rPr lang="pt-BR" b="1" i="1" dirty="0">
                    <a:solidFill>
                      <a:srgbClr val="00B050"/>
                    </a:solidFill>
                  </a:rPr>
                  <a:t>superfície de erro</a:t>
                </a:r>
                <a:r>
                  <a:rPr lang="pt-BR" dirty="0"/>
                  <a:t> tem o formato de uma </a:t>
                </a:r>
                <a:r>
                  <a:rPr lang="pt-BR" b="1" i="1" dirty="0">
                    <a:solidFill>
                      <a:srgbClr val="00B050"/>
                    </a:solidFill>
                  </a:rPr>
                  <a:t>parábola convexa</a:t>
                </a:r>
                <a:r>
                  <a:rPr lang="pt-BR" b="1" i="1" dirty="0"/>
                  <a:t> </a:t>
                </a:r>
                <a:r>
                  <a:rPr lang="pt-BR" dirty="0"/>
                  <a:t>(i.e., tem formato de </a:t>
                </a:r>
                <a:r>
                  <a:rPr lang="pt-BR" b="1" i="1" dirty="0"/>
                  <a:t>tigela </a:t>
                </a:r>
                <a:r>
                  <a:rPr lang="pt-BR" dirty="0"/>
                  <a:t>ou </a:t>
                </a:r>
                <a:r>
                  <a:rPr lang="pt-BR" b="1" i="1" dirty="0"/>
                  <a:t>vale</a:t>
                </a:r>
                <a:r>
                  <a:rPr lang="pt-BR" dirty="0"/>
                  <a:t>).</a:t>
                </a:r>
              </a:p>
              <a:p>
                <a:endParaRPr lang="en-US" dirty="0"/>
              </a:p>
            </p:txBody>
          </p:sp>
        </mc:Choice>
        <mc:Fallback xmlns="">
          <p:sp>
            <p:nvSpPr>
              <p:cNvPr id="3" name="Notes Placeholder 2">
                <a:extLst>
                  <a:ext uri="{FF2B5EF4-FFF2-40B4-BE49-F238E27FC236}">
                    <a16:creationId xmlns:a16="http://schemas.microsoft.com/office/drawing/2014/main" id="{B9D8ED50-39A7-01E8-5FC1-85AC9E30A765}"/>
                  </a:ext>
                </a:extLst>
              </p:cNvPr>
              <p:cNvSpPr>
                <a:spLocks noGrp="1"/>
              </p:cNvSpPr>
              <p:nvPr>
                <p:ph type="body" idx="1"/>
              </p:nvPr>
            </p:nvSpPr>
            <p:spPr/>
            <p:txBody>
              <a:bodyPr/>
              <a:lstStyle/>
              <a:p>
                <a:r>
                  <a:rPr lang="pt-BR" dirty="0"/>
                  <a:t>Se expandirmos </a:t>
                </a:r>
                <a:r>
                  <a:rPr lang="pt-BR" i="0">
                    <a:latin typeface="Cambria Math" panose="02040503050406030204" pitchFamily="18" charset="0"/>
                  </a:rPr>
                  <a:t>𝐽_𝑒 (</a:t>
                </a:r>
                <a:r>
                  <a:rPr lang="pt-BR" b="1" i="0">
                    <a:latin typeface="Cambria Math" panose="02040503050406030204" pitchFamily="18" charset="0"/>
                  </a:rPr>
                  <a:t>𝒂)</a:t>
                </a:r>
                <a:r>
                  <a:rPr lang="nl-BE" dirty="0"/>
                  <a:t> notamos que ela possui</a:t>
                </a:r>
                <a:r>
                  <a:rPr lang="pt-BR" dirty="0"/>
                  <a:t> forma </a:t>
                </a:r>
                <a:r>
                  <a:rPr lang="pt-BR" b="1" i="1" dirty="0">
                    <a:solidFill>
                      <a:srgbClr val="7030A0"/>
                    </a:solidFill>
                  </a:rPr>
                  <a:t>quadrática</a:t>
                </a:r>
                <a:r>
                  <a:rPr lang="pt-BR" dirty="0"/>
                  <a:t> com relação ao </a:t>
                </a:r>
                <a:r>
                  <a:rPr lang="pt-BR" b="1" i="1" dirty="0"/>
                  <a:t>vetor de pesos</a:t>
                </a:r>
                <a:r>
                  <a:rPr lang="pt-BR" dirty="0"/>
                  <a:t>,</a:t>
                </a:r>
                <a:r>
                  <a:rPr lang="pt-BR" b="1" i="1" dirty="0"/>
                  <a:t> </a:t>
                </a:r>
                <a:r>
                  <a:rPr lang="pt-BR" b="1" i="0">
                    <a:latin typeface="Cambria Math" panose="02040503050406030204" pitchFamily="18" charset="0"/>
                  </a:rPr>
                  <a:t>𝒂</a:t>
                </a:r>
                <a:r>
                  <a:rPr lang="en-US" i="0">
                    <a:latin typeface="Cambria Math" panose="02040503050406030204" pitchFamily="18" charset="0"/>
                  </a:rPr>
                  <a:t>.</a:t>
                </a:r>
                <a:endParaRPr lang="en-US" i="1" dirty="0"/>
              </a:p>
              <a:p>
                <a:pPr marL="0" indent="0" algn="ctr">
                  <a:buNone/>
                </a:pPr>
                <a:r>
                  <a:rPr lang="pt-BR" i="0">
                    <a:latin typeface="Cambria Math" panose="02040503050406030204" pitchFamily="18" charset="0"/>
                  </a:rPr>
                  <a:t>𝐽_𝑒 (</a:t>
                </a:r>
                <a:r>
                  <a:rPr lang="pt-BR" b="1" i="0">
                    <a:latin typeface="Cambria Math" panose="02040503050406030204" pitchFamily="18" charset="0"/>
                  </a:rPr>
                  <a:t>𝒂)=</a:t>
                </a:r>
                <a:r>
                  <a:rPr lang="pt-BR" i="0">
                    <a:latin typeface="Cambria Math" panose="02040503050406030204" pitchFamily="18" charset="0"/>
                  </a:rPr>
                  <a:t>〖1/𝑁 ‖</a:t>
                </a:r>
                <a:r>
                  <a:rPr lang="pt-BR" b="1" i="0">
                    <a:latin typeface="Cambria Math" panose="02040503050406030204" pitchFamily="18" charset="0"/>
                  </a:rPr>
                  <a:t>𝒚</a:t>
                </a:r>
                <a:r>
                  <a:rPr lang="pt-BR" i="0">
                    <a:latin typeface="Cambria Math" panose="02040503050406030204" pitchFamily="18" charset="0"/>
                  </a:rPr>
                  <a:t> −</a:t>
                </a:r>
                <a:r>
                  <a:rPr lang="pt-BR" b="1" i="0">
                    <a:latin typeface="Cambria Math" panose="02040503050406030204" pitchFamily="18" charset="0"/>
                  </a:rPr>
                  <a:t>𝑿𝒂‖〗^</a:t>
                </a:r>
                <a:r>
                  <a:rPr lang="pt-BR" i="0">
                    <a:latin typeface="Cambria Math" panose="02040503050406030204" pitchFamily="18" charset="0"/>
                  </a:rPr>
                  <a:t>2=1/𝑁 (</a:t>
                </a:r>
                <a:r>
                  <a:rPr lang="pt-BR" b="1" i="0" dirty="0">
                    <a:latin typeface="Cambria Math" panose="02040503050406030204" pitchFamily="18" charset="0"/>
                  </a:rPr>
                  <a:t>𝒚^</a:t>
                </a:r>
                <a:r>
                  <a:rPr lang="pt-BR" i="0" dirty="0">
                    <a:latin typeface="Cambria Math" panose="02040503050406030204" pitchFamily="18" charset="0"/>
                  </a:rPr>
                  <a:t>𝑇</a:t>
                </a:r>
                <a:r>
                  <a:rPr lang="pt-BR" b="1" i="0" dirty="0">
                    <a:latin typeface="Cambria Math" panose="02040503050406030204" pitchFamily="18" charset="0"/>
                  </a:rPr>
                  <a:t> "</a:t>
                </a:r>
                <a:r>
                  <a:rPr lang="pt-BR" b="1" i="0" dirty="0"/>
                  <a:t> </a:t>
                </a:r>
                <a:r>
                  <a:rPr lang="pt-BR" b="1" i="0">
                    <a:latin typeface="Cambria Math" panose="02040503050406030204" pitchFamily="18" charset="0"/>
                  </a:rPr>
                  <a:t>" 𝒚</a:t>
                </a:r>
                <a:r>
                  <a:rPr lang="nl-BE" b="1" i="0" dirty="0">
                    <a:latin typeface="Cambria Math" panose="02040503050406030204" pitchFamily="18" charset="0"/>
                  </a:rPr>
                  <a:t>"</a:t>
                </a:r>
                <a:r>
                  <a:rPr lang="nl-BE" i="0" dirty="0"/>
                  <a:t> − </a:t>
                </a:r>
                <a:r>
                  <a:rPr lang="pt-BR" b="1" i="0" dirty="0">
                    <a:latin typeface="Cambria Math" panose="02040503050406030204" pitchFamily="18" charset="0"/>
                  </a:rPr>
                  <a:t>" 〖𝒚^</a:t>
                </a:r>
                <a:r>
                  <a:rPr lang="pt-BR" i="0" dirty="0">
                    <a:latin typeface="Cambria Math" panose="02040503050406030204" pitchFamily="18" charset="0"/>
                  </a:rPr>
                  <a:t>𝑇</a:t>
                </a:r>
                <a:r>
                  <a:rPr lang="pt-BR" b="1" i="0">
                    <a:latin typeface="Cambria Math" panose="02040503050406030204" pitchFamily="18" charset="0"/>
                  </a:rPr>
                  <a:t> 𝑿</a:t>
                </a:r>
                <a:r>
                  <a:rPr lang="pt-BR" b="1" i="0" dirty="0">
                    <a:latin typeface="Cambria Math" panose="02040503050406030204" pitchFamily="18" charset="0"/>
                  </a:rPr>
                  <a:t>𝒂〗^</a:t>
                </a:r>
                <a:r>
                  <a:rPr lang="pt-BR" i="0" dirty="0">
                    <a:latin typeface="Cambria Math" panose="02040503050406030204" pitchFamily="18" charset="0"/>
                  </a:rPr>
                  <a:t>𝑇</a:t>
                </a:r>
                <a:r>
                  <a:rPr lang="nl-BE" i="0" dirty="0">
                    <a:latin typeface="Cambria Math" panose="02040503050406030204" pitchFamily="18" charset="0"/>
                  </a:rPr>
                  <a:t> "</a:t>
                </a:r>
                <a:r>
                  <a:rPr lang="nl-BE" i="0" dirty="0"/>
                  <a:t>− </a:t>
                </a:r>
                <a:r>
                  <a:rPr lang="nl-BE" i="0">
                    <a:latin typeface="Cambria Math" panose="02040503050406030204" pitchFamily="18" charset="0"/>
                  </a:rPr>
                  <a:t>" </a:t>
                </a:r>
                <a:r>
                  <a:rPr lang="pt-BR" b="1" i="0">
                    <a:latin typeface="Cambria Math" panose="02040503050406030204" pitchFamily="18" charset="0"/>
                  </a:rPr>
                  <a:t>𝒂</a:t>
                </a:r>
                <a:r>
                  <a:rPr lang="nl-BE" b="1" i="0">
                    <a:latin typeface="Cambria Math" panose="02040503050406030204" pitchFamily="18" charset="0"/>
                  </a:rPr>
                  <a:t>^</a:t>
                </a:r>
                <a:r>
                  <a:rPr lang="pt-BR" i="0">
                    <a:latin typeface="Cambria Math" panose="02040503050406030204" pitchFamily="18" charset="0"/>
                  </a:rPr>
                  <a:t>𝑇</a:t>
                </a:r>
                <a:r>
                  <a:rPr lang="nl-BE" i="0">
                    <a:latin typeface="Cambria Math" panose="02040503050406030204" pitchFamily="18" charset="0"/>
                  </a:rPr>
                  <a:t> </a:t>
                </a:r>
                <a:r>
                  <a:rPr lang="pt-BR" b="1" i="0">
                    <a:latin typeface="Cambria Math" panose="02040503050406030204" pitchFamily="18" charset="0"/>
                  </a:rPr>
                  <a:t>𝑿</a:t>
                </a:r>
                <a:r>
                  <a:rPr lang="nl-BE" b="1" i="0">
                    <a:latin typeface="Cambria Math" panose="02040503050406030204" pitchFamily="18" charset="0"/>
                  </a:rPr>
                  <a:t>^</a:t>
                </a:r>
                <a:r>
                  <a:rPr lang="pt-BR" i="0">
                    <a:latin typeface="Cambria Math" panose="02040503050406030204" pitchFamily="18" charset="0"/>
                  </a:rPr>
                  <a:t>𝑇</a:t>
                </a:r>
                <a:r>
                  <a:rPr lang="pt-BR" b="1" i="0" dirty="0">
                    <a:latin typeface="Cambria Math" panose="02040503050406030204" pitchFamily="18" charset="0"/>
                  </a:rPr>
                  <a:t> "</a:t>
                </a:r>
                <a:r>
                  <a:rPr lang="pt-BR" b="1" i="0" dirty="0"/>
                  <a:t> </a:t>
                </a:r>
                <a:r>
                  <a:rPr lang="pt-BR" b="1" i="0">
                    <a:latin typeface="Cambria Math" panose="02040503050406030204" pitchFamily="18" charset="0"/>
                  </a:rPr>
                  <a:t>" 𝒚</a:t>
                </a:r>
                <a:r>
                  <a:rPr lang="nl-BE" b="1" i="0" dirty="0">
                    <a:latin typeface="Cambria Math" panose="02040503050406030204" pitchFamily="18" charset="0"/>
                  </a:rPr>
                  <a:t>"</a:t>
                </a:r>
                <a:r>
                  <a:rPr lang="nl-BE" i="0" dirty="0"/>
                  <a:t> + </a:t>
                </a:r>
                <a:r>
                  <a:rPr lang="nl-BE" i="0">
                    <a:latin typeface="Cambria Math" panose="02040503050406030204" pitchFamily="18" charset="0"/>
                  </a:rPr>
                  <a:t>" </a:t>
                </a:r>
                <a:r>
                  <a:rPr lang="pt-BR" b="1" i="0">
                    <a:latin typeface="Cambria Math" panose="02040503050406030204" pitchFamily="18" charset="0"/>
                  </a:rPr>
                  <a:t>𝒂</a:t>
                </a:r>
                <a:r>
                  <a:rPr lang="nl-BE" b="1" i="0">
                    <a:latin typeface="Cambria Math" panose="02040503050406030204" pitchFamily="18" charset="0"/>
                  </a:rPr>
                  <a:t>^</a:t>
                </a:r>
                <a:r>
                  <a:rPr lang="pt-BR" i="0">
                    <a:latin typeface="Cambria Math" panose="02040503050406030204" pitchFamily="18" charset="0"/>
                  </a:rPr>
                  <a:t>𝑇</a:t>
                </a:r>
                <a:r>
                  <a:rPr lang="nl-BE" i="0">
                    <a:latin typeface="Cambria Math" panose="02040503050406030204" pitchFamily="18" charset="0"/>
                  </a:rPr>
                  <a:t> </a:t>
                </a:r>
                <a:r>
                  <a:rPr lang="pt-BR" b="1" i="0">
                    <a:latin typeface="Cambria Math" panose="02040503050406030204" pitchFamily="18" charset="0"/>
                  </a:rPr>
                  <a:t>𝑿</a:t>
                </a:r>
                <a:r>
                  <a:rPr lang="nl-BE" b="1" i="0">
                    <a:latin typeface="Cambria Math" panose="02040503050406030204" pitchFamily="18" charset="0"/>
                  </a:rPr>
                  <a:t>^</a:t>
                </a:r>
                <a:r>
                  <a:rPr lang="pt-BR" i="0">
                    <a:latin typeface="Cambria Math" panose="02040503050406030204" pitchFamily="18" charset="0"/>
                  </a:rPr>
                  <a:t>𝑇</a:t>
                </a:r>
                <a:r>
                  <a:rPr lang="pt-BR" b="1" i="0">
                    <a:latin typeface="Cambria Math" panose="02040503050406030204" pitchFamily="18" charset="0"/>
                  </a:rPr>
                  <a:t> 𝑿𝒂)</a:t>
                </a:r>
                <a:r>
                  <a:rPr lang="nl-BE" dirty="0"/>
                  <a:t>.</a:t>
                </a:r>
              </a:p>
              <a:p>
                <a:r>
                  <a:rPr lang="pt-BR" dirty="0"/>
                  <a:t>O gráfico de uma função quadrática é uma </a:t>
                </a:r>
                <a:r>
                  <a:rPr lang="pt-BR" b="1" i="1" dirty="0">
                    <a:solidFill>
                      <a:srgbClr val="7030A0"/>
                    </a:solidFill>
                  </a:rPr>
                  <a:t>parábola</a:t>
                </a:r>
                <a:r>
                  <a:rPr lang="pt-BR" dirty="0"/>
                  <a:t>. </a:t>
                </a:r>
              </a:p>
              <a:p>
                <a:r>
                  <a:rPr lang="pt-BR" dirty="0"/>
                  <a:t>Essa parábola tem a </a:t>
                </a:r>
                <a:r>
                  <a:rPr lang="pt-BR" b="1" i="1" dirty="0">
                    <a:solidFill>
                      <a:srgbClr val="7030A0"/>
                    </a:solidFill>
                  </a:rPr>
                  <a:t>concavidade voltada para cima</a:t>
                </a:r>
                <a:r>
                  <a:rPr lang="pt-BR" dirty="0"/>
                  <a:t>, pois </a:t>
                </a:r>
                <a:r>
                  <a:rPr lang="pt-BR" i="0">
                    <a:latin typeface="Cambria Math" panose="02040503050406030204" pitchFamily="18" charset="0"/>
                  </a:rPr>
                  <a:t>‖</a:t>
                </a:r>
                <a:r>
                  <a:rPr lang="pt-BR" b="1" i="0">
                    <a:latin typeface="Cambria Math" panose="02040503050406030204" pitchFamily="18" charset="0"/>
                  </a:rPr>
                  <a:t>𝑿𝒂‖^</a:t>
                </a:r>
                <a:r>
                  <a:rPr lang="pt-BR" i="0">
                    <a:latin typeface="Cambria Math" panose="02040503050406030204" pitchFamily="18" charset="0"/>
                  </a:rPr>
                  <a:t>2</a:t>
                </a:r>
                <a:r>
                  <a:rPr lang="pt-BR" b="0" i="0">
                    <a:latin typeface="Cambria Math" panose="02040503050406030204" pitchFamily="18" charset="0"/>
                  </a:rPr>
                  <a:t>≥0</a:t>
                </a:r>
                <a:r>
                  <a:rPr lang="pt-BR" i="0">
                    <a:latin typeface="Cambria Math" panose="02040503050406030204" pitchFamily="18" charset="0"/>
                  </a:rPr>
                  <a:t>.</a:t>
                </a:r>
                <a:endParaRPr lang="pt-BR" dirty="0"/>
              </a:p>
              <a:p>
                <a:r>
                  <a:rPr lang="pt-BR" dirty="0"/>
                  <a:t>O que isso significa?</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Isso significa que a </a:t>
                </a:r>
                <a:r>
                  <a:rPr lang="pt-BR" b="1" i="1" dirty="0">
                    <a:solidFill>
                      <a:srgbClr val="00B050"/>
                    </a:solidFill>
                  </a:rPr>
                  <a:t>superfície de erro</a:t>
                </a:r>
                <a:r>
                  <a:rPr lang="pt-BR" dirty="0"/>
                  <a:t> tem o formato de uma </a:t>
                </a:r>
                <a:r>
                  <a:rPr lang="pt-BR" b="1" i="1" dirty="0">
                    <a:solidFill>
                      <a:srgbClr val="00B050"/>
                    </a:solidFill>
                  </a:rPr>
                  <a:t>parábola convexa</a:t>
                </a:r>
                <a:r>
                  <a:rPr lang="pt-BR" b="1" i="1" dirty="0"/>
                  <a:t> </a:t>
                </a:r>
                <a:r>
                  <a:rPr lang="pt-BR" dirty="0"/>
                  <a:t>(i.e., tem formato de </a:t>
                </a:r>
                <a:r>
                  <a:rPr lang="pt-BR" b="1" i="1" dirty="0"/>
                  <a:t>tigela </a:t>
                </a:r>
                <a:r>
                  <a:rPr lang="pt-BR" dirty="0"/>
                  <a:t>ou </a:t>
                </a:r>
                <a:r>
                  <a:rPr lang="pt-BR" b="1" i="1" dirty="0"/>
                  <a:t>vale</a:t>
                </a:r>
                <a:r>
                  <a:rPr lang="pt-BR" dirty="0"/>
                  <a:t>).</a:t>
                </a:r>
              </a:p>
              <a:p>
                <a:endParaRPr lang="en-US" dirty="0"/>
              </a:p>
            </p:txBody>
          </p:sp>
        </mc:Fallback>
      </mc:AlternateContent>
      <p:sp>
        <p:nvSpPr>
          <p:cNvPr id="4" name="Slide Number Placeholder 3">
            <a:extLst>
              <a:ext uri="{FF2B5EF4-FFF2-40B4-BE49-F238E27FC236}">
                <a16:creationId xmlns:a16="http://schemas.microsoft.com/office/drawing/2014/main" id="{1D522910-F4DB-7000-BEE7-C3B059C09549}"/>
              </a:ext>
            </a:extLst>
          </p:cNvPr>
          <p:cNvSpPr>
            <a:spLocks noGrp="1"/>
          </p:cNvSpPr>
          <p:nvPr>
            <p:ph type="sldNum" sz="quarter" idx="5"/>
          </p:nvPr>
        </p:nvSpPr>
        <p:spPr/>
        <p:txBody>
          <a:bodyPr/>
          <a:lstStyle/>
          <a:p>
            <a:fld id="{6FC8D850-966F-45A6-8DE7-15B891E7D40D}" type="slidenum">
              <a:rPr lang="pt-BR" smtClean="0"/>
              <a:t>25</a:t>
            </a:fld>
            <a:endParaRPr lang="pt-BR"/>
          </a:p>
        </p:txBody>
      </p:sp>
    </p:spTree>
    <p:extLst>
      <p:ext uri="{BB962C8B-B14F-4D97-AF65-F5344CB8AC3E}">
        <p14:creationId xmlns:p14="http://schemas.microsoft.com/office/powerpoint/2010/main" val="23814005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pt-BR" dirty="0"/>
              <a:t>A partir de um ponto inicial (i.e., uma suposição aleatória de pesos), o algoritmo extrai a informação de direção do ponto de mínimo a partir da função de erro e a usa para atualizar o ponto (i.e., otimizar a suposição atual) </a:t>
            </a:r>
          </a:p>
          <a:p>
            <a:r>
              <a:rPr lang="pt-BR" dirty="0"/>
              <a:t>Em geral, o novo ponto (i.e., conjunto de pesos) resulta em um erro menor do que o anterior.</a:t>
            </a:r>
          </a:p>
          <a:p>
            <a:r>
              <a:rPr lang="pt-BR" dirty="0"/>
              <a:t>Esse processo é repetido a partir do ponto corrente até que o erro seja minimizado.</a:t>
            </a:r>
          </a:p>
          <a:p>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A partir de um ponto inicial (i.e., conjunto de pesos aleatórios), a cada iteração (i.e., suposição) do algoritmo, tem-se, em geral, um conjunto de pesos que resulta em um erro menor do que o anterior.</a:t>
            </a:r>
          </a:p>
          <a:p>
            <a:endParaRPr lang="pt-BR" dirty="0"/>
          </a:p>
          <a:p>
            <a:endParaRPr lang="pt-BR" dirty="0"/>
          </a:p>
          <a:p>
            <a:endParaRPr lang="pt-BR" dirty="0"/>
          </a:p>
          <a:p>
            <a:endParaRPr lang="pt-BR" dirty="0"/>
          </a:p>
          <a:p>
            <a:r>
              <a:rPr lang="pt-BR" dirty="0"/>
              <a:t>(i.e., conjunto de pesos aleatórios), a cada iteração (i.e., suposição) do algoritmo, tem-se, em geral, um conjunto de pesos que resulta em um erro menor do que o anterior.</a:t>
            </a:r>
          </a:p>
          <a:p>
            <a:endParaRPr lang="en-US" dirty="0"/>
          </a:p>
        </p:txBody>
      </p:sp>
      <p:sp>
        <p:nvSpPr>
          <p:cNvPr id="4" name="Slide Number Placeholder 3"/>
          <p:cNvSpPr>
            <a:spLocks noGrp="1"/>
          </p:cNvSpPr>
          <p:nvPr>
            <p:ph type="sldNum" sz="quarter" idx="5"/>
          </p:nvPr>
        </p:nvSpPr>
        <p:spPr/>
        <p:txBody>
          <a:bodyPr/>
          <a:lstStyle/>
          <a:p>
            <a:fld id="{6FC8D850-966F-45A6-8DE7-15B891E7D40D}" type="slidenum">
              <a:rPr lang="pt-BR" smtClean="0"/>
              <a:t>30</a:t>
            </a:fld>
            <a:endParaRPr lang="pt-BR"/>
          </a:p>
        </p:txBody>
      </p:sp>
    </p:spTree>
    <p:extLst>
      <p:ext uri="{BB962C8B-B14F-4D97-AF65-F5344CB8AC3E}">
        <p14:creationId xmlns:p14="http://schemas.microsoft.com/office/powerpoint/2010/main" val="25192968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b="0" i="0" dirty="0">
                <a:solidFill>
                  <a:srgbClr val="374151"/>
                </a:solidFill>
                <a:effectLst/>
                <a:latin typeface="Söhne"/>
              </a:rPr>
              <a:t>A convexidade é uma propriedade importante em matemática e otimização, pois garante que uma função convexa tenha um único ponto de mínimo global, e qualquer ponto de mínimo local também é um ponto de mínimo global. Isso torna as funções convexas especialmente relevantes em problemas de otimização, pois permite encontrar a solução ótima de forma mais eficiente e confiável.</a:t>
            </a:r>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32</a:t>
            </a:fld>
            <a:endParaRPr lang="pt-BR"/>
          </a:p>
        </p:txBody>
      </p:sp>
    </p:spTree>
    <p:extLst>
      <p:ext uri="{BB962C8B-B14F-4D97-AF65-F5344CB8AC3E}">
        <p14:creationId xmlns:p14="http://schemas.microsoft.com/office/powerpoint/2010/main" val="39409504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b="0" i="0" dirty="0">
                <a:solidFill>
                  <a:srgbClr val="374151"/>
                </a:solidFill>
                <a:effectLst/>
                <a:latin typeface="Söhne"/>
              </a:rPr>
              <a:t>A convexidade é uma propriedade importante em matemática e otimização, pois garante que uma função convexa tenha um único ponto de mínimo global, e qualquer ponto de mínimo local também é um ponto de mínimo global. Isso torna as funções convexas especialmente relevantes em problemas de otimização, pois permite encontrar a solução ótima de forma mais eficiente e confiável.</a:t>
            </a:r>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33</a:t>
            </a:fld>
            <a:endParaRPr lang="pt-BR"/>
          </a:p>
        </p:txBody>
      </p:sp>
    </p:spTree>
    <p:extLst>
      <p:ext uri="{BB962C8B-B14F-4D97-AF65-F5344CB8AC3E}">
        <p14:creationId xmlns:p14="http://schemas.microsoft.com/office/powerpoint/2010/main" val="36169828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b="0" i="0" dirty="0">
                <a:solidFill>
                  <a:srgbClr val="374151"/>
                </a:solidFill>
                <a:effectLst/>
                <a:latin typeface="Söhne"/>
              </a:rPr>
              <a:t>A convexidade é uma propriedade importante em matemática e otimização, pois garante que uma função convexa tenha um único ponto de mínimo global, e qualquer ponto de mínimo local também é um ponto de mínimo global. Isso torna as funções convexas especialmente relevantes em problemas de otimização, pois permite encontrar a solução ótima de forma mais eficiente e confiável.</a:t>
            </a:r>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34</a:t>
            </a:fld>
            <a:endParaRPr lang="pt-BR"/>
          </a:p>
        </p:txBody>
      </p:sp>
    </p:spTree>
    <p:extLst>
      <p:ext uri="{BB962C8B-B14F-4D97-AF65-F5344CB8AC3E}">
        <p14:creationId xmlns:p14="http://schemas.microsoft.com/office/powerpoint/2010/main" val="8361714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mc:AlternateContent xmlns:mc="http://schemas.openxmlformats.org/markup-compatibility/2006" xmlns:a14="http://schemas.microsoft.com/office/drawing/2010/main">
        <mc:Choice Requires="a14">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Um algoritmo de otimização </a:t>
                </a:r>
                <a:r>
                  <a:rPr lang="pt-BR" b="1" i="1" dirty="0"/>
                  <a:t>iterativo</a:t>
                </a:r>
                <a:r>
                  <a:rPr lang="pt-BR" dirty="0"/>
                  <a:t> que use a</a:t>
                </a:r>
                <a:r>
                  <a:rPr lang="pt-BR" baseline="0" dirty="0"/>
                  <a:t> direção contrária do</a:t>
                </a:r>
                <a:r>
                  <a:rPr lang="pt-BR" dirty="0"/>
                  <a:t> vetor gradiente para encontrar o ponto de mínimo de </a:t>
                </a:r>
                <a14:m>
                  <m:oMath xmlns:m="http://schemas.openxmlformats.org/officeDocument/2006/math">
                    <m:r>
                      <a:rPr lang="pt-BR" i="1">
                        <a:latin typeface="Cambria Math" panose="02040503050406030204" pitchFamily="18" charset="0"/>
                      </a:rPr>
                      <m:t>𝑓</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1</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𝐾</m:t>
                            </m:r>
                          </m:sub>
                        </m:sSub>
                      </m:e>
                    </m:d>
                  </m:oMath>
                </a14:m>
                <a:r>
                  <a:rPr lang="pt-BR" dirty="0"/>
                  <a:t> é conhecido como </a:t>
                </a:r>
                <a:r>
                  <a:rPr lang="pt-BR" b="1" i="1" dirty="0"/>
                  <a:t>gradiente descendente</a:t>
                </a:r>
                <a:r>
                  <a:rPr lang="pt-BR" dirty="0"/>
                  <a:t>.</a:t>
                </a:r>
              </a:p>
              <a:p>
                <a:endParaRPr lang="pt-BR" dirty="0"/>
              </a:p>
            </p:txBody>
          </p:sp>
        </mc:Choice>
        <mc:Fallback xmlns="">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Um algoritmo de otimização </a:t>
                </a:r>
                <a:r>
                  <a:rPr lang="pt-BR" b="1" i="1" dirty="0"/>
                  <a:t>iterativo</a:t>
                </a:r>
                <a:r>
                  <a:rPr lang="pt-BR" dirty="0"/>
                  <a:t> que use a</a:t>
                </a:r>
                <a:r>
                  <a:rPr lang="pt-BR" baseline="0" dirty="0"/>
                  <a:t> direção contrária do</a:t>
                </a:r>
                <a:r>
                  <a:rPr lang="pt-BR" dirty="0"/>
                  <a:t> vetor gradiente para encontrar o ponto de mínimo de </a:t>
                </a:r>
                <a:r>
                  <a:rPr lang="pt-BR" i="0">
                    <a:latin typeface="Cambria Math" panose="02040503050406030204" pitchFamily="18" charset="0"/>
                  </a:rPr>
                  <a:t>𝑓(𝑥_0,𝑥_1,…,𝑥_𝐾 )</a:t>
                </a:r>
                <a:r>
                  <a:rPr lang="pt-BR" dirty="0"/>
                  <a:t> é conhecido como </a:t>
                </a:r>
                <a:r>
                  <a:rPr lang="pt-BR" b="1" i="1" dirty="0"/>
                  <a:t>gradiente descendente</a:t>
                </a:r>
                <a:r>
                  <a:rPr lang="pt-BR" dirty="0"/>
                  <a:t>.</a:t>
                </a:r>
              </a:p>
              <a:p>
                <a:endParaRPr lang="pt-BR" dirty="0"/>
              </a:p>
            </p:txBody>
          </p:sp>
        </mc:Fallback>
      </mc:AlternateContent>
      <p:sp>
        <p:nvSpPr>
          <p:cNvPr id="4" name="Espaço Reservado para Número de Slide 3"/>
          <p:cNvSpPr>
            <a:spLocks noGrp="1"/>
          </p:cNvSpPr>
          <p:nvPr>
            <p:ph type="sldNum" sz="quarter" idx="5"/>
          </p:nvPr>
        </p:nvSpPr>
        <p:spPr/>
        <p:txBody>
          <a:bodyPr/>
          <a:lstStyle/>
          <a:p>
            <a:fld id="{DA8B99DF-01BC-492A-8CEF-4FD88D18DD9D}" type="slidenum">
              <a:rPr lang="nl-BE" smtClean="0"/>
              <a:t>35</a:t>
            </a:fld>
            <a:endParaRPr lang="nl-BE"/>
          </a:p>
        </p:txBody>
      </p:sp>
    </p:spTree>
    <p:extLst>
      <p:ext uri="{BB962C8B-B14F-4D97-AF65-F5344CB8AC3E}">
        <p14:creationId xmlns:p14="http://schemas.microsoft.com/office/powerpoint/2010/main" val="35289185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en-US" sz="1200" b="0" i="0" kern="1200" dirty="0">
                <a:solidFill>
                  <a:schemeClr val="tx1"/>
                </a:solidFill>
                <a:effectLst/>
                <a:latin typeface="+mn-lt"/>
                <a:ea typeface="+mn-ea"/>
                <a:cs typeface="+mn-cs"/>
              </a:rPr>
              <a:t>a bola "sabe" para qual </a:t>
            </a:r>
            <a:r>
              <a:rPr lang="en-US" sz="1200" b="0" i="0" kern="1200" dirty="0" err="1">
                <a:solidFill>
                  <a:schemeClr val="tx1"/>
                </a:solidFill>
                <a:effectLst/>
                <a:latin typeface="+mn-lt"/>
                <a:ea typeface="+mn-ea"/>
                <a:cs typeface="+mn-cs"/>
              </a:rPr>
              <a:t>lado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descer</a:t>
            </a:r>
            <a:r>
              <a:rPr lang="en-US" sz="1200" b="0" i="0" kern="1200" dirty="0">
                <a:solidFill>
                  <a:schemeClr val="tx1"/>
                </a:solidFill>
                <a:effectLst/>
                <a:latin typeface="+mn-lt"/>
                <a:ea typeface="+mn-ea"/>
                <a:cs typeface="+mn-cs"/>
              </a:rPr>
              <a:t>, mas </a:t>
            </a:r>
            <a:r>
              <a:rPr lang="en-US" sz="1200" b="0" i="0" kern="1200" dirty="0" err="1">
                <a:solidFill>
                  <a:schemeClr val="tx1"/>
                </a:solidFill>
                <a:effectLst/>
                <a:latin typeface="+mn-lt"/>
                <a:ea typeface="+mn-ea"/>
                <a:cs typeface="+mn-cs"/>
              </a:rPr>
              <a:t>não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quão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longo</a:t>
            </a:r>
            <a:r>
              <a:rPr lang="en-US" sz="1200" b="0" i="0" kern="1200" dirty="0">
                <a:solidFill>
                  <a:schemeClr val="tx1"/>
                </a:solidFill>
                <a:effectLst/>
                <a:latin typeface="+mn-lt"/>
                <a:ea typeface="+mn-ea"/>
                <a:cs typeface="+mn-cs"/>
              </a:rPr>
              <a:t> é o </a:t>
            </a:r>
            <a:r>
              <a:rPr lang="en-US" sz="1200" b="0" i="0" kern="1200" dirty="0" err="1">
                <a:solidFill>
                  <a:schemeClr val="tx1"/>
                </a:solidFill>
                <a:effectLst/>
                <a:latin typeface="+mn-lt"/>
                <a:ea typeface="+mn-ea"/>
                <a:cs typeface="+mn-cs"/>
              </a:rPr>
              <a:t>caminho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até</a:t>
            </a:r>
            <a:r>
              <a:rPr lang="en-US" sz="1200" b="0" i="0" kern="1200" dirty="0">
                <a:solidFill>
                  <a:schemeClr val="tx1"/>
                </a:solidFill>
                <a:effectLst/>
                <a:latin typeface="+mn-lt"/>
                <a:ea typeface="+mn-ea"/>
                <a:cs typeface="+mn-cs"/>
              </a:rPr>
              <a:t> o </a:t>
            </a:r>
            <a:r>
              <a:rPr lang="en-US" sz="1200" b="0" i="0" kern="1200" dirty="0" err="1">
                <a:solidFill>
                  <a:schemeClr val="tx1"/>
                </a:solidFill>
                <a:effectLst/>
                <a:latin typeface="+mn-lt"/>
                <a:ea typeface="+mn-ea"/>
                <a:cs typeface="+mn-cs"/>
              </a:rPr>
              <a:t>fundo</a:t>
            </a:r>
            <a:r>
              <a:rPr lang="en-US" sz="1200" b="0" i="0" kern="1200" dirty="0">
                <a:solidFill>
                  <a:schemeClr val="tx1"/>
                </a:solidFill>
                <a:effectLst/>
                <a:latin typeface="+mn-lt"/>
                <a:ea typeface="+mn-ea"/>
                <a:cs typeface="+mn-cs"/>
              </a:rPr>
              <a:t>.</a:t>
            </a:r>
            <a:endParaRPr lang="pt-BR" dirty="0"/>
          </a:p>
          <a:p>
            <a:endParaRPr lang="pt-BR" dirty="0"/>
          </a:p>
          <a:p>
            <a:r>
              <a:rPr lang="pt-BR" dirty="0"/>
              <a:t>O vetor gradiente não diz o quanto falta para chegar ao mínimo</a:t>
            </a:r>
          </a:p>
          <a:p>
            <a:r>
              <a:rPr lang="pt-BR" dirty="0"/>
              <a:t>sabemos se devemos ir </a:t>
            </a:r>
            <a:r>
              <a:rPr lang="pt-BR" b="1" dirty="0"/>
              <a:t>para esquerda ou direita</a:t>
            </a:r>
            <a:endParaRPr lang="pt-BR" dirty="0"/>
          </a:p>
          <a:p>
            <a:r>
              <a:rPr lang="pt-BR" dirty="0"/>
              <a:t>mas </a:t>
            </a:r>
            <a:r>
              <a:rPr lang="pt-BR" b="1" dirty="0"/>
              <a:t>não sabemos se o mínimo está perto ou longe</a:t>
            </a:r>
            <a:endParaRPr lang="pt-BR" dirty="0"/>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36</a:t>
            </a:fld>
            <a:endParaRPr lang="pt-BR"/>
          </a:p>
        </p:txBody>
      </p:sp>
    </p:spTree>
    <p:extLst>
      <p:ext uri="{BB962C8B-B14F-4D97-AF65-F5344CB8AC3E}">
        <p14:creationId xmlns:p14="http://schemas.microsoft.com/office/powerpoint/2010/main" val="5708564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b="0" i="0" dirty="0">
                <a:solidFill>
                  <a:srgbClr val="374151"/>
                </a:solidFill>
                <a:effectLst/>
                <a:latin typeface="Söhne"/>
              </a:rPr>
              <a:t>A convexidade é uma propriedade importante em matemática e otimização, pois garante que uma função convexa tenha um único ponto de mínimo global, e qualquer ponto de mínimo local também é um ponto de mínimo global. Isso torna as funções convexas especialmente relevantes em problemas de otimização, pois permite encontrar a solução ótima de forma mais eficiente e confiável.</a:t>
            </a:r>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37</a:t>
            </a:fld>
            <a:endParaRPr lang="pt-BR"/>
          </a:p>
        </p:txBody>
      </p:sp>
    </p:spTree>
    <p:extLst>
      <p:ext uri="{BB962C8B-B14F-4D97-AF65-F5344CB8AC3E}">
        <p14:creationId xmlns:p14="http://schemas.microsoft.com/office/powerpoint/2010/main" val="30656822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D0DDA-D6FC-212D-DF46-3DB759E65CD4}"/>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DAF18AB7-E93B-53DF-E1B4-3107CF6AFB54}"/>
              </a:ext>
            </a:extLst>
          </p:cNvPr>
          <p:cNvSpPr>
            <a:spLocks noGrp="1" noRot="1" noChangeAspect="1"/>
          </p:cNvSpPr>
          <p:nvPr>
            <p:ph type="sldImg"/>
          </p:nvPr>
        </p:nvSpPr>
        <p:spPr/>
        <p:txBody>
          <a:bodyPr/>
          <a:lstStyle/>
          <a:p>
            <a:endParaRPr lang="en-US"/>
          </a:p>
        </p:txBody>
      </p:sp>
      <p:sp>
        <p:nvSpPr>
          <p:cNvPr id="3" name="Espaço Reservado para Anotações 2">
            <a:extLst>
              <a:ext uri="{FF2B5EF4-FFF2-40B4-BE49-F238E27FC236}">
                <a16:creationId xmlns:a16="http://schemas.microsoft.com/office/drawing/2014/main" id="{6397914C-3CE3-A910-EC3C-4BB194E3690A}"/>
              </a:ext>
            </a:extLst>
          </p:cNvPr>
          <p:cNvSpPr>
            <a:spLocks noGrp="1"/>
          </p:cNvSpPr>
          <p:nvPr>
            <p:ph type="body" idx="1"/>
          </p:nvPr>
        </p:nvSpPr>
        <p:spPr/>
        <p:txBody>
          <a:bodyPr/>
          <a:lstStyle/>
          <a:p>
            <a:r>
              <a:rPr lang="pt-BR" b="0" i="0" dirty="0">
                <a:solidFill>
                  <a:srgbClr val="374151"/>
                </a:solidFill>
                <a:effectLst/>
                <a:latin typeface="Söhne"/>
              </a:rPr>
              <a:t>A convexidade é uma propriedade importante em matemática e otimização, pois garante que uma função convexa tenha um único ponto de mínimo global, e qualquer ponto de mínimo local também é um ponto de mínimo global. Isso torna as funções convexas especialmente relevantes em problemas de otimização, pois permite encontrar a solução ótima de forma mais eficiente e confiável.</a:t>
            </a:r>
            <a:endParaRPr lang="pt-BR" dirty="0"/>
          </a:p>
        </p:txBody>
      </p:sp>
      <p:sp>
        <p:nvSpPr>
          <p:cNvPr id="4" name="Espaço Reservado para Número de Slide 3">
            <a:extLst>
              <a:ext uri="{FF2B5EF4-FFF2-40B4-BE49-F238E27FC236}">
                <a16:creationId xmlns:a16="http://schemas.microsoft.com/office/drawing/2014/main" id="{83D151E3-4C62-E24A-79DA-5EC35DC9EB00}"/>
              </a:ext>
            </a:extLst>
          </p:cNvPr>
          <p:cNvSpPr>
            <a:spLocks noGrp="1"/>
          </p:cNvSpPr>
          <p:nvPr>
            <p:ph type="sldNum" sz="quarter" idx="5"/>
          </p:nvPr>
        </p:nvSpPr>
        <p:spPr/>
        <p:txBody>
          <a:bodyPr/>
          <a:lstStyle/>
          <a:p>
            <a:fld id="{6FC8D850-966F-45A6-8DE7-15B891E7D40D}" type="slidenum">
              <a:rPr lang="pt-BR" smtClean="0"/>
              <a:t>38</a:t>
            </a:fld>
            <a:endParaRPr lang="pt-BR"/>
          </a:p>
        </p:txBody>
      </p:sp>
    </p:spTree>
    <p:extLst>
      <p:ext uri="{BB962C8B-B14F-4D97-AF65-F5344CB8AC3E}">
        <p14:creationId xmlns:p14="http://schemas.microsoft.com/office/powerpoint/2010/main" val="24601886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b="0" i="0" dirty="0">
                <a:solidFill>
                  <a:srgbClr val="374151"/>
                </a:solidFill>
                <a:effectLst/>
                <a:latin typeface="Söhne"/>
              </a:rPr>
              <a:t>A convexidade é uma propriedade importante em matemática e otimização, pois garante que uma função convexa tenha um único ponto de mínimo global, e qualquer ponto de mínimo local também é um ponto de mínimo global. Isso torna as funções convexas especialmente relevantes em problemas de otimização, pois permite encontrar a solução ótima de forma mais eficiente e confiável.</a:t>
            </a:r>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39</a:t>
            </a:fld>
            <a:endParaRPr lang="pt-BR"/>
          </a:p>
        </p:txBody>
      </p:sp>
    </p:spTree>
    <p:extLst>
      <p:ext uri="{BB962C8B-B14F-4D97-AF65-F5344CB8AC3E}">
        <p14:creationId xmlns:p14="http://schemas.microsoft.com/office/powerpoint/2010/main" val="13083676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CA096-53F7-4485-A453-1D949025DCA0}"/>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95779427-8D44-CA0C-2C83-24A15441D10B}"/>
              </a:ext>
            </a:extLst>
          </p:cNvPr>
          <p:cNvSpPr>
            <a:spLocks noGrp="1" noRot="1" noChangeAspect="1"/>
          </p:cNvSpPr>
          <p:nvPr>
            <p:ph type="sldImg"/>
          </p:nvPr>
        </p:nvSpPr>
        <p:spPr/>
        <p:txBody>
          <a:bodyPr/>
          <a:lstStyle/>
          <a:p>
            <a:endParaRPr lang="en-US"/>
          </a:p>
        </p:txBody>
      </p:sp>
      <p:sp>
        <p:nvSpPr>
          <p:cNvPr id="3" name="Espaço Reservado para Anotações 2">
            <a:extLst>
              <a:ext uri="{FF2B5EF4-FFF2-40B4-BE49-F238E27FC236}">
                <a16:creationId xmlns:a16="http://schemas.microsoft.com/office/drawing/2014/main" id="{9B96E5B5-5B52-5D5A-D236-273FB017D9E7}"/>
              </a:ext>
            </a:extLst>
          </p:cNvPr>
          <p:cNvSpPr>
            <a:spLocks noGrp="1"/>
          </p:cNvSpPr>
          <p:nvPr>
            <p:ph type="body" idx="1"/>
          </p:nvPr>
        </p:nvSpPr>
        <p:spPr/>
        <p:txBody>
          <a:bodyPr/>
          <a:lstStyle/>
          <a:p>
            <a:r>
              <a:rPr lang="pt-BR" b="0" i="0" dirty="0">
                <a:solidFill>
                  <a:srgbClr val="374151"/>
                </a:solidFill>
                <a:effectLst/>
                <a:latin typeface="Söhne"/>
              </a:rPr>
              <a:t>A convexidade é uma propriedade importante em matemática e otimização, pois garante que uma função convexa tenha um único ponto de mínimo global, e qualquer ponto de mínimo local também é um ponto de mínimo global. Isso torna as funções convexas especialmente relevantes em problemas de otimização, pois permite encontrar a solução ótima de forma mais eficiente e confiável.</a:t>
            </a:r>
            <a:endParaRPr lang="pt-BR" dirty="0"/>
          </a:p>
        </p:txBody>
      </p:sp>
      <p:sp>
        <p:nvSpPr>
          <p:cNvPr id="4" name="Espaço Reservado para Número de Slide 3">
            <a:extLst>
              <a:ext uri="{FF2B5EF4-FFF2-40B4-BE49-F238E27FC236}">
                <a16:creationId xmlns:a16="http://schemas.microsoft.com/office/drawing/2014/main" id="{55A0622F-F347-8783-B556-41DB3D1DCCEF}"/>
              </a:ext>
            </a:extLst>
          </p:cNvPr>
          <p:cNvSpPr>
            <a:spLocks noGrp="1"/>
          </p:cNvSpPr>
          <p:nvPr>
            <p:ph type="sldNum" sz="quarter" idx="5"/>
          </p:nvPr>
        </p:nvSpPr>
        <p:spPr/>
        <p:txBody>
          <a:bodyPr/>
          <a:lstStyle/>
          <a:p>
            <a:fld id="{6FC8D850-966F-45A6-8DE7-15B891E7D40D}" type="slidenum">
              <a:rPr lang="pt-BR" smtClean="0"/>
              <a:t>40</a:t>
            </a:fld>
            <a:endParaRPr lang="pt-BR"/>
          </a:p>
        </p:txBody>
      </p:sp>
    </p:spTree>
    <p:extLst>
      <p:ext uri="{BB962C8B-B14F-4D97-AF65-F5344CB8AC3E}">
        <p14:creationId xmlns:p14="http://schemas.microsoft.com/office/powerpoint/2010/main" val="384478210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C01C7-6726-5536-F240-552212614620}"/>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B68F8CB8-0170-42D6-1175-4B2E71EB072C}"/>
              </a:ext>
            </a:extLst>
          </p:cNvPr>
          <p:cNvSpPr>
            <a:spLocks noGrp="1" noRot="1" noChangeAspect="1"/>
          </p:cNvSpPr>
          <p:nvPr>
            <p:ph type="sldImg"/>
          </p:nvPr>
        </p:nvSpPr>
        <p:spPr/>
        <p:txBody>
          <a:bodyPr/>
          <a:lstStyle/>
          <a:p>
            <a:endParaRPr lang="en-US"/>
          </a:p>
        </p:txBody>
      </p:sp>
      <p:sp>
        <p:nvSpPr>
          <p:cNvPr id="3" name="Espaço Reservado para Anotações 2">
            <a:extLst>
              <a:ext uri="{FF2B5EF4-FFF2-40B4-BE49-F238E27FC236}">
                <a16:creationId xmlns:a16="http://schemas.microsoft.com/office/drawing/2014/main" id="{9EBB2433-A125-29BA-44A9-1FBD2151BA0E}"/>
              </a:ext>
            </a:extLst>
          </p:cNvPr>
          <p:cNvSpPr>
            <a:spLocks noGrp="1"/>
          </p:cNvSpPr>
          <p:nvPr>
            <p:ph type="body" idx="1"/>
          </p:nvPr>
        </p:nvSpPr>
        <p:spPr/>
        <p:txBody>
          <a:bodyPr/>
          <a:lstStyle/>
          <a:p>
            <a:r>
              <a:rPr lang="pt-BR" b="0" i="0" dirty="0">
                <a:solidFill>
                  <a:srgbClr val="374151"/>
                </a:solidFill>
                <a:effectLst/>
                <a:latin typeface="Söhne"/>
              </a:rPr>
              <a:t>A convexidade é uma propriedade importante em matemática e otimização, pois garante que uma função convexa tenha um único ponto de mínimo global, e qualquer ponto de mínimo local também é um ponto de mínimo global. Isso torna as funções convexas especialmente relevantes em problemas de otimização, pois permite encontrar a solução ótima de forma mais eficiente e confiável.</a:t>
            </a:r>
            <a:endParaRPr lang="pt-BR" dirty="0"/>
          </a:p>
        </p:txBody>
      </p:sp>
      <p:sp>
        <p:nvSpPr>
          <p:cNvPr id="4" name="Espaço Reservado para Número de Slide 3">
            <a:extLst>
              <a:ext uri="{FF2B5EF4-FFF2-40B4-BE49-F238E27FC236}">
                <a16:creationId xmlns:a16="http://schemas.microsoft.com/office/drawing/2014/main" id="{6B015FDE-78CE-5A22-BEB0-1E4BEEBD7920}"/>
              </a:ext>
            </a:extLst>
          </p:cNvPr>
          <p:cNvSpPr>
            <a:spLocks noGrp="1"/>
          </p:cNvSpPr>
          <p:nvPr>
            <p:ph type="sldNum" sz="quarter" idx="5"/>
          </p:nvPr>
        </p:nvSpPr>
        <p:spPr/>
        <p:txBody>
          <a:bodyPr/>
          <a:lstStyle/>
          <a:p>
            <a:fld id="{6FC8D850-966F-45A6-8DE7-15B891E7D40D}" type="slidenum">
              <a:rPr lang="pt-BR" smtClean="0"/>
              <a:t>41</a:t>
            </a:fld>
            <a:endParaRPr lang="pt-BR"/>
          </a:p>
        </p:txBody>
      </p:sp>
    </p:spTree>
    <p:extLst>
      <p:ext uri="{BB962C8B-B14F-4D97-AF65-F5344CB8AC3E}">
        <p14:creationId xmlns:p14="http://schemas.microsoft.com/office/powerpoint/2010/main" val="344107401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b="0" i="0" dirty="0">
                <a:solidFill>
                  <a:srgbClr val="374151"/>
                </a:solidFill>
                <a:effectLst/>
                <a:latin typeface="Söhne"/>
              </a:rPr>
              <a:t>A convexidade é uma propriedade importante em matemática e otimização, pois garante que uma função convexa tenha um único ponto de mínimo global, e qualquer ponto de mínimo local também é um ponto de mínimo global. Isso torna as funções convexas especialmente relevantes em problemas de otimização, pois permite encontrar a solução ótima de forma mais eficiente e confiável.</a:t>
            </a:r>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42</a:t>
            </a:fld>
            <a:endParaRPr lang="pt-BR"/>
          </a:p>
        </p:txBody>
      </p:sp>
    </p:spTree>
    <p:extLst>
      <p:ext uri="{BB962C8B-B14F-4D97-AF65-F5344CB8AC3E}">
        <p14:creationId xmlns:p14="http://schemas.microsoft.com/office/powerpoint/2010/main" val="8981191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b="0" i="0" dirty="0">
                <a:solidFill>
                  <a:srgbClr val="374151"/>
                </a:solidFill>
                <a:effectLst/>
                <a:latin typeface="Söhne"/>
              </a:rPr>
              <a:t>A convexidade é uma propriedade importante em matemática e otimização, pois garante que uma função convexa tenha um único ponto de mínimo global, e qualquer ponto de mínimo local também é um ponto de mínimo global. Isso torna as funções convexas especialmente relevantes em problemas de otimização, pois permite encontrar a solução ótima de forma mais eficiente e confiável.</a:t>
            </a:r>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44</a:t>
            </a:fld>
            <a:endParaRPr lang="pt-BR"/>
          </a:p>
        </p:txBody>
      </p:sp>
    </p:spTree>
    <p:extLst>
      <p:ext uri="{BB962C8B-B14F-4D97-AF65-F5344CB8AC3E}">
        <p14:creationId xmlns:p14="http://schemas.microsoft.com/office/powerpoint/2010/main" val="24675410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F0959-2FA8-F75E-F8E3-1AC15E305C2B}"/>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BB974647-2308-D5CF-6296-CD0D0A521FC5}"/>
              </a:ext>
            </a:extLst>
          </p:cNvPr>
          <p:cNvSpPr>
            <a:spLocks noGrp="1" noRot="1" noChangeAspect="1"/>
          </p:cNvSpPr>
          <p:nvPr>
            <p:ph type="sldImg"/>
          </p:nvPr>
        </p:nvSpPr>
        <p:spPr/>
        <p:txBody>
          <a:bodyPr/>
          <a:lstStyle/>
          <a:p>
            <a:endParaRPr lang="en-US"/>
          </a:p>
        </p:txBody>
      </p:sp>
      <p:sp>
        <p:nvSpPr>
          <p:cNvPr id="3" name="Espaço Reservado para Anotações 2">
            <a:extLst>
              <a:ext uri="{FF2B5EF4-FFF2-40B4-BE49-F238E27FC236}">
                <a16:creationId xmlns:a16="http://schemas.microsoft.com/office/drawing/2014/main" id="{81BE00D6-0F4A-5F4C-EC10-F544EB1F0EB2}"/>
              </a:ext>
            </a:extLst>
          </p:cNvPr>
          <p:cNvSpPr>
            <a:spLocks noGrp="1"/>
          </p:cNvSpPr>
          <p:nvPr>
            <p:ph type="body" idx="1"/>
          </p:nvPr>
        </p:nvSpPr>
        <p:spPr/>
        <p:txBody>
          <a:bodyPr/>
          <a:lstStyle/>
          <a:p>
            <a:r>
              <a:rPr lang="pt-BR" b="0" i="0" dirty="0">
                <a:solidFill>
                  <a:srgbClr val="374151"/>
                </a:solidFill>
                <a:effectLst/>
                <a:latin typeface="Söhne"/>
              </a:rPr>
              <a:t>A convexidade é uma propriedade importante em matemática e otimização, pois garante que uma função convexa tenha um único ponto de mínimo global, e qualquer ponto de mínimo local também é um ponto de mínimo global. Isso torna as funções convexas especialmente relevantes em problemas de otimização, pois permite encontrar a solução ótima de forma mais eficiente e confiável.</a:t>
            </a:r>
            <a:endParaRPr lang="pt-BR" dirty="0"/>
          </a:p>
        </p:txBody>
      </p:sp>
      <p:sp>
        <p:nvSpPr>
          <p:cNvPr id="4" name="Espaço Reservado para Número de Slide 3">
            <a:extLst>
              <a:ext uri="{FF2B5EF4-FFF2-40B4-BE49-F238E27FC236}">
                <a16:creationId xmlns:a16="http://schemas.microsoft.com/office/drawing/2014/main" id="{A52A8DF8-274A-95C2-39D7-F58EA26DEE5B}"/>
              </a:ext>
            </a:extLst>
          </p:cNvPr>
          <p:cNvSpPr>
            <a:spLocks noGrp="1"/>
          </p:cNvSpPr>
          <p:nvPr>
            <p:ph type="sldNum" sz="quarter" idx="5"/>
          </p:nvPr>
        </p:nvSpPr>
        <p:spPr/>
        <p:txBody>
          <a:bodyPr/>
          <a:lstStyle/>
          <a:p>
            <a:fld id="{6FC8D850-966F-45A6-8DE7-15B891E7D40D}" type="slidenum">
              <a:rPr lang="pt-BR" smtClean="0"/>
              <a:t>45</a:t>
            </a:fld>
            <a:endParaRPr lang="pt-BR"/>
          </a:p>
        </p:txBody>
      </p:sp>
    </p:spTree>
    <p:extLst>
      <p:ext uri="{BB962C8B-B14F-4D97-AF65-F5344CB8AC3E}">
        <p14:creationId xmlns:p14="http://schemas.microsoft.com/office/powerpoint/2010/main" val="206125252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b="0" i="0" dirty="0">
                <a:solidFill>
                  <a:srgbClr val="374151"/>
                </a:solidFill>
                <a:effectLst/>
                <a:latin typeface="Söhne"/>
              </a:rPr>
              <a:t>A convexidade é uma propriedade importante em matemática e otimização, pois garante que uma função convexa tenha um único ponto de mínimo global, e qualquer ponto de mínimo local também é um ponto de mínimo global. Isso torna as funções convexas especialmente relevantes em problemas de otimização, pois permite encontrar a solução ótima de forma mais eficiente e confiável.</a:t>
            </a:r>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46</a:t>
            </a:fld>
            <a:endParaRPr lang="pt-BR"/>
          </a:p>
        </p:txBody>
      </p:sp>
    </p:spTree>
    <p:extLst>
      <p:ext uri="{BB962C8B-B14F-4D97-AF65-F5344CB8AC3E}">
        <p14:creationId xmlns:p14="http://schemas.microsoft.com/office/powerpoint/2010/main" val="345781345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b="0" i="0" dirty="0">
                <a:solidFill>
                  <a:srgbClr val="374151"/>
                </a:solidFill>
                <a:effectLst/>
                <a:latin typeface="Söhne"/>
              </a:rPr>
              <a:t>A convexidade é uma propriedade importante em matemática e otimização, pois garante que uma função convexa tenha um único ponto de mínimo global, e qualquer ponto de mínimo local também é um ponto de mínimo global. Isso torna as funções convexas especialmente relevantes em problemas de otimização, pois permite encontrar a solução ótima de forma mais eficiente e confiável.</a:t>
            </a:r>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47</a:t>
            </a:fld>
            <a:endParaRPr lang="pt-BR"/>
          </a:p>
        </p:txBody>
      </p:sp>
    </p:spTree>
    <p:extLst>
      <p:ext uri="{BB962C8B-B14F-4D97-AF65-F5344CB8AC3E}">
        <p14:creationId xmlns:p14="http://schemas.microsoft.com/office/powerpoint/2010/main" val="228868069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b="0" i="0" dirty="0">
                <a:solidFill>
                  <a:srgbClr val="374151"/>
                </a:solidFill>
                <a:effectLst/>
                <a:latin typeface="Söhne"/>
              </a:rPr>
              <a:t>A convexidade é uma propriedade importante em matemática e otimização, pois garante que uma função convexa tenha um único ponto de mínimo global, e qualquer ponto de mínimo local também é um ponto de mínimo global. Isso torna as funções convexas especialmente relevantes em problemas de otimização, pois permite encontrar a solução ótima de forma mais eficiente e confiável.</a:t>
            </a:r>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48</a:t>
            </a:fld>
            <a:endParaRPr lang="pt-BR"/>
          </a:p>
        </p:txBody>
      </p:sp>
    </p:spTree>
    <p:extLst>
      <p:ext uri="{BB962C8B-B14F-4D97-AF65-F5344CB8AC3E}">
        <p14:creationId xmlns:p14="http://schemas.microsoft.com/office/powerpoint/2010/main" val="414289294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b="0" i="0" dirty="0">
                <a:solidFill>
                  <a:srgbClr val="374151"/>
                </a:solidFill>
                <a:effectLst/>
                <a:latin typeface="Söhne"/>
              </a:rPr>
              <a:t>A convexidade é uma propriedade importante em matemática e otimização, pois garante que uma função convexa tenha um único ponto de mínimo global, e qualquer ponto de mínimo local também é um ponto de mínimo global. Isso torna as funções convexas especialmente relevantes em problemas de otimização, pois permite encontrar a solução ótima de forma mais eficiente e confiável.</a:t>
            </a:r>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49</a:t>
            </a:fld>
            <a:endParaRPr lang="pt-BR"/>
          </a:p>
        </p:txBody>
      </p:sp>
    </p:spTree>
    <p:extLst>
      <p:ext uri="{BB962C8B-B14F-4D97-AF65-F5344CB8AC3E}">
        <p14:creationId xmlns:p14="http://schemas.microsoft.com/office/powerpoint/2010/main" val="24051160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dirty="0"/>
              <a:t>Passos grandes ajudam a chegar rápido perto do mínimo; passos pequenos ajudam a não ultrapassá-lo.</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50</a:t>
            </a:fld>
            <a:endParaRPr lang="pt-BR"/>
          </a:p>
        </p:txBody>
      </p:sp>
    </p:spTree>
    <p:extLst>
      <p:ext uri="{BB962C8B-B14F-4D97-AF65-F5344CB8AC3E}">
        <p14:creationId xmlns:p14="http://schemas.microsoft.com/office/powerpoint/2010/main" val="319912031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dirty="0"/>
              <a:t>A operação de derivada é distributiva</a:t>
            </a:r>
            <a:endParaRPr lang="en-US"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53</a:t>
            </a:fld>
            <a:endParaRPr lang="pt-BR"/>
          </a:p>
        </p:txBody>
      </p:sp>
    </p:spTree>
    <p:extLst>
      <p:ext uri="{BB962C8B-B14F-4D97-AF65-F5344CB8AC3E}">
        <p14:creationId xmlns:p14="http://schemas.microsoft.com/office/powerpoint/2010/main" val="283657244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en-US" dirty="0"/>
              <a:t>Cada </a:t>
            </a:r>
            <a:r>
              <a:rPr lang="en-US" dirty="0" err="1"/>
              <a:t>termo</a:t>
            </a:r>
            <a:r>
              <a:rPr lang="en-US" dirty="0"/>
              <a:t> do </a:t>
            </a:r>
            <a:r>
              <a:rPr lang="en-US" dirty="0" err="1"/>
              <a:t>somatório</a:t>
            </a:r>
            <a:r>
              <a:rPr lang="en-US" dirty="0"/>
              <a:t> </a:t>
            </a:r>
            <a:r>
              <a:rPr lang="en-US" dirty="0" err="1"/>
              <a:t>pode</a:t>
            </a:r>
            <a:r>
              <a:rPr lang="en-US" dirty="0"/>
              <a:t> </a:t>
            </a:r>
            <a:r>
              <a:rPr lang="en-US" dirty="0" err="1"/>
              <a:t>apontar</a:t>
            </a:r>
            <a:r>
              <a:rPr lang="en-US" dirty="0"/>
              <a:t> para </a:t>
            </a:r>
            <a:r>
              <a:rPr lang="en-US" dirty="0" err="1"/>
              <a:t>uma</a:t>
            </a:r>
            <a:r>
              <a:rPr lang="en-US" dirty="0"/>
              <a:t> </a:t>
            </a:r>
            <a:r>
              <a:rPr lang="en-US" dirty="0" err="1"/>
              <a:t>direção</a:t>
            </a:r>
            <a:r>
              <a:rPr lang="en-US" dirty="0"/>
              <a:t> </a:t>
            </a:r>
            <a:r>
              <a:rPr lang="en-US" dirty="0" err="1"/>
              <a:t>diferente</a:t>
            </a:r>
            <a:r>
              <a:rPr lang="en-US" dirty="0"/>
              <a:t>, mas a </a:t>
            </a:r>
            <a:r>
              <a:rPr lang="en-US" dirty="0" err="1"/>
              <a:t>média</a:t>
            </a:r>
            <a:r>
              <a:rPr lang="en-US" dirty="0"/>
              <a:t> dos </a:t>
            </a:r>
            <a:r>
              <a:rPr lang="en-US" dirty="0" err="1"/>
              <a:t>vetores</a:t>
            </a:r>
            <a:r>
              <a:rPr lang="en-US" dirty="0"/>
              <a:t> </a:t>
            </a:r>
            <a:r>
              <a:rPr lang="en-US" dirty="0" err="1"/>
              <a:t>aponta</a:t>
            </a:r>
            <a:r>
              <a:rPr lang="en-US" dirty="0"/>
              <a:t> para </a:t>
            </a:r>
            <a:r>
              <a:rPr lang="en-US" dirty="0" err="1"/>
              <a:t>uma</a:t>
            </a:r>
            <a:r>
              <a:rPr lang="en-US" dirty="0"/>
              <a:t> </a:t>
            </a:r>
            <a:r>
              <a:rPr lang="en-US" dirty="0" err="1"/>
              <a:t>única</a:t>
            </a:r>
            <a:r>
              <a:rPr lang="en-US" dirty="0"/>
              <a:t> </a:t>
            </a:r>
            <a:r>
              <a:rPr lang="en-US" dirty="0" err="1"/>
              <a:t>direção</a:t>
            </a:r>
            <a:r>
              <a:rPr lang="en-US" dirty="0"/>
              <a:t>: a </a:t>
            </a:r>
            <a:r>
              <a:rPr lang="en-US" dirty="0" err="1"/>
              <a:t>direção</a:t>
            </a:r>
            <a:r>
              <a:rPr lang="en-US" dirty="0"/>
              <a:t> do </a:t>
            </a:r>
            <a:r>
              <a:rPr lang="en-US" dirty="0" err="1"/>
              <a:t>gradiente</a:t>
            </a:r>
            <a:r>
              <a:rPr lang="en-US" dirty="0"/>
              <a:t> da </a:t>
            </a:r>
            <a:r>
              <a:rPr lang="en-US" dirty="0" err="1"/>
              <a:t>função</a:t>
            </a:r>
            <a:r>
              <a:rPr lang="en-US" dirty="0"/>
              <a:t> de </a:t>
            </a:r>
            <a:r>
              <a:rPr lang="en-US" dirty="0" err="1"/>
              <a:t>erro</a:t>
            </a:r>
            <a:r>
              <a:rPr lang="en-US" dirty="0"/>
              <a:t> completa.</a:t>
            </a:r>
          </a:p>
          <a:p>
            <a:endParaRPr lang="en-US" dirty="0"/>
          </a:p>
          <a:p>
            <a:r>
              <a:rPr lang="en-US" dirty="0"/>
              <a:t>O </a:t>
            </a:r>
            <a:r>
              <a:rPr lang="en-US" dirty="0" err="1"/>
              <a:t>gradiente</a:t>
            </a:r>
            <a:r>
              <a:rPr lang="en-US" dirty="0"/>
              <a:t> </a:t>
            </a:r>
            <a:r>
              <a:rPr lang="en-US" dirty="0" err="1"/>
              <a:t>médio</a:t>
            </a:r>
            <a:r>
              <a:rPr lang="en-US" dirty="0"/>
              <a:t> </a:t>
            </a:r>
            <a:r>
              <a:rPr lang="en-US" dirty="0" err="1"/>
              <a:t>aponta</a:t>
            </a:r>
            <a:r>
              <a:rPr lang="en-US" dirty="0"/>
              <a:t> para a </a:t>
            </a:r>
            <a:r>
              <a:rPr lang="en-US" dirty="0" err="1"/>
              <a:t>direção</a:t>
            </a:r>
            <a:r>
              <a:rPr lang="en-US" dirty="0"/>
              <a:t> de </a:t>
            </a:r>
            <a:r>
              <a:rPr lang="en-US" dirty="0" err="1"/>
              <a:t>maior</a:t>
            </a:r>
            <a:r>
              <a:rPr lang="en-US" dirty="0"/>
              <a:t> </a:t>
            </a:r>
            <a:r>
              <a:rPr lang="en-US" dirty="0" err="1"/>
              <a:t>crescimento</a:t>
            </a:r>
            <a:r>
              <a:rPr lang="en-US" dirty="0"/>
              <a:t> </a:t>
            </a:r>
            <a:r>
              <a:rPr lang="en-US" dirty="0" err="1"/>
              <a:t>médio</a:t>
            </a:r>
            <a:r>
              <a:rPr lang="en-US" dirty="0"/>
              <a:t> da </a:t>
            </a:r>
            <a:r>
              <a:rPr lang="en-US" dirty="0" err="1"/>
              <a:t>função</a:t>
            </a:r>
            <a:r>
              <a:rPr lang="en-US" dirty="0"/>
              <a:t> de </a:t>
            </a:r>
            <a:r>
              <a:rPr lang="en-US" dirty="0" err="1"/>
              <a:t>erro</a:t>
            </a:r>
            <a:endParaRPr lang="en-US" dirty="0"/>
          </a:p>
          <a:p>
            <a:endParaRPr lang="en-US" dirty="0"/>
          </a:p>
          <a:p>
            <a:endParaRPr lang="en-US" dirty="0"/>
          </a:p>
          <a:p>
            <a:br>
              <a:rPr lang="pt-BR" dirty="0"/>
            </a:br>
            <a:r>
              <a:rPr lang="pt-BR" dirty="0"/>
              <a:t>Ele mede a </a:t>
            </a:r>
            <a:r>
              <a:rPr lang="pt-BR" b="1" dirty="0"/>
              <a:t>correlação entre erro e atributos</a:t>
            </a:r>
            <a:endParaRPr lang="pt-BR" dirty="0"/>
          </a:p>
          <a:p>
            <a:r>
              <a:rPr lang="pt-BR" dirty="0"/>
              <a:t>se erro e atributos​ estão correlacionados → ajustar os pesos​ </a:t>
            </a:r>
          </a:p>
          <a:p>
            <a:r>
              <a:rPr lang="pt-BR" dirty="0"/>
              <a:t>se não → gradiente ≈ 0</a:t>
            </a:r>
          </a:p>
          <a:p>
            <a:endParaRPr lang="pt-BR" dirty="0"/>
          </a:p>
          <a:p>
            <a:r>
              <a:rPr lang="pt-BR" dirty="0"/>
              <a:t>Com poucas amostras, o gradiente pode apontar em direções “tortas”.</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54</a:t>
            </a:fld>
            <a:endParaRPr lang="pt-BR"/>
          </a:p>
        </p:txBody>
      </p:sp>
    </p:spTree>
    <p:extLst>
      <p:ext uri="{BB962C8B-B14F-4D97-AF65-F5344CB8AC3E}">
        <p14:creationId xmlns:p14="http://schemas.microsoft.com/office/powerpoint/2010/main" val="135350043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pPr algn="l"/>
            <a:r>
              <a:rPr lang="pt-BR" b="0" i="0" dirty="0">
                <a:solidFill>
                  <a:srgbClr val="374151"/>
                </a:solidFill>
                <a:effectLst/>
                <a:latin typeface="Söhne"/>
              </a:rPr>
              <a:t>As três versões do Gradiente Descendente são:</a:t>
            </a:r>
          </a:p>
          <a:p>
            <a:pPr algn="l">
              <a:buFont typeface="+mj-lt"/>
              <a:buAutoNum type="arabicPeriod"/>
            </a:pPr>
            <a:r>
              <a:rPr lang="pt-BR" b="0" i="0" dirty="0">
                <a:solidFill>
                  <a:srgbClr val="374151"/>
                </a:solidFill>
                <a:effectLst/>
                <a:latin typeface="Söhne"/>
              </a:rPr>
              <a:t>Gradiente Descendente de Lote (Batch </a:t>
            </a:r>
            <a:r>
              <a:rPr lang="pt-BR" b="0" i="0" dirty="0" err="1">
                <a:solidFill>
                  <a:srgbClr val="374151"/>
                </a:solidFill>
                <a:effectLst/>
                <a:latin typeface="Söhne"/>
              </a:rPr>
              <a:t>Gradient</a:t>
            </a:r>
            <a:r>
              <a:rPr lang="pt-BR" b="0" i="0" dirty="0">
                <a:solidFill>
                  <a:srgbClr val="374151"/>
                </a:solidFill>
                <a:effectLst/>
                <a:latin typeface="Söhne"/>
              </a:rPr>
              <a:t> </a:t>
            </a:r>
            <a:r>
              <a:rPr lang="pt-BR" b="0" i="0" dirty="0" err="1">
                <a:solidFill>
                  <a:srgbClr val="374151"/>
                </a:solidFill>
                <a:effectLst/>
                <a:latin typeface="Söhne"/>
              </a:rPr>
              <a:t>Descent</a:t>
            </a:r>
            <a:r>
              <a:rPr lang="pt-BR" b="0" i="0" dirty="0">
                <a:solidFill>
                  <a:srgbClr val="374151"/>
                </a:solidFill>
                <a:effectLst/>
                <a:latin typeface="Söhne"/>
              </a:rPr>
              <a:t>):</a:t>
            </a:r>
          </a:p>
          <a:p>
            <a:pPr algn="l">
              <a:buFont typeface="Arial" panose="020B0604020202020204" pitchFamily="34" charset="0"/>
              <a:buChar char="•"/>
            </a:pPr>
            <a:r>
              <a:rPr lang="pt-BR" b="0" i="0" dirty="0">
                <a:solidFill>
                  <a:srgbClr val="374151"/>
                </a:solidFill>
                <a:effectLst/>
                <a:latin typeface="Söhne"/>
              </a:rPr>
              <a:t>Calcula o gradiente da função de erro para todos os exemplos do conjunto de treinamento.</a:t>
            </a:r>
          </a:p>
          <a:p>
            <a:pPr algn="l">
              <a:buFont typeface="Arial" panose="020B0604020202020204" pitchFamily="34" charset="0"/>
              <a:buChar char="•"/>
            </a:pPr>
            <a:r>
              <a:rPr lang="pt-BR" b="0" i="0" dirty="0">
                <a:solidFill>
                  <a:srgbClr val="374151"/>
                </a:solidFill>
                <a:effectLst/>
                <a:latin typeface="Söhne"/>
              </a:rPr>
              <a:t>Atualiza os parâmetros do modelo após processar todos os exemplos do conjunto de treinamento.</a:t>
            </a:r>
          </a:p>
          <a:p>
            <a:pPr algn="l">
              <a:buFont typeface="Arial" panose="020B0604020202020204" pitchFamily="34" charset="0"/>
              <a:buChar char="•"/>
            </a:pPr>
            <a:r>
              <a:rPr lang="pt-BR" b="0" i="0" dirty="0">
                <a:solidFill>
                  <a:srgbClr val="374151"/>
                </a:solidFill>
                <a:effectLst/>
                <a:latin typeface="Söhne"/>
              </a:rPr>
              <a:t>Pode ser lento em conjuntos de treinamento muito grandes, pois requer o cálculo do gradiente para todo o conjunto a cada iteração.</a:t>
            </a:r>
          </a:p>
          <a:p>
            <a:pPr algn="l">
              <a:buFont typeface="+mj-lt"/>
              <a:buAutoNum type="arabicPeriod" startAt="2"/>
            </a:pPr>
            <a:r>
              <a:rPr lang="pt-BR" b="0" i="0" dirty="0">
                <a:solidFill>
                  <a:srgbClr val="374151"/>
                </a:solidFill>
                <a:effectLst/>
                <a:latin typeface="Söhne"/>
              </a:rPr>
              <a:t>Gradiente Descendente Estocástico (</a:t>
            </a:r>
            <a:r>
              <a:rPr lang="pt-BR" b="0" i="0" dirty="0" err="1">
                <a:solidFill>
                  <a:srgbClr val="374151"/>
                </a:solidFill>
                <a:effectLst/>
                <a:latin typeface="Söhne"/>
              </a:rPr>
              <a:t>Stochastic</a:t>
            </a:r>
            <a:r>
              <a:rPr lang="pt-BR" b="0" i="0" dirty="0">
                <a:solidFill>
                  <a:srgbClr val="374151"/>
                </a:solidFill>
                <a:effectLst/>
                <a:latin typeface="Söhne"/>
              </a:rPr>
              <a:t> </a:t>
            </a:r>
            <a:r>
              <a:rPr lang="pt-BR" b="0" i="0" dirty="0" err="1">
                <a:solidFill>
                  <a:srgbClr val="374151"/>
                </a:solidFill>
                <a:effectLst/>
                <a:latin typeface="Söhne"/>
              </a:rPr>
              <a:t>Gradient</a:t>
            </a:r>
            <a:r>
              <a:rPr lang="pt-BR" b="0" i="0" dirty="0">
                <a:solidFill>
                  <a:srgbClr val="374151"/>
                </a:solidFill>
                <a:effectLst/>
                <a:latin typeface="Söhne"/>
              </a:rPr>
              <a:t> </a:t>
            </a:r>
            <a:r>
              <a:rPr lang="pt-BR" b="0" i="0" dirty="0" err="1">
                <a:solidFill>
                  <a:srgbClr val="374151"/>
                </a:solidFill>
                <a:effectLst/>
                <a:latin typeface="Söhne"/>
              </a:rPr>
              <a:t>Descent</a:t>
            </a:r>
            <a:r>
              <a:rPr lang="pt-BR" b="0" i="0" dirty="0">
                <a:solidFill>
                  <a:srgbClr val="374151"/>
                </a:solidFill>
                <a:effectLst/>
                <a:latin typeface="Söhne"/>
              </a:rPr>
              <a:t> - SGD):</a:t>
            </a:r>
          </a:p>
          <a:p>
            <a:pPr algn="l">
              <a:buFont typeface="Arial" panose="020B0604020202020204" pitchFamily="34" charset="0"/>
              <a:buChar char="•"/>
            </a:pPr>
            <a:r>
              <a:rPr lang="pt-BR" b="0" i="0" dirty="0">
                <a:solidFill>
                  <a:srgbClr val="374151"/>
                </a:solidFill>
                <a:effectLst/>
                <a:latin typeface="Söhne"/>
              </a:rPr>
              <a:t>Calcula o gradiente da função de erro para um único exemplo do conjunto de treinamento.</a:t>
            </a:r>
          </a:p>
          <a:p>
            <a:pPr algn="l">
              <a:buFont typeface="Arial" panose="020B0604020202020204" pitchFamily="34" charset="0"/>
              <a:buChar char="•"/>
            </a:pPr>
            <a:r>
              <a:rPr lang="pt-BR" b="0" i="0" dirty="0">
                <a:solidFill>
                  <a:srgbClr val="374151"/>
                </a:solidFill>
                <a:effectLst/>
                <a:latin typeface="Söhne"/>
              </a:rPr>
              <a:t>Atualiza os parâmetros do modelo após cada exemplo processado.</a:t>
            </a:r>
          </a:p>
          <a:p>
            <a:pPr algn="l">
              <a:buFont typeface="Arial" panose="020B0604020202020204" pitchFamily="34" charset="0"/>
              <a:buChar char="•"/>
            </a:pPr>
            <a:r>
              <a:rPr lang="pt-BR" b="0" i="0" dirty="0">
                <a:solidFill>
                  <a:srgbClr val="374151"/>
                </a:solidFill>
                <a:effectLst/>
                <a:latin typeface="Söhne"/>
              </a:rPr>
              <a:t>Mais rápido que o Gradiente Descendente de Lote, mas a variação na atualização pode tornar a convergência mais irregular.</a:t>
            </a:r>
          </a:p>
          <a:p>
            <a:pPr algn="l">
              <a:buFont typeface="+mj-lt"/>
              <a:buAutoNum type="arabicPeriod" startAt="3"/>
            </a:pPr>
            <a:r>
              <a:rPr lang="pt-BR" b="0" i="0" dirty="0">
                <a:solidFill>
                  <a:srgbClr val="374151"/>
                </a:solidFill>
                <a:effectLst/>
                <a:latin typeface="Söhne"/>
              </a:rPr>
              <a:t>Gradiente Descendente em Mini-Lotes (Mini-batch </a:t>
            </a:r>
            <a:r>
              <a:rPr lang="pt-BR" b="0" i="0" dirty="0" err="1">
                <a:solidFill>
                  <a:srgbClr val="374151"/>
                </a:solidFill>
                <a:effectLst/>
                <a:latin typeface="Söhne"/>
              </a:rPr>
              <a:t>Gradient</a:t>
            </a:r>
            <a:r>
              <a:rPr lang="pt-BR" b="0" i="0" dirty="0">
                <a:solidFill>
                  <a:srgbClr val="374151"/>
                </a:solidFill>
                <a:effectLst/>
                <a:latin typeface="Söhne"/>
              </a:rPr>
              <a:t> </a:t>
            </a:r>
            <a:r>
              <a:rPr lang="pt-BR" b="0" i="0" dirty="0" err="1">
                <a:solidFill>
                  <a:srgbClr val="374151"/>
                </a:solidFill>
                <a:effectLst/>
                <a:latin typeface="Söhne"/>
              </a:rPr>
              <a:t>Descent</a:t>
            </a:r>
            <a:r>
              <a:rPr lang="pt-BR" b="0" i="0" dirty="0">
                <a:solidFill>
                  <a:srgbClr val="374151"/>
                </a:solidFill>
                <a:effectLst/>
                <a:latin typeface="Söhne"/>
              </a:rPr>
              <a:t>):</a:t>
            </a:r>
          </a:p>
          <a:p>
            <a:pPr algn="l">
              <a:buFont typeface="Arial" panose="020B0604020202020204" pitchFamily="34" charset="0"/>
              <a:buChar char="•"/>
            </a:pPr>
            <a:r>
              <a:rPr lang="pt-BR" b="0" i="0" dirty="0">
                <a:solidFill>
                  <a:srgbClr val="374151"/>
                </a:solidFill>
                <a:effectLst/>
                <a:latin typeface="Söhne"/>
              </a:rPr>
              <a:t>Calcula o gradiente da função de erro para um pequeno grupo (</a:t>
            </a:r>
            <a:r>
              <a:rPr lang="pt-BR" b="0" i="0" dirty="0" err="1">
                <a:solidFill>
                  <a:srgbClr val="374151"/>
                </a:solidFill>
                <a:effectLst/>
                <a:latin typeface="Söhne"/>
              </a:rPr>
              <a:t>mini-lote</a:t>
            </a:r>
            <a:r>
              <a:rPr lang="pt-BR" b="0" i="0" dirty="0">
                <a:solidFill>
                  <a:srgbClr val="374151"/>
                </a:solidFill>
                <a:effectLst/>
                <a:latin typeface="Söhne"/>
              </a:rPr>
              <a:t>) de exemplos do conjunto de treinamento.</a:t>
            </a:r>
          </a:p>
          <a:p>
            <a:pPr algn="l">
              <a:buFont typeface="Arial" panose="020B0604020202020204" pitchFamily="34" charset="0"/>
              <a:buChar char="•"/>
            </a:pPr>
            <a:r>
              <a:rPr lang="pt-BR" b="0" i="0" dirty="0">
                <a:solidFill>
                  <a:srgbClr val="374151"/>
                </a:solidFill>
                <a:effectLst/>
                <a:latin typeface="Söhne"/>
              </a:rPr>
              <a:t>Atualiza os parâmetros do modelo após processar cada </a:t>
            </a:r>
            <a:r>
              <a:rPr lang="pt-BR" b="0" i="0" dirty="0" err="1">
                <a:solidFill>
                  <a:srgbClr val="374151"/>
                </a:solidFill>
                <a:effectLst/>
                <a:latin typeface="Söhne"/>
              </a:rPr>
              <a:t>mini-lote</a:t>
            </a:r>
            <a:r>
              <a:rPr lang="pt-BR" b="0" i="0" dirty="0">
                <a:solidFill>
                  <a:srgbClr val="374151"/>
                </a:solidFill>
                <a:effectLst/>
                <a:latin typeface="Söhne"/>
              </a:rPr>
              <a:t>.</a:t>
            </a:r>
          </a:p>
          <a:p>
            <a:pPr algn="l">
              <a:buFont typeface="Arial" panose="020B0604020202020204" pitchFamily="34" charset="0"/>
              <a:buChar char="•"/>
            </a:pPr>
            <a:r>
              <a:rPr lang="pt-BR" b="0" i="0" dirty="0">
                <a:solidFill>
                  <a:srgbClr val="374151"/>
                </a:solidFill>
                <a:effectLst/>
                <a:latin typeface="Söhne"/>
              </a:rPr>
              <a:t>Combina as vantagens do Batch </a:t>
            </a:r>
            <a:r>
              <a:rPr lang="pt-BR" b="0" i="0" dirty="0" err="1">
                <a:solidFill>
                  <a:srgbClr val="374151"/>
                </a:solidFill>
                <a:effectLst/>
                <a:latin typeface="Söhne"/>
              </a:rPr>
              <a:t>Gradient</a:t>
            </a:r>
            <a:r>
              <a:rPr lang="pt-BR" b="0" i="0" dirty="0">
                <a:solidFill>
                  <a:srgbClr val="374151"/>
                </a:solidFill>
                <a:effectLst/>
                <a:latin typeface="Söhne"/>
              </a:rPr>
              <a:t> </a:t>
            </a:r>
            <a:r>
              <a:rPr lang="pt-BR" b="0" i="0" dirty="0" err="1">
                <a:solidFill>
                  <a:srgbClr val="374151"/>
                </a:solidFill>
                <a:effectLst/>
                <a:latin typeface="Söhne"/>
              </a:rPr>
              <a:t>Descent</a:t>
            </a:r>
            <a:r>
              <a:rPr lang="pt-BR" b="0" i="0" dirty="0">
                <a:solidFill>
                  <a:srgbClr val="374151"/>
                </a:solidFill>
                <a:effectLst/>
                <a:latin typeface="Söhne"/>
              </a:rPr>
              <a:t> e do SGD, sendo mais rápido que o Batch e mais estável que o SGD.</a:t>
            </a:r>
          </a:p>
          <a:p>
            <a:pPr algn="l"/>
            <a:r>
              <a:rPr lang="pt-BR" b="0" i="0" dirty="0">
                <a:solidFill>
                  <a:srgbClr val="374151"/>
                </a:solidFill>
                <a:effectLst/>
                <a:latin typeface="Söhne"/>
              </a:rPr>
              <a:t>Em todas as versões, o objetivo é ajustar os parâmetros do modelo de forma a minimizar a função de erro, levando a melhores previsões e desempenho do modelo. A escolha da versão mais adequada depende do tamanho do conjunto de treinamento, das características do problema e dos recursos computacionais disponíveis. Cada versão do Gradiente Descendente tem suas vantagens e desvantagens, e a seleção adequada pode impactar no tempo de treinamento e na eficácia do modelo.</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55</a:t>
            </a:fld>
            <a:endParaRPr lang="pt-BR"/>
          </a:p>
        </p:txBody>
      </p:sp>
    </p:spTree>
    <p:extLst>
      <p:ext uri="{BB962C8B-B14F-4D97-AF65-F5344CB8AC3E}">
        <p14:creationId xmlns:p14="http://schemas.microsoft.com/office/powerpoint/2010/main" val="141762758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pPr algn="l"/>
            <a:r>
              <a:rPr lang="pt-BR" b="0" i="0" dirty="0">
                <a:solidFill>
                  <a:srgbClr val="374151"/>
                </a:solidFill>
                <a:effectLst/>
                <a:latin typeface="Söhne"/>
              </a:rPr>
              <a:t>O Gradiente Descendente em Batelada (Batch </a:t>
            </a:r>
            <a:r>
              <a:rPr lang="pt-BR" b="0" i="0" dirty="0" err="1">
                <a:solidFill>
                  <a:srgbClr val="374151"/>
                </a:solidFill>
                <a:effectLst/>
                <a:latin typeface="Söhne"/>
              </a:rPr>
              <a:t>Gradient</a:t>
            </a:r>
            <a:r>
              <a:rPr lang="pt-BR" b="0" i="0" dirty="0">
                <a:solidFill>
                  <a:srgbClr val="374151"/>
                </a:solidFill>
                <a:effectLst/>
                <a:latin typeface="Söhne"/>
              </a:rPr>
              <a:t> </a:t>
            </a:r>
            <a:r>
              <a:rPr lang="pt-BR" b="0" i="0" dirty="0" err="1">
                <a:solidFill>
                  <a:srgbClr val="374151"/>
                </a:solidFill>
                <a:effectLst/>
                <a:latin typeface="Söhne"/>
              </a:rPr>
              <a:t>Descent</a:t>
            </a:r>
            <a:r>
              <a:rPr lang="pt-BR" b="0" i="0" dirty="0">
                <a:solidFill>
                  <a:srgbClr val="374151"/>
                </a:solidFill>
                <a:effectLst/>
                <a:latin typeface="Söhne"/>
              </a:rPr>
              <a:t>) possui as seguintes características:</a:t>
            </a:r>
          </a:p>
          <a:p>
            <a:pPr algn="l"/>
            <a:endParaRPr lang="pt-BR" b="0" i="0" dirty="0">
              <a:solidFill>
                <a:srgbClr val="374151"/>
              </a:solidFill>
              <a:effectLst/>
              <a:latin typeface="Söhne"/>
            </a:endParaRPr>
          </a:p>
          <a:p>
            <a:pPr algn="l"/>
            <a:r>
              <a:rPr lang="pt-BR" b="0" i="0" dirty="0">
                <a:solidFill>
                  <a:srgbClr val="374151"/>
                </a:solidFill>
                <a:effectLst/>
                <a:latin typeface="Söhne"/>
              </a:rPr>
              <a:t>1. **Utilização de Todo o Conjunto de Dados:** No Batch </a:t>
            </a:r>
            <a:r>
              <a:rPr lang="pt-BR" b="0" i="0" dirty="0" err="1">
                <a:solidFill>
                  <a:srgbClr val="374151"/>
                </a:solidFill>
                <a:effectLst/>
                <a:latin typeface="Söhne"/>
              </a:rPr>
              <a:t>Gradient</a:t>
            </a:r>
            <a:r>
              <a:rPr lang="pt-BR" b="0" i="0" dirty="0">
                <a:solidFill>
                  <a:srgbClr val="374151"/>
                </a:solidFill>
                <a:effectLst/>
                <a:latin typeface="Söhne"/>
              </a:rPr>
              <a:t> </a:t>
            </a:r>
            <a:r>
              <a:rPr lang="pt-BR" b="0" i="0" dirty="0" err="1">
                <a:solidFill>
                  <a:srgbClr val="374151"/>
                </a:solidFill>
                <a:effectLst/>
                <a:latin typeface="Söhne"/>
              </a:rPr>
              <a:t>Descent</a:t>
            </a:r>
            <a:r>
              <a:rPr lang="pt-BR" b="0" i="0" dirty="0">
                <a:solidFill>
                  <a:srgbClr val="374151"/>
                </a:solidFill>
                <a:effectLst/>
                <a:latin typeface="Söhne"/>
              </a:rPr>
              <a:t>, a atualização dos pesos do modelo é calculada considerando o gradiente da função de perda em relação a todos os exemplos do conjunto de treinamento. Isso significa que o gradiente é calculado usando todas as amostras disponíveis.</a:t>
            </a:r>
          </a:p>
          <a:p>
            <a:pPr algn="l"/>
            <a:endParaRPr lang="pt-BR" b="0" i="0" dirty="0">
              <a:solidFill>
                <a:srgbClr val="374151"/>
              </a:solidFill>
              <a:effectLst/>
              <a:latin typeface="Söhne"/>
            </a:endParaRPr>
          </a:p>
          <a:p>
            <a:pPr algn="l"/>
            <a:r>
              <a:rPr lang="pt-BR" b="0" i="0" dirty="0">
                <a:solidFill>
                  <a:srgbClr val="374151"/>
                </a:solidFill>
                <a:effectLst/>
                <a:latin typeface="Söhne"/>
              </a:rPr>
              <a:t>2. **Precisão e Estabilidade:** O uso de todo o conjunto de dados para calcular o gradiente proporciona uma direção de atualização mais precisa e estável para os pesos do modelo. Isso tende a resultar em convergência mais direta em direção a um mínimo local ou global da função de perda.</a:t>
            </a:r>
          </a:p>
          <a:p>
            <a:pPr algn="l"/>
            <a:endParaRPr lang="pt-BR" b="0" i="0" dirty="0">
              <a:solidFill>
                <a:srgbClr val="374151"/>
              </a:solidFill>
              <a:effectLst/>
              <a:latin typeface="Söhne"/>
            </a:endParaRPr>
          </a:p>
          <a:p>
            <a:pPr algn="l"/>
            <a:r>
              <a:rPr lang="pt-BR" b="0" i="0" dirty="0">
                <a:solidFill>
                  <a:srgbClr val="374151"/>
                </a:solidFill>
                <a:effectLst/>
                <a:latin typeface="Söhne"/>
              </a:rPr>
              <a:t>3. **Convergência Mais Lenta em Grandes Conjuntos de Dados:** Embora o Batch </a:t>
            </a:r>
            <a:r>
              <a:rPr lang="pt-BR" b="0" i="0" dirty="0" err="1">
                <a:solidFill>
                  <a:srgbClr val="374151"/>
                </a:solidFill>
                <a:effectLst/>
                <a:latin typeface="Söhne"/>
              </a:rPr>
              <a:t>Gradient</a:t>
            </a:r>
            <a:r>
              <a:rPr lang="pt-BR" b="0" i="0" dirty="0">
                <a:solidFill>
                  <a:srgbClr val="374151"/>
                </a:solidFill>
                <a:effectLst/>
                <a:latin typeface="Söhne"/>
              </a:rPr>
              <a:t> </a:t>
            </a:r>
            <a:r>
              <a:rPr lang="pt-BR" b="0" i="0" dirty="0" err="1">
                <a:solidFill>
                  <a:srgbClr val="374151"/>
                </a:solidFill>
                <a:effectLst/>
                <a:latin typeface="Söhne"/>
              </a:rPr>
              <a:t>Descent</a:t>
            </a:r>
            <a:r>
              <a:rPr lang="pt-BR" b="0" i="0" dirty="0">
                <a:solidFill>
                  <a:srgbClr val="374151"/>
                </a:solidFill>
                <a:effectLst/>
                <a:latin typeface="Söhne"/>
              </a:rPr>
              <a:t> ofereça uma direção precisa para a otimização, ele pode ser computacionalmente caro e demorado para conjuntos de dados grandes, pois requer o cálculo de gradientes para todas as amostras em cada iteração.</a:t>
            </a:r>
          </a:p>
          <a:p>
            <a:pPr algn="l"/>
            <a:endParaRPr lang="pt-BR" b="0" i="0" dirty="0">
              <a:solidFill>
                <a:srgbClr val="374151"/>
              </a:solidFill>
              <a:effectLst/>
              <a:latin typeface="Söhne"/>
            </a:endParaRPr>
          </a:p>
          <a:p>
            <a:pPr algn="l"/>
            <a:r>
              <a:rPr lang="pt-BR" b="0" i="0" dirty="0">
                <a:solidFill>
                  <a:srgbClr val="374151"/>
                </a:solidFill>
                <a:effectLst/>
                <a:latin typeface="Söhne"/>
              </a:rPr>
              <a:t>4. **Menos Sensível a Ruídos:** O uso de todo o conjunto de dados ajuda a suavizar as flutuações e o ruído que podem ocorrer nas estimativas do gradiente em abordagens estocásticas. Isso pode resultar em uma trajetória de otimização mais suave.</a:t>
            </a:r>
          </a:p>
          <a:p>
            <a:pPr algn="l"/>
            <a:endParaRPr lang="pt-BR" b="0" i="0" dirty="0">
              <a:solidFill>
                <a:srgbClr val="374151"/>
              </a:solidFill>
              <a:effectLst/>
              <a:latin typeface="Söhne"/>
            </a:endParaRPr>
          </a:p>
          <a:p>
            <a:pPr algn="l"/>
            <a:r>
              <a:rPr lang="pt-BR" b="0" i="0" dirty="0">
                <a:solidFill>
                  <a:srgbClr val="374151"/>
                </a:solidFill>
                <a:effectLst/>
                <a:latin typeface="Söhne"/>
              </a:rPr>
              <a:t>5. **Requer Mais Memória:** O cálculo do gradiente usando todo o conjunto de dados exige o armazenamento temporário dos gradientes parciais de todas as amostras de treinamento. Isso pode consumir mais memória, especialmente em conjuntos de dados grandes.</a:t>
            </a:r>
          </a:p>
          <a:p>
            <a:pPr algn="l"/>
            <a:endParaRPr lang="pt-BR" b="0" i="0" dirty="0">
              <a:solidFill>
                <a:srgbClr val="374151"/>
              </a:solidFill>
              <a:effectLst/>
              <a:latin typeface="Söhne"/>
            </a:endParaRPr>
          </a:p>
          <a:p>
            <a:pPr algn="l"/>
            <a:r>
              <a:rPr lang="pt-BR" b="0" i="0" dirty="0">
                <a:solidFill>
                  <a:srgbClr val="374151"/>
                </a:solidFill>
                <a:effectLst/>
                <a:latin typeface="Söhne"/>
              </a:rPr>
              <a:t>6. **Atualizações Infrequentes:** Como o gradiente é calculado para o conjunto completo de dados, as atualizações dos pesos ocorrem em intervalos menos frequentes em comparação com abordagens estocásticas, onde as atualizações são feitas para cada amostra individualmente.</a:t>
            </a:r>
          </a:p>
          <a:p>
            <a:pPr algn="l"/>
            <a:endParaRPr lang="pt-BR" b="0" i="0" dirty="0">
              <a:solidFill>
                <a:srgbClr val="374151"/>
              </a:solidFill>
              <a:effectLst/>
              <a:latin typeface="Söhne"/>
            </a:endParaRPr>
          </a:p>
          <a:p>
            <a:pPr algn="l"/>
            <a:r>
              <a:rPr lang="pt-BR" b="0" i="0" dirty="0">
                <a:solidFill>
                  <a:srgbClr val="374151"/>
                </a:solidFill>
                <a:effectLst/>
                <a:latin typeface="Söhne"/>
              </a:rPr>
              <a:t>7. **Menos Suscetível a Minimização em Mínimos Locais:** Devido à precisão das atualizações de peso e ao uso de informações globais do conjunto de dados, o Batch </a:t>
            </a:r>
            <a:r>
              <a:rPr lang="pt-BR" b="0" i="0" dirty="0" err="1">
                <a:solidFill>
                  <a:srgbClr val="374151"/>
                </a:solidFill>
                <a:effectLst/>
                <a:latin typeface="Söhne"/>
              </a:rPr>
              <a:t>Gradient</a:t>
            </a:r>
            <a:r>
              <a:rPr lang="pt-BR" b="0" i="0" dirty="0">
                <a:solidFill>
                  <a:srgbClr val="374151"/>
                </a:solidFill>
                <a:effectLst/>
                <a:latin typeface="Söhne"/>
              </a:rPr>
              <a:t> </a:t>
            </a:r>
            <a:r>
              <a:rPr lang="pt-BR" b="0" i="0" dirty="0" err="1">
                <a:solidFill>
                  <a:srgbClr val="374151"/>
                </a:solidFill>
                <a:effectLst/>
                <a:latin typeface="Söhne"/>
              </a:rPr>
              <a:t>Descent</a:t>
            </a:r>
            <a:r>
              <a:rPr lang="pt-BR" b="0" i="0" dirty="0">
                <a:solidFill>
                  <a:srgbClr val="374151"/>
                </a:solidFill>
                <a:effectLst/>
                <a:latin typeface="Söhne"/>
              </a:rPr>
              <a:t> é menos propenso a ficar preso em mínimos locais da função de perda.</a:t>
            </a:r>
          </a:p>
          <a:p>
            <a:pPr algn="l"/>
            <a:endParaRPr lang="pt-BR" b="0" i="0" dirty="0">
              <a:solidFill>
                <a:srgbClr val="374151"/>
              </a:solidFill>
              <a:effectLst/>
              <a:latin typeface="Söhne"/>
            </a:endParaRPr>
          </a:p>
          <a:p>
            <a:pPr algn="l"/>
            <a:r>
              <a:rPr lang="pt-BR" b="0" i="0" dirty="0">
                <a:solidFill>
                  <a:srgbClr val="374151"/>
                </a:solidFill>
                <a:effectLst/>
                <a:latin typeface="Söhne"/>
              </a:rPr>
              <a:t>Em resumo, o Batch </a:t>
            </a:r>
            <a:r>
              <a:rPr lang="pt-BR" b="0" i="0" dirty="0" err="1">
                <a:solidFill>
                  <a:srgbClr val="374151"/>
                </a:solidFill>
                <a:effectLst/>
                <a:latin typeface="Söhne"/>
              </a:rPr>
              <a:t>Gradient</a:t>
            </a:r>
            <a:r>
              <a:rPr lang="pt-BR" b="0" i="0" dirty="0">
                <a:solidFill>
                  <a:srgbClr val="374151"/>
                </a:solidFill>
                <a:effectLst/>
                <a:latin typeface="Söhne"/>
              </a:rPr>
              <a:t> </a:t>
            </a:r>
            <a:r>
              <a:rPr lang="pt-BR" b="0" i="0" dirty="0" err="1">
                <a:solidFill>
                  <a:srgbClr val="374151"/>
                </a:solidFill>
                <a:effectLst/>
                <a:latin typeface="Söhne"/>
              </a:rPr>
              <a:t>Descent</a:t>
            </a:r>
            <a:r>
              <a:rPr lang="pt-BR" b="0" i="0" dirty="0">
                <a:solidFill>
                  <a:srgbClr val="374151"/>
                </a:solidFill>
                <a:effectLst/>
                <a:latin typeface="Söhne"/>
              </a:rPr>
              <a:t> é apropriado quando o conjunto de dados é relativamente pequeno o suficiente para caber na memória e quando a precisão e estabilidade das atualizações dos pesos são prioritárias. No entanto, ele pode ser mais lento em comparação com abordagens estocásticas, especialmente em conjuntos de dados grandes.</a:t>
            </a:r>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56</a:t>
            </a:fld>
            <a:endParaRPr lang="pt-BR"/>
          </a:p>
        </p:txBody>
      </p:sp>
    </p:spTree>
    <p:extLst>
      <p:ext uri="{BB962C8B-B14F-4D97-AF65-F5344CB8AC3E}">
        <p14:creationId xmlns:p14="http://schemas.microsoft.com/office/powerpoint/2010/main" val="204087211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pPr algn="l"/>
            <a:r>
              <a:rPr lang="pt-BR" b="0" i="0" dirty="0">
                <a:solidFill>
                  <a:srgbClr val="374151"/>
                </a:solidFill>
                <a:effectLst/>
                <a:latin typeface="Söhne"/>
              </a:rPr>
              <a:t>As três versões do Gradiente Descendente são:</a:t>
            </a:r>
          </a:p>
          <a:p>
            <a:pPr algn="l">
              <a:buFont typeface="+mj-lt"/>
              <a:buAutoNum type="arabicPeriod"/>
            </a:pPr>
            <a:r>
              <a:rPr lang="pt-BR" b="0" i="0" dirty="0">
                <a:solidFill>
                  <a:srgbClr val="374151"/>
                </a:solidFill>
                <a:effectLst/>
                <a:latin typeface="Söhne"/>
              </a:rPr>
              <a:t>Gradiente Descendente de Lote (Batch </a:t>
            </a:r>
            <a:r>
              <a:rPr lang="pt-BR" b="0" i="0" dirty="0" err="1">
                <a:solidFill>
                  <a:srgbClr val="374151"/>
                </a:solidFill>
                <a:effectLst/>
                <a:latin typeface="Söhne"/>
              </a:rPr>
              <a:t>Gradient</a:t>
            </a:r>
            <a:r>
              <a:rPr lang="pt-BR" b="0" i="0" dirty="0">
                <a:solidFill>
                  <a:srgbClr val="374151"/>
                </a:solidFill>
                <a:effectLst/>
                <a:latin typeface="Söhne"/>
              </a:rPr>
              <a:t> </a:t>
            </a:r>
            <a:r>
              <a:rPr lang="pt-BR" b="0" i="0" dirty="0" err="1">
                <a:solidFill>
                  <a:srgbClr val="374151"/>
                </a:solidFill>
                <a:effectLst/>
                <a:latin typeface="Söhne"/>
              </a:rPr>
              <a:t>Descent</a:t>
            </a:r>
            <a:r>
              <a:rPr lang="pt-BR" b="0" i="0" dirty="0">
                <a:solidFill>
                  <a:srgbClr val="374151"/>
                </a:solidFill>
                <a:effectLst/>
                <a:latin typeface="Söhne"/>
              </a:rPr>
              <a:t>):</a:t>
            </a:r>
          </a:p>
          <a:p>
            <a:pPr algn="l">
              <a:buFont typeface="Arial" panose="020B0604020202020204" pitchFamily="34" charset="0"/>
              <a:buChar char="•"/>
            </a:pPr>
            <a:r>
              <a:rPr lang="pt-BR" b="0" i="0" dirty="0">
                <a:solidFill>
                  <a:srgbClr val="374151"/>
                </a:solidFill>
                <a:effectLst/>
                <a:latin typeface="Söhne"/>
              </a:rPr>
              <a:t>Calcula o gradiente da função de erro para todos os exemplos do conjunto de treinamento.</a:t>
            </a:r>
          </a:p>
          <a:p>
            <a:pPr algn="l">
              <a:buFont typeface="Arial" panose="020B0604020202020204" pitchFamily="34" charset="0"/>
              <a:buChar char="•"/>
            </a:pPr>
            <a:r>
              <a:rPr lang="pt-BR" b="0" i="0" dirty="0">
                <a:solidFill>
                  <a:srgbClr val="374151"/>
                </a:solidFill>
                <a:effectLst/>
                <a:latin typeface="Söhne"/>
              </a:rPr>
              <a:t>Atualiza os parâmetros do modelo após processar todos os exemplos do conjunto de treinamento.</a:t>
            </a:r>
          </a:p>
          <a:p>
            <a:pPr algn="l">
              <a:buFont typeface="Arial" panose="020B0604020202020204" pitchFamily="34" charset="0"/>
              <a:buChar char="•"/>
            </a:pPr>
            <a:r>
              <a:rPr lang="pt-BR" b="0" i="0" dirty="0">
                <a:solidFill>
                  <a:srgbClr val="374151"/>
                </a:solidFill>
                <a:effectLst/>
                <a:latin typeface="Söhne"/>
              </a:rPr>
              <a:t>Pode ser lento em conjuntos de treinamento muito grandes, pois requer o cálculo do gradiente para todo o conjunto a cada iteração.</a:t>
            </a:r>
          </a:p>
          <a:p>
            <a:pPr algn="l">
              <a:buFont typeface="+mj-lt"/>
              <a:buAutoNum type="arabicPeriod" startAt="2"/>
            </a:pPr>
            <a:r>
              <a:rPr lang="pt-BR" b="0" i="0" dirty="0">
                <a:solidFill>
                  <a:srgbClr val="374151"/>
                </a:solidFill>
                <a:effectLst/>
                <a:latin typeface="Söhne"/>
              </a:rPr>
              <a:t>Gradiente Descendente Estocástico (</a:t>
            </a:r>
            <a:r>
              <a:rPr lang="pt-BR" b="0" i="0" dirty="0" err="1">
                <a:solidFill>
                  <a:srgbClr val="374151"/>
                </a:solidFill>
                <a:effectLst/>
                <a:latin typeface="Söhne"/>
              </a:rPr>
              <a:t>Stochastic</a:t>
            </a:r>
            <a:r>
              <a:rPr lang="pt-BR" b="0" i="0" dirty="0">
                <a:solidFill>
                  <a:srgbClr val="374151"/>
                </a:solidFill>
                <a:effectLst/>
                <a:latin typeface="Söhne"/>
              </a:rPr>
              <a:t> </a:t>
            </a:r>
            <a:r>
              <a:rPr lang="pt-BR" b="0" i="0" dirty="0" err="1">
                <a:solidFill>
                  <a:srgbClr val="374151"/>
                </a:solidFill>
                <a:effectLst/>
                <a:latin typeface="Söhne"/>
              </a:rPr>
              <a:t>Gradient</a:t>
            </a:r>
            <a:r>
              <a:rPr lang="pt-BR" b="0" i="0" dirty="0">
                <a:solidFill>
                  <a:srgbClr val="374151"/>
                </a:solidFill>
                <a:effectLst/>
                <a:latin typeface="Söhne"/>
              </a:rPr>
              <a:t> </a:t>
            </a:r>
            <a:r>
              <a:rPr lang="pt-BR" b="0" i="0" dirty="0" err="1">
                <a:solidFill>
                  <a:srgbClr val="374151"/>
                </a:solidFill>
                <a:effectLst/>
                <a:latin typeface="Söhne"/>
              </a:rPr>
              <a:t>Descent</a:t>
            </a:r>
            <a:r>
              <a:rPr lang="pt-BR" b="0" i="0" dirty="0">
                <a:solidFill>
                  <a:srgbClr val="374151"/>
                </a:solidFill>
                <a:effectLst/>
                <a:latin typeface="Söhne"/>
              </a:rPr>
              <a:t> - SGD):</a:t>
            </a:r>
          </a:p>
          <a:p>
            <a:pPr algn="l">
              <a:buFont typeface="Arial" panose="020B0604020202020204" pitchFamily="34" charset="0"/>
              <a:buChar char="•"/>
            </a:pPr>
            <a:r>
              <a:rPr lang="pt-BR" b="0" i="0" dirty="0">
                <a:solidFill>
                  <a:srgbClr val="374151"/>
                </a:solidFill>
                <a:effectLst/>
                <a:latin typeface="Söhne"/>
              </a:rPr>
              <a:t>Calcula o gradiente da função de erro para um único exemplo do conjunto de treinamento.</a:t>
            </a:r>
          </a:p>
          <a:p>
            <a:pPr algn="l">
              <a:buFont typeface="Arial" panose="020B0604020202020204" pitchFamily="34" charset="0"/>
              <a:buChar char="•"/>
            </a:pPr>
            <a:r>
              <a:rPr lang="pt-BR" b="0" i="0" dirty="0">
                <a:solidFill>
                  <a:srgbClr val="374151"/>
                </a:solidFill>
                <a:effectLst/>
                <a:latin typeface="Söhne"/>
              </a:rPr>
              <a:t>Atualiza os parâmetros do modelo após cada exemplo processado.</a:t>
            </a:r>
          </a:p>
          <a:p>
            <a:pPr algn="l">
              <a:buFont typeface="Arial" panose="020B0604020202020204" pitchFamily="34" charset="0"/>
              <a:buChar char="•"/>
            </a:pPr>
            <a:r>
              <a:rPr lang="pt-BR" b="0" i="0" dirty="0">
                <a:solidFill>
                  <a:srgbClr val="374151"/>
                </a:solidFill>
                <a:effectLst/>
                <a:latin typeface="Söhne"/>
              </a:rPr>
              <a:t>Mais rápido que o Gradiente Descendente de Lote, mas a variação na atualização pode tornar a convergência mais irregular.</a:t>
            </a:r>
          </a:p>
          <a:p>
            <a:pPr algn="l">
              <a:buFont typeface="+mj-lt"/>
              <a:buAutoNum type="arabicPeriod" startAt="3"/>
            </a:pPr>
            <a:r>
              <a:rPr lang="pt-BR" b="0" i="0" dirty="0">
                <a:solidFill>
                  <a:srgbClr val="374151"/>
                </a:solidFill>
                <a:effectLst/>
                <a:latin typeface="Söhne"/>
              </a:rPr>
              <a:t>Gradiente Descendente em Mini-Lotes (Mini-batch </a:t>
            </a:r>
            <a:r>
              <a:rPr lang="pt-BR" b="0" i="0" dirty="0" err="1">
                <a:solidFill>
                  <a:srgbClr val="374151"/>
                </a:solidFill>
                <a:effectLst/>
                <a:latin typeface="Söhne"/>
              </a:rPr>
              <a:t>Gradient</a:t>
            </a:r>
            <a:r>
              <a:rPr lang="pt-BR" b="0" i="0" dirty="0">
                <a:solidFill>
                  <a:srgbClr val="374151"/>
                </a:solidFill>
                <a:effectLst/>
                <a:latin typeface="Söhne"/>
              </a:rPr>
              <a:t> </a:t>
            </a:r>
            <a:r>
              <a:rPr lang="pt-BR" b="0" i="0" dirty="0" err="1">
                <a:solidFill>
                  <a:srgbClr val="374151"/>
                </a:solidFill>
                <a:effectLst/>
                <a:latin typeface="Söhne"/>
              </a:rPr>
              <a:t>Descent</a:t>
            </a:r>
            <a:r>
              <a:rPr lang="pt-BR" b="0" i="0" dirty="0">
                <a:solidFill>
                  <a:srgbClr val="374151"/>
                </a:solidFill>
                <a:effectLst/>
                <a:latin typeface="Söhne"/>
              </a:rPr>
              <a:t>):</a:t>
            </a:r>
          </a:p>
          <a:p>
            <a:pPr algn="l">
              <a:buFont typeface="Arial" panose="020B0604020202020204" pitchFamily="34" charset="0"/>
              <a:buChar char="•"/>
            </a:pPr>
            <a:r>
              <a:rPr lang="pt-BR" b="0" i="0" dirty="0">
                <a:solidFill>
                  <a:srgbClr val="374151"/>
                </a:solidFill>
                <a:effectLst/>
                <a:latin typeface="Söhne"/>
              </a:rPr>
              <a:t>Calcula o gradiente da função de erro para um pequeno grupo (</a:t>
            </a:r>
            <a:r>
              <a:rPr lang="pt-BR" b="0" i="0" dirty="0" err="1">
                <a:solidFill>
                  <a:srgbClr val="374151"/>
                </a:solidFill>
                <a:effectLst/>
                <a:latin typeface="Söhne"/>
              </a:rPr>
              <a:t>mini-lote</a:t>
            </a:r>
            <a:r>
              <a:rPr lang="pt-BR" b="0" i="0" dirty="0">
                <a:solidFill>
                  <a:srgbClr val="374151"/>
                </a:solidFill>
                <a:effectLst/>
                <a:latin typeface="Söhne"/>
              </a:rPr>
              <a:t>) de exemplos do conjunto de treinamento.</a:t>
            </a:r>
          </a:p>
          <a:p>
            <a:pPr algn="l">
              <a:buFont typeface="Arial" panose="020B0604020202020204" pitchFamily="34" charset="0"/>
              <a:buChar char="•"/>
            </a:pPr>
            <a:r>
              <a:rPr lang="pt-BR" b="0" i="0" dirty="0">
                <a:solidFill>
                  <a:srgbClr val="374151"/>
                </a:solidFill>
                <a:effectLst/>
                <a:latin typeface="Söhne"/>
              </a:rPr>
              <a:t>Atualiza os parâmetros do modelo após processar cada </a:t>
            </a:r>
            <a:r>
              <a:rPr lang="pt-BR" b="0" i="0" dirty="0" err="1">
                <a:solidFill>
                  <a:srgbClr val="374151"/>
                </a:solidFill>
                <a:effectLst/>
                <a:latin typeface="Söhne"/>
              </a:rPr>
              <a:t>mini-lote</a:t>
            </a:r>
            <a:r>
              <a:rPr lang="pt-BR" b="0" i="0" dirty="0">
                <a:solidFill>
                  <a:srgbClr val="374151"/>
                </a:solidFill>
                <a:effectLst/>
                <a:latin typeface="Söhne"/>
              </a:rPr>
              <a:t>.</a:t>
            </a:r>
          </a:p>
          <a:p>
            <a:pPr algn="l">
              <a:buFont typeface="Arial" panose="020B0604020202020204" pitchFamily="34" charset="0"/>
              <a:buChar char="•"/>
            </a:pPr>
            <a:r>
              <a:rPr lang="pt-BR" b="0" i="0" dirty="0">
                <a:solidFill>
                  <a:srgbClr val="374151"/>
                </a:solidFill>
                <a:effectLst/>
                <a:latin typeface="Söhne"/>
              </a:rPr>
              <a:t>Combina as vantagens do Batch </a:t>
            </a:r>
            <a:r>
              <a:rPr lang="pt-BR" b="0" i="0" dirty="0" err="1">
                <a:solidFill>
                  <a:srgbClr val="374151"/>
                </a:solidFill>
                <a:effectLst/>
                <a:latin typeface="Söhne"/>
              </a:rPr>
              <a:t>Gradient</a:t>
            </a:r>
            <a:r>
              <a:rPr lang="pt-BR" b="0" i="0" dirty="0">
                <a:solidFill>
                  <a:srgbClr val="374151"/>
                </a:solidFill>
                <a:effectLst/>
                <a:latin typeface="Söhne"/>
              </a:rPr>
              <a:t> </a:t>
            </a:r>
            <a:r>
              <a:rPr lang="pt-BR" b="0" i="0" dirty="0" err="1">
                <a:solidFill>
                  <a:srgbClr val="374151"/>
                </a:solidFill>
                <a:effectLst/>
                <a:latin typeface="Söhne"/>
              </a:rPr>
              <a:t>Descent</a:t>
            </a:r>
            <a:r>
              <a:rPr lang="pt-BR" b="0" i="0" dirty="0">
                <a:solidFill>
                  <a:srgbClr val="374151"/>
                </a:solidFill>
                <a:effectLst/>
                <a:latin typeface="Söhne"/>
              </a:rPr>
              <a:t> e do SGD, sendo mais rápido que o Batch e mais estável que o SGD.</a:t>
            </a:r>
          </a:p>
          <a:p>
            <a:pPr algn="l"/>
            <a:r>
              <a:rPr lang="pt-BR" b="0" i="0" dirty="0">
                <a:solidFill>
                  <a:srgbClr val="374151"/>
                </a:solidFill>
                <a:effectLst/>
                <a:latin typeface="Söhne"/>
              </a:rPr>
              <a:t>Em todas as versões, o objetivo é ajustar os parâmetros do modelo de forma a minimizar a função de erro, levando a melhores previsões e desempenho do modelo. A escolha da versão mais adequada depende do tamanho do conjunto de treinamento, das características do problema e dos recursos computacionais disponíveis. Cada versão do Gradiente Descendente tem suas vantagens e desvantagens, e a seleção adequada pode impactar no tempo de treinamento e na eficácia do modelo.</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57</a:t>
            </a:fld>
            <a:endParaRPr lang="pt-BR"/>
          </a:p>
        </p:txBody>
      </p:sp>
    </p:spTree>
    <p:extLst>
      <p:ext uri="{BB962C8B-B14F-4D97-AF65-F5344CB8AC3E}">
        <p14:creationId xmlns:p14="http://schemas.microsoft.com/office/powerpoint/2010/main" val="364577357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pPr algn="l"/>
            <a:r>
              <a:rPr lang="pt-BR" b="0" i="0" dirty="0">
                <a:solidFill>
                  <a:srgbClr val="374151"/>
                </a:solidFill>
                <a:effectLst/>
                <a:latin typeface="Söhne"/>
              </a:rPr>
              <a:t>As três versões do Gradiente Descendente são:</a:t>
            </a:r>
          </a:p>
          <a:p>
            <a:pPr algn="l">
              <a:buFont typeface="+mj-lt"/>
              <a:buAutoNum type="arabicPeriod"/>
            </a:pPr>
            <a:r>
              <a:rPr lang="pt-BR" b="0" i="0" dirty="0">
                <a:solidFill>
                  <a:srgbClr val="374151"/>
                </a:solidFill>
                <a:effectLst/>
                <a:latin typeface="Söhne"/>
              </a:rPr>
              <a:t>Gradiente Descendente de Lote (Batch </a:t>
            </a:r>
            <a:r>
              <a:rPr lang="pt-BR" b="0" i="0" dirty="0" err="1">
                <a:solidFill>
                  <a:srgbClr val="374151"/>
                </a:solidFill>
                <a:effectLst/>
                <a:latin typeface="Söhne"/>
              </a:rPr>
              <a:t>Gradient</a:t>
            </a:r>
            <a:r>
              <a:rPr lang="pt-BR" b="0" i="0" dirty="0">
                <a:solidFill>
                  <a:srgbClr val="374151"/>
                </a:solidFill>
                <a:effectLst/>
                <a:latin typeface="Söhne"/>
              </a:rPr>
              <a:t> </a:t>
            </a:r>
            <a:r>
              <a:rPr lang="pt-BR" b="0" i="0" dirty="0" err="1">
                <a:solidFill>
                  <a:srgbClr val="374151"/>
                </a:solidFill>
                <a:effectLst/>
                <a:latin typeface="Söhne"/>
              </a:rPr>
              <a:t>Descent</a:t>
            </a:r>
            <a:r>
              <a:rPr lang="pt-BR" b="0" i="0" dirty="0">
                <a:solidFill>
                  <a:srgbClr val="374151"/>
                </a:solidFill>
                <a:effectLst/>
                <a:latin typeface="Söhne"/>
              </a:rPr>
              <a:t>):</a:t>
            </a:r>
          </a:p>
          <a:p>
            <a:pPr algn="l">
              <a:buFont typeface="Arial" panose="020B0604020202020204" pitchFamily="34" charset="0"/>
              <a:buChar char="•"/>
            </a:pPr>
            <a:r>
              <a:rPr lang="pt-BR" b="0" i="0" dirty="0">
                <a:solidFill>
                  <a:srgbClr val="374151"/>
                </a:solidFill>
                <a:effectLst/>
                <a:latin typeface="Söhne"/>
              </a:rPr>
              <a:t>Calcula o gradiente da função de erro para todos os exemplos do conjunto de treinamento.</a:t>
            </a:r>
          </a:p>
          <a:p>
            <a:pPr algn="l">
              <a:buFont typeface="Arial" panose="020B0604020202020204" pitchFamily="34" charset="0"/>
              <a:buChar char="•"/>
            </a:pPr>
            <a:r>
              <a:rPr lang="pt-BR" b="0" i="0" dirty="0">
                <a:solidFill>
                  <a:srgbClr val="374151"/>
                </a:solidFill>
                <a:effectLst/>
                <a:latin typeface="Söhne"/>
              </a:rPr>
              <a:t>Atualiza os parâmetros do modelo após processar todos os exemplos do conjunto de treinamento.</a:t>
            </a:r>
          </a:p>
          <a:p>
            <a:pPr algn="l">
              <a:buFont typeface="Arial" panose="020B0604020202020204" pitchFamily="34" charset="0"/>
              <a:buChar char="•"/>
            </a:pPr>
            <a:r>
              <a:rPr lang="pt-BR" b="0" i="0" dirty="0">
                <a:solidFill>
                  <a:srgbClr val="374151"/>
                </a:solidFill>
                <a:effectLst/>
                <a:latin typeface="Söhne"/>
              </a:rPr>
              <a:t>Pode ser lento em conjuntos de treinamento muito grandes, pois requer o cálculo do gradiente para todo o conjunto a cada iteração.</a:t>
            </a:r>
          </a:p>
          <a:p>
            <a:pPr algn="l">
              <a:buFont typeface="+mj-lt"/>
              <a:buAutoNum type="arabicPeriod" startAt="2"/>
            </a:pPr>
            <a:r>
              <a:rPr lang="pt-BR" b="0" i="0" dirty="0">
                <a:solidFill>
                  <a:srgbClr val="374151"/>
                </a:solidFill>
                <a:effectLst/>
                <a:latin typeface="Söhne"/>
              </a:rPr>
              <a:t>Gradiente Descendente Estocástico (</a:t>
            </a:r>
            <a:r>
              <a:rPr lang="pt-BR" b="0" i="0" dirty="0" err="1">
                <a:solidFill>
                  <a:srgbClr val="374151"/>
                </a:solidFill>
                <a:effectLst/>
                <a:latin typeface="Söhne"/>
              </a:rPr>
              <a:t>Stochastic</a:t>
            </a:r>
            <a:r>
              <a:rPr lang="pt-BR" b="0" i="0" dirty="0">
                <a:solidFill>
                  <a:srgbClr val="374151"/>
                </a:solidFill>
                <a:effectLst/>
                <a:latin typeface="Söhne"/>
              </a:rPr>
              <a:t> </a:t>
            </a:r>
            <a:r>
              <a:rPr lang="pt-BR" b="0" i="0" dirty="0" err="1">
                <a:solidFill>
                  <a:srgbClr val="374151"/>
                </a:solidFill>
                <a:effectLst/>
                <a:latin typeface="Söhne"/>
              </a:rPr>
              <a:t>Gradient</a:t>
            </a:r>
            <a:r>
              <a:rPr lang="pt-BR" b="0" i="0" dirty="0">
                <a:solidFill>
                  <a:srgbClr val="374151"/>
                </a:solidFill>
                <a:effectLst/>
                <a:latin typeface="Söhne"/>
              </a:rPr>
              <a:t> </a:t>
            </a:r>
            <a:r>
              <a:rPr lang="pt-BR" b="0" i="0" dirty="0" err="1">
                <a:solidFill>
                  <a:srgbClr val="374151"/>
                </a:solidFill>
                <a:effectLst/>
                <a:latin typeface="Söhne"/>
              </a:rPr>
              <a:t>Descent</a:t>
            </a:r>
            <a:r>
              <a:rPr lang="pt-BR" b="0" i="0" dirty="0">
                <a:solidFill>
                  <a:srgbClr val="374151"/>
                </a:solidFill>
                <a:effectLst/>
                <a:latin typeface="Söhne"/>
              </a:rPr>
              <a:t> - SGD):</a:t>
            </a:r>
          </a:p>
          <a:p>
            <a:pPr algn="l">
              <a:buFont typeface="Arial" panose="020B0604020202020204" pitchFamily="34" charset="0"/>
              <a:buChar char="•"/>
            </a:pPr>
            <a:r>
              <a:rPr lang="pt-BR" b="0" i="0" dirty="0">
                <a:solidFill>
                  <a:srgbClr val="374151"/>
                </a:solidFill>
                <a:effectLst/>
                <a:latin typeface="Söhne"/>
              </a:rPr>
              <a:t>Calcula o gradiente da função de erro para um único exemplo do conjunto de treinamento.</a:t>
            </a:r>
          </a:p>
          <a:p>
            <a:pPr algn="l">
              <a:buFont typeface="Arial" panose="020B0604020202020204" pitchFamily="34" charset="0"/>
              <a:buChar char="•"/>
            </a:pPr>
            <a:r>
              <a:rPr lang="pt-BR" b="0" i="0" dirty="0">
                <a:solidFill>
                  <a:srgbClr val="374151"/>
                </a:solidFill>
                <a:effectLst/>
                <a:latin typeface="Söhne"/>
              </a:rPr>
              <a:t>Atualiza os parâmetros do modelo após cada exemplo processado.</a:t>
            </a:r>
          </a:p>
          <a:p>
            <a:pPr algn="l">
              <a:buFont typeface="Arial" panose="020B0604020202020204" pitchFamily="34" charset="0"/>
              <a:buChar char="•"/>
            </a:pPr>
            <a:r>
              <a:rPr lang="pt-BR" b="0" i="0" dirty="0">
                <a:solidFill>
                  <a:srgbClr val="374151"/>
                </a:solidFill>
                <a:effectLst/>
                <a:latin typeface="Söhne"/>
              </a:rPr>
              <a:t>Mais rápido que o Gradiente Descendente de Lote, mas a variação na atualização pode tornar a convergência mais irregular.</a:t>
            </a:r>
          </a:p>
          <a:p>
            <a:pPr algn="l">
              <a:buFont typeface="+mj-lt"/>
              <a:buAutoNum type="arabicPeriod" startAt="3"/>
            </a:pPr>
            <a:r>
              <a:rPr lang="pt-BR" b="0" i="0" dirty="0">
                <a:solidFill>
                  <a:srgbClr val="374151"/>
                </a:solidFill>
                <a:effectLst/>
                <a:latin typeface="Söhne"/>
              </a:rPr>
              <a:t>Gradiente Descendente em Mini-Lotes (Mini-batch </a:t>
            </a:r>
            <a:r>
              <a:rPr lang="pt-BR" b="0" i="0" dirty="0" err="1">
                <a:solidFill>
                  <a:srgbClr val="374151"/>
                </a:solidFill>
                <a:effectLst/>
                <a:latin typeface="Söhne"/>
              </a:rPr>
              <a:t>Gradient</a:t>
            </a:r>
            <a:r>
              <a:rPr lang="pt-BR" b="0" i="0" dirty="0">
                <a:solidFill>
                  <a:srgbClr val="374151"/>
                </a:solidFill>
                <a:effectLst/>
                <a:latin typeface="Söhne"/>
              </a:rPr>
              <a:t> </a:t>
            </a:r>
            <a:r>
              <a:rPr lang="pt-BR" b="0" i="0" dirty="0" err="1">
                <a:solidFill>
                  <a:srgbClr val="374151"/>
                </a:solidFill>
                <a:effectLst/>
                <a:latin typeface="Söhne"/>
              </a:rPr>
              <a:t>Descent</a:t>
            </a:r>
            <a:r>
              <a:rPr lang="pt-BR" b="0" i="0" dirty="0">
                <a:solidFill>
                  <a:srgbClr val="374151"/>
                </a:solidFill>
                <a:effectLst/>
                <a:latin typeface="Söhne"/>
              </a:rPr>
              <a:t>):</a:t>
            </a:r>
          </a:p>
          <a:p>
            <a:pPr algn="l">
              <a:buFont typeface="Arial" panose="020B0604020202020204" pitchFamily="34" charset="0"/>
              <a:buChar char="•"/>
            </a:pPr>
            <a:r>
              <a:rPr lang="pt-BR" b="0" i="0" dirty="0">
                <a:solidFill>
                  <a:srgbClr val="374151"/>
                </a:solidFill>
                <a:effectLst/>
                <a:latin typeface="Söhne"/>
              </a:rPr>
              <a:t>Calcula o gradiente da função de erro para um pequeno grupo (</a:t>
            </a:r>
            <a:r>
              <a:rPr lang="pt-BR" b="0" i="0" dirty="0" err="1">
                <a:solidFill>
                  <a:srgbClr val="374151"/>
                </a:solidFill>
                <a:effectLst/>
                <a:latin typeface="Söhne"/>
              </a:rPr>
              <a:t>mini-lote</a:t>
            </a:r>
            <a:r>
              <a:rPr lang="pt-BR" b="0" i="0" dirty="0">
                <a:solidFill>
                  <a:srgbClr val="374151"/>
                </a:solidFill>
                <a:effectLst/>
                <a:latin typeface="Söhne"/>
              </a:rPr>
              <a:t>) de exemplos do conjunto de treinamento.</a:t>
            </a:r>
          </a:p>
          <a:p>
            <a:pPr algn="l">
              <a:buFont typeface="Arial" panose="020B0604020202020204" pitchFamily="34" charset="0"/>
              <a:buChar char="•"/>
            </a:pPr>
            <a:r>
              <a:rPr lang="pt-BR" b="0" i="0" dirty="0">
                <a:solidFill>
                  <a:srgbClr val="374151"/>
                </a:solidFill>
                <a:effectLst/>
                <a:latin typeface="Söhne"/>
              </a:rPr>
              <a:t>Atualiza os parâmetros do modelo após processar cada </a:t>
            </a:r>
            <a:r>
              <a:rPr lang="pt-BR" b="0" i="0" dirty="0" err="1">
                <a:solidFill>
                  <a:srgbClr val="374151"/>
                </a:solidFill>
                <a:effectLst/>
                <a:latin typeface="Söhne"/>
              </a:rPr>
              <a:t>mini-lote</a:t>
            </a:r>
            <a:r>
              <a:rPr lang="pt-BR" b="0" i="0" dirty="0">
                <a:solidFill>
                  <a:srgbClr val="374151"/>
                </a:solidFill>
                <a:effectLst/>
                <a:latin typeface="Söhne"/>
              </a:rPr>
              <a:t>.</a:t>
            </a:r>
          </a:p>
          <a:p>
            <a:pPr algn="l">
              <a:buFont typeface="Arial" panose="020B0604020202020204" pitchFamily="34" charset="0"/>
              <a:buChar char="•"/>
            </a:pPr>
            <a:r>
              <a:rPr lang="pt-BR" b="0" i="0" dirty="0">
                <a:solidFill>
                  <a:srgbClr val="374151"/>
                </a:solidFill>
                <a:effectLst/>
                <a:latin typeface="Söhne"/>
              </a:rPr>
              <a:t>Combina as vantagens do Batch </a:t>
            </a:r>
            <a:r>
              <a:rPr lang="pt-BR" b="0" i="0" dirty="0" err="1">
                <a:solidFill>
                  <a:srgbClr val="374151"/>
                </a:solidFill>
                <a:effectLst/>
                <a:latin typeface="Söhne"/>
              </a:rPr>
              <a:t>Gradient</a:t>
            </a:r>
            <a:r>
              <a:rPr lang="pt-BR" b="0" i="0" dirty="0">
                <a:solidFill>
                  <a:srgbClr val="374151"/>
                </a:solidFill>
                <a:effectLst/>
                <a:latin typeface="Söhne"/>
              </a:rPr>
              <a:t> </a:t>
            </a:r>
            <a:r>
              <a:rPr lang="pt-BR" b="0" i="0" dirty="0" err="1">
                <a:solidFill>
                  <a:srgbClr val="374151"/>
                </a:solidFill>
                <a:effectLst/>
                <a:latin typeface="Söhne"/>
              </a:rPr>
              <a:t>Descent</a:t>
            </a:r>
            <a:r>
              <a:rPr lang="pt-BR" b="0" i="0" dirty="0">
                <a:solidFill>
                  <a:srgbClr val="374151"/>
                </a:solidFill>
                <a:effectLst/>
                <a:latin typeface="Söhne"/>
              </a:rPr>
              <a:t> e do SGD, sendo mais rápido que o Batch e mais estável que o SGD.</a:t>
            </a:r>
          </a:p>
          <a:p>
            <a:pPr algn="l"/>
            <a:r>
              <a:rPr lang="pt-BR" b="0" i="0" dirty="0">
                <a:solidFill>
                  <a:srgbClr val="374151"/>
                </a:solidFill>
                <a:effectLst/>
                <a:latin typeface="Söhne"/>
              </a:rPr>
              <a:t>Em todas as versões, o objetivo é ajustar os parâmetros do modelo de forma a minimizar a função de erro, levando a melhores previsões e desempenho do modelo. A escolha da versão mais adequada depende do tamanho do conjunto de treinamento, das características do problema e dos recursos computacionais disponíveis. Cada versão do Gradiente Descendente tem suas vantagens e desvantagens, e a seleção adequada pode impactar no tempo de treinamento e na eficácia do modelo.</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58</a:t>
            </a:fld>
            <a:endParaRPr lang="pt-BR"/>
          </a:p>
        </p:txBody>
      </p:sp>
    </p:spTree>
    <p:extLst>
      <p:ext uri="{BB962C8B-B14F-4D97-AF65-F5344CB8AC3E}">
        <p14:creationId xmlns:p14="http://schemas.microsoft.com/office/powerpoint/2010/main" val="331312384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É uma forma de </a:t>
            </a:r>
            <a:r>
              <a:rPr lang="pt-BR" b="1" dirty="0">
                <a:solidFill>
                  <a:srgbClr val="00B050"/>
                </a:solidFill>
              </a:rPr>
              <a:t>testar o modelo várias vezes </a:t>
            </a:r>
            <a:r>
              <a:rPr lang="pt-BR" dirty="0"/>
              <a:t>em </a:t>
            </a:r>
            <a:r>
              <a:rPr lang="pt-BR" b="1" dirty="0">
                <a:solidFill>
                  <a:srgbClr val="00B050"/>
                </a:solidFill>
              </a:rPr>
              <a:t>diferentes divisões dos dados</a:t>
            </a:r>
            <a:r>
              <a:rPr lang="pt-BR" dirty="0"/>
              <a:t> para obter uma </a:t>
            </a:r>
            <a:r>
              <a:rPr lang="pt-BR" b="1" dirty="0">
                <a:solidFill>
                  <a:schemeClr val="accent2"/>
                </a:solidFill>
              </a:rPr>
              <a:t>avaliação robusta da sua capacidade de generalização</a:t>
            </a:r>
            <a:r>
              <a:rPr lang="pt-BR" dirty="0"/>
              <a:t>.</a:t>
            </a:r>
          </a:p>
          <a:p>
            <a:endParaRPr lang="en-US" dirty="0"/>
          </a:p>
        </p:txBody>
      </p:sp>
      <p:sp>
        <p:nvSpPr>
          <p:cNvPr id="4" name="Slide Number Placeholder 3"/>
          <p:cNvSpPr>
            <a:spLocks noGrp="1"/>
          </p:cNvSpPr>
          <p:nvPr>
            <p:ph type="sldNum" sz="quarter" idx="5"/>
          </p:nvPr>
        </p:nvSpPr>
        <p:spPr/>
        <p:txBody>
          <a:bodyPr/>
          <a:lstStyle/>
          <a:p>
            <a:fld id="{6FC8D850-966F-45A6-8DE7-15B891E7D40D}" type="slidenum">
              <a:rPr lang="pt-BR" smtClean="0"/>
              <a:t>60</a:t>
            </a:fld>
            <a:endParaRPr lang="pt-BR"/>
          </a:p>
        </p:txBody>
      </p:sp>
    </p:spTree>
    <p:extLst>
      <p:ext uri="{BB962C8B-B14F-4D97-AF65-F5344CB8AC3E}">
        <p14:creationId xmlns:p14="http://schemas.microsoft.com/office/powerpoint/2010/main" val="145101467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pt-BR" dirty="0"/>
              <a:t>O que significa </a:t>
            </a:r>
            <a:r>
              <a:rPr lang="pt-BR" b="1" dirty="0"/>
              <a:t>alta variância</a:t>
            </a:r>
            <a:r>
              <a:rPr lang="pt-BR" dirty="0"/>
              <a:t>?</a:t>
            </a:r>
          </a:p>
          <a:p>
            <a:r>
              <a:rPr lang="pt-BR" dirty="0"/>
              <a:t>Variância mede o quanto o modelo muda quando treinado com pequenas variações nos dados.</a:t>
            </a:r>
          </a:p>
          <a:p>
            <a:r>
              <a:rPr lang="pt-BR" dirty="0"/>
              <a:t>Um modelo com alta variância é extremamente sensível ao conjunto de treino.</a:t>
            </a:r>
          </a:p>
          <a:p>
            <a:r>
              <a:rPr lang="pt-BR" dirty="0"/>
              <a:t>Pequenas mudanças na amostra geram grandes mudanças na função estimada.</a:t>
            </a:r>
          </a:p>
          <a:p>
            <a:r>
              <a:rPr lang="pt-BR" dirty="0"/>
              <a:t>Ele aprende não apenas o padrão real, mas também o ruído específico daquele conjunto de dados.</a:t>
            </a:r>
          </a:p>
          <a:p>
            <a:endParaRPr lang="en-US" dirty="0"/>
          </a:p>
        </p:txBody>
      </p:sp>
      <p:sp>
        <p:nvSpPr>
          <p:cNvPr id="4" name="Slide Number Placeholder 3"/>
          <p:cNvSpPr>
            <a:spLocks noGrp="1"/>
          </p:cNvSpPr>
          <p:nvPr>
            <p:ph type="sldNum" sz="quarter" idx="5"/>
          </p:nvPr>
        </p:nvSpPr>
        <p:spPr/>
        <p:txBody>
          <a:bodyPr/>
          <a:lstStyle/>
          <a:p>
            <a:fld id="{6FC8D850-966F-45A6-8DE7-15B891E7D40D}" type="slidenum">
              <a:rPr lang="pt-BR" smtClean="0"/>
              <a:t>63</a:t>
            </a:fld>
            <a:endParaRPr lang="pt-BR"/>
          </a:p>
        </p:txBody>
      </p:sp>
    </p:spTree>
    <p:extLst>
      <p:ext uri="{BB962C8B-B14F-4D97-AF65-F5344CB8AC3E}">
        <p14:creationId xmlns:p14="http://schemas.microsoft.com/office/powerpoint/2010/main" val="298970467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pPr algn="l"/>
            <a:r>
              <a:rPr lang="pt-BR" b="0" i="0" dirty="0">
                <a:solidFill>
                  <a:srgbClr val="374151"/>
                </a:solidFill>
                <a:effectLst/>
                <a:latin typeface="Söhne"/>
              </a:rPr>
              <a:t>O subajuste (underfitting) é um problema que ocorre quando um modelo de rede neural não é capaz de capturar adequadamente os padrões e relações presentes nos dados de treinamento. Isso resulta em um modelo que não consegue se adaptar aos dados de forma suficientemente precisa, levando a um desempenho insatisfatório tanto nos dados de treinamento quanto nos dados de validação/teste. Em outras palavras, o modelo é muito simplificado para representar a complexidade dos dados.</a:t>
            </a:r>
          </a:p>
          <a:p>
            <a:pPr algn="l"/>
            <a:r>
              <a:rPr lang="pt-BR" b="0" i="0" dirty="0">
                <a:solidFill>
                  <a:srgbClr val="374151"/>
                </a:solidFill>
                <a:effectLst/>
                <a:latin typeface="Söhne"/>
              </a:rPr>
              <a:t>Características do </a:t>
            </a:r>
            <a:r>
              <a:rPr lang="pt-BR" b="0" i="0" dirty="0" err="1">
                <a:solidFill>
                  <a:srgbClr val="374151"/>
                </a:solidFill>
                <a:effectLst/>
                <a:latin typeface="Söhne"/>
              </a:rPr>
              <a:t>subajuste</a:t>
            </a:r>
            <a:r>
              <a:rPr lang="pt-BR" b="0" i="0" dirty="0">
                <a:solidFill>
                  <a:srgbClr val="374151"/>
                </a:solidFill>
                <a:effectLst/>
                <a:latin typeface="Söhne"/>
              </a:rPr>
              <a:t>:</a:t>
            </a:r>
          </a:p>
          <a:p>
            <a:pPr algn="l">
              <a:buFont typeface="+mj-lt"/>
              <a:buAutoNum type="arabicPeriod"/>
            </a:pPr>
            <a:r>
              <a:rPr lang="pt-BR" b="1" i="0" dirty="0">
                <a:solidFill>
                  <a:srgbClr val="374151"/>
                </a:solidFill>
                <a:effectLst/>
                <a:latin typeface="Söhne"/>
              </a:rPr>
              <a:t>Desempenho Baixo:</a:t>
            </a:r>
            <a:r>
              <a:rPr lang="pt-BR" b="0" i="0" dirty="0">
                <a:solidFill>
                  <a:srgbClr val="374151"/>
                </a:solidFill>
                <a:effectLst/>
                <a:latin typeface="Söhne"/>
              </a:rPr>
              <a:t> O modelo terá uma baixa precisão e desempenho geral, tanto nos dados de treinamento quanto nos dados de validação/teste.</a:t>
            </a:r>
          </a:p>
          <a:p>
            <a:pPr algn="l">
              <a:buFont typeface="+mj-lt"/>
              <a:buAutoNum type="arabicPeriod"/>
            </a:pPr>
            <a:r>
              <a:rPr lang="pt-BR" b="1" i="0" dirty="0">
                <a:solidFill>
                  <a:srgbClr val="374151"/>
                </a:solidFill>
                <a:effectLst/>
                <a:latin typeface="Söhne"/>
              </a:rPr>
              <a:t>Erro de Treinamento Elevado:</a:t>
            </a:r>
            <a:r>
              <a:rPr lang="pt-BR" b="0" i="0" dirty="0">
                <a:solidFill>
                  <a:srgbClr val="374151"/>
                </a:solidFill>
                <a:effectLst/>
                <a:latin typeface="Söhne"/>
              </a:rPr>
              <a:t> O erro de treinamento será relativamente alto, indicando que o modelo não consegue ajustar os dados de treinamento com precisão.</a:t>
            </a:r>
          </a:p>
          <a:p>
            <a:pPr algn="l">
              <a:buFont typeface="+mj-lt"/>
              <a:buAutoNum type="arabicPeriod"/>
            </a:pPr>
            <a:r>
              <a:rPr lang="pt-BR" b="1" i="0" dirty="0">
                <a:solidFill>
                  <a:srgbClr val="374151"/>
                </a:solidFill>
                <a:effectLst/>
                <a:latin typeface="Söhne"/>
              </a:rPr>
              <a:t>Baixa Complexidade:</a:t>
            </a:r>
            <a:r>
              <a:rPr lang="pt-BR" b="0" i="0" dirty="0">
                <a:solidFill>
                  <a:srgbClr val="374151"/>
                </a:solidFill>
                <a:effectLst/>
                <a:latin typeface="Söhne"/>
              </a:rPr>
              <a:t> Modelos </a:t>
            </a:r>
            <a:r>
              <a:rPr lang="pt-BR" b="0" i="0" dirty="0" err="1">
                <a:solidFill>
                  <a:srgbClr val="374151"/>
                </a:solidFill>
                <a:effectLst/>
                <a:latin typeface="Söhne"/>
              </a:rPr>
              <a:t>subajustados</a:t>
            </a:r>
            <a:r>
              <a:rPr lang="pt-BR" b="0" i="0" dirty="0">
                <a:solidFill>
                  <a:srgbClr val="374151"/>
                </a:solidFill>
                <a:effectLst/>
                <a:latin typeface="Söhne"/>
              </a:rPr>
              <a:t> costumam ser muito simples, com poucos parâmetros ou camadas, o que os torna incapazes de representar as nuances complexas dos dados.</a:t>
            </a:r>
          </a:p>
          <a:p>
            <a:pPr algn="l">
              <a:buFont typeface="+mj-lt"/>
              <a:buAutoNum type="arabicPeriod"/>
            </a:pPr>
            <a:r>
              <a:rPr lang="pt-BR" b="1" i="0" dirty="0">
                <a:solidFill>
                  <a:srgbClr val="374151"/>
                </a:solidFill>
                <a:effectLst/>
                <a:latin typeface="Söhne"/>
              </a:rPr>
              <a:t>Incapacidade de Generalização:</a:t>
            </a:r>
            <a:r>
              <a:rPr lang="pt-BR" b="0" i="0" dirty="0">
                <a:solidFill>
                  <a:srgbClr val="374151"/>
                </a:solidFill>
                <a:effectLst/>
                <a:latin typeface="Söhne"/>
              </a:rPr>
              <a:t> Como o modelo não consegue capturar os padrões nos dados, ele terá dificuldade em generalizar para novos dados que não foram vistos durante o treinamento.</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65</a:t>
            </a:fld>
            <a:endParaRPr lang="pt-BR"/>
          </a:p>
        </p:txBody>
      </p:sp>
    </p:spTree>
    <p:extLst>
      <p:ext uri="{BB962C8B-B14F-4D97-AF65-F5344CB8AC3E}">
        <p14:creationId xmlns:p14="http://schemas.microsoft.com/office/powerpoint/2010/main" val="326650956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pPr algn="l"/>
            <a:r>
              <a:rPr lang="pt-BR" b="0" i="0" dirty="0">
                <a:solidFill>
                  <a:srgbClr val="374151"/>
                </a:solidFill>
                <a:effectLst/>
                <a:latin typeface="Söhne"/>
              </a:rPr>
              <a:t>Causas do </a:t>
            </a:r>
            <a:r>
              <a:rPr lang="pt-BR" b="0" i="0" dirty="0" err="1">
                <a:solidFill>
                  <a:srgbClr val="374151"/>
                </a:solidFill>
                <a:effectLst/>
                <a:latin typeface="Söhne"/>
              </a:rPr>
              <a:t>subajuste</a:t>
            </a:r>
            <a:r>
              <a:rPr lang="pt-BR" b="0" i="0" dirty="0">
                <a:solidFill>
                  <a:srgbClr val="374151"/>
                </a:solidFill>
                <a:effectLst/>
                <a:latin typeface="Söhne"/>
              </a:rPr>
              <a:t>:</a:t>
            </a:r>
          </a:p>
          <a:p>
            <a:pPr algn="l">
              <a:buFont typeface="+mj-lt"/>
              <a:buAutoNum type="arabicPeriod"/>
            </a:pPr>
            <a:r>
              <a:rPr lang="pt-BR" b="1" i="0" dirty="0">
                <a:solidFill>
                  <a:srgbClr val="374151"/>
                </a:solidFill>
                <a:effectLst/>
                <a:latin typeface="Söhne"/>
              </a:rPr>
              <a:t>Modelo Muito Simples:</a:t>
            </a:r>
            <a:r>
              <a:rPr lang="pt-BR" b="0" i="0" dirty="0">
                <a:solidFill>
                  <a:srgbClr val="374151"/>
                </a:solidFill>
                <a:effectLst/>
                <a:latin typeface="Söhne"/>
              </a:rPr>
              <a:t> Se o modelo for muito básico em relação à complexidade dos dados, ele não terá capacidade para se ajustar adequadamente.</a:t>
            </a:r>
          </a:p>
          <a:p>
            <a:pPr algn="l">
              <a:buFont typeface="+mj-lt"/>
              <a:buAutoNum type="arabicPeriod"/>
            </a:pPr>
            <a:r>
              <a:rPr lang="pt-BR" b="1" i="0" dirty="0">
                <a:solidFill>
                  <a:srgbClr val="374151"/>
                </a:solidFill>
                <a:effectLst/>
                <a:latin typeface="Söhne"/>
              </a:rPr>
              <a:t>Dificuldade de Representação:</a:t>
            </a:r>
            <a:r>
              <a:rPr lang="pt-BR" b="0" i="0" dirty="0">
                <a:solidFill>
                  <a:srgbClr val="374151"/>
                </a:solidFill>
                <a:effectLst/>
                <a:latin typeface="Söhne"/>
              </a:rPr>
              <a:t> Algumas redes neurais podem não ter camadas ou neurônios suficientes para representar a complexidade dos dados.</a:t>
            </a:r>
          </a:p>
          <a:p>
            <a:pPr algn="l">
              <a:buFont typeface="+mj-lt"/>
              <a:buAutoNum type="arabicPeriod"/>
            </a:pPr>
            <a:r>
              <a:rPr lang="pt-BR" b="1" i="0" dirty="0">
                <a:solidFill>
                  <a:srgbClr val="374151"/>
                </a:solidFill>
                <a:effectLst/>
                <a:latin typeface="Söhne"/>
              </a:rPr>
              <a:t>Poucas Épocas de Treinamento:</a:t>
            </a:r>
            <a:r>
              <a:rPr lang="pt-BR" b="0" i="0" dirty="0">
                <a:solidFill>
                  <a:srgbClr val="374151"/>
                </a:solidFill>
                <a:effectLst/>
                <a:latin typeface="Söhne"/>
              </a:rPr>
              <a:t> Um treinamento insuficiente pode resultar em </a:t>
            </a:r>
            <a:r>
              <a:rPr lang="pt-BR" b="0" i="0" dirty="0" err="1">
                <a:solidFill>
                  <a:srgbClr val="374151"/>
                </a:solidFill>
                <a:effectLst/>
                <a:latin typeface="Söhne"/>
              </a:rPr>
              <a:t>subajuste</a:t>
            </a:r>
            <a:r>
              <a:rPr lang="pt-BR" b="0" i="0" dirty="0">
                <a:solidFill>
                  <a:srgbClr val="374151"/>
                </a:solidFill>
                <a:effectLst/>
                <a:latin typeface="Söhne"/>
              </a:rPr>
              <a:t>, pois o modelo não teve oportunidade de aprender os padrões nos dados.</a:t>
            </a:r>
          </a:p>
          <a:p>
            <a:pPr algn="l">
              <a:buFont typeface="+mj-lt"/>
              <a:buAutoNum type="arabicPeriod"/>
            </a:pPr>
            <a:r>
              <a:rPr lang="pt-BR" b="1" i="0" dirty="0">
                <a:solidFill>
                  <a:srgbClr val="374151"/>
                </a:solidFill>
                <a:effectLst/>
                <a:latin typeface="Söhne"/>
              </a:rPr>
              <a:t>Falta de Dados:</a:t>
            </a:r>
            <a:r>
              <a:rPr lang="pt-BR" b="0" i="0" dirty="0">
                <a:solidFill>
                  <a:srgbClr val="374151"/>
                </a:solidFill>
                <a:effectLst/>
                <a:latin typeface="Söhne"/>
              </a:rPr>
              <a:t> Quando há poucos dados de treinamento disponíveis, o modelo pode não ser capaz de aprender com eficácia as características relevantes.</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66</a:t>
            </a:fld>
            <a:endParaRPr lang="pt-BR"/>
          </a:p>
        </p:txBody>
      </p:sp>
    </p:spTree>
    <p:extLst>
      <p:ext uri="{BB962C8B-B14F-4D97-AF65-F5344CB8AC3E}">
        <p14:creationId xmlns:p14="http://schemas.microsoft.com/office/powerpoint/2010/main" val="25434576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pPr algn="l"/>
            <a:r>
              <a:rPr lang="pt-BR" b="0" i="0" dirty="0">
                <a:solidFill>
                  <a:srgbClr val="374151"/>
                </a:solidFill>
                <a:effectLst/>
                <a:latin typeface="Söhne"/>
              </a:rPr>
              <a:t>Como lidar com o </a:t>
            </a:r>
            <a:r>
              <a:rPr lang="pt-BR" b="0" i="0" dirty="0" err="1">
                <a:solidFill>
                  <a:srgbClr val="374151"/>
                </a:solidFill>
                <a:effectLst/>
                <a:latin typeface="Söhne"/>
              </a:rPr>
              <a:t>subajuste</a:t>
            </a:r>
            <a:r>
              <a:rPr lang="pt-BR" b="0" i="0" dirty="0">
                <a:solidFill>
                  <a:srgbClr val="374151"/>
                </a:solidFill>
                <a:effectLst/>
                <a:latin typeface="Söhne"/>
              </a:rPr>
              <a:t>:</a:t>
            </a:r>
          </a:p>
          <a:p>
            <a:pPr algn="l">
              <a:buFont typeface="+mj-lt"/>
              <a:buAutoNum type="arabicPeriod"/>
            </a:pPr>
            <a:r>
              <a:rPr lang="pt-BR" b="1" i="0" dirty="0">
                <a:solidFill>
                  <a:srgbClr val="374151"/>
                </a:solidFill>
                <a:effectLst/>
                <a:latin typeface="Söhne"/>
              </a:rPr>
              <a:t>Aumentar a Complexidade do Modelo:</a:t>
            </a:r>
            <a:r>
              <a:rPr lang="pt-BR" b="0" i="0" dirty="0">
                <a:solidFill>
                  <a:srgbClr val="374151"/>
                </a:solidFill>
                <a:effectLst/>
                <a:latin typeface="Söhne"/>
              </a:rPr>
              <a:t> Adicionar mais camadas ou neurônios ao modelo pode ajudar a aumentar sua capacidade de representação.</a:t>
            </a:r>
          </a:p>
          <a:p>
            <a:pPr algn="l">
              <a:buFont typeface="+mj-lt"/>
              <a:buAutoNum type="arabicPeriod"/>
            </a:pPr>
            <a:r>
              <a:rPr lang="pt-BR" b="1" i="0" dirty="0">
                <a:solidFill>
                  <a:srgbClr val="374151"/>
                </a:solidFill>
                <a:effectLst/>
                <a:latin typeface="Söhne"/>
              </a:rPr>
              <a:t>Treinar por Mais Épocas:</a:t>
            </a:r>
            <a:r>
              <a:rPr lang="pt-BR" b="0" i="0" dirty="0">
                <a:solidFill>
                  <a:srgbClr val="374151"/>
                </a:solidFill>
                <a:effectLst/>
                <a:latin typeface="Söhne"/>
              </a:rPr>
              <a:t> Treinar o modelo por mais épocas pode permitir que ele se ajuste melhor aos dados. No entanto, é importante monitorar o desempenho nos dados de validação para evitar </a:t>
            </a:r>
            <a:r>
              <a:rPr lang="pt-BR" b="0" i="0" dirty="0" err="1">
                <a:solidFill>
                  <a:srgbClr val="374151"/>
                </a:solidFill>
                <a:effectLst/>
                <a:latin typeface="Söhne"/>
              </a:rPr>
              <a:t>overfitting</a:t>
            </a:r>
            <a:r>
              <a:rPr lang="pt-BR" b="0" i="0" dirty="0">
                <a:solidFill>
                  <a:srgbClr val="374151"/>
                </a:solidFill>
                <a:effectLst/>
                <a:latin typeface="Söhne"/>
              </a:rPr>
              <a:t>.</a:t>
            </a:r>
          </a:p>
          <a:p>
            <a:pPr algn="l">
              <a:buFont typeface="+mj-lt"/>
              <a:buAutoNum type="arabicPeriod"/>
            </a:pPr>
            <a:r>
              <a:rPr lang="pt-BR" b="1" i="0" dirty="0">
                <a:solidFill>
                  <a:srgbClr val="374151"/>
                </a:solidFill>
                <a:effectLst/>
                <a:latin typeface="Söhne"/>
              </a:rPr>
              <a:t>Aumentar os Dados de Treinamento:</a:t>
            </a:r>
            <a:r>
              <a:rPr lang="pt-BR" b="0" i="0" dirty="0">
                <a:solidFill>
                  <a:srgbClr val="374151"/>
                </a:solidFill>
                <a:effectLst/>
                <a:latin typeface="Söhne"/>
              </a:rPr>
              <a:t> Se possível, coletar mais dados de treinamento pode ajudar o modelo a capturar melhor os padrões.</a:t>
            </a:r>
          </a:p>
          <a:p>
            <a:pPr algn="l">
              <a:buFont typeface="+mj-lt"/>
              <a:buAutoNum type="arabicPeriod"/>
            </a:pPr>
            <a:r>
              <a:rPr lang="pt-BR" b="1" i="0" dirty="0">
                <a:solidFill>
                  <a:srgbClr val="374151"/>
                </a:solidFill>
                <a:effectLst/>
                <a:latin typeface="Söhne"/>
              </a:rPr>
              <a:t>Regularização:</a:t>
            </a:r>
            <a:r>
              <a:rPr lang="pt-BR" b="0" i="0" dirty="0">
                <a:solidFill>
                  <a:srgbClr val="374151"/>
                </a:solidFill>
                <a:effectLst/>
                <a:latin typeface="Söhne"/>
              </a:rPr>
              <a:t> Técnicas de regularização, como </a:t>
            </a:r>
            <a:r>
              <a:rPr lang="pt-BR" b="0" i="0" dirty="0" err="1">
                <a:solidFill>
                  <a:srgbClr val="374151"/>
                </a:solidFill>
                <a:effectLst/>
                <a:latin typeface="Söhne"/>
              </a:rPr>
              <a:t>dropout</a:t>
            </a:r>
            <a:r>
              <a:rPr lang="pt-BR" b="0" i="0" dirty="0">
                <a:solidFill>
                  <a:srgbClr val="374151"/>
                </a:solidFill>
                <a:effectLst/>
                <a:latin typeface="Söhne"/>
              </a:rPr>
              <a:t> e L2 </a:t>
            </a:r>
            <a:r>
              <a:rPr lang="pt-BR" b="0" i="0" dirty="0" err="1">
                <a:solidFill>
                  <a:srgbClr val="374151"/>
                </a:solidFill>
                <a:effectLst/>
                <a:latin typeface="Söhne"/>
              </a:rPr>
              <a:t>regularization</a:t>
            </a:r>
            <a:r>
              <a:rPr lang="pt-BR" b="0" i="0" dirty="0">
                <a:solidFill>
                  <a:srgbClr val="374151"/>
                </a:solidFill>
                <a:effectLst/>
                <a:latin typeface="Söhne"/>
              </a:rPr>
              <a:t>, podem ajudar a evitar o </a:t>
            </a:r>
            <a:r>
              <a:rPr lang="pt-BR" b="0" i="0" dirty="0" err="1">
                <a:solidFill>
                  <a:srgbClr val="374151"/>
                </a:solidFill>
                <a:effectLst/>
                <a:latin typeface="Söhne"/>
              </a:rPr>
              <a:t>subajuste</a:t>
            </a:r>
            <a:r>
              <a:rPr lang="pt-BR" b="0" i="0" dirty="0">
                <a:solidFill>
                  <a:srgbClr val="374151"/>
                </a:solidFill>
                <a:effectLst/>
                <a:latin typeface="Söhne"/>
              </a:rPr>
              <a:t> controlando a complexidade do modelo.</a:t>
            </a:r>
          </a:p>
          <a:p>
            <a:pPr algn="l">
              <a:buFont typeface="+mj-lt"/>
              <a:buAutoNum type="arabicPeriod"/>
            </a:pPr>
            <a:r>
              <a:rPr lang="pt-BR" b="1" i="0" dirty="0">
                <a:solidFill>
                  <a:srgbClr val="374151"/>
                </a:solidFill>
                <a:effectLst/>
                <a:latin typeface="Söhne"/>
              </a:rPr>
              <a:t>Ajustar Hiperparâmetros:</a:t>
            </a:r>
            <a:r>
              <a:rPr lang="pt-BR" b="0" i="0" dirty="0">
                <a:solidFill>
                  <a:srgbClr val="374151"/>
                </a:solidFill>
                <a:effectLst/>
                <a:latin typeface="Söhne"/>
              </a:rPr>
              <a:t> Experimentar com diferentes hiperparâmetros, como taxa de aprendizado e tamanho do lote, pode ajudar a melhorar o desempenho do modelo.</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67</a:t>
            </a:fld>
            <a:endParaRPr lang="pt-BR"/>
          </a:p>
        </p:txBody>
      </p:sp>
    </p:spTree>
    <p:extLst>
      <p:ext uri="{BB962C8B-B14F-4D97-AF65-F5344CB8AC3E}">
        <p14:creationId xmlns:p14="http://schemas.microsoft.com/office/powerpoint/2010/main" val="356191413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pPr algn="l"/>
            <a:r>
              <a:rPr lang="pt-BR" b="0" i="0" dirty="0">
                <a:solidFill>
                  <a:srgbClr val="374151"/>
                </a:solidFill>
                <a:effectLst/>
                <a:latin typeface="Söhne"/>
              </a:rPr>
              <a:t>O sobreajuste (</a:t>
            </a:r>
            <a:r>
              <a:rPr lang="pt-BR" b="0" i="0" dirty="0" err="1">
                <a:solidFill>
                  <a:srgbClr val="374151"/>
                </a:solidFill>
                <a:effectLst/>
                <a:latin typeface="Söhne"/>
              </a:rPr>
              <a:t>overfitting</a:t>
            </a:r>
            <a:r>
              <a:rPr lang="pt-BR" b="0" i="0" dirty="0">
                <a:solidFill>
                  <a:srgbClr val="374151"/>
                </a:solidFill>
                <a:effectLst/>
                <a:latin typeface="Söhne"/>
              </a:rPr>
              <a:t>) é um problema comum em redes neurais e em outros modelos de aprendizado de máquina, onde o modelo se ajusta excessivamente aos dados de treinamento e acaba perdendo a capacidade de generalizar para novos dados que não foram vistos durante o treinamento. Em outras palavras, o modelo memoriza os dados de treinamento em vez de aprender padrões gerais.</a:t>
            </a:r>
          </a:p>
          <a:p>
            <a:pPr algn="l"/>
            <a:r>
              <a:rPr lang="pt-BR" b="0" i="0" dirty="0">
                <a:solidFill>
                  <a:srgbClr val="374151"/>
                </a:solidFill>
                <a:effectLst/>
                <a:latin typeface="Söhne"/>
              </a:rPr>
              <a:t>Características do sobreajuste:</a:t>
            </a:r>
          </a:p>
          <a:p>
            <a:pPr algn="l">
              <a:buFont typeface="+mj-lt"/>
              <a:buAutoNum type="arabicPeriod"/>
            </a:pPr>
            <a:r>
              <a:rPr lang="pt-BR" b="1" i="0" dirty="0">
                <a:solidFill>
                  <a:srgbClr val="374151"/>
                </a:solidFill>
                <a:effectLst/>
                <a:latin typeface="Söhne"/>
              </a:rPr>
              <a:t>Desempenho Excelente nos Dados de Treinamento:</a:t>
            </a:r>
            <a:r>
              <a:rPr lang="pt-BR" b="0" i="0" dirty="0">
                <a:solidFill>
                  <a:srgbClr val="374151"/>
                </a:solidFill>
                <a:effectLst/>
                <a:latin typeface="Söhne"/>
              </a:rPr>
              <a:t> O modelo terá um desempenho muito bom nos dados de treinamento, com um erro de treinamento muito baixo.</a:t>
            </a:r>
          </a:p>
          <a:p>
            <a:pPr algn="l">
              <a:buFont typeface="+mj-lt"/>
              <a:buAutoNum type="arabicPeriod"/>
            </a:pPr>
            <a:r>
              <a:rPr lang="pt-BR" b="1" i="0" dirty="0">
                <a:solidFill>
                  <a:srgbClr val="374151"/>
                </a:solidFill>
                <a:effectLst/>
                <a:latin typeface="Söhne"/>
              </a:rPr>
              <a:t>Desempenho Inferior nos Dados de Validação/Teste:</a:t>
            </a:r>
            <a:r>
              <a:rPr lang="pt-BR" b="0" i="0" dirty="0">
                <a:solidFill>
                  <a:srgbClr val="374151"/>
                </a:solidFill>
                <a:effectLst/>
                <a:latin typeface="Söhne"/>
              </a:rPr>
              <a:t> No entanto, o desempenho nos dados de validação ou teste será significativamente pior, com um erro de validação/teste mais alto do que o erro de treinamento.</a:t>
            </a:r>
          </a:p>
          <a:p>
            <a:pPr algn="l">
              <a:buFont typeface="+mj-lt"/>
              <a:buAutoNum type="arabicPeriod"/>
            </a:pPr>
            <a:r>
              <a:rPr lang="pt-BR" b="1" i="0" dirty="0">
                <a:solidFill>
                  <a:srgbClr val="374151"/>
                </a:solidFill>
                <a:effectLst/>
                <a:latin typeface="Söhne"/>
              </a:rPr>
              <a:t>Modelo Complexo:</a:t>
            </a:r>
            <a:r>
              <a:rPr lang="pt-BR" b="0" i="0" dirty="0">
                <a:solidFill>
                  <a:srgbClr val="374151"/>
                </a:solidFill>
                <a:effectLst/>
                <a:latin typeface="Söhne"/>
              </a:rPr>
              <a:t> Modelos </a:t>
            </a:r>
            <a:r>
              <a:rPr lang="pt-BR" b="0" i="0" dirty="0" err="1">
                <a:solidFill>
                  <a:srgbClr val="374151"/>
                </a:solidFill>
                <a:effectLst/>
                <a:latin typeface="Söhne"/>
              </a:rPr>
              <a:t>sobreajustados</a:t>
            </a:r>
            <a:r>
              <a:rPr lang="pt-BR" b="0" i="0" dirty="0">
                <a:solidFill>
                  <a:srgbClr val="374151"/>
                </a:solidFill>
                <a:effectLst/>
                <a:latin typeface="Söhne"/>
              </a:rPr>
              <a:t> tendem a ser muito complexos, com muitos parâmetros e camadas.</a:t>
            </a:r>
          </a:p>
          <a:p>
            <a:pPr algn="l">
              <a:buFont typeface="+mj-lt"/>
              <a:buAutoNum type="arabicPeriod"/>
            </a:pPr>
            <a:r>
              <a:rPr lang="pt-BR" b="1" i="0" dirty="0">
                <a:solidFill>
                  <a:srgbClr val="374151"/>
                </a:solidFill>
                <a:effectLst/>
                <a:latin typeface="Söhne"/>
              </a:rPr>
              <a:t>Sensibilidade a Ruídos:</a:t>
            </a:r>
            <a:r>
              <a:rPr lang="pt-BR" b="0" i="0" dirty="0">
                <a:solidFill>
                  <a:srgbClr val="374151"/>
                </a:solidFill>
                <a:effectLst/>
                <a:latin typeface="Söhne"/>
              </a:rPr>
              <a:t> O modelo pode se tornar sensível a pequenas variações nos dados de treinamento, incluindo ruídos.</a:t>
            </a:r>
          </a:p>
          <a:p>
            <a:pPr algn="l">
              <a:buFont typeface="+mj-lt"/>
              <a:buAutoNum type="arabicPeriod"/>
            </a:pPr>
            <a:r>
              <a:rPr lang="pt-BR" b="1" i="0" dirty="0">
                <a:solidFill>
                  <a:srgbClr val="374151"/>
                </a:solidFill>
                <a:effectLst/>
                <a:latin typeface="Söhne"/>
              </a:rPr>
              <a:t>Padronização Anormal:</a:t>
            </a:r>
            <a:r>
              <a:rPr lang="pt-BR" b="0" i="0" dirty="0">
                <a:solidFill>
                  <a:srgbClr val="374151"/>
                </a:solidFill>
                <a:effectLst/>
                <a:latin typeface="Söhne"/>
              </a:rPr>
              <a:t> O modelo pode aprender padrões que são específicos dos dados de treinamento, mas não são generalizáveis.</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68</a:t>
            </a:fld>
            <a:endParaRPr lang="pt-BR"/>
          </a:p>
        </p:txBody>
      </p:sp>
    </p:spTree>
    <p:extLst>
      <p:ext uri="{BB962C8B-B14F-4D97-AF65-F5344CB8AC3E}">
        <p14:creationId xmlns:p14="http://schemas.microsoft.com/office/powerpoint/2010/main" val="310161094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pPr algn="l"/>
            <a:r>
              <a:rPr lang="pt-BR" b="0" i="0" dirty="0">
                <a:solidFill>
                  <a:srgbClr val="374151"/>
                </a:solidFill>
                <a:effectLst/>
                <a:latin typeface="Söhne"/>
              </a:rPr>
              <a:t>Causas do sobreajuste:</a:t>
            </a:r>
          </a:p>
          <a:p>
            <a:pPr algn="l">
              <a:buFont typeface="+mj-lt"/>
              <a:buAutoNum type="arabicPeriod"/>
            </a:pPr>
            <a:r>
              <a:rPr lang="pt-BR" b="1" i="0" dirty="0">
                <a:solidFill>
                  <a:srgbClr val="374151"/>
                </a:solidFill>
                <a:effectLst/>
                <a:latin typeface="Söhne"/>
              </a:rPr>
              <a:t>Modelo Muito Complexo:</a:t>
            </a:r>
            <a:r>
              <a:rPr lang="pt-BR" b="0" i="0" dirty="0">
                <a:solidFill>
                  <a:srgbClr val="374151"/>
                </a:solidFill>
                <a:effectLst/>
                <a:latin typeface="Söhne"/>
              </a:rPr>
              <a:t> Se o modelo for muito complexo em relação à quantidade de dados disponíveis, ele pode aprender a representar o ruído nos dados de treinamento.</a:t>
            </a:r>
          </a:p>
          <a:p>
            <a:pPr algn="l">
              <a:buFont typeface="+mj-lt"/>
              <a:buAutoNum type="arabicPeriod"/>
            </a:pPr>
            <a:r>
              <a:rPr lang="pt-BR" b="1" i="0" dirty="0">
                <a:solidFill>
                  <a:srgbClr val="374151"/>
                </a:solidFill>
                <a:effectLst/>
                <a:latin typeface="Söhne"/>
              </a:rPr>
              <a:t>Treinamento Excessivo:</a:t>
            </a:r>
            <a:r>
              <a:rPr lang="pt-BR" b="0" i="0" dirty="0">
                <a:solidFill>
                  <a:srgbClr val="374151"/>
                </a:solidFill>
                <a:effectLst/>
                <a:latin typeface="Söhne"/>
              </a:rPr>
              <a:t> Treinar o modelo por muitas épocas ou permitir que ele veja os mesmos dados várias vezes pode levar ao memorização dos dados de treinamento.</a:t>
            </a:r>
          </a:p>
          <a:p>
            <a:pPr algn="l">
              <a:buFont typeface="+mj-lt"/>
              <a:buAutoNum type="arabicPeriod"/>
            </a:pPr>
            <a:r>
              <a:rPr lang="pt-BR" b="1" i="0" dirty="0">
                <a:solidFill>
                  <a:srgbClr val="374151"/>
                </a:solidFill>
                <a:effectLst/>
                <a:latin typeface="Söhne"/>
              </a:rPr>
              <a:t>Falta de Dados:</a:t>
            </a:r>
            <a:r>
              <a:rPr lang="pt-BR" b="0" i="0" dirty="0">
                <a:solidFill>
                  <a:srgbClr val="374151"/>
                </a:solidFill>
                <a:effectLst/>
                <a:latin typeface="Söhne"/>
              </a:rPr>
              <a:t> Quando há poucos dados de treinamento disponíveis, o modelo pode ser mais propenso a sobreajuste, pois tem menos exemplos para aprender padrões gerais.</a:t>
            </a:r>
          </a:p>
          <a:p>
            <a:pPr algn="l">
              <a:buFont typeface="+mj-lt"/>
              <a:buAutoNum type="arabicPeriod"/>
            </a:pPr>
            <a:r>
              <a:rPr lang="pt-BR" b="1" i="0" dirty="0">
                <a:solidFill>
                  <a:srgbClr val="374151"/>
                </a:solidFill>
                <a:effectLst/>
                <a:latin typeface="Söhne"/>
              </a:rPr>
              <a:t>Ausência de Regularização:</a:t>
            </a:r>
            <a:r>
              <a:rPr lang="pt-BR" b="0" i="0" dirty="0">
                <a:solidFill>
                  <a:srgbClr val="374151"/>
                </a:solidFill>
                <a:effectLst/>
                <a:latin typeface="Söhne"/>
              </a:rPr>
              <a:t> A falta de técnicas de regularização, como </a:t>
            </a:r>
            <a:r>
              <a:rPr lang="pt-BR" b="0" i="0" dirty="0" err="1">
                <a:solidFill>
                  <a:srgbClr val="374151"/>
                </a:solidFill>
                <a:effectLst/>
                <a:latin typeface="Söhne"/>
              </a:rPr>
              <a:t>dropout</a:t>
            </a:r>
            <a:r>
              <a:rPr lang="pt-BR" b="0" i="0" dirty="0">
                <a:solidFill>
                  <a:srgbClr val="374151"/>
                </a:solidFill>
                <a:effectLst/>
                <a:latin typeface="Söhne"/>
              </a:rPr>
              <a:t>, L2 </a:t>
            </a:r>
            <a:r>
              <a:rPr lang="pt-BR" b="0" i="0" dirty="0" err="1">
                <a:solidFill>
                  <a:srgbClr val="374151"/>
                </a:solidFill>
                <a:effectLst/>
                <a:latin typeface="Söhne"/>
              </a:rPr>
              <a:t>regularization</a:t>
            </a:r>
            <a:r>
              <a:rPr lang="pt-BR" b="0" i="0" dirty="0">
                <a:solidFill>
                  <a:srgbClr val="374151"/>
                </a:solidFill>
                <a:effectLst/>
                <a:latin typeface="Söhne"/>
              </a:rPr>
              <a:t> ou data </a:t>
            </a:r>
            <a:r>
              <a:rPr lang="pt-BR" b="0" i="0" dirty="0" err="1">
                <a:solidFill>
                  <a:srgbClr val="374151"/>
                </a:solidFill>
                <a:effectLst/>
                <a:latin typeface="Söhne"/>
              </a:rPr>
              <a:t>augmentation</a:t>
            </a:r>
            <a:r>
              <a:rPr lang="pt-BR" b="0" i="0" dirty="0">
                <a:solidFill>
                  <a:srgbClr val="374151"/>
                </a:solidFill>
                <a:effectLst/>
                <a:latin typeface="Söhne"/>
              </a:rPr>
              <a:t>, pode permitir que o modelo se ajuste excessivamente aos dados.</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69</a:t>
            </a:fld>
            <a:endParaRPr lang="pt-BR"/>
          </a:p>
        </p:txBody>
      </p:sp>
    </p:spTree>
    <p:extLst>
      <p:ext uri="{BB962C8B-B14F-4D97-AF65-F5344CB8AC3E}">
        <p14:creationId xmlns:p14="http://schemas.microsoft.com/office/powerpoint/2010/main" val="312838055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pPr algn="l"/>
            <a:r>
              <a:rPr lang="pt-BR" b="0" i="0" dirty="0">
                <a:solidFill>
                  <a:srgbClr val="374151"/>
                </a:solidFill>
                <a:effectLst/>
                <a:latin typeface="Söhne"/>
              </a:rPr>
              <a:t>Como lidar com o sobreajuste:</a:t>
            </a:r>
          </a:p>
          <a:p>
            <a:pPr algn="l">
              <a:buFont typeface="+mj-lt"/>
              <a:buAutoNum type="arabicPeriod"/>
            </a:pPr>
            <a:r>
              <a:rPr lang="pt-BR" b="1" i="0" dirty="0">
                <a:solidFill>
                  <a:srgbClr val="374151"/>
                </a:solidFill>
                <a:effectLst/>
                <a:latin typeface="Söhne"/>
              </a:rPr>
              <a:t>Regularização:</a:t>
            </a:r>
            <a:r>
              <a:rPr lang="pt-BR" b="0" i="0" dirty="0">
                <a:solidFill>
                  <a:srgbClr val="374151"/>
                </a:solidFill>
                <a:effectLst/>
                <a:latin typeface="Söhne"/>
              </a:rPr>
              <a:t> Utilizar técnicas de regularização, como </a:t>
            </a:r>
            <a:r>
              <a:rPr lang="pt-BR" b="0" i="0" dirty="0" err="1">
                <a:solidFill>
                  <a:srgbClr val="374151"/>
                </a:solidFill>
                <a:effectLst/>
                <a:latin typeface="Söhne"/>
              </a:rPr>
              <a:t>dropout</a:t>
            </a:r>
            <a:r>
              <a:rPr lang="pt-BR" b="0" i="0" dirty="0">
                <a:solidFill>
                  <a:srgbClr val="374151"/>
                </a:solidFill>
                <a:effectLst/>
                <a:latin typeface="Söhne"/>
              </a:rPr>
              <a:t> (desativação aleatória de neurônios durante o treinamento), L2 </a:t>
            </a:r>
            <a:r>
              <a:rPr lang="pt-BR" b="0" i="0" dirty="0" err="1">
                <a:solidFill>
                  <a:srgbClr val="374151"/>
                </a:solidFill>
                <a:effectLst/>
                <a:latin typeface="Söhne"/>
              </a:rPr>
              <a:t>regularization</a:t>
            </a:r>
            <a:r>
              <a:rPr lang="pt-BR" b="0" i="0" dirty="0">
                <a:solidFill>
                  <a:srgbClr val="374151"/>
                </a:solidFill>
                <a:effectLst/>
                <a:latin typeface="Söhne"/>
              </a:rPr>
              <a:t> (penalização dos valores dos parâmetros) e Batch </a:t>
            </a:r>
            <a:r>
              <a:rPr lang="pt-BR" b="0" i="0" dirty="0" err="1">
                <a:solidFill>
                  <a:srgbClr val="374151"/>
                </a:solidFill>
                <a:effectLst/>
                <a:latin typeface="Söhne"/>
              </a:rPr>
              <a:t>Normalization</a:t>
            </a:r>
            <a:r>
              <a:rPr lang="pt-BR" b="0" i="0" dirty="0">
                <a:solidFill>
                  <a:srgbClr val="374151"/>
                </a:solidFill>
                <a:effectLst/>
                <a:latin typeface="Söhne"/>
              </a:rPr>
              <a:t>, pode ajudar a controlar a complexidade do modelo.</a:t>
            </a:r>
          </a:p>
          <a:p>
            <a:pPr algn="l">
              <a:buFont typeface="+mj-lt"/>
              <a:buAutoNum type="arabicPeriod"/>
            </a:pPr>
            <a:r>
              <a:rPr lang="pt-BR" b="1" i="0" dirty="0">
                <a:solidFill>
                  <a:srgbClr val="374151"/>
                </a:solidFill>
                <a:effectLst/>
                <a:latin typeface="Söhne"/>
              </a:rPr>
              <a:t>Aumentar os Dados de Treinamento:</a:t>
            </a:r>
            <a:r>
              <a:rPr lang="pt-BR" b="0" i="0" dirty="0">
                <a:solidFill>
                  <a:srgbClr val="374151"/>
                </a:solidFill>
                <a:effectLst/>
                <a:latin typeface="Söhne"/>
              </a:rPr>
              <a:t> Coletar mais dados de treinamento pode reduzir o risco de sobreajuste, pois o modelo terá mais exemplos para aprender padrões.</a:t>
            </a:r>
          </a:p>
          <a:p>
            <a:pPr algn="l">
              <a:buFont typeface="+mj-lt"/>
              <a:buAutoNum type="arabicPeriod"/>
            </a:pPr>
            <a:r>
              <a:rPr lang="pt-BR" b="1" i="0" dirty="0">
                <a:solidFill>
                  <a:srgbClr val="374151"/>
                </a:solidFill>
                <a:effectLst/>
                <a:latin typeface="Söhne"/>
              </a:rPr>
              <a:t>Validação Cruzada:</a:t>
            </a:r>
            <a:r>
              <a:rPr lang="pt-BR" b="0" i="0" dirty="0">
                <a:solidFill>
                  <a:srgbClr val="374151"/>
                </a:solidFill>
                <a:effectLst/>
                <a:latin typeface="Söhne"/>
              </a:rPr>
              <a:t> Utilizar validação cruzada pode ajudar a avaliar o desempenho do modelo em diferentes conjuntos de dados e identificar quando ele está </a:t>
            </a:r>
            <a:r>
              <a:rPr lang="pt-BR" b="0" i="0" dirty="0" err="1">
                <a:solidFill>
                  <a:srgbClr val="374151"/>
                </a:solidFill>
                <a:effectLst/>
                <a:latin typeface="Söhne"/>
              </a:rPr>
              <a:t>sobreajustando</a:t>
            </a:r>
            <a:r>
              <a:rPr lang="pt-BR" b="0" i="0" dirty="0">
                <a:solidFill>
                  <a:srgbClr val="374151"/>
                </a:solidFill>
                <a:effectLst/>
                <a:latin typeface="Söhne"/>
              </a:rPr>
              <a:t>.</a:t>
            </a:r>
          </a:p>
          <a:p>
            <a:pPr algn="l">
              <a:buFont typeface="+mj-lt"/>
              <a:buAutoNum type="arabicPeriod"/>
            </a:pPr>
            <a:r>
              <a:rPr lang="pt-BR" b="1" i="0" dirty="0">
                <a:solidFill>
                  <a:srgbClr val="374151"/>
                </a:solidFill>
                <a:effectLst/>
                <a:latin typeface="Söhne"/>
              </a:rPr>
              <a:t>Monitoramento do Desempenho:</a:t>
            </a:r>
            <a:r>
              <a:rPr lang="pt-BR" b="0" i="0" dirty="0">
                <a:solidFill>
                  <a:srgbClr val="374151"/>
                </a:solidFill>
                <a:effectLst/>
                <a:latin typeface="Söhne"/>
              </a:rPr>
              <a:t> Acompanhar o desempenho do modelo nos dados de treinamento e de validação/teste pode ajudar a identificar quando o sobreajuste está ocorrendo.</a:t>
            </a:r>
          </a:p>
          <a:p>
            <a:pPr algn="l">
              <a:buFont typeface="+mj-lt"/>
              <a:buAutoNum type="arabicPeriod"/>
            </a:pPr>
            <a:r>
              <a:rPr lang="pt-BR" b="1" i="0" dirty="0">
                <a:solidFill>
                  <a:srgbClr val="374151"/>
                </a:solidFill>
                <a:effectLst/>
                <a:latin typeface="Söhne"/>
              </a:rPr>
              <a:t>Simplificar o Modelo:</a:t>
            </a:r>
            <a:r>
              <a:rPr lang="pt-BR" b="0" i="0" dirty="0">
                <a:solidFill>
                  <a:srgbClr val="374151"/>
                </a:solidFill>
                <a:effectLst/>
                <a:latin typeface="Söhne"/>
              </a:rPr>
              <a:t> Reduzir a complexidade do modelo, removendo camadas ou neurônios, pode ajudar a prevenir o sobreajuste.</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70</a:t>
            </a:fld>
            <a:endParaRPr lang="pt-BR"/>
          </a:p>
        </p:txBody>
      </p:sp>
    </p:spTree>
    <p:extLst>
      <p:ext uri="{BB962C8B-B14F-4D97-AF65-F5344CB8AC3E}">
        <p14:creationId xmlns:p14="http://schemas.microsoft.com/office/powerpoint/2010/main" val="114939456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71</a:t>
            </a:fld>
            <a:endParaRPr lang="pt-BR"/>
          </a:p>
        </p:txBody>
      </p:sp>
    </p:spTree>
    <p:extLst>
      <p:ext uri="{BB962C8B-B14F-4D97-AF65-F5344CB8AC3E}">
        <p14:creationId xmlns:p14="http://schemas.microsoft.com/office/powerpoint/2010/main" val="366717638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É uma forma de </a:t>
            </a:r>
            <a:r>
              <a:rPr lang="pt-BR" b="1" dirty="0">
                <a:solidFill>
                  <a:srgbClr val="00B050"/>
                </a:solidFill>
              </a:rPr>
              <a:t>testar o modelo várias vezes </a:t>
            </a:r>
            <a:r>
              <a:rPr lang="pt-BR" dirty="0"/>
              <a:t>em </a:t>
            </a:r>
            <a:r>
              <a:rPr lang="pt-BR" b="1" dirty="0">
                <a:solidFill>
                  <a:srgbClr val="00B050"/>
                </a:solidFill>
              </a:rPr>
              <a:t>diferentes divisões dos dados</a:t>
            </a:r>
            <a:r>
              <a:rPr lang="pt-BR" dirty="0"/>
              <a:t> para obter uma </a:t>
            </a:r>
            <a:r>
              <a:rPr lang="pt-BR" b="1" dirty="0">
                <a:solidFill>
                  <a:schemeClr val="accent2"/>
                </a:solidFill>
              </a:rPr>
              <a:t>avaliação robusta da sua capacidade de generalização</a:t>
            </a:r>
            <a:r>
              <a:rPr lang="pt-BR" dirty="0"/>
              <a:t>.</a:t>
            </a:r>
          </a:p>
          <a:p>
            <a:endParaRPr lang="pt-BR" dirty="0"/>
          </a:p>
          <a:p>
            <a:endParaRPr lang="pt-BR" dirty="0"/>
          </a:p>
          <a:p>
            <a:r>
              <a:rPr lang="pt-BR" dirty="0"/>
              <a:t>Validação cruzada é usada para obter uma estimativa do desempenho da generalização de um modelo. Se um modelo tiver um bom desempenho nos dados de treinamento, mas generalizar mal de acordo com as métricas de validação cruzada, seu modelo estará se ajustando demais (sobreajuste). Se o desempenho for ruim em ambos, será insuficiente (subajuste). Essa é uma maneira de saber quando um modelo é muito simples ou muito complexo.</a:t>
            </a:r>
          </a:p>
          <a:p>
            <a:endParaRPr lang="pt-BR" dirty="0"/>
          </a:p>
          <a:p>
            <a:r>
              <a:rPr lang="pt-BR" dirty="0"/>
              <a:t>O objetivo da validação cruzada é testar a capacidade do modelo em prever novos dados que não foram utilizados</a:t>
            </a:r>
            <a:r>
              <a:rPr lang="pt-BR" baseline="0" dirty="0"/>
              <a:t> durante o treinamento</a:t>
            </a:r>
            <a:r>
              <a:rPr lang="pt-BR" dirty="0"/>
              <a:t>, para sinalizar problemas como </a:t>
            </a:r>
            <a:r>
              <a:rPr lang="pt-BR" baseline="0" dirty="0"/>
              <a:t> sobreajuste </a:t>
            </a:r>
            <a:r>
              <a:rPr lang="pt-BR" dirty="0"/>
              <a:t>ou subajuste</a:t>
            </a:r>
            <a:r>
              <a:rPr lang="pt-BR" baseline="0" dirty="0"/>
              <a:t> </a:t>
            </a:r>
            <a:r>
              <a:rPr lang="pt-BR" dirty="0"/>
              <a:t>e fornecer uma deia de como o modelo irá generalizar para um conjunto de dados independente (ou seja, um conjunto de dados, em teoria,</a:t>
            </a:r>
            <a:r>
              <a:rPr lang="pt-BR" baseline="0" dirty="0"/>
              <a:t> </a:t>
            </a:r>
            <a:r>
              <a:rPr lang="pt-BR" dirty="0"/>
              <a:t>desconhecido).</a:t>
            </a:r>
          </a:p>
          <a:p>
            <a:endParaRPr lang="pt-BR" dirty="0"/>
          </a:p>
          <a:p>
            <a:r>
              <a:rPr lang="pt-BR" dirty="0"/>
              <a:t>A validação cruzada é utilizada para detectar problemas como </a:t>
            </a:r>
            <a:r>
              <a:rPr lang="pt-BR" b="1" i="1" dirty="0"/>
              <a:t>sobreajuste</a:t>
            </a:r>
            <a:r>
              <a:rPr lang="pt-BR" dirty="0"/>
              <a:t> ou </a:t>
            </a:r>
            <a:r>
              <a:rPr lang="pt-BR" b="1" i="1" dirty="0"/>
              <a:t>viés de seleção </a:t>
            </a:r>
            <a:r>
              <a:rPr lang="pt-BR" dirty="0"/>
              <a:t>e para dar uma visão sobre como o modelo irá generalizar para um conjunto de dados independente.</a:t>
            </a:r>
          </a:p>
          <a:p>
            <a:pPr lvl="1"/>
            <a:r>
              <a:rPr lang="pt-BR" dirty="0"/>
              <a:t>O </a:t>
            </a:r>
            <a:r>
              <a:rPr lang="pt-BR" b="1" i="1" dirty="0"/>
              <a:t>viés de seleção </a:t>
            </a:r>
            <a:r>
              <a:rPr lang="pt-BR" dirty="0"/>
              <a:t>é o viés introduzido pela seleção de amostras para análise de um modelo de tal forma que este conjunto de amostras não seja representativo da população que se pretende analisar.</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72</a:t>
            </a:fld>
            <a:endParaRPr lang="nl-BE"/>
          </a:p>
        </p:txBody>
      </p:sp>
    </p:spTree>
    <p:extLst>
      <p:ext uri="{BB962C8B-B14F-4D97-AF65-F5344CB8AC3E}">
        <p14:creationId xmlns:p14="http://schemas.microsoft.com/office/powerpoint/2010/main" val="363495505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dirty="0"/>
              <a:t>Validação cruzada é usada para obter uma estimativa do desempenho da generalização de um modelo. Se um modelo tiver um bom desempenho nos dados de treinamento, mas generalizar mal de acordo com as métricas de validação cruzada, seu modelo estará se ajustando demais (sobreajuste). Se o desempenho for ruim em ambos, será insuficiente (subajuste). Essa é uma maneira de saber quando um modelo é muito simples ou muito complexo.</a:t>
            </a:r>
          </a:p>
          <a:p>
            <a:endParaRPr lang="pt-BR" dirty="0"/>
          </a:p>
          <a:p>
            <a:r>
              <a:rPr lang="pt-BR" dirty="0"/>
              <a:t>O objetivo da validação cruzada é testar a capacidade do modelo em prever novos dados que não foram utilizados</a:t>
            </a:r>
            <a:r>
              <a:rPr lang="pt-BR" baseline="0" dirty="0"/>
              <a:t> durante o treinamento</a:t>
            </a:r>
            <a:r>
              <a:rPr lang="pt-BR" dirty="0"/>
              <a:t>, para sinalizar problemas como </a:t>
            </a:r>
            <a:r>
              <a:rPr lang="pt-BR" baseline="0" dirty="0"/>
              <a:t> sobreajuste </a:t>
            </a:r>
            <a:r>
              <a:rPr lang="pt-BR" dirty="0"/>
              <a:t>ou subajuste</a:t>
            </a:r>
            <a:r>
              <a:rPr lang="pt-BR" baseline="0" dirty="0"/>
              <a:t> </a:t>
            </a:r>
            <a:r>
              <a:rPr lang="pt-BR" dirty="0"/>
              <a:t>e fornecer uma deia de como o modelo irá generalizar para um conjunto de dados independente (ou seja, um conjunto de dados, em teoria,</a:t>
            </a:r>
            <a:r>
              <a:rPr lang="pt-BR" baseline="0" dirty="0"/>
              <a:t> </a:t>
            </a:r>
            <a:r>
              <a:rPr lang="pt-BR" dirty="0"/>
              <a:t>desconhecido).</a:t>
            </a:r>
          </a:p>
          <a:p>
            <a:endParaRPr lang="pt-BR" dirty="0"/>
          </a:p>
          <a:p>
            <a:r>
              <a:rPr lang="pt-BR" dirty="0"/>
              <a:t>A validação cruzada é utilizada para detectar problemas como </a:t>
            </a:r>
            <a:r>
              <a:rPr lang="pt-BR" b="1" i="1" dirty="0"/>
              <a:t>sobreajuste</a:t>
            </a:r>
            <a:r>
              <a:rPr lang="pt-BR" dirty="0"/>
              <a:t> ou </a:t>
            </a:r>
            <a:r>
              <a:rPr lang="pt-BR" b="1" i="1" dirty="0"/>
              <a:t>viés de seleção </a:t>
            </a:r>
            <a:r>
              <a:rPr lang="pt-BR" dirty="0"/>
              <a:t>e para dar uma visão sobre como o modelo irá generalizar para um conjunto de dados independente.</a:t>
            </a:r>
          </a:p>
          <a:p>
            <a:pPr lvl="1"/>
            <a:r>
              <a:rPr lang="pt-BR" dirty="0"/>
              <a:t>O </a:t>
            </a:r>
            <a:r>
              <a:rPr lang="pt-BR" b="1" i="1" dirty="0"/>
              <a:t>viés de seleção </a:t>
            </a:r>
            <a:r>
              <a:rPr lang="pt-BR" dirty="0"/>
              <a:t>é o viés introduzido pela seleção de amostras para análise de um modelo de tal forma que este conjunto de amostras não seja representativo da população que se pretende analisar.</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73</a:t>
            </a:fld>
            <a:endParaRPr lang="nl-BE"/>
          </a:p>
        </p:txBody>
      </p:sp>
    </p:spTree>
    <p:extLst>
      <p:ext uri="{BB962C8B-B14F-4D97-AF65-F5344CB8AC3E}">
        <p14:creationId xmlns:p14="http://schemas.microsoft.com/office/powerpoint/2010/main" val="385347391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dirty="0"/>
              <a:t>Validação cruzada é usada para obter uma estimativa do desempenho da generalização de um modelo. Se um modelo tiver um bom desempenho nos dados de treinamento, mas generalizar mal de acordo com as métricas de validação cruzada, seu modelo estará se ajustando demais (sobreajuste). Se o desempenho for ruim em ambos, será insuficiente (subajuste). Essa é uma maneira de saber quando um modelo é muito simples ou muito complexo.</a:t>
            </a:r>
          </a:p>
          <a:p>
            <a:endParaRPr lang="pt-BR" dirty="0"/>
          </a:p>
          <a:p>
            <a:r>
              <a:rPr lang="pt-BR" dirty="0"/>
              <a:t>O objetivo da validação cruzada é testar a capacidade do modelo em prever novos dados que não foram utilizados</a:t>
            </a:r>
            <a:r>
              <a:rPr lang="pt-BR" baseline="0" dirty="0"/>
              <a:t> durante o treinamento</a:t>
            </a:r>
            <a:r>
              <a:rPr lang="pt-BR" dirty="0"/>
              <a:t>, para sinalizar problemas como </a:t>
            </a:r>
            <a:r>
              <a:rPr lang="pt-BR" baseline="0" dirty="0"/>
              <a:t> sobreajuste </a:t>
            </a:r>
            <a:r>
              <a:rPr lang="pt-BR" dirty="0"/>
              <a:t>ou subajuste</a:t>
            </a:r>
            <a:r>
              <a:rPr lang="pt-BR" baseline="0" dirty="0"/>
              <a:t> </a:t>
            </a:r>
            <a:r>
              <a:rPr lang="pt-BR" dirty="0"/>
              <a:t>e fornecer uma deia de como o modelo irá generalizar para um conjunto de dados independente (ou seja, um conjunto de dados, em teoria,</a:t>
            </a:r>
            <a:r>
              <a:rPr lang="pt-BR" baseline="0" dirty="0"/>
              <a:t> </a:t>
            </a:r>
            <a:r>
              <a:rPr lang="pt-BR" dirty="0"/>
              <a:t>desconhecido).</a:t>
            </a:r>
          </a:p>
          <a:p>
            <a:endParaRPr lang="pt-BR" dirty="0"/>
          </a:p>
          <a:p>
            <a:r>
              <a:rPr lang="pt-BR" dirty="0"/>
              <a:t>A validação cruzada é utilizada para detectar problemas como </a:t>
            </a:r>
            <a:r>
              <a:rPr lang="pt-BR" b="1" i="1" dirty="0"/>
              <a:t>sobreajuste</a:t>
            </a:r>
            <a:r>
              <a:rPr lang="pt-BR" dirty="0"/>
              <a:t> ou </a:t>
            </a:r>
            <a:r>
              <a:rPr lang="pt-BR" b="1" i="1" dirty="0"/>
              <a:t>viés de seleção </a:t>
            </a:r>
            <a:r>
              <a:rPr lang="pt-BR" dirty="0"/>
              <a:t>e para dar uma visão sobre como o modelo irá generalizar para um conjunto de dados independente.</a:t>
            </a:r>
          </a:p>
          <a:p>
            <a:pPr lvl="1"/>
            <a:r>
              <a:rPr lang="pt-BR" dirty="0"/>
              <a:t>O </a:t>
            </a:r>
            <a:r>
              <a:rPr lang="pt-BR" b="1" i="1" dirty="0"/>
              <a:t>viés de seleção </a:t>
            </a:r>
            <a:r>
              <a:rPr lang="pt-BR" dirty="0"/>
              <a:t>é o viés introduzido pela seleção de amostras para análise de um modelo de tal forma que este conjunto de amostras não seja representativo da população que se pretende analisar.</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74</a:t>
            </a:fld>
            <a:endParaRPr lang="nl-BE"/>
          </a:p>
        </p:txBody>
      </p:sp>
    </p:spTree>
    <p:extLst>
      <p:ext uri="{BB962C8B-B14F-4D97-AF65-F5344CB8AC3E}">
        <p14:creationId xmlns:p14="http://schemas.microsoft.com/office/powerpoint/2010/main" val="294755529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dirty="0"/>
              <a:t>A ideia principal por trás da</a:t>
            </a:r>
            <a:r>
              <a:rPr lang="pt-BR" baseline="0" dirty="0"/>
              <a:t> estratégia do k-</a:t>
            </a:r>
            <a:r>
              <a:rPr lang="pt-BR" baseline="0" dirty="0" err="1"/>
              <a:t>Fold</a:t>
            </a:r>
            <a:r>
              <a:rPr lang="pt-BR" baseline="0" dirty="0"/>
              <a:t> </a:t>
            </a:r>
            <a:r>
              <a:rPr lang="pt-BR" dirty="0"/>
              <a:t>é que cada</a:t>
            </a:r>
            <a:r>
              <a:rPr lang="pt-BR" baseline="0" dirty="0"/>
              <a:t> exemplo do conjunto de dados faz o serviço duplo como dado de treinamento e de validação/teste.</a:t>
            </a:r>
            <a:endParaRPr lang="pt-BR" dirty="0"/>
          </a:p>
          <a:p>
            <a:endParaRPr lang="pt-BR" dirty="0"/>
          </a:p>
          <a:p>
            <a:pPr marL="0" marR="0" indent="0" algn="l" defTabSz="914400" rtl="0" eaLnBrk="1" fontAlgn="auto" latinLnBrk="0" hangingPunct="1">
              <a:lnSpc>
                <a:spcPct val="100000"/>
              </a:lnSpc>
              <a:spcBef>
                <a:spcPts val="0"/>
              </a:spcBef>
              <a:spcAft>
                <a:spcPts val="0"/>
              </a:spcAft>
              <a:buClrTx/>
              <a:buSzTx/>
              <a:buFontTx/>
              <a:buNone/>
              <a:tabLst/>
              <a:defRPr/>
            </a:pPr>
            <a:r>
              <a:rPr lang="pt-BR" dirty="0"/>
              <a:t>Na validação cruzada do k-</a:t>
            </a:r>
            <a:r>
              <a:rPr lang="pt-BR" dirty="0" err="1"/>
              <a:t>Fold</a:t>
            </a:r>
            <a:r>
              <a:rPr lang="pt-BR" dirty="0"/>
              <a:t>, os dados são divididos em k subconjuntos. A validação é repetida k vezes, de modo que, a cada vez, um dos subconjuntos k é usado como conjunto de validação e os outros subconjuntos k-1 são reunidos para formar um único conjunto de treinamento. Desta forma, </a:t>
            </a:r>
            <a:r>
              <a:rPr lang="pt-BR" baseline="0" dirty="0"/>
              <a:t>uma vantagem dessa abordagem é que a forma como os dados são divididos importa menos. </a:t>
            </a:r>
          </a:p>
          <a:p>
            <a:endParaRPr lang="pt-BR" dirty="0"/>
          </a:p>
          <a:p>
            <a:r>
              <a:rPr lang="pt-BR" dirty="0"/>
              <a:t>Essa</a:t>
            </a:r>
            <a:r>
              <a:rPr lang="pt-BR" baseline="0" dirty="0"/>
              <a:t> </a:t>
            </a:r>
            <a:r>
              <a:rPr lang="pt-BR" sz="1200" dirty="0"/>
              <a:t>estratégia </a:t>
            </a:r>
            <a:r>
              <a:rPr lang="pt-BR" dirty="0"/>
              <a:t>reduz significativamente o problema do viés</a:t>
            </a:r>
            <a:r>
              <a:rPr lang="pt-BR" baseline="0" dirty="0"/>
              <a:t> de seleção</a:t>
            </a:r>
            <a:r>
              <a:rPr lang="pt-BR" dirty="0"/>
              <a:t>, pois ela</a:t>
            </a:r>
            <a:r>
              <a:rPr lang="pt-BR" baseline="0" dirty="0"/>
              <a:t> </a:t>
            </a:r>
            <a:r>
              <a:rPr lang="pt-BR" sz="1200" dirty="0"/>
              <a:t>garante que todos os exemplos do conjunto de dados original tenham a chance de aparecer nos conjuntos de treinamento e validação,</a:t>
            </a:r>
            <a:r>
              <a:rPr lang="pt-BR" sz="1200" baseline="0" dirty="0"/>
              <a:t> o que consequentemente, </a:t>
            </a:r>
            <a:r>
              <a:rPr lang="pt-BR" dirty="0"/>
              <a:t>reduz a variância.</a:t>
            </a:r>
            <a:r>
              <a:rPr lang="pt-BR" baseline="0" dirty="0"/>
              <a:t> </a:t>
            </a:r>
          </a:p>
          <a:p>
            <a:endParaRPr lang="pt-BR" baseline="0" dirty="0"/>
          </a:p>
          <a:p>
            <a:r>
              <a:rPr lang="pt-BR" dirty="0"/>
              <a:t>Portanto,</a:t>
            </a:r>
            <a:r>
              <a:rPr lang="pt-BR" baseline="0" dirty="0"/>
              <a:t> a</a:t>
            </a:r>
            <a:r>
              <a:rPr lang="pt-BR" dirty="0"/>
              <a:t> troca dos conjuntos de treinamento e validação contribuem</a:t>
            </a:r>
            <a:r>
              <a:rPr lang="pt-BR" baseline="0" dirty="0"/>
              <a:t> </a:t>
            </a:r>
            <a:r>
              <a:rPr lang="pt-BR" dirty="0"/>
              <a:t>para a eficácia dessa </a:t>
            </a:r>
            <a:r>
              <a:rPr lang="pt-BR" sz="1200" dirty="0"/>
              <a:t>estratégia</a:t>
            </a:r>
            <a:r>
              <a:rPr lang="pt-BR" dirty="0"/>
              <a:t>. </a:t>
            </a:r>
            <a:r>
              <a:rPr lang="pt-BR" baseline="0" dirty="0"/>
              <a:t>Como regra geral e evidência empírica, normalmente, utiliza-se K = 5 ou 10. A variância da estimativa resultante é reduzida à medida que k é aumentado.</a:t>
            </a:r>
          </a:p>
          <a:p>
            <a:endParaRPr lang="pt-BR" baseline="0" dirty="0"/>
          </a:p>
          <a:p>
            <a:r>
              <a:rPr lang="pt-BR" baseline="0" dirty="0"/>
              <a:t>A validação cruzada do k-</a:t>
            </a:r>
            <a:r>
              <a:rPr lang="pt-BR" baseline="0" dirty="0" err="1"/>
              <a:t>Fold</a:t>
            </a:r>
            <a:r>
              <a:rPr lang="pt-BR" baseline="0" dirty="0"/>
              <a:t> é importante pois permite que você use seu conjunto de dados completo tanto para treinamento como para validação. É especialmente útil ao avaliar um modelo usando conjuntos de dados pequenos ou limitados.</a:t>
            </a:r>
          </a:p>
          <a:p>
            <a:endParaRPr lang="pt-BR" dirty="0"/>
          </a:p>
          <a:p>
            <a:r>
              <a:rPr lang="pt-BR" dirty="0"/>
              <a:t>O desempenho do modelo é dado pela média dos erros de validação calculados para cada um dos k folds. A estimativa de erro é calculada sobre todos os k folds para obter a eficácia total do modelo. </a:t>
            </a:r>
          </a:p>
          <a:p>
            <a:pPr marL="0" marR="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indent="0" algn="l" defTabSz="914400" rtl="0" eaLnBrk="1" fontAlgn="auto" latinLnBrk="0" hangingPunct="1">
              <a:lnSpc>
                <a:spcPct val="100000"/>
              </a:lnSpc>
              <a:spcBef>
                <a:spcPts val="0"/>
              </a:spcBef>
              <a:spcAft>
                <a:spcPts val="0"/>
              </a:spcAft>
              <a:buClrTx/>
              <a:buSzTx/>
              <a:buFontTx/>
              <a:buNone/>
              <a:tabLst/>
              <a:defRPr/>
            </a:pPr>
            <a:r>
              <a:rPr lang="pt-BR" dirty="0"/>
              <a:t>Como pode ser visto, todo exemplo fica em um conjunto de validação exatamente uma vez e em um conjunto de treinamento k-1 vezes.</a:t>
            </a:r>
          </a:p>
          <a:p>
            <a:r>
              <a:rPr lang="pt-BR" baseline="0" dirty="0"/>
              <a:t>Cada exemplo entra em um conjunto de validação exatamente uma vez e a k-1 vezes no conjunto de treinamento.</a:t>
            </a:r>
          </a:p>
          <a:p>
            <a:pPr marL="0" marR="0" indent="0" algn="l" defTabSz="914400" rtl="0" eaLnBrk="1" fontAlgn="auto" latinLnBrk="0" hangingPunct="1">
              <a:lnSpc>
                <a:spcPct val="100000"/>
              </a:lnSpc>
              <a:spcBef>
                <a:spcPts val="0"/>
              </a:spcBef>
              <a:spcAft>
                <a:spcPts val="0"/>
              </a:spcAft>
              <a:buClrTx/>
              <a:buSzTx/>
              <a:buFontTx/>
              <a:buNone/>
              <a:tabLst/>
              <a:defRPr/>
            </a:pPr>
            <a:r>
              <a:rPr lang="pt-BR" dirty="0"/>
              <a:t>Com este procedimento, toda amostra disponível vai aparecer k-1 vezes no conjunto de treinamento e 1 vez no conjunto de validação.</a:t>
            </a:r>
          </a:p>
          <a:p>
            <a:endParaRPr lang="pt-BR" dirty="0"/>
          </a:p>
          <a:p>
            <a:r>
              <a:rPr lang="pt-BR" b="1" dirty="0"/>
              <a:t>Desvantagem</a:t>
            </a:r>
            <a:r>
              <a:rPr lang="pt-BR" dirty="0"/>
              <a:t>:</a:t>
            </a:r>
          </a:p>
          <a:p>
            <a:r>
              <a:rPr lang="pt-BR" dirty="0"/>
              <a:t>Alto</a:t>
            </a:r>
            <a:r>
              <a:rPr lang="pt-BR" baseline="0" dirty="0"/>
              <a:t> custo </a:t>
            </a:r>
            <a:r>
              <a:rPr lang="pt-BR" baseline="0" dirty="0" err="1"/>
              <a:t>computational</a:t>
            </a:r>
            <a:r>
              <a:rPr lang="pt-BR" baseline="0" dirty="0"/>
              <a:t> pois treina-se e valida-se o modelo k vezes, ou seja, o algoritmo de treinamento deve ser executado novamente do zero k vezes, o que significa que leva k vezes mais tempo para fazer uma avaliação (</a:t>
            </a:r>
            <a:r>
              <a:rPr lang="pt-BR" baseline="0" dirty="0" err="1"/>
              <a:t>treinamento+validação</a:t>
            </a:r>
            <a:r>
              <a:rPr lang="pt-BR" baseline="0" dirty="0"/>
              <a:t>).</a:t>
            </a:r>
            <a:endParaRPr lang="pt-BR" dirty="0"/>
          </a:p>
          <a:p>
            <a:endParaRPr lang="pt-BR" dirty="0"/>
          </a:p>
          <a:p>
            <a:endParaRPr lang="pt-BR" dirty="0"/>
          </a:p>
          <a:p>
            <a:pPr algn="l"/>
            <a:r>
              <a:rPr lang="en-US" b="0" i="0" dirty="0">
                <a:effectLst/>
                <a:latin typeface="Söhne"/>
              </a:rPr>
              <a:t>What does k-fold error variance say about overfitting?</a:t>
            </a:r>
          </a:p>
          <a:p>
            <a:endParaRPr lang="pt-BR" dirty="0"/>
          </a:p>
          <a:p>
            <a:pPr algn="l"/>
            <a:r>
              <a:rPr lang="en-US" b="0" i="0" dirty="0">
                <a:solidFill>
                  <a:srgbClr val="374151"/>
                </a:solidFill>
                <a:effectLst/>
                <a:latin typeface="Söhne"/>
              </a:rPr>
              <a:t>K-fold error variance can provide insights into the presence of overfitting in a machine learning model. Overfitting occurs when a model learns the training data too well and performs poorly on unseen data.</a:t>
            </a:r>
          </a:p>
          <a:p>
            <a:pPr algn="l"/>
            <a:r>
              <a:rPr lang="en-US" b="0" i="0" dirty="0">
                <a:solidFill>
                  <a:srgbClr val="374151"/>
                </a:solidFill>
                <a:effectLst/>
                <a:latin typeface="Söhne"/>
              </a:rPr>
              <a:t>In k-fold cross-validation, the dataset is divided into k subsets or folds. The model is trained on k-1 folds and evaluated on the remaining fold. This process is repeated k times, with each fold serving as the evaluation set once. The k-fold error variance refers to the variability in performance (e.g., accuracy, error rate) across the k iterations of the cross-validation process.</a:t>
            </a:r>
          </a:p>
          <a:p>
            <a:pPr algn="l"/>
            <a:r>
              <a:rPr lang="en-US" b="0" i="0" dirty="0">
                <a:solidFill>
                  <a:srgbClr val="374151"/>
                </a:solidFill>
                <a:effectLst/>
                <a:latin typeface="Söhne"/>
              </a:rPr>
              <a:t>When the k-fold error variance is low, it suggests that the model's performance is consistent across different subsets of the data. This indicates that the model generalizes well and is less likely to be overfitting. On the other hand, a high k-fold error variance implies that the model's performance varies significantly depending on the subset of the data used for evaluation. This could be a sign of overfitting because the model might be capturing noise or idiosyncrasies in the training data that do not generalize well to unseen data.</a:t>
            </a:r>
          </a:p>
          <a:p>
            <a:pPr algn="l"/>
            <a:r>
              <a:rPr lang="en-US" b="0" i="0" dirty="0">
                <a:solidFill>
                  <a:srgbClr val="374151"/>
                </a:solidFill>
                <a:effectLst/>
                <a:latin typeface="Söhne"/>
              </a:rPr>
              <a:t>In summary, a low k-fold error variance suggests a model with good generalization, while a high k-fold error variance may indicate overfitting and a potential lack of generalization. However, it is important to consider other factors such as the overall performance metrics and the complexity of the model to make a conclusive assessment of overfitting.</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75</a:t>
            </a:fld>
            <a:endParaRPr lang="nl-BE"/>
          </a:p>
        </p:txBody>
      </p:sp>
    </p:spTree>
    <p:extLst>
      <p:ext uri="{BB962C8B-B14F-4D97-AF65-F5344CB8AC3E}">
        <p14:creationId xmlns:p14="http://schemas.microsoft.com/office/powerpoint/2010/main" val="57196959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en-US" dirty="0"/>
              <a:t>Um </a:t>
            </a:r>
            <a:r>
              <a:rPr lang="en-US" dirty="0" err="1"/>
              <a:t>desvio</a:t>
            </a:r>
            <a:r>
              <a:rPr lang="en-US" dirty="0"/>
              <a:t> </a:t>
            </a:r>
            <a:r>
              <a:rPr lang="en-US" dirty="0" err="1"/>
              <a:t>padrão</a:t>
            </a:r>
            <a:r>
              <a:rPr lang="en-US" dirty="0"/>
              <a:t> </a:t>
            </a:r>
            <a:r>
              <a:rPr lang="en-US" dirty="0" err="1"/>
              <a:t>baixo</a:t>
            </a:r>
            <a:r>
              <a:rPr lang="en-US" dirty="0"/>
              <a:t> indica </a:t>
            </a:r>
            <a:r>
              <a:rPr lang="en-US" dirty="0" err="1"/>
              <a:t>que</a:t>
            </a:r>
            <a:r>
              <a:rPr lang="en-US" dirty="0"/>
              <a:t> o </a:t>
            </a:r>
            <a:r>
              <a:rPr lang="en-US" dirty="0" err="1"/>
              <a:t>desempenho</a:t>
            </a:r>
            <a:r>
              <a:rPr lang="en-US" dirty="0"/>
              <a:t> do </a:t>
            </a:r>
            <a:r>
              <a:rPr lang="en-US" dirty="0" err="1"/>
              <a:t>modelo</a:t>
            </a:r>
            <a:r>
              <a:rPr lang="en-US" dirty="0"/>
              <a:t> é </a:t>
            </a:r>
            <a:r>
              <a:rPr lang="en-US" dirty="0" err="1"/>
              <a:t>consistente</a:t>
            </a:r>
            <a:r>
              <a:rPr lang="en-US" dirty="0"/>
              <a:t> </a:t>
            </a:r>
            <a:r>
              <a:rPr lang="en-US" dirty="0" err="1"/>
              <a:t>independentemente</a:t>
            </a:r>
            <a:r>
              <a:rPr lang="en-US" dirty="0"/>
              <a:t> de </a:t>
            </a:r>
            <a:r>
              <a:rPr lang="en-US" dirty="0" err="1"/>
              <a:t>como</a:t>
            </a:r>
            <a:r>
              <a:rPr lang="en-US" dirty="0"/>
              <a:t> </a:t>
            </a:r>
            <a:r>
              <a:rPr lang="en-US" dirty="0" err="1"/>
              <a:t>os</a:t>
            </a:r>
            <a:r>
              <a:rPr lang="en-US" dirty="0"/>
              <a:t> dados </a:t>
            </a:r>
            <a:r>
              <a:rPr lang="en-US" dirty="0" err="1"/>
              <a:t>foram</a:t>
            </a:r>
            <a:r>
              <a:rPr lang="en-US" dirty="0"/>
              <a:t> </a:t>
            </a:r>
            <a:r>
              <a:rPr lang="en-US" dirty="0" err="1"/>
              <a:t>divididos</a:t>
            </a:r>
            <a:r>
              <a:rPr lang="en-US" dirty="0"/>
              <a:t>.</a:t>
            </a:r>
            <a:endParaRPr lang="pt-BR" dirty="0"/>
          </a:p>
          <a:p>
            <a:endParaRPr lang="pt-BR" dirty="0"/>
          </a:p>
          <a:p>
            <a:r>
              <a:rPr lang="pt-BR" dirty="0"/>
              <a:t>A ideia principal por trás da</a:t>
            </a:r>
            <a:r>
              <a:rPr lang="pt-BR" baseline="0" dirty="0"/>
              <a:t> estratégia do k-</a:t>
            </a:r>
            <a:r>
              <a:rPr lang="pt-BR" baseline="0" dirty="0" err="1"/>
              <a:t>Fold</a:t>
            </a:r>
            <a:r>
              <a:rPr lang="pt-BR" baseline="0" dirty="0"/>
              <a:t> </a:t>
            </a:r>
            <a:r>
              <a:rPr lang="pt-BR" dirty="0"/>
              <a:t>é que cada</a:t>
            </a:r>
            <a:r>
              <a:rPr lang="pt-BR" baseline="0" dirty="0"/>
              <a:t> exemplo do conjunto de dados faz o serviço duplo como dado de treinamento e de validação/teste.</a:t>
            </a:r>
            <a:endParaRPr lang="pt-BR" dirty="0"/>
          </a:p>
          <a:p>
            <a:endParaRPr lang="pt-BR" dirty="0"/>
          </a:p>
          <a:p>
            <a:pPr marL="0" marR="0" indent="0" algn="l" defTabSz="914400" rtl="0" eaLnBrk="1" fontAlgn="auto" latinLnBrk="0" hangingPunct="1">
              <a:lnSpc>
                <a:spcPct val="100000"/>
              </a:lnSpc>
              <a:spcBef>
                <a:spcPts val="0"/>
              </a:spcBef>
              <a:spcAft>
                <a:spcPts val="0"/>
              </a:spcAft>
              <a:buClrTx/>
              <a:buSzTx/>
              <a:buFontTx/>
              <a:buNone/>
              <a:tabLst/>
              <a:defRPr/>
            </a:pPr>
            <a:r>
              <a:rPr lang="pt-BR" dirty="0"/>
              <a:t>Na validação cruzada do k-</a:t>
            </a:r>
            <a:r>
              <a:rPr lang="pt-BR" dirty="0" err="1"/>
              <a:t>Fold</a:t>
            </a:r>
            <a:r>
              <a:rPr lang="pt-BR" dirty="0"/>
              <a:t>, os dados são divididos em k subconjuntos. A validação é repetida k vezes, de modo que, a cada vez, um dos subconjuntos k é usado como conjunto de validação e os outros subconjuntos k-1 são reunidos para formar um único conjunto de treinamento. Desta forma, </a:t>
            </a:r>
            <a:r>
              <a:rPr lang="pt-BR" baseline="0" dirty="0"/>
              <a:t>uma vantagem dessa abordagem é que a forma como os dados são divididos importa menos. </a:t>
            </a:r>
          </a:p>
          <a:p>
            <a:endParaRPr lang="pt-BR" dirty="0"/>
          </a:p>
          <a:p>
            <a:r>
              <a:rPr lang="pt-BR" dirty="0"/>
              <a:t>Essa</a:t>
            </a:r>
            <a:r>
              <a:rPr lang="pt-BR" baseline="0" dirty="0"/>
              <a:t> </a:t>
            </a:r>
            <a:r>
              <a:rPr lang="pt-BR" sz="1200" dirty="0"/>
              <a:t>estratégia </a:t>
            </a:r>
            <a:r>
              <a:rPr lang="pt-BR" dirty="0"/>
              <a:t>reduz significativamente o problema do viés</a:t>
            </a:r>
            <a:r>
              <a:rPr lang="pt-BR" baseline="0" dirty="0"/>
              <a:t> de seleção</a:t>
            </a:r>
            <a:r>
              <a:rPr lang="pt-BR" dirty="0"/>
              <a:t>, pois ela</a:t>
            </a:r>
            <a:r>
              <a:rPr lang="pt-BR" baseline="0" dirty="0"/>
              <a:t> </a:t>
            </a:r>
            <a:r>
              <a:rPr lang="pt-BR" sz="1200" dirty="0"/>
              <a:t>garante que todos os exemplos do conjunto de dados original tenham a chance de aparecer nos conjuntos de treinamento e validação,</a:t>
            </a:r>
            <a:r>
              <a:rPr lang="pt-BR" sz="1200" baseline="0" dirty="0"/>
              <a:t> o que consequentemente, </a:t>
            </a:r>
            <a:r>
              <a:rPr lang="pt-BR" dirty="0"/>
              <a:t>reduz a variância.</a:t>
            </a:r>
            <a:r>
              <a:rPr lang="pt-BR" baseline="0" dirty="0"/>
              <a:t> </a:t>
            </a:r>
          </a:p>
          <a:p>
            <a:endParaRPr lang="pt-BR" baseline="0" dirty="0"/>
          </a:p>
          <a:p>
            <a:r>
              <a:rPr lang="pt-BR" dirty="0"/>
              <a:t>Portanto,</a:t>
            </a:r>
            <a:r>
              <a:rPr lang="pt-BR" baseline="0" dirty="0"/>
              <a:t> a</a:t>
            </a:r>
            <a:r>
              <a:rPr lang="pt-BR" dirty="0"/>
              <a:t> troca dos conjuntos de treinamento e validação contribuem</a:t>
            </a:r>
            <a:r>
              <a:rPr lang="pt-BR" baseline="0" dirty="0"/>
              <a:t> </a:t>
            </a:r>
            <a:r>
              <a:rPr lang="pt-BR" dirty="0"/>
              <a:t>para a eficácia dessa </a:t>
            </a:r>
            <a:r>
              <a:rPr lang="pt-BR" sz="1200" dirty="0"/>
              <a:t>estratégia</a:t>
            </a:r>
            <a:r>
              <a:rPr lang="pt-BR" dirty="0"/>
              <a:t>. </a:t>
            </a:r>
            <a:r>
              <a:rPr lang="pt-BR" baseline="0" dirty="0"/>
              <a:t>Como regra geral e evidência empírica, normalmente, utiliza-se K = 5 ou 10. A variância da estimativa resultante é reduzida à medida que k é aumentado.</a:t>
            </a:r>
          </a:p>
          <a:p>
            <a:endParaRPr lang="pt-BR" baseline="0" dirty="0"/>
          </a:p>
          <a:p>
            <a:r>
              <a:rPr lang="pt-BR" baseline="0" dirty="0"/>
              <a:t>A validação cruzada do k-</a:t>
            </a:r>
            <a:r>
              <a:rPr lang="pt-BR" baseline="0" dirty="0" err="1"/>
              <a:t>Fold</a:t>
            </a:r>
            <a:r>
              <a:rPr lang="pt-BR" baseline="0" dirty="0"/>
              <a:t> é importante pois permite que você use seu conjunto de dados completo tanto para treinamento como para validação. É especialmente útil ao avaliar um modelo usando conjuntos de dados pequenos ou limitados.</a:t>
            </a:r>
          </a:p>
          <a:p>
            <a:endParaRPr lang="pt-BR" dirty="0"/>
          </a:p>
          <a:p>
            <a:r>
              <a:rPr lang="pt-BR" dirty="0"/>
              <a:t>O desempenho do modelo é dado pela média dos erros de validação calculados para cada um dos k folds. A estimativa de erro é calculada sobre todos os k folds para obter a eficácia total do modelo. </a:t>
            </a:r>
          </a:p>
          <a:p>
            <a:pPr marL="0" marR="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indent="0" algn="l" defTabSz="914400" rtl="0" eaLnBrk="1" fontAlgn="auto" latinLnBrk="0" hangingPunct="1">
              <a:lnSpc>
                <a:spcPct val="100000"/>
              </a:lnSpc>
              <a:spcBef>
                <a:spcPts val="0"/>
              </a:spcBef>
              <a:spcAft>
                <a:spcPts val="0"/>
              </a:spcAft>
              <a:buClrTx/>
              <a:buSzTx/>
              <a:buFontTx/>
              <a:buNone/>
              <a:tabLst/>
              <a:defRPr/>
            </a:pPr>
            <a:r>
              <a:rPr lang="pt-BR" dirty="0"/>
              <a:t>Como pode ser visto, todo exemplo fica em um conjunto de validação exatamente uma vez e em um conjunto de treinamento k-1 vezes.</a:t>
            </a:r>
          </a:p>
          <a:p>
            <a:r>
              <a:rPr lang="pt-BR" baseline="0" dirty="0"/>
              <a:t>Cada exemplo entra em um conjunto de validação exatamente uma vez e a k-1 vezes no conjunto de treinamento.</a:t>
            </a:r>
          </a:p>
          <a:p>
            <a:pPr marL="0" marR="0" indent="0" algn="l" defTabSz="914400" rtl="0" eaLnBrk="1" fontAlgn="auto" latinLnBrk="0" hangingPunct="1">
              <a:lnSpc>
                <a:spcPct val="100000"/>
              </a:lnSpc>
              <a:spcBef>
                <a:spcPts val="0"/>
              </a:spcBef>
              <a:spcAft>
                <a:spcPts val="0"/>
              </a:spcAft>
              <a:buClrTx/>
              <a:buSzTx/>
              <a:buFontTx/>
              <a:buNone/>
              <a:tabLst/>
              <a:defRPr/>
            </a:pPr>
            <a:r>
              <a:rPr lang="pt-BR" dirty="0"/>
              <a:t>Com este procedimento, toda amostra disponível vai aparecer k-1 vezes no conjunto de treinamento e 1 vez no conjunto de validação.</a:t>
            </a:r>
          </a:p>
          <a:p>
            <a:endParaRPr lang="pt-BR" dirty="0"/>
          </a:p>
          <a:p>
            <a:r>
              <a:rPr lang="pt-BR" b="1" dirty="0"/>
              <a:t>Desvantagem</a:t>
            </a:r>
            <a:r>
              <a:rPr lang="pt-BR" dirty="0"/>
              <a:t>:</a:t>
            </a:r>
          </a:p>
          <a:p>
            <a:r>
              <a:rPr lang="pt-BR" dirty="0"/>
              <a:t>Alto</a:t>
            </a:r>
            <a:r>
              <a:rPr lang="pt-BR" baseline="0" dirty="0"/>
              <a:t> custo </a:t>
            </a:r>
            <a:r>
              <a:rPr lang="pt-BR" baseline="0" dirty="0" err="1"/>
              <a:t>computational</a:t>
            </a:r>
            <a:r>
              <a:rPr lang="pt-BR" baseline="0" dirty="0"/>
              <a:t> pois treina-se e valida-se o modelo k vezes, ou seja, o algoritmo de treinamento deve ser executado novamente do zero k vezes, o que significa que leva k vezes mais tempo para fazer uma avaliação (</a:t>
            </a:r>
            <a:r>
              <a:rPr lang="pt-BR" baseline="0" dirty="0" err="1"/>
              <a:t>treinamento+validação</a:t>
            </a:r>
            <a:r>
              <a:rPr lang="pt-BR" baseline="0" dirty="0"/>
              <a:t>).</a:t>
            </a:r>
            <a:endParaRPr lang="pt-BR" dirty="0"/>
          </a:p>
          <a:p>
            <a:endParaRPr lang="pt-BR" dirty="0"/>
          </a:p>
          <a:p>
            <a:endParaRPr lang="pt-BR" dirty="0"/>
          </a:p>
          <a:p>
            <a:pPr algn="l"/>
            <a:r>
              <a:rPr lang="en-US" b="0" i="0" dirty="0">
                <a:effectLst/>
                <a:latin typeface="Söhne"/>
              </a:rPr>
              <a:t>What does k-fold error variance say about overfitting?</a:t>
            </a:r>
          </a:p>
          <a:p>
            <a:endParaRPr lang="pt-BR" dirty="0"/>
          </a:p>
          <a:p>
            <a:pPr algn="l"/>
            <a:r>
              <a:rPr lang="en-US" b="0" i="0" dirty="0">
                <a:solidFill>
                  <a:srgbClr val="374151"/>
                </a:solidFill>
                <a:effectLst/>
                <a:latin typeface="Söhne"/>
              </a:rPr>
              <a:t>K-fold error variance can provide insights into the presence of overfitting in a machine learning model. Overfitting occurs when a model learns the training data too well and performs poorly on unseen data.</a:t>
            </a:r>
          </a:p>
          <a:p>
            <a:pPr algn="l"/>
            <a:r>
              <a:rPr lang="en-US" b="0" i="0" dirty="0">
                <a:solidFill>
                  <a:srgbClr val="374151"/>
                </a:solidFill>
                <a:effectLst/>
                <a:latin typeface="Söhne"/>
              </a:rPr>
              <a:t>In k-fold cross-validation, the dataset is divided into k subsets or folds. The model is trained on k-1 folds and evaluated on the remaining fold. This process is repeated k times, with each fold serving as the evaluation set once. The k-fold error variance refers to the variability in performance (e.g., accuracy, error rate) across the k iterations of the cross-validation process.</a:t>
            </a:r>
          </a:p>
          <a:p>
            <a:pPr algn="l"/>
            <a:r>
              <a:rPr lang="en-US" b="0" i="0" dirty="0">
                <a:solidFill>
                  <a:srgbClr val="374151"/>
                </a:solidFill>
                <a:effectLst/>
                <a:latin typeface="Söhne"/>
              </a:rPr>
              <a:t>When the k-fold error variance is low, it suggests that the model's performance is consistent across different subsets of the data. This indicates that the model generalizes well and is less likely to be overfitting. On the other hand, a high k-fold error variance implies that the model's performance varies significantly depending on the subset of the data used for evaluation. This could be a sign of overfitting because the model might be capturing noise or idiosyncrasies in the training data that do not generalize well to unseen data.</a:t>
            </a:r>
          </a:p>
          <a:p>
            <a:pPr algn="l"/>
            <a:r>
              <a:rPr lang="en-US" b="0" i="0" dirty="0">
                <a:solidFill>
                  <a:srgbClr val="374151"/>
                </a:solidFill>
                <a:effectLst/>
                <a:latin typeface="Söhne"/>
              </a:rPr>
              <a:t>In summary, a low k-fold error variance suggests a model with good generalization, while a high k-fold error variance may indicate overfitting and a potential lack of generalization. However, it is important to consider other factors such as the overall performance metrics and the complexity of the model to make a conclusive assessment of overfitting.</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76</a:t>
            </a:fld>
            <a:endParaRPr lang="nl-BE"/>
          </a:p>
        </p:txBody>
      </p:sp>
    </p:spTree>
    <p:extLst>
      <p:ext uri="{BB962C8B-B14F-4D97-AF65-F5344CB8AC3E}">
        <p14:creationId xmlns:p14="http://schemas.microsoft.com/office/powerpoint/2010/main" val="309223393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F8D4E-93FF-2CEE-F304-EFF1ECCB4CC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B8C5B482-0D08-D7C1-40A0-E159FB91CD13}"/>
              </a:ext>
            </a:extLst>
          </p:cNvPr>
          <p:cNvSpPr>
            <a:spLocks noGrp="1" noRot="1" noChangeAspect="1"/>
          </p:cNvSpPr>
          <p:nvPr>
            <p:ph type="sldImg"/>
          </p:nvPr>
        </p:nvSpPr>
        <p:spPr/>
        <p:txBody>
          <a:bodyPr/>
          <a:lstStyle/>
          <a:p>
            <a:endParaRPr lang="en-US"/>
          </a:p>
        </p:txBody>
      </p:sp>
      <p:sp>
        <p:nvSpPr>
          <p:cNvPr id="3" name="Espaço Reservado para Anotações 2">
            <a:extLst>
              <a:ext uri="{FF2B5EF4-FFF2-40B4-BE49-F238E27FC236}">
                <a16:creationId xmlns:a16="http://schemas.microsoft.com/office/drawing/2014/main" id="{6387FC07-F080-71AF-E508-D23EB2EF72A4}"/>
              </a:ext>
            </a:extLst>
          </p:cNvPr>
          <p:cNvSpPr>
            <a:spLocks noGrp="1"/>
          </p:cNvSpPr>
          <p:nvPr>
            <p:ph type="body" idx="1"/>
          </p:nvPr>
        </p:nvSpPr>
        <p:spPr/>
        <p:txBody>
          <a:bodyPr/>
          <a:lstStyle/>
          <a:p>
            <a:r>
              <a:rPr lang="pt-BR" dirty="0"/>
              <a:t>A ideia principal por trás da</a:t>
            </a:r>
            <a:r>
              <a:rPr lang="pt-BR" baseline="0" dirty="0"/>
              <a:t> estratégia do k-</a:t>
            </a:r>
            <a:r>
              <a:rPr lang="pt-BR" baseline="0" dirty="0" err="1"/>
              <a:t>Fold</a:t>
            </a:r>
            <a:r>
              <a:rPr lang="pt-BR" baseline="0" dirty="0"/>
              <a:t> </a:t>
            </a:r>
            <a:r>
              <a:rPr lang="pt-BR" dirty="0"/>
              <a:t>é que cada</a:t>
            </a:r>
            <a:r>
              <a:rPr lang="pt-BR" baseline="0" dirty="0"/>
              <a:t> exemplo do conjunto de dados faz o serviço duplo como dado de treinamento e de validação/teste.</a:t>
            </a:r>
            <a:endParaRPr lang="pt-BR" dirty="0"/>
          </a:p>
          <a:p>
            <a:endParaRPr lang="pt-BR" dirty="0"/>
          </a:p>
          <a:p>
            <a:pPr marL="0" marR="0" indent="0" algn="l" defTabSz="914400" rtl="0" eaLnBrk="1" fontAlgn="auto" latinLnBrk="0" hangingPunct="1">
              <a:lnSpc>
                <a:spcPct val="100000"/>
              </a:lnSpc>
              <a:spcBef>
                <a:spcPts val="0"/>
              </a:spcBef>
              <a:spcAft>
                <a:spcPts val="0"/>
              </a:spcAft>
              <a:buClrTx/>
              <a:buSzTx/>
              <a:buFontTx/>
              <a:buNone/>
              <a:tabLst/>
              <a:defRPr/>
            </a:pPr>
            <a:r>
              <a:rPr lang="pt-BR" dirty="0"/>
              <a:t>Na validação cruzada do k-</a:t>
            </a:r>
            <a:r>
              <a:rPr lang="pt-BR" dirty="0" err="1"/>
              <a:t>Fold</a:t>
            </a:r>
            <a:r>
              <a:rPr lang="pt-BR" dirty="0"/>
              <a:t>, os dados são divididos em k subconjuntos. A validação é repetida k vezes, de modo que, a cada vez, um dos subconjuntos k é usado como conjunto de validação e os outros subconjuntos k-1 são reunidos para formar um único conjunto de treinamento. Desta forma, </a:t>
            </a:r>
            <a:r>
              <a:rPr lang="pt-BR" baseline="0" dirty="0"/>
              <a:t>uma vantagem dessa abordagem é que a forma como os dados são divididos importa menos. </a:t>
            </a:r>
          </a:p>
          <a:p>
            <a:endParaRPr lang="pt-BR" dirty="0"/>
          </a:p>
          <a:p>
            <a:r>
              <a:rPr lang="pt-BR" dirty="0"/>
              <a:t>Essa</a:t>
            </a:r>
            <a:r>
              <a:rPr lang="pt-BR" baseline="0" dirty="0"/>
              <a:t> </a:t>
            </a:r>
            <a:r>
              <a:rPr lang="pt-BR" sz="1200" dirty="0"/>
              <a:t>estratégia </a:t>
            </a:r>
            <a:r>
              <a:rPr lang="pt-BR" dirty="0"/>
              <a:t>reduz significativamente o problema do viés</a:t>
            </a:r>
            <a:r>
              <a:rPr lang="pt-BR" baseline="0" dirty="0"/>
              <a:t> de seleção</a:t>
            </a:r>
            <a:r>
              <a:rPr lang="pt-BR" dirty="0"/>
              <a:t>, pois ela</a:t>
            </a:r>
            <a:r>
              <a:rPr lang="pt-BR" baseline="0" dirty="0"/>
              <a:t> </a:t>
            </a:r>
            <a:r>
              <a:rPr lang="pt-BR" sz="1200" dirty="0"/>
              <a:t>garante que todos os exemplos do conjunto de dados original tenham a chance de aparecer nos conjuntos de treinamento e validação,</a:t>
            </a:r>
            <a:r>
              <a:rPr lang="pt-BR" sz="1200" baseline="0" dirty="0"/>
              <a:t> o que consequentemente, </a:t>
            </a:r>
            <a:r>
              <a:rPr lang="pt-BR" dirty="0"/>
              <a:t>reduz a variância.</a:t>
            </a:r>
            <a:r>
              <a:rPr lang="pt-BR" baseline="0" dirty="0"/>
              <a:t> </a:t>
            </a:r>
          </a:p>
          <a:p>
            <a:endParaRPr lang="pt-BR" baseline="0" dirty="0"/>
          </a:p>
          <a:p>
            <a:r>
              <a:rPr lang="pt-BR" dirty="0"/>
              <a:t>Portanto,</a:t>
            </a:r>
            <a:r>
              <a:rPr lang="pt-BR" baseline="0" dirty="0"/>
              <a:t> a</a:t>
            </a:r>
            <a:r>
              <a:rPr lang="pt-BR" dirty="0"/>
              <a:t> troca dos conjuntos de treinamento e validação contribuem</a:t>
            </a:r>
            <a:r>
              <a:rPr lang="pt-BR" baseline="0" dirty="0"/>
              <a:t> </a:t>
            </a:r>
            <a:r>
              <a:rPr lang="pt-BR" dirty="0"/>
              <a:t>para a eficácia dessa </a:t>
            </a:r>
            <a:r>
              <a:rPr lang="pt-BR" sz="1200" dirty="0"/>
              <a:t>estratégia</a:t>
            </a:r>
            <a:r>
              <a:rPr lang="pt-BR" dirty="0"/>
              <a:t>. </a:t>
            </a:r>
            <a:r>
              <a:rPr lang="pt-BR" baseline="0" dirty="0"/>
              <a:t>Como regra geral e evidência empírica, normalmente, utiliza-se K = 5 ou 10. A variância da estimativa resultante é reduzida à medida que k é aumentado.</a:t>
            </a:r>
          </a:p>
          <a:p>
            <a:endParaRPr lang="pt-BR" baseline="0" dirty="0"/>
          </a:p>
          <a:p>
            <a:r>
              <a:rPr lang="pt-BR" baseline="0" dirty="0"/>
              <a:t>A validação cruzada do k-</a:t>
            </a:r>
            <a:r>
              <a:rPr lang="pt-BR" baseline="0" dirty="0" err="1"/>
              <a:t>Fold</a:t>
            </a:r>
            <a:r>
              <a:rPr lang="pt-BR" baseline="0" dirty="0"/>
              <a:t> é importante pois permite que você use seu conjunto de dados completo tanto para treinamento como para validação. É especialmente útil ao avaliar um modelo usando conjuntos de dados pequenos ou limitados.</a:t>
            </a:r>
          </a:p>
          <a:p>
            <a:endParaRPr lang="pt-BR" dirty="0"/>
          </a:p>
          <a:p>
            <a:r>
              <a:rPr lang="pt-BR" dirty="0"/>
              <a:t>O desempenho do modelo é dado pela média dos erros de validação calculados para cada um dos k folds. A estimativa de erro é calculada sobre todos os k folds para obter a eficácia total do modelo. </a:t>
            </a:r>
          </a:p>
          <a:p>
            <a:pPr marL="0" marR="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indent="0" algn="l" defTabSz="914400" rtl="0" eaLnBrk="1" fontAlgn="auto" latinLnBrk="0" hangingPunct="1">
              <a:lnSpc>
                <a:spcPct val="100000"/>
              </a:lnSpc>
              <a:spcBef>
                <a:spcPts val="0"/>
              </a:spcBef>
              <a:spcAft>
                <a:spcPts val="0"/>
              </a:spcAft>
              <a:buClrTx/>
              <a:buSzTx/>
              <a:buFontTx/>
              <a:buNone/>
              <a:tabLst/>
              <a:defRPr/>
            </a:pPr>
            <a:r>
              <a:rPr lang="pt-BR" dirty="0"/>
              <a:t>Como pode ser visto, todo exemplo fica em um conjunto de validação exatamente uma vez e em um conjunto de treinamento k-1 vezes.</a:t>
            </a:r>
          </a:p>
          <a:p>
            <a:r>
              <a:rPr lang="pt-BR" baseline="0" dirty="0"/>
              <a:t>Cada exemplo entra em um conjunto de validação exatamente uma vez e a k-1 vezes no conjunto de treinamento.</a:t>
            </a:r>
          </a:p>
          <a:p>
            <a:pPr marL="0" marR="0" indent="0" algn="l" defTabSz="914400" rtl="0" eaLnBrk="1" fontAlgn="auto" latinLnBrk="0" hangingPunct="1">
              <a:lnSpc>
                <a:spcPct val="100000"/>
              </a:lnSpc>
              <a:spcBef>
                <a:spcPts val="0"/>
              </a:spcBef>
              <a:spcAft>
                <a:spcPts val="0"/>
              </a:spcAft>
              <a:buClrTx/>
              <a:buSzTx/>
              <a:buFontTx/>
              <a:buNone/>
              <a:tabLst/>
              <a:defRPr/>
            </a:pPr>
            <a:r>
              <a:rPr lang="pt-BR" dirty="0"/>
              <a:t>Com este procedimento, toda amostra disponível vai aparecer k-1 vezes no conjunto de treinamento e 1 vez no conjunto de validação.</a:t>
            </a:r>
          </a:p>
          <a:p>
            <a:endParaRPr lang="pt-BR" dirty="0"/>
          </a:p>
          <a:p>
            <a:r>
              <a:rPr lang="pt-BR" b="1" dirty="0"/>
              <a:t>Desvantagem</a:t>
            </a:r>
            <a:r>
              <a:rPr lang="pt-BR" dirty="0"/>
              <a:t>:</a:t>
            </a:r>
          </a:p>
          <a:p>
            <a:r>
              <a:rPr lang="pt-BR" dirty="0"/>
              <a:t>Alto</a:t>
            </a:r>
            <a:r>
              <a:rPr lang="pt-BR" baseline="0" dirty="0"/>
              <a:t> custo </a:t>
            </a:r>
            <a:r>
              <a:rPr lang="pt-BR" baseline="0" dirty="0" err="1"/>
              <a:t>computational</a:t>
            </a:r>
            <a:r>
              <a:rPr lang="pt-BR" baseline="0" dirty="0"/>
              <a:t> pois treina-se e valida-se o modelo k vezes, ou seja, o algoritmo de treinamento deve ser executado novamente do zero k vezes, o que significa que leva k vezes mais tempo para fazer uma avaliação (</a:t>
            </a:r>
            <a:r>
              <a:rPr lang="pt-BR" baseline="0" dirty="0" err="1"/>
              <a:t>treinamento+validação</a:t>
            </a:r>
            <a:r>
              <a:rPr lang="pt-BR" baseline="0" dirty="0"/>
              <a:t>).</a:t>
            </a:r>
            <a:endParaRPr lang="pt-BR" dirty="0"/>
          </a:p>
          <a:p>
            <a:endParaRPr lang="pt-BR" dirty="0"/>
          </a:p>
          <a:p>
            <a:endParaRPr lang="pt-BR" dirty="0"/>
          </a:p>
          <a:p>
            <a:pPr algn="l"/>
            <a:r>
              <a:rPr lang="en-US" b="0" i="0" dirty="0">
                <a:effectLst/>
                <a:latin typeface="Söhne"/>
              </a:rPr>
              <a:t>What does k-fold error variance say about overfitting?</a:t>
            </a:r>
          </a:p>
          <a:p>
            <a:endParaRPr lang="pt-BR" dirty="0"/>
          </a:p>
          <a:p>
            <a:pPr algn="l"/>
            <a:r>
              <a:rPr lang="en-US" b="0" i="0" dirty="0">
                <a:solidFill>
                  <a:srgbClr val="374151"/>
                </a:solidFill>
                <a:effectLst/>
                <a:latin typeface="Söhne"/>
              </a:rPr>
              <a:t>K-fold error variance can provide insights into the presence of overfitting in a machine learning model. Overfitting occurs when a model learns the training data too well and performs poorly on unseen data.</a:t>
            </a:r>
          </a:p>
          <a:p>
            <a:pPr algn="l"/>
            <a:r>
              <a:rPr lang="en-US" b="0" i="0" dirty="0">
                <a:solidFill>
                  <a:srgbClr val="374151"/>
                </a:solidFill>
                <a:effectLst/>
                <a:latin typeface="Söhne"/>
              </a:rPr>
              <a:t>In k-fold cross-validation, the dataset is divided into k subsets or folds. The model is trained on k-1 folds and evaluated on the remaining fold. This process is repeated k times, with each fold serving as the evaluation set once. The k-fold error variance refers to the variability in performance (e.g., accuracy, error rate) across the k iterations of the cross-validation process.</a:t>
            </a:r>
          </a:p>
          <a:p>
            <a:pPr algn="l"/>
            <a:r>
              <a:rPr lang="en-US" b="0" i="0" dirty="0">
                <a:solidFill>
                  <a:srgbClr val="374151"/>
                </a:solidFill>
                <a:effectLst/>
                <a:latin typeface="Söhne"/>
              </a:rPr>
              <a:t>When the k-fold error variance is low, it suggests that the model's performance is consistent across different subsets of the data. This indicates that the model generalizes well and is less likely to be overfitting. On the other hand, a high k-fold error variance implies that the model's performance varies significantly depending on the subset of the data used for evaluation. This could be a sign of overfitting because the model might be capturing noise or idiosyncrasies in the training data that do not generalize well to unseen data.</a:t>
            </a:r>
          </a:p>
          <a:p>
            <a:pPr algn="l"/>
            <a:r>
              <a:rPr lang="en-US" b="0" i="0" dirty="0">
                <a:solidFill>
                  <a:srgbClr val="374151"/>
                </a:solidFill>
                <a:effectLst/>
                <a:latin typeface="Söhne"/>
              </a:rPr>
              <a:t>In summary, a low k-fold error variance suggests a model with good generalization, while a high k-fold error variance may indicate overfitting and a potential lack of generalization. However, it is important to consider other factors such as the overall performance metrics and the complexity of the model to make a conclusive assessment of overfitting.</a:t>
            </a:r>
          </a:p>
          <a:p>
            <a:endParaRPr lang="pt-BR" dirty="0"/>
          </a:p>
          <a:p>
            <a:endParaRPr lang="pt-BR" dirty="0"/>
          </a:p>
        </p:txBody>
      </p:sp>
      <p:sp>
        <p:nvSpPr>
          <p:cNvPr id="4" name="Espaço Reservado para Número de Slide 3">
            <a:extLst>
              <a:ext uri="{FF2B5EF4-FFF2-40B4-BE49-F238E27FC236}">
                <a16:creationId xmlns:a16="http://schemas.microsoft.com/office/drawing/2014/main" id="{F4876685-75FD-D2D5-B8B2-395812A47E16}"/>
              </a:ext>
            </a:extLst>
          </p:cNvPr>
          <p:cNvSpPr>
            <a:spLocks noGrp="1"/>
          </p:cNvSpPr>
          <p:nvPr>
            <p:ph type="sldNum" sz="quarter" idx="5"/>
          </p:nvPr>
        </p:nvSpPr>
        <p:spPr/>
        <p:txBody>
          <a:bodyPr/>
          <a:lstStyle/>
          <a:p>
            <a:fld id="{DA8B99DF-01BC-492A-8CEF-4FD88D18DD9D}" type="slidenum">
              <a:rPr lang="nl-BE" smtClean="0"/>
              <a:t>77</a:t>
            </a:fld>
            <a:endParaRPr lang="nl-BE"/>
          </a:p>
        </p:txBody>
      </p:sp>
    </p:spTree>
    <p:extLst>
      <p:ext uri="{BB962C8B-B14F-4D97-AF65-F5344CB8AC3E}">
        <p14:creationId xmlns:p14="http://schemas.microsoft.com/office/powerpoint/2010/main" val="335043353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dirty="0"/>
              <a:t>A figura mostra um modelo com número de amostras de treinamento muito maior do que sua complexidade.</a:t>
            </a:r>
          </a:p>
          <a:p>
            <a:endParaRPr lang="pt-BR" dirty="0"/>
          </a:p>
          <a:p>
            <a:r>
              <a:rPr lang="pt-BR" b="0" i="0" dirty="0">
                <a:solidFill>
                  <a:srgbClr val="374151"/>
                </a:solidFill>
                <a:effectLst/>
                <a:latin typeface="Söhne"/>
              </a:rPr>
              <a:t>No entanto, é importante ressaltar que o princípio da navalha de Occam não é uma regra absoluta, mas sim uma orientação heurística. Em certos casos, explicações mais complexas podem ser necessárias para capturar toda a complexidade do fenômeno estudado. Portanto, a aplicação do princípio requer um equilíbrio cuidadoso entre simplicidade e adequação à realidade observada.</a:t>
            </a:r>
            <a:endParaRPr lang="pt-BR" dirty="0"/>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79</a:t>
            </a:fld>
            <a:endParaRPr lang="nl-BE"/>
          </a:p>
        </p:txBody>
      </p:sp>
    </p:spTree>
    <p:extLst>
      <p:ext uri="{BB962C8B-B14F-4D97-AF65-F5344CB8AC3E}">
        <p14:creationId xmlns:p14="http://schemas.microsoft.com/office/powerpoint/2010/main" val="66061865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https://colab.research.google.com/github/zz4fap/tp557-iot-ml/blob/master/examples/</a:t>
            </a:r>
            <a:r>
              <a:rPr lang="en-US" dirty="0" err="1"/>
              <a:t>Sobreajuste_e_early_stop.ipynb</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Dropout é uma técnica de regularização usada em redes neurais para evitar o sobreajuste (</a:t>
            </a:r>
            <a:r>
              <a:rPr lang="pt-BR" dirty="0" err="1"/>
              <a:t>overfitting</a:t>
            </a:r>
            <a:r>
              <a:rPr lang="pt-BR" dirty="0"/>
              <a:t>). O sobreajuste ocorre quando uma rede neural se torna muito especializada nos dados de treinamento e não generaliza bem para novos dados. O </a:t>
            </a:r>
            <a:r>
              <a:rPr lang="pt-BR" dirty="0" err="1"/>
              <a:t>dropout</a:t>
            </a:r>
            <a:r>
              <a:rPr lang="pt-BR" dirty="0"/>
              <a:t> é uma abordagem eficaz para melhorar a generalização de uma rede neural. Aqui está como funciona:</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1. **Desligamento Aleatório de Neurônios**: Durante o treinamento da rede neural, o </a:t>
            </a:r>
            <a:r>
              <a:rPr lang="pt-BR" dirty="0" err="1"/>
              <a:t>dropout</a:t>
            </a:r>
            <a:r>
              <a:rPr lang="pt-BR" dirty="0"/>
              <a:t> envolve aleatoriamente "desligar" ou "descartar" um subconjunto dos neurônios em cada camada. Isso significa que esses neurônios não contribuirão para o cálculo das saídas da rede durante essa iteração de treinamento.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2. **Taxa de Dropout**: Um hiperparâmetro chamado "taxa de </a:t>
            </a:r>
            <a:r>
              <a:rPr lang="pt-BR" dirty="0" err="1"/>
              <a:t>dropout</a:t>
            </a:r>
            <a:r>
              <a:rPr lang="pt-BR" dirty="0"/>
              <a:t>" é definido antes do treinamento. Essa taxa determina a probabilidade de um neurônio ser desligado durante cada iteração. Por exemplo, uma taxa de </a:t>
            </a:r>
            <a:r>
              <a:rPr lang="pt-BR" dirty="0" err="1"/>
              <a:t>dropout</a:t>
            </a:r>
            <a:r>
              <a:rPr lang="pt-BR" dirty="0"/>
              <a:t> de 0,5 significa que, em média, metade dos neurônios será desligada em cada iteração.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3. **Treinamento Estocástico**: O </a:t>
            </a:r>
            <a:r>
              <a:rPr lang="pt-BR" dirty="0" err="1"/>
              <a:t>dropout</a:t>
            </a:r>
            <a:r>
              <a:rPr lang="pt-BR" dirty="0"/>
              <a:t> introduz uma forma de treinamento estocástico, onde a rede não pode depender excessivamente de nenhum neurônio específico. Isso obriga a rede a aprender recursos mais robustos e a generalizar melhor para dados que não foram vistos durante o treinamento.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4. **</a:t>
            </a:r>
            <a:r>
              <a:rPr lang="pt-BR" dirty="0" err="1"/>
              <a:t>Averaging</a:t>
            </a:r>
            <a:r>
              <a:rPr lang="pt-BR" dirty="0"/>
              <a:t> de Múltiplos Modelos**: O </a:t>
            </a:r>
            <a:r>
              <a:rPr lang="pt-BR" dirty="0" err="1"/>
              <a:t>dropout</a:t>
            </a:r>
            <a:r>
              <a:rPr lang="pt-BR" dirty="0"/>
              <a:t> efetivamente treina várias </a:t>
            </a:r>
            <a:r>
              <a:rPr lang="pt-BR" dirty="0" err="1"/>
              <a:t>sub-redes</a:t>
            </a:r>
            <a:r>
              <a:rPr lang="pt-BR" dirty="0"/>
              <a:t> durante o treinamento, já que diferentes subconjuntos de neurônios são desligados a cada iteração. Isso é semelhante a treinar uma série de modelos diferentes e, durante a inferência, os resultados dessas </a:t>
            </a:r>
            <a:r>
              <a:rPr lang="pt-BR" dirty="0" err="1"/>
              <a:t>sub-redes</a:t>
            </a:r>
            <a:r>
              <a:rPr lang="pt-BR" dirty="0"/>
              <a:t> são médios ou ponderados de alguma forma para produzir a saída final da rede.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Benefícios do Dropout:</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 Reduz o risco de sobreajuste, permitindo que a rede generalize melhor para novos dados.</a:t>
            </a: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 Ajuda a evitar a dependência excessiva de neurônios individuais, tornando o modelo mais robusto.</a:t>
            </a: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 Funciona bem em redes neurais profundas, onde o risco de </a:t>
            </a:r>
            <a:r>
              <a:rPr lang="pt-BR" dirty="0" err="1"/>
              <a:t>overfitting</a:t>
            </a:r>
            <a:r>
              <a:rPr lang="pt-BR" dirty="0"/>
              <a:t> é mais alto.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Embora o </a:t>
            </a:r>
            <a:r>
              <a:rPr lang="pt-BR" dirty="0" err="1"/>
              <a:t>dropout</a:t>
            </a:r>
            <a:r>
              <a:rPr lang="pt-BR" dirty="0"/>
              <a:t> seja uma técnica eficaz de regularização, é importante ajustar a taxa de </a:t>
            </a:r>
            <a:r>
              <a:rPr lang="pt-BR" dirty="0" err="1"/>
              <a:t>dropout</a:t>
            </a:r>
            <a:r>
              <a:rPr lang="pt-BR" dirty="0"/>
              <a:t> adequadamente, pois uma taxa muito alta pode prejudicar o aprendizado, enquanto uma taxa muito baixa pode não fornecer os benefícios desejados. A taxa de </a:t>
            </a:r>
            <a:r>
              <a:rPr lang="pt-BR" dirty="0" err="1"/>
              <a:t>dropout</a:t>
            </a:r>
            <a:r>
              <a:rPr lang="pt-BR" dirty="0"/>
              <a:t> é geralmente escolhida por meio de experimentação e validação cruzada em um conjunto de validação.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a:t>
            </a:r>
            <a:r>
              <a:rPr lang="pt-BR" dirty="0" err="1"/>
              <a:t>early</a:t>
            </a:r>
            <a:r>
              <a:rPr lang="pt-BR" dirty="0"/>
              <a:t> stopping" (parada antecipada) é uma técnica de regularização utilizada em treinamento de redes neurais para evitar o sobreajuste e encontrar um ponto ótimo de convergência durante o treinamento. A ideia fundamental por trás do </a:t>
            </a:r>
            <a:r>
              <a:rPr lang="pt-BR" dirty="0" err="1"/>
              <a:t>early</a:t>
            </a:r>
            <a:r>
              <a:rPr lang="pt-BR" dirty="0"/>
              <a:t> stopping é interromper o treinamento do modelo assim que o desempenho em um conjunto de validação começa a piorar, em vez de continuar até que o modelo se ajuste demais aos dados de treinamento. Aqui está como o </a:t>
            </a:r>
            <a:r>
              <a:rPr lang="pt-BR" dirty="0" err="1"/>
              <a:t>early</a:t>
            </a:r>
            <a:r>
              <a:rPr lang="pt-BR" dirty="0"/>
              <a:t> stopping funciona:</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1. **Conjunto de Treinamento e Conjunto de Validação**: Durante o treinamento de uma rede neural, geralmente divide-se o conjunto de dados em dois subconjuntos: um conjunto de treinamento usado para atualizar os pesos do modelo e um conjunto de validação usado para avaliar o desempenho do modelo em dados não vistos durante o treinamento.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2. **Monitoramento de Métricas**: À medida que o treinamento progride, as métricas de desempenho, como erro ou precisão, são calculadas regularmente no conjunto de validação. Essas métricas fornecem uma indicação de quão bem o modelo está generalizando para novos dados.</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3. **Critério de Parada**: O critério de parada é uma métrica escolhida com base no problema e nas metas do treinamento. Pode ser o erro de validação, a precisão ou qualquer outra métrica relevante. O treinamento é interrompido quando a métrica de validação não melhora mais ou começa a piorar.</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4. **Recuperação do Melhor Modelo**: Ao interromper o treinamento, o modelo é revertido para o ponto em que obteve o melhor desempenho no conjunto de validação. Esse modelo é então usado para inferência e avaliação em novos dados.</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Os benefícios do </a:t>
            </a:r>
            <a:r>
              <a:rPr lang="pt-BR" dirty="0" err="1"/>
              <a:t>early</a:t>
            </a:r>
            <a:r>
              <a:rPr lang="pt-BR" dirty="0"/>
              <a:t> stopping incluem:</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 Evita o sobreajuste: Ao interromper o treinamento antes que o modelo se ajuste demais aos dados de treinamento, o </a:t>
            </a:r>
            <a:r>
              <a:rPr lang="pt-BR" dirty="0" err="1"/>
              <a:t>early</a:t>
            </a:r>
            <a:r>
              <a:rPr lang="pt-BR" dirty="0"/>
              <a:t> stopping ajuda a obter modelos mais generalizados e melhores em dados de teste não vistos.</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 Economiza tempo e recursos computacionais: O treinamento de redes neurais pode ser computacionalmente intensivo, e o </a:t>
            </a:r>
            <a:r>
              <a:rPr lang="pt-BR" dirty="0" err="1"/>
              <a:t>early</a:t>
            </a:r>
            <a:r>
              <a:rPr lang="pt-BR" dirty="0"/>
              <a:t> stopping pode ajudar a economizar tempo e recursos interrompendo o treinamento assim que não houver mais ganho significativo no desempenho.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 Melhora a robustez: Modelos treinados com </a:t>
            </a:r>
            <a:r>
              <a:rPr lang="pt-BR" dirty="0" err="1"/>
              <a:t>early</a:t>
            </a:r>
            <a:r>
              <a:rPr lang="pt-BR" dirty="0"/>
              <a:t> stopping tendem a ser mais robustos e menos sensíveis a variações nos dados de treinamento.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É importante ajustar o critério de parada, monitorar regularmente as métricas de validação e implementar o </a:t>
            </a:r>
            <a:r>
              <a:rPr lang="pt-BR" dirty="0" err="1"/>
              <a:t>early</a:t>
            </a:r>
            <a:r>
              <a:rPr lang="pt-BR" dirty="0"/>
              <a:t> stopping de maneira adequada para obter os melhores resultados. O </a:t>
            </a:r>
            <a:r>
              <a:rPr lang="pt-BR" dirty="0" err="1"/>
              <a:t>early</a:t>
            </a:r>
            <a:r>
              <a:rPr lang="pt-BR" dirty="0"/>
              <a:t> stopping é uma técnica eficaz, especialmente quando o conjunto de dados é limitado e não é possível coletar mais dados para treinamento.</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81</a:t>
            </a:fld>
            <a:endParaRPr lang="pt-BR"/>
          </a:p>
        </p:txBody>
      </p:sp>
    </p:spTree>
    <p:extLst>
      <p:ext uri="{BB962C8B-B14F-4D97-AF65-F5344CB8AC3E}">
        <p14:creationId xmlns:p14="http://schemas.microsoft.com/office/powerpoint/2010/main" val="166290136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Encerra o treinamento quando o modelo começa sobreajustar</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https://colab.research.google.com/github/zz4fap/tp557-iot-ml/blob/master/examples/</a:t>
            </a:r>
            <a:r>
              <a:rPr lang="en-US" dirty="0" err="1"/>
              <a:t>Sobreajuste_e_early_stop.ipynb</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Dropout é uma técnica de regularização usada em redes neurais para evitar o sobreajuste (</a:t>
            </a:r>
            <a:r>
              <a:rPr lang="pt-BR" dirty="0" err="1"/>
              <a:t>overfitting</a:t>
            </a:r>
            <a:r>
              <a:rPr lang="pt-BR" dirty="0"/>
              <a:t>). O sobreajuste ocorre quando uma rede neural se torna muito especializada nos dados de treinamento e não generaliza bem para novos dados. O </a:t>
            </a:r>
            <a:r>
              <a:rPr lang="pt-BR" dirty="0" err="1"/>
              <a:t>dropout</a:t>
            </a:r>
            <a:r>
              <a:rPr lang="pt-BR" dirty="0"/>
              <a:t> é uma abordagem eficaz para melhorar a generalização de uma rede neural. Aqui está como funciona:</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1. **Desligamento Aleatório de Neurônios**: Durante o treinamento da rede neural, o </a:t>
            </a:r>
            <a:r>
              <a:rPr lang="pt-BR" dirty="0" err="1"/>
              <a:t>dropout</a:t>
            </a:r>
            <a:r>
              <a:rPr lang="pt-BR" dirty="0"/>
              <a:t> envolve aleatoriamente "desligar" ou "descartar" um subconjunto dos neurônios em cada camada. Isso significa que esses neurônios não contribuirão para o cálculo das saídas da rede durante essa iteração de treinamento.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2. **Taxa de Dropout**: Um hiperparâmetro chamado "taxa de </a:t>
            </a:r>
            <a:r>
              <a:rPr lang="pt-BR" dirty="0" err="1"/>
              <a:t>dropout</a:t>
            </a:r>
            <a:r>
              <a:rPr lang="pt-BR" dirty="0"/>
              <a:t>" é definido antes do treinamento. Essa taxa determina a probabilidade de um neurônio ser desligado durante cada iteração. Por exemplo, uma taxa de </a:t>
            </a:r>
            <a:r>
              <a:rPr lang="pt-BR" dirty="0" err="1"/>
              <a:t>dropout</a:t>
            </a:r>
            <a:r>
              <a:rPr lang="pt-BR" dirty="0"/>
              <a:t> de 0,5 significa que, em média, metade dos neurônios será desligada em cada iteração.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3. **Treinamento Estocástico**: O </a:t>
            </a:r>
            <a:r>
              <a:rPr lang="pt-BR" dirty="0" err="1"/>
              <a:t>dropout</a:t>
            </a:r>
            <a:r>
              <a:rPr lang="pt-BR" dirty="0"/>
              <a:t> introduz uma forma de treinamento estocástico, onde a rede não pode depender excessivamente de nenhum neurônio específico. Isso obriga a rede a aprender recursos mais robustos e a generalizar melhor para dados que não foram vistos durante o treinamento.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4. **</a:t>
            </a:r>
            <a:r>
              <a:rPr lang="pt-BR" dirty="0" err="1"/>
              <a:t>Averaging</a:t>
            </a:r>
            <a:r>
              <a:rPr lang="pt-BR" dirty="0"/>
              <a:t> de Múltiplos Modelos**: O </a:t>
            </a:r>
            <a:r>
              <a:rPr lang="pt-BR" dirty="0" err="1"/>
              <a:t>dropout</a:t>
            </a:r>
            <a:r>
              <a:rPr lang="pt-BR" dirty="0"/>
              <a:t> efetivamente treina várias </a:t>
            </a:r>
            <a:r>
              <a:rPr lang="pt-BR" dirty="0" err="1"/>
              <a:t>sub-redes</a:t>
            </a:r>
            <a:r>
              <a:rPr lang="pt-BR" dirty="0"/>
              <a:t> durante o treinamento, já que diferentes subconjuntos de neurônios são desligados a cada iteração. Isso é semelhante a treinar uma série de modelos diferentes e, durante a inferência, os resultados dessas </a:t>
            </a:r>
            <a:r>
              <a:rPr lang="pt-BR" dirty="0" err="1"/>
              <a:t>sub-redes</a:t>
            </a:r>
            <a:r>
              <a:rPr lang="pt-BR" dirty="0"/>
              <a:t> são médios ou ponderados de alguma forma para produzir a saída final da rede.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Benefícios do Dropout:</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 Reduz o risco de sobreajuste, permitindo que a rede generalize melhor para novos dados.</a:t>
            </a: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 Ajuda a evitar a dependência excessiva de neurônios individuais, tornando o modelo mais robusto.</a:t>
            </a: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 Funciona bem em redes neurais profundas, onde o risco de </a:t>
            </a:r>
            <a:r>
              <a:rPr lang="pt-BR" dirty="0" err="1"/>
              <a:t>overfitting</a:t>
            </a:r>
            <a:r>
              <a:rPr lang="pt-BR" dirty="0"/>
              <a:t> é mais alto.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Embora o </a:t>
            </a:r>
            <a:r>
              <a:rPr lang="pt-BR" dirty="0" err="1"/>
              <a:t>dropout</a:t>
            </a:r>
            <a:r>
              <a:rPr lang="pt-BR" dirty="0"/>
              <a:t> seja uma técnica eficaz de regularização, é importante ajustar a taxa de </a:t>
            </a:r>
            <a:r>
              <a:rPr lang="pt-BR" dirty="0" err="1"/>
              <a:t>dropout</a:t>
            </a:r>
            <a:r>
              <a:rPr lang="pt-BR" dirty="0"/>
              <a:t> adequadamente, pois uma taxa muito alta pode prejudicar o aprendizado, enquanto uma taxa muito baixa pode não fornecer os benefícios desejados. A taxa de </a:t>
            </a:r>
            <a:r>
              <a:rPr lang="pt-BR" dirty="0" err="1"/>
              <a:t>dropout</a:t>
            </a:r>
            <a:r>
              <a:rPr lang="pt-BR" dirty="0"/>
              <a:t> é geralmente escolhida por meio de experimentação e validação cruzada em um conjunto de validação.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a:t>
            </a:r>
            <a:r>
              <a:rPr lang="pt-BR" dirty="0" err="1"/>
              <a:t>early</a:t>
            </a:r>
            <a:r>
              <a:rPr lang="pt-BR" dirty="0"/>
              <a:t> stopping" (parada antecipada) é uma técnica de regularização utilizada em treinamento de redes neurais para evitar o sobreajuste e encontrar um ponto ótimo de convergência durante o treinamento. A ideia fundamental por trás do </a:t>
            </a:r>
            <a:r>
              <a:rPr lang="pt-BR" dirty="0" err="1"/>
              <a:t>early</a:t>
            </a:r>
            <a:r>
              <a:rPr lang="pt-BR" dirty="0"/>
              <a:t> stopping é interromper o treinamento do modelo assim que o desempenho em um conjunto de validação começa a piorar, em vez de continuar até que o modelo se ajuste demais aos dados de treinamento. Aqui está como o </a:t>
            </a:r>
            <a:r>
              <a:rPr lang="pt-BR" dirty="0" err="1"/>
              <a:t>early</a:t>
            </a:r>
            <a:r>
              <a:rPr lang="pt-BR" dirty="0"/>
              <a:t> stopping funciona:</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1. **Conjunto de Treinamento e Conjunto de Validação**: Durante o treinamento de uma rede neural, geralmente divide-se o conjunto de dados em dois subconjuntos: um conjunto de treinamento usado para atualizar os pesos do modelo e um conjunto de validação usado para avaliar o desempenho do modelo em dados não vistos durante o treinamento.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2. **Monitoramento de Métricas**: À medida que o treinamento progride, as métricas de desempenho, como erro ou precisão, são calculadas regularmente no conjunto de validação. Essas métricas fornecem uma indicação de quão bem o modelo está generalizando para novos dados.</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3. **Critério de Parada**: O critério de parada é uma métrica escolhida com base no problema e nas metas do treinamento. Pode ser o erro de validação, a precisão ou qualquer outra métrica relevante. O treinamento é interrompido quando a métrica de validação não melhora mais ou começa a piorar.</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4. **Recuperação do Melhor Modelo**: Ao interromper o treinamento, o modelo é revertido para o ponto em que obteve o melhor desempenho no conjunto de validação. Esse modelo é então usado para inferência e avaliação em novos dados.</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Os benefícios do </a:t>
            </a:r>
            <a:r>
              <a:rPr lang="pt-BR" dirty="0" err="1"/>
              <a:t>early</a:t>
            </a:r>
            <a:r>
              <a:rPr lang="pt-BR" dirty="0"/>
              <a:t> stopping incluem:</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 Evita o sobreajuste: Ao interromper o treinamento antes que o modelo se ajuste demais aos dados de treinamento, o </a:t>
            </a:r>
            <a:r>
              <a:rPr lang="pt-BR" dirty="0" err="1"/>
              <a:t>early</a:t>
            </a:r>
            <a:r>
              <a:rPr lang="pt-BR" dirty="0"/>
              <a:t> stopping ajuda a obter modelos mais generalizados e melhores em dados de teste não vistos.</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 Economiza tempo e recursos computacionais: O treinamento de redes neurais pode ser computacionalmente intensivo, e o </a:t>
            </a:r>
            <a:r>
              <a:rPr lang="pt-BR" dirty="0" err="1"/>
              <a:t>early</a:t>
            </a:r>
            <a:r>
              <a:rPr lang="pt-BR" dirty="0"/>
              <a:t> stopping pode ajudar a economizar tempo e recursos interrompendo o treinamento assim que não houver mais ganho significativo no desempenho.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 Melhora a robustez: Modelos treinados com </a:t>
            </a:r>
            <a:r>
              <a:rPr lang="pt-BR" dirty="0" err="1"/>
              <a:t>early</a:t>
            </a:r>
            <a:r>
              <a:rPr lang="pt-BR" dirty="0"/>
              <a:t> stopping tendem a ser mais robustos e menos sensíveis a variações nos dados de treinamento.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É importante ajustar o critério de parada, monitorar regularmente as métricas de validação e implementar o </a:t>
            </a:r>
            <a:r>
              <a:rPr lang="pt-BR" dirty="0" err="1"/>
              <a:t>early</a:t>
            </a:r>
            <a:r>
              <a:rPr lang="pt-BR" dirty="0"/>
              <a:t> stopping de maneira adequada para obter os melhores resultados. O </a:t>
            </a:r>
            <a:r>
              <a:rPr lang="pt-BR" dirty="0" err="1"/>
              <a:t>early</a:t>
            </a:r>
            <a:r>
              <a:rPr lang="pt-BR" dirty="0"/>
              <a:t> stopping é uma técnica eficaz, especialmente quando o conjunto de dados é limitado e não é possível coletar mais dados para treinamento.</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82</a:t>
            </a:fld>
            <a:endParaRPr lang="pt-BR"/>
          </a:p>
        </p:txBody>
      </p:sp>
    </p:spTree>
    <p:extLst>
      <p:ext uri="{BB962C8B-B14F-4D97-AF65-F5344CB8AC3E}">
        <p14:creationId xmlns:p14="http://schemas.microsoft.com/office/powerpoint/2010/main" val="67477597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pt-BR" sz="1200" kern="1200" dirty="0">
                <a:solidFill>
                  <a:schemeClr val="tx1"/>
                </a:solidFill>
                <a:latin typeface="+mn-lt"/>
                <a:ea typeface="+mn-ea"/>
                <a:cs typeface="+mn-cs"/>
                <a:hlinkClick r:id="rId3">
                  <a:extLst>
                    <a:ext uri="{A12FA001-AC4F-418D-AE19-62706E023703}">
                      <ahyp:hlinkClr xmlns:ahyp="http://schemas.microsoft.com/office/drawing/2018/hyperlinkcolor" val="tx"/>
                    </a:ext>
                  </a:extLst>
                </a:hlinkClick>
              </a:rPr>
              <a:t>Referencias</a:t>
            </a:r>
          </a:p>
          <a:p>
            <a:endParaRPr lang="en-US" dirty="0"/>
          </a:p>
        </p:txBody>
      </p:sp>
      <p:sp>
        <p:nvSpPr>
          <p:cNvPr id="4" name="Slide Number Placeholder 3"/>
          <p:cNvSpPr>
            <a:spLocks noGrp="1"/>
          </p:cNvSpPr>
          <p:nvPr>
            <p:ph type="sldNum" sz="quarter" idx="5"/>
          </p:nvPr>
        </p:nvSpPr>
        <p:spPr/>
        <p:txBody>
          <a:bodyPr/>
          <a:lstStyle/>
          <a:p>
            <a:fld id="{6FC8D850-966F-45A6-8DE7-15B891E7D40D}" type="slidenum">
              <a:rPr lang="pt-BR" smtClean="0"/>
              <a:t>83</a:t>
            </a:fld>
            <a:endParaRPr lang="pt-BR"/>
          </a:p>
        </p:txBody>
      </p:sp>
    </p:spTree>
    <p:extLst>
      <p:ext uri="{BB962C8B-B14F-4D97-AF65-F5344CB8AC3E}">
        <p14:creationId xmlns:p14="http://schemas.microsoft.com/office/powerpoint/2010/main" val="177414423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b="1" i="0" dirty="0" err="1">
                <a:effectLst/>
                <a:latin typeface="Söhne"/>
              </a:rPr>
              <a:t>Mean</a:t>
            </a:r>
            <a:r>
              <a:rPr lang="pt-BR" b="1" i="0" dirty="0">
                <a:effectLst/>
                <a:latin typeface="Söhne"/>
              </a:rPr>
              <a:t> </a:t>
            </a:r>
            <a:r>
              <a:rPr lang="pt-BR" b="1" i="0" dirty="0" err="1">
                <a:effectLst/>
                <a:latin typeface="Söhne"/>
              </a:rPr>
              <a:t>Squared</a:t>
            </a:r>
            <a:r>
              <a:rPr lang="pt-BR" b="1" i="0" dirty="0">
                <a:effectLst/>
                <a:latin typeface="Söhne"/>
              </a:rPr>
              <a:t> </a:t>
            </a:r>
            <a:r>
              <a:rPr lang="pt-BR" b="1" i="0" dirty="0" err="1">
                <a:effectLst/>
                <a:latin typeface="Söhne"/>
              </a:rPr>
              <a:t>Error</a:t>
            </a:r>
            <a:r>
              <a:rPr lang="pt-BR" b="1" i="0" dirty="0">
                <a:effectLst/>
                <a:latin typeface="Söhne"/>
              </a:rPr>
              <a:t> (MSE):</a:t>
            </a:r>
            <a:r>
              <a:rPr lang="pt-BR" b="0" i="0" dirty="0">
                <a:solidFill>
                  <a:srgbClr val="374151"/>
                </a:solidFill>
                <a:effectLst/>
                <a:latin typeface="Söhne"/>
              </a:rPr>
              <a:t> O MSE é a escolha tradicional para problemas de regressão. Ele calcula a média dos quadrados das diferenças entre as previsões do modelo e os valores reais. O MSE penaliza mais erros maiores, o que pode ser útil se você deseja que o modelo seja mais sensível a erros maiores. No entanto, como o erro é elevado ao quadrado, o MSE pode amplificar a influência de outliers.</a:t>
            </a:r>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101</a:t>
            </a:fld>
            <a:endParaRPr lang="pt-BR"/>
          </a:p>
        </p:txBody>
      </p:sp>
    </p:spTree>
    <p:extLst>
      <p:ext uri="{BB962C8B-B14F-4D97-AF65-F5344CB8AC3E}">
        <p14:creationId xmlns:p14="http://schemas.microsoft.com/office/powerpoint/2010/main" val="330058680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dirty="0"/>
              <a:t>Anteriormente, nós vimos como realizar a seleção do modelo através da validação cruzada. Uma abordagem alternativa é a procura</a:t>
            </a:r>
            <a:r>
              <a:rPr lang="pt-BR" baseline="0" dirty="0"/>
              <a:t> por uma hipótese que minimize o erro e a complexidade da hipótese. </a:t>
            </a:r>
          </a:p>
          <a:p>
            <a:endParaRPr lang="pt-BR" baseline="0" dirty="0"/>
          </a:p>
          <a:p>
            <a:r>
              <a:rPr lang="pt-BR" b="0" i="0" baseline="0" dirty="0"/>
              <a:t>A </a:t>
            </a:r>
            <a:r>
              <a:rPr lang="pt-BR" b="1" baseline="0" dirty="0"/>
              <a:t>Regularização</a:t>
            </a:r>
            <a:r>
              <a:rPr lang="pt-BR" baseline="0" dirty="0"/>
              <a:t> penaliza explicitamente </a:t>
            </a:r>
            <a:r>
              <a:rPr lang="pt-BR" b="1" baseline="0" dirty="0"/>
              <a:t>hipóteses</a:t>
            </a:r>
            <a:r>
              <a:rPr lang="pt-BR" baseline="0" dirty="0"/>
              <a:t> complexas. Essa abordagem se chama </a:t>
            </a:r>
            <a:r>
              <a:rPr lang="pt-BR" b="1" baseline="0" dirty="0"/>
              <a:t>regularização</a:t>
            </a:r>
            <a:r>
              <a:rPr lang="pt-BR" baseline="0" dirty="0"/>
              <a:t> pois busca por  uma </a:t>
            </a:r>
            <a:r>
              <a:rPr lang="pt-BR" b="1" baseline="0" dirty="0"/>
              <a:t>hipótese</a:t>
            </a:r>
            <a:r>
              <a:rPr lang="pt-BR" baseline="0" dirty="0"/>
              <a:t> que seja mais </a:t>
            </a:r>
            <a:r>
              <a:rPr lang="pt-BR" b="1" baseline="0" dirty="0"/>
              <a:t>regular</a:t>
            </a:r>
            <a:r>
              <a:rPr lang="pt-BR" baseline="0" dirty="0"/>
              <a:t>, ou seja, menos complexa.</a:t>
            </a:r>
            <a:endParaRPr lang="pt-BR" dirty="0"/>
          </a:p>
          <a:p>
            <a:endParaRPr lang="pt-BR" dirty="0"/>
          </a:p>
          <a:p>
            <a:r>
              <a:rPr lang="pt-BR" dirty="0"/>
              <a:t>O termo </a:t>
            </a:r>
            <a:r>
              <a:rPr lang="pt-BR" b="1" dirty="0"/>
              <a:t>regularização</a:t>
            </a:r>
            <a:r>
              <a:rPr lang="pt-BR" dirty="0"/>
              <a:t> refere-se a procedimentos que visam obter um modelo de aproximação bem-comportado através da incorporação de informações adicionais ao processo de treinamento do modelo, na forma de restrições de suavidade junto ao mapeamento, ou de penalizações proporcionais à norma do vetor de pesos.</a:t>
            </a:r>
          </a:p>
          <a:p>
            <a:endParaRPr lang="pt-BR" dirty="0"/>
          </a:p>
          <a:p>
            <a:r>
              <a:rPr lang="pt-BR" dirty="0"/>
              <a:t>As 3 técnicas mencionadas aqui, </a:t>
            </a:r>
            <a:r>
              <a:rPr lang="pt-BR" dirty="0" err="1"/>
              <a:t>rigde</a:t>
            </a:r>
            <a:r>
              <a:rPr lang="pt-BR" dirty="0"/>
              <a:t> </a:t>
            </a:r>
            <a:r>
              <a:rPr lang="pt-BR" dirty="0" err="1"/>
              <a:t>regression</a:t>
            </a:r>
            <a:r>
              <a:rPr lang="pt-BR" dirty="0"/>
              <a:t>, LASSO e </a:t>
            </a:r>
            <a:r>
              <a:rPr lang="pt-BR" dirty="0" err="1"/>
              <a:t>elastic</a:t>
            </a:r>
            <a:r>
              <a:rPr lang="pt-BR" dirty="0"/>
              <a:t> net, introduzem restrições ligadas a alguma norma do vetor de pesos, sendo, por este motivo, também conhecidas como técnicas de </a:t>
            </a:r>
            <a:r>
              <a:rPr lang="pt-BR" b="1" i="1" dirty="0" err="1"/>
              <a:t>shrinkage</a:t>
            </a:r>
            <a:r>
              <a:rPr lang="pt-BR" b="0" i="0" baseline="0" dirty="0"/>
              <a:t> (redução, encolhimento).</a:t>
            </a:r>
          </a:p>
          <a:p>
            <a:endParaRPr lang="pt-BR" b="0" i="0" baseline="0" dirty="0"/>
          </a:p>
          <a:p>
            <a:r>
              <a:rPr lang="pt-BR" b="0" i="0" baseline="0" dirty="0"/>
              <a:t>Referência:</a:t>
            </a:r>
          </a:p>
          <a:p>
            <a:r>
              <a:rPr lang="pt-BR" dirty="0"/>
              <a:t>https://dafriedman97.github.io/mlbook/content/c2/s1/regularized.html</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103</a:t>
            </a:fld>
            <a:endParaRPr lang="nl-BE"/>
          </a:p>
        </p:txBody>
      </p:sp>
    </p:spTree>
    <p:extLst>
      <p:ext uri="{BB962C8B-B14F-4D97-AF65-F5344CB8AC3E}">
        <p14:creationId xmlns:p14="http://schemas.microsoft.com/office/powerpoint/2010/main" val="296001941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dirty="0"/>
              <a:t>Anteriormente, nós vimos como realizar a seleção do modelo através da validação cruzada. Uma abordagem alternativa é a procura</a:t>
            </a:r>
            <a:r>
              <a:rPr lang="pt-BR" baseline="0" dirty="0"/>
              <a:t> por uma hipótese que minimize o erro e a complexidade da hipótese. </a:t>
            </a:r>
          </a:p>
          <a:p>
            <a:endParaRPr lang="pt-BR" baseline="0" dirty="0"/>
          </a:p>
          <a:p>
            <a:r>
              <a:rPr lang="pt-BR" b="0" i="0" baseline="0" dirty="0"/>
              <a:t>A </a:t>
            </a:r>
            <a:r>
              <a:rPr lang="pt-BR" b="1" baseline="0" dirty="0"/>
              <a:t>Regularização</a:t>
            </a:r>
            <a:r>
              <a:rPr lang="pt-BR" baseline="0" dirty="0"/>
              <a:t> penaliza explicitamente </a:t>
            </a:r>
            <a:r>
              <a:rPr lang="pt-BR" b="1" baseline="0" dirty="0"/>
              <a:t>hipóteses</a:t>
            </a:r>
            <a:r>
              <a:rPr lang="pt-BR" baseline="0" dirty="0"/>
              <a:t> complexas. Essa abordagem se chama </a:t>
            </a:r>
            <a:r>
              <a:rPr lang="pt-BR" b="1" baseline="0" dirty="0"/>
              <a:t>regularização</a:t>
            </a:r>
            <a:r>
              <a:rPr lang="pt-BR" baseline="0" dirty="0"/>
              <a:t> pois busca por  uma </a:t>
            </a:r>
            <a:r>
              <a:rPr lang="pt-BR" b="1" baseline="0" dirty="0"/>
              <a:t>hipótese</a:t>
            </a:r>
            <a:r>
              <a:rPr lang="pt-BR" baseline="0" dirty="0"/>
              <a:t> que seja mais </a:t>
            </a:r>
            <a:r>
              <a:rPr lang="pt-BR" b="1" baseline="0" dirty="0"/>
              <a:t>regular</a:t>
            </a:r>
            <a:r>
              <a:rPr lang="pt-BR" baseline="0" dirty="0"/>
              <a:t>, ou seja, menos complexa.</a:t>
            </a:r>
            <a:endParaRPr lang="pt-BR" dirty="0"/>
          </a:p>
          <a:p>
            <a:endParaRPr lang="pt-BR" dirty="0"/>
          </a:p>
          <a:p>
            <a:r>
              <a:rPr lang="pt-BR" dirty="0"/>
              <a:t>O termo </a:t>
            </a:r>
            <a:r>
              <a:rPr lang="pt-BR" b="1" dirty="0"/>
              <a:t>regularização</a:t>
            </a:r>
            <a:r>
              <a:rPr lang="pt-BR" dirty="0"/>
              <a:t> refere-se a procedimentos que visam obter um modelo de aproximação bem-comportado através da incorporação de informações adicionais ao processo de treinamento do modelo, na forma de restrições de suavidade junto ao mapeamento, ou de penalizações proporcionais à norma do vetor de pesos.</a:t>
            </a:r>
          </a:p>
          <a:p>
            <a:endParaRPr lang="pt-BR" dirty="0"/>
          </a:p>
          <a:p>
            <a:r>
              <a:rPr lang="pt-BR" dirty="0"/>
              <a:t>As 3 técnicas mencionadas aqui, </a:t>
            </a:r>
            <a:r>
              <a:rPr lang="pt-BR" dirty="0" err="1"/>
              <a:t>rigde</a:t>
            </a:r>
            <a:r>
              <a:rPr lang="pt-BR" dirty="0"/>
              <a:t> </a:t>
            </a:r>
            <a:r>
              <a:rPr lang="pt-BR" dirty="0" err="1"/>
              <a:t>regression</a:t>
            </a:r>
            <a:r>
              <a:rPr lang="pt-BR" dirty="0"/>
              <a:t>, LASSO e </a:t>
            </a:r>
            <a:r>
              <a:rPr lang="pt-BR" dirty="0" err="1"/>
              <a:t>elastic</a:t>
            </a:r>
            <a:r>
              <a:rPr lang="pt-BR" dirty="0"/>
              <a:t> net, introduzem restrições ligadas a alguma norma do vetor de pesos, sendo, por este motivo, também conhecidas como técnicas de </a:t>
            </a:r>
            <a:r>
              <a:rPr lang="pt-BR" b="1" i="1" dirty="0" err="1"/>
              <a:t>shrinkage</a:t>
            </a:r>
            <a:r>
              <a:rPr lang="pt-BR" b="0" i="0" baseline="0" dirty="0"/>
              <a:t> (redução, encolhimento).</a:t>
            </a:r>
          </a:p>
          <a:p>
            <a:endParaRPr lang="pt-BR" b="0" i="0" baseline="0" dirty="0"/>
          </a:p>
          <a:p>
            <a:r>
              <a:rPr lang="pt-BR" b="0" i="0" baseline="0" dirty="0"/>
              <a:t>Referência:</a:t>
            </a:r>
          </a:p>
          <a:p>
            <a:r>
              <a:rPr lang="pt-BR" dirty="0"/>
              <a:t>https://dafriedman97.github.io/mlbook/content/c2/s1/regularized.html</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104</a:t>
            </a:fld>
            <a:endParaRPr lang="nl-BE"/>
          </a:p>
        </p:txBody>
      </p:sp>
    </p:spTree>
    <p:extLst>
      <p:ext uri="{BB962C8B-B14F-4D97-AF65-F5344CB8AC3E}">
        <p14:creationId xmlns:p14="http://schemas.microsoft.com/office/powerpoint/2010/main" val="378490043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dirty="0"/>
              <a:t>Anteriormente, nós vimos como realizar a seleção do modelo através da validação cruzada. Uma abordagem alternativa é a procura</a:t>
            </a:r>
            <a:r>
              <a:rPr lang="pt-BR" baseline="0" dirty="0"/>
              <a:t> por uma hipótese que minimize o erro e a complexidade da hipótese. </a:t>
            </a:r>
          </a:p>
          <a:p>
            <a:endParaRPr lang="pt-BR" baseline="0" dirty="0"/>
          </a:p>
          <a:p>
            <a:r>
              <a:rPr lang="pt-BR" b="0" i="0" baseline="0" dirty="0"/>
              <a:t>A </a:t>
            </a:r>
            <a:r>
              <a:rPr lang="pt-BR" b="1" baseline="0" dirty="0"/>
              <a:t>Regularização</a:t>
            </a:r>
            <a:r>
              <a:rPr lang="pt-BR" baseline="0" dirty="0"/>
              <a:t> penaliza explicitamente </a:t>
            </a:r>
            <a:r>
              <a:rPr lang="pt-BR" b="1" baseline="0" dirty="0"/>
              <a:t>hipóteses</a:t>
            </a:r>
            <a:r>
              <a:rPr lang="pt-BR" baseline="0" dirty="0"/>
              <a:t> complexas. Essa abordagem se chama </a:t>
            </a:r>
            <a:r>
              <a:rPr lang="pt-BR" b="1" baseline="0" dirty="0"/>
              <a:t>regularização</a:t>
            </a:r>
            <a:r>
              <a:rPr lang="pt-BR" baseline="0" dirty="0"/>
              <a:t> pois busca por  uma </a:t>
            </a:r>
            <a:r>
              <a:rPr lang="pt-BR" b="1" baseline="0" dirty="0"/>
              <a:t>hipótese</a:t>
            </a:r>
            <a:r>
              <a:rPr lang="pt-BR" baseline="0" dirty="0"/>
              <a:t> que seja mais </a:t>
            </a:r>
            <a:r>
              <a:rPr lang="pt-BR" b="1" baseline="0" dirty="0"/>
              <a:t>regular</a:t>
            </a:r>
            <a:r>
              <a:rPr lang="pt-BR" baseline="0" dirty="0"/>
              <a:t>, ou seja, menos complexa.</a:t>
            </a:r>
            <a:endParaRPr lang="pt-BR" dirty="0"/>
          </a:p>
          <a:p>
            <a:endParaRPr lang="pt-BR" dirty="0"/>
          </a:p>
          <a:p>
            <a:r>
              <a:rPr lang="pt-BR" dirty="0"/>
              <a:t>O termo </a:t>
            </a:r>
            <a:r>
              <a:rPr lang="pt-BR" b="1" dirty="0"/>
              <a:t>regularização</a:t>
            </a:r>
            <a:r>
              <a:rPr lang="pt-BR" dirty="0"/>
              <a:t> refere-se a procedimentos que visam obter um modelo de aproximação bem-comportado através da incorporação de informações adicionais ao processo de treinamento do modelo, na forma de restrições de suavidade junto ao mapeamento, ou de penalizações proporcionais à norma do vetor de pesos.</a:t>
            </a:r>
          </a:p>
          <a:p>
            <a:endParaRPr lang="pt-BR" dirty="0"/>
          </a:p>
          <a:p>
            <a:r>
              <a:rPr lang="pt-BR" dirty="0"/>
              <a:t>As 3 técnicas mencionadas aqui, </a:t>
            </a:r>
            <a:r>
              <a:rPr lang="pt-BR" dirty="0" err="1"/>
              <a:t>rigde</a:t>
            </a:r>
            <a:r>
              <a:rPr lang="pt-BR" dirty="0"/>
              <a:t> </a:t>
            </a:r>
            <a:r>
              <a:rPr lang="pt-BR" dirty="0" err="1"/>
              <a:t>regression</a:t>
            </a:r>
            <a:r>
              <a:rPr lang="pt-BR" dirty="0"/>
              <a:t>, LASSO e </a:t>
            </a:r>
            <a:r>
              <a:rPr lang="pt-BR" dirty="0" err="1"/>
              <a:t>elastic</a:t>
            </a:r>
            <a:r>
              <a:rPr lang="pt-BR" dirty="0"/>
              <a:t> net, introduzem restrições ligadas a alguma norma do vetor de pesos, sendo, por este motivo, também conhecidas como técnicas de </a:t>
            </a:r>
            <a:r>
              <a:rPr lang="pt-BR" b="1" i="1" dirty="0" err="1"/>
              <a:t>shrinkage</a:t>
            </a:r>
            <a:r>
              <a:rPr lang="pt-BR" b="0" i="0" baseline="0" dirty="0"/>
              <a:t> (redução, encolhimento).</a:t>
            </a:r>
          </a:p>
          <a:p>
            <a:endParaRPr lang="pt-BR" b="0" i="0" baseline="0" dirty="0"/>
          </a:p>
          <a:p>
            <a:r>
              <a:rPr lang="pt-BR" b="0" i="0" baseline="0" dirty="0"/>
              <a:t>Referência:</a:t>
            </a:r>
          </a:p>
          <a:p>
            <a:r>
              <a:rPr lang="pt-BR" dirty="0"/>
              <a:t>https://dafriedman97.github.io/mlbook/content/c2/s1/regularized.html</a:t>
            </a:r>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105</a:t>
            </a:fld>
            <a:endParaRPr lang="nl-BE"/>
          </a:p>
        </p:txBody>
      </p:sp>
    </p:spTree>
    <p:extLst>
      <p:ext uri="{BB962C8B-B14F-4D97-AF65-F5344CB8AC3E}">
        <p14:creationId xmlns:p14="http://schemas.microsoft.com/office/powerpoint/2010/main" val="400448278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dirty="0"/>
              <a:t>Anteriormente, nós vimos como realizar a seleção do modelo através da validação cruzada. Uma abordagem alternativa é a procura</a:t>
            </a:r>
            <a:r>
              <a:rPr lang="pt-BR" baseline="0" dirty="0"/>
              <a:t> por uma hipótese que minimize o erro e a complexidade da hipótese. </a:t>
            </a:r>
          </a:p>
          <a:p>
            <a:endParaRPr lang="pt-BR" baseline="0" dirty="0"/>
          </a:p>
          <a:p>
            <a:r>
              <a:rPr lang="pt-BR" b="0" i="0" baseline="0" dirty="0"/>
              <a:t>A </a:t>
            </a:r>
            <a:r>
              <a:rPr lang="pt-BR" b="1" baseline="0" dirty="0"/>
              <a:t>Regularização</a:t>
            </a:r>
            <a:r>
              <a:rPr lang="pt-BR" baseline="0" dirty="0"/>
              <a:t> penaliza explicitamente </a:t>
            </a:r>
            <a:r>
              <a:rPr lang="pt-BR" b="1" baseline="0" dirty="0"/>
              <a:t>hipóteses</a:t>
            </a:r>
            <a:r>
              <a:rPr lang="pt-BR" baseline="0" dirty="0"/>
              <a:t> complexas. Essa abordagem se chama </a:t>
            </a:r>
            <a:r>
              <a:rPr lang="pt-BR" b="1" baseline="0" dirty="0"/>
              <a:t>regularização</a:t>
            </a:r>
            <a:r>
              <a:rPr lang="pt-BR" baseline="0" dirty="0"/>
              <a:t> pois busca por  uma </a:t>
            </a:r>
            <a:r>
              <a:rPr lang="pt-BR" b="1" baseline="0" dirty="0"/>
              <a:t>hipótese</a:t>
            </a:r>
            <a:r>
              <a:rPr lang="pt-BR" baseline="0" dirty="0"/>
              <a:t> que seja mais </a:t>
            </a:r>
            <a:r>
              <a:rPr lang="pt-BR" b="1" baseline="0" dirty="0"/>
              <a:t>regular</a:t>
            </a:r>
            <a:r>
              <a:rPr lang="pt-BR" baseline="0" dirty="0"/>
              <a:t>, ou seja, menos complexa.</a:t>
            </a:r>
            <a:endParaRPr lang="pt-BR" dirty="0"/>
          </a:p>
          <a:p>
            <a:endParaRPr lang="pt-BR" dirty="0"/>
          </a:p>
          <a:p>
            <a:r>
              <a:rPr lang="pt-BR" dirty="0"/>
              <a:t>O termo </a:t>
            </a:r>
            <a:r>
              <a:rPr lang="pt-BR" b="1" dirty="0"/>
              <a:t>regularização</a:t>
            </a:r>
            <a:r>
              <a:rPr lang="pt-BR" dirty="0"/>
              <a:t> refere-se a procedimentos que visam obter um modelo de aproximação bem-comportado através da incorporação de informações adicionais ao processo de treinamento do modelo, na forma de restrições de suavidade junto ao mapeamento, ou de penalizações proporcionais à norma do vetor de pesos.</a:t>
            </a:r>
          </a:p>
          <a:p>
            <a:endParaRPr lang="pt-BR" dirty="0"/>
          </a:p>
          <a:p>
            <a:r>
              <a:rPr lang="pt-BR" dirty="0"/>
              <a:t>As 3 técnicas mencionadas aqui, </a:t>
            </a:r>
            <a:r>
              <a:rPr lang="pt-BR" dirty="0" err="1"/>
              <a:t>rigde</a:t>
            </a:r>
            <a:r>
              <a:rPr lang="pt-BR" dirty="0"/>
              <a:t> </a:t>
            </a:r>
            <a:r>
              <a:rPr lang="pt-BR" dirty="0" err="1"/>
              <a:t>regression</a:t>
            </a:r>
            <a:r>
              <a:rPr lang="pt-BR" dirty="0"/>
              <a:t>, LASSO e </a:t>
            </a:r>
            <a:r>
              <a:rPr lang="pt-BR" dirty="0" err="1"/>
              <a:t>elastic</a:t>
            </a:r>
            <a:r>
              <a:rPr lang="pt-BR" dirty="0"/>
              <a:t> net, introduzem restrições ligadas a alguma norma do vetor de pesos, sendo, por este motivo, também conhecidas como técnicas de </a:t>
            </a:r>
            <a:r>
              <a:rPr lang="pt-BR" b="1" i="1" dirty="0" err="1"/>
              <a:t>shrinkage</a:t>
            </a:r>
            <a:r>
              <a:rPr lang="pt-BR" b="0" i="0" baseline="0" dirty="0"/>
              <a:t> (redução, encolhimento).</a:t>
            </a:r>
          </a:p>
          <a:p>
            <a:endParaRPr lang="pt-BR" b="0" i="0" baseline="0" dirty="0"/>
          </a:p>
          <a:p>
            <a:r>
              <a:rPr lang="pt-BR" b="0" i="0" baseline="0" dirty="0"/>
              <a:t>Referência:</a:t>
            </a:r>
          </a:p>
          <a:p>
            <a:r>
              <a:rPr lang="pt-BR" dirty="0"/>
              <a:t>https://dafriedman97.github.io/mlbook/content/c2/s1/regularized.html</a:t>
            </a:r>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106</a:t>
            </a:fld>
            <a:endParaRPr lang="nl-BE"/>
          </a:p>
        </p:txBody>
      </p:sp>
    </p:spTree>
    <p:extLst>
      <p:ext uri="{BB962C8B-B14F-4D97-AF65-F5344CB8AC3E}">
        <p14:creationId xmlns:p14="http://schemas.microsoft.com/office/powerpoint/2010/main" val="58572319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mc:AlternateContent xmlns:mc="http://schemas.openxmlformats.org/markup-compatibility/2006" xmlns:a14="http://schemas.microsoft.com/office/drawing/2010/main">
        <mc:Choice Requires="a14">
          <p:sp>
            <p:nvSpPr>
              <p:cNvPr id="3" name="Espaço Reservado para Anotações 2"/>
              <p:cNvSpPr>
                <a:spLocks noGrp="1"/>
              </p:cNvSpPr>
              <p:nvPr>
                <p:ph type="body" idx="1"/>
              </p:nvPr>
            </p:nvSpPr>
            <p:spPr/>
            <p:txBody>
              <a:bodyPr/>
              <a:lstStyle/>
              <a:p>
                <a:r>
                  <a:rPr lang="en-US" sz="1200" b="0" i="1" kern="1200" dirty="0">
                    <a:solidFill>
                      <a:schemeClr val="tx1"/>
                    </a:solidFill>
                    <a:effectLst/>
                    <a:latin typeface="+mn-lt"/>
                    <a:ea typeface="+mn-ea"/>
                    <a:cs typeface="+mn-cs"/>
                  </a:rPr>
                  <a:t>Ridge Regression</a:t>
                </a:r>
                <a:r>
                  <a:rPr lang="en-US" sz="1200" b="0" i="0" kern="1200" dirty="0">
                    <a:solidFill>
                      <a:schemeClr val="tx1"/>
                    </a:solidFill>
                    <a:effectLst/>
                    <a:latin typeface="+mn-lt"/>
                    <a:ea typeface="+mn-ea"/>
                    <a:cs typeface="+mn-cs"/>
                  </a:rPr>
                  <a:t> é</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também</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conhecida</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como</a:t>
                </a:r>
                <a:r>
                  <a:rPr lang="en-US" sz="1200" b="0" i="0" kern="1200" dirty="0">
                    <a:solidFill>
                      <a:schemeClr val="tx1"/>
                    </a:solidFill>
                    <a:effectLst/>
                    <a:latin typeface="+mn-lt"/>
                    <a:ea typeface="+mn-ea"/>
                    <a:cs typeface="+mn-cs"/>
                  </a:rPr>
                  <a:t> </a:t>
                </a:r>
                <a:r>
                  <a:rPr lang="en-US" sz="1200" b="0" i="1" kern="1200" dirty="0" err="1">
                    <a:solidFill>
                      <a:schemeClr val="tx1"/>
                    </a:solidFill>
                    <a:effectLst/>
                    <a:latin typeface="+mn-lt"/>
                    <a:ea typeface="+mn-ea"/>
                    <a:cs typeface="+mn-cs"/>
                  </a:rPr>
                  <a:t>Tikhonov</a:t>
                </a:r>
                <a:r>
                  <a:rPr lang="en-US" sz="1200" b="0" i="1" kern="1200" dirty="0">
                    <a:solidFill>
                      <a:schemeClr val="tx1"/>
                    </a:solidFill>
                    <a:effectLst/>
                    <a:latin typeface="+mn-lt"/>
                    <a:ea typeface="+mn-ea"/>
                    <a:cs typeface="+mn-cs"/>
                  </a:rPr>
                  <a:t> regularization</a:t>
                </a:r>
                <a:endParaRPr lang="pt-BR" dirty="0"/>
              </a:p>
              <a:p>
                <a:endParaRPr lang="pt-BR" dirty="0"/>
              </a:p>
              <a:p>
                <a:r>
                  <a:rPr lang="pt-BR" dirty="0"/>
                  <a:t>Ao invés de minimizar apenas o erro quadrático médio, como fizemo</a:t>
                </a:r>
                <a:r>
                  <a:rPr lang="pt-BR" baseline="0" dirty="0"/>
                  <a:t>s antes</a:t>
                </a:r>
                <a:r>
                  <a:rPr lang="pt-BR" dirty="0"/>
                  <a:t>,</a:t>
                </a:r>
                <a:r>
                  <a:rPr lang="pt-BR" baseline="0" dirty="0"/>
                  <a:t> </a:t>
                </a:r>
                <a:r>
                  <a:rPr lang="pt-BR" dirty="0"/>
                  <a:t>agora há a introdução de </a:t>
                </a:r>
                <a:r>
                  <a:rPr lang="pt-BR" b="1" dirty="0"/>
                  <a:t>um termo de penalização </a:t>
                </a:r>
                <a:r>
                  <a:rPr lang="pt-BR" dirty="0"/>
                  <a:t>proporcional à norma Euclidiana (L2) do vetor de</a:t>
                </a:r>
                <a:r>
                  <a:rPr lang="pt-BR" baseline="0" dirty="0"/>
                  <a:t> pesos. Na verdade, o quadrado da norma Euclidiana.</a:t>
                </a:r>
              </a:p>
              <a:p>
                <a:endParaRPr lang="pt-BR" baseline="0" dirty="0"/>
              </a:p>
              <a:p>
                <a:r>
                  <a:rPr lang="pt-BR" baseline="0" dirty="0"/>
                  <a:t>Essa técnica desestimula o aprendizado de um modelo mais complexo ou flexível, de forma a evitar o risco de overfitting.</a:t>
                </a:r>
              </a:p>
              <a:p>
                <a:endParaRPr lang="pt-BR" baseline="0" dirty="0"/>
              </a:p>
              <a:p>
                <a:r>
                  <a:rPr lang="pt-BR" baseline="0" dirty="0"/>
                  <a:t>O aumento na flexibilidade de um modelo é representado pelo aumento de seus pesos e, se quisermos minimizar a função de erro, esses pesos precisam ser pequenos.</a:t>
                </a:r>
              </a:p>
              <a:p>
                <a:endParaRPr lang="pt-BR" baseline="0" dirty="0"/>
              </a:p>
              <a:p>
                <a:r>
                  <a:rPr lang="pt-BR" baseline="0" dirty="0"/>
                  <a:t>O parâmetro </a:t>
                </a:r>
                <a14:m>
                  <m:oMath xmlns:m="http://schemas.openxmlformats.org/officeDocument/2006/math">
                    <m:r>
                      <a:rPr lang="pt-BR" i="1">
                        <a:latin typeface="Cambria Math" panose="02040503050406030204" pitchFamily="18" charset="0"/>
                        <a:ea typeface="Cambria Math" panose="02040503050406030204" pitchFamily="18" charset="0"/>
                      </a:rPr>
                      <m:t>𝜆</m:t>
                    </m:r>
                  </m:oMath>
                </a14:m>
                <a:r>
                  <a:rPr lang="pt-BR" baseline="0" dirty="0"/>
                  <a:t> é também conhecido como parâmetro de complexidade e controla a quantidade de redução/encolhimento dos pesos: quanto maior o valor de </a:t>
                </a:r>
                <a14:m>
                  <m:oMath xmlns:m="http://schemas.openxmlformats.org/officeDocument/2006/math">
                    <m:r>
                      <a:rPr lang="pt-BR" i="1" smtClean="0">
                        <a:latin typeface="Cambria Math" panose="02040503050406030204" pitchFamily="18" charset="0"/>
                        <a:ea typeface="Cambria Math" panose="02040503050406030204" pitchFamily="18" charset="0"/>
                      </a:rPr>
                      <m:t>𝜆</m:t>
                    </m:r>
                  </m:oMath>
                </a14:m>
                <a:r>
                  <a:rPr lang="pt-BR" baseline="0" dirty="0"/>
                  <a:t>, maior a quantidade de redução/encolhimento.</a:t>
                </a:r>
              </a:p>
              <a:p>
                <a:endParaRPr lang="pt-BR" b="1" baseline="0" dirty="0"/>
              </a:p>
              <a:p>
                <a:r>
                  <a:rPr lang="pt-BR" b="1" baseline="0" dirty="0"/>
                  <a:t>Norma Euclidiana</a:t>
                </a:r>
                <a:r>
                  <a:rPr lang="pt-BR" baseline="0" dirty="0"/>
                  <a:t>: </a:t>
                </a:r>
                <a:r>
                  <a:rPr lang="pt-BR" dirty="0">
                    <a:hlinkClick r:id="rId3"/>
                  </a:rPr>
                  <a:t>https://en.wikipedia.org/wiki/Norm_(mathematics)#Euclidean_norm</a:t>
                </a:r>
                <a:endParaRPr lang="pt-BR" baseline="0" dirty="0"/>
              </a:p>
              <a:p>
                <a:endParaRPr lang="pt-BR" baseline="0" dirty="0"/>
              </a:p>
              <a:p>
                <a:r>
                  <a:rPr lang="pt-BR" sz="1200" b="0" i="0" kern="1200" dirty="0">
                    <a:solidFill>
                      <a:schemeClr val="tx1"/>
                    </a:solidFill>
                    <a:effectLst/>
                    <a:latin typeface="+mn-lt"/>
                    <a:ea typeface="+mn-ea"/>
                    <a:cs typeface="+mn-cs"/>
                  </a:rPr>
                  <a:t>A regularização força o algoritmo de aprendizado a não apenas ajustar os pesos, mas também, manté-los</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o menor possível.</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A regularização é baseada na ideia de que o sobreajuste é causado pelo fato dos </a:t>
                </a:r>
                <a:r>
                  <a:rPr lang="pt-BR" sz="1200" b="1" i="1" kern="1200" baseline="0" dirty="0">
                    <a:solidFill>
                      <a:schemeClr val="tx1"/>
                    </a:solidFill>
                    <a:effectLst/>
                    <a:latin typeface="+mn-lt"/>
                    <a:ea typeface="+mn-ea"/>
                    <a:cs typeface="+mn-cs"/>
                  </a:rPr>
                  <a:t>pesos</a:t>
                </a:r>
                <a:r>
                  <a:rPr lang="pt-BR" sz="1200" b="0" i="0" kern="1200" baseline="0" dirty="0">
                    <a:solidFill>
                      <a:schemeClr val="tx1"/>
                    </a:solidFill>
                    <a:effectLst/>
                    <a:latin typeface="+mn-lt"/>
                    <a:ea typeface="+mn-ea"/>
                    <a:cs typeface="+mn-cs"/>
                  </a:rPr>
                  <a:t> (a1 até aK) </a:t>
                </a:r>
                <a:r>
                  <a:rPr lang="pt-BR" sz="1200" b="0" i="0" kern="1200" dirty="0">
                    <a:solidFill>
                      <a:schemeClr val="tx1"/>
                    </a:solidFill>
                    <a:effectLst/>
                    <a:latin typeface="+mn-lt"/>
                    <a:ea typeface="+mn-ea"/>
                    <a:cs typeface="+mn-cs"/>
                  </a:rPr>
                  <a:t>serem "excessivamente específicos", ou</a:t>
                </a:r>
                <a:r>
                  <a:rPr lang="pt-BR" sz="1200" b="0" i="0" kern="1200" baseline="0" dirty="0">
                    <a:solidFill>
                      <a:schemeClr val="tx1"/>
                    </a:solidFill>
                    <a:effectLst/>
                    <a:latin typeface="+mn-lt"/>
                    <a:ea typeface="+mn-ea"/>
                    <a:cs typeface="+mn-cs"/>
                  </a:rPr>
                  <a:t> seja</a:t>
                </a:r>
                <a:r>
                  <a:rPr lang="pt-BR" sz="1200" b="0" i="0" kern="1200" dirty="0">
                    <a:solidFill>
                      <a:schemeClr val="tx1"/>
                    </a:solidFill>
                    <a:effectLst/>
                    <a:latin typeface="+mn-lt"/>
                    <a:ea typeface="+mn-ea"/>
                    <a:cs typeface="+mn-cs"/>
                  </a:rPr>
                  <a:t>, que seus valores sejam grandes</a:t>
                </a:r>
                <a:r>
                  <a:rPr lang="pt-BR" sz="1200" b="0" i="0" kern="1200" baseline="0" dirty="0">
                    <a:solidFill>
                      <a:schemeClr val="tx1"/>
                    </a:solidFill>
                    <a:effectLst/>
                    <a:latin typeface="+mn-lt"/>
                    <a:ea typeface="+mn-ea"/>
                    <a:cs typeface="+mn-cs"/>
                  </a:rPr>
                  <a:t> demais. </a:t>
                </a:r>
                <a:r>
                  <a:rPr lang="pt-BR" sz="1200" b="0" i="0" kern="1200" dirty="0">
                    <a:solidFill>
                      <a:schemeClr val="tx1"/>
                    </a:solidFill>
                    <a:effectLst/>
                    <a:latin typeface="+mn-lt"/>
                    <a:ea typeface="+mn-ea"/>
                    <a:cs typeface="+mn-cs"/>
                  </a:rPr>
                  <a:t>O bias, a0, meramente compensa (desloca) a relação entre y e a1*x1+a2*x2+...+aK*xK e sua escala, portanto, é muito menos importante para o problema de regularização. Além disso, no caso de uma grande compensação (deslocamento/offset/bias) ser necessária por qualquer motivo, regularizar</a:t>
                </a:r>
                <a:r>
                  <a:rPr lang="pt-BR" sz="1200" b="0" i="0" kern="1200" baseline="0" dirty="0">
                    <a:solidFill>
                      <a:schemeClr val="tx1"/>
                    </a:solidFill>
                    <a:effectLst/>
                    <a:latin typeface="+mn-lt"/>
                    <a:ea typeface="+mn-ea"/>
                    <a:cs typeface="+mn-cs"/>
                  </a:rPr>
                  <a:t> o bias (a0)</a:t>
                </a:r>
                <a:r>
                  <a:rPr lang="pt-BR" sz="1200" b="0" i="0" kern="1200" dirty="0">
                    <a:solidFill>
                      <a:schemeClr val="tx1"/>
                    </a:solidFill>
                    <a:effectLst/>
                    <a:latin typeface="+mn-lt"/>
                    <a:ea typeface="+mn-ea"/>
                    <a:cs typeface="+mn-cs"/>
                  </a:rPr>
                  <a:t> impedirá o modelo</a:t>
                </a:r>
                <a:r>
                  <a:rPr lang="pt-BR" sz="1200" b="0" i="0" kern="1200" baseline="0" dirty="0">
                    <a:solidFill>
                      <a:schemeClr val="tx1"/>
                    </a:solidFill>
                    <a:effectLst/>
                    <a:latin typeface="+mn-lt"/>
                    <a:ea typeface="+mn-ea"/>
                    <a:cs typeface="+mn-cs"/>
                  </a:rPr>
                  <a:t> de</a:t>
                </a:r>
                <a:r>
                  <a:rPr lang="pt-BR" sz="1200" b="0" i="0" kern="1200" dirty="0">
                    <a:solidFill>
                      <a:schemeClr val="tx1"/>
                    </a:solidFill>
                    <a:effectLst/>
                    <a:latin typeface="+mn-lt"/>
                    <a:ea typeface="+mn-ea"/>
                    <a:cs typeface="+mn-cs"/>
                  </a:rPr>
                  <a:t> encontrar a relação correta.</a:t>
                </a:r>
              </a:p>
              <a:p>
                <a:endParaRPr lang="pt-BR"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dirty="0"/>
                  <a:t>O peso </a:t>
                </a:r>
                <a14:m>
                  <m:oMath xmlns:m="http://schemas.openxmlformats.org/officeDocument/2006/math">
                    <m:sSub>
                      <m:sSubPr>
                        <m:ctrlPr>
                          <a:rPr lang="pt-BR" sz="1200" i="1">
                            <a:latin typeface="Cambria Math" panose="02040503050406030204" pitchFamily="18" charset="0"/>
                          </a:rPr>
                        </m:ctrlPr>
                      </m:sSubPr>
                      <m:e>
                        <m:r>
                          <a:rPr lang="pt-BR" sz="1200" i="1">
                            <a:latin typeface="Cambria Math" panose="02040503050406030204" pitchFamily="18" charset="0"/>
                          </a:rPr>
                          <m:t>𝑎</m:t>
                        </m:r>
                      </m:e>
                      <m:sub>
                        <m:r>
                          <a:rPr lang="pt-BR" sz="1200" i="1">
                            <a:latin typeface="Cambria Math" panose="02040503050406030204" pitchFamily="18" charset="0"/>
                          </a:rPr>
                          <m:t>0</m:t>
                        </m:r>
                      </m:sub>
                    </m:sSub>
                  </m:oMath>
                </a14:m>
                <a:r>
                  <a:rPr lang="pt-BR" sz="1200" dirty="0"/>
                  <a:t> fornece apenas o deslocamento da função hipótese em relação ao eixo </a:t>
                </a:r>
                <a14:m>
                  <m:oMath xmlns:m="http://schemas.openxmlformats.org/officeDocument/2006/math">
                    <m:r>
                      <a:rPr lang="pt-BR" sz="1200" i="1">
                        <a:latin typeface="Cambria Math" panose="02040503050406030204" pitchFamily="18" charset="0"/>
                      </a:rPr>
                      <m:t>𝑦</m:t>
                    </m:r>
                  </m:oMath>
                </a14:m>
                <a:r>
                  <a:rPr lang="pt-BR" sz="1200" dirty="0"/>
                  <a:t> e não tem influência na complexidade da </a:t>
                </a:r>
                <a:r>
                  <a:rPr lang="pt-BR" sz="1200" b="1" i="1" dirty="0"/>
                  <a:t>hipótese</a:t>
                </a:r>
                <a:r>
                  <a:rPr lang="pt-BR" sz="1200" dirty="0"/>
                  <a:t> pois não é multiplicado por nenhum atributo. Lembre-se que a complexidade se deve à ordem do modelo e </a:t>
                </a:r>
                <a14:m>
                  <m:oMath xmlns:m="http://schemas.openxmlformats.org/officeDocument/2006/math">
                    <m:sSub>
                      <m:sSubPr>
                        <m:ctrlPr>
                          <a:rPr lang="pt-BR" sz="1200" i="1">
                            <a:latin typeface="Cambria Math" panose="02040503050406030204" pitchFamily="18" charset="0"/>
                          </a:rPr>
                        </m:ctrlPr>
                      </m:sSubPr>
                      <m:e>
                        <m:r>
                          <a:rPr lang="pt-BR" sz="1200" i="1">
                            <a:latin typeface="Cambria Math" panose="02040503050406030204" pitchFamily="18" charset="0"/>
                          </a:rPr>
                          <m:t>𝑎</m:t>
                        </m:r>
                      </m:e>
                      <m:sub>
                        <m:r>
                          <a:rPr lang="pt-BR" sz="1200" i="1">
                            <a:latin typeface="Cambria Math" panose="02040503050406030204" pitchFamily="18" charset="0"/>
                          </a:rPr>
                          <m:t>0</m:t>
                        </m:r>
                      </m:sub>
                    </m:sSub>
                  </m:oMath>
                </a14:m>
                <a:r>
                  <a:rPr lang="pt-BR" sz="1200" dirty="0"/>
                  <a:t> apenas dita o </a:t>
                </a:r>
                <a:r>
                  <a:rPr lang="pt-BR" sz="1200" i="1" dirty="0"/>
                  <a:t>offset</a:t>
                </a:r>
                <a:r>
                  <a:rPr lang="pt-BR" sz="1200" dirty="0"/>
                  <a:t> (deslocamento) em relação ao eixo </a:t>
                </a:r>
                <a14:m>
                  <m:oMath xmlns:m="http://schemas.openxmlformats.org/officeDocument/2006/math">
                    <m:r>
                      <a:rPr lang="pt-BR" sz="1200" i="1">
                        <a:latin typeface="Cambria Math" panose="02040503050406030204" pitchFamily="18" charset="0"/>
                      </a:rPr>
                      <m:t>𝑦</m:t>
                    </m:r>
                  </m:oMath>
                </a14:m>
                <a:r>
                  <a:rPr lang="pt-BR" sz="1200" dirty="0"/>
                  <a:t>.</a:t>
                </a:r>
                <a:endParaRPr lang="pt-BR" sz="1200" b="0" i="0" kern="1200" dirty="0">
                  <a:solidFill>
                    <a:schemeClr val="tx1"/>
                  </a:solidFill>
                  <a:effectLst/>
                  <a:latin typeface="+mn-lt"/>
                  <a:ea typeface="+mn-ea"/>
                  <a:cs typeface="+mn-cs"/>
                </a:endParaRPr>
              </a:p>
              <a:p>
                <a:endParaRPr lang="pt-BR" dirty="0"/>
              </a:p>
              <a:p>
                <a:r>
                  <a:rPr lang="pt-BR" b="1" dirty="0"/>
                  <a:t>Referencias com explicações</a:t>
                </a:r>
                <a:r>
                  <a:rPr lang="pt-BR" b="1" baseline="0" dirty="0"/>
                  <a:t> sobre o motivo de a0 não ser considerado no termo de penalização</a:t>
                </a:r>
                <a:r>
                  <a:rPr lang="pt-BR" baseline="0" dirty="0"/>
                  <a:t>:</a:t>
                </a:r>
                <a:endParaRPr lang="pt-BR" dirty="0"/>
              </a:p>
              <a:p>
                <a:r>
                  <a:rPr lang="pt-BR" dirty="0">
                    <a:hlinkClick r:id="rId4"/>
                  </a:rPr>
                  <a:t>https://stats.stackexchange.com/questions/86991/reason-for-not-shrinking-the-bias-intercept-term-in-regression</a:t>
                </a:r>
                <a:endParaRPr lang="pt-BR" dirty="0"/>
              </a:p>
              <a:p>
                <a:r>
                  <a:rPr lang="pt-BR" dirty="0">
                    <a:hlinkClick r:id="rId5"/>
                  </a:rPr>
                  <a:t>https://stackoverflow.com/questions/54017246/why-is-theta0-skipped-while-performing-regulariztion-on-regression</a:t>
                </a:r>
                <a:endParaRPr lang="pt-BR" dirty="0"/>
              </a:p>
              <a:p>
                <a:r>
                  <a:rPr lang="pt-BR" dirty="0">
                    <a:hlinkClick r:id="rId6"/>
                  </a:rPr>
                  <a:t>https://stackoverflow.com/questions/12578336/why-is-the-bias-term-not-regularized-in-ridge-regression</a:t>
                </a:r>
                <a:endParaRPr lang="pt-BR" dirty="0"/>
              </a:p>
              <a:p>
                <a:endParaRPr lang="pt-BR" dirty="0"/>
              </a:p>
              <a:p>
                <a:endParaRPr lang="pt-BR" dirty="0"/>
              </a:p>
              <a:p>
                <a:endParaRPr lang="pt-BR" dirty="0"/>
              </a:p>
            </p:txBody>
          </p:sp>
        </mc:Choice>
        <mc:Fallback xmlns="">
          <p:sp>
            <p:nvSpPr>
              <p:cNvPr id="3" name="Espaço Reservado para Anotações 2"/>
              <p:cNvSpPr>
                <a:spLocks noGrp="1"/>
              </p:cNvSpPr>
              <p:nvPr>
                <p:ph type="body" idx="1"/>
              </p:nvPr>
            </p:nvSpPr>
            <p:spPr/>
            <p:txBody>
              <a:bodyPr/>
              <a:lstStyle/>
              <a:p>
                <a:r>
                  <a:rPr lang="en-US" sz="1200" b="0" i="1" kern="1200" dirty="0">
                    <a:solidFill>
                      <a:schemeClr val="tx1"/>
                    </a:solidFill>
                    <a:effectLst/>
                    <a:latin typeface="+mn-lt"/>
                    <a:ea typeface="+mn-ea"/>
                    <a:cs typeface="+mn-cs"/>
                  </a:rPr>
                  <a:t>Ridge Regression</a:t>
                </a:r>
                <a:r>
                  <a:rPr lang="en-US" sz="1200" b="0" i="0" kern="1200" dirty="0">
                    <a:solidFill>
                      <a:schemeClr val="tx1"/>
                    </a:solidFill>
                    <a:effectLst/>
                    <a:latin typeface="+mn-lt"/>
                    <a:ea typeface="+mn-ea"/>
                    <a:cs typeface="+mn-cs"/>
                  </a:rPr>
                  <a:t> é</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também</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conhecida</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como</a:t>
                </a:r>
                <a:r>
                  <a:rPr lang="en-US" sz="1200" b="0" i="0" kern="1200" dirty="0">
                    <a:solidFill>
                      <a:schemeClr val="tx1"/>
                    </a:solidFill>
                    <a:effectLst/>
                    <a:latin typeface="+mn-lt"/>
                    <a:ea typeface="+mn-ea"/>
                    <a:cs typeface="+mn-cs"/>
                  </a:rPr>
                  <a:t> </a:t>
                </a:r>
                <a:r>
                  <a:rPr lang="en-US" sz="1200" b="0" i="1" kern="1200" dirty="0" err="1">
                    <a:solidFill>
                      <a:schemeClr val="tx1"/>
                    </a:solidFill>
                    <a:effectLst/>
                    <a:latin typeface="+mn-lt"/>
                    <a:ea typeface="+mn-ea"/>
                    <a:cs typeface="+mn-cs"/>
                  </a:rPr>
                  <a:t>Tikhonov</a:t>
                </a:r>
                <a:r>
                  <a:rPr lang="en-US" sz="1200" b="0" i="1" kern="1200" dirty="0">
                    <a:solidFill>
                      <a:schemeClr val="tx1"/>
                    </a:solidFill>
                    <a:effectLst/>
                    <a:latin typeface="+mn-lt"/>
                    <a:ea typeface="+mn-ea"/>
                    <a:cs typeface="+mn-cs"/>
                  </a:rPr>
                  <a:t> regularization</a:t>
                </a:r>
                <a:endParaRPr lang="pt-BR" dirty="0"/>
              </a:p>
              <a:p>
                <a:endParaRPr lang="pt-BR" dirty="0"/>
              </a:p>
              <a:p>
                <a:r>
                  <a:rPr lang="pt-BR" dirty="0"/>
                  <a:t>Ao invés de minimizar apenas o erro quadrático médio, como fizemo</a:t>
                </a:r>
                <a:r>
                  <a:rPr lang="pt-BR" baseline="0" dirty="0"/>
                  <a:t>s antes</a:t>
                </a:r>
                <a:r>
                  <a:rPr lang="pt-BR" dirty="0"/>
                  <a:t>,</a:t>
                </a:r>
                <a:r>
                  <a:rPr lang="pt-BR" baseline="0" dirty="0"/>
                  <a:t> </a:t>
                </a:r>
                <a:r>
                  <a:rPr lang="pt-BR" dirty="0"/>
                  <a:t>agora há a introdução de </a:t>
                </a:r>
                <a:r>
                  <a:rPr lang="pt-BR" b="1" dirty="0"/>
                  <a:t>um termo de penalização </a:t>
                </a:r>
                <a:r>
                  <a:rPr lang="pt-BR" dirty="0"/>
                  <a:t>proporcional à norma Euclidiana (L2) do vetor de</a:t>
                </a:r>
                <a:r>
                  <a:rPr lang="pt-BR" baseline="0" dirty="0"/>
                  <a:t> pesos. Na verdade, o quadrado da norma Euclidiana.</a:t>
                </a:r>
              </a:p>
              <a:p>
                <a:endParaRPr lang="pt-BR" baseline="0" dirty="0"/>
              </a:p>
              <a:p>
                <a:r>
                  <a:rPr lang="pt-BR" baseline="0" dirty="0"/>
                  <a:t>Essa técnica desestimula o aprendizado de um modelo mais complexo ou flexível, de forma a evitar o risco de overfitting.</a:t>
                </a:r>
              </a:p>
              <a:p>
                <a:endParaRPr lang="pt-BR" baseline="0" dirty="0"/>
              </a:p>
              <a:p>
                <a:r>
                  <a:rPr lang="pt-BR" baseline="0" dirty="0"/>
                  <a:t>O aumento na flexibilidade de um modelo é representado pelo aumento de seus pesos e, se quisermos minimizar a função de erro, esses pesos precisam ser pequenos.</a:t>
                </a:r>
              </a:p>
              <a:p>
                <a:endParaRPr lang="pt-BR" baseline="0" dirty="0"/>
              </a:p>
              <a:p>
                <a:r>
                  <a:rPr lang="pt-BR" baseline="0" dirty="0"/>
                  <a:t>O parâmetro </a:t>
                </a:r>
                <a:r>
                  <a:rPr lang="pt-BR" i="0">
                    <a:latin typeface="Cambria Math" panose="02040503050406030204" pitchFamily="18" charset="0"/>
                    <a:ea typeface="Cambria Math" panose="02040503050406030204" pitchFamily="18" charset="0"/>
                  </a:rPr>
                  <a:t>𝜆</a:t>
                </a:r>
                <a:r>
                  <a:rPr lang="pt-BR" baseline="0" dirty="0"/>
                  <a:t> é também conhecido como parâmetro de complexidade e controla a quantidade de redução/encolhimento dos pesos: quanto maior o valor de </a:t>
                </a:r>
                <a:r>
                  <a:rPr lang="pt-BR" i="0">
                    <a:latin typeface="Cambria Math" panose="02040503050406030204" pitchFamily="18" charset="0"/>
                    <a:ea typeface="Cambria Math" panose="02040503050406030204" pitchFamily="18" charset="0"/>
                  </a:rPr>
                  <a:t>𝜆</a:t>
                </a:r>
                <a:r>
                  <a:rPr lang="pt-BR" baseline="0" dirty="0"/>
                  <a:t>, maior a quantidade de redução/encolhimento.</a:t>
                </a:r>
              </a:p>
              <a:p>
                <a:endParaRPr lang="pt-BR" b="1" baseline="0" dirty="0"/>
              </a:p>
              <a:p>
                <a:r>
                  <a:rPr lang="pt-BR" b="1" baseline="0" dirty="0"/>
                  <a:t>Norma Euclidiana</a:t>
                </a:r>
                <a:r>
                  <a:rPr lang="pt-BR" baseline="0" dirty="0"/>
                  <a:t>: </a:t>
                </a:r>
                <a:r>
                  <a:rPr lang="pt-BR" dirty="0">
                    <a:hlinkClick r:id="rId7"/>
                  </a:rPr>
                  <a:t>https://en.wikipedia.org/wiki/Norm_(mathematics)#Euclidean_norm</a:t>
                </a:r>
                <a:endParaRPr lang="pt-BR" baseline="0" dirty="0"/>
              </a:p>
              <a:p>
                <a:endParaRPr lang="pt-BR" baseline="0" dirty="0"/>
              </a:p>
              <a:p>
                <a:r>
                  <a:rPr lang="pt-BR" sz="1200" b="0" i="0" kern="1200" dirty="0">
                    <a:solidFill>
                      <a:schemeClr val="tx1"/>
                    </a:solidFill>
                    <a:effectLst/>
                    <a:latin typeface="+mn-lt"/>
                    <a:ea typeface="+mn-ea"/>
                    <a:cs typeface="+mn-cs"/>
                  </a:rPr>
                  <a:t>A regularização força o algoritmo de aprendizado a não apenas ajustar os pesos, mas também, manté-los</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o menor possível.</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A regularização é baseada na ideia de que o sobreajuste é causado pelo fato dos </a:t>
                </a:r>
                <a:r>
                  <a:rPr lang="pt-BR" sz="1200" b="1" i="1" kern="1200" baseline="0" dirty="0">
                    <a:solidFill>
                      <a:schemeClr val="tx1"/>
                    </a:solidFill>
                    <a:effectLst/>
                    <a:latin typeface="+mn-lt"/>
                    <a:ea typeface="+mn-ea"/>
                    <a:cs typeface="+mn-cs"/>
                  </a:rPr>
                  <a:t>pesos</a:t>
                </a:r>
                <a:r>
                  <a:rPr lang="pt-BR" sz="1200" b="0" i="0" kern="1200" baseline="0" dirty="0">
                    <a:solidFill>
                      <a:schemeClr val="tx1"/>
                    </a:solidFill>
                    <a:effectLst/>
                    <a:latin typeface="+mn-lt"/>
                    <a:ea typeface="+mn-ea"/>
                    <a:cs typeface="+mn-cs"/>
                  </a:rPr>
                  <a:t> (a1 até aK) </a:t>
                </a:r>
                <a:r>
                  <a:rPr lang="pt-BR" sz="1200" b="0" i="0" kern="1200" dirty="0">
                    <a:solidFill>
                      <a:schemeClr val="tx1"/>
                    </a:solidFill>
                    <a:effectLst/>
                    <a:latin typeface="+mn-lt"/>
                    <a:ea typeface="+mn-ea"/>
                    <a:cs typeface="+mn-cs"/>
                  </a:rPr>
                  <a:t>serem "excessivamente específicos", ou</a:t>
                </a:r>
                <a:r>
                  <a:rPr lang="pt-BR" sz="1200" b="0" i="0" kern="1200" baseline="0" dirty="0">
                    <a:solidFill>
                      <a:schemeClr val="tx1"/>
                    </a:solidFill>
                    <a:effectLst/>
                    <a:latin typeface="+mn-lt"/>
                    <a:ea typeface="+mn-ea"/>
                    <a:cs typeface="+mn-cs"/>
                  </a:rPr>
                  <a:t> seja</a:t>
                </a:r>
                <a:r>
                  <a:rPr lang="pt-BR" sz="1200" b="0" i="0" kern="1200" dirty="0">
                    <a:solidFill>
                      <a:schemeClr val="tx1"/>
                    </a:solidFill>
                    <a:effectLst/>
                    <a:latin typeface="+mn-lt"/>
                    <a:ea typeface="+mn-ea"/>
                    <a:cs typeface="+mn-cs"/>
                  </a:rPr>
                  <a:t>, que seus valores sejam grandes</a:t>
                </a:r>
                <a:r>
                  <a:rPr lang="pt-BR" sz="1200" b="0" i="0" kern="1200" baseline="0" dirty="0">
                    <a:solidFill>
                      <a:schemeClr val="tx1"/>
                    </a:solidFill>
                    <a:effectLst/>
                    <a:latin typeface="+mn-lt"/>
                    <a:ea typeface="+mn-ea"/>
                    <a:cs typeface="+mn-cs"/>
                  </a:rPr>
                  <a:t> demais. </a:t>
                </a:r>
                <a:r>
                  <a:rPr lang="pt-BR" sz="1200" b="0" i="0" kern="1200" dirty="0">
                    <a:solidFill>
                      <a:schemeClr val="tx1"/>
                    </a:solidFill>
                    <a:effectLst/>
                    <a:latin typeface="+mn-lt"/>
                    <a:ea typeface="+mn-ea"/>
                    <a:cs typeface="+mn-cs"/>
                  </a:rPr>
                  <a:t>O bias, a0, meramente compensa (desloca) a relação entre y e a1*x1+a2*x2+...+aK*xK e sua escala, portanto, é muito menos importante para o problema de regularização. Além disso, no caso de uma grande compensação (deslocamento/offset/bias) ser necessária por qualquer motivo, regularizar</a:t>
                </a:r>
                <a:r>
                  <a:rPr lang="pt-BR" sz="1200" b="0" i="0" kern="1200" baseline="0" dirty="0">
                    <a:solidFill>
                      <a:schemeClr val="tx1"/>
                    </a:solidFill>
                    <a:effectLst/>
                    <a:latin typeface="+mn-lt"/>
                    <a:ea typeface="+mn-ea"/>
                    <a:cs typeface="+mn-cs"/>
                  </a:rPr>
                  <a:t> o bias (a0)</a:t>
                </a:r>
                <a:r>
                  <a:rPr lang="pt-BR" sz="1200" b="0" i="0" kern="1200" dirty="0">
                    <a:solidFill>
                      <a:schemeClr val="tx1"/>
                    </a:solidFill>
                    <a:effectLst/>
                    <a:latin typeface="+mn-lt"/>
                    <a:ea typeface="+mn-ea"/>
                    <a:cs typeface="+mn-cs"/>
                  </a:rPr>
                  <a:t> impedirá o modelo</a:t>
                </a:r>
                <a:r>
                  <a:rPr lang="pt-BR" sz="1200" b="0" i="0" kern="1200" baseline="0" dirty="0">
                    <a:solidFill>
                      <a:schemeClr val="tx1"/>
                    </a:solidFill>
                    <a:effectLst/>
                    <a:latin typeface="+mn-lt"/>
                    <a:ea typeface="+mn-ea"/>
                    <a:cs typeface="+mn-cs"/>
                  </a:rPr>
                  <a:t> de</a:t>
                </a:r>
                <a:r>
                  <a:rPr lang="pt-BR" sz="1200" b="0" i="0" kern="1200" dirty="0">
                    <a:solidFill>
                      <a:schemeClr val="tx1"/>
                    </a:solidFill>
                    <a:effectLst/>
                    <a:latin typeface="+mn-lt"/>
                    <a:ea typeface="+mn-ea"/>
                    <a:cs typeface="+mn-cs"/>
                  </a:rPr>
                  <a:t> encontrar a relação correta.</a:t>
                </a:r>
              </a:p>
              <a:p>
                <a:endParaRPr lang="pt-BR"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dirty="0"/>
                  <a:t>O peso </a:t>
                </a:r>
                <a:r>
                  <a:rPr lang="pt-BR" sz="1200" i="0">
                    <a:latin typeface="Cambria Math" panose="02040503050406030204" pitchFamily="18" charset="0"/>
                  </a:rPr>
                  <a:t>𝑎_0</a:t>
                </a:r>
                <a:r>
                  <a:rPr lang="pt-BR" sz="1200" dirty="0"/>
                  <a:t> fornece apenas o deslocamento da função hipótese em relação ao eixo </a:t>
                </a:r>
                <a:r>
                  <a:rPr lang="pt-BR" sz="1200" i="0">
                    <a:latin typeface="Cambria Math" panose="02040503050406030204" pitchFamily="18" charset="0"/>
                  </a:rPr>
                  <a:t>𝑦</a:t>
                </a:r>
                <a:r>
                  <a:rPr lang="pt-BR" sz="1200" dirty="0"/>
                  <a:t> e não tem influência na complexidade da </a:t>
                </a:r>
                <a:r>
                  <a:rPr lang="pt-BR" sz="1200" b="1" i="1" dirty="0"/>
                  <a:t>hipótese</a:t>
                </a:r>
                <a:r>
                  <a:rPr lang="pt-BR" sz="1200" dirty="0"/>
                  <a:t> pois não é multiplicado por nenhum atributo. Lembre-se que a complexidade se deve à ordem do modelo e </a:t>
                </a:r>
                <a:r>
                  <a:rPr lang="pt-BR" sz="1200" i="0">
                    <a:latin typeface="Cambria Math" panose="02040503050406030204" pitchFamily="18" charset="0"/>
                  </a:rPr>
                  <a:t>𝑎_0</a:t>
                </a:r>
                <a:r>
                  <a:rPr lang="pt-BR" sz="1200" dirty="0"/>
                  <a:t> apenas dita o </a:t>
                </a:r>
                <a:r>
                  <a:rPr lang="pt-BR" sz="1200" i="1" dirty="0"/>
                  <a:t>offset</a:t>
                </a:r>
                <a:r>
                  <a:rPr lang="pt-BR" sz="1200" dirty="0"/>
                  <a:t> (deslocamento) em relação ao eixo </a:t>
                </a:r>
                <a:r>
                  <a:rPr lang="pt-BR" sz="1200" i="0">
                    <a:latin typeface="Cambria Math" panose="02040503050406030204" pitchFamily="18" charset="0"/>
                  </a:rPr>
                  <a:t>𝑦</a:t>
                </a:r>
                <a:r>
                  <a:rPr lang="pt-BR" sz="1200" dirty="0"/>
                  <a:t>.</a:t>
                </a:r>
                <a:endParaRPr lang="pt-BR" sz="1200" b="0" i="0" kern="1200" dirty="0">
                  <a:solidFill>
                    <a:schemeClr val="tx1"/>
                  </a:solidFill>
                  <a:effectLst/>
                  <a:latin typeface="+mn-lt"/>
                  <a:ea typeface="+mn-ea"/>
                  <a:cs typeface="+mn-cs"/>
                </a:endParaRPr>
              </a:p>
              <a:p>
                <a:endParaRPr lang="pt-BR" dirty="0"/>
              </a:p>
              <a:p>
                <a:r>
                  <a:rPr lang="pt-BR" b="1" dirty="0"/>
                  <a:t>Referencias com explicações</a:t>
                </a:r>
                <a:r>
                  <a:rPr lang="pt-BR" b="1" baseline="0" dirty="0"/>
                  <a:t> sobre o motivo de a0 não ser considerado no termo de penalização</a:t>
                </a:r>
                <a:r>
                  <a:rPr lang="pt-BR" baseline="0" dirty="0"/>
                  <a:t>:</a:t>
                </a:r>
                <a:endParaRPr lang="pt-BR" dirty="0"/>
              </a:p>
              <a:p>
                <a:r>
                  <a:rPr lang="pt-BR" dirty="0">
                    <a:hlinkClick r:id="rId8"/>
                  </a:rPr>
                  <a:t>https://stats.stackexchange.com/questions/86991/reason-for-not-shrinking-the-bias-intercept-term-in-regression</a:t>
                </a:r>
                <a:endParaRPr lang="pt-BR" dirty="0"/>
              </a:p>
              <a:p>
                <a:r>
                  <a:rPr lang="pt-BR" dirty="0">
                    <a:hlinkClick r:id="rId9"/>
                  </a:rPr>
                  <a:t>https://stackoverflow.com/questions/54017246/why-is-theta0-skipped-while-performing-regulariztion-on-regression</a:t>
                </a:r>
                <a:endParaRPr lang="pt-BR" dirty="0"/>
              </a:p>
              <a:p>
                <a:r>
                  <a:rPr lang="pt-BR" dirty="0">
                    <a:hlinkClick r:id="rId10"/>
                  </a:rPr>
                  <a:t>https://stackoverflow.com/questions/12578336/why-is-the-bias-term-not-regularized-in-ridge-regression</a:t>
                </a:r>
                <a:endParaRPr lang="pt-BR" dirty="0"/>
              </a:p>
              <a:p>
                <a:endParaRPr lang="pt-BR" dirty="0"/>
              </a:p>
              <a:p>
                <a:endParaRPr lang="pt-BR" dirty="0"/>
              </a:p>
              <a:p>
                <a:endParaRPr lang="pt-BR" dirty="0"/>
              </a:p>
            </p:txBody>
          </p:sp>
        </mc:Fallback>
      </mc:AlternateContent>
      <p:sp>
        <p:nvSpPr>
          <p:cNvPr id="4" name="Espaço Reservado para Número de Slide 3"/>
          <p:cNvSpPr>
            <a:spLocks noGrp="1"/>
          </p:cNvSpPr>
          <p:nvPr>
            <p:ph type="sldNum" sz="quarter" idx="5"/>
          </p:nvPr>
        </p:nvSpPr>
        <p:spPr/>
        <p:txBody>
          <a:bodyPr/>
          <a:lstStyle/>
          <a:p>
            <a:fld id="{DA8B99DF-01BC-492A-8CEF-4FD88D18DD9D}" type="slidenum">
              <a:rPr lang="nl-BE" smtClean="0"/>
              <a:t>107</a:t>
            </a:fld>
            <a:endParaRPr lang="nl-BE"/>
          </a:p>
        </p:txBody>
      </p:sp>
    </p:spTree>
    <p:extLst>
      <p:ext uri="{BB962C8B-B14F-4D97-AF65-F5344CB8AC3E}">
        <p14:creationId xmlns:p14="http://schemas.microsoft.com/office/powerpoint/2010/main" val="139191252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dirty="0"/>
              <a:t>s.a. = sujeito a</a:t>
            </a:r>
          </a:p>
          <a:p>
            <a:endParaRPr lang="pt-BR" dirty="0"/>
          </a:p>
          <a:p>
            <a:r>
              <a:rPr lang="pt-BR" b="1" dirty="0"/>
              <a:t>Referências</a:t>
            </a:r>
          </a:p>
          <a:p>
            <a:r>
              <a:rPr lang="pt-BR" dirty="0"/>
              <a:t>[1] https://www.datacamp.com/community/tutorials/tutorial-ridge-lasso-elastic-net</a:t>
            </a:r>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108</a:t>
            </a:fld>
            <a:endParaRPr lang="nl-BE"/>
          </a:p>
        </p:txBody>
      </p:sp>
    </p:spTree>
    <p:extLst>
      <p:ext uri="{BB962C8B-B14F-4D97-AF65-F5344CB8AC3E}">
        <p14:creationId xmlns:p14="http://schemas.microsoft.com/office/powerpoint/2010/main" val="255887676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pt-BR" b="1" dirty="0"/>
              <a:t>Referências</a:t>
            </a:r>
            <a:r>
              <a:rPr lang="pt-BR" dirty="0"/>
              <a:t>:</a:t>
            </a:r>
          </a:p>
          <a:p>
            <a:endParaRPr lang="pt-BR" dirty="0"/>
          </a:p>
          <a:p>
            <a:r>
              <a:rPr lang="pt-BR" dirty="0"/>
              <a:t>[1] https://xavierbourretsicotte.github.io/intro_ridge.html</a:t>
            </a:r>
          </a:p>
          <a:p>
            <a:r>
              <a:rPr lang="pt-BR" dirty="0"/>
              <a:t>[2] https://courses.cs.washington.edu/courses/cse446/17wi/slides/ridgeregression-annotated.pdf</a:t>
            </a:r>
          </a:p>
          <a:p>
            <a:r>
              <a:rPr lang="pt-BR" dirty="0"/>
              <a:t>[3] https://www.kaggle.com/residentmario/ridge-regression-cost-function</a:t>
            </a:r>
          </a:p>
        </p:txBody>
      </p:sp>
      <p:sp>
        <p:nvSpPr>
          <p:cNvPr id="4" name="Slide Number Placeholder 3"/>
          <p:cNvSpPr>
            <a:spLocks noGrp="1"/>
          </p:cNvSpPr>
          <p:nvPr>
            <p:ph type="sldNum" sz="quarter" idx="10"/>
          </p:nvPr>
        </p:nvSpPr>
        <p:spPr/>
        <p:txBody>
          <a:bodyPr/>
          <a:lstStyle/>
          <a:p>
            <a:fld id="{DA8B99DF-01BC-492A-8CEF-4FD88D18DD9D}" type="slidenum">
              <a:rPr lang="nl-BE" smtClean="0"/>
              <a:t>111</a:t>
            </a:fld>
            <a:endParaRPr lang="nl-BE"/>
          </a:p>
        </p:txBody>
      </p:sp>
    </p:spTree>
    <p:extLst>
      <p:ext uri="{BB962C8B-B14F-4D97-AF65-F5344CB8AC3E}">
        <p14:creationId xmlns:p14="http://schemas.microsoft.com/office/powerpoint/2010/main" val="329876566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dirty="0"/>
              <a:t>Perceba mais uma vez que o peso a0 não participa da norma envolvida na penalização. Na realidade, a solução para a0 é o próprio valor médio da saída desejada.</a:t>
            </a:r>
          </a:p>
          <a:p>
            <a:endParaRPr lang="pt-BR" dirty="0"/>
          </a:p>
          <a:p>
            <a:r>
              <a:rPr lang="pt-BR" dirty="0"/>
              <a:t>Uma característica importante da regressão</a:t>
            </a:r>
            <a:r>
              <a:rPr lang="pt-BR" baseline="0" dirty="0"/>
              <a:t> LASSO </a:t>
            </a:r>
            <a:r>
              <a:rPr lang="pt-BR" dirty="0"/>
              <a:t>é que ela tende a eliminar completamente os pesos dos atributos menos importantes (ou seja, defini-los como zero).</a:t>
            </a:r>
          </a:p>
          <a:p>
            <a:endParaRPr lang="pt-BR" dirty="0"/>
          </a:p>
          <a:p>
            <a:r>
              <a:rPr lang="pt-BR" dirty="0"/>
              <a:t>A</a:t>
            </a:r>
            <a:r>
              <a:rPr lang="pt-BR" baseline="0" dirty="0"/>
              <a:t> norma do vetor de pesos é </a:t>
            </a:r>
            <a:r>
              <a:rPr lang="pt-BR" baseline="0" dirty="0" err="1"/>
              <a:t>diferenciável</a:t>
            </a:r>
            <a:r>
              <a:rPr lang="pt-BR" baseline="0" dirty="0"/>
              <a:t> em qualquer ponto, exceto no ponto ai = 0 (i=1,...,K), onde ela faz uma curva acentuada ao cruzar o eixo y.</a:t>
            </a:r>
          </a:p>
          <a:p>
            <a:endParaRPr lang="pt-BR" baseline="0" dirty="0"/>
          </a:p>
          <a:p>
            <a:r>
              <a:rPr lang="pt-BR" b="1" baseline="0" dirty="0"/>
              <a:t>IMPORTANTE</a:t>
            </a:r>
          </a:p>
          <a:p>
            <a:r>
              <a:rPr lang="pt-BR" dirty="0"/>
              <a:t>Conforme mencionado na documentação do </a:t>
            </a:r>
            <a:r>
              <a:rPr lang="pt-BR" dirty="0" err="1"/>
              <a:t>Scikit-Learn</a:t>
            </a:r>
            <a:r>
              <a:rPr lang="pt-BR" dirty="0"/>
              <a:t>, a classe LASSO não é recomendada para uso com alfa = 0. Nesses casos, a classe </a:t>
            </a:r>
            <a:r>
              <a:rPr lang="pt-BR" dirty="0" err="1"/>
              <a:t>LinearRegression</a:t>
            </a:r>
            <a:r>
              <a:rPr lang="pt-BR" dirty="0"/>
              <a:t> deve ser usada.</a:t>
            </a:r>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112</a:t>
            </a:fld>
            <a:endParaRPr lang="nl-BE"/>
          </a:p>
        </p:txBody>
      </p:sp>
    </p:spTree>
    <p:extLst>
      <p:ext uri="{BB962C8B-B14F-4D97-AF65-F5344CB8AC3E}">
        <p14:creationId xmlns:p14="http://schemas.microsoft.com/office/powerpoint/2010/main" val="400202094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dirty="0"/>
              <a:t>Perceba mais uma vez que o peso a0 não participa da norma envolvida na penalização. Na realidade, a solução para a0 é o próprio valor médio da saída desejada.</a:t>
            </a:r>
          </a:p>
          <a:p>
            <a:endParaRPr lang="pt-BR" dirty="0"/>
          </a:p>
          <a:p>
            <a:r>
              <a:rPr lang="pt-BR" dirty="0"/>
              <a:t>Uma característica importante da regressão</a:t>
            </a:r>
            <a:r>
              <a:rPr lang="pt-BR" baseline="0" dirty="0"/>
              <a:t> LASSO </a:t>
            </a:r>
            <a:r>
              <a:rPr lang="pt-BR" dirty="0"/>
              <a:t>é que ela tende a eliminar completamente os pesos dos atributos menos importantes (ou seja, defini-los como zero).</a:t>
            </a:r>
          </a:p>
          <a:p>
            <a:endParaRPr lang="pt-BR" dirty="0"/>
          </a:p>
          <a:p>
            <a:r>
              <a:rPr lang="pt-BR" dirty="0"/>
              <a:t>A</a:t>
            </a:r>
            <a:r>
              <a:rPr lang="pt-BR" baseline="0" dirty="0"/>
              <a:t> norma do vetor de pesos é </a:t>
            </a:r>
            <a:r>
              <a:rPr lang="pt-BR" baseline="0" dirty="0" err="1"/>
              <a:t>diferenciável</a:t>
            </a:r>
            <a:r>
              <a:rPr lang="pt-BR" baseline="0" dirty="0"/>
              <a:t> em qualquer ponto, exceto no ponto ai = 0 (i=1,...,K), onde ela faz uma curva acentuada ao cruzar o eixo y.</a:t>
            </a:r>
          </a:p>
          <a:p>
            <a:endParaRPr lang="pt-BR" baseline="0" dirty="0"/>
          </a:p>
          <a:p>
            <a:r>
              <a:rPr lang="pt-BR" b="1" baseline="0" dirty="0"/>
              <a:t>IMPORTANTE</a:t>
            </a:r>
          </a:p>
          <a:p>
            <a:r>
              <a:rPr lang="pt-BR" dirty="0"/>
              <a:t>Conforme mencionado na documentação do </a:t>
            </a:r>
            <a:r>
              <a:rPr lang="pt-BR" dirty="0" err="1"/>
              <a:t>Scikit-Learn</a:t>
            </a:r>
            <a:r>
              <a:rPr lang="pt-BR" dirty="0"/>
              <a:t>, a classe LASSO não é recomendada para uso com alfa = 0. Nesses casos, a classe </a:t>
            </a:r>
            <a:r>
              <a:rPr lang="pt-BR" dirty="0" err="1"/>
              <a:t>LinearRegression</a:t>
            </a:r>
            <a:r>
              <a:rPr lang="pt-BR" dirty="0"/>
              <a:t> deve ser usada.</a:t>
            </a:r>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113</a:t>
            </a:fld>
            <a:endParaRPr lang="nl-BE"/>
          </a:p>
        </p:txBody>
      </p:sp>
    </p:spTree>
    <p:extLst>
      <p:ext uri="{BB962C8B-B14F-4D97-AF65-F5344CB8AC3E}">
        <p14:creationId xmlns:p14="http://schemas.microsoft.com/office/powerpoint/2010/main" val="314793019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pt-BR" dirty="0"/>
              <a:t>A definição</a:t>
            </a:r>
            <a:r>
              <a:rPr lang="pt-BR" baseline="0" dirty="0"/>
              <a:t> sobre a função sign ou também conhecida como signum pode ser encontrada em: </a:t>
            </a:r>
            <a:r>
              <a:rPr lang="pt-BR" dirty="0"/>
              <a:t>https://en.wikipedia.org/wiki/Sign_function#Properties</a:t>
            </a:r>
          </a:p>
          <a:p>
            <a:endParaRPr lang="pt-BR" dirty="0"/>
          </a:p>
          <a:p>
            <a:r>
              <a:rPr lang="pt-BR" b="1" dirty="0"/>
              <a:t>Referências</a:t>
            </a:r>
            <a:r>
              <a:rPr lang="pt-BR" dirty="0"/>
              <a:t>:</a:t>
            </a:r>
          </a:p>
          <a:p>
            <a:r>
              <a:rPr lang="pt-BR" dirty="0"/>
              <a:t>[1] https://dafriedman97.github.io/mlbook/content/c2/s2/regularized.html</a:t>
            </a:r>
          </a:p>
          <a:p>
            <a:r>
              <a:rPr lang="pt-BR" dirty="0"/>
              <a:t>[2] https://dafriedman97.github.io/mlbook/content/c2/s1/regularized.html</a:t>
            </a:r>
          </a:p>
          <a:p>
            <a:endParaRPr lang="pt-BR" dirty="0"/>
          </a:p>
        </p:txBody>
      </p:sp>
      <p:sp>
        <p:nvSpPr>
          <p:cNvPr id="4" name="Slide Number Placeholder 3"/>
          <p:cNvSpPr>
            <a:spLocks noGrp="1"/>
          </p:cNvSpPr>
          <p:nvPr>
            <p:ph type="sldNum" sz="quarter" idx="10"/>
          </p:nvPr>
        </p:nvSpPr>
        <p:spPr/>
        <p:txBody>
          <a:bodyPr/>
          <a:lstStyle/>
          <a:p>
            <a:fld id="{DA8B99DF-01BC-492A-8CEF-4FD88D18DD9D}" type="slidenum">
              <a:rPr lang="nl-BE" smtClean="0"/>
              <a:t>114</a:t>
            </a:fld>
            <a:endParaRPr lang="nl-BE"/>
          </a:p>
        </p:txBody>
      </p:sp>
    </p:spTree>
    <p:extLst>
      <p:ext uri="{BB962C8B-B14F-4D97-AF65-F5344CB8AC3E}">
        <p14:creationId xmlns:p14="http://schemas.microsoft.com/office/powerpoint/2010/main" val="284900077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indent="0">
                  <a:buFont typeface="Arial" panose="020B0604020202020204" pitchFamily="34" charset="0"/>
                  <a:buNone/>
                </a:pPr>
                <a:r>
                  <a:rPr lang="pt-BR" dirty="0"/>
                  <a:t>Na figura abaixo, temos as curvas de nível da</a:t>
                </a:r>
                <a:r>
                  <a:rPr lang="pt-BR" baseline="0" dirty="0"/>
                  <a:t> função de</a:t>
                </a:r>
                <a:r>
                  <a:rPr lang="pt-BR" dirty="0"/>
                  <a:t> erro de</a:t>
                </a:r>
                <a:r>
                  <a:rPr lang="pt-BR" baseline="0" dirty="0"/>
                  <a:t> um </a:t>
                </a:r>
                <a:r>
                  <a:rPr lang="pt-BR" dirty="0"/>
                  <a:t>problema de regressão linear, bem como as regiões do espaço de hipóteses</a:t>
                </a:r>
                <a:r>
                  <a:rPr lang="pt-BR" baseline="0" dirty="0"/>
                  <a:t> </a:t>
                </a:r>
                <a:r>
                  <a:rPr lang="pt-BR" dirty="0"/>
                  <a:t>em que as restrições L2 (direita) e L1 (esquerda) são válidas, considerando o caso em que o vetor possui dois pesos sujeitos à regularização.</a:t>
                </a:r>
              </a:p>
              <a:p>
                <a:pPr marL="0" indent="0">
                  <a:buFont typeface="Arial" panose="020B0604020202020204" pitchFamily="34" charset="0"/>
                  <a:buNone/>
                </a:pPr>
                <a:r>
                  <a:rPr lang="pt-BR" dirty="0"/>
                  <a:t>A solução para ambos os métodos corresponde ao primeiro ponto em que as curvas de nível do erro interceptam a região de factibilidade das restrições. A existência de cantos nas curvas de nível de </a:t>
                </a:r>
                <a14:m>
                  <m:oMath xmlns:m="http://schemas.openxmlformats.org/officeDocument/2006/math">
                    <m:sSub>
                      <m:sSubPr>
                        <m:ctrlPr>
                          <a:rPr lang="pt-BR" b="1" i="1">
                            <a:latin typeface="Cambria Math" panose="02040503050406030204" pitchFamily="18" charset="0"/>
                          </a:rPr>
                        </m:ctrlPr>
                      </m:sSubPr>
                      <m:e>
                        <m:d>
                          <m:dPr>
                            <m:begChr m:val="‖"/>
                            <m:endChr m:val="‖"/>
                            <m:ctrlPr>
                              <a:rPr lang="pt-BR" b="1" i="1">
                                <a:latin typeface="Cambria Math" panose="02040503050406030204" pitchFamily="18" charset="0"/>
                              </a:rPr>
                            </m:ctrlPr>
                          </m:dPr>
                          <m:e>
                            <m:r>
                              <a:rPr lang="pt-BR" b="1" i="1">
                                <a:latin typeface="Cambria Math" panose="02040503050406030204" pitchFamily="18" charset="0"/>
                              </a:rPr>
                              <m:t>𝒂</m:t>
                            </m:r>
                          </m:e>
                        </m:d>
                      </m:e>
                      <m:sub>
                        <m:r>
                          <a:rPr lang="pt-BR" b="0" i="1" smtClean="0">
                            <a:latin typeface="Cambria Math" panose="02040503050406030204" pitchFamily="18" charset="0"/>
                            <a:ea typeface="Cambria Math" panose="02040503050406030204" pitchFamily="18" charset="0"/>
                          </a:rPr>
                          <m:t>1</m:t>
                        </m:r>
                      </m:sub>
                    </m:sSub>
                  </m:oMath>
                </a14:m>
                <a:r>
                  <a:rPr lang="pt-BR" dirty="0"/>
                  <a:t> aumenta as chances de alguns pesos assumirem o valor zero. </a:t>
                </a:r>
              </a:p>
              <a:p>
                <a:pPr marL="0" indent="0">
                  <a:buFont typeface="Arial" panose="020B0604020202020204" pitchFamily="34" charset="0"/>
                  <a:buNone/>
                </a:pPr>
                <a:endParaRPr lang="pt-BR" dirty="0"/>
              </a:p>
              <a:p>
                <a:pPr marL="171450" indent="-171450">
                  <a:buFont typeface="Arial" panose="020B0604020202020204" pitchFamily="34" charset="0"/>
                  <a:buChar char="•"/>
                </a:pPr>
                <a:r>
                  <a:rPr lang="pt-BR" dirty="0"/>
                  <a:t>Na</a:t>
                </a:r>
                <a:r>
                  <a:rPr lang="pt-BR" baseline="0" dirty="0"/>
                  <a:t> figura da esquerda, a área dentro do quadrado azul representa o conjunto de pesos </a:t>
                </a:r>
                <a:r>
                  <a:rPr lang="pt-BR" b="1" baseline="0" dirty="0"/>
                  <a:t>a</a:t>
                </a:r>
                <a:r>
                  <a:rPr lang="pt-BR" b="0" baseline="0" dirty="0"/>
                  <a:t> no espaço de pesos em 2 dimensões que tem norma L1 menor do que </a:t>
                </a:r>
                <a:r>
                  <a:rPr lang="pt-BR" b="1" baseline="0" dirty="0"/>
                  <a:t>c</a:t>
                </a:r>
                <a:r>
                  <a:rPr lang="pt-BR" b="0" baseline="0" dirty="0"/>
                  <a:t>. A solução para o problema deve estar dentro do área do quadrado azul.</a:t>
                </a:r>
              </a:p>
              <a:p>
                <a:pPr marL="171450" indent="-171450">
                  <a:buFont typeface="Arial" panose="020B0604020202020204" pitchFamily="34" charset="0"/>
                  <a:buChar char="•"/>
                </a:pPr>
                <a:r>
                  <a:rPr lang="pt-BR" b="0" baseline="0" dirty="0"/>
                  <a:t>Os círculos representam os contornos da superfície de erro, com o erro mínimo ao centro.</a:t>
                </a:r>
              </a:p>
              <a:p>
                <a:pPr marL="171450" indent="-171450">
                  <a:buFont typeface="Arial" panose="020B0604020202020204" pitchFamily="34" charset="0"/>
                  <a:buChar char="•"/>
                </a:pPr>
                <a:r>
                  <a:rPr lang="pt-BR" b="0" baseline="0" dirty="0"/>
                  <a:t>Queremos encontrar um ponto, dentro do quadrado azul, que esteja o mais próximo do mínimo.</a:t>
                </a:r>
              </a:p>
              <a:p>
                <a:pPr marL="171450" indent="-171450">
                  <a:buFont typeface="Arial" panose="020B0604020202020204" pitchFamily="34" charset="0"/>
                  <a:buChar char="•"/>
                </a:pPr>
                <a:r>
                  <a:rPr lang="pt-BR" b="0" baseline="0" dirty="0"/>
                  <a:t>É facil ver que para uma posição arbitrária do mínimo e seus contornos, será comum que um canto do quadrado ser o ponto mais próximo do ponto de mínimo, só porque os cantos são pontiagudos.</a:t>
                </a:r>
              </a:p>
              <a:p>
                <a:pPr marL="171450" indent="-171450">
                  <a:buFont typeface="Arial" panose="020B0604020202020204" pitchFamily="34" charset="0"/>
                  <a:buChar char="•"/>
                </a:pPr>
                <a:r>
                  <a:rPr lang="pt-BR" b="0" baseline="0" dirty="0"/>
                  <a:t>E claro, os cantos são os pontos que exibem valor zero em alguma direção (dimensão).</a:t>
                </a:r>
              </a:p>
              <a:p>
                <a:pPr marL="171450" indent="-171450">
                  <a:buFont typeface="Arial" panose="020B0604020202020204" pitchFamily="34" charset="0"/>
                  <a:buChar char="•"/>
                </a:pPr>
                <a:endParaRPr lang="pt-BR" b="0" baseline="0" dirty="0"/>
              </a:p>
              <a:p>
                <a:pPr marL="171450" indent="-171450">
                  <a:buFont typeface="Arial" panose="020B0604020202020204" pitchFamily="34" charset="0"/>
                  <a:buChar char="•"/>
                </a:pPr>
                <a:r>
                  <a:rPr lang="pt-BR" b="0" baseline="0" dirty="0"/>
                  <a:t>Fizemos o mesmo para a figura da direita, onde se utiliza a regularização L2, a qual representa um círculo ao invés de um quadrado.</a:t>
                </a:r>
              </a:p>
              <a:p>
                <a:pPr marL="171450" indent="-171450">
                  <a:buFont typeface="Arial" panose="020B0604020202020204" pitchFamily="34" charset="0"/>
                  <a:buChar char="•"/>
                </a:pPr>
                <a:r>
                  <a:rPr lang="pt-BR" b="0" baseline="0" dirty="0"/>
                  <a:t>Nesse caso é possível ver que, em geral, não existe motivo para a interseção ocorrer em um dos eixos.</a:t>
                </a:r>
              </a:p>
              <a:p>
                <a:pPr marL="171450" indent="-171450">
                  <a:buFont typeface="Arial" panose="020B0604020202020204" pitchFamily="34" charset="0"/>
                  <a:buChar char="•"/>
                </a:pPr>
                <a:r>
                  <a:rPr lang="pt-BR" b="0" baseline="0" dirty="0"/>
                  <a:t>Portanto, a regularização L2 não tende a produzir pesos iguais a zero.</a:t>
                </a:r>
                <a:endParaRPr lang="pt-BR" dirty="0"/>
              </a:p>
              <a:p>
                <a:endParaRPr lang="pt-BR" dirty="0"/>
              </a:p>
              <a:p>
                <a:r>
                  <a:rPr lang="pt-BR" dirty="0"/>
                  <a:t>Para mais informações, por favor, leia a seção 18.6.2 do livro do Peter Norvig.</a:t>
                </a:r>
              </a:p>
            </p:txBody>
          </p:sp>
        </mc:Choice>
        <mc:Fallback xmlns="">
          <p:sp>
            <p:nvSpPr>
              <p:cNvPr id="3" name="Notes Placeholder 2"/>
              <p:cNvSpPr>
                <a:spLocks noGrp="1"/>
              </p:cNvSpPr>
              <p:nvPr>
                <p:ph type="body" idx="1"/>
              </p:nvPr>
            </p:nvSpPr>
            <p:spPr/>
            <p:txBody>
              <a:bodyPr/>
              <a:lstStyle/>
              <a:p>
                <a:pPr marL="0" indent="0">
                  <a:buFont typeface="Arial" panose="020B0604020202020204" pitchFamily="34" charset="0"/>
                  <a:buNone/>
                </a:pPr>
                <a:r>
                  <a:rPr lang="pt-BR" dirty="0" smtClean="0"/>
                  <a:t>Na figura abaixo, temos as curvas de nível da</a:t>
                </a:r>
                <a:r>
                  <a:rPr lang="pt-BR" baseline="0" dirty="0" smtClean="0"/>
                  <a:t> função de</a:t>
                </a:r>
                <a:r>
                  <a:rPr lang="pt-BR" dirty="0" smtClean="0"/>
                  <a:t> erro de</a:t>
                </a:r>
                <a:r>
                  <a:rPr lang="pt-BR" baseline="0" dirty="0" smtClean="0"/>
                  <a:t> um </a:t>
                </a:r>
                <a:r>
                  <a:rPr lang="pt-BR" dirty="0" smtClean="0"/>
                  <a:t>problema de regressão linear, bem como as regiões do espaço em que as restrições L2 (direita) e L1 (esquerda) são válidas, considerando o caso em que o vetor possui dois pesos sujeitos à regularização.</a:t>
                </a:r>
              </a:p>
              <a:p>
                <a:pPr marL="0" indent="0">
                  <a:buFont typeface="Arial" panose="020B0604020202020204" pitchFamily="34" charset="0"/>
                  <a:buNone/>
                </a:pPr>
                <a:r>
                  <a:rPr lang="pt-BR" dirty="0" smtClean="0"/>
                  <a:t>A solução para ambos os métodos corresponde ao primeiro ponto em que as curvas de nível do erro interceptam a região de factibilidade das restrições. A existência de cantos nas curvas de nível de </a:t>
                </a:r>
                <a:r>
                  <a:rPr lang="pt-BR" i="0">
                    <a:latin typeface="Cambria Math" panose="02040503050406030204" pitchFamily="18" charset="0"/>
                    <a:ea typeface="Cambria Math" panose="02040503050406030204" pitchFamily="18" charset="0"/>
                  </a:rPr>
                  <a:t>‖</a:t>
                </a:r>
                <a:r>
                  <a:rPr lang="pt-BR" b="1" i="0">
                    <a:latin typeface="Cambria Math" panose="02040503050406030204" pitchFamily="18" charset="0"/>
                  </a:rPr>
                  <a:t>𝒂‖</a:t>
                </a:r>
                <a:r>
                  <a:rPr lang="pt-BR" b="1" i="0" smtClean="0">
                    <a:latin typeface="Cambria Math" panose="02040503050406030204" pitchFamily="18" charset="0"/>
                    <a:ea typeface="Cambria Math" panose="02040503050406030204" pitchFamily="18" charset="0"/>
                  </a:rPr>
                  <a:t>_</a:t>
                </a:r>
                <a:r>
                  <a:rPr lang="pt-BR" b="0" i="0" smtClean="0">
                    <a:latin typeface="Cambria Math" panose="02040503050406030204" pitchFamily="18" charset="0"/>
                    <a:ea typeface="Cambria Math" panose="02040503050406030204" pitchFamily="18" charset="0"/>
                  </a:rPr>
                  <a:t>1</a:t>
                </a:r>
                <a:r>
                  <a:rPr lang="pt-BR" dirty="0" smtClean="0"/>
                  <a:t> aumenta as chances de alguns pesos assumirem o valor zero. </a:t>
                </a:r>
              </a:p>
              <a:p>
                <a:pPr marL="0" indent="0">
                  <a:buFont typeface="Arial" panose="020B0604020202020204" pitchFamily="34" charset="0"/>
                  <a:buNone/>
                </a:pPr>
                <a:endParaRPr lang="pt-BR" dirty="0" smtClean="0"/>
              </a:p>
              <a:p>
                <a:pPr marL="0" indent="0">
                  <a:buFont typeface="Arial" panose="020B0604020202020204" pitchFamily="34" charset="0"/>
                  <a:buNone/>
                </a:pPr>
                <a:endParaRPr lang="pt-BR" dirty="0" smtClean="0"/>
              </a:p>
              <a:p>
                <a:pPr marL="0" indent="0">
                  <a:buFont typeface="Arial" panose="020B0604020202020204" pitchFamily="34" charset="0"/>
                  <a:buNone/>
                </a:pPr>
                <a:endParaRPr lang="pt-BR" dirty="0" smtClean="0"/>
              </a:p>
              <a:p>
                <a:pPr marL="171450" indent="-171450">
                  <a:buFont typeface="Arial" panose="020B0604020202020204" pitchFamily="34" charset="0"/>
                  <a:buChar char="•"/>
                </a:pPr>
                <a:r>
                  <a:rPr lang="pt-BR" dirty="0" smtClean="0"/>
                  <a:t>Na</a:t>
                </a:r>
                <a:r>
                  <a:rPr lang="pt-BR" baseline="0" dirty="0" smtClean="0"/>
                  <a:t> figura da esquerda, a área dentro do quadrado azul representa o conjunto de pesos </a:t>
                </a:r>
                <a:r>
                  <a:rPr lang="pt-BR" b="1" baseline="0" dirty="0" smtClean="0"/>
                  <a:t>a</a:t>
                </a:r>
                <a:r>
                  <a:rPr lang="pt-BR" b="0" baseline="0" dirty="0" smtClean="0"/>
                  <a:t> no espaço de pesos em 2 dimensões que tem norma L1 menor do que </a:t>
                </a:r>
                <a:r>
                  <a:rPr lang="pt-BR" b="1" baseline="0" dirty="0" smtClean="0"/>
                  <a:t>c</a:t>
                </a:r>
                <a:r>
                  <a:rPr lang="pt-BR" b="0" baseline="0" dirty="0" smtClean="0"/>
                  <a:t>. A solução para o problema deve estar dentro do área do quadrado azul.</a:t>
                </a:r>
              </a:p>
              <a:p>
                <a:pPr marL="171450" indent="-171450">
                  <a:buFont typeface="Arial" panose="020B0604020202020204" pitchFamily="34" charset="0"/>
                  <a:buChar char="•"/>
                </a:pPr>
                <a:r>
                  <a:rPr lang="pt-BR" b="0" baseline="0" dirty="0" smtClean="0"/>
                  <a:t>Os círculos representam os contornos da superfície de erro, com o erro mínimo ao centro.</a:t>
                </a:r>
              </a:p>
              <a:p>
                <a:pPr marL="171450" indent="-171450">
                  <a:buFont typeface="Arial" panose="020B0604020202020204" pitchFamily="34" charset="0"/>
                  <a:buChar char="•"/>
                </a:pPr>
                <a:r>
                  <a:rPr lang="pt-BR" b="0" baseline="0" dirty="0" smtClean="0"/>
                  <a:t>Queremos encontrar um ponto, dentro do quadrado azul, que esteja o mais próximo do mínimo.</a:t>
                </a:r>
              </a:p>
              <a:p>
                <a:pPr marL="171450" indent="-171450">
                  <a:buFont typeface="Arial" panose="020B0604020202020204" pitchFamily="34" charset="0"/>
                  <a:buChar char="•"/>
                </a:pPr>
                <a:r>
                  <a:rPr lang="pt-BR" b="0" baseline="0" dirty="0" smtClean="0"/>
                  <a:t>É facil ver que para uma posição arbitrária do mínimo e seus contornos, será comum que um canto do quadrado ser o ponto mais próximo do ponto de mínimo, só porque os cantos são pontiagudos.</a:t>
                </a:r>
              </a:p>
              <a:p>
                <a:pPr marL="171450" indent="-171450">
                  <a:buFont typeface="Arial" panose="020B0604020202020204" pitchFamily="34" charset="0"/>
                  <a:buChar char="•"/>
                </a:pPr>
                <a:r>
                  <a:rPr lang="pt-BR" b="0" baseline="0" dirty="0" smtClean="0"/>
                  <a:t>E claro, os cantos são os pontos que exibem valor zero em alguma direção.</a:t>
                </a:r>
              </a:p>
              <a:p>
                <a:pPr marL="171450" indent="-171450">
                  <a:buFont typeface="Arial" panose="020B0604020202020204" pitchFamily="34" charset="0"/>
                  <a:buChar char="•"/>
                </a:pPr>
                <a:endParaRPr lang="pt-BR" b="0" baseline="0" dirty="0" smtClean="0"/>
              </a:p>
              <a:p>
                <a:pPr marL="171450" indent="-171450">
                  <a:buFont typeface="Arial" panose="020B0604020202020204" pitchFamily="34" charset="0"/>
                  <a:buChar char="•"/>
                </a:pPr>
                <a:r>
                  <a:rPr lang="pt-BR" b="0" baseline="0" dirty="0" smtClean="0"/>
                  <a:t>Fizemos o mesmo para a figura da direita, onde se utiliza a regularização L2, a qual representa um círculo ao invés de um quadrado.</a:t>
                </a:r>
              </a:p>
              <a:p>
                <a:pPr marL="171450" indent="-171450">
                  <a:buFont typeface="Arial" panose="020B0604020202020204" pitchFamily="34" charset="0"/>
                  <a:buChar char="•"/>
                </a:pPr>
                <a:r>
                  <a:rPr lang="pt-BR" b="0" baseline="0" dirty="0" smtClean="0"/>
                  <a:t>Nesse caso é possível ver que, em geral, não existe motivo para a interseção ocorrer em um dos eixos.</a:t>
                </a:r>
              </a:p>
              <a:p>
                <a:pPr marL="171450" indent="-171450">
                  <a:buFont typeface="Arial" panose="020B0604020202020204" pitchFamily="34" charset="0"/>
                  <a:buChar char="•"/>
                </a:pPr>
                <a:r>
                  <a:rPr lang="pt-BR" b="0" baseline="0" dirty="0" smtClean="0"/>
                  <a:t>Portanto, a regularização L2 não tende a produzir pesos iguais a zero.</a:t>
                </a:r>
              </a:p>
              <a:p>
                <a:pPr marL="171450" indent="-171450">
                  <a:buFont typeface="Arial" panose="020B0604020202020204" pitchFamily="34" charset="0"/>
                  <a:buChar char="•"/>
                </a:pPr>
                <a:endParaRPr lang="pt-BR" b="0" baseline="0" dirty="0" smtClean="0"/>
              </a:p>
              <a:p>
                <a:pPr marL="171450" indent="-171450">
                  <a:buFont typeface="Arial" panose="020B0604020202020204" pitchFamily="34" charset="0"/>
                  <a:buChar char="•"/>
                </a:pPr>
                <a:endParaRPr lang="pt-BR" b="1" dirty="0" smtClean="0"/>
              </a:p>
              <a:p>
                <a:endParaRPr lang="pt-BR" dirty="0" smtClean="0"/>
              </a:p>
              <a:p>
                <a:endParaRPr lang="pt-BR" dirty="0" smtClean="0"/>
              </a:p>
              <a:p>
                <a:r>
                  <a:rPr lang="pt-BR" dirty="0" smtClean="0"/>
                  <a:t>Para mais informações, por favor, leia a seção 18.6.2 do livro do Peter Norvig.</a:t>
                </a:r>
                <a:endParaRPr lang="pt-BR" dirty="0"/>
              </a:p>
            </p:txBody>
          </p:sp>
        </mc:Fallback>
      </mc:AlternateContent>
      <p:sp>
        <p:nvSpPr>
          <p:cNvPr id="4" name="Slide Number Placeholder 3"/>
          <p:cNvSpPr>
            <a:spLocks noGrp="1"/>
          </p:cNvSpPr>
          <p:nvPr>
            <p:ph type="sldNum" sz="quarter" idx="10"/>
          </p:nvPr>
        </p:nvSpPr>
        <p:spPr/>
        <p:txBody>
          <a:bodyPr/>
          <a:lstStyle/>
          <a:p>
            <a:fld id="{DA8B99DF-01BC-492A-8CEF-4FD88D18DD9D}" type="slidenum">
              <a:rPr lang="nl-BE" smtClean="0"/>
              <a:t>115</a:t>
            </a:fld>
            <a:endParaRPr lang="nl-BE"/>
          </a:p>
        </p:txBody>
      </p:sp>
    </p:spTree>
    <p:extLst>
      <p:ext uri="{BB962C8B-B14F-4D97-AF65-F5344CB8AC3E}">
        <p14:creationId xmlns:p14="http://schemas.microsoft.com/office/powerpoint/2010/main" val="69131313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https://colab.research.google.com/github/zz4fap/tp557-iot-ml/blob/master/examples/</a:t>
            </a:r>
            <a:r>
              <a:rPr lang="en-US" dirty="0" err="1"/>
              <a:t>Sobreajuste_e_early_stop.ipynb</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Dropout é uma técnica de regularização usada em redes neurais para evitar o sobreajuste (</a:t>
            </a:r>
            <a:r>
              <a:rPr lang="pt-BR" dirty="0" err="1"/>
              <a:t>overfitting</a:t>
            </a:r>
            <a:r>
              <a:rPr lang="pt-BR" dirty="0"/>
              <a:t>). O sobreajuste ocorre quando uma rede neural se torna muito especializada nos dados de treinamento e não generaliza bem para novos dados. O </a:t>
            </a:r>
            <a:r>
              <a:rPr lang="pt-BR" dirty="0" err="1"/>
              <a:t>dropout</a:t>
            </a:r>
            <a:r>
              <a:rPr lang="pt-BR" dirty="0"/>
              <a:t> é uma abordagem eficaz para melhorar a generalização de uma rede neural. Aqui está como funciona:</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1. **Desligamento Aleatório de Neurônios**: Durante o treinamento da rede neural, o </a:t>
            </a:r>
            <a:r>
              <a:rPr lang="pt-BR" dirty="0" err="1"/>
              <a:t>dropout</a:t>
            </a:r>
            <a:r>
              <a:rPr lang="pt-BR" dirty="0"/>
              <a:t> envolve aleatoriamente "desligar" ou "descartar" um subconjunto dos neurônios em cada camada. Isso significa que esses neurônios não contribuirão para o cálculo das saídas da rede durante essa iteração de treinamento.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2. **Taxa de Dropout**: Um </a:t>
            </a:r>
            <a:r>
              <a:rPr lang="pt-BR" dirty="0" err="1"/>
              <a:t>hiperparâmetro</a:t>
            </a:r>
            <a:r>
              <a:rPr lang="pt-BR" dirty="0"/>
              <a:t> chamado "taxa de </a:t>
            </a:r>
            <a:r>
              <a:rPr lang="pt-BR" dirty="0" err="1"/>
              <a:t>dropout</a:t>
            </a:r>
            <a:r>
              <a:rPr lang="pt-BR" dirty="0"/>
              <a:t>" é definido antes do treinamento. Essa taxa determina a probabilidade de um neurônio ser desligado durante cada iteração. Por exemplo, uma taxa de </a:t>
            </a:r>
            <a:r>
              <a:rPr lang="pt-BR" dirty="0" err="1"/>
              <a:t>dropout</a:t>
            </a:r>
            <a:r>
              <a:rPr lang="pt-BR" dirty="0"/>
              <a:t> de 0,5 significa que, em média, metade dos neurônios será desligada em cada iteração.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3. **Treinamento Estocástico**: O </a:t>
            </a:r>
            <a:r>
              <a:rPr lang="pt-BR" dirty="0" err="1"/>
              <a:t>dropout</a:t>
            </a:r>
            <a:r>
              <a:rPr lang="pt-BR" dirty="0"/>
              <a:t> introduz uma forma de treinamento estocástico, onde a rede não pode depender excessivamente de nenhum neurônio específico. Isso obriga a rede a aprender recursos mais robustos e a generalizar melhor para dados que não foram vistos durante o treinamento.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4. **</a:t>
            </a:r>
            <a:r>
              <a:rPr lang="pt-BR" dirty="0" err="1"/>
              <a:t>Averaging</a:t>
            </a:r>
            <a:r>
              <a:rPr lang="pt-BR" dirty="0"/>
              <a:t> de Múltiplos Modelos**: O </a:t>
            </a:r>
            <a:r>
              <a:rPr lang="pt-BR" dirty="0" err="1"/>
              <a:t>dropout</a:t>
            </a:r>
            <a:r>
              <a:rPr lang="pt-BR" dirty="0"/>
              <a:t> efetivamente treina várias </a:t>
            </a:r>
            <a:r>
              <a:rPr lang="pt-BR" dirty="0" err="1"/>
              <a:t>sub-redes</a:t>
            </a:r>
            <a:r>
              <a:rPr lang="pt-BR" dirty="0"/>
              <a:t> durante o treinamento, já que diferentes subconjuntos de neurônios são desligados a cada iteração. Isso é semelhante a treinar uma série de modelos diferentes e, durante a inferência, os resultados dessas </a:t>
            </a:r>
            <a:r>
              <a:rPr lang="pt-BR" dirty="0" err="1"/>
              <a:t>sub-redes</a:t>
            </a:r>
            <a:r>
              <a:rPr lang="pt-BR" dirty="0"/>
              <a:t> são médios ou ponderados de alguma forma para produzir a saída final da rede.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Benefícios do Dropout:</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 Reduz o risco de sobreajuste, permitindo que a rede generalize melhor para novos dados.</a:t>
            </a: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 Ajuda a evitar a dependência excessiva de neurônios individuais, tornando o modelo mais robusto.</a:t>
            </a: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 Funciona bem em redes neurais profundas, onde o risco de </a:t>
            </a:r>
            <a:r>
              <a:rPr lang="pt-BR" dirty="0" err="1"/>
              <a:t>overfitting</a:t>
            </a:r>
            <a:r>
              <a:rPr lang="pt-BR" dirty="0"/>
              <a:t> é mais alto.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Embora o </a:t>
            </a:r>
            <a:r>
              <a:rPr lang="pt-BR" dirty="0" err="1"/>
              <a:t>dropout</a:t>
            </a:r>
            <a:r>
              <a:rPr lang="pt-BR" dirty="0"/>
              <a:t> seja uma técnica eficaz de regularização, é importante ajustar a taxa de </a:t>
            </a:r>
            <a:r>
              <a:rPr lang="pt-BR" dirty="0" err="1"/>
              <a:t>dropout</a:t>
            </a:r>
            <a:r>
              <a:rPr lang="pt-BR" dirty="0"/>
              <a:t> adequadamente, pois uma taxa muito alta pode prejudicar o aprendizado, enquanto uma taxa muito baixa pode não fornecer os benefícios desejados. A taxa de </a:t>
            </a:r>
            <a:r>
              <a:rPr lang="pt-BR" dirty="0" err="1"/>
              <a:t>dropout</a:t>
            </a:r>
            <a:r>
              <a:rPr lang="pt-BR" dirty="0"/>
              <a:t> é geralmente escolhida por meio de experimentação e validação cruzada em um conjunto de validação.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a:t>
            </a:r>
            <a:r>
              <a:rPr lang="pt-BR" dirty="0" err="1"/>
              <a:t>early</a:t>
            </a:r>
            <a:r>
              <a:rPr lang="pt-BR" dirty="0"/>
              <a:t> stopping" (parada antecipada) é uma técnica de regularização utilizada em treinamento de redes neurais para evitar o sobreajuste e encontrar um ponto ótimo de convergência durante o treinamento. A ideia fundamental por trás do </a:t>
            </a:r>
            <a:r>
              <a:rPr lang="pt-BR" dirty="0" err="1"/>
              <a:t>early</a:t>
            </a:r>
            <a:r>
              <a:rPr lang="pt-BR" dirty="0"/>
              <a:t> stopping é interromper o treinamento do modelo assim que o desempenho em um conjunto de validação começa a piorar, em vez de continuar até que o modelo se ajuste demais aos dados de treinamento. Aqui está como o </a:t>
            </a:r>
            <a:r>
              <a:rPr lang="pt-BR" dirty="0" err="1"/>
              <a:t>early</a:t>
            </a:r>
            <a:r>
              <a:rPr lang="pt-BR" dirty="0"/>
              <a:t> stopping funciona:</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1. **Conjunto de Treinamento e Conjunto de Validação**: Durante o treinamento de uma rede neural, geralmente divide-se o conjunto de dados em dois subconjuntos: um conjunto de treinamento usado para atualizar os pesos do modelo e um conjunto de validação usado para avaliar o desempenho do modelo em dados não vistos durante o treinamento.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2. **Monitoramento de Métricas**: À medida que o treinamento progride, as métricas de desempenho, como erro ou precisão, são calculadas regularmente no conjunto de validação. Essas métricas fornecem uma indicação de quão bem o modelo está generalizando para novos dados.</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3. **Critério de Parada**: O critério de parada é uma métrica escolhida com base no problema e nas metas do treinamento. Pode ser o erro de validação, a precisão ou qualquer outra métrica relevante. O treinamento é interrompido quando a métrica de validação não melhora mais ou começa a piorar.</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4. **Recuperação do Melhor Modelo**: Ao interromper o treinamento, o modelo é revertido para o ponto em que obteve o melhor desempenho no conjunto de validação. Esse modelo é então usado para inferência e avaliação em novos dados.</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Os benefícios do </a:t>
            </a:r>
            <a:r>
              <a:rPr lang="pt-BR" dirty="0" err="1"/>
              <a:t>early</a:t>
            </a:r>
            <a:r>
              <a:rPr lang="pt-BR" dirty="0"/>
              <a:t> stopping incluem:</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 Evita o sobreajuste: Ao interromper o treinamento antes que o modelo se ajuste demais aos dados de treinamento, o </a:t>
            </a:r>
            <a:r>
              <a:rPr lang="pt-BR" dirty="0" err="1"/>
              <a:t>early</a:t>
            </a:r>
            <a:r>
              <a:rPr lang="pt-BR" dirty="0"/>
              <a:t> stopping ajuda a obter modelos mais generalizados e melhores em dados de teste não vistos.</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 Economiza tempo e recursos computacionais: O treinamento de redes neurais pode ser computacionalmente intensivo, e o </a:t>
            </a:r>
            <a:r>
              <a:rPr lang="pt-BR" dirty="0" err="1"/>
              <a:t>early</a:t>
            </a:r>
            <a:r>
              <a:rPr lang="pt-BR" dirty="0"/>
              <a:t> stopping pode ajudar a economizar tempo e recursos interrompendo o treinamento assim que não houver mais ganho significativo no desempenho.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 Melhora a robustez: Modelos treinados com </a:t>
            </a:r>
            <a:r>
              <a:rPr lang="pt-BR" dirty="0" err="1"/>
              <a:t>early</a:t>
            </a:r>
            <a:r>
              <a:rPr lang="pt-BR" dirty="0"/>
              <a:t> stopping tendem a ser mais robustos e menos sensíveis a variações nos dados de treinamento.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É importante ajustar o critério de parada, monitorar regularmente as métricas de validação e implementar o </a:t>
            </a:r>
            <a:r>
              <a:rPr lang="pt-BR" dirty="0" err="1"/>
              <a:t>early</a:t>
            </a:r>
            <a:r>
              <a:rPr lang="pt-BR" dirty="0"/>
              <a:t> stopping de maneira adequada para obter os melhores resultados. O </a:t>
            </a:r>
            <a:r>
              <a:rPr lang="pt-BR" dirty="0" err="1"/>
              <a:t>early</a:t>
            </a:r>
            <a:r>
              <a:rPr lang="pt-BR" dirty="0"/>
              <a:t> stopping é uma técnica eficaz, especialmente quando o conjunto de dados é limitado e não é possível coletar mais dados para treinamento.</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116</a:t>
            </a:fld>
            <a:endParaRPr lang="pt-BR"/>
          </a:p>
        </p:txBody>
      </p:sp>
    </p:spTree>
    <p:extLst>
      <p:ext uri="{BB962C8B-B14F-4D97-AF65-F5344CB8AC3E}">
        <p14:creationId xmlns:p14="http://schemas.microsoft.com/office/powerpoint/2010/main" val="216517171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DA8B99DF-01BC-492A-8CEF-4FD88D18DD9D}" type="slidenum">
              <a:rPr lang="nl-BE" smtClean="0"/>
              <a:t>117</a:t>
            </a:fld>
            <a:endParaRPr lang="nl-BE"/>
          </a:p>
        </p:txBody>
      </p:sp>
    </p:spTree>
    <p:extLst>
      <p:ext uri="{BB962C8B-B14F-4D97-AF65-F5344CB8AC3E}">
        <p14:creationId xmlns:p14="http://schemas.microsoft.com/office/powerpoint/2010/main" val="208383190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pt-BR" dirty="0"/>
                  <a:t>Uma solução intermediária entre </a:t>
                </a:r>
                <a:r>
                  <a:rPr lang="pt-BR" dirty="0" err="1"/>
                  <a:t>ridge</a:t>
                </a:r>
                <a:r>
                  <a:rPr lang="pt-BR" dirty="0"/>
                  <a:t> regression e LASSO é a elastic net,</a:t>
                </a:r>
                <a:r>
                  <a:rPr lang="pt-BR" baseline="0" dirty="0"/>
                  <a:t> </a:t>
                </a:r>
                <a:r>
                  <a:rPr lang="pt-BR" dirty="0"/>
                  <a:t>a qual faz uso de uma combinação entre as penalizações baseadas nas normas L1 e L2 do vetor de pesos.</a:t>
                </a:r>
              </a:p>
              <a:p>
                <a:endParaRPr lang="pt-BR" dirty="0"/>
              </a:p>
              <a:p>
                <a:r>
                  <a:rPr lang="pt-BR" dirty="0"/>
                  <a:t>Quando </a:t>
                </a:r>
                <a14:m>
                  <m:oMath xmlns:m="http://schemas.openxmlformats.org/officeDocument/2006/math">
                    <m:r>
                      <a:rPr lang="pt-BR" b="0" i="1" smtClean="0">
                        <a:latin typeface="Cambria Math" panose="02040503050406030204" pitchFamily="18" charset="0"/>
                        <a:ea typeface="Cambria Math" panose="02040503050406030204" pitchFamily="18" charset="0"/>
                      </a:rPr>
                      <m:t>𝜅</m:t>
                    </m:r>
                  </m:oMath>
                </a14:m>
                <a:r>
                  <a:rPr lang="pt-BR" dirty="0"/>
                  <a:t> = 0, a Elastic-net é equivalente à Ridge regression, e quando </a:t>
                </a:r>
                <a14:m>
                  <m:oMath xmlns:m="http://schemas.openxmlformats.org/officeDocument/2006/math">
                    <m:r>
                      <a:rPr lang="pt-BR" b="0" i="1" smtClean="0">
                        <a:latin typeface="Cambria Math" panose="02040503050406030204" pitchFamily="18" charset="0"/>
                        <a:ea typeface="Cambria Math" panose="02040503050406030204" pitchFamily="18" charset="0"/>
                      </a:rPr>
                      <m:t>𝜅</m:t>
                    </m:r>
                  </m:oMath>
                </a14:m>
                <a:r>
                  <a:rPr lang="pt-BR" dirty="0"/>
                  <a:t> = 1, ela</a:t>
                </a:r>
                <a:r>
                  <a:rPr lang="pt-BR" baseline="0" dirty="0"/>
                  <a:t> </a:t>
                </a:r>
                <a:r>
                  <a:rPr lang="pt-BR" dirty="0"/>
                  <a:t>é equivalente à Regressão Lasso.</a:t>
                </a:r>
              </a:p>
              <a:p>
                <a:endParaRPr lang="pt-BR" dirty="0"/>
              </a:p>
              <a:p>
                <a:pPr marL="0" marR="0" indent="0" algn="l" defTabSz="914400" rtl="0" eaLnBrk="1" fontAlgn="auto" latinLnBrk="0" hangingPunct="1">
                  <a:lnSpc>
                    <a:spcPct val="100000"/>
                  </a:lnSpc>
                  <a:spcBef>
                    <a:spcPts val="0"/>
                  </a:spcBef>
                  <a:spcAft>
                    <a:spcPts val="0"/>
                  </a:spcAft>
                  <a:buClrTx/>
                  <a:buSzTx/>
                  <a:buFontTx/>
                  <a:buNone/>
                  <a:tabLst/>
                  <a:defRPr/>
                </a:pPr>
                <a:r>
                  <a:rPr lang="pt-BR" b="1" dirty="0"/>
                  <a:t>Exemplo</a:t>
                </a:r>
                <a:r>
                  <a:rPr lang="pt-BR" dirty="0"/>
                  <a:t>: </a:t>
                </a:r>
                <a:r>
                  <a:rPr lang="pt-BR" dirty="0">
                    <a:hlinkClick r:id="rId3"/>
                  </a:rPr>
                  <a:t>elastic_net_regression.ipynb</a:t>
                </a:r>
                <a:endParaRPr lang="pt-BR" dirty="0"/>
              </a:p>
            </p:txBody>
          </p:sp>
        </mc:Choice>
        <mc:Fallback xmlns="">
          <p:sp>
            <p:nvSpPr>
              <p:cNvPr id="3" name="Notes Placeholder 2"/>
              <p:cNvSpPr>
                <a:spLocks noGrp="1"/>
              </p:cNvSpPr>
              <p:nvPr>
                <p:ph type="body" idx="1"/>
              </p:nvPr>
            </p:nvSpPr>
            <p:spPr/>
            <p:txBody>
              <a:bodyPr/>
              <a:lstStyle/>
              <a:p>
                <a:r>
                  <a:rPr lang="pt-BR" dirty="0" smtClean="0"/>
                  <a:t>Uma solução intermediária entre ridge regression e LASSO é a elastic net,</a:t>
                </a:r>
                <a:r>
                  <a:rPr lang="pt-BR" baseline="0" dirty="0" smtClean="0"/>
                  <a:t> </a:t>
                </a:r>
                <a:r>
                  <a:rPr lang="pt-BR" dirty="0" smtClean="0"/>
                  <a:t>a qual faz uso de uma combinação entre as penalizações baseadas nas normas L1 e L2 do vetor de pesos.</a:t>
                </a:r>
              </a:p>
              <a:p>
                <a:endParaRPr lang="pt-BR" dirty="0" smtClean="0"/>
              </a:p>
              <a:p>
                <a:r>
                  <a:rPr lang="pt-BR" dirty="0" smtClean="0"/>
                  <a:t>Quando </a:t>
                </a:r>
                <a:r>
                  <a:rPr lang="pt-BR" b="0" i="0" smtClean="0">
                    <a:latin typeface="Cambria Math" panose="02040503050406030204" pitchFamily="18" charset="0"/>
                    <a:ea typeface="Cambria Math" panose="02040503050406030204" pitchFamily="18" charset="0"/>
                  </a:rPr>
                  <a:t>𝜅</a:t>
                </a:r>
                <a:r>
                  <a:rPr lang="pt-BR" dirty="0" smtClean="0"/>
                  <a:t> = 0, a Elastic-net é equivalente à Ridge regression, e quando </a:t>
                </a:r>
                <a:r>
                  <a:rPr lang="pt-BR" b="0" i="0" smtClean="0">
                    <a:latin typeface="Cambria Math" panose="02040503050406030204" pitchFamily="18" charset="0"/>
                    <a:ea typeface="Cambria Math" panose="02040503050406030204" pitchFamily="18" charset="0"/>
                  </a:rPr>
                  <a:t>𝜅</a:t>
                </a:r>
                <a:r>
                  <a:rPr lang="pt-BR" dirty="0" smtClean="0"/>
                  <a:t> = 1, ela</a:t>
                </a:r>
                <a:r>
                  <a:rPr lang="pt-BR" baseline="0" dirty="0" smtClean="0"/>
                  <a:t> </a:t>
                </a:r>
                <a:r>
                  <a:rPr lang="pt-BR" dirty="0" smtClean="0"/>
                  <a:t>é equivalente à Regressão Lasso.</a:t>
                </a:r>
                <a:endParaRPr lang="pt-BR" dirty="0"/>
              </a:p>
            </p:txBody>
          </p:sp>
        </mc:Fallback>
      </mc:AlternateContent>
      <p:sp>
        <p:nvSpPr>
          <p:cNvPr id="4" name="Slide Number Placeholder 3"/>
          <p:cNvSpPr>
            <a:spLocks noGrp="1"/>
          </p:cNvSpPr>
          <p:nvPr>
            <p:ph type="sldNum" sz="quarter" idx="10"/>
          </p:nvPr>
        </p:nvSpPr>
        <p:spPr/>
        <p:txBody>
          <a:bodyPr/>
          <a:lstStyle/>
          <a:p>
            <a:fld id="{DA8B99DF-01BC-492A-8CEF-4FD88D18DD9D}" type="slidenum">
              <a:rPr lang="nl-BE" smtClean="0"/>
              <a:t>118</a:t>
            </a:fld>
            <a:endParaRPr lang="nl-BE"/>
          </a:p>
        </p:txBody>
      </p:sp>
    </p:spTree>
    <p:extLst>
      <p:ext uri="{BB962C8B-B14F-4D97-AF65-F5344CB8AC3E}">
        <p14:creationId xmlns:p14="http://schemas.microsoft.com/office/powerpoint/2010/main" val="52684766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pt-BR" dirty="0"/>
              <a:t>Então, quando você deve usar a regressão linear, Ridge, LASSO ou Elastic-Net? </a:t>
            </a:r>
          </a:p>
          <a:p>
            <a:endParaRPr lang="pt-BR" dirty="0"/>
          </a:p>
          <a:p>
            <a:r>
              <a:rPr lang="pt-BR" dirty="0"/>
              <a:t>Quase sempre é preferível ter pelo menos um pouco de regularização, então geralmente você deve evitar a regressão linear simples. Ridge é um bom começo, mas se você suspeitar que apenas alguns atributos são realmente úteis, você deve preferir LASSO ou Elastic-Net, pois eles tendem a reduzir os pesos dos atributos inúteis a zero. Em geral, o Elastic-Net é preferível ao LASSO, pois o LASSO pode se comportar de maneira errática quando o número de atributos é maior do que o número de exemplos de treinamento ou quando vários atributos</a:t>
            </a:r>
            <a:r>
              <a:rPr lang="pt-BR" baseline="0" dirty="0"/>
              <a:t> </a:t>
            </a:r>
            <a:r>
              <a:rPr lang="pt-BR" dirty="0"/>
              <a:t>são fortemente correlacionados</a:t>
            </a:r>
          </a:p>
          <a:p>
            <a:endParaRPr lang="pt-BR" dirty="0"/>
          </a:p>
          <a:p>
            <a:endParaRPr lang="pt-BR" dirty="0"/>
          </a:p>
        </p:txBody>
      </p:sp>
      <p:sp>
        <p:nvSpPr>
          <p:cNvPr id="4" name="Slide Number Placeholder 3"/>
          <p:cNvSpPr>
            <a:spLocks noGrp="1"/>
          </p:cNvSpPr>
          <p:nvPr>
            <p:ph type="sldNum" sz="quarter" idx="10"/>
          </p:nvPr>
        </p:nvSpPr>
        <p:spPr/>
        <p:txBody>
          <a:bodyPr/>
          <a:lstStyle/>
          <a:p>
            <a:fld id="{DA8B99DF-01BC-492A-8CEF-4FD88D18DD9D}" type="slidenum">
              <a:rPr lang="nl-BE" smtClean="0"/>
              <a:t>119</a:t>
            </a:fld>
            <a:endParaRPr lang="nl-BE"/>
          </a:p>
        </p:txBody>
      </p:sp>
    </p:spTree>
    <p:extLst>
      <p:ext uri="{BB962C8B-B14F-4D97-AF65-F5344CB8AC3E}">
        <p14:creationId xmlns:p14="http://schemas.microsoft.com/office/powerpoint/2010/main" val="305406936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0BC36-1FDF-FEE8-C541-46697B67CE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EBC82F-8B5B-3288-61CC-79BFAF89D13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6BC0EC4-1ACB-EF06-1D16-DF2771364701}"/>
              </a:ext>
            </a:extLst>
          </p:cNvPr>
          <p:cNvSpPr>
            <a:spLocks noGrp="1"/>
          </p:cNvSpPr>
          <p:nvPr>
            <p:ph type="body" idx="1"/>
          </p:nvPr>
        </p:nvSpPr>
        <p:spPr/>
        <p:txBody>
          <a:bodyPr/>
          <a:lstStyle/>
          <a:p>
            <a:r>
              <a:rPr lang="pt-BR" dirty="0"/>
              <a:t>Então, quando você deve usar a regressão linear, Ridge, LASSO ou Elastic-Net? </a:t>
            </a:r>
          </a:p>
          <a:p>
            <a:endParaRPr lang="pt-BR" dirty="0"/>
          </a:p>
          <a:p>
            <a:r>
              <a:rPr lang="pt-BR" dirty="0"/>
              <a:t>Quase sempre é preferível ter pelo menos um pouco de regularização, então geralmente você deve evitar a regressão linear simples. Ridge é um bom começo, mas se você suspeitar que apenas alguns atributos são realmente úteis, você deve preferir LASSO ou Elastic-Net, pois eles tendem a reduzir os pesos dos atributos inúteis a zero. Em geral, o Elastic-Net é preferível ao LASSO, pois o LASSO pode se comportar de maneira errática quando o número de atributos é maior do que o número de exemplos de treinamento ou quando vários atributos</a:t>
            </a:r>
            <a:r>
              <a:rPr lang="pt-BR" baseline="0" dirty="0"/>
              <a:t> </a:t>
            </a:r>
            <a:r>
              <a:rPr lang="pt-BR" dirty="0"/>
              <a:t>são fortemente correlacionados</a:t>
            </a:r>
          </a:p>
          <a:p>
            <a:endParaRPr lang="pt-BR" dirty="0"/>
          </a:p>
          <a:p>
            <a:endParaRPr lang="pt-BR" dirty="0"/>
          </a:p>
        </p:txBody>
      </p:sp>
      <p:sp>
        <p:nvSpPr>
          <p:cNvPr id="4" name="Slide Number Placeholder 3">
            <a:extLst>
              <a:ext uri="{FF2B5EF4-FFF2-40B4-BE49-F238E27FC236}">
                <a16:creationId xmlns:a16="http://schemas.microsoft.com/office/drawing/2014/main" id="{9D01B4F3-B3B8-A2F5-DD71-1CD91D7458CF}"/>
              </a:ext>
            </a:extLst>
          </p:cNvPr>
          <p:cNvSpPr>
            <a:spLocks noGrp="1"/>
          </p:cNvSpPr>
          <p:nvPr>
            <p:ph type="sldNum" sz="quarter" idx="10"/>
          </p:nvPr>
        </p:nvSpPr>
        <p:spPr/>
        <p:txBody>
          <a:bodyPr/>
          <a:lstStyle/>
          <a:p>
            <a:fld id="{DA8B99DF-01BC-492A-8CEF-4FD88D18DD9D}" type="slidenum">
              <a:rPr lang="nl-BE" smtClean="0"/>
              <a:t>120</a:t>
            </a:fld>
            <a:endParaRPr lang="nl-BE"/>
          </a:p>
        </p:txBody>
      </p:sp>
    </p:spTree>
    <p:extLst>
      <p:ext uri="{BB962C8B-B14F-4D97-AF65-F5344CB8AC3E}">
        <p14:creationId xmlns:p14="http://schemas.microsoft.com/office/powerpoint/2010/main" val="292409399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Na </a:t>
            </a:r>
            <a:r>
              <a:rPr lang="en-US" dirty="0" err="1"/>
              <a:t>prática</a:t>
            </a:r>
            <a:r>
              <a:rPr lang="en-US" dirty="0"/>
              <a:t>, o early stopping é </a:t>
            </a:r>
            <a:r>
              <a:rPr lang="en-US" dirty="0" err="1"/>
              <a:t>implementado</a:t>
            </a:r>
            <a:r>
              <a:rPr lang="en-US" dirty="0"/>
              <a:t> </a:t>
            </a:r>
            <a:r>
              <a:rPr lang="en-US" dirty="0" err="1"/>
              <a:t>através</a:t>
            </a:r>
            <a:r>
              <a:rPr lang="en-US" dirty="0"/>
              <a:t> do </a:t>
            </a:r>
            <a:r>
              <a:rPr lang="en-US" dirty="0" err="1"/>
              <a:t>treinamento</a:t>
            </a:r>
            <a:r>
              <a:rPr lang="en-US" dirty="0"/>
              <a:t> </a:t>
            </a:r>
            <a:r>
              <a:rPr lang="en-US" dirty="0" err="1"/>
              <a:t>em</a:t>
            </a:r>
            <a:r>
              <a:rPr lang="en-US" dirty="0"/>
              <a:t> um </a:t>
            </a:r>
            <a:r>
              <a:rPr lang="en-US" dirty="0" err="1"/>
              <a:t>conjunto</a:t>
            </a:r>
            <a:r>
              <a:rPr lang="en-US" dirty="0"/>
              <a:t> de </a:t>
            </a:r>
            <a:r>
              <a:rPr lang="en-US" dirty="0" err="1"/>
              <a:t>treinamento</a:t>
            </a:r>
            <a:r>
              <a:rPr lang="en-US" dirty="0"/>
              <a:t> e </a:t>
            </a:r>
            <a:r>
              <a:rPr lang="en-US" dirty="0" err="1"/>
              <a:t>medindo</a:t>
            </a:r>
            <a:r>
              <a:rPr lang="en-US" dirty="0"/>
              <a:t> a </a:t>
            </a:r>
            <a:r>
              <a:rPr lang="en-US" dirty="0" err="1"/>
              <a:t>precisão</a:t>
            </a:r>
            <a:r>
              <a:rPr lang="en-US" dirty="0"/>
              <a:t> </a:t>
            </a:r>
            <a:r>
              <a:rPr lang="en-US" dirty="0" err="1"/>
              <a:t>em</a:t>
            </a:r>
            <a:r>
              <a:rPr lang="en-US" dirty="0"/>
              <a:t> um </a:t>
            </a:r>
            <a:r>
              <a:rPr lang="en-US" dirty="0" err="1"/>
              <a:t>conjunto</a:t>
            </a:r>
            <a:r>
              <a:rPr lang="en-US" dirty="0"/>
              <a:t> de </a:t>
            </a:r>
            <a:r>
              <a:rPr lang="en-US" dirty="0" err="1"/>
              <a:t>validação</a:t>
            </a:r>
            <a:r>
              <a:rPr lang="en-US" dirty="0"/>
              <a:t> </a:t>
            </a:r>
            <a:r>
              <a:rPr lang="en-US" dirty="0" err="1"/>
              <a:t>estatisticamente</a:t>
            </a:r>
            <a:r>
              <a:rPr lang="en-US" dirty="0"/>
              <a:t> </a:t>
            </a:r>
            <a:r>
              <a:rPr lang="en-US" dirty="0" err="1"/>
              <a:t>independente</a:t>
            </a:r>
            <a:r>
              <a:rPr lang="en-US" dirty="0"/>
              <a:t>. O </a:t>
            </a:r>
            <a:r>
              <a:rPr lang="en-US" dirty="0" err="1"/>
              <a:t>modelo</a:t>
            </a:r>
            <a:r>
              <a:rPr lang="en-US" dirty="0"/>
              <a:t> é </a:t>
            </a:r>
            <a:r>
              <a:rPr lang="en-US" dirty="0" err="1"/>
              <a:t>treinado</a:t>
            </a:r>
            <a:r>
              <a:rPr lang="en-US" dirty="0"/>
              <a:t> </a:t>
            </a:r>
            <a:r>
              <a:rPr lang="en-US" dirty="0" err="1"/>
              <a:t>até</a:t>
            </a:r>
            <a:r>
              <a:rPr lang="en-US" dirty="0"/>
              <a:t> que o </a:t>
            </a:r>
            <a:r>
              <a:rPr lang="en-US" dirty="0" err="1"/>
              <a:t>desempenho</a:t>
            </a:r>
            <a:r>
              <a:rPr lang="en-US" dirty="0"/>
              <a:t> no </a:t>
            </a:r>
            <a:r>
              <a:rPr lang="en-US" dirty="0" err="1"/>
              <a:t>conjunto</a:t>
            </a:r>
            <a:r>
              <a:rPr lang="en-US" dirty="0"/>
              <a:t> de </a:t>
            </a:r>
            <a:r>
              <a:rPr lang="en-US" dirty="0" err="1"/>
              <a:t>validação</a:t>
            </a:r>
            <a:r>
              <a:rPr lang="en-US" dirty="0"/>
              <a:t> </a:t>
            </a:r>
            <a:r>
              <a:rPr lang="en-US" dirty="0" err="1"/>
              <a:t>não</a:t>
            </a:r>
            <a:r>
              <a:rPr lang="en-US" dirty="0"/>
              <a:t> </a:t>
            </a:r>
            <a:r>
              <a:rPr lang="en-US" dirty="0" err="1"/>
              <a:t>melhore</a:t>
            </a:r>
            <a:r>
              <a:rPr lang="en-US" dirty="0"/>
              <a:t> </a:t>
            </a:r>
            <a:r>
              <a:rPr lang="en-US" dirty="0" err="1"/>
              <a:t>mais</a:t>
            </a:r>
            <a:r>
              <a:rPr lang="en-US" dirty="0"/>
              <a:t>. O </a:t>
            </a:r>
            <a:r>
              <a:rPr lang="en-US" dirty="0" err="1"/>
              <a:t>modelo</a:t>
            </a:r>
            <a:r>
              <a:rPr lang="en-US" dirty="0"/>
              <a:t> é </a:t>
            </a:r>
            <a:r>
              <a:rPr lang="en-US" dirty="0" err="1"/>
              <a:t>então</a:t>
            </a:r>
            <a:r>
              <a:rPr lang="en-US" dirty="0"/>
              <a:t> </a:t>
            </a:r>
            <a:r>
              <a:rPr lang="en-US" dirty="0" err="1"/>
              <a:t>testado</a:t>
            </a:r>
            <a:r>
              <a:rPr lang="en-US" dirty="0"/>
              <a:t> </a:t>
            </a:r>
            <a:r>
              <a:rPr lang="en-US" dirty="0" err="1"/>
              <a:t>em</a:t>
            </a:r>
            <a:r>
              <a:rPr lang="en-US" dirty="0"/>
              <a:t> um </a:t>
            </a:r>
            <a:r>
              <a:rPr lang="en-US" dirty="0" err="1"/>
              <a:t>conjunto</a:t>
            </a:r>
            <a:r>
              <a:rPr lang="en-US" dirty="0"/>
              <a:t> de testes.</a:t>
            </a:r>
          </a:p>
          <a:p>
            <a:endParaRPr lang="en-US" dirty="0"/>
          </a:p>
          <a:p>
            <a:r>
              <a:rPr lang="en-US" dirty="0" err="1"/>
              <a:t>Intuitivamente</a:t>
            </a:r>
            <a:r>
              <a:rPr lang="en-US" dirty="0"/>
              <a:t>, o </a:t>
            </a:r>
            <a:r>
              <a:rPr lang="en-US" dirty="0" err="1"/>
              <a:t>algoritmo</a:t>
            </a:r>
            <a:r>
              <a:rPr lang="en-US" dirty="0"/>
              <a:t> do </a:t>
            </a:r>
            <a:r>
              <a:rPr lang="en-US" dirty="0" err="1"/>
              <a:t>gradiente</a:t>
            </a:r>
            <a:r>
              <a:rPr lang="en-US" dirty="0"/>
              <a:t> </a:t>
            </a:r>
            <a:r>
              <a:rPr lang="en-US" dirty="0" err="1"/>
              <a:t>descendente</a:t>
            </a:r>
            <a:r>
              <a:rPr lang="en-US" dirty="0"/>
              <a:t> </a:t>
            </a:r>
            <a:r>
              <a:rPr lang="en-US" dirty="0" err="1"/>
              <a:t>tenderá</a:t>
            </a:r>
            <a:r>
              <a:rPr lang="en-US" dirty="0"/>
              <a:t> a </a:t>
            </a:r>
            <a:r>
              <a:rPr lang="en-US" dirty="0" err="1"/>
              <a:t>aprender</a:t>
            </a:r>
            <a:r>
              <a:rPr lang="en-US" dirty="0"/>
              <a:t> </a:t>
            </a:r>
            <a:r>
              <a:rPr lang="en-US" dirty="0" err="1"/>
              <a:t>modelos</a:t>
            </a:r>
            <a:r>
              <a:rPr lang="en-US" dirty="0"/>
              <a:t> </a:t>
            </a:r>
            <a:r>
              <a:rPr lang="en-US" dirty="0" err="1"/>
              <a:t>cada</a:t>
            </a:r>
            <a:r>
              <a:rPr lang="en-US" dirty="0"/>
              <a:t> </a:t>
            </a:r>
            <a:r>
              <a:rPr lang="en-US" dirty="0" err="1"/>
              <a:t>vez</a:t>
            </a:r>
            <a:r>
              <a:rPr lang="en-US" dirty="0"/>
              <a:t> </a:t>
            </a:r>
            <a:r>
              <a:rPr lang="en-US" dirty="0" err="1"/>
              <a:t>mais</a:t>
            </a:r>
            <a:r>
              <a:rPr lang="en-US" dirty="0"/>
              <a:t> </a:t>
            </a:r>
            <a:r>
              <a:rPr lang="en-US" dirty="0" err="1"/>
              <a:t>complexos</a:t>
            </a:r>
            <a:r>
              <a:rPr lang="en-US" dirty="0"/>
              <a:t> à </a:t>
            </a:r>
            <a:r>
              <a:rPr lang="en-US" dirty="0" err="1"/>
              <a:t>medida</a:t>
            </a:r>
            <a:r>
              <a:rPr lang="en-US" dirty="0"/>
              <a:t> que o </a:t>
            </a:r>
            <a:r>
              <a:rPr lang="en-US" dirty="0" err="1"/>
              <a:t>número</a:t>
            </a:r>
            <a:r>
              <a:rPr lang="en-US" dirty="0"/>
              <a:t> de </a:t>
            </a:r>
            <a:r>
              <a:rPr lang="en-US" dirty="0" err="1"/>
              <a:t>iterações</a:t>
            </a:r>
            <a:r>
              <a:rPr lang="en-US" dirty="0"/>
              <a:t> (</a:t>
            </a:r>
            <a:r>
              <a:rPr lang="en-US" dirty="0" err="1"/>
              <a:t>ou</a:t>
            </a:r>
            <a:r>
              <a:rPr lang="en-US" dirty="0"/>
              <a:t> </a:t>
            </a:r>
            <a:r>
              <a:rPr lang="en-US" dirty="0" err="1"/>
              <a:t>épocas</a:t>
            </a:r>
            <a:r>
              <a:rPr lang="en-US" dirty="0"/>
              <a:t>) </a:t>
            </a:r>
            <a:r>
              <a:rPr lang="en-US" dirty="0" err="1"/>
              <a:t>aumenta</a:t>
            </a:r>
            <a:r>
              <a:rPr lang="en-US" dirty="0"/>
              <a:t>. </a:t>
            </a:r>
            <a:r>
              <a:rPr lang="en-US" dirty="0" err="1"/>
              <a:t>Ao</a:t>
            </a:r>
            <a:r>
              <a:rPr lang="en-US" dirty="0"/>
              <a:t> </a:t>
            </a:r>
            <a:r>
              <a:rPr lang="en-US" dirty="0" err="1"/>
              <a:t>regularizar</a:t>
            </a:r>
            <a:r>
              <a:rPr lang="en-US" dirty="0"/>
              <a:t> no tempo, a </a:t>
            </a:r>
            <a:r>
              <a:rPr lang="en-US" dirty="0" err="1"/>
              <a:t>complexidade</a:t>
            </a:r>
            <a:r>
              <a:rPr lang="en-US" dirty="0"/>
              <a:t> do </a:t>
            </a:r>
            <a:r>
              <a:rPr lang="en-US" dirty="0" err="1"/>
              <a:t>modelo</a:t>
            </a:r>
            <a:r>
              <a:rPr lang="en-US" dirty="0"/>
              <a:t> </a:t>
            </a:r>
            <a:r>
              <a:rPr lang="en-US" dirty="0" err="1"/>
              <a:t>pode</a:t>
            </a:r>
            <a:r>
              <a:rPr lang="en-US" dirty="0"/>
              <a:t> </a:t>
            </a:r>
            <a:r>
              <a:rPr lang="en-US" dirty="0" err="1"/>
              <a:t>ser</a:t>
            </a:r>
            <a:r>
              <a:rPr lang="en-US" dirty="0"/>
              <a:t> </a:t>
            </a:r>
            <a:r>
              <a:rPr lang="en-US" dirty="0" err="1"/>
              <a:t>controlada</a:t>
            </a:r>
            <a:r>
              <a:rPr lang="en-US" dirty="0"/>
              <a:t>, </a:t>
            </a:r>
            <a:r>
              <a:rPr lang="en-US" dirty="0" err="1"/>
              <a:t>melhorando</a:t>
            </a:r>
            <a:r>
              <a:rPr lang="en-US" dirty="0"/>
              <a:t> </a:t>
            </a:r>
            <a:r>
              <a:rPr lang="en-US" dirty="0" err="1"/>
              <a:t>sua</a:t>
            </a:r>
            <a:r>
              <a:rPr lang="en-US" dirty="0"/>
              <a:t> </a:t>
            </a:r>
            <a:r>
              <a:rPr lang="en-US" dirty="0" err="1"/>
              <a:t>generalização</a:t>
            </a:r>
            <a:r>
              <a:rPr lang="en-US" dirty="0"/>
              <a:t>.</a:t>
            </a:r>
          </a:p>
          <a:p>
            <a:endParaRPr lang="en-US" dirty="0">
              <a:cs typeface="Calibri"/>
            </a:endParaRPr>
          </a:p>
          <a:p>
            <a:r>
              <a:rPr lang="en-US" dirty="0"/>
              <a:t>Na </a:t>
            </a:r>
            <a:r>
              <a:rPr lang="en-US" dirty="0" err="1"/>
              <a:t>prática</a:t>
            </a:r>
            <a:r>
              <a:rPr lang="en-US" dirty="0"/>
              <a:t>, o early stopping é </a:t>
            </a:r>
            <a:r>
              <a:rPr lang="en-US" dirty="0" err="1"/>
              <a:t>implementado</a:t>
            </a:r>
            <a:r>
              <a:rPr lang="en-US" dirty="0"/>
              <a:t> </a:t>
            </a:r>
            <a:r>
              <a:rPr lang="en-US" dirty="0" err="1"/>
              <a:t>através</a:t>
            </a:r>
            <a:r>
              <a:rPr lang="en-US" dirty="0"/>
              <a:t> do </a:t>
            </a:r>
            <a:r>
              <a:rPr lang="en-US" dirty="0" err="1"/>
              <a:t>treinamento</a:t>
            </a:r>
            <a:r>
              <a:rPr lang="en-US" dirty="0"/>
              <a:t> </a:t>
            </a:r>
            <a:r>
              <a:rPr lang="en-US" dirty="0" err="1"/>
              <a:t>em</a:t>
            </a:r>
            <a:r>
              <a:rPr lang="en-US" dirty="0"/>
              <a:t> um </a:t>
            </a:r>
            <a:r>
              <a:rPr lang="en-US" dirty="0" err="1"/>
              <a:t>conjunto</a:t>
            </a:r>
            <a:r>
              <a:rPr lang="en-US" dirty="0"/>
              <a:t> de </a:t>
            </a:r>
            <a:r>
              <a:rPr lang="en-US" dirty="0" err="1"/>
              <a:t>treinamento</a:t>
            </a:r>
            <a:r>
              <a:rPr lang="en-US" dirty="0"/>
              <a:t> e </a:t>
            </a:r>
            <a:r>
              <a:rPr lang="en-US" dirty="0" err="1"/>
              <a:t>medindo</a:t>
            </a:r>
            <a:r>
              <a:rPr lang="en-US" dirty="0"/>
              <a:t> a </a:t>
            </a:r>
            <a:r>
              <a:rPr lang="en-US" dirty="0" err="1"/>
              <a:t>precisão</a:t>
            </a:r>
            <a:r>
              <a:rPr lang="en-US" dirty="0"/>
              <a:t> </a:t>
            </a:r>
            <a:r>
              <a:rPr lang="en-US" dirty="0" err="1"/>
              <a:t>em</a:t>
            </a:r>
            <a:r>
              <a:rPr lang="en-US" dirty="0"/>
              <a:t> um </a:t>
            </a:r>
            <a:r>
              <a:rPr lang="en-US" dirty="0" err="1"/>
              <a:t>conjunto</a:t>
            </a:r>
            <a:r>
              <a:rPr lang="en-US" dirty="0"/>
              <a:t> de </a:t>
            </a:r>
            <a:r>
              <a:rPr lang="en-US" dirty="0" err="1"/>
              <a:t>validação</a:t>
            </a:r>
            <a:r>
              <a:rPr lang="en-US" dirty="0"/>
              <a:t> </a:t>
            </a:r>
            <a:r>
              <a:rPr lang="en-US" dirty="0" err="1"/>
              <a:t>estatisticamente</a:t>
            </a:r>
            <a:r>
              <a:rPr lang="en-US" dirty="0"/>
              <a:t> </a:t>
            </a:r>
            <a:r>
              <a:rPr lang="en-US" dirty="0" err="1"/>
              <a:t>independente</a:t>
            </a:r>
            <a:r>
              <a:rPr lang="en-US" dirty="0"/>
              <a:t>. O </a:t>
            </a:r>
            <a:r>
              <a:rPr lang="en-US" dirty="0" err="1"/>
              <a:t>modelo</a:t>
            </a:r>
            <a:r>
              <a:rPr lang="en-US" dirty="0"/>
              <a:t> é </a:t>
            </a:r>
            <a:r>
              <a:rPr lang="en-US" dirty="0" err="1"/>
              <a:t>treinado</a:t>
            </a:r>
            <a:r>
              <a:rPr lang="en-US" dirty="0"/>
              <a:t> </a:t>
            </a:r>
            <a:r>
              <a:rPr lang="en-US" dirty="0" err="1"/>
              <a:t>até</a:t>
            </a:r>
            <a:r>
              <a:rPr lang="en-US" dirty="0"/>
              <a:t> que o </a:t>
            </a:r>
            <a:r>
              <a:rPr lang="en-US" dirty="0" err="1"/>
              <a:t>desempenho</a:t>
            </a:r>
            <a:r>
              <a:rPr lang="en-US" dirty="0"/>
              <a:t> no </a:t>
            </a:r>
            <a:r>
              <a:rPr lang="en-US" dirty="0" err="1"/>
              <a:t>conjunto</a:t>
            </a:r>
            <a:r>
              <a:rPr lang="en-US" dirty="0"/>
              <a:t> de </a:t>
            </a:r>
            <a:r>
              <a:rPr lang="en-US" dirty="0" err="1"/>
              <a:t>validação</a:t>
            </a:r>
            <a:r>
              <a:rPr lang="en-US" dirty="0"/>
              <a:t> </a:t>
            </a:r>
            <a:r>
              <a:rPr lang="en-US" dirty="0" err="1"/>
              <a:t>não</a:t>
            </a:r>
            <a:r>
              <a:rPr lang="en-US" dirty="0"/>
              <a:t> </a:t>
            </a:r>
            <a:r>
              <a:rPr lang="en-US" dirty="0" err="1"/>
              <a:t>melhore</a:t>
            </a:r>
            <a:r>
              <a:rPr lang="en-US" dirty="0"/>
              <a:t> </a:t>
            </a:r>
            <a:r>
              <a:rPr lang="en-US" dirty="0" err="1"/>
              <a:t>mais</a:t>
            </a:r>
            <a:r>
              <a:rPr lang="en-US" dirty="0"/>
              <a:t>. O </a:t>
            </a:r>
            <a:r>
              <a:rPr lang="en-US" dirty="0" err="1"/>
              <a:t>modelo</a:t>
            </a:r>
            <a:r>
              <a:rPr lang="en-US" dirty="0"/>
              <a:t> é </a:t>
            </a:r>
            <a:r>
              <a:rPr lang="en-US" dirty="0" err="1"/>
              <a:t>então</a:t>
            </a:r>
            <a:r>
              <a:rPr lang="en-US" dirty="0"/>
              <a:t> </a:t>
            </a:r>
            <a:r>
              <a:rPr lang="en-US" dirty="0" err="1"/>
              <a:t>testado</a:t>
            </a:r>
            <a:r>
              <a:rPr lang="en-US" dirty="0"/>
              <a:t> </a:t>
            </a:r>
            <a:r>
              <a:rPr lang="en-US" dirty="0" err="1"/>
              <a:t>em</a:t>
            </a:r>
            <a:r>
              <a:rPr lang="en-US" dirty="0"/>
              <a:t> um </a:t>
            </a:r>
            <a:r>
              <a:rPr lang="en-US" dirty="0" err="1"/>
              <a:t>conjunto</a:t>
            </a:r>
            <a:r>
              <a:rPr lang="en-US" dirty="0"/>
              <a:t> de testes.</a:t>
            </a:r>
          </a:p>
          <a:p>
            <a:endParaRPr lang="pt-BR" dirty="0"/>
          </a:p>
        </p:txBody>
      </p:sp>
      <p:sp>
        <p:nvSpPr>
          <p:cNvPr id="4" name="Slide Number Placeholder 3"/>
          <p:cNvSpPr>
            <a:spLocks noGrp="1"/>
          </p:cNvSpPr>
          <p:nvPr>
            <p:ph type="sldNum" sz="quarter" idx="10"/>
          </p:nvPr>
        </p:nvSpPr>
        <p:spPr/>
        <p:txBody>
          <a:bodyPr/>
          <a:lstStyle/>
          <a:p>
            <a:fld id="{DA8B99DF-01BC-492A-8CEF-4FD88D18DD9D}" type="slidenum">
              <a:rPr lang="nl-BE" smtClean="0"/>
              <a:t>121</a:t>
            </a:fld>
            <a:endParaRPr lang="nl-BE"/>
          </a:p>
        </p:txBody>
      </p:sp>
    </p:spTree>
    <p:extLst>
      <p:ext uri="{BB962C8B-B14F-4D97-AF65-F5344CB8AC3E}">
        <p14:creationId xmlns:p14="http://schemas.microsoft.com/office/powerpoint/2010/main" val="150752712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D4D6D-2CF8-B4CF-5A39-21E7475993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26A627-C493-7BC5-26F0-8F8BC315709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B7C94AC-0241-614C-2069-9EC3FCC509D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Na </a:t>
            </a:r>
            <a:r>
              <a:rPr lang="en-US" dirty="0" err="1"/>
              <a:t>prática</a:t>
            </a:r>
            <a:r>
              <a:rPr lang="en-US" dirty="0"/>
              <a:t>, o early stopping é </a:t>
            </a:r>
            <a:r>
              <a:rPr lang="en-US" dirty="0" err="1"/>
              <a:t>implementado</a:t>
            </a:r>
            <a:r>
              <a:rPr lang="en-US" dirty="0"/>
              <a:t> </a:t>
            </a:r>
            <a:r>
              <a:rPr lang="en-US" dirty="0" err="1"/>
              <a:t>através</a:t>
            </a:r>
            <a:r>
              <a:rPr lang="en-US" dirty="0"/>
              <a:t> do </a:t>
            </a:r>
            <a:r>
              <a:rPr lang="en-US" dirty="0" err="1"/>
              <a:t>treinamento</a:t>
            </a:r>
            <a:r>
              <a:rPr lang="en-US" dirty="0"/>
              <a:t> </a:t>
            </a:r>
            <a:r>
              <a:rPr lang="en-US" dirty="0" err="1"/>
              <a:t>em</a:t>
            </a:r>
            <a:r>
              <a:rPr lang="en-US" dirty="0"/>
              <a:t> um </a:t>
            </a:r>
            <a:r>
              <a:rPr lang="en-US" dirty="0" err="1"/>
              <a:t>conjunto</a:t>
            </a:r>
            <a:r>
              <a:rPr lang="en-US" dirty="0"/>
              <a:t> de </a:t>
            </a:r>
            <a:r>
              <a:rPr lang="en-US" dirty="0" err="1"/>
              <a:t>treinamento</a:t>
            </a:r>
            <a:r>
              <a:rPr lang="en-US" dirty="0"/>
              <a:t> e </a:t>
            </a:r>
            <a:r>
              <a:rPr lang="en-US" dirty="0" err="1"/>
              <a:t>medindo</a:t>
            </a:r>
            <a:r>
              <a:rPr lang="en-US" dirty="0"/>
              <a:t> a </a:t>
            </a:r>
            <a:r>
              <a:rPr lang="en-US" dirty="0" err="1"/>
              <a:t>precisão</a:t>
            </a:r>
            <a:r>
              <a:rPr lang="en-US" dirty="0"/>
              <a:t> </a:t>
            </a:r>
            <a:r>
              <a:rPr lang="en-US" dirty="0" err="1"/>
              <a:t>em</a:t>
            </a:r>
            <a:r>
              <a:rPr lang="en-US" dirty="0"/>
              <a:t> um </a:t>
            </a:r>
            <a:r>
              <a:rPr lang="en-US" dirty="0" err="1"/>
              <a:t>conjunto</a:t>
            </a:r>
            <a:r>
              <a:rPr lang="en-US" dirty="0"/>
              <a:t> de </a:t>
            </a:r>
            <a:r>
              <a:rPr lang="en-US" dirty="0" err="1"/>
              <a:t>validação</a:t>
            </a:r>
            <a:r>
              <a:rPr lang="en-US" dirty="0"/>
              <a:t> </a:t>
            </a:r>
            <a:r>
              <a:rPr lang="en-US" dirty="0" err="1"/>
              <a:t>estatisticamente</a:t>
            </a:r>
            <a:r>
              <a:rPr lang="en-US" dirty="0"/>
              <a:t> </a:t>
            </a:r>
            <a:r>
              <a:rPr lang="en-US" dirty="0" err="1"/>
              <a:t>independente</a:t>
            </a:r>
            <a:r>
              <a:rPr lang="en-US" dirty="0"/>
              <a:t>. O </a:t>
            </a:r>
            <a:r>
              <a:rPr lang="en-US" dirty="0" err="1"/>
              <a:t>modelo</a:t>
            </a:r>
            <a:r>
              <a:rPr lang="en-US" dirty="0"/>
              <a:t> é </a:t>
            </a:r>
            <a:r>
              <a:rPr lang="en-US" dirty="0" err="1"/>
              <a:t>treinado</a:t>
            </a:r>
            <a:r>
              <a:rPr lang="en-US" dirty="0"/>
              <a:t> </a:t>
            </a:r>
            <a:r>
              <a:rPr lang="en-US" dirty="0" err="1"/>
              <a:t>até</a:t>
            </a:r>
            <a:r>
              <a:rPr lang="en-US" dirty="0"/>
              <a:t> que o </a:t>
            </a:r>
            <a:r>
              <a:rPr lang="en-US" dirty="0" err="1"/>
              <a:t>desempenho</a:t>
            </a:r>
            <a:r>
              <a:rPr lang="en-US" dirty="0"/>
              <a:t> no </a:t>
            </a:r>
            <a:r>
              <a:rPr lang="en-US" dirty="0" err="1"/>
              <a:t>conjunto</a:t>
            </a:r>
            <a:r>
              <a:rPr lang="en-US" dirty="0"/>
              <a:t> de </a:t>
            </a:r>
            <a:r>
              <a:rPr lang="en-US" dirty="0" err="1"/>
              <a:t>validação</a:t>
            </a:r>
            <a:r>
              <a:rPr lang="en-US" dirty="0"/>
              <a:t> </a:t>
            </a:r>
            <a:r>
              <a:rPr lang="en-US" dirty="0" err="1"/>
              <a:t>não</a:t>
            </a:r>
            <a:r>
              <a:rPr lang="en-US" dirty="0"/>
              <a:t> </a:t>
            </a:r>
            <a:r>
              <a:rPr lang="en-US" dirty="0" err="1"/>
              <a:t>melhore</a:t>
            </a:r>
            <a:r>
              <a:rPr lang="en-US" dirty="0"/>
              <a:t> </a:t>
            </a:r>
            <a:r>
              <a:rPr lang="en-US" dirty="0" err="1"/>
              <a:t>mais</a:t>
            </a:r>
            <a:r>
              <a:rPr lang="en-US" dirty="0"/>
              <a:t>. O </a:t>
            </a:r>
            <a:r>
              <a:rPr lang="en-US" dirty="0" err="1"/>
              <a:t>modelo</a:t>
            </a:r>
            <a:r>
              <a:rPr lang="en-US" dirty="0"/>
              <a:t> é </a:t>
            </a:r>
            <a:r>
              <a:rPr lang="en-US" dirty="0" err="1"/>
              <a:t>então</a:t>
            </a:r>
            <a:r>
              <a:rPr lang="en-US" dirty="0"/>
              <a:t> </a:t>
            </a:r>
            <a:r>
              <a:rPr lang="en-US" dirty="0" err="1"/>
              <a:t>testado</a:t>
            </a:r>
            <a:r>
              <a:rPr lang="en-US" dirty="0"/>
              <a:t> </a:t>
            </a:r>
            <a:r>
              <a:rPr lang="en-US" dirty="0" err="1"/>
              <a:t>em</a:t>
            </a:r>
            <a:r>
              <a:rPr lang="en-US" dirty="0"/>
              <a:t> um </a:t>
            </a:r>
            <a:r>
              <a:rPr lang="en-US" dirty="0" err="1"/>
              <a:t>conjunto</a:t>
            </a:r>
            <a:r>
              <a:rPr lang="en-US" dirty="0"/>
              <a:t> de testes.</a:t>
            </a:r>
          </a:p>
          <a:p>
            <a:endParaRPr lang="en-US" dirty="0"/>
          </a:p>
          <a:p>
            <a:r>
              <a:rPr lang="en-US" dirty="0" err="1"/>
              <a:t>Intuitivamente</a:t>
            </a:r>
            <a:r>
              <a:rPr lang="en-US" dirty="0"/>
              <a:t>, o </a:t>
            </a:r>
            <a:r>
              <a:rPr lang="en-US" dirty="0" err="1"/>
              <a:t>algoritmo</a:t>
            </a:r>
            <a:r>
              <a:rPr lang="en-US" dirty="0"/>
              <a:t> do </a:t>
            </a:r>
            <a:r>
              <a:rPr lang="en-US" dirty="0" err="1"/>
              <a:t>gradiente</a:t>
            </a:r>
            <a:r>
              <a:rPr lang="en-US" dirty="0"/>
              <a:t> </a:t>
            </a:r>
            <a:r>
              <a:rPr lang="en-US" dirty="0" err="1"/>
              <a:t>descendente</a:t>
            </a:r>
            <a:r>
              <a:rPr lang="en-US" dirty="0"/>
              <a:t> </a:t>
            </a:r>
            <a:r>
              <a:rPr lang="en-US" dirty="0" err="1"/>
              <a:t>tenderá</a:t>
            </a:r>
            <a:r>
              <a:rPr lang="en-US" dirty="0"/>
              <a:t> a </a:t>
            </a:r>
            <a:r>
              <a:rPr lang="en-US" dirty="0" err="1"/>
              <a:t>aprender</a:t>
            </a:r>
            <a:r>
              <a:rPr lang="en-US" dirty="0"/>
              <a:t> </a:t>
            </a:r>
            <a:r>
              <a:rPr lang="en-US" dirty="0" err="1"/>
              <a:t>modelos</a:t>
            </a:r>
            <a:r>
              <a:rPr lang="en-US" dirty="0"/>
              <a:t> </a:t>
            </a:r>
            <a:r>
              <a:rPr lang="en-US" dirty="0" err="1"/>
              <a:t>cada</a:t>
            </a:r>
            <a:r>
              <a:rPr lang="en-US" dirty="0"/>
              <a:t> </a:t>
            </a:r>
            <a:r>
              <a:rPr lang="en-US" dirty="0" err="1"/>
              <a:t>vez</a:t>
            </a:r>
            <a:r>
              <a:rPr lang="en-US" dirty="0"/>
              <a:t> </a:t>
            </a:r>
            <a:r>
              <a:rPr lang="en-US" dirty="0" err="1"/>
              <a:t>mais</a:t>
            </a:r>
            <a:r>
              <a:rPr lang="en-US" dirty="0"/>
              <a:t> </a:t>
            </a:r>
            <a:r>
              <a:rPr lang="en-US" dirty="0" err="1"/>
              <a:t>complexos</a:t>
            </a:r>
            <a:r>
              <a:rPr lang="en-US" dirty="0"/>
              <a:t> à </a:t>
            </a:r>
            <a:r>
              <a:rPr lang="en-US" dirty="0" err="1"/>
              <a:t>medida</a:t>
            </a:r>
            <a:r>
              <a:rPr lang="en-US" dirty="0"/>
              <a:t> que o </a:t>
            </a:r>
            <a:r>
              <a:rPr lang="en-US" dirty="0" err="1"/>
              <a:t>número</a:t>
            </a:r>
            <a:r>
              <a:rPr lang="en-US" dirty="0"/>
              <a:t> de </a:t>
            </a:r>
            <a:r>
              <a:rPr lang="en-US" dirty="0" err="1"/>
              <a:t>iterações</a:t>
            </a:r>
            <a:r>
              <a:rPr lang="en-US" dirty="0"/>
              <a:t> (</a:t>
            </a:r>
            <a:r>
              <a:rPr lang="en-US" dirty="0" err="1"/>
              <a:t>ou</a:t>
            </a:r>
            <a:r>
              <a:rPr lang="en-US" dirty="0"/>
              <a:t> </a:t>
            </a:r>
            <a:r>
              <a:rPr lang="en-US" dirty="0" err="1"/>
              <a:t>épocas</a:t>
            </a:r>
            <a:r>
              <a:rPr lang="en-US" dirty="0"/>
              <a:t>) </a:t>
            </a:r>
            <a:r>
              <a:rPr lang="en-US" dirty="0" err="1"/>
              <a:t>aumenta</a:t>
            </a:r>
            <a:r>
              <a:rPr lang="en-US" dirty="0"/>
              <a:t>. </a:t>
            </a:r>
            <a:r>
              <a:rPr lang="en-US" dirty="0" err="1"/>
              <a:t>Ao</a:t>
            </a:r>
            <a:r>
              <a:rPr lang="en-US" dirty="0"/>
              <a:t> </a:t>
            </a:r>
            <a:r>
              <a:rPr lang="en-US" dirty="0" err="1"/>
              <a:t>regularizar</a:t>
            </a:r>
            <a:r>
              <a:rPr lang="en-US" dirty="0"/>
              <a:t> no tempo, a </a:t>
            </a:r>
            <a:r>
              <a:rPr lang="en-US" dirty="0" err="1"/>
              <a:t>complexidade</a:t>
            </a:r>
            <a:r>
              <a:rPr lang="en-US" dirty="0"/>
              <a:t> do </a:t>
            </a:r>
            <a:r>
              <a:rPr lang="en-US" dirty="0" err="1"/>
              <a:t>modelo</a:t>
            </a:r>
            <a:r>
              <a:rPr lang="en-US" dirty="0"/>
              <a:t> </a:t>
            </a:r>
            <a:r>
              <a:rPr lang="en-US" dirty="0" err="1"/>
              <a:t>pode</a:t>
            </a:r>
            <a:r>
              <a:rPr lang="en-US" dirty="0"/>
              <a:t> </a:t>
            </a:r>
            <a:r>
              <a:rPr lang="en-US" dirty="0" err="1"/>
              <a:t>ser</a:t>
            </a:r>
            <a:r>
              <a:rPr lang="en-US" dirty="0"/>
              <a:t> </a:t>
            </a:r>
            <a:r>
              <a:rPr lang="en-US" dirty="0" err="1"/>
              <a:t>controlada</a:t>
            </a:r>
            <a:r>
              <a:rPr lang="en-US" dirty="0"/>
              <a:t>, </a:t>
            </a:r>
            <a:r>
              <a:rPr lang="en-US" dirty="0" err="1"/>
              <a:t>melhorando</a:t>
            </a:r>
            <a:r>
              <a:rPr lang="en-US" dirty="0"/>
              <a:t> </a:t>
            </a:r>
            <a:r>
              <a:rPr lang="en-US" dirty="0" err="1"/>
              <a:t>sua</a:t>
            </a:r>
            <a:r>
              <a:rPr lang="en-US" dirty="0"/>
              <a:t> </a:t>
            </a:r>
            <a:r>
              <a:rPr lang="en-US" dirty="0" err="1"/>
              <a:t>generalização</a:t>
            </a:r>
            <a:r>
              <a:rPr lang="en-US" dirty="0"/>
              <a:t>.</a:t>
            </a:r>
          </a:p>
          <a:p>
            <a:endParaRPr lang="en-US" dirty="0">
              <a:cs typeface="Calibri"/>
            </a:endParaRPr>
          </a:p>
          <a:p>
            <a:r>
              <a:rPr lang="en-US" dirty="0"/>
              <a:t>Na </a:t>
            </a:r>
            <a:r>
              <a:rPr lang="en-US" dirty="0" err="1"/>
              <a:t>prática</a:t>
            </a:r>
            <a:r>
              <a:rPr lang="en-US" dirty="0"/>
              <a:t>, o early stopping é </a:t>
            </a:r>
            <a:r>
              <a:rPr lang="en-US" dirty="0" err="1"/>
              <a:t>implementado</a:t>
            </a:r>
            <a:r>
              <a:rPr lang="en-US" dirty="0"/>
              <a:t> </a:t>
            </a:r>
            <a:r>
              <a:rPr lang="en-US" dirty="0" err="1"/>
              <a:t>através</a:t>
            </a:r>
            <a:r>
              <a:rPr lang="en-US" dirty="0"/>
              <a:t> do </a:t>
            </a:r>
            <a:r>
              <a:rPr lang="en-US" dirty="0" err="1"/>
              <a:t>treinamento</a:t>
            </a:r>
            <a:r>
              <a:rPr lang="en-US" dirty="0"/>
              <a:t> </a:t>
            </a:r>
            <a:r>
              <a:rPr lang="en-US" dirty="0" err="1"/>
              <a:t>em</a:t>
            </a:r>
            <a:r>
              <a:rPr lang="en-US" dirty="0"/>
              <a:t> um </a:t>
            </a:r>
            <a:r>
              <a:rPr lang="en-US" dirty="0" err="1"/>
              <a:t>conjunto</a:t>
            </a:r>
            <a:r>
              <a:rPr lang="en-US" dirty="0"/>
              <a:t> de </a:t>
            </a:r>
            <a:r>
              <a:rPr lang="en-US" dirty="0" err="1"/>
              <a:t>treinamento</a:t>
            </a:r>
            <a:r>
              <a:rPr lang="en-US" dirty="0"/>
              <a:t> e </a:t>
            </a:r>
            <a:r>
              <a:rPr lang="en-US" dirty="0" err="1"/>
              <a:t>medindo</a:t>
            </a:r>
            <a:r>
              <a:rPr lang="en-US" dirty="0"/>
              <a:t> a </a:t>
            </a:r>
            <a:r>
              <a:rPr lang="en-US" dirty="0" err="1"/>
              <a:t>precisão</a:t>
            </a:r>
            <a:r>
              <a:rPr lang="en-US" dirty="0"/>
              <a:t> </a:t>
            </a:r>
            <a:r>
              <a:rPr lang="en-US" dirty="0" err="1"/>
              <a:t>em</a:t>
            </a:r>
            <a:r>
              <a:rPr lang="en-US" dirty="0"/>
              <a:t> um </a:t>
            </a:r>
            <a:r>
              <a:rPr lang="en-US" dirty="0" err="1"/>
              <a:t>conjunto</a:t>
            </a:r>
            <a:r>
              <a:rPr lang="en-US" dirty="0"/>
              <a:t> de </a:t>
            </a:r>
            <a:r>
              <a:rPr lang="en-US" dirty="0" err="1"/>
              <a:t>validação</a:t>
            </a:r>
            <a:r>
              <a:rPr lang="en-US" dirty="0"/>
              <a:t> </a:t>
            </a:r>
            <a:r>
              <a:rPr lang="en-US" dirty="0" err="1"/>
              <a:t>estatisticamente</a:t>
            </a:r>
            <a:r>
              <a:rPr lang="en-US" dirty="0"/>
              <a:t> </a:t>
            </a:r>
            <a:r>
              <a:rPr lang="en-US" dirty="0" err="1"/>
              <a:t>independente</a:t>
            </a:r>
            <a:r>
              <a:rPr lang="en-US" dirty="0"/>
              <a:t>. O </a:t>
            </a:r>
            <a:r>
              <a:rPr lang="en-US" dirty="0" err="1"/>
              <a:t>modelo</a:t>
            </a:r>
            <a:r>
              <a:rPr lang="en-US" dirty="0"/>
              <a:t> é </a:t>
            </a:r>
            <a:r>
              <a:rPr lang="en-US" dirty="0" err="1"/>
              <a:t>treinado</a:t>
            </a:r>
            <a:r>
              <a:rPr lang="en-US" dirty="0"/>
              <a:t> </a:t>
            </a:r>
            <a:r>
              <a:rPr lang="en-US" dirty="0" err="1"/>
              <a:t>até</a:t>
            </a:r>
            <a:r>
              <a:rPr lang="en-US" dirty="0"/>
              <a:t> que o </a:t>
            </a:r>
            <a:r>
              <a:rPr lang="en-US" dirty="0" err="1"/>
              <a:t>desempenho</a:t>
            </a:r>
            <a:r>
              <a:rPr lang="en-US" dirty="0"/>
              <a:t> no </a:t>
            </a:r>
            <a:r>
              <a:rPr lang="en-US" dirty="0" err="1"/>
              <a:t>conjunto</a:t>
            </a:r>
            <a:r>
              <a:rPr lang="en-US" dirty="0"/>
              <a:t> de </a:t>
            </a:r>
            <a:r>
              <a:rPr lang="en-US" dirty="0" err="1"/>
              <a:t>validação</a:t>
            </a:r>
            <a:r>
              <a:rPr lang="en-US" dirty="0"/>
              <a:t> </a:t>
            </a:r>
            <a:r>
              <a:rPr lang="en-US" dirty="0" err="1"/>
              <a:t>não</a:t>
            </a:r>
            <a:r>
              <a:rPr lang="en-US" dirty="0"/>
              <a:t> </a:t>
            </a:r>
            <a:r>
              <a:rPr lang="en-US" dirty="0" err="1"/>
              <a:t>melhore</a:t>
            </a:r>
            <a:r>
              <a:rPr lang="en-US" dirty="0"/>
              <a:t> </a:t>
            </a:r>
            <a:r>
              <a:rPr lang="en-US" dirty="0" err="1"/>
              <a:t>mais</a:t>
            </a:r>
            <a:r>
              <a:rPr lang="en-US" dirty="0"/>
              <a:t>. O </a:t>
            </a:r>
            <a:r>
              <a:rPr lang="en-US" dirty="0" err="1"/>
              <a:t>modelo</a:t>
            </a:r>
            <a:r>
              <a:rPr lang="en-US" dirty="0"/>
              <a:t> é </a:t>
            </a:r>
            <a:r>
              <a:rPr lang="en-US" dirty="0" err="1"/>
              <a:t>então</a:t>
            </a:r>
            <a:r>
              <a:rPr lang="en-US" dirty="0"/>
              <a:t> </a:t>
            </a:r>
            <a:r>
              <a:rPr lang="en-US" dirty="0" err="1"/>
              <a:t>testado</a:t>
            </a:r>
            <a:r>
              <a:rPr lang="en-US" dirty="0"/>
              <a:t> </a:t>
            </a:r>
            <a:r>
              <a:rPr lang="en-US" dirty="0" err="1"/>
              <a:t>em</a:t>
            </a:r>
            <a:r>
              <a:rPr lang="en-US" dirty="0"/>
              <a:t> um </a:t>
            </a:r>
            <a:r>
              <a:rPr lang="en-US" dirty="0" err="1"/>
              <a:t>conjunto</a:t>
            </a:r>
            <a:r>
              <a:rPr lang="en-US" dirty="0"/>
              <a:t> de testes.</a:t>
            </a:r>
          </a:p>
          <a:p>
            <a:endParaRPr lang="pt-BR" dirty="0"/>
          </a:p>
        </p:txBody>
      </p:sp>
      <p:sp>
        <p:nvSpPr>
          <p:cNvPr id="4" name="Slide Number Placeholder 3">
            <a:extLst>
              <a:ext uri="{FF2B5EF4-FFF2-40B4-BE49-F238E27FC236}">
                <a16:creationId xmlns:a16="http://schemas.microsoft.com/office/drawing/2014/main" id="{873FE963-A65D-1D91-323F-535C42DC5ED4}"/>
              </a:ext>
            </a:extLst>
          </p:cNvPr>
          <p:cNvSpPr>
            <a:spLocks noGrp="1"/>
          </p:cNvSpPr>
          <p:nvPr>
            <p:ph type="sldNum" sz="quarter" idx="10"/>
          </p:nvPr>
        </p:nvSpPr>
        <p:spPr/>
        <p:txBody>
          <a:bodyPr/>
          <a:lstStyle/>
          <a:p>
            <a:fld id="{DA8B99DF-01BC-492A-8CEF-4FD88D18DD9D}" type="slidenum">
              <a:rPr lang="nl-BE" smtClean="0"/>
              <a:t>122</a:t>
            </a:fld>
            <a:endParaRPr lang="nl-BE"/>
          </a:p>
        </p:txBody>
      </p:sp>
    </p:spTree>
    <p:extLst>
      <p:ext uri="{BB962C8B-B14F-4D97-AF65-F5344CB8AC3E}">
        <p14:creationId xmlns:p14="http://schemas.microsoft.com/office/powerpoint/2010/main" val="359330880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Na </a:t>
            </a:r>
            <a:r>
              <a:rPr lang="en-US" dirty="0" err="1"/>
              <a:t>prática</a:t>
            </a:r>
            <a:r>
              <a:rPr lang="en-US" dirty="0"/>
              <a:t>, o early stopping é </a:t>
            </a:r>
            <a:r>
              <a:rPr lang="en-US" dirty="0" err="1"/>
              <a:t>implementado</a:t>
            </a:r>
            <a:r>
              <a:rPr lang="en-US" dirty="0"/>
              <a:t> </a:t>
            </a:r>
            <a:r>
              <a:rPr lang="en-US" dirty="0" err="1"/>
              <a:t>através</a:t>
            </a:r>
            <a:r>
              <a:rPr lang="en-US" dirty="0"/>
              <a:t> do </a:t>
            </a:r>
            <a:r>
              <a:rPr lang="en-US" dirty="0" err="1"/>
              <a:t>treinamento</a:t>
            </a:r>
            <a:r>
              <a:rPr lang="en-US" dirty="0"/>
              <a:t> </a:t>
            </a:r>
            <a:r>
              <a:rPr lang="en-US" dirty="0" err="1"/>
              <a:t>em</a:t>
            </a:r>
            <a:r>
              <a:rPr lang="en-US" dirty="0"/>
              <a:t> um conjunto de </a:t>
            </a:r>
            <a:r>
              <a:rPr lang="en-US" dirty="0" err="1"/>
              <a:t>treinamento</a:t>
            </a:r>
            <a:r>
              <a:rPr lang="en-US" dirty="0"/>
              <a:t> e </a:t>
            </a:r>
            <a:r>
              <a:rPr lang="en-US" dirty="0" err="1"/>
              <a:t>medindo</a:t>
            </a:r>
            <a:r>
              <a:rPr lang="en-US" dirty="0"/>
              <a:t> a </a:t>
            </a:r>
            <a:r>
              <a:rPr lang="en-US" dirty="0" err="1"/>
              <a:t>precisão</a:t>
            </a:r>
            <a:r>
              <a:rPr lang="en-US" dirty="0"/>
              <a:t> </a:t>
            </a:r>
            <a:r>
              <a:rPr lang="en-US" dirty="0" err="1"/>
              <a:t>em</a:t>
            </a:r>
            <a:r>
              <a:rPr lang="en-US" dirty="0"/>
              <a:t> um conjunto de </a:t>
            </a:r>
            <a:r>
              <a:rPr lang="en-US" dirty="0" err="1"/>
              <a:t>validação</a:t>
            </a:r>
            <a:r>
              <a:rPr lang="en-US" dirty="0"/>
              <a:t> </a:t>
            </a:r>
            <a:r>
              <a:rPr lang="en-US" dirty="0" err="1"/>
              <a:t>estatisticamente</a:t>
            </a:r>
            <a:r>
              <a:rPr lang="en-US" dirty="0"/>
              <a:t> </a:t>
            </a:r>
            <a:r>
              <a:rPr lang="en-US" dirty="0" err="1"/>
              <a:t>independente</a:t>
            </a:r>
            <a:r>
              <a:rPr lang="en-US" dirty="0"/>
              <a:t>. O </a:t>
            </a:r>
            <a:r>
              <a:rPr lang="en-US" dirty="0" err="1"/>
              <a:t>modelo</a:t>
            </a:r>
            <a:r>
              <a:rPr lang="en-US" dirty="0"/>
              <a:t> é </a:t>
            </a:r>
            <a:r>
              <a:rPr lang="en-US" dirty="0" err="1"/>
              <a:t>treinado</a:t>
            </a:r>
            <a:r>
              <a:rPr lang="en-US" dirty="0"/>
              <a:t> </a:t>
            </a:r>
            <a:r>
              <a:rPr lang="en-US" dirty="0" err="1"/>
              <a:t>até</a:t>
            </a:r>
            <a:r>
              <a:rPr lang="en-US" dirty="0"/>
              <a:t> que </a:t>
            </a:r>
            <a:r>
              <a:rPr lang="en-US" dirty="0" err="1"/>
              <a:t>o</a:t>
            </a:r>
            <a:r>
              <a:rPr lang="en-US" dirty="0"/>
              <a:t> </a:t>
            </a:r>
            <a:r>
              <a:rPr lang="en-US" dirty="0" err="1"/>
              <a:t>desempenho</a:t>
            </a:r>
            <a:r>
              <a:rPr lang="en-US" dirty="0"/>
              <a:t> no conjunto de </a:t>
            </a:r>
            <a:r>
              <a:rPr lang="en-US" dirty="0" err="1"/>
              <a:t>validação</a:t>
            </a:r>
            <a:r>
              <a:rPr lang="en-US" dirty="0"/>
              <a:t> </a:t>
            </a:r>
            <a:r>
              <a:rPr lang="en-US" dirty="0" err="1"/>
              <a:t>não</a:t>
            </a:r>
            <a:r>
              <a:rPr lang="en-US" dirty="0"/>
              <a:t> </a:t>
            </a:r>
            <a:r>
              <a:rPr lang="en-US" dirty="0" err="1"/>
              <a:t>melhore</a:t>
            </a:r>
            <a:r>
              <a:rPr lang="en-US" dirty="0"/>
              <a:t> </a:t>
            </a:r>
            <a:r>
              <a:rPr lang="en-US" dirty="0" err="1"/>
              <a:t>mais</a:t>
            </a:r>
            <a:r>
              <a:rPr lang="en-US" dirty="0"/>
              <a:t>. O </a:t>
            </a:r>
            <a:r>
              <a:rPr lang="en-US" dirty="0" err="1"/>
              <a:t>modelo</a:t>
            </a:r>
            <a:r>
              <a:rPr lang="en-US" dirty="0"/>
              <a:t> é </a:t>
            </a:r>
            <a:r>
              <a:rPr lang="en-US" dirty="0" err="1"/>
              <a:t>então</a:t>
            </a:r>
            <a:r>
              <a:rPr lang="en-US" dirty="0"/>
              <a:t> </a:t>
            </a:r>
            <a:r>
              <a:rPr lang="en-US" dirty="0" err="1"/>
              <a:t>testado</a:t>
            </a:r>
            <a:r>
              <a:rPr lang="en-US" dirty="0"/>
              <a:t> </a:t>
            </a:r>
            <a:r>
              <a:rPr lang="en-US" dirty="0" err="1"/>
              <a:t>em</a:t>
            </a:r>
            <a:r>
              <a:rPr lang="en-US" dirty="0"/>
              <a:t> um conjunto de testes.</a:t>
            </a:r>
          </a:p>
        </p:txBody>
      </p:sp>
      <p:sp>
        <p:nvSpPr>
          <p:cNvPr id="4" name="Slide Number Placeholder 3"/>
          <p:cNvSpPr>
            <a:spLocks noGrp="1"/>
          </p:cNvSpPr>
          <p:nvPr>
            <p:ph type="sldNum" sz="quarter" idx="5"/>
          </p:nvPr>
        </p:nvSpPr>
        <p:spPr/>
        <p:txBody>
          <a:bodyPr/>
          <a:lstStyle/>
          <a:p>
            <a:fld id="{DA8B99DF-01BC-492A-8CEF-4FD88D18DD9D}" type="slidenum">
              <a:rPr lang="nl-BE" smtClean="0"/>
              <a:t>123</a:t>
            </a:fld>
            <a:endParaRPr lang="nl-BE"/>
          </a:p>
        </p:txBody>
      </p:sp>
    </p:spTree>
    <p:extLst>
      <p:ext uri="{BB962C8B-B14F-4D97-AF65-F5344CB8AC3E}">
        <p14:creationId xmlns:p14="http://schemas.microsoft.com/office/powerpoint/2010/main" val="1887767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b="1" dirty="0">
                <a:solidFill>
                  <a:srgbClr val="00B0F0"/>
                </a:solidFill>
              </a:rPr>
              <a:t>Exemplo</a:t>
            </a:r>
            <a:r>
              <a:rPr lang="pt-BR" dirty="0">
                <a:solidFill>
                  <a:srgbClr val="00B0F0"/>
                </a:solidFill>
              </a:rPr>
              <a:t>: early_stoppingv3.ipynb</a:t>
            </a:r>
            <a:endParaRPr lang="pt-BR" dirty="0"/>
          </a:p>
          <a:p>
            <a:endParaRPr lang="pt-BR" dirty="0"/>
          </a:p>
          <a:p>
            <a:r>
              <a:rPr lang="pt-BR" dirty="0"/>
              <a:t>A figura mostra um modelo complexo (um modelo de regressão polinomial de alto grau) sendo treinado usando</a:t>
            </a:r>
            <a:r>
              <a:rPr lang="pt-BR" baseline="0" dirty="0"/>
              <a:t> o gradiente descendente estocástico</a:t>
            </a:r>
            <a:r>
              <a:rPr lang="pt-BR" dirty="0"/>
              <a:t>. À medida que as épocas passam, o algoritmo aprende e seu erro quadrático médio no conjunto de treinamento diminui, juntamente com</a:t>
            </a:r>
            <a:r>
              <a:rPr lang="pt-BR" baseline="0" dirty="0"/>
              <a:t> o </a:t>
            </a:r>
            <a:r>
              <a:rPr lang="pt-BR" dirty="0"/>
              <a:t>erro de predição no conjunto de validação. No entanto, após algumas</a:t>
            </a:r>
            <a:r>
              <a:rPr lang="pt-BR" baseline="0" dirty="0"/>
              <a:t> épocas</a:t>
            </a:r>
            <a:r>
              <a:rPr lang="pt-BR" dirty="0"/>
              <a:t>, o erro de validação para de diminuir e começa a voltar a crescer. Isso indica que o modelo começou a sobreajustar os dados de treinamento. Com a parada antecipada, você apenas para de treinar assim que o erro de validação atinge o mínimo.</a:t>
            </a:r>
          </a:p>
          <a:p>
            <a:endParaRPr lang="pt-BR" dirty="0"/>
          </a:p>
          <a:p>
            <a:r>
              <a:rPr lang="pt-BR" b="1" dirty="0"/>
              <a:t>Dica</a:t>
            </a:r>
            <a:r>
              <a:rPr lang="pt-BR" dirty="0"/>
              <a:t>: Com</a:t>
            </a:r>
            <a:r>
              <a:rPr lang="pt-BR" baseline="0" dirty="0"/>
              <a:t> o gradiente descendente estocástico e o mini-batch</a:t>
            </a:r>
            <a:r>
              <a:rPr lang="pt-BR" dirty="0"/>
              <a:t>, as curvas de erro não são tão suaves e pode ser difícil saber se você atingiu o mínimo ou não. Uma solução é parar apenas depois que o erro de validação estiver acima do mínimo por algum tempo (quando você estiver confiante de que o modelo não ficará melhor) e reverta os pesos do modelo para o ponto em que o erro de validação atingiu o mínimo.</a:t>
            </a:r>
          </a:p>
          <a:p>
            <a:endParaRPr lang="pt-BR" dirty="0"/>
          </a:p>
          <a:p>
            <a:r>
              <a:rPr lang="pt-BR" b="1" dirty="0"/>
              <a:t>Exemplo</a:t>
            </a:r>
            <a:r>
              <a:rPr lang="pt-BR"/>
              <a:t>: early_stoppingv2.ipynb</a:t>
            </a:r>
            <a:endParaRPr lang="pt-BR" dirty="0"/>
          </a:p>
        </p:txBody>
      </p:sp>
      <p:sp>
        <p:nvSpPr>
          <p:cNvPr id="4" name="Slide Number Placeholder 3"/>
          <p:cNvSpPr>
            <a:spLocks noGrp="1"/>
          </p:cNvSpPr>
          <p:nvPr>
            <p:ph type="sldNum" sz="quarter" idx="10"/>
          </p:nvPr>
        </p:nvSpPr>
        <p:spPr/>
        <p:txBody>
          <a:bodyPr/>
          <a:lstStyle/>
          <a:p>
            <a:fld id="{DA8B99DF-01BC-492A-8CEF-4FD88D18DD9D}" type="slidenum">
              <a:rPr lang="nl-BE" smtClean="0"/>
              <a:t>124</a:t>
            </a:fld>
            <a:endParaRPr lang="nl-BE"/>
          </a:p>
        </p:txBody>
      </p:sp>
    </p:spTree>
    <p:extLst>
      <p:ext uri="{BB962C8B-B14F-4D97-AF65-F5344CB8AC3E}">
        <p14:creationId xmlns:p14="http://schemas.microsoft.com/office/powerpoint/2010/main" val="125058782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33155-29A2-1C0C-E69A-007969EC57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7F37CF-1D76-2644-52BE-23ADA5650B5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596DEEC-7B59-6E0B-D5BB-863C3C3EF3E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b="1" dirty="0">
                <a:solidFill>
                  <a:srgbClr val="00B0F0"/>
                </a:solidFill>
              </a:rPr>
              <a:t>Exemplo</a:t>
            </a:r>
            <a:r>
              <a:rPr lang="pt-BR" dirty="0">
                <a:solidFill>
                  <a:srgbClr val="00B0F0"/>
                </a:solidFill>
              </a:rPr>
              <a:t>: early_stoppingv3.ipynb</a:t>
            </a:r>
            <a:endParaRPr lang="pt-BR" dirty="0"/>
          </a:p>
          <a:p>
            <a:endParaRPr lang="pt-BR" dirty="0"/>
          </a:p>
          <a:p>
            <a:r>
              <a:rPr lang="pt-BR" dirty="0"/>
              <a:t>A figura mostra um modelo complexo (um modelo de regressão polinomial de alto grau) sendo treinado usando</a:t>
            </a:r>
            <a:r>
              <a:rPr lang="pt-BR" baseline="0" dirty="0"/>
              <a:t> o gradiente descendente estocástico</a:t>
            </a:r>
            <a:r>
              <a:rPr lang="pt-BR" dirty="0"/>
              <a:t>. À medida que as épocas passam, o algoritmo aprende e seu erro quadrático médio no conjunto de treinamento diminui, juntamente com</a:t>
            </a:r>
            <a:r>
              <a:rPr lang="pt-BR" baseline="0" dirty="0"/>
              <a:t> o </a:t>
            </a:r>
            <a:r>
              <a:rPr lang="pt-BR" dirty="0"/>
              <a:t>erro de predição no conjunto de validação. No entanto, após algumas</a:t>
            </a:r>
            <a:r>
              <a:rPr lang="pt-BR" baseline="0" dirty="0"/>
              <a:t> épocas</a:t>
            </a:r>
            <a:r>
              <a:rPr lang="pt-BR" dirty="0"/>
              <a:t>, o erro de validação para de diminuir e começa a voltar a crescer. Isso indica que o modelo começou a sobreajustar os dados de treinamento. Com a parada antecipada, você apenas para de treinar assim que o erro de validação atinge o mínimo.</a:t>
            </a:r>
          </a:p>
          <a:p>
            <a:endParaRPr lang="pt-BR" dirty="0"/>
          </a:p>
          <a:p>
            <a:r>
              <a:rPr lang="pt-BR" b="1" dirty="0"/>
              <a:t>Dica</a:t>
            </a:r>
            <a:r>
              <a:rPr lang="pt-BR" dirty="0"/>
              <a:t>: Com</a:t>
            </a:r>
            <a:r>
              <a:rPr lang="pt-BR" baseline="0" dirty="0"/>
              <a:t> o gradiente descendente estocástico e o mini-batch</a:t>
            </a:r>
            <a:r>
              <a:rPr lang="pt-BR" dirty="0"/>
              <a:t>, as curvas de erro não são tão suaves e pode ser difícil saber se você atingiu o mínimo ou não. Uma solução é parar apenas depois que o erro de validação estiver acima do mínimo por algum tempo (quando você estiver confiante de que o modelo não ficará melhor) e reverta os pesos do modelo para o ponto em que o erro de validação atingiu o mínimo.</a:t>
            </a:r>
          </a:p>
          <a:p>
            <a:endParaRPr lang="pt-BR" dirty="0"/>
          </a:p>
          <a:p>
            <a:r>
              <a:rPr lang="pt-BR" b="1" dirty="0"/>
              <a:t>Exemplo</a:t>
            </a:r>
            <a:r>
              <a:rPr lang="pt-BR"/>
              <a:t>: early_stoppingv2.ipynb</a:t>
            </a:r>
            <a:endParaRPr lang="pt-BR" dirty="0"/>
          </a:p>
        </p:txBody>
      </p:sp>
      <p:sp>
        <p:nvSpPr>
          <p:cNvPr id="4" name="Slide Number Placeholder 3">
            <a:extLst>
              <a:ext uri="{FF2B5EF4-FFF2-40B4-BE49-F238E27FC236}">
                <a16:creationId xmlns:a16="http://schemas.microsoft.com/office/drawing/2014/main" id="{8B1F7C99-86C3-4AAA-56E8-11E1CD345EC4}"/>
              </a:ext>
            </a:extLst>
          </p:cNvPr>
          <p:cNvSpPr>
            <a:spLocks noGrp="1"/>
          </p:cNvSpPr>
          <p:nvPr>
            <p:ph type="sldNum" sz="quarter" idx="10"/>
          </p:nvPr>
        </p:nvSpPr>
        <p:spPr/>
        <p:txBody>
          <a:bodyPr/>
          <a:lstStyle/>
          <a:p>
            <a:fld id="{DA8B99DF-01BC-492A-8CEF-4FD88D18DD9D}" type="slidenum">
              <a:rPr lang="nl-BE" smtClean="0"/>
              <a:t>125</a:t>
            </a:fld>
            <a:endParaRPr lang="nl-BE"/>
          </a:p>
        </p:txBody>
      </p:sp>
    </p:spTree>
    <p:extLst>
      <p:ext uri="{BB962C8B-B14F-4D97-AF65-F5344CB8AC3E}">
        <p14:creationId xmlns:p14="http://schemas.microsoft.com/office/powerpoint/2010/main" val="23847166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B9B4FF-B06E-403C-A326-BDC64D8FF94E}"/>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247BDFCE-746E-45BF-A319-4733D58D16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9EDE2778-5372-4104-B96D-968184DA8288}"/>
              </a:ext>
            </a:extLst>
          </p:cNvPr>
          <p:cNvSpPr>
            <a:spLocks noGrp="1"/>
          </p:cNvSpPr>
          <p:nvPr>
            <p:ph type="dt" sz="half" idx="10"/>
          </p:nvPr>
        </p:nvSpPr>
        <p:spPr/>
        <p:txBody>
          <a:bodyPr/>
          <a:lstStyle/>
          <a:p>
            <a:fld id="{63289F7E-B80B-496E-81B4-D396C37C9454}" type="datetimeFigureOut">
              <a:rPr lang="pt-BR" smtClean="0"/>
              <a:t>21/09/2026</a:t>
            </a:fld>
            <a:endParaRPr lang="pt-BR"/>
          </a:p>
        </p:txBody>
      </p:sp>
      <p:sp>
        <p:nvSpPr>
          <p:cNvPr id="5" name="Espaço Reservado para Rodapé 4">
            <a:extLst>
              <a:ext uri="{FF2B5EF4-FFF2-40B4-BE49-F238E27FC236}">
                <a16:creationId xmlns:a16="http://schemas.microsoft.com/office/drawing/2014/main" id="{C1DD0F41-C861-4051-988D-3024A37A4B93}"/>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07E5967E-D980-431A-A5DB-3F0C5030A81E}"/>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6497542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BD44A5-8F21-4626-A01D-48A1C874B1D5}"/>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B79E8085-65A9-48AA-951D-71D978BFF4ED}"/>
              </a:ext>
            </a:extLst>
          </p:cNvPr>
          <p:cNvSpPr>
            <a:spLocks noGrp="1"/>
          </p:cNvSpPr>
          <p:nvPr>
            <p:ph idx="1"/>
          </p:nvPr>
        </p:nvSpPr>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F05BE1AF-51EA-425D-B188-DE7BD675009F}"/>
              </a:ext>
            </a:extLst>
          </p:cNvPr>
          <p:cNvSpPr>
            <a:spLocks noGrp="1"/>
          </p:cNvSpPr>
          <p:nvPr>
            <p:ph type="dt" sz="half" idx="10"/>
          </p:nvPr>
        </p:nvSpPr>
        <p:spPr/>
        <p:txBody>
          <a:bodyPr/>
          <a:lstStyle/>
          <a:p>
            <a:fld id="{63289F7E-B80B-496E-81B4-D396C37C9454}" type="datetimeFigureOut">
              <a:rPr lang="pt-BR" smtClean="0"/>
              <a:t>21/09/2026</a:t>
            </a:fld>
            <a:endParaRPr lang="pt-BR"/>
          </a:p>
        </p:txBody>
      </p:sp>
      <p:sp>
        <p:nvSpPr>
          <p:cNvPr id="5" name="Espaço Reservado para Rodapé 4">
            <a:extLst>
              <a:ext uri="{FF2B5EF4-FFF2-40B4-BE49-F238E27FC236}">
                <a16:creationId xmlns:a16="http://schemas.microsoft.com/office/drawing/2014/main" id="{121BE632-29CF-4CB9-B365-C9EF38F89BE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60CF3DD1-9AEC-4A57-B461-4E4DD86FAC18}"/>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6879079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AB2FF0-A4D7-4E28-991D-FF26140D5988}"/>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E2AC45B0-4145-40DB-8E61-1054611706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Editar estilos de texto Mestre</a:t>
            </a:r>
          </a:p>
        </p:txBody>
      </p:sp>
      <p:sp>
        <p:nvSpPr>
          <p:cNvPr id="4" name="Espaço Reservado para Data 3">
            <a:extLst>
              <a:ext uri="{FF2B5EF4-FFF2-40B4-BE49-F238E27FC236}">
                <a16:creationId xmlns:a16="http://schemas.microsoft.com/office/drawing/2014/main" id="{50F1D3FB-740A-4EBA-A309-2CE71D12ECFB}"/>
              </a:ext>
            </a:extLst>
          </p:cNvPr>
          <p:cNvSpPr>
            <a:spLocks noGrp="1"/>
          </p:cNvSpPr>
          <p:nvPr>
            <p:ph type="dt" sz="half" idx="10"/>
          </p:nvPr>
        </p:nvSpPr>
        <p:spPr/>
        <p:txBody>
          <a:bodyPr/>
          <a:lstStyle/>
          <a:p>
            <a:fld id="{63289F7E-B80B-496E-81B4-D396C37C9454}" type="datetimeFigureOut">
              <a:rPr lang="pt-BR" smtClean="0"/>
              <a:t>21/09/2026</a:t>
            </a:fld>
            <a:endParaRPr lang="pt-BR"/>
          </a:p>
        </p:txBody>
      </p:sp>
      <p:sp>
        <p:nvSpPr>
          <p:cNvPr id="5" name="Espaço Reservado para Rodapé 4">
            <a:extLst>
              <a:ext uri="{FF2B5EF4-FFF2-40B4-BE49-F238E27FC236}">
                <a16:creationId xmlns:a16="http://schemas.microsoft.com/office/drawing/2014/main" id="{BDCAB18F-8715-4465-A940-F9C193A2ACE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353466C6-8248-429F-8056-FF040BF509EB}"/>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465227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BB9F0-F14B-4A91-B2B7-35BC47FE4DE7}"/>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EC1FC1C4-73DA-47A6-8496-B0B457F7D39A}"/>
              </a:ext>
            </a:extLst>
          </p:cNvPr>
          <p:cNvSpPr>
            <a:spLocks noGrp="1"/>
          </p:cNvSpPr>
          <p:nvPr>
            <p:ph sz="half" idx="1"/>
          </p:nvPr>
        </p:nvSpPr>
        <p:spPr>
          <a:xfrm>
            <a:off x="838200" y="1825625"/>
            <a:ext cx="51816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E92F06A8-A449-4D92-9912-76873E529B38}"/>
              </a:ext>
            </a:extLst>
          </p:cNvPr>
          <p:cNvSpPr>
            <a:spLocks noGrp="1"/>
          </p:cNvSpPr>
          <p:nvPr>
            <p:ph sz="half" idx="2"/>
          </p:nvPr>
        </p:nvSpPr>
        <p:spPr>
          <a:xfrm>
            <a:off x="6172200" y="1825625"/>
            <a:ext cx="51816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938070A4-BC2F-4D55-BD8D-DEAF11BB9EE9}"/>
              </a:ext>
            </a:extLst>
          </p:cNvPr>
          <p:cNvSpPr>
            <a:spLocks noGrp="1"/>
          </p:cNvSpPr>
          <p:nvPr>
            <p:ph type="dt" sz="half" idx="10"/>
          </p:nvPr>
        </p:nvSpPr>
        <p:spPr/>
        <p:txBody>
          <a:bodyPr/>
          <a:lstStyle/>
          <a:p>
            <a:fld id="{63289F7E-B80B-496E-81B4-D396C37C9454}" type="datetimeFigureOut">
              <a:rPr lang="pt-BR" smtClean="0"/>
              <a:t>21/09/2026</a:t>
            </a:fld>
            <a:endParaRPr lang="pt-BR"/>
          </a:p>
        </p:txBody>
      </p:sp>
      <p:sp>
        <p:nvSpPr>
          <p:cNvPr id="6" name="Espaço Reservado para Rodapé 5">
            <a:extLst>
              <a:ext uri="{FF2B5EF4-FFF2-40B4-BE49-F238E27FC236}">
                <a16:creationId xmlns:a16="http://schemas.microsoft.com/office/drawing/2014/main" id="{45CC2DB8-844A-465F-BA9A-7734C80C7F43}"/>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4CC606A8-097B-4040-94E0-CD8C88280D8F}"/>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898544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D66686-0143-4CB6-8C09-BA326F1E7ACA}"/>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0227AB85-F59E-4BCE-B846-4FA0992C2F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4" name="Espaço Reservado para Conteúdo 3">
            <a:extLst>
              <a:ext uri="{FF2B5EF4-FFF2-40B4-BE49-F238E27FC236}">
                <a16:creationId xmlns:a16="http://schemas.microsoft.com/office/drawing/2014/main" id="{3373456C-7319-4D0A-827D-D29F6B083F5D}"/>
              </a:ext>
            </a:extLst>
          </p:cNvPr>
          <p:cNvSpPr>
            <a:spLocks noGrp="1"/>
          </p:cNvSpPr>
          <p:nvPr>
            <p:ph sz="half" idx="2"/>
          </p:nvPr>
        </p:nvSpPr>
        <p:spPr>
          <a:xfrm>
            <a:off x="839788" y="2505075"/>
            <a:ext cx="5157787"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4CD109D0-2E83-4262-8029-A871CEC474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6" name="Espaço Reservado para Conteúdo 5">
            <a:extLst>
              <a:ext uri="{FF2B5EF4-FFF2-40B4-BE49-F238E27FC236}">
                <a16:creationId xmlns:a16="http://schemas.microsoft.com/office/drawing/2014/main" id="{AD706E3A-CFBB-4A6C-A65F-D0360A9E74FE}"/>
              </a:ext>
            </a:extLst>
          </p:cNvPr>
          <p:cNvSpPr>
            <a:spLocks noGrp="1"/>
          </p:cNvSpPr>
          <p:nvPr>
            <p:ph sz="quarter" idx="4"/>
          </p:nvPr>
        </p:nvSpPr>
        <p:spPr>
          <a:xfrm>
            <a:off x="6172200" y="2505075"/>
            <a:ext cx="5183188"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4172C0E5-5AF0-4805-BB51-443733CD2BD5}"/>
              </a:ext>
            </a:extLst>
          </p:cNvPr>
          <p:cNvSpPr>
            <a:spLocks noGrp="1"/>
          </p:cNvSpPr>
          <p:nvPr>
            <p:ph type="dt" sz="half" idx="10"/>
          </p:nvPr>
        </p:nvSpPr>
        <p:spPr/>
        <p:txBody>
          <a:bodyPr/>
          <a:lstStyle/>
          <a:p>
            <a:fld id="{63289F7E-B80B-496E-81B4-D396C37C9454}" type="datetimeFigureOut">
              <a:rPr lang="pt-BR" smtClean="0"/>
              <a:t>21/09/2026</a:t>
            </a:fld>
            <a:endParaRPr lang="pt-BR"/>
          </a:p>
        </p:txBody>
      </p:sp>
      <p:sp>
        <p:nvSpPr>
          <p:cNvPr id="8" name="Espaço Reservado para Rodapé 7">
            <a:extLst>
              <a:ext uri="{FF2B5EF4-FFF2-40B4-BE49-F238E27FC236}">
                <a16:creationId xmlns:a16="http://schemas.microsoft.com/office/drawing/2014/main" id="{0E801648-156F-497E-99CF-797DF48051E1}"/>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EEE23D32-80E7-4796-A137-66BF842E4B53}"/>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72245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CE2379-C78F-47E1-8CFC-B846E7AF148D}"/>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342600A9-7F92-4E22-9D94-E4717252A817}"/>
              </a:ext>
            </a:extLst>
          </p:cNvPr>
          <p:cNvSpPr>
            <a:spLocks noGrp="1"/>
          </p:cNvSpPr>
          <p:nvPr>
            <p:ph type="dt" sz="half" idx="10"/>
          </p:nvPr>
        </p:nvSpPr>
        <p:spPr/>
        <p:txBody>
          <a:bodyPr/>
          <a:lstStyle/>
          <a:p>
            <a:fld id="{63289F7E-B80B-496E-81B4-D396C37C9454}" type="datetimeFigureOut">
              <a:rPr lang="pt-BR" smtClean="0"/>
              <a:t>21/09/2026</a:t>
            </a:fld>
            <a:endParaRPr lang="pt-BR"/>
          </a:p>
        </p:txBody>
      </p:sp>
      <p:sp>
        <p:nvSpPr>
          <p:cNvPr id="4" name="Espaço Reservado para Rodapé 3">
            <a:extLst>
              <a:ext uri="{FF2B5EF4-FFF2-40B4-BE49-F238E27FC236}">
                <a16:creationId xmlns:a16="http://schemas.microsoft.com/office/drawing/2014/main" id="{192E6BED-F546-40CC-A2DF-99CBA853654E}"/>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6091CC40-A8C4-4063-80EB-CC5099621678}"/>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2441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DD19515C-212C-4EAE-84A3-8FF4BC844F1B}"/>
              </a:ext>
            </a:extLst>
          </p:cNvPr>
          <p:cNvSpPr>
            <a:spLocks noGrp="1"/>
          </p:cNvSpPr>
          <p:nvPr>
            <p:ph type="dt" sz="half" idx="10"/>
          </p:nvPr>
        </p:nvSpPr>
        <p:spPr/>
        <p:txBody>
          <a:bodyPr/>
          <a:lstStyle/>
          <a:p>
            <a:fld id="{63289F7E-B80B-496E-81B4-D396C37C9454}" type="datetimeFigureOut">
              <a:rPr lang="pt-BR" smtClean="0"/>
              <a:t>21/09/2026</a:t>
            </a:fld>
            <a:endParaRPr lang="pt-BR"/>
          </a:p>
        </p:txBody>
      </p:sp>
      <p:sp>
        <p:nvSpPr>
          <p:cNvPr id="3" name="Espaço Reservado para Rodapé 2">
            <a:extLst>
              <a:ext uri="{FF2B5EF4-FFF2-40B4-BE49-F238E27FC236}">
                <a16:creationId xmlns:a16="http://schemas.microsoft.com/office/drawing/2014/main" id="{94D3D120-B3E8-4C96-861D-7A4F12F49B3A}"/>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42E49B68-FA1B-468B-9F17-D5C09243D454}"/>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1812321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17BCBE-A897-4319-85EC-D87909C24980}"/>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4226F885-0204-4913-868B-4B8B82576F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00F9F784-A858-441B-8AB5-6970981417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a:extLst>
              <a:ext uri="{FF2B5EF4-FFF2-40B4-BE49-F238E27FC236}">
                <a16:creationId xmlns:a16="http://schemas.microsoft.com/office/drawing/2014/main" id="{A4DC363A-5000-472E-8B17-02E7DCB8840A}"/>
              </a:ext>
            </a:extLst>
          </p:cNvPr>
          <p:cNvSpPr>
            <a:spLocks noGrp="1"/>
          </p:cNvSpPr>
          <p:nvPr>
            <p:ph type="dt" sz="half" idx="10"/>
          </p:nvPr>
        </p:nvSpPr>
        <p:spPr/>
        <p:txBody>
          <a:bodyPr/>
          <a:lstStyle/>
          <a:p>
            <a:fld id="{63289F7E-B80B-496E-81B4-D396C37C9454}" type="datetimeFigureOut">
              <a:rPr lang="pt-BR" smtClean="0"/>
              <a:t>21/09/2026</a:t>
            </a:fld>
            <a:endParaRPr lang="pt-BR"/>
          </a:p>
        </p:txBody>
      </p:sp>
      <p:sp>
        <p:nvSpPr>
          <p:cNvPr id="6" name="Espaço Reservado para Rodapé 5">
            <a:extLst>
              <a:ext uri="{FF2B5EF4-FFF2-40B4-BE49-F238E27FC236}">
                <a16:creationId xmlns:a16="http://schemas.microsoft.com/office/drawing/2014/main" id="{5548425D-2C21-4C56-BAD4-662978775C28}"/>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C63E9726-E64C-42B2-AE8A-8C235A956B48}"/>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588610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086A78-3E74-450C-96A6-CA8AC37AF772}"/>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5F5B7312-975A-4DBC-9B2F-3652ADA006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AAF805F5-1DFF-41C6-944C-7D79FE0D09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a:extLst>
              <a:ext uri="{FF2B5EF4-FFF2-40B4-BE49-F238E27FC236}">
                <a16:creationId xmlns:a16="http://schemas.microsoft.com/office/drawing/2014/main" id="{02113D81-8665-4516-BD81-C6A1F254EECD}"/>
              </a:ext>
            </a:extLst>
          </p:cNvPr>
          <p:cNvSpPr>
            <a:spLocks noGrp="1"/>
          </p:cNvSpPr>
          <p:nvPr>
            <p:ph type="dt" sz="half" idx="10"/>
          </p:nvPr>
        </p:nvSpPr>
        <p:spPr/>
        <p:txBody>
          <a:bodyPr/>
          <a:lstStyle/>
          <a:p>
            <a:fld id="{63289F7E-B80B-496E-81B4-D396C37C9454}" type="datetimeFigureOut">
              <a:rPr lang="pt-BR" smtClean="0"/>
              <a:t>21/09/2026</a:t>
            </a:fld>
            <a:endParaRPr lang="pt-BR"/>
          </a:p>
        </p:txBody>
      </p:sp>
      <p:sp>
        <p:nvSpPr>
          <p:cNvPr id="6" name="Espaço Reservado para Rodapé 5">
            <a:extLst>
              <a:ext uri="{FF2B5EF4-FFF2-40B4-BE49-F238E27FC236}">
                <a16:creationId xmlns:a16="http://schemas.microsoft.com/office/drawing/2014/main" id="{2B00C88B-FF32-40AA-A187-727D96FD7862}"/>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A04D1A2D-69F7-4B8F-A730-BC26DC340BA6}"/>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034646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36C49F-3E68-4175-81BA-3C3FEE44308A}"/>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426FA736-3DD3-4D4E-B57B-BBE1D8F7D424}"/>
              </a:ext>
            </a:extLst>
          </p:cNvPr>
          <p:cNvSpPr>
            <a:spLocks noGrp="1"/>
          </p:cNvSpPr>
          <p:nvPr>
            <p:ph type="body" orient="vert" idx="1"/>
          </p:nvPr>
        </p:nvSpPr>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99E8855C-D8FD-48F6-B14E-861E0DE4D915}"/>
              </a:ext>
            </a:extLst>
          </p:cNvPr>
          <p:cNvSpPr>
            <a:spLocks noGrp="1"/>
          </p:cNvSpPr>
          <p:nvPr>
            <p:ph type="dt" sz="half" idx="10"/>
          </p:nvPr>
        </p:nvSpPr>
        <p:spPr/>
        <p:txBody>
          <a:bodyPr/>
          <a:lstStyle/>
          <a:p>
            <a:fld id="{63289F7E-B80B-496E-81B4-D396C37C9454}" type="datetimeFigureOut">
              <a:rPr lang="pt-BR" smtClean="0"/>
              <a:t>21/09/2026</a:t>
            </a:fld>
            <a:endParaRPr lang="pt-BR"/>
          </a:p>
        </p:txBody>
      </p:sp>
      <p:sp>
        <p:nvSpPr>
          <p:cNvPr id="5" name="Espaço Reservado para Rodapé 4">
            <a:extLst>
              <a:ext uri="{FF2B5EF4-FFF2-40B4-BE49-F238E27FC236}">
                <a16:creationId xmlns:a16="http://schemas.microsoft.com/office/drawing/2014/main" id="{97C0BB88-2F21-42A5-ACFF-83DA47F2D340}"/>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6CB462B3-1F22-4C05-B4B8-7A279FB7D5E9}"/>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553481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AEAB728-701C-4207-A9D5-23FF45C60502}"/>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BA8C8CCF-7823-480A-9A19-0F664DD17E3B}"/>
              </a:ext>
            </a:extLst>
          </p:cNvPr>
          <p:cNvSpPr>
            <a:spLocks noGrp="1"/>
          </p:cNvSpPr>
          <p:nvPr>
            <p:ph type="body" orient="vert" idx="1"/>
          </p:nvPr>
        </p:nvSpPr>
        <p:spPr>
          <a:xfrm>
            <a:off x="838200" y="365125"/>
            <a:ext cx="7734300" cy="5811838"/>
          </a:xfrm>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721D5734-7B1F-425D-942F-6EB73344027C}"/>
              </a:ext>
            </a:extLst>
          </p:cNvPr>
          <p:cNvSpPr>
            <a:spLocks noGrp="1"/>
          </p:cNvSpPr>
          <p:nvPr>
            <p:ph type="dt" sz="half" idx="10"/>
          </p:nvPr>
        </p:nvSpPr>
        <p:spPr/>
        <p:txBody>
          <a:bodyPr/>
          <a:lstStyle/>
          <a:p>
            <a:fld id="{63289F7E-B80B-496E-81B4-D396C37C9454}" type="datetimeFigureOut">
              <a:rPr lang="pt-BR" smtClean="0"/>
              <a:t>21/09/2026</a:t>
            </a:fld>
            <a:endParaRPr lang="pt-BR"/>
          </a:p>
        </p:txBody>
      </p:sp>
      <p:sp>
        <p:nvSpPr>
          <p:cNvPr id="5" name="Espaço Reservado para Rodapé 4">
            <a:extLst>
              <a:ext uri="{FF2B5EF4-FFF2-40B4-BE49-F238E27FC236}">
                <a16:creationId xmlns:a16="http://schemas.microsoft.com/office/drawing/2014/main" id="{1E1AAEAC-F08D-45FE-89EC-B1B349A868C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BAA44493-9911-47B2-87A6-C2141A972BC8}"/>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18245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E69A0273-1966-4A1B-9370-4C1CE50363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3B9CF87A-0448-49A7-AB25-EBC1D56A40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2EF7B1F2-BB5A-44D0-816D-16AD2C7143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289F7E-B80B-496E-81B4-D396C37C9454}" type="datetimeFigureOut">
              <a:rPr lang="pt-BR" smtClean="0"/>
              <a:t>21/09/2026</a:t>
            </a:fld>
            <a:endParaRPr lang="pt-BR"/>
          </a:p>
        </p:txBody>
      </p:sp>
      <p:sp>
        <p:nvSpPr>
          <p:cNvPr id="5" name="Espaço Reservado para Rodapé 4">
            <a:extLst>
              <a:ext uri="{FF2B5EF4-FFF2-40B4-BE49-F238E27FC236}">
                <a16:creationId xmlns:a16="http://schemas.microsoft.com/office/drawing/2014/main" id="{C703F94C-2CC8-4DAA-BC35-14FC3E841D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64051336-7048-457A-8B61-D94291D716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7E88B7-70CE-4035-AE73-13FA6FB985D4}" type="slidenum">
              <a:rPr lang="pt-BR" smtClean="0"/>
              <a:t>‹nº›</a:t>
            </a:fld>
            <a:endParaRPr lang="pt-BR"/>
          </a:p>
        </p:txBody>
      </p:sp>
    </p:spTree>
    <p:extLst>
      <p:ext uri="{BB962C8B-B14F-4D97-AF65-F5344CB8AC3E}">
        <p14:creationId xmlns:p14="http://schemas.microsoft.com/office/powerpoint/2010/main" val="28362929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felipe.figueiredo@Inatel.br"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4.png"/><Relationship Id="rId7" Type="http://schemas.openxmlformats.org/officeDocument/2006/relationships/image" Target="../media/image7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91.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40.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40.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40.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3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5.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20.png"/><Relationship Id="rId5" Type="http://schemas.openxmlformats.org/officeDocument/2006/relationships/image" Target="../media/image560.png"/><Relationship Id="rId4" Type="http://schemas.openxmlformats.org/officeDocument/2006/relationships/image" Target="../media/image55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660.png"/><Relationship Id="rId5" Type="http://schemas.openxmlformats.org/officeDocument/2006/relationships/image" Target="../media/image560.png"/><Relationship Id="rId4" Type="http://schemas.openxmlformats.org/officeDocument/2006/relationships/image" Target="../media/image550.png"/></Relationships>
</file>

<file path=ppt/slides/_rels/slide29.xml.rels><?xml version="1.0" encoding="UTF-8" standalone="yes"?>
<Relationships xmlns="http://schemas.openxmlformats.org/package/2006/relationships"><Relationship Id="rId7" Type="http://schemas.openxmlformats.org/officeDocument/2006/relationships/image" Target="../media/image37.pn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660.png"/><Relationship Id="rId5" Type="http://schemas.openxmlformats.org/officeDocument/2006/relationships/image" Target="../media/image560.png"/><Relationship Id="rId4" Type="http://schemas.openxmlformats.org/officeDocument/2006/relationships/image" Target="../media/image550.png"/></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7.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660.png"/><Relationship Id="rId5" Type="http://schemas.openxmlformats.org/officeDocument/2006/relationships/image" Target="../media/image560.png"/><Relationship Id="rId4" Type="http://schemas.openxmlformats.org/officeDocument/2006/relationships/image" Target="../media/image55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0.png"/><Relationship Id="rId4" Type="http://schemas.openxmlformats.org/officeDocument/2006/relationships/image" Target="../media/image50.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0.png"/><Relationship Id="rId4" Type="http://schemas.openxmlformats.org/officeDocument/2006/relationships/image" Target="../media/image50.png"/></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0.png"/><Relationship Id="rId4" Type="http://schemas.openxmlformats.org/officeDocument/2006/relationships/image" Target="../media/image50.png"/></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70.png"/><Relationship Id="rId4" Type="http://schemas.openxmlformats.org/officeDocument/2006/relationships/image" Target="../media/image60.png"/></Relationships>
</file>

<file path=ppt/slides/_rels/slide37.xml.rels><?xml version="1.0" encoding="UTF-8" standalone="yes"?>
<Relationships xmlns="http://schemas.openxmlformats.org/package/2006/relationships"><Relationship Id="rId8" Type="http://schemas.openxmlformats.org/officeDocument/2006/relationships/image" Target="../media/image190.png"/><Relationship Id="rId3" Type="http://schemas.openxmlformats.org/officeDocument/2006/relationships/image" Target="../media/image41.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171.png"/><Relationship Id="rId5" Type="http://schemas.openxmlformats.org/officeDocument/2006/relationships/image" Target="../media/image160.png"/><Relationship Id="rId4" Type="http://schemas.openxmlformats.org/officeDocument/2006/relationships/image" Target="../media/image150.png"/></Relationships>
</file>

<file path=ppt/slides/_rels/slide38.xml.rels><?xml version="1.0" encoding="UTF-8" standalone="yes"?>
<Relationships xmlns="http://schemas.openxmlformats.org/package/2006/relationships"><Relationship Id="rId8" Type="http://schemas.openxmlformats.org/officeDocument/2006/relationships/image" Target="../media/image190.png"/><Relationship Id="rId3" Type="http://schemas.openxmlformats.org/officeDocument/2006/relationships/image" Target="../media/image42.png"/><Relationship Id="rId7" Type="http://schemas.openxmlformats.org/officeDocument/2006/relationships/image" Target="../media/image180.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171.png"/><Relationship Id="rId5" Type="http://schemas.openxmlformats.org/officeDocument/2006/relationships/image" Target="../media/image160.png"/><Relationship Id="rId4" Type="http://schemas.openxmlformats.org/officeDocument/2006/relationships/image" Target="../media/image150.png"/></Relationships>
</file>

<file path=ppt/slides/_rels/slide39.xml.rels><?xml version="1.0" encoding="UTF-8" standalone="yes"?>
<Relationships xmlns="http://schemas.openxmlformats.org/package/2006/relationships"><Relationship Id="rId8" Type="http://schemas.openxmlformats.org/officeDocument/2006/relationships/image" Target="../media/image190.png"/><Relationship Id="rId3" Type="http://schemas.openxmlformats.org/officeDocument/2006/relationships/image" Target="../media/image43.png"/><Relationship Id="rId7" Type="http://schemas.openxmlformats.org/officeDocument/2006/relationships/image" Target="../media/image180.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171.png"/><Relationship Id="rId5" Type="http://schemas.openxmlformats.org/officeDocument/2006/relationships/image" Target="../media/image160.png"/><Relationship Id="rId4" Type="http://schemas.openxmlformats.org/officeDocument/2006/relationships/image" Target="../media/image150.png"/><Relationship Id="rId9" Type="http://schemas.openxmlformats.org/officeDocument/2006/relationships/image" Target="../media/image200.png"/></Relationships>
</file>

<file path=ppt/slides/_rels/slide40.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 Id="rId9" Type="http://schemas.openxmlformats.org/officeDocument/2006/relationships/image" Target="../media/image200.png"/></Relationships>
</file>

<file path=ppt/slides/_rels/slide41.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 Id="rId9" Type="http://schemas.openxmlformats.org/officeDocument/2006/relationships/image" Target="../media/image200.png"/></Relationships>
</file>

<file path=ppt/slides/_rels/slide42.xml.rels><?xml version="1.0" encoding="UTF-8" standalone="yes"?>
<Relationships xmlns="http://schemas.openxmlformats.org/package/2006/relationships"><Relationship Id="rId8" Type="http://schemas.openxmlformats.org/officeDocument/2006/relationships/image" Target="../media/image220.png"/><Relationship Id="rId3" Type="http://schemas.openxmlformats.org/officeDocument/2006/relationships/image" Target="../media/image150.png"/><Relationship Id="rId7" Type="http://schemas.openxmlformats.org/officeDocument/2006/relationships/image" Target="../media/image210.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180.png"/><Relationship Id="rId5" Type="http://schemas.openxmlformats.org/officeDocument/2006/relationships/image" Target="../media/image171.png"/><Relationship Id="rId10" Type="http://schemas.openxmlformats.org/officeDocument/2006/relationships/image" Target="../media/image240.png"/><Relationship Id="rId4" Type="http://schemas.openxmlformats.org/officeDocument/2006/relationships/image" Target="../media/image160.png"/><Relationship Id="rId9" Type="http://schemas.openxmlformats.org/officeDocument/2006/relationships/image" Target="../media/image230.png"/></Relationships>
</file>

<file path=ppt/slides/_rels/slide43.xml.rels><?xml version="1.0" encoding="UTF-8" standalone="yes"?>
<Relationships xmlns="http://schemas.openxmlformats.org/package/2006/relationships"><Relationship Id="rId3" Type="http://schemas.openxmlformats.org/officeDocument/2006/relationships/image" Target="../media/image431.png"/><Relationship Id="rId2" Type="http://schemas.openxmlformats.org/officeDocument/2006/relationships/image" Target="../media/image510.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4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171.png"/><Relationship Id="rId5" Type="http://schemas.openxmlformats.org/officeDocument/2006/relationships/image" Target="../media/image160.png"/><Relationship Id="rId4" Type="http://schemas.openxmlformats.org/officeDocument/2006/relationships/image" Target="../media/image150.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171.png"/><Relationship Id="rId5" Type="http://schemas.openxmlformats.org/officeDocument/2006/relationships/image" Target="../media/image160.png"/><Relationship Id="rId4" Type="http://schemas.openxmlformats.org/officeDocument/2006/relationships/image" Target="../media/image150.png"/></Relationships>
</file>

<file path=ppt/slides/_rels/slide46.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171.png"/><Relationship Id="rId4" Type="http://schemas.openxmlformats.org/officeDocument/2006/relationships/image" Target="../media/image160.png"/></Relationships>
</file>

<file path=ppt/slides/_rels/slide47.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171.png"/><Relationship Id="rId4" Type="http://schemas.openxmlformats.org/officeDocument/2006/relationships/image" Target="../media/image160.png"/></Relationships>
</file>

<file path=ppt/slides/_rels/slide48.xml.rels><?xml version="1.0" encoding="UTF-8" standalone="yes"?>
<Relationships xmlns="http://schemas.openxmlformats.org/package/2006/relationships"><Relationship Id="rId3" Type="http://schemas.openxmlformats.org/officeDocument/2006/relationships/image" Target="../media/image261.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281.png"/><Relationship Id="rId4" Type="http://schemas.openxmlformats.org/officeDocument/2006/relationships/image" Target="../media/image271.png"/></Relationships>
</file>

<file path=ppt/slides/_rels/slide49.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171.png"/><Relationship Id="rId4" Type="http://schemas.openxmlformats.org/officeDocument/2006/relationships/image" Target="../media/image160.png"/></Relationships>
</file>

<file path=ppt/slides/_rels/slide50.xml.rels><?xml version="1.0" encoding="UTF-8" standalone="yes"?>
<Relationships xmlns="http://schemas.openxmlformats.org/package/2006/relationships"><Relationship Id="rId3" Type="http://schemas.openxmlformats.org/officeDocument/2006/relationships/image" Target="../media/image461.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481.png"/><Relationship Id="rId4" Type="http://schemas.openxmlformats.org/officeDocument/2006/relationships/image" Target="../media/image472.png"/></Relationships>
</file>

<file path=ppt/slides/_rels/slide51.xml.rels><?xml version="1.0" encoding="UTF-8" standalone="yes"?>
<Relationships xmlns="http://schemas.openxmlformats.org/package/2006/relationships"><Relationship Id="rId3" Type="http://schemas.openxmlformats.org/officeDocument/2006/relationships/image" Target="../media/image542.png"/><Relationship Id="rId2" Type="http://schemas.openxmlformats.org/officeDocument/2006/relationships/image" Target="../media/image57.gi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90.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60.jpeg"/></Relationships>
</file>

<file path=ppt/slides/_rels/slide64.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10.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55.xml"/><Relationship Id="rId1" Type="http://schemas.openxmlformats.org/officeDocument/2006/relationships/slideLayout" Target="../slideLayouts/slideLayout2.xml"/><Relationship Id="rId5" Type="http://schemas.openxmlformats.org/officeDocument/2006/relationships/image" Target="../media/image67.png"/><Relationship Id="rId4" Type="http://schemas.openxmlformats.org/officeDocument/2006/relationships/image" Target="../media/image620.png"/></Relationships>
</file>

<file path=ppt/slides/_rels/slide7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56.xml"/><Relationship Id="rId1" Type="http://schemas.openxmlformats.org/officeDocument/2006/relationships/slideLayout" Target="../slideLayouts/slideLayout2.xml"/><Relationship Id="rId5" Type="http://schemas.openxmlformats.org/officeDocument/2006/relationships/image" Target="../media/image620.png"/><Relationship Id="rId4" Type="http://schemas.openxmlformats.org/officeDocument/2006/relationships/image" Target="../media/image67.png"/></Relationships>
</file>

<file path=ppt/slides/_rels/slide7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78.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media/image651.png"/><Relationship Id="rId4" Type="http://schemas.openxmlformats.org/officeDocument/2006/relationships/image" Target="../media/image78.png"/></Relationships>
</file>

<file path=ppt/slides/_rels/slide8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hyperlink" Target="https://colab.research.google.com/github/zz4fap/c24_inteligencia_artificial/blob/master/notebooks/regress&#227;o.ipynb" TargetMode="External"/><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image" Target="../media/image76.jpeg"/><Relationship Id="rId4" Type="http://schemas.openxmlformats.org/officeDocument/2006/relationships/image" Target="../media/image75.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hyperlink" Target="https://github.com/zz4fap/c24_inteligencia_artificial/blob/main/listas/Lista%205%20-%20Regress%C3%A3o.pdf" TargetMode="Externa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520.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420.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430.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440.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450.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460.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470.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480.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490.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471.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11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11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72.xml"/><Relationship Id="rId1" Type="http://schemas.openxmlformats.org/officeDocument/2006/relationships/slideLayout" Target="../slideLayouts/slideLayout2.xml"/><Relationship Id="rId5" Type="http://schemas.openxmlformats.org/officeDocument/2006/relationships/image" Target="NULL"/><Relationship Id="rId4" Type="http://schemas.openxmlformats.org/officeDocument/2006/relationships/image" Target="../media/image83.png"/></Relationships>
</file>

<file path=ppt/slides/_rels/slide115.xml.rels><?xml version="1.0" encoding="UTF-8" standalone="yes"?>
<Relationships xmlns="http://schemas.openxmlformats.org/package/2006/relationships"><Relationship Id="rId3" Type="http://schemas.openxmlformats.org/officeDocument/2006/relationships/image" Target="NULL"/><Relationship Id="rId7" Type="http://schemas.openxmlformats.org/officeDocument/2006/relationships/image" Target="../media/image86.png"/><Relationship Id="rId2" Type="http://schemas.openxmlformats.org/officeDocument/2006/relationships/notesSlide" Target="../notesSlides/notesSlide73.xml"/><Relationship Id="rId1" Type="http://schemas.openxmlformats.org/officeDocument/2006/relationships/slideLayout" Target="../slideLayouts/slideLayout2.xml"/><Relationship Id="rId6" Type="http://schemas.openxmlformats.org/officeDocument/2006/relationships/image" Target="../media/image84.png"/><Relationship Id="rId5" Type="http://schemas.openxmlformats.org/officeDocument/2006/relationships/image" Target="NULL"/><Relationship Id="rId4" Type="http://schemas.openxmlformats.org/officeDocument/2006/relationships/image" Target="NULL"/></Relationships>
</file>

<file path=ppt/slides/_rels/slide116.xml.rels><?xml version="1.0" encoding="UTF-8" standalone="yes"?>
<Relationships xmlns="http://schemas.openxmlformats.org/package/2006/relationships"><Relationship Id="rId3" Type="http://schemas.openxmlformats.org/officeDocument/2006/relationships/image" Target="../media/image670.png"/><Relationship Id="rId2" Type="http://schemas.openxmlformats.org/officeDocument/2006/relationships/notesSlide" Target="../notesSlides/notesSlide74.xml"/><Relationship Id="rId1" Type="http://schemas.openxmlformats.org/officeDocument/2006/relationships/slideLayout" Target="../slideLayouts/slideLayout2.xml"/><Relationship Id="rId6" Type="http://schemas.openxmlformats.org/officeDocument/2006/relationships/image" Target="../media/image87.png"/><Relationship Id="rId5" Type="http://schemas.openxmlformats.org/officeDocument/2006/relationships/image" Target="../media/image711.png"/><Relationship Id="rId4" Type="http://schemas.openxmlformats.org/officeDocument/2006/relationships/image" Target="../media/image70.png"/></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76.xml"/><Relationship Id="rId1" Type="http://schemas.openxmlformats.org/officeDocument/2006/relationships/slideLayout" Target="../slideLayouts/slideLayout2.xml"/><Relationship Id="rId5" Type="http://schemas.openxmlformats.org/officeDocument/2006/relationships/image" Target="NULL"/><Relationship Id="rId4" Type="http://schemas.openxmlformats.org/officeDocument/2006/relationships/image" Target="../media/image88.png"/></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800.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820.png"/><Relationship Id="rId2" Type="http://schemas.openxmlformats.org/officeDocument/2006/relationships/notesSlide" Target="../notesSlides/notesSlide82.xml"/><Relationship Id="rId1" Type="http://schemas.openxmlformats.org/officeDocument/2006/relationships/slideLayout" Target="../slideLayouts/slideLayout2.xml"/><Relationship Id="rId5" Type="http://schemas.openxmlformats.org/officeDocument/2006/relationships/image" Target="../media/image93.png"/><Relationship Id="rId4" Type="http://schemas.openxmlformats.org/officeDocument/2006/relationships/image" Target="../media/image92.png"/></Relationships>
</file>

<file path=ppt/slides/_rels/slide125.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83.xml"/><Relationship Id="rId1" Type="http://schemas.openxmlformats.org/officeDocument/2006/relationships/slideLayout" Target="../slideLayouts/slideLayout2.xml"/><Relationship Id="rId4" Type="http://schemas.openxmlformats.org/officeDocument/2006/relationships/image" Target="../media/image93.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630.png"/><Relationship Id="rId2" Type="http://schemas.openxmlformats.org/officeDocument/2006/relationships/image" Target="../media/image610.png"/><Relationship Id="rId1" Type="http://schemas.openxmlformats.org/officeDocument/2006/relationships/slideLayout" Target="../slideLayouts/slideLayout2.xml"/><Relationship Id="rId6" Type="http://schemas.openxmlformats.org/officeDocument/2006/relationships/image" Target="../media/image661.png"/><Relationship Id="rId5" Type="http://schemas.openxmlformats.org/officeDocument/2006/relationships/image" Target="../media/image650.png"/><Relationship Id="rId4" Type="http://schemas.openxmlformats.org/officeDocument/2006/relationships/image" Target="../media/image6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430EB894-B7D4-434C-9D1A-A14094D9BEEC}"/>
              </a:ext>
            </a:extLst>
          </p:cNvPr>
          <p:cNvSpPr txBox="1"/>
          <p:nvPr/>
        </p:nvSpPr>
        <p:spPr>
          <a:xfrm>
            <a:off x="7915801" y="5780602"/>
            <a:ext cx="4004345" cy="677108"/>
          </a:xfrm>
          <a:prstGeom prst="rect">
            <a:avLst/>
          </a:prstGeom>
          <a:noFill/>
        </p:spPr>
        <p:txBody>
          <a:bodyPr wrap="square" rtlCol="0">
            <a:spAutoFit/>
          </a:bodyPr>
          <a:lstStyle/>
          <a:p>
            <a:r>
              <a:rPr lang="pt-BR" sz="2000" dirty="0"/>
              <a:t>Felipe A. P. de Figueiredo</a:t>
            </a:r>
          </a:p>
          <a:p>
            <a:r>
              <a:rPr lang="pt-BR" dirty="0">
                <a:hlinkClick r:id="rId3"/>
              </a:rPr>
              <a:t>felipe.figueiredo@Inatel.br</a:t>
            </a:r>
            <a:endParaRPr lang="pt-BR" dirty="0"/>
          </a:p>
        </p:txBody>
      </p:sp>
      <p:pic>
        <p:nvPicPr>
          <p:cNvPr id="1026" name="Picture 2" descr="Logo">
            <a:extLst>
              <a:ext uri="{FF2B5EF4-FFF2-40B4-BE49-F238E27FC236}">
                <a16:creationId xmlns:a16="http://schemas.microsoft.com/office/drawing/2014/main" id="{3F2642E0-4F6A-4196-8F58-E77D36E9A33F}"/>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28759" b="28872"/>
          <a:stretch/>
        </p:blipFill>
        <p:spPr bwMode="auto">
          <a:xfrm>
            <a:off x="393306" y="5780602"/>
            <a:ext cx="2261388" cy="677109"/>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Image result for machine learning">
            <a:extLst>
              <a:ext uri="{FF2B5EF4-FFF2-40B4-BE49-F238E27FC236}">
                <a16:creationId xmlns:a16="http://schemas.microsoft.com/office/drawing/2014/main" id="{810CE0A2-4102-44A6-A370-175E7896CDCB}"/>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20193" t="8107" r="14530" b="5794"/>
          <a:stretch/>
        </p:blipFill>
        <p:spPr bwMode="auto">
          <a:xfrm>
            <a:off x="4965305" y="3439886"/>
            <a:ext cx="2261389" cy="2237061"/>
          </a:xfrm>
          <a:prstGeom prst="rect">
            <a:avLst/>
          </a:prstGeom>
          <a:noFill/>
          <a:extLst>
            <a:ext uri="{909E8E84-426E-40DD-AFC4-6F175D3DCCD1}">
              <a14:hiddenFill xmlns:a14="http://schemas.microsoft.com/office/drawing/2010/main">
                <a:solidFill>
                  <a:srgbClr val="FFFFFF"/>
                </a:solidFill>
              </a14:hiddenFill>
            </a:ext>
          </a:extLst>
        </p:spPr>
      </p:pic>
      <p:sp>
        <p:nvSpPr>
          <p:cNvPr id="7" name="Título 1">
            <a:extLst>
              <a:ext uri="{FF2B5EF4-FFF2-40B4-BE49-F238E27FC236}">
                <a16:creationId xmlns:a16="http://schemas.microsoft.com/office/drawing/2014/main" id="{32666AC8-2E17-4DB4-B0F5-60C640CCFD2E}"/>
              </a:ext>
            </a:extLst>
          </p:cNvPr>
          <p:cNvSpPr>
            <a:spLocks noGrp="1"/>
          </p:cNvSpPr>
          <p:nvPr>
            <p:ph type="ctrTitle"/>
          </p:nvPr>
        </p:nvSpPr>
        <p:spPr>
          <a:xfrm>
            <a:off x="631767" y="836433"/>
            <a:ext cx="10906298" cy="2690156"/>
          </a:xfrm>
        </p:spPr>
        <p:txBody>
          <a:bodyPr anchor="ctr">
            <a:noAutofit/>
          </a:bodyPr>
          <a:lstStyle/>
          <a:p>
            <a:r>
              <a:rPr lang="pt-BR" sz="6600" dirty="0"/>
              <a:t>C24 – Inteligência Artificial:</a:t>
            </a:r>
            <a:br>
              <a:rPr lang="pt-BR" sz="7200" dirty="0"/>
            </a:br>
            <a:r>
              <a:rPr lang="pt-BR" sz="7200" b="1" i="1" dirty="0"/>
              <a:t>Regressão</a:t>
            </a:r>
          </a:p>
        </p:txBody>
      </p:sp>
    </p:spTree>
    <p:extLst>
      <p:ext uri="{BB962C8B-B14F-4D97-AF65-F5344CB8AC3E}">
        <p14:creationId xmlns:p14="http://schemas.microsoft.com/office/powerpoint/2010/main" val="6866526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Regressão</a:t>
            </a:r>
            <a:endParaRPr lang="en-US" dirty="0"/>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a:xfrm>
                <a:off x="5772150" y="1825624"/>
                <a:ext cx="6329539" cy="5032375"/>
              </a:xfrm>
            </p:spPr>
            <p:txBody>
              <a:bodyPr/>
              <a:lstStyle/>
              <a:p>
                <a:r>
                  <a:rPr lang="pt-BR" dirty="0"/>
                  <a:t>Tarefa (ou problema) de </a:t>
                </a:r>
                <a:r>
                  <a:rPr lang="pt-BR" b="1" dirty="0">
                    <a:solidFill>
                      <a:schemeClr val="accent2"/>
                    </a:solidFill>
                  </a:rPr>
                  <a:t>aprendizado supervisionado</a:t>
                </a:r>
                <a:r>
                  <a:rPr lang="pt-BR" dirty="0"/>
                  <a:t>.</a:t>
                </a:r>
              </a:p>
              <a:p>
                <a:pPr lvl="1">
                  <a:buFont typeface="Wingdings" panose="05000000000000000000" pitchFamily="2" charset="2"/>
                  <a:buChar char="§"/>
                </a:pPr>
                <a:r>
                  <a:rPr lang="pt-BR" dirty="0"/>
                  <a:t>Os valores de entradas (atributos) e saídas esperadas (rótulos) são conhecidos.</a:t>
                </a:r>
              </a:p>
              <a:p>
                <a:r>
                  <a:rPr lang="pt-BR" dirty="0"/>
                  <a:t>Envolve encontrar uma função, </a:t>
                </a:r>
                <a14:m>
                  <m:oMath xmlns:m="http://schemas.openxmlformats.org/officeDocument/2006/math">
                    <m:r>
                      <a:rPr lang="pt-BR" b="0" i="1" smtClean="0">
                        <a:latin typeface="Cambria Math" panose="02040503050406030204" pitchFamily="18" charset="0"/>
                      </a:rPr>
                      <m:t>ℎ</m:t>
                    </m:r>
                    <m:r>
                      <a:rPr lang="pt-BR" i="1" smtClean="0">
                        <a:latin typeface="Cambria Math" panose="02040503050406030204" pitchFamily="18" charset="0"/>
                      </a:rPr>
                      <m:t>(</m:t>
                    </m:r>
                    <m:r>
                      <a:rPr lang="pt-BR" b="1" i="1" smtClean="0">
                        <a:latin typeface="Cambria Math" panose="02040503050406030204" pitchFamily="18" charset="0"/>
                      </a:rPr>
                      <m:t>𝒙</m:t>
                    </m:r>
                    <m:r>
                      <a:rPr lang="pt-BR" i="1" smtClean="0">
                        <a:latin typeface="Cambria Math" panose="02040503050406030204" pitchFamily="18" charset="0"/>
                      </a:rPr>
                      <m:t>)</m:t>
                    </m:r>
                  </m:oMath>
                </a14:m>
                <a:r>
                  <a:rPr lang="pt-BR" dirty="0"/>
                  <a:t>, que </a:t>
                </a:r>
                <a:r>
                  <a:rPr lang="pt-BR" b="1" dirty="0">
                    <a:solidFill>
                      <a:srgbClr val="7030A0"/>
                    </a:solidFill>
                  </a:rPr>
                  <a:t>mapeie</a:t>
                </a:r>
                <a:r>
                  <a:rPr lang="pt-BR" dirty="0"/>
                  <a:t> os atributos em </a:t>
                </a:r>
                <a:r>
                  <a:rPr lang="pt-BR" b="1" dirty="0">
                    <a:solidFill>
                      <a:schemeClr val="accent2"/>
                    </a:solidFill>
                  </a:rPr>
                  <a:t>valores reais.</a:t>
                </a:r>
                <a:endParaRPr lang="en-US"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xfrm>
                <a:off x="5772150" y="1825624"/>
                <a:ext cx="6329539" cy="5032375"/>
              </a:xfrm>
              <a:blipFill>
                <a:blip r:embed="rId2"/>
                <a:stretch>
                  <a:fillRect l="-1734" t="-1937"/>
                </a:stretch>
              </a:blipFill>
            </p:spPr>
            <p:txBody>
              <a:bodyPr/>
              <a:lstStyle/>
              <a:p>
                <a:r>
                  <a:rPr lang="en-US">
                    <a:noFill/>
                  </a:rPr>
                  <a:t> </a:t>
                </a:r>
              </a:p>
            </p:txBody>
          </p:sp>
        </mc:Fallback>
      </mc:AlternateContent>
      <p:pic>
        <p:nvPicPr>
          <p:cNvPr id="5" name="Picture 2" descr="https://miro.medium.com/max/1276/1*4sixxtuD8unWceZ-yp9TgQ.jpeg"/>
          <p:cNvPicPr>
            <a:picLocks noChangeAspect="1" noChangeArrowheads="1"/>
          </p:cNvPicPr>
          <p:nvPr/>
        </p:nvPicPr>
        <p:blipFill rotWithShape="1">
          <a:blip r:embed="rId3">
            <a:extLst>
              <a:ext uri="{28A0092B-C50C-407E-A947-70E740481C1C}">
                <a14:useLocalDpi xmlns:a14="http://schemas.microsoft.com/office/drawing/2010/main" val="0"/>
              </a:ext>
            </a:extLst>
          </a:blip>
          <a:srcRect l="53147" t="33424" r="5087" b="12524"/>
          <a:stretch/>
        </p:blipFill>
        <p:spPr bwMode="auto">
          <a:xfrm>
            <a:off x="1062922" y="2002572"/>
            <a:ext cx="3469002" cy="337063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CaixaDeTexto 3"/>
              <p:cNvSpPr txBox="1"/>
              <p:nvPr/>
            </p:nvSpPr>
            <p:spPr>
              <a:xfrm>
                <a:off x="806201" y="5361923"/>
                <a:ext cx="3840479" cy="646331"/>
              </a:xfrm>
              <a:prstGeom prst="rect">
                <a:avLst/>
              </a:prstGeom>
              <a:noFill/>
            </p:spPr>
            <p:txBody>
              <a:bodyPr wrap="square" rtlCol="0">
                <a:spAutoFit/>
              </a:bodyPr>
              <a:lstStyle/>
              <a:p>
                <a:pPr algn="ctr"/>
                <a14:m>
                  <m:oMath xmlns:m="http://schemas.openxmlformats.org/officeDocument/2006/math">
                    <m:r>
                      <a:rPr lang="pt-BR" b="0" i="1" smtClean="0">
                        <a:latin typeface="Cambria Math" panose="02040503050406030204" pitchFamily="18" charset="0"/>
                      </a:rPr>
                      <m:t>ℎ</m:t>
                    </m:r>
                    <m:r>
                      <a:rPr lang="pt-BR"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oMath>
                </a14:m>
                <a:r>
                  <a:rPr lang="en-US" dirty="0"/>
                  <a:t> </a:t>
                </a:r>
                <a:r>
                  <a:rPr lang="en-US" b="1" dirty="0" err="1">
                    <a:solidFill>
                      <a:srgbClr val="00B050"/>
                    </a:solidFill>
                  </a:rPr>
                  <a:t>aproxima</a:t>
                </a:r>
                <a:r>
                  <a:rPr lang="en-US" dirty="0"/>
                  <a:t> o </a:t>
                </a:r>
                <a:r>
                  <a:rPr lang="en-US" b="1" dirty="0" err="1">
                    <a:solidFill>
                      <a:srgbClr val="7030A0"/>
                    </a:solidFill>
                  </a:rPr>
                  <a:t>comportamento</a:t>
                </a:r>
                <a:r>
                  <a:rPr lang="en-US" b="1" dirty="0">
                    <a:solidFill>
                      <a:srgbClr val="7030A0"/>
                    </a:solidFill>
                  </a:rPr>
                  <a:t> </a:t>
                </a:r>
                <a:r>
                  <a:rPr lang="en-US" b="1" dirty="0" err="1">
                    <a:solidFill>
                      <a:srgbClr val="7030A0"/>
                    </a:solidFill>
                  </a:rPr>
                  <a:t>geral</a:t>
                </a:r>
                <a:r>
                  <a:rPr lang="en-US" dirty="0"/>
                  <a:t> dos dados.</a:t>
                </a:r>
              </a:p>
            </p:txBody>
          </p:sp>
        </mc:Choice>
        <mc:Fallback xmlns="">
          <p:sp>
            <p:nvSpPr>
              <p:cNvPr id="4" name="CaixaDeTexto 3"/>
              <p:cNvSpPr txBox="1">
                <a:spLocks noRot="1" noChangeAspect="1" noMove="1" noResize="1" noEditPoints="1" noAdjustHandles="1" noChangeArrowheads="1" noChangeShapeType="1" noTextEdit="1"/>
              </p:cNvSpPr>
              <p:nvPr/>
            </p:nvSpPr>
            <p:spPr>
              <a:xfrm>
                <a:off x="806201" y="5361923"/>
                <a:ext cx="3840479" cy="646331"/>
              </a:xfrm>
              <a:prstGeom prst="rect">
                <a:avLst/>
              </a:prstGeom>
              <a:blipFill>
                <a:blip r:embed="rId4"/>
                <a:stretch>
                  <a:fillRect t="-5660" b="-14151"/>
                </a:stretch>
              </a:blipFill>
            </p:spPr>
            <p:txBody>
              <a:bodyPr/>
              <a:lstStyle/>
              <a:p>
                <a:r>
                  <a:rPr lang="en-US">
                    <a:noFill/>
                  </a:rPr>
                  <a:t> </a:t>
                </a:r>
              </a:p>
            </p:txBody>
          </p:sp>
        </mc:Fallback>
      </mc:AlternateContent>
    </p:spTree>
    <p:extLst>
      <p:ext uri="{BB962C8B-B14F-4D97-AF65-F5344CB8AC3E}">
        <p14:creationId xmlns:p14="http://schemas.microsoft.com/office/powerpoint/2010/main" val="3270474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Motivação</a:t>
            </a:r>
          </a:p>
        </p:txBody>
      </p:sp>
      <p:pic>
        <p:nvPicPr>
          <p:cNvPr id="6" name="Picture 5"/>
          <p:cNvPicPr>
            <a:picLocks noChangeAspect="1"/>
          </p:cNvPicPr>
          <p:nvPr/>
        </p:nvPicPr>
        <p:blipFill>
          <a:blip r:embed="rId3"/>
          <a:stretch>
            <a:fillRect/>
          </a:stretch>
        </p:blipFill>
        <p:spPr>
          <a:xfrm>
            <a:off x="1555520" y="2921704"/>
            <a:ext cx="2224946" cy="1481651"/>
          </a:xfrm>
          <a:prstGeom prst="rect">
            <a:avLst/>
          </a:prstGeom>
        </p:spPr>
      </p:pic>
      <p:pic>
        <p:nvPicPr>
          <p:cNvPr id="7" name="Picture 6"/>
          <p:cNvPicPr>
            <a:picLocks noChangeAspect="1"/>
          </p:cNvPicPr>
          <p:nvPr/>
        </p:nvPicPr>
        <p:blipFill>
          <a:blip r:embed="rId4"/>
          <a:stretch>
            <a:fillRect/>
          </a:stretch>
        </p:blipFill>
        <p:spPr>
          <a:xfrm>
            <a:off x="5114109" y="2920986"/>
            <a:ext cx="1965031" cy="1473773"/>
          </a:xfrm>
          <a:prstGeom prst="rect">
            <a:avLst/>
          </a:prstGeom>
        </p:spPr>
      </p:pic>
      <p:pic>
        <p:nvPicPr>
          <p:cNvPr id="8" name="Picture 7"/>
          <p:cNvPicPr>
            <a:picLocks noChangeAspect="1"/>
          </p:cNvPicPr>
          <p:nvPr/>
        </p:nvPicPr>
        <p:blipFill>
          <a:blip r:embed="rId5"/>
          <a:stretch>
            <a:fillRect/>
          </a:stretch>
        </p:blipFill>
        <p:spPr>
          <a:xfrm>
            <a:off x="8209597" y="2929582"/>
            <a:ext cx="2620040" cy="1473773"/>
          </a:xfrm>
          <a:prstGeom prst="rect">
            <a:avLst/>
          </a:prstGeom>
        </p:spPr>
      </p:pic>
      <p:sp>
        <p:nvSpPr>
          <p:cNvPr id="9" name="Content Placeholder 2"/>
          <p:cNvSpPr>
            <a:spLocks noGrp="1"/>
          </p:cNvSpPr>
          <p:nvPr>
            <p:ph idx="1"/>
          </p:nvPr>
        </p:nvSpPr>
        <p:spPr>
          <a:xfrm>
            <a:off x="627847" y="1654206"/>
            <a:ext cx="10515600" cy="1073439"/>
          </a:xfrm>
        </p:spPr>
        <p:txBody>
          <a:bodyPr>
            <a:normAutofit/>
          </a:bodyPr>
          <a:lstStyle/>
          <a:p>
            <a:r>
              <a:rPr lang="pt-BR" b="1" dirty="0"/>
              <a:t>Exemplo 1</a:t>
            </a:r>
            <a:r>
              <a:rPr lang="pt-BR" dirty="0"/>
              <a:t>: Estimar o preço de casas.</a:t>
            </a:r>
          </a:p>
        </p:txBody>
      </p:sp>
      <mc:AlternateContent xmlns:mc="http://schemas.openxmlformats.org/markup-compatibility/2006" xmlns:a14="http://schemas.microsoft.com/office/drawing/2010/main">
        <mc:Choice Requires="a14">
          <p:sp>
            <p:nvSpPr>
              <p:cNvPr id="10" name="Content Placeholder 2"/>
              <p:cNvSpPr txBox="1">
                <a:spLocks/>
              </p:cNvSpPr>
              <p:nvPr/>
            </p:nvSpPr>
            <p:spPr>
              <a:xfrm>
                <a:off x="734291" y="5122567"/>
                <a:ext cx="11185960" cy="173543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dirty="0"/>
                  <a:t>Podemos usar </a:t>
                </a:r>
                <a:r>
                  <a:rPr lang="pt-BR" b="1" dirty="0"/>
                  <a:t>regressão</a:t>
                </a:r>
                <a:r>
                  <a:rPr lang="pt-BR" dirty="0"/>
                  <a:t> para encontrar uma </a:t>
                </a:r>
                <a:r>
                  <a:rPr lang="pt-BR" b="1" dirty="0">
                    <a:solidFill>
                      <a:srgbClr val="0070C0"/>
                    </a:solidFill>
                  </a:rPr>
                  <a:t>relação matemática</a:t>
                </a:r>
                <a:r>
                  <a:rPr lang="pt-BR" dirty="0"/>
                  <a:t>, </a:t>
                </a:r>
                <a14:m>
                  <m:oMath xmlns:m="http://schemas.openxmlformats.org/officeDocument/2006/math">
                    <m:r>
                      <a:rPr lang="pt-BR" b="0" i="1" smtClean="0">
                        <a:latin typeface="Cambria Math" panose="02040503050406030204" pitchFamily="18" charset="0"/>
                      </a:rPr>
                      <m:t>ℎ</m:t>
                    </m:r>
                    <m:r>
                      <a:rPr lang="pt-BR" b="0" i="1" smtClean="0">
                        <a:latin typeface="Cambria Math" panose="02040503050406030204" pitchFamily="18" charset="0"/>
                      </a:rPr>
                      <m:t>(</m:t>
                    </m:r>
                    <m:r>
                      <a:rPr lang="pt-BR" b="1" i="1" smtClean="0">
                        <a:latin typeface="Cambria Math" panose="02040503050406030204" pitchFamily="18" charset="0"/>
                      </a:rPr>
                      <m:t>𝒙</m:t>
                    </m:r>
                    <m:r>
                      <a:rPr lang="pt-BR" b="0" i="1" smtClean="0">
                        <a:latin typeface="Cambria Math" panose="02040503050406030204" pitchFamily="18" charset="0"/>
                      </a:rPr>
                      <m:t>)</m:t>
                    </m:r>
                  </m:oMath>
                </a14:m>
                <a:r>
                  <a:rPr lang="pt-BR" dirty="0"/>
                  <a:t>, entre o n</a:t>
                </a:r>
                <a14:m>
                  <m:oMath xmlns:m="http://schemas.openxmlformats.org/officeDocument/2006/math">
                    <m:r>
                      <a:rPr lang="pt-BR" i="1">
                        <a:latin typeface="Cambria Math" panose="02040503050406030204" pitchFamily="18" charset="0"/>
                        <a:ea typeface="Cambria Math" panose="02040503050406030204" pitchFamily="18" charset="0"/>
                      </a:rPr>
                      <m:t>°</m:t>
                    </m:r>
                  </m:oMath>
                </a14:m>
                <a:r>
                  <a:rPr lang="pt-BR" dirty="0"/>
                  <a:t> de quartos, n</a:t>
                </a:r>
                <a14:m>
                  <m:oMath xmlns:m="http://schemas.openxmlformats.org/officeDocument/2006/math">
                    <m:r>
                      <a:rPr lang="pt-BR" i="1">
                        <a:latin typeface="Cambria Math" panose="02040503050406030204" pitchFamily="18" charset="0"/>
                        <a:ea typeface="Cambria Math" panose="02040503050406030204" pitchFamily="18" charset="0"/>
                      </a:rPr>
                      <m:t>° </m:t>
                    </m:r>
                  </m:oMath>
                </a14:m>
                <a:r>
                  <a:rPr lang="pt-BR" dirty="0"/>
                  <a:t>de vagas na garagem, se tem piscina, localização, área, etc. de uma casa e seu valor.</a:t>
                </a:r>
              </a:p>
              <a:p>
                <a:r>
                  <a:rPr lang="pt-BR" b="1" dirty="0">
                    <a:solidFill>
                      <a:srgbClr val="00B050"/>
                    </a:solidFill>
                  </a:rPr>
                  <a:t>Objetivo</a:t>
                </a:r>
                <a:r>
                  <a:rPr lang="pt-BR" dirty="0"/>
                  <a:t>: agilizar o processo de avaliação de propriedades.</a:t>
                </a:r>
              </a:p>
            </p:txBody>
          </p:sp>
        </mc:Choice>
        <mc:Fallback xmlns="">
          <p:sp>
            <p:nvSpPr>
              <p:cNvPr id="10" name="Content Placeholder 2"/>
              <p:cNvSpPr txBox="1">
                <a:spLocks noRot="1" noChangeAspect="1" noMove="1" noResize="1" noEditPoints="1" noAdjustHandles="1" noChangeArrowheads="1" noChangeShapeType="1" noTextEdit="1"/>
              </p:cNvSpPr>
              <p:nvPr/>
            </p:nvSpPr>
            <p:spPr>
              <a:xfrm>
                <a:off x="734291" y="5122567"/>
                <a:ext cx="11185960" cy="1735434"/>
              </a:xfrm>
              <a:prstGeom prst="rect">
                <a:avLst/>
              </a:prstGeom>
              <a:blipFill>
                <a:blip r:embed="rId6"/>
                <a:stretch>
                  <a:fillRect l="-981" t="-7719" r="-1035" b="-1754"/>
                </a:stretch>
              </a:blipFill>
            </p:spPr>
            <p:txBody>
              <a:bodyPr/>
              <a:lstStyle/>
              <a:p>
                <a:r>
                  <a:rPr lang="en-US">
                    <a:noFill/>
                  </a:rPr>
                  <a:t> </a:t>
                </a:r>
              </a:p>
            </p:txBody>
          </p:sp>
        </mc:Fallback>
      </mc:AlternateContent>
      <p:sp>
        <p:nvSpPr>
          <p:cNvPr id="3" name="TextBox 2"/>
          <p:cNvSpPr txBox="1"/>
          <p:nvPr/>
        </p:nvSpPr>
        <p:spPr>
          <a:xfrm>
            <a:off x="1555520" y="4556041"/>
            <a:ext cx="2224946" cy="369332"/>
          </a:xfrm>
          <a:prstGeom prst="rect">
            <a:avLst/>
          </a:prstGeom>
          <a:noFill/>
        </p:spPr>
        <p:txBody>
          <a:bodyPr wrap="square" rtlCol="0">
            <a:spAutoFit/>
          </a:bodyPr>
          <a:lstStyle/>
          <a:p>
            <a:pPr algn="ctr"/>
            <a:r>
              <a:rPr lang="pt-BR" dirty="0"/>
              <a:t>R$ 1.000.000,00</a:t>
            </a:r>
          </a:p>
        </p:txBody>
      </p:sp>
      <p:sp>
        <p:nvSpPr>
          <p:cNvPr id="11" name="TextBox 10"/>
          <p:cNvSpPr txBox="1"/>
          <p:nvPr/>
        </p:nvSpPr>
        <p:spPr>
          <a:xfrm>
            <a:off x="5114109" y="4567526"/>
            <a:ext cx="2003045" cy="369332"/>
          </a:xfrm>
          <a:prstGeom prst="rect">
            <a:avLst/>
          </a:prstGeom>
          <a:noFill/>
        </p:spPr>
        <p:txBody>
          <a:bodyPr wrap="square" rtlCol="0">
            <a:spAutoFit/>
          </a:bodyPr>
          <a:lstStyle/>
          <a:p>
            <a:pPr algn="ctr"/>
            <a:r>
              <a:rPr lang="pt-BR" dirty="0"/>
              <a:t>R$ 200.000,00</a:t>
            </a:r>
          </a:p>
        </p:txBody>
      </p:sp>
      <p:sp>
        <p:nvSpPr>
          <p:cNvPr id="12" name="TextBox 11"/>
          <p:cNvSpPr txBox="1"/>
          <p:nvPr/>
        </p:nvSpPr>
        <p:spPr>
          <a:xfrm>
            <a:off x="8207147" y="4517680"/>
            <a:ext cx="2620041" cy="461665"/>
          </a:xfrm>
          <a:prstGeom prst="rect">
            <a:avLst/>
          </a:prstGeom>
          <a:noFill/>
        </p:spPr>
        <p:txBody>
          <a:bodyPr wrap="square" rtlCol="0">
            <a:spAutoFit/>
          </a:bodyPr>
          <a:lstStyle/>
          <a:p>
            <a:pPr algn="ctr"/>
            <a:r>
              <a:rPr lang="pt-BR" sz="2400" b="1" dirty="0">
                <a:solidFill>
                  <a:srgbClr val="FF0000"/>
                </a:solidFill>
              </a:rPr>
              <a:t>???</a:t>
            </a:r>
          </a:p>
        </p:txBody>
      </p:sp>
      <mc:AlternateContent xmlns:mc="http://schemas.openxmlformats.org/markup-compatibility/2006" xmlns:a14="http://schemas.microsoft.com/office/drawing/2010/main">
        <mc:Choice Requires="a14">
          <p:sp>
            <p:nvSpPr>
              <p:cNvPr id="4" name="TextBox 3"/>
              <p:cNvSpPr txBox="1"/>
              <p:nvPr/>
            </p:nvSpPr>
            <p:spPr>
              <a:xfrm>
                <a:off x="1260591" y="2308362"/>
                <a:ext cx="2923229" cy="590354"/>
              </a:xfrm>
              <a:prstGeom prst="rect">
                <a:avLst/>
              </a:prstGeom>
              <a:noFill/>
            </p:spPr>
            <p:txBody>
              <a:bodyPr wrap="square" rtlCol="0">
                <a:spAutoFit/>
              </a:bodyPr>
              <a:lstStyle/>
              <a:p>
                <a:pPr algn="ctr"/>
                <a:r>
                  <a:rPr lang="pt-BR" sz="1600" dirty="0"/>
                  <a:t>5 quartos, 3 vagas na garagem, 1 piscina, cond. de luxo, 500 </a:t>
                </a:r>
                <a14:m>
                  <m:oMath xmlns:m="http://schemas.openxmlformats.org/officeDocument/2006/math">
                    <m:sSup>
                      <m:sSupPr>
                        <m:ctrlPr>
                          <a:rPr lang="pt-BR" sz="1600" b="0" i="1" smtClean="0">
                            <a:latin typeface="Cambria Math" panose="02040503050406030204" pitchFamily="18" charset="0"/>
                          </a:rPr>
                        </m:ctrlPr>
                      </m:sSupPr>
                      <m:e>
                        <m:r>
                          <a:rPr lang="pt-BR" sz="1600" b="0" i="1" smtClean="0">
                            <a:latin typeface="Cambria Math" panose="02040503050406030204" pitchFamily="18" charset="0"/>
                          </a:rPr>
                          <m:t>𝑚</m:t>
                        </m:r>
                      </m:e>
                      <m:sup>
                        <m:r>
                          <a:rPr lang="pt-BR" sz="1600" b="0" i="1" smtClean="0">
                            <a:latin typeface="Cambria Math" panose="02040503050406030204" pitchFamily="18" charset="0"/>
                          </a:rPr>
                          <m:t>2</m:t>
                        </m:r>
                      </m:sup>
                    </m:sSup>
                  </m:oMath>
                </a14:m>
                <a:endParaRPr lang="pt-BR" sz="1600" dirty="0"/>
              </a:p>
            </p:txBody>
          </p:sp>
        </mc:Choice>
        <mc:Fallback xmlns="">
          <p:sp>
            <p:nvSpPr>
              <p:cNvPr id="4" name="TextBox 3"/>
              <p:cNvSpPr txBox="1">
                <a:spLocks noRot="1" noChangeAspect="1" noMove="1" noResize="1" noEditPoints="1" noAdjustHandles="1" noChangeArrowheads="1" noChangeShapeType="1" noTextEdit="1"/>
              </p:cNvSpPr>
              <p:nvPr/>
            </p:nvSpPr>
            <p:spPr>
              <a:xfrm>
                <a:off x="1260591" y="2308362"/>
                <a:ext cx="2923229" cy="590354"/>
              </a:xfrm>
              <a:prstGeom prst="rect">
                <a:avLst/>
              </a:prstGeom>
              <a:blipFill>
                <a:blip r:embed="rId7"/>
                <a:stretch>
                  <a:fillRect l="-418" t="-3093" r="-1879" b="-12371"/>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4694503" y="2316101"/>
                <a:ext cx="2804242" cy="590354"/>
              </a:xfrm>
              <a:prstGeom prst="rect">
                <a:avLst/>
              </a:prstGeom>
              <a:noFill/>
            </p:spPr>
            <p:txBody>
              <a:bodyPr wrap="square" rtlCol="0">
                <a:spAutoFit/>
              </a:bodyPr>
              <a:lstStyle>
                <a:defPPr>
                  <a:defRPr lang="nl-BE"/>
                </a:defPPr>
                <a:lvl1pPr algn="ctr">
                  <a:defRPr sz="1600"/>
                </a:lvl1pPr>
              </a:lstStyle>
              <a:p>
                <a:r>
                  <a:rPr lang="pt-BR" dirty="0"/>
                  <a:t>1 quarto, sem vaga na garagem, bairro afastado, 70 </a:t>
                </a:r>
                <a14:m>
                  <m:oMath xmlns:m="http://schemas.openxmlformats.org/officeDocument/2006/math">
                    <m:sSup>
                      <m:sSupPr>
                        <m:ctrlPr>
                          <a:rPr lang="pt-BR">
                            <a:latin typeface="Cambria Math" panose="02040503050406030204" pitchFamily="18" charset="0"/>
                          </a:rPr>
                        </m:ctrlPr>
                      </m:sSupPr>
                      <m:e>
                        <m:r>
                          <a:rPr lang="pt-BR">
                            <a:latin typeface="Cambria Math" panose="02040503050406030204" pitchFamily="18" charset="0"/>
                          </a:rPr>
                          <m:t>𝑚</m:t>
                        </m:r>
                      </m:e>
                      <m:sup>
                        <m:r>
                          <a:rPr lang="pt-BR">
                            <a:latin typeface="Cambria Math" panose="02040503050406030204" pitchFamily="18" charset="0"/>
                          </a:rPr>
                          <m:t>2</m:t>
                        </m:r>
                      </m:sup>
                    </m:sSup>
                  </m:oMath>
                </a14:m>
                <a:endParaRPr lang="pt-BR" dirty="0"/>
              </a:p>
            </p:txBody>
          </p:sp>
        </mc:Choice>
        <mc:Fallback xmlns="">
          <p:sp>
            <p:nvSpPr>
              <p:cNvPr id="13" name="TextBox 12"/>
              <p:cNvSpPr txBox="1">
                <a:spLocks noRot="1" noChangeAspect="1" noMove="1" noResize="1" noEditPoints="1" noAdjustHandles="1" noChangeArrowheads="1" noChangeShapeType="1" noTextEdit="1"/>
              </p:cNvSpPr>
              <p:nvPr/>
            </p:nvSpPr>
            <p:spPr>
              <a:xfrm>
                <a:off x="4694503" y="2316101"/>
                <a:ext cx="2804242" cy="590354"/>
              </a:xfrm>
              <a:prstGeom prst="rect">
                <a:avLst/>
              </a:prstGeom>
              <a:blipFill>
                <a:blip r:embed="rId8"/>
                <a:stretch>
                  <a:fillRect l="-870" t="-3093" r="-3043" b="-12371"/>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8207147" y="2361659"/>
                <a:ext cx="2622490" cy="590354"/>
              </a:xfrm>
              <a:prstGeom prst="rect">
                <a:avLst/>
              </a:prstGeom>
              <a:noFill/>
            </p:spPr>
            <p:txBody>
              <a:bodyPr wrap="square" rtlCol="0">
                <a:spAutoFit/>
              </a:bodyPr>
              <a:lstStyle>
                <a:defPPr>
                  <a:defRPr lang="nl-BE"/>
                </a:defPPr>
                <a:lvl1pPr algn="ctr">
                  <a:defRPr sz="1600"/>
                </a:lvl1pPr>
              </a:lstStyle>
              <a:p>
                <a:r>
                  <a:rPr lang="pt-BR" dirty="0"/>
                  <a:t>2 quartos, 1 vaga na garagem, centro, 200 </a:t>
                </a:r>
                <a14:m>
                  <m:oMath xmlns:m="http://schemas.openxmlformats.org/officeDocument/2006/math">
                    <m:sSup>
                      <m:sSupPr>
                        <m:ctrlPr>
                          <a:rPr lang="pt-BR">
                            <a:latin typeface="Cambria Math" panose="02040503050406030204" pitchFamily="18" charset="0"/>
                          </a:rPr>
                        </m:ctrlPr>
                      </m:sSupPr>
                      <m:e>
                        <m:r>
                          <a:rPr lang="pt-BR">
                            <a:latin typeface="Cambria Math" panose="02040503050406030204" pitchFamily="18" charset="0"/>
                          </a:rPr>
                          <m:t>𝑚</m:t>
                        </m:r>
                      </m:e>
                      <m:sup>
                        <m:r>
                          <a:rPr lang="pt-BR">
                            <a:latin typeface="Cambria Math" panose="02040503050406030204" pitchFamily="18" charset="0"/>
                          </a:rPr>
                          <m:t>2</m:t>
                        </m:r>
                      </m:sup>
                    </m:sSup>
                  </m:oMath>
                </a14:m>
                <a:endParaRPr lang="pt-BR" dirty="0"/>
              </a:p>
            </p:txBody>
          </p:sp>
        </mc:Choice>
        <mc:Fallback xmlns="">
          <p:sp>
            <p:nvSpPr>
              <p:cNvPr id="14" name="TextBox 13"/>
              <p:cNvSpPr txBox="1">
                <a:spLocks noRot="1" noChangeAspect="1" noMove="1" noResize="1" noEditPoints="1" noAdjustHandles="1" noChangeArrowheads="1" noChangeShapeType="1" noTextEdit="1"/>
              </p:cNvSpPr>
              <p:nvPr/>
            </p:nvSpPr>
            <p:spPr>
              <a:xfrm>
                <a:off x="8207147" y="2361659"/>
                <a:ext cx="2622490" cy="590354"/>
              </a:xfrm>
              <a:prstGeom prst="rect">
                <a:avLst/>
              </a:prstGeom>
              <a:blipFill>
                <a:blip r:embed="rId9"/>
                <a:stretch>
                  <a:fillRect t="-3093" b="-12371"/>
                </a:stretch>
              </a:blipFill>
            </p:spPr>
            <p:txBody>
              <a:bodyPr/>
              <a:lstStyle/>
              <a:p>
                <a:r>
                  <a:rPr lang="pt-BR">
                    <a:noFill/>
                  </a:rPr>
                  <a:t> </a:t>
                </a:r>
              </a:p>
            </p:txBody>
          </p:sp>
        </mc:Fallback>
      </mc:AlternateContent>
    </p:spTree>
    <p:extLst>
      <p:ext uri="{BB962C8B-B14F-4D97-AF65-F5344CB8AC3E}">
        <p14:creationId xmlns:p14="http://schemas.microsoft.com/office/powerpoint/2010/main" val="3018024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Motivação</a:t>
            </a:r>
          </a:p>
        </p:txBody>
      </p:sp>
      <p:sp>
        <p:nvSpPr>
          <p:cNvPr id="9" name="Content Placeholder 2"/>
          <p:cNvSpPr>
            <a:spLocks noGrp="1"/>
          </p:cNvSpPr>
          <p:nvPr>
            <p:ph idx="1"/>
          </p:nvPr>
        </p:nvSpPr>
        <p:spPr>
          <a:xfrm>
            <a:off x="627847" y="1654207"/>
            <a:ext cx="10515600" cy="604252"/>
          </a:xfrm>
        </p:spPr>
        <p:txBody>
          <a:bodyPr>
            <a:normAutofit/>
          </a:bodyPr>
          <a:lstStyle/>
          <a:p>
            <a:r>
              <a:rPr lang="pt-BR" b="1" dirty="0"/>
              <a:t>Exemplo 2</a:t>
            </a:r>
            <a:r>
              <a:rPr lang="pt-BR" dirty="0"/>
              <a:t>: Estimar as vendas de picolés.</a:t>
            </a:r>
          </a:p>
        </p:txBody>
      </p:sp>
      <mc:AlternateContent xmlns:mc="http://schemas.openxmlformats.org/markup-compatibility/2006" xmlns:a14="http://schemas.microsoft.com/office/drawing/2010/main">
        <mc:Choice Requires="a14">
          <p:sp>
            <p:nvSpPr>
              <p:cNvPr id="10" name="Content Placeholder 2"/>
              <p:cNvSpPr txBox="1">
                <a:spLocks/>
              </p:cNvSpPr>
              <p:nvPr/>
            </p:nvSpPr>
            <p:spPr>
              <a:xfrm>
                <a:off x="734290" y="5532439"/>
                <a:ext cx="11230027" cy="132556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dirty="0"/>
                  <a:t>Podemos usar regressão para encontrar um </a:t>
                </a:r>
                <a:r>
                  <a:rPr lang="pt-BR" b="1" dirty="0">
                    <a:solidFill>
                      <a:srgbClr val="0070C0"/>
                    </a:solidFill>
                  </a:rPr>
                  <a:t>mapeamento</a:t>
                </a:r>
                <a:r>
                  <a:rPr lang="pt-BR" dirty="0"/>
                  <a:t>, </a:t>
                </a:r>
                <a14:m>
                  <m:oMath xmlns:m="http://schemas.openxmlformats.org/officeDocument/2006/math">
                    <m:r>
                      <a:rPr lang="pt-BR" b="0" i="1" smtClean="0">
                        <a:latin typeface="Cambria Math" panose="02040503050406030204" pitchFamily="18" charset="0"/>
                      </a:rPr>
                      <m:t>ℎ</m:t>
                    </m:r>
                    <m:r>
                      <a:rPr lang="pt-BR" b="0" i="1" smtClean="0">
                        <a:latin typeface="Cambria Math" panose="02040503050406030204" pitchFamily="18" charset="0"/>
                      </a:rPr>
                      <m:t>(</m:t>
                    </m:r>
                    <m:r>
                      <a:rPr lang="pt-BR" b="0" i="1" smtClean="0">
                        <a:latin typeface="Cambria Math" panose="02040503050406030204" pitchFamily="18" charset="0"/>
                      </a:rPr>
                      <m:t>𝑥</m:t>
                    </m:r>
                    <m:r>
                      <a:rPr lang="pt-BR" b="0" i="1" smtClean="0">
                        <a:latin typeface="Cambria Math" panose="02040503050406030204" pitchFamily="18" charset="0"/>
                      </a:rPr>
                      <m:t>)</m:t>
                    </m:r>
                  </m:oMath>
                </a14:m>
                <a:r>
                  <a:rPr lang="pt-BR" dirty="0"/>
                  <a:t>, entre a temperatura média de um dia e a quantidade de picolés vendidos.</a:t>
                </a:r>
              </a:p>
              <a:p>
                <a:r>
                  <a:rPr lang="pt-BR" b="1" dirty="0">
                    <a:solidFill>
                      <a:srgbClr val="00B050"/>
                    </a:solidFill>
                  </a:rPr>
                  <a:t>Objetivo</a:t>
                </a:r>
                <a:r>
                  <a:rPr lang="pt-BR" dirty="0"/>
                  <a:t>: reduzir o desperdício e aumentar os lucros.</a:t>
                </a:r>
              </a:p>
            </p:txBody>
          </p:sp>
        </mc:Choice>
        <mc:Fallback xmlns="">
          <p:sp>
            <p:nvSpPr>
              <p:cNvPr id="10" name="Content Placeholder 2"/>
              <p:cNvSpPr txBox="1">
                <a:spLocks noRot="1" noChangeAspect="1" noMove="1" noResize="1" noEditPoints="1" noAdjustHandles="1" noChangeArrowheads="1" noChangeShapeType="1" noTextEdit="1"/>
              </p:cNvSpPr>
              <p:nvPr/>
            </p:nvSpPr>
            <p:spPr>
              <a:xfrm>
                <a:off x="734290" y="5532439"/>
                <a:ext cx="11230027" cy="1325562"/>
              </a:xfrm>
              <a:prstGeom prst="rect">
                <a:avLst/>
              </a:prstGeom>
              <a:blipFill>
                <a:blip r:embed="rId3"/>
                <a:stretch>
                  <a:fillRect l="-977" t="-10599" b="-7834"/>
                </a:stretch>
              </a:blipFill>
            </p:spPr>
            <p:txBody>
              <a:bodyPr/>
              <a:lstStyle/>
              <a:p>
                <a:r>
                  <a:rPr lang="en-US">
                    <a:noFill/>
                  </a:rPr>
                  <a:t> </a:t>
                </a:r>
              </a:p>
            </p:txBody>
          </p:sp>
        </mc:Fallback>
      </mc:AlternateContent>
      <p:pic>
        <p:nvPicPr>
          <p:cNvPr id="5" name="Imagem 4">
            <a:extLst>
              <a:ext uri="{FF2B5EF4-FFF2-40B4-BE49-F238E27FC236}">
                <a16:creationId xmlns:a16="http://schemas.microsoft.com/office/drawing/2014/main" id="{D3B9ED84-5245-7889-8D8D-F74C85EB5B65}"/>
              </a:ext>
            </a:extLst>
          </p:cNvPr>
          <p:cNvPicPr>
            <a:picLocks noChangeAspect="1"/>
          </p:cNvPicPr>
          <p:nvPr/>
        </p:nvPicPr>
        <p:blipFill rotWithShape="1">
          <a:blip r:embed="rId4"/>
          <a:srcRect l="3762" t="9838" r="8646"/>
          <a:stretch/>
        </p:blipFill>
        <p:spPr>
          <a:xfrm>
            <a:off x="3811838" y="2364559"/>
            <a:ext cx="3800818" cy="2934238"/>
          </a:xfrm>
          <a:prstGeom prst="rect">
            <a:avLst/>
          </a:prstGeom>
        </p:spPr>
      </p:pic>
      <p:pic>
        <p:nvPicPr>
          <p:cNvPr id="15" name="Picture 2" descr="Picolé Electron – Sorvete Itália">
            <a:extLst>
              <a:ext uri="{FF2B5EF4-FFF2-40B4-BE49-F238E27FC236}">
                <a16:creationId xmlns:a16="http://schemas.microsoft.com/office/drawing/2014/main" id="{673E1C42-10C3-AF6F-1FF0-110BD135CF8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26446" y="3547541"/>
            <a:ext cx="1075397" cy="10753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67771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36C16A22-1E29-D959-69D9-364EB3DA7640}"/>
                  </a:ext>
                </a:extLst>
              </p:cNvPr>
              <p:cNvSpPr>
                <a:spLocks noGrp="1"/>
              </p:cNvSpPr>
              <p:nvPr>
                <p:ph idx="1"/>
              </p:nvPr>
            </p:nvSpPr>
            <p:spPr>
              <a:xfrm>
                <a:off x="838200" y="2593975"/>
                <a:ext cx="10515600" cy="1670050"/>
              </a:xfrm>
            </p:spPr>
            <p:txBody>
              <a:bodyPr>
                <a:normAutofit/>
              </a:bodyPr>
              <a:lstStyle/>
              <a:p>
                <a:pPr marL="0" indent="0" algn="ctr">
                  <a:buNone/>
                </a:pPr>
                <a:r>
                  <a:rPr lang="pt-BR" sz="4800" dirty="0"/>
                  <a:t>Como podemos encontrar as funções de mapeamento, </a:t>
                </a:r>
                <a14:m>
                  <m:oMath xmlns:m="http://schemas.openxmlformats.org/officeDocument/2006/math">
                    <m:r>
                      <a:rPr lang="pt-BR" sz="4800" i="1">
                        <a:latin typeface="Cambria Math" panose="02040503050406030204" pitchFamily="18" charset="0"/>
                      </a:rPr>
                      <m:t>ℎ</m:t>
                    </m:r>
                    <m:r>
                      <a:rPr lang="pt-BR" sz="4800" i="1">
                        <a:latin typeface="Cambria Math" panose="02040503050406030204" pitchFamily="18" charset="0"/>
                      </a:rPr>
                      <m:t>(</m:t>
                    </m:r>
                    <m:r>
                      <a:rPr lang="pt-BR" sz="4800" b="1" i="1">
                        <a:latin typeface="Cambria Math" panose="02040503050406030204" pitchFamily="18" charset="0"/>
                      </a:rPr>
                      <m:t>𝒙</m:t>
                    </m:r>
                    <m:r>
                      <a:rPr lang="pt-BR" sz="4800" i="1">
                        <a:latin typeface="Cambria Math" panose="02040503050406030204" pitchFamily="18" charset="0"/>
                      </a:rPr>
                      <m:t>)</m:t>
                    </m:r>
                  </m:oMath>
                </a14:m>
                <a:r>
                  <a:rPr lang="pt-BR" sz="4800" dirty="0"/>
                  <a:t>?</a:t>
                </a:r>
              </a:p>
            </p:txBody>
          </p:sp>
        </mc:Choice>
        <mc:Fallback xmlns="">
          <p:sp>
            <p:nvSpPr>
              <p:cNvPr id="3" name="Espaço Reservado para Conteúdo 2">
                <a:extLst>
                  <a:ext uri="{FF2B5EF4-FFF2-40B4-BE49-F238E27FC236}">
                    <a16:creationId xmlns:a16="http://schemas.microsoft.com/office/drawing/2014/main" id="{36C16A22-1E29-D959-69D9-364EB3DA7640}"/>
                  </a:ext>
                </a:extLst>
              </p:cNvPr>
              <p:cNvSpPr>
                <a:spLocks noGrp="1" noRot="1" noChangeAspect="1" noMove="1" noResize="1" noEditPoints="1" noAdjustHandles="1" noChangeArrowheads="1" noChangeShapeType="1" noTextEdit="1"/>
              </p:cNvSpPr>
              <p:nvPr>
                <p:ph idx="1"/>
              </p:nvPr>
            </p:nvSpPr>
            <p:spPr>
              <a:xfrm>
                <a:off x="838200" y="2593975"/>
                <a:ext cx="10515600" cy="1670050"/>
              </a:xfrm>
              <a:blipFill>
                <a:blip r:embed="rId2"/>
                <a:stretch>
                  <a:fillRect l="-1043" t="-12454" r="-2203" b="-4396"/>
                </a:stretch>
              </a:blipFill>
            </p:spPr>
            <p:txBody>
              <a:bodyPr/>
              <a:lstStyle/>
              <a:p>
                <a:r>
                  <a:rPr lang="en-US">
                    <a:noFill/>
                  </a:rPr>
                  <a:t> </a:t>
                </a:r>
              </a:p>
            </p:txBody>
          </p:sp>
        </mc:Fallback>
      </mc:AlternateContent>
    </p:spTree>
    <p:extLst>
      <p:ext uri="{BB962C8B-B14F-4D97-AF65-F5344CB8AC3E}">
        <p14:creationId xmlns:p14="http://schemas.microsoft.com/office/powerpoint/2010/main" val="3830765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achine Learning : 'Regression' - Day 3">
            <a:extLst>
              <a:ext uri="{FF2B5EF4-FFF2-40B4-BE49-F238E27FC236}">
                <a16:creationId xmlns:a16="http://schemas.microsoft.com/office/drawing/2014/main" id="{8C5B78AE-E842-ED4F-93D3-10BD115003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089" y="1589917"/>
            <a:ext cx="6332081" cy="405198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8207647-D845-CF7E-6030-46E4389E11DD}"/>
              </a:ext>
            </a:extLst>
          </p:cNvPr>
          <p:cNvSpPr txBox="1"/>
          <p:nvPr/>
        </p:nvSpPr>
        <p:spPr>
          <a:xfrm>
            <a:off x="7304313" y="2798019"/>
            <a:ext cx="4321630" cy="1569660"/>
          </a:xfrm>
          <a:prstGeom prst="rect">
            <a:avLst/>
          </a:prstGeom>
          <a:noFill/>
        </p:spPr>
        <p:txBody>
          <a:bodyPr wrap="square">
            <a:spAutoFit/>
          </a:bodyPr>
          <a:lstStyle/>
          <a:p>
            <a:pPr marL="0" indent="0" algn="ctr">
              <a:buNone/>
            </a:pPr>
            <a:r>
              <a:rPr lang="pt-BR" sz="4800" dirty="0"/>
              <a:t>Usando regressão linear!</a:t>
            </a:r>
            <a:endParaRPr lang="en-US" sz="4800" dirty="0"/>
          </a:p>
        </p:txBody>
      </p:sp>
    </p:spTree>
    <p:extLst>
      <p:ext uri="{BB962C8B-B14F-4D97-AF65-F5344CB8AC3E}">
        <p14:creationId xmlns:p14="http://schemas.microsoft.com/office/powerpoint/2010/main" val="6954726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06FD5B-6F51-847E-A4A8-1A8128322F68}"/>
              </a:ext>
            </a:extLst>
          </p:cNvPr>
          <p:cNvSpPr>
            <a:spLocks noGrp="1"/>
          </p:cNvSpPr>
          <p:nvPr>
            <p:ph type="title"/>
          </p:nvPr>
        </p:nvSpPr>
        <p:spPr/>
        <p:txBody>
          <a:bodyPr/>
          <a:lstStyle/>
          <a:p>
            <a:r>
              <a:rPr lang="pt-BR" dirty="0"/>
              <a:t>Regressão linear</a:t>
            </a:r>
          </a:p>
        </p:txBody>
      </p:sp>
      <p:sp>
        <p:nvSpPr>
          <p:cNvPr id="3" name="Espaço Reservado para Conteúdo 2">
            <a:extLst>
              <a:ext uri="{FF2B5EF4-FFF2-40B4-BE49-F238E27FC236}">
                <a16:creationId xmlns:a16="http://schemas.microsoft.com/office/drawing/2014/main" id="{B76F0953-075A-79EF-554F-4E05524F1DC5}"/>
              </a:ext>
            </a:extLst>
          </p:cNvPr>
          <p:cNvSpPr>
            <a:spLocks noGrp="1"/>
          </p:cNvSpPr>
          <p:nvPr>
            <p:ph idx="1"/>
          </p:nvPr>
        </p:nvSpPr>
        <p:spPr>
          <a:xfrm>
            <a:off x="5552501" y="1825624"/>
            <a:ext cx="6533004" cy="5032375"/>
          </a:xfrm>
        </p:spPr>
        <p:txBody>
          <a:bodyPr>
            <a:normAutofit/>
          </a:bodyPr>
          <a:lstStyle/>
          <a:p>
            <a:r>
              <a:rPr lang="pt-BR" dirty="0"/>
              <a:t>É um dos algoritmos mais simples, antigos e usados de aprendizado de máquina.</a:t>
            </a:r>
          </a:p>
          <a:p>
            <a:r>
              <a:rPr lang="pt-BR" dirty="0"/>
              <a:t>Nos dará </a:t>
            </a:r>
            <a:r>
              <a:rPr lang="pt-BR" b="1" dirty="0"/>
              <a:t>intuições</a:t>
            </a:r>
            <a:r>
              <a:rPr lang="pt-BR" dirty="0"/>
              <a:t> importantes para o </a:t>
            </a:r>
            <a:r>
              <a:rPr lang="pt-BR" b="1" dirty="0"/>
              <a:t>entendimento</a:t>
            </a:r>
            <a:r>
              <a:rPr lang="pt-BR" dirty="0"/>
              <a:t> de </a:t>
            </a:r>
            <a:r>
              <a:rPr lang="pt-BR" b="1" dirty="0"/>
              <a:t>algoritmos mais complexos</a:t>
            </a:r>
            <a:r>
              <a:rPr lang="pt-BR" dirty="0"/>
              <a:t>, como </a:t>
            </a:r>
            <a:r>
              <a:rPr lang="pt-BR" b="1" dirty="0"/>
              <a:t>classificadores</a:t>
            </a:r>
            <a:r>
              <a:rPr lang="pt-BR" dirty="0"/>
              <a:t> e </a:t>
            </a:r>
            <a:r>
              <a:rPr lang="pt-BR" b="1" dirty="0"/>
              <a:t>redes neurais</a:t>
            </a:r>
            <a:r>
              <a:rPr lang="pt-BR" dirty="0"/>
              <a:t>.</a:t>
            </a:r>
          </a:p>
        </p:txBody>
      </p:sp>
      <p:grpSp>
        <p:nvGrpSpPr>
          <p:cNvPr id="4" name="Group 3">
            <a:extLst>
              <a:ext uri="{FF2B5EF4-FFF2-40B4-BE49-F238E27FC236}">
                <a16:creationId xmlns:a16="http://schemas.microsoft.com/office/drawing/2014/main" id="{CAA6EE23-CD07-9149-8335-18879B84AB15}"/>
              </a:ext>
            </a:extLst>
          </p:cNvPr>
          <p:cNvGrpSpPr/>
          <p:nvPr/>
        </p:nvGrpSpPr>
        <p:grpSpPr>
          <a:xfrm>
            <a:off x="313057" y="2511846"/>
            <a:ext cx="4622500" cy="3152391"/>
            <a:chOff x="313057" y="2511846"/>
            <a:chExt cx="4622500" cy="3152391"/>
          </a:xfrm>
        </p:grpSpPr>
        <p:grpSp>
          <p:nvGrpSpPr>
            <p:cNvPr id="7" name="Agrupar 8">
              <a:extLst>
                <a:ext uri="{FF2B5EF4-FFF2-40B4-BE49-F238E27FC236}">
                  <a16:creationId xmlns:a16="http://schemas.microsoft.com/office/drawing/2014/main" id="{CF20AF4F-BFBD-21EC-07E1-41C0B2191505}"/>
                </a:ext>
              </a:extLst>
            </p:cNvPr>
            <p:cNvGrpSpPr/>
            <p:nvPr/>
          </p:nvGrpSpPr>
          <p:grpSpPr>
            <a:xfrm>
              <a:off x="313057" y="2511846"/>
              <a:ext cx="4622500" cy="3152391"/>
              <a:chOff x="379861" y="2379643"/>
              <a:chExt cx="4622500" cy="3152391"/>
            </a:xfrm>
          </p:grpSpPr>
          <p:pic>
            <p:nvPicPr>
              <p:cNvPr id="11" name="Imagem 4">
                <a:extLst>
                  <a:ext uri="{FF2B5EF4-FFF2-40B4-BE49-F238E27FC236}">
                    <a16:creationId xmlns:a16="http://schemas.microsoft.com/office/drawing/2014/main" id="{4D31E461-1A6A-29D1-2297-DFBFD51CB0D8}"/>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463" t="9957" r="8514"/>
              <a:stretch/>
            </p:blipFill>
            <p:spPr>
              <a:xfrm>
                <a:off x="379861" y="2379643"/>
                <a:ext cx="4622500" cy="3152391"/>
              </a:xfrm>
              <a:prstGeom prst="rect">
                <a:avLst/>
              </a:prstGeom>
            </p:spPr>
          </p:pic>
          <mc:AlternateContent xmlns:mc="http://schemas.openxmlformats.org/markup-compatibility/2006" xmlns:a14="http://schemas.microsoft.com/office/drawing/2010/main">
            <mc:Choice Requires="a14">
              <p:sp>
                <p:nvSpPr>
                  <p:cNvPr id="12" name="CaixaDeTexto 5">
                    <a:extLst>
                      <a:ext uri="{FF2B5EF4-FFF2-40B4-BE49-F238E27FC236}">
                        <a16:creationId xmlns:a16="http://schemas.microsoft.com/office/drawing/2014/main" id="{E01136AD-4899-EC9B-8DFF-D35176FFB912}"/>
                      </a:ext>
                    </a:extLst>
                  </p:cNvPr>
                  <p:cNvSpPr txBox="1"/>
                  <p:nvPr/>
                </p:nvSpPr>
                <p:spPr>
                  <a:xfrm>
                    <a:off x="3410072" y="3635566"/>
                    <a:ext cx="738130" cy="369332"/>
                  </a:xfrm>
                  <a:prstGeom prst="rect">
                    <a:avLst/>
                  </a:prstGeom>
                  <a:noFill/>
                </p:spPr>
                <p:txBody>
                  <a:bodyPr wrap="square" rtlCol="0">
                    <a:spAutoFit/>
                  </a:bodyPr>
                  <a:lstStyle/>
                  <a:p>
                    <a:pPr/>
                    <a14:m>
                      <m:oMathPara xmlns:m="http://schemas.openxmlformats.org/officeDocument/2006/math">
                        <m:oMath>
                          <m:r>
                            <a:rPr lang="pt-BR" b="0" i="1" smtClean="0">
                              <a:latin typeface="Cambria Math" panose="02040503050406030204" pitchFamily="18" charset="0"/>
                            </a:rPr>
                            <m:t>ℎ</m:t>
                          </m:r>
                          <m:r>
                            <a:rPr lang="pt-BR" b="0" i="1" smtClean="0">
                              <a:latin typeface="Cambria Math" panose="02040503050406030204" pitchFamily="18" charset="0"/>
                            </a:rPr>
                            <m:t>(</m:t>
                          </m:r>
                          <m:r>
                            <a:rPr lang="pt-BR" b="1" i="1" smtClean="0">
                              <a:latin typeface="Cambria Math" panose="02040503050406030204" pitchFamily="18" charset="0"/>
                            </a:rPr>
                            <m:t>𝒙</m:t>
                          </m:r>
                          <m:r>
                            <a:rPr lang="pt-BR" b="0" i="1" smtClean="0">
                              <a:latin typeface="Cambria Math" panose="02040503050406030204" pitchFamily="18" charset="0"/>
                            </a:rPr>
                            <m:t>)</m:t>
                          </m:r>
                        </m:oMath>
                      </m:oMathPara>
                    </a14:m>
                    <a:endParaRPr lang="pt-BR" dirty="0"/>
                  </a:p>
                </p:txBody>
              </p:sp>
            </mc:Choice>
            <mc:Fallback xmlns="">
              <p:sp>
                <p:nvSpPr>
                  <p:cNvPr id="6" name="CaixaDeTexto 5">
                    <a:extLst>
                      <a:ext uri="{FF2B5EF4-FFF2-40B4-BE49-F238E27FC236}">
                        <a16:creationId xmlns:a16="http://schemas.microsoft.com/office/drawing/2014/main" id="{10491C75-CC2B-4E6F-00D1-D7BCDA1CAC51}"/>
                      </a:ext>
                    </a:extLst>
                  </p:cNvPr>
                  <p:cNvSpPr txBox="1">
                    <a:spLocks noRot="1" noChangeAspect="1" noMove="1" noResize="1" noEditPoints="1" noAdjustHandles="1" noChangeArrowheads="1" noChangeShapeType="1" noTextEdit="1"/>
                  </p:cNvSpPr>
                  <p:nvPr/>
                </p:nvSpPr>
                <p:spPr>
                  <a:xfrm>
                    <a:off x="3410072" y="3635566"/>
                    <a:ext cx="738130" cy="369332"/>
                  </a:xfrm>
                  <a:prstGeom prst="rect">
                    <a:avLst/>
                  </a:prstGeom>
                  <a:blipFill>
                    <a:blip r:embed="rId5"/>
                    <a:stretch>
                      <a:fillRect b="-13115"/>
                    </a:stretch>
                  </a:blipFill>
                </p:spPr>
                <p:txBody>
                  <a:bodyPr/>
                  <a:lstStyle/>
                  <a:p>
                    <a:r>
                      <a:rPr lang="pt-BR">
                        <a:noFill/>
                      </a:rPr>
                      <a:t> </a:t>
                    </a:r>
                  </a:p>
                </p:txBody>
              </p:sp>
            </mc:Fallback>
          </mc:AlternateContent>
          <p:cxnSp>
            <p:nvCxnSpPr>
              <p:cNvPr id="13" name="Conector de Seta Reta 7">
                <a:extLst>
                  <a:ext uri="{FF2B5EF4-FFF2-40B4-BE49-F238E27FC236}">
                    <a16:creationId xmlns:a16="http://schemas.microsoft.com/office/drawing/2014/main" id="{E6A4E71A-8296-6E9B-6F53-58CD005C17C6}"/>
                  </a:ext>
                </a:extLst>
              </p:cNvPr>
              <p:cNvCxnSpPr/>
              <p:nvPr/>
            </p:nvCxnSpPr>
            <p:spPr>
              <a:xfrm>
                <a:off x="3150824" y="3602516"/>
                <a:ext cx="374574" cy="19830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0" name="CaixaDeTexto 3">
                  <a:extLst>
                    <a:ext uri="{FF2B5EF4-FFF2-40B4-BE49-F238E27FC236}">
                      <a16:creationId xmlns:a16="http://schemas.microsoft.com/office/drawing/2014/main" id="{9E8479D2-8EC0-0456-F706-2969C0BC1122}"/>
                    </a:ext>
                  </a:extLst>
                </p:cNvPr>
                <p:cNvSpPr txBox="1"/>
                <p:nvPr/>
              </p:nvSpPr>
              <p:spPr>
                <a:xfrm>
                  <a:off x="2409352" y="2755948"/>
                  <a:ext cx="738130" cy="307777"/>
                </a:xfrm>
                <a:prstGeom prst="rect">
                  <a:avLst/>
                </a:prstGeom>
                <a:noFill/>
              </p:spPr>
              <p:txBody>
                <a:bodyPr wrap="square" rtlCol="0">
                  <a:spAutoFit/>
                </a:bodyPr>
                <a:lstStyle/>
                <a:p>
                  <a:pPr/>
                  <a14:m>
                    <m:oMathPara xmlns:m="http://schemas.openxmlformats.org/officeDocument/2006/math">
                      <m:oMath>
                        <m:r>
                          <a:rPr lang="pt-BR" sz="1400" b="0" i="1" smtClean="0">
                            <a:latin typeface="Cambria Math" panose="02040503050406030204" pitchFamily="18" charset="0"/>
                          </a:rPr>
                          <m:t>ℎ</m:t>
                        </m:r>
                        <m:r>
                          <a:rPr lang="pt-BR" sz="1400" b="0" i="1" smtClean="0">
                            <a:latin typeface="Cambria Math" panose="02040503050406030204" pitchFamily="18" charset="0"/>
                          </a:rPr>
                          <m:t>(</m:t>
                        </m:r>
                        <m:r>
                          <a:rPr lang="pt-BR" sz="1400" b="1" i="1" smtClean="0">
                            <a:latin typeface="Cambria Math" panose="02040503050406030204" pitchFamily="18" charset="0"/>
                          </a:rPr>
                          <m:t>𝒙</m:t>
                        </m:r>
                        <m:r>
                          <a:rPr lang="pt-BR" sz="1400" b="0" i="1" smtClean="0">
                            <a:latin typeface="Cambria Math" panose="02040503050406030204" pitchFamily="18" charset="0"/>
                          </a:rPr>
                          <m:t>)</m:t>
                        </m:r>
                      </m:oMath>
                    </m:oMathPara>
                  </a14:m>
                  <a:endParaRPr lang="pt-BR" sz="1400" dirty="0"/>
                </a:p>
              </p:txBody>
            </p:sp>
          </mc:Choice>
          <mc:Fallback xmlns="">
            <p:sp>
              <p:nvSpPr>
                <p:cNvPr id="4" name="CaixaDeTexto 3">
                  <a:extLst>
                    <a:ext uri="{FF2B5EF4-FFF2-40B4-BE49-F238E27FC236}">
                      <a16:creationId xmlns:a16="http://schemas.microsoft.com/office/drawing/2014/main" id="{B6371B7D-BB1A-D7F3-A54B-3E89596BFE8C}"/>
                    </a:ext>
                  </a:extLst>
                </p:cNvPr>
                <p:cNvSpPr txBox="1">
                  <a:spLocks noRot="1" noChangeAspect="1" noMove="1" noResize="1" noEditPoints="1" noAdjustHandles="1" noChangeArrowheads="1" noChangeShapeType="1" noTextEdit="1"/>
                </p:cNvSpPr>
                <p:nvPr/>
              </p:nvSpPr>
              <p:spPr>
                <a:xfrm>
                  <a:off x="2409352" y="2755948"/>
                  <a:ext cx="738130" cy="307777"/>
                </a:xfrm>
                <a:prstGeom prst="rect">
                  <a:avLst/>
                </a:prstGeom>
                <a:blipFill>
                  <a:blip r:embed="rId6"/>
                  <a:stretch>
                    <a:fillRect b="-5882"/>
                  </a:stretch>
                </a:blipFill>
              </p:spPr>
              <p:txBody>
                <a:bodyPr/>
                <a:lstStyle/>
                <a:p>
                  <a:r>
                    <a:rPr lang="en-US">
                      <a:noFill/>
                    </a:rPr>
                    <a:t> </a:t>
                  </a:r>
                </a:p>
              </p:txBody>
            </p:sp>
          </mc:Fallback>
        </mc:AlternateContent>
      </p:grpSp>
    </p:spTree>
    <p:extLst>
      <p:ext uri="{BB962C8B-B14F-4D97-AF65-F5344CB8AC3E}">
        <p14:creationId xmlns:p14="http://schemas.microsoft.com/office/powerpoint/2010/main" val="34690124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06FD5B-6F51-847E-A4A8-1A8128322F68}"/>
              </a:ext>
            </a:extLst>
          </p:cNvPr>
          <p:cNvSpPr>
            <a:spLocks noGrp="1"/>
          </p:cNvSpPr>
          <p:nvPr>
            <p:ph type="title"/>
          </p:nvPr>
        </p:nvSpPr>
        <p:spPr/>
        <p:txBody>
          <a:bodyPr/>
          <a:lstStyle/>
          <a:p>
            <a:r>
              <a:rPr lang="pt-BR" dirty="0"/>
              <a:t>Qual o objetivo da regressão linear?</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B76F0953-075A-79EF-554F-4E05524F1DC5}"/>
                  </a:ext>
                </a:extLst>
              </p:cNvPr>
              <p:cNvSpPr>
                <a:spLocks noGrp="1"/>
              </p:cNvSpPr>
              <p:nvPr>
                <p:ph idx="1"/>
              </p:nvPr>
            </p:nvSpPr>
            <p:spPr>
              <a:xfrm>
                <a:off x="5514680" y="1825624"/>
                <a:ext cx="6677320" cy="5032375"/>
              </a:xfrm>
            </p:spPr>
            <p:txBody>
              <a:bodyPr>
                <a:normAutofit/>
              </a:bodyPr>
              <a:lstStyle/>
              <a:p>
                <a:r>
                  <a:rPr lang="pt-BR" b="1" dirty="0"/>
                  <a:t>Objetivo</a:t>
                </a:r>
                <a:r>
                  <a:rPr lang="pt-BR" dirty="0"/>
                  <a:t>: encontrar uma </a:t>
                </a:r>
                <a:r>
                  <a:rPr lang="pt-BR" b="1" dirty="0">
                    <a:solidFill>
                      <a:schemeClr val="accent1"/>
                    </a:solidFill>
                  </a:rPr>
                  <a:t>função aproximadora</a:t>
                </a:r>
                <a:r>
                  <a:rPr lang="pt-BR" dirty="0"/>
                  <a:t>, </a:t>
                </a:r>
                <a14:m>
                  <m:oMath xmlns:m="http://schemas.openxmlformats.org/officeDocument/2006/math">
                    <m:r>
                      <a:rPr lang="pt-BR" b="0" i="1" smtClean="0">
                        <a:latin typeface="Cambria Math" panose="02040503050406030204" pitchFamily="18" charset="0"/>
                      </a:rPr>
                      <m:t>ℎ</m:t>
                    </m:r>
                    <m:d>
                      <m:dPr>
                        <m:ctrlPr>
                          <a:rPr lang="pt-BR" b="1" i="1">
                            <a:latin typeface="Cambria Math" panose="02040503050406030204" pitchFamily="18" charset="0"/>
                          </a:rPr>
                        </m:ctrlPr>
                      </m:dPr>
                      <m:e>
                        <m:r>
                          <a:rPr lang="pt-BR" b="1" i="1">
                            <a:latin typeface="Cambria Math" panose="02040503050406030204" pitchFamily="18" charset="0"/>
                          </a:rPr>
                          <m:t>𝒙</m:t>
                        </m:r>
                      </m:e>
                    </m:d>
                  </m:oMath>
                </a14:m>
                <a:r>
                  <a:rPr lang="pt-BR" dirty="0"/>
                  <a:t>, que </a:t>
                </a:r>
                <a:r>
                  <a:rPr lang="pt-BR" b="1" dirty="0">
                    <a:solidFill>
                      <a:srgbClr val="00B050"/>
                    </a:solidFill>
                  </a:rPr>
                  <a:t>mapeie</a:t>
                </a:r>
                <a:r>
                  <a:rPr lang="pt-BR" dirty="0"/>
                  <a:t> os </a:t>
                </a:r>
                <a:r>
                  <a:rPr lang="pt-BR" b="1" dirty="0">
                    <a:solidFill>
                      <a:srgbClr val="7030A0"/>
                    </a:solidFill>
                  </a:rPr>
                  <a:t>atributos</a:t>
                </a:r>
                <a:r>
                  <a:rPr lang="pt-BR" dirty="0"/>
                  <a:t>, </a:t>
                </a:r>
                <a14:m>
                  <m:oMath xmlns:m="http://schemas.openxmlformats.org/officeDocument/2006/math">
                    <m:r>
                      <a:rPr lang="pt-BR" b="1" i="1" smtClean="0">
                        <a:latin typeface="Cambria Math" panose="02040503050406030204" pitchFamily="18" charset="0"/>
                      </a:rPr>
                      <m:t>𝒙</m:t>
                    </m:r>
                  </m:oMath>
                </a14:m>
                <a:r>
                  <a:rPr lang="pt-BR" dirty="0"/>
                  <a:t>, em uma variável de saída, </a:t>
                </a:r>
                <a14:m>
                  <m:oMath xmlns:m="http://schemas.openxmlformats.org/officeDocument/2006/math">
                    <m:acc>
                      <m:accPr>
                        <m:chr m:val="̂"/>
                        <m:ctrlPr>
                          <a:rPr lang="pt-BR" i="1">
                            <a:latin typeface="Cambria Math" panose="02040503050406030204" pitchFamily="18" charset="0"/>
                            <a:ea typeface="Cambria Math" panose="02040503050406030204" pitchFamily="18" charset="0"/>
                          </a:rPr>
                        </m:ctrlPr>
                      </m:accPr>
                      <m:e>
                        <m:r>
                          <a:rPr lang="pt-BR" i="1">
                            <a:latin typeface="Cambria Math" panose="02040503050406030204" pitchFamily="18" charset="0"/>
                            <a:ea typeface="Cambria Math" panose="02040503050406030204" pitchFamily="18" charset="0"/>
                          </a:rPr>
                          <m:t>𝑦</m:t>
                        </m:r>
                      </m:e>
                    </m:acc>
                    <m:r>
                      <a:rPr lang="pt-BR" b="0" i="1" smtClean="0">
                        <a:latin typeface="Cambria Math" panose="02040503050406030204" pitchFamily="18" charset="0"/>
                      </a:rPr>
                      <m:t>=</m:t>
                    </m:r>
                    <m:r>
                      <a:rPr lang="pt-BR" b="0" i="1" smtClean="0">
                        <a:latin typeface="Cambria Math" panose="02040503050406030204" pitchFamily="18" charset="0"/>
                      </a:rPr>
                      <m:t>ℎ</m:t>
                    </m:r>
                    <m:d>
                      <m:dPr>
                        <m:ctrlPr>
                          <a:rPr lang="pt-BR" b="1" i="1" smtClean="0">
                            <a:latin typeface="Cambria Math" panose="02040503050406030204" pitchFamily="18" charset="0"/>
                          </a:rPr>
                        </m:ctrlPr>
                      </m:dPr>
                      <m:e>
                        <m:r>
                          <a:rPr lang="pt-BR" b="1" i="1" smtClean="0">
                            <a:latin typeface="Cambria Math" panose="02040503050406030204" pitchFamily="18" charset="0"/>
                          </a:rPr>
                          <m:t>𝒙</m:t>
                        </m:r>
                      </m:e>
                    </m:d>
                  </m:oMath>
                </a14:m>
                <a:r>
                  <a:rPr lang="pt-BR" dirty="0"/>
                  <a:t>, de tal forma que </a:t>
                </a:r>
                <a14:m>
                  <m:oMath xmlns:m="http://schemas.openxmlformats.org/officeDocument/2006/math">
                    <m:r>
                      <a:rPr lang="pt-BR" i="1">
                        <a:latin typeface="Cambria Math" panose="02040503050406030204" pitchFamily="18" charset="0"/>
                      </a:rPr>
                      <m:t>ℎ</m:t>
                    </m:r>
                    <m:r>
                      <a:rPr lang="pt-BR" b="0" i="1" smtClean="0">
                        <a:latin typeface="Cambria Math" panose="02040503050406030204" pitchFamily="18" charset="0"/>
                      </a:rPr>
                      <m:t>(</m:t>
                    </m:r>
                    <m:r>
                      <a:rPr lang="pt-BR" b="1" i="1" smtClean="0">
                        <a:latin typeface="Cambria Math" panose="02040503050406030204" pitchFamily="18" charset="0"/>
                      </a:rPr>
                      <m:t>𝒙</m:t>
                    </m:r>
                    <m:r>
                      <a:rPr lang="pt-BR" b="0" i="1" smtClean="0">
                        <a:latin typeface="Cambria Math" panose="02040503050406030204" pitchFamily="18" charset="0"/>
                      </a:rPr>
                      <m:t>)</m:t>
                    </m:r>
                  </m:oMath>
                </a14:m>
                <a:r>
                  <a:rPr lang="pt-BR" dirty="0"/>
                  <a:t> se ajuste aos dados coletados de </a:t>
                </a:r>
                <a:r>
                  <a:rPr lang="pt-BR" b="1" dirty="0">
                    <a:solidFill>
                      <a:srgbClr val="00B050"/>
                    </a:solidFill>
                  </a:rPr>
                  <a:t>forma</a:t>
                </a:r>
                <a:r>
                  <a:rPr lang="pt-BR" b="1" i="1" dirty="0">
                    <a:solidFill>
                      <a:srgbClr val="00B050"/>
                    </a:solidFill>
                  </a:rPr>
                  <a:t> </a:t>
                </a:r>
                <a:r>
                  <a:rPr lang="pt-BR" b="1" dirty="0">
                    <a:solidFill>
                      <a:schemeClr val="accent2"/>
                    </a:solidFill>
                  </a:rPr>
                  <a:t>ótima</a:t>
                </a:r>
                <a:r>
                  <a:rPr lang="pt-BR" dirty="0"/>
                  <a:t>.</a:t>
                </a:r>
              </a:p>
              <a:p>
                <a:r>
                  <a:rPr lang="pt-BR" b="1" i="0" dirty="0">
                    <a:solidFill>
                      <a:schemeClr val="accent2"/>
                    </a:solidFill>
                    <a:effectLst/>
                  </a:rPr>
                  <a:t>Ótimo</a:t>
                </a:r>
                <a:r>
                  <a:rPr lang="pt-BR" b="0" i="0" dirty="0">
                    <a:solidFill>
                      <a:schemeClr val="tx1"/>
                    </a:solidFill>
                    <a:effectLst/>
                  </a:rPr>
                  <a:t> no sentido da </a:t>
                </a:r>
                <a:r>
                  <a:rPr lang="pt-BR" b="1" dirty="0">
                    <a:solidFill>
                      <a:srgbClr val="00B050"/>
                    </a:solidFill>
                    <a:effectLst/>
                  </a:rPr>
                  <a:t>minimização</a:t>
                </a:r>
                <a:r>
                  <a:rPr lang="pt-BR" b="1" i="1" dirty="0">
                    <a:solidFill>
                      <a:srgbClr val="00B050"/>
                    </a:solidFill>
                    <a:effectLst/>
                  </a:rPr>
                  <a:t> </a:t>
                </a:r>
                <a:r>
                  <a:rPr lang="pt-BR" b="1" dirty="0">
                    <a:solidFill>
                      <a:srgbClr val="00B050"/>
                    </a:solidFill>
                    <a:effectLst/>
                  </a:rPr>
                  <a:t>da diferença</a:t>
                </a:r>
                <a:r>
                  <a:rPr lang="pt-BR" b="1" i="1" dirty="0">
                    <a:solidFill>
                      <a:srgbClr val="00B050"/>
                    </a:solidFill>
                    <a:effectLst/>
                  </a:rPr>
                  <a:t> </a:t>
                </a:r>
                <a:r>
                  <a:rPr lang="pt-BR" b="0" i="0" dirty="0">
                    <a:solidFill>
                      <a:schemeClr val="tx1"/>
                    </a:solidFill>
                    <a:effectLst/>
                  </a:rPr>
                  <a:t>entre as </a:t>
                </a:r>
                <a:r>
                  <a:rPr lang="pt-BR" b="1" i="0" dirty="0">
                    <a:solidFill>
                      <a:srgbClr val="7030A0"/>
                    </a:solidFill>
                    <a:effectLst/>
                  </a:rPr>
                  <a:t>predições</a:t>
                </a:r>
                <a:r>
                  <a:rPr lang="pt-BR" b="0" i="0" dirty="0">
                    <a:solidFill>
                      <a:schemeClr val="tx1"/>
                    </a:solidFill>
                    <a:effectLst/>
                  </a:rPr>
                  <a:t> feitas por </a:t>
                </a:r>
                <a14:m>
                  <m:oMath xmlns:m="http://schemas.openxmlformats.org/officeDocument/2006/math">
                    <m:r>
                      <a:rPr lang="pt-BR" i="1" smtClean="0">
                        <a:solidFill>
                          <a:schemeClr val="tx1"/>
                        </a:solidFill>
                        <a:latin typeface="Cambria Math" panose="02040503050406030204" pitchFamily="18" charset="0"/>
                      </a:rPr>
                      <m:t>ℎ</m:t>
                    </m:r>
                    <m:r>
                      <a:rPr lang="pt-BR" b="0" i="1" smtClean="0">
                        <a:solidFill>
                          <a:schemeClr val="tx1"/>
                        </a:solidFill>
                        <a:latin typeface="Cambria Math" panose="02040503050406030204" pitchFamily="18" charset="0"/>
                      </a:rPr>
                      <m:t>(</m:t>
                    </m:r>
                    <m:r>
                      <a:rPr lang="pt-BR" b="1" i="1" smtClean="0">
                        <a:solidFill>
                          <a:schemeClr val="tx1"/>
                        </a:solidFill>
                        <a:latin typeface="Cambria Math" panose="02040503050406030204" pitchFamily="18" charset="0"/>
                      </a:rPr>
                      <m:t>𝒙</m:t>
                    </m:r>
                    <m:r>
                      <a:rPr lang="pt-BR" b="0" i="1" smtClean="0">
                        <a:solidFill>
                          <a:schemeClr val="tx1"/>
                        </a:solidFill>
                        <a:latin typeface="Cambria Math" panose="02040503050406030204" pitchFamily="18" charset="0"/>
                      </a:rPr>
                      <m:t>)</m:t>
                    </m:r>
                  </m:oMath>
                </a14:m>
                <a:r>
                  <a:rPr lang="pt-BR" b="0" i="0" dirty="0">
                    <a:solidFill>
                      <a:schemeClr val="tx1"/>
                    </a:solidFill>
                    <a:effectLst/>
                  </a:rPr>
                  <a:t>, (i.e., os valores de </a:t>
                </a:r>
                <a14:m>
                  <m:oMath xmlns:m="http://schemas.openxmlformats.org/officeDocument/2006/math">
                    <m:acc>
                      <m:accPr>
                        <m:chr m:val="̂"/>
                        <m:ctrlPr>
                          <a:rPr lang="pt-BR" i="1">
                            <a:latin typeface="Cambria Math" panose="02040503050406030204" pitchFamily="18" charset="0"/>
                            <a:ea typeface="Cambria Math" panose="02040503050406030204" pitchFamily="18" charset="0"/>
                          </a:rPr>
                        </m:ctrlPr>
                      </m:accPr>
                      <m:e>
                        <m:r>
                          <a:rPr lang="pt-BR" i="1">
                            <a:latin typeface="Cambria Math" panose="02040503050406030204" pitchFamily="18" charset="0"/>
                            <a:ea typeface="Cambria Math" panose="02040503050406030204" pitchFamily="18" charset="0"/>
                          </a:rPr>
                          <m:t>𝑦</m:t>
                        </m:r>
                      </m:e>
                    </m:acc>
                  </m:oMath>
                </a14:m>
                <a:r>
                  <a:rPr lang="pt-BR" b="0" i="0" dirty="0">
                    <a:solidFill>
                      <a:schemeClr val="tx1"/>
                    </a:solidFill>
                    <a:effectLst/>
                  </a:rPr>
                  <a:t>), e os </a:t>
                </a:r>
                <a:r>
                  <a:rPr lang="pt-BR" b="1" i="0" dirty="0">
                    <a:solidFill>
                      <a:srgbClr val="7030A0"/>
                    </a:solidFill>
                    <a:effectLst/>
                  </a:rPr>
                  <a:t>rótulos</a:t>
                </a:r>
                <a:r>
                  <a:rPr lang="pt-BR" b="0" i="0" dirty="0">
                    <a:solidFill>
                      <a:schemeClr val="tx1"/>
                    </a:solidFill>
                    <a:effectLst/>
                  </a:rPr>
                  <a:t>, (i.e., os </a:t>
                </a:r>
                <a:r>
                  <a:rPr lang="pt-BR" dirty="0"/>
                  <a:t>valores esperados de saída, </a:t>
                </a:r>
                <a14:m>
                  <m:oMath xmlns:m="http://schemas.openxmlformats.org/officeDocument/2006/math">
                    <m:r>
                      <a:rPr lang="pt-BR" b="0" i="1" smtClean="0">
                        <a:solidFill>
                          <a:schemeClr val="tx1"/>
                        </a:solidFill>
                        <a:effectLst/>
                        <a:latin typeface="Cambria Math" panose="02040503050406030204" pitchFamily="18" charset="0"/>
                      </a:rPr>
                      <m:t>𝑦</m:t>
                    </m:r>
                  </m:oMath>
                </a14:m>
                <a:r>
                  <a:rPr lang="pt-BR" b="0" i="0" dirty="0">
                    <a:solidFill>
                      <a:schemeClr val="tx1"/>
                    </a:solidFill>
                    <a:effectLst/>
                  </a:rPr>
                  <a:t>).</a:t>
                </a:r>
              </a:p>
            </p:txBody>
          </p:sp>
        </mc:Choice>
        <mc:Fallback xmlns="">
          <p:sp>
            <p:nvSpPr>
              <p:cNvPr id="3" name="Espaço Reservado para Conteúdo 2">
                <a:extLst>
                  <a:ext uri="{FF2B5EF4-FFF2-40B4-BE49-F238E27FC236}">
                    <a16:creationId xmlns:a16="http://schemas.microsoft.com/office/drawing/2014/main" id="{B76F0953-075A-79EF-554F-4E05524F1DC5}"/>
                  </a:ext>
                </a:extLst>
              </p:cNvPr>
              <p:cNvSpPr>
                <a:spLocks noGrp="1" noRot="1" noChangeAspect="1" noMove="1" noResize="1" noEditPoints="1" noAdjustHandles="1" noChangeArrowheads="1" noChangeShapeType="1" noTextEdit="1"/>
              </p:cNvSpPr>
              <p:nvPr>
                <p:ph idx="1"/>
              </p:nvPr>
            </p:nvSpPr>
            <p:spPr>
              <a:xfrm>
                <a:off x="5514680" y="1825624"/>
                <a:ext cx="6677320" cy="5032375"/>
              </a:xfrm>
              <a:blipFill>
                <a:blip r:embed="rId3"/>
                <a:stretch>
                  <a:fillRect l="-1644" t="-1937"/>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299C8109-7B44-7AAE-62A5-EC1B3B38CE3B}"/>
              </a:ext>
            </a:extLst>
          </p:cNvPr>
          <p:cNvGrpSpPr/>
          <p:nvPr/>
        </p:nvGrpSpPr>
        <p:grpSpPr>
          <a:xfrm>
            <a:off x="313057" y="2511846"/>
            <a:ext cx="4622500" cy="3152391"/>
            <a:chOff x="313057" y="2511846"/>
            <a:chExt cx="4622500" cy="3152391"/>
          </a:xfrm>
        </p:grpSpPr>
        <p:grpSp>
          <p:nvGrpSpPr>
            <p:cNvPr id="5" name="Agrupar 8">
              <a:extLst>
                <a:ext uri="{FF2B5EF4-FFF2-40B4-BE49-F238E27FC236}">
                  <a16:creationId xmlns:a16="http://schemas.microsoft.com/office/drawing/2014/main" id="{6CF47A44-089A-EED4-1C0F-DBEE30497D2C}"/>
                </a:ext>
              </a:extLst>
            </p:cNvPr>
            <p:cNvGrpSpPr/>
            <p:nvPr/>
          </p:nvGrpSpPr>
          <p:grpSpPr>
            <a:xfrm>
              <a:off x="313057" y="2511846"/>
              <a:ext cx="4622500" cy="3152391"/>
              <a:chOff x="379861" y="2379643"/>
              <a:chExt cx="4622500" cy="3152391"/>
            </a:xfrm>
          </p:grpSpPr>
          <p:pic>
            <p:nvPicPr>
              <p:cNvPr id="7" name="Imagem 4">
                <a:extLst>
                  <a:ext uri="{FF2B5EF4-FFF2-40B4-BE49-F238E27FC236}">
                    <a16:creationId xmlns:a16="http://schemas.microsoft.com/office/drawing/2014/main" id="{207C86B7-33F0-3722-F20C-A3B590DBE6E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463" t="9957" r="8514"/>
              <a:stretch/>
            </p:blipFill>
            <p:spPr>
              <a:xfrm>
                <a:off x="379861" y="2379643"/>
                <a:ext cx="4622500" cy="3152391"/>
              </a:xfrm>
              <a:prstGeom prst="rect">
                <a:avLst/>
              </a:prstGeom>
            </p:spPr>
          </p:pic>
          <mc:AlternateContent xmlns:mc="http://schemas.openxmlformats.org/markup-compatibility/2006" xmlns:a14="http://schemas.microsoft.com/office/drawing/2010/main">
            <mc:Choice Requires="a14">
              <p:sp>
                <p:nvSpPr>
                  <p:cNvPr id="8" name="CaixaDeTexto 5">
                    <a:extLst>
                      <a:ext uri="{FF2B5EF4-FFF2-40B4-BE49-F238E27FC236}">
                        <a16:creationId xmlns:a16="http://schemas.microsoft.com/office/drawing/2014/main" id="{9A0E37AE-542C-72FE-0797-741EF14E0E9D}"/>
                      </a:ext>
                    </a:extLst>
                  </p:cNvPr>
                  <p:cNvSpPr txBox="1"/>
                  <p:nvPr/>
                </p:nvSpPr>
                <p:spPr>
                  <a:xfrm>
                    <a:off x="3410072" y="3635566"/>
                    <a:ext cx="738130" cy="369332"/>
                  </a:xfrm>
                  <a:prstGeom prst="rect">
                    <a:avLst/>
                  </a:prstGeom>
                  <a:noFill/>
                </p:spPr>
                <p:txBody>
                  <a:bodyPr wrap="square" rtlCol="0">
                    <a:spAutoFit/>
                  </a:bodyPr>
                  <a:lstStyle/>
                  <a:p>
                    <a:pPr/>
                    <a14:m>
                      <m:oMathPara xmlns:m="http://schemas.openxmlformats.org/officeDocument/2006/math">
                        <m:oMath>
                          <m:r>
                            <a:rPr lang="pt-BR" b="0" i="1" smtClean="0">
                              <a:latin typeface="Cambria Math" panose="02040503050406030204" pitchFamily="18" charset="0"/>
                            </a:rPr>
                            <m:t>ℎ</m:t>
                          </m:r>
                          <m:r>
                            <a:rPr lang="pt-BR" b="0" i="1" smtClean="0">
                              <a:latin typeface="Cambria Math" panose="02040503050406030204" pitchFamily="18" charset="0"/>
                            </a:rPr>
                            <m:t>(</m:t>
                          </m:r>
                          <m:r>
                            <a:rPr lang="pt-BR" b="1" i="1" smtClean="0">
                              <a:latin typeface="Cambria Math" panose="02040503050406030204" pitchFamily="18" charset="0"/>
                            </a:rPr>
                            <m:t>𝒙</m:t>
                          </m:r>
                          <m:r>
                            <a:rPr lang="pt-BR" b="0" i="1" smtClean="0">
                              <a:latin typeface="Cambria Math" panose="02040503050406030204" pitchFamily="18" charset="0"/>
                            </a:rPr>
                            <m:t>)</m:t>
                          </m:r>
                        </m:oMath>
                      </m:oMathPara>
                    </a14:m>
                    <a:endParaRPr lang="pt-BR" dirty="0"/>
                  </a:p>
                </p:txBody>
              </p:sp>
            </mc:Choice>
            <mc:Fallback xmlns="">
              <p:sp>
                <p:nvSpPr>
                  <p:cNvPr id="6" name="CaixaDeTexto 5">
                    <a:extLst>
                      <a:ext uri="{FF2B5EF4-FFF2-40B4-BE49-F238E27FC236}">
                        <a16:creationId xmlns:a16="http://schemas.microsoft.com/office/drawing/2014/main" id="{10491C75-CC2B-4E6F-00D1-D7BCDA1CAC51}"/>
                      </a:ext>
                    </a:extLst>
                  </p:cNvPr>
                  <p:cNvSpPr txBox="1">
                    <a:spLocks noRot="1" noChangeAspect="1" noMove="1" noResize="1" noEditPoints="1" noAdjustHandles="1" noChangeArrowheads="1" noChangeShapeType="1" noTextEdit="1"/>
                  </p:cNvSpPr>
                  <p:nvPr/>
                </p:nvSpPr>
                <p:spPr>
                  <a:xfrm>
                    <a:off x="3410072" y="3635566"/>
                    <a:ext cx="738130" cy="369332"/>
                  </a:xfrm>
                  <a:prstGeom prst="rect">
                    <a:avLst/>
                  </a:prstGeom>
                  <a:blipFill>
                    <a:blip r:embed="rId5"/>
                    <a:stretch>
                      <a:fillRect b="-13115"/>
                    </a:stretch>
                  </a:blipFill>
                </p:spPr>
                <p:txBody>
                  <a:bodyPr/>
                  <a:lstStyle/>
                  <a:p>
                    <a:r>
                      <a:rPr lang="pt-BR">
                        <a:noFill/>
                      </a:rPr>
                      <a:t> </a:t>
                    </a:r>
                  </a:p>
                </p:txBody>
              </p:sp>
            </mc:Fallback>
          </mc:AlternateContent>
          <p:cxnSp>
            <p:nvCxnSpPr>
              <p:cNvPr id="9" name="Conector de Seta Reta 7">
                <a:extLst>
                  <a:ext uri="{FF2B5EF4-FFF2-40B4-BE49-F238E27FC236}">
                    <a16:creationId xmlns:a16="http://schemas.microsoft.com/office/drawing/2014/main" id="{F8F60646-79A9-EBB1-F018-2AB82B9FEA07}"/>
                  </a:ext>
                </a:extLst>
              </p:cNvPr>
              <p:cNvCxnSpPr/>
              <p:nvPr/>
            </p:nvCxnSpPr>
            <p:spPr>
              <a:xfrm>
                <a:off x="3150824" y="3602516"/>
                <a:ext cx="374574" cy="19830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6" name="CaixaDeTexto 3">
                  <a:extLst>
                    <a:ext uri="{FF2B5EF4-FFF2-40B4-BE49-F238E27FC236}">
                      <a16:creationId xmlns:a16="http://schemas.microsoft.com/office/drawing/2014/main" id="{69731479-AED1-F761-09C8-881CB61F7F2D}"/>
                    </a:ext>
                  </a:extLst>
                </p:cNvPr>
                <p:cNvSpPr txBox="1"/>
                <p:nvPr/>
              </p:nvSpPr>
              <p:spPr>
                <a:xfrm>
                  <a:off x="2409352" y="2755948"/>
                  <a:ext cx="738130" cy="307777"/>
                </a:xfrm>
                <a:prstGeom prst="rect">
                  <a:avLst/>
                </a:prstGeom>
                <a:noFill/>
              </p:spPr>
              <p:txBody>
                <a:bodyPr wrap="square" rtlCol="0">
                  <a:spAutoFit/>
                </a:bodyPr>
                <a:lstStyle/>
                <a:p>
                  <a:pPr/>
                  <a14:m>
                    <m:oMathPara xmlns:m="http://schemas.openxmlformats.org/officeDocument/2006/math">
                      <m:oMath>
                        <m:r>
                          <a:rPr lang="pt-BR" sz="1400" b="0" i="1" smtClean="0">
                            <a:latin typeface="Cambria Math" panose="02040503050406030204" pitchFamily="18" charset="0"/>
                          </a:rPr>
                          <m:t>ℎ</m:t>
                        </m:r>
                        <m:r>
                          <a:rPr lang="pt-BR" sz="1400" b="0" i="1" smtClean="0">
                            <a:latin typeface="Cambria Math" panose="02040503050406030204" pitchFamily="18" charset="0"/>
                          </a:rPr>
                          <m:t>(</m:t>
                        </m:r>
                        <m:r>
                          <a:rPr lang="pt-BR" sz="1400" b="1" i="1" smtClean="0">
                            <a:latin typeface="Cambria Math" panose="02040503050406030204" pitchFamily="18" charset="0"/>
                          </a:rPr>
                          <m:t>𝒙</m:t>
                        </m:r>
                        <m:r>
                          <a:rPr lang="pt-BR" sz="1400" b="0" i="1" smtClean="0">
                            <a:latin typeface="Cambria Math" panose="02040503050406030204" pitchFamily="18" charset="0"/>
                          </a:rPr>
                          <m:t>)</m:t>
                        </m:r>
                      </m:oMath>
                    </m:oMathPara>
                  </a14:m>
                  <a:endParaRPr lang="pt-BR" sz="1400" dirty="0"/>
                </a:p>
              </p:txBody>
            </p:sp>
          </mc:Choice>
          <mc:Fallback xmlns="">
            <p:sp>
              <p:nvSpPr>
                <p:cNvPr id="4" name="CaixaDeTexto 3">
                  <a:extLst>
                    <a:ext uri="{FF2B5EF4-FFF2-40B4-BE49-F238E27FC236}">
                      <a16:creationId xmlns:a16="http://schemas.microsoft.com/office/drawing/2014/main" id="{B6371B7D-BB1A-D7F3-A54B-3E89596BFE8C}"/>
                    </a:ext>
                  </a:extLst>
                </p:cNvPr>
                <p:cNvSpPr txBox="1">
                  <a:spLocks noRot="1" noChangeAspect="1" noMove="1" noResize="1" noEditPoints="1" noAdjustHandles="1" noChangeArrowheads="1" noChangeShapeType="1" noTextEdit="1"/>
                </p:cNvSpPr>
                <p:nvPr/>
              </p:nvSpPr>
              <p:spPr>
                <a:xfrm>
                  <a:off x="2409352" y="2755948"/>
                  <a:ext cx="738130" cy="307777"/>
                </a:xfrm>
                <a:prstGeom prst="rect">
                  <a:avLst/>
                </a:prstGeom>
                <a:blipFill>
                  <a:blip r:embed="rId6"/>
                  <a:stretch>
                    <a:fillRect b="-5882"/>
                  </a:stretch>
                </a:blipFill>
              </p:spPr>
              <p:txBody>
                <a:bodyPr/>
                <a:lstStyle/>
                <a:p>
                  <a:r>
                    <a:rPr lang="en-US">
                      <a:noFill/>
                    </a:rPr>
                    <a:t> </a:t>
                  </a:r>
                </a:p>
              </p:txBody>
            </p:sp>
          </mc:Fallback>
        </mc:AlternateContent>
      </p:grpSp>
    </p:spTree>
    <p:extLst>
      <p:ext uri="{BB962C8B-B14F-4D97-AF65-F5344CB8AC3E}">
        <p14:creationId xmlns:p14="http://schemas.microsoft.com/office/powerpoint/2010/main" val="41805872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C3BE5-3FDE-4D33-6792-E489FB88453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368BA9B-D886-45D8-579D-0D1A0B51E32D}"/>
              </a:ext>
            </a:extLst>
          </p:cNvPr>
          <p:cNvSpPr>
            <a:spLocks noGrp="1"/>
          </p:cNvSpPr>
          <p:nvPr>
            <p:ph type="title"/>
          </p:nvPr>
        </p:nvSpPr>
        <p:spPr/>
        <p:txBody>
          <a:bodyPr/>
          <a:lstStyle/>
          <a:p>
            <a:r>
              <a:rPr lang="pt-BR" dirty="0"/>
              <a:t>Função hipótese</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B2E79883-4418-8363-40E5-94F8B817906B}"/>
                  </a:ext>
                </a:extLst>
              </p:cNvPr>
              <p:cNvSpPr>
                <a:spLocks noGrp="1"/>
              </p:cNvSpPr>
              <p:nvPr>
                <p:ph idx="1"/>
              </p:nvPr>
            </p:nvSpPr>
            <p:spPr>
              <a:xfrm>
                <a:off x="5514680" y="1825624"/>
                <a:ext cx="6677320" cy="5032375"/>
              </a:xfrm>
            </p:spPr>
            <p:txBody>
              <a:bodyPr>
                <a:normAutofit/>
              </a:bodyPr>
              <a:lstStyle/>
              <a:p>
                <a:r>
                  <a:rPr lang="pt-BR" dirty="0"/>
                  <a:t>No contexto da regressão, a </a:t>
                </a:r>
                <a:r>
                  <a:rPr lang="pt-BR" b="1" dirty="0"/>
                  <a:t>função aproximadora</a:t>
                </a:r>
                <a:r>
                  <a:rPr lang="pt-BR" dirty="0"/>
                  <a:t>, </a:t>
                </a:r>
                <a14:m>
                  <m:oMath xmlns:m="http://schemas.openxmlformats.org/officeDocument/2006/math">
                    <m:r>
                      <a:rPr lang="pt-BR" i="1">
                        <a:latin typeface="Cambria Math" panose="02040503050406030204" pitchFamily="18" charset="0"/>
                      </a:rPr>
                      <m:t>ℎ</m:t>
                    </m:r>
                    <m:d>
                      <m:dPr>
                        <m:ctrlPr>
                          <a:rPr lang="pt-BR" b="1" i="1">
                            <a:latin typeface="Cambria Math" panose="02040503050406030204" pitchFamily="18" charset="0"/>
                          </a:rPr>
                        </m:ctrlPr>
                      </m:dPr>
                      <m:e>
                        <m:r>
                          <a:rPr lang="pt-BR" b="1" i="1">
                            <a:latin typeface="Cambria Math" panose="02040503050406030204" pitchFamily="18" charset="0"/>
                          </a:rPr>
                          <m:t>𝒙</m:t>
                        </m:r>
                      </m:e>
                    </m:d>
                  </m:oMath>
                </a14:m>
                <a:r>
                  <a:rPr lang="pt-BR" dirty="0"/>
                  <a:t>, é chamada de </a:t>
                </a:r>
                <a:r>
                  <a:rPr lang="pt-BR" b="1" dirty="0">
                    <a:solidFill>
                      <a:schemeClr val="accent2"/>
                    </a:solidFill>
                  </a:rPr>
                  <a:t>função hipótese</a:t>
                </a:r>
                <a:r>
                  <a:rPr lang="pt-BR" dirty="0"/>
                  <a:t>, pois refere-se à </a:t>
                </a:r>
                <a:r>
                  <a:rPr lang="pt-BR" b="1" dirty="0">
                    <a:solidFill>
                      <a:srgbClr val="7030A0"/>
                    </a:solidFill>
                  </a:rPr>
                  <a:t>explicação proposta</a:t>
                </a:r>
                <a:r>
                  <a:rPr lang="pt-BR" dirty="0"/>
                  <a:t> para a </a:t>
                </a:r>
                <a:r>
                  <a:rPr lang="pt-BR" b="1" dirty="0">
                    <a:solidFill>
                      <a:srgbClr val="7030A0"/>
                    </a:solidFill>
                  </a:rPr>
                  <a:t>relação</a:t>
                </a:r>
                <a:r>
                  <a:rPr lang="pt-BR" dirty="0"/>
                  <a:t> entre as entradas, </a:t>
                </a:r>
                <a14:m>
                  <m:oMath xmlns:m="http://schemas.openxmlformats.org/officeDocument/2006/math">
                    <m:r>
                      <a:rPr lang="pt-BR" b="1" i="1">
                        <a:latin typeface="Cambria Math" panose="02040503050406030204" pitchFamily="18" charset="0"/>
                      </a:rPr>
                      <m:t>𝒙</m:t>
                    </m:r>
                  </m:oMath>
                </a14:m>
                <a:r>
                  <a:rPr lang="pt-BR" dirty="0"/>
                  <a:t> e o rótulo, </a:t>
                </a:r>
                <a14:m>
                  <m:oMath xmlns:m="http://schemas.openxmlformats.org/officeDocument/2006/math">
                    <m:r>
                      <a:rPr lang="pt-BR" b="0" i="1" smtClean="0">
                        <a:latin typeface="Cambria Math" panose="02040503050406030204" pitchFamily="18" charset="0"/>
                      </a:rPr>
                      <m:t>𝑦</m:t>
                    </m:r>
                  </m:oMath>
                </a14:m>
                <a:r>
                  <a:rPr lang="pt-BR" dirty="0"/>
                  <a:t>.</a:t>
                </a:r>
              </a:p>
              <a:p>
                <a:r>
                  <a:rPr lang="pt-BR" dirty="0"/>
                  <a:t>Por exemplo, anteriormente, </a:t>
                </a:r>
                <a:r>
                  <a:rPr lang="pt-BR" b="1" dirty="0">
                    <a:solidFill>
                      <a:schemeClr val="accent2"/>
                    </a:solidFill>
                  </a:rPr>
                  <a:t>hipotetizamos</a:t>
                </a:r>
                <a:r>
                  <a:rPr lang="pt-BR" dirty="0"/>
                  <a:t> que uma </a:t>
                </a:r>
                <a:r>
                  <a:rPr lang="pt-BR" b="1" dirty="0">
                    <a:solidFill>
                      <a:srgbClr val="00B050"/>
                    </a:solidFill>
                  </a:rPr>
                  <a:t>reta</a:t>
                </a:r>
                <a:r>
                  <a:rPr lang="pt-BR" dirty="0"/>
                  <a:t> explicaria bem a </a:t>
                </a:r>
                <a:r>
                  <a:rPr lang="pt-BR" b="1" dirty="0">
                    <a:solidFill>
                      <a:srgbClr val="7030A0"/>
                    </a:solidFill>
                  </a:rPr>
                  <a:t>relação</a:t>
                </a:r>
                <a:r>
                  <a:rPr lang="pt-BR" dirty="0"/>
                  <a:t> entre a </a:t>
                </a:r>
                <a:r>
                  <a:rPr lang="pt-BR" b="1" dirty="0">
                    <a:solidFill>
                      <a:srgbClr val="7030A0"/>
                    </a:solidFill>
                  </a:rPr>
                  <a:t>temperatura média </a:t>
                </a:r>
                <a:r>
                  <a:rPr lang="pt-BR" dirty="0"/>
                  <a:t>de um dia e o número de </a:t>
                </a:r>
                <a:r>
                  <a:rPr lang="pt-BR" b="1" dirty="0">
                    <a:solidFill>
                      <a:srgbClr val="7030A0"/>
                    </a:solidFill>
                  </a:rPr>
                  <a:t>picolés vendidos.</a:t>
                </a:r>
                <a:br>
                  <a:rPr lang="pt-BR" dirty="0"/>
                </a:br>
                <a:endParaRPr lang="pt-BR" dirty="0">
                  <a:solidFill>
                    <a:schemeClr val="tx1"/>
                  </a:solidFill>
                  <a:effectLst/>
                </a:endParaRPr>
              </a:p>
            </p:txBody>
          </p:sp>
        </mc:Choice>
        <mc:Fallback xmlns="">
          <p:sp>
            <p:nvSpPr>
              <p:cNvPr id="3" name="Espaço Reservado para Conteúdo 2">
                <a:extLst>
                  <a:ext uri="{FF2B5EF4-FFF2-40B4-BE49-F238E27FC236}">
                    <a16:creationId xmlns:a16="http://schemas.microsoft.com/office/drawing/2014/main" id="{B2E79883-4418-8363-40E5-94F8B817906B}"/>
                  </a:ext>
                </a:extLst>
              </p:cNvPr>
              <p:cNvSpPr>
                <a:spLocks noGrp="1" noRot="1" noChangeAspect="1" noMove="1" noResize="1" noEditPoints="1" noAdjustHandles="1" noChangeArrowheads="1" noChangeShapeType="1" noTextEdit="1"/>
              </p:cNvSpPr>
              <p:nvPr>
                <p:ph idx="1"/>
              </p:nvPr>
            </p:nvSpPr>
            <p:spPr>
              <a:xfrm>
                <a:off x="5514680" y="1825624"/>
                <a:ext cx="6677320" cy="5032375"/>
              </a:xfrm>
              <a:blipFill>
                <a:blip r:embed="rId3"/>
                <a:stretch>
                  <a:fillRect l="-1644" t="-1937" r="-2374"/>
                </a:stretch>
              </a:blipFill>
            </p:spPr>
            <p:txBody>
              <a:bodyPr/>
              <a:lstStyle/>
              <a:p>
                <a:r>
                  <a:rPr lang="en-US">
                    <a:noFill/>
                  </a:rPr>
                  <a:t> </a:t>
                </a:r>
              </a:p>
            </p:txBody>
          </p:sp>
        </mc:Fallback>
      </mc:AlternateContent>
      <p:grpSp>
        <p:nvGrpSpPr>
          <p:cNvPr id="10" name="Group 9">
            <a:extLst>
              <a:ext uri="{FF2B5EF4-FFF2-40B4-BE49-F238E27FC236}">
                <a16:creationId xmlns:a16="http://schemas.microsoft.com/office/drawing/2014/main" id="{18D1F5C3-5D2C-401F-6D50-5FB95A035FA3}"/>
              </a:ext>
            </a:extLst>
          </p:cNvPr>
          <p:cNvGrpSpPr/>
          <p:nvPr/>
        </p:nvGrpSpPr>
        <p:grpSpPr>
          <a:xfrm>
            <a:off x="313057" y="2511846"/>
            <a:ext cx="4622500" cy="3152391"/>
            <a:chOff x="313057" y="2511846"/>
            <a:chExt cx="4622500" cy="3152391"/>
          </a:xfrm>
        </p:grpSpPr>
        <p:grpSp>
          <p:nvGrpSpPr>
            <p:cNvPr id="11" name="Agrupar 8">
              <a:extLst>
                <a:ext uri="{FF2B5EF4-FFF2-40B4-BE49-F238E27FC236}">
                  <a16:creationId xmlns:a16="http://schemas.microsoft.com/office/drawing/2014/main" id="{11421008-4682-A62D-ABF6-766B2D288F9D}"/>
                </a:ext>
              </a:extLst>
            </p:cNvPr>
            <p:cNvGrpSpPr/>
            <p:nvPr/>
          </p:nvGrpSpPr>
          <p:grpSpPr>
            <a:xfrm>
              <a:off x="313057" y="2511846"/>
              <a:ext cx="4622500" cy="3152391"/>
              <a:chOff x="379861" y="2379643"/>
              <a:chExt cx="4622500" cy="3152391"/>
            </a:xfrm>
          </p:grpSpPr>
          <p:pic>
            <p:nvPicPr>
              <p:cNvPr id="13" name="Imagem 4">
                <a:extLst>
                  <a:ext uri="{FF2B5EF4-FFF2-40B4-BE49-F238E27FC236}">
                    <a16:creationId xmlns:a16="http://schemas.microsoft.com/office/drawing/2014/main" id="{F9922E2F-EA12-479C-5EF1-6D23FE41DD2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463" t="9957" r="8514"/>
              <a:stretch/>
            </p:blipFill>
            <p:spPr>
              <a:xfrm>
                <a:off x="379861" y="2379643"/>
                <a:ext cx="4622500" cy="3152391"/>
              </a:xfrm>
              <a:prstGeom prst="rect">
                <a:avLst/>
              </a:prstGeom>
            </p:spPr>
          </p:pic>
          <mc:AlternateContent xmlns:mc="http://schemas.openxmlformats.org/markup-compatibility/2006" xmlns:a14="http://schemas.microsoft.com/office/drawing/2010/main">
            <mc:Choice Requires="a14">
              <p:sp>
                <p:nvSpPr>
                  <p:cNvPr id="14" name="CaixaDeTexto 5">
                    <a:extLst>
                      <a:ext uri="{FF2B5EF4-FFF2-40B4-BE49-F238E27FC236}">
                        <a16:creationId xmlns:a16="http://schemas.microsoft.com/office/drawing/2014/main" id="{5300BBFA-2EAB-4504-E94B-2C5D91FD870C}"/>
                      </a:ext>
                    </a:extLst>
                  </p:cNvPr>
                  <p:cNvSpPr txBox="1"/>
                  <p:nvPr/>
                </p:nvSpPr>
                <p:spPr>
                  <a:xfrm>
                    <a:off x="3410072" y="3635566"/>
                    <a:ext cx="738130" cy="369332"/>
                  </a:xfrm>
                  <a:prstGeom prst="rect">
                    <a:avLst/>
                  </a:prstGeom>
                  <a:noFill/>
                </p:spPr>
                <p:txBody>
                  <a:bodyPr wrap="square" rtlCol="0">
                    <a:spAutoFit/>
                  </a:bodyPr>
                  <a:lstStyle/>
                  <a:p>
                    <a:pPr/>
                    <a14:m>
                      <m:oMathPara xmlns:m="http://schemas.openxmlformats.org/officeDocument/2006/math">
                        <m:oMath>
                          <m:r>
                            <a:rPr lang="pt-BR" b="0" i="1" smtClean="0">
                              <a:latin typeface="Cambria Math" panose="02040503050406030204" pitchFamily="18" charset="0"/>
                            </a:rPr>
                            <m:t>ℎ</m:t>
                          </m:r>
                          <m:r>
                            <a:rPr lang="pt-BR" b="0" i="1" smtClean="0">
                              <a:latin typeface="Cambria Math" panose="02040503050406030204" pitchFamily="18" charset="0"/>
                            </a:rPr>
                            <m:t>(</m:t>
                          </m:r>
                          <m:r>
                            <a:rPr lang="pt-BR" b="1" i="1" smtClean="0">
                              <a:latin typeface="Cambria Math" panose="02040503050406030204" pitchFamily="18" charset="0"/>
                            </a:rPr>
                            <m:t>𝒙</m:t>
                          </m:r>
                          <m:r>
                            <a:rPr lang="pt-BR" b="0" i="1" smtClean="0">
                              <a:latin typeface="Cambria Math" panose="02040503050406030204" pitchFamily="18" charset="0"/>
                            </a:rPr>
                            <m:t>)</m:t>
                          </m:r>
                        </m:oMath>
                      </m:oMathPara>
                    </a14:m>
                    <a:endParaRPr lang="pt-BR" dirty="0"/>
                  </a:p>
                </p:txBody>
              </p:sp>
            </mc:Choice>
            <mc:Fallback xmlns="">
              <p:sp>
                <p:nvSpPr>
                  <p:cNvPr id="6" name="CaixaDeTexto 5">
                    <a:extLst>
                      <a:ext uri="{FF2B5EF4-FFF2-40B4-BE49-F238E27FC236}">
                        <a16:creationId xmlns:a16="http://schemas.microsoft.com/office/drawing/2014/main" id="{10491C75-CC2B-4E6F-00D1-D7BCDA1CAC51}"/>
                      </a:ext>
                    </a:extLst>
                  </p:cNvPr>
                  <p:cNvSpPr txBox="1">
                    <a:spLocks noRot="1" noChangeAspect="1" noMove="1" noResize="1" noEditPoints="1" noAdjustHandles="1" noChangeArrowheads="1" noChangeShapeType="1" noTextEdit="1"/>
                  </p:cNvSpPr>
                  <p:nvPr/>
                </p:nvSpPr>
                <p:spPr>
                  <a:xfrm>
                    <a:off x="3410072" y="3635566"/>
                    <a:ext cx="738130" cy="369332"/>
                  </a:xfrm>
                  <a:prstGeom prst="rect">
                    <a:avLst/>
                  </a:prstGeom>
                  <a:blipFill>
                    <a:blip r:embed="rId5"/>
                    <a:stretch>
                      <a:fillRect b="-13115"/>
                    </a:stretch>
                  </a:blipFill>
                </p:spPr>
                <p:txBody>
                  <a:bodyPr/>
                  <a:lstStyle/>
                  <a:p>
                    <a:r>
                      <a:rPr lang="pt-BR">
                        <a:noFill/>
                      </a:rPr>
                      <a:t> </a:t>
                    </a:r>
                  </a:p>
                </p:txBody>
              </p:sp>
            </mc:Fallback>
          </mc:AlternateContent>
          <p:cxnSp>
            <p:nvCxnSpPr>
              <p:cNvPr id="15" name="Conector de Seta Reta 7">
                <a:extLst>
                  <a:ext uri="{FF2B5EF4-FFF2-40B4-BE49-F238E27FC236}">
                    <a16:creationId xmlns:a16="http://schemas.microsoft.com/office/drawing/2014/main" id="{0AA5A0A3-1FF3-9769-E170-A62DE6CDB817}"/>
                  </a:ext>
                </a:extLst>
              </p:cNvPr>
              <p:cNvCxnSpPr/>
              <p:nvPr/>
            </p:nvCxnSpPr>
            <p:spPr>
              <a:xfrm>
                <a:off x="3150824" y="3602516"/>
                <a:ext cx="374574" cy="19830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2" name="CaixaDeTexto 3">
                  <a:extLst>
                    <a:ext uri="{FF2B5EF4-FFF2-40B4-BE49-F238E27FC236}">
                      <a16:creationId xmlns:a16="http://schemas.microsoft.com/office/drawing/2014/main" id="{E0444285-15DF-1944-12B5-2D49E900EAF4}"/>
                    </a:ext>
                  </a:extLst>
                </p:cNvPr>
                <p:cNvSpPr txBox="1"/>
                <p:nvPr/>
              </p:nvSpPr>
              <p:spPr>
                <a:xfrm>
                  <a:off x="2409352" y="2755948"/>
                  <a:ext cx="738130" cy="307777"/>
                </a:xfrm>
                <a:prstGeom prst="rect">
                  <a:avLst/>
                </a:prstGeom>
                <a:noFill/>
              </p:spPr>
              <p:txBody>
                <a:bodyPr wrap="square" rtlCol="0">
                  <a:spAutoFit/>
                </a:bodyPr>
                <a:lstStyle/>
                <a:p>
                  <a:pPr/>
                  <a14:m>
                    <m:oMathPara xmlns:m="http://schemas.openxmlformats.org/officeDocument/2006/math">
                      <m:oMath>
                        <m:r>
                          <a:rPr lang="pt-BR" sz="1400" b="0" i="1" smtClean="0">
                            <a:latin typeface="Cambria Math" panose="02040503050406030204" pitchFamily="18" charset="0"/>
                          </a:rPr>
                          <m:t>ℎ</m:t>
                        </m:r>
                        <m:r>
                          <a:rPr lang="pt-BR" sz="1400" b="0" i="1" smtClean="0">
                            <a:latin typeface="Cambria Math" panose="02040503050406030204" pitchFamily="18" charset="0"/>
                          </a:rPr>
                          <m:t>(</m:t>
                        </m:r>
                        <m:r>
                          <a:rPr lang="pt-BR" sz="1400" b="1" i="1" smtClean="0">
                            <a:latin typeface="Cambria Math" panose="02040503050406030204" pitchFamily="18" charset="0"/>
                          </a:rPr>
                          <m:t>𝒙</m:t>
                        </m:r>
                        <m:r>
                          <a:rPr lang="pt-BR" sz="1400" b="0" i="1" smtClean="0">
                            <a:latin typeface="Cambria Math" panose="02040503050406030204" pitchFamily="18" charset="0"/>
                          </a:rPr>
                          <m:t>)</m:t>
                        </m:r>
                      </m:oMath>
                    </m:oMathPara>
                  </a14:m>
                  <a:endParaRPr lang="pt-BR" sz="1400" dirty="0"/>
                </a:p>
              </p:txBody>
            </p:sp>
          </mc:Choice>
          <mc:Fallback xmlns="">
            <p:sp>
              <p:nvSpPr>
                <p:cNvPr id="9" name="CaixaDeTexto 3">
                  <a:extLst>
                    <a:ext uri="{FF2B5EF4-FFF2-40B4-BE49-F238E27FC236}">
                      <a16:creationId xmlns:a16="http://schemas.microsoft.com/office/drawing/2014/main" id="{84693792-F9CA-4DDE-7B29-0D00BA687EFA}"/>
                    </a:ext>
                  </a:extLst>
                </p:cNvPr>
                <p:cNvSpPr txBox="1">
                  <a:spLocks noRot="1" noChangeAspect="1" noMove="1" noResize="1" noEditPoints="1" noAdjustHandles="1" noChangeArrowheads="1" noChangeShapeType="1" noTextEdit="1"/>
                </p:cNvSpPr>
                <p:nvPr/>
              </p:nvSpPr>
              <p:spPr>
                <a:xfrm>
                  <a:off x="2409352" y="2755948"/>
                  <a:ext cx="738130" cy="307777"/>
                </a:xfrm>
                <a:prstGeom prst="rect">
                  <a:avLst/>
                </a:prstGeom>
                <a:blipFill>
                  <a:blip r:embed="rId6"/>
                  <a:stretch>
                    <a:fillRect b="-5882"/>
                  </a:stretch>
                </a:blipFill>
              </p:spPr>
              <p:txBody>
                <a:bodyPr/>
                <a:lstStyle/>
                <a:p>
                  <a:r>
                    <a:rPr lang="en-US">
                      <a:noFill/>
                    </a:rPr>
                    <a:t> </a:t>
                  </a:r>
                </a:p>
              </p:txBody>
            </p:sp>
          </mc:Fallback>
        </mc:AlternateContent>
      </p:grpSp>
    </p:spTree>
    <p:extLst>
      <p:ext uri="{BB962C8B-B14F-4D97-AF65-F5344CB8AC3E}">
        <p14:creationId xmlns:p14="http://schemas.microsoft.com/office/powerpoint/2010/main" val="35406929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645331-4B2E-BB50-BF81-FDF8C639EED5}"/>
              </a:ext>
            </a:extLst>
          </p:cNvPr>
          <p:cNvSpPr>
            <a:spLocks noGrp="1"/>
          </p:cNvSpPr>
          <p:nvPr>
            <p:ph type="title"/>
          </p:nvPr>
        </p:nvSpPr>
        <p:spPr/>
        <p:txBody>
          <a:bodyPr/>
          <a:lstStyle/>
          <a:p>
            <a:r>
              <a:rPr lang="pt-BR" dirty="0"/>
              <a:t>Por que linear?</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67745B10-6162-30F7-6050-58C45B781852}"/>
                  </a:ext>
                </a:extLst>
              </p:cNvPr>
              <p:cNvSpPr>
                <a:spLocks noGrp="1"/>
              </p:cNvSpPr>
              <p:nvPr>
                <p:ph idx="1"/>
              </p:nvPr>
            </p:nvSpPr>
            <p:spPr>
              <a:xfrm>
                <a:off x="838200" y="1825624"/>
                <a:ext cx="11353800" cy="5032375"/>
              </a:xfrm>
            </p:spPr>
            <p:txBody>
              <a:bodyPr>
                <a:normAutofit/>
              </a:bodyPr>
              <a:lstStyle/>
              <a:p>
                <a:r>
                  <a:rPr lang="pt-BR" dirty="0"/>
                  <a:t>Porque a saída da </a:t>
                </a:r>
                <a:r>
                  <a:rPr lang="pt-BR" b="1" dirty="0"/>
                  <a:t>função hipótese</a:t>
                </a:r>
                <a:r>
                  <a:rPr lang="pt-BR" dirty="0"/>
                  <a:t>, </a:t>
                </a:r>
                <a14:m>
                  <m:oMath xmlns:m="http://schemas.openxmlformats.org/officeDocument/2006/math">
                    <m:acc>
                      <m:accPr>
                        <m:chr m:val="̂"/>
                        <m:ctrlPr>
                          <a:rPr lang="pt-BR" b="0" i="1" smtClean="0">
                            <a:latin typeface="Cambria Math" panose="02040503050406030204" pitchFamily="18" charset="0"/>
                          </a:rPr>
                        </m:ctrlPr>
                      </m:accPr>
                      <m:e>
                        <m:r>
                          <a:rPr lang="pt-BR" b="0" i="1" smtClean="0">
                            <a:latin typeface="Cambria Math" panose="02040503050406030204" pitchFamily="18" charset="0"/>
                          </a:rPr>
                          <m:t>𝑦</m:t>
                        </m:r>
                      </m:e>
                    </m:acc>
                    <m:r>
                      <a:rPr lang="pt-BR" i="1">
                        <a:latin typeface="Cambria Math" panose="02040503050406030204" pitchFamily="18" charset="0"/>
                      </a:rPr>
                      <m:t>=</m:t>
                    </m:r>
                    <m:r>
                      <a:rPr lang="pt-BR" i="1">
                        <a:latin typeface="Cambria Math" panose="02040503050406030204" pitchFamily="18" charset="0"/>
                        <a:ea typeface="Cambria Math" panose="02040503050406030204" pitchFamily="18" charset="0"/>
                      </a:rPr>
                      <m:t>ℎ</m:t>
                    </m:r>
                    <m:d>
                      <m:dPr>
                        <m:ctrlPr>
                          <a:rPr lang="pt-BR" b="1" i="1">
                            <a:latin typeface="Cambria Math" panose="02040503050406030204" pitchFamily="18" charset="0"/>
                            <a:ea typeface="Cambria Math" panose="02040503050406030204" pitchFamily="18" charset="0"/>
                          </a:rPr>
                        </m:ctrlPr>
                      </m:dPr>
                      <m:e>
                        <m:r>
                          <a:rPr lang="pt-BR" b="1" i="1">
                            <a:latin typeface="Cambria Math" panose="02040503050406030204" pitchFamily="18" charset="0"/>
                            <a:ea typeface="Cambria Math" panose="02040503050406030204" pitchFamily="18" charset="0"/>
                          </a:rPr>
                          <m:t>𝒙</m:t>
                        </m:r>
                      </m:e>
                    </m:d>
                  </m:oMath>
                </a14:m>
                <a:r>
                  <a:rPr lang="pt-BR" dirty="0"/>
                  <a:t>, é </a:t>
                </a:r>
                <a:r>
                  <a:rPr lang="pt-BR" b="1" dirty="0">
                    <a:solidFill>
                      <a:srgbClr val="FF0000"/>
                    </a:solidFill>
                  </a:rPr>
                  <a:t>modelada</a:t>
                </a:r>
                <a:r>
                  <a:rPr lang="pt-BR" dirty="0"/>
                  <a:t> como sendo uma </a:t>
                </a:r>
                <a:r>
                  <a:rPr lang="pt-BR" b="1" dirty="0">
                    <a:solidFill>
                      <a:srgbClr val="00B050"/>
                    </a:solidFill>
                  </a:rPr>
                  <a:t>combinação linear dos atributos</a:t>
                </a:r>
                <a:r>
                  <a:rPr lang="pt-BR" dirty="0"/>
                  <a:t>, </a:t>
                </a:r>
                <a14:m>
                  <m:oMath xmlns:m="http://schemas.openxmlformats.org/officeDocument/2006/math">
                    <m:r>
                      <a:rPr lang="pt-BR" b="1" i="1">
                        <a:latin typeface="Cambria Math" panose="02040503050406030204" pitchFamily="18" charset="0"/>
                      </a:rPr>
                      <m:t>𝒙</m:t>
                    </m:r>
                  </m:oMath>
                </a14:m>
                <a:r>
                  <a:rPr lang="pt-BR" dirty="0"/>
                  <a:t>, </a:t>
                </a:r>
                <a:r>
                  <a:rPr lang="pt-BR" b="1" dirty="0">
                    <a:solidFill>
                      <a:srgbClr val="7030A0"/>
                    </a:solidFill>
                  </a:rPr>
                  <a:t>em relação aos pesos</a:t>
                </a:r>
                <a:r>
                  <a:rPr lang="pt-BR" dirty="0"/>
                  <a:t>.</a:t>
                </a:r>
              </a:p>
              <a:p>
                <a:r>
                  <a:rPr lang="pt-BR" dirty="0"/>
                  <a:t>Em geral, usamos </a:t>
                </a:r>
                <a:r>
                  <a:rPr lang="pt-BR" b="1" dirty="0">
                    <a:solidFill>
                      <a:srgbClr val="7030A0"/>
                    </a:solidFill>
                  </a:rPr>
                  <a:t>polinômios</a:t>
                </a:r>
                <a:r>
                  <a:rPr lang="pt-BR" dirty="0"/>
                  <a:t> para modelar essa combinação.</a:t>
                </a:r>
              </a:p>
              <a:p>
                <a:pPr lvl="1">
                  <a:buFont typeface="Wingdings" panose="05000000000000000000" pitchFamily="2" charset="2"/>
                  <a:buChar char="§"/>
                </a:pPr>
                <a14:m>
                  <m:oMath xmlns:m="http://schemas.openxmlformats.org/officeDocument/2006/math">
                    <m:acc>
                      <m:accPr>
                        <m:chr m:val="̂"/>
                        <m:ctrlPr>
                          <a:rPr lang="pt-BR" i="1">
                            <a:latin typeface="Cambria Math" panose="02040503050406030204" pitchFamily="18" charset="0"/>
                          </a:rPr>
                        </m:ctrlPr>
                      </m:accPr>
                      <m:e>
                        <m:r>
                          <a:rPr lang="pt-BR" i="1">
                            <a:latin typeface="Cambria Math" panose="02040503050406030204" pitchFamily="18" charset="0"/>
                          </a:rPr>
                          <m:t>𝑦</m:t>
                        </m:r>
                      </m:e>
                    </m:acc>
                    <m:r>
                      <a:rPr lang="pt-BR" i="1">
                        <a:latin typeface="Cambria Math" panose="02040503050406030204" pitchFamily="18" charset="0"/>
                      </a:rPr>
                      <m:t>=</m:t>
                    </m:r>
                    <m:r>
                      <a:rPr lang="pt-BR" i="1">
                        <a:latin typeface="Cambria Math" panose="02040503050406030204" pitchFamily="18" charset="0"/>
                        <a:ea typeface="Cambria Math" panose="02040503050406030204" pitchFamily="18" charset="0"/>
                      </a:rPr>
                      <m:t>ℎ</m:t>
                    </m:r>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𝑥</m:t>
                        </m:r>
                      </m:e>
                    </m:d>
                    <m:r>
                      <a:rPr lang="pt-BR" i="1">
                        <a:latin typeface="Cambria Math" panose="02040503050406030204" pitchFamily="18" charset="0"/>
                        <a:ea typeface="Cambria Math" panose="02040503050406030204" pitchFamily="18" charset="0"/>
                      </a:rPr>
                      <m:t>=</m:t>
                    </m:r>
                    <m:sSub>
                      <m:sSubPr>
                        <m:ctrlPr>
                          <a:rPr lang="pt-BR" b="0" i="1" smtClean="0">
                            <a:latin typeface="Cambria Math" panose="02040503050406030204" pitchFamily="18" charset="0"/>
                            <a:ea typeface="Cambria Math" panose="02040503050406030204" pitchFamily="18" charset="0"/>
                          </a:rPr>
                        </m:ctrlPr>
                      </m:sSubPr>
                      <m:e>
                        <m:r>
                          <a:rPr lang="pt-BR" b="0" i="1" smtClean="0">
                            <a:latin typeface="Cambria Math" panose="02040503050406030204" pitchFamily="18" charset="0"/>
                            <a:ea typeface="Cambria Math" panose="02040503050406030204" pitchFamily="18" charset="0"/>
                          </a:rPr>
                          <m:t>𝑎</m:t>
                        </m:r>
                      </m:e>
                      <m:sub>
                        <m:r>
                          <a:rPr lang="pt-BR" b="0" i="1" smtClean="0">
                            <a:latin typeface="Cambria Math" panose="02040503050406030204" pitchFamily="18" charset="0"/>
                            <a:ea typeface="Cambria Math" panose="02040503050406030204" pitchFamily="18" charset="0"/>
                          </a:rPr>
                          <m:t>0</m:t>
                        </m:r>
                      </m:sub>
                    </m:sSub>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b="0" i="1" smtClean="0">
                            <a:latin typeface="Cambria Math" panose="02040503050406030204" pitchFamily="18" charset="0"/>
                            <a:ea typeface="Cambria Math" panose="02040503050406030204" pitchFamily="18" charset="0"/>
                          </a:rPr>
                          <m:t>1</m:t>
                        </m:r>
                      </m:sub>
                    </m:sSub>
                    <m:r>
                      <a:rPr lang="pt-BR" i="1">
                        <a:latin typeface="Cambria Math" panose="02040503050406030204" pitchFamily="18" charset="0"/>
                        <a:ea typeface="Cambria Math" panose="02040503050406030204" pitchFamily="18" charset="0"/>
                      </a:rPr>
                      <m:t>𝑥</m:t>
                    </m:r>
                  </m:oMath>
                </a14:m>
                <a:r>
                  <a:rPr lang="pt-BR" i="1" dirty="0">
                    <a:latin typeface="Cambria Math" panose="02040503050406030204" pitchFamily="18" charset="0"/>
                  </a:rPr>
                  <a:t>                      </a:t>
                </a:r>
                <a:r>
                  <a:rPr lang="pt-BR" dirty="0"/>
                  <a:t>(</a:t>
                </a:r>
                <a:r>
                  <a:rPr lang="en-US" dirty="0"/>
                  <a:t>polinômio de </a:t>
                </a:r>
                <a:r>
                  <a:rPr lang="en-US" dirty="0" err="1"/>
                  <a:t>grau</a:t>
                </a:r>
                <a:r>
                  <a:rPr lang="en-US" dirty="0"/>
                  <a:t> 1, </a:t>
                </a:r>
                <a:r>
                  <a:rPr lang="en-US" dirty="0" err="1"/>
                  <a:t>reta</a:t>
                </a:r>
                <a:r>
                  <a:rPr lang="en-US" dirty="0"/>
                  <a:t>, com uma </a:t>
                </a:r>
                <a:r>
                  <a:rPr lang="en-US" dirty="0" err="1"/>
                  <a:t>variável</a:t>
                </a:r>
                <a:r>
                  <a:rPr lang="en-US" dirty="0"/>
                  <a:t>).</a:t>
                </a:r>
              </a:p>
              <a:p>
                <a:pPr lvl="1">
                  <a:buFont typeface="Wingdings" panose="05000000000000000000" pitchFamily="2" charset="2"/>
                  <a:buChar char="§"/>
                </a:pPr>
                <a14:m>
                  <m:oMath xmlns:m="http://schemas.openxmlformats.org/officeDocument/2006/math">
                    <m:acc>
                      <m:accPr>
                        <m:chr m:val="̂"/>
                        <m:ctrlPr>
                          <a:rPr lang="pt-BR" i="1">
                            <a:latin typeface="Cambria Math" panose="02040503050406030204" pitchFamily="18" charset="0"/>
                          </a:rPr>
                        </m:ctrlPr>
                      </m:accPr>
                      <m:e>
                        <m:r>
                          <a:rPr lang="pt-BR" i="1">
                            <a:latin typeface="Cambria Math" panose="02040503050406030204" pitchFamily="18" charset="0"/>
                          </a:rPr>
                          <m:t>𝑦</m:t>
                        </m:r>
                      </m:e>
                    </m:acc>
                    <m:r>
                      <a:rPr lang="pt-BR" i="1">
                        <a:latin typeface="Cambria Math" panose="02040503050406030204" pitchFamily="18" charset="0"/>
                      </a:rPr>
                      <m:t>=</m:t>
                    </m:r>
                    <m:r>
                      <a:rPr lang="pt-BR" i="1">
                        <a:latin typeface="Cambria Math" panose="02040503050406030204" pitchFamily="18" charset="0"/>
                        <a:ea typeface="Cambria Math" panose="02040503050406030204" pitchFamily="18" charset="0"/>
                      </a:rPr>
                      <m:t>ℎ</m:t>
                    </m:r>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𝑥</m:t>
                        </m:r>
                      </m:e>
                    </m:d>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i="1">
                            <a:latin typeface="Cambria Math" panose="02040503050406030204" pitchFamily="18" charset="0"/>
                            <a:ea typeface="Cambria Math" panose="02040503050406030204" pitchFamily="18" charset="0"/>
                          </a:rPr>
                          <m:t>0</m:t>
                        </m:r>
                      </m:sub>
                    </m:sSub>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b="0" i="1" smtClean="0">
                                <a:latin typeface="Cambria Math" panose="02040503050406030204" pitchFamily="18" charset="0"/>
                                <a:ea typeface="Cambria Math" panose="02040503050406030204" pitchFamily="18" charset="0"/>
                              </a:rPr>
                              <m:t>1</m:t>
                            </m:r>
                          </m:sub>
                        </m:sSub>
                        <m:r>
                          <a:rPr lang="pt-BR" b="0" i="1" smtClean="0">
                            <a:latin typeface="Cambria Math" panose="02040503050406030204" pitchFamily="18" charset="0"/>
                            <a:ea typeface="Cambria Math" panose="02040503050406030204" pitchFamily="18" charset="0"/>
                          </a:rPr>
                          <m:t>𝑥</m:t>
                        </m:r>
                      </m:e>
                      <m:sub>
                        <m:r>
                          <a:rPr lang="pt-BR" b="0" i="1" smtClean="0">
                            <a:latin typeface="Cambria Math" panose="02040503050406030204" pitchFamily="18" charset="0"/>
                            <a:ea typeface="Cambria Math" panose="02040503050406030204" pitchFamily="18" charset="0"/>
                          </a:rPr>
                          <m:t>1</m:t>
                        </m:r>
                      </m:sub>
                    </m:sSub>
                    <m:r>
                      <a:rPr lang="pt-BR" b="0" i="1" smtClean="0">
                        <a:latin typeface="Cambria Math" panose="02040503050406030204" pitchFamily="18" charset="0"/>
                        <a:ea typeface="Cambria Math" panose="02040503050406030204" pitchFamily="18" charset="0"/>
                      </a:rPr>
                      <m:t>+</m:t>
                    </m:r>
                  </m:oMath>
                </a14:m>
                <a:r>
                  <a:rPr lang="pt-BR" i="1" dirty="0">
                    <a:latin typeface="Cambria Math" panose="02040503050406030204" pitchFamily="18" charset="0"/>
                  </a:rPr>
                  <a:t> </a:t>
                </a:r>
                <a14:m>
                  <m:oMath xmlns:m="http://schemas.openxmlformats.org/officeDocument/2006/math">
                    <m:sSub>
                      <m:sSubPr>
                        <m:ctrlPr>
                          <a:rPr lang="pt-BR" i="1">
                            <a:latin typeface="Cambria Math" panose="02040503050406030204" pitchFamily="18" charset="0"/>
                            <a:ea typeface="Cambria Math" panose="02040503050406030204" pitchFamily="18" charset="0"/>
                          </a:rPr>
                        </m:ctrlPr>
                      </m:sSubPr>
                      <m:e>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b="0" i="1" smtClean="0">
                                <a:latin typeface="Cambria Math" panose="02040503050406030204" pitchFamily="18" charset="0"/>
                                <a:ea typeface="Cambria Math" panose="02040503050406030204" pitchFamily="18" charset="0"/>
                              </a:rPr>
                              <m:t>2</m:t>
                            </m:r>
                          </m:sub>
                        </m:sSub>
                        <m:r>
                          <a:rPr lang="pt-BR" i="1">
                            <a:latin typeface="Cambria Math" panose="02040503050406030204" pitchFamily="18" charset="0"/>
                            <a:ea typeface="Cambria Math" panose="02040503050406030204" pitchFamily="18" charset="0"/>
                          </a:rPr>
                          <m:t>𝑥</m:t>
                        </m:r>
                      </m:e>
                      <m:sub>
                        <m:r>
                          <a:rPr lang="pt-BR" b="0" i="1" smtClean="0">
                            <a:latin typeface="Cambria Math" panose="02040503050406030204" pitchFamily="18" charset="0"/>
                            <a:ea typeface="Cambria Math" panose="02040503050406030204" pitchFamily="18" charset="0"/>
                          </a:rPr>
                          <m:t>2</m:t>
                        </m:r>
                      </m:sub>
                    </m:sSub>
                  </m:oMath>
                </a14:m>
                <a:r>
                  <a:rPr lang="pt-BR" dirty="0"/>
                  <a:t>     (</a:t>
                </a:r>
                <a:r>
                  <a:rPr lang="en-US" dirty="0"/>
                  <a:t>polinômio de </a:t>
                </a:r>
                <a:r>
                  <a:rPr lang="en-US" dirty="0" err="1"/>
                  <a:t>grau</a:t>
                </a:r>
                <a:r>
                  <a:rPr lang="en-US" dirty="0"/>
                  <a:t> 1, plano, com duas </a:t>
                </a:r>
                <a:r>
                  <a:rPr lang="en-US" dirty="0" err="1"/>
                  <a:t>variáveis</a:t>
                </a:r>
                <a:r>
                  <a:rPr lang="en-US" dirty="0"/>
                  <a:t>).</a:t>
                </a:r>
                <a:endParaRPr lang="pt-BR" i="1" dirty="0">
                  <a:latin typeface="Cambria Math" panose="02040503050406030204" pitchFamily="18" charset="0"/>
                </a:endParaRPr>
              </a:p>
              <a:p>
                <a:pPr lvl="1">
                  <a:buFont typeface="Wingdings" panose="05000000000000000000" pitchFamily="2" charset="2"/>
                  <a:buChar char="§"/>
                </a:pPr>
                <a14:m>
                  <m:oMath xmlns:m="http://schemas.openxmlformats.org/officeDocument/2006/math">
                    <m:acc>
                      <m:accPr>
                        <m:chr m:val="̂"/>
                        <m:ctrlPr>
                          <a:rPr lang="pt-BR" i="1">
                            <a:latin typeface="Cambria Math" panose="02040503050406030204" pitchFamily="18" charset="0"/>
                          </a:rPr>
                        </m:ctrlPr>
                      </m:accPr>
                      <m:e>
                        <m:r>
                          <a:rPr lang="pt-BR" i="1">
                            <a:latin typeface="Cambria Math" panose="02040503050406030204" pitchFamily="18" charset="0"/>
                          </a:rPr>
                          <m:t>𝑦</m:t>
                        </m:r>
                      </m:e>
                    </m:acc>
                    <m:r>
                      <a:rPr lang="pt-BR" i="1">
                        <a:latin typeface="Cambria Math" panose="02040503050406030204" pitchFamily="18" charset="0"/>
                      </a:rPr>
                      <m:t>=</m:t>
                    </m:r>
                    <m:r>
                      <a:rPr lang="pt-BR" i="1">
                        <a:latin typeface="Cambria Math" panose="02040503050406030204" pitchFamily="18" charset="0"/>
                        <a:ea typeface="Cambria Math" panose="02040503050406030204" pitchFamily="18" charset="0"/>
                      </a:rPr>
                      <m:t>ℎ</m:t>
                    </m:r>
                    <m:d>
                      <m:dPr>
                        <m:ctrlPr>
                          <a:rPr lang="pt-BR" b="0" i="1">
                            <a:latin typeface="Cambria Math" panose="02040503050406030204" pitchFamily="18" charset="0"/>
                            <a:ea typeface="Cambria Math" panose="02040503050406030204" pitchFamily="18" charset="0"/>
                          </a:rPr>
                        </m:ctrlPr>
                      </m:dPr>
                      <m:e>
                        <m:r>
                          <a:rPr lang="pt-BR" b="0" i="1">
                            <a:latin typeface="Cambria Math" panose="02040503050406030204" pitchFamily="18" charset="0"/>
                            <a:ea typeface="Cambria Math" panose="02040503050406030204" pitchFamily="18" charset="0"/>
                          </a:rPr>
                          <m:t>𝑥</m:t>
                        </m:r>
                      </m:e>
                    </m:d>
                    <m:r>
                      <a:rPr lang="pt-BR" b="0" i="1" smtClean="0">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i="1">
                            <a:latin typeface="Cambria Math" panose="02040503050406030204" pitchFamily="18" charset="0"/>
                            <a:ea typeface="Cambria Math" panose="02040503050406030204" pitchFamily="18" charset="0"/>
                          </a:rPr>
                          <m:t>0</m:t>
                        </m:r>
                      </m:sub>
                    </m:sSub>
                    <m:r>
                      <a:rPr lang="pt-BR" b="0" i="1" smtClean="0">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b="0" i="1" smtClean="0">
                            <a:latin typeface="Cambria Math" panose="02040503050406030204" pitchFamily="18" charset="0"/>
                            <a:ea typeface="Cambria Math" panose="02040503050406030204" pitchFamily="18" charset="0"/>
                          </a:rPr>
                          <m:t>1</m:t>
                        </m:r>
                      </m:sub>
                    </m:sSub>
                    <m:r>
                      <a:rPr lang="pt-BR" b="0" i="1" smtClean="0">
                        <a:latin typeface="Cambria Math" panose="02040503050406030204" pitchFamily="18" charset="0"/>
                        <a:ea typeface="Cambria Math" panose="02040503050406030204" pitchFamily="18" charset="0"/>
                      </a:rPr>
                      <m:t>𝑥</m:t>
                    </m:r>
                    <m:r>
                      <a:rPr lang="pt-BR" b="0" i="1" smtClean="0">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b="0" i="1" smtClean="0">
                            <a:latin typeface="Cambria Math" panose="02040503050406030204" pitchFamily="18" charset="0"/>
                            <a:ea typeface="Cambria Math" panose="02040503050406030204" pitchFamily="18" charset="0"/>
                          </a:rPr>
                          <m:t>2</m:t>
                        </m:r>
                      </m:sub>
                    </m:sSub>
                    <m:sSup>
                      <m:sSupPr>
                        <m:ctrlPr>
                          <a:rPr lang="pt-BR" b="0" i="1" smtClean="0">
                            <a:latin typeface="Cambria Math" panose="02040503050406030204" pitchFamily="18" charset="0"/>
                            <a:ea typeface="Cambria Math" panose="02040503050406030204" pitchFamily="18" charset="0"/>
                          </a:rPr>
                        </m:ctrlPr>
                      </m:sSupPr>
                      <m:e>
                        <m:r>
                          <a:rPr lang="pt-BR" b="0" i="1" smtClean="0">
                            <a:latin typeface="Cambria Math" panose="02040503050406030204" pitchFamily="18" charset="0"/>
                            <a:ea typeface="Cambria Math" panose="02040503050406030204" pitchFamily="18" charset="0"/>
                          </a:rPr>
                          <m:t>𝑥</m:t>
                        </m:r>
                      </m:e>
                      <m:sup>
                        <m:r>
                          <a:rPr lang="pt-BR" b="0" i="1" smtClean="0">
                            <a:latin typeface="Cambria Math" panose="02040503050406030204" pitchFamily="18" charset="0"/>
                            <a:ea typeface="Cambria Math" panose="02040503050406030204" pitchFamily="18" charset="0"/>
                          </a:rPr>
                          <m:t>2</m:t>
                        </m:r>
                      </m:sup>
                    </m:sSup>
                  </m:oMath>
                </a14:m>
                <a:r>
                  <a:rPr lang="pt-BR" i="1" dirty="0"/>
                  <a:t>       </a:t>
                </a:r>
                <a:r>
                  <a:rPr lang="pt-BR" dirty="0"/>
                  <a:t>(</a:t>
                </a:r>
                <a:r>
                  <a:rPr lang="en-US" dirty="0" err="1"/>
                  <a:t>polinômio</a:t>
                </a:r>
                <a:r>
                  <a:rPr lang="en-US" dirty="0"/>
                  <a:t> de </a:t>
                </a:r>
                <a:r>
                  <a:rPr lang="en-US" dirty="0" err="1"/>
                  <a:t>grau</a:t>
                </a:r>
                <a:r>
                  <a:rPr lang="en-US" dirty="0"/>
                  <a:t> 2 com </a:t>
                </a:r>
                <a:r>
                  <a:rPr lang="en-US" dirty="0" err="1"/>
                  <a:t>uma</a:t>
                </a:r>
                <a:r>
                  <a:rPr lang="en-US" dirty="0"/>
                  <a:t> </a:t>
                </a:r>
                <a:r>
                  <a:rPr lang="en-US" dirty="0" err="1"/>
                  <a:t>variável</a:t>
                </a:r>
                <a:r>
                  <a:rPr lang="en-US" dirty="0"/>
                  <a:t>).</a:t>
                </a:r>
              </a:p>
              <a:p>
                <a:pPr lvl="1">
                  <a:buFont typeface="Wingdings" panose="05000000000000000000" pitchFamily="2" charset="2"/>
                  <a:buChar char="§"/>
                </a:pPr>
                <a14:m>
                  <m:oMath xmlns:m="http://schemas.openxmlformats.org/officeDocument/2006/math">
                    <m:acc>
                      <m:accPr>
                        <m:chr m:val="̂"/>
                        <m:ctrlPr>
                          <a:rPr lang="pt-BR" i="1">
                            <a:latin typeface="Cambria Math" panose="02040503050406030204" pitchFamily="18" charset="0"/>
                          </a:rPr>
                        </m:ctrlPr>
                      </m:accPr>
                      <m:e>
                        <m:r>
                          <a:rPr lang="pt-BR" i="1">
                            <a:latin typeface="Cambria Math" panose="02040503050406030204" pitchFamily="18" charset="0"/>
                          </a:rPr>
                          <m:t>𝑦</m:t>
                        </m:r>
                      </m:e>
                    </m:acc>
                    <m:r>
                      <a:rPr lang="pt-BR" i="1">
                        <a:latin typeface="Cambria Math" panose="02040503050406030204" pitchFamily="18" charset="0"/>
                      </a:rPr>
                      <m:t>=</m:t>
                    </m:r>
                    <m:r>
                      <a:rPr lang="pt-BR" i="1">
                        <a:latin typeface="Cambria Math" panose="02040503050406030204" pitchFamily="18" charset="0"/>
                        <a:ea typeface="Cambria Math" panose="02040503050406030204" pitchFamily="18" charset="0"/>
                      </a:rPr>
                      <m:t>ℎ</m:t>
                    </m:r>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𝑥</m:t>
                        </m:r>
                      </m:e>
                    </m:d>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i="1">
                            <a:latin typeface="Cambria Math" panose="02040503050406030204" pitchFamily="18" charset="0"/>
                            <a:ea typeface="Cambria Math" panose="02040503050406030204" pitchFamily="18" charset="0"/>
                          </a:rPr>
                          <m:t>0</m:t>
                        </m:r>
                      </m:sub>
                    </m:sSub>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b="0" i="1" smtClean="0">
                                <a:latin typeface="Cambria Math" panose="02040503050406030204" pitchFamily="18" charset="0"/>
                                <a:ea typeface="Cambria Math" panose="02040503050406030204" pitchFamily="18" charset="0"/>
                              </a:rPr>
                              <m:t>1</m:t>
                            </m:r>
                          </m:sub>
                        </m:sSub>
                        <m:r>
                          <a:rPr lang="pt-BR" i="1">
                            <a:latin typeface="Cambria Math" panose="02040503050406030204" pitchFamily="18" charset="0"/>
                            <a:ea typeface="Cambria Math" panose="02040503050406030204" pitchFamily="18" charset="0"/>
                          </a:rPr>
                          <m:t>𝑥</m:t>
                        </m:r>
                      </m:e>
                      <m:sub>
                        <m:r>
                          <a:rPr lang="pt-BR" i="1">
                            <a:latin typeface="Cambria Math" panose="02040503050406030204" pitchFamily="18" charset="0"/>
                            <a:ea typeface="Cambria Math" panose="02040503050406030204" pitchFamily="18" charset="0"/>
                          </a:rPr>
                          <m:t>1</m:t>
                        </m:r>
                      </m:sub>
                    </m:sSub>
                    <m:r>
                      <a:rPr lang="pt-BR" b="0" i="1" smtClean="0">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b="0" i="1" smtClean="0">
                            <a:latin typeface="Cambria Math" panose="02040503050406030204" pitchFamily="18" charset="0"/>
                            <a:ea typeface="Cambria Math" panose="02040503050406030204" pitchFamily="18" charset="0"/>
                          </a:rPr>
                          <m:t>2</m:t>
                        </m:r>
                      </m:sub>
                    </m:sSub>
                    <m:sSubSup>
                      <m:sSubSupPr>
                        <m:ctrlPr>
                          <a:rPr lang="pt-BR" b="0" i="1" smtClean="0">
                            <a:latin typeface="Cambria Math" panose="02040503050406030204" pitchFamily="18" charset="0"/>
                            <a:ea typeface="Cambria Math" panose="02040503050406030204" pitchFamily="18" charset="0"/>
                          </a:rPr>
                        </m:ctrlPr>
                      </m:sSubSupPr>
                      <m:e>
                        <m:r>
                          <a:rPr lang="pt-BR" b="0" i="1" smtClean="0">
                            <a:latin typeface="Cambria Math" panose="02040503050406030204" pitchFamily="18" charset="0"/>
                            <a:ea typeface="Cambria Math" panose="02040503050406030204" pitchFamily="18" charset="0"/>
                          </a:rPr>
                          <m:t>𝑥</m:t>
                        </m:r>
                      </m:e>
                      <m:sub>
                        <m:r>
                          <a:rPr lang="pt-BR" b="0" i="1" smtClean="0">
                            <a:latin typeface="Cambria Math" panose="02040503050406030204" pitchFamily="18" charset="0"/>
                            <a:ea typeface="Cambria Math" panose="02040503050406030204" pitchFamily="18" charset="0"/>
                          </a:rPr>
                          <m:t>1</m:t>
                        </m:r>
                      </m:sub>
                      <m:sup>
                        <m:r>
                          <a:rPr lang="pt-BR" b="0" i="1" smtClean="0">
                            <a:latin typeface="Cambria Math" panose="02040503050406030204" pitchFamily="18" charset="0"/>
                            <a:ea typeface="Cambria Math" panose="02040503050406030204" pitchFamily="18" charset="0"/>
                          </a:rPr>
                          <m:t>2</m:t>
                        </m:r>
                      </m:sup>
                    </m:sSubSup>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𝑥</m:t>
                        </m:r>
                      </m:e>
                      <m:sub>
                        <m:r>
                          <a:rPr lang="pt-BR" i="1">
                            <a:latin typeface="Cambria Math" panose="02040503050406030204" pitchFamily="18" charset="0"/>
                            <a:ea typeface="Cambria Math" panose="02040503050406030204" pitchFamily="18" charset="0"/>
                          </a:rPr>
                          <m:t>2</m:t>
                        </m:r>
                      </m:sub>
                    </m:sSub>
                  </m:oMath>
                </a14:m>
                <a:r>
                  <a:rPr lang="pt-BR" dirty="0"/>
                  <a:t> (</a:t>
                </a:r>
                <a:r>
                  <a:rPr lang="en-US" dirty="0"/>
                  <a:t>polinômio de </a:t>
                </a:r>
                <a:r>
                  <a:rPr lang="en-US" dirty="0" err="1"/>
                  <a:t>grau</a:t>
                </a:r>
                <a:r>
                  <a:rPr lang="en-US" dirty="0"/>
                  <a:t> 3, com duas </a:t>
                </a:r>
                <a:r>
                  <a:rPr lang="en-US" dirty="0" err="1"/>
                  <a:t>variáveis</a:t>
                </a:r>
                <a:r>
                  <a:rPr lang="en-US" dirty="0"/>
                  <a:t>).</a:t>
                </a:r>
                <a:endParaRPr lang="pt-BR" i="1" dirty="0"/>
              </a:p>
            </p:txBody>
          </p:sp>
        </mc:Choice>
        <mc:Fallback xmlns="">
          <p:sp>
            <p:nvSpPr>
              <p:cNvPr id="3" name="Espaço Reservado para Conteúdo 2">
                <a:extLst>
                  <a:ext uri="{FF2B5EF4-FFF2-40B4-BE49-F238E27FC236}">
                    <a16:creationId xmlns:a16="http://schemas.microsoft.com/office/drawing/2014/main" id="{67745B10-6162-30F7-6050-58C45B781852}"/>
                  </a:ext>
                </a:extLst>
              </p:cNvPr>
              <p:cNvSpPr>
                <a:spLocks noGrp="1" noRot="1" noChangeAspect="1" noMove="1" noResize="1" noEditPoints="1" noAdjustHandles="1" noChangeArrowheads="1" noChangeShapeType="1" noTextEdit="1"/>
              </p:cNvSpPr>
              <p:nvPr>
                <p:ph idx="1"/>
              </p:nvPr>
            </p:nvSpPr>
            <p:spPr>
              <a:xfrm>
                <a:off x="838200" y="1825624"/>
                <a:ext cx="11353800" cy="5032375"/>
              </a:xfrm>
              <a:blipFill>
                <a:blip r:embed="rId3"/>
                <a:stretch>
                  <a:fillRect l="-967" t="-1937"/>
                </a:stretch>
              </a:blipFill>
            </p:spPr>
            <p:txBody>
              <a:bodyPr/>
              <a:lstStyle/>
              <a:p>
                <a:r>
                  <a:rPr lang="en-US">
                    <a:noFill/>
                  </a:rPr>
                  <a:t> </a:t>
                </a:r>
              </a:p>
            </p:txBody>
          </p:sp>
        </mc:Fallback>
      </mc:AlternateContent>
    </p:spTree>
    <p:extLst>
      <p:ext uri="{BB962C8B-B14F-4D97-AF65-F5344CB8AC3E}">
        <p14:creationId xmlns:p14="http://schemas.microsoft.com/office/powerpoint/2010/main" val="39828773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C1B55-1ED2-A4B7-FC25-634DEEE9ED2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2BFEE22-042D-089E-5392-D8366906BD80}"/>
              </a:ext>
            </a:extLst>
          </p:cNvPr>
          <p:cNvSpPr>
            <a:spLocks noGrp="1"/>
          </p:cNvSpPr>
          <p:nvPr>
            <p:ph type="title"/>
          </p:nvPr>
        </p:nvSpPr>
        <p:spPr/>
        <p:txBody>
          <a:bodyPr/>
          <a:lstStyle/>
          <a:p>
            <a:r>
              <a:rPr lang="pt-BR" dirty="0"/>
              <a:t>Por que polinômios?</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00AF2C97-23AA-21C2-FC29-4F9B2D05558B}"/>
                  </a:ext>
                </a:extLst>
              </p:cNvPr>
              <p:cNvSpPr>
                <a:spLocks noGrp="1"/>
              </p:cNvSpPr>
              <p:nvPr>
                <p:ph idx="1"/>
              </p:nvPr>
            </p:nvSpPr>
            <p:spPr>
              <a:xfrm>
                <a:off x="838200" y="1825624"/>
                <a:ext cx="11155325" cy="5032375"/>
              </a:xfrm>
            </p:spPr>
            <p:txBody>
              <a:bodyPr>
                <a:normAutofit/>
              </a:bodyPr>
              <a:lstStyle/>
              <a:p>
                <a:r>
                  <a:rPr lang="pt-BR" dirty="0"/>
                  <a:t>Pois segundo o teorema da aproximação de </a:t>
                </a:r>
                <a:r>
                  <a:rPr lang="pt-BR" b="1" i="1" dirty="0">
                    <a:solidFill>
                      <a:srgbClr val="00B050"/>
                    </a:solidFill>
                  </a:rPr>
                  <a:t>Stone-</a:t>
                </a:r>
                <a:r>
                  <a:rPr lang="pt-BR" b="1" i="1" dirty="0" err="1">
                    <a:solidFill>
                      <a:srgbClr val="00B050"/>
                    </a:solidFill>
                  </a:rPr>
                  <a:t>Weierstrass</a:t>
                </a:r>
                <a:r>
                  <a:rPr lang="pt-BR" dirty="0"/>
                  <a:t> “</a:t>
                </a:r>
                <a:r>
                  <a:rPr lang="pt-BR" i="1" dirty="0"/>
                  <a:t>qualquer função contínua no intervalo fechado [a, b] pode ser uniformemente aproximada por um </a:t>
                </a:r>
                <a:r>
                  <a:rPr lang="pt-BR" b="1" i="1" dirty="0">
                    <a:solidFill>
                      <a:schemeClr val="accent2"/>
                    </a:solidFill>
                  </a:rPr>
                  <a:t>polinômio</a:t>
                </a:r>
                <a:r>
                  <a:rPr lang="pt-BR" i="1" dirty="0"/>
                  <a:t>”.</a:t>
                </a:r>
              </a:p>
              <a:p>
                <a:r>
                  <a:rPr lang="pt-BR" dirty="0"/>
                  <a:t>Portanto, polinômios podem modelar qualquer tipo de mapeamento  (lineares ou não lineares) entre os atributos, </a:t>
                </a:r>
                <a14:m>
                  <m:oMath xmlns:m="http://schemas.openxmlformats.org/officeDocument/2006/math">
                    <m:r>
                      <a:rPr lang="pt-BR" b="1" i="1">
                        <a:latin typeface="Cambria Math" panose="02040503050406030204" pitchFamily="18" charset="0"/>
                      </a:rPr>
                      <m:t>𝒙</m:t>
                    </m:r>
                  </m:oMath>
                </a14:m>
                <a:r>
                  <a:rPr lang="pt-BR" dirty="0"/>
                  <a:t>, e </a:t>
                </a:r>
                <a14:m>
                  <m:oMath xmlns:m="http://schemas.openxmlformats.org/officeDocument/2006/math">
                    <m:acc>
                      <m:accPr>
                        <m:chr m:val="̂"/>
                        <m:ctrlPr>
                          <a:rPr lang="pt-BR" i="1">
                            <a:latin typeface="Cambria Math" panose="02040503050406030204" pitchFamily="18" charset="0"/>
                          </a:rPr>
                        </m:ctrlPr>
                      </m:accPr>
                      <m:e>
                        <m:r>
                          <a:rPr lang="pt-BR" i="1">
                            <a:latin typeface="Cambria Math" panose="02040503050406030204" pitchFamily="18" charset="0"/>
                          </a:rPr>
                          <m:t>𝑦</m:t>
                        </m:r>
                      </m:e>
                    </m:acc>
                    <m:r>
                      <a:rPr lang="pt-BR" b="0" i="0" smtClean="0">
                        <a:latin typeface="Cambria Math" panose="02040503050406030204" pitchFamily="18" charset="0"/>
                      </a:rPr>
                      <m:t>,</m:t>
                    </m:r>
                  </m:oMath>
                </a14:m>
                <a:r>
                  <a:rPr lang="pt-BR" i="1" dirty="0"/>
                  <a:t> </a:t>
                </a:r>
                <a:r>
                  <a:rPr lang="pt-BR" dirty="0"/>
                  <a:t>bastando apenas </a:t>
                </a:r>
                <a:r>
                  <a:rPr lang="pt-BR" b="1" dirty="0">
                    <a:solidFill>
                      <a:srgbClr val="7030A0"/>
                    </a:solidFill>
                  </a:rPr>
                  <a:t>encontrar os pesos, </a:t>
                </a:r>
                <a14:m>
                  <m:oMath xmlns:m="http://schemas.openxmlformats.org/officeDocument/2006/math">
                    <m:sSub>
                      <m:sSubPr>
                        <m:ctrlPr>
                          <a:rPr lang="pt-BR" b="0" i="1">
                            <a:solidFill>
                              <a:srgbClr val="7030A0"/>
                            </a:solidFill>
                            <a:latin typeface="Cambria Math" panose="02040503050406030204" pitchFamily="18" charset="0"/>
                            <a:ea typeface="Cambria Math" panose="02040503050406030204" pitchFamily="18" charset="0"/>
                          </a:rPr>
                        </m:ctrlPr>
                      </m:sSubPr>
                      <m:e>
                        <m:r>
                          <a:rPr lang="pt-BR" b="0" i="1">
                            <a:solidFill>
                              <a:srgbClr val="7030A0"/>
                            </a:solidFill>
                            <a:latin typeface="Cambria Math" panose="02040503050406030204" pitchFamily="18" charset="0"/>
                            <a:ea typeface="Cambria Math" panose="02040503050406030204" pitchFamily="18" charset="0"/>
                          </a:rPr>
                          <m:t>𝑎</m:t>
                        </m:r>
                      </m:e>
                      <m:sub>
                        <m:r>
                          <a:rPr lang="pt-BR" b="0" i="1" smtClean="0">
                            <a:solidFill>
                              <a:srgbClr val="7030A0"/>
                            </a:solidFill>
                            <a:latin typeface="Cambria Math" panose="02040503050406030204" pitchFamily="18" charset="0"/>
                            <a:ea typeface="Cambria Math" panose="02040503050406030204" pitchFamily="18" charset="0"/>
                          </a:rPr>
                          <m:t>𝑘</m:t>
                        </m:r>
                      </m:sub>
                    </m:sSub>
                    <m:r>
                      <a:rPr lang="pt-BR" b="0" i="1" smtClean="0">
                        <a:solidFill>
                          <a:srgbClr val="7030A0"/>
                        </a:solidFill>
                        <a:latin typeface="Cambria Math" panose="02040503050406030204" pitchFamily="18" charset="0"/>
                        <a:ea typeface="Cambria Math" panose="02040503050406030204" pitchFamily="18" charset="0"/>
                      </a:rPr>
                      <m:t>∀</m:t>
                    </m:r>
                    <m:r>
                      <a:rPr lang="pt-BR" b="0" i="1" smtClean="0">
                        <a:solidFill>
                          <a:srgbClr val="7030A0"/>
                        </a:solidFill>
                        <a:latin typeface="Cambria Math" panose="02040503050406030204" pitchFamily="18" charset="0"/>
                        <a:ea typeface="Cambria Math" panose="02040503050406030204" pitchFamily="18" charset="0"/>
                      </a:rPr>
                      <m:t>𝑘</m:t>
                    </m:r>
                  </m:oMath>
                </a14:m>
                <a:r>
                  <a:rPr lang="pt-BR" dirty="0">
                    <a:solidFill>
                      <a:srgbClr val="7030A0"/>
                    </a:solidFill>
                  </a:rPr>
                  <a:t>, </a:t>
                </a:r>
                <a:r>
                  <a:rPr lang="pt-BR" b="1" dirty="0">
                    <a:solidFill>
                      <a:srgbClr val="7030A0"/>
                    </a:solidFill>
                  </a:rPr>
                  <a:t>e o grau ideal</a:t>
                </a:r>
                <a:r>
                  <a:rPr lang="pt-BR" dirty="0">
                    <a:solidFill>
                      <a:srgbClr val="7030A0"/>
                    </a:solidFill>
                  </a:rPr>
                  <a:t>.</a:t>
                </a:r>
              </a:p>
              <a:p>
                <a:endParaRPr lang="pt-BR" i="1" dirty="0"/>
              </a:p>
            </p:txBody>
          </p:sp>
        </mc:Choice>
        <mc:Fallback xmlns="">
          <p:sp>
            <p:nvSpPr>
              <p:cNvPr id="3" name="Espaço Reservado para Conteúdo 2">
                <a:extLst>
                  <a:ext uri="{FF2B5EF4-FFF2-40B4-BE49-F238E27FC236}">
                    <a16:creationId xmlns:a16="http://schemas.microsoft.com/office/drawing/2014/main" id="{00AF2C97-23AA-21C2-FC29-4F9B2D05558B}"/>
                  </a:ext>
                </a:extLst>
              </p:cNvPr>
              <p:cNvSpPr>
                <a:spLocks noGrp="1" noRot="1" noChangeAspect="1" noMove="1" noResize="1" noEditPoints="1" noAdjustHandles="1" noChangeArrowheads="1" noChangeShapeType="1" noTextEdit="1"/>
              </p:cNvSpPr>
              <p:nvPr>
                <p:ph idx="1"/>
              </p:nvPr>
            </p:nvSpPr>
            <p:spPr>
              <a:xfrm>
                <a:off x="838200" y="1825624"/>
                <a:ext cx="11155325" cy="5032375"/>
              </a:xfrm>
              <a:blipFill>
                <a:blip r:embed="rId3"/>
                <a:stretch>
                  <a:fillRect l="-984" t="-1937" r="-164"/>
                </a:stretch>
              </a:blipFill>
            </p:spPr>
            <p:txBody>
              <a:bodyPr/>
              <a:lstStyle/>
              <a:p>
                <a:r>
                  <a:rPr lang="en-US">
                    <a:noFill/>
                  </a:rPr>
                  <a:t> </a:t>
                </a:r>
              </a:p>
            </p:txBody>
          </p:sp>
        </mc:Fallback>
      </mc:AlternateContent>
    </p:spTree>
    <p:extLst>
      <p:ext uri="{BB962C8B-B14F-4D97-AF65-F5344CB8AC3E}">
        <p14:creationId xmlns:p14="http://schemas.microsoft.com/office/powerpoint/2010/main" val="4494502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0803C-34C9-CCF4-6673-47CCCF2C74A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7B6B386-02B2-D964-73F3-196F9F79BAF2}"/>
              </a:ext>
            </a:extLst>
          </p:cNvPr>
          <p:cNvSpPr>
            <a:spLocks noGrp="1"/>
          </p:cNvSpPr>
          <p:nvPr>
            <p:ph type="title"/>
          </p:nvPr>
        </p:nvSpPr>
        <p:spPr/>
        <p:txBody>
          <a:bodyPr/>
          <a:lstStyle/>
          <a:p>
            <a:r>
              <a:rPr lang="pt-BR" dirty="0"/>
              <a:t>Por que polinômios?</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9C482631-ECEA-B4D7-2D72-82A636953ACA}"/>
                  </a:ext>
                </a:extLst>
              </p:cNvPr>
              <p:cNvSpPr>
                <a:spLocks noGrp="1"/>
              </p:cNvSpPr>
              <p:nvPr>
                <p:ph idx="1"/>
              </p:nvPr>
            </p:nvSpPr>
            <p:spPr>
              <a:xfrm>
                <a:off x="4867275" y="1825624"/>
                <a:ext cx="7324724" cy="5032375"/>
              </a:xfrm>
            </p:spPr>
            <p:txBody>
              <a:bodyPr>
                <a:normAutofit/>
              </a:bodyPr>
              <a:lstStyle/>
              <a:p>
                <a:r>
                  <a:rPr lang="pt-BR" dirty="0"/>
                  <a:t>Podemos modelar um </a:t>
                </a:r>
                <a:r>
                  <a:rPr lang="pt-BR" b="1" dirty="0"/>
                  <a:t>mapeamento linear</a:t>
                </a:r>
                <a:r>
                  <a:rPr lang="pt-BR" dirty="0"/>
                  <a:t> com a equação de uma reta:</a:t>
                </a:r>
              </a:p>
              <a:p>
                <a:pPr marL="457200" lvl="1" indent="0" algn="ctr">
                  <a:buNone/>
                </a:pPr>
                <a14:m>
                  <m:oMath xmlns:m="http://schemas.openxmlformats.org/officeDocument/2006/math">
                    <m:acc>
                      <m:accPr>
                        <m:chr m:val="̂"/>
                        <m:ctrlPr>
                          <a:rPr lang="pt-BR" i="1">
                            <a:latin typeface="Cambria Math" panose="02040503050406030204" pitchFamily="18" charset="0"/>
                          </a:rPr>
                        </m:ctrlPr>
                      </m:accPr>
                      <m:e>
                        <m:r>
                          <a:rPr lang="pt-BR" i="1">
                            <a:latin typeface="Cambria Math" panose="02040503050406030204" pitchFamily="18" charset="0"/>
                          </a:rPr>
                          <m:t>𝑦</m:t>
                        </m:r>
                      </m:e>
                    </m:acc>
                    <m:r>
                      <a:rPr lang="pt-BR" b="0" i="1" smtClean="0">
                        <a:latin typeface="Cambria Math" panose="02040503050406030204" pitchFamily="18" charset="0"/>
                      </a:rPr>
                      <m:t>=</m:t>
                    </m:r>
                    <m:r>
                      <a:rPr lang="pt-BR" i="1">
                        <a:latin typeface="Cambria Math" panose="02040503050406030204" pitchFamily="18" charset="0"/>
                        <a:ea typeface="Cambria Math" panose="02040503050406030204" pitchFamily="18" charset="0"/>
                      </a:rPr>
                      <m:t>ℎ</m:t>
                    </m:r>
                    <m:d>
                      <m:dPr>
                        <m:ctrlPr>
                          <a:rPr lang="pt-BR" b="0" i="1">
                            <a:latin typeface="Cambria Math" panose="02040503050406030204" pitchFamily="18" charset="0"/>
                            <a:ea typeface="Cambria Math" panose="02040503050406030204" pitchFamily="18" charset="0"/>
                          </a:rPr>
                        </m:ctrlPr>
                      </m:dPr>
                      <m:e>
                        <m:r>
                          <a:rPr lang="pt-BR" b="0" i="1">
                            <a:latin typeface="Cambria Math" panose="02040503050406030204" pitchFamily="18" charset="0"/>
                            <a:ea typeface="Cambria Math" panose="02040503050406030204" pitchFamily="18" charset="0"/>
                          </a:rPr>
                          <m:t>𝑥</m:t>
                        </m:r>
                      </m:e>
                    </m:d>
                    <m:r>
                      <a:rPr lang="pt-BR" b="1" i="1">
                        <a:latin typeface="Cambria Math" panose="02040503050406030204" pitchFamily="18" charset="0"/>
                        <a:ea typeface="Cambria Math" panose="02040503050406030204" pitchFamily="18" charset="0"/>
                      </a:rPr>
                      <m:t>=</m:t>
                    </m:r>
                    <m:r>
                      <a:rPr lang="pt-BR" b="1" i="1" smtClean="0">
                        <a:latin typeface="Cambria Math" panose="02040503050406030204" pitchFamily="18" charset="0"/>
                        <a:ea typeface="Cambria Math" panose="02040503050406030204" pitchFamily="18" charset="0"/>
                      </a:rPr>
                      <m:t> </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i="1">
                            <a:latin typeface="Cambria Math" panose="02040503050406030204" pitchFamily="18" charset="0"/>
                            <a:ea typeface="Cambria Math" panose="02040503050406030204" pitchFamily="18" charset="0"/>
                          </a:rPr>
                          <m:t>0</m:t>
                        </m:r>
                      </m:sub>
                    </m:sSub>
                  </m:oMath>
                </a14:m>
                <a:r>
                  <a:rPr lang="pt-BR" dirty="0"/>
                  <a:t> + </a:t>
                </a:r>
                <a14:m>
                  <m:oMath xmlns:m="http://schemas.openxmlformats.org/officeDocument/2006/math">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i="1">
                            <a:latin typeface="Cambria Math" panose="02040503050406030204" pitchFamily="18" charset="0"/>
                            <a:ea typeface="Cambria Math" panose="02040503050406030204" pitchFamily="18" charset="0"/>
                          </a:rPr>
                          <m:t>1</m:t>
                        </m:r>
                      </m:sub>
                    </m:sSub>
                    <m:r>
                      <a:rPr lang="pt-BR" b="0" i="1" smtClean="0">
                        <a:latin typeface="Cambria Math" panose="02040503050406030204" pitchFamily="18" charset="0"/>
                        <a:ea typeface="Cambria Math" panose="02040503050406030204" pitchFamily="18" charset="0"/>
                      </a:rPr>
                      <m:t>𝑥</m:t>
                    </m:r>
                  </m:oMath>
                </a14:m>
                <a:r>
                  <a:rPr lang="pt-BR" dirty="0"/>
                  <a:t>.</a:t>
                </a:r>
              </a:p>
              <a:p>
                <a:r>
                  <a:rPr lang="pt-BR" dirty="0"/>
                  <a:t>Podemos ter um </a:t>
                </a:r>
                <a:r>
                  <a:rPr lang="pt-BR" b="1" dirty="0"/>
                  <a:t>mapeamento não-linear</a:t>
                </a:r>
                <a:r>
                  <a:rPr lang="pt-BR" dirty="0"/>
                  <a:t> com uma equação que aproxima uma senoide:</a:t>
                </a:r>
              </a:p>
              <a:p>
                <a:pPr marL="457200" lvl="1" indent="0" algn="ctr">
                  <a:buNone/>
                </a:pPr>
                <a14:m>
                  <m:oMath xmlns:m="http://schemas.openxmlformats.org/officeDocument/2006/math">
                    <m:acc>
                      <m:accPr>
                        <m:chr m:val="̂"/>
                        <m:ctrlPr>
                          <a:rPr lang="pt-BR" i="1">
                            <a:latin typeface="Cambria Math" panose="02040503050406030204" pitchFamily="18" charset="0"/>
                          </a:rPr>
                        </m:ctrlPr>
                      </m:accPr>
                      <m:e>
                        <m:r>
                          <a:rPr lang="pt-BR" i="1">
                            <a:latin typeface="Cambria Math" panose="02040503050406030204" pitchFamily="18" charset="0"/>
                          </a:rPr>
                          <m:t>𝑦</m:t>
                        </m:r>
                      </m:e>
                    </m:acc>
                    <m:r>
                      <a:rPr lang="pt-BR" b="0" i="1" smtClean="0">
                        <a:latin typeface="Cambria Math" panose="02040503050406030204" pitchFamily="18" charset="0"/>
                      </a:rPr>
                      <m:t>=</m:t>
                    </m:r>
                    <m:r>
                      <a:rPr lang="pt-BR" i="1">
                        <a:latin typeface="Cambria Math" panose="02040503050406030204" pitchFamily="18" charset="0"/>
                        <a:ea typeface="Cambria Math" panose="02040503050406030204" pitchFamily="18" charset="0"/>
                      </a:rPr>
                      <m:t>ℎ</m:t>
                    </m:r>
                    <m:d>
                      <m:dPr>
                        <m:ctrlPr>
                          <a:rPr lang="pt-BR" b="0" i="1">
                            <a:latin typeface="Cambria Math" panose="02040503050406030204" pitchFamily="18" charset="0"/>
                            <a:ea typeface="Cambria Math" panose="02040503050406030204" pitchFamily="18" charset="0"/>
                          </a:rPr>
                        </m:ctrlPr>
                      </m:dPr>
                      <m:e>
                        <m:r>
                          <a:rPr lang="pt-BR" b="0" i="1">
                            <a:latin typeface="Cambria Math" panose="02040503050406030204" pitchFamily="18" charset="0"/>
                            <a:ea typeface="Cambria Math" panose="02040503050406030204" pitchFamily="18" charset="0"/>
                          </a:rPr>
                          <m:t>𝑥</m:t>
                        </m:r>
                      </m:e>
                    </m:d>
                    <m:r>
                      <a:rPr lang="pt-BR" b="1"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i="1">
                            <a:latin typeface="Cambria Math" panose="02040503050406030204" pitchFamily="18" charset="0"/>
                            <a:ea typeface="Cambria Math" panose="02040503050406030204" pitchFamily="18" charset="0"/>
                          </a:rPr>
                          <m:t>0</m:t>
                        </m:r>
                      </m:sub>
                    </m:sSub>
                    <m:r>
                      <a:rPr lang="pt-BR" b="0" i="1" smtClean="0">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b="0" i="1" smtClean="0">
                            <a:latin typeface="Cambria Math" panose="02040503050406030204" pitchFamily="18" charset="0"/>
                            <a:ea typeface="Cambria Math" panose="02040503050406030204" pitchFamily="18" charset="0"/>
                          </a:rPr>
                          <m:t>1</m:t>
                        </m:r>
                      </m:sub>
                    </m:sSub>
                    <m:r>
                      <a:rPr lang="pt-BR" b="0" i="1" smtClean="0">
                        <a:latin typeface="Cambria Math" panose="02040503050406030204" pitchFamily="18" charset="0"/>
                        <a:ea typeface="Cambria Math" panose="02040503050406030204" pitchFamily="18" charset="0"/>
                      </a:rPr>
                      <m:t>𝑥</m:t>
                    </m:r>
                    <m:r>
                      <a:rPr lang="pt-BR" b="0" i="1" smtClean="0">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b="0" i="1" smtClean="0">
                            <a:latin typeface="Cambria Math" panose="02040503050406030204" pitchFamily="18" charset="0"/>
                            <a:ea typeface="Cambria Math" panose="02040503050406030204" pitchFamily="18" charset="0"/>
                          </a:rPr>
                          <m:t>2</m:t>
                        </m:r>
                      </m:sub>
                    </m:sSub>
                    <m:sSup>
                      <m:sSupPr>
                        <m:ctrlPr>
                          <a:rPr lang="pt-BR" i="1">
                            <a:latin typeface="Cambria Math" panose="02040503050406030204" pitchFamily="18" charset="0"/>
                            <a:ea typeface="Cambria Math" panose="02040503050406030204" pitchFamily="18" charset="0"/>
                          </a:rPr>
                        </m:ctrlPr>
                      </m:sSupPr>
                      <m:e>
                        <m:r>
                          <a:rPr lang="pt-BR" i="1">
                            <a:latin typeface="Cambria Math" panose="02040503050406030204" pitchFamily="18" charset="0"/>
                            <a:ea typeface="Cambria Math" panose="02040503050406030204" pitchFamily="18" charset="0"/>
                          </a:rPr>
                          <m:t>𝑥</m:t>
                        </m:r>
                      </m:e>
                      <m:sup>
                        <m:r>
                          <a:rPr lang="pt-BR" i="1">
                            <a:latin typeface="Cambria Math" panose="02040503050406030204" pitchFamily="18" charset="0"/>
                            <a:ea typeface="Cambria Math" panose="02040503050406030204" pitchFamily="18" charset="0"/>
                          </a:rPr>
                          <m:t>3</m:t>
                        </m:r>
                      </m:sup>
                    </m:sSup>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b="0" i="1" smtClean="0">
                            <a:latin typeface="Cambria Math" panose="02040503050406030204" pitchFamily="18" charset="0"/>
                            <a:ea typeface="Cambria Math" panose="02040503050406030204" pitchFamily="18" charset="0"/>
                          </a:rPr>
                          <m:t>3</m:t>
                        </m:r>
                      </m:sub>
                    </m:sSub>
                    <m:sSup>
                      <m:sSupPr>
                        <m:ctrlPr>
                          <a:rPr lang="pt-BR" i="1">
                            <a:latin typeface="Cambria Math" panose="02040503050406030204" pitchFamily="18" charset="0"/>
                            <a:ea typeface="Cambria Math" panose="02040503050406030204" pitchFamily="18" charset="0"/>
                          </a:rPr>
                        </m:ctrlPr>
                      </m:sSupPr>
                      <m:e>
                        <m:r>
                          <a:rPr lang="pt-BR" i="1">
                            <a:latin typeface="Cambria Math" panose="02040503050406030204" pitchFamily="18" charset="0"/>
                            <a:ea typeface="Cambria Math" panose="02040503050406030204" pitchFamily="18" charset="0"/>
                          </a:rPr>
                          <m:t>𝑥</m:t>
                        </m:r>
                      </m:e>
                      <m:sup>
                        <m:r>
                          <a:rPr lang="pt-BR" b="0" i="1" smtClean="0">
                            <a:latin typeface="Cambria Math" panose="02040503050406030204" pitchFamily="18" charset="0"/>
                            <a:ea typeface="Cambria Math" panose="02040503050406030204" pitchFamily="18" charset="0"/>
                          </a:rPr>
                          <m:t>5</m:t>
                        </m:r>
                      </m:sup>
                    </m:sSup>
                    <m:r>
                      <a:rPr lang="pt-BR" b="0" i="1" smtClean="0">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b="0" i="1" smtClean="0">
                            <a:latin typeface="Cambria Math" panose="02040503050406030204" pitchFamily="18" charset="0"/>
                            <a:ea typeface="Cambria Math" panose="02040503050406030204" pitchFamily="18" charset="0"/>
                          </a:rPr>
                          <m:t>4</m:t>
                        </m:r>
                      </m:sub>
                    </m:sSub>
                    <m:sSup>
                      <m:sSupPr>
                        <m:ctrlPr>
                          <a:rPr lang="pt-BR" i="1">
                            <a:latin typeface="Cambria Math" panose="02040503050406030204" pitchFamily="18" charset="0"/>
                            <a:ea typeface="Cambria Math" panose="02040503050406030204" pitchFamily="18" charset="0"/>
                          </a:rPr>
                        </m:ctrlPr>
                      </m:sSupPr>
                      <m:e>
                        <m:r>
                          <a:rPr lang="pt-BR" i="1">
                            <a:latin typeface="Cambria Math" panose="02040503050406030204" pitchFamily="18" charset="0"/>
                            <a:ea typeface="Cambria Math" panose="02040503050406030204" pitchFamily="18" charset="0"/>
                          </a:rPr>
                          <m:t>𝑥</m:t>
                        </m:r>
                      </m:e>
                      <m:sup>
                        <m:r>
                          <a:rPr lang="pt-BR" b="0" i="1" smtClean="0">
                            <a:latin typeface="Cambria Math" panose="02040503050406030204" pitchFamily="18" charset="0"/>
                            <a:ea typeface="Cambria Math" panose="02040503050406030204" pitchFamily="18" charset="0"/>
                          </a:rPr>
                          <m:t>7</m:t>
                        </m:r>
                      </m:sup>
                    </m:sSup>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b="0" i="1" smtClean="0">
                            <a:latin typeface="Cambria Math" panose="02040503050406030204" pitchFamily="18" charset="0"/>
                            <a:ea typeface="Cambria Math" panose="02040503050406030204" pitchFamily="18" charset="0"/>
                          </a:rPr>
                          <m:t>5</m:t>
                        </m:r>
                      </m:sub>
                    </m:sSub>
                    <m:sSup>
                      <m:sSupPr>
                        <m:ctrlPr>
                          <a:rPr lang="pt-BR" i="1">
                            <a:latin typeface="Cambria Math" panose="02040503050406030204" pitchFamily="18" charset="0"/>
                            <a:ea typeface="Cambria Math" panose="02040503050406030204" pitchFamily="18" charset="0"/>
                          </a:rPr>
                        </m:ctrlPr>
                      </m:sSupPr>
                      <m:e>
                        <m:r>
                          <a:rPr lang="pt-BR" i="1">
                            <a:latin typeface="Cambria Math" panose="02040503050406030204" pitchFamily="18" charset="0"/>
                            <a:ea typeface="Cambria Math" panose="02040503050406030204" pitchFamily="18" charset="0"/>
                          </a:rPr>
                          <m:t>𝑥</m:t>
                        </m:r>
                      </m:e>
                      <m:sup>
                        <m:r>
                          <a:rPr lang="pt-BR" b="0" i="1" smtClean="0">
                            <a:latin typeface="Cambria Math" panose="02040503050406030204" pitchFamily="18" charset="0"/>
                            <a:ea typeface="Cambria Math" panose="02040503050406030204" pitchFamily="18" charset="0"/>
                          </a:rPr>
                          <m:t>9</m:t>
                        </m:r>
                      </m:sup>
                    </m:sSup>
                  </m:oMath>
                </a14:m>
                <a:r>
                  <a:rPr lang="pt-BR" dirty="0"/>
                  <a:t>.</a:t>
                </a:r>
              </a:p>
              <a:p>
                <a:r>
                  <a:rPr lang="pt-BR" dirty="0"/>
                  <a:t>Também podemos ter mapeamentos </a:t>
                </a:r>
                <a:r>
                  <a:rPr lang="pt-BR" b="1" dirty="0"/>
                  <a:t>lineares e não lineares com dois ou mais atributos</a:t>
                </a:r>
                <a:r>
                  <a:rPr lang="pt-BR" dirty="0"/>
                  <a:t>.</a:t>
                </a:r>
                <a:endParaRPr lang="pt-BR" i="1" dirty="0">
                  <a:latin typeface="Cambria Math" panose="02040503050406030204" pitchFamily="18" charset="0"/>
                </a:endParaRPr>
              </a:p>
              <a:p>
                <a:pPr marL="457200" lvl="1" indent="0" algn="ctr">
                  <a:buNone/>
                </a:pPr>
                <a14:m>
                  <m:oMathPara xmlns:m="http://schemas.openxmlformats.org/officeDocument/2006/math">
                    <m:oMath>
                      <m:acc>
                        <m:accPr>
                          <m:chr m:val="̂"/>
                          <m:ctrlPr>
                            <a:rPr lang="pt-BR" i="1">
                              <a:latin typeface="Cambria Math" panose="02040503050406030204" pitchFamily="18" charset="0"/>
                            </a:rPr>
                          </m:ctrlPr>
                        </m:accPr>
                        <m:e>
                          <m:r>
                            <a:rPr lang="pt-BR" i="1">
                              <a:latin typeface="Cambria Math" panose="02040503050406030204" pitchFamily="18" charset="0"/>
                            </a:rPr>
                            <m:t>𝑦</m:t>
                          </m:r>
                        </m:e>
                      </m:acc>
                      <m:r>
                        <a:rPr lang="pt-BR" i="1">
                          <a:latin typeface="Cambria Math" panose="02040503050406030204" pitchFamily="18" charset="0"/>
                        </a:rPr>
                        <m:t>=</m:t>
                      </m:r>
                      <m:r>
                        <a:rPr lang="pt-BR" i="1">
                          <a:latin typeface="Cambria Math" panose="02040503050406030204" pitchFamily="18" charset="0"/>
                          <a:ea typeface="Cambria Math" panose="02040503050406030204" pitchFamily="18" charset="0"/>
                        </a:rPr>
                        <m:t>ℎ</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1</m:t>
                              </m:r>
                            </m:sub>
                          </m:sSub>
                          <m:r>
                            <a:rPr lang="pt-BR" b="1"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2</m:t>
                              </m:r>
                            </m:sub>
                          </m:sSub>
                        </m:e>
                      </m:d>
                      <m:sSub>
                        <m:sSubPr>
                          <m:ctrlPr>
                            <a:rPr lang="pt-BR" i="1">
                              <a:latin typeface="Cambria Math" panose="02040503050406030204" pitchFamily="18" charset="0"/>
                            </a:rPr>
                          </m:ctrlPr>
                        </m:sSubPr>
                        <m:e>
                          <m:r>
                            <a:rPr lang="pt-BR" i="1">
                              <a:latin typeface="Cambria Math" panose="02040503050406030204" pitchFamily="18" charset="0"/>
                            </a:rPr>
                            <m:t>=</m:t>
                          </m:r>
                          <m:r>
                            <a:rPr lang="pt-BR" i="1">
                              <a:latin typeface="Cambria Math" panose="02040503050406030204" pitchFamily="18" charset="0"/>
                            </a:rPr>
                            <m:t>𝑎</m:t>
                          </m:r>
                        </m:e>
                        <m:sub>
                          <m:r>
                            <a:rPr lang="pt-BR" i="1">
                              <a:latin typeface="Cambria Math" panose="02040503050406030204" pitchFamily="18" charset="0"/>
                            </a:rPr>
                            <m:t>0</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1</m:t>
                          </m:r>
                        </m:sub>
                      </m:sSub>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1</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2</m:t>
                          </m:r>
                        </m:sub>
                      </m:sSub>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2</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3</m:t>
                          </m:r>
                        </m:sub>
                      </m:sSub>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3</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4</m:t>
                          </m:r>
                        </m:sub>
                      </m:sSub>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1</m:t>
                          </m:r>
                        </m:sub>
                      </m:sSub>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3</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5</m:t>
                          </m:r>
                        </m:sub>
                      </m:sSub>
                      <m:sSup>
                        <m:sSupPr>
                          <m:ctrlPr>
                            <a:rPr lang="pt-BR" i="1">
                              <a:latin typeface="Cambria Math" panose="02040503050406030204" pitchFamily="18" charset="0"/>
                            </a:rPr>
                          </m:ctrlPr>
                        </m:sSupP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1</m:t>
                              </m:r>
                            </m:sub>
                          </m:sSub>
                        </m:e>
                        <m:sup>
                          <m:r>
                            <a:rPr lang="pt-BR" i="1">
                              <a:latin typeface="Cambria Math" panose="02040503050406030204" pitchFamily="18" charset="0"/>
                            </a:rPr>
                            <m:t>3</m:t>
                          </m:r>
                        </m:sup>
                      </m:sSup>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6</m:t>
                          </m:r>
                        </m:sub>
                      </m:sSub>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1</m:t>
                          </m:r>
                        </m:sub>
                      </m:sSub>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2</m:t>
                          </m:r>
                        </m:sub>
                      </m:sSub>
                      <m:sSup>
                        <m:sSupPr>
                          <m:ctrlPr>
                            <a:rPr lang="pt-BR" i="1">
                              <a:latin typeface="Cambria Math" panose="02040503050406030204" pitchFamily="18" charset="0"/>
                            </a:rPr>
                          </m:ctrlPr>
                        </m:sSupP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3</m:t>
                              </m:r>
                            </m:sub>
                          </m:sSub>
                        </m:e>
                        <m:sup>
                          <m:r>
                            <a:rPr lang="pt-BR" i="1">
                              <a:latin typeface="Cambria Math" panose="02040503050406030204" pitchFamily="18" charset="0"/>
                            </a:rPr>
                            <m:t>2</m:t>
                          </m:r>
                        </m:sup>
                      </m:sSup>
                      <m:r>
                        <a:rPr lang="pt-BR" b="0" i="1" smtClean="0">
                          <a:latin typeface="Cambria Math" panose="02040503050406030204" pitchFamily="18" charset="0"/>
                        </a:rPr>
                        <m:t>.</m:t>
                      </m:r>
                    </m:oMath>
                  </m:oMathPara>
                </a14:m>
                <a:endParaRPr lang="pt-BR" dirty="0"/>
              </a:p>
            </p:txBody>
          </p:sp>
        </mc:Choice>
        <mc:Fallback xmlns="">
          <p:sp>
            <p:nvSpPr>
              <p:cNvPr id="3" name="Espaço Reservado para Conteúdo 2">
                <a:extLst>
                  <a:ext uri="{FF2B5EF4-FFF2-40B4-BE49-F238E27FC236}">
                    <a16:creationId xmlns:a16="http://schemas.microsoft.com/office/drawing/2014/main" id="{9C482631-ECEA-B4D7-2D72-82A636953ACA}"/>
                  </a:ext>
                </a:extLst>
              </p:cNvPr>
              <p:cNvSpPr>
                <a:spLocks noGrp="1" noRot="1" noChangeAspect="1" noMove="1" noResize="1" noEditPoints="1" noAdjustHandles="1" noChangeArrowheads="1" noChangeShapeType="1" noTextEdit="1"/>
              </p:cNvSpPr>
              <p:nvPr>
                <p:ph idx="1"/>
              </p:nvPr>
            </p:nvSpPr>
            <p:spPr>
              <a:xfrm>
                <a:off x="4867275" y="1825624"/>
                <a:ext cx="7324724" cy="5032375"/>
              </a:xfrm>
              <a:blipFill>
                <a:blip r:embed="rId3"/>
                <a:stretch>
                  <a:fillRect l="-1498" t="-1937" r="-2246"/>
                </a:stretch>
              </a:blipFill>
            </p:spPr>
            <p:txBody>
              <a:bodyPr/>
              <a:lstStyle/>
              <a:p>
                <a:r>
                  <a:rPr lang="en-US">
                    <a:noFill/>
                  </a:rPr>
                  <a:t> </a:t>
                </a:r>
              </a:p>
            </p:txBody>
          </p:sp>
        </mc:Fallback>
      </mc:AlternateContent>
      <p:pic>
        <p:nvPicPr>
          <p:cNvPr id="1028" name="Picture 4">
            <a:extLst>
              <a:ext uri="{FF2B5EF4-FFF2-40B4-BE49-F238E27FC236}">
                <a16:creationId xmlns:a16="http://schemas.microsoft.com/office/drawing/2014/main" id="{12007748-1241-43BA-BCB2-C3CEA1054E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4915" y="1690688"/>
            <a:ext cx="3456316" cy="251792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D0BE679B-48AF-4331-B659-21FE08DC204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4915" y="4275212"/>
            <a:ext cx="3456316" cy="25179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94253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45697-3A02-BDB2-D0B5-7E4CF1D492B9}"/>
            </a:ext>
          </a:extLst>
        </p:cNvPr>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41F5C589-0027-B2EA-0A39-ABD85D084F2C}"/>
              </a:ext>
            </a:extLst>
          </p:cNvPr>
          <p:cNvSpPr>
            <a:spLocks noGrp="1"/>
          </p:cNvSpPr>
          <p:nvPr>
            <p:ph idx="1"/>
          </p:nvPr>
        </p:nvSpPr>
        <p:spPr>
          <a:xfrm>
            <a:off x="838200" y="2593975"/>
            <a:ext cx="10515600" cy="1644650"/>
          </a:xfrm>
        </p:spPr>
        <p:txBody>
          <a:bodyPr>
            <a:normAutofit/>
          </a:bodyPr>
          <a:lstStyle/>
          <a:p>
            <a:pPr marL="0" indent="0" algn="ctr">
              <a:buNone/>
            </a:pPr>
            <a:r>
              <a:rPr lang="pt-BR" sz="5400" dirty="0"/>
              <a:t>Mas devemos tomar cuidado com a flexibilidade dos polinômios!</a:t>
            </a:r>
          </a:p>
        </p:txBody>
      </p:sp>
    </p:spTree>
    <p:extLst>
      <p:ext uri="{BB962C8B-B14F-4D97-AF65-F5344CB8AC3E}">
        <p14:creationId xmlns:p14="http://schemas.microsoft.com/office/powerpoint/2010/main" val="31577155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7C531-24F5-3DB0-B7A7-5DB19DFC73D8}"/>
              </a:ext>
            </a:extLst>
          </p:cNvPr>
          <p:cNvSpPr>
            <a:spLocks noGrp="1"/>
          </p:cNvSpPr>
          <p:nvPr>
            <p:ph type="title"/>
          </p:nvPr>
        </p:nvSpPr>
        <p:spPr/>
        <p:txBody>
          <a:bodyPr/>
          <a:lstStyle/>
          <a:p>
            <a:r>
              <a:rPr lang="pt-BR" dirty="0"/>
              <a:t>A flexibilidade dos polinômios</a:t>
            </a:r>
            <a:endParaRPr lang="en-US" dirty="0"/>
          </a:p>
        </p:txBody>
      </p:sp>
      <p:sp>
        <p:nvSpPr>
          <p:cNvPr id="3" name="Content Placeholder 2">
            <a:extLst>
              <a:ext uri="{FF2B5EF4-FFF2-40B4-BE49-F238E27FC236}">
                <a16:creationId xmlns:a16="http://schemas.microsoft.com/office/drawing/2014/main" id="{FBA4BB4A-BD28-6356-3136-572E90FF542A}"/>
              </a:ext>
            </a:extLst>
          </p:cNvPr>
          <p:cNvSpPr>
            <a:spLocks noGrp="1"/>
          </p:cNvSpPr>
          <p:nvPr>
            <p:ph idx="1"/>
          </p:nvPr>
        </p:nvSpPr>
        <p:spPr>
          <a:xfrm>
            <a:off x="5520266" y="1825624"/>
            <a:ext cx="6671733" cy="5032375"/>
          </a:xfrm>
        </p:spPr>
        <p:txBody>
          <a:bodyPr>
            <a:normAutofit lnSpcReduction="10000"/>
          </a:bodyPr>
          <a:lstStyle/>
          <a:p>
            <a:r>
              <a:rPr lang="pt-BR" noProof="0" dirty="0"/>
              <a:t>Grau 1: linha reta</a:t>
            </a:r>
          </a:p>
          <a:p>
            <a:r>
              <a:rPr lang="pt-BR" noProof="0" dirty="0"/>
              <a:t>Grau 2: parábola com um </a:t>
            </a:r>
            <a:r>
              <a:rPr lang="pt-BR" b="1" noProof="0" dirty="0"/>
              <a:t>ponto de inflexão</a:t>
            </a:r>
            <a:r>
              <a:rPr lang="pt-BR" noProof="0" dirty="0"/>
              <a:t> (i.e., mudança de direção)</a:t>
            </a:r>
          </a:p>
          <a:p>
            <a:r>
              <a:rPr lang="pt-BR" noProof="0" dirty="0"/>
              <a:t>Grau 3: curva com até dois pontos de inflexão</a:t>
            </a:r>
          </a:p>
          <a:p>
            <a:r>
              <a:rPr lang="pt-BR" noProof="0" dirty="0"/>
              <a:t>Graus maiores: curvas </a:t>
            </a:r>
            <a:r>
              <a:rPr lang="pt-BR" b="1" noProof="0" dirty="0">
                <a:solidFill>
                  <a:srgbClr val="7030A0"/>
                </a:solidFill>
              </a:rPr>
              <a:t>cada vez mais flexíveis</a:t>
            </a:r>
          </a:p>
          <a:p>
            <a:r>
              <a:rPr lang="pt-BR" b="1" noProof="0" dirty="0"/>
              <a:t>Observações</a:t>
            </a:r>
            <a:r>
              <a:rPr lang="pt-BR" noProof="0" dirty="0"/>
              <a:t>:</a:t>
            </a:r>
          </a:p>
          <a:p>
            <a:pPr lvl="1">
              <a:buFont typeface="Wingdings" panose="05000000000000000000" pitchFamily="2" charset="2"/>
              <a:buChar char="§"/>
            </a:pPr>
            <a:r>
              <a:rPr lang="pt-BR" noProof="0" dirty="0"/>
              <a:t>Maior grau ≠ modelo melhor.</a:t>
            </a:r>
          </a:p>
          <a:p>
            <a:pPr lvl="1">
              <a:buFont typeface="Wingdings" panose="05000000000000000000" pitchFamily="2" charset="2"/>
              <a:buChar char="§"/>
            </a:pPr>
            <a:r>
              <a:rPr lang="pt-BR" noProof="0" dirty="0"/>
              <a:t>Flexibilidade excessiva pode levar ao </a:t>
            </a:r>
            <a:r>
              <a:rPr lang="pt-BR" i="1" noProof="0" dirty="0" err="1"/>
              <a:t>overfitting</a:t>
            </a:r>
            <a:r>
              <a:rPr lang="pt-BR" i="1" noProof="0" dirty="0"/>
              <a:t>.</a:t>
            </a:r>
          </a:p>
          <a:p>
            <a:pPr lvl="1">
              <a:buFont typeface="Wingdings" panose="05000000000000000000" pitchFamily="2" charset="2"/>
              <a:buChar char="§"/>
            </a:pPr>
            <a:r>
              <a:rPr lang="pt-BR" noProof="0" dirty="0"/>
              <a:t>Por outro lado, flexibilidade de menos pode levar ao </a:t>
            </a:r>
            <a:r>
              <a:rPr lang="pt-BR" i="1" noProof="0" dirty="0"/>
              <a:t>underfitting</a:t>
            </a:r>
            <a:r>
              <a:rPr lang="pt-BR" noProof="0" dirty="0"/>
              <a:t>.</a:t>
            </a:r>
          </a:p>
        </p:txBody>
      </p:sp>
      <p:pic>
        <p:nvPicPr>
          <p:cNvPr id="1026" name="Picture 2">
            <a:extLst>
              <a:ext uri="{FF2B5EF4-FFF2-40B4-BE49-F238E27FC236}">
                <a16:creationId xmlns:a16="http://schemas.microsoft.com/office/drawing/2014/main" id="{D7A0260E-AE81-A92B-4535-15046E14C6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656" y="2269068"/>
            <a:ext cx="4454331" cy="343305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id="{A244C24D-7C66-269F-87CC-D8B1A348C837}"/>
                  </a:ext>
                </a:extLst>
              </p:cNvPr>
              <p:cNvSpPr txBox="1"/>
              <p:nvPr/>
            </p:nvSpPr>
            <p:spPr>
              <a:xfrm>
                <a:off x="838200" y="5702124"/>
                <a:ext cx="4144787" cy="830997"/>
              </a:xfrm>
              <a:prstGeom prst="rect">
                <a:avLst/>
              </a:prstGeom>
              <a:noFill/>
            </p:spPr>
            <p:txBody>
              <a:bodyPr wrap="square">
                <a:spAutoFit/>
              </a:bodyPr>
              <a:lstStyle/>
              <a:p>
                <a:pPr algn="ctr"/>
                <a:r>
                  <a:rPr lang="pt-BR" sz="1600" b="0" i="0" kern="1200" noProof="0" dirty="0">
                    <a:solidFill>
                      <a:schemeClr val="tx1"/>
                    </a:solidFill>
                    <a:effectLst/>
                    <a:latin typeface="+mn-lt"/>
                    <a:ea typeface="+mn-ea"/>
                    <a:cs typeface="+mn-cs"/>
                  </a:rPr>
                  <a:t>O objetivo é encontrar uma função hipótese, </a:t>
                </a:r>
                <a14:m>
                  <m:oMath xmlns:m="http://schemas.openxmlformats.org/officeDocument/2006/math">
                    <m:r>
                      <a:rPr lang="pt-BR" sz="1600" b="0" i="1" kern="1200" noProof="0" smtClean="0">
                        <a:solidFill>
                          <a:schemeClr val="tx1"/>
                        </a:solidFill>
                        <a:effectLst/>
                        <a:latin typeface="Cambria Math" panose="02040503050406030204" pitchFamily="18" charset="0"/>
                        <a:ea typeface="+mn-ea"/>
                        <a:cs typeface="+mn-cs"/>
                      </a:rPr>
                      <m:t>ℎ</m:t>
                    </m:r>
                    <m:r>
                      <a:rPr lang="pt-BR" sz="1600" b="0" i="1" kern="1200" noProof="0" smtClean="0">
                        <a:solidFill>
                          <a:schemeClr val="tx1"/>
                        </a:solidFill>
                        <a:effectLst/>
                        <a:latin typeface="Cambria Math" panose="02040503050406030204" pitchFamily="18" charset="0"/>
                        <a:ea typeface="+mn-ea"/>
                        <a:cs typeface="+mn-cs"/>
                      </a:rPr>
                      <m:t>(</m:t>
                    </m:r>
                    <m:r>
                      <a:rPr lang="pt-BR" sz="1600" b="0" i="1" kern="1200" noProof="0" smtClean="0">
                        <a:solidFill>
                          <a:schemeClr val="tx1"/>
                        </a:solidFill>
                        <a:effectLst/>
                        <a:latin typeface="Cambria Math" panose="02040503050406030204" pitchFamily="18" charset="0"/>
                        <a:ea typeface="+mn-ea"/>
                        <a:cs typeface="+mn-cs"/>
                      </a:rPr>
                      <m:t>𝑥</m:t>
                    </m:r>
                    <m:r>
                      <a:rPr lang="pt-BR" sz="1600" b="0" i="1" kern="1200" noProof="0" smtClean="0">
                        <a:solidFill>
                          <a:schemeClr val="tx1"/>
                        </a:solidFill>
                        <a:effectLst/>
                        <a:latin typeface="Cambria Math" panose="02040503050406030204" pitchFamily="18" charset="0"/>
                        <a:ea typeface="+mn-ea"/>
                        <a:cs typeface="+mn-cs"/>
                      </a:rPr>
                      <m:t>)</m:t>
                    </m:r>
                  </m:oMath>
                </a14:m>
                <a:r>
                  <a:rPr lang="pt-BR" sz="1600" b="0" i="0" kern="1200" noProof="0" dirty="0">
                    <a:solidFill>
                      <a:schemeClr val="tx1"/>
                    </a:solidFill>
                    <a:effectLst/>
                    <a:latin typeface="+mn-lt"/>
                    <a:ea typeface="+mn-ea"/>
                    <a:cs typeface="+mn-cs"/>
                  </a:rPr>
                  <a:t>, que </a:t>
                </a:r>
                <a:r>
                  <a:rPr lang="pt-BR" sz="1600" b="1" i="0" kern="1200" noProof="0" dirty="0">
                    <a:solidFill>
                      <a:srgbClr val="00B050"/>
                    </a:solidFill>
                    <a:effectLst/>
                    <a:latin typeface="+mn-lt"/>
                    <a:ea typeface="+mn-ea"/>
                    <a:cs typeface="+mn-cs"/>
                  </a:rPr>
                  <a:t>aproxime a função verdadeira por trás dos pontos ruidosos</a:t>
                </a:r>
                <a:r>
                  <a:rPr lang="pt-BR" sz="1600" b="0" i="0" kern="1200" noProof="0" dirty="0">
                    <a:solidFill>
                      <a:schemeClr val="tx1"/>
                    </a:solidFill>
                    <a:effectLst/>
                    <a:latin typeface="+mn-lt"/>
                    <a:ea typeface="+mn-ea"/>
                    <a:cs typeface="+mn-cs"/>
                  </a:rPr>
                  <a:t>.</a:t>
                </a:r>
                <a:endParaRPr lang="pt-BR" sz="1600" noProof="0" dirty="0"/>
              </a:p>
            </p:txBody>
          </p:sp>
        </mc:Choice>
        <mc:Fallback xmlns="">
          <p:sp>
            <p:nvSpPr>
              <p:cNvPr id="5" name="CaixaDeTexto 4">
                <a:extLst>
                  <a:ext uri="{FF2B5EF4-FFF2-40B4-BE49-F238E27FC236}">
                    <a16:creationId xmlns:a16="http://schemas.microsoft.com/office/drawing/2014/main" id="{A244C24D-7C66-269F-87CC-D8B1A348C837}"/>
                  </a:ext>
                </a:extLst>
              </p:cNvPr>
              <p:cNvSpPr txBox="1">
                <a:spLocks noRot="1" noChangeAspect="1" noMove="1" noResize="1" noEditPoints="1" noAdjustHandles="1" noChangeArrowheads="1" noChangeShapeType="1" noTextEdit="1"/>
              </p:cNvSpPr>
              <p:nvPr/>
            </p:nvSpPr>
            <p:spPr>
              <a:xfrm>
                <a:off x="838200" y="5702124"/>
                <a:ext cx="4144787" cy="830997"/>
              </a:xfrm>
              <a:prstGeom prst="rect">
                <a:avLst/>
              </a:prstGeom>
              <a:blipFill>
                <a:blip r:embed="rId4"/>
                <a:stretch>
                  <a:fillRect t="-2190" b="-8029"/>
                </a:stretch>
              </a:blipFill>
            </p:spPr>
            <p:txBody>
              <a:bodyPr/>
              <a:lstStyle/>
              <a:p>
                <a:r>
                  <a:rPr lang="en-US">
                    <a:noFill/>
                  </a:rPr>
                  <a:t> </a:t>
                </a:r>
              </a:p>
            </p:txBody>
          </p:sp>
        </mc:Fallback>
      </mc:AlternateContent>
    </p:spTree>
    <p:extLst>
      <p:ext uri="{BB962C8B-B14F-4D97-AF65-F5344CB8AC3E}">
        <p14:creationId xmlns:p14="http://schemas.microsoft.com/office/powerpoint/2010/main" val="18145006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1E141-9BEA-1A7F-F3BE-B2EC1675E232}"/>
            </a:ext>
          </a:extLst>
        </p:cNvPr>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7636E6F2-3CD7-063A-5B72-5FF656E61DA5}"/>
              </a:ext>
            </a:extLst>
          </p:cNvPr>
          <p:cNvSpPr>
            <a:spLocks noGrp="1"/>
          </p:cNvSpPr>
          <p:nvPr>
            <p:ph idx="1"/>
          </p:nvPr>
        </p:nvSpPr>
        <p:spPr>
          <a:xfrm>
            <a:off x="838200" y="2593975"/>
            <a:ext cx="10515600" cy="1670050"/>
          </a:xfrm>
        </p:spPr>
        <p:txBody>
          <a:bodyPr>
            <a:normAutofit/>
          </a:bodyPr>
          <a:lstStyle/>
          <a:p>
            <a:pPr marL="0" indent="0" algn="ctr">
              <a:buNone/>
            </a:pPr>
            <a:r>
              <a:rPr lang="pt-BR" sz="5400" dirty="0"/>
              <a:t>Como encontramos os pesos e o melhor grau?</a:t>
            </a:r>
          </a:p>
        </p:txBody>
      </p:sp>
    </p:spTree>
    <p:extLst>
      <p:ext uri="{BB962C8B-B14F-4D97-AF65-F5344CB8AC3E}">
        <p14:creationId xmlns:p14="http://schemas.microsoft.com/office/powerpoint/2010/main" val="28197979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D1460-F0A9-8CC3-99B3-716DC4544139}"/>
              </a:ext>
            </a:extLst>
          </p:cNvPr>
          <p:cNvSpPr>
            <a:spLocks noGrp="1"/>
          </p:cNvSpPr>
          <p:nvPr>
            <p:ph type="title"/>
          </p:nvPr>
        </p:nvSpPr>
        <p:spPr/>
        <p:txBody>
          <a:bodyPr/>
          <a:lstStyle/>
          <a:p>
            <a:r>
              <a:rPr lang="pt-BR" dirty="0"/>
              <a:t>Objetivo da regressão linear</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8F1D988-6925-C286-BA9F-B4A4851E2FFB}"/>
                  </a:ext>
                </a:extLst>
              </p:cNvPr>
              <p:cNvSpPr>
                <a:spLocks noGrp="1"/>
              </p:cNvSpPr>
              <p:nvPr>
                <p:ph idx="1"/>
              </p:nvPr>
            </p:nvSpPr>
            <p:spPr>
              <a:xfrm>
                <a:off x="838199" y="1825624"/>
                <a:ext cx="11249968" cy="5032375"/>
              </a:xfrm>
            </p:spPr>
            <p:txBody>
              <a:bodyPr>
                <a:normAutofit/>
              </a:bodyPr>
              <a:lstStyle/>
              <a:p>
                <a:r>
                  <a:rPr lang="pt-BR" dirty="0"/>
                  <a:t>Por enquanto, vamos assumir que já conhecemos o melhor grau do polinômio.</a:t>
                </a:r>
              </a:p>
              <a:p>
                <a:r>
                  <a:rPr lang="pt-BR" dirty="0"/>
                  <a:t>Como temos os atributos e os rótulos, o </a:t>
                </a:r>
                <a:r>
                  <a:rPr lang="pt-BR" b="1" dirty="0"/>
                  <a:t>objetivo</a:t>
                </a:r>
                <a:r>
                  <a:rPr lang="pt-BR" dirty="0"/>
                  <a:t> passa a ser encontrar os </a:t>
                </a:r>
                <a:r>
                  <a:rPr lang="pt-BR" b="1" dirty="0"/>
                  <a:t>pesos (ótimos)</a:t>
                </a:r>
                <a:r>
                  <a:rPr lang="pt-BR" dirty="0"/>
                  <a:t> que </a:t>
                </a:r>
                <a:r>
                  <a:rPr lang="pt-BR" b="1" dirty="0">
                    <a:solidFill>
                      <a:srgbClr val="7030A0"/>
                    </a:solidFill>
                  </a:rPr>
                  <a:t>minimizam o erro </a:t>
                </a:r>
                <a:r>
                  <a:rPr lang="pt-BR" b="1" dirty="0"/>
                  <a:t>entre as predições</a:t>
                </a:r>
                <a:r>
                  <a:rPr lang="pt-BR" dirty="0"/>
                  <a:t>,</a:t>
                </a:r>
                <a:r>
                  <a:rPr lang="pt-BR" b="1" dirty="0"/>
                  <a:t> </a:t>
                </a:r>
                <a14:m>
                  <m:oMath xmlns:m="http://schemas.openxmlformats.org/officeDocument/2006/math">
                    <m:acc>
                      <m:accPr>
                        <m:chr m:val="̂"/>
                        <m:ctrlPr>
                          <a:rPr lang="pt-BR" i="1">
                            <a:latin typeface="Cambria Math" panose="02040503050406030204" pitchFamily="18" charset="0"/>
                          </a:rPr>
                        </m:ctrlPr>
                      </m:accPr>
                      <m:e>
                        <m:r>
                          <a:rPr lang="pt-BR" i="1">
                            <a:latin typeface="Cambria Math" panose="02040503050406030204" pitchFamily="18" charset="0"/>
                          </a:rPr>
                          <m:t>𝑦</m:t>
                        </m:r>
                      </m:e>
                    </m:acc>
                  </m:oMath>
                </a14:m>
                <a:r>
                  <a:rPr lang="pt-BR" dirty="0"/>
                  <a:t> (i.e., saídas do modelo) </a:t>
                </a:r>
                <a:r>
                  <a:rPr lang="pt-BR" b="1" dirty="0"/>
                  <a:t>e os rótulos</a:t>
                </a:r>
                <a:r>
                  <a:rPr lang="pt-BR" dirty="0"/>
                  <a:t>, </a:t>
                </a:r>
                <a14:m>
                  <m:oMath xmlns:m="http://schemas.openxmlformats.org/officeDocument/2006/math">
                    <m:r>
                      <a:rPr lang="pt-BR" b="0" i="1" smtClean="0">
                        <a:latin typeface="Cambria Math" panose="02040503050406030204" pitchFamily="18" charset="0"/>
                      </a:rPr>
                      <m:t>𝑦</m:t>
                    </m:r>
                  </m:oMath>
                </a14:m>
                <a:r>
                  <a:rPr lang="pt-BR" dirty="0"/>
                  <a:t>.</a:t>
                </a:r>
              </a:p>
              <a:p>
                <a:r>
                  <a:rPr lang="pt-BR" dirty="0"/>
                  <a:t>Escrevendo como um </a:t>
                </a:r>
                <a:r>
                  <a:rPr lang="pt-BR" b="1" dirty="0">
                    <a:solidFill>
                      <a:schemeClr val="accent2"/>
                    </a:solidFill>
                  </a:rPr>
                  <a:t>problema de otimização</a:t>
                </a:r>
                <a:r>
                  <a:rPr lang="pt-BR" dirty="0"/>
                  <a:t>, temos que o </a:t>
                </a:r>
                <a:r>
                  <a:rPr lang="pt-BR" b="1" dirty="0"/>
                  <a:t>objetivo</a:t>
                </a:r>
                <a:r>
                  <a:rPr lang="pt-BR" dirty="0"/>
                  <a:t> é:</a:t>
                </a:r>
              </a:p>
              <a:p>
                <a:pPr lvl="1">
                  <a:buFont typeface="Wingdings" panose="05000000000000000000" pitchFamily="2" charset="2"/>
                  <a:buChar char="§"/>
                </a:pPr>
                <a:r>
                  <a:rPr lang="pt-BR" dirty="0"/>
                  <a:t>Encontrar o </a:t>
                </a:r>
                <a:r>
                  <a:rPr lang="pt-BR" b="1" dirty="0">
                    <a:solidFill>
                      <a:srgbClr val="0070C0"/>
                    </a:solidFill>
                  </a:rPr>
                  <a:t>vetor de pesos</a:t>
                </a:r>
                <a:r>
                  <a:rPr lang="pt-BR" dirty="0"/>
                  <a:t>, </a:t>
                </a:r>
                <a14:m>
                  <m:oMath xmlns:m="http://schemas.openxmlformats.org/officeDocument/2006/math">
                    <m:r>
                      <a:rPr lang="pt-BR" b="1" i="1">
                        <a:latin typeface="Cambria Math" panose="02040503050406030204" pitchFamily="18" charset="0"/>
                      </a:rPr>
                      <m:t>𝒂</m:t>
                    </m:r>
                    <m:r>
                      <a:rPr lang="pt-BR" b="1" i="1" smtClean="0">
                        <a:latin typeface="Cambria Math" panose="02040503050406030204" pitchFamily="18" charset="0"/>
                      </a:rPr>
                      <m:t>=</m:t>
                    </m:r>
                    <m:sSup>
                      <m:sSupPr>
                        <m:ctrlPr>
                          <a:rPr lang="pt-BR" b="1" i="1">
                            <a:latin typeface="Cambria Math" panose="02040503050406030204" pitchFamily="18" charset="0"/>
                          </a:rPr>
                        </m:ctrlPr>
                      </m:sSupPr>
                      <m:e>
                        <m:r>
                          <a:rPr lang="pt-BR" b="1" i="1">
                            <a:latin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i="1">
                                <a:latin typeface="Cambria Math" panose="02040503050406030204" pitchFamily="18" charset="0"/>
                                <a:ea typeface="Cambria Math" panose="02040503050406030204" pitchFamily="18" charset="0"/>
                              </a:rPr>
                              <m:t>0</m:t>
                            </m:r>
                          </m:sub>
                        </m:sSub>
                        <m:r>
                          <a:rPr lang="pt-BR" b="1"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i="1">
                                <a:latin typeface="Cambria Math" panose="02040503050406030204" pitchFamily="18" charset="0"/>
                                <a:ea typeface="Cambria Math" panose="02040503050406030204" pitchFamily="18" charset="0"/>
                              </a:rPr>
                              <m:t>𝐾</m:t>
                            </m:r>
                          </m:sub>
                        </m:sSub>
                        <m:r>
                          <a:rPr lang="pt-BR" b="1" i="1">
                            <a:latin typeface="Cambria Math" panose="02040503050406030204" pitchFamily="18" charset="0"/>
                          </a:rPr>
                          <m:t>]</m:t>
                        </m:r>
                      </m:e>
                      <m:sup>
                        <m:r>
                          <a:rPr lang="pt-BR" i="1">
                            <a:latin typeface="Cambria Math" panose="02040503050406030204" pitchFamily="18" charset="0"/>
                          </a:rPr>
                          <m:t>𝑇</m:t>
                        </m:r>
                      </m:sup>
                    </m:sSup>
                    <m:r>
                      <a:rPr lang="pt-BR" b="1" i="1">
                        <a:latin typeface="Cambria Math" panose="02040503050406030204" pitchFamily="18" charset="0"/>
                        <a:ea typeface="Cambria Math" panose="02040503050406030204" pitchFamily="18" charset="0"/>
                      </a:rPr>
                      <m:t>∈</m:t>
                    </m:r>
                    <m:sSup>
                      <m:sSupPr>
                        <m:ctrlPr>
                          <a:rPr lang="pt-BR" b="1" i="1">
                            <a:latin typeface="Cambria Math" panose="02040503050406030204" pitchFamily="18" charset="0"/>
                            <a:ea typeface="Cambria Math" panose="02040503050406030204" pitchFamily="18" charset="0"/>
                          </a:rPr>
                        </m:ctrlPr>
                      </m:sSupPr>
                      <m:e>
                        <m:r>
                          <a:rPr lang="pt-BR" b="1" i="1">
                            <a:latin typeface="Cambria Math" panose="02040503050406030204" pitchFamily="18" charset="0"/>
                            <a:ea typeface="Cambria Math" panose="02040503050406030204" pitchFamily="18" charset="0"/>
                          </a:rPr>
                          <m:t> </m:t>
                        </m:r>
                        <m:r>
                          <a:rPr lang="pt-BR" b="1" i="1">
                            <a:latin typeface="Cambria Math" panose="02040503050406030204" pitchFamily="18" charset="0"/>
                            <a:ea typeface="Cambria Math" panose="02040503050406030204" pitchFamily="18" charset="0"/>
                          </a:rPr>
                          <m:t>ℝ</m:t>
                        </m:r>
                      </m:e>
                      <m:sup>
                        <m:r>
                          <a:rPr lang="pt-BR" i="1">
                            <a:latin typeface="Cambria Math" panose="02040503050406030204" pitchFamily="18" charset="0"/>
                            <a:ea typeface="Cambria Math" panose="02040503050406030204" pitchFamily="18" charset="0"/>
                          </a:rPr>
                          <m:t>𝐾</m:t>
                        </m:r>
                        <m:r>
                          <a:rPr lang="pt-BR" b="0" i="1" smtClean="0">
                            <a:latin typeface="Cambria Math" panose="02040503050406030204" pitchFamily="18" charset="0"/>
                            <a:ea typeface="Cambria Math" panose="02040503050406030204" pitchFamily="18" charset="0"/>
                          </a:rPr>
                          <m:t>+1</m:t>
                        </m:r>
                        <m:r>
                          <a:rPr lang="pt-BR" i="1">
                            <a:latin typeface="Cambria Math" panose="02040503050406030204" pitchFamily="18" charset="0"/>
                            <a:ea typeface="Cambria Math" panose="02040503050406030204" pitchFamily="18" charset="0"/>
                          </a:rPr>
                          <m:t>×1</m:t>
                        </m:r>
                      </m:sup>
                    </m:sSup>
                  </m:oMath>
                </a14:m>
                <a:r>
                  <a:rPr lang="pt-BR" dirty="0"/>
                  <a:t>, que minimize o </a:t>
                </a:r>
                <a:r>
                  <a:rPr lang="pt-BR" b="1" dirty="0"/>
                  <a:t>erro</a:t>
                </a:r>
                <a:r>
                  <a:rPr lang="pt-BR" dirty="0"/>
                  <a:t>, dado por uma </a:t>
                </a:r>
                <a:r>
                  <a:rPr lang="pt-BR" b="1" dirty="0"/>
                  <a:t>função de erro</a:t>
                </a:r>
                <a:r>
                  <a:rPr lang="pt-BR" dirty="0"/>
                  <a:t>,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oMath>
                </a14:m>
                <a:r>
                  <a:rPr lang="pt-BR" dirty="0"/>
                  <a:t>, entre a aproximação, </a:t>
                </a:r>
                <a14:m>
                  <m:oMath xmlns:m="http://schemas.openxmlformats.org/officeDocument/2006/math">
                    <m:acc>
                      <m:accPr>
                        <m:chr m:val="̂"/>
                        <m:ctrlPr>
                          <a:rPr lang="pt-BR" i="1">
                            <a:latin typeface="Cambria Math" panose="02040503050406030204" pitchFamily="18" charset="0"/>
                          </a:rPr>
                        </m:ctrlPr>
                      </m:accPr>
                      <m:e>
                        <m:r>
                          <a:rPr lang="pt-BR" i="1">
                            <a:latin typeface="Cambria Math" panose="02040503050406030204" pitchFamily="18" charset="0"/>
                          </a:rPr>
                          <m:t>𝑦</m:t>
                        </m:r>
                      </m:e>
                    </m:acc>
                  </m:oMath>
                </a14:m>
                <a:r>
                  <a:rPr lang="pt-BR" dirty="0"/>
                  <a:t>, e o valor esperado, </a:t>
                </a:r>
                <a14:m>
                  <m:oMath xmlns:m="http://schemas.openxmlformats.org/officeDocument/2006/math">
                    <m:r>
                      <a:rPr lang="pt-BR" i="1">
                        <a:latin typeface="Cambria Math" panose="02040503050406030204" pitchFamily="18" charset="0"/>
                      </a:rPr>
                      <m:t>𝑦</m:t>
                    </m:r>
                  </m:oMath>
                </a14:m>
                <a:r>
                  <a:rPr lang="pt-BR" dirty="0"/>
                  <a:t>, </a:t>
                </a:r>
                <a:r>
                  <a:rPr lang="pt-BR" b="1" dirty="0">
                    <a:solidFill>
                      <a:srgbClr val="00B050"/>
                    </a:solidFill>
                  </a:rPr>
                  <a:t>para todos </a:t>
                </a:r>
                <a:r>
                  <a:rPr lang="pt-BR" b="1" dirty="0">
                    <a:solidFill>
                      <a:srgbClr val="0070C0"/>
                    </a:solidFill>
                  </a:rPr>
                  <a:t>os exemplos do conjunto de treinamento</a:t>
                </a:r>
                <a:r>
                  <a:rPr lang="pt-BR" dirty="0"/>
                  <a:t>.</a:t>
                </a:r>
              </a:p>
              <a:p>
                <a:pPr marL="0" indent="0" algn="ctr">
                  <a:buNone/>
                </a:pPr>
                <a14:m>
                  <m:oMath xmlns:m="http://schemas.openxmlformats.org/officeDocument/2006/math">
                    <m:sSub>
                      <m:sSubPr>
                        <m:ctrlPr>
                          <a:rPr lang="pt-BR" b="1" i="1">
                            <a:latin typeface="Cambria Math" panose="02040503050406030204" pitchFamily="18" charset="0"/>
                          </a:rPr>
                        </m:ctrlPr>
                      </m:sSubPr>
                      <m:e>
                        <m:r>
                          <a:rPr lang="pt-BR" b="1" i="1">
                            <a:latin typeface="Cambria Math" panose="02040503050406030204" pitchFamily="18" charset="0"/>
                          </a:rPr>
                          <m:t>𝒂</m:t>
                        </m:r>
                      </m:e>
                      <m:sub>
                        <m:r>
                          <a:rPr lang="pt-BR">
                            <a:latin typeface="Cambria Math" panose="02040503050406030204" pitchFamily="18" charset="0"/>
                          </a:rPr>
                          <m:t>ó</m:t>
                        </m:r>
                        <m:r>
                          <m:rPr>
                            <m:sty m:val="p"/>
                          </m:rPr>
                          <a:rPr lang="pt-BR">
                            <a:latin typeface="Cambria Math" panose="02040503050406030204" pitchFamily="18" charset="0"/>
                          </a:rPr>
                          <m:t>timo</m:t>
                        </m:r>
                      </m:sub>
                    </m:sSub>
                    <m:r>
                      <a:rPr lang="pt-BR" b="0" i="1" smtClean="0">
                        <a:latin typeface="Cambria Math" panose="02040503050406030204" pitchFamily="18" charset="0"/>
                      </a:rPr>
                      <m:t>=</m:t>
                    </m:r>
                    <m:func>
                      <m:funcPr>
                        <m:ctrlPr>
                          <a:rPr lang="pt-BR" i="1">
                            <a:latin typeface="Cambria Math" panose="02040503050406030204" pitchFamily="18" charset="0"/>
                          </a:rPr>
                        </m:ctrlPr>
                      </m:funcPr>
                      <m:fName>
                        <m:limLow>
                          <m:limLowPr>
                            <m:ctrlPr>
                              <a:rPr lang="pt-BR">
                                <a:latin typeface="Cambria Math" panose="02040503050406030204" pitchFamily="18" charset="0"/>
                              </a:rPr>
                            </m:ctrlPr>
                          </m:limLowPr>
                          <m:e>
                            <m:r>
                              <m:rPr>
                                <m:sty m:val="p"/>
                              </m:rPr>
                              <a:rPr lang="pt-BR">
                                <a:latin typeface="Cambria Math" panose="02040503050406030204" pitchFamily="18" charset="0"/>
                              </a:rPr>
                              <m:t>min</m:t>
                            </m:r>
                          </m:e>
                          <m:lim>
                            <m:r>
                              <a:rPr lang="pt-BR" b="1" i="1" smtClean="0">
                                <a:latin typeface="Cambria Math" panose="02040503050406030204" pitchFamily="18" charset="0"/>
                              </a:rPr>
                              <m:t>𝒂</m:t>
                            </m:r>
                            <m:r>
                              <a:rPr lang="pt-BR" b="1" i="1">
                                <a:latin typeface="Cambria Math" panose="02040503050406030204" pitchFamily="18" charset="0"/>
                              </a:rPr>
                              <m:t> </m:t>
                            </m:r>
                          </m:lim>
                        </m:limLow>
                      </m:fName>
                      <m:e>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r>
                          <a:rPr lang="pt-BR" i="1">
                            <a:latin typeface="Cambria Math" panose="02040503050406030204" pitchFamily="18" charset="0"/>
                          </a:rPr>
                          <m:t>(</m:t>
                        </m:r>
                        <m:r>
                          <a:rPr lang="pt-BR" b="1" i="1">
                            <a:latin typeface="Cambria Math" panose="02040503050406030204" pitchFamily="18" charset="0"/>
                          </a:rPr>
                          <m:t>𝒂</m:t>
                        </m:r>
                        <m:r>
                          <a:rPr lang="pt-BR" i="1">
                            <a:latin typeface="Cambria Math" panose="02040503050406030204" pitchFamily="18" charset="0"/>
                          </a:rPr>
                          <m:t>)</m:t>
                        </m:r>
                      </m:e>
                    </m:func>
                  </m:oMath>
                </a14:m>
                <a:r>
                  <a:rPr lang="pt-BR" dirty="0"/>
                  <a:t>.</a:t>
                </a:r>
              </a:p>
            </p:txBody>
          </p:sp>
        </mc:Choice>
        <mc:Fallback xmlns="">
          <p:sp>
            <p:nvSpPr>
              <p:cNvPr id="3" name="Content Placeholder 2">
                <a:extLst>
                  <a:ext uri="{FF2B5EF4-FFF2-40B4-BE49-F238E27FC236}">
                    <a16:creationId xmlns:a16="http://schemas.microsoft.com/office/drawing/2014/main" id="{A8F1D988-6925-C286-BA9F-B4A4851E2FFB}"/>
                  </a:ext>
                </a:extLst>
              </p:cNvPr>
              <p:cNvSpPr>
                <a:spLocks noGrp="1" noRot="1" noChangeAspect="1" noMove="1" noResize="1" noEditPoints="1" noAdjustHandles="1" noChangeArrowheads="1" noChangeShapeType="1" noTextEdit="1"/>
              </p:cNvSpPr>
              <p:nvPr>
                <p:ph idx="1"/>
              </p:nvPr>
            </p:nvSpPr>
            <p:spPr>
              <a:xfrm>
                <a:off x="838199" y="1825624"/>
                <a:ext cx="11249968" cy="5032375"/>
              </a:xfrm>
              <a:blipFill>
                <a:blip r:embed="rId3"/>
                <a:stretch>
                  <a:fillRect l="-921" t="-1937" r="-9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6B354F9-74E2-2FAD-DDBA-5FD514A114CE}"/>
                  </a:ext>
                </a:extLst>
              </p:cNvPr>
              <p:cNvSpPr txBox="1"/>
              <p:nvPr/>
            </p:nvSpPr>
            <p:spPr>
              <a:xfrm>
                <a:off x="9596487" y="6550223"/>
                <a:ext cx="2595513" cy="307777"/>
              </a:xfrm>
              <a:prstGeom prst="rect">
                <a:avLst/>
              </a:prstGeom>
              <a:noFill/>
            </p:spPr>
            <p:txBody>
              <a:bodyPr wrap="square">
                <a:spAutoFit/>
              </a:bodyPr>
              <a:lstStyle/>
              <a:p>
                <a:r>
                  <a:rPr lang="pt-BR" sz="1400" b="1" dirty="0">
                    <a:ea typeface="Cambria Math" panose="02040503050406030204" pitchFamily="18" charset="0"/>
                  </a:rPr>
                  <a:t>OBS</a:t>
                </a:r>
                <a:r>
                  <a:rPr lang="pt-BR" sz="1400" dirty="0">
                    <a:ea typeface="Cambria Math" panose="02040503050406030204" pitchFamily="18" charset="0"/>
                  </a:rPr>
                  <a:t>.: </a:t>
                </a:r>
                <a14:m>
                  <m:oMath xmlns:m="http://schemas.openxmlformats.org/officeDocument/2006/math">
                    <m:r>
                      <a:rPr lang="pt-BR" sz="1400" i="1" smtClean="0">
                        <a:latin typeface="Cambria Math" panose="02040503050406030204" pitchFamily="18" charset="0"/>
                        <a:ea typeface="Cambria Math" panose="02040503050406030204" pitchFamily="18" charset="0"/>
                      </a:rPr>
                      <m:t>𝐾</m:t>
                    </m:r>
                  </m:oMath>
                </a14:m>
                <a:r>
                  <a:rPr lang="pt-BR" sz="1400" dirty="0"/>
                  <a:t> é o número de atributos.</a:t>
                </a:r>
                <a:endParaRPr lang="en-US" sz="1400" dirty="0"/>
              </a:p>
            </p:txBody>
          </p:sp>
        </mc:Choice>
        <mc:Fallback xmlns="">
          <p:sp>
            <p:nvSpPr>
              <p:cNvPr id="5" name="TextBox 4">
                <a:extLst>
                  <a:ext uri="{FF2B5EF4-FFF2-40B4-BE49-F238E27FC236}">
                    <a16:creationId xmlns:a16="http://schemas.microsoft.com/office/drawing/2014/main" id="{A6B354F9-74E2-2FAD-DDBA-5FD514A114CE}"/>
                  </a:ext>
                </a:extLst>
              </p:cNvPr>
              <p:cNvSpPr txBox="1">
                <a:spLocks noRot="1" noChangeAspect="1" noMove="1" noResize="1" noEditPoints="1" noAdjustHandles="1" noChangeArrowheads="1" noChangeShapeType="1" noTextEdit="1"/>
              </p:cNvSpPr>
              <p:nvPr/>
            </p:nvSpPr>
            <p:spPr>
              <a:xfrm>
                <a:off x="9596487" y="6550223"/>
                <a:ext cx="2595513" cy="307777"/>
              </a:xfrm>
              <a:prstGeom prst="rect">
                <a:avLst/>
              </a:prstGeom>
              <a:blipFill>
                <a:blip r:embed="rId4"/>
                <a:stretch>
                  <a:fillRect l="-704" t="-4000" b="-20000"/>
                </a:stretch>
              </a:blipFill>
            </p:spPr>
            <p:txBody>
              <a:bodyPr/>
              <a:lstStyle/>
              <a:p>
                <a:r>
                  <a:rPr lang="en-US">
                    <a:noFill/>
                  </a:rPr>
                  <a:t> </a:t>
                </a:r>
              </a:p>
            </p:txBody>
          </p:sp>
        </mc:Fallback>
      </mc:AlternateContent>
    </p:spTree>
    <p:extLst>
      <p:ext uri="{BB962C8B-B14F-4D97-AF65-F5344CB8AC3E}">
        <p14:creationId xmlns:p14="http://schemas.microsoft.com/office/powerpoint/2010/main" val="6781428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A1FF2-610F-29DC-A1C0-06044CE6D752}"/>
            </a:ext>
          </a:extLst>
        </p:cNvPr>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BEB786D8-DC7C-3952-8523-439D463A8F44}"/>
              </a:ext>
            </a:extLst>
          </p:cNvPr>
          <p:cNvSpPr>
            <a:spLocks noGrp="1"/>
          </p:cNvSpPr>
          <p:nvPr>
            <p:ph idx="1"/>
          </p:nvPr>
        </p:nvSpPr>
        <p:spPr>
          <a:xfrm>
            <a:off x="838199" y="2593975"/>
            <a:ext cx="10853057" cy="2228396"/>
          </a:xfrm>
        </p:spPr>
        <p:txBody>
          <a:bodyPr>
            <a:normAutofit/>
          </a:bodyPr>
          <a:lstStyle/>
          <a:p>
            <a:pPr marL="0" indent="0" algn="ctr">
              <a:buNone/>
            </a:pPr>
            <a:r>
              <a:rPr lang="pt-BR" sz="5400" dirty="0"/>
              <a:t>Para treinarmos o modelo, precisamos de uma função de erro</a:t>
            </a:r>
          </a:p>
        </p:txBody>
      </p:sp>
    </p:spTree>
    <p:extLst>
      <p:ext uri="{BB962C8B-B14F-4D97-AF65-F5344CB8AC3E}">
        <p14:creationId xmlns:p14="http://schemas.microsoft.com/office/powerpoint/2010/main" val="32089916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2F9E6F-04DB-ABA7-5277-8F56D03FB979}"/>
              </a:ext>
            </a:extLst>
          </p:cNvPr>
          <p:cNvSpPr>
            <a:spLocks noGrp="1"/>
          </p:cNvSpPr>
          <p:nvPr>
            <p:ph type="title"/>
          </p:nvPr>
        </p:nvSpPr>
        <p:spPr/>
        <p:txBody>
          <a:bodyPr/>
          <a:lstStyle/>
          <a:p>
            <a:r>
              <a:rPr lang="pt-BR" dirty="0"/>
              <a:t>Função de erro</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843752C2-61B6-8E7E-17CE-7C009ECA9D67}"/>
                  </a:ext>
                </a:extLst>
              </p:cNvPr>
              <p:cNvSpPr>
                <a:spLocks noGrp="1"/>
              </p:cNvSpPr>
              <p:nvPr>
                <p:ph idx="1"/>
              </p:nvPr>
            </p:nvSpPr>
            <p:spPr>
              <a:xfrm>
                <a:off x="838200" y="1825624"/>
                <a:ext cx="11353800" cy="5032375"/>
              </a:xfrm>
            </p:spPr>
            <p:txBody>
              <a:bodyPr>
                <a:normAutofit/>
              </a:bodyPr>
              <a:lstStyle/>
              <a:p>
                <a:r>
                  <a:rPr lang="pt-BR" dirty="0"/>
                  <a:t>Existem várias possibilidades para a </a:t>
                </a:r>
                <a:r>
                  <a:rPr lang="pt-BR" b="1" dirty="0"/>
                  <a:t>função de erro</a:t>
                </a:r>
                <a:r>
                  <a:rPr lang="pt-BR" dirty="0"/>
                  <a:t>. Porém, em problemas de regressão, é comum utilizar-se o </a:t>
                </a:r>
                <a:r>
                  <a:rPr lang="pt-BR" b="1" dirty="0">
                    <a:solidFill>
                      <a:srgbClr val="00B050"/>
                    </a:solidFill>
                  </a:rPr>
                  <a:t>erro quadrático médio (EQM)</a:t>
                </a:r>
                <a:endParaRPr lang="pt-BR" dirty="0"/>
              </a:p>
              <a:p>
                <a:pPr marL="0" indent="0" algn="ctr">
                  <a:buNone/>
                </a:pPr>
                <a14:m>
                  <m:oMathPara xmlns:m="http://schemas.openxmlformats.org/officeDocument/2006/math">
                    <m:oMath>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r>
                        <a:rPr lang="pt-BR" b="0" i="1" smtClean="0">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𝑁</m:t>
                          </m:r>
                        </m:den>
                      </m:f>
                      <m:nary>
                        <m:naryPr>
                          <m:chr m:val="∑"/>
                          <m:ctrlPr>
                            <a:rPr lang="pt-BR" b="0" i="1" smtClean="0">
                              <a:latin typeface="Cambria Math" panose="02040503050406030204" pitchFamily="18" charset="0"/>
                            </a:rPr>
                          </m:ctrlPr>
                        </m:naryPr>
                        <m:sub>
                          <m:r>
                            <a:rPr lang="pt-BR" b="0" i="1" smtClean="0">
                              <a:latin typeface="Cambria Math" panose="02040503050406030204" pitchFamily="18" charset="0"/>
                            </a:rPr>
                            <m:t>𝑛</m:t>
                          </m:r>
                          <m:r>
                            <a:rPr lang="pt-BR" i="1">
                              <a:latin typeface="Cambria Math" panose="02040503050406030204" pitchFamily="18" charset="0"/>
                            </a:rPr>
                            <m:t>=0</m:t>
                          </m:r>
                        </m:sub>
                        <m:sup>
                          <m:r>
                            <a:rPr lang="pt-BR" i="1">
                              <a:latin typeface="Cambria Math" panose="02040503050406030204" pitchFamily="18" charset="0"/>
                            </a:rPr>
                            <m:t>𝑁</m:t>
                          </m:r>
                          <m:r>
                            <a:rPr lang="pt-BR" i="1">
                              <a:latin typeface="Cambria Math" panose="02040503050406030204" pitchFamily="18" charset="0"/>
                            </a:rPr>
                            <m:t>−1</m:t>
                          </m:r>
                        </m:sup>
                        <m:e>
                          <m:sSup>
                            <m:sSupPr>
                              <m:ctrlPr>
                                <a:rPr lang="pt-BR" i="1">
                                  <a:latin typeface="Cambria Math" panose="02040503050406030204" pitchFamily="18" charset="0"/>
                                </a:rPr>
                              </m:ctrlPr>
                            </m:sSupPr>
                            <m:e>
                              <m:d>
                                <m:dPr>
                                  <m:ctrlPr>
                                    <a:rPr lang="pt-BR" i="1">
                                      <a:latin typeface="Cambria Math" panose="02040503050406030204" pitchFamily="18" charset="0"/>
                                    </a:rPr>
                                  </m:ctrlPr>
                                </m:dPr>
                                <m:e>
                                  <m:r>
                                    <a:rPr lang="pt-BR" i="1">
                                      <a:latin typeface="Cambria Math" panose="02040503050406030204" pitchFamily="18" charset="0"/>
                                    </a:rPr>
                                    <m:t>𝑦</m:t>
                                  </m:r>
                                  <m:r>
                                    <a:rPr lang="pt-BR" i="1">
                                      <a:latin typeface="Cambria Math" panose="02040503050406030204" pitchFamily="18" charset="0"/>
                                    </a:rPr>
                                    <m:t>(</m:t>
                                  </m:r>
                                  <m:r>
                                    <a:rPr lang="pt-BR" b="0" i="1" smtClean="0">
                                      <a:latin typeface="Cambria Math" panose="02040503050406030204" pitchFamily="18" charset="0"/>
                                    </a:rPr>
                                    <m:t>𝑛</m:t>
                                  </m:r>
                                  <m:r>
                                    <a:rPr lang="pt-BR" i="1">
                                      <a:latin typeface="Cambria Math" panose="02040503050406030204" pitchFamily="18" charset="0"/>
                                    </a:rPr>
                                    <m:t>)−</m:t>
                                  </m:r>
                                  <m:acc>
                                    <m:accPr>
                                      <m:chr m:val="̂"/>
                                      <m:ctrlPr>
                                        <a:rPr lang="pt-BR" b="0" i="1" dirty="0" smtClean="0">
                                          <a:latin typeface="Cambria Math" panose="02040503050406030204" pitchFamily="18" charset="0"/>
                                        </a:rPr>
                                      </m:ctrlPr>
                                    </m:accPr>
                                    <m:e>
                                      <m:r>
                                        <a:rPr lang="pt-BR" b="0" i="1" dirty="0" smtClean="0">
                                          <a:latin typeface="Cambria Math" panose="02040503050406030204" pitchFamily="18" charset="0"/>
                                        </a:rPr>
                                        <m:t>𝑦</m:t>
                                      </m:r>
                                    </m:e>
                                  </m:acc>
                                  <m:r>
                                    <a:rPr lang="pt-BR" b="0" i="1" smtClean="0">
                                      <a:latin typeface="Cambria Math" panose="02040503050406030204" pitchFamily="18" charset="0"/>
                                    </a:rPr>
                                    <m:t>(</m:t>
                                  </m:r>
                                  <m:r>
                                    <a:rPr lang="pt-BR" b="0" i="1" smtClean="0">
                                      <a:latin typeface="Cambria Math" panose="02040503050406030204" pitchFamily="18" charset="0"/>
                                    </a:rPr>
                                    <m:t>𝑛</m:t>
                                  </m:r>
                                  <m:r>
                                    <a:rPr lang="pt-BR" b="0" i="1" smtClean="0">
                                      <a:latin typeface="Cambria Math" panose="02040503050406030204" pitchFamily="18" charset="0"/>
                                    </a:rPr>
                                    <m:t>)</m:t>
                                  </m:r>
                                </m:e>
                              </m:d>
                            </m:e>
                            <m:sup>
                              <m:r>
                                <a:rPr lang="pt-BR" i="1">
                                  <a:latin typeface="Cambria Math" panose="02040503050406030204" pitchFamily="18" charset="0"/>
                                </a:rPr>
                                <m:t>2</m:t>
                              </m:r>
                            </m:sup>
                          </m:sSup>
                        </m:e>
                      </m:nary>
                      <m:r>
                        <a:rPr lang="pt-BR" b="0" i="1" smtClean="0">
                          <a:latin typeface="Cambria Math" panose="02040503050406030204" pitchFamily="18" charset="0"/>
                        </a:rPr>
                        <m:t>=</m:t>
                      </m:r>
                      <m:limLow>
                        <m:limLowPr>
                          <m:ctrlPr>
                            <a:rPr lang="pt-BR" i="1">
                              <a:latin typeface="Cambria Math" panose="02040503050406030204" pitchFamily="18" charset="0"/>
                            </a:rPr>
                          </m:ctrlPr>
                        </m:limLowPr>
                        <m:e>
                          <m:groupChr>
                            <m:groupChrPr>
                              <m:chr m:val="⏟"/>
                              <m:pos m:val="bot"/>
                              <m:vertJc m:val="top"/>
                              <m:ctrlPr>
                                <a:rPr lang="pt-BR" i="1">
                                  <a:latin typeface="Cambria Math" panose="02040503050406030204" pitchFamily="18" charset="0"/>
                                </a:rPr>
                              </m:ctrlPr>
                            </m:groupChrPr>
                            <m:e>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𝑁</m:t>
                                  </m:r>
                                </m:den>
                              </m:f>
                              <m:sSup>
                                <m:sSupPr>
                                  <m:ctrlPr>
                                    <a:rPr lang="pt-BR" b="1" i="1">
                                      <a:latin typeface="Cambria Math" panose="02040503050406030204" pitchFamily="18" charset="0"/>
                                    </a:rPr>
                                  </m:ctrlPr>
                                </m:sSupPr>
                                <m:e>
                                  <m:d>
                                    <m:dPr>
                                      <m:begChr m:val="‖"/>
                                      <m:endChr m:val="‖"/>
                                      <m:ctrlPr>
                                        <a:rPr lang="pt-BR" b="1" i="1">
                                          <a:latin typeface="Cambria Math" panose="02040503050406030204" pitchFamily="18" charset="0"/>
                                        </a:rPr>
                                      </m:ctrlPr>
                                    </m:dPr>
                                    <m:e>
                                      <m:r>
                                        <a:rPr lang="pt-BR" b="1" i="1">
                                          <a:latin typeface="Cambria Math" panose="02040503050406030204" pitchFamily="18" charset="0"/>
                                        </a:rPr>
                                        <m:t>𝒚</m:t>
                                      </m:r>
                                      <m:r>
                                        <a:rPr lang="pt-BR" i="1">
                                          <a:latin typeface="Cambria Math" panose="02040503050406030204" pitchFamily="18" charset="0"/>
                                        </a:rPr>
                                        <m:t> −</m:t>
                                      </m:r>
                                      <m:limLow>
                                        <m:limLowPr>
                                          <m:ctrlPr>
                                            <a:rPr lang="pt-BR" b="1" i="1">
                                              <a:latin typeface="Cambria Math" panose="02040503050406030204" pitchFamily="18" charset="0"/>
                                            </a:rPr>
                                          </m:ctrlPr>
                                        </m:limLowPr>
                                        <m:e>
                                          <m:groupChr>
                                            <m:groupChrPr>
                                              <m:chr m:val="⏟"/>
                                              <m:pos m:val="bot"/>
                                              <m:vertJc m:val="top"/>
                                              <m:ctrlPr>
                                                <a:rPr lang="pt-BR" b="1" i="1">
                                                  <a:latin typeface="Cambria Math" panose="02040503050406030204" pitchFamily="18" charset="0"/>
                                                </a:rPr>
                                              </m:ctrlPr>
                                            </m:groupChrPr>
                                            <m:e>
                                              <m:r>
                                                <a:rPr lang="pt-BR" b="1" i="1">
                                                  <a:latin typeface="Cambria Math" panose="02040503050406030204" pitchFamily="18" charset="0"/>
                                                </a:rPr>
                                                <m:t>𝑿𝒂</m:t>
                                              </m:r>
                                            </m:e>
                                          </m:groupChr>
                                        </m:e>
                                        <m:lim>
                                          <m:acc>
                                            <m:accPr>
                                              <m:chr m:val="̂"/>
                                              <m:ctrlPr>
                                                <a:rPr lang="pt-BR" b="1" i="1" dirty="0">
                                                  <a:latin typeface="Cambria Math" panose="02040503050406030204" pitchFamily="18" charset="0"/>
                                                </a:rPr>
                                              </m:ctrlPr>
                                            </m:accPr>
                                            <m:e>
                                              <m:r>
                                                <a:rPr lang="pt-BR" b="1" i="1" dirty="0">
                                                  <a:latin typeface="Cambria Math" panose="02040503050406030204" pitchFamily="18" charset="0"/>
                                                </a:rPr>
                                                <m:t>𝒚</m:t>
                                              </m:r>
                                            </m:e>
                                          </m:acc>
                                          <m:r>
                                            <a:rPr lang="pt-BR" b="1" i="1" dirty="0" smtClean="0">
                                              <a:latin typeface="Cambria Math" panose="02040503050406030204" pitchFamily="18" charset="0"/>
                                            </a:rPr>
                                            <m:t>=</m:t>
                                          </m:r>
                                          <m:r>
                                            <a:rPr lang="pt-BR" b="0" i="1" dirty="0" smtClean="0">
                                              <a:latin typeface="Cambria Math" panose="02040503050406030204" pitchFamily="18" charset="0"/>
                                            </a:rPr>
                                            <m:t>ℎ</m:t>
                                          </m:r>
                                          <m:r>
                                            <a:rPr lang="pt-BR" b="1" i="1" dirty="0" smtClean="0">
                                              <a:latin typeface="Cambria Math" panose="02040503050406030204" pitchFamily="18" charset="0"/>
                                            </a:rPr>
                                            <m:t>(</m:t>
                                          </m:r>
                                          <m:r>
                                            <a:rPr lang="pt-BR" b="1" i="1" dirty="0" smtClean="0">
                                              <a:latin typeface="Cambria Math" panose="02040503050406030204" pitchFamily="18" charset="0"/>
                                            </a:rPr>
                                            <m:t>𝒙</m:t>
                                          </m:r>
                                          <m:r>
                                            <a:rPr lang="pt-BR" b="1" i="1" dirty="0" smtClean="0">
                                              <a:latin typeface="Cambria Math" panose="02040503050406030204" pitchFamily="18" charset="0"/>
                                            </a:rPr>
                                            <m:t>)</m:t>
                                          </m:r>
                                        </m:lim>
                                      </m:limLow>
                                    </m:e>
                                  </m:d>
                                </m:e>
                                <m:sup>
                                  <m:r>
                                    <a:rPr lang="pt-BR" i="1">
                                      <a:latin typeface="Cambria Math" panose="02040503050406030204" pitchFamily="18" charset="0"/>
                                    </a:rPr>
                                    <m:t>2</m:t>
                                  </m:r>
                                </m:sup>
                              </m:sSup>
                            </m:e>
                          </m:groupChr>
                        </m:e>
                        <m:lim>
                          <m:r>
                            <m:rPr>
                              <m:sty m:val="p"/>
                            </m:rPr>
                            <a:rPr lang="pt-BR" b="0" i="0" smtClean="0">
                              <a:latin typeface="Cambria Math" panose="02040503050406030204" pitchFamily="18" charset="0"/>
                            </a:rPr>
                            <m:t>forma</m:t>
                          </m:r>
                          <m:r>
                            <a:rPr lang="pt-BR" b="0" i="0" smtClean="0">
                              <a:latin typeface="Cambria Math" panose="02040503050406030204" pitchFamily="18" charset="0"/>
                            </a:rPr>
                            <m:t> </m:t>
                          </m:r>
                          <m:r>
                            <m:rPr>
                              <m:sty m:val="p"/>
                            </m:rPr>
                            <a:rPr lang="pt-BR" b="0" i="0" smtClean="0">
                              <a:latin typeface="Cambria Math" panose="02040503050406030204" pitchFamily="18" charset="0"/>
                            </a:rPr>
                            <m:t>matricial</m:t>
                          </m:r>
                        </m:lim>
                      </m:limLow>
                      <m:r>
                        <a:rPr lang="pt-BR" b="0" i="0" smtClean="0">
                          <a:latin typeface="Cambria Math" panose="02040503050406030204" pitchFamily="18" charset="0"/>
                        </a:rPr>
                        <m:t>,</m:t>
                      </m:r>
                    </m:oMath>
                  </m:oMathPara>
                </a14:m>
                <a:endParaRPr lang="pt-BR" dirty="0"/>
              </a:p>
              <a:p>
                <a:pPr marL="0" indent="0">
                  <a:buNone/>
                </a:pPr>
                <a:r>
                  <a:rPr lang="pt-BR" dirty="0"/>
                  <a:t>onde </a:t>
                </a:r>
                <a14:m>
                  <m:oMath xmlns:m="http://schemas.openxmlformats.org/officeDocument/2006/math">
                    <m:r>
                      <a:rPr lang="pt-BR" i="1" smtClean="0">
                        <a:latin typeface="Cambria Math" panose="02040503050406030204" pitchFamily="18" charset="0"/>
                      </a:rPr>
                      <m:t>𝑁</m:t>
                    </m:r>
                  </m:oMath>
                </a14:m>
                <a:r>
                  <a:rPr lang="pt-BR" dirty="0"/>
                  <a:t> é o número total de amostras, </a:t>
                </a:r>
                <a14:m>
                  <m:oMath xmlns:m="http://schemas.openxmlformats.org/officeDocument/2006/math">
                    <m:r>
                      <a:rPr lang="pt-BR" b="0" i="1" smtClean="0">
                        <a:latin typeface="Cambria Math" panose="02040503050406030204" pitchFamily="18" charset="0"/>
                      </a:rPr>
                      <m:t>𝑛</m:t>
                    </m:r>
                  </m:oMath>
                </a14:m>
                <a:r>
                  <a:rPr lang="pt-BR" dirty="0"/>
                  <a:t> é o número da amostra, </a:t>
                </a:r>
                <a14:m>
                  <m:oMath xmlns:m="http://schemas.openxmlformats.org/officeDocument/2006/math">
                    <m:r>
                      <a:rPr lang="pt-BR" b="1" i="1">
                        <a:latin typeface="Cambria Math" panose="02040503050406030204" pitchFamily="18" charset="0"/>
                      </a:rPr>
                      <m:t>𝒚</m:t>
                    </m:r>
                    <m:r>
                      <a:rPr lang="pt-BR" b="1" i="1">
                        <a:latin typeface="Cambria Math" panose="02040503050406030204" pitchFamily="18" charset="0"/>
                      </a:rPr>
                      <m:t>=</m:t>
                    </m:r>
                    <m:sSup>
                      <m:sSupPr>
                        <m:ctrlPr>
                          <a:rPr lang="pt-BR" b="1" i="1">
                            <a:latin typeface="Cambria Math" panose="02040503050406030204" pitchFamily="18" charset="0"/>
                          </a:rPr>
                        </m:ctrlPr>
                      </m:sSupPr>
                      <m:e>
                        <m:r>
                          <a:rPr lang="pt-BR" b="1" i="1">
                            <a:latin typeface="Cambria Math" panose="02040503050406030204" pitchFamily="18" charset="0"/>
                          </a:rPr>
                          <m:t>[</m:t>
                        </m:r>
                        <m:r>
                          <a:rPr lang="pt-BR" i="1">
                            <a:latin typeface="Cambria Math" panose="02040503050406030204" pitchFamily="18" charset="0"/>
                          </a:rPr>
                          <m:t>𝑦</m:t>
                        </m:r>
                        <m:r>
                          <a:rPr lang="pt-BR" i="1">
                            <a:latin typeface="Cambria Math" panose="02040503050406030204" pitchFamily="18" charset="0"/>
                          </a:rPr>
                          <m:t>(0)…</m:t>
                        </m:r>
                        <m:r>
                          <a:rPr lang="pt-BR" i="1">
                            <a:latin typeface="Cambria Math" panose="02040503050406030204" pitchFamily="18" charset="0"/>
                          </a:rPr>
                          <m:t>𝑦</m:t>
                        </m:r>
                        <m:r>
                          <a:rPr lang="pt-BR" i="1">
                            <a:latin typeface="Cambria Math" panose="02040503050406030204" pitchFamily="18" charset="0"/>
                          </a:rPr>
                          <m:t>(</m:t>
                        </m:r>
                        <m:r>
                          <a:rPr lang="pt-BR" i="1">
                            <a:latin typeface="Cambria Math" panose="02040503050406030204" pitchFamily="18" charset="0"/>
                          </a:rPr>
                          <m:t>𝑁</m:t>
                        </m:r>
                        <m:r>
                          <a:rPr lang="pt-BR" i="1">
                            <a:latin typeface="Cambria Math" panose="02040503050406030204" pitchFamily="18" charset="0"/>
                          </a:rPr>
                          <m:t>−1)]</m:t>
                        </m:r>
                      </m:e>
                      <m:sup>
                        <m:r>
                          <a:rPr lang="pt-BR" i="1">
                            <a:latin typeface="Cambria Math" panose="02040503050406030204" pitchFamily="18" charset="0"/>
                          </a:rPr>
                          <m:t>𝑇</m:t>
                        </m:r>
                      </m:sup>
                    </m:sSup>
                    <m:sSup>
                      <m:sSupPr>
                        <m:ctrlPr>
                          <a:rPr lang="pt-BR" b="1" i="1">
                            <a:latin typeface="Cambria Math" panose="02040503050406030204" pitchFamily="18" charset="0"/>
                            <a:ea typeface="Cambria Math" panose="02040503050406030204" pitchFamily="18" charset="0"/>
                          </a:rPr>
                        </m:ctrlPr>
                      </m:sSupPr>
                      <m:e>
                        <m:r>
                          <a:rPr lang="pt-BR" b="1" i="1">
                            <a:latin typeface="Cambria Math" panose="02040503050406030204" pitchFamily="18" charset="0"/>
                            <a:ea typeface="Cambria Math" panose="02040503050406030204" pitchFamily="18" charset="0"/>
                          </a:rPr>
                          <m:t>∈</m:t>
                        </m:r>
                        <m:r>
                          <a:rPr lang="pt-BR" b="1" i="1">
                            <a:latin typeface="Cambria Math" panose="02040503050406030204" pitchFamily="18" charset="0"/>
                            <a:ea typeface="Cambria Math" panose="02040503050406030204" pitchFamily="18" charset="0"/>
                          </a:rPr>
                          <m:t>ℝ</m:t>
                        </m:r>
                      </m:e>
                      <m:sup>
                        <m:r>
                          <a:rPr lang="pt-BR" b="0" i="1" smtClean="0">
                            <a:latin typeface="Cambria Math" panose="02040503050406030204" pitchFamily="18" charset="0"/>
                            <a:ea typeface="Cambria Math" panose="02040503050406030204" pitchFamily="18" charset="0"/>
                          </a:rPr>
                          <m:t>𝑁</m:t>
                        </m:r>
                        <m:r>
                          <a:rPr lang="pt-BR" i="1">
                            <a:latin typeface="Cambria Math" panose="02040503050406030204" pitchFamily="18" charset="0"/>
                            <a:ea typeface="Cambria Math" panose="02040503050406030204" pitchFamily="18" charset="0"/>
                          </a:rPr>
                          <m:t>×1</m:t>
                        </m:r>
                      </m:sup>
                    </m:sSup>
                  </m:oMath>
                </a14:m>
                <a:r>
                  <a:rPr lang="pt-BR" dirty="0"/>
                  <a:t> e </a:t>
                </a:r>
                <a14:m>
                  <m:oMath xmlns:m="http://schemas.openxmlformats.org/officeDocument/2006/math">
                    <m:acc>
                      <m:accPr>
                        <m:chr m:val="̂"/>
                        <m:ctrlPr>
                          <a:rPr lang="pt-BR" b="1" i="1" dirty="0">
                            <a:latin typeface="Cambria Math" panose="02040503050406030204" pitchFamily="18" charset="0"/>
                          </a:rPr>
                        </m:ctrlPr>
                      </m:accPr>
                      <m:e>
                        <m:r>
                          <a:rPr lang="pt-BR" b="1" i="1" dirty="0">
                            <a:latin typeface="Cambria Math" panose="02040503050406030204" pitchFamily="18" charset="0"/>
                          </a:rPr>
                          <m:t>𝒚</m:t>
                        </m:r>
                      </m:e>
                    </m:acc>
                    <m:r>
                      <a:rPr lang="pt-BR" b="1" i="1">
                        <a:latin typeface="Cambria Math" panose="02040503050406030204" pitchFamily="18" charset="0"/>
                      </a:rPr>
                      <m:t>=</m:t>
                    </m:r>
                    <m:sSup>
                      <m:sSupPr>
                        <m:ctrlPr>
                          <a:rPr lang="pt-BR" b="1" i="1">
                            <a:latin typeface="Cambria Math" panose="02040503050406030204" pitchFamily="18" charset="0"/>
                          </a:rPr>
                        </m:ctrlPr>
                      </m:sSupPr>
                      <m:e>
                        <m:r>
                          <a:rPr lang="pt-BR" b="1" i="1">
                            <a:latin typeface="Cambria Math" panose="02040503050406030204" pitchFamily="18" charset="0"/>
                          </a:rPr>
                          <m:t>[</m:t>
                        </m:r>
                        <m:acc>
                          <m:accPr>
                            <m:chr m:val="̂"/>
                            <m:ctrlPr>
                              <a:rPr lang="pt-BR" i="1" dirty="0">
                                <a:latin typeface="Cambria Math" panose="02040503050406030204" pitchFamily="18" charset="0"/>
                              </a:rPr>
                            </m:ctrlPr>
                          </m:accPr>
                          <m:e>
                            <m:r>
                              <a:rPr lang="pt-BR" i="1" dirty="0">
                                <a:latin typeface="Cambria Math" panose="02040503050406030204" pitchFamily="18" charset="0"/>
                              </a:rPr>
                              <m:t>𝑦</m:t>
                            </m:r>
                          </m:e>
                        </m:acc>
                        <m:r>
                          <a:rPr lang="pt-BR" i="1">
                            <a:latin typeface="Cambria Math" panose="02040503050406030204" pitchFamily="18" charset="0"/>
                          </a:rPr>
                          <m:t>(0)</m:t>
                        </m:r>
                        <m:r>
                          <a:rPr lang="pt-BR" b="1" i="1">
                            <a:latin typeface="Cambria Math" panose="02040503050406030204" pitchFamily="18" charset="0"/>
                            <a:ea typeface="Cambria Math" panose="02040503050406030204" pitchFamily="18" charset="0"/>
                          </a:rPr>
                          <m:t>…</m:t>
                        </m:r>
                        <m:acc>
                          <m:accPr>
                            <m:chr m:val="̂"/>
                            <m:ctrlPr>
                              <a:rPr lang="pt-BR" i="1" dirty="0">
                                <a:latin typeface="Cambria Math" panose="02040503050406030204" pitchFamily="18" charset="0"/>
                              </a:rPr>
                            </m:ctrlPr>
                          </m:accPr>
                          <m:e>
                            <m:r>
                              <a:rPr lang="pt-BR" i="1" dirty="0">
                                <a:latin typeface="Cambria Math" panose="02040503050406030204" pitchFamily="18" charset="0"/>
                              </a:rPr>
                              <m:t>𝑦</m:t>
                            </m:r>
                          </m:e>
                        </m:acc>
                        <m:r>
                          <a:rPr lang="pt-BR" i="1">
                            <a:latin typeface="Cambria Math" panose="02040503050406030204" pitchFamily="18" charset="0"/>
                          </a:rPr>
                          <m:t>(</m:t>
                        </m:r>
                        <m:r>
                          <a:rPr lang="pt-BR" i="1">
                            <a:latin typeface="Cambria Math" panose="02040503050406030204" pitchFamily="18" charset="0"/>
                          </a:rPr>
                          <m:t>𝑁</m:t>
                        </m:r>
                        <m:r>
                          <a:rPr lang="pt-BR" i="1">
                            <a:latin typeface="Cambria Math" panose="02040503050406030204" pitchFamily="18" charset="0"/>
                          </a:rPr>
                          <m:t>−1)]</m:t>
                        </m:r>
                      </m:e>
                      <m:sup>
                        <m:r>
                          <a:rPr lang="pt-BR" i="1">
                            <a:latin typeface="Cambria Math" panose="02040503050406030204" pitchFamily="18" charset="0"/>
                          </a:rPr>
                          <m:t>𝑇</m:t>
                        </m:r>
                      </m:sup>
                    </m:sSup>
                    <m:sSup>
                      <m:sSupPr>
                        <m:ctrlPr>
                          <a:rPr lang="pt-BR" b="1" i="1">
                            <a:latin typeface="Cambria Math" panose="02040503050406030204" pitchFamily="18" charset="0"/>
                            <a:ea typeface="Cambria Math" panose="02040503050406030204" pitchFamily="18" charset="0"/>
                          </a:rPr>
                        </m:ctrlPr>
                      </m:sSupPr>
                      <m:e>
                        <m:r>
                          <a:rPr lang="pt-BR" b="1" i="1">
                            <a:latin typeface="Cambria Math" panose="02040503050406030204" pitchFamily="18" charset="0"/>
                            <a:ea typeface="Cambria Math" panose="02040503050406030204" pitchFamily="18" charset="0"/>
                          </a:rPr>
                          <m:t>∈</m:t>
                        </m:r>
                        <m:r>
                          <a:rPr lang="pt-BR" b="1" i="1">
                            <a:latin typeface="Cambria Math" panose="02040503050406030204" pitchFamily="18" charset="0"/>
                            <a:ea typeface="Cambria Math" panose="02040503050406030204" pitchFamily="18" charset="0"/>
                          </a:rPr>
                          <m:t>ℝ</m:t>
                        </m:r>
                      </m:e>
                      <m:sup>
                        <m:r>
                          <a:rPr lang="pt-BR" i="1">
                            <a:latin typeface="Cambria Math" panose="02040503050406030204" pitchFamily="18" charset="0"/>
                            <a:ea typeface="Cambria Math" panose="02040503050406030204" pitchFamily="18" charset="0"/>
                          </a:rPr>
                          <m:t>𝑁</m:t>
                        </m:r>
                        <m:r>
                          <a:rPr lang="pt-BR" i="1">
                            <a:latin typeface="Cambria Math" panose="02040503050406030204" pitchFamily="18" charset="0"/>
                            <a:ea typeface="Cambria Math" panose="02040503050406030204" pitchFamily="18" charset="0"/>
                          </a:rPr>
                          <m:t>×1</m:t>
                        </m:r>
                      </m:sup>
                    </m:sSup>
                  </m:oMath>
                </a14:m>
                <a:r>
                  <a:rPr lang="pt-BR" dirty="0"/>
                  <a:t> são </a:t>
                </a:r>
                <a:r>
                  <a:rPr lang="pt-BR" b="1" dirty="0">
                    <a:solidFill>
                      <a:srgbClr val="0070C0"/>
                    </a:solidFill>
                  </a:rPr>
                  <a:t>vetores</a:t>
                </a:r>
                <a:r>
                  <a:rPr lang="pt-BR" b="1" i="1" dirty="0">
                    <a:solidFill>
                      <a:srgbClr val="0070C0"/>
                    </a:solidFill>
                  </a:rPr>
                  <a:t> </a:t>
                </a:r>
                <a:r>
                  <a:rPr lang="pt-BR" dirty="0"/>
                  <a:t>contendo todos os </a:t>
                </a:r>
                <a14:m>
                  <m:oMath xmlns:m="http://schemas.openxmlformats.org/officeDocument/2006/math">
                    <m:r>
                      <a:rPr lang="pt-BR" i="1">
                        <a:latin typeface="Cambria Math" panose="02040503050406030204" pitchFamily="18" charset="0"/>
                      </a:rPr>
                      <m:t>𝑁</m:t>
                    </m:r>
                  </m:oMath>
                </a14:m>
                <a:r>
                  <a:rPr lang="pt-BR" dirty="0"/>
                  <a:t> valores esperados e de predições, respectivamente e </a:t>
                </a:r>
                <a14:m>
                  <m:oMath xmlns:m="http://schemas.openxmlformats.org/officeDocument/2006/math">
                    <m:r>
                      <a:rPr lang="pt-BR" b="1" i="1">
                        <a:latin typeface="Cambria Math" panose="02040503050406030204" pitchFamily="18" charset="0"/>
                      </a:rPr>
                      <m:t>𝑿</m:t>
                    </m:r>
                    <m:r>
                      <a:rPr lang="pt-BR" b="1" i="1">
                        <a:latin typeface="Cambria Math" panose="02040503050406030204" pitchFamily="18" charset="0"/>
                      </a:rPr>
                      <m:t>=</m:t>
                    </m:r>
                    <m:sSup>
                      <m:sSupPr>
                        <m:ctrlPr>
                          <a:rPr lang="pt-BR" b="1" i="1">
                            <a:latin typeface="Cambria Math" panose="02040503050406030204" pitchFamily="18" charset="0"/>
                          </a:rPr>
                        </m:ctrlPr>
                      </m:sSupPr>
                      <m:e>
                        <m:r>
                          <a:rPr lang="pt-BR" b="1"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(0)</m:t>
                        </m:r>
                        <m:r>
                          <a:rPr lang="pt-BR" b="1" i="1">
                            <a:latin typeface="Cambria Math" panose="02040503050406030204" pitchFamily="18" charset="0"/>
                            <a:ea typeface="Cambria Math" panose="02040503050406030204" pitchFamily="18" charset="0"/>
                          </a:rPr>
                          <m:t>…</m:t>
                        </m:r>
                        <m:r>
                          <a:rPr lang="pt-BR" b="1" i="1">
                            <a:latin typeface="Cambria Math" panose="02040503050406030204" pitchFamily="18" charset="0"/>
                            <a:ea typeface="Cambria Math" panose="02040503050406030204" pitchFamily="18" charset="0"/>
                          </a:rPr>
                          <m:t>𝒙</m:t>
                        </m:r>
                        <m:r>
                          <a:rPr lang="pt-BR" i="1">
                            <a:latin typeface="Cambria Math" panose="02040503050406030204" pitchFamily="18" charset="0"/>
                          </a:rPr>
                          <m:t>(</m:t>
                        </m:r>
                        <m:r>
                          <a:rPr lang="pt-BR" i="1">
                            <a:latin typeface="Cambria Math" panose="02040503050406030204" pitchFamily="18" charset="0"/>
                          </a:rPr>
                          <m:t>𝑁</m:t>
                        </m:r>
                        <m:r>
                          <a:rPr lang="pt-BR" i="1">
                            <a:latin typeface="Cambria Math" panose="02040503050406030204" pitchFamily="18" charset="0"/>
                          </a:rPr>
                          <m:t>−1)]</m:t>
                        </m:r>
                      </m:e>
                      <m:sup>
                        <m:r>
                          <a:rPr lang="pt-BR" i="1">
                            <a:latin typeface="Cambria Math" panose="02040503050406030204" pitchFamily="18" charset="0"/>
                          </a:rPr>
                          <m:t>𝑇</m:t>
                        </m:r>
                      </m:sup>
                    </m:sSup>
                  </m:oMath>
                </a14:m>
                <a:r>
                  <a:rPr lang="pt-BR" b="1" dirty="0">
                    <a:ea typeface="Cambria Math" panose="02040503050406030204" pitchFamily="18" charset="0"/>
                  </a:rPr>
                  <a:t> </a:t>
                </a:r>
                <a14:m>
                  <m:oMath xmlns:m="http://schemas.openxmlformats.org/officeDocument/2006/math">
                    <m:sSup>
                      <m:sSupPr>
                        <m:ctrlPr>
                          <a:rPr lang="pt-BR" b="0" i="1">
                            <a:latin typeface="Cambria Math" panose="02040503050406030204" pitchFamily="18" charset="0"/>
                            <a:ea typeface="Cambria Math" panose="02040503050406030204" pitchFamily="18" charset="0"/>
                          </a:rPr>
                        </m:ctrlPr>
                      </m:sSupPr>
                      <m:e>
                        <m:r>
                          <a:rPr lang="pt-BR" b="0" i="1">
                            <a:latin typeface="Cambria Math" panose="02040503050406030204" pitchFamily="18" charset="0"/>
                            <a:ea typeface="Cambria Math" panose="02040503050406030204" pitchFamily="18" charset="0"/>
                          </a:rPr>
                          <m:t>∈</m:t>
                        </m:r>
                        <m:r>
                          <a:rPr lang="pt-BR" b="0" i="1">
                            <a:latin typeface="Cambria Math" panose="02040503050406030204" pitchFamily="18" charset="0"/>
                            <a:ea typeface="Cambria Math" panose="02040503050406030204" pitchFamily="18" charset="0"/>
                          </a:rPr>
                          <m:t>ℝ</m:t>
                        </m:r>
                      </m:e>
                      <m:sup>
                        <m:r>
                          <a:rPr lang="pt-BR" b="0" i="1">
                            <a:latin typeface="Cambria Math" panose="02040503050406030204" pitchFamily="18" charset="0"/>
                            <a:ea typeface="Cambria Math" panose="02040503050406030204" pitchFamily="18" charset="0"/>
                          </a:rPr>
                          <m:t>𝑁</m:t>
                        </m:r>
                        <m:r>
                          <a:rPr lang="pt-BR" b="0" i="1">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𝐾</m:t>
                        </m:r>
                        <m:r>
                          <a:rPr lang="pt-BR" b="0" i="1" smtClean="0">
                            <a:latin typeface="Cambria Math" panose="02040503050406030204" pitchFamily="18" charset="0"/>
                            <a:ea typeface="Cambria Math" panose="02040503050406030204" pitchFamily="18" charset="0"/>
                          </a:rPr>
                          <m:t>+1</m:t>
                        </m:r>
                      </m:sup>
                    </m:sSup>
                  </m:oMath>
                </a14:m>
                <a:r>
                  <a:rPr lang="pt-BR" dirty="0"/>
                  <a:t> é uma </a:t>
                </a:r>
                <a:r>
                  <a:rPr lang="pt-BR" b="1" dirty="0">
                    <a:solidFill>
                      <a:srgbClr val="0070C0"/>
                    </a:solidFill>
                  </a:rPr>
                  <a:t>matriz</a:t>
                </a:r>
                <a:r>
                  <a:rPr lang="pt-BR" dirty="0"/>
                  <a:t> contendo todos os </a:t>
                </a:r>
                <a14:m>
                  <m:oMath xmlns:m="http://schemas.openxmlformats.org/officeDocument/2006/math">
                    <m:r>
                      <a:rPr lang="pt-BR" i="1">
                        <a:latin typeface="Cambria Math" panose="02040503050406030204" pitchFamily="18" charset="0"/>
                      </a:rPr>
                      <m:t>𝑁</m:t>
                    </m:r>
                  </m:oMath>
                </a14:m>
                <a:r>
                  <a:rPr lang="pt-BR" dirty="0"/>
                  <a:t> vetores de atributo e </a:t>
                </a:r>
                <a14:m>
                  <m:oMath xmlns:m="http://schemas.openxmlformats.org/officeDocument/2006/math">
                    <m:r>
                      <a:rPr lang="pt-BR" b="1" i="1">
                        <a:latin typeface="Cambria Math" panose="02040503050406030204" pitchFamily="18" charset="0"/>
                      </a:rPr>
                      <m:t>𝒙</m:t>
                    </m:r>
                    <m:d>
                      <m:dPr>
                        <m:ctrlPr>
                          <a:rPr lang="pt-BR"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m:t>
                    </m:r>
                    <m:d>
                      <m:dPr>
                        <m:begChr m:val="["/>
                        <m:endChr m:val="]"/>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1  </m:t>
                            </m:r>
                            <m:r>
                              <a:rPr lang="pt-BR" i="1">
                                <a:latin typeface="Cambria Math" panose="02040503050406030204" pitchFamily="18" charset="0"/>
                              </a:rPr>
                              <m:t>𝑥</m:t>
                            </m:r>
                          </m:e>
                          <m:sub>
                            <m:r>
                              <a:rPr lang="pt-BR" i="1">
                                <a:latin typeface="Cambria Math" panose="02040503050406030204" pitchFamily="18" charset="0"/>
                              </a:rPr>
                              <m:t>1</m:t>
                            </m:r>
                          </m:sub>
                        </m:sSub>
                        <m:d>
                          <m:dPr>
                            <m:ctrlPr>
                              <a:rPr lang="pt-BR"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 …</m:t>
                        </m:r>
                        <m:sSub>
                          <m:sSubPr>
                            <m:ctrlPr>
                              <a:rPr lang="pt-BR" i="1">
                                <a:latin typeface="Cambria Math" panose="02040503050406030204" pitchFamily="18" charset="0"/>
                              </a:rPr>
                            </m:ctrlPr>
                          </m:sSubPr>
                          <m:e>
                            <m:r>
                              <a:rPr lang="pt-BR" i="1">
                                <a:latin typeface="Cambria Math" panose="02040503050406030204" pitchFamily="18" charset="0"/>
                              </a:rPr>
                              <m:t> </m:t>
                            </m:r>
                            <m:r>
                              <a:rPr lang="pt-BR" i="1">
                                <a:latin typeface="Cambria Math" panose="02040503050406030204" pitchFamily="18" charset="0"/>
                              </a:rPr>
                              <m:t>𝑥</m:t>
                            </m:r>
                          </m:e>
                          <m:sub>
                            <m:r>
                              <a:rPr lang="pt-BR" i="1">
                                <a:latin typeface="Cambria Math" panose="02040503050406030204" pitchFamily="18" charset="0"/>
                              </a:rPr>
                              <m:t>𝐾</m:t>
                            </m:r>
                          </m:sub>
                        </m:sSub>
                        <m:d>
                          <m:dPr>
                            <m:ctrlPr>
                              <a:rPr lang="pt-BR" i="1">
                                <a:latin typeface="Cambria Math" panose="02040503050406030204" pitchFamily="18" charset="0"/>
                              </a:rPr>
                            </m:ctrlPr>
                          </m:dPr>
                          <m:e>
                            <m:r>
                              <a:rPr lang="pt-BR" i="1">
                                <a:latin typeface="Cambria Math" panose="02040503050406030204" pitchFamily="18" charset="0"/>
                              </a:rPr>
                              <m:t>𝑛</m:t>
                            </m:r>
                          </m:e>
                        </m:d>
                      </m:e>
                    </m:d>
                    <m:r>
                      <a:rPr lang="pt-BR" i="1">
                        <a:latin typeface="Cambria Math" panose="02040503050406030204" pitchFamily="18" charset="0"/>
                        <a:ea typeface="Cambria Math" panose="02040503050406030204" pitchFamily="18" charset="0"/>
                      </a:rPr>
                      <m:t>∈</m:t>
                    </m:r>
                    <m:sSup>
                      <m:sSupPr>
                        <m:ctrlPr>
                          <a:rPr lang="pt-BR" i="1">
                            <a:latin typeface="Cambria Math" panose="02040503050406030204" pitchFamily="18" charset="0"/>
                            <a:ea typeface="Cambria Math" panose="02040503050406030204" pitchFamily="18" charset="0"/>
                          </a:rPr>
                        </m:ctrlPr>
                      </m:sSupPr>
                      <m:e>
                        <m:r>
                          <a:rPr lang="pt-BR" i="1">
                            <a:latin typeface="Cambria Math" panose="02040503050406030204" pitchFamily="18" charset="0"/>
                            <a:ea typeface="Cambria Math" panose="02040503050406030204" pitchFamily="18" charset="0"/>
                          </a:rPr>
                          <m:t>ℝ</m:t>
                        </m:r>
                      </m:e>
                      <m:sup>
                        <m:r>
                          <a:rPr lang="pt-BR" i="1">
                            <a:latin typeface="Cambria Math" panose="02040503050406030204" pitchFamily="18" charset="0"/>
                            <a:ea typeface="Cambria Math" panose="02040503050406030204" pitchFamily="18" charset="0"/>
                          </a:rPr>
                          <m:t>𝐾</m:t>
                        </m:r>
                        <m:r>
                          <a:rPr lang="pt-BR" i="1">
                            <a:latin typeface="Cambria Math" panose="02040503050406030204" pitchFamily="18" charset="0"/>
                            <a:ea typeface="Cambria Math" panose="02040503050406030204" pitchFamily="18" charset="0"/>
                          </a:rPr>
                          <m:t>+1×1</m:t>
                        </m:r>
                      </m:sup>
                    </m:sSup>
                    <m:r>
                      <a:rPr lang="pt-BR" b="0" i="1" smtClean="0">
                        <a:latin typeface="Cambria Math" panose="02040503050406030204" pitchFamily="18" charset="0"/>
                        <a:ea typeface="Cambria Math" panose="02040503050406030204" pitchFamily="18" charset="0"/>
                      </a:rPr>
                      <m:t>,</m:t>
                    </m:r>
                    <m:r>
                      <a:rPr lang="pt-BR"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𝑛</m:t>
                    </m:r>
                  </m:oMath>
                </a14:m>
                <a:r>
                  <a:rPr lang="pt-BR" dirty="0"/>
                  <a:t>.</a:t>
                </a:r>
              </a:p>
              <a:p>
                <a:r>
                  <a:rPr lang="pt-BR" dirty="0"/>
                  <a:t>O </a:t>
                </a:r>
                <a:r>
                  <a:rPr lang="pt-BR" b="1" dirty="0">
                    <a:solidFill>
                      <a:srgbClr val="00B050"/>
                    </a:solidFill>
                  </a:rPr>
                  <a:t>EQM</a:t>
                </a:r>
                <a:r>
                  <a:rPr lang="pt-BR" dirty="0"/>
                  <a:t> nada mais é do que a </a:t>
                </a:r>
                <a:r>
                  <a:rPr lang="pt-BR" b="1" dirty="0">
                    <a:solidFill>
                      <a:srgbClr val="00B050"/>
                    </a:solidFill>
                  </a:rPr>
                  <a:t>média aritmética do quadrado dos erros</a:t>
                </a:r>
                <a:r>
                  <a:rPr lang="pt-BR" dirty="0"/>
                  <a:t>.</a:t>
                </a:r>
              </a:p>
            </p:txBody>
          </p:sp>
        </mc:Choice>
        <mc:Fallback xmlns="">
          <p:sp>
            <p:nvSpPr>
              <p:cNvPr id="3" name="Espaço Reservado para Conteúdo 2">
                <a:extLst>
                  <a:ext uri="{FF2B5EF4-FFF2-40B4-BE49-F238E27FC236}">
                    <a16:creationId xmlns:a16="http://schemas.microsoft.com/office/drawing/2014/main" id="{843752C2-61B6-8E7E-17CE-7C009ECA9D67}"/>
                  </a:ext>
                </a:extLst>
              </p:cNvPr>
              <p:cNvSpPr>
                <a:spLocks noGrp="1" noRot="1" noChangeAspect="1" noMove="1" noResize="1" noEditPoints="1" noAdjustHandles="1" noChangeArrowheads="1" noChangeShapeType="1" noTextEdit="1"/>
              </p:cNvSpPr>
              <p:nvPr>
                <p:ph idx="1"/>
              </p:nvPr>
            </p:nvSpPr>
            <p:spPr>
              <a:xfrm>
                <a:off x="838200" y="1825624"/>
                <a:ext cx="11353800" cy="5032375"/>
              </a:xfrm>
              <a:blipFill>
                <a:blip r:embed="rId3"/>
                <a:stretch>
                  <a:fillRect l="-1128" t="-1937"/>
                </a:stretch>
              </a:blipFill>
            </p:spPr>
            <p:txBody>
              <a:bodyPr/>
              <a:lstStyle/>
              <a:p>
                <a:r>
                  <a:rPr lang="en-US">
                    <a:noFill/>
                  </a:rPr>
                  <a:t> </a:t>
                </a:r>
              </a:p>
            </p:txBody>
          </p:sp>
        </mc:Fallback>
      </mc:AlternateContent>
    </p:spTree>
    <p:extLst>
      <p:ext uri="{BB962C8B-B14F-4D97-AF65-F5344CB8AC3E}">
        <p14:creationId xmlns:p14="http://schemas.microsoft.com/office/powerpoint/2010/main" val="40783349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4E842-F6C8-EE87-0AA0-9BEFA4B974FB}"/>
              </a:ext>
            </a:extLst>
          </p:cNvPr>
          <p:cNvSpPr>
            <a:spLocks noGrp="1"/>
          </p:cNvSpPr>
          <p:nvPr>
            <p:ph type="title"/>
          </p:nvPr>
        </p:nvSpPr>
        <p:spPr/>
        <p:txBody>
          <a:bodyPr/>
          <a:lstStyle/>
          <a:p>
            <a:r>
              <a:rPr lang="pt-BR" dirty="0"/>
              <a:t>Minimização da função de erro</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581B72-317A-3CC1-4214-6CBD69B4A604}"/>
                  </a:ext>
                </a:extLst>
              </p:cNvPr>
              <p:cNvSpPr>
                <a:spLocks noGrp="1"/>
              </p:cNvSpPr>
              <p:nvPr>
                <p:ph idx="1"/>
              </p:nvPr>
            </p:nvSpPr>
            <p:spPr>
              <a:xfrm>
                <a:off x="838199" y="1825624"/>
                <a:ext cx="11157857" cy="5032375"/>
              </a:xfrm>
            </p:spPr>
            <p:txBody>
              <a:bodyPr/>
              <a:lstStyle/>
              <a:p>
                <a:r>
                  <a:rPr lang="pt-BR" dirty="0"/>
                  <a:t>Então, para encontrarmos o </a:t>
                </a:r>
                <a:r>
                  <a:rPr lang="pt-BR" b="1" dirty="0"/>
                  <a:t>vetor de pesos ótimo</a:t>
                </a:r>
                <a:r>
                  <a:rPr lang="pt-BR" dirty="0"/>
                  <a:t>, </a:t>
                </a:r>
                <a14:m>
                  <m:oMath xmlns:m="http://schemas.openxmlformats.org/officeDocument/2006/math">
                    <m:sSub>
                      <m:sSubPr>
                        <m:ctrlPr>
                          <a:rPr lang="pt-BR" b="1" i="1">
                            <a:latin typeface="Cambria Math" panose="02040503050406030204" pitchFamily="18" charset="0"/>
                          </a:rPr>
                        </m:ctrlPr>
                      </m:sSubPr>
                      <m:e>
                        <m:r>
                          <a:rPr lang="pt-BR" b="1" i="1">
                            <a:latin typeface="Cambria Math" panose="02040503050406030204" pitchFamily="18" charset="0"/>
                          </a:rPr>
                          <m:t>𝒂</m:t>
                        </m:r>
                      </m:e>
                      <m:sub>
                        <m:r>
                          <a:rPr lang="pt-BR">
                            <a:latin typeface="Cambria Math" panose="02040503050406030204" pitchFamily="18" charset="0"/>
                          </a:rPr>
                          <m:t>ó</m:t>
                        </m:r>
                        <m:r>
                          <m:rPr>
                            <m:sty m:val="p"/>
                          </m:rPr>
                          <a:rPr lang="pt-BR">
                            <a:latin typeface="Cambria Math" panose="02040503050406030204" pitchFamily="18" charset="0"/>
                          </a:rPr>
                          <m:t>timo</m:t>
                        </m:r>
                      </m:sub>
                    </m:sSub>
                  </m:oMath>
                </a14:m>
                <a:r>
                  <a:rPr lang="pt-BR" dirty="0"/>
                  <a:t>, devemos </a:t>
                </a:r>
                <a:r>
                  <a:rPr lang="pt-BR" b="1" dirty="0">
                    <a:solidFill>
                      <a:srgbClr val="00B050"/>
                    </a:solidFill>
                  </a:rPr>
                  <a:t>minimizar a função de erro</a:t>
                </a:r>
                <a:endParaRPr lang="pt-BR" dirty="0"/>
              </a:p>
              <a:p>
                <a:pPr marL="0" indent="0">
                  <a:buNone/>
                </a:pPr>
                <a14:m>
                  <m:oMathPara xmlns:m="http://schemas.openxmlformats.org/officeDocument/2006/math">
                    <m:oMath>
                      <m:sSub>
                        <m:sSubPr>
                          <m:ctrlPr>
                            <a:rPr lang="pt-BR" b="1" i="1">
                              <a:latin typeface="Cambria Math" panose="02040503050406030204" pitchFamily="18" charset="0"/>
                            </a:rPr>
                          </m:ctrlPr>
                        </m:sSubPr>
                        <m:e>
                          <m:r>
                            <a:rPr lang="pt-BR" b="1" i="1">
                              <a:latin typeface="Cambria Math" panose="02040503050406030204" pitchFamily="18" charset="0"/>
                            </a:rPr>
                            <m:t>𝒂</m:t>
                          </m:r>
                        </m:e>
                        <m:sub>
                          <m:r>
                            <a:rPr lang="pt-BR">
                              <a:latin typeface="Cambria Math" panose="02040503050406030204" pitchFamily="18" charset="0"/>
                            </a:rPr>
                            <m:t>ó</m:t>
                          </m:r>
                          <m:r>
                            <m:rPr>
                              <m:sty m:val="p"/>
                            </m:rPr>
                            <a:rPr lang="pt-BR">
                              <a:latin typeface="Cambria Math" panose="02040503050406030204" pitchFamily="18" charset="0"/>
                            </a:rPr>
                            <m:t>timo</m:t>
                          </m:r>
                        </m:sub>
                      </m:sSub>
                      <m:r>
                        <a:rPr lang="pt-BR" b="0" i="1" smtClean="0">
                          <a:latin typeface="Cambria Math" panose="02040503050406030204" pitchFamily="18" charset="0"/>
                        </a:rPr>
                        <m:t>=</m:t>
                      </m:r>
                      <m:func>
                        <m:funcPr>
                          <m:ctrlPr>
                            <a:rPr lang="nl-BE" i="1">
                              <a:latin typeface="Cambria Math" panose="02040503050406030204" pitchFamily="18" charset="0"/>
                            </a:rPr>
                          </m:ctrlPr>
                        </m:funcPr>
                        <m:fName>
                          <m:limLow>
                            <m:limLowPr>
                              <m:ctrlPr>
                                <a:rPr lang="nl-BE">
                                  <a:latin typeface="Cambria Math" panose="02040503050406030204" pitchFamily="18" charset="0"/>
                                </a:rPr>
                              </m:ctrlPr>
                            </m:limLowPr>
                            <m:e>
                              <m:r>
                                <m:rPr>
                                  <m:sty m:val="p"/>
                                </m:rPr>
                                <a:rPr lang="nl-BE">
                                  <a:latin typeface="Cambria Math" panose="02040503050406030204" pitchFamily="18" charset="0"/>
                                </a:rPr>
                                <m:t>min</m:t>
                              </m:r>
                            </m:e>
                            <m:lim>
                              <m:r>
                                <a:rPr lang="pt-BR" b="1" i="1">
                                  <a:latin typeface="Cambria Math" panose="02040503050406030204" pitchFamily="18" charset="0"/>
                                </a:rPr>
                                <m:t>𝒂</m:t>
                              </m:r>
                              <m:r>
                                <a:rPr lang="pt-BR" b="1" i="1">
                                  <a:latin typeface="Cambria Math" panose="02040503050406030204" pitchFamily="18" charset="0"/>
                                </a:rPr>
                                <m:t>  </m:t>
                              </m:r>
                            </m:lim>
                          </m:limLow>
                        </m:fName>
                        <m:e>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𝑁</m:t>
                              </m:r>
                            </m:den>
                          </m:f>
                          <m:sSup>
                            <m:sSupPr>
                              <m:ctrlPr>
                                <a:rPr lang="pt-BR" b="1" i="1">
                                  <a:latin typeface="Cambria Math" panose="02040503050406030204" pitchFamily="18" charset="0"/>
                                </a:rPr>
                              </m:ctrlPr>
                            </m:sSupPr>
                            <m:e>
                              <m:d>
                                <m:dPr>
                                  <m:begChr m:val="‖"/>
                                  <m:endChr m:val="‖"/>
                                  <m:ctrlPr>
                                    <a:rPr lang="pt-BR" b="1" i="1">
                                      <a:latin typeface="Cambria Math" panose="02040503050406030204" pitchFamily="18" charset="0"/>
                                    </a:rPr>
                                  </m:ctrlPr>
                                </m:dPr>
                                <m:e>
                                  <m:r>
                                    <a:rPr lang="pt-BR" b="1" i="1">
                                      <a:latin typeface="Cambria Math" panose="02040503050406030204" pitchFamily="18" charset="0"/>
                                    </a:rPr>
                                    <m:t>𝒚</m:t>
                                  </m:r>
                                  <m:r>
                                    <a:rPr lang="pt-BR" i="1">
                                      <a:latin typeface="Cambria Math" panose="02040503050406030204" pitchFamily="18" charset="0"/>
                                    </a:rPr>
                                    <m:t> −</m:t>
                                  </m:r>
                                  <m:limLow>
                                    <m:limLowPr>
                                      <m:ctrlPr>
                                        <a:rPr lang="pt-BR" b="1" i="1">
                                          <a:latin typeface="Cambria Math" panose="02040503050406030204" pitchFamily="18" charset="0"/>
                                        </a:rPr>
                                      </m:ctrlPr>
                                    </m:limLowPr>
                                    <m:e>
                                      <m:groupChr>
                                        <m:groupChrPr>
                                          <m:chr m:val="⏟"/>
                                          <m:pos m:val="bot"/>
                                          <m:vertJc m:val="top"/>
                                          <m:ctrlPr>
                                            <a:rPr lang="pt-BR" b="1" i="1">
                                              <a:latin typeface="Cambria Math" panose="02040503050406030204" pitchFamily="18" charset="0"/>
                                            </a:rPr>
                                          </m:ctrlPr>
                                        </m:groupChrPr>
                                        <m:e>
                                          <m:r>
                                            <a:rPr lang="pt-BR" b="1" i="1">
                                              <a:latin typeface="Cambria Math" panose="02040503050406030204" pitchFamily="18" charset="0"/>
                                            </a:rPr>
                                            <m:t>𝑿𝒂</m:t>
                                          </m:r>
                                        </m:e>
                                      </m:groupChr>
                                    </m:e>
                                    <m:lim>
                                      <m:acc>
                                        <m:accPr>
                                          <m:chr m:val="̂"/>
                                          <m:ctrlPr>
                                            <a:rPr lang="pt-BR" b="1" i="1" dirty="0">
                                              <a:latin typeface="Cambria Math" panose="02040503050406030204" pitchFamily="18" charset="0"/>
                                            </a:rPr>
                                          </m:ctrlPr>
                                        </m:accPr>
                                        <m:e>
                                          <m:r>
                                            <a:rPr lang="pt-BR" b="1" i="1" dirty="0">
                                              <a:latin typeface="Cambria Math" panose="02040503050406030204" pitchFamily="18" charset="0"/>
                                            </a:rPr>
                                            <m:t>𝒚</m:t>
                                          </m:r>
                                        </m:e>
                                      </m:acc>
                                      <m:r>
                                        <a:rPr lang="pt-BR" b="1" i="1" dirty="0">
                                          <a:latin typeface="Cambria Math" panose="02040503050406030204" pitchFamily="18" charset="0"/>
                                        </a:rPr>
                                        <m:t>=</m:t>
                                      </m:r>
                                      <m:r>
                                        <a:rPr lang="pt-BR" i="1" dirty="0">
                                          <a:latin typeface="Cambria Math" panose="02040503050406030204" pitchFamily="18" charset="0"/>
                                        </a:rPr>
                                        <m:t>ℎ</m:t>
                                      </m:r>
                                      <m:r>
                                        <a:rPr lang="pt-BR" b="1" i="1" dirty="0">
                                          <a:latin typeface="Cambria Math" panose="02040503050406030204" pitchFamily="18" charset="0"/>
                                        </a:rPr>
                                        <m:t>(</m:t>
                                      </m:r>
                                      <m:r>
                                        <a:rPr lang="pt-BR" b="1" i="1" dirty="0">
                                          <a:latin typeface="Cambria Math" panose="02040503050406030204" pitchFamily="18" charset="0"/>
                                        </a:rPr>
                                        <m:t>𝒙</m:t>
                                      </m:r>
                                      <m:r>
                                        <a:rPr lang="pt-BR" b="1" i="1" dirty="0">
                                          <a:latin typeface="Cambria Math" panose="02040503050406030204" pitchFamily="18" charset="0"/>
                                        </a:rPr>
                                        <m:t>)</m:t>
                                      </m:r>
                                    </m:lim>
                                  </m:limLow>
                                </m:e>
                              </m:d>
                            </m:e>
                            <m:sup>
                              <m:r>
                                <a:rPr lang="pt-BR" i="1">
                                  <a:latin typeface="Cambria Math" panose="02040503050406030204" pitchFamily="18" charset="0"/>
                                </a:rPr>
                                <m:t>2</m:t>
                              </m:r>
                            </m:sup>
                          </m:sSup>
                        </m:e>
                      </m:func>
                      <m:r>
                        <a:rPr lang="pt-BR" b="0" i="0" smtClean="0">
                          <a:latin typeface="Cambria Math" panose="02040503050406030204" pitchFamily="18" charset="0"/>
                        </a:rPr>
                        <m:t>.</m:t>
                      </m:r>
                    </m:oMath>
                  </m:oMathPara>
                </a14:m>
                <a:endParaRPr lang="pt-BR" dirty="0"/>
              </a:p>
              <a:p>
                <a:r>
                  <a:rPr lang="pt-BR" dirty="0"/>
                  <a:t>Por ser constante, o termo 1/𝑁 não influencia na minimização e, portanto, pode ser omitido na equação acima.</a:t>
                </a:r>
              </a:p>
              <a:p>
                <a:pPr marL="0" indent="0">
                  <a:buNone/>
                </a:pPr>
                <a:endParaRPr lang="pt-BR" dirty="0"/>
              </a:p>
              <a:p>
                <a:pPr marL="0" indent="0" algn="ctr">
                  <a:buNone/>
                </a:pPr>
                <a:r>
                  <a:rPr lang="pt-BR" sz="4400" dirty="0">
                    <a:solidFill>
                      <a:schemeClr val="accent2"/>
                    </a:solidFill>
                  </a:rPr>
                  <a:t>Como encontramos os pesos que minimizam a função de erro?</a:t>
                </a:r>
              </a:p>
              <a:p>
                <a:endParaRPr lang="en-US" dirty="0"/>
              </a:p>
            </p:txBody>
          </p:sp>
        </mc:Choice>
        <mc:Fallback xmlns="">
          <p:sp>
            <p:nvSpPr>
              <p:cNvPr id="3" name="Content Placeholder 2">
                <a:extLst>
                  <a:ext uri="{FF2B5EF4-FFF2-40B4-BE49-F238E27FC236}">
                    <a16:creationId xmlns:a16="http://schemas.microsoft.com/office/drawing/2014/main" xmlns:a14="http://schemas.microsoft.com/office/drawing/2010/main" xmlns="" id="{7A581B72-317A-3CC1-4214-6CBD69B4A604}"/>
                  </a:ext>
                </a:extLst>
              </p:cNvPr>
              <p:cNvSpPr>
                <a:spLocks noGrp="1" noRot="1" noChangeAspect="1" noMove="1" noResize="1" noEditPoints="1" noAdjustHandles="1" noChangeArrowheads="1" noChangeShapeType="1" noTextEdit="1"/>
              </p:cNvSpPr>
              <p:nvPr>
                <p:ph idx="1"/>
              </p:nvPr>
            </p:nvSpPr>
            <p:spPr>
              <a:xfrm>
                <a:off x="838199" y="1825624"/>
                <a:ext cx="11157857" cy="5032375"/>
              </a:xfrm>
              <a:blipFill rotWithShape="0">
                <a:blip r:embed="rId2"/>
                <a:stretch>
                  <a:fillRect l="-928" t="-1937" r="-1584"/>
                </a:stretch>
              </a:blipFill>
            </p:spPr>
            <p:txBody>
              <a:bodyPr/>
              <a:lstStyle/>
              <a:p>
                <a:r>
                  <a:rPr lang="pt-BR">
                    <a:noFill/>
                  </a:rPr>
                  <a:t> </a:t>
                </a:r>
              </a:p>
            </p:txBody>
          </p:sp>
        </mc:Fallback>
      </mc:AlternateContent>
    </p:spTree>
    <p:extLst>
      <p:ext uri="{BB962C8B-B14F-4D97-AF65-F5344CB8AC3E}">
        <p14:creationId xmlns:p14="http://schemas.microsoft.com/office/powerpoint/2010/main" val="20117568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CA9BC-BDB8-0017-DAF6-E2CF307E39E9}"/>
              </a:ext>
            </a:extLst>
          </p:cNvPr>
          <p:cNvSpPr>
            <a:spLocks noGrp="1"/>
          </p:cNvSpPr>
          <p:nvPr>
            <p:ph type="title"/>
          </p:nvPr>
        </p:nvSpPr>
        <p:spPr/>
        <p:txBody>
          <a:bodyPr/>
          <a:lstStyle/>
          <a:p>
            <a:r>
              <a:rPr lang="pt-BR" dirty="0"/>
              <a:t>Como encontrar os pesos ótimos?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E0FC8F8-ADC7-A068-C2BC-465BFAC99DC0}"/>
                  </a:ext>
                </a:extLst>
              </p:cNvPr>
              <p:cNvSpPr>
                <a:spLocks noGrp="1"/>
              </p:cNvSpPr>
              <p:nvPr>
                <p:ph idx="1"/>
              </p:nvPr>
            </p:nvSpPr>
            <p:spPr>
              <a:xfrm>
                <a:off x="838200" y="1825624"/>
                <a:ext cx="11353800" cy="5032375"/>
              </a:xfrm>
            </p:spPr>
            <p:txBody>
              <a:bodyPr/>
              <a:lstStyle/>
              <a:p>
                <a:r>
                  <a:rPr lang="pt-BR" dirty="0"/>
                  <a:t>Existem duas formas principais para se encontrar o </a:t>
                </a:r>
                <a:r>
                  <a:rPr lang="pt-BR" b="1" dirty="0">
                    <a:solidFill>
                      <a:srgbClr val="00B050"/>
                    </a:solidFill>
                  </a:rPr>
                  <a:t>conjunto de pesos ótimo</a:t>
                </a:r>
                <a:endParaRPr lang="pt-BR" dirty="0"/>
              </a:p>
              <a:p>
                <a:pPr lvl="1">
                  <a:buFont typeface="Wingdings" panose="05000000000000000000" pitchFamily="2" charset="2"/>
                  <a:buChar char="§"/>
                </a:pPr>
                <a:r>
                  <a:rPr lang="en-US" b="1" dirty="0" err="1"/>
                  <a:t>Equação</a:t>
                </a:r>
                <a:r>
                  <a:rPr lang="en-US" b="1" dirty="0"/>
                  <a:t> normal</a:t>
                </a:r>
              </a:p>
              <a:p>
                <a:pPr lvl="2">
                  <a:buFont typeface="Courier New" panose="02070309020205020404" pitchFamily="49" charset="0"/>
                  <a:buChar char="o"/>
                </a:pPr>
                <a:r>
                  <a:rPr lang="en-US" dirty="0" err="1"/>
                  <a:t>Também</a:t>
                </a:r>
                <a:r>
                  <a:rPr lang="en-US" dirty="0"/>
                  <a:t> </a:t>
                </a:r>
                <a:r>
                  <a:rPr lang="en-US" dirty="0" err="1"/>
                  <a:t>conhecido</a:t>
                </a:r>
                <a:r>
                  <a:rPr lang="en-US" dirty="0"/>
                  <a:t> </a:t>
                </a:r>
                <a:r>
                  <a:rPr lang="en-US" dirty="0" err="1"/>
                  <a:t>como</a:t>
                </a:r>
                <a:r>
                  <a:rPr lang="en-US" dirty="0"/>
                  <a:t> </a:t>
                </a:r>
                <a:r>
                  <a:rPr lang="en-US" dirty="0" err="1"/>
                  <a:t>método</a:t>
                </a:r>
                <a:r>
                  <a:rPr lang="en-US" dirty="0"/>
                  <a:t> dos </a:t>
                </a:r>
                <a:r>
                  <a:rPr lang="en-US" dirty="0" err="1"/>
                  <a:t>mínimos</a:t>
                </a:r>
                <a:r>
                  <a:rPr lang="en-US" dirty="0"/>
                  <a:t> </a:t>
                </a:r>
                <a:r>
                  <a:rPr lang="en-US" dirty="0" err="1"/>
                  <a:t>quadrados</a:t>
                </a:r>
                <a:r>
                  <a:rPr lang="en-US" dirty="0"/>
                  <a:t> </a:t>
                </a:r>
                <a:r>
                  <a:rPr lang="en-US" dirty="0" err="1"/>
                  <a:t>ordinários</a:t>
                </a:r>
                <a:r>
                  <a:rPr lang="en-US" dirty="0"/>
                  <a:t>.</a:t>
                </a:r>
              </a:p>
              <a:p>
                <a:pPr lvl="2">
                  <a:buFont typeface="Courier New" panose="02070309020205020404" pitchFamily="49" charset="0"/>
                  <a:buChar char="o"/>
                </a:pPr>
                <a:r>
                  <a:rPr lang="en-US" dirty="0"/>
                  <a:t>É </a:t>
                </a:r>
                <a:r>
                  <a:rPr lang="en-US" dirty="0" err="1"/>
                  <a:t>uma</a:t>
                </a:r>
                <a:r>
                  <a:rPr lang="en-US" dirty="0"/>
                  <a:t> </a:t>
                </a:r>
                <a:r>
                  <a:rPr lang="en-US" dirty="0" err="1"/>
                  <a:t>solução</a:t>
                </a:r>
                <a:r>
                  <a:rPr lang="en-US" dirty="0"/>
                  <a:t> </a:t>
                </a:r>
                <a:r>
                  <a:rPr lang="en-US" dirty="0" err="1"/>
                  <a:t>analítica</a:t>
                </a:r>
                <a:r>
                  <a:rPr lang="en-US" dirty="0"/>
                  <a:t>.</a:t>
                </a:r>
                <a:endParaRPr lang="pt-BR" dirty="0"/>
              </a:p>
              <a:p>
                <a:pPr lvl="2">
                  <a:buFont typeface="Courier New" panose="02070309020205020404" pitchFamily="49" charset="0"/>
                  <a:buChar char="o"/>
                </a:pPr>
                <a:r>
                  <a:rPr lang="pt-BR" dirty="0"/>
                  <a:t>É uma abordagem puramente algébrica, resultando em uma equação fechada.</a:t>
                </a:r>
              </a:p>
              <a:p>
                <a:pPr marL="914400" lvl="2" indent="0">
                  <a:buNone/>
                </a:pPr>
                <a14:m>
                  <m:oMathPara xmlns:m="http://schemas.openxmlformats.org/officeDocument/2006/math">
                    <m:oMathParaPr>
                      <m:jc m:val="center"/>
                    </m:oMathParaPr>
                    <m:oMath>
                      <m:sSub>
                        <m:sSubPr>
                          <m:ctrlPr>
                            <a:rPr lang="pt-BR" b="1" i="1">
                              <a:latin typeface="Cambria Math" panose="02040503050406030204" pitchFamily="18" charset="0"/>
                            </a:rPr>
                          </m:ctrlPr>
                        </m:sSubPr>
                        <m:e>
                          <m:r>
                            <a:rPr lang="pt-BR" b="1" i="1">
                              <a:latin typeface="Cambria Math" panose="02040503050406030204" pitchFamily="18" charset="0"/>
                            </a:rPr>
                            <m:t>𝒂</m:t>
                          </m:r>
                        </m:e>
                        <m:sub>
                          <m:r>
                            <a:rPr lang="pt-BR" b="0" i="0" smtClean="0">
                              <a:latin typeface="Cambria Math" panose="02040503050406030204" pitchFamily="18" charset="0"/>
                            </a:rPr>
                            <m:t>ó</m:t>
                          </m:r>
                          <m:r>
                            <m:rPr>
                              <m:sty m:val="p"/>
                            </m:rPr>
                            <a:rPr lang="pt-BR" b="0" i="0" smtClean="0">
                              <a:latin typeface="Cambria Math" panose="02040503050406030204" pitchFamily="18" charset="0"/>
                            </a:rPr>
                            <m:t>timo</m:t>
                          </m:r>
                        </m:sub>
                      </m:sSub>
                      <m:r>
                        <a:rPr lang="pt-BR" b="1" i="1">
                          <a:latin typeface="Cambria Math" panose="02040503050406030204" pitchFamily="18" charset="0"/>
                        </a:rPr>
                        <m:t> </m:t>
                      </m:r>
                      <m:r>
                        <a:rPr lang="pt-BR">
                          <a:latin typeface="Cambria Math" panose="02040503050406030204" pitchFamily="18" charset="0"/>
                        </a:rPr>
                        <m:t>=</m:t>
                      </m:r>
                      <m:sSup>
                        <m:sSupPr>
                          <m:ctrlPr>
                            <a:rPr lang="pt-BR" b="1" i="1">
                              <a:latin typeface="Cambria Math" panose="02040503050406030204" pitchFamily="18" charset="0"/>
                            </a:rPr>
                          </m:ctrlPr>
                        </m:sSupPr>
                        <m:e>
                          <m:d>
                            <m:dPr>
                              <m:ctrlPr>
                                <a:rPr lang="pt-BR" b="1" i="1">
                                  <a:latin typeface="Cambria Math" panose="02040503050406030204" pitchFamily="18" charset="0"/>
                                </a:rPr>
                              </m:ctrlPr>
                            </m:dPr>
                            <m:e>
                              <m:sSup>
                                <m:sSupPr>
                                  <m:ctrlPr>
                                    <a:rPr lang="pt-BR" b="1" i="1">
                                      <a:latin typeface="Cambria Math" panose="02040503050406030204" pitchFamily="18" charset="0"/>
                                    </a:rPr>
                                  </m:ctrlPr>
                                </m:sSupPr>
                                <m:e>
                                  <m:r>
                                    <a:rPr lang="pt-BR" b="1" i="1">
                                      <a:latin typeface="Cambria Math" panose="02040503050406030204" pitchFamily="18" charset="0"/>
                                    </a:rPr>
                                    <m:t>𝑿</m:t>
                                  </m:r>
                                </m:e>
                                <m:sup>
                                  <m:r>
                                    <a:rPr lang="pt-BR" i="1">
                                      <a:latin typeface="Cambria Math" panose="02040503050406030204" pitchFamily="18" charset="0"/>
                                    </a:rPr>
                                    <m:t>𝑇</m:t>
                                  </m:r>
                                </m:sup>
                              </m:sSup>
                              <m:r>
                                <a:rPr lang="pt-BR" b="1" i="1">
                                  <a:latin typeface="Cambria Math" panose="02040503050406030204" pitchFamily="18" charset="0"/>
                                </a:rPr>
                                <m:t>𝑿</m:t>
                              </m:r>
                            </m:e>
                          </m:d>
                        </m:e>
                        <m:sup>
                          <m:r>
                            <a:rPr lang="pt-BR" i="1">
                              <a:latin typeface="Cambria Math" panose="02040503050406030204" pitchFamily="18" charset="0"/>
                            </a:rPr>
                            <m:t>−1</m:t>
                          </m:r>
                        </m:sup>
                      </m:sSup>
                      <m:sSup>
                        <m:sSupPr>
                          <m:ctrlPr>
                            <a:rPr lang="pt-BR" i="1">
                              <a:latin typeface="Cambria Math" panose="02040503050406030204" pitchFamily="18" charset="0"/>
                            </a:rPr>
                          </m:ctrlPr>
                        </m:sSupPr>
                        <m:e>
                          <m:r>
                            <a:rPr lang="pt-BR" i="1">
                              <a:latin typeface="Cambria Math" panose="02040503050406030204" pitchFamily="18" charset="0"/>
                            </a:rPr>
                            <m:t> </m:t>
                          </m:r>
                          <m:r>
                            <a:rPr lang="pt-BR" b="1" i="1">
                              <a:latin typeface="Cambria Math" panose="02040503050406030204" pitchFamily="18" charset="0"/>
                            </a:rPr>
                            <m:t>𝑿</m:t>
                          </m:r>
                        </m:e>
                        <m:sup>
                          <m:r>
                            <a:rPr lang="pt-BR" i="1">
                              <a:latin typeface="Cambria Math" panose="02040503050406030204" pitchFamily="18" charset="0"/>
                            </a:rPr>
                            <m:t>𝑇</m:t>
                          </m:r>
                        </m:sup>
                      </m:sSup>
                      <m:r>
                        <a:rPr lang="pt-BR" b="1" i="1">
                          <a:latin typeface="Cambria Math" panose="02040503050406030204" pitchFamily="18" charset="0"/>
                        </a:rPr>
                        <m:t>𝒚</m:t>
                      </m:r>
                    </m:oMath>
                  </m:oMathPara>
                </a14:m>
                <a:endParaRPr lang="pt-BR" dirty="0"/>
              </a:p>
              <a:p>
                <a:pPr lvl="2">
                  <a:buFont typeface="Courier New" panose="02070309020205020404" pitchFamily="49" charset="0"/>
                  <a:buChar char="o"/>
                </a:pPr>
                <a:r>
                  <a:rPr lang="pt-BR" dirty="0"/>
                  <a:t>Encontra a solução ótima de uma única vez.</a:t>
                </a:r>
              </a:p>
              <a:p>
                <a:pPr lvl="2">
                  <a:buFont typeface="Courier New" panose="02070309020205020404" pitchFamily="49" charset="0"/>
                  <a:buChar char="o"/>
                </a:pPr>
                <a:r>
                  <a:rPr lang="pt-BR" dirty="0"/>
                  <a:t>Só funciona se os atributos forem linearmente independentes e </a:t>
                </a:r>
                <a14:m>
                  <m:oMath xmlns:m="http://schemas.openxmlformats.org/officeDocument/2006/math">
                    <m:r>
                      <a:rPr lang="pt-BR" b="0" i="1" smtClean="0">
                        <a:latin typeface="Cambria Math" panose="02040503050406030204" pitchFamily="18" charset="0"/>
                      </a:rPr>
                      <m:t>𝑁</m:t>
                    </m:r>
                    <m:r>
                      <a:rPr lang="pt-BR" b="0"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𝐾</m:t>
                    </m:r>
                    <m:r>
                      <a:rPr lang="pt-BR" b="0" i="1" smtClean="0">
                        <a:latin typeface="Cambria Math" panose="02040503050406030204" pitchFamily="18" charset="0"/>
                        <a:ea typeface="Cambria Math" panose="02040503050406030204" pitchFamily="18" charset="0"/>
                      </a:rPr>
                      <m:t>+1</m:t>
                    </m:r>
                  </m:oMath>
                </a14:m>
                <a:r>
                  <a:rPr lang="pt-BR" dirty="0"/>
                  <a:t>.</a:t>
                </a:r>
              </a:p>
              <a:p>
                <a:pPr lvl="1">
                  <a:buFont typeface="Wingdings" panose="05000000000000000000" pitchFamily="2" charset="2"/>
                  <a:buChar char="§"/>
                </a:pPr>
                <a:r>
                  <a:rPr lang="en-US" b="1" dirty="0" err="1"/>
                  <a:t>Gradiente</a:t>
                </a:r>
                <a:r>
                  <a:rPr lang="en-US" b="1" dirty="0"/>
                  <a:t> </a:t>
                </a:r>
                <a:r>
                  <a:rPr lang="en-US" b="1" dirty="0" err="1"/>
                  <a:t>descendente</a:t>
                </a:r>
                <a:endParaRPr lang="en-US" b="1" dirty="0"/>
              </a:p>
              <a:p>
                <a:pPr lvl="2">
                  <a:buFont typeface="Courier New" panose="02070309020205020404" pitchFamily="49" charset="0"/>
                  <a:buChar char="o"/>
                </a:pPr>
                <a:r>
                  <a:rPr lang="en-US" dirty="0"/>
                  <a:t>É </a:t>
                </a:r>
                <a:r>
                  <a:rPr lang="en-US" dirty="0" err="1"/>
                  <a:t>uma</a:t>
                </a:r>
                <a:r>
                  <a:rPr lang="en-US" dirty="0"/>
                  <a:t> </a:t>
                </a:r>
                <a:r>
                  <a:rPr lang="en-US" dirty="0" err="1"/>
                  <a:t>otimização</a:t>
                </a:r>
                <a:r>
                  <a:rPr lang="en-US" dirty="0"/>
                  <a:t> </a:t>
                </a:r>
                <a:r>
                  <a:rPr lang="en-US" dirty="0" err="1"/>
                  <a:t>iterativa</a:t>
                </a:r>
                <a:r>
                  <a:rPr lang="en-US" dirty="0"/>
                  <a:t>.</a:t>
                </a:r>
                <a:endParaRPr lang="pt-BR" dirty="0"/>
              </a:p>
              <a:p>
                <a:pPr lvl="2">
                  <a:buFont typeface="Courier New" panose="02070309020205020404" pitchFamily="49" charset="0"/>
                  <a:buChar char="o"/>
                </a:pPr>
                <a:r>
                  <a:rPr lang="pt-BR" dirty="0"/>
                  <a:t>O modelo aprende os pesos "passo a passo".</a:t>
                </a:r>
              </a:p>
              <a:p>
                <a:pPr lvl="2">
                  <a:buFont typeface="Courier New" panose="02070309020205020404" pitchFamily="49" charset="0"/>
                  <a:buChar char="o"/>
                </a:pPr>
                <a:r>
                  <a:rPr lang="pt-BR" dirty="0"/>
                  <a:t>Pode não encontrar a solução ótima, devido a vários fatores (e.g., taxa de aprendizagem, sobreajuste/subajuste, número de iterações, etc.)</a:t>
                </a:r>
              </a:p>
            </p:txBody>
          </p:sp>
        </mc:Choice>
        <mc:Fallback xmlns="">
          <p:sp>
            <p:nvSpPr>
              <p:cNvPr id="3" name="Content Placeholder 2">
                <a:extLst>
                  <a:ext uri="{FF2B5EF4-FFF2-40B4-BE49-F238E27FC236}">
                    <a16:creationId xmlns:a16="http://schemas.microsoft.com/office/drawing/2014/main" id="{DE0FC8F8-ADC7-A068-C2BC-465BFAC99DC0}"/>
                  </a:ext>
                </a:extLst>
              </p:cNvPr>
              <p:cNvSpPr>
                <a:spLocks noGrp="1" noRot="1" noChangeAspect="1" noMove="1" noResize="1" noEditPoints="1" noAdjustHandles="1" noChangeArrowheads="1" noChangeShapeType="1" noTextEdit="1"/>
              </p:cNvSpPr>
              <p:nvPr>
                <p:ph idx="1"/>
              </p:nvPr>
            </p:nvSpPr>
            <p:spPr>
              <a:xfrm>
                <a:off x="838200" y="1825624"/>
                <a:ext cx="11353800" cy="5032375"/>
              </a:xfrm>
              <a:blipFill>
                <a:blip r:embed="rId3"/>
                <a:stretch>
                  <a:fillRect l="-967" t="-1937"/>
                </a:stretch>
              </a:blipFill>
            </p:spPr>
            <p:txBody>
              <a:bodyPr/>
              <a:lstStyle/>
              <a:p>
                <a:r>
                  <a:rPr lang="en-US">
                    <a:noFill/>
                  </a:rPr>
                  <a:t> </a:t>
                </a:r>
              </a:p>
            </p:txBody>
          </p:sp>
        </mc:Fallback>
      </mc:AlternateContent>
    </p:spTree>
    <p:extLst>
      <p:ext uri="{BB962C8B-B14F-4D97-AF65-F5344CB8AC3E}">
        <p14:creationId xmlns:p14="http://schemas.microsoft.com/office/powerpoint/2010/main" val="33061373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226F9-1BF6-0C19-88C6-7B4563BEBDBC}"/>
              </a:ext>
            </a:extLst>
          </p:cNvPr>
          <p:cNvSpPr>
            <a:spLocks noGrp="1"/>
          </p:cNvSpPr>
          <p:nvPr>
            <p:ph type="title"/>
          </p:nvPr>
        </p:nvSpPr>
        <p:spPr/>
        <p:txBody>
          <a:bodyPr/>
          <a:lstStyle/>
          <a:p>
            <a:r>
              <a:rPr lang="pt-BR" noProof="0" dirty="0"/>
              <a:t>Comparativo das abordagens</a:t>
            </a:r>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9F89DE01-7C6C-8A47-35FC-16E58BA14EAA}"/>
                  </a:ext>
                </a:extLst>
              </p:cNvPr>
              <p:cNvGraphicFramePr>
                <a:graphicFrameLocks noGrp="1"/>
              </p:cNvGraphicFramePr>
              <p:nvPr>
                <p:ph idx="1"/>
                <p:extLst>
                  <p:ext uri="{D42A27DB-BD31-4B8C-83A1-F6EECF244321}">
                    <p14:modId xmlns:p14="http://schemas.microsoft.com/office/powerpoint/2010/main" val="3776893091"/>
                  </p:ext>
                </p:extLst>
              </p:nvPr>
            </p:nvGraphicFramePr>
            <p:xfrm>
              <a:off x="241041" y="1690688"/>
              <a:ext cx="11709918" cy="4297680"/>
            </p:xfrm>
            <a:graphic>
              <a:graphicData uri="http://schemas.openxmlformats.org/drawingml/2006/table">
                <a:tbl>
                  <a:tblPr/>
                  <a:tblGrid>
                    <a:gridCol w="2008663">
                      <a:extLst>
                        <a:ext uri="{9D8B030D-6E8A-4147-A177-3AD203B41FA5}">
                          <a16:colId xmlns:a16="http://schemas.microsoft.com/office/drawing/2014/main" val="2676689337"/>
                        </a:ext>
                      </a:extLst>
                    </a:gridCol>
                    <a:gridCol w="5046642">
                      <a:extLst>
                        <a:ext uri="{9D8B030D-6E8A-4147-A177-3AD203B41FA5}">
                          <a16:colId xmlns:a16="http://schemas.microsoft.com/office/drawing/2014/main" val="921422884"/>
                        </a:ext>
                      </a:extLst>
                    </a:gridCol>
                    <a:gridCol w="4654613">
                      <a:extLst>
                        <a:ext uri="{9D8B030D-6E8A-4147-A177-3AD203B41FA5}">
                          <a16:colId xmlns:a16="http://schemas.microsoft.com/office/drawing/2014/main" val="4252031962"/>
                        </a:ext>
                      </a:extLst>
                    </a:gridCol>
                  </a:tblGrid>
                  <a:tr h="0">
                    <a:tc>
                      <a:txBody>
                        <a:bodyPr/>
                        <a:lstStyle/>
                        <a:p>
                          <a:pPr algn="ctr">
                            <a:buNone/>
                          </a:pPr>
                          <a:r>
                            <a:rPr lang="pt-BR" sz="2000" b="1" noProof="0" dirty="0">
                              <a:latin typeface="+mn-lt"/>
                            </a:rPr>
                            <a:t>Característica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pt-BR" sz="2000" b="1" noProof="0" dirty="0">
                              <a:latin typeface="+mn-lt"/>
                            </a:rPr>
                            <a:t>Gradiente descendente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pt-BR" sz="2000" b="1" noProof="0" dirty="0">
                              <a:latin typeface="+mn-lt"/>
                            </a:rPr>
                            <a:t>Equação normal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4083088"/>
                      </a:ext>
                    </a:extLst>
                  </a:tr>
                  <a:tr h="0">
                    <a:tc>
                      <a:txBody>
                        <a:bodyPr/>
                        <a:lstStyle/>
                        <a:p>
                          <a:pPr algn="ctr">
                            <a:buNone/>
                          </a:pPr>
                          <a:r>
                            <a:rPr lang="pt-BR" sz="2000" b="1" noProof="0" dirty="0">
                              <a:latin typeface="+mn-lt"/>
                            </a:rPr>
                            <a:t>Tipo</a:t>
                          </a:r>
                          <a:endParaRPr lang="pt-BR" sz="2000" noProof="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pt-BR" sz="2000" noProof="0" dirty="0">
                              <a:latin typeface="+mn-lt"/>
                            </a:rPr>
                            <a:t>Algorítmico/Iterativo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pt-BR" sz="2000" noProof="0" dirty="0">
                              <a:latin typeface="+mn-lt"/>
                            </a:rPr>
                            <a:t>Analítico/Direto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85415063"/>
                      </a:ext>
                    </a:extLst>
                  </a:tr>
                  <a:tr h="0">
                    <a:tc>
                      <a:txBody>
                        <a:bodyPr/>
                        <a:lstStyle/>
                        <a:p>
                          <a:pPr algn="ctr">
                            <a:buNone/>
                          </a:pPr>
                          <a:r>
                            <a:rPr lang="pt-BR" sz="2000" b="1" noProof="0" dirty="0">
                              <a:latin typeface="+mn-lt"/>
                            </a:rPr>
                            <a:t>Complexidade</a:t>
                          </a:r>
                          <a:endParaRPr lang="pt-BR" sz="2000" noProof="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14:m>
                            <m:oMathPara xmlns:m="http://schemas.openxmlformats.org/officeDocument/2006/math">
                              <m:oMath>
                                <m:sSup>
                                  <m:sSupPr>
                                    <m:ctrlPr>
                                      <a:rPr lang="pt-BR" sz="2000" b="0" i="1" noProof="0" smtClean="0">
                                        <a:latin typeface="Cambria Math" panose="02040503050406030204" pitchFamily="18" charset="0"/>
                                      </a:rPr>
                                    </m:ctrlPr>
                                  </m:sSupPr>
                                  <m:e>
                                    <m:r>
                                      <a:rPr lang="pt-BR" sz="2000" b="0" i="1" noProof="0" smtClean="0">
                                        <a:latin typeface="Cambria Math" panose="02040503050406030204" pitchFamily="18" charset="0"/>
                                      </a:rPr>
                                      <m:t>𝑂</m:t>
                                    </m:r>
                                    <m:r>
                                      <a:rPr lang="pt-BR" sz="2000" b="0" i="1" noProof="0" smtClean="0">
                                        <a:latin typeface="Cambria Math" panose="02040503050406030204" pitchFamily="18" charset="0"/>
                                      </a:rPr>
                                      <m:t>(</m:t>
                                    </m:r>
                                    <m:r>
                                      <a:rPr lang="pt-BR" sz="2000" b="0" i="1" noProof="0" smtClean="0">
                                        <a:latin typeface="Cambria Math" panose="02040503050406030204" pitchFamily="18" charset="0"/>
                                      </a:rPr>
                                      <m:t>𝐼</m:t>
                                    </m:r>
                                    <m:sSup>
                                      <m:sSupPr>
                                        <m:ctrlPr>
                                          <a:rPr lang="pt-BR" sz="2000" b="0" i="1" noProof="0" smtClean="0">
                                            <a:latin typeface="Cambria Math" panose="02040503050406030204" pitchFamily="18" charset="0"/>
                                          </a:rPr>
                                        </m:ctrlPr>
                                      </m:sSupPr>
                                      <m:e>
                                        <m:r>
                                          <a:rPr lang="pt-BR" sz="2000" b="0" i="1" noProof="0" smtClean="0">
                                            <a:latin typeface="Cambria Math" panose="02040503050406030204" pitchFamily="18" charset="0"/>
                                          </a:rPr>
                                          <m:t>𝐾</m:t>
                                        </m:r>
                                      </m:e>
                                      <m:sup>
                                        <m:r>
                                          <a:rPr lang="pt-BR" sz="2000" b="0" i="1" noProof="0" smtClean="0">
                                            <a:latin typeface="Cambria Math" panose="02040503050406030204" pitchFamily="18" charset="0"/>
                                          </a:rPr>
                                          <m:t>2</m:t>
                                        </m:r>
                                      </m:sup>
                                    </m:sSup>
                                    <m:r>
                                      <a:rPr lang="pt-BR" sz="2000" b="0" i="1" noProof="0" smtClean="0">
                                        <a:latin typeface="Cambria Math" panose="02040503050406030204" pitchFamily="18" charset="0"/>
                                      </a:rPr>
                                      <m:t>)</m:t>
                                    </m:r>
                                  </m:e>
                                  <m:sup>
                                    <m:r>
                                      <a:rPr lang="pt-BR" sz="2000" b="0" i="1" noProof="0" smtClean="0">
                                        <a:latin typeface="Cambria Math" panose="02040503050406030204" pitchFamily="18" charset="0"/>
                                      </a:rPr>
                                      <m:t>∗</m:t>
                                    </m:r>
                                  </m:sup>
                                </m:sSup>
                              </m:oMath>
                            </m:oMathPara>
                          </a14:m>
                          <a:endParaRPr lang="pt-BR" sz="2000" noProof="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14:m>
                            <m:oMathPara xmlns:m="http://schemas.openxmlformats.org/officeDocument/2006/math">
                              <m:oMath>
                                <m:sSup>
                                  <m:sSupPr>
                                    <m:ctrlPr>
                                      <a:rPr lang="pt-BR" sz="2000" b="0" i="1" noProof="0" smtClean="0">
                                        <a:latin typeface="Cambria Math" panose="02040503050406030204" pitchFamily="18" charset="0"/>
                                      </a:rPr>
                                    </m:ctrlPr>
                                  </m:sSupPr>
                                  <m:e>
                                    <m:r>
                                      <a:rPr lang="pt-BR" sz="2000" b="0" i="1" noProof="0" smtClean="0">
                                        <a:latin typeface="Cambria Math" panose="02040503050406030204" pitchFamily="18" charset="0"/>
                                      </a:rPr>
                                      <m:t>𝑂</m:t>
                                    </m:r>
                                    <m:d>
                                      <m:dPr>
                                        <m:ctrlPr>
                                          <a:rPr lang="pt-BR" sz="2000" b="0" i="1" noProof="0" smtClean="0">
                                            <a:latin typeface="Cambria Math" panose="02040503050406030204" pitchFamily="18" charset="0"/>
                                          </a:rPr>
                                        </m:ctrlPr>
                                      </m:dPr>
                                      <m:e>
                                        <m:sSup>
                                          <m:sSupPr>
                                            <m:ctrlPr>
                                              <a:rPr lang="pt-BR" sz="2000" b="0" i="1" noProof="0" smtClean="0">
                                                <a:latin typeface="Cambria Math" panose="02040503050406030204" pitchFamily="18" charset="0"/>
                                              </a:rPr>
                                            </m:ctrlPr>
                                          </m:sSupPr>
                                          <m:e>
                                            <m:r>
                                              <a:rPr lang="pt-BR" sz="2000" b="0" i="1" noProof="0" smtClean="0">
                                                <a:latin typeface="Cambria Math" panose="02040503050406030204" pitchFamily="18" charset="0"/>
                                              </a:rPr>
                                              <m:t>𝐾</m:t>
                                            </m:r>
                                          </m:e>
                                          <m:sup>
                                            <m:r>
                                              <a:rPr lang="pt-BR" sz="2000" b="0" i="1" noProof="0" smtClean="0">
                                                <a:latin typeface="Cambria Math" panose="02040503050406030204" pitchFamily="18" charset="0"/>
                                              </a:rPr>
                                              <m:t>3</m:t>
                                            </m:r>
                                          </m:sup>
                                        </m:sSup>
                                      </m:e>
                                    </m:d>
                                  </m:e>
                                  <m:sup>
                                    <m:r>
                                      <a:rPr lang="pt-BR" sz="2000" b="0" i="1" noProof="0" smtClean="0">
                                        <a:latin typeface="Cambria Math" panose="02040503050406030204" pitchFamily="18" charset="0"/>
                                      </a:rPr>
                                      <m:t>∗∗</m:t>
                                    </m:r>
                                  </m:sup>
                                </m:sSup>
                              </m:oMath>
                            </m:oMathPara>
                          </a14:m>
                          <a:endParaRPr lang="pt-BR" sz="2000" noProof="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85385241"/>
                      </a:ext>
                    </a:extLst>
                  </a:tr>
                  <a:tr h="0">
                    <a:tc>
                      <a:txBody>
                        <a:bodyPr/>
                        <a:lstStyle/>
                        <a:p>
                          <a:pPr algn="ctr">
                            <a:buNone/>
                          </a:pPr>
                          <a:r>
                            <a:rPr lang="pt-BR" sz="2000" b="1" noProof="0" dirty="0">
                              <a:latin typeface="+mn-lt"/>
                            </a:rPr>
                            <a:t>Escalabilidade</a:t>
                          </a:r>
                          <a:endParaRPr lang="pt-BR" sz="2000" noProof="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pt-BR" sz="2000" noProof="0" dirty="0">
                              <a:latin typeface="+mn-lt"/>
                            </a:rPr>
                            <a:t>Alta (lida bem com milhões de dados)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pt-BR" sz="2000" noProof="0" dirty="0">
                              <a:latin typeface="+mn-lt"/>
                            </a:rPr>
                            <a:t>Baixa (lenta para muitas variáveis)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93643069"/>
                      </a:ext>
                    </a:extLst>
                  </a:tr>
                  <a:tr h="0">
                    <a:tc>
                      <a:txBody>
                        <a:bodyPr/>
                        <a:lstStyle/>
                        <a:p>
                          <a:pPr algn="ctr">
                            <a:buNone/>
                          </a:pPr>
                          <a:r>
                            <a:rPr lang="pt-BR" sz="2000" b="1" noProof="0" dirty="0">
                              <a:latin typeface="+mn-lt"/>
                            </a:rPr>
                            <a:t>Hiperparâmetros</a:t>
                          </a:r>
                          <a:endParaRPr lang="pt-BR" sz="2000" noProof="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pt-BR" sz="2000" noProof="0" dirty="0">
                              <a:latin typeface="+mn-lt"/>
                            </a:rPr>
                            <a:t>Exige ajuste da</a:t>
                          </a:r>
                          <a:r>
                            <a:rPr lang="pt-BR" sz="2000" baseline="0" noProof="0" dirty="0">
                              <a:latin typeface="+mn-lt"/>
                            </a:rPr>
                            <a:t> taxa de aprendizagem,</a:t>
                          </a:r>
                          <a:r>
                            <a:rPr lang="pt-BR" sz="2000" noProof="0" dirty="0">
                              <a:latin typeface="+mn-lt"/>
                            </a:rPr>
                            <a:t> </a:t>
                          </a:r>
                          <a14:m>
                            <m:oMath xmlns:m="http://schemas.openxmlformats.org/officeDocument/2006/math">
                              <m:r>
                                <a:rPr lang="pt-BR" sz="2000" i="1" noProof="0" smtClean="0">
                                  <a:latin typeface="Cambria Math" panose="02040503050406030204" pitchFamily="18" charset="0"/>
                                  <a:ea typeface="Cambria Math" panose="02040503050406030204" pitchFamily="18" charset="0"/>
                                </a:rPr>
                                <m:t>𝛼</m:t>
                              </m:r>
                            </m:oMath>
                          </a14:m>
                          <a:endParaRPr lang="pt-BR" sz="2000" noProof="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pt-BR" sz="2000" noProof="0" dirty="0">
                              <a:latin typeface="+mn-lt"/>
                            </a:rPr>
                            <a:t>Nenhum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74329883"/>
                      </a:ext>
                    </a:extLst>
                  </a:tr>
                  <a:tr h="0">
                    <a:tc>
                      <a:txBody>
                        <a:bodyPr/>
                        <a:lstStyle/>
                        <a:p>
                          <a:pPr algn="ctr">
                            <a:buNone/>
                          </a:pPr>
                          <a:r>
                            <a:rPr lang="pt-BR" sz="2000" b="1" noProof="0" dirty="0">
                              <a:latin typeface="+mn-lt"/>
                            </a:rPr>
                            <a:t>Uso principal</a:t>
                          </a:r>
                          <a:endParaRPr lang="pt-BR" sz="2000" noProof="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pt-BR" sz="2000" noProof="0" dirty="0">
                              <a:latin typeface="+mn-lt"/>
                            </a:rPr>
                            <a:t>Regressão linear e logística/Redes neurais/SVM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pt-BR" sz="2000" noProof="0" dirty="0">
                              <a:latin typeface="+mn-lt"/>
                            </a:rPr>
                            <a:t>Estatística clássica/Regressão linear/</a:t>
                          </a:r>
                          <a:r>
                            <a:rPr lang="pt-BR" sz="2000" i="1" noProof="0" dirty="0" err="1">
                              <a:latin typeface="+mn-lt"/>
                            </a:rPr>
                            <a:t>Datasets</a:t>
                          </a:r>
                          <a:r>
                            <a:rPr lang="pt-BR" sz="2000" noProof="0" dirty="0">
                              <a:latin typeface="+mn-lt"/>
                            </a:rPr>
                            <a:t> pequenos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34521875"/>
                      </a:ext>
                    </a:extLst>
                  </a:tr>
                  <a:tr h="392816">
                    <a:tc>
                      <a:txBody>
                        <a:bodyPr/>
                        <a:lstStyle/>
                        <a:p>
                          <a:pPr algn="ctr">
                            <a:buNone/>
                          </a:pPr>
                          <a:r>
                            <a:rPr lang="pt-BR" sz="2000" b="1" noProof="0" dirty="0">
                              <a:latin typeface="+mn-lt"/>
                            </a:rPr>
                            <a:t>Observações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indent="-342900" algn="l">
                            <a:buFont typeface="Arial" panose="020B0604020202020204" pitchFamily="34" charset="0"/>
                            <a:buChar char="•"/>
                          </a:pPr>
                          <a:r>
                            <a:rPr lang="pt-BR" sz="2000" noProof="0" dirty="0">
                              <a:latin typeface="+mn-lt"/>
                            </a:rPr>
                            <a:t>Pode exigir muitas iterações para convergir.</a:t>
                          </a:r>
                        </a:p>
                        <a:p>
                          <a:pPr marL="342900" indent="-342900" algn="l">
                            <a:buFont typeface="Arial" panose="020B0604020202020204" pitchFamily="34" charset="0"/>
                            <a:buChar char="•"/>
                          </a:pPr>
                          <a:r>
                            <a:rPr lang="pt-BR" sz="2000" noProof="0" dirty="0">
                              <a:latin typeface="+mn-lt"/>
                            </a:rPr>
                            <a:t>A função de erro deve ser </a:t>
                          </a:r>
                          <a:r>
                            <a:rPr lang="pt-BR" sz="2000" noProof="0" dirty="0" err="1">
                              <a:latin typeface="+mn-lt"/>
                            </a:rPr>
                            <a:t>diferenciável</a:t>
                          </a:r>
                          <a:r>
                            <a:rPr lang="pt-BR" sz="2000" noProof="0" dirty="0">
                              <a:latin typeface="+mn-lt"/>
                            </a:rPr>
                            <a:t>.</a:t>
                          </a:r>
                        </a:p>
                        <a:p>
                          <a:pPr marL="342900" indent="-342900" algn="l">
                            <a:buFont typeface="Arial" panose="020B0604020202020204" pitchFamily="34" charset="0"/>
                            <a:buChar char="•"/>
                          </a:pPr>
                          <a:r>
                            <a:rPr lang="pt-BR" sz="2000" b="0" i="0" noProof="0" dirty="0">
                              <a:solidFill>
                                <a:schemeClr val="tx1"/>
                              </a:solidFill>
                              <a:latin typeface="+mn-lt"/>
                            </a:rPr>
                            <a:t>C</a:t>
                          </a:r>
                          <a:r>
                            <a:rPr lang="pt-BR" sz="2000" b="0" i="0" dirty="0" err="1">
                              <a:solidFill>
                                <a:schemeClr val="tx1"/>
                              </a:solidFill>
                            </a:rPr>
                            <a:t>omplexidade</a:t>
                          </a:r>
                          <a:r>
                            <a:rPr lang="pt-BR" sz="2000" b="0" i="0" dirty="0">
                              <a:solidFill>
                                <a:schemeClr val="tx1"/>
                              </a:solidFill>
                            </a:rPr>
                            <a:t> computacional é ajustável</a:t>
                          </a:r>
                          <a:r>
                            <a:rPr lang="pt-BR" sz="2000" b="0" i="0" baseline="0" dirty="0">
                              <a:solidFill>
                                <a:schemeClr val="tx1"/>
                              </a:solidFill>
                            </a:rPr>
                            <a:t> à </a:t>
                          </a:r>
                          <a:r>
                            <a:rPr lang="pt-BR" sz="2000" b="0" i="0" noProof="0" dirty="0">
                              <a:solidFill>
                                <a:schemeClr val="tx1"/>
                              </a:solidFill>
                              <a:latin typeface="+mn-lt"/>
                            </a:rPr>
                            <a:t>quantidade de recursos disponíveis (RAM e CPU/GPU).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indent="-342900" algn="l">
                            <a:buFont typeface="Arial" panose="020B0604020202020204" pitchFamily="34" charset="0"/>
                            <a:buChar char="•"/>
                          </a:pPr>
                          <a:r>
                            <a:rPr lang="pt-BR" sz="2000" noProof="0" dirty="0">
                              <a:latin typeface="+mn-lt"/>
                            </a:rPr>
                            <a:t>Não encontra solução para modelos não lineares (e.g., redes neurais e classificadores).</a:t>
                          </a:r>
                        </a:p>
                        <a:p>
                          <a:pPr marL="342900" indent="-342900" algn="l">
                            <a:buFont typeface="Arial" panose="020B0604020202020204" pitchFamily="34" charset="0"/>
                            <a:buChar char="•"/>
                          </a:pPr>
                          <a:r>
                            <a:rPr lang="pt-BR" sz="2000" noProof="0" dirty="0">
                              <a:latin typeface="+mn-lt"/>
                            </a:rPr>
                            <a:t>Consome</a:t>
                          </a:r>
                          <a:r>
                            <a:rPr lang="pt-BR" sz="2000" baseline="0" noProof="0" dirty="0">
                              <a:latin typeface="+mn-lt"/>
                            </a:rPr>
                            <a:t> muita memória s</a:t>
                          </a:r>
                          <a:r>
                            <a:rPr lang="pt-BR" sz="2000" noProof="0" dirty="0">
                              <a:latin typeface="+mn-lt"/>
                            </a:rPr>
                            <a:t>e </a:t>
                          </a:r>
                          <a14:m>
                            <m:oMath xmlns:m="http://schemas.openxmlformats.org/officeDocument/2006/math">
                              <m:r>
                                <a:rPr lang="pt-BR" sz="2000" b="0" i="1" noProof="0" smtClean="0">
                                  <a:latin typeface="Cambria Math" panose="02040503050406030204" pitchFamily="18" charset="0"/>
                                </a:rPr>
                                <m:t>𝐾</m:t>
                              </m:r>
                            </m:oMath>
                          </a14:m>
                          <a:r>
                            <a:rPr lang="pt-BR" sz="2000" noProof="0" dirty="0">
                              <a:latin typeface="+mn-lt"/>
                            </a:rPr>
                            <a:t> e </a:t>
                          </a:r>
                          <a14:m>
                            <m:oMath xmlns:m="http://schemas.openxmlformats.org/officeDocument/2006/math">
                              <m:r>
                                <a:rPr lang="pt-BR" sz="2000" b="0" i="1" noProof="0" smtClean="0">
                                  <a:latin typeface="Cambria Math" panose="02040503050406030204" pitchFamily="18" charset="0"/>
                                </a:rPr>
                                <m:t>𝑁</m:t>
                              </m:r>
                            </m:oMath>
                          </a14:m>
                          <a:r>
                            <a:rPr lang="pt-BR" sz="2000" noProof="0" dirty="0">
                              <a:latin typeface="+mn-lt"/>
                            </a:rPr>
                            <a:t> são muito</a:t>
                          </a:r>
                          <a:r>
                            <a:rPr lang="pt-BR" sz="2000" baseline="0" noProof="0" dirty="0">
                              <a:latin typeface="+mn-lt"/>
                            </a:rPr>
                            <a:t> grandes.</a:t>
                          </a:r>
                          <a:endParaRPr lang="pt-BR" sz="2000" noProof="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0400338"/>
                      </a:ext>
                    </a:extLst>
                  </a:tr>
                </a:tbl>
              </a:graphicData>
            </a:graphic>
          </p:graphicFrame>
        </mc:Choice>
        <mc:Fallback xmlns="">
          <p:graphicFrame>
            <p:nvGraphicFramePr>
              <p:cNvPr id="4" name="Content Placeholder 3">
                <a:extLst>
                  <a:ext uri="{FF2B5EF4-FFF2-40B4-BE49-F238E27FC236}">
                    <a16:creationId xmlns="" xmlns:a16="http://schemas.microsoft.com/office/drawing/2014/main" xmlns:a14="http://schemas.microsoft.com/office/drawing/2010/main" id="{9F89DE01-7C6C-8A47-35FC-16E58BA14EAA}"/>
                  </a:ext>
                </a:extLst>
              </p:cNvPr>
              <p:cNvGraphicFramePr>
                <a:graphicFrameLocks noGrp="1"/>
              </p:cNvGraphicFramePr>
              <p:nvPr>
                <p:ph idx="1"/>
                <p:extLst>
                  <p:ext uri="{D42A27DB-BD31-4B8C-83A1-F6EECF244321}">
                    <p14:modId xmlns:p14="http://schemas.microsoft.com/office/powerpoint/2010/main" val="3776893091"/>
                  </p:ext>
                </p:extLst>
              </p:nvPr>
            </p:nvGraphicFramePr>
            <p:xfrm>
              <a:off x="241041" y="1690688"/>
              <a:ext cx="11709918" cy="4297680"/>
            </p:xfrm>
            <a:graphic>
              <a:graphicData uri="http://schemas.openxmlformats.org/drawingml/2006/table">
                <a:tbl>
                  <a:tblPr/>
                  <a:tblGrid>
                    <a:gridCol w="2008663">
                      <a:extLst>
                        <a:ext uri="{9D8B030D-6E8A-4147-A177-3AD203B41FA5}">
                          <a16:colId xmlns="" xmlns:a16="http://schemas.microsoft.com/office/drawing/2014/main" xmlns:a14="http://schemas.microsoft.com/office/drawing/2010/main" val="2676689337"/>
                        </a:ext>
                      </a:extLst>
                    </a:gridCol>
                    <a:gridCol w="5046642">
                      <a:extLst>
                        <a:ext uri="{9D8B030D-6E8A-4147-A177-3AD203B41FA5}">
                          <a16:colId xmlns="" xmlns:a16="http://schemas.microsoft.com/office/drawing/2014/main" xmlns:a14="http://schemas.microsoft.com/office/drawing/2010/main" val="921422884"/>
                        </a:ext>
                      </a:extLst>
                    </a:gridCol>
                    <a:gridCol w="4654613">
                      <a:extLst>
                        <a:ext uri="{9D8B030D-6E8A-4147-A177-3AD203B41FA5}">
                          <a16:colId xmlns="" xmlns:a16="http://schemas.microsoft.com/office/drawing/2014/main" xmlns:a14="http://schemas.microsoft.com/office/drawing/2010/main" val="4252031962"/>
                        </a:ext>
                      </a:extLst>
                    </a:gridCol>
                  </a:tblGrid>
                  <a:tr h="396240">
                    <a:tc>
                      <a:txBody>
                        <a:bodyPr/>
                        <a:lstStyle/>
                        <a:p>
                          <a:pPr algn="ctr">
                            <a:buNone/>
                          </a:pPr>
                          <a:r>
                            <a:rPr lang="pt-BR" sz="2000" b="1" noProof="0" dirty="0">
                              <a:latin typeface="+mn-lt"/>
                            </a:rPr>
                            <a:t>Característica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pt-BR" sz="2000" b="1" noProof="0" dirty="0">
                              <a:latin typeface="+mn-lt"/>
                            </a:rPr>
                            <a:t>Gradiente descendente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pt-BR" sz="2000" b="1" noProof="0" dirty="0">
                              <a:latin typeface="+mn-lt"/>
                            </a:rPr>
                            <a:t>Equação normal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xmlns:a14="http://schemas.microsoft.com/office/drawing/2010/main" val="1904083088"/>
                      </a:ext>
                    </a:extLst>
                  </a:tr>
                  <a:tr h="396240">
                    <a:tc>
                      <a:txBody>
                        <a:bodyPr/>
                        <a:lstStyle/>
                        <a:p>
                          <a:pPr algn="ctr">
                            <a:buNone/>
                          </a:pPr>
                          <a:r>
                            <a:rPr lang="pt-BR" sz="2000" b="1" noProof="0" dirty="0">
                              <a:latin typeface="+mn-lt"/>
                            </a:rPr>
                            <a:t>Tipo</a:t>
                          </a:r>
                          <a:endParaRPr lang="pt-BR" sz="2000" noProof="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pt-BR" sz="2000" noProof="0" dirty="0">
                              <a:latin typeface="+mn-lt"/>
                            </a:rPr>
                            <a:t>Algorítmico/Iterativo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pt-BR" sz="2000" noProof="0" dirty="0">
                              <a:latin typeface="+mn-lt"/>
                            </a:rPr>
                            <a:t>Analítico/Direto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xmlns:a14="http://schemas.microsoft.com/office/drawing/2010/main" val="2085415063"/>
                      </a:ext>
                    </a:extLst>
                  </a:tr>
                  <a:tr h="396240">
                    <a:tc>
                      <a:txBody>
                        <a:bodyPr/>
                        <a:lstStyle/>
                        <a:p>
                          <a:pPr algn="ctr">
                            <a:buNone/>
                          </a:pPr>
                          <a:r>
                            <a:rPr lang="pt-BR" sz="2000" b="1" noProof="0" dirty="0">
                              <a:latin typeface="+mn-lt"/>
                            </a:rPr>
                            <a:t>Complexidade</a:t>
                          </a:r>
                          <a:endParaRPr lang="pt-BR" sz="2000" noProof="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pt-B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3"/>
                          <a:stretch>
                            <a:fillRect l="-39976" t="-207692" r="-92512" b="-812308"/>
                          </a:stretch>
                        </a:blipFill>
                      </a:tcPr>
                    </a:tc>
                    <a:tc>
                      <a:txBody>
                        <a:bodyPr/>
                        <a:lstStyle/>
                        <a:p>
                          <a:endParaRPr lang="pt-B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3"/>
                          <a:stretch>
                            <a:fillRect l="-151702" t="-207692" r="-262" b="-812308"/>
                          </a:stretch>
                        </a:blipFill>
                      </a:tcPr>
                    </a:tc>
                    <a:extLst>
                      <a:ext uri="{0D108BD9-81ED-4DB2-BD59-A6C34878D82A}">
                        <a16:rowId xmlns="" xmlns:a16="http://schemas.microsoft.com/office/drawing/2014/main" xmlns:a14="http://schemas.microsoft.com/office/drawing/2010/main" val="3585385241"/>
                      </a:ext>
                    </a:extLst>
                  </a:tr>
                  <a:tr h="396240">
                    <a:tc>
                      <a:txBody>
                        <a:bodyPr/>
                        <a:lstStyle/>
                        <a:p>
                          <a:pPr algn="ctr">
                            <a:buNone/>
                          </a:pPr>
                          <a:r>
                            <a:rPr lang="pt-BR" sz="2000" b="1" noProof="0" dirty="0">
                              <a:latin typeface="+mn-lt"/>
                            </a:rPr>
                            <a:t>Escalabilidade</a:t>
                          </a:r>
                          <a:endParaRPr lang="pt-BR" sz="2000" noProof="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pt-BR" sz="2000" noProof="0" dirty="0">
                              <a:latin typeface="+mn-lt"/>
                            </a:rPr>
                            <a:t>Alta (lida bem com milhões de dados)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pt-BR" sz="2000" noProof="0" dirty="0">
                              <a:latin typeface="+mn-lt"/>
                            </a:rPr>
                            <a:t>Baixa (lenta para muitas variáveis)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xmlns:a14="http://schemas.microsoft.com/office/drawing/2010/main" val="3293643069"/>
                      </a:ext>
                    </a:extLst>
                  </a:tr>
                  <a:tr h="396240">
                    <a:tc>
                      <a:txBody>
                        <a:bodyPr/>
                        <a:lstStyle/>
                        <a:p>
                          <a:pPr algn="ctr">
                            <a:buNone/>
                          </a:pPr>
                          <a:r>
                            <a:rPr lang="pt-BR" sz="2000" b="1" noProof="0" dirty="0">
                              <a:latin typeface="+mn-lt"/>
                            </a:rPr>
                            <a:t>Hiperparâmetros</a:t>
                          </a:r>
                          <a:endParaRPr lang="pt-BR" sz="2000" noProof="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pt-B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3"/>
                          <a:stretch>
                            <a:fillRect l="-39976" t="-407692" r="-92512" b="-612308"/>
                          </a:stretch>
                        </a:blipFill>
                      </a:tcPr>
                    </a:tc>
                    <a:tc>
                      <a:txBody>
                        <a:bodyPr/>
                        <a:lstStyle/>
                        <a:p>
                          <a:pPr algn="ctr">
                            <a:buNone/>
                          </a:pPr>
                          <a:r>
                            <a:rPr lang="pt-BR" sz="2000" noProof="0" dirty="0">
                              <a:latin typeface="+mn-lt"/>
                            </a:rPr>
                            <a:t>Nenhum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xmlns:a14="http://schemas.microsoft.com/office/drawing/2010/main" val="2874329883"/>
                      </a:ext>
                    </a:extLst>
                  </a:tr>
                  <a:tr h="701040">
                    <a:tc>
                      <a:txBody>
                        <a:bodyPr/>
                        <a:lstStyle/>
                        <a:p>
                          <a:pPr algn="ctr">
                            <a:buNone/>
                          </a:pPr>
                          <a:r>
                            <a:rPr lang="pt-BR" sz="2000" b="1" noProof="0" dirty="0">
                              <a:latin typeface="+mn-lt"/>
                            </a:rPr>
                            <a:t>Uso principal</a:t>
                          </a:r>
                          <a:endParaRPr lang="pt-BR" sz="2000" noProof="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pt-BR" sz="2000" noProof="0" dirty="0">
                              <a:latin typeface="+mn-lt"/>
                            </a:rPr>
                            <a:t>Regressão linear e logística/Redes neurais/SVM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pt-BR" sz="2000" noProof="0" dirty="0">
                              <a:latin typeface="+mn-lt"/>
                            </a:rPr>
                            <a:t>Estatística clássica/Regressão linear/</a:t>
                          </a:r>
                          <a:r>
                            <a:rPr lang="pt-BR" sz="2000" i="1" noProof="0" dirty="0" err="1">
                              <a:latin typeface="+mn-lt"/>
                            </a:rPr>
                            <a:t>Datasets</a:t>
                          </a:r>
                          <a:r>
                            <a:rPr lang="pt-BR" sz="2000" noProof="0" dirty="0">
                              <a:latin typeface="+mn-lt"/>
                            </a:rPr>
                            <a:t> pequenos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xmlns:a14="http://schemas.microsoft.com/office/drawing/2010/main" val="1234521875"/>
                      </a:ext>
                    </a:extLst>
                  </a:tr>
                  <a:tr h="1615440">
                    <a:tc>
                      <a:txBody>
                        <a:bodyPr/>
                        <a:lstStyle/>
                        <a:p>
                          <a:pPr algn="ctr">
                            <a:buNone/>
                          </a:pPr>
                          <a:r>
                            <a:rPr lang="pt-BR" sz="2000" b="1" noProof="0" dirty="0">
                              <a:latin typeface="+mn-lt"/>
                            </a:rPr>
                            <a:t>Observações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indent="-342900" algn="l">
                            <a:buFont typeface="Arial" panose="020B0604020202020204" pitchFamily="34" charset="0"/>
                            <a:buChar char="•"/>
                          </a:pPr>
                          <a:r>
                            <a:rPr lang="pt-BR" sz="2000" noProof="0" dirty="0">
                              <a:latin typeface="+mn-lt"/>
                            </a:rPr>
                            <a:t>Pode exigir muitas iterações para convergir.</a:t>
                          </a:r>
                        </a:p>
                        <a:p>
                          <a:pPr marL="342900" indent="-342900" algn="l">
                            <a:buFont typeface="Arial" panose="020B0604020202020204" pitchFamily="34" charset="0"/>
                            <a:buChar char="•"/>
                          </a:pPr>
                          <a:r>
                            <a:rPr lang="pt-BR" sz="2000" noProof="0" dirty="0">
                              <a:latin typeface="+mn-lt"/>
                            </a:rPr>
                            <a:t>A função de erro deve ser </a:t>
                          </a:r>
                          <a:r>
                            <a:rPr lang="pt-BR" sz="2000" noProof="0" dirty="0" err="1">
                              <a:latin typeface="+mn-lt"/>
                            </a:rPr>
                            <a:t>diferenciável</a:t>
                          </a:r>
                          <a:r>
                            <a:rPr lang="pt-BR" sz="2000" noProof="0" dirty="0">
                              <a:latin typeface="+mn-lt"/>
                            </a:rPr>
                            <a:t>.</a:t>
                          </a:r>
                        </a:p>
                        <a:p>
                          <a:pPr marL="342900" indent="-342900" algn="l">
                            <a:buFont typeface="Arial" panose="020B0604020202020204" pitchFamily="34" charset="0"/>
                            <a:buChar char="•"/>
                          </a:pPr>
                          <a:r>
                            <a:rPr lang="pt-BR" sz="2000" b="0" i="0" noProof="0" dirty="0">
                              <a:solidFill>
                                <a:schemeClr val="tx1"/>
                              </a:solidFill>
                              <a:latin typeface="+mn-lt"/>
                            </a:rPr>
                            <a:t>C</a:t>
                          </a:r>
                          <a:r>
                            <a:rPr lang="pt-BR" sz="2000" b="0" i="0" dirty="0" err="1">
                              <a:solidFill>
                                <a:schemeClr val="tx1"/>
                              </a:solidFill>
                            </a:rPr>
                            <a:t>omplexidade</a:t>
                          </a:r>
                          <a:r>
                            <a:rPr lang="pt-BR" sz="2000" b="0" i="0" dirty="0">
                              <a:solidFill>
                                <a:schemeClr val="tx1"/>
                              </a:solidFill>
                            </a:rPr>
                            <a:t> computacional é ajustável</a:t>
                          </a:r>
                          <a:r>
                            <a:rPr lang="pt-BR" sz="2000" b="0" i="0" baseline="0" dirty="0">
                              <a:solidFill>
                                <a:schemeClr val="tx1"/>
                              </a:solidFill>
                            </a:rPr>
                            <a:t> à </a:t>
                          </a:r>
                          <a:r>
                            <a:rPr lang="pt-BR" sz="2000" b="0" i="0" noProof="0" dirty="0">
                              <a:solidFill>
                                <a:schemeClr val="tx1"/>
                              </a:solidFill>
                              <a:latin typeface="+mn-lt"/>
                            </a:rPr>
                            <a:t>quantidade de recursos disponíveis (RAM e CPU/GPU).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pt-B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3"/>
                          <a:stretch>
                            <a:fillRect l="-151702" t="-168302" r="-262" b="-6415"/>
                          </a:stretch>
                        </a:blipFill>
                      </a:tcPr>
                    </a:tc>
                    <a:extLst>
                      <a:ext uri="{0D108BD9-81ED-4DB2-BD59-A6C34878D82A}">
                        <a16:rowId xmlns="" xmlns:a16="http://schemas.microsoft.com/office/drawing/2014/main" xmlns:a14="http://schemas.microsoft.com/office/drawing/2010/main" val="2070400338"/>
                      </a:ext>
                    </a:extLst>
                  </a:tr>
                </a:tbl>
              </a:graphicData>
            </a:graphic>
          </p:graphicFrame>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6ADA1D5-0763-3EF2-0C26-C666D2EF6C89}"/>
                  </a:ext>
                </a:extLst>
              </p:cNvPr>
              <p:cNvSpPr txBox="1"/>
              <p:nvPr/>
            </p:nvSpPr>
            <p:spPr>
              <a:xfrm>
                <a:off x="241041" y="6231265"/>
                <a:ext cx="6096000" cy="523220"/>
              </a:xfrm>
              <a:prstGeom prst="rect">
                <a:avLst/>
              </a:prstGeom>
              <a:noFill/>
            </p:spPr>
            <p:txBody>
              <a:bodyPr wrap="square">
                <a:spAutoFit/>
              </a:bodyPr>
              <a:lstStyle/>
              <a:p>
                <a:r>
                  <a:rPr lang="pt-BR" sz="1400" noProof="0" dirty="0"/>
                  <a:t>* </a:t>
                </a:r>
                <a14:m>
                  <m:oMath xmlns:m="http://schemas.openxmlformats.org/officeDocument/2006/math">
                    <m:r>
                      <a:rPr lang="pt-BR" sz="1400" i="1">
                        <a:latin typeface="Cambria Math" panose="02040503050406030204" pitchFamily="18" charset="0"/>
                      </a:rPr>
                      <m:t>𝐼</m:t>
                    </m:r>
                  </m:oMath>
                </a14:m>
                <a:r>
                  <a:rPr lang="pt-BR" sz="1400" dirty="0"/>
                  <a:t> é o número de iterações</a:t>
                </a:r>
                <a:endParaRPr lang="pt-BR" sz="1400" noProof="0" dirty="0"/>
              </a:p>
              <a:p>
                <a:r>
                  <a:rPr lang="pt-BR" sz="1400" dirty="0"/>
                  <a:t>** </a:t>
                </a:r>
                <a:r>
                  <a:rPr lang="pt-BR" sz="1400" noProof="0" dirty="0"/>
                  <a:t>Complexidade para o cálculo da inversa de </a:t>
                </a:r>
                <a14:m>
                  <m:oMath xmlns:m="http://schemas.openxmlformats.org/officeDocument/2006/math">
                    <m:sSup>
                      <m:sSupPr>
                        <m:ctrlPr>
                          <a:rPr lang="pt-BR" sz="1400" b="0" i="1" noProof="0">
                            <a:latin typeface="Cambria Math" panose="02040503050406030204" pitchFamily="18" charset="0"/>
                          </a:rPr>
                        </m:ctrlPr>
                      </m:sSupPr>
                      <m:e>
                        <m:r>
                          <a:rPr lang="pt-BR" sz="1400" b="0" i="1" noProof="0">
                            <a:latin typeface="Cambria Math" panose="02040503050406030204" pitchFamily="18" charset="0"/>
                          </a:rPr>
                          <m:t>𝑋</m:t>
                        </m:r>
                      </m:e>
                      <m:sup>
                        <m:r>
                          <a:rPr lang="pt-BR" sz="1400" b="0" i="1" noProof="0">
                            <a:latin typeface="Cambria Math" panose="02040503050406030204" pitchFamily="18" charset="0"/>
                          </a:rPr>
                          <m:t>𝑇</m:t>
                        </m:r>
                      </m:sup>
                    </m:sSup>
                    <m:r>
                      <a:rPr lang="pt-BR" sz="1400" b="0" i="1" noProof="0">
                        <a:latin typeface="Cambria Math" panose="02040503050406030204" pitchFamily="18" charset="0"/>
                      </a:rPr>
                      <m:t>𝑋</m:t>
                    </m:r>
                  </m:oMath>
                </a14:m>
                <a:r>
                  <a:rPr lang="pt-BR" sz="1400" noProof="0" dirty="0"/>
                  <a:t> </a:t>
                </a:r>
              </a:p>
            </p:txBody>
          </p:sp>
        </mc:Choice>
        <mc:Fallback xmlns="">
          <p:sp>
            <p:nvSpPr>
              <p:cNvPr id="7" name="TextBox 6">
                <a:extLst>
                  <a:ext uri="{FF2B5EF4-FFF2-40B4-BE49-F238E27FC236}">
                    <a16:creationId xmlns:a16="http://schemas.microsoft.com/office/drawing/2014/main" id="{B6ADA1D5-0763-3EF2-0C26-C666D2EF6C89}"/>
                  </a:ext>
                </a:extLst>
              </p:cNvPr>
              <p:cNvSpPr txBox="1">
                <a:spLocks noRot="1" noChangeAspect="1" noMove="1" noResize="1" noEditPoints="1" noAdjustHandles="1" noChangeArrowheads="1" noChangeShapeType="1" noTextEdit="1"/>
              </p:cNvSpPr>
              <p:nvPr/>
            </p:nvSpPr>
            <p:spPr>
              <a:xfrm>
                <a:off x="241041" y="6231265"/>
                <a:ext cx="6096000" cy="523220"/>
              </a:xfrm>
              <a:prstGeom prst="rect">
                <a:avLst/>
              </a:prstGeom>
              <a:blipFill>
                <a:blip r:embed="rId4"/>
                <a:stretch>
                  <a:fillRect l="-300" t="-2326" b="-12791"/>
                </a:stretch>
              </a:blipFill>
            </p:spPr>
            <p:txBody>
              <a:bodyPr/>
              <a:lstStyle/>
              <a:p>
                <a:r>
                  <a:rPr lang="en-US">
                    <a:noFill/>
                  </a:rPr>
                  <a:t> </a:t>
                </a:r>
              </a:p>
            </p:txBody>
          </p:sp>
        </mc:Fallback>
      </mc:AlternateContent>
    </p:spTree>
    <p:extLst>
      <p:ext uri="{BB962C8B-B14F-4D97-AF65-F5344CB8AC3E}">
        <p14:creationId xmlns:p14="http://schemas.microsoft.com/office/powerpoint/2010/main" val="8463805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Batch, Mini Batch &amp; Stochastic Gradient Descent">
            <a:extLst>
              <a:ext uri="{FF2B5EF4-FFF2-40B4-BE49-F238E27FC236}">
                <a16:creationId xmlns:a16="http://schemas.microsoft.com/office/drawing/2014/main" id="{DBA910F3-1DC5-8F92-5616-7DABD0430A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281" y="1074509"/>
            <a:ext cx="5715530" cy="506342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F5B4230-F901-54A0-181D-6A33FF47ECB5}"/>
              </a:ext>
            </a:extLst>
          </p:cNvPr>
          <p:cNvSpPr txBox="1"/>
          <p:nvPr/>
        </p:nvSpPr>
        <p:spPr>
          <a:xfrm>
            <a:off x="6872140" y="1074509"/>
            <a:ext cx="5109328" cy="5078313"/>
          </a:xfrm>
          <a:prstGeom prst="rect">
            <a:avLst/>
          </a:prstGeom>
          <a:noFill/>
        </p:spPr>
        <p:txBody>
          <a:bodyPr wrap="square" rtlCol="0">
            <a:spAutoFit/>
          </a:bodyPr>
          <a:lstStyle/>
          <a:p>
            <a:pPr algn="ctr"/>
            <a:r>
              <a:rPr lang="pt-BR" sz="3600" dirty="0"/>
              <a:t>O gradiente descendente está por trás dos algoritmos mais populares de ML.</a:t>
            </a:r>
          </a:p>
          <a:p>
            <a:pPr algn="ctr"/>
            <a:endParaRPr lang="pt-BR" sz="3600" dirty="0"/>
          </a:p>
          <a:p>
            <a:pPr algn="ctr"/>
            <a:r>
              <a:rPr lang="pt-BR" sz="2400" dirty="0"/>
              <a:t>Regressão linear</a:t>
            </a:r>
          </a:p>
          <a:p>
            <a:pPr algn="ctr"/>
            <a:r>
              <a:rPr lang="pt-BR" sz="2400" dirty="0"/>
              <a:t>Regressão logística e </a:t>
            </a:r>
            <a:r>
              <a:rPr lang="pt-BR" sz="2400" i="1" dirty="0"/>
              <a:t>softmax</a:t>
            </a:r>
          </a:p>
          <a:p>
            <a:pPr algn="ctr"/>
            <a:r>
              <a:rPr lang="pt-BR" sz="2400" dirty="0"/>
              <a:t>Redes neurais </a:t>
            </a:r>
            <a:r>
              <a:rPr lang="pt-BR" sz="2400" i="1" dirty="0"/>
              <a:t>multilayer perceptron</a:t>
            </a:r>
            <a:endParaRPr lang="pt-BR" sz="2400" dirty="0"/>
          </a:p>
          <a:p>
            <a:pPr algn="ctr"/>
            <a:r>
              <a:rPr lang="pt-BR" sz="2400" i="1" dirty="0" err="1"/>
              <a:t>Deep</a:t>
            </a:r>
            <a:r>
              <a:rPr lang="pt-BR" sz="2400" i="1" dirty="0"/>
              <a:t> learning </a:t>
            </a:r>
            <a:r>
              <a:rPr lang="pt-BR" sz="2400" dirty="0"/>
              <a:t>(</a:t>
            </a:r>
            <a:r>
              <a:rPr lang="pt-BR" sz="2400" dirty="0" err="1"/>
              <a:t>CNNs</a:t>
            </a:r>
            <a:r>
              <a:rPr lang="pt-BR" sz="2400" dirty="0"/>
              <a:t>, </a:t>
            </a:r>
            <a:r>
              <a:rPr lang="pt-BR" sz="2400" dirty="0" err="1"/>
              <a:t>RNNs</a:t>
            </a:r>
            <a:r>
              <a:rPr lang="pt-BR" sz="2400" dirty="0"/>
              <a:t>, </a:t>
            </a:r>
            <a:r>
              <a:rPr lang="pt-BR" sz="2400" i="1" dirty="0" err="1"/>
              <a:t>Tranformers</a:t>
            </a:r>
            <a:r>
              <a:rPr lang="pt-BR" sz="2400" dirty="0"/>
              <a:t>)</a:t>
            </a:r>
          </a:p>
          <a:p>
            <a:pPr algn="ctr"/>
            <a:r>
              <a:rPr lang="pt-BR" sz="2400" dirty="0"/>
              <a:t>Máquinas de vetores de suporte (SVM)</a:t>
            </a:r>
            <a:endParaRPr lang="en-US" sz="3600" dirty="0"/>
          </a:p>
        </p:txBody>
      </p:sp>
    </p:spTree>
    <p:extLst>
      <p:ext uri="{BB962C8B-B14F-4D97-AF65-F5344CB8AC3E}">
        <p14:creationId xmlns:p14="http://schemas.microsoft.com/office/powerpoint/2010/main" val="31810694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FA39D5-1A7D-603C-1F90-C3C1D9D9D79C}"/>
              </a:ext>
            </a:extLst>
          </p:cNvPr>
          <p:cNvSpPr>
            <a:spLocks noGrp="1"/>
          </p:cNvSpPr>
          <p:nvPr>
            <p:ph idx="1"/>
          </p:nvPr>
        </p:nvSpPr>
        <p:spPr>
          <a:xfrm>
            <a:off x="838200" y="1799220"/>
            <a:ext cx="10515600" cy="3259559"/>
          </a:xfrm>
        </p:spPr>
        <p:txBody>
          <a:bodyPr/>
          <a:lstStyle/>
          <a:p>
            <a:pPr marL="0" indent="0" algn="ctr">
              <a:buNone/>
            </a:pPr>
            <a:r>
              <a:rPr lang="pt-BR" sz="5400" dirty="0"/>
              <a:t>Como o gradiente descendente é a abordagem mais usada com grande parte dos algoritmos de ML, vamos focar no seu aprendizado.</a:t>
            </a:r>
            <a:endParaRPr lang="en-US" sz="5400" dirty="0"/>
          </a:p>
        </p:txBody>
      </p:sp>
    </p:spTree>
    <p:extLst>
      <p:ext uri="{BB962C8B-B14F-4D97-AF65-F5344CB8AC3E}">
        <p14:creationId xmlns:p14="http://schemas.microsoft.com/office/powerpoint/2010/main" val="31950105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225A9-57A2-5D4C-C592-FC96B4AB25F3}"/>
              </a:ext>
            </a:extLst>
          </p:cNvPr>
          <p:cNvSpPr>
            <a:spLocks noGrp="1"/>
          </p:cNvSpPr>
          <p:nvPr>
            <p:ph type="title"/>
          </p:nvPr>
        </p:nvSpPr>
        <p:spPr/>
        <p:txBody>
          <a:bodyPr/>
          <a:lstStyle/>
          <a:p>
            <a:r>
              <a:rPr lang="pt-BR" dirty="0"/>
              <a:t>Superfície de erro</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4E2E11B-9833-18C1-2157-693893D8C114}"/>
                  </a:ext>
                </a:extLst>
              </p:cNvPr>
              <p:cNvSpPr>
                <a:spLocks noGrp="1"/>
              </p:cNvSpPr>
              <p:nvPr>
                <p:ph idx="1"/>
              </p:nvPr>
            </p:nvSpPr>
            <p:spPr>
              <a:xfrm>
                <a:off x="5294489" y="1825624"/>
                <a:ext cx="6897511" cy="5032375"/>
              </a:xfrm>
            </p:spPr>
            <p:txBody>
              <a:bodyPr>
                <a:normAutofit/>
              </a:bodyPr>
              <a:lstStyle/>
              <a:p>
                <a:r>
                  <a:rPr lang="pt-BR" dirty="0"/>
                  <a:t>Antes de discutirmos como o gradiente descendente funciona, precisamos entender o que é a </a:t>
                </a:r>
                <a:r>
                  <a:rPr lang="pt-BR" b="1" dirty="0"/>
                  <a:t>superfície de erro</a:t>
                </a:r>
                <a:r>
                  <a:rPr lang="pt-BR" dirty="0"/>
                  <a:t>.</a:t>
                </a:r>
              </a:p>
              <a:p>
                <a:r>
                  <a:rPr lang="pt-BR" dirty="0"/>
                  <a:t>Ela é uma </a:t>
                </a:r>
                <a:r>
                  <a:rPr lang="pt-BR" b="1" dirty="0">
                    <a:solidFill>
                      <a:schemeClr val="accent2"/>
                    </a:solidFill>
                  </a:rPr>
                  <a:t>representação geométrica e visual da função de erro.</a:t>
                </a:r>
              </a:p>
              <a:p>
                <a:r>
                  <a:rPr lang="pt-BR" dirty="0"/>
                  <a:t>Ela mostra o quão "errado" o modelo está </a:t>
                </a:r>
                <a:r>
                  <a:rPr lang="pt-BR" b="1" dirty="0"/>
                  <a:t>para cada combinação possível de pesos</a:t>
                </a:r>
                <a:endParaRPr lang="pt-BR" dirty="0"/>
              </a:p>
              <a:p>
                <a:pPr marL="0" indent="0">
                  <a:buNone/>
                </a:pPr>
                <a14:m>
                  <m:oMathPara xmlns:m="http://schemas.openxmlformats.org/officeDocument/2006/math">
                    <m:oMath>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𝑁</m:t>
                          </m:r>
                        </m:den>
                      </m:f>
                      <m:sSup>
                        <m:sSupPr>
                          <m:ctrlPr>
                            <a:rPr lang="pt-BR" b="1" i="1">
                              <a:latin typeface="Cambria Math" panose="02040503050406030204" pitchFamily="18" charset="0"/>
                            </a:rPr>
                          </m:ctrlPr>
                        </m:sSupPr>
                        <m:e>
                          <m:d>
                            <m:dPr>
                              <m:begChr m:val="‖"/>
                              <m:endChr m:val="‖"/>
                              <m:ctrlPr>
                                <a:rPr lang="pt-BR" b="1" i="1">
                                  <a:latin typeface="Cambria Math" panose="02040503050406030204" pitchFamily="18" charset="0"/>
                                </a:rPr>
                              </m:ctrlPr>
                            </m:dPr>
                            <m:e>
                              <m:r>
                                <a:rPr lang="pt-BR" b="1" i="1">
                                  <a:latin typeface="Cambria Math" panose="02040503050406030204" pitchFamily="18" charset="0"/>
                                </a:rPr>
                                <m:t>𝒚</m:t>
                              </m:r>
                              <m:r>
                                <a:rPr lang="pt-BR" i="1">
                                  <a:latin typeface="Cambria Math" panose="02040503050406030204" pitchFamily="18" charset="0"/>
                                </a:rPr>
                                <m:t> −</m:t>
                              </m:r>
                              <m:r>
                                <a:rPr lang="pt-BR" b="1" i="1">
                                  <a:latin typeface="Cambria Math" panose="02040503050406030204" pitchFamily="18" charset="0"/>
                                </a:rPr>
                                <m:t>𝑿𝒂</m:t>
                              </m:r>
                            </m:e>
                          </m:d>
                        </m:e>
                        <m:sup>
                          <m:r>
                            <a:rPr lang="pt-BR" i="1">
                              <a:latin typeface="Cambria Math" panose="02040503050406030204" pitchFamily="18" charset="0"/>
                            </a:rPr>
                            <m:t>2</m:t>
                          </m:r>
                        </m:sup>
                      </m:sSup>
                    </m:oMath>
                  </m:oMathPara>
                </a14:m>
                <a:endParaRPr lang="pt-BR" dirty="0"/>
              </a:p>
              <a:p>
                <a:r>
                  <a:rPr lang="pt-BR" dirty="0"/>
                  <a:t>A plotamos variando os pesos e anotando os respectivos erros.</a:t>
                </a:r>
              </a:p>
            </p:txBody>
          </p:sp>
        </mc:Choice>
        <mc:Fallback xmlns="">
          <p:sp>
            <p:nvSpPr>
              <p:cNvPr id="3" name="Content Placeholder 2">
                <a:extLst>
                  <a:ext uri="{FF2B5EF4-FFF2-40B4-BE49-F238E27FC236}">
                    <a16:creationId xmlns="" xmlns:a16="http://schemas.microsoft.com/office/drawing/2014/main" xmlns:a14="http://schemas.microsoft.com/office/drawing/2010/main" id="{84E2E11B-9833-18C1-2157-693893D8C114}"/>
                  </a:ext>
                </a:extLst>
              </p:cNvPr>
              <p:cNvSpPr>
                <a:spLocks noGrp="1" noRot="1" noChangeAspect="1" noMove="1" noResize="1" noEditPoints="1" noAdjustHandles="1" noChangeArrowheads="1" noChangeShapeType="1" noTextEdit="1"/>
              </p:cNvSpPr>
              <p:nvPr>
                <p:ph idx="1"/>
              </p:nvPr>
            </p:nvSpPr>
            <p:spPr>
              <a:xfrm>
                <a:off x="5294489" y="1825624"/>
                <a:ext cx="6897511" cy="5032375"/>
              </a:xfrm>
              <a:blipFill rotWithShape="0">
                <a:blip r:embed="rId3"/>
                <a:stretch>
                  <a:fillRect l="-1592" t="-1937" r="-2299"/>
                </a:stretch>
              </a:blipFill>
            </p:spPr>
            <p:txBody>
              <a:bodyPr/>
              <a:lstStyle/>
              <a:p>
                <a:r>
                  <a:rPr lang="pt-BR">
                    <a:noFill/>
                  </a:rPr>
                  <a:t> </a:t>
                </a:r>
              </a:p>
            </p:txBody>
          </p:sp>
        </mc:Fallback>
      </mc:AlternateContent>
      <p:pic>
        <p:nvPicPr>
          <p:cNvPr id="4" name="Imagem 3">
            <a:extLst>
              <a:ext uri="{FF2B5EF4-FFF2-40B4-BE49-F238E27FC236}">
                <a16:creationId xmlns:a16="http://schemas.microsoft.com/office/drawing/2014/main" id="{A426D12A-684D-3903-6005-F2BFA77FCF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7365" y="1825624"/>
            <a:ext cx="4288193" cy="4257008"/>
          </a:xfrm>
          <a:prstGeom prst="rect">
            <a:avLst/>
          </a:prstGeom>
        </p:spPr>
      </p:pic>
      <p:sp>
        <p:nvSpPr>
          <p:cNvPr id="5" name="CaixaDeTexto 4"/>
          <p:cNvSpPr txBox="1"/>
          <p:nvPr/>
        </p:nvSpPr>
        <p:spPr>
          <a:xfrm>
            <a:off x="0" y="6581000"/>
            <a:ext cx="5034223" cy="276999"/>
          </a:xfrm>
          <a:prstGeom prst="rect">
            <a:avLst/>
          </a:prstGeom>
          <a:noFill/>
        </p:spPr>
        <p:txBody>
          <a:bodyPr wrap="square" rtlCol="0">
            <a:spAutoFit/>
          </a:bodyPr>
          <a:lstStyle/>
          <a:p>
            <a:r>
              <a:rPr lang="pt-BR" sz="1200" b="1" dirty="0"/>
              <a:t>OBS</a:t>
            </a:r>
            <a:r>
              <a:rPr lang="pt-BR" sz="1200" dirty="0"/>
              <a:t>.: Superfície de erro para um função hipótese com um atributo e um peso.</a:t>
            </a:r>
          </a:p>
        </p:txBody>
      </p:sp>
    </p:spTree>
    <p:extLst>
      <p:ext uri="{BB962C8B-B14F-4D97-AF65-F5344CB8AC3E}">
        <p14:creationId xmlns:p14="http://schemas.microsoft.com/office/powerpoint/2010/main" val="29565492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FCE54-F995-CA0C-6DE1-FC9E520BD8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049ABA-9D79-2DC4-D0DD-14B8C59177C0}"/>
              </a:ext>
            </a:extLst>
          </p:cNvPr>
          <p:cNvSpPr>
            <a:spLocks noGrp="1"/>
          </p:cNvSpPr>
          <p:nvPr>
            <p:ph type="title"/>
          </p:nvPr>
        </p:nvSpPr>
        <p:spPr/>
        <p:txBody>
          <a:bodyPr/>
          <a:lstStyle/>
          <a:p>
            <a:r>
              <a:rPr lang="pt-BR" dirty="0"/>
              <a:t>Superfície de erro</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4459D3A-818A-5DAE-535B-3F207C128390}"/>
                  </a:ext>
                </a:extLst>
              </p:cNvPr>
              <p:cNvSpPr>
                <a:spLocks noGrp="1"/>
              </p:cNvSpPr>
              <p:nvPr>
                <p:ph idx="1"/>
              </p:nvPr>
            </p:nvSpPr>
            <p:spPr>
              <a:xfrm>
                <a:off x="5118755" y="1825624"/>
                <a:ext cx="7073245" cy="5032375"/>
              </a:xfrm>
            </p:spPr>
            <p:txBody>
              <a:bodyPr>
                <a:normAutofit/>
              </a:bodyPr>
              <a:lstStyle/>
              <a:p>
                <a:r>
                  <a:rPr lang="pt-BR" dirty="0"/>
                  <a:t>O ponto mais baixo da superfície nos dá o vetor de </a:t>
                </a:r>
                <a:r>
                  <a:rPr lang="pt-BR" b="1" dirty="0"/>
                  <a:t>pesos ótimo, </a:t>
                </a:r>
                <a14:m>
                  <m:oMath xmlns:m="http://schemas.openxmlformats.org/officeDocument/2006/math">
                    <m:sSub>
                      <m:sSubPr>
                        <m:ctrlPr>
                          <a:rPr lang="pt-BR" b="1" i="1">
                            <a:latin typeface="Cambria Math" panose="02040503050406030204" pitchFamily="18" charset="0"/>
                          </a:rPr>
                        </m:ctrlPr>
                      </m:sSubPr>
                      <m:e>
                        <m:r>
                          <a:rPr lang="pt-BR" b="1" i="1">
                            <a:latin typeface="Cambria Math" panose="02040503050406030204" pitchFamily="18" charset="0"/>
                          </a:rPr>
                          <m:t>𝒂</m:t>
                        </m:r>
                      </m:e>
                      <m:sub>
                        <m:r>
                          <a:rPr lang="pt-BR">
                            <a:latin typeface="Cambria Math" panose="02040503050406030204" pitchFamily="18" charset="0"/>
                          </a:rPr>
                          <m:t>ó</m:t>
                        </m:r>
                        <m:r>
                          <m:rPr>
                            <m:sty m:val="p"/>
                          </m:rPr>
                          <a:rPr lang="pt-BR">
                            <a:latin typeface="Cambria Math" panose="02040503050406030204" pitchFamily="18" charset="0"/>
                          </a:rPr>
                          <m:t>timo</m:t>
                        </m:r>
                      </m:sub>
                    </m:sSub>
                  </m:oMath>
                </a14:m>
                <a:r>
                  <a:rPr lang="pt-BR" dirty="0"/>
                  <a:t>.</a:t>
                </a:r>
              </a:p>
              <a:p>
                <a:r>
                  <a:rPr lang="pt-BR" dirty="0"/>
                  <a:t>Devido ao EQM ter uma forma quadrática,</a:t>
                </a:r>
                <a:endParaRPr lang="pt-BR" b="1" dirty="0"/>
              </a:p>
              <a:p>
                <a:pPr marL="0" indent="0" algn="ctr">
                  <a:buNone/>
                </a:pPr>
                <a14:m>
                  <m:oMathPara xmlns:m="http://schemas.openxmlformats.org/officeDocument/2006/math">
                    <m:oMath>
                      <m:sSup>
                        <m:sSupPr>
                          <m:ctrlPr>
                            <a:rPr lang="pt-BR" sz="2400" i="1">
                              <a:latin typeface="Cambria Math" panose="02040503050406030204" pitchFamily="18" charset="0"/>
                            </a:rPr>
                          </m:ctrlPr>
                        </m:sSupPr>
                        <m:e>
                          <m:sSub>
                            <m:sSubPr>
                              <m:ctrlPr>
                                <a:rPr lang="pt-BR" sz="2400" i="1">
                                  <a:latin typeface="Cambria Math" panose="02040503050406030204" pitchFamily="18" charset="0"/>
                                </a:rPr>
                              </m:ctrlPr>
                            </m:sSubPr>
                            <m:e>
                              <m:r>
                                <a:rPr lang="pt-BR" sz="2400" i="1">
                                  <a:latin typeface="Cambria Math" panose="02040503050406030204" pitchFamily="18" charset="0"/>
                                </a:rPr>
                                <m:t>𝐽</m:t>
                              </m:r>
                            </m:e>
                            <m:sub>
                              <m:r>
                                <a:rPr lang="pt-BR" sz="2400" i="1">
                                  <a:latin typeface="Cambria Math" panose="02040503050406030204" pitchFamily="18" charset="0"/>
                                </a:rPr>
                                <m:t>𝑒</m:t>
                              </m:r>
                            </m:sub>
                          </m:sSub>
                          <m:d>
                            <m:dPr>
                              <m:ctrlPr>
                                <a:rPr lang="pt-BR" sz="2400" b="1" i="1">
                                  <a:latin typeface="Cambria Math" panose="02040503050406030204" pitchFamily="18" charset="0"/>
                                </a:rPr>
                              </m:ctrlPr>
                            </m:dPr>
                            <m:e>
                              <m:r>
                                <a:rPr lang="pt-BR" sz="2400" b="1" i="1">
                                  <a:latin typeface="Cambria Math" panose="02040503050406030204" pitchFamily="18" charset="0"/>
                                </a:rPr>
                                <m:t>𝒂</m:t>
                              </m:r>
                            </m:e>
                          </m:d>
                          <m:r>
                            <a:rPr lang="pt-BR" sz="2400" i="1">
                              <a:latin typeface="Cambria Math" panose="02040503050406030204" pitchFamily="18" charset="0"/>
                            </a:rPr>
                            <m:t>=</m:t>
                          </m:r>
                          <m:f>
                            <m:fPr>
                              <m:ctrlPr>
                                <a:rPr lang="pt-BR" sz="2000" i="1">
                                  <a:latin typeface="Cambria Math" panose="02040503050406030204" pitchFamily="18" charset="0"/>
                                </a:rPr>
                              </m:ctrlPr>
                            </m:fPr>
                            <m:num>
                              <m:r>
                                <a:rPr lang="pt-BR" sz="2000" i="1">
                                  <a:latin typeface="Cambria Math" panose="02040503050406030204" pitchFamily="18" charset="0"/>
                                </a:rPr>
                                <m:t>1</m:t>
                              </m:r>
                            </m:num>
                            <m:den>
                              <m:r>
                                <a:rPr lang="pt-BR" sz="2000" i="1">
                                  <a:latin typeface="Cambria Math" panose="02040503050406030204" pitchFamily="18" charset="0"/>
                                </a:rPr>
                                <m:t>𝑁</m:t>
                              </m:r>
                            </m:den>
                          </m:f>
                          <m:d>
                            <m:dPr>
                              <m:begChr m:val="‖"/>
                              <m:endChr m:val="‖"/>
                              <m:ctrlPr>
                                <a:rPr lang="pt-BR" sz="2000" b="1" i="1">
                                  <a:latin typeface="Cambria Math" panose="02040503050406030204" pitchFamily="18" charset="0"/>
                                </a:rPr>
                              </m:ctrlPr>
                            </m:dPr>
                            <m:e>
                              <m:r>
                                <a:rPr lang="pt-BR" sz="2000" b="1" i="1">
                                  <a:latin typeface="Cambria Math" panose="02040503050406030204" pitchFamily="18" charset="0"/>
                                </a:rPr>
                                <m:t>𝒚</m:t>
                              </m:r>
                              <m:r>
                                <a:rPr lang="pt-BR" sz="2000" i="1">
                                  <a:latin typeface="Cambria Math" panose="02040503050406030204" pitchFamily="18" charset="0"/>
                                </a:rPr>
                                <m:t> −</m:t>
                              </m:r>
                              <m:r>
                                <a:rPr lang="pt-BR" sz="2000" b="1" i="1">
                                  <a:latin typeface="Cambria Math" panose="02040503050406030204" pitchFamily="18" charset="0"/>
                                </a:rPr>
                                <m:t>𝑿𝒂</m:t>
                              </m:r>
                            </m:e>
                          </m:d>
                        </m:e>
                        <m:sup>
                          <m:r>
                            <a:rPr lang="pt-BR" sz="2000" i="1">
                              <a:latin typeface="Cambria Math" panose="02040503050406030204" pitchFamily="18" charset="0"/>
                            </a:rPr>
                            <m:t>2</m:t>
                          </m:r>
                        </m:sup>
                      </m:sSup>
                    </m:oMath>
                  </m:oMathPara>
                </a14:m>
                <a:endParaRPr lang="pt-BR" sz="2400" i="1" dirty="0">
                  <a:latin typeface="Cambria Math" panose="02040503050406030204" pitchFamily="18" charset="0"/>
                </a:endParaRPr>
              </a:p>
              <a:p>
                <a:pPr marL="0" indent="0" algn="ctr">
                  <a:buNone/>
                </a:pPr>
                <a:r>
                  <a:rPr lang="pt-BR" sz="2400" dirty="0"/>
                  <a:t>= </a:t>
                </a:r>
                <a14:m>
                  <m:oMath xmlns:m="http://schemas.openxmlformats.org/officeDocument/2006/math">
                    <m:f>
                      <m:fPr>
                        <m:ctrlPr>
                          <a:rPr lang="pt-BR" sz="2400" i="1">
                            <a:latin typeface="Cambria Math" panose="02040503050406030204" pitchFamily="18" charset="0"/>
                          </a:rPr>
                        </m:ctrlPr>
                      </m:fPr>
                      <m:num>
                        <m:r>
                          <a:rPr lang="pt-BR" sz="2400" i="1">
                            <a:latin typeface="Cambria Math" panose="02040503050406030204" pitchFamily="18" charset="0"/>
                          </a:rPr>
                          <m:t>1</m:t>
                        </m:r>
                      </m:num>
                      <m:den>
                        <m:r>
                          <a:rPr lang="pt-BR" sz="2400" i="1">
                            <a:latin typeface="Cambria Math" panose="02040503050406030204" pitchFamily="18" charset="0"/>
                          </a:rPr>
                          <m:t>𝑁</m:t>
                        </m:r>
                      </m:den>
                    </m:f>
                    <m:d>
                      <m:dPr>
                        <m:ctrlPr>
                          <a:rPr lang="pt-BR" sz="2400" b="1" i="1" dirty="0">
                            <a:latin typeface="Cambria Math" panose="02040503050406030204" pitchFamily="18" charset="0"/>
                          </a:rPr>
                        </m:ctrlPr>
                      </m:dPr>
                      <m:e>
                        <m:sSup>
                          <m:sSupPr>
                            <m:ctrlPr>
                              <a:rPr lang="pt-BR" sz="2400" b="1" i="1" dirty="0">
                                <a:latin typeface="Cambria Math" panose="02040503050406030204" pitchFamily="18" charset="0"/>
                              </a:rPr>
                            </m:ctrlPr>
                          </m:sSupPr>
                          <m:e>
                            <m:r>
                              <a:rPr lang="pt-BR" sz="2400" b="1" i="1" dirty="0">
                                <a:latin typeface="Cambria Math" panose="02040503050406030204" pitchFamily="18" charset="0"/>
                              </a:rPr>
                              <m:t>𝒚</m:t>
                            </m:r>
                          </m:e>
                          <m:sup>
                            <m:r>
                              <a:rPr lang="pt-BR" sz="2400" i="1" dirty="0">
                                <a:latin typeface="Cambria Math" panose="02040503050406030204" pitchFamily="18" charset="0"/>
                              </a:rPr>
                              <m:t>𝑇</m:t>
                            </m:r>
                          </m:sup>
                        </m:sSup>
                        <m:r>
                          <m:rPr>
                            <m:nor/>
                          </m:rPr>
                          <a:rPr lang="pt-BR" sz="2400" b="1" i="0" dirty="0"/>
                          <m:t> </m:t>
                        </m:r>
                        <m:r>
                          <a:rPr lang="pt-BR" sz="2400" b="1" i="1">
                            <a:latin typeface="Cambria Math" panose="02040503050406030204" pitchFamily="18" charset="0"/>
                          </a:rPr>
                          <m:t>𝒚</m:t>
                        </m:r>
                        <m:r>
                          <m:rPr>
                            <m:nor/>
                          </m:rPr>
                          <a:rPr lang="nl-BE" sz="2400" i="0" dirty="0"/>
                          <m:t> − </m:t>
                        </m:r>
                        <m:sSup>
                          <m:sSupPr>
                            <m:ctrlPr>
                              <a:rPr lang="pt-BR" sz="2400" b="1" i="1" dirty="0">
                                <a:latin typeface="Cambria Math" panose="02040503050406030204" pitchFamily="18" charset="0"/>
                              </a:rPr>
                            </m:ctrlPr>
                          </m:sSupPr>
                          <m:e>
                            <m:sSup>
                              <m:sSupPr>
                                <m:ctrlPr>
                                  <a:rPr lang="pt-BR" sz="2400" b="1" i="1" dirty="0">
                                    <a:latin typeface="Cambria Math" panose="02040503050406030204" pitchFamily="18" charset="0"/>
                                  </a:rPr>
                                </m:ctrlPr>
                              </m:sSupPr>
                              <m:e>
                                <m:r>
                                  <a:rPr lang="pt-BR" sz="2400" b="1" i="1" dirty="0">
                                    <a:latin typeface="Cambria Math" panose="02040503050406030204" pitchFamily="18" charset="0"/>
                                  </a:rPr>
                                  <m:t>𝒚</m:t>
                                </m:r>
                              </m:e>
                              <m:sup>
                                <m:r>
                                  <a:rPr lang="pt-BR" sz="2400" i="1" dirty="0">
                                    <a:latin typeface="Cambria Math" panose="02040503050406030204" pitchFamily="18" charset="0"/>
                                  </a:rPr>
                                  <m:t>𝑇</m:t>
                                </m:r>
                              </m:sup>
                            </m:sSup>
                            <m:r>
                              <a:rPr lang="pt-BR" sz="2400" b="1" i="1">
                                <a:latin typeface="Cambria Math" panose="02040503050406030204" pitchFamily="18" charset="0"/>
                              </a:rPr>
                              <m:t>𝑿</m:t>
                            </m:r>
                            <m:r>
                              <a:rPr lang="pt-BR" sz="2400" b="1" i="1" dirty="0">
                                <a:latin typeface="Cambria Math" panose="02040503050406030204" pitchFamily="18" charset="0"/>
                              </a:rPr>
                              <m:t>𝒂</m:t>
                            </m:r>
                          </m:e>
                          <m:sup>
                            <m:r>
                              <a:rPr lang="pt-BR" sz="2400" i="1" dirty="0">
                                <a:latin typeface="Cambria Math" panose="02040503050406030204" pitchFamily="18" charset="0"/>
                              </a:rPr>
                              <m:t>𝑇</m:t>
                            </m:r>
                          </m:sup>
                        </m:sSup>
                        <m:r>
                          <m:rPr>
                            <m:nor/>
                          </m:rPr>
                          <a:rPr lang="nl-BE" sz="2400" i="0" dirty="0"/>
                          <m:t>− </m:t>
                        </m:r>
                        <m:sSup>
                          <m:sSupPr>
                            <m:ctrlPr>
                              <a:rPr lang="pt-BR" sz="2400" b="1" i="1">
                                <a:latin typeface="Cambria Math" panose="02040503050406030204" pitchFamily="18" charset="0"/>
                              </a:rPr>
                            </m:ctrlPr>
                          </m:sSupPr>
                          <m:e>
                            <m:r>
                              <a:rPr lang="pt-BR" sz="2400" b="1" i="1">
                                <a:latin typeface="Cambria Math" panose="02040503050406030204" pitchFamily="18" charset="0"/>
                              </a:rPr>
                              <m:t>𝒂</m:t>
                            </m:r>
                          </m:e>
                          <m:sup>
                            <m:r>
                              <a:rPr lang="pt-BR" sz="2400" i="1">
                                <a:latin typeface="Cambria Math" panose="02040503050406030204" pitchFamily="18" charset="0"/>
                              </a:rPr>
                              <m:t>𝑇</m:t>
                            </m:r>
                          </m:sup>
                        </m:sSup>
                        <m:sSup>
                          <m:sSupPr>
                            <m:ctrlPr>
                              <a:rPr lang="pt-BR" sz="2400" b="1" i="1">
                                <a:latin typeface="Cambria Math" panose="02040503050406030204" pitchFamily="18" charset="0"/>
                              </a:rPr>
                            </m:ctrlPr>
                          </m:sSupPr>
                          <m:e>
                            <m:r>
                              <a:rPr lang="pt-BR" sz="2400" b="1" i="1">
                                <a:latin typeface="Cambria Math" panose="02040503050406030204" pitchFamily="18" charset="0"/>
                              </a:rPr>
                              <m:t>𝑿</m:t>
                            </m:r>
                          </m:e>
                          <m:sup>
                            <m:r>
                              <a:rPr lang="pt-BR" sz="2400" i="1">
                                <a:latin typeface="Cambria Math" panose="02040503050406030204" pitchFamily="18" charset="0"/>
                              </a:rPr>
                              <m:t>𝑇</m:t>
                            </m:r>
                          </m:sup>
                        </m:sSup>
                        <m:r>
                          <m:rPr>
                            <m:nor/>
                          </m:rPr>
                          <a:rPr lang="pt-BR" sz="2400" b="1" i="0" dirty="0"/>
                          <m:t> </m:t>
                        </m:r>
                        <m:r>
                          <a:rPr lang="pt-BR" sz="2400" b="1" i="1">
                            <a:latin typeface="Cambria Math" panose="02040503050406030204" pitchFamily="18" charset="0"/>
                          </a:rPr>
                          <m:t>𝒚</m:t>
                        </m:r>
                        <m:r>
                          <m:rPr>
                            <m:nor/>
                          </m:rPr>
                          <a:rPr lang="nl-BE" sz="2400" i="0" dirty="0"/>
                          <m:t> + </m:t>
                        </m:r>
                        <m:limLow>
                          <m:limLowPr>
                            <m:ctrlPr>
                              <a:rPr lang="pt-BR" sz="2400" b="1" i="1">
                                <a:latin typeface="Cambria Math" panose="02040503050406030204" pitchFamily="18" charset="0"/>
                              </a:rPr>
                            </m:ctrlPr>
                          </m:limLowPr>
                          <m:e>
                            <m:groupChr>
                              <m:groupChrPr>
                                <m:chr m:val="⏟"/>
                                <m:pos m:val="bot"/>
                                <m:vertJc m:val="top"/>
                                <m:ctrlPr>
                                  <a:rPr lang="pt-BR" sz="2400" b="1" i="1">
                                    <a:latin typeface="Cambria Math" panose="02040503050406030204" pitchFamily="18" charset="0"/>
                                  </a:rPr>
                                </m:ctrlPr>
                              </m:groupChrPr>
                              <m:e>
                                <m:sSup>
                                  <m:sSupPr>
                                    <m:ctrlPr>
                                      <a:rPr lang="pt-BR" sz="2400" b="1" i="1">
                                        <a:latin typeface="Cambria Math" panose="02040503050406030204" pitchFamily="18" charset="0"/>
                                      </a:rPr>
                                    </m:ctrlPr>
                                  </m:sSupPr>
                                  <m:e>
                                    <m:r>
                                      <a:rPr lang="pt-BR" sz="2400" b="1" i="1">
                                        <a:latin typeface="Cambria Math" panose="02040503050406030204" pitchFamily="18" charset="0"/>
                                      </a:rPr>
                                      <m:t>𝒂</m:t>
                                    </m:r>
                                  </m:e>
                                  <m:sup>
                                    <m:r>
                                      <a:rPr lang="pt-BR" sz="2400" i="1">
                                        <a:latin typeface="Cambria Math" panose="02040503050406030204" pitchFamily="18" charset="0"/>
                                      </a:rPr>
                                      <m:t>𝑇</m:t>
                                    </m:r>
                                  </m:sup>
                                </m:sSup>
                                <m:sSup>
                                  <m:sSupPr>
                                    <m:ctrlPr>
                                      <a:rPr lang="pt-BR" sz="2400" b="1" i="1">
                                        <a:latin typeface="Cambria Math" panose="02040503050406030204" pitchFamily="18" charset="0"/>
                                      </a:rPr>
                                    </m:ctrlPr>
                                  </m:sSupPr>
                                  <m:e>
                                    <m:r>
                                      <a:rPr lang="pt-BR" sz="2400" b="1" i="1">
                                        <a:latin typeface="Cambria Math" panose="02040503050406030204" pitchFamily="18" charset="0"/>
                                      </a:rPr>
                                      <m:t>𝑿</m:t>
                                    </m:r>
                                  </m:e>
                                  <m:sup>
                                    <m:r>
                                      <a:rPr lang="pt-BR" sz="2400" i="1">
                                        <a:latin typeface="Cambria Math" panose="02040503050406030204" pitchFamily="18" charset="0"/>
                                      </a:rPr>
                                      <m:t>𝑇</m:t>
                                    </m:r>
                                  </m:sup>
                                </m:sSup>
                                <m:r>
                                  <a:rPr lang="pt-BR" sz="2400" b="1" i="1">
                                    <a:latin typeface="Cambria Math" panose="02040503050406030204" pitchFamily="18" charset="0"/>
                                  </a:rPr>
                                  <m:t>𝑿𝒂</m:t>
                                </m:r>
                              </m:e>
                            </m:groupChr>
                          </m:e>
                          <m:lim>
                            <m:sSup>
                              <m:sSupPr>
                                <m:ctrlPr>
                                  <a:rPr lang="pt-BR" sz="2400" b="1" i="1">
                                    <a:latin typeface="Cambria Math" panose="02040503050406030204" pitchFamily="18" charset="0"/>
                                  </a:rPr>
                                </m:ctrlPr>
                              </m:sSupPr>
                              <m:e>
                                <m:d>
                                  <m:dPr>
                                    <m:begChr m:val="‖"/>
                                    <m:endChr m:val="‖"/>
                                    <m:ctrlPr>
                                      <a:rPr lang="pt-BR" sz="2400" b="1" i="1">
                                        <a:latin typeface="Cambria Math" panose="02040503050406030204" pitchFamily="18" charset="0"/>
                                      </a:rPr>
                                    </m:ctrlPr>
                                  </m:dPr>
                                  <m:e>
                                    <m:r>
                                      <a:rPr lang="pt-BR" sz="2400" b="1" i="1">
                                        <a:latin typeface="Cambria Math" panose="02040503050406030204" pitchFamily="18" charset="0"/>
                                      </a:rPr>
                                      <m:t>𝑿𝒂</m:t>
                                    </m:r>
                                  </m:e>
                                </m:d>
                              </m:e>
                              <m:sup>
                                <m:r>
                                  <a:rPr lang="pt-BR" sz="2400" i="1">
                                    <a:latin typeface="Cambria Math" panose="02040503050406030204" pitchFamily="18" charset="0"/>
                                  </a:rPr>
                                  <m:t>2</m:t>
                                </m:r>
                              </m:sup>
                            </m:sSup>
                            <m:r>
                              <a:rPr lang="pt-BR" sz="2400">
                                <a:latin typeface="Cambria Math" panose="02040503050406030204" pitchFamily="18" charset="0"/>
                              </a:rPr>
                              <m:t>≥</m:t>
                            </m:r>
                            <m:r>
                              <a:rPr lang="pt-BR" sz="2400" b="0" i="0" smtClean="0">
                                <a:latin typeface="Cambria Math" panose="02040503050406030204" pitchFamily="18" charset="0"/>
                              </a:rPr>
                              <m:t>0</m:t>
                            </m:r>
                          </m:lim>
                        </m:limLow>
                      </m:e>
                    </m:d>
                    <m:r>
                      <a:rPr lang="pt-BR" sz="2400" b="1" i="1" smtClean="0">
                        <a:latin typeface="Cambria Math" panose="02040503050406030204" pitchFamily="18" charset="0"/>
                      </a:rPr>
                      <m:t>,</m:t>
                    </m:r>
                  </m:oMath>
                </a14:m>
                <a:endParaRPr lang="pt-BR" sz="2400" dirty="0"/>
              </a:p>
              <a:p>
                <a:pPr marL="0" indent="0">
                  <a:buNone/>
                </a:pPr>
                <a:r>
                  <a:rPr lang="pt-BR" dirty="0"/>
                  <a:t>sua superfície de erro </a:t>
                </a:r>
                <a:r>
                  <a:rPr lang="pt-BR" b="1" dirty="0"/>
                  <a:t>terá o formato de uma</a:t>
                </a:r>
                <a:r>
                  <a:rPr lang="pt-BR" dirty="0"/>
                  <a:t> </a:t>
                </a:r>
                <a:r>
                  <a:rPr lang="pt-BR" b="1" dirty="0">
                    <a:solidFill>
                      <a:schemeClr val="accent2"/>
                    </a:solidFill>
                  </a:rPr>
                  <a:t>parábola</a:t>
                </a:r>
                <a:r>
                  <a:rPr lang="pt-BR" dirty="0"/>
                  <a:t>.</a:t>
                </a:r>
              </a:p>
              <a:p>
                <a:r>
                  <a:rPr lang="pt-BR" dirty="0"/>
                  <a:t>Além disso, devido ao termo quadrático ser </a:t>
                </a:r>
                <a:r>
                  <a:rPr lang="pt-BR" b="1" dirty="0">
                    <a:solidFill>
                      <a:srgbClr val="00B0F0"/>
                    </a:solidFill>
                  </a:rPr>
                  <a:t>positivo</a:t>
                </a:r>
                <a:r>
                  <a:rPr lang="pt-BR" dirty="0"/>
                  <a:t>, ela terá a </a:t>
                </a:r>
                <a:r>
                  <a:rPr lang="pt-BR" b="1" dirty="0">
                    <a:solidFill>
                      <a:srgbClr val="7030A0"/>
                    </a:solidFill>
                  </a:rPr>
                  <a:t>concavidade sempre voltada para cima</a:t>
                </a:r>
                <a:r>
                  <a:rPr lang="pt-BR" b="1" dirty="0"/>
                  <a:t>.</a:t>
                </a:r>
              </a:p>
            </p:txBody>
          </p:sp>
        </mc:Choice>
        <mc:Fallback xmlns="">
          <p:sp>
            <p:nvSpPr>
              <p:cNvPr id="3" name="Content Placeholder 2">
                <a:extLst>
                  <a:ext uri="{FF2B5EF4-FFF2-40B4-BE49-F238E27FC236}">
                    <a16:creationId xmlns="" xmlns:a16="http://schemas.microsoft.com/office/drawing/2014/main" xmlns:a14="http://schemas.microsoft.com/office/drawing/2010/main" id="{E4459D3A-818A-5DAE-535B-3F207C128390}"/>
                  </a:ext>
                </a:extLst>
              </p:cNvPr>
              <p:cNvSpPr>
                <a:spLocks noGrp="1" noRot="1" noChangeAspect="1" noMove="1" noResize="1" noEditPoints="1" noAdjustHandles="1" noChangeArrowheads="1" noChangeShapeType="1" noTextEdit="1"/>
              </p:cNvSpPr>
              <p:nvPr>
                <p:ph idx="1"/>
              </p:nvPr>
            </p:nvSpPr>
            <p:spPr>
              <a:xfrm>
                <a:off x="5118755" y="1825624"/>
                <a:ext cx="7073245" cy="5032375"/>
              </a:xfrm>
              <a:blipFill rotWithShape="0">
                <a:blip r:embed="rId3"/>
                <a:stretch>
                  <a:fillRect l="-1810" t="-1937"/>
                </a:stretch>
              </a:blipFill>
            </p:spPr>
            <p:txBody>
              <a:bodyPr/>
              <a:lstStyle/>
              <a:p>
                <a:r>
                  <a:rPr lang="pt-BR">
                    <a:noFill/>
                  </a:rPr>
                  <a:t> </a:t>
                </a:r>
              </a:p>
            </p:txBody>
          </p:sp>
        </mc:Fallback>
      </mc:AlternateContent>
      <p:pic>
        <p:nvPicPr>
          <p:cNvPr id="4" name="Imagem 3">
            <a:extLst>
              <a:ext uri="{FF2B5EF4-FFF2-40B4-BE49-F238E27FC236}">
                <a16:creationId xmlns:a16="http://schemas.microsoft.com/office/drawing/2014/main" id="{C9D697DF-5B23-D1C0-486E-B97AA1B479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7365" y="1825624"/>
            <a:ext cx="4288193" cy="4257008"/>
          </a:xfrm>
          <a:prstGeom prst="rect">
            <a:avLst/>
          </a:prstGeom>
        </p:spPr>
      </p:pic>
      <p:sp>
        <p:nvSpPr>
          <p:cNvPr id="8" name="Rectangle 7">
            <a:extLst>
              <a:ext uri="{FF2B5EF4-FFF2-40B4-BE49-F238E27FC236}">
                <a16:creationId xmlns:a16="http://schemas.microsoft.com/office/drawing/2014/main" id="{2E75DE34-0603-3089-D41E-8F16B6BD358C}"/>
              </a:ext>
            </a:extLst>
          </p:cNvPr>
          <p:cNvSpPr/>
          <p:nvPr/>
        </p:nvSpPr>
        <p:spPr>
          <a:xfrm>
            <a:off x="9889255" y="3773714"/>
            <a:ext cx="1158957" cy="75474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36693623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225A9-57A2-5D4C-C592-FC96B4AB25F3}"/>
              </a:ext>
            </a:extLst>
          </p:cNvPr>
          <p:cNvSpPr>
            <a:spLocks noGrp="1"/>
          </p:cNvSpPr>
          <p:nvPr>
            <p:ph type="title"/>
          </p:nvPr>
        </p:nvSpPr>
        <p:spPr/>
        <p:txBody>
          <a:bodyPr/>
          <a:lstStyle/>
          <a:p>
            <a:r>
              <a:rPr lang="pt-BR" dirty="0"/>
              <a:t>Superfície de erro</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4E2E11B-9833-18C1-2157-693893D8C114}"/>
                  </a:ext>
                </a:extLst>
              </p:cNvPr>
              <p:cNvSpPr>
                <a:spLocks noGrp="1"/>
              </p:cNvSpPr>
              <p:nvPr>
                <p:ph idx="1"/>
              </p:nvPr>
            </p:nvSpPr>
            <p:spPr>
              <a:xfrm>
                <a:off x="5345722" y="1825624"/>
                <a:ext cx="6748868" cy="5032375"/>
              </a:xfrm>
            </p:spPr>
            <p:txBody>
              <a:bodyPr>
                <a:normAutofit/>
              </a:bodyPr>
              <a:lstStyle/>
              <a:p>
                <a:r>
                  <a:rPr lang="pt-BR" noProof="0"/>
                  <a:t>O que isso significa na prática?</a:t>
                </a:r>
              </a:p>
              <a:p>
                <a:pPr lvl="1">
                  <a:buFont typeface="Wingdings" panose="05000000000000000000" pitchFamily="2" charset="2"/>
                  <a:buChar char="§"/>
                </a:pPr>
                <a:r>
                  <a:rPr lang="pt-BR" noProof="0" dirty="0"/>
                  <a:t>A </a:t>
                </a:r>
                <a:r>
                  <a:rPr lang="pt-BR" b="1" noProof="0" dirty="0"/>
                  <a:t>superfície de erro </a:t>
                </a:r>
                <a:r>
                  <a:rPr lang="pt-BR" noProof="0" dirty="0"/>
                  <a:t>tem o formato de uma </a:t>
                </a:r>
                <a:r>
                  <a:rPr lang="pt-BR" b="1" noProof="0" dirty="0">
                    <a:solidFill>
                      <a:srgbClr val="00B0F0"/>
                    </a:solidFill>
                  </a:rPr>
                  <a:t>parábola convexa</a:t>
                </a:r>
                <a:r>
                  <a:rPr lang="pt-BR" b="1" noProof="0" dirty="0"/>
                  <a:t> </a:t>
                </a:r>
                <a:r>
                  <a:rPr lang="pt-BR" noProof="0" dirty="0"/>
                  <a:t>(i.e., formato de uma </a:t>
                </a:r>
                <a:r>
                  <a:rPr lang="pt-BR" b="1" noProof="0" dirty="0"/>
                  <a:t>tigela </a:t>
                </a:r>
                <a:r>
                  <a:rPr lang="pt-BR" noProof="0" dirty="0"/>
                  <a:t>ou </a:t>
                </a:r>
                <a:r>
                  <a:rPr lang="pt-BR" b="1" noProof="0" dirty="0"/>
                  <a:t>vale</a:t>
                </a:r>
                <a:r>
                  <a:rPr lang="pt-BR" noProof="0" dirty="0"/>
                  <a:t>).</a:t>
                </a:r>
              </a:p>
              <a:p>
                <a:pPr lvl="1">
                  <a:buFont typeface="Wingdings" panose="05000000000000000000" pitchFamily="2" charset="2"/>
                  <a:buChar char="§"/>
                </a:pPr>
                <a:r>
                  <a:rPr lang="pt-BR" noProof="0" dirty="0"/>
                  <a:t>Consequentemente, existe apenas </a:t>
                </a:r>
                <a:r>
                  <a:rPr lang="pt-BR" b="1" noProof="0" dirty="0">
                    <a:solidFill>
                      <a:schemeClr val="accent2"/>
                    </a:solidFill>
                  </a:rPr>
                  <a:t>um único </a:t>
                </a:r>
                <a:r>
                  <a:rPr lang="pt-BR" b="1" noProof="0" dirty="0"/>
                  <a:t>ponto mais baixo</a:t>
                </a:r>
                <a:r>
                  <a:rPr lang="pt-BR" noProof="0" dirty="0"/>
                  <a:t> (chamado de </a:t>
                </a:r>
                <a:r>
                  <a:rPr lang="pt-BR" b="1" noProof="0" dirty="0">
                    <a:solidFill>
                      <a:srgbClr val="7030A0"/>
                    </a:solidFill>
                  </a:rPr>
                  <a:t>mínimo global</a:t>
                </a:r>
                <a:r>
                  <a:rPr lang="pt-BR" noProof="0" dirty="0"/>
                  <a:t>).</a:t>
                </a:r>
              </a:p>
              <a:p>
                <a:pPr lvl="1">
                  <a:buFont typeface="Wingdings" panose="05000000000000000000" pitchFamily="2" charset="2"/>
                  <a:buChar char="§"/>
                </a:pPr>
                <a:r>
                  <a:rPr lang="pt-BR" noProof="0" dirty="0"/>
                  <a:t>Portanto, basta </a:t>
                </a:r>
                <a:r>
                  <a:rPr lang="pt-BR" b="1" noProof="0" dirty="0">
                    <a:solidFill>
                      <a:schemeClr val="accent1"/>
                    </a:solidFill>
                  </a:rPr>
                  <a:t>seguirmos ladeira abaixo</a:t>
                </a:r>
                <a:r>
                  <a:rPr lang="pt-BR" noProof="0" dirty="0"/>
                  <a:t> </a:t>
                </a:r>
                <a:r>
                  <a:rPr lang="pt-BR" b="1" noProof="0" dirty="0">
                    <a:solidFill>
                      <a:srgbClr val="00B050"/>
                    </a:solidFill>
                  </a:rPr>
                  <a:t>a partir de qualquer ponto</a:t>
                </a:r>
                <a:r>
                  <a:rPr lang="pt-BR" noProof="0" dirty="0"/>
                  <a:t> que encontraremos a melhor solução possível, </a:t>
                </a:r>
                <a14:m>
                  <m:oMath xmlns:m="http://schemas.openxmlformats.org/officeDocument/2006/math">
                    <m:sSub>
                      <m:sSubPr>
                        <m:ctrlPr>
                          <a:rPr lang="pt-BR" b="1" i="1" noProof="0">
                            <a:latin typeface="Cambria Math" panose="02040503050406030204" pitchFamily="18" charset="0"/>
                          </a:rPr>
                        </m:ctrlPr>
                      </m:sSubPr>
                      <m:e>
                        <m:r>
                          <a:rPr lang="pt-BR" b="1" i="1" noProof="0">
                            <a:latin typeface="Cambria Math" panose="02040503050406030204" pitchFamily="18" charset="0"/>
                          </a:rPr>
                          <m:t>𝒂</m:t>
                        </m:r>
                      </m:e>
                      <m:sub>
                        <m:r>
                          <a:rPr lang="pt-BR" noProof="0">
                            <a:latin typeface="Cambria Math" panose="02040503050406030204" pitchFamily="18" charset="0"/>
                          </a:rPr>
                          <m:t>ó</m:t>
                        </m:r>
                        <m:r>
                          <m:rPr>
                            <m:sty m:val="p"/>
                          </m:rPr>
                          <a:rPr lang="pt-BR" noProof="0">
                            <a:latin typeface="Cambria Math" panose="02040503050406030204" pitchFamily="18" charset="0"/>
                          </a:rPr>
                          <m:t>timo</m:t>
                        </m:r>
                      </m:sub>
                    </m:sSub>
                  </m:oMath>
                </a14:m>
                <a:r>
                  <a:rPr lang="pt-BR" noProof="0" dirty="0"/>
                  <a:t>.</a:t>
                </a:r>
              </a:p>
              <a:p>
                <a:r>
                  <a:rPr lang="pt-BR" noProof="0" dirty="0"/>
                  <a:t>Em geral, o </a:t>
                </a:r>
                <a:r>
                  <a:rPr lang="pt-BR" b="1" noProof="0" dirty="0">
                    <a:solidFill>
                      <a:srgbClr val="7030A0"/>
                    </a:solidFill>
                  </a:rPr>
                  <a:t>erro mínimo</a:t>
                </a:r>
                <a:r>
                  <a:rPr lang="pt-BR" noProof="0" dirty="0"/>
                  <a:t> nunca será igual a 0 devido aos dados estarem corrompidos por algum tipo de ruído.</a:t>
                </a:r>
              </a:p>
              <a:p>
                <a:pPr lvl="1">
                  <a:buFont typeface="Wingdings" panose="05000000000000000000" pitchFamily="2" charset="2"/>
                  <a:buChar char="§"/>
                </a:pPr>
                <a:endParaRPr lang="pt-BR" noProof="0" dirty="0"/>
              </a:p>
            </p:txBody>
          </p:sp>
        </mc:Choice>
        <mc:Fallback xmlns="">
          <p:sp>
            <p:nvSpPr>
              <p:cNvPr id="3" name="Content Placeholder 2">
                <a:extLst>
                  <a:ext uri="{FF2B5EF4-FFF2-40B4-BE49-F238E27FC236}">
                    <a16:creationId xmlns:a16="http://schemas.microsoft.com/office/drawing/2014/main" id="{84E2E11B-9833-18C1-2157-693893D8C114}"/>
                  </a:ext>
                </a:extLst>
              </p:cNvPr>
              <p:cNvSpPr>
                <a:spLocks noGrp="1" noRot="1" noChangeAspect="1" noMove="1" noResize="1" noEditPoints="1" noAdjustHandles="1" noChangeArrowheads="1" noChangeShapeType="1" noTextEdit="1"/>
              </p:cNvSpPr>
              <p:nvPr>
                <p:ph idx="1"/>
              </p:nvPr>
            </p:nvSpPr>
            <p:spPr>
              <a:xfrm>
                <a:off x="5345722" y="1825624"/>
                <a:ext cx="6748868" cy="5032375"/>
              </a:xfrm>
              <a:blipFill>
                <a:blip r:embed="rId2"/>
                <a:stretch>
                  <a:fillRect l="-1626" t="-1937" r="-1716" b="-969"/>
                </a:stretch>
              </a:blipFill>
            </p:spPr>
            <p:txBody>
              <a:bodyPr/>
              <a:lstStyle/>
              <a:p>
                <a:r>
                  <a:rPr lang="en-US">
                    <a:noFill/>
                  </a:rPr>
                  <a:t> </a:t>
                </a:r>
              </a:p>
            </p:txBody>
          </p:sp>
        </mc:Fallback>
      </mc:AlternateContent>
      <p:grpSp>
        <p:nvGrpSpPr>
          <p:cNvPr id="8" name="Agrupar 8">
            <a:extLst>
              <a:ext uri="{FF2B5EF4-FFF2-40B4-BE49-F238E27FC236}">
                <a16:creationId xmlns:a16="http://schemas.microsoft.com/office/drawing/2014/main" id="{7FD92229-0631-3DCD-1FF9-A49AE18B66EF}"/>
              </a:ext>
            </a:extLst>
          </p:cNvPr>
          <p:cNvGrpSpPr/>
          <p:nvPr/>
        </p:nvGrpSpPr>
        <p:grpSpPr>
          <a:xfrm>
            <a:off x="500575" y="1825624"/>
            <a:ext cx="4456768" cy="4397089"/>
            <a:chOff x="447782" y="1825625"/>
            <a:chExt cx="4456768" cy="4397089"/>
          </a:xfrm>
        </p:grpSpPr>
        <p:grpSp>
          <p:nvGrpSpPr>
            <p:cNvPr id="18" name="Agrupar 44">
              <a:extLst>
                <a:ext uri="{FF2B5EF4-FFF2-40B4-BE49-F238E27FC236}">
                  <a16:creationId xmlns:a16="http://schemas.microsoft.com/office/drawing/2014/main" id="{9E0EE296-BA0A-9E88-428D-23EFF31F9CDD}"/>
                </a:ext>
              </a:extLst>
            </p:cNvPr>
            <p:cNvGrpSpPr/>
            <p:nvPr/>
          </p:nvGrpSpPr>
          <p:grpSpPr>
            <a:xfrm>
              <a:off x="447782" y="1825625"/>
              <a:ext cx="4456768" cy="3859236"/>
              <a:chOff x="1592492" y="1393380"/>
              <a:chExt cx="3209820" cy="2846768"/>
            </a:xfrm>
          </p:grpSpPr>
          <p:pic>
            <p:nvPicPr>
              <p:cNvPr id="27" name="Picture 2" descr="Visualization for Function Optimization in Python -  MachineLearningMastery.com">
                <a:extLst>
                  <a:ext uri="{FF2B5EF4-FFF2-40B4-BE49-F238E27FC236}">
                    <a16:creationId xmlns:a16="http://schemas.microsoft.com/office/drawing/2014/main" id="{44D88D47-5822-C7A4-E1B5-0AF53981D02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468" t="17228" r="16217" b="10711"/>
              <a:stretch/>
            </p:blipFill>
            <p:spPr bwMode="auto">
              <a:xfrm>
                <a:off x="1592492" y="1393380"/>
                <a:ext cx="3069081" cy="284436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8" name="CaixaDeTexto 27">
                    <a:extLst>
                      <a:ext uri="{FF2B5EF4-FFF2-40B4-BE49-F238E27FC236}">
                        <a16:creationId xmlns:a16="http://schemas.microsoft.com/office/drawing/2014/main" id="{D3302DEB-0BAF-20B2-A12B-7E3667CD882F}"/>
                      </a:ext>
                    </a:extLst>
                  </p:cNvPr>
                  <p:cNvSpPr txBox="1"/>
                  <p:nvPr/>
                </p:nvSpPr>
                <p:spPr>
                  <a:xfrm>
                    <a:off x="2025506" y="3945007"/>
                    <a:ext cx="547099" cy="295141"/>
                  </a:xfrm>
                  <a:prstGeom prst="rect">
                    <a:avLst/>
                  </a:prstGeom>
                  <a:noFill/>
                </p:spPr>
                <p:txBody>
                  <a:bodyPr wrap="square">
                    <a:spAutoFit/>
                  </a:bodyPr>
                  <a:lstStyle/>
                  <a:p>
                    <a:pPr/>
                    <a14:m>
                      <m:oMathPara xmlns:m="http://schemas.openxmlformats.org/officeDocument/2006/math">
                        <m:oMath>
                          <m:sSub>
                            <m:sSubPr>
                              <m:ctrlPr>
                                <a:rPr lang="pt-BR" sz="2000" i="1">
                                  <a:latin typeface="Cambria Math" panose="02040503050406030204" pitchFamily="18" charset="0"/>
                                </a:rPr>
                              </m:ctrlPr>
                            </m:sSubPr>
                            <m:e>
                              <m:r>
                                <a:rPr lang="pt-BR" sz="2000" i="1">
                                  <a:latin typeface="Cambria Math" panose="02040503050406030204" pitchFamily="18" charset="0"/>
                                </a:rPr>
                                <m:t>𝑎</m:t>
                              </m:r>
                            </m:e>
                            <m:sub>
                              <m:r>
                                <a:rPr lang="pt-BR" sz="2000" i="1">
                                  <a:latin typeface="Cambria Math" panose="02040503050406030204" pitchFamily="18" charset="0"/>
                                </a:rPr>
                                <m:t>0</m:t>
                              </m:r>
                            </m:sub>
                          </m:sSub>
                        </m:oMath>
                      </m:oMathPara>
                    </a14:m>
                    <a:endParaRPr lang="pt-BR" sz="2000" dirty="0"/>
                  </a:p>
                </p:txBody>
              </p:sp>
            </mc:Choice>
            <mc:Fallback xmlns="">
              <p:sp>
                <p:nvSpPr>
                  <p:cNvPr id="27" name="CaixaDeTexto 26">
                    <a:extLst>
                      <a:ext uri="{FF2B5EF4-FFF2-40B4-BE49-F238E27FC236}">
                        <a16:creationId xmlns:a16="http://schemas.microsoft.com/office/drawing/2014/main" id="{00D42F04-97F1-C0EA-6B00-D0BD117CDEFF}"/>
                      </a:ext>
                    </a:extLst>
                  </p:cNvPr>
                  <p:cNvSpPr txBox="1">
                    <a:spLocks noRot="1" noChangeAspect="1" noMove="1" noResize="1" noEditPoints="1" noAdjustHandles="1" noChangeArrowheads="1" noChangeShapeType="1" noTextEdit="1"/>
                  </p:cNvSpPr>
                  <p:nvPr/>
                </p:nvSpPr>
                <p:spPr>
                  <a:xfrm>
                    <a:off x="2025506" y="3945007"/>
                    <a:ext cx="547099" cy="295141"/>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9" name="CaixaDeTexto 28">
                    <a:extLst>
                      <a:ext uri="{FF2B5EF4-FFF2-40B4-BE49-F238E27FC236}">
                        <a16:creationId xmlns:a16="http://schemas.microsoft.com/office/drawing/2014/main" id="{0264388D-BD42-DE8D-1EDA-911DD626CE21}"/>
                      </a:ext>
                    </a:extLst>
                  </p:cNvPr>
                  <p:cNvSpPr txBox="1"/>
                  <p:nvPr/>
                </p:nvSpPr>
                <p:spPr>
                  <a:xfrm>
                    <a:off x="4099817" y="3575675"/>
                    <a:ext cx="423809" cy="295141"/>
                  </a:xfrm>
                  <a:prstGeom prst="rect">
                    <a:avLst/>
                  </a:prstGeom>
                  <a:noFill/>
                </p:spPr>
                <p:txBody>
                  <a:bodyPr wrap="square">
                    <a:spAutoFit/>
                  </a:bodyPr>
                  <a:lstStyle/>
                  <a:p>
                    <a:pPr/>
                    <a14:m>
                      <m:oMathPara xmlns:m="http://schemas.openxmlformats.org/officeDocument/2006/math">
                        <m:oMath>
                          <m:sSub>
                            <m:sSubPr>
                              <m:ctrlPr>
                                <a:rPr lang="pt-BR" sz="2000" i="1">
                                  <a:latin typeface="Cambria Math" panose="02040503050406030204" pitchFamily="18" charset="0"/>
                                </a:rPr>
                              </m:ctrlPr>
                            </m:sSubPr>
                            <m:e>
                              <m:r>
                                <a:rPr lang="pt-BR" sz="2000" i="1">
                                  <a:latin typeface="Cambria Math" panose="02040503050406030204" pitchFamily="18" charset="0"/>
                                </a:rPr>
                                <m:t>𝑎</m:t>
                              </m:r>
                            </m:e>
                            <m:sub>
                              <m:r>
                                <a:rPr lang="pt-BR" sz="2000" i="1">
                                  <a:latin typeface="Cambria Math" panose="02040503050406030204" pitchFamily="18" charset="0"/>
                                </a:rPr>
                                <m:t>1</m:t>
                              </m:r>
                            </m:sub>
                          </m:sSub>
                        </m:oMath>
                      </m:oMathPara>
                    </a14:m>
                    <a:endParaRPr lang="pt-BR" sz="2000" dirty="0"/>
                  </a:p>
                </p:txBody>
              </p:sp>
            </mc:Choice>
            <mc:Fallback xmlns="">
              <p:sp>
                <p:nvSpPr>
                  <p:cNvPr id="29" name="CaixaDeTexto 28">
                    <a:extLst>
                      <a:ext uri="{FF2B5EF4-FFF2-40B4-BE49-F238E27FC236}">
                        <a16:creationId xmlns:a16="http://schemas.microsoft.com/office/drawing/2014/main" id="{1FCA9EDF-24EB-6DAA-4AB3-9E76EE2FB342}"/>
                      </a:ext>
                    </a:extLst>
                  </p:cNvPr>
                  <p:cNvSpPr txBox="1">
                    <a:spLocks noRot="1" noChangeAspect="1" noMove="1" noResize="1" noEditPoints="1" noAdjustHandles="1" noChangeArrowheads="1" noChangeShapeType="1" noTextEdit="1"/>
                  </p:cNvSpPr>
                  <p:nvPr/>
                </p:nvSpPr>
                <p:spPr>
                  <a:xfrm>
                    <a:off x="4099817" y="3575675"/>
                    <a:ext cx="423809" cy="295141"/>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0" name="CaixaDeTexto 29">
                    <a:extLst>
                      <a:ext uri="{FF2B5EF4-FFF2-40B4-BE49-F238E27FC236}">
                        <a16:creationId xmlns:a16="http://schemas.microsoft.com/office/drawing/2014/main" id="{585BAA01-510A-C118-CA93-5A46D3C329CC}"/>
                      </a:ext>
                    </a:extLst>
                  </p:cNvPr>
                  <p:cNvSpPr txBox="1"/>
                  <p:nvPr/>
                </p:nvSpPr>
                <p:spPr>
                  <a:xfrm>
                    <a:off x="4244939" y="1495438"/>
                    <a:ext cx="557373" cy="295141"/>
                  </a:xfrm>
                  <a:prstGeom prst="rect">
                    <a:avLst/>
                  </a:prstGeom>
                  <a:noFill/>
                </p:spPr>
                <p:txBody>
                  <a:bodyPr wrap="square">
                    <a:spAutoFit/>
                  </a:bodyPr>
                  <a:lstStyle/>
                  <a:p>
                    <a:pPr/>
                    <a14:m>
                      <m:oMathPara xmlns:m="http://schemas.openxmlformats.org/officeDocument/2006/math">
                        <m:oMath>
                          <m:sSub>
                            <m:sSubPr>
                              <m:ctrlPr>
                                <a:rPr lang="pt-BR" sz="2000" b="1" i="1" smtClean="0">
                                  <a:latin typeface="Cambria Math" panose="02040503050406030204" pitchFamily="18" charset="0"/>
                                </a:rPr>
                              </m:ctrlPr>
                            </m:sSubPr>
                            <m:e>
                              <m:r>
                                <a:rPr lang="pt-BR" sz="2000" b="1" i="1" smtClean="0">
                                  <a:latin typeface="Cambria Math" panose="02040503050406030204" pitchFamily="18" charset="0"/>
                                </a:rPr>
                                <m:t>𝑱</m:t>
                              </m:r>
                            </m:e>
                            <m:sub>
                              <m:r>
                                <a:rPr lang="pt-BR" sz="2000" b="1" i="1" smtClean="0">
                                  <a:latin typeface="Cambria Math" panose="02040503050406030204" pitchFamily="18" charset="0"/>
                                </a:rPr>
                                <m:t>𝒆</m:t>
                              </m:r>
                            </m:sub>
                          </m:sSub>
                          <m:r>
                            <a:rPr lang="pt-BR" sz="2000" b="1" i="1" smtClean="0">
                              <a:latin typeface="Cambria Math" panose="02040503050406030204" pitchFamily="18" charset="0"/>
                            </a:rPr>
                            <m:t>(</m:t>
                          </m:r>
                          <m:r>
                            <a:rPr lang="pt-BR" sz="2000" b="1" i="1" smtClean="0">
                              <a:latin typeface="Cambria Math" panose="02040503050406030204" pitchFamily="18" charset="0"/>
                            </a:rPr>
                            <m:t>𝒂</m:t>
                          </m:r>
                          <m:r>
                            <a:rPr lang="pt-BR" sz="2000" b="1" i="1" smtClean="0">
                              <a:latin typeface="Cambria Math" panose="02040503050406030204" pitchFamily="18" charset="0"/>
                            </a:rPr>
                            <m:t>)</m:t>
                          </m:r>
                        </m:oMath>
                      </m:oMathPara>
                    </a14:m>
                    <a:endParaRPr lang="pt-BR" sz="2000" b="1" dirty="0"/>
                  </a:p>
                </p:txBody>
              </p:sp>
            </mc:Choice>
            <mc:Fallback xmlns="">
              <p:sp>
                <p:nvSpPr>
                  <p:cNvPr id="30" name="CaixaDeTexto 29">
                    <a:extLst>
                      <a:ext uri="{FF2B5EF4-FFF2-40B4-BE49-F238E27FC236}">
                        <a16:creationId xmlns:a16="http://schemas.microsoft.com/office/drawing/2014/main" id="{585BAA01-510A-C118-CA93-5A46D3C329CC}"/>
                      </a:ext>
                    </a:extLst>
                  </p:cNvPr>
                  <p:cNvSpPr txBox="1">
                    <a:spLocks noRot="1" noChangeAspect="1" noMove="1" noResize="1" noEditPoints="1" noAdjustHandles="1" noChangeArrowheads="1" noChangeShapeType="1" noTextEdit="1"/>
                  </p:cNvSpPr>
                  <p:nvPr/>
                </p:nvSpPr>
                <p:spPr>
                  <a:xfrm>
                    <a:off x="4244939" y="1495438"/>
                    <a:ext cx="557373" cy="295141"/>
                  </a:xfrm>
                  <a:prstGeom prst="rect">
                    <a:avLst/>
                  </a:prstGeom>
                  <a:blipFill>
                    <a:blip r:embed="rId6"/>
                    <a:stretch>
                      <a:fillRect l="-2362" r="-3150" b="-15152"/>
                    </a:stretch>
                  </a:blipFill>
                </p:spPr>
                <p:txBody>
                  <a:bodyPr/>
                  <a:lstStyle/>
                  <a:p>
                    <a:r>
                      <a:rPr lang="en-US">
                        <a:noFill/>
                      </a:rPr>
                      <a:t> </a:t>
                    </a:r>
                  </a:p>
                </p:txBody>
              </p:sp>
            </mc:Fallback>
          </mc:AlternateContent>
        </p:grpSp>
        <p:cxnSp>
          <p:nvCxnSpPr>
            <p:cNvPr id="25" name="Conector de Seta Reta 51">
              <a:extLst>
                <a:ext uri="{FF2B5EF4-FFF2-40B4-BE49-F238E27FC236}">
                  <a16:creationId xmlns:a16="http://schemas.microsoft.com/office/drawing/2014/main" id="{4C86C60D-83E6-EFF1-0757-FBEE2440C7F6}"/>
                </a:ext>
              </a:extLst>
            </p:cNvPr>
            <p:cNvCxnSpPr>
              <a:cxnSpLocks/>
            </p:cNvCxnSpPr>
            <p:nvPr/>
          </p:nvCxnSpPr>
          <p:spPr>
            <a:xfrm flipH="1" flipV="1">
              <a:off x="2406947" y="4469673"/>
              <a:ext cx="623733" cy="121193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CaixaDeTexto 25">
                  <a:extLst>
                    <a:ext uri="{FF2B5EF4-FFF2-40B4-BE49-F238E27FC236}">
                      <a16:creationId xmlns:a16="http://schemas.microsoft.com/office/drawing/2014/main" id="{FB4BC05E-298F-2552-BE8C-2BBFA977ECA2}"/>
                    </a:ext>
                  </a:extLst>
                </p:cNvPr>
                <p:cNvSpPr txBox="1"/>
                <p:nvPr/>
              </p:nvSpPr>
              <p:spPr>
                <a:xfrm>
                  <a:off x="2131891" y="5637939"/>
                  <a:ext cx="2091484" cy="584775"/>
                </a:xfrm>
                <a:prstGeom prst="rect">
                  <a:avLst/>
                </a:prstGeom>
                <a:noFill/>
              </p:spPr>
              <p:txBody>
                <a:bodyPr wrap="square" rtlCol="0">
                  <a:spAutoFit/>
                </a:bodyPr>
                <a:lstStyle/>
                <a:p>
                  <a:r>
                    <a:rPr lang="pt-BR" sz="1400" b="1" dirty="0">
                      <a:solidFill>
                        <a:srgbClr val="00B0F0"/>
                      </a:solidFill>
                    </a:rPr>
                    <a:t>ponto de mínimo global</a:t>
                  </a:r>
                </a:p>
                <a:p>
                  <a:pPr algn="ctr"/>
                  <a14:m>
                    <m:oMathPara xmlns:m="http://schemas.openxmlformats.org/officeDocument/2006/math">
                      <m:oMath>
                        <m:sSub>
                          <m:sSubPr>
                            <m:ctrlPr>
                              <a:rPr lang="pt-BR" b="1" i="1" smtClean="0">
                                <a:solidFill>
                                  <a:schemeClr val="tx1"/>
                                </a:solidFill>
                                <a:latin typeface="Cambria Math" panose="02040503050406030204" pitchFamily="18" charset="0"/>
                              </a:rPr>
                            </m:ctrlPr>
                          </m:sSubPr>
                          <m:e>
                            <m:r>
                              <a:rPr lang="pt-BR" b="1" i="1" smtClean="0">
                                <a:solidFill>
                                  <a:schemeClr val="tx1"/>
                                </a:solidFill>
                                <a:latin typeface="Cambria Math" panose="02040503050406030204" pitchFamily="18" charset="0"/>
                              </a:rPr>
                              <m:t>𝒂</m:t>
                            </m:r>
                          </m:e>
                          <m:sub>
                            <m:r>
                              <a:rPr lang="pt-BR" b="0" i="0" smtClean="0">
                                <a:solidFill>
                                  <a:schemeClr val="tx1"/>
                                </a:solidFill>
                                <a:latin typeface="Cambria Math" panose="02040503050406030204" pitchFamily="18" charset="0"/>
                              </a:rPr>
                              <m:t>ó</m:t>
                            </m:r>
                            <m:r>
                              <m:rPr>
                                <m:sty m:val="p"/>
                              </m:rPr>
                              <a:rPr lang="pt-BR" b="0" i="0" smtClean="0">
                                <a:solidFill>
                                  <a:schemeClr val="tx1"/>
                                </a:solidFill>
                                <a:latin typeface="Cambria Math" panose="02040503050406030204" pitchFamily="18" charset="0"/>
                              </a:rPr>
                              <m:t>timo</m:t>
                            </m:r>
                          </m:sub>
                        </m:sSub>
                      </m:oMath>
                    </m:oMathPara>
                  </a14:m>
                  <a:endParaRPr lang="pt-BR" b="1" dirty="0">
                    <a:solidFill>
                      <a:schemeClr val="tx1"/>
                    </a:solidFill>
                  </a:endParaRPr>
                </a:p>
              </p:txBody>
            </p:sp>
          </mc:Choice>
          <mc:Fallback xmlns="">
            <p:sp>
              <p:nvSpPr>
                <p:cNvPr id="26" name="CaixaDeTexto 25">
                  <a:extLst>
                    <a:ext uri="{FF2B5EF4-FFF2-40B4-BE49-F238E27FC236}">
                      <a16:creationId xmlns:a16="http://schemas.microsoft.com/office/drawing/2014/main" id="{FB4BC05E-298F-2552-BE8C-2BBFA977ECA2}"/>
                    </a:ext>
                  </a:extLst>
                </p:cNvPr>
                <p:cNvSpPr txBox="1">
                  <a:spLocks noRot="1" noChangeAspect="1" noMove="1" noResize="1" noEditPoints="1" noAdjustHandles="1" noChangeArrowheads="1" noChangeShapeType="1" noTextEdit="1"/>
                </p:cNvSpPr>
                <p:nvPr/>
              </p:nvSpPr>
              <p:spPr>
                <a:xfrm>
                  <a:off x="2131891" y="5637939"/>
                  <a:ext cx="2091484" cy="584775"/>
                </a:xfrm>
                <a:prstGeom prst="rect">
                  <a:avLst/>
                </a:prstGeom>
                <a:blipFill>
                  <a:blip r:embed="rId7"/>
                  <a:stretch>
                    <a:fillRect l="-875" t="-2083"/>
                  </a:stretch>
                </a:blipFill>
              </p:spPr>
              <p:txBody>
                <a:bodyPr/>
                <a:lstStyle/>
                <a:p>
                  <a:r>
                    <a:rPr lang="en-US">
                      <a:noFill/>
                    </a:rPr>
                    <a:t> </a:t>
                  </a:r>
                </a:p>
              </p:txBody>
            </p:sp>
          </mc:Fallback>
        </mc:AlternateContent>
      </p:grpSp>
      <p:sp>
        <p:nvSpPr>
          <p:cNvPr id="32" name="CaixaDeTexto 4">
            <a:extLst>
              <a:ext uri="{FF2B5EF4-FFF2-40B4-BE49-F238E27FC236}">
                <a16:creationId xmlns:a16="http://schemas.microsoft.com/office/drawing/2014/main" id="{937BDBF2-CD1E-BFE4-16C2-CB92C782157B}"/>
              </a:ext>
            </a:extLst>
          </p:cNvPr>
          <p:cNvSpPr txBox="1"/>
          <p:nvPr/>
        </p:nvSpPr>
        <p:spPr>
          <a:xfrm>
            <a:off x="0" y="6590265"/>
            <a:ext cx="6561983" cy="276999"/>
          </a:xfrm>
          <a:prstGeom prst="rect">
            <a:avLst/>
          </a:prstGeom>
          <a:noFill/>
        </p:spPr>
        <p:txBody>
          <a:bodyPr wrap="square" rtlCol="0">
            <a:spAutoFit/>
          </a:bodyPr>
          <a:lstStyle/>
          <a:p>
            <a:r>
              <a:rPr lang="pt-BR" sz="1200" b="1" dirty="0"/>
              <a:t>OBS</a:t>
            </a:r>
            <a:r>
              <a:rPr lang="pt-BR" sz="1200" dirty="0"/>
              <a:t>.: Superfície de erro para um função hipótese com dois atributos e dois pesos.</a:t>
            </a:r>
          </a:p>
        </p:txBody>
      </p:sp>
    </p:spTree>
    <p:extLst>
      <p:ext uri="{BB962C8B-B14F-4D97-AF65-F5344CB8AC3E}">
        <p14:creationId xmlns:p14="http://schemas.microsoft.com/office/powerpoint/2010/main" val="20121007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FA39D5-1A7D-603C-1F90-C3C1D9D9D79C}"/>
              </a:ext>
            </a:extLst>
          </p:cNvPr>
          <p:cNvSpPr>
            <a:spLocks noGrp="1"/>
          </p:cNvSpPr>
          <p:nvPr>
            <p:ph idx="1"/>
          </p:nvPr>
        </p:nvSpPr>
        <p:spPr>
          <a:xfrm>
            <a:off x="881743" y="2394306"/>
            <a:ext cx="10515600" cy="1742265"/>
          </a:xfrm>
        </p:spPr>
        <p:txBody>
          <a:bodyPr/>
          <a:lstStyle/>
          <a:p>
            <a:pPr marL="0" indent="0" algn="ctr">
              <a:buNone/>
            </a:pPr>
            <a:r>
              <a:rPr lang="pt-BR" sz="5400" dirty="0"/>
              <a:t>Qual é a ideia geral por trás do gradiente descendente?</a:t>
            </a:r>
            <a:endParaRPr lang="en-US" sz="5400" dirty="0"/>
          </a:p>
        </p:txBody>
      </p:sp>
    </p:spTree>
    <p:extLst>
      <p:ext uri="{BB962C8B-B14F-4D97-AF65-F5344CB8AC3E}">
        <p14:creationId xmlns:p14="http://schemas.microsoft.com/office/powerpoint/2010/main" val="5780893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Gradiente descendente</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a:xfrm>
                <a:off x="5739662" y="1825624"/>
                <a:ext cx="6452338" cy="5032375"/>
              </a:xfrm>
            </p:spPr>
            <p:txBody>
              <a:bodyPr/>
              <a:lstStyle/>
              <a:p>
                <a:r>
                  <a:rPr lang="pt-BR" dirty="0"/>
                  <a:t>O </a:t>
                </a:r>
                <a:r>
                  <a:rPr lang="pt-BR" b="1" dirty="0">
                    <a:solidFill>
                      <a:schemeClr val="accent2"/>
                    </a:solidFill>
                  </a:rPr>
                  <a:t>algoritmo do gradiente descendente</a:t>
                </a:r>
                <a:r>
                  <a:rPr lang="pt-BR" dirty="0"/>
                  <a:t> procura de forma </a:t>
                </a:r>
                <a:r>
                  <a:rPr lang="pt-BR" b="1" dirty="0">
                    <a:solidFill>
                      <a:srgbClr val="7030A0"/>
                    </a:solidFill>
                  </a:rPr>
                  <a:t>iterativa</a:t>
                </a:r>
                <a:r>
                  <a:rPr lang="pt-BR" b="1" dirty="0"/>
                  <a:t> o ponto mais baixo da superfície de erro</a:t>
                </a:r>
                <a:r>
                  <a:rPr lang="pt-BR" dirty="0"/>
                  <a:t>.</a:t>
                </a:r>
              </a:p>
              <a:p>
                <a:pPr lvl="1">
                  <a:buFont typeface="Wingdings" panose="05000000000000000000" pitchFamily="2" charset="2"/>
                  <a:buChar char="§"/>
                </a:pPr>
                <a:r>
                  <a:rPr lang="pt-BR" dirty="0"/>
                  <a:t>O GD </a:t>
                </a:r>
                <a:r>
                  <a:rPr lang="pt-BR" b="1" dirty="0">
                    <a:solidFill>
                      <a:schemeClr val="accent2"/>
                    </a:solidFill>
                  </a:rPr>
                  <a:t>desce a ladeira </a:t>
                </a:r>
                <a:r>
                  <a:rPr lang="pt-BR" dirty="0"/>
                  <a:t>em busca de </a:t>
                </a:r>
                <a14:m>
                  <m:oMath xmlns:m="http://schemas.openxmlformats.org/officeDocument/2006/math">
                    <m:sSub>
                      <m:sSubPr>
                        <m:ctrlPr>
                          <a:rPr lang="pt-BR" b="1" i="1">
                            <a:latin typeface="Cambria Math" panose="02040503050406030204" pitchFamily="18" charset="0"/>
                          </a:rPr>
                        </m:ctrlPr>
                      </m:sSubPr>
                      <m:e>
                        <m:r>
                          <a:rPr lang="pt-BR" b="1" i="1">
                            <a:latin typeface="Cambria Math" panose="02040503050406030204" pitchFamily="18" charset="0"/>
                          </a:rPr>
                          <m:t>𝒂</m:t>
                        </m:r>
                      </m:e>
                      <m:sub>
                        <m:r>
                          <a:rPr lang="pt-BR">
                            <a:latin typeface="Cambria Math" panose="02040503050406030204" pitchFamily="18" charset="0"/>
                          </a:rPr>
                          <m:t>ó</m:t>
                        </m:r>
                        <m:r>
                          <m:rPr>
                            <m:sty m:val="p"/>
                          </m:rPr>
                          <a:rPr lang="pt-BR">
                            <a:latin typeface="Cambria Math" panose="02040503050406030204" pitchFamily="18" charset="0"/>
                          </a:rPr>
                          <m:t>timo</m:t>
                        </m:r>
                      </m:sub>
                    </m:sSub>
                  </m:oMath>
                </a14:m>
                <a:r>
                  <a:rPr lang="pt-BR" dirty="0"/>
                  <a:t>.</a:t>
                </a:r>
              </a:p>
              <a:p>
                <a:r>
                  <a:rPr lang="pt-BR" dirty="0"/>
                  <a:t>Ele é inicializado com </a:t>
                </a:r>
                <a:r>
                  <a:rPr lang="pt-BR" b="1" dirty="0">
                    <a:solidFill>
                      <a:srgbClr val="00B0F0"/>
                    </a:solidFill>
                  </a:rPr>
                  <a:t>pesos aleatórios </a:t>
                </a:r>
                <a:r>
                  <a:rPr lang="pt-BR" b="1" dirty="0"/>
                  <a:t>(i.e., ponto aleatório) </a:t>
                </a:r>
                <a:r>
                  <a:rPr lang="pt-BR" dirty="0"/>
                  <a:t>.</a:t>
                </a:r>
              </a:p>
              <a:p>
                <a:r>
                  <a:rPr lang="pt-BR" dirty="0"/>
                  <a:t>E, a cada iteração, ele </a:t>
                </a:r>
                <a:r>
                  <a:rPr lang="pt-BR" b="1" dirty="0">
                    <a:solidFill>
                      <a:srgbClr val="00B050"/>
                    </a:solidFill>
                  </a:rPr>
                  <a:t>refina</a:t>
                </a:r>
                <a:r>
                  <a:rPr lang="pt-BR" dirty="0"/>
                  <a:t> os valores dos pesos, ficando mais e mais próximo do ponto de mínimo.</a:t>
                </a:r>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xfrm>
                <a:off x="5739662" y="1825624"/>
                <a:ext cx="6452338" cy="5032375"/>
              </a:xfrm>
              <a:blipFill rotWithShape="0">
                <a:blip r:embed="rId2"/>
                <a:stretch>
                  <a:fillRect l="-1701" t="-1937"/>
                </a:stretch>
              </a:blipFill>
            </p:spPr>
            <p:txBody>
              <a:bodyPr/>
              <a:lstStyle/>
              <a:p>
                <a:r>
                  <a:rPr lang="pt-BR">
                    <a:noFill/>
                  </a:rPr>
                  <a:t> </a:t>
                </a:r>
              </a:p>
            </p:txBody>
          </p:sp>
        </mc:Fallback>
      </mc:AlternateContent>
      <p:grpSp>
        <p:nvGrpSpPr>
          <p:cNvPr id="4" name="Agrupar 4">
            <a:extLst>
              <a:ext uri="{FF2B5EF4-FFF2-40B4-BE49-F238E27FC236}">
                <a16:creationId xmlns:a16="http://schemas.microsoft.com/office/drawing/2014/main" id="{84412B71-A2C7-E89B-BE04-C2E70AB63FB6}"/>
              </a:ext>
            </a:extLst>
          </p:cNvPr>
          <p:cNvGrpSpPr/>
          <p:nvPr/>
        </p:nvGrpSpPr>
        <p:grpSpPr>
          <a:xfrm>
            <a:off x="838200" y="1994437"/>
            <a:ext cx="4381189" cy="4404763"/>
            <a:chOff x="55618" y="2251324"/>
            <a:chExt cx="4381189" cy="4404763"/>
          </a:xfrm>
        </p:grpSpPr>
        <p:grpSp>
          <p:nvGrpSpPr>
            <p:cNvPr id="5" name="Agrupar 5">
              <a:extLst>
                <a:ext uri="{FF2B5EF4-FFF2-40B4-BE49-F238E27FC236}">
                  <a16:creationId xmlns:a16="http://schemas.microsoft.com/office/drawing/2014/main" id="{FB0DCC50-E74B-B0C7-FD19-2CD268B79A24}"/>
                </a:ext>
              </a:extLst>
            </p:cNvPr>
            <p:cNvGrpSpPr/>
            <p:nvPr/>
          </p:nvGrpSpPr>
          <p:grpSpPr>
            <a:xfrm>
              <a:off x="55618" y="2251324"/>
              <a:ext cx="4381189" cy="4404763"/>
              <a:chOff x="930667" y="1938641"/>
              <a:chExt cx="4381189" cy="4404763"/>
            </a:xfrm>
          </p:grpSpPr>
          <p:grpSp>
            <p:nvGrpSpPr>
              <p:cNvPr id="8" name="Agrupar 8">
                <a:extLst>
                  <a:ext uri="{FF2B5EF4-FFF2-40B4-BE49-F238E27FC236}">
                    <a16:creationId xmlns:a16="http://schemas.microsoft.com/office/drawing/2014/main" id="{7FD92229-0631-3DCD-1FF9-A49AE18B66EF}"/>
                  </a:ext>
                </a:extLst>
              </p:cNvPr>
              <p:cNvGrpSpPr/>
              <p:nvPr/>
            </p:nvGrpSpPr>
            <p:grpSpPr>
              <a:xfrm>
                <a:off x="930667" y="1938641"/>
                <a:ext cx="4381189" cy="4404763"/>
                <a:chOff x="447782" y="1825625"/>
                <a:chExt cx="4381189" cy="4404763"/>
              </a:xfrm>
            </p:grpSpPr>
            <p:grpSp>
              <p:nvGrpSpPr>
                <p:cNvPr id="18" name="Agrupar 44">
                  <a:extLst>
                    <a:ext uri="{FF2B5EF4-FFF2-40B4-BE49-F238E27FC236}">
                      <a16:creationId xmlns:a16="http://schemas.microsoft.com/office/drawing/2014/main" id="{9E0EE296-BA0A-9E88-428D-23EFF31F9CDD}"/>
                    </a:ext>
                  </a:extLst>
                </p:cNvPr>
                <p:cNvGrpSpPr/>
                <p:nvPr/>
              </p:nvGrpSpPr>
              <p:grpSpPr>
                <a:xfrm>
                  <a:off x="447782" y="1825625"/>
                  <a:ext cx="4381189" cy="3859236"/>
                  <a:chOff x="1592492" y="1393380"/>
                  <a:chExt cx="3155387" cy="2846768"/>
                </a:xfrm>
              </p:grpSpPr>
              <p:pic>
                <p:nvPicPr>
                  <p:cNvPr id="27" name="Picture 2" descr="Visualization for Function Optimization in Python -  MachineLearningMastery.com">
                    <a:extLst>
                      <a:ext uri="{FF2B5EF4-FFF2-40B4-BE49-F238E27FC236}">
                        <a16:creationId xmlns:a16="http://schemas.microsoft.com/office/drawing/2014/main" id="{44D88D47-5822-C7A4-E1B5-0AF53981D02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468" t="17228" r="16217" b="10711"/>
                  <a:stretch/>
                </p:blipFill>
                <p:spPr bwMode="auto">
                  <a:xfrm>
                    <a:off x="1592492" y="1393380"/>
                    <a:ext cx="3069081" cy="284436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8" name="CaixaDeTexto 27">
                        <a:extLst>
                          <a:ext uri="{FF2B5EF4-FFF2-40B4-BE49-F238E27FC236}">
                            <a16:creationId xmlns:a16="http://schemas.microsoft.com/office/drawing/2014/main" id="{D3302DEB-0BAF-20B2-A12B-7E3667CD882F}"/>
                          </a:ext>
                        </a:extLst>
                      </p:cNvPr>
                      <p:cNvSpPr txBox="1"/>
                      <p:nvPr/>
                    </p:nvSpPr>
                    <p:spPr>
                      <a:xfrm>
                        <a:off x="2025506" y="3945007"/>
                        <a:ext cx="547099" cy="295141"/>
                      </a:xfrm>
                      <a:prstGeom prst="rect">
                        <a:avLst/>
                      </a:prstGeom>
                      <a:noFill/>
                    </p:spPr>
                    <p:txBody>
                      <a:bodyPr wrap="square">
                        <a:spAutoFit/>
                      </a:bodyPr>
                      <a:lstStyle/>
                      <a:p>
                        <a:pPr/>
                        <a14:m>
                          <m:oMathPara xmlns:m="http://schemas.openxmlformats.org/officeDocument/2006/math">
                            <m:oMath>
                              <m:sSub>
                                <m:sSubPr>
                                  <m:ctrlPr>
                                    <a:rPr lang="pt-BR" sz="2000" i="1">
                                      <a:latin typeface="Cambria Math" panose="02040503050406030204" pitchFamily="18" charset="0"/>
                                    </a:rPr>
                                  </m:ctrlPr>
                                </m:sSubPr>
                                <m:e>
                                  <m:r>
                                    <a:rPr lang="pt-BR" sz="2000" i="1">
                                      <a:latin typeface="Cambria Math" panose="02040503050406030204" pitchFamily="18" charset="0"/>
                                    </a:rPr>
                                    <m:t>𝑎</m:t>
                                  </m:r>
                                </m:e>
                                <m:sub>
                                  <m:r>
                                    <a:rPr lang="pt-BR" sz="2000" i="1">
                                      <a:latin typeface="Cambria Math" panose="02040503050406030204" pitchFamily="18" charset="0"/>
                                    </a:rPr>
                                    <m:t>0</m:t>
                                  </m:r>
                                </m:sub>
                              </m:sSub>
                            </m:oMath>
                          </m:oMathPara>
                        </a14:m>
                        <a:endParaRPr lang="pt-BR" sz="2000" dirty="0"/>
                      </a:p>
                    </p:txBody>
                  </p:sp>
                </mc:Choice>
                <mc:Fallback xmlns="">
                  <p:sp>
                    <p:nvSpPr>
                      <p:cNvPr id="27" name="CaixaDeTexto 26">
                        <a:extLst>
                          <a:ext uri="{FF2B5EF4-FFF2-40B4-BE49-F238E27FC236}">
                            <a16:creationId xmlns:a16="http://schemas.microsoft.com/office/drawing/2014/main" id="{00D42F04-97F1-C0EA-6B00-D0BD117CDEFF}"/>
                          </a:ext>
                        </a:extLst>
                      </p:cNvPr>
                      <p:cNvSpPr txBox="1">
                        <a:spLocks noRot="1" noChangeAspect="1" noMove="1" noResize="1" noEditPoints="1" noAdjustHandles="1" noChangeArrowheads="1" noChangeShapeType="1" noTextEdit="1"/>
                      </p:cNvSpPr>
                      <p:nvPr/>
                    </p:nvSpPr>
                    <p:spPr>
                      <a:xfrm>
                        <a:off x="2025506" y="3945007"/>
                        <a:ext cx="547099" cy="295141"/>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9" name="CaixaDeTexto 28">
                        <a:extLst>
                          <a:ext uri="{FF2B5EF4-FFF2-40B4-BE49-F238E27FC236}">
                            <a16:creationId xmlns:a16="http://schemas.microsoft.com/office/drawing/2014/main" id="{0264388D-BD42-DE8D-1EDA-911DD626CE21}"/>
                          </a:ext>
                        </a:extLst>
                      </p:cNvPr>
                      <p:cNvSpPr txBox="1"/>
                      <p:nvPr/>
                    </p:nvSpPr>
                    <p:spPr>
                      <a:xfrm>
                        <a:off x="4099817" y="3575675"/>
                        <a:ext cx="423809" cy="295141"/>
                      </a:xfrm>
                      <a:prstGeom prst="rect">
                        <a:avLst/>
                      </a:prstGeom>
                      <a:noFill/>
                    </p:spPr>
                    <p:txBody>
                      <a:bodyPr wrap="square">
                        <a:spAutoFit/>
                      </a:bodyPr>
                      <a:lstStyle/>
                      <a:p>
                        <a:pPr/>
                        <a14:m>
                          <m:oMathPara xmlns:m="http://schemas.openxmlformats.org/officeDocument/2006/math">
                            <m:oMath>
                              <m:sSub>
                                <m:sSubPr>
                                  <m:ctrlPr>
                                    <a:rPr lang="pt-BR" sz="2000" i="1">
                                      <a:latin typeface="Cambria Math" panose="02040503050406030204" pitchFamily="18" charset="0"/>
                                    </a:rPr>
                                  </m:ctrlPr>
                                </m:sSubPr>
                                <m:e>
                                  <m:r>
                                    <a:rPr lang="pt-BR" sz="2000" i="1">
                                      <a:latin typeface="Cambria Math" panose="02040503050406030204" pitchFamily="18" charset="0"/>
                                    </a:rPr>
                                    <m:t>𝑎</m:t>
                                  </m:r>
                                </m:e>
                                <m:sub>
                                  <m:r>
                                    <a:rPr lang="pt-BR" sz="2000" i="1">
                                      <a:latin typeface="Cambria Math" panose="02040503050406030204" pitchFamily="18" charset="0"/>
                                    </a:rPr>
                                    <m:t>1</m:t>
                                  </m:r>
                                </m:sub>
                              </m:sSub>
                            </m:oMath>
                          </m:oMathPara>
                        </a14:m>
                        <a:endParaRPr lang="pt-BR" sz="2000" dirty="0"/>
                      </a:p>
                    </p:txBody>
                  </p:sp>
                </mc:Choice>
                <mc:Fallback xmlns="">
                  <p:sp>
                    <p:nvSpPr>
                      <p:cNvPr id="29" name="CaixaDeTexto 28">
                        <a:extLst>
                          <a:ext uri="{FF2B5EF4-FFF2-40B4-BE49-F238E27FC236}">
                            <a16:creationId xmlns:a16="http://schemas.microsoft.com/office/drawing/2014/main" id="{1FCA9EDF-24EB-6DAA-4AB3-9E76EE2FB342}"/>
                          </a:ext>
                        </a:extLst>
                      </p:cNvPr>
                      <p:cNvSpPr txBox="1">
                        <a:spLocks noRot="1" noChangeAspect="1" noMove="1" noResize="1" noEditPoints="1" noAdjustHandles="1" noChangeArrowheads="1" noChangeShapeType="1" noTextEdit="1"/>
                      </p:cNvSpPr>
                      <p:nvPr/>
                    </p:nvSpPr>
                    <p:spPr>
                      <a:xfrm>
                        <a:off x="4099817" y="3575675"/>
                        <a:ext cx="423809" cy="295141"/>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0" name="CaixaDeTexto 29">
                        <a:extLst>
                          <a:ext uri="{FF2B5EF4-FFF2-40B4-BE49-F238E27FC236}">
                            <a16:creationId xmlns:a16="http://schemas.microsoft.com/office/drawing/2014/main" id="{585BAA01-510A-C118-CA93-5A46D3C329CC}"/>
                          </a:ext>
                        </a:extLst>
                      </p:cNvPr>
                      <p:cNvSpPr txBox="1"/>
                      <p:nvPr/>
                    </p:nvSpPr>
                    <p:spPr>
                      <a:xfrm>
                        <a:off x="4190506" y="1542308"/>
                        <a:ext cx="557373" cy="272438"/>
                      </a:xfrm>
                      <a:prstGeom prst="rect">
                        <a:avLst/>
                      </a:prstGeom>
                      <a:noFill/>
                    </p:spPr>
                    <p:txBody>
                      <a:bodyPr wrap="square">
                        <a:spAutoFit/>
                      </a:bodyPr>
                      <a:lstStyle/>
                      <a:p>
                        <a:pPr/>
                        <a14:m>
                          <m:oMathPara xmlns:m="http://schemas.openxmlformats.org/officeDocument/2006/math">
                            <m:oMath>
                              <m:r>
                                <a:rPr lang="pt-BR" sz="1800" b="1" i="0" smtClean="0">
                                  <a:latin typeface="Cambria Math" panose="02040503050406030204" pitchFamily="18" charset="0"/>
                                </a:rPr>
                                <m:t>𝐄𝐐𝐌</m:t>
                              </m:r>
                            </m:oMath>
                          </m:oMathPara>
                        </a14:m>
                        <a:endParaRPr lang="pt-BR" b="1" dirty="0"/>
                      </a:p>
                    </p:txBody>
                  </p:sp>
                </mc:Choice>
                <mc:Fallback xmlns="">
                  <p:sp>
                    <p:nvSpPr>
                      <p:cNvPr id="41" name="CaixaDeTexto 40">
                        <a:extLst>
                          <a:ext uri="{FF2B5EF4-FFF2-40B4-BE49-F238E27FC236}">
                            <a16:creationId xmlns:a16="http://schemas.microsoft.com/office/drawing/2014/main" id="{B86ACC41-6A24-7A4D-DE0B-040FA766A60D}"/>
                          </a:ext>
                        </a:extLst>
                      </p:cNvPr>
                      <p:cNvSpPr txBox="1">
                        <a:spLocks noRot="1" noChangeAspect="1" noMove="1" noResize="1" noEditPoints="1" noAdjustHandles="1" noChangeArrowheads="1" noChangeShapeType="1" noTextEdit="1"/>
                      </p:cNvSpPr>
                      <p:nvPr/>
                    </p:nvSpPr>
                    <p:spPr>
                      <a:xfrm>
                        <a:off x="4190506" y="1542308"/>
                        <a:ext cx="557373" cy="272438"/>
                      </a:xfrm>
                      <a:prstGeom prst="rect">
                        <a:avLst/>
                      </a:prstGeom>
                      <a:blipFill>
                        <a:blip r:embed="rId6"/>
                        <a:stretch>
                          <a:fillRect b="-9836"/>
                        </a:stretch>
                      </a:blipFill>
                    </p:spPr>
                    <p:txBody>
                      <a:bodyPr/>
                      <a:lstStyle/>
                      <a:p>
                        <a:r>
                          <a:rPr lang="pt-BR">
                            <a:noFill/>
                          </a:rPr>
                          <a:t> </a:t>
                        </a:r>
                      </a:p>
                    </p:txBody>
                  </p:sp>
                </mc:Fallback>
              </mc:AlternateContent>
            </p:grpSp>
            <p:sp>
              <p:nvSpPr>
                <p:cNvPr id="19" name="Elipse 18">
                  <a:extLst>
                    <a:ext uri="{FF2B5EF4-FFF2-40B4-BE49-F238E27FC236}">
                      <a16:creationId xmlns:a16="http://schemas.microsoft.com/office/drawing/2014/main" id="{048570E9-84B4-263B-42B4-31A2588FB83B}"/>
                    </a:ext>
                  </a:extLst>
                </p:cNvPr>
                <p:cNvSpPr>
                  <a:spLocks noChangeAspect="1"/>
                </p:cNvSpPr>
                <p:nvPr/>
              </p:nvSpPr>
              <p:spPr>
                <a:xfrm>
                  <a:off x="1548001" y="3424885"/>
                  <a:ext cx="72000" cy="720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20" name="Conector reto 19">
                  <a:extLst>
                    <a:ext uri="{FF2B5EF4-FFF2-40B4-BE49-F238E27FC236}">
                      <a16:creationId xmlns:a16="http://schemas.microsoft.com/office/drawing/2014/main" id="{F03C6EA3-09F9-5AF4-2C93-055E20E87D18}"/>
                    </a:ext>
                  </a:extLst>
                </p:cNvPr>
                <p:cNvCxnSpPr>
                  <a:cxnSpLocks/>
                  <a:endCxn id="19" idx="4"/>
                </p:cNvCxnSpPr>
                <p:nvPr/>
              </p:nvCxnSpPr>
              <p:spPr>
                <a:xfrm flipH="1" flipV="1">
                  <a:off x="1584001" y="3496885"/>
                  <a:ext cx="11005" cy="464868"/>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1" name="Conector reto 20">
                  <a:extLst>
                    <a:ext uri="{FF2B5EF4-FFF2-40B4-BE49-F238E27FC236}">
                      <a16:creationId xmlns:a16="http://schemas.microsoft.com/office/drawing/2014/main" id="{09BF1C12-E6A9-0B8A-A4BE-A0CDC64BF5EB}"/>
                    </a:ext>
                  </a:extLst>
                </p:cNvPr>
                <p:cNvCxnSpPr>
                  <a:cxnSpLocks/>
                </p:cNvCxnSpPr>
                <p:nvPr/>
              </p:nvCxnSpPr>
              <p:spPr>
                <a:xfrm flipH="1" flipV="1">
                  <a:off x="2644775" y="4469673"/>
                  <a:ext cx="931863" cy="27854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2" name="Conector reto 21">
                  <a:extLst>
                    <a:ext uri="{FF2B5EF4-FFF2-40B4-BE49-F238E27FC236}">
                      <a16:creationId xmlns:a16="http://schemas.microsoft.com/office/drawing/2014/main" id="{BAD148F8-88A1-9983-64AC-7DC9A33D0083}"/>
                    </a:ext>
                  </a:extLst>
                </p:cNvPr>
                <p:cNvCxnSpPr>
                  <a:cxnSpLocks/>
                </p:cNvCxnSpPr>
                <p:nvPr/>
              </p:nvCxnSpPr>
              <p:spPr>
                <a:xfrm flipH="1">
                  <a:off x="857476" y="4155281"/>
                  <a:ext cx="737530" cy="628784"/>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3" name="Conector reto 22">
                  <a:extLst>
                    <a:ext uri="{FF2B5EF4-FFF2-40B4-BE49-F238E27FC236}">
                      <a16:creationId xmlns:a16="http://schemas.microsoft.com/office/drawing/2014/main" id="{C07E394D-50B1-689C-6846-C8A7447896B9}"/>
                    </a:ext>
                  </a:extLst>
                </p:cNvPr>
                <p:cNvCxnSpPr>
                  <a:cxnSpLocks/>
                </p:cNvCxnSpPr>
                <p:nvPr/>
              </p:nvCxnSpPr>
              <p:spPr>
                <a:xfrm flipH="1" flipV="1">
                  <a:off x="1600660" y="4144018"/>
                  <a:ext cx="73266" cy="32908"/>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4" name="Conector reto 23">
                  <a:extLst>
                    <a:ext uri="{FF2B5EF4-FFF2-40B4-BE49-F238E27FC236}">
                      <a16:creationId xmlns:a16="http://schemas.microsoft.com/office/drawing/2014/main" id="{A506799A-6B61-E22B-5542-D0125466F84F}"/>
                    </a:ext>
                  </a:extLst>
                </p:cNvPr>
                <p:cNvCxnSpPr>
                  <a:cxnSpLocks/>
                </p:cNvCxnSpPr>
                <p:nvPr/>
              </p:nvCxnSpPr>
              <p:spPr>
                <a:xfrm flipV="1">
                  <a:off x="1602149" y="4110038"/>
                  <a:ext cx="0" cy="4091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5" name="Conector de Seta Reta 51">
                  <a:extLst>
                    <a:ext uri="{FF2B5EF4-FFF2-40B4-BE49-F238E27FC236}">
                      <a16:creationId xmlns:a16="http://schemas.microsoft.com/office/drawing/2014/main" id="{4C86C60D-83E6-EFF1-0757-FBEE2440C7F6}"/>
                    </a:ext>
                  </a:extLst>
                </p:cNvPr>
                <p:cNvCxnSpPr>
                  <a:cxnSpLocks/>
                </p:cNvCxnSpPr>
                <p:nvPr/>
              </p:nvCxnSpPr>
              <p:spPr>
                <a:xfrm flipH="1" flipV="1">
                  <a:off x="2406947" y="4469673"/>
                  <a:ext cx="623733" cy="121193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CaixaDeTexto 25">
                      <a:extLst>
                        <a:ext uri="{FF2B5EF4-FFF2-40B4-BE49-F238E27FC236}">
                          <a16:creationId xmlns:a16="http://schemas.microsoft.com/office/drawing/2014/main" id="{FB4BC05E-298F-2552-BE8C-2BBFA977ECA2}"/>
                        </a:ext>
                      </a:extLst>
                    </p:cNvPr>
                    <p:cNvSpPr txBox="1"/>
                    <p:nvPr/>
                  </p:nvSpPr>
                  <p:spPr>
                    <a:xfrm>
                      <a:off x="2107796" y="5645613"/>
                      <a:ext cx="2019417" cy="584775"/>
                    </a:xfrm>
                    <a:prstGeom prst="rect">
                      <a:avLst/>
                    </a:prstGeom>
                    <a:noFill/>
                  </p:spPr>
                  <p:txBody>
                    <a:bodyPr wrap="square" rtlCol="0">
                      <a:spAutoFit/>
                    </a:bodyPr>
                    <a:lstStyle/>
                    <a:p>
                      <a:r>
                        <a:rPr lang="pt-BR" sz="1400" b="1" dirty="0">
                          <a:solidFill>
                            <a:srgbClr val="00B0F0"/>
                          </a:solidFill>
                        </a:rPr>
                        <a:t>ponto de mínimo global</a:t>
                      </a:r>
                    </a:p>
                    <a:p>
                      <a:pPr/>
                      <a14:m>
                        <m:oMathPara xmlns:m="http://schemas.openxmlformats.org/officeDocument/2006/math">
                          <m:oMath>
                            <m:sSub>
                              <m:sSubPr>
                                <m:ctrlPr>
                                  <a:rPr lang="pt-BR" b="1" i="1">
                                    <a:latin typeface="Cambria Math" panose="02040503050406030204" pitchFamily="18" charset="0"/>
                                  </a:rPr>
                                </m:ctrlPr>
                              </m:sSubPr>
                              <m:e>
                                <m:r>
                                  <a:rPr lang="pt-BR" b="1" i="1">
                                    <a:latin typeface="Cambria Math" panose="02040503050406030204" pitchFamily="18" charset="0"/>
                                  </a:rPr>
                                  <m:t>𝒂</m:t>
                                </m:r>
                              </m:e>
                              <m:sub>
                                <m:r>
                                  <a:rPr lang="pt-BR" b="0" i="0">
                                    <a:latin typeface="Cambria Math" panose="02040503050406030204" pitchFamily="18" charset="0"/>
                                  </a:rPr>
                                  <m:t>ó</m:t>
                                </m:r>
                                <m:r>
                                  <m:rPr>
                                    <m:sty m:val="p"/>
                                  </m:rPr>
                                  <a:rPr lang="pt-BR" b="0" i="0">
                                    <a:latin typeface="Cambria Math" panose="02040503050406030204" pitchFamily="18" charset="0"/>
                                  </a:rPr>
                                  <m:t>timo</m:t>
                                </m:r>
                              </m:sub>
                            </m:sSub>
                          </m:oMath>
                        </m:oMathPara>
                      </a14:m>
                      <a:endParaRPr lang="pt-BR" b="1" dirty="0"/>
                    </a:p>
                  </p:txBody>
                </p:sp>
              </mc:Choice>
              <mc:Fallback xmlns="">
                <p:sp>
                  <p:nvSpPr>
                    <p:cNvPr id="26" name="CaixaDeTexto 25">
                      <a:extLst>
                        <a:ext uri="{FF2B5EF4-FFF2-40B4-BE49-F238E27FC236}">
                          <a16:creationId xmlns:a16="http://schemas.microsoft.com/office/drawing/2014/main" id="{FB4BC05E-298F-2552-BE8C-2BBFA977ECA2}"/>
                        </a:ext>
                      </a:extLst>
                    </p:cNvPr>
                    <p:cNvSpPr txBox="1">
                      <a:spLocks noRot="1" noChangeAspect="1" noMove="1" noResize="1" noEditPoints="1" noAdjustHandles="1" noChangeArrowheads="1" noChangeShapeType="1" noTextEdit="1"/>
                    </p:cNvSpPr>
                    <p:nvPr/>
                  </p:nvSpPr>
                  <p:spPr>
                    <a:xfrm>
                      <a:off x="2107796" y="5645613"/>
                      <a:ext cx="2019417" cy="584775"/>
                    </a:xfrm>
                    <a:prstGeom prst="rect">
                      <a:avLst/>
                    </a:prstGeom>
                    <a:blipFill>
                      <a:blip r:embed="rId7"/>
                      <a:stretch>
                        <a:fillRect l="-906" t="-2083"/>
                      </a:stretch>
                    </a:blipFill>
                  </p:spPr>
                  <p:txBody>
                    <a:bodyPr/>
                    <a:lstStyle/>
                    <a:p>
                      <a:r>
                        <a:rPr lang="en-US">
                          <a:noFill/>
                        </a:rPr>
                        <a:t> </a:t>
                      </a:r>
                    </a:p>
                  </p:txBody>
                </p:sp>
              </mc:Fallback>
            </mc:AlternateContent>
          </p:grpSp>
          <p:sp>
            <p:nvSpPr>
              <p:cNvPr id="9" name="Elipse 8">
                <a:extLst>
                  <a:ext uri="{FF2B5EF4-FFF2-40B4-BE49-F238E27FC236}">
                    <a16:creationId xmlns:a16="http://schemas.microsoft.com/office/drawing/2014/main" id="{35F2A8C3-8F29-6C0D-DEBF-574DE751D83A}"/>
                  </a:ext>
                </a:extLst>
              </p:cNvPr>
              <p:cNvSpPr>
                <a:spLocks noChangeAspect="1"/>
              </p:cNvSpPr>
              <p:nvPr/>
            </p:nvSpPr>
            <p:spPr>
              <a:xfrm>
                <a:off x="2099351" y="3779808"/>
                <a:ext cx="72000" cy="720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Elipse 9">
                <a:extLst>
                  <a:ext uri="{FF2B5EF4-FFF2-40B4-BE49-F238E27FC236}">
                    <a16:creationId xmlns:a16="http://schemas.microsoft.com/office/drawing/2014/main" id="{D1D65435-8067-43D7-8B85-B58B5FE78F2B}"/>
                  </a:ext>
                </a:extLst>
              </p:cNvPr>
              <p:cNvSpPr>
                <a:spLocks noChangeAspect="1"/>
              </p:cNvSpPr>
              <p:nvPr/>
            </p:nvSpPr>
            <p:spPr>
              <a:xfrm>
                <a:off x="2192811" y="3941684"/>
                <a:ext cx="72000" cy="720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1" name="Elipse 10">
                <a:extLst>
                  <a:ext uri="{FF2B5EF4-FFF2-40B4-BE49-F238E27FC236}">
                    <a16:creationId xmlns:a16="http://schemas.microsoft.com/office/drawing/2014/main" id="{CE6F24E9-AEC3-E8E8-ACE1-5AB643448FDA}"/>
                  </a:ext>
                </a:extLst>
              </p:cNvPr>
              <p:cNvSpPr>
                <a:spLocks noChangeAspect="1"/>
              </p:cNvSpPr>
              <p:nvPr/>
            </p:nvSpPr>
            <p:spPr>
              <a:xfrm>
                <a:off x="2316384" y="4063903"/>
                <a:ext cx="72000" cy="720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Elipse 11">
                <a:extLst>
                  <a:ext uri="{FF2B5EF4-FFF2-40B4-BE49-F238E27FC236}">
                    <a16:creationId xmlns:a16="http://schemas.microsoft.com/office/drawing/2014/main" id="{8FACFAF7-7CF9-2A68-6DC3-73E2F744A7A7}"/>
                  </a:ext>
                </a:extLst>
              </p:cNvPr>
              <p:cNvSpPr>
                <a:spLocks noChangeAspect="1"/>
              </p:cNvSpPr>
              <p:nvPr/>
            </p:nvSpPr>
            <p:spPr>
              <a:xfrm>
                <a:off x="2490467" y="4126542"/>
                <a:ext cx="72000" cy="720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13" name="Conector: Curvo 13">
                <a:extLst>
                  <a:ext uri="{FF2B5EF4-FFF2-40B4-BE49-F238E27FC236}">
                    <a16:creationId xmlns:a16="http://schemas.microsoft.com/office/drawing/2014/main" id="{23FC64BF-9399-8DED-CE7B-6F37E3B76D0A}"/>
                  </a:ext>
                </a:extLst>
              </p:cNvPr>
              <p:cNvCxnSpPr>
                <a:cxnSpLocks/>
                <a:stCxn id="19" idx="0"/>
                <a:endCxn id="9" idx="0"/>
              </p:cNvCxnSpPr>
              <p:nvPr/>
            </p:nvCxnSpPr>
            <p:spPr>
              <a:xfrm rot="16200000" flipH="1">
                <a:off x="1980164" y="3624622"/>
                <a:ext cx="241907" cy="68465"/>
              </a:xfrm>
              <a:prstGeom prst="curvedConnector3">
                <a:avLst>
                  <a:gd name="adj1" fmla="val -29531"/>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4" name="Conector: Curvo 14">
                <a:extLst>
                  <a:ext uri="{FF2B5EF4-FFF2-40B4-BE49-F238E27FC236}">
                    <a16:creationId xmlns:a16="http://schemas.microsoft.com/office/drawing/2014/main" id="{6CFC6E21-F686-D9AD-1678-277756D9D6E1}"/>
                  </a:ext>
                </a:extLst>
              </p:cNvPr>
              <p:cNvCxnSpPr>
                <a:cxnSpLocks/>
                <a:stCxn id="9" idx="0"/>
                <a:endCxn id="10" idx="0"/>
              </p:cNvCxnSpPr>
              <p:nvPr/>
            </p:nvCxnSpPr>
            <p:spPr>
              <a:xfrm rot="16200000" flipH="1">
                <a:off x="2101143" y="3814016"/>
                <a:ext cx="161876" cy="93460"/>
              </a:xfrm>
              <a:prstGeom prst="curvedConnector3">
                <a:avLst>
                  <a:gd name="adj1" fmla="val -85320"/>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5" name="Conector: Curvo 15">
                <a:extLst>
                  <a:ext uri="{FF2B5EF4-FFF2-40B4-BE49-F238E27FC236}">
                    <a16:creationId xmlns:a16="http://schemas.microsoft.com/office/drawing/2014/main" id="{EA4C6F73-7F27-70C2-998B-E17C2EF4CE32}"/>
                  </a:ext>
                </a:extLst>
              </p:cNvPr>
              <p:cNvCxnSpPr>
                <a:cxnSpLocks/>
                <a:stCxn id="10" idx="0"/>
                <a:endCxn id="11" idx="0"/>
              </p:cNvCxnSpPr>
              <p:nvPr/>
            </p:nvCxnSpPr>
            <p:spPr>
              <a:xfrm rot="16200000" flipH="1">
                <a:off x="2229487" y="3941007"/>
                <a:ext cx="122219" cy="123573"/>
              </a:xfrm>
              <a:prstGeom prst="curvedConnector3">
                <a:avLst>
                  <a:gd name="adj1" fmla="val -120798"/>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6" name="Conector: Curvo 16">
                <a:extLst>
                  <a:ext uri="{FF2B5EF4-FFF2-40B4-BE49-F238E27FC236}">
                    <a16:creationId xmlns:a16="http://schemas.microsoft.com/office/drawing/2014/main" id="{A4A39634-3F5F-74B0-1F5F-3C4537D68CCD}"/>
                  </a:ext>
                </a:extLst>
              </p:cNvPr>
              <p:cNvCxnSpPr>
                <a:cxnSpLocks/>
                <a:stCxn id="11" idx="0"/>
                <a:endCxn id="12" idx="0"/>
              </p:cNvCxnSpPr>
              <p:nvPr/>
            </p:nvCxnSpPr>
            <p:spPr>
              <a:xfrm rot="16200000" flipH="1">
                <a:off x="2408105" y="4008181"/>
                <a:ext cx="62639" cy="174083"/>
              </a:xfrm>
              <a:prstGeom prst="curvedConnector3">
                <a:avLst>
                  <a:gd name="adj1" fmla="val -235697"/>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7" name="CaixaDeTexto 16">
                <a:extLst>
                  <a:ext uri="{FF2B5EF4-FFF2-40B4-BE49-F238E27FC236}">
                    <a16:creationId xmlns:a16="http://schemas.microsoft.com/office/drawing/2014/main" id="{204AE0DB-6550-BA4B-42F4-3D291466092E}"/>
                  </a:ext>
                </a:extLst>
              </p:cNvPr>
              <p:cNvSpPr txBox="1"/>
              <p:nvPr/>
            </p:nvSpPr>
            <p:spPr>
              <a:xfrm>
                <a:off x="2085034" y="3336761"/>
                <a:ext cx="1753377" cy="276999"/>
              </a:xfrm>
              <a:prstGeom prst="rect">
                <a:avLst/>
              </a:prstGeom>
              <a:noFill/>
            </p:spPr>
            <p:txBody>
              <a:bodyPr wrap="square" rtlCol="0">
                <a:spAutoFit/>
              </a:bodyPr>
              <a:lstStyle/>
              <a:p>
                <a:r>
                  <a:rPr lang="pt-BR" sz="1200" dirty="0"/>
                  <a:t>iterações</a:t>
                </a:r>
              </a:p>
            </p:txBody>
          </p:sp>
        </p:grpSp>
        <p:sp>
          <p:nvSpPr>
            <p:cNvPr id="6" name="CaixaDeTexto 5">
              <a:extLst>
                <a:ext uri="{FF2B5EF4-FFF2-40B4-BE49-F238E27FC236}">
                  <a16:creationId xmlns:a16="http://schemas.microsoft.com/office/drawing/2014/main" id="{17F23E77-B76E-73C8-AB63-BA858F6FEDAE}"/>
                </a:ext>
              </a:extLst>
            </p:cNvPr>
            <p:cNvSpPr txBox="1"/>
            <p:nvPr/>
          </p:nvSpPr>
          <p:spPr>
            <a:xfrm>
              <a:off x="261646" y="2536599"/>
              <a:ext cx="737531" cy="461665"/>
            </a:xfrm>
            <a:prstGeom prst="rect">
              <a:avLst/>
            </a:prstGeom>
            <a:noFill/>
          </p:spPr>
          <p:txBody>
            <a:bodyPr wrap="square" rtlCol="0">
              <a:spAutoFit/>
            </a:bodyPr>
            <a:lstStyle/>
            <a:p>
              <a:pPr algn="ctr"/>
              <a:r>
                <a:rPr lang="pt-BR" sz="1200" dirty="0"/>
                <a:t>ponto inicial</a:t>
              </a:r>
            </a:p>
          </p:txBody>
        </p:sp>
        <p:cxnSp>
          <p:nvCxnSpPr>
            <p:cNvPr id="7" name="Conector de Seta Reta 7">
              <a:extLst>
                <a:ext uri="{FF2B5EF4-FFF2-40B4-BE49-F238E27FC236}">
                  <a16:creationId xmlns:a16="http://schemas.microsoft.com/office/drawing/2014/main" id="{E63CF6F2-828D-404E-FB76-EDD94F5EE7C4}"/>
                </a:ext>
              </a:extLst>
            </p:cNvPr>
            <p:cNvCxnSpPr>
              <a:cxnSpLocks/>
              <a:stCxn id="6" idx="2"/>
            </p:cNvCxnSpPr>
            <p:nvPr/>
          </p:nvCxnSpPr>
          <p:spPr>
            <a:xfrm>
              <a:off x="630412" y="2998264"/>
              <a:ext cx="525425" cy="8523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624761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EFD801-7E8D-0885-F1AD-8DAF6F77CEEE}"/>
              </a:ext>
            </a:extLst>
          </p:cNvPr>
          <p:cNvSpPr>
            <a:spLocks noGrp="1"/>
          </p:cNvSpPr>
          <p:nvPr>
            <p:ph type="title"/>
          </p:nvPr>
        </p:nvSpPr>
        <p:spPr/>
        <p:txBody>
          <a:bodyPr/>
          <a:lstStyle/>
          <a:p>
            <a:r>
              <a:rPr lang="pt-BR" dirty="0"/>
              <a:t>Gradiente descendente</a:t>
            </a:r>
          </a:p>
        </p:txBody>
      </p:sp>
      <p:sp>
        <p:nvSpPr>
          <p:cNvPr id="3" name="Espaço Reservado para Conteúdo 2">
            <a:extLst>
              <a:ext uri="{FF2B5EF4-FFF2-40B4-BE49-F238E27FC236}">
                <a16:creationId xmlns:a16="http://schemas.microsoft.com/office/drawing/2014/main" id="{9BA6276C-11C7-FBDF-9CC4-A84A195D7527}"/>
              </a:ext>
            </a:extLst>
          </p:cNvPr>
          <p:cNvSpPr>
            <a:spLocks noGrp="1"/>
          </p:cNvSpPr>
          <p:nvPr>
            <p:ph idx="1"/>
          </p:nvPr>
        </p:nvSpPr>
        <p:spPr>
          <a:xfrm>
            <a:off x="5722706" y="1825625"/>
            <a:ext cx="6371884" cy="5032376"/>
          </a:xfrm>
        </p:spPr>
        <p:txBody>
          <a:bodyPr>
            <a:normAutofit/>
          </a:bodyPr>
          <a:lstStyle/>
          <a:p>
            <a:r>
              <a:rPr lang="pt-BR" dirty="0"/>
              <a:t>Esse </a:t>
            </a:r>
            <a:r>
              <a:rPr lang="pt-BR" b="1" dirty="0">
                <a:solidFill>
                  <a:srgbClr val="00B050"/>
                </a:solidFill>
              </a:rPr>
              <a:t>processo </a:t>
            </a:r>
            <a:r>
              <a:rPr lang="pt-BR" b="1" dirty="0">
                <a:solidFill>
                  <a:srgbClr val="0070C0"/>
                </a:solidFill>
              </a:rPr>
              <a:t>iterativo</a:t>
            </a:r>
            <a:r>
              <a:rPr lang="pt-BR" b="1" dirty="0">
                <a:solidFill>
                  <a:srgbClr val="00B050"/>
                </a:solidFill>
              </a:rPr>
              <a:t> de busca</a:t>
            </a:r>
            <a:r>
              <a:rPr lang="pt-BR" dirty="0"/>
              <a:t> que tem como </a:t>
            </a:r>
            <a:r>
              <a:rPr lang="pt-BR" b="1" dirty="0">
                <a:solidFill>
                  <a:srgbClr val="00B050"/>
                </a:solidFill>
              </a:rPr>
              <a:t>objetivo</a:t>
            </a:r>
            <a:r>
              <a:rPr lang="pt-BR" dirty="0"/>
              <a:t> encontrar o </a:t>
            </a:r>
            <a:r>
              <a:rPr lang="pt-BR" b="1" dirty="0">
                <a:solidFill>
                  <a:srgbClr val="00B050"/>
                </a:solidFill>
              </a:rPr>
              <a:t>ponto de mínimo </a:t>
            </a:r>
            <a:r>
              <a:rPr lang="pt-BR" dirty="0"/>
              <a:t>é chamado de </a:t>
            </a:r>
            <a:r>
              <a:rPr lang="pt-BR" b="1" dirty="0">
                <a:solidFill>
                  <a:schemeClr val="accent2"/>
                </a:solidFill>
              </a:rPr>
              <a:t>otimização</a:t>
            </a:r>
            <a:r>
              <a:rPr lang="pt-BR" dirty="0"/>
              <a:t> e, no contexto de ML, é conhecido como </a:t>
            </a:r>
            <a:r>
              <a:rPr lang="pt-BR" b="1" dirty="0">
                <a:solidFill>
                  <a:srgbClr val="7030A0"/>
                </a:solidFill>
              </a:rPr>
              <a:t>treinamento do modelo</a:t>
            </a:r>
            <a:r>
              <a:rPr lang="pt-BR" dirty="0"/>
              <a:t>.</a:t>
            </a:r>
          </a:p>
          <a:p>
            <a:pPr lvl="1">
              <a:buFont typeface="Wingdings" panose="05000000000000000000" pitchFamily="2" charset="2"/>
              <a:buChar char="§"/>
            </a:pPr>
            <a:r>
              <a:rPr lang="pt-BR" dirty="0"/>
              <a:t>Treinamento é o processo de </a:t>
            </a:r>
            <a:r>
              <a:rPr lang="pt-BR" b="1" dirty="0">
                <a:solidFill>
                  <a:srgbClr val="00B050"/>
                </a:solidFill>
              </a:rPr>
              <a:t>atualizar o modelo (i.e., os pesos)</a:t>
            </a:r>
            <a:r>
              <a:rPr lang="pt-BR" dirty="0"/>
              <a:t> para obter predições melhores a cada </a:t>
            </a:r>
            <a:r>
              <a:rPr lang="pt-BR" b="1" dirty="0">
                <a:solidFill>
                  <a:srgbClr val="00B050"/>
                </a:solidFill>
              </a:rPr>
              <a:t>iteração</a:t>
            </a:r>
            <a:r>
              <a:rPr lang="pt-BR" dirty="0"/>
              <a:t>.</a:t>
            </a:r>
          </a:p>
        </p:txBody>
      </p:sp>
      <p:grpSp>
        <p:nvGrpSpPr>
          <p:cNvPr id="4" name="Agrupar 4">
            <a:extLst>
              <a:ext uri="{FF2B5EF4-FFF2-40B4-BE49-F238E27FC236}">
                <a16:creationId xmlns:a16="http://schemas.microsoft.com/office/drawing/2014/main" id="{9344D18F-E9D1-3434-5B95-AFC054026FB2}"/>
              </a:ext>
            </a:extLst>
          </p:cNvPr>
          <p:cNvGrpSpPr/>
          <p:nvPr/>
        </p:nvGrpSpPr>
        <p:grpSpPr>
          <a:xfrm>
            <a:off x="838200" y="1994437"/>
            <a:ext cx="4381189" cy="4404763"/>
            <a:chOff x="55618" y="2251324"/>
            <a:chExt cx="4381189" cy="4404763"/>
          </a:xfrm>
        </p:grpSpPr>
        <p:grpSp>
          <p:nvGrpSpPr>
            <p:cNvPr id="5" name="Agrupar 5">
              <a:extLst>
                <a:ext uri="{FF2B5EF4-FFF2-40B4-BE49-F238E27FC236}">
                  <a16:creationId xmlns:a16="http://schemas.microsoft.com/office/drawing/2014/main" id="{45CBF24A-5767-4370-B736-8C09E572C4B5}"/>
                </a:ext>
              </a:extLst>
            </p:cNvPr>
            <p:cNvGrpSpPr/>
            <p:nvPr/>
          </p:nvGrpSpPr>
          <p:grpSpPr>
            <a:xfrm>
              <a:off x="55618" y="2251324"/>
              <a:ext cx="4381189" cy="4404763"/>
              <a:chOff x="930667" y="1938641"/>
              <a:chExt cx="4381189" cy="4404763"/>
            </a:xfrm>
          </p:grpSpPr>
          <p:grpSp>
            <p:nvGrpSpPr>
              <p:cNvPr id="8" name="Agrupar 8">
                <a:extLst>
                  <a:ext uri="{FF2B5EF4-FFF2-40B4-BE49-F238E27FC236}">
                    <a16:creationId xmlns:a16="http://schemas.microsoft.com/office/drawing/2014/main" id="{DBBB9A33-52B4-E67A-457C-F9DF2E931649}"/>
                  </a:ext>
                </a:extLst>
              </p:cNvPr>
              <p:cNvGrpSpPr/>
              <p:nvPr/>
            </p:nvGrpSpPr>
            <p:grpSpPr>
              <a:xfrm>
                <a:off x="930667" y="1938641"/>
                <a:ext cx="4381189" cy="4404763"/>
                <a:chOff x="447782" y="1825625"/>
                <a:chExt cx="4381189" cy="4404763"/>
              </a:xfrm>
            </p:grpSpPr>
            <p:grpSp>
              <p:nvGrpSpPr>
                <p:cNvPr id="18" name="Agrupar 44">
                  <a:extLst>
                    <a:ext uri="{FF2B5EF4-FFF2-40B4-BE49-F238E27FC236}">
                      <a16:creationId xmlns:a16="http://schemas.microsoft.com/office/drawing/2014/main" id="{B3F2C569-5AD8-6920-653E-E9202ECC9894}"/>
                    </a:ext>
                  </a:extLst>
                </p:cNvPr>
                <p:cNvGrpSpPr/>
                <p:nvPr/>
              </p:nvGrpSpPr>
              <p:grpSpPr>
                <a:xfrm>
                  <a:off x="447782" y="1825625"/>
                  <a:ext cx="4381189" cy="3859236"/>
                  <a:chOff x="1592492" y="1393380"/>
                  <a:chExt cx="3155387" cy="2846768"/>
                </a:xfrm>
              </p:grpSpPr>
              <p:pic>
                <p:nvPicPr>
                  <p:cNvPr id="31" name="Picture 2" descr="Visualization for Function Optimization in Python -  MachineLearningMastery.com">
                    <a:extLst>
                      <a:ext uri="{FF2B5EF4-FFF2-40B4-BE49-F238E27FC236}">
                        <a16:creationId xmlns:a16="http://schemas.microsoft.com/office/drawing/2014/main" id="{EAA854D4-6261-8A67-4D85-DC0F8814436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468" t="17228" r="16217" b="10711"/>
                  <a:stretch/>
                </p:blipFill>
                <p:spPr bwMode="auto">
                  <a:xfrm>
                    <a:off x="1592492" y="1393380"/>
                    <a:ext cx="3069081" cy="284436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4" name="CaixaDeTexto 27">
                        <a:extLst>
                          <a:ext uri="{FF2B5EF4-FFF2-40B4-BE49-F238E27FC236}">
                            <a16:creationId xmlns:a16="http://schemas.microsoft.com/office/drawing/2014/main" id="{FF33C1EC-4904-6568-779A-CC84C151528E}"/>
                          </a:ext>
                        </a:extLst>
                      </p:cNvPr>
                      <p:cNvSpPr txBox="1"/>
                      <p:nvPr/>
                    </p:nvSpPr>
                    <p:spPr>
                      <a:xfrm>
                        <a:off x="2025506" y="3945007"/>
                        <a:ext cx="547099" cy="295141"/>
                      </a:xfrm>
                      <a:prstGeom prst="rect">
                        <a:avLst/>
                      </a:prstGeom>
                      <a:noFill/>
                    </p:spPr>
                    <p:txBody>
                      <a:bodyPr wrap="square">
                        <a:spAutoFit/>
                      </a:bodyPr>
                      <a:lstStyle/>
                      <a:p>
                        <a:pPr/>
                        <a14:m>
                          <m:oMathPara xmlns:m="http://schemas.openxmlformats.org/officeDocument/2006/math">
                            <m:oMath>
                              <m:sSub>
                                <m:sSubPr>
                                  <m:ctrlPr>
                                    <a:rPr lang="pt-BR" sz="2000" i="1">
                                      <a:latin typeface="Cambria Math" panose="02040503050406030204" pitchFamily="18" charset="0"/>
                                    </a:rPr>
                                  </m:ctrlPr>
                                </m:sSubPr>
                                <m:e>
                                  <m:r>
                                    <a:rPr lang="pt-BR" sz="2000" i="1">
                                      <a:latin typeface="Cambria Math" panose="02040503050406030204" pitchFamily="18" charset="0"/>
                                    </a:rPr>
                                    <m:t>𝑎</m:t>
                                  </m:r>
                                </m:e>
                                <m:sub>
                                  <m:r>
                                    <a:rPr lang="pt-BR" sz="2000" i="1">
                                      <a:latin typeface="Cambria Math" panose="02040503050406030204" pitchFamily="18" charset="0"/>
                                    </a:rPr>
                                    <m:t>0</m:t>
                                  </m:r>
                                </m:sub>
                              </m:sSub>
                            </m:oMath>
                          </m:oMathPara>
                        </a14:m>
                        <a:endParaRPr lang="pt-BR" sz="2000" dirty="0"/>
                      </a:p>
                    </p:txBody>
                  </p:sp>
                </mc:Choice>
                <mc:Fallback xmlns="">
                  <p:sp>
                    <p:nvSpPr>
                      <p:cNvPr id="27" name="CaixaDeTexto 26">
                        <a:extLst>
                          <a:ext uri="{FF2B5EF4-FFF2-40B4-BE49-F238E27FC236}">
                            <a16:creationId xmlns:a16="http://schemas.microsoft.com/office/drawing/2014/main" id="{00D42F04-97F1-C0EA-6B00-D0BD117CDEFF}"/>
                          </a:ext>
                        </a:extLst>
                      </p:cNvPr>
                      <p:cNvSpPr txBox="1">
                        <a:spLocks noRot="1" noChangeAspect="1" noMove="1" noResize="1" noEditPoints="1" noAdjustHandles="1" noChangeArrowheads="1" noChangeShapeType="1" noTextEdit="1"/>
                      </p:cNvSpPr>
                      <p:nvPr/>
                    </p:nvSpPr>
                    <p:spPr>
                      <a:xfrm>
                        <a:off x="2025506" y="3945007"/>
                        <a:ext cx="547099" cy="295141"/>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5" name="CaixaDeTexto 28">
                        <a:extLst>
                          <a:ext uri="{FF2B5EF4-FFF2-40B4-BE49-F238E27FC236}">
                            <a16:creationId xmlns:a16="http://schemas.microsoft.com/office/drawing/2014/main" id="{8550E570-431B-A667-30E2-009964454538}"/>
                          </a:ext>
                        </a:extLst>
                      </p:cNvPr>
                      <p:cNvSpPr txBox="1"/>
                      <p:nvPr/>
                    </p:nvSpPr>
                    <p:spPr>
                      <a:xfrm>
                        <a:off x="4099817" y="3575675"/>
                        <a:ext cx="423809" cy="295141"/>
                      </a:xfrm>
                      <a:prstGeom prst="rect">
                        <a:avLst/>
                      </a:prstGeom>
                      <a:noFill/>
                    </p:spPr>
                    <p:txBody>
                      <a:bodyPr wrap="square">
                        <a:spAutoFit/>
                      </a:bodyPr>
                      <a:lstStyle/>
                      <a:p>
                        <a:pPr/>
                        <a14:m>
                          <m:oMathPara xmlns:m="http://schemas.openxmlformats.org/officeDocument/2006/math">
                            <m:oMath>
                              <m:sSub>
                                <m:sSubPr>
                                  <m:ctrlPr>
                                    <a:rPr lang="pt-BR" sz="2000" i="1">
                                      <a:latin typeface="Cambria Math" panose="02040503050406030204" pitchFamily="18" charset="0"/>
                                    </a:rPr>
                                  </m:ctrlPr>
                                </m:sSubPr>
                                <m:e>
                                  <m:r>
                                    <a:rPr lang="pt-BR" sz="2000" i="1">
                                      <a:latin typeface="Cambria Math" panose="02040503050406030204" pitchFamily="18" charset="0"/>
                                    </a:rPr>
                                    <m:t>𝑎</m:t>
                                  </m:r>
                                </m:e>
                                <m:sub>
                                  <m:r>
                                    <a:rPr lang="pt-BR" sz="2000" i="1">
                                      <a:latin typeface="Cambria Math" panose="02040503050406030204" pitchFamily="18" charset="0"/>
                                    </a:rPr>
                                    <m:t>1</m:t>
                                  </m:r>
                                </m:sub>
                              </m:sSub>
                            </m:oMath>
                          </m:oMathPara>
                        </a14:m>
                        <a:endParaRPr lang="pt-BR" sz="2000" dirty="0"/>
                      </a:p>
                    </p:txBody>
                  </p:sp>
                </mc:Choice>
                <mc:Fallback xmlns="">
                  <p:sp>
                    <p:nvSpPr>
                      <p:cNvPr id="29" name="CaixaDeTexto 28">
                        <a:extLst>
                          <a:ext uri="{FF2B5EF4-FFF2-40B4-BE49-F238E27FC236}">
                            <a16:creationId xmlns:a16="http://schemas.microsoft.com/office/drawing/2014/main" id="{1FCA9EDF-24EB-6DAA-4AB3-9E76EE2FB342}"/>
                          </a:ext>
                        </a:extLst>
                      </p:cNvPr>
                      <p:cNvSpPr txBox="1">
                        <a:spLocks noRot="1" noChangeAspect="1" noMove="1" noResize="1" noEditPoints="1" noAdjustHandles="1" noChangeArrowheads="1" noChangeShapeType="1" noTextEdit="1"/>
                      </p:cNvSpPr>
                      <p:nvPr/>
                    </p:nvSpPr>
                    <p:spPr>
                      <a:xfrm>
                        <a:off x="4099817" y="3575675"/>
                        <a:ext cx="423809" cy="295141"/>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7" name="CaixaDeTexto 29">
                        <a:extLst>
                          <a:ext uri="{FF2B5EF4-FFF2-40B4-BE49-F238E27FC236}">
                            <a16:creationId xmlns:a16="http://schemas.microsoft.com/office/drawing/2014/main" id="{DB123646-A2E6-EFE2-A269-F1DE26F3D5E8}"/>
                          </a:ext>
                        </a:extLst>
                      </p:cNvPr>
                      <p:cNvSpPr txBox="1"/>
                      <p:nvPr/>
                    </p:nvSpPr>
                    <p:spPr>
                      <a:xfrm>
                        <a:off x="4190506" y="1542308"/>
                        <a:ext cx="557373" cy="272438"/>
                      </a:xfrm>
                      <a:prstGeom prst="rect">
                        <a:avLst/>
                      </a:prstGeom>
                      <a:noFill/>
                    </p:spPr>
                    <p:txBody>
                      <a:bodyPr wrap="square">
                        <a:spAutoFit/>
                      </a:bodyPr>
                      <a:lstStyle/>
                      <a:p>
                        <a:pPr/>
                        <a14:m>
                          <m:oMathPara xmlns:m="http://schemas.openxmlformats.org/officeDocument/2006/math">
                            <m:oMath>
                              <m:r>
                                <a:rPr lang="pt-BR" sz="1800" b="1" i="0" smtClean="0">
                                  <a:latin typeface="Cambria Math" panose="02040503050406030204" pitchFamily="18" charset="0"/>
                                </a:rPr>
                                <m:t>𝐄𝐐𝐌</m:t>
                              </m:r>
                            </m:oMath>
                          </m:oMathPara>
                        </a14:m>
                        <a:endParaRPr lang="pt-BR" b="1" dirty="0"/>
                      </a:p>
                    </p:txBody>
                  </p:sp>
                </mc:Choice>
                <mc:Fallback xmlns="">
                  <p:sp>
                    <p:nvSpPr>
                      <p:cNvPr id="41" name="CaixaDeTexto 40">
                        <a:extLst>
                          <a:ext uri="{FF2B5EF4-FFF2-40B4-BE49-F238E27FC236}">
                            <a16:creationId xmlns:a16="http://schemas.microsoft.com/office/drawing/2014/main" id="{B86ACC41-6A24-7A4D-DE0B-040FA766A60D}"/>
                          </a:ext>
                        </a:extLst>
                      </p:cNvPr>
                      <p:cNvSpPr txBox="1">
                        <a:spLocks noRot="1" noChangeAspect="1" noMove="1" noResize="1" noEditPoints="1" noAdjustHandles="1" noChangeArrowheads="1" noChangeShapeType="1" noTextEdit="1"/>
                      </p:cNvSpPr>
                      <p:nvPr/>
                    </p:nvSpPr>
                    <p:spPr>
                      <a:xfrm>
                        <a:off x="4190506" y="1542308"/>
                        <a:ext cx="557373" cy="272438"/>
                      </a:xfrm>
                      <a:prstGeom prst="rect">
                        <a:avLst/>
                      </a:prstGeom>
                      <a:blipFill>
                        <a:blip r:embed="rId6"/>
                        <a:stretch>
                          <a:fillRect b="-9836"/>
                        </a:stretch>
                      </a:blipFill>
                    </p:spPr>
                    <p:txBody>
                      <a:bodyPr/>
                      <a:lstStyle/>
                      <a:p>
                        <a:r>
                          <a:rPr lang="pt-BR">
                            <a:noFill/>
                          </a:rPr>
                          <a:t> </a:t>
                        </a:r>
                      </a:p>
                    </p:txBody>
                  </p:sp>
                </mc:Fallback>
              </mc:AlternateContent>
            </p:grpSp>
            <p:sp>
              <p:nvSpPr>
                <p:cNvPr id="19" name="Elipse 18">
                  <a:extLst>
                    <a:ext uri="{FF2B5EF4-FFF2-40B4-BE49-F238E27FC236}">
                      <a16:creationId xmlns:a16="http://schemas.microsoft.com/office/drawing/2014/main" id="{3580F84A-1C34-B760-11E0-86229D51511B}"/>
                    </a:ext>
                  </a:extLst>
                </p:cNvPr>
                <p:cNvSpPr>
                  <a:spLocks noChangeAspect="1"/>
                </p:cNvSpPr>
                <p:nvPr/>
              </p:nvSpPr>
              <p:spPr>
                <a:xfrm>
                  <a:off x="1548001" y="3424885"/>
                  <a:ext cx="72000" cy="720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20" name="Conector reto 19">
                  <a:extLst>
                    <a:ext uri="{FF2B5EF4-FFF2-40B4-BE49-F238E27FC236}">
                      <a16:creationId xmlns:a16="http://schemas.microsoft.com/office/drawing/2014/main" id="{D3B27D56-7F27-E4B2-2709-687DEC7BC15B}"/>
                    </a:ext>
                  </a:extLst>
                </p:cNvPr>
                <p:cNvCxnSpPr>
                  <a:cxnSpLocks/>
                  <a:endCxn id="19" idx="4"/>
                </p:cNvCxnSpPr>
                <p:nvPr/>
              </p:nvCxnSpPr>
              <p:spPr>
                <a:xfrm flipH="1" flipV="1">
                  <a:off x="1584001" y="3496885"/>
                  <a:ext cx="11005" cy="464868"/>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1" name="Conector reto 20">
                  <a:extLst>
                    <a:ext uri="{FF2B5EF4-FFF2-40B4-BE49-F238E27FC236}">
                      <a16:creationId xmlns:a16="http://schemas.microsoft.com/office/drawing/2014/main" id="{4EA7C11E-EC5F-DF33-E9B7-636B67C7597B}"/>
                    </a:ext>
                  </a:extLst>
                </p:cNvPr>
                <p:cNvCxnSpPr>
                  <a:cxnSpLocks/>
                </p:cNvCxnSpPr>
                <p:nvPr/>
              </p:nvCxnSpPr>
              <p:spPr>
                <a:xfrm flipH="1" flipV="1">
                  <a:off x="2644775" y="4469673"/>
                  <a:ext cx="931863" cy="27854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2" name="Conector reto 21">
                  <a:extLst>
                    <a:ext uri="{FF2B5EF4-FFF2-40B4-BE49-F238E27FC236}">
                      <a16:creationId xmlns:a16="http://schemas.microsoft.com/office/drawing/2014/main" id="{A8B65B29-AA59-92D2-356C-BDD3B673232F}"/>
                    </a:ext>
                  </a:extLst>
                </p:cNvPr>
                <p:cNvCxnSpPr>
                  <a:cxnSpLocks/>
                </p:cNvCxnSpPr>
                <p:nvPr/>
              </p:nvCxnSpPr>
              <p:spPr>
                <a:xfrm flipH="1">
                  <a:off x="857476" y="4155281"/>
                  <a:ext cx="737530" cy="628784"/>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3" name="Conector reto 22">
                  <a:extLst>
                    <a:ext uri="{FF2B5EF4-FFF2-40B4-BE49-F238E27FC236}">
                      <a16:creationId xmlns:a16="http://schemas.microsoft.com/office/drawing/2014/main" id="{D073B126-37FA-E9FD-68F8-B94BDD48E82B}"/>
                    </a:ext>
                  </a:extLst>
                </p:cNvPr>
                <p:cNvCxnSpPr>
                  <a:cxnSpLocks/>
                </p:cNvCxnSpPr>
                <p:nvPr/>
              </p:nvCxnSpPr>
              <p:spPr>
                <a:xfrm flipH="1" flipV="1">
                  <a:off x="1600660" y="4144018"/>
                  <a:ext cx="73266" cy="32908"/>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4" name="Conector reto 23">
                  <a:extLst>
                    <a:ext uri="{FF2B5EF4-FFF2-40B4-BE49-F238E27FC236}">
                      <a16:creationId xmlns:a16="http://schemas.microsoft.com/office/drawing/2014/main" id="{46854ABF-3D70-B939-4ED0-A8FADC23351B}"/>
                    </a:ext>
                  </a:extLst>
                </p:cNvPr>
                <p:cNvCxnSpPr>
                  <a:cxnSpLocks/>
                </p:cNvCxnSpPr>
                <p:nvPr/>
              </p:nvCxnSpPr>
              <p:spPr>
                <a:xfrm flipV="1">
                  <a:off x="1602149" y="4110038"/>
                  <a:ext cx="0" cy="4091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8" name="Conector de Seta Reta 51">
                  <a:extLst>
                    <a:ext uri="{FF2B5EF4-FFF2-40B4-BE49-F238E27FC236}">
                      <a16:creationId xmlns:a16="http://schemas.microsoft.com/office/drawing/2014/main" id="{ED23E1B1-963D-4A71-37E9-BD8E2C39E5FA}"/>
                    </a:ext>
                  </a:extLst>
                </p:cNvPr>
                <p:cNvCxnSpPr>
                  <a:cxnSpLocks/>
                </p:cNvCxnSpPr>
                <p:nvPr/>
              </p:nvCxnSpPr>
              <p:spPr>
                <a:xfrm flipH="1" flipV="1">
                  <a:off x="2406947" y="4469673"/>
                  <a:ext cx="623733" cy="121193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CaixaDeTexto 25">
                      <a:extLst>
                        <a:ext uri="{FF2B5EF4-FFF2-40B4-BE49-F238E27FC236}">
                          <a16:creationId xmlns:a16="http://schemas.microsoft.com/office/drawing/2014/main" id="{4CD5D1B8-6B5C-8F3F-B41D-9DCEF115885F}"/>
                        </a:ext>
                      </a:extLst>
                    </p:cNvPr>
                    <p:cNvSpPr txBox="1"/>
                    <p:nvPr/>
                  </p:nvSpPr>
                  <p:spPr>
                    <a:xfrm>
                      <a:off x="2107796" y="5645613"/>
                      <a:ext cx="2019417" cy="584775"/>
                    </a:xfrm>
                    <a:prstGeom prst="rect">
                      <a:avLst/>
                    </a:prstGeom>
                    <a:noFill/>
                  </p:spPr>
                  <p:txBody>
                    <a:bodyPr wrap="square" rtlCol="0">
                      <a:spAutoFit/>
                    </a:bodyPr>
                    <a:lstStyle/>
                    <a:p>
                      <a:r>
                        <a:rPr lang="pt-BR" sz="1400" b="1" dirty="0">
                          <a:solidFill>
                            <a:srgbClr val="00B0F0"/>
                          </a:solidFill>
                        </a:rPr>
                        <a:t>ponto de mínimo global</a:t>
                      </a:r>
                    </a:p>
                    <a:p>
                      <a:pPr/>
                      <a14:m>
                        <m:oMathPara xmlns:m="http://schemas.openxmlformats.org/officeDocument/2006/math">
                          <m:oMath>
                            <m:sSub>
                              <m:sSubPr>
                                <m:ctrlPr>
                                  <a:rPr lang="pt-BR" b="1" i="1">
                                    <a:latin typeface="Cambria Math" panose="02040503050406030204" pitchFamily="18" charset="0"/>
                                  </a:rPr>
                                </m:ctrlPr>
                              </m:sSubPr>
                              <m:e>
                                <m:r>
                                  <a:rPr lang="pt-BR" b="1" i="1">
                                    <a:latin typeface="Cambria Math" panose="02040503050406030204" pitchFamily="18" charset="0"/>
                                  </a:rPr>
                                  <m:t>𝒂</m:t>
                                </m:r>
                              </m:e>
                              <m:sub>
                                <m:r>
                                  <a:rPr lang="pt-BR" b="0" i="0">
                                    <a:latin typeface="Cambria Math" panose="02040503050406030204" pitchFamily="18" charset="0"/>
                                  </a:rPr>
                                  <m:t>ó</m:t>
                                </m:r>
                                <m:r>
                                  <m:rPr>
                                    <m:sty m:val="p"/>
                                  </m:rPr>
                                  <a:rPr lang="pt-BR" b="0" i="0">
                                    <a:latin typeface="Cambria Math" panose="02040503050406030204" pitchFamily="18" charset="0"/>
                                  </a:rPr>
                                  <m:t>timo</m:t>
                                </m:r>
                              </m:sub>
                            </m:sSub>
                          </m:oMath>
                        </m:oMathPara>
                      </a14:m>
                      <a:endParaRPr lang="pt-BR" b="1" dirty="0"/>
                    </a:p>
                  </p:txBody>
                </p:sp>
              </mc:Choice>
              <mc:Fallback xmlns="">
                <p:sp>
                  <p:nvSpPr>
                    <p:cNvPr id="30" name="CaixaDeTexto 25">
                      <a:extLst>
                        <a:ext uri="{FF2B5EF4-FFF2-40B4-BE49-F238E27FC236}">
                          <a16:creationId xmlns:a16="http://schemas.microsoft.com/office/drawing/2014/main" id="{4CD5D1B8-6B5C-8F3F-B41D-9DCEF115885F}"/>
                        </a:ext>
                      </a:extLst>
                    </p:cNvPr>
                    <p:cNvSpPr txBox="1">
                      <a:spLocks noRot="1" noChangeAspect="1" noMove="1" noResize="1" noEditPoints="1" noAdjustHandles="1" noChangeArrowheads="1" noChangeShapeType="1" noTextEdit="1"/>
                    </p:cNvSpPr>
                    <p:nvPr/>
                  </p:nvSpPr>
                  <p:spPr>
                    <a:xfrm>
                      <a:off x="2107796" y="5645613"/>
                      <a:ext cx="2019417" cy="584775"/>
                    </a:xfrm>
                    <a:prstGeom prst="rect">
                      <a:avLst/>
                    </a:prstGeom>
                    <a:blipFill>
                      <a:blip r:embed="rId7"/>
                      <a:stretch>
                        <a:fillRect l="-906" t="-2083"/>
                      </a:stretch>
                    </a:blipFill>
                  </p:spPr>
                  <p:txBody>
                    <a:bodyPr/>
                    <a:lstStyle/>
                    <a:p>
                      <a:r>
                        <a:rPr lang="en-US">
                          <a:noFill/>
                        </a:rPr>
                        <a:t> </a:t>
                      </a:r>
                    </a:p>
                  </p:txBody>
                </p:sp>
              </mc:Fallback>
            </mc:AlternateContent>
          </p:grpSp>
          <p:sp>
            <p:nvSpPr>
              <p:cNvPr id="9" name="Elipse 8">
                <a:extLst>
                  <a:ext uri="{FF2B5EF4-FFF2-40B4-BE49-F238E27FC236}">
                    <a16:creationId xmlns:a16="http://schemas.microsoft.com/office/drawing/2014/main" id="{A8B6B054-A0E1-9497-ADAA-A31C58678FB7}"/>
                  </a:ext>
                </a:extLst>
              </p:cNvPr>
              <p:cNvSpPr>
                <a:spLocks noChangeAspect="1"/>
              </p:cNvSpPr>
              <p:nvPr/>
            </p:nvSpPr>
            <p:spPr>
              <a:xfrm>
                <a:off x="2099351" y="3779808"/>
                <a:ext cx="72000" cy="720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Elipse 9">
                <a:extLst>
                  <a:ext uri="{FF2B5EF4-FFF2-40B4-BE49-F238E27FC236}">
                    <a16:creationId xmlns:a16="http://schemas.microsoft.com/office/drawing/2014/main" id="{3F0FB46B-591B-DECB-784D-FB6F5066E6DF}"/>
                  </a:ext>
                </a:extLst>
              </p:cNvPr>
              <p:cNvSpPr>
                <a:spLocks noChangeAspect="1"/>
              </p:cNvSpPr>
              <p:nvPr/>
            </p:nvSpPr>
            <p:spPr>
              <a:xfrm>
                <a:off x="2192811" y="3941684"/>
                <a:ext cx="72000" cy="720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1" name="Elipse 10">
                <a:extLst>
                  <a:ext uri="{FF2B5EF4-FFF2-40B4-BE49-F238E27FC236}">
                    <a16:creationId xmlns:a16="http://schemas.microsoft.com/office/drawing/2014/main" id="{07D4D312-BAC5-D271-B2A0-3ABED0BD3A2F}"/>
                  </a:ext>
                </a:extLst>
              </p:cNvPr>
              <p:cNvSpPr>
                <a:spLocks noChangeAspect="1"/>
              </p:cNvSpPr>
              <p:nvPr/>
            </p:nvSpPr>
            <p:spPr>
              <a:xfrm>
                <a:off x="2316384" y="4063903"/>
                <a:ext cx="72000" cy="720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Elipse 11">
                <a:extLst>
                  <a:ext uri="{FF2B5EF4-FFF2-40B4-BE49-F238E27FC236}">
                    <a16:creationId xmlns:a16="http://schemas.microsoft.com/office/drawing/2014/main" id="{31607A61-D5CF-8AA3-E56A-7445CE41E8DB}"/>
                  </a:ext>
                </a:extLst>
              </p:cNvPr>
              <p:cNvSpPr>
                <a:spLocks noChangeAspect="1"/>
              </p:cNvSpPr>
              <p:nvPr/>
            </p:nvSpPr>
            <p:spPr>
              <a:xfrm>
                <a:off x="2490467" y="4126542"/>
                <a:ext cx="72000" cy="720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13" name="Conector: Curvo 13">
                <a:extLst>
                  <a:ext uri="{FF2B5EF4-FFF2-40B4-BE49-F238E27FC236}">
                    <a16:creationId xmlns:a16="http://schemas.microsoft.com/office/drawing/2014/main" id="{328FC2F8-5B78-F676-A59A-3113162AFE53}"/>
                  </a:ext>
                </a:extLst>
              </p:cNvPr>
              <p:cNvCxnSpPr>
                <a:cxnSpLocks/>
                <a:stCxn id="19" idx="0"/>
                <a:endCxn id="9" idx="0"/>
              </p:cNvCxnSpPr>
              <p:nvPr/>
            </p:nvCxnSpPr>
            <p:spPr>
              <a:xfrm rot="16200000" flipH="1">
                <a:off x="1980164" y="3624622"/>
                <a:ext cx="241907" cy="68465"/>
              </a:xfrm>
              <a:prstGeom prst="curvedConnector3">
                <a:avLst>
                  <a:gd name="adj1" fmla="val -29531"/>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4" name="Conector: Curvo 14">
                <a:extLst>
                  <a:ext uri="{FF2B5EF4-FFF2-40B4-BE49-F238E27FC236}">
                    <a16:creationId xmlns:a16="http://schemas.microsoft.com/office/drawing/2014/main" id="{88864241-E559-BD09-2F27-714BB052D9FF}"/>
                  </a:ext>
                </a:extLst>
              </p:cNvPr>
              <p:cNvCxnSpPr>
                <a:cxnSpLocks/>
                <a:stCxn id="9" idx="0"/>
                <a:endCxn id="10" idx="0"/>
              </p:cNvCxnSpPr>
              <p:nvPr/>
            </p:nvCxnSpPr>
            <p:spPr>
              <a:xfrm rot="16200000" flipH="1">
                <a:off x="2101143" y="3814016"/>
                <a:ext cx="161876" cy="93460"/>
              </a:xfrm>
              <a:prstGeom prst="curvedConnector3">
                <a:avLst>
                  <a:gd name="adj1" fmla="val -85320"/>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5" name="Conector: Curvo 15">
                <a:extLst>
                  <a:ext uri="{FF2B5EF4-FFF2-40B4-BE49-F238E27FC236}">
                    <a16:creationId xmlns:a16="http://schemas.microsoft.com/office/drawing/2014/main" id="{9079DE15-C9E3-E13D-2181-F7B0DD652A0A}"/>
                  </a:ext>
                </a:extLst>
              </p:cNvPr>
              <p:cNvCxnSpPr>
                <a:cxnSpLocks/>
                <a:stCxn id="10" idx="0"/>
                <a:endCxn id="11" idx="0"/>
              </p:cNvCxnSpPr>
              <p:nvPr/>
            </p:nvCxnSpPr>
            <p:spPr>
              <a:xfrm rot="16200000" flipH="1">
                <a:off x="2229487" y="3941007"/>
                <a:ext cx="122219" cy="123573"/>
              </a:xfrm>
              <a:prstGeom prst="curvedConnector3">
                <a:avLst>
                  <a:gd name="adj1" fmla="val -120798"/>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6" name="Conector: Curvo 16">
                <a:extLst>
                  <a:ext uri="{FF2B5EF4-FFF2-40B4-BE49-F238E27FC236}">
                    <a16:creationId xmlns:a16="http://schemas.microsoft.com/office/drawing/2014/main" id="{6DC48B22-CFA3-A80E-D9EB-51142F549CFF}"/>
                  </a:ext>
                </a:extLst>
              </p:cNvPr>
              <p:cNvCxnSpPr>
                <a:cxnSpLocks/>
                <a:stCxn id="11" idx="0"/>
                <a:endCxn id="12" idx="0"/>
              </p:cNvCxnSpPr>
              <p:nvPr/>
            </p:nvCxnSpPr>
            <p:spPr>
              <a:xfrm rot="16200000" flipH="1">
                <a:off x="2408105" y="4008181"/>
                <a:ext cx="62639" cy="174083"/>
              </a:xfrm>
              <a:prstGeom prst="curvedConnector3">
                <a:avLst>
                  <a:gd name="adj1" fmla="val -235697"/>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7" name="CaixaDeTexto 16">
                <a:extLst>
                  <a:ext uri="{FF2B5EF4-FFF2-40B4-BE49-F238E27FC236}">
                    <a16:creationId xmlns:a16="http://schemas.microsoft.com/office/drawing/2014/main" id="{13EC68C7-C0D9-5F3F-5791-0865ADFFD909}"/>
                  </a:ext>
                </a:extLst>
              </p:cNvPr>
              <p:cNvSpPr txBox="1"/>
              <p:nvPr/>
            </p:nvSpPr>
            <p:spPr>
              <a:xfrm>
                <a:off x="2085034" y="3336761"/>
                <a:ext cx="1753377" cy="276999"/>
              </a:xfrm>
              <a:prstGeom prst="rect">
                <a:avLst/>
              </a:prstGeom>
              <a:noFill/>
            </p:spPr>
            <p:txBody>
              <a:bodyPr wrap="square" rtlCol="0">
                <a:spAutoFit/>
              </a:bodyPr>
              <a:lstStyle/>
              <a:p>
                <a:r>
                  <a:rPr lang="pt-BR" sz="1200" dirty="0"/>
                  <a:t>iterações</a:t>
                </a:r>
              </a:p>
            </p:txBody>
          </p:sp>
        </p:grpSp>
        <p:sp>
          <p:nvSpPr>
            <p:cNvPr id="6" name="CaixaDeTexto 5">
              <a:extLst>
                <a:ext uri="{FF2B5EF4-FFF2-40B4-BE49-F238E27FC236}">
                  <a16:creationId xmlns:a16="http://schemas.microsoft.com/office/drawing/2014/main" id="{7A8B3D83-AD3E-D9FC-B360-AD1257A2F77E}"/>
                </a:ext>
              </a:extLst>
            </p:cNvPr>
            <p:cNvSpPr txBox="1"/>
            <p:nvPr/>
          </p:nvSpPr>
          <p:spPr>
            <a:xfrm>
              <a:off x="261646" y="2536599"/>
              <a:ext cx="737531" cy="461665"/>
            </a:xfrm>
            <a:prstGeom prst="rect">
              <a:avLst/>
            </a:prstGeom>
            <a:noFill/>
          </p:spPr>
          <p:txBody>
            <a:bodyPr wrap="square" rtlCol="0">
              <a:spAutoFit/>
            </a:bodyPr>
            <a:lstStyle/>
            <a:p>
              <a:pPr algn="ctr"/>
              <a:r>
                <a:rPr lang="pt-BR" sz="1200" dirty="0"/>
                <a:t>ponto inicial</a:t>
              </a:r>
            </a:p>
          </p:txBody>
        </p:sp>
        <p:cxnSp>
          <p:nvCxnSpPr>
            <p:cNvPr id="7" name="Conector de Seta Reta 7">
              <a:extLst>
                <a:ext uri="{FF2B5EF4-FFF2-40B4-BE49-F238E27FC236}">
                  <a16:creationId xmlns:a16="http://schemas.microsoft.com/office/drawing/2014/main" id="{F9B928E7-F62A-6C2C-30D2-11AEE5ECA480}"/>
                </a:ext>
              </a:extLst>
            </p:cNvPr>
            <p:cNvCxnSpPr>
              <a:cxnSpLocks/>
              <a:stCxn id="6" idx="2"/>
            </p:cNvCxnSpPr>
            <p:nvPr/>
          </p:nvCxnSpPr>
          <p:spPr>
            <a:xfrm>
              <a:off x="630412" y="2998264"/>
              <a:ext cx="525425" cy="8523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020522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EFD801-7E8D-0885-F1AD-8DAF6F77CEEE}"/>
              </a:ext>
            </a:extLst>
          </p:cNvPr>
          <p:cNvSpPr>
            <a:spLocks noGrp="1"/>
          </p:cNvSpPr>
          <p:nvPr>
            <p:ph type="title"/>
          </p:nvPr>
        </p:nvSpPr>
        <p:spPr/>
        <p:txBody>
          <a:bodyPr/>
          <a:lstStyle/>
          <a:p>
            <a:r>
              <a:rPr lang="pt-BR" dirty="0"/>
              <a:t>Gradiente descendente</a:t>
            </a:r>
          </a:p>
        </p:txBody>
      </p:sp>
      <p:sp>
        <p:nvSpPr>
          <p:cNvPr id="3" name="Espaço Reservado para Conteúdo 2">
            <a:extLst>
              <a:ext uri="{FF2B5EF4-FFF2-40B4-BE49-F238E27FC236}">
                <a16:creationId xmlns:a16="http://schemas.microsoft.com/office/drawing/2014/main" id="{9BA6276C-11C7-FBDF-9CC4-A84A195D7527}"/>
              </a:ext>
            </a:extLst>
          </p:cNvPr>
          <p:cNvSpPr>
            <a:spLocks noGrp="1"/>
          </p:cNvSpPr>
          <p:nvPr>
            <p:ph idx="1"/>
          </p:nvPr>
        </p:nvSpPr>
        <p:spPr>
          <a:xfrm>
            <a:off x="5604007" y="1825625"/>
            <a:ext cx="6457854" cy="5032376"/>
          </a:xfrm>
        </p:spPr>
        <p:txBody>
          <a:bodyPr>
            <a:normAutofit/>
          </a:bodyPr>
          <a:lstStyle/>
          <a:p>
            <a:r>
              <a:rPr lang="pt-BR" dirty="0"/>
              <a:t>O </a:t>
            </a:r>
            <a:r>
              <a:rPr lang="pt-BR" b="1" dirty="0">
                <a:solidFill>
                  <a:srgbClr val="00B050"/>
                </a:solidFill>
              </a:rPr>
              <a:t>treinamento</a:t>
            </a:r>
            <a:r>
              <a:rPr lang="pt-BR" dirty="0"/>
              <a:t> do modelo se </a:t>
            </a:r>
            <a:r>
              <a:rPr lang="pt-BR" b="1" dirty="0">
                <a:solidFill>
                  <a:srgbClr val="00B050"/>
                </a:solidFill>
              </a:rPr>
              <a:t>baseia</a:t>
            </a:r>
            <a:r>
              <a:rPr lang="pt-BR" dirty="0"/>
              <a:t> na </a:t>
            </a:r>
            <a:r>
              <a:rPr lang="pt-BR" b="1" dirty="0">
                <a:solidFill>
                  <a:srgbClr val="0070C0"/>
                </a:solidFill>
              </a:rPr>
              <a:t>informação</a:t>
            </a:r>
            <a:r>
              <a:rPr lang="pt-BR" b="1" dirty="0">
                <a:solidFill>
                  <a:srgbClr val="7030A0"/>
                </a:solidFill>
              </a:rPr>
              <a:t> trazida pela da função de erro</a:t>
            </a:r>
            <a:r>
              <a:rPr lang="pt-BR" dirty="0"/>
              <a:t>.</a:t>
            </a:r>
          </a:p>
          <a:p>
            <a:r>
              <a:rPr lang="pt-BR" dirty="0"/>
              <a:t>Essa </a:t>
            </a:r>
            <a:r>
              <a:rPr lang="pt-BR" b="1" dirty="0">
                <a:solidFill>
                  <a:srgbClr val="0070C0"/>
                </a:solidFill>
              </a:rPr>
              <a:t>informação</a:t>
            </a:r>
            <a:r>
              <a:rPr lang="pt-BR" dirty="0"/>
              <a:t> </a:t>
            </a:r>
            <a:r>
              <a:rPr lang="pt-BR" b="1" dirty="0">
                <a:solidFill>
                  <a:schemeClr val="accent2"/>
                </a:solidFill>
              </a:rPr>
              <a:t>aponta</a:t>
            </a:r>
            <a:r>
              <a:rPr lang="pt-BR" dirty="0">
                <a:solidFill>
                  <a:schemeClr val="accent2"/>
                </a:solidFill>
              </a:rPr>
              <a:t> </a:t>
            </a:r>
            <a:r>
              <a:rPr lang="pt-BR" b="1" dirty="0">
                <a:solidFill>
                  <a:srgbClr val="00B050"/>
                </a:solidFill>
              </a:rPr>
              <a:t>para a direção do ponto de mínimo</a:t>
            </a:r>
            <a:r>
              <a:rPr lang="pt-BR" dirty="0"/>
              <a:t>.</a:t>
            </a:r>
          </a:p>
          <a:p>
            <a:r>
              <a:rPr lang="pt-BR" dirty="0"/>
              <a:t>Como veremos, com essa </a:t>
            </a:r>
            <a:r>
              <a:rPr lang="pt-BR" b="1" dirty="0">
                <a:solidFill>
                  <a:srgbClr val="0070C0"/>
                </a:solidFill>
              </a:rPr>
              <a:t>informação</a:t>
            </a:r>
            <a:r>
              <a:rPr lang="pt-BR" dirty="0"/>
              <a:t>, o </a:t>
            </a:r>
            <a:r>
              <a:rPr lang="pt-BR" b="1" dirty="0">
                <a:solidFill>
                  <a:srgbClr val="00B050"/>
                </a:solidFill>
              </a:rPr>
              <a:t>gradiente descendente</a:t>
            </a:r>
            <a:r>
              <a:rPr lang="pt-BR" dirty="0"/>
              <a:t> </a:t>
            </a:r>
            <a:r>
              <a:rPr lang="pt-BR" b="1" dirty="0">
                <a:solidFill>
                  <a:srgbClr val="7030A0"/>
                </a:solidFill>
              </a:rPr>
              <a:t>caminha iterativamente</a:t>
            </a:r>
            <a:r>
              <a:rPr lang="pt-BR" dirty="0">
                <a:solidFill>
                  <a:srgbClr val="7030A0"/>
                </a:solidFill>
              </a:rPr>
              <a:t> </a:t>
            </a:r>
            <a:r>
              <a:rPr lang="pt-BR" dirty="0"/>
              <a:t>através da </a:t>
            </a:r>
            <a:r>
              <a:rPr lang="pt-BR" b="1" dirty="0">
                <a:solidFill>
                  <a:srgbClr val="00B050"/>
                </a:solidFill>
              </a:rPr>
              <a:t>superfície de erro</a:t>
            </a:r>
            <a:r>
              <a:rPr lang="pt-BR" dirty="0"/>
              <a:t> até o </a:t>
            </a:r>
            <a:r>
              <a:rPr lang="pt-BR" b="1" dirty="0">
                <a:solidFill>
                  <a:srgbClr val="00B050"/>
                </a:solidFill>
              </a:rPr>
              <a:t>ponto de mínimo.</a:t>
            </a:r>
          </a:p>
        </p:txBody>
      </p:sp>
      <p:grpSp>
        <p:nvGrpSpPr>
          <p:cNvPr id="4" name="Agrupar 4">
            <a:extLst>
              <a:ext uri="{FF2B5EF4-FFF2-40B4-BE49-F238E27FC236}">
                <a16:creationId xmlns:a16="http://schemas.microsoft.com/office/drawing/2014/main" id="{9F345E32-5359-1241-37CD-C3CC13B27933}"/>
              </a:ext>
            </a:extLst>
          </p:cNvPr>
          <p:cNvGrpSpPr/>
          <p:nvPr/>
        </p:nvGrpSpPr>
        <p:grpSpPr>
          <a:xfrm>
            <a:off x="838200" y="1994437"/>
            <a:ext cx="4381189" cy="4404763"/>
            <a:chOff x="55618" y="2251324"/>
            <a:chExt cx="4381189" cy="4404763"/>
          </a:xfrm>
        </p:grpSpPr>
        <p:grpSp>
          <p:nvGrpSpPr>
            <p:cNvPr id="5" name="Agrupar 5">
              <a:extLst>
                <a:ext uri="{FF2B5EF4-FFF2-40B4-BE49-F238E27FC236}">
                  <a16:creationId xmlns:a16="http://schemas.microsoft.com/office/drawing/2014/main" id="{331EB408-7DA3-FD42-3C07-ADA6BBC4904D}"/>
                </a:ext>
              </a:extLst>
            </p:cNvPr>
            <p:cNvGrpSpPr/>
            <p:nvPr/>
          </p:nvGrpSpPr>
          <p:grpSpPr>
            <a:xfrm>
              <a:off x="55618" y="2251324"/>
              <a:ext cx="4381189" cy="4404763"/>
              <a:chOff x="930667" y="1938641"/>
              <a:chExt cx="4381189" cy="4404763"/>
            </a:xfrm>
          </p:grpSpPr>
          <p:grpSp>
            <p:nvGrpSpPr>
              <p:cNvPr id="8" name="Agrupar 8">
                <a:extLst>
                  <a:ext uri="{FF2B5EF4-FFF2-40B4-BE49-F238E27FC236}">
                    <a16:creationId xmlns:a16="http://schemas.microsoft.com/office/drawing/2014/main" id="{6CBDA722-85D3-05E9-F5A8-B9814552D89E}"/>
                  </a:ext>
                </a:extLst>
              </p:cNvPr>
              <p:cNvGrpSpPr/>
              <p:nvPr/>
            </p:nvGrpSpPr>
            <p:grpSpPr>
              <a:xfrm>
                <a:off x="930667" y="1938641"/>
                <a:ext cx="4381189" cy="4404763"/>
                <a:chOff x="447782" y="1825625"/>
                <a:chExt cx="4381189" cy="4404763"/>
              </a:xfrm>
            </p:grpSpPr>
            <p:grpSp>
              <p:nvGrpSpPr>
                <p:cNvPr id="18" name="Agrupar 44">
                  <a:extLst>
                    <a:ext uri="{FF2B5EF4-FFF2-40B4-BE49-F238E27FC236}">
                      <a16:creationId xmlns:a16="http://schemas.microsoft.com/office/drawing/2014/main" id="{2F4C68F6-3B38-C076-3EAB-193FAC6A003E}"/>
                    </a:ext>
                  </a:extLst>
                </p:cNvPr>
                <p:cNvGrpSpPr/>
                <p:nvPr/>
              </p:nvGrpSpPr>
              <p:grpSpPr>
                <a:xfrm>
                  <a:off x="447782" y="1825625"/>
                  <a:ext cx="4381189" cy="3859236"/>
                  <a:chOff x="1592492" y="1393380"/>
                  <a:chExt cx="3155387" cy="2846768"/>
                </a:xfrm>
              </p:grpSpPr>
              <p:pic>
                <p:nvPicPr>
                  <p:cNvPr id="31" name="Picture 2" descr="Visualization for Function Optimization in Python -  MachineLearningMastery.com">
                    <a:extLst>
                      <a:ext uri="{FF2B5EF4-FFF2-40B4-BE49-F238E27FC236}">
                        <a16:creationId xmlns:a16="http://schemas.microsoft.com/office/drawing/2014/main" id="{5A0CDFF2-7455-46D4-9542-9ECBA3E3624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468" t="17228" r="16217" b="10711"/>
                  <a:stretch/>
                </p:blipFill>
                <p:spPr bwMode="auto">
                  <a:xfrm>
                    <a:off x="1592492" y="1393380"/>
                    <a:ext cx="3069081" cy="284436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4" name="CaixaDeTexto 27">
                        <a:extLst>
                          <a:ext uri="{FF2B5EF4-FFF2-40B4-BE49-F238E27FC236}">
                            <a16:creationId xmlns:a16="http://schemas.microsoft.com/office/drawing/2014/main" id="{BC8FE7EB-DF47-7ED3-F146-651647CE0725}"/>
                          </a:ext>
                        </a:extLst>
                      </p:cNvPr>
                      <p:cNvSpPr txBox="1"/>
                      <p:nvPr/>
                    </p:nvSpPr>
                    <p:spPr>
                      <a:xfrm>
                        <a:off x="2025506" y="3945007"/>
                        <a:ext cx="547099" cy="295141"/>
                      </a:xfrm>
                      <a:prstGeom prst="rect">
                        <a:avLst/>
                      </a:prstGeom>
                      <a:noFill/>
                    </p:spPr>
                    <p:txBody>
                      <a:bodyPr wrap="square">
                        <a:spAutoFit/>
                      </a:bodyPr>
                      <a:lstStyle/>
                      <a:p>
                        <a:pPr/>
                        <a14:m>
                          <m:oMathPara xmlns:m="http://schemas.openxmlformats.org/officeDocument/2006/math">
                            <m:oMath>
                              <m:sSub>
                                <m:sSubPr>
                                  <m:ctrlPr>
                                    <a:rPr lang="pt-BR" sz="2000" i="1">
                                      <a:latin typeface="Cambria Math" panose="02040503050406030204" pitchFamily="18" charset="0"/>
                                    </a:rPr>
                                  </m:ctrlPr>
                                </m:sSubPr>
                                <m:e>
                                  <m:r>
                                    <a:rPr lang="pt-BR" sz="2000" i="1">
                                      <a:latin typeface="Cambria Math" panose="02040503050406030204" pitchFamily="18" charset="0"/>
                                    </a:rPr>
                                    <m:t>𝑎</m:t>
                                  </m:r>
                                </m:e>
                                <m:sub>
                                  <m:r>
                                    <a:rPr lang="pt-BR" sz="2000" i="1">
                                      <a:latin typeface="Cambria Math" panose="02040503050406030204" pitchFamily="18" charset="0"/>
                                    </a:rPr>
                                    <m:t>0</m:t>
                                  </m:r>
                                </m:sub>
                              </m:sSub>
                            </m:oMath>
                          </m:oMathPara>
                        </a14:m>
                        <a:endParaRPr lang="pt-BR" sz="2000" dirty="0"/>
                      </a:p>
                    </p:txBody>
                  </p:sp>
                </mc:Choice>
                <mc:Fallback xmlns="">
                  <p:sp>
                    <p:nvSpPr>
                      <p:cNvPr id="27" name="CaixaDeTexto 26">
                        <a:extLst>
                          <a:ext uri="{FF2B5EF4-FFF2-40B4-BE49-F238E27FC236}">
                            <a16:creationId xmlns:a16="http://schemas.microsoft.com/office/drawing/2014/main" id="{00D42F04-97F1-C0EA-6B00-D0BD117CDEFF}"/>
                          </a:ext>
                        </a:extLst>
                      </p:cNvPr>
                      <p:cNvSpPr txBox="1">
                        <a:spLocks noRot="1" noChangeAspect="1" noMove="1" noResize="1" noEditPoints="1" noAdjustHandles="1" noChangeArrowheads="1" noChangeShapeType="1" noTextEdit="1"/>
                      </p:cNvSpPr>
                      <p:nvPr/>
                    </p:nvSpPr>
                    <p:spPr>
                      <a:xfrm>
                        <a:off x="2025506" y="3945007"/>
                        <a:ext cx="547099" cy="295141"/>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5" name="CaixaDeTexto 28">
                        <a:extLst>
                          <a:ext uri="{FF2B5EF4-FFF2-40B4-BE49-F238E27FC236}">
                            <a16:creationId xmlns:a16="http://schemas.microsoft.com/office/drawing/2014/main" id="{3BA16F1F-761F-C1CC-23F0-9B962EF38490}"/>
                          </a:ext>
                        </a:extLst>
                      </p:cNvPr>
                      <p:cNvSpPr txBox="1"/>
                      <p:nvPr/>
                    </p:nvSpPr>
                    <p:spPr>
                      <a:xfrm>
                        <a:off x="4099817" y="3575675"/>
                        <a:ext cx="423809" cy="295141"/>
                      </a:xfrm>
                      <a:prstGeom prst="rect">
                        <a:avLst/>
                      </a:prstGeom>
                      <a:noFill/>
                    </p:spPr>
                    <p:txBody>
                      <a:bodyPr wrap="square">
                        <a:spAutoFit/>
                      </a:bodyPr>
                      <a:lstStyle/>
                      <a:p>
                        <a:pPr/>
                        <a14:m>
                          <m:oMathPara xmlns:m="http://schemas.openxmlformats.org/officeDocument/2006/math">
                            <m:oMath>
                              <m:sSub>
                                <m:sSubPr>
                                  <m:ctrlPr>
                                    <a:rPr lang="pt-BR" sz="2000" i="1">
                                      <a:latin typeface="Cambria Math" panose="02040503050406030204" pitchFamily="18" charset="0"/>
                                    </a:rPr>
                                  </m:ctrlPr>
                                </m:sSubPr>
                                <m:e>
                                  <m:r>
                                    <a:rPr lang="pt-BR" sz="2000" i="1">
                                      <a:latin typeface="Cambria Math" panose="02040503050406030204" pitchFamily="18" charset="0"/>
                                    </a:rPr>
                                    <m:t>𝑎</m:t>
                                  </m:r>
                                </m:e>
                                <m:sub>
                                  <m:r>
                                    <a:rPr lang="pt-BR" sz="2000" i="1">
                                      <a:latin typeface="Cambria Math" panose="02040503050406030204" pitchFamily="18" charset="0"/>
                                    </a:rPr>
                                    <m:t>1</m:t>
                                  </m:r>
                                </m:sub>
                              </m:sSub>
                            </m:oMath>
                          </m:oMathPara>
                        </a14:m>
                        <a:endParaRPr lang="pt-BR" sz="2000" dirty="0"/>
                      </a:p>
                    </p:txBody>
                  </p:sp>
                </mc:Choice>
                <mc:Fallback xmlns="">
                  <p:sp>
                    <p:nvSpPr>
                      <p:cNvPr id="29" name="CaixaDeTexto 28">
                        <a:extLst>
                          <a:ext uri="{FF2B5EF4-FFF2-40B4-BE49-F238E27FC236}">
                            <a16:creationId xmlns:a16="http://schemas.microsoft.com/office/drawing/2014/main" id="{1FCA9EDF-24EB-6DAA-4AB3-9E76EE2FB342}"/>
                          </a:ext>
                        </a:extLst>
                      </p:cNvPr>
                      <p:cNvSpPr txBox="1">
                        <a:spLocks noRot="1" noChangeAspect="1" noMove="1" noResize="1" noEditPoints="1" noAdjustHandles="1" noChangeArrowheads="1" noChangeShapeType="1" noTextEdit="1"/>
                      </p:cNvSpPr>
                      <p:nvPr/>
                    </p:nvSpPr>
                    <p:spPr>
                      <a:xfrm>
                        <a:off x="4099817" y="3575675"/>
                        <a:ext cx="423809" cy="295141"/>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7" name="CaixaDeTexto 29">
                        <a:extLst>
                          <a:ext uri="{FF2B5EF4-FFF2-40B4-BE49-F238E27FC236}">
                            <a16:creationId xmlns:a16="http://schemas.microsoft.com/office/drawing/2014/main" id="{F1B61CFC-15F3-B778-4EB0-CBD3FD21C896}"/>
                          </a:ext>
                        </a:extLst>
                      </p:cNvPr>
                      <p:cNvSpPr txBox="1"/>
                      <p:nvPr/>
                    </p:nvSpPr>
                    <p:spPr>
                      <a:xfrm>
                        <a:off x="4190506" y="1542308"/>
                        <a:ext cx="557373" cy="272438"/>
                      </a:xfrm>
                      <a:prstGeom prst="rect">
                        <a:avLst/>
                      </a:prstGeom>
                      <a:noFill/>
                    </p:spPr>
                    <p:txBody>
                      <a:bodyPr wrap="square">
                        <a:spAutoFit/>
                      </a:bodyPr>
                      <a:lstStyle/>
                      <a:p>
                        <a:pPr/>
                        <a14:m>
                          <m:oMathPara xmlns:m="http://schemas.openxmlformats.org/officeDocument/2006/math">
                            <m:oMath>
                              <m:r>
                                <a:rPr lang="pt-BR" sz="1800" b="1" i="0" smtClean="0">
                                  <a:latin typeface="Cambria Math" panose="02040503050406030204" pitchFamily="18" charset="0"/>
                                </a:rPr>
                                <m:t>𝐄𝐐𝐌</m:t>
                              </m:r>
                            </m:oMath>
                          </m:oMathPara>
                        </a14:m>
                        <a:endParaRPr lang="pt-BR" b="1" dirty="0"/>
                      </a:p>
                    </p:txBody>
                  </p:sp>
                </mc:Choice>
                <mc:Fallback xmlns="">
                  <p:sp>
                    <p:nvSpPr>
                      <p:cNvPr id="41" name="CaixaDeTexto 40">
                        <a:extLst>
                          <a:ext uri="{FF2B5EF4-FFF2-40B4-BE49-F238E27FC236}">
                            <a16:creationId xmlns:a16="http://schemas.microsoft.com/office/drawing/2014/main" id="{B86ACC41-6A24-7A4D-DE0B-040FA766A60D}"/>
                          </a:ext>
                        </a:extLst>
                      </p:cNvPr>
                      <p:cNvSpPr txBox="1">
                        <a:spLocks noRot="1" noChangeAspect="1" noMove="1" noResize="1" noEditPoints="1" noAdjustHandles="1" noChangeArrowheads="1" noChangeShapeType="1" noTextEdit="1"/>
                      </p:cNvSpPr>
                      <p:nvPr/>
                    </p:nvSpPr>
                    <p:spPr>
                      <a:xfrm>
                        <a:off x="4190506" y="1542308"/>
                        <a:ext cx="557373" cy="272438"/>
                      </a:xfrm>
                      <a:prstGeom prst="rect">
                        <a:avLst/>
                      </a:prstGeom>
                      <a:blipFill>
                        <a:blip r:embed="rId6"/>
                        <a:stretch>
                          <a:fillRect b="-9836"/>
                        </a:stretch>
                      </a:blipFill>
                    </p:spPr>
                    <p:txBody>
                      <a:bodyPr/>
                      <a:lstStyle/>
                      <a:p>
                        <a:r>
                          <a:rPr lang="pt-BR">
                            <a:noFill/>
                          </a:rPr>
                          <a:t> </a:t>
                        </a:r>
                      </a:p>
                    </p:txBody>
                  </p:sp>
                </mc:Fallback>
              </mc:AlternateContent>
            </p:grpSp>
            <p:sp>
              <p:nvSpPr>
                <p:cNvPr id="19" name="Elipse 18">
                  <a:extLst>
                    <a:ext uri="{FF2B5EF4-FFF2-40B4-BE49-F238E27FC236}">
                      <a16:creationId xmlns:a16="http://schemas.microsoft.com/office/drawing/2014/main" id="{C0B4B2A0-E1AB-5062-391D-F969BB8D98CA}"/>
                    </a:ext>
                  </a:extLst>
                </p:cNvPr>
                <p:cNvSpPr>
                  <a:spLocks noChangeAspect="1"/>
                </p:cNvSpPr>
                <p:nvPr/>
              </p:nvSpPr>
              <p:spPr>
                <a:xfrm>
                  <a:off x="1548001" y="3424885"/>
                  <a:ext cx="72000" cy="720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20" name="Conector reto 19">
                  <a:extLst>
                    <a:ext uri="{FF2B5EF4-FFF2-40B4-BE49-F238E27FC236}">
                      <a16:creationId xmlns:a16="http://schemas.microsoft.com/office/drawing/2014/main" id="{5B944E53-C2E1-0339-4112-000093FDE723}"/>
                    </a:ext>
                  </a:extLst>
                </p:cNvPr>
                <p:cNvCxnSpPr>
                  <a:cxnSpLocks/>
                  <a:endCxn id="19" idx="4"/>
                </p:cNvCxnSpPr>
                <p:nvPr/>
              </p:nvCxnSpPr>
              <p:spPr>
                <a:xfrm flipH="1" flipV="1">
                  <a:off x="1584001" y="3496885"/>
                  <a:ext cx="11005" cy="464868"/>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1" name="Conector reto 20">
                  <a:extLst>
                    <a:ext uri="{FF2B5EF4-FFF2-40B4-BE49-F238E27FC236}">
                      <a16:creationId xmlns:a16="http://schemas.microsoft.com/office/drawing/2014/main" id="{A0F36872-CE0A-D2D2-1B49-34335DB8454E}"/>
                    </a:ext>
                  </a:extLst>
                </p:cNvPr>
                <p:cNvCxnSpPr>
                  <a:cxnSpLocks/>
                </p:cNvCxnSpPr>
                <p:nvPr/>
              </p:nvCxnSpPr>
              <p:spPr>
                <a:xfrm flipH="1" flipV="1">
                  <a:off x="2644775" y="4469673"/>
                  <a:ext cx="931863" cy="27854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2" name="Conector reto 21">
                  <a:extLst>
                    <a:ext uri="{FF2B5EF4-FFF2-40B4-BE49-F238E27FC236}">
                      <a16:creationId xmlns:a16="http://schemas.microsoft.com/office/drawing/2014/main" id="{21202D27-04FA-C912-C0F7-3DB8C0CDE5BD}"/>
                    </a:ext>
                  </a:extLst>
                </p:cNvPr>
                <p:cNvCxnSpPr>
                  <a:cxnSpLocks/>
                </p:cNvCxnSpPr>
                <p:nvPr/>
              </p:nvCxnSpPr>
              <p:spPr>
                <a:xfrm flipH="1">
                  <a:off x="857476" y="4155281"/>
                  <a:ext cx="737530" cy="628784"/>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3" name="Conector reto 22">
                  <a:extLst>
                    <a:ext uri="{FF2B5EF4-FFF2-40B4-BE49-F238E27FC236}">
                      <a16:creationId xmlns:a16="http://schemas.microsoft.com/office/drawing/2014/main" id="{DF97B0FC-2983-0E9B-5D0C-C25044FF23B4}"/>
                    </a:ext>
                  </a:extLst>
                </p:cNvPr>
                <p:cNvCxnSpPr>
                  <a:cxnSpLocks/>
                </p:cNvCxnSpPr>
                <p:nvPr/>
              </p:nvCxnSpPr>
              <p:spPr>
                <a:xfrm flipH="1" flipV="1">
                  <a:off x="1600660" y="4144018"/>
                  <a:ext cx="73266" cy="32908"/>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4" name="Conector reto 23">
                  <a:extLst>
                    <a:ext uri="{FF2B5EF4-FFF2-40B4-BE49-F238E27FC236}">
                      <a16:creationId xmlns:a16="http://schemas.microsoft.com/office/drawing/2014/main" id="{8324D023-6467-65A2-8F94-6986E867422A}"/>
                    </a:ext>
                  </a:extLst>
                </p:cNvPr>
                <p:cNvCxnSpPr>
                  <a:cxnSpLocks/>
                </p:cNvCxnSpPr>
                <p:nvPr/>
              </p:nvCxnSpPr>
              <p:spPr>
                <a:xfrm flipV="1">
                  <a:off x="1602149" y="4110038"/>
                  <a:ext cx="0" cy="4091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8" name="Conector de Seta Reta 51">
                  <a:extLst>
                    <a:ext uri="{FF2B5EF4-FFF2-40B4-BE49-F238E27FC236}">
                      <a16:creationId xmlns:a16="http://schemas.microsoft.com/office/drawing/2014/main" id="{3A841147-58A5-551E-75C9-7656FAFC477C}"/>
                    </a:ext>
                  </a:extLst>
                </p:cNvPr>
                <p:cNvCxnSpPr>
                  <a:cxnSpLocks/>
                </p:cNvCxnSpPr>
                <p:nvPr/>
              </p:nvCxnSpPr>
              <p:spPr>
                <a:xfrm flipH="1" flipV="1">
                  <a:off x="2406947" y="4469673"/>
                  <a:ext cx="623733" cy="121193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CaixaDeTexto 25">
                      <a:extLst>
                        <a:ext uri="{FF2B5EF4-FFF2-40B4-BE49-F238E27FC236}">
                          <a16:creationId xmlns:a16="http://schemas.microsoft.com/office/drawing/2014/main" id="{F4E5CEDE-980A-354D-D693-FAD0BECA2D61}"/>
                        </a:ext>
                      </a:extLst>
                    </p:cNvPr>
                    <p:cNvSpPr txBox="1"/>
                    <p:nvPr/>
                  </p:nvSpPr>
                  <p:spPr>
                    <a:xfrm>
                      <a:off x="2107796" y="5645613"/>
                      <a:ext cx="2019417" cy="584775"/>
                    </a:xfrm>
                    <a:prstGeom prst="rect">
                      <a:avLst/>
                    </a:prstGeom>
                    <a:noFill/>
                  </p:spPr>
                  <p:txBody>
                    <a:bodyPr wrap="square" rtlCol="0">
                      <a:spAutoFit/>
                    </a:bodyPr>
                    <a:lstStyle/>
                    <a:p>
                      <a:r>
                        <a:rPr lang="pt-BR" sz="1400" b="1" dirty="0">
                          <a:solidFill>
                            <a:srgbClr val="00B0F0"/>
                          </a:solidFill>
                        </a:rPr>
                        <a:t>ponto de mínimo global</a:t>
                      </a:r>
                    </a:p>
                    <a:p>
                      <a:pPr/>
                      <a14:m>
                        <m:oMathPara xmlns:m="http://schemas.openxmlformats.org/officeDocument/2006/math">
                          <m:oMath>
                            <m:sSub>
                              <m:sSubPr>
                                <m:ctrlPr>
                                  <a:rPr lang="pt-BR" b="1" i="1">
                                    <a:latin typeface="Cambria Math" panose="02040503050406030204" pitchFamily="18" charset="0"/>
                                  </a:rPr>
                                </m:ctrlPr>
                              </m:sSubPr>
                              <m:e>
                                <m:r>
                                  <a:rPr lang="pt-BR" b="1" i="1">
                                    <a:latin typeface="Cambria Math" panose="02040503050406030204" pitchFamily="18" charset="0"/>
                                  </a:rPr>
                                  <m:t>𝒂</m:t>
                                </m:r>
                              </m:e>
                              <m:sub>
                                <m:r>
                                  <a:rPr lang="pt-BR" b="0" i="0">
                                    <a:latin typeface="Cambria Math" panose="02040503050406030204" pitchFamily="18" charset="0"/>
                                  </a:rPr>
                                  <m:t>ó</m:t>
                                </m:r>
                                <m:r>
                                  <m:rPr>
                                    <m:sty m:val="p"/>
                                  </m:rPr>
                                  <a:rPr lang="pt-BR" b="0" i="0">
                                    <a:latin typeface="Cambria Math" panose="02040503050406030204" pitchFamily="18" charset="0"/>
                                  </a:rPr>
                                  <m:t>timo</m:t>
                                </m:r>
                              </m:sub>
                            </m:sSub>
                          </m:oMath>
                        </m:oMathPara>
                      </a14:m>
                      <a:endParaRPr lang="pt-BR" b="1" dirty="0"/>
                    </a:p>
                  </p:txBody>
                </p:sp>
              </mc:Choice>
              <mc:Fallback xmlns="">
                <p:sp>
                  <p:nvSpPr>
                    <p:cNvPr id="30" name="CaixaDeTexto 25">
                      <a:extLst>
                        <a:ext uri="{FF2B5EF4-FFF2-40B4-BE49-F238E27FC236}">
                          <a16:creationId xmlns:a16="http://schemas.microsoft.com/office/drawing/2014/main" id="{F4E5CEDE-980A-354D-D693-FAD0BECA2D61}"/>
                        </a:ext>
                      </a:extLst>
                    </p:cNvPr>
                    <p:cNvSpPr txBox="1">
                      <a:spLocks noRot="1" noChangeAspect="1" noMove="1" noResize="1" noEditPoints="1" noAdjustHandles="1" noChangeArrowheads="1" noChangeShapeType="1" noTextEdit="1"/>
                    </p:cNvSpPr>
                    <p:nvPr/>
                  </p:nvSpPr>
                  <p:spPr>
                    <a:xfrm>
                      <a:off x="2107796" y="5645613"/>
                      <a:ext cx="2019417" cy="584775"/>
                    </a:xfrm>
                    <a:prstGeom prst="rect">
                      <a:avLst/>
                    </a:prstGeom>
                    <a:blipFill>
                      <a:blip r:embed="rId7"/>
                      <a:stretch>
                        <a:fillRect l="-906" t="-2083"/>
                      </a:stretch>
                    </a:blipFill>
                  </p:spPr>
                  <p:txBody>
                    <a:bodyPr/>
                    <a:lstStyle/>
                    <a:p>
                      <a:r>
                        <a:rPr lang="en-US">
                          <a:noFill/>
                        </a:rPr>
                        <a:t> </a:t>
                      </a:r>
                    </a:p>
                  </p:txBody>
                </p:sp>
              </mc:Fallback>
            </mc:AlternateContent>
          </p:grpSp>
          <p:sp>
            <p:nvSpPr>
              <p:cNvPr id="9" name="Elipse 8">
                <a:extLst>
                  <a:ext uri="{FF2B5EF4-FFF2-40B4-BE49-F238E27FC236}">
                    <a16:creationId xmlns:a16="http://schemas.microsoft.com/office/drawing/2014/main" id="{A5E26438-27C2-541A-B888-2B2D52B4EBF0}"/>
                  </a:ext>
                </a:extLst>
              </p:cNvPr>
              <p:cNvSpPr>
                <a:spLocks noChangeAspect="1"/>
              </p:cNvSpPr>
              <p:nvPr/>
            </p:nvSpPr>
            <p:spPr>
              <a:xfrm>
                <a:off x="2099351" y="3779808"/>
                <a:ext cx="72000" cy="720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Elipse 9">
                <a:extLst>
                  <a:ext uri="{FF2B5EF4-FFF2-40B4-BE49-F238E27FC236}">
                    <a16:creationId xmlns:a16="http://schemas.microsoft.com/office/drawing/2014/main" id="{F2B411D0-842D-D201-22AB-72886F40E534}"/>
                  </a:ext>
                </a:extLst>
              </p:cNvPr>
              <p:cNvSpPr>
                <a:spLocks noChangeAspect="1"/>
              </p:cNvSpPr>
              <p:nvPr/>
            </p:nvSpPr>
            <p:spPr>
              <a:xfrm>
                <a:off x="2192811" y="3941684"/>
                <a:ext cx="72000" cy="720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1" name="Elipse 10">
                <a:extLst>
                  <a:ext uri="{FF2B5EF4-FFF2-40B4-BE49-F238E27FC236}">
                    <a16:creationId xmlns:a16="http://schemas.microsoft.com/office/drawing/2014/main" id="{A27C77C0-D6FA-D34A-E66E-95F6DF01445A}"/>
                  </a:ext>
                </a:extLst>
              </p:cNvPr>
              <p:cNvSpPr>
                <a:spLocks noChangeAspect="1"/>
              </p:cNvSpPr>
              <p:nvPr/>
            </p:nvSpPr>
            <p:spPr>
              <a:xfrm>
                <a:off x="2316384" y="4063903"/>
                <a:ext cx="72000" cy="720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Elipse 11">
                <a:extLst>
                  <a:ext uri="{FF2B5EF4-FFF2-40B4-BE49-F238E27FC236}">
                    <a16:creationId xmlns:a16="http://schemas.microsoft.com/office/drawing/2014/main" id="{868256AD-CA5A-0D83-64C5-9A1C3BCC0A10}"/>
                  </a:ext>
                </a:extLst>
              </p:cNvPr>
              <p:cNvSpPr>
                <a:spLocks noChangeAspect="1"/>
              </p:cNvSpPr>
              <p:nvPr/>
            </p:nvSpPr>
            <p:spPr>
              <a:xfrm>
                <a:off x="2490467" y="4126542"/>
                <a:ext cx="72000" cy="720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13" name="Conector: Curvo 13">
                <a:extLst>
                  <a:ext uri="{FF2B5EF4-FFF2-40B4-BE49-F238E27FC236}">
                    <a16:creationId xmlns:a16="http://schemas.microsoft.com/office/drawing/2014/main" id="{B6491912-DC60-60C5-BE17-05C1C63B4F82}"/>
                  </a:ext>
                </a:extLst>
              </p:cNvPr>
              <p:cNvCxnSpPr>
                <a:cxnSpLocks/>
                <a:stCxn id="19" idx="0"/>
                <a:endCxn id="9" idx="0"/>
              </p:cNvCxnSpPr>
              <p:nvPr/>
            </p:nvCxnSpPr>
            <p:spPr>
              <a:xfrm rot="16200000" flipH="1">
                <a:off x="1980164" y="3624622"/>
                <a:ext cx="241907" cy="68465"/>
              </a:xfrm>
              <a:prstGeom prst="curvedConnector3">
                <a:avLst>
                  <a:gd name="adj1" fmla="val -29531"/>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4" name="Conector: Curvo 14">
                <a:extLst>
                  <a:ext uri="{FF2B5EF4-FFF2-40B4-BE49-F238E27FC236}">
                    <a16:creationId xmlns:a16="http://schemas.microsoft.com/office/drawing/2014/main" id="{5B578662-96CB-069F-30C1-879CAA44817D}"/>
                  </a:ext>
                </a:extLst>
              </p:cNvPr>
              <p:cNvCxnSpPr>
                <a:cxnSpLocks/>
                <a:stCxn id="9" idx="0"/>
                <a:endCxn id="10" idx="0"/>
              </p:cNvCxnSpPr>
              <p:nvPr/>
            </p:nvCxnSpPr>
            <p:spPr>
              <a:xfrm rot="16200000" flipH="1">
                <a:off x="2101143" y="3814016"/>
                <a:ext cx="161876" cy="93460"/>
              </a:xfrm>
              <a:prstGeom prst="curvedConnector3">
                <a:avLst>
                  <a:gd name="adj1" fmla="val -85320"/>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5" name="Conector: Curvo 15">
                <a:extLst>
                  <a:ext uri="{FF2B5EF4-FFF2-40B4-BE49-F238E27FC236}">
                    <a16:creationId xmlns:a16="http://schemas.microsoft.com/office/drawing/2014/main" id="{EBF31A2A-20C3-FC61-4B50-24A84640850B}"/>
                  </a:ext>
                </a:extLst>
              </p:cNvPr>
              <p:cNvCxnSpPr>
                <a:cxnSpLocks/>
                <a:stCxn id="10" idx="0"/>
                <a:endCxn id="11" idx="0"/>
              </p:cNvCxnSpPr>
              <p:nvPr/>
            </p:nvCxnSpPr>
            <p:spPr>
              <a:xfrm rot="16200000" flipH="1">
                <a:off x="2229487" y="3941007"/>
                <a:ext cx="122219" cy="123573"/>
              </a:xfrm>
              <a:prstGeom prst="curvedConnector3">
                <a:avLst>
                  <a:gd name="adj1" fmla="val -120798"/>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6" name="Conector: Curvo 16">
                <a:extLst>
                  <a:ext uri="{FF2B5EF4-FFF2-40B4-BE49-F238E27FC236}">
                    <a16:creationId xmlns:a16="http://schemas.microsoft.com/office/drawing/2014/main" id="{5E212F80-EF2F-1761-B58D-0C9D92D5F437}"/>
                  </a:ext>
                </a:extLst>
              </p:cNvPr>
              <p:cNvCxnSpPr>
                <a:cxnSpLocks/>
                <a:stCxn id="11" idx="0"/>
                <a:endCxn id="12" idx="0"/>
              </p:cNvCxnSpPr>
              <p:nvPr/>
            </p:nvCxnSpPr>
            <p:spPr>
              <a:xfrm rot="16200000" flipH="1">
                <a:off x="2408105" y="4008181"/>
                <a:ext cx="62639" cy="174083"/>
              </a:xfrm>
              <a:prstGeom prst="curvedConnector3">
                <a:avLst>
                  <a:gd name="adj1" fmla="val -235697"/>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7" name="CaixaDeTexto 16">
                <a:extLst>
                  <a:ext uri="{FF2B5EF4-FFF2-40B4-BE49-F238E27FC236}">
                    <a16:creationId xmlns:a16="http://schemas.microsoft.com/office/drawing/2014/main" id="{1AEA9F46-DB5D-2389-2564-E205B3406742}"/>
                  </a:ext>
                </a:extLst>
              </p:cNvPr>
              <p:cNvSpPr txBox="1"/>
              <p:nvPr/>
            </p:nvSpPr>
            <p:spPr>
              <a:xfrm>
                <a:off x="2085034" y="3336761"/>
                <a:ext cx="1753377" cy="276999"/>
              </a:xfrm>
              <a:prstGeom prst="rect">
                <a:avLst/>
              </a:prstGeom>
              <a:noFill/>
            </p:spPr>
            <p:txBody>
              <a:bodyPr wrap="square" rtlCol="0">
                <a:spAutoFit/>
              </a:bodyPr>
              <a:lstStyle/>
              <a:p>
                <a:r>
                  <a:rPr lang="pt-BR" sz="1200" dirty="0"/>
                  <a:t>iterações</a:t>
                </a:r>
              </a:p>
            </p:txBody>
          </p:sp>
        </p:grpSp>
        <p:sp>
          <p:nvSpPr>
            <p:cNvPr id="6" name="CaixaDeTexto 5">
              <a:extLst>
                <a:ext uri="{FF2B5EF4-FFF2-40B4-BE49-F238E27FC236}">
                  <a16:creationId xmlns:a16="http://schemas.microsoft.com/office/drawing/2014/main" id="{25E88F5C-95D6-F3BE-299F-C7D41EFBBC18}"/>
                </a:ext>
              </a:extLst>
            </p:cNvPr>
            <p:cNvSpPr txBox="1"/>
            <p:nvPr/>
          </p:nvSpPr>
          <p:spPr>
            <a:xfrm>
              <a:off x="261646" y="2536599"/>
              <a:ext cx="737531" cy="461665"/>
            </a:xfrm>
            <a:prstGeom prst="rect">
              <a:avLst/>
            </a:prstGeom>
            <a:noFill/>
          </p:spPr>
          <p:txBody>
            <a:bodyPr wrap="square" rtlCol="0">
              <a:spAutoFit/>
            </a:bodyPr>
            <a:lstStyle/>
            <a:p>
              <a:pPr algn="ctr"/>
              <a:r>
                <a:rPr lang="pt-BR" sz="1200" dirty="0"/>
                <a:t>ponto inicial</a:t>
              </a:r>
            </a:p>
          </p:txBody>
        </p:sp>
        <p:cxnSp>
          <p:nvCxnSpPr>
            <p:cNvPr id="7" name="Conector de Seta Reta 7">
              <a:extLst>
                <a:ext uri="{FF2B5EF4-FFF2-40B4-BE49-F238E27FC236}">
                  <a16:creationId xmlns:a16="http://schemas.microsoft.com/office/drawing/2014/main" id="{BEB871A4-8454-9770-68D7-7ECC14CE1CCB}"/>
                </a:ext>
              </a:extLst>
            </p:cNvPr>
            <p:cNvCxnSpPr>
              <a:cxnSpLocks/>
              <a:stCxn id="6" idx="2"/>
            </p:cNvCxnSpPr>
            <p:nvPr/>
          </p:nvCxnSpPr>
          <p:spPr>
            <a:xfrm>
              <a:off x="630412" y="2998264"/>
              <a:ext cx="525425" cy="8523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252547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05707-A12C-0860-BB85-520E0875855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C69F44-1138-444E-7282-8F08777E9F05}"/>
              </a:ext>
            </a:extLst>
          </p:cNvPr>
          <p:cNvSpPr>
            <a:spLocks noGrp="1"/>
          </p:cNvSpPr>
          <p:nvPr>
            <p:ph idx="1"/>
          </p:nvPr>
        </p:nvSpPr>
        <p:spPr>
          <a:xfrm>
            <a:off x="838200" y="2614110"/>
            <a:ext cx="10515600" cy="1629780"/>
          </a:xfrm>
        </p:spPr>
        <p:txBody>
          <a:bodyPr/>
          <a:lstStyle/>
          <a:p>
            <a:pPr marL="0" indent="0" algn="ctr">
              <a:buNone/>
            </a:pPr>
            <a:r>
              <a:rPr lang="pt-BR" sz="5400" dirty="0"/>
              <a:t>Como funciona o gradiente descendente?</a:t>
            </a:r>
            <a:endParaRPr lang="en-US" sz="5400" dirty="0"/>
          </a:p>
        </p:txBody>
      </p:sp>
    </p:spTree>
    <p:extLst>
      <p:ext uri="{BB962C8B-B14F-4D97-AF65-F5344CB8AC3E}">
        <p14:creationId xmlns:p14="http://schemas.microsoft.com/office/powerpoint/2010/main" val="31888327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CC3C31-4EA2-B4A2-431F-BF22FBB8A7BA}"/>
              </a:ext>
            </a:extLst>
          </p:cNvPr>
          <p:cNvSpPr>
            <a:spLocks noGrp="1"/>
          </p:cNvSpPr>
          <p:nvPr>
            <p:ph type="title"/>
          </p:nvPr>
        </p:nvSpPr>
        <p:spPr/>
        <p:txBody>
          <a:bodyPr/>
          <a:lstStyle/>
          <a:p>
            <a:r>
              <a:rPr lang="pt-BR" dirty="0"/>
              <a:t>Vetor gradiente</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F09EA0C7-E094-F158-6A1A-B80733321450}"/>
                  </a:ext>
                </a:extLst>
              </p:cNvPr>
              <p:cNvSpPr>
                <a:spLocks noGrp="1"/>
              </p:cNvSpPr>
              <p:nvPr>
                <p:ph idx="1"/>
              </p:nvPr>
            </p:nvSpPr>
            <p:spPr>
              <a:xfrm>
                <a:off x="5154352" y="1825624"/>
                <a:ext cx="6968517" cy="5032376"/>
              </a:xfrm>
            </p:spPr>
            <p:txBody>
              <a:bodyPr>
                <a:normAutofit/>
              </a:bodyPr>
              <a:lstStyle/>
              <a:p>
                <a:r>
                  <a:rPr lang="pt-BR" dirty="0">
                    <a:solidFill>
                      <a:schemeClr val="tx1"/>
                    </a:solidFill>
                  </a:rPr>
                  <a:t>Se nós </a:t>
                </a:r>
                <a:r>
                  <a:rPr lang="pt-BR" b="1" dirty="0">
                    <a:solidFill>
                      <a:schemeClr val="accent2"/>
                    </a:solidFill>
                  </a:rPr>
                  <a:t>diferenciarmos a função de erro em relação aos pesos</a:t>
                </a:r>
                <a:r>
                  <a:rPr lang="pt-BR" dirty="0">
                    <a:solidFill>
                      <a:schemeClr val="tx1"/>
                    </a:solidFill>
                  </a:rPr>
                  <a:t>, nós obtemos o </a:t>
                </a:r>
                <a:r>
                  <a:rPr lang="pt-BR" b="1" dirty="0">
                    <a:solidFill>
                      <a:schemeClr val="tx1"/>
                    </a:solidFill>
                  </a:rPr>
                  <a:t>vetor gradiente</a:t>
                </a:r>
                <a:r>
                  <a:rPr lang="pt-BR" dirty="0">
                    <a:solidFill>
                      <a:schemeClr val="tx1"/>
                    </a:solidFill>
                  </a:rPr>
                  <a:t> </a:t>
                </a:r>
              </a:p>
              <a:p>
                <a:pPr marL="0" indent="0" algn="ctr">
                  <a:buNone/>
                </a:pPr>
                <a14:m>
                  <m:oMath xmlns:m="http://schemas.openxmlformats.org/officeDocument/2006/math">
                    <m:r>
                      <a:rPr lang="pt-BR" i="1" dirty="0" smtClean="0">
                        <a:solidFill>
                          <a:schemeClr val="tx1"/>
                        </a:solidFill>
                        <a:latin typeface="Cambria Math" panose="02040503050406030204" pitchFamily="18" charset="0"/>
                        <a:ea typeface="Cambria Math" panose="02040503050406030204" pitchFamily="18" charset="0"/>
                      </a:rPr>
                      <m:t>𝛻</m:t>
                    </m:r>
                    <m:sSub>
                      <m:sSubPr>
                        <m:ctrlPr>
                          <a:rPr lang="pt-BR" i="1">
                            <a:solidFill>
                              <a:schemeClr val="tx1"/>
                            </a:solidFill>
                            <a:latin typeface="Cambria Math" panose="02040503050406030204" pitchFamily="18" charset="0"/>
                          </a:rPr>
                        </m:ctrlPr>
                      </m:sSubPr>
                      <m:e>
                        <m:r>
                          <a:rPr lang="pt-BR" i="1">
                            <a:solidFill>
                              <a:schemeClr val="tx1"/>
                            </a:solidFill>
                            <a:latin typeface="Cambria Math" panose="02040503050406030204" pitchFamily="18" charset="0"/>
                          </a:rPr>
                          <m:t>𝐽</m:t>
                        </m:r>
                      </m:e>
                      <m:sub>
                        <m:r>
                          <a:rPr lang="pt-BR" i="1">
                            <a:solidFill>
                              <a:schemeClr val="tx1"/>
                            </a:solidFill>
                            <a:latin typeface="Cambria Math" panose="02040503050406030204" pitchFamily="18" charset="0"/>
                          </a:rPr>
                          <m:t>𝑒</m:t>
                        </m:r>
                      </m:sub>
                    </m:sSub>
                    <m:d>
                      <m:dPr>
                        <m:ctrlPr>
                          <a:rPr lang="pt-BR" b="1" i="1">
                            <a:solidFill>
                              <a:schemeClr val="tx1"/>
                            </a:solidFill>
                            <a:latin typeface="Cambria Math" panose="02040503050406030204" pitchFamily="18" charset="0"/>
                          </a:rPr>
                        </m:ctrlPr>
                      </m:dPr>
                      <m:e>
                        <m:r>
                          <a:rPr lang="pt-BR" b="1" i="1">
                            <a:solidFill>
                              <a:schemeClr val="tx1"/>
                            </a:solidFill>
                            <a:latin typeface="Cambria Math" panose="02040503050406030204" pitchFamily="18" charset="0"/>
                          </a:rPr>
                          <m:t>𝒂</m:t>
                        </m:r>
                      </m:e>
                    </m:d>
                    <m:r>
                      <a:rPr lang="pt-BR" b="0" i="1" smtClean="0">
                        <a:solidFill>
                          <a:schemeClr val="tx1"/>
                        </a:solidFill>
                        <a:latin typeface="Cambria Math" panose="02040503050406030204" pitchFamily="18" charset="0"/>
                      </a:rPr>
                      <m:t>=</m:t>
                    </m:r>
                    <m:f>
                      <m:fPr>
                        <m:ctrlPr>
                          <a:rPr lang="pt-BR" i="1" dirty="0" smtClean="0">
                            <a:solidFill>
                              <a:schemeClr val="tx1"/>
                            </a:solidFill>
                            <a:latin typeface="Cambria Math" panose="02040503050406030204" pitchFamily="18" charset="0"/>
                          </a:rPr>
                        </m:ctrlPr>
                      </m:fPr>
                      <m:num>
                        <m:r>
                          <a:rPr lang="pt-BR" i="1" dirty="0" smtClean="0">
                            <a:solidFill>
                              <a:schemeClr val="tx1"/>
                            </a:solidFill>
                            <a:latin typeface="Cambria Math" panose="02040503050406030204" pitchFamily="18" charset="0"/>
                          </a:rPr>
                          <m:t>𝜕</m:t>
                        </m:r>
                        <m:sSub>
                          <m:sSubPr>
                            <m:ctrlPr>
                              <a:rPr lang="pt-BR" i="1">
                                <a:solidFill>
                                  <a:schemeClr val="tx1"/>
                                </a:solidFill>
                                <a:latin typeface="Cambria Math" panose="02040503050406030204" pitchFamily="18" charset="0"/>
                              </a:rPr>
                            </m:ctrlPr>
                          </m:sSubPr>
                          <m:e>
                            <m:r>
                              <a:rPr lang="pt-BR" i="1">
                                <a:solidFill>
                                  <a:schemeClr val="tx1"/>
                                </a:solidFill>
                                <a:latin typeface="Cambria Math" panose="02040503050406030204" pitchFamily="18" charset="0"/>
                              </a:rPr>
                              <m:t>𝐽</m:t>
                            </m:r>
                          </m:e>
                          <m:sub>
                            <m:r>
                              <a:rPr lang="pt-BR" i="1">
                                <a:solidFill>
                                  <a:schemeClr val="tx1"/>
                                </a:solidFill>
                                <a:latin typeface="Cambria Math" panose="02040503050406030204" pitchFamily="18" charset="0"/>
                              </a:rPr>
                              <m:t>𝑒</m:t>
                            </m:r>
                          </m:sub>
                        </m:sSub>
                        <m:r>
                          <a:rPr lang="pt-BR" i="1">
                            <a:solidFill>
                              <a:schemeClr val="tx1"/>
                            </a:solidFill>
                            <a:latin typeface="Cambria Math" panose="02040503050406030204" pitchFamily="18" charset="0"/>
                          </a:rPr>
                          <m:t>(</m:t>
                        </m:r>
                        <m:r>
                          <a:rPr lang="pt-BR" b="1" i="1">
                            <a:solidFill>
                              <a:schemeClr val="tx1"/>
                            </a:solidFill>
                            <a:latin typeface="Cambria Math" panose="02040503050406030204" pitchFamily="18" charset="0"/>
                          </a:rPr>
                          <m:t>𝒂</m:t>
                        </m:r>
                        <m:r>
                          <a:rPr lang="pt-BR" i="1">
                            <a:solidFill>
                              <a:schemeClr val="tx1"/>
                            </a:solidFill>
                            <a:latin typeface="Cambria Math" panose="02040503050406030204" pitchFamily="18" charset="0"/>
                          </a:rPr>
                          <m:t>)</m:t>
                        </m:r>
                      </m:num>
                      <m:den>
                        <m:r>
                          <a:rPr lang="pt-BR" i="1" dirty="0" smtClean="0">
                            <a:solidFill>
                              <a:schemeClr val="tx1"/>
                            </a:solidFill>
                            <a:latin typeface="Cambria Math" panose="02040503050406030204" pitchFamily="18" charset="0"/>
                          </a:rPr>
                          <m:t>𝜕</m:t>
                        </m:r>
                        <m:r>
                          <a:rPr lang="pt-BR" b="1" i="1" dirty="0" smtClean="0">
                            <a:solidFill>
                              <a:schemeClr val="tx1"/>
                            </a:solidFill>
                            <a:latin typeface="Cambria Math" panose="02040503050406030204" pitchFamily="18" charset="0"/>
                          </a:rPr>
                          <m:t>𝒂</m:t>
                        </m:r>
                      </m:den>
                    </m:f>
                  </m:oMath>
                </a14:m>
                <a:r>
                  <a:rPr lang="pt-BR" dirty="0">
                    <a:solidFill>
                      <a:schemeClr val="tx1"/>
                    </a:solidFill>
                  </a:rPr>
                  <a:t>.</a:t>
                </a:r>
              </a:p>
              <a:p>
                <a:r>
                  <a:rPr lang="pt-BR" b="0" dirty="0">
                    <a:solidFill>
                      <a:schemeClr val="tx1"/>
                    </a:solidFill>
                    <a:effectLst/>
                  </a:rPr>
                  <a:t>Ele aponta na </a:t>
                </a:r>
                <a:r>
                  <a:rPr lang="pt-BR" b="1" dirty="0">
                    <a:solidFill>
                      <a:srgbClr val="00B050"/>
                    </a:solidFill>
                    <a:effectLst/>
                  </a:rPr>
                  <a:t>direção de maior taxa de crescimento da função</a:t>
                </a:r>
                <a:r>
                  <a:rPr lang="pt-BR" b="1" dirty="0">
                    <a:solidFill>
                      <a:schemeClr val="tx1"/>
                    </a:solidFill>
                    <a:effectLst/>
                  </a:rPr>
                  <a:t> </a:t>
                </a:r>
                <a:r>
                  <a:rPr lang="pt-BR" b="0" dirty="0">
                    <a:solidFill>
                      <a:schemeClr val="tx1"/>
                    </a:solidFill>
                    <a:effectLst/>
                  </a:rPr>
                  <a:t>a partir do ponto, </a:t>
                </a:r>
                <a14:m>
                  <m:oMath xmlns:m="http://schemas.openxmlformats.org/officeDocument/2006/math">
                    <m:r>
                      <a:rPr lang="pt-BR" b="1" i="1" dirty="0">
                        <a:latin typeface="Cambria Math" panose="02040503050406030204" pitchFamily="18" charset="0"/>
                      </a:rPr>
                      <m:t>𝒂</m:t>
                    </m:r>
                  </m:oMath>
                </a14:m>
                <a:r>
                  <a:rPr lang="pt-BR" b="0" dirty="0">
                    <a:solidFill>
                      <a:schemeClr val="tx1"/>
                    </a:solidFill>
                    <a:effectLst/>
                  </a:rPr>
                  <a:t>, onde ele é calculado.</a:t>
                </a:r>
              </a:p>
              <a:p>
                <a:r>
                  <a:rPr lang="en-US" dirty="0"/>
                  <a:t>Sua</a:t>
                </a:r>
                <a:r>
                  <a:rPr lang="en-US" b="1" dirty="0"/>
                  <a:t> norma </a:t>
                </a:r>
                <a14:m>
                  <m:oMath xmlns:m="http://schemas.openxmlformats.org/officeDocument/2006/math">
                    <m:d>
                      <m:dPr>
                        <m:begChr m:val="‖"/>
                        <m:endChr m:val="‖"/>
                        <m:ctrlPr>
                          <a:rPr lang="pt-BR" i="1" dirty="0">
                            <a:latin typeface="Cambria Math" panose="02040503050406030204" pitchFamily="18" charset="0"/>
                            <a:ea typeface="Cambria Math" panose="02040503050406030204" pitchFamily="18" charset="0"/>
                          </a:rPr>
                        </m:ctrlPr>
                      </m:dPr>
                      <m:e>
                        <m:r>
                          <a:rPr lang="pt-BR" i="1" dirty="0">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e>
                    </m:d>
                  </m:oMath>
                </a14:m>
                <a:r>
                  <a:rPr lang="en-US" dirty="0"/>
                  <a:t> </a:t>
                </a:r>
                <a:r>
                  <a:rPr lang="en-US" dirty="0" err="1"/>
                  <a:t>mede</a:t>
                </a:r>
                <a:r>
                  <a:rPr lang="en-US" dirty="0"/>
                  <a:t> o </a:t>
                </a:r>
                <a:r>
                  <a:rPr lang="en-US" dirty="0" err="1"/>
                  <a:t>quão</a:t>
                </a:r>
                <a:r>
                  <a:rPr lang="en-US" dirty="0"/>
                  <a:t> </a:t>
                </a:r>
                <a:r>
                  <a:rPr lang="en-US" dirty="0" err="1"/>
                  <a:t>íngreme</a:t>
                </a:r>
                <a:r>
                  <a:rPr lang="en-US" dirty="0"/>
                  <a:t> é a </a:t>
                </a:r>
                <a:r>
                  <a:rPr lang="en-US" dirty="0" err="1"/>
                  <a:t>subida</a:t>
                </a:r>
                <a:r>
                  <a:rPr lang="en-US" dirty="0"/>
                  <a:t>.</a:t>
                </a:r>
                <a:endParaRPr lang="pt-BR" b="0" dirty="0">
                  <a:solidFill>
                    <a:schemeClr val="tx1"/>
                  </a:solidFill>
                  <a:effectLst/>
                </a:endParaRPr>
              </a:p>
            </p:txBody>
          </p:sp>
        </mc:Choice>
        <mc:Fallback xmlns="">
          <p:sp>
            <p:nvSpPr>
              <p:cNvPr id="3" name="Espaço Reservado para Conteúdo 2">
                <a:extLst>
                  <a:ext uri="{FF2B5EF4-FFF2-40B4-BE49-F238E27FC236}">
                    <a16:creationId xmlns:a16="http://schemas.microsoft.com/office/drawing/2014/main" id="{F09EA0C7-E094-F158-6A1A-B80733321450}"/>
                  </a:ext>
                </a:extLst>
              </p:cNvPr>
              <p:cNvSpPr>
                <a:spLocks noGrp="1" noRot="1" noChangeAspect="1" noMove="1" noResize="1" noEditPoints="1" noAdjustHandles="1" noChangeArrowheads="1" noChangeShapeType="1" noTextEdit="1"/>
              </p:cNvSpPr>
              <p:nvPr>
                <p:ph idx="1"/>
              </p:nvPr>
            </p:nvSpPr>
            <p:spPr>
              <a:xfrm>
                <a:off x="5154352" y="1825624"/>
                <a:ext cx="6968517" cy="5032376"/>
              </a:xfrm>
              <a:blipFill>
                <a:blip r:embed="rId3"/>
                <a:stretch>
                  <a:fillRect l="-1575" t="-1937"/>
                </a:stretch>
              </a:blipFill>
            </p:spPr>
            <p:txBody>
              <a:bodyPr/>
              <a:lstStyle/>
              <a:p>
                <a:r>
                  <a:rPr lang="en-US">
                    <a:noFill/>
                  </a:rPr>
                  <a:t> </a:t>
                </a:r>
              </a:p>
            </p:txBody>
          </p:sp>
        </mc:Fallback>
      </mc:AlternateContent>
      <p:grpSp>
        <p:nvGrpSpPr>
          <p:cNvPr id="5" name="Agrupar 4">
            <a:extLst>
              <a:ext uri="{FF2B5EF4-FFF2-40B4-BE49-F238E27FC236}">
                <a16:creationId xmlns:a16="http://schemas.microsoft.com/office/drawing/2014/main" id="{12E4ADCF-A7FD-F345-12BA-0CF9505FCCF4}"/>
              </a:ext>
            </a:extLst>
          </p:cNvPr>
          <p:cNvGrpSpPr/>
          <p:nvPr/>
        </p:nvGrpSpPr>
        <p:grpSpPr>
          <a:xfrm>
            <a:off x="973059" y="2353695"/>
            <a:ext cx="3963570" cy="2939416"/>
            <a:chOff x="973059" y="2353695"/>
            <a:chExt cx="3963570" cy="2939416"/>
          </a:xfrm>
        </p:grpSpPr>
        <p:sp>
          <p:nvSpPr>
            <p:cNvPr id="16" name="Forma Livre: Forma 15">
              <a:extLst>
                <a:ext uri="{FF2B5EF4-FFF2-40B4-BE49-F238E27FC236}">
                  <a16:creationId xmlns:a16="http://schemas.microsoft.com/office/drawing/2014/main" id="{C6A784CD-F591-D77A-216C-711CC8B1FCCE}"/>
                </a:ext>
              </a:extLst>
            </p:cNvPr>
            <p:cNvSpPr/>
            <p:nvPr/>
          </p:nvSpPr>
          <p:spPr>
            <a:xfrm>
              <a:off x="1190625" y="2990850"/>
              <a:ext cx="3429000" cy="1752634"/>
            </a:xfrm>
            <a:custGeom>
              <a:avLst/>
              <a:gdLst>
                <a:gd name="connsiteX0" fmla="*/ 0 w 3429000"/>
                <a:gd name="connsiteY0" fmla="*/ 38100 h 1752634"/>
                <a:gd name="connsiteX1" fmla="*/ 1714500 w 3429000"/>
                <a:gd name="connsiteY1" fmla="*/ 1752600 h 1752634"/>
                <a:gd name="connsiteX2" fmla="*/ 3429000 w 3429000"/>
                <a:gd name="connsiteY2" fmla="*/ 0 h 1752634"/>
              </a:gdLst>
              <a:ahLst/>
              <a:cxnLst>
                <a:cxn ang="0">
                  <a:pos x="connsiteX0" y="connsiteY0"/>
                </a:cxn>
                <a:cxn ang="0">
                  <a:pos x="connsiteX1" y="connsiteY1"/>
                </a:cxn>
                <a:cxn ang="0">
                  <a:pos x="connsiteX2" y="connsiteY2"/>
                </a:cxn>
              </a:cxnLst>
              <a:rect l="l" t="t" r="r" b="b"/>
              <a:pathLst>
                <a:path w="3429000" h="1752634">
                  <a:moveTo>
                    <a:pt x="0" y="38100"/>
                  </a:moveTo>
                  <a:cubicBezTo>
                    <a:pt x="571500" y="898525"/>
                    <a:pt x="1143000" y="1758950"/>
                    <a:pt x="1714500" y="1752600"/>
                  </a:cubicBezTo>
                  <a:cubicBezTo>
                    <a:pt x="2286000" y="1746250"/>
                    <a:pt x="3119438" y="314325"/>
                    <a:pt x="3429000"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8" name="Conector de Seta Reta 17">
              <a:extLst>
                <a:ext uri="{FF2B5EF4-FFF2-40B4-BE49-F238E27FC236}">
                  <a16:creationId xmlns:a16="http://schemas.microsoft.com/office/drawing/2014/main" id="{C6B749B0-5566-BE1C-2F81-1FBD023AC4A5}"/>
                </a:ext>
              </a:extLst>
            </p:cNvPr>
            <p:cNvCxnSpPr>
              <a:cxnSpLocks/>
            </p:cNvCxnSpPr>
            <p:nvPr/>
          </p:nvCxnSpPr>
          <p:spPr>
            <a:xfrm>
              <a:off x="974017" y="4916172"/>
              <a:ext cx="386096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ector de Seta Reta 18">
              <a:extLst>
                <a:ext uri="{FF2B5EF4-FFF2-40B4-BE49-F238E27FC236}">
                  <a16:creationId xmlns:a16="http://schemas.microsoft.com/office/drawing/2014/main" id="{273CB2E1-5B19-11A9-517D-C293F25403DE}"/>
                </a:ext>
              </a:extLst>
            </p:cNvPr>
            <p:cNvCxnSpPr>
              <a:cxnSpLocks/>
            </p:cNvCxnSpPr>
            <p:nvPr/>
          </p:nvCxnSpPr>
          <p:spPr>
            <a:xfrm flipV="1">
              <a:off x="974018" y="2442308"/>
              <a:ext cx="0" cy="247386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CaixaDeTexto 19">
                  <a:extLst>
                    <a:ext uri="{FF2B5EF4-FFF2-40B4-BE49-F238E27FC236}">
                      <a16:creationId xmlns:a16="http://schemas.microsoft.com/office/drawing/2014/main" id="{8E54EE22-65BF-1CD4-BAB8-944D023139BC}"/>
                    </a:ext>
                  </a:extLst>
                </p:cNvPr>
                <p:cNvSpPr txBox="1"/>
                <p:nvPr/>
              </p:nvSpPr>
              <p:spPr>
                <a:xfrm>
                  <a:off x="974017" y="2353695"/>
                  <a:ext cx="2460683" cy="369332"/>
                </a:xfrm>
                <a:prstGeom prst="rect">
                  <a:avLst/>
                </a:prstGeom>
                <a:noFill/>
              </p:spPr>
              <p:txBody>
                <a:bodyPr wrap="square" rtlCol="0">
                  <a:spAutoFit/>
                </a:bodyPr>
                <a:lstStyle/>
                <a:p>
                  <a:r>
                    <a:rPr lang="pt-BR" dirty="0"/>
                    <a:t>Função de erro, </a:t>
                  </a:r>
                  <a14:m>
                    <m:oMath xmlns:m="http://schemas.openxmlformats.org/officeDocument/2006/math">
                      <m:sSub>
                        <m:sSubPr>
                          <m:ctrlPr>
                            <a:rPr lang="pt-BR" b="0" i="1" smtClean="0">
                              <a:latin typeface="Cambria Math" panose="02040503050406030204" pitchFamily="18" charset="0"/>
                            </a:rPr>
                          </m:ctrlPr>
                        </m:sSubPr>
                        <m:e>
                          <m:r>
                            <a:rPr lang="pt-BR" b="0" i="1" smtClean="0">
                              <a:latin typeface="Cambria Math" panose="02040503050406030204" pitchFamily="18" charset="0"/>
                            </a:rPr>
                            <m:t>𝐽</m:t>
                          </m:r>
                        </m:e>
                        <m:sub>
                          <m:r>
                            <a:rPr lang="pt-BR" b="0" i="1" smtClean="0">
                              <a:latin typeface="Cambria Math" panose="02040503050406030204" pitchFamily="18" charset="0"/>
                            </a:rPr>
                            <m:t>𝑒</m:t>
                          </m:r>
                        </m:sub>
                      </m:sSub>
                      <m:r>
                        <a:rPr lang="pt-BR" b="0" i="1" smtClean="0">
                          <a:latin typeface="Cambria Math" panose="02040503050406030204" pitchFamily="18" charset="0"/>
                        </a:rPr>
                        <m:t>(</m:t>
                      </m:r>
                      <m:r>
                        <a:rPr lang="pt-BR" b="0" i="1" smtClean="0">
                          <a:latin typeface="Cambria Math" panose="02040503050406030204" pitchFamily="18" charset="0"/>
                        </a:rPr>
                        <m:t>𝑎</m:t>
                      </m:r>
                      <m:r>
                        <a:rPr lang="pt-BR" b="0" i="1" smtClean="0">
                          <a:latin typeface="Cambria Math" panose="02040503050406030204" pitchFamily="18" charset="0"/>
                        </a:rPr>
                        <m:t>)</m:t>
                      </m:r>
                    </m:oMath>
                  </a14:m>
                  <a:endParaRPr lang="pt-BR" dirty="0"/>
                </a:p>
              </p:txBody>
            </p:sp>
          </mc:Choice>
          <mc:Fallback xmlns="">
            <p:sp>
              <p:nvSpPr>
                <p:cNvPr id="8" name="CaixaDeTexto 7">
                  <a:extLst>
                    <a:ext uri="{FF2B5EF4-FFF2-40B4-BE49-F238E27FC236}">
                      <a16:creationId xmlns:a16="http://schemas.microsoft.com/office/drawing/2014/main" id="{A78938CD-F777-59C9-49FF-1EC87187C2BF}"/>
                    </a:ext>
                  </a:extLst>
                </p:cNvPr>
                <p:cNvSpPr txBox="1">
                  <a:spLocks noRot="1" noChangeAspect="1" noMove="1" noResize="1" noEditPoints="1" noAdjustHandles="1" noChangeArrowheads="1" noChangeShapeType="1" noTextEdit="1"/>
                </p:cNvSpPr>
                <p:nvPr/>
              </p:nvSpPr>
              <p:spPr>
                <a:xfrm>
                  <a:off x="974017" y="2353695"/>
                  <a:ext cx="2460683" cy="369332"/>
                </a:xfrm>
                <a:prstGeom prst="rect">
                  <a:avLst/>
                </a:prstGeom>
                <a:blipFill>
                  <a:blip r:embed="rId4"/>
                  <a:stretch>
                    <a:fillRect l="-2233" t="-8197" b="-24590"/>
                  </a:stretch>
                </a:blipFill>
              </p:spPr>
              <p:txBody>
                <a:bodyPr/>
                <a:lstStyle/>
                <a:p>
                  <a:r>
                    <a:rPr lang="pt-BR">
                      <a:noFill/>
                    </a:rPr>
                    <a:t> </a:t>
                  </a:r>
                </a:p>
              </p:txBody>
            </p:sp>
          </mc:Fallback>
        </mc:AlternateContent>
        <p:sp>
          <p:nvSpPr>
            <p:cNvPr id="26" name="CaixaDeTexto 25">
              <a:extLst>
                <a:ext uri="{FF2B5EF4-FFF2-40B4-BE49-F238E27FC236}">
                  <a16:creationId xmlns:a16="http://schemas.microsoft.com/office/drawing/2014/main" id="{0E87A25C-A581-62CE-5B3A-7966C68CCA37}"/>
                </a:ext>
              </a:extLst>
            </p:cNvPr>
            <p:cNvSpPr txBox="1"/>
            <p:nvPr/>
          </p:nvSpPr>
          <p:spPr>
            <a:xfrm>
              <a:off x="4300295" y="4923779"/>
              <a:ext cx="636334" cy="369332"/>
            </a:xfrm>
            <a:prstGeom prst="rect">
              <a:avLst/>
            </a:prstGeom>
            <a:noFill/>
          </p:spPr>
          <p:txBody>
            <a:bodyPr wrap="square" rtlCol="0">
              <a:spAutoFit/>
            </a:bodyPr>
            <a:lstStyle/>
            <a:p>
              <a:pPr algn="r"/>
              <a:r>
                <a:rPr lang="pt-BR" dirty="0"/>
                <a:t>Peso</a:t>
              </a:r>
            </a:p>
          </p:txBody>
        </p:sp>
        <p:cxnSp>
          <p:nvCxnSpPr>
            <p:cNvPr id="27" name="Conector reto 26">
              <a:extLst>
                <a:ext uri="{FF2B5EF4-FFF2-40B4-BE49-F238E27FC236}">
                  <a16:creationId xmlns:a16="http://schemas.microsoft.com/office/drawing/2014/main" id="{5021288C-7C99-655C-B6EE-D9AD2742D963}"/>
                </a:ext>
              </a:extLst>
            </p:cNvPr>
            <p:cNvCxnSpPr/>
            <p:nvPr/>
          </p:nvCxnSpPr>
          <p:spPr>
            <a:xfrm>
              <a:off x="976885" y="4744536"/>
              <a:ext cx="1930484" cy="0"/>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28" name="CaixaDeTexto 27">
              <a:extLst>
                <a:ext uri="{FF2B5EF4-FFF2-40B4-BE49-F238E27FC236}">
                  <a16:creationId xmlns:a16="http://schemas.microsoft.com/office/drawing/2014/main" id="{92256FBD-47D1-5290-996D-60B79CD35FE2}"/>
                </a:ext>
              </a:extLst>
            </p:cNvPr>
            <p:cNvSpPr txBox="1"/>
            <p:nvPr/>
          </p:nvSpPr>
          <p:spPr>
            <a:xfrm>
              <a:off x="2367751" y="4232230"/>
              <a:ext cx="1066949" cy="550146"/>
            </a:xfrm>
            <a:prstGeom prst="rect">
              <a:avLst/>
            </a:prstGeom>
            <a:noFill/>
          </p:spPr>
          <p:txBody>
            <a:bodyPr wrap="square" rtlCol="0">
              <a:spAutoFit/>
            </a:bodyPr>
            <a:lstStyle/>
            <a:p>
              <a:pPr algn="ctr"/>
              <a:r>
                <a:rPr lang="pt-BR" sz="1200" dirty="0"/>
                <a:t>Ponto de mínimo</a:t>
              </a:r>
            </a:p>
          </p:txBody>
        </p:sp>
        <p:cxnSp>
          <p:nvCxnSpPr>
            <p:cNvPr id="29" name="Conector reto 28">
              <a:extLst>
                <a:ext uri="{FF2B5EF4-FFF2-40B4-BE49-F238E27FC236}">
                  <a16:creationId xmlns:a16="http://schemas.microsoft.com/office/drawing/2014/main" id="{3380337A-C41F-1BA8-D436-3889DF59F95C}"/>
                </a:ext>
              </a:extLst>
            </p:cNvPr>
            <p:cNvCxnSpPr>
              <a:cxnSpLocks/>
            </p:cNvCxnSpPr>
            <p:nvPr/>
          </p:nvCxnSpPr>
          <p:spPr>
            <a:xfrm>
              <a:off x="2902477" y="4736969"/>
              <a:ext cx="0" cy="171598"/>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30" name="Elipse 29">
              <a:extLst>
                <a:ext uri="{FF2B5EF4-FFF2-40B4-BE49-F238E27FC236}">
                  <a16:creationId xmlns:a16="http://schemas.microsoft.com/office/drawing/2014/main" id="{F8833596-2A9C-2454-1545-DF1D1B9BB1DE}"/>
                </a:ext>
              </a:extLst>
            </p:cNvPr>
            <p:cNvSpPr/>
            <p:nvPr/>
          </p:nvSpPr>
          <p:spPr>
            <a:xfrm>
              <a:off x="2879776" y="4721835"/>
              <a:ext cx="42900" cy="429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1" name="Elipse 30">
              <a:extLst>
                <a:ext uri="{FF2B5EF4-FFF2-40B4-BE49-F238E27FC236}">
                  <a16:creationId xmlns:a16="http://schemas.microsoft.com/office/drawing/2014/main" id="{B32BC633-2BBD-3B18-4F71-BF6A0FDED51B}"/>
                </a:ext>
              </a:extLst>
            </p:cNvPr>
            <p:cNvSpPr/>
            <p:nvPr/>
          </p:nvSpPr>
          <p:spPr>
            <a:xfrm>
              <a:off x="1273647" y="3163362"/>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32" name="Conector reto 31">
              <a:extLst>
                <a:ext uri="{FF2B5EF4-FFF2-40B4-BE49-F238E27FC236}">
                  <a16:creationId xmlns:a16="http://schemas.microsoft.com/office/drawing/2014/main" id="{7CA9B95D-CB51-98E9-107C-C69BB0B5118C}"/>
                </a:ext>
              </a:extLst>
            </p:cNvPr>
            <p:cNvCxnSpPr/>
            <p:nvPr/>
          </p:nvCxnSpPr>
          <p:spPr>
            <a:xfrm>
              <a:off x="973059" y="3184593"/>
              <a:ext cx="324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3" name="Conector reto 32">
              <a:extLst>
                <a:ext uri="{FF2B5EF4-FFF2-40B4-BE49-F238E27FC236}">
                  <a16:creationId xmlns:a16="http://schemas.microsoft.com/office/drawing/2014/main" id="{85E82FE4-2BE8-73DD-CE7E-9C9E72B636E5}"/>
                </a:ext>
              </a:extLst>
            </p:cNvPr>
            <p:cNvCxnSpPr>
              <a:cxnSpLocks/>
            </p:cNvCxnSpPr>
            <p:nvPr/>
          </p:nvCxnSpPr>
          <p:spPr>
            <a:xfrm>
              <a:off x="1295097" y="3163361"/>
              <a:ext cx="0" cy="1764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CaixaDeTexto 33">
              <a:extLst>
                <a:ext uri="{FF2B5EF4-FFF2-40B4-BE49-F238E27FC236}">
                  <a16:creationId xmlns:a16="http://schemas.microsoft.com/office/drawing/2014/main" id="{D420AE38-FACE-EFB5-CDC4-F0EE816FAB60}"/>
                </a:ext>
              </a:extLst>
            </p:cNvPr>
            <p:cNvSpPr txBox="1"/>
            <p:nvPr/>
          </p:nvSpPr>
          <p:spPr>
            <a:xfrm>
              <a:off x="1232864" y="3046093"/>
              <a:ext cx="1071476" cy="276999"/>
            </a:xfrm>
            <a:prstGeom prst="rect">
              <a:avLst/>
            </a:prstGeom>
            <a:noFill/>
          </p:spPr>
          <p:txBody>
            <a:bodyPr wrap="square" rtlCol="0">
              <a:spAutoFit/>
            </a:bodyPr>
            <a:lstStyle/>
            <a:p>
              <a:pPr algn="ctr"/>
              <a:r>
                <a:rPr lang="pt-BR" sz="1200" dirty="0"/>
                <a:t>Ponto inicial</a:t>
              </a:r>
            </a:p>
          </p:txBody>
        </p:sp>
        <mc:AlternateContent xmlns:mc="http://schemas.openxmlformats.org/markup-compatibility/2006" xmlns:a14="http://schemas.microsoft.com/office/drawing/2010/main">
          <mc:Choice Requires="a14">
            <p:sp>
              <p:nvSpPr>
                <p:cNvPr id="35" name="CaixaDeTexto 34">
                  <a:extLst>
                    <a:ext uri="{FF2B5EF4-FFF2-40B4-BE49-F238E27FC236}">
                      <a16:creationId xmlns:a16="http://schemas.microsoft.com/office/drawing/2014/main" id="{62416D29-AFD5-94D4-5356-93BB16BD2496}"/>
                    </a:ext>
                  </a:extLst>
                </p:cNvPr>
                <p:cNvSpPr txBox="1"/>
                <p:nvPr/>
              </p:nvSpPr>
              <p:spPr>
                <a:xfrm>
                  <a:off x="1074774" y="4868216"/>
                  <a:ext cx="86794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m:rPr>
                                <m:sty m:val="p"/>
                              </m:rPr>
                              <a:rPr lang="pt-BR" sz="1400" b="0" i="0" smtClean="0">
                                <a:latin typeface="Cambria Math" panose="02040503050406030204" pitchFamily="18" charset="0"/>
                              </a:rPr>
                              <m:t>inicial</m:t>
                            </m:r>
                          </m:sub>
                        </m:sSub>
                      </m:oMath>
                    </m:oMathPara>
                  </a14:m>
                  <a:endParaRPr lang="pt-BR" sz="1400" dirty="0"/>
                </a:p>
              </p:txBody>
            </p:sp>
          </mc:Choice>
          <mc:Fallback xmlns="">
            <p:sp>
              <p:nvSpPr>
                <p:cNvPr id="22" name="CaixaDeTexto 21">
                  <a:extLst>
                    <a:ext uri="{FF2B5EF4-FFF2-40B4-BE49-F238E27FC236}">
                      <a16:creationId xmlns:a16="http://schemas.microsoft.com/office/drawing/2014/main" id="{7167E7D4-807F-4A91-D2F9-5B3D43BE5896}"/>
                    </a:ext>
                  </a:extLst>
                </p:cNvPr>
                <p:cNvSpPr txBox="1">
                  <a:spLocks noRot="1" noChangeAspect="1" noMove="1" noResize="1" noEditPoints="1" noAdjustHandles="1" noChangeArrowheads="1" noChangeShapeType="1" noTextEdit="1"/>
                </p:cNvSpPr>
                <p:nvPr/>
              </p:nvSpPr>
              <p:spPr>
                <a:xfrm>
                  <a:off x="1074774" y="4868216"/>
                  <a:ext cx="867941" cy="307777"/>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6" name="CaixaDeTexto 35">
                  <a:extLst>
                    <a:ext uri="{FF2B5EF4-FFF2-40B4-BE49-F238E27FC236}">
                      <a16:creationId xmlns:a16="http://schemas.microsoft.com/office/drawing/2014/main" id="{F4837DF0-4DE2-DA43-15A6-6ACEAE06312C}"/>
                    </a:ext>
                  </a:extLst>
                </p:cNvPr>
                <p:cNvSpPr txBox="1"/>
                <p:nvPr/>
              </p:nvSpPr>
              <p:spPr>
                <a:xfrm>
                  <a:off x="2671712" y="4867795"/>
                  <a:ext cx="86794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0" smtClean="0">
                                <a:latin typeface="Cambria Math" panose="02040503050406030204" pitchFamily="18" charset="0"/>
                              </a:rPr>
                              <m:t>ó</m:t>
                            </m:r>
                            <m:r>
                              <m:rPr>
                                <m:sty m:val="p"/>
                              </m:rPr>
                              <a:rPr lang="pt-BR" sz="1400" b="0" i="0" smtClean="0">
                                <a:latin typeface="Cambria Math" panose="02040503050406030204" pitchFamily="18" charset="0"/>
                              </a:rPr>
                              <m:t>timo</m:t>
                            </m:r>
                          </m:sub>
                        </m:sSub>
                      </m:oMath>
                    </m:oMathPara>
                  </a14:m>
                  <a:endParaRPr lang="pt-BR" sz="1400" dirty="0"/>
                </a:p>
              </p:txBody>
            </p:sp>
          </mc:Choice>
          <mc:Fallback xmlns="">
            <p:sp>
              <p:nvSpPr>
                <p:cNvPr id="23" name="CaixaDeTexto 22">
                  <a:extLst>
                    <a:ext uri="{FF2B5EF4-FFF2-40B4-BE49-F238E27FC236}">
                      <a16:creationId xmlns:a16="http://schemas.microsoft.com/office/drawing/2014/main" id="{5563576F-5255-680C-F8CB-10958601F543}"/>
                    </a:ext>
                  </a:extLst>
                </p:cNvPr>
                <p:cNvSpPr txBox="1">
                  <a:spLocks noRot="1" noChangeAspect="1" noMove="1" noResize="1" noEditPoints="1" noAdjustHandles="1" noChangeArrowheads="1" noChangeShapeType="1" noTextEdit="1"/>
                </p:cNvSpPr>
                <p:nvPr/>
              </p:nvSpPr>
              <p:spPr>
                <a:xfrm>
                  <a:off x="2671712" y="4867795"/>
                  <a:ext cx="867941" cy="307777"/>
                </a:xfrm>
                <a:prstGeom prst="rect">
                  <a:avLst/>
                </a:prstGeom>
                <a:blipFill>
                  <a:blip r:embed="rId6"/>
                  <a:stretch>
                    <a:fillRect/>
                  </a:stretch>
                </a:blipFill>
              </p:spPr>
              <p:txBody>
                <a:bodyPr/>
                <a:lstStyle/>
                <a:p>
                  <a:r>
                    <a:rPr lang="pt-BR">
                      <a:noFill/>
                    </a:rPr>
                    <a:t> </a:t>
                  </a:r>
                </a:p>
              </p:txBody>
            </p:sp>
          </mc:Fallback>
        </mc:AlternateContent>
      </p:grpSp>
      <p:cxnSp>
        <p:nvCxnSpPr>
          <p:cNvPr id="37" name="Conector de Seta Reta 36">
            <a:extLst>
              <a:ext uri="{FF2B5EF4-FFF2-40B4-BE49-F238E27FC236}">
                <a16:creationId xmlns:a16="http://schemas.microsoft.com/office/drawing/2014/main" id="{D7C90129-1F0B-65C5-8B58-FAD7F81AFB00}"/>
              </a:ext>
            </a:extLst>
          </p:cNvPr>
          <p:cNvCxnSpPr>
            <a:cxnSpLocks/>
          </p:cNvCxnSpPr>
          <p:nvPr/>
        </p:nvCxnSpPr>
        <p:spPr>
          <a:xfrm>
            <a:off x="771525" y="2442308"/>
            <a:ext cx="540631" cy="777108"/>
          </a:xfrm>
          <a:prstGeom prst="straightConnector1">
            <a:avLst/>
          </a:prstGeom>
          <a:ln>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91835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CC3C31-4EA2-B4A2-431F-BF22FBB8A7BA}"/>
              </a:ext>
            </a:extLst>
          </p:cNvPr>
          <p:cNvSpPr>
            <a:spLocks noGrp="1"/>
          </p:cNvSpPr>
          <p:nvPr>
            <p:ph type="title"/>
          </p:nvPr>
        </p:nvSpPr>
        <p:spPr/>
        <p:txBody>
          <a:bodyPr/>
          <a:lstStyle/>
          <a:p>
            <a:r>
              <a:rPr lang="pt-BR" dirty="0"/>
              <a:t>Vetor gradiente</a:t>
            </a:r>
          </a:p>
        </p:txBody>
      </p:sp>
      <p:sp>
        <p:nvSpPr>
          <p:cNvPr id="3" name="Espaço Reservado para Conteúdo 2">
            <a:extLst>
              <a:ext uri="{FF2B5EF4-FFF2-40B4-BE49-F238E27FC236}">
                <a16:creationId xmlns:a16="http://schemas.microsoft.com/office/drawing/2014/main" id="{F09EA0C7-E094-F158-6A1A-B80733321450}"/>
              </a:ext>
            </a:extLst>
          </p:cNvPr>
          <p:cNvSpPr>
            <a:spLocks noGrp="1"/>
          </p:cNvSpPr>
          <p:nvPr>
            <p:ph idx="1"/>
          </p:nvPr>
        </p:nvSpPr>
        <p:spPr>
          <a:xfrm>
            <a:off x="5154351" y="1825624"/>
            <a:ext cx="6894771" cy="5032376"/>
          </a:xfrm>
        </p:spPr>
        <p:txBody>
          <a:bodyPr>
            <a:normAutofit/>
          </a:bodyPr>
          <a:lstStyle/>
          <a:p>
            <a:r>
              <a:rPr lang="pt-BR" b="0" dirty="0">
                <a:solidFill>
                  <a:schemeClr val="tx1"/>
                </a:solidFill>
                <a:effectLst/>
              </a:rPr>
              <a:t>O gradiente pode ser também interpretado como a </a:t>
            </a:r>
            <a:r>
              <a:rPr lang="pt-BR" b="1" dirty="0">
                <a:solidFill>
                  <a:srgbClr val="7030A0"/>
                </a:solidFill>
                <a:effectLst/>
              </a:rPr>
              <a:t>inclinação</a:t>
            </a:r>
            <a:r>
              <a:rPr lang="pt-BR" b="0" dirty="0">
                <a:solidFill>
                  <a:schemeClr val="tx1"/>
                </a:solidFill>
                <a:effectLst/>
              </a:rPr>
              <a:t> de um </a:t>
            </a:r>
            <a:r>
              <a:rPr lang="pt-BR" b="1" dirty="0">
                <a:solidFill>
                  <a:srgbClr val="00B050"/>
                </a:solidFill>
                <a:effectLst/>
              </a:rPr>
              <a:t>hiperplano tangente à função</a:t>
            </a:r>
            <a:r>
              <a:rPr lang="pt-BR" b="0" dirty="0">
                <a:solidFill>
                  <a:schemeClr val="tx1"/>
                </a:solidFill>
                <a:effectLst/>
              </a:rPr>
              <a:t> no ponto onde o gradiente é calculado.</a:t>
            </a:r>
          </a:p>
          <a:p>
            <a:pPr lvl="1">
              <a:buFont typeface="Wingdings" panose="05000000000000000000" pitchFamily="2" charset="2"/>
              <a:buChar char="§"/>
            </a:pPr>
            <a:r>
              <a:rPr lang="pt-BR" b="0" dirty="0">
                <a:solidFill>
                  <a:schemeClr val="tx1"/>
                </a:solidFill>
                <a:effectLst/>
              </a:rPr>
              <a:t>Quanto </a:t>
            </a:r>
            <a:r>
              <a:rPr lang="pt-BR" b="1" dirty="0">
                <a:solidFill>
                  <a:schemeClr val="tx1"/>
                </a:solidFill>
                <a:effectLst/>
              </a:rPr>
              <a:t>maior o valor da norma </a:t>
            </a:r>
            <a:r>
              <a:rPr lang="pt-BR" dirty="0">
                <a:solidFill>
                  <a:schemeClr val="tx1"/>
                </a:solidFill>
                <a:effectLst/>
              </a:rPr>
              <a:t>do vetor gradiente,</a:t>
            </a:r>
            <a:r>
              <a:rPr lang="pt-BR" b="1" dirty="0">
                <a:solidFill>
                  <a:schemeClr val="tx1"/>
                </a:solidFill>
                <a:effectLst/>
              </a:rPr>
              <a:t> mais inclinado é </a:t>
            </a:r>
            <a:r>
              <a:rPr lang="pt-BR" b="1" dirty="0"/>
              <a:t>o hiperplano </a:t>
            </a:r>
            <a:r>
              <a:rPr lang="pt-BR" b="1" dirty="0">
                <a:solidFill>
                  <a:schemeClr val="tx1"/>
                </a:solidFill>
                <a:effectLst/>
              </a:rPr>
              <a:t>tangente </a:t>
            </a:r>
            <a:r>
              <a:rPr lang="pt-BR" dirty="0"/>
              <a:t>à</a:t>
            </a:r>
            <a:r>
              <a:rPr lang="pt-BR" b="0" dirty="0">
                <a:solidFill>
                  <a:schemeClr val="tx1"/>
                </a:solidFill>
                <a:effectLst/>
              </a:rPr>
              <a:t>quele ponto.</a:t>
            </a:r>
          </a:p>
          <a:p>
            <a:pPr lvl="1">
              <a:buFont typeface="Wingdings" panose="05000000000000000000" pitchFamily="2" charset="2"/>
              <a:buChar char="§"/>
            </a:pPr>
            <a:r>
              <a:rPr lang="pt-BR" dirty="0"/>
              <a:t>Portanto, </a:t>
            </a:r>
            <a:r>
              <a:rPr lang="pt-BR" b="1" dirty="0"/>
              <a:t>um </a:t>
            </a:r>
            <a:r>
              <a:rPr lang="pt-BR" b="1" dirty="0">
                <a:solidFill>
                  <a:srgbClr val="00B0F0"/>
                </a:solidFill>
              </a:rPr>
              <a:t>valor igual a 0 </a:t>
            </a:r>
            <a:r>
              <a:rPr lang="pt-BR" b="1" dirty="0"/>
              <a:t>indica inclinação nula</a:t>
            </a:r>
            <a:r>
              <a:rPr lang="pt-BR" dirty="0"/>
              <a:t>.</a:t>
            </a:r>
          </a:p>
          <a:p>
            <a:pPr lvl="1">
              <a:buFont typeface="Wingdings" panose="05000000000000000000" pitchFamily="2" charset="2"/>
              <a:buChar char="§"/>
            </a:pPr>
            <a:r>
              <a:rPr lang="pt-BR" b="0" dirty="0">
                <a:solidFill>
                  <a:schemeClr val="tx1"/>
                </a:solidFill>
                <a:effectLst/>
              </a:rPr>
              <a:t>Onde isso ocorre? </a:t>
            </a:r>
          </a:p>
          <a:p>
            <a:pPr lvl="2">
              <a:buFont typeface="Wingdings" panose="05000000000000000000" pitchFamily="2" charset="2"/>
              <a:buChar char="§"/>
            </a:pPr>
            <a:r>
              <a:rPr lang="pt-BR" b="1" dirty="0">
                <a:solidFill>
                  <a:schemeClr val="accent2"/>
                </a:solidFill>
              </a:rPr>
              <a:t>Resposta:</a:t>
            </a:r>
            <a:r>
              <a:rPr lang="pt-BR" b="1" dirty="0">
                <a:solidFill>
                  <a:srgbClr val="00B050"/>
                </a:solidFill>
              </a:rPr>
              <a:t> Em </a:t>
            </a:r>
            <a:r>
              <a:rPr lang="pt-BR" b="1" dirty="0">
                <a:solidFill>
                  <a:srgbClr val="00B050"/>
                </a:solidFill>
                <a:effectLst/>
              </a:rPr>
              <a:t>pontos de máximo e de mínimo</a:t>
            </a:r>
            <a:r>
              <a:rPr lang="pt-BR" b="0" dirty="0">
                <a:solidFill>
                  <a:schemeClr val="tx1"/>
                </a:solidFill>
                <a:effectLst/>
              </a:rPr>
              <a:t>.</a:t>
            </a:r>
          </a:p>
        </p:txBody>
      </p:sp>
      <p:grpSp>
        <p:nvGrpSpPr>
          <p:cNvPr id="25" name="Agrupar 24">
            <a:extLst>
              <a:ext uri="{FF2B5EF4-FFF2-40B4-BE49-F238E27FC236}">
                <a16:creationId xmlns:a16="http://schemas.microsoft.com/office/drawing/2014/main" id="{CAABD4E6-0271-FDD3-1BDC-9F25BB67666F}"/>
              </a:ext>
            </a:extLst>
          </p:cNvPr>
          <p:cNvGrpSpPr/>
          <p:nvPr/>
        </p:nvGrpSpPr>
        <p:grpSpPr>
          <a:xfrm>
            <a:off x="973059" y="2353695"/>
            <a:ext cx="3963570" cy="2939416"/>
            <a:chOff x="973059" y="2353695"/>
            <a:chExt cx="3963570" cy="2939416"/>
          </a:xfrm>
        </p:grpSpPr>
        <p:sp>
          <p:nvSpPr>
            <p:cNvPr id="24" name="Forma Livre: Forma 23">
              <a:extLst>
                <a:ext uri="{FF2B5EF4-FFF2-40B4-BE49-F238E27FC236}">
                  <a16:creationId xmlns:a16="http://schemas.microsoft.com/office/drawing/2014/main" id="{1AF02A9C-5A9B-AE81-9724-6E5E5F5C9AD5}"/>
                </a:ext>
              </a:extLst>
            </p:cNvPr>
            <p:cNvSpPr/>
            <p:nvPr/>
          </p:nvSpPr>
          <p:spPr>
            <a:xfrm>
              <a:off x="1190625" y="2990850"/>
              <a:ext cx="3429000" cy="1752634"/>
            </a:xfrm>
            <a:custGeom>
              <a:avLst/>
              <a:gdLst>
                <a:gd name="connsiteX0" fmla="*/ 0 w 3429000"/>
                <a:gd name="connsiteY0" fmla="*/ 38100 h 1752634"/>
                <a:gd name="connsiteX1" fmla="*/ 1714500 w 3429000"/>
                <a:gd name="connsiteY1" fmla="*/ 1752600 h 1752634"/>
                <a:gd name="connsiteX2" fmla="*/ 3429000 w 3429000"/>
                <a:gd name="connsiteY2" fmla="*/ 0 h 1752634"/>
              </a:gdLst>
              <a:ahLst/>
              <a:cxnLst>
                <a:cxn ang="0">
                  <a:pos x="connsiteX0" y="connsiteY0"/>
                </a:cxn>
                <a:cxn ang="0">
                  <a:pos x="connsiteX1" y="connsiteY1"/>
                </a:cxn>
                <a:cxn ang="0">
                  <a:pos x="connsiteX2" y="connsiteY2"/>
                </a:cxn>
              </a:cxnLst>
              <a:rect l="l" t="t" r="r" b="b"/>
              <a:pathLst>
                <a:path w="3429000" h="1752634">
                  <a:moveTo>
                    <a:pt x="0" y="38100"/>
                  </a:moveTo>
                  <a:cubicBezTo>
                    <a:pt x="571500" y="898525"/>
                    <a:pt x="1143000" y="1758950"/>
                    <a:pt x="1714500" y="1752600"/>
                  </a:cubicBezTo>
                  <a:cubicBezTo>
                    <a:pt x="2286000" y="1746250"/>
                    <a:pt x="3119438" y="314325"/>
                    <a:pt x="3429000"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6" name="Conector de Seta Reta 5">
              <a:extLst>
                <a:ext uri="{FF2B5EF4-FFF2-40B4-BE49-F238E27FC236}">
                  <a16:creationId xmlns:a16="http://schemas.microsoft.com/office/drawing/2014/main" id="{CECA8A08-ECD5-CF26-4CEC-3C8F2A7EB943}"/>
                </a:ext>
              </a:extLst>
            </p:cNvPr>
            <p:cNvCxnSpPr>
              <a:cxnSpLocks/>
            </p:cNvCxnSpPr>
            <p:nvPr/>
          </p:nvCxnSpPr>
          <p:spPr>
            <a:xfrm>
              <a:off x="974017" y="4916172"/>
              <a:ext cx="386096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Conector de Seta Reta 6">
              <a:extLst>
                <a:ext uri="{FF2B5EF4-FFF2-40B4-BE49-F238E27FC236}">
                  <a16:creationId xmlns:a16="http://schemas.microsoft.com/office/drawing/2014/main" id="{EBE189DA-FC3E-6F77-83E6-389C755E01A6}"/>
                </a:ext>
              </a:extLst>
            </p:cNvPr>
            <p:cNvCxnSpPr>
              <a:cxnSpLocks/>
            </p:cNvCxnSpPr>
            <p:nvPr/>
          </p:nvCxnSpPr>
          <p:spPr>
            <a:xfrm flipV="1">
              <a:off x="974018" y="2442308"/>
              <a:ext cx="0" cy="247386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CaixaDeTexto 7">
                  <a:extLst>
                    <a:ext uri="{FF2B5EF4-FFF2-40B4-BE49-F238E27FC236}">
                      <a16:creationId xmlns:a16="http://schemas.microsoft.com/office/drawing/2014/main" id="{A78938CD-F777-59C9-49FF-1EC87187C2BF}"/>
                    </a:ext>
                  </a:extLst>
                </p:cNvPr>
                <p:cNvSpPr txBox="1"/>
                <p:nvPr/>
              </p:nvSpPr>
              <p:spPr>
                <a:xfrm>
                  <a:off x="974017" y="2353695"/>
                  <a:ext cx="2460683" cy="369332"/>
                </a:xfrm>
                <a:prstGeom prst="rect">
                  <a:avLst/>
                </a:prstGeom>
                <a:noFill/>
              </p:spPr>
              <p:txBody>
                <a:bodyPr wrap="square" rtlCol="0">
                  <a:spAutoFit/>
                </a:bodyPr>
                <a:lstStyle/>
                <a:p>
                  <a:r>
                    <a:rPr lang="pt-BR" dirty="0"/>
                    <a:t>Função de erro, </a:t>
                  </a:r>
                  <a14:m>
                    <m:oMath xmlns:m="http://schemas.openxmlformats.org/officeDocument/2006/math">
                      <m:sSub>
                        <m:sSubPr>
                          <m:ctrlPr>
                            <a:rPr lang="pt-BR" b="0" i="1" smtClean="0">
                              <a:latin typeface="Cambria Math" panose="02040503050406030204" pitchFamily="18" charset="0"/>
                            </a:rPr>
                          </m:ctrlPr>
                        </m:sSubPr>
                        <m:e>
                          <m:r>
                            <a:rPr lang="pt-BR" b="0" i="1" smtClean="0">
                              <a:latin typeface="Cambria Math" panose="02040503050406030204" pitchFamily="18" charset="0"/>
                            </a:rPr>
                            <m:t>𝐽</m:t>
                          </m:r>
                        </m:e>
                        <m:sub>
                          <m:r>
                            <a:rPr lang="pt-BR" b="0" i="1" smtClean="0">
                              <a:latin typeface="Cambria Math" panose="02040503050406030204" pitchFamily="18" charset="0"/>
                            </a:rPr>
                            <m:t>𝑒</m:t>
                          </m:r>
                        </m:sub>
                      </m:sSub>
                      <m:r>
                        <a:rPr lang="pt-BR" b="0" i="1" smtClean="0">
                          <a:latin typeface="Cambria Math" panose="02040503050406030204" pitchFamily="18" charset="0"/>
                        </a:rPr>
                        <m:t>(</m:t>
                      </m:r>
                      <m:r>
                        <a:rPr lang="pt-BR" b="0" i="1" smtClean="0">
                          <a:latin typeface="Cambria Math" panose="02040503050406030204" pitchFamily="18" charset="0"/>
                        </a:rPr>
                        <m:t>𝑎</m:t>
                      </m:r>
                      <m:r>
                        <a:rPr lang="pt-BR" b="0" i="1" smtClean="0">
                          <a:latin typeface="Cambria Math" panose="02040503050406030204" pitchFamily="18" charset="0"/>
                        </a:rPr>
                        <m:t>)</m:t>
                      </m:r>
                    </m:oMath>
                  </a14:m>
                  <a:endParaRPr lang="pt-BR" dirty="0"/>
                </a:p>
              </p:txBody>
            </p:sp>
          </mc:Choice>
          <mc:Fallback xmlns="">
            <p:sp>
              <p:nvSpPr>
                <p:cNvPr id="8" name="CaixaDeTexto 7">
                  <a:extLst>
                    <a:ext uri="{FF2B5EF4-FFF2-40B4-BE49-F238E27FC236}">
                      <a16:creationId xmlns:a16="http://schemas.microsoft.com/office/drawing/2014/main" id="{A78938CD-F777-59C9-49FF-1EC87187C2BF}"/>
                    </a:ext>
                  </a:extLst>
                </p:cNvPr>
                <p:cNvSpPr txBox="1">
                  <a:spLocks noRot="1" noChangeAspect="1" noMove="1" noResize="1" noEditPoints="1" noAdjustHandles="1" noChangeArrowheads="1" noChangeShapeType="1" noTextEdit="1"/>
                </p:cNvSpPr>
                <p:nvPr/>
              </p:nvSpPr>
              <p:spPr>
                <a:xfrm>
                  <a:off x="974017" y="2353695"/>
                  <a:ext cx="2460683" cy="369332"/>
                </a:xfrm>
                <a:prstGeom prst="rect">
                  <a:avLst/>
                </a:prstGeom>
                <a:blipFill>
                  <a:blip r:embed="rId4"/>
                  <a:stretch>
                    <a:fillRect l="-2233" t="-8197" b="-24590"/>
                  </a:stretch>
                </a:blipFill>
              </p:spPr>
              <p:txBody>
                <a:bodyPr/>
                <a:lstStyle/>
                <a:p>
                  <a:r>
                    <a:rPr lang="pt-BR">
                      <a:noFill/>
                    </a:rPr>
                    <a:t> </a:t>
                  </a:r>
                </a:p>
              </p:txBody>
            </p:sp>
          </mc:Fallback>
        </mc:AlternateContent>
        <p:sp>
          <p:nvSpPr>
            <p:cNvPr id="9" name="CaixaDeTexto 8">
              <a:extLst>
                <a:ext uri="{FF2B5EF4-FFF2-40B4-BE49-F238E27FC236}">
                  <a16:creationId xmlns:a16="http://schemas.microsoft.com/office/drawing/2014/main" id="{A1CE1535-321D-E614-D63E-21C0CB455062}"/>
                </a:ext>
              </a:extLst>
            </p:cNvPr>
            <p:cNvSpPr txBox="1"/>
            <p:nvPr/>
          </p:nvSpPr>
          <p:spPr>
            <a:xfrm>
              <a:off x="4300295" y="4923779"/>
              <a:ext cx="636334" cy="369332"/>
            </a:xfrm>
            <a:prstGeom prst="rect">
              <a:avLst/>
            </a:prstGeom>
            <a:noFill/>
          </p:spPr>
          <p:txBody>
            <a:bodyPr wrap="square" rtlCol="0">
              <a:spAutoFit/>
            </a:bodyPr>
            <a:lstStyle/>
            <a:p>
              <a:pPr algn="r"/>
              <a:r>
                <a:rPr lang="pt-BR" dirty="0"/>
                <a:t>Peso</a:t>
              </a:r>
            </a:p>
          </p:txBody>
        </p:sp>
        <p:cxnSp>
          <p:nvCxnSpPr>
            <p:cNvPr id="10" name="Conector reto 9">
              <a:extLst>
                <a:ext uri="{FF2B5EF4-FFF2-40B4-BE49-F238E27FC236}">
                  <a16:creationId xmlns:a16="http://schemas.microsoft.com/office/drawing/2014/main" id="{C04D87AE-293E-34D0-E4BE-09E7635BC7EE}"/>
                </a:ext>
              </a:extLst>
            </p:cNvPr>
            <p:cNvCxnSpPr/>
            <p:nvPr/>
          </p:nvCxnSpPr>
          <p:spPr>
            <a:xfrm>
              <a:off x="976885" y="4744536"/>
              <a:ext cx="1930484" cy="0"/>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1" name="CaixaDeTexto 10">
              <a:extLst>
                <a:ext uri="{FF2B5EF4-FFF2-40B4-BE49-F238E27FC236}">
                  <a16:creationId xmlns:a16="http://schemas.microsoft.com/office/drawing/2014/main" id="{0ED8EC8A-F8D0-F14F-7E38-47715C0AD532}"/>
                </a:ext>
              </a:extLst>
            </p:cNvPr>
            <p:cNvSpPr txBox="1"/>
            <p:nvPr/>
          </p:nvSpPr>
          <p:spPr>
            <a:xfrm>
              <a:off x="2367751" y="4232230"/>
              <a:ext cx="1066949" cy="550146"/>
            </a:xfrm>
            <a:prstGeom prst="rect">
              <a:avLst/>
            </a:prstGeom>
            <a:noFill/>
          </p:spPr>
          <p:txBody>
            <a:bodyPr wrap="square" rtlCol="0">
              <a:spAutoFit/>
            </a:bodyPr>
            <a:lstStyle/>
            <a:p>
              <a:pPr algn="ctr"/>
              <a:r>
                <a:rPr lang="pt-BR" sz="1200" dirty="0"/>
                <a:t>Ponto de mínimo</a:t>
              </a:r>
            </a:p>
          </p:txBody>
        </p:sp>
        <p:cxnSp>
          <p:nvCxnSpPr>
            <p:cNvPr id="12" name="Conector reto 11">
              <a:extLst>
                <a:ext uri="{FF2B5EF4-FFF2-40B4-BE49-F238E27FC236}">
                  <a16:creationId xmlns:a16="http://schemas.microsoft.com/office/drawing/2014/main" id="{37A91F5D-D6CE-87E4-DD6F-6AEA41D6D82D}"/>
                </a:ext>
              </a:extLst>
            </p:cNvPr>
            <p:cNvCxnSpPr>
              <a:cxnSpLocks/>
            </p:cNvCxnSpPr>
            <p:nvPr/>
          </p:nvCxnSpPr>
          <p:spPr>
            <a:xfrm>
              <a:off x="2902477" y="4736969"/>
              <a:ext cx="0" cy="171598"/>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3" name="Elipse 12">
              <a:extLst>
                <a:ext uri="{FF2B5EF4-FFF2-40B4-BE49-F238E27FC236}">
                  <a16:creationId xmlns:a16="http://schemas.microsoft.com/office/drawing/2014/main" id="{34D38410-D059-6D93-1DD2-6F2EF0E92E63}"/>
                </a:ext>
              </a:extLst>
            </p:cNvPr>
            <p:cNvSpPr/>
            <p:nvPr/>
          </p:nvSpPr>
          <p:spPr>
            <a:xfrm>
              <a:off x="2879776" y="4721835"/>
              <a:ext cx="42900" cy="429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Elipse 13">
              <a:extLst>
                <a:ext uri="{FF2B5EF4-FFF2-40B4-BE49-F238E27FC236}">
                  <a16:creationId xmlns:a16="http://schemas.microsoft.com/office/drawing/2014/main" id="{483CF4C1-DDBF-4640-7392-235196C4D89B}"/>
                </a:ext>
              </a:extLst>
            </p:cNvPr>
            <p:cNvSpPr/>
            <p:nvPr/>
          </p:nvSpPr>
          <p:spPr>
            <a:xfrm>
              <a:off x="1273647" y="3163362"/>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15" name="Conector reto 14">
              <a:extLst>
                <a:ext uri="{FF2B5EF4-FFF2-40B4-BE49-F238E27FC236}">
                  <a16:creationId xmlns:a16="http://schemas.microsoft.com/office/drawing/2014/main" id="{D69F7809-96CB-75B0-3DD7-F1D3CFFC0DDA}"/>
                </a:ext>
              </a:extLst>
            </p:cNvPr>
            <p:cNvCxnSpPr/>
            <p:nvPr/>
          </p:nvCxnSpPr>
          <p:spPr>
            <a:xfrm>
              <a:off x="973059" y="3184593"/>
              <a:ext cx="324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7" name="Conector reto 16">
              <a:extLst>
                <a:ext uri="{FF2B5EF4-FFF2-40B4-BE49-F238E27FC236}">
                  <a16:creationId xmlns:a16="http://schemas.microsoft.com/office/drawing/2014/main" id="{51DB7F58-65FD-F0F4-E3F8-1B7A5A7E2DAE}"/>
                </a:ext>
              </a:extLst>
            </p:cNvPr>
            <p:cNvCxnSpPr>
              <a:cxnSpLocks/>
            </p:cNvCxnSpPr>
            <p:nvPr/>
          </p:nvCxnSpPr>
          <p:spPr>
            <a:xfrm>
              <a:off x="1295097" y="3163361"/>
              <a:ext cx="0" cy="1764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1" name="CaixaDeTexto 20">
              <a:extLst>
                <a:ext uri="{FF2B5EF4-FFF2-40B4-BE49-F238E27FC236}">
                  <a16:creationId xmlns:a16="http://schemas.microsoft.com/office/drawing/2014/main" id="{F3051166-FB83-1C01-C24B-836CCA65DF27}"/>
                </a:ext>
              </a:extLst>
            </p:cNvPr>
            <p:cNvSpPr txBox="1"/>
            <p:nvPr/>
          </p:nvSpPr>
          <p:spPr>
            <a:xfrm>
              <a:off x="1232864" y="3046093"/>
              <a:ext cx="1071476" cy="276999"/>
            </a:xfrm>
            <a:prstGeom prst="rect">
              <a:avLst/>
            </a:prstGeom>
            <a:noFill/>
          </p:spPr>
          <p:txBody>
            <a:bodyPr wrap="square" rtlCol="0">
              <a:spAutoFit/>
            </a:bodyPr>
            <a:lstStyle/>
            <a:p>
              <a:pPr algn="ctr"/>
              <a:r>
                <a:rPr lang="pt-BR" sz="1200" dirty="0"/>
                <a:t>Ponto inicial</a:t>
              </a:r>
            </a:p>
          </p:txBody>
        </p:sp>
        <mc:AlternateContent xmlns:mc="http://schemas.openxmlformats.org/markup-compatibility/2006" xmlns:a14="http://schemas.microsoft.com/office/drawing/2010/main">
          <mc:Choice Requires="a14">
            <p:sp>
              <p:nvSpPr>
                <p:cNvPr id="22" name="CaixaDeTexto 21">
                  <a:extLst>
                    <a:ext uri="{FF2B5EF4-FFF2-40B4-BE49-F238E27FC236}">
                      <a16:creationId xmlns:a16="http://schemas.microsoft.com/office/drawing/2014/main" id="{7167E7D4-807F-4A91-D2F9-5B3D43BE5896}"/>
                    </a:ext>
                  </a:extLst>
                </p:cNvPr>
                <p:cNvSpPr txBox="1"/>
                <p:nvPr/>
              </p:nvSpPr>
              <p:spPr>
                <a:xfrm>
                  <a:off x="1074774" y="4868216"/>
                  <a:ext cx="86794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m:rPr>
                                <m:sty m:val="p"/>
                              </m:rPr>
                              <a:rPr lang="pt-BR" sz="1400" b="0" i="0" smtClean="0">
                                <a:latin typeface="Cambria Math" panose="02040503050406030204" pitchFamily="18" charset="0"/>
                              </a:rPr>
                              <m:t>inicial</m:t>
                            </m:r>
                          </m:sub>
                        </m:sSub>
                      </m:oMath>
                    </m:oMathPara>
                  </a14:m>
                  <a:endParaRPr lang="pt-BR" sz="1400" dirty="0"/>
                </a:p>
              </p:txBody>
            </p:sp>
          </mc:Choice>
          <mc:Fallback xmlns="">
            <p:sp>
              <p:nvSpPr>
                <p:cNvPr id="22" name="CaixaDeTexto 21">
                  <a:extLst>
                    <a:ext uri="{FF2B5EF4-FFF2-40B4-BE49-F238E27FC236}">
                      <a16:creationId xmlns:a16="http://schemas.microsoft.com/office/drawing/2014/main" id="{7167E7D4-807F-4A91-D2F9-5B3D43BE5896}"/>
                    </a:ext>
                  </a:extLst>
                </p:cNvPr>
                <p:cNvSpPr txBox="1">
                  <a:spLocks noRot="1" noChangeAspect="1" noMove="1" noResize="1" noEditPoints="1" noAdjustHandles="1" noChangeArrowheads="1" noChangeShapeType="1" noTextEdit="1"/>
                </p:cNvSpPr>
                <p:nvPr/>
              </p:nvSpPr>
              <p:spPr>
                <a:xfrm>
                  <a:off x="1074774" y="4868216"/>
                  <a:ext cx="867941" cy="307777"/>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3" name="CaixaDeTexto 22">
                  <a:extLst>
                    <a:ext uri="{FF2B5EF4-FFF2-40B4-BE49-F238E27FC236}">
                      <a16:creationId xmlns:a16="http://schemas.microsoft.com/office/drawing/2014/main" id="{5563576F-5255-680C-F8CB-10958601F543}"/>
                    </a:ext>
                  </a:extLst>
                </p:cNvPr>
                <p:cNvSpPr txBox="1"/>
                <p:nvPr/>
              </p:nvSpPr>
              <p:spPr>
                <a:xfrm>
                  <a:off x="2671712" y="4867795"/>
                  <a:ext cx="86794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0" smtClean="0">
                                <a:latin typeface="Cambria Math" panose="02040503050406030204" pitchFamily="18" charset="0"/>
                              </a:rPr>
                              <m:t>ó</m:t>
                            </m:r>
                            <m:r>
                              <m:rPr>
                                <m:sty m:val="p"/>
                              </m:rPr>
                              <a:rPr lang="pt-BR" sz="1400" b="0" i="0" smtClean="0">
                                <a:latin typeface="Cambria Math" panose="02040503050406030204" pitchFamily="18" charset="0"/>
                              </a:rPr>
                              <m:t>timo</m:t>
                            </m:r>
                          </m:sub>
                        </m:sSub>
                      </m:oMath>
                    </m:oMathPara>
                  </a14:m>
                  <a:endParaRPr lang="pt-BR" sz="1400" dirty="0"/>
                </a:p>
              </p:txBody>
            </p:sp>
          </mc:Choice>
          <mc:Fallback xmlns="">
            <p:sp>
              <p:nvSpPr>
                <p:cNvPr id="23" name="CaixaDeTexto 22">
                  <a:extLst>
                    <a:ext uri="{FF2B5EF4-FFF2-40B4-BE49-F238E27FC236}">
                      <a16:creationId xmlns:a16="http://schemas.microsoft.com/office/drawing/2014/main" id="{5563576F-5255-680C-F8CB-10958601F543}"/>
                    </a:ext>
                  </a:extLst>
                </p:cNvPr>
                <p:cNvSpPr txBox="1">
                  <a:spLocks noRot="1" noChangeAspect="1" noMove="1" noResize="1" noEditPoints="1" noAdjustHandles="1" noChangeArrowheads="1" noChangeShapeType="1" noTextEdit="1"/>
                </p:cNvSpPr>
                <p:nvPr/>
              </p:nvSpPr>
              <p:spPr>
                <a:xfrm>
                  <a:off x="2671712" y="4867795"/>
                  <a:ext cx="867941" cy="307777"/>
                </a:xfrm>
                <a:prstGeom prst="rect">
                  <a:avLst/>
                </a:prstGeom>
                <a:blipFill>
                  <a:blip r:embed="rId6"/>
                  <a:stretch>
                    <a:fillRect/>
                  </a:stretch>
                </a:blipFill>
              </p:spPr>
              <p:txBody>
                <a:bodyPr/>
                <a:lstStyle/>
                <a:p>
                  <a:r>
                    <a:rPr lang="pt-BR">
                      <a:noFill/>
                    </a:rPr>
                    <a:t> </a:t>
                  </a:r>
                </a:p>
              </p:txBody>
            </p:sp>
          </mc:Fallback>
        </mc:AlternateContent>
      </p:grpSp>
      <p:sp>
        <p:nvSpPr>
          <p:cNvPr id="5" name="CaixaDeTexto 4">
            <a:extLst>
              <a:ext uri="{FF2B5EF4-FFF2-40B4-BE49-F238E27FC236}">
                <a16:creationId xmlns:a16="http://schemas.microsoft.com/office/drawing/2014/main" id="{0C28C885-5E71-B2B1-A1C0-BB5E866BD112}"/>
              </a:ext>
            </a:extLst>
          </p:cNvPr>
          <p:cNvSpPr txBox="1"/>
          <p:nvPr/>
        </p:nvSpPr>
        <p:spPr>
          <a:xfrm>
            <a:off x="580571" y="5485769"/>
            <a:ext cx="4573780" cy="830997"/>
          </a:xfrm>
          <a:prstGeom prst="rect">
            <a:avLst/>
          </a:prstGeom>
          <a:noFill/>
        </p:spPr>
        <p:txBody>
          <a:bodyPr wrap="square" rtlCol="0">
            <a:spAutoFit/>
          </a:bodyPr>
          <a:lstStyle/>
          <a:p>
            <a:pPr algn="ctr"/>
            <a:r>
              <a:rPr lang="pt-BR" sz="1600" dirty="0"/>
              <a:t>No caso da função hipótese ter apenas um peso, o vetor gradiente dá a inclinação de uma </a:t>
            </a:r>
            <a:r>
              <a:rPr lang="pt-BR" sz="1600" b="1" dirty="0">
                <a:solidFill>
                  <a:schemeClr val="accent2"/>
                </a:solidFill>
              </a:rPr>
              <a:t>reta tangente</a:t>
            </a:r>
            <a:r>
              <a:rPr lang="pt-BR" sz="1600" dirty="0"/>
              <a:t> ao ponto onde ele é calculado.</a:t>
            </a:r>
          </a:p>
        </p:txBody>
      </p:sp>
      <p:cxnSp>
        <p:nvCxnSpPr>
          <p:cNvPr id="16" name="Conector de Seta Reta 15">
            <a:extLst>
              <a:ext uri="{FF2B5EF4-FFF2-40B4-BE49-F238E27FC236}">
                <a16:creationId xmlns:a16="http://schemas.microsoft.com/office/drawing/2014/main" id="{2EA8176B-5ADC-D0FA-51E4-AB57F89F1F6E}"/>
              </a:ext>
            </a:extLst>
          </p:cNvPr>
          <p:cNvCxnSpPr>
            <a:cxnSpLocks/>
          </p:cNvCxnSpPr>
          <p:nvPr/>
        </p:nvCxnSpPr>
        <p:spPr>
          <a:xfrm>
            <a:off x="771525" y="2442308"/>
            <a:ext cx="540631" cy="777108"/>
          </a:xfrm>
          <a:prstGeom prst="straightConnector1">
            <a:avLst/>
          </a:prstGeom>
          <a:ln>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85503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CC3C31-4EA2-B4A2-431F-BF22FBB8A7BA}"/>
              </a:ext>
            </a:extLst>
          </p:cNvPr>
          <p:cNvSpPr>
            <a:spLocks noGrp="1"/>
          </p:cNvSpPr>
          <p:nvPr>
            <p:ph type="title"/>
          </p:nvPr>
        </p:nvSpPr>
        <p:spPr/>
        <p:txBody>
          <a:bodyPr/>
          <a:lstStyle/>
          <a:p>
            <a:r>
              <a:rPr lang="pt-BR" dirty="0"/>
              <a:t>Vetor gradiente</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F09EA0C7-E094-F158-6A1A-B80733321450}"/>
                  </a:ext>
                </a:extLst>
              </p:cNvPr>
              <p:cNvSpPr>
                <a:spLocks noGrp="1"/>
              </p:cNvSpPr>
              <p:nvPr>
                <p:ph idx="1"/>
              </p:nvPr>
            </p:nvSpPr>
            <p:spPr>
              <a:xfrm>
                <a:off x="5559178" y="1825624"/>
                <a:ext cx="6547091" cy="5032376"/>
              </a:xfrm>
            </p:spPr>
            <p:txBody>
              <a:bodyPr>
                <a:normAutofit/>
              </a:bodyPr>
              <a:lstStyle/>
              <a:p>
                <a:r>
                  <a:rPr lang="pt-BR" dirty="0">
                    <a:solidFill>
                      <a:schemeClr val="tx1"/>
                    </a:solidFill>
                  </a:rPr>
                  <a:t>Porém, queremos </a:t>
                </a:r>
                <a:r>
                  <a:rPr lang="pt-BR" b="1" dirty="0">
                    <a:solidFill>
                      <a:srgbClr val="00B050"/>
                    </a:solidFill>
                  </a:rPr>
                  <a:t>encontrar o ponto de mínimo</a:t>
                </a:r>
                <a:r>
                  <a:rPr lang="pt-BR" dirty="0">
                    <a:solidFill>
                      <a:schemeClr val="tx1"/>
                    </a:solidFill>
                  </a:rPr>
                  <a:t> da função, o que devemos fazer?</a:t>
                </a:r>
                <a:endParaRPr lang="pt-BR" b="0" dirty="0">
                  <a:solidFill>
                    <a:schemeClr val="tx1"/>
                  </a:solidFill>
                  <a:effectLst/>
                </a:endParaRPr>
              </a:p>
              <a:p>
                <a:r>
                  <a:rPr lang="pt-BR" b="0" dirty="0">
                    <a:solidFill>
                      <a:schemeClr val="tx1"/>
                    </a:solidFill>
                    <a:effectLst/>
                  </a:rPr>
                  <a:t>Basta irmos na </a:t>
                </a:r>
                <a:r>
                  <a:rPr lang="pt-BR" b="1" dirty="0">
                    <a:solidFill>
                      <a:srgbClr val="00B050"/>
                    </a:solidFill>
                    <a:effectLst/>
                  </a:rPr>
                  <a:t>direção oposta</a:t>
                </a:r>
                <a:r>
                  <a:rPr lang="pt-BR" dirty="0">
                    <a:effectLst/>
                  </a:rPr>
                  <a:t> à</a:t>
                </a:r>
                <a:r>
                  <a:rPr lang="pt-BR" b="0" dirty="0">
                    <a:solidFill>
                      <a:schemeClr val="tx1"/>
                    </a:solidFill>
                    <a:effectLst/>
                  </a:rPr>
                  <a:t> </a:t>
                </a:r>
                <a:r>
                  <a:rPr lang="pt-BR" dirty="0"/>
                  <a:t>indicada pelo</a:t>
                </a:r>
                <a:r>
                  <a:rPr lang="pt-BR" b="0" dirty="0">
                    <a:solidFill>
                      <a:schemeClr val="tx1"/>
                    </a:solidFill>
                    <a:effectLst/>
                  </a:rPr>
                  <a:t> vetor gradiente (i.e., negativo do gradiente)</a:t>
                </a:r>
              </a:p>
              <a:p>
                <a:pPr marL="0" indent="0">
                  <a:buNone/>
                </a:pPr>
                <a14:m>
                  <m:oMathPara xmlns:m="http://schemas.openxmlformats.org/officeDocument/2006/math">
                    <m:oMath>
                      <m:r>
                        <a:rPr lang="pt-BR" b="0" i="1" dirty="0" smtClean="0">
                          <a:solidFill>
                            <a:schemeClr val="tx1"/>
                          </a:solidFill>
                          <a:latin typeface="Cambria Math" panose="02040503050406030204" pitchFamily="18" charset="0"/>
                          <a:ea typeface="Cambria Math" panose="02040503050406030204" pitchFamily="18" charset="0"/>
                        </a:rPr>
                        <m:t>−</m:t>
                      </m:r>
                      <m:r>
                        <a:rPr lang="pt-BR" i="1" dirty="0" smtClean="0">
                          <a:solidFill>
                            <a:schemeClr val="tx1"/>
                          </a:solidFill>
                          <a:latin typeface="Cambria Math" panose="02040503050406030204" pitchFamily="18" charset="0"/>
                          <a:ea typeface="Cambria Math" panose="02040503050406030204" pitchFamily="18" charset="0"/>
                        </a:rPr>
                        <m:t>𝛻</m:t>
                      </m:r>
                      <m:sSub>
                        <m:sSubPr>
                          <m:ctrlPr>
                            <a:rPr lang="pt-BR" i="1">
                              <a:solidFill>
                                <a:schemeClr val="tx1"/>
                              </a:solidFill>
                              <a:latin typeface="Cambria Math" panose="02040503050406030204" pitchFamily="18" charset="0"/>
                            </a:rPr>
                          </m:ctrlPr>
                        </m:sSubPr>
                        <m:e>
                          <m:r>
                            <a:rPr lang="pt-BR" i="1">
                              <a:solidFill>
                                <a:schemeClr val="tx1"/>
                              </a:solidFill>
                              <a:latin typeface="Cambria Math" panose="02040503050406030204" pitchFamily="18" charset="0"/>
                            </a:rPr>
                            <m:t>𝐽</m:t>
                          </m:r>
                        </m:e>
                        <m:sub>
                          <m:r>
                            <a:rPr lang="pt-BR" i="1">
                              <a:solidFill>
                                <a:schemeClr val="tx1"/>
                              </a:solidFill>
                              <a:latin typeface="Cambria Math" panose="02040503050406030204" pitchFamily="18" charset="0"/>
                            </a:rPr>
                            <m:t>𝑒</m:t>
                          </m:r>
                        </m:sub>
                      </m:sSub>
                      <m:d>
                        <m:dPr>
                          <m:ctrlPr>
                            <a:rPr lang="pt-BR" b="1" i="1">
                              <a:solidFill>
                                <a:schemeClr val="tx1"/>
                              </a:solidFill>
                              <a:latin typeface="Cambria Math" panose="02040503050406030204" pitchFamily="18" charset="0"/>
                            </a:rPr>
                          </m:ctrlPr>
                        </m:dPr>
                        <m:e>
                          <m:r>
                            <a:rPr lang="pt-BR" b="1" i="1">
                              <a:solidFill>
                                <a:schemeClr val="tx1"/>
                              </a:solidFill>
                              <a:latin typeface="Cambria Math" panose="02040503050406030204" pitchFamily="18" charset="0"/>
                            </a:rPr>
                            <m:t>𝒂</m:t>
                          </m:r>
                        </m:e>
                      </m:d>
                      <m:r>
                        <a:rPr lang="pt-BR" b="0" i="1" smtClean="0">
                          <a:solidFill>
                            <a:schemeClr val="tx1"/>
                          </a:solidFill>
                          <a:latin typeface="Cambria Math" panose="02040503050406030204" pitchFamily="18" charset="0"/>
                        </a:rPr>
                        <m:t>=−</m:t>
                      </m:r>
                      <m:f>
                        <m:fPr>
                          <m:ctrlPr>
                            <a:rPr lang="pt-BR" i="1" dirty="0" smtClean="0">
                              <a:solidFill>
                                <a:schemeClr val="tx1"/>
                              </a:solidFill>
                              <a:latin typeface="Cambria Math" panose="02040503050406030204" pitchFamily="18" charset="0"/>
                            </a:rPr>
                          </m:ctrlPr>
                        </m:fPr>
                        <m:num>
                          <m:r>
                            <a:rPr lang="pt-BR" i="1" dirty="0" smtClean="0">
                              <a:solidFill>
                                <a:schemeClr val="tx1"/>
                              </a:solidFill>
                              <a:latin typeface="Cambria Math" panose="02040503050406030204" pitchFamily="18" charset="0"/>
                            </a:rPr>
                            <m:t>𝜕</m:t>
                          </m:r>
                          <m:sSub>
                            <m:sSubPr>
                              <m:ctrlPr>
                                <a:rPr lang="pt-BR" i="1">
                                  <a:solidFill>
                                    <a:schemeClr val="tx1"/>
                                  </a:solidFill>
                                  <a:latin typeface="Cambria Math" panose="02040503050406030204" pitchFamily="18" charset="0"/>
                                </a:rPr>
                              </m:ctrlPr>
                            </m:sSubPr>
                            <m:e>
                              <m:r>
                                <a:rPr lang="pt-BR" i="1">
                                  <a:solidFill>
                                    <a:schemeClr val="tx1"/>
                                  </a:solidFill>
                                  <a:latin typeface="Cambria Math" panose="02040503050406030204" pitchFamily="18" charset="0"/>
                                </a:rPr>
                                <m:t>𝐽</m:t>
                              </m:r>
                            </m:e>
                            <m:sub>
                              <m:r>
                                <a:rPr lang="pt-BR" i="1">
                                  <a:solidFill>
                                    <a:schemeClr val="tx1"/>
                                  </a:solidFill>
                                  <a:latin typeface="Cambria Math" panose="02040503050406030204" pitchFamily="18" charset="0"/>
                                </a:rPr>
                                <m:t>𝑒</m:t>
                              </m:r>
                            </m:sub>
                          </m:sSub>
                          <m:r>
                            <a:rPr lang="pt-BR" i="1">
                              <a:solidFill>
                                <a:schemeClr val="tx1"/>
                              </a:solidFill>
                              <a:latin typeface="Cambria Math" panose="02040503050406030204" pitchFamily="18" charset="0"/>
                            </a:rPr>
                            <m:t>(</m:t>
                          </m:r>
                          <m:r>
                            <a:rPr lang="pt-BR" b="1" i="1">
                              <a:solidFill>
                                <a:schemeClr val="tx1"/>
                              </a:solidFill>
                              <a:latin typeface="Cambria Math" panose="02040503050406030204" pitchFamily="18" charset="0"/>
                            </a:rPr>
                            <m:t>𝒂</m:t>
                          </m:r>
                          <m:r>
                            <a:rPr lang="pt-BR" i="1">
                              <a:solidFill>
                                <a:schemeClr val="tx1"/>
                              </a:solidFill>
                              <a:latin typeface="Cambria Math" panose="02040503050406030204" pitchFamily="18" charset="0"/>
                            </a:rPr>
                            <m:t>)</m:t>
                          </m:r>
                        </m:num>
                        <m:den>
                          <m:r>
                            <a:rPr lang="pt-BR" i="1" dirty="0" smtClean="0">
                              <a:solidFill>
                                <a:schemeClr val="tx1"/>
                              </a:solidFill>
                              <a:latin typeface="Cambria Math" panose="02040503050406030204" pitchFamily="18" charset="0"/>
                            </a:rPr>
                            <m:t>𝜕</m:t>
                          </m:r>
                          <m:r>
                            <a:rPr lang="pt-BR" b="1" i="1" dirty="0" smtClean="0">
                              <a:solidFill>
                                <a:schemeClr val="tx1"/>
                              </a:solidFill>
                              <a:latin typeface="Cambria Math" panose="02040503050406030204" pitchFamily="18" charset="0"/>
                            </a:rPr>
                            <m:t>𝒂</m:t>
                          </m:r>
                        </m:den>
                      </m:f>
                    </m:oMath>
                  </m:oMathPara>
                </a14:m>
                <a:endParaRPr lang="pt-BR" dirty="0"/>
              </a:p>
              <a:p>
                <a:r>
                  <a:rPr lang="pt-BR" dirty="0"/>
                  <a:t>O </a:t>
                </a:r>
                <a:r>
                  <a:rPr lang="pt-BR" b="1" dirty="0">
                    <a:solidFill>
                      <a:srgbClr val="7030A0"/>
                    </a:solidFill>
                  </a:rPr>
                  <a:t>negativo do vetor gradiente</a:t>
                </a:r>
                <a:r>
                  <a:rPr lang="pt-BR" b="1" dirty="0">
                    <a:solidFill>
                      <a:srgbClr val="00B050"/>
                    </a:solidFill>
                    <a:effectLst/>
                  </a:rPr>
                  <a:t> </a:t>
                </a:r>
                <a:r>
                  <a:rPr lang="pt-BR" b="1" dirty="0">
                    <a:solidFill>
                      <a:schemeClr val="tx1"/>
                    </a:solidFill>
                    <a:effectLst/>
                  </a:rPr>
                  <a:t>aponta para a </a:t>
                </a:r>
                <a:r>
                  <a:rPr lang="pt-BR" b="1" dirty="0">
                    <a:solidFill>
                      <a:schemeClr val="accent2"/>
                    </a:solidFill>
                    <a:effectLst/>
                  </a:rPr>
                  <a:t>direção</a:t>
                </a:r>
                <a:r>
                  <a:rPr lang="pt-BR" b="1" dirty="0">
                    <a:solidFill>
                      <a:srgbClr val="00B050"/>
                    </a:solidFill>
                    <a:effectLst/>
                  </a:rPr>
                  <a:t> de maior taxa de decrescimento da função</a:t>
                </a:r>
                <a:r>
                  <a:rPr lang="pt-BR" b="0" dirty="0">
                    <a:solidFill>
                      <a:srgbClr val="00B050"/>
                    </a:solidFill>
                    <a:effectLst/>
                  </a:rPr>
                  <a:t> </a:t>
                </a:r>
                <a:r>
                  <a:rPr lang="pt-BR" b="0" dirty="0">
                    <a:solidFill>
                      <a:schemeClr val="tx1"/>
                    </a:solidFill>
                    <a:effectLst/>
                  </a:rPr>
                  <a:t>a partir do ponto</a:t>
                </a:r>
                <a:r>
                  <a:rPr lang="pt-BR" dirty="0"/>
                  <a:t> onde o gradiente é calculado.</a:t>
                </a:r>
                <a:endParaRPr lang="pt-BR" dirty="0">
                  <a:solidFill>
                    <a:schemeClr val="tx1"/>
                  </a:solidFill>
                </a:endParaRPr>
              </a:p>
            </p:txBody>
          </p:sp>
        </mc:Choice>
        <mc:Fallback xmlns="">
          <p:sp>
            <p:nvSpPr>
              <p:cNvPr id="3" name="Espaço Reservado para Conteúdo 2">
                <a:extLst>
                  <a:ext uri="{FF2B5EF4-FFF2-40B4-BE49-F238E27FC236}">
                    <a16:creationId xmlns:a16="http://schemas.microsoft.com/office/drawing/2014/main" id="{F09EA0C7-E094-F158-6A1A-B80733321450}"/>
                  </a:ext>
                </a:extLst>
              </p:cNvPr>
              <p:cNvSpPr>
                <a:spLocks noGrp="1" noRot="1" noChangeAspect="1" noMove="1" noResize="1" noEditPoints="1" noAdjustHandles="1" noChangeArrowheads="1" noChangeShapeType="1" noTextEdit="1"/>
              </p:cNvSpPr>
              <p:nvPr>
                <p:ph idx="1"/>
              </p:nvPr>
            </p:nvSpPr>
            <p:spPr>
              <a:xfrm>
                <a:off x="5559178" y="1825624"/>
                <a:ext cx="6547091" cy="5032376"/>
              </a:xfrm>
              <a:blipFill>
                <a:blip r:embed="rId3"/>
                <a:stretch>
                  <a:fillRect l="-1676" t="-1937"/>
                </a:stretch>
              </a:blipFill>
            </p:spPr>
            <p:txBody>
              <a:bodyPr/>
              <a:lstStyle/>
              <a:p>
                <a:r>
                  <a:rPr lang="en-US">
                    <a:noFill/>
                  </a:rPr>
                  <a:t> </a:t>
                </a:r>
              </a:p>
            </p:txBody>
          </p:sp>
        </mc:Fallback>
      </mc:AlternateContent>
      <p:grpSp>
        <p:nvGrpSpPr>
          <p:cNvPr id="25" name="Agrupar 24">
            <a:extLst>
              <a:ext uri="{FF2B5EF4-FFF2-40B4-BE49-F238E27FC236}">
                <a16:creationId xmlns:a16="http://schemas.microsoft.com/office/drawing/2014/main" id="{CAABD4E6-0271-FDD3-1BDC-9F25BB67666F}"/>
              </a:ext>
            </a:extLst>
          </p:cNvPr>
          <p:cNvGrpSpPr/>
          <p:nvPr/>
        </p:nvGrpSpPr>
        <p:grpSpPr>
          <a:xfrm>
            <a:off x="973059" y="2353695"/>
            <a:ext cx="3963570" cy="2939416"/>
            <a:chOff x="973059" y="2353695"/>
            <a:chExt cx="3963570" cy="2939416"/>
          </a:xfrm>
        </p:grpSpPr>
        <p:sp>
          <p:nvSpPr>
            <p:cNvPr id="24" name="Forma Livre: Forma 23">
              <a:extLst>
                <a:ext uri="{FF2B5EF4-FFF2-40B4-BE49-F238E27FC236}">
                  <a16:creationId xmlns:a16="http://schemas.microsoft.com/office/drawing/2014/main" id="{1AF02A9C-5A9B-AE81-9724-6E5E5F5C9AD5}"/>
                </a:ext>
              </a:extLst>
            </p:cNvPr>
            <p:cNvSpPr/>
            <p:nvPr/>
          </p:nvSpPr>
          <p:spPr>
            <a:xfrm>
              <a:off x="1190625" y="2990850"/>
              <a:ext cx="3429000" cy="1752634"/>
            </a:xfrm>
            <a:custGeom>
              <a:avLst/>
              <a:gdLst>
                <a:gd name="connsiteX0" fmla="*/ 0 w 3429000"/>
                <a:gd name="connsiteY0" fmla="*/ 38100 h 1752634"/>
                <a:gd name="connsiteX1" fmla="*/ 1714500 w 3429000"/>
                <a:gd name="connsiteY1" fmla="*/ 1752600 h 1752634"/>
                <a:gd name="connsiteX2" fmla="*/ 3429000 w 3429000"/>
                <a:gd name="connsiteY2" fmla="*/ 0 h 1752634"/>
              </a:gdLst>
              <a:ahLst/>
              <a:cxnLst>
                <a:cxn ang="0">
                  <a:pos x="connsiteX0" y="connsiteY0"/>
                </a:cxn>
                <a:cxn ang="0">
                  <a:pos x="connsiteX1" y="connsiteY1"/>
                </a:cxn>
                <a:cxn ang="0">
                  <a:pos x="connsiteX2" y="connsiteY2"/>
                </a:cxn>
              </a:cxnLst>
              <a:rect l="l" t="t" r="r" b="b"/>
              <a:pathLst>
                <a:path w="3429000" h="1752634">
                  <a:moveTo>
                    <a:pt x="0" y="38100"/>
                  </a:moveTo>
                  <a:cubicBezTo>
                    <a:pt x="571500" y="898525"/>
                    <a:pt x="1143000" y="1758950"/>
                    <a:pt x="1714500" y="1752600"/>
                  </a:cubicBezTo>
                  <a:cubicBezTo>
                    <a:pt x="2286000" y="1746250"/>
                    <a:pt x="3119438" y="314325"/>
                    <a:pt x="3429000"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6" name="Conector de Seta Reta 5">
              <a:extLst>
                <a:ext uri="{FF2B5EF4-FFF2-40B4-BE49-F238E27FC236}">
                  <a16:creationId xmlns:a16="http://schemas.microsoft.com/office/drawing/2014/main" id="{CECA8A08-ECD5-CF26-4CEC-3C8F2A7EB943}"/>
                </a:ext>
              </a:extLst>
            </p:cNvPr>
            <p:cNvCxnSpPr>
              <a:cxnSpLocks/>
            </p:cNvCxnSpPr>
            <p:nvPr/>
          </p:nvCxnSpPr>
          <p:spPr>
            <a:xfrm>
              <a:off x="974017" y="4916172"/>
              <a:ext cx="386096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Conector de Seta Reta 6">
              <a:extLst>
                <a:ext uri="{FF2B5EF4-FFF2-40B4-BE49-F238E27FC236}">
                  <a16:creationId xmlns:a16="http://schemas.microsoft.com/office/drawing/2014/main" id="{EBE189DA-FC3E-6F77-83E6-389C755E01A6}"/>
                </a:ext>
              </a:extLst>
            </p:cNvPr>
            <p:cNvCxnSpPr>
              <a:cxnSpLocks/>
            </p:cNvCxnSpPr>
            <p:nvPr/>
          </p:nvCxnSpPr>
          <p:spPr>
            <a:xfrm flipV="1">
              <a:off x="974018" y="2442308"/>
              <a:ext cx="0" cy="247386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CaixaDeTexto 7">
                  <a:extLst>
                    <a:ext uri="{FF2B5EF4-FFF2-40B4-BE49-F238E27FC236}">
                      <a16:creationId xmlns:a16="http://schemas.microsoft.com/office/drawing/2014/main" id="{A78938CD-F777-59C9-49FF-1EC87187C2BF}"/>
                    </a:ext>
                  </a:extLst>
                </p:cNvPr>
                <p:cNvSpPr txBox="1"/>
                <p:nvPr/>
              </p:nvSpPr>
              <p:spPr>
                <a:xfrm>
                  <a:off x="974017" y="2353695"/>
                  <a:ext cx="2460683" cy="369332"/>
                </a:xfrm>
                <a:prstGeom prst="rect">
                  <a:avLst/>
                </a:prstGeom>
                <a:noFill/>
              </p:spPr>
              <p:txBody>
                <a:bodyPr wrap="square" rtlCol="0">
                  <a:spAutoFit/>
                </a:bodyPr>
                <a:lstStyle/>
                <a:p>
                  <a:r>
                    <a:rPr lang="pt-BR" dirty="0"/>
                    <a:t>Função de erro, </a:t>
                  </a:r>
                  <a14:m>
                    <m:oMath xmlns:m="http://schemas.openxmlformats.org/officeDocument/2006/math">
                      <m:sSub>
                        <m:sSubPr>
                          <m:ctrlPr>
                            <a:rPr lang="pt-BR" b="0" i="1" smtClean="0">
                              <a:latin typeface="Cambria Math" panose="02040503050406030204" pitchFamily="18" charset="0"/>
                            </a:rPr>
                          </m:ctrlPr>
                        </m:sSubPr>
                        <m:e>
                          <m:r>
                            <a:rPr lang="pt-BR" b="0" i="1" smtClean="0">
                              <a:latin typeface="Cambria Math" panose="02040503050406030204" pitchFamily="18" charset="0"/>
                            </a:rPr>
                            <m:t>𝐽</m:t>
                          </m:r>
                        </m:e>
                        <m:sub>
                          <m:r>
                            <a:rPr lang="pt-BR" b="0" i="1" smtClean="0">
                              <a:latin typeface="Cambria Math" panose="02040503050406030204" pitchFamily="18" charset="0"/>
                            </a:rPr>
                            <m:t>𝑒</m:t>
                          </m:r>
                        </m:sub>
                      </m:sSub>
                      <m:r>
                        <a:rPr lang="pt-BR" b="0" i="1" smtClean="0">
                          <a:latin typeface="Cambria Math" panose="02040503050406030204" pitchFamily="18" charset="0"/>
                        </a:rPr>
                        <m:t>(</m:t>
                      </m:r>
                      <m:r>
                        <a:rPr lang="pt-BR" b="0" i="1" smtClean="0">
                          <a:latin typeface="Cambria Math" panose="02040503050406030204" pitchFamily="18" charset="0"/>
                        </a:rPr>
                        <m:t>𝑎</m:t>
                      </m:r>
                      <m:r>
                        <a:rPr lang="pt-BR" b="0" i="1" smtClean="0">
                          <a:latin typeface="Cambria Math" panose="02040503050406030204" pitchFamily="18" charset="0"/>
                        </a:rPr>
                        <m:t>)</m:t>
                      </m:r>
                    </m:oMath>
                  </a14:m>
                  <a:endParaRPr lang="pt-BR" dirty="0"/>
                </a:p>
              </p:txBody>
            </p:sp>
          </mc:Choice>
          <mc:Fallback xmlns="">
            <p:sp>
              <p:nvSpPr>
                <p:cNvPr id="8" name="CaixaDeTexto 7">
                  <a:extLst>
                    <a:ext uri="{FF2B5EF4-FFF2-40B4-BE49-F238E27FC236}">
                      <a16:creationId xmlns:a16="http://schemas.microsoft.com/office/drawing/2014/main" id="{A78938CD-F777-59C9-49FF-1EC87187C2BF}"/>
                    </a:ext>
                  </a:extLst>
                </p:cNvPr>
                <p:cNvSpPr txBox="1">
                  <a:spLocks noRot="1" noChangeAspect="1" noMove="1" noResize="1" noEditPoints="1" noAdjustHandles="1" noChangeArrowheads="1" noChangeShapeType="1" noTextEdit="1"/>
                </p:cNvSpPr>
                <p:nvPr/>
              </p:nvSpPr>
              <p:spPr>
                <a:xfrm>
                  <a:off x="974017" y="2353695"/>
                  <a:ext cx="2460683" cy="369332"/>
                </a:xfrm>
                <a:prstGeom prst="rect">
                  <a:avLst/>
                </a:prstGeom>
                <a:blipFill>
                  <a:blip r:embed="rId4"/>
                  <a:stretch>
                    <a:fillRect l="-2233" t="-8197" b="-24590"/>
                  </a:stretch>
                </a:blipFill>
              </p:spPr>
              <p:txBody>
                <a:bodyPr/>
                <a:lstStyle/>
                <a:p>
                  <a:r>
                    <a:rPr lang="pt-BR">
                      <a:noFill/>
                    </a:rPr>
                    <a:t> </a:t>
                  </a:r>
                </a:p>
              </p:txBody>
            </p:sp>
          </mc:Fallback>
        </mc:AlternateContent>
        <p:sp>
          <p:nvSpPr>
            <p:cNvPr id="9" name="CaixaDeTexto 8">
              <a:extLst>
                <a:ext uri="{FF2B5EF4-FFF2-40B4-BE49-F238E27FC236}">
                  <a16:creationId xmlns:a16="http://schemas.microsoft.com/office/drawing/2014/main" id="{A1CE1535-321D-E614-D63E-21C0CB455062}"/>
                </a:ext>
              </a:extLst>
            </p:cNvPr>
            <p:cNvSpPr txBox="1"/>
            <p:nvPr/>
          </p:nvSpPr>
          <p:spPr>
            <a:xfrm>
              <a:off x="4300295" y="4923779"/>
              <a:ext cx="636334" cy="369332"/>
            </a:xfrm>
            <a:prstGeom prst="rect">
              <a:avLst/>
            </a:prstGeom>
            <a:noFill/>
          </p:spPr>
          <p:txBody>
            <a:bodyPr wrap="square" rtlCol="0">
              <a:spAutoFit/>
            </a:bodyPr>
            <a:lstStyle/>
            <a:p>
              <a:pPr algn="r"/>
              <a:r>
                <a:rPr lang="pt-BR" dirty="0"/>
                <a:t>Peso</a:t>
              </a:r>
            </a:p>
          </p:txBody>
        </p:sp>
        <p:cxnSp>
          <p:nvCxnSpPr>
            <p:cNvPr id="10" name="Conector reto 9">
              <a:extLst>
                <a:ext uri="{FF2B5EF4-FFF2-40B4-BE49-F238E27FC236}">
                  <a16:creationId xmlns:a16="http://schemas.microsoft.com/office/drawing/2014/main" id="{C04D87AE-293E-34D0-E4BE-09E7635BC7EE}"/>
                </a:ext>
              </a:extLst>
            </p:cNvPr>
            <p:cNvCxnSpPr/>
            <p:nvPr/>
          </p:nvCxnSpPr>
          <p:spPr>
            <a:xfrm>
              <a:off x="976885" y="4744536"/>
              <a:ext cx="1930484" cy="0"/>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1" name="CaixaDeTexto 10">
              <a:extLst>
                <a:ext uri="{FF2B5EF4-FFF2-40B4-BE49-F238E27FC236}">
                  <a16:creationId xmlns:a16="http://schemas.microsoft.com/office/drawing/2014/main" id="{0ED8EC8A-F8D0-F14F-7E38-47715C0AD532}"/>
                </a:ext>
              </a:extLst>
            </p:cNvPr>
            <p:cNvSpPr txBox="1"/>
            <p:nvPr/>
          </p:nvSpPr>
          <p:spPr>
            <a:xfrm>
              <a:off x="2367751" y="4232230"/>
              <a:ext cx="1066949" cy="550146"/>
            </a:xfrm>
            <a:prstGeom prst="rect">
              <a:avLst/>
            </a:prstGeom>
            <a:noFill/>
          </p:spPr>
          <p:txBody>
            <a:bodyPr wrap="square" rtlCol="0">
              <a:spAutoFit/>
            </a:bodyPr>
            <a:lstStyle/>
            <a:p>
              <a:pPr algn="ctr"/>
              <a:r>
                <a:rPr lang="pt-BR" sz="1200" dirty="0"/>
                <a:t>Ponto de mínimo</a:t>
              </a:r>
            </a:p>
          </p:txBody>
        </p:sp>
        <p:cxnSp>
          <p:nvCxnSpPr>
            <p:cNvPr id="12" name="Conector reto 11">
              <a:extLst>
                <a:ext uri="{FF2B5EF4-FFF2-40B4-BE49-F238E27FC236}">
                  <a16:creationId xmlns:a16="http://schemas.microsoft.com/office/drawing/2014/main" id="{37A91F5D-D6CE-87E4-DD6F-6AEA41D6D82D}"/>
                </a:ext>
              </a:extLst>
            </p:cNvPr>
            <p:cNvCxnSpPr>
              <a:cxnSpLocks/>
            </p:cNvCxnSpPr>
            <p:nvPr/>
          </p:nvCxnSpPr>
          <p:spPr>
            <a:xfrm>
              <a:off x="2902477" y="4736969"/>
              <a:ext cx="0" cy="171598"/>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3" name="Elipse 12">
              <a:extLst>
                <a:ext uri="{FF2B5EF4-FFF2-40B4-BE49-F238E27FC236}">
                  <a16:creationId xmlns:a16="http://schemas.microsoft.com/office/drawing/2014/main" id="{34D38410-D059-6D93-1DD2-6F2EF0E92E63}"/>
                </a:ext>
              </a:extLst>
            </p:cNvPr>
            <p:cNvSpPr/>
            <p:nvPr/>
          </p:nvSpPr>
          <p:spPr>
            <a:xfrm>
              <a:off x="2879776" y="4721835"/>
              <a:ext cx="42900" cy="429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Elipse 13">
              <a:extLst>
                <a:ext uri="{FF2B5EF4-FFF2-40B4-BE49-F238E27FC236}">
                  <a16:creationId xmlns:a16="http://schemas.microsoft.com/office/drawing/2014/main" id="{483CF4C1-DDBF-4640-7392-235196C4D89B}"/>
                </a:ext>
              </a:extLst>
            </p:cNvPr>
            <p:cNvSpPr/>
            <p:nvPr/>
          </p:nvSpPr>
          <p:spPr>
            <a:xfrm>
              <a:off x="1273647" y="3163362"/>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15" name="Conector reto 14">
              <a:extLst>
                <a:ext uri="{FF2B5EF4-FFF2-40B4-BE49-F238E27FC236}">
                  <a16:creationId xmlns:a16="http://schemas.microsoft.com/office/drawing/2014/main" id="{D69F7809-96CB-75B0-3DD7-F1D3CFFC0DDA}"/>
                </a:ext>
              </a:extLst>
            </p:cNvPr>
            <p:cNvCxnSpPr/>
            <p:nvPr/>
          </p:nvCxnSpPr>
          <p:spPr>
            <a:xfrm>
              <a:off x="973059" y="3184593"/>
              <a:ext cx="324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7" name="Conector reto 16">
              <a:extLst>
                <a:ext uri="{FF2B5EF4-FFF2-40B4-BE49-F238E27FC236}">
                  <a16:creationId xmlns:a16="http://schemas.microsoft.com/office/drawing/2014/main" id="{51DB7F58-65FD-F0F4-E3F8-1B7A5A7E2DAE}"/>
                </a:ext>
              </a:extLst>
            </p:cNvPr>
            <p:cNvCxnSpPr>
              <a:cxnSpLocks/>
            </p:cNvCxnSpPr>
            <p:nvPr/>
          </p:nvCxnSpPr>
          <p:spPr>
            <a:xfrm>
              <a:off x="1295097" y="3163361"/>
              <a:ext cx="0" cy="1764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1" name="CaixaDeTexto 20">
              <a:extLst>
                <a:ext uri="{FF2B5EF4-FFF2-40B4-BE49-F238E27FC236}">
                  <a16:creationId xmlns:a16="http://schemas.microsoft.com/office/drawing/2014/main" id="{F3051166-FB83-1C01-C24B-836CCA65DF27}"/>
                </a:ext>
              </a:extLst>
            </p:cNvPr>
            <p:cNvSpPr txBox="1"/>
            <p:nvPr/>
          </p:nvSpPr>
          <p:spPr>
            <a:xfrm>
              <a:off x="1232864" y="3046093"/>
              <a:ext cx="1071476" cy="276999"/>
            </a:xfrm>
            <a:prstGeom prst="rect">
              <a:avLst/>
            </a:prstGeom>
            <a:noFill/>
          </p:spPr>
          <p:txBody>
            <a:bodyPr wrap="square" rtlCol="0">
              <a:spAutoFit/>
            </a:bodyPr>
            <a:lstStyle/>
            <a:p>
              <a:pPr algn="ctr"/>
              <a:r>
                <a:rPr lang="pt-BR" sz="1200" dirty="0"/>
                <a:t>Ponto inicial</a:t>
              </a:r>
            </a:p>
          </p:txBody>
        </p:sp>
        <mc:AlternateContent xmlns:mc="http://schemas.openxmlformats.org/markup-compatibility/2006" xmlns:a14="http://schemas.microsoft.com/office/drawing/2010/main">
          <mc:Choice Requires="a14">
            <p:sp>
              <p:nvSpPr>
                <p:cNvPr id="22" name="CaixaDeTexto 21">
                  <a:extLst>
                    <a:ext uri="{FF2B5EF4-FFF2-40B4-BE49-F238E27FC236}">
                      <a16:creationId xmlns:a16="http://schemas.microsoft.com/office/drawing/2014/main" id="{7167E7D4-807F-4A91-D2F9-5B3D43BE5896}"/>
                    </a:ext>
                  </a:extLst>
                </p:cNvPr>
                <p:cNvSpPr txBox="1"/>
                <p:nvPr/>
              </p:nvSpPr>
              <p:spPr>
                <a:xfrm>
                  <a:off x="1074774" y="4868216"/>
                  <a:ext cx="86794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m:rPr>
                                <m:sty m:val="p"/>
                              </m:rPr>
                              <a:rPr lang="pt-BR" sz="1400" b="0" i="0" smtClean="0">
                                <a:latin typeface="Cambria Math" panose="02040503050406030204" pitchFamily="18" charset="0"/>
                              </a:rPr>
                              <m:t>inicial</m:t>
                            </m:r>
                          </m:sub>
                        </m:sSub>
                      </m:oMath>
                    </m:oMathPara>
                  </a14:m>
                  <a:endParaRPr lang="pt-BR" sz="1400" dirty="0"/>
                </a:p>
              </p:txBody>
            </p:sp>
          </mc:Choice>
          <mc:Fallback xmlns="">
            <p:sp>
              <p:nvSpPr>
                <p:cNvPr id="22" name="CaixaDeTexto 21">
                  <a:extLst>
                    <a:ext uri="{FF2B5EF4-FFF2-40B4-BE49-F238E27FC236}">
                      <a16:creationId xmlns:a16="http://schemas.microsoft.com/office/drawing/2014/main" id="{7167E7D4-807F-4A91-D2F9-5B3D43BE5896}"/>
                    </a:ext>
                  </a:extLst>
                </p:cNvPr>
                <p:cNvSpPr txBox="1">
                  <a:spLocks noRot="1" noChangeAspect="1" noMove="1" noResize="1" noEditPoints="1" noAdjustHandles="1" noChangeArrowheads="1" noChangeShapeType="1" noTextEdit="1"/>
                </p:cNvSpPr>
                <p:nvPr/>
              </p:nvSpPr>
              <p:spPr>
                <a:xfrm>
                  <a:off x="1074774" y="4868216"/>
                  <a:ext cx="867941" cy="307777"/>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3" name="CaixaDeTexto 22">
                  <a:extLst>
                    <a:ext uri="{FF2B5EF4-FFF2-40B4-BE49-F238E27FC236}">
                      <a16:creationId xmlns:a16="http://schemas.microsoft.com/office/drawing/2014/main" id="{5563576F-5255-680C-F8CB-10958601F543}"/>
                    </a:ext>
                  </a:extLst>
                </p:cNvPr>
                <p:cNvSpPr txBox="1"/>
                <p:nvPr/>
              </p:nvSpPr>
              <p:spPr>
                <a:xfrm>
                  <a:off x="2671712" y="4867795"/>
                  <a:ext cx="86794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0" smtClean="0">
                                <a:latin typeface="Cambria Math" panose="02040503050406030204" pitchFamily="18" charset="0"/>
                              </a:rPr>
                              <m:t>ó</m:t>
                            </m:r>
                            <m:r>
                              <m:rPr>
                                <m:sty m:val="p"/>
                              </m:rPr>
                              <a:rPr lang="pt-BR" sz="1400" b="0" i="0" smtClean="0">
                                <a:latin typeface="Cambria Math" panose="02040503050406030204" pitchFamily="18" charset="0"/>
                              </a:rPr>
                              <m:t>timo</m:t>
                            </m:r>
                          </m:sub>
                        </m:sSub>
                      </m:oMath>
                    </m:oMathPara>
                  </a14:m>
                  <a:endParaRPr lang="pt-BR" sz="1400" dirty="0"/>
                </a:p>
              </p:txBody>
            </p:sp>
          </mc:Choice>
          <mc:Fallback xmlns="">
            <p:sp>
              <p:nvSpPr>
                <p:cNvPr id="23" name="CaixaDeTexto 22">
                  <a:extLst>
                    <a:ext uri="{FF2B5EF4-FFF2-40B4-BE49-F238E27FC236}">
                      <a16:creationId xmlns:a16="http://schemas.microsoft.com/office/drawing/2014/main" id="{5563576F-5255-680C-F8CB-10958601F543}"/>
                    </a:ext>
                  </a:extLst>
                </p:cNvPr>
                <p:cNvSpPr txBox="1">
                  <a:spLocks noRot="1" noChangeAspect="1" noMove="1" noResize="1" noEditPoints="1" noAdjustHandles="1" noChangeArrowheads="1" noChangeShapeType="1" noTextEdit="1"/>
                </p:cNvSpPr>
                <p:nvPr/>
              </p:nvSpPr>
              <p:spPr>
                <a:xfrm>
                  <a:off x="2671712" y="4867795"/>
                  <a:ext cx="867941" cy="307777"/>
                </a:xfrm>
                <a:prstGeom prst="rect">
                  <a:avLst/>
                </a:prstGeom>
                <a:blipFill>
                  <a:blip r:embed="rId6"/>
                  <a:stretch>
                    <a:fillRect/>
                  </a:stretch>
                </a:blipFill>
              </p:spPr>
              <p:txBody>
                <a:bodyPr/>
                <a:lstStyle/>
                <a:p>
                  <a:r>
                    <a:rPr lang="pt-BR">
                      <a:noFill/>
                    </a:rPr>
                    <a:t> </a:t>
                  </a:r>
                </a:p>
              </p:txBody>
            </p:sp>
          </mc:Fallback>
        </mc:AlternateContent>
      </p:grpSp>
      <p:cxnSp>
        <p:nvCxnSpPr>
          <p:cNvPr id="4" name="Conector de Seta Reta 3">
            <a:extLst>
              <a:ext uri="{FF2B5EF4-FFF2-40B4-BE49-F238E27FC236}">
                <a16:creationId xmlns:a16="http://schemas.microsoft.com/office/drawing/2014/main" id="{AEECACA4-5B42-A865-92BE-067925FB1366}"/>
              </a:ext>
            </a:extLst>
          </p:cNvPr>
          <p:cNvCxnSpPr>
            <a:cxnSpLocks/>
          </p:cNvCxnSpPr>
          <p:nvPr/>
        </p:nvCxnSpPr>
        <p:spPr>
          <a:xfrm>
            <a:off x="1295851" y="3183756"/>
            <a:ext cx="473505" cy="79766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CaixaDeTexto 15">
            <a:extLst>
              <a:ext uri="{FF2B5EF4-FFF2-40B4-BE49-F238E27FC236}">
                <a16:creationId xmlns:a16="http://schemas.microsoft.com/office/drawing/2014/main" id="{C058A725-4BBC-26BD-048D-ECFF5AD66B5E}"/>
              </a:ext>
            </a:extLst>
          </p:cNvPr>
          <p:cNvSpPr txBox="1"/>
          <p:nvPr/>
        </p:nvSpPr>
        <p:spPr>
          <a:xfrm>
            <a:off x="468345" y="5522410"/>
            <a:ext cx="4822861" cy="646331"/>
          </a:xfrm>
          <a:prstGeom prst="rect">
            <a:avLst/>
          </a:prstGeom>
          <a:noFill/>
        </p:spPr>
        <p:txBody>
          <a:bodyPr wrap="square" rtlCol="0">
            <a:spAutoFit/>
          </a:bodyPr>
          <a:lstStyle/>
          <a:p>
            <a:pPr algn="ctr"/>
            <a:r>
              <a:rPr lang="pt-BR" dirty="0"/>
              <a:t>O objetivo é minimizar a função de erro </a:t>
            </a:r>
            <a:r>
              <a:rPr lang="pt-BR" b="1" dirty="0">
                <a:solidFill>
                  <a:srgbClr val="7030A0"/>
                </a:solidFill>
              </a:rPr>
              <a:t>indo na direção contrária</a:t>
            </a:r>
            <a:r>
              <a:rPr lang="pt-BR" dirty="0"/>
              <a:t> à indicada pelo gradiente.</a:t>
            </a:r>
          </a:p>
        </p:txBody>
      </p:sp>
    </p:spTree>
    <p:extLst>
      <p:ext uri="{BB962C8B-B14F-4D97-AF65-F5344CB8AC3E}">
        <p14:creationId xmlns:p14="http://schemas.microsoft.com/office/powerpoint/2010/main" val="11297576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0AE141-CA77-0446-63E0-C5BDFBD8341A}"/>
              </a:ext>
            </a:extLst>
          </p:cNvPr>
          <p:cNvSpPr>
            <a:spLocks noGrp="1"/>
          </p:cNvSpPr>
          <p:nvPr>
            <p:ph type="title"/>
          </p:nvPr>
        </p:nvSpPr>
        <p:spPr/>
        <p:txBody>
          <a:bodyPr/>
          <a:lstStyle/>
          <a:p>
            <a:r>
              <a:rPr lang="pt-BR" dirty="0"/>
              <a:t>Vetor gradiente</a:t>
            </a:r>
          </a:p>
        </p:txBody>
      </p:sp>
      <p:sp>
        <p:nvSpPr>
          <p:cNvPr id="3" name="Espaço Reservado para Conteúdo 2">
            <a:extLst>
              <a:ext uri="{FF2B5EF4-FFF2-40B4-BE49-F238E27FC236}">
                <a16:creationId xmlns:a16="http://schemas.microsoft.com/office/drawing/2014/main" id="{43674EA4-345D-7AF4-5F72-7D54DCA33195}"/>
              </a:ext>
            </a:extLst>
          </p:cNvPr>
          <p:cNvSpPr>
            <a:spLocks noGrp="1"/>
          </p:cNvSpPr>
          <p:nvPr>
            <p:ph idx="1"/>
          </p:nvPr>
        </p:nvSpPr>
        <p:spPr>
          <a:xfrm>
            <a:off x="5904689" y="1825624"/>
            <a:ext cx="6143285" cy="5032375"/>
          </a:xfrm>
        </p:spPr>
        <p:txBody>
          <a:bodyPr>
            <a:normAutofit/>
          </a:bodyPr>
          <a:lstStyle/>
          <a:p>
            <a:r>
              <a:rPr lang="pt-BR" dirty="0"/>
              <a:t>Quando seguimos na </a:t>
            </a:r>
            <a:r>
              <a:rPr lang="pt-BR" b="1" dirty="0">
                <a:solidFill>
                  <a:srgbClr val="00B050"/>
                </a:solidFill>
              </a:rPr>
              <a:t>direção contrária a da máxima taxa de crescimento</a:t>
            </a:r>
            <a:r>
              <a:rPr lang="pt-BR" dirty="0"/>
              <a:t>, estamos indo na </a:t>
            </a:r>
            <a:r>
              <a:rPr lang="pt-BR" b="1" dirty="0">
                <a:solidFill>
                  <a:srgbClr val="7030A0"/>
                </a:solidFill>
              </a:rPr>
              <a:t>direção de </a:t>
            </a:r>
            <a:r>
              <a:rPr lang="pt-BR" b="1" dirty="0">
                <a:solidFill>
                  <a:schemeClr val="accent2"/>
                </a:solidFill>
              </a:rPr>
              <a:t>decrescimento</a:t>
            </a:r>
            <a:r>
              <a:rPr lang="pt-BR" b="1" dirty="0">
                <a:solidFill>
                  <a:srgbClr val="7030A0"/>
                </a:solidFill>
              </a:rPr>
              <a:t> mais rápido da função.</a:t>
            </a:r>
          </a:p>
          <a:p>
            <a:r>
              <a:rPr lang="pt-BR" dirty="0"/>
              <a:t>Portanto, um elemento do vetor gradiente com sinal:</a:t>
            </a:r>
          </a:p>
          <a:p>
            <a:pPr lvl="1">
              <a:buFont typeface="Wingdings" panose="05000000000000000000" pitchFamily="2" charset="2"/>
              <a:buChar char="§"/>
            </a:pPr>
            <a:r>
              <a:rPr lang="pt-BR" dirty="0"/>
              <a:t>- (reta com inclinação negativa) indica que o </a:t>
            </a:r>
            <a:r>
              <a:rPr lang="pt-BR" b="1" dirty="0">
                <a:solidFill>
                  <a:srgbClr val="00B050"/>
                </a:solidFill>
              </a:rPr>
              <a:t>ponto de </a:t>
            </a:r>
            <a:r>
              <a:rPr lang="pt-BR" b="1" dirty="0">
                <a:solidFill>
                  <a:schemeClr val="accent2"/>
                </a:solidFill>
              </a:rPr>
              <a:t>mínimo</a:t>
            </a:r>
            <a:r>
              <a:rPr lang="pt-BR" b="1" dirty="0">
                <a:solidFill>
                  <a:srgbClr val="00B050"/>
                </a:solidFill>
              </a:rPr>
              <a:t> está à frente</a:t>
            </a:r>
            <a:r>
              <a:rPr lang="pt-BR" dirty="0"/>
              <a:t>.</a:t>
            </a:r>
          </a:p>
          <a:p>
            <a:pPr lvl="1">
              <a:buFont typeface="Wingdings" panose="05000000000000000000" pitchFamily="2" charset="2"/>
              <a:buChar char="§"/>
            </a:pPr>
            <a:r>
              <a:rPr lang="pt-BR" dirty="0"/>
              <a:t>+ (reta com inclinação positiva) indica que o </a:t>
            </a:r>
            <a:r>
              <a:rPr lang="pt-BR" b="1" dirty="0">
                <a:solidFill>
                  <a:srgbClr val="00B050"/>
                </a:solidFill>
              </a:rPr>
              <a:t>ponto de </a:t>
            </a:r>
            <a:r>
              <a:rPr lang="pt-BR" b="1" dirty="0">
                <a:solidFill>
                  <a:schemeClr val="accent2"/>
                </a:solidFill>
              </a:rPr>
              <a:t>mínimo</a:t>
            </a:r>
            <a:r>
              <a:rPr lang="pt-BR" b="1" dirty="0">
                <a:solidFill>
                  <a:srgbClr val="00B050"/>
                </a:solidFill>
              </a:rPr>
              <a:t> está atrás</a:t>
            </a:r>
            <a:r>
              <a:rPr lang="pt-BR" dirty="0"/>
              <a:t>. </a:t>
            </a:r>
          </a:p>
          <a:p>
            <a:pPr lvl="1">
              <a:buFont typeface="Wingdings" panose="05000000000000000000" pitchFamily="2" charset="2"/>
              <a:buChar char="§"/>
            </a:pPr>
            <a:r>
              <a:rPr lang="pt-BR" dirty="0"/>
              <a:t>0 (reta com inclinação nula) indica que </a:t>
            </a:r>
            <a:r>
              <a:rPr lang="pt-BR" b="1" dirty="0">
                <a:solidFill>
                  <a:srgbClr val="00B050"/>
                </a:solidFill>
              </a:rPr>
              <a:t>ponto de </a:t>
            </a:r>
            <a:r>
              <a:rPr lang="pt-BR" b="1" dirty="0">
                <a:solidFill>
                  <a:schemeClr val="accent2"/>
                </a:solidFill>
              </a:rPr>
              <a:t>mínimo</a:t>
            </a:r>
            <a:r>
              <a:rPr lang="pt-BR" b="1" dirty="0">
                <a:solidFill>
                  <a:srgbClr val="00B050"/>
                </a:solidFill>
              </a:rPr>
              <a:t> foi encontrado</a:t>
            </a:r>
            <a:r>
              <a:rPr lang="pt-BR" dirty="0"/>
              <a:t>.</a:t>
            </a:r>
          </a:p>
        </p:txBody>
      </p:sp>
      <p:pic>
        <p:nvPicPr>
          <p:cNvPr id="6" name="Picture 5">
            <a:extLst>
              <a:ext uri="{FF2B5EF4-FFF2-40B4-BE49-F238E27FC236}">
                <a16:creationId xmlns:a16="http://schemas.microsoft.com/office/drawing/2014/main" id="{54437538-7DB9-AC84-8BC4-45B5BC80B0D4}"/>
              </a:ext>
            </a:extLst>
          </p:cNvPr>
          <p:cNvPicPr>
            <a:picLocks noChangeAspect="1"/>
          </p:cNvPicPr>
          <p:nvPr/>
        </p:nvPicPr>
        <p:blipFill>
          <a:blip r:embed="rId3" cstate="print">
            <a:extLst>
              <a:ext uri="{28A0092B-C50C-407E-A947-70E740481C1C}">
                <a14:useLocalDpi xmlns:a14="http://schemas.microsoft.com/office/drawing/2010/main" val="0"/>
              </a:ext>
            </a:extLst>
          </a:blip>
          <a:srcRect t="44974" r="1399"/>
          <a:stretch>
            <a:fillRect/>
          </a:stretch>
        </p:blipFill>
        <p:spPr>
          <a:xfrm>
            <a:off x="144026" y="2658358"/>
            <a:ext cx="5562702" cy="2348080"/>
          </a:xfrm>
          <a:prstGeom prst="rect">
            <a:avLst/>
          </a:prstGeom>
        </p:spPr>
      </p:pic>
    </p:spTree>
    <p:extLst>
      <p:ext uri="{BB962C8B-B14F-4D97-AF65-F5344CB8AC3E}">
        <p14:creationId xmlns:p14="http://schemas.microsoft.com/office/powerpoint/2010/main" val="11348122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CC3C31-4EA2-B4A2-431F-BF22FBB8A7BA}"/>
              </a:ext>
            </a:extLst>
          </p:cNvPr>
          <p:cNvSpPr>
            <a:spLocks noGrp="1"/>
          </p:cNvSpPr>
          <p:nvPr>
            <p:ph type="title"/>
          </p:nvPr>
        </p:nvSpPr>
        <p:spPr/>
        <p:txBody>
          <a:bodyPr/>
          <a:lstStyle/>
          <a:p>
            <a:r>
              <a:rPr lang="pt-BR" dirty="0"/>
              <a:t>Qual a distância até o mínimo?</a:t>
            </a:r>
          </a:p>
        </p:txBody>
      </p:sp>
      <p:sp>
        <p:nvSpPr>
          <p:cNvPr id="3" name="Espaço Reservado para Conteúdo 2">
            <a:extLst>
              <a:ext uri="{FF2B5EF4-FFF2-40B4-BE49-F238E27FC236}">
                <a16:creationId xmlns:a16="http://schemas.microsoft.com/office/drawing/2014/main" id="{F09EA0C7-E094-F158-6A1A-B80733321450}"/>
              </a:ext>
            </a:extLst>
          </p:cNvPr>
          <p:cNvSpPr>
            <a:spLocks noGrp="1"/>
          </p:cNvSpPr>
          <p:nvPr>
            <p:ph idx="1"/>
          </p:nvPr>
        </p:nvSpPr>
        <p:spPr>
          <a:xfrm>
            <a:off x="5897233" y="1825624"/>
            <a:ext cx="6159647" cy="5032376"/>
          </a:xfrm>
        </p:spPr>
        <p:txBody>
          <a:bodyPr>
            <a:normAutofit/>
          </a:bodyPr>
          <a:lstStyle/>
          <a:p>
            <a:r>
              <a:rPr lang="pt-BR" dirty="0"/>
              <a:t>Entretanto, o gradiente </a:t>
            </a:r>
            <a:r>
              <a:rPr lang="pt-BR" b="1" dirty="0">
                <a:solidFill>
                  <a:srgbClr val="00B050"/>
                </a:solidFill>
              </a:rPr>
              <a:t>não dá informação sobre a distância até o ponto de mínimo</a:t>
            </a:r>
            <a:r>
              <a:rPr lang="pt-BR" dirty="0"/>
              <a:t>, mas pelo menos sabemos a direção correta.</a:t>
            </a:r>
          </a:p>
          <a:p>
            <a:pPr lvl="1">
              <a:buFont typeface="Wingdings" panose="05000000000000000000" pitchFamily="2" charset="2"/>
              <a:buChar char="§"/>
            </a:pPr>
            <a:r>
              <a:rPr lang="pt-BR" dirty="0"/>
              <a:t>Gradiente fornece </a:t>
            </a:r>
            <a:r>
              <a:rPr lang="pt-BR" b="1" dirty="0">
                <a:solidFill>
                  <a:srgbClr val="7030A0"/>
                </a:solidFill>
              </a:rPr>
              <a:t>apenas</a:t>
            </a:r>
            <a:r>
              <a:rPr lang="pt-BR" dirty="0"/>
              <a:t> </a:t>
            </a:r>
            <a:r>
              <a:rPr lang="pt-BR" b="1" dirty="0">
                <a:solidFill>
                  <a:srgbClr val="00B0F0"/>
                </a:solidFill>
              </a:rPr>
              <a:t>a direção e a taxa de crescimento</a:t>
            </a:r>
            <a:r>
              <a:rPr lang="pt-BR" dirty="0"/>
              <a:t>.</a:t>
            </a:r>
          </a:p>
          <a:p>
            <a:r>
              <a:rPr lang="pt-BR" dirty="0"/>
              <a:t>Podemos fazer a analogia com uma bola solta em uma ladeira.</a:t>
            </a:r>
          </a:p>
          <a:p>
            <a:r>
              <a:rPr lang="pt-BR" dirty="0"/>
              <a:t>A gravidade dá a direção até a parte mais baixa da ladeira, mas não dá a distância até lá. </a:t>
            </a:r>
          </a:p>
          <a:p>
            <a:endParaRPr lang="pt-BR" dirty="0"/>
          </a:p>
        </p:txBody>
      </p:sp>
      <p:grpSp>
        <p:nvGrpSpPr>
          <p:cNvPr id="25" name="Agrupar 24">
            <a:extLst>
              <a:ext uri="{FF2B5EF4-FFF2-40B4-BE49-F238E27FC236}">
                <a16:creationId xmlns:a16="http://schemas.microsoft.com/office/drawing/2014/main" id="{CAABD4E6-0271-FDD3-1BDC-9F25BB67666F}"/>
              </a:ext>
            </a:extLst>
          </p:cNvPr>
          <p:cNvGrpSpPr/>
          <p:nvPr/>
        </p:nvGrpSpPr>
        <p:grpSpPr>
          <a:xfrm>
            <a:off x="973059" y="2353695"/>
            <a:ext cx="3963570" cy="2939416"/>
            <a:chOff x="973059" y="2353695"/>
            <a:chExt cx="3963570" cy="2939416"/>
          </a:xfrm>
        </p:grpSpPr>
        <p:sp>
          <p:nvSpPr>
            <p:cNvPr id="24" name="Forma Livre: Forma 23">
              <a:extLst>
                <a:ext uri="{FF2B5EF4-FFF2-40B4-BE49-F238E27FC236}">
                  <a16:creationId xmlns:a16="http://schemas.microsoft.com/office/drawing/2014/main" id="{1AF02A9C-5A9B-AE81-9724-6E5E5F5C9AD5}"/>
                </a:ext>
              </a:extLst>
            </p:cNvPr>
            <p:cNvSpPr/>
            <p:nvPr/>
          </p:nvSpPr>
          <p:spPr>
            <a:xfrm>
              <a:off x="1190625" y="2990850"/>
              <a:ext cx="3429000" cy="1752634"/>
            </a:xfrm>
            <a:custGeom>
              <a:avLst/>
              <a:gdLst>
                <a:gd name="connsiteX0" fmla="*/ 0 w 3429000"/>
                <a:gd name="connsiteY0" fmla="*/ 38100 h 1752634"/>
                <a:gd name="connsiteX1" fmla="*/ 1714500 w 3429000"/>
                <a:gd name="connsiteY1" fmla="*/ 1752600 h 1752634"/>
                <a:gd name="connsiteX2" fmla="*/ 3429000 w 3429000"/>
                <a:gd name="connsiteY2" fmla="*/ 0 h 1752634"/>
              </a:gdLst>
              <a:ahLst/>
              <a:cxnLst>
                <a:cxn ang="0">
                  <a:pos x="connsiteX0" y="connsiteY0"/>
                </a:cxn>
                <a:cxn ang="0">
                  <a:pos x="connsiteX1" y="connsiteY1"/>
                </a:cxn>
                <a:cxn ang="0">
                  <a:pos x="connsiteX2" y="connsiteY2"/>
                </a:cxn>
              </a:cxnLst>
              <a:rect l="l" t="t" r="r" b="b"/>
              <a:pathLst>
                <a:path w="3429000" h="1752634">
                  <a:moveTo>
                    <a:pt x="0" y="38100"/>
                  </a:moveTo>
                  <a:cubicBezTo>
                    <a:pt x="571500" y="898525"/>
                    <a:pt x="1143000" y="1758950"/>
                    <a:pt x="1714500" y="1752600"/>
                  </a:cubicBezTo>
                  <a:cubicBezTo>
                    <a:pt x="2286000" y="1746250"/>
                    <a:pt x="3119438" y="314325"/>
                    <a:pt x="3429000"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6" name="Conector de Seta Reta 5">
              <a:extLst>
                <a:ext uri="{FF2B5EF4-FFF2-40B4-BE49-F238E27FC236}">
                  <a16:creationId xmlns:a16="http://schemas.microsoft.com/office/drawing/2014/main" id="{CECA8A08-ECD5-CF26-4CEC-3C8F2A7EB943}"/>
                </a:ext>
              </a:extLst>
            </p:cNvPr>
            <p:cNvCxnSpPr>
              <a:cxnSpLocks/>
            </p:cNvCxnSpPr>
            <p:nvPr/>
          </p:nvCxnSpPr>
          <p:spPr>
            <a:xfrm>
              <a:off x="974017" y="4916172"/>
              <a:ext cx="386096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Conector de Seta Reta 6">
              <a:extLst>
                <a:ext uri="{FF2B5EF4-FFF2-40B4-BE49-F238E27FC236}">
                  <a16:creationId xmlns:a16="http://schemas.microsoft.com/office/drawing/2014/main" id="{EBE189DA-FC3E-6F77-83E6-389C755E01A6}"/>
                </a:ext>
              </a:extLst>
            </p:cNvPr>
            <p:cNvCxnSpPr>
              <a:cxnSpLocks/>
            </p:cNvCxnSpPr>
            <p:nvPr/>
          </p:nvCxnSpPr>
          <p:spPr>
            <a:xfrm flipV="1">
              <a:off x="974018" y="2442308"/>
              <a:ext cx="0" cy="247386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CaixaDeTexto 7">
                  <a:extLst>
                    <a:ext uri="{FF2B5EF4-FFF2-40B4-BE49-F238E27FC236}">
                      <a16:creationId xmlns:a16="http://schemas.microsoft.com/office/drawing/2014/main" id="{A78938CD-F777-59C9-49FF-1EC87187C2BF}"/>
                    </a:ext>
                  </a:extLst>
                </p:cNvPr>
                <p:cNvSpPr txBox="1"/>
                <p:nvPr/>
              </p:nvSpPr>
              <p:spPr>
                <a:xfrm>
                  <a:off x="974017" y="2353695"/>
                  <a:ext cx="2565636" cy="369332"/>
                </a:xfrm>
                <a:prstGeom prst="rect">
                  <a:avLst/>
                </a:prstGeom>
                <a:noFill/>
              </p:spPr>
              <p:txBody>
                <a:bodyPr wrap="square" rtlCol="0">
                  <a:spAutoFit/>
                </a:bodyPr>
                <a:lstStyle/>
                <a:p>
                  <a:r>
                    <a:rPr lang="pt-BR" dirty="0"/>
                    <a:t>Função de erro, </a:t>
                  </a:r>
                  <a14:m>
                    <m:oMath xmlns:m="http://schemas.openxmlformats.org/officeDocument/2006/math">
                      <m:sSub>
                        <m:sSubPr>
                          <m:ctrlPr>
                            <a:rPr lang="pt-BR" b="0" i="1" smtClean="0">
                              <a:latin typeface="Cambria Math" panose="02040503050406030204" pitchFamily="18" charset="0"/>
                            </a:rPr>
                          </m:ctrlPr>
                        </m:sSubPr>
                        <m:e>
                          <m:r>
                            <a:rPr lang="pt-BR" b="0" i="1" smtClean="0">
                              <a:latin typeface="Cambria Math" panose="02040503050406030204" pitchFamily="18" charset="0"/>
                            </a:rPr>
                            <m:t>𝐽</m:t>
                          </m:r>
                        </m:e>
                        <m:sub>
                          <m:r>
                            <a:rPr lang="pt-BR" b="0" i="1" smtClean="0">
                              <a:latin typeface="Cambria Math" panose="02040503050406030204" pitchFamily="18" charset="0"/>
                            </a:rPr>
                            <m:t>𝑒</m:t>
                          </m:r>
                        </m:sub>
                      </m:sSub>
                      <m:r>
                        <a:rPr lang="pt-BR" b="0" i="1" smtClean="0">
                          <a:latin typeface="Cambria Math" panose="02040503050406030204" pitchFamily="18" charset="0"/>
                        </a:rPr>
                        <m:t>(</m:t>
                      </m:r>
                      <m:r>
                        <a:rPr lang="pt-BR" b="0" i="1" smtClean="0">
                          <a:latin typeface="Cambria Math" panose="02040503050406030204" pitchFamily="18" charset="0"/>
                        </a:rPr>
                        <m:t>𝑎</m:t>
                      </m:r>
                      <m:r>
                        <a:rPr lang="pt-BR" b="0" i="1" smtClean="0">
                          <a:latin typeface="Cambria Math" panose="02040503050406030204" pitchFamily="18" charset="0"/>
                        </a:rPr>
                        <m:t>)</m:t>
                      </m:r>
                    </m:oMath>
                  </a14:m>
                  <a:endParaRPr lang="pt-BR" dirty="0"/>
                </a:p>
              </p:txBody>
            </p:sp>
          </mc:Choice>
          <mc:Fallback xmlns="">
            <p:sp>
              <p:nvSpPr>
                <p:cNvPr id="8" name="CaixaDeTexto 7">
                  <a:extLst>
                    <a:ext uri="{FF2B5EF4-FFF2-40B4-BE49-F238E27FC236}">
                      <a16:creationId xmlns:a16="http://schemas.microsoft.com/office/drawing/2014/main" id="{A78938CD-F777-59C9-49FF-1EC87187C2BF}"/>
                    </a:ext>
                  </a:extLst>
                </p:cNvPr>
                <p:cNvSpPr txBox="1">
                  <a:spLocks noRot="1" noChangeAspect="1" noMove="1" noResize="1" noEditPoints="1" noAdjustHandles="1" noChangeArrowheads="1" noChangeShapeType="1" noTextEdit="1"/>
                </p:cNvSpPr>
                <p:nvPr/>
              </p:nvSpPr>
              <p:spPr>
                <a:xfrm>
                  <a:off x="974017" y="2353695"/>
                  <a:ext cx="2565636" cy="369332"/>
                </a:xfrm>
                <a:prstGeom prst="rect">
                  <a:avLst/>
                </a:prstGeom>
                <a:blipFill>
                  <a:blip r:embed="rId3"/>
                  <a:stretch>
                    <a:fillRect l="-2138" t="-8197" b="-24590"/>
                  </a:stretch>
                </a:blipFill>
              </p:spPr>
              <p:txBody>
                <a:bodyPr/>
                <a:lstStyle/>
                <a:p>
                  <a:r>
                    <a:rPr lang="pt-BR">
                      <a:noFill/>
                    </a:rPr>
                    <a:t> </a:t>
                  </a:r>
                </a:p>
              </p:txBody>
            </p:sp>
          </mc:Fallback>
        </mc:AlternateContent>
        <p:sp>
          <p:nvSpPr>
            <p:cNvPr id="9" name="CaixaDeTexto 8">
              <a:extLst>
                <a:ext uri="{FF2B5EF4-FFF2-40B4-BE49-F238E27FC236}">
                  <a16:creationId xmlns:a16="http://schemas.microsoft.com/office/drawing/2014/main" id="{A1CE1535-321D-E614-D63E-21C0CB455062}"/>
                </a:ext>
              </a:extLst>
            </p:cNvPr>
            <p:cNvSpPr txBox="1"/>
            <p:nvPr/>
          </p:nvSpPr>
          <p:spPr>
            <a:xfrm>
              <a:off x="4300295" y="4923779"/>
              <a:ext cx="636334" cy="369332"/>
            </a:xfrm>
            <a:prstGeom prst="rect">
              <a:avLst/>
            </a:prstGeom>
            <a:noFill/>
          </p:spPr>
          <p:txBody>
            <a:bodyPr wrap="square" rtlCol="0">
              <a:spAutoFit/>
            </a:bodyPr>
            <a:lstStyle/>
            <a:p>
              <a:pPr algn="r"/>
              <a:r>
                <a:rPr lang="pt-BR" dirty="0"/>
                <a:t>Peso</a:t>
              </a:r>
            </a:p>
          </p:txBody>
        </p:sp>
        <p:cxnSp>
          <p:nvCxnSpPr>
            <p:cNvPr id="10" name="Conector reto 9">
              <a:extLst>
                <a:ext uri="{FF2B5EF4-FFF2-40B4-BE49-F238E27FC236}">
                  <a16:creationId xmlns:a16="http://schemas.microsoft.com/office/drawing/2014/main" id="{C04D87AE-293E-34D0-E4BE-09E7635BC7EE}"/>
                </a:ext>
              </a:extLst>
            </p:cNvPr>
            <p:cNvCxnSpPr/>
            <p:nvPr/>
          </p:nvCxnSpPr>
          <p:spPr>
            <a:xfrm>
              <a:off x="976885" y="4744536"/>
              <a:ext cx="1930484" cy="0"/>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1" name="CaixaDeTexto 10">
              <a:extLst>
                <a:ext uri="{FF2B5EF4-FFF2-40B4-BE49-F238E27FC236}">
                  <a16:creationId xmlns:a16="http://schemas.microsoft.com/office/drawing/2014/main" id="{0ED8EC8A-F8D0-F14F-7E38-47715C0AD532}"/>
                </a:ext>
              </a:extLst>
            </p:cNvPr>
            <p:cNvSpPr txBox="1"/>
            <p:nvPr/>
          </p:nvSpPr>
          <p:spPr>
            <a:xfrm>
              <a:off x="2367751" y="4232230"/>
              <a:ext cx="1066949" cy="550146"/>
            </a:xfrm>
            <a:prstGeom prst="rect">
              <a:avLst/>
            </a:prstGeom>
            <a:noFill/>
          </p:spPr>
          <p:txBody>
            <a:bodyPr wrap="square" rtlCol="0">
              <a:spAutoFit/>
            </a:bodyPr>
            <a:lstStyle/>
            <a:p>
              <a:pPr algn="ctr"/>
              <a:r>
                <a:rPr lang="pt-BR" sz="1200" dirty="0"/>
                <a:t>Ponto de mínimo</a:t>
              </a:r>
            </a:p>
          </p:txBody>
        </p:sp>
        <p:cxnSp>
          <p:nvCxnSpPr>
            <p:cNvPr id="12" name="Conector reto 11">
              <a:extLst>
                <a:ext uri="{FF2B5EF4-FFF2-40B4-BE49-F238E27FC236}">
                  <a16:creationId xmlns:a16="http://schemas.microsoft.com/office/drawing/2014/main" id="{37A91F5D-D6CE-87E4-DD6F-6AEA41D6D82D}"/>
                </a:ext>
              </a:extLst>
            </p:cNvPr>
            <p:cNvCxnSpPr>
              <a:cxnSpLocks/>
            </p:cNvCxnSpPr>
            <p:nvPr/>
          </p:nvCxnSpPr>
          <p:spPr>
            <a:xfrm>
              <a:off x="2902477" y="4736969"/>
              <a:ext cx="0" cy="171598"/>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3" name="Elipse 12">
              <a:extLst>
                <a:ext uri="{FF2B5EF4-FFF2-40B4-BE49-F238E27FC236}">
                  <a16:creationId xmlns:a16="http://schemas.microsoft.com/office/drawing/2014/main" id="{34D38410-D059-6D93-1DD2-6F2EF0E92E63}"/>
                </a:ext>
              </a:extLst>
            </p:cNvPr>
            <p:cNvSpPr/>
            <p:nvPr/>
          </p:nvSpPr>
          <p:spPr>
            <a:xfrm>
              <a:off x="2879776" y="4721835"/>
              <a:ext cx="42900" cy="429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Elipse 13">
              <a:extLst>
                <a:ext uri="{FF2B5EF4-FFF2-40B4-BE49-F238E27FC236}">
                  <a16:creationId xmlns:a16="http://schemas.microsoft.com/office/drawing/2014/main" id="{483CF4C1-DDBF-4640-7392-235196C4D89B}"/>
                </a:ext>
              </a:extLst>
            </p:cNvPr>
            <p:cNvSpPr/>
            <p:nvPr/>
          </p:nvSpPr>
          <p:spPr>
            <a:xfrm>
              <a:off x="1273647" y="3163362"/>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15" name="Conector reto 14">
              <a:extLst>
                <a:ext uri="{FF2B5EF4-FFF2-40B4-BE49-F238E27FC236}">
                  <a16:creationId xmlns:a16="http://schemas.microsoft.com/office/drawing/2014/main" id="{D69F7809-96CB-75B0-3DD7-F1D3CFFC0DDA}"/>
                </a:ext>
              </a:extLst>
            </p:cNvPr>
            <p:cNvCxnSpPr/>
            <p:nvPr/>
          </p:nvCxnSpPr>
          <p:spPr>
            <a:xfrm>
              <a:off x="973059" y="3184593"/>
              <a:ext cx="324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7" name="Conector reto 16">
              <a:extLst>
                <a:ext uri="{FF2B5EF4-FFF2-40B4-BE49-F238E27FC236}">
                  <a16:creationId xmlns:a16="http://schemas.microsoft.com/office/drawing/2014/main" id="{51DB7F58-65FD-F0F4-E3F8-1B7A5A7E2DAE}"/>
                </a:ext>
              </a:extLst>
            </p:cNvPr>
            <p:cNvCxnSpPr>
              <a:cxnSpLocks/>
            </p:cNvCxnSpPr>
            <p:nvPr/>
          </p:nvCxnSpPr>
          <p:spPr>
            <a:xfrm>
              <a:off x="1295097" y="3163361"/>
              <a:ext cx="0" cy="1764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1" name="CaixaDeTexto 20">
              <a:extLst>
                <a:ext uri="{FF2B5EF4-FFF2-40B4-BE49-F238E27FC236}">
                  <a16:creationId xmlns:a16="http://schemas.microsoft.com/office/drawing/2014/main" id="{F3051166-FB83-1C01-C24B-836CCA65DF27}"/>
                </a:ext>
              </a:extLst>
            </p:cNvPr>
            <p:cNvSpPr txBox="1"/>
            <p:nvPr/>
          </p:nvSpPr>
          <p:spPr>
            <a:xfrm>
              <a:off x="1232864" y="3046093"/>
              <a:ext cx="1071476" cy="276999"/>
            </a:xfrm>
            <a:prstGeom prst="rect">
              <a:avLst/>
            </a:prstGeom>
            <a:noFill/>
          </p:spPr>
          <p:txBody>
            <a:bodyPr wrap="square" rtlCol="0">
              <a:spAutoFit/>
            </a:bodyPr>
            <a:lstStyle/>
            <a:p>
              <a:pPr algn="ctr"/>
              <a:r>
                <a:rPr lang="pt-BR" sz="1200" dirty="0"/>
                <a:t>Ponto inicial</a:t>
              </a:r>
            </a:p>
          </p:txBody>
        </p:sp>
        <mc:AlternateContent xmlns:mc="http://schemas.openxmlformats.org/markup-compatibility/2006" xmlns:a14="http://schemas.microsoft.com/office/drawing/2010/main">
          <mc:Choice Requires="a14">
            <p:sp>
              <p:nvSpPr>
                <p:cNvPr id="22" name="CaixaDeTexto 21">
                  <a:extLst>
                    <a:ext uri="{FF2B5EF4-FFF2-40B4-BE49-F238E27FC236}">
                      <a16:creationId xmlns:a16="http://schemas.microsoft.com/office/drawing/2014/main" id="{7167E7D4-807F-4A91-D2F9-5B3D43BE5896}"/>
                    </a:ext>
                  </a:extLst>
                </p:cNvPr>
                <p:cNvSpPr txBox="1"/>
                <p:nvPr/>
              </p:nvSpPr>
              <p:spPr>
                <a:xfrm>
                  <a:off x="1074774" y="4868216"/>
                  <a:ext cx="86794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m:rPr>
                                <m:sty m:val="p"/>
                              </m:rPr>
                              <a:rPr lang="pt-BR" sz="1400" b="0" i="0" smtClean="0">
                                <a:latin typeface="Cambria Math" panose="02040503050406030204" pitchFamily="18" charset="0"/>
                              </a:rPr>
                              <m:t>inicial</m:t>
                            </m:r>
                          </m:sub>
                        </m:sSub>
                      </m:oMath>
                    </m:oMathPara>
                  </a14:m>
                  <a:endParaRPr lang="pt-BR" sz="1400" dirty="0"/>
                </a:p>
              </p:txBody>
            </p:sp>
          </mc:Choice>
          <mc:Fallback xmlns="">
            <p:sp>
              <p:nvSpPr>
                <p:cNvPr id="22" name="CaixaDeTexto 21">
                  <a:extLst>
                    <a:ext uri="{FF2B5EF4-FFF2-40B4-BE49-F238E27FC236}">
                      <a16:creationId xmlns:a16="http://schemas.microsoft.com/office/drawing/2014/main" id="{7167E7D4-807F-4A91-D2F9-5B3D43BE5896}"/>
                    </a:ext>
                  </a:extLst>
                </p:cNvPr>
                <p:cNvSpPr txBox="1">
                  <a:spLocks noRot="1" noChangeAspect="1" noMove="1" noResize="1" noEditPoints="1" noAdjustHandles="1" noChangeArrowheads="1" noChangeShapeType="1" noTextEdit="1"/>
                </p:cNvSpPr>
                <p:nvPr/>
              </p:nvSpPr>
              <p:spPr>
                <a:xfrm>
                  <a:off x="1074774" y="4868216"/>
                  <a:ext cx="867941" cy="307777"/>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3" name="CaixaDeTexto 22">
                  <a:extLst>
                    <a:ext uri="{FF2B5EF4-FFF2-40B4-BE49-F238E27FC236}">
                      <a16:creationId xmlns:a16="http://schemas.microsoft.com/office/drawing/2014/main" id="{5563576F-5255-680C-F8CB-10958601F543}"/>
                    </a:ext>
                  </a:extLst>
                </p:cNvPr>
                <p:cNvSpPr txBox="1"/>
                <p:nvPr/>
              </p:nvSpPr>
              <p:spPr>
                <a:xfrm>
                  <a:off x="2671712" y="4867795"/>
                  <a:ext cx="86794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0" smtClean="0">
                                <a:latin typeface="Cambria Math" panose="02040503050406030204" pitchFamily="18" charset="0"/>
                              </a:rPr>
                              <m:t>ó</m:t>
                            </m:r>
                            <m:r>
                              <m:rPr>
                                <m:sty m:val="p"/>
                              </m:rPr>
                              <a:rPr lang="pt-BR" sz="1400" b="0" i="0" smtClean="0">
                                <a:latin typeface="Cambria Math" panose="02040503050406030204" pitchFamily="18" charset="0"/>
                              </a:rPr>
                              <m:t>timo</m:t>
                            </m:r>
                          </m:sub>
                        </m:sSub>
                      </m:oMath>
                    </m:oMathPara>
                  </a14:m>
                  <a:endParaRPr lang="pt-BR" sz="1400" dirty="0"/>
                </a:p>
              </p:txBody>
            </p:sp>
          </mc:Choice>
          <mc:Fallback xmlns="">
            <p:sp>
              <p:nvSpPr>
                <p:cNvPr id="23" name="CaixaDeTexto 22">
                  <a:extLst>
                    <a:ext uri="{FF2B5EF4-FFF2-40B4-BE49-F238E27FC236}">
                      <a16:creationId xmlns:a16="http://schemas.microsoft.com/office/drawing/2014/main" id="{5563576F-5255-680C-F8CB-10958601F543}"/>
                    </a:ext>
                  </a:extLst>
                </p:cNvPr>
                <p:cNvSpPr txBox="1">
                  <a:spLocks noRot="1" noChangeAspect="1" noMove="1" noResize="1" noEditPoints="1" noAdjustHandles="1" noChangeArrowheads="1" noChangeShapeType="1" noTextEdit="1"/>
                </p:cNvSpPr>
                <p:nvPr/>
              </p:nvSpPr>
              <p:spPr>
                <a:xfrm>
                  <a:off x="2671712" y="4867795"/>
                  <a:ext cx="867941" cy="307777"/>
                </a:xfrm>
                <a:prstGeom prst="rect">
                  <a:avLst/>
                </a:prstGeom>
                <a:blipFill>
                  <a:blip r:embed="rId5"/>
                  <a:stretch>
                    <a:fillRect/>
                  </a:stretch>
                </a:blipFill>
              </p:spPr>
              <p:txBody>
                <a:bodyPr/>
                <a:lstStyle/>
                <a:p>
                  <a:r>
                    <a:rPr lang="pt-BR">
                      <a:noFill/>
                    </a:rPr>
                    <a:t> </a:t>
                  </a:r>
                </a:p>
              </p:txBody>
            </p:sp>
          </mc:Fallback>
        </mc:AlternateContent>
      </p:grpSp>
      <p:cxnSp>
        <p:nvCxnSpPr>
          <p:cNvPr id="4" name="Conector de Seta Reta 3">
            <a:extLst>
              <a:ext uri="{FF2B5EF4-FFF2-40B4-BE49-F238E27FC236}">
                <a16:creationId xmlns:a16="http://schemas.microsoft.com/office/drawing/2014/main" id="{AEECACA4-5B42-A865-92BE-067925FB1366}"/>
              </a:ext>
            </a:extLst>
          </p:cNvPr>
          <p:cNvCxnSpPr>
            <a:cxnSpLocks/>
          </p:cNvCxnSpPr>
          <p:nvPr/>
        </p:nvCxnSpPr>
        <p:spPr>
          <a:xfrm>
            <a:off x="1295851" y="3183756"/>
            <a:ext cx="473505" cy="79766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11435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CC3C31-4EA2-B4A2-431F-BF22FBB8A7BA}"/>
              </a:ext>
            </a:extLst>
          </p:cNvPr>
          <p:cNvSpPr>
            <a:spLocks noGrp="1"/>
          </p:cNvSpPr>
          <p:nvPr>
            <p:ph type="title"/>
          </p:nvPr>
        </p:nvSpPr>
        <p:spPr/>
        <p:txBody>
          <a:bodyPr/>
          <a:lstStyle/>
          <a:p>
            <a:r>
              <a:rPr lang="pt-BR" dirty="0"/>
              <a:t>Passo de aprendizagem</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F09EA0C7-E094-F158-6A1A-B80733321450}"/>
                  </a:ext>
                </a:extLst>
              </p:cNvPr>
              <p:cNvSpPr>
                <a:spLocks noGrp="1"/>
              </p:cNvSpPr>
              <p:nvPr>
                <p:ph idx="1"/>
              </p:nvPr>
            </p:nvSpPr>
            <p:spPr>
              <a:xfrm>
                <a:off x="5347010" y="1825624"/>
                <a:ext cx="6844990" cy="5032376"/>
              </a:xfrm>
            </p:spPr>
            <p:txBody>
              <a:bodyPr>
                <a:normAutofit/>
              </a:bodyPr>
              <a:lstStyle/>
              <a:p>
                <a:r>
                  <a:rPr lang="pt-BR" dirty="0"/>
                  <a:t>Portanto, se quisermos </a:t>
                </a:r>
                <a:r>
                  <a:rPr lang="pt-BR" b="1" dirty="0">
                    <a:solidFill>
                      <a:srgbClr val="00B050"/>
                    </a:solidFill>
                  </a:rPr>
                  <a:t>seguir até o ponto de mínimo</a:t>
                </a:r>
                <a:r>
                  <a:rPr lang="pt-BR" dirty="0"/>
                  <a:t> a partir de um ponto qualquer, devemos </a:t>
                </a:r>
                <a:r>
                  <a:rPr lang="pt-BR" b="1" dirty="0">
                    <a:solidFill>
                      <a:srgbClr val="7030A0"/>
                    </a:solidFill>
                  </a:rPr>
                  <a:t>dar um passo</a:t>
                </a:r>
                <a:r>
                  <a:rPr lang="pt-BR" b="1" dirty="0">
                    <a:solidFill>
                      <a:srgbClr val="00B050"/>
                    </a:solidFill>
                  </a:rPr>
                  <a:t> na direção oposta à apontada pelo gradiente</a:t>
                </a:r>
                <a:r>
                  <a:rPr lang="pt-BR" dirty="0"/>
                  <a:t>.</a:t>
                </a:r>
              </a:p>
              <a:p>
                <a:r>
                  <a:rPr lang="pt-BR" dirty="0"/>
                  <a:t>Nós sabemos a direção do ponto de mínimo, então basta </a:t>
                </a:r>
                <a:r>
                  <a:rPr lang="pt-BR" b="1" dirty="0">
                    <a:solidFill>
                      <a:schemeClr val="accent2"/>
                    </a:solidFill>
                  </a:rPr>
                  <a:t>escolhermos o tamanho do passo</a:t>
                </a:r>
                <a:r>
                  <a:rPr lang="pt-BR" dirty="0"/>
                  <a:t> (de aprendizagem) para darmos naquela direção.</a:t>
                </a:r>
              </a:p>
              <a:p>
                <a:r>
                  <a:rPr lang="pt-BR" dirty="0"/>
                  <a:t>O tamanho do passo é definido pela </a:t>
                </a:r>
                <a:r>
                  <a:rPr lang="pt-BR" b="1" dirty="0">
                    <a:solidFill>
                      <a:schemeClr val="accent1"/>
                    </a:solidFill>
                  </a:rPr>
                  <a:t>taxa de aprendizagem</a:t>
                </a:r>
                <a:r>
                  <a:rPr lang="pt-BR" dirty="0"/>
                  <a:t>, </a:t>
                </a:r>
                <a14:m>
                  <m:oMath xmlns:m="http://schemas.openxmlformats.org/officeDocument/2006/math">
                    <m:r>
                      <m:rPr>
                        <m:sty m:val="p"/>
                      </m:rPr>
                      <a:rPr lang="pt-BR" dirty="0">
                        <a:latin typeface="Cambria Math" panose="02040503050406030204" pitchFamily="18" charset="0"/>
                        <a:ea typeface="Cambria Math" panose="02040503050406030204" pitchFamily="18" charset="0"/>
                      </a:rPr>
                      <m:t>α</m:t>
                    </m:r>
                  </m:oMath>
                </a14:m>
                <a:r>
                  <a:rPr lang="pt-BR" dirty="0"/>
                  <a:t>.</a:t>
                </a:r>
              </a:p>
            </p:txBody>
          </p:sp>
        </mc:Choice>
        <mc:Fallback xmlns="">
          <p:sp>
            <p:nvSpPr>
              <p:cNvPr id="3" name="Espaço Reservado para Conteúdo 2">
                <a:extLst>
                  <a:ext uri="{FF2B5EF4-FFF2-40B4-BE49-F238E27FC236}">
                    <a16:creationId xmlns:a16="http://schemas.microsoft.com/office/drawing/2014/main" id="{F09EA0C7-E094-F158-6A1A-B80733321450}"/>
                  </a:ext>
                </a:extLst>
              </p:cNvPr>
              <p:cNvSpPr>
                <a:spLocks noGrp="1" noRot="1" noChangeAspect="1" noMove="1" noResize="1" noEditPoints="1" noAdjustHandles="1" noChangeArrowheads="1" noChangeShapeType="1" noTextEdit="1"/>
              </p:cNvSpPr>
              <p:nvPr>
                <p:ph idx="1"/>
              </p:nvPr>
            </p:nvSpPr>
            <p:spPr>
              <a:xfrm>
                <a:off x="5347010" y="1825624"/>
                <a:ext cx="6844990" cy="5032376"/>
              </a:xfrm>
              <a:blipFill>
                <a:blip r:embed="rId3"/>
                <a:stretch>
                  <a:fillRect l="-1603" t="-1937" r="-2048"/>
                </a:stretch>
              </a:blipFill>
            </p:spPr>
            <p:txBody>
              <a:bodyPr/>
              <a:lstStyle/>
              <a:p>
                <a:r>
                  <a:rPr lang="en-US">
                    <a:noFill/>
                  </a:rPr>
                  <a:t> </a:t>
                </a:r>
              </a:p>
            </p:txBody>
          </p:sp>
        </mc:Fallback>
      </mc:AlternateContent>
      <p:grpSp>
        <p:nvGrpSpPr>
          <p:cNvPr id="52" name="Agrupar 51">
            <a:extLst>
              <a:ext uri="{FF2B5EF4-FFF2-40B4-BE49-F238E27FC236}">
                <a16:creationId xmlns:a16="http://schemas.microsoft.com/office/drawing/2014/main" id="{C28387F9-D7FD-85ED-8EAA-F893C59A9528}"/>
              </a:ext>
            </a:extLst>
          </p:cNvPr>
          <p:cNvGrpSpPr/>
          <p:nvPr/>
        </p:nvGrpSpPr>
        <p:grpSpPr>
          <a:xfrm>
            <a:off x="973059" y="2353695"/>
            <a:ext cx="3963570" cy="2939416"/>
            <a:chOff x="973059" y="2353695"/>
            <a:chExt cx="3963570" cy="2939416"/>
          </a:xfrm>
        </p:grpSpPr>
        <p:sp>
          <p:nvSpPr>
            <p:cNvPr id="24" name="Forma Livre: Forma 23">
              <a:extLst>
                <a:ext uri="{FF2B5EF4-FFF2-40B4-BE49-F238E27FC236}">
                  <a16:creationId xmlns:a16="http://schemas.microsoft.com/office/drawing/2014/main" id="{1AF02A9C-5A9B-AE81-9724-6E5E5F5C9AD5}"/>
                </a:ext>
              </a:extLst>
            </p:cNvPr>
            <p:cNvSpPr/>
            <p:nvPr/>
          </p:nvSpPr>
          <p:spPr>
            <a:xfrm>
              <a:off x="1190625" y="2990850"/>
              <a:ext cx="3429000" cy="1752634"/>
            </a:xfrm>
            <a:custGeom>
              <a:avLst/>
              <a:gdLst>
                <a:gd name="connsiteX0" fmla="*/ 0 w 3429000"/>
                <a:gd name="connsiteY0" fmla="*/ 38100 h 1752634"/>
                <a:gd name="connsiteX1" fmla="*/ 1714500 w 3429000"/>
                <a:gd name="connsiteY1" fmla="*/ 1752600 h 1752634"/>
                <a:gd name="connsiteX2" fmla="*/ 3429000 w 3429000"/>
                <a:gd name="connsiteY2" fmla="*/ 0 h 1752634"/>
              </a:gdLst>
              <a:ahLst/>
              <a:cxnLst>
                <a:cxn ang="0">
                  <a:pos x="connsiteX0" y="connsiteY0"/>
                </a:cxn>
                <a:cxn ang="0">
                  <a:pos x="connsiteX1" y="connsiteY1"/>
                </a:cxn>
                <a:cxn ang="0">
                  <a:pos x="connsiteX2" y="connsiteY2"/>
                </a:cxn>
              </a:cxnLst>
              <a:rect l="l" t="t" r="r" b="b"/>
              <a:pathLst>
                <a:path w="3429000" h="1752634">
                  <a:moveTo>
                    <a:pt x="0" y="38100"/>
                  </a:moveTo>
                  <a:cubicBezTo>
                    <a:pt x="571500" y="898525"/>
                    <a:pt x="1143000" y="1758950"/>
                    <a:pt x="1714500" y="1752600"/>
                  </a:cubicBezTo>
                  <a:cubicBezTo>
                    <a:pt x="2286000" y="1746250"/>
                    <a:pt x="3119438" y="314325"/>
                    <a:pt x="3429000"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6" name="Conector de Seta Reta 5">
              <a:extLst>
                <a:ext uri="{FF2B5EF4-FFF2-40B4-BE49-F238E27FC236}">
                  <a16:creationId xmlns:a16="http://schemas.microsoft.com/office/drawing/2014/main" id="{CECA8A08-ECD5-CF26-4CEC-3C8F2A7EB943}"/>
                </a:ext>
              </a:extLst>
            </p:cNvPr>
            <p:cNvCxnSpPr>
              <a:cxnSpLocks/>
            </p:cNvCxnSpPr>
            <p:nvPr/>
          </p:nvCxnSpPr>
          <p:spPr>
            <a:xfrm>
              <a:off x="974017" y="4916172"/>
              <a:ext cx="386096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Conector de Seta Reta 6">
              <a:extLst>
                <a:ext uri="{FF2B5EF4-FFF2-40B4-BE49-F238E27FC236}">
                  <a16:creationId xmlns:a16="http://schemas.microsoft.com/office/drawing/2014/main" id="{EBE189DA-FC3E-6F77-83E6-389C755E01A6}"/>
                </a:ext>
              </a:extLst>
            </p:cNvPr>
            <p:cNvCxnSpPr>
              <a:cxnSpLocks/>
            </p:cNvCxnSpPr>
            <p:nvPr/>
          </p:nvCxnSpPr>
          <p:spPr>
            <a:xfrm flipV="1">
              <a:off x="974018" y="2442308"/>
              <a:ext cx="0" cy="247386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CaixaDeTexto 7">
                  <a:extLst>
                    <a:ext uri="{FF2B5EF4-FFF2-40B4-BE49-F238E27FC236}">
                      <a16:creationId xmlns:a16="http://schemas.microsoft.com/office/drawing/2014/main" id="{A78938CD-F777-59C9-49FF-1EC87187C2BF}"/>
                    </a:ext>
                  </a:extLst>
                </p:cNvPr>
                <p:cNvSpPr txBox="1"/>
                <p:nvPr/>
              </p:nvSpPr>
              <p:spPr>
                <a:xfrm>
                  <a:off x="974017" y="2353695"/>
                  <a:ext cx="2747030" cy="369332"/>
                </a:xfrm>
                <a:prstGeom prst="rect">
                  <a:avLst/>
                </a:prstGeom>
                <a:noFill/>
              </p:spPr>
              <p:txBody>
                <a:bodyPr wrap="square" rtlCol="0">
                  <a:spAutoFit/>
                </a:bodyPr>
                <a:lstStyle/>
                <a:p>
                  <a:r>
                    <a:rPr lang="pt-BR" dirty="0"/>
                    <a:t>Função de erro, </a:t>
                  </a:r>
                  <a14:m>
                    <m:oMath xmlns:m="http://schemas.openxmlformats.org/officeDocument/2006/math">
                      <m:sSub>
                        <m:sSubPr>
                          <m:ctrlPr>
                            <a:rPr lang="pt-BR" b="0" i="1" smtClean="0">
                              <a:latin typeface="Cambria Math" panose="02040503050406030204" pitchFamily="18" charset="0"/>
                            </a:rPr>
                          </m:ctrlPr>
                        </m:sSubPr>
                        <m:e>
                          <m:r>
                            <a:rPr lang="pt-BR" b="0" i="1" smtClean="0">
                              <a:latin typeface="Cambria Math" panose="02040503050406030204" pitchFamily="18" charset="0"/>
                            </a:rPr>
                            <m:t>𝐽</m:t>
                          </m:r>
                        </m:e>
                        <m:sub>
                          <m:r>
                            <a:rPr lang="pt-BR" b="0" i="1" smtClean="0">
                              <a:latin typeface="Cambria Math" panose="02040503050406030204" pitchFamily="18" charset="0"/>
                            </a:rPr>
                            <m:t>𝑒</m:t>
                          </m:r>
                        </m:sub>
                      </m:sSub>
                      <m:r>
                        <a:rPr lang="pt-BR" b="0" i="1" smtClean="0">
                          <a:latin typeface="Cambria Math" panose="02040503050406030204" pitchFamily="18" charset="0"/>
                        </a:rPr>
                        <m:t>(</m:t>
                      </m:r>
                      <m:r>
                        <a:rPr lang="pt-BR" b="0" i="1" smtClean="0">
                          <a:latin typeface="Cambria Math" panose="02040503050406030204" pitchFamily="18" charset="0"/>
                        </a:rPr>
                        <m:t>𝑎</m:t>
                      </m:r>
                      <m:r>
                        <a:rPr lang="pt-BR" b="0" i="1" smtClean="0">
                          <a:latin typeface="Cambria Math" panose="02040503050406030204" pitchFamily="18" charset="0"/>
                        </a:rPr>
                        <m:t>)</m:t>
                      </m:r>
                    </m:oMath>
                  </a14:m>
                  <a:endParaRPr lang="pt-BR" dirty="0"/>
                </a:p>
              </p:txBody>
            </p:sp>
          </mc:Choice>
          <mc:Fallback xmlns="">
            <p:sp>
              <p:nvSpPr>
                <p:cNvPr id="8" name="CaixaDeTexto 7">
                  <a:extLst>
                    <a:ext uri="{FF2B5EF4-FFF2-40B4-BE49-F238E27FC236}">
                      <a16:creationId xmlns:a16="http://schemas.microsoft.com/office/drawing/2014/main" id="{A78938CD-F777-59C9-49FF-1EC87187C2BF}"/>
                    </a:ext>
                  </a:extLst>
                </p:cNvPr>
                <p:cNvSpPr txBox="1">
                  <a:spLocks noRot="1" noChangeAspect="1" noMove="1" noResize="1" noEditPoints="1" noAdjustHandles="1" noChangeArrowheads="1" noChangeShapeType="1" noTextEdit="1"/>
                </p:cNvSpPr>
                <p:nvPr/>
              </p:nvSpPr>
              <p:spPr>
                <a:xfrm>
                  <a:off x="974017" y="2353695"/>
                  <a:ext cx="2747030" cy="369332"/>
                </a:xfrm>
                <a:prstGeom prst="rect">
                  <a:avLst/>
                </a:prstGeom>
                <a:blipFill>
                  <a:blip r:embed="rId4"/>
                  <a:stretch>
                    <a:fillRect l="-2000" t="-8197" b="-24590"/>
                  </a:stretch>
                </a:blipFill>
              </p:spPr>
              <p:txBody>
                <a:bodyPr/>
                <a:lstStyle/>
                <a:p>
                  <a:r>
                    <a:rPr lang="pt-BR">
                      <a:noFill/>
                    </a:rPr>
                    <a:t> </a:t>
                  </a:r>
                </a:p>
              </p:txBody>
            </p:sp>
          </mc:Fallback>
        </mc:AlternateContent>
        <p:sp>
          <p:nvSpPr>
            <p:cNvPr id="9" name="CaixaDeTexto 8">
              <a:extLst>
                <a:ext uri="{FF2B5EF4-FFF2-40B4-BE49-F238E27FC236}">
                  <a16:creationId xmlns:a16="http://schemas.microsoft.com/office/drawing/2014/main" id="{A1CE1535-321D-E614-D63E-21C0CB455062}"/>
                </a:ext>
              </a:extLst>
            </p:cNvPr>
            <p:cNvSpPr txBox="1"/>
            <p:nvPr/>
          </p:nvSpPr>
          <p:spPr>
            <a:xfrm>
              <a:off x="4300295" y="4923779"/>
              <a:ext cx="636334" cy="369332"/>
            </a:xfrm>
            <a:prstGeom prst="rect">
              <a:avLst/>
            </a:prstGeom>
            <a:noFill/>
          </p:spPr>
          <p:txBody>
            <a:bodyPr wrap="square" rtlCol="0">
              <a:spAutoFit/>
            </a:bodyPr>
            <a:lstStyle/>
            <a:p>
              <a:pPr algn="r"/>
              <a:r>
                <a:rPr lang="pt-BR" dirty="0"/>
                <a:t>Peso</a:t>
              </a:r>
            </a:p>
          </p:txBody>
        </p:sp>
        <p:cxnSp>
          <p:nvCxnSpPr>
            <p:cNvPr id="10" name="Conector reto 9">
              <a:extLst>
                <a:ext uri="{FF2B5EF4-FFF2-40B4-BE49-F238E27FC236}">
                  <a16:creationId xmlns:a16="http://schemas.microsoft.com/office/drawing/2014/main" id="{C04D87AE-293E-34D0-E4BE-09E7635BC7EE}"/>
                </a:ext>
              </a:extLst>
            </p:cNvPr>
            <p:cNvCxnSpPr/>
            <p:nvPr/>
          </p:nvCxnSpPr>
          <p:spPr>
            <a:xfrm>
              <a:off x="976885" y="4744536"/>
              <a:ext cx="1930484" cy="0"/>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1" name="CaixaDeTexto 10">
              <a:extLst>
                <a:ext uri="{FF2B5EF4-FFF2-40B4-BE49-F238E27FC236}">
                  <a16:creationId xmlns:a16="http://schemas.microsoft.com/office/drawing/2014/main" id="{0ED8EC8A-F8D0-F14F-7E38-47715C0AD532}"/>
                </a:ext>
              </a:extLst>
            </p:cNvPr>
            <p:cNvSpPr txBox="1"/>
            <p:nvPr/>
          </p:nvSpPr>
          <p:spPr>
            <a:xfrm>
              <a:off x="2367751" y="4232230"/>
              <a:ext cx="1066949" cy="550146"/>
            </a:xfrm>
            <a:prstGeom prst="rect">
              <a:avLst/>
            </a:prstGeom>
            <a:noFill/>
          </p:spPr>
          <p:txBody>
            <a:bodyPr wrap="square" rtlCol="0">
              <a:spAutoFit/>
            </a:bodyPr>
            <a:lstStyle/>
            <a:p>
              <a:pPr algn="ctr"/>
              <a:r>
                <a:rPr lang="pt-BR" sz="1200" dirty="0"/>
                <a:t>Ponto de mínimo</a:t>
              </a:r>
            </a:p>
          </p:txBody>
        </p:sp>
        <p:cxnSp>
          <p:nvCxnSpPr>
            <p:cNvPr id="12" name="Conector reto 11">
              <a:extLst>
                <a:ext uri="{FF2B5EF4-FFF2-40B4-BE49-F238E27FC236}">
                  <a16:creationId xmlns:a16="http://schemas.microsoft.com/office/drawing/2014/main" id="{37A91F5D-D6CE-87E4-DD6F-6AEA41D6D82D}"/>
                </a:ext>
              </a:extLst>
            </p:cNvPr>
            <p:cNvCxnSpPr>
              <a:cxnSpLocks/>
            </p:cNvCxnSpPr>
            <p:nvPr/>
          </p:nvCxnSpPr>
          <p:spPr>
            <a:xfrm>
              <a:off x="2902477" y="4736969"/>
              <a:ext cx="0" cy="171598"/>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3" name="Elipse 12">
              <a:extLst>
                <a:ext uri="{FF2B5EF4-FFF2-40B4-BE49-F238E27FC236}">
                  <a16:creationId xmlns:a16="http://schemas.microsoft.com/office/drawing/2014/main" id="{34D38410-D059-6D93-1DD2-6F2EF0E92E63}"/>
                </a:ext>
              </a:extLst>
            </p:cNvPr>
            <p:cNvSpPr/>
            <p:nvPr/>
          </p:nvSpPr>
          <p:spPr>
            <a:xfrm>
              <a:off x="2879776" y="4721835"/>
              <a:ext cx="42900" cy="429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Elipse 13">
              <a:extLst>
                <a:ext uri="{FF2B5EF4-FFF2-40B4-BE49-F238E27FC236}">
                  <a16:creationId xmlns:a16="http://schemas.microsoft.com/office/drawing/2014/main" id="{483CF4C1-DDBF-4640-7392-235196C4D89B}"/>
                </a:ext>
              </a:extLst>
            </p:cNvPr>
            <p:cNvSpPr/>
            <p:nvPr/>
          </p:nvSpPr>
          <p:spPr>
            <a:xfrm>
              <a:off x="1273647" y="3163362"/>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15" name="Conector reto 14">
              <a:extLst>
                <a:ext uri="{FF2B5EF4-FFF2-40B4-BE49-F238E27FC236}">
                  <a16:creationId xmlns:a16="http://schemas.microsoft.com/office/drawing/2014/main" id="{D69F7809-96CB-75B0-3DD7-F1D3CFFC0DDA}"/>
                </a:ext>
              </a:extLst>
            </p:cNvPr>
            <p:cNvCxnSpPr/>
            <p:nvPr/>
          </p:nvCxnSpPr>
          <p:spPr>
            <a:xfrm>
              <a:off x="973059" y="3184593"/>
              <a:ext cx="324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7" name="Conector reto 16">
              <a:extLst>
                <a:ext uri="{FF2B5EF4-FFF2-40B4-BE49-F238E27FC236}">
                  <a16:creationId xmlns:a16="http://schemas.microsoft.com/office/drawing/2014/main" id="{51DB7F58-65FD-F0F4-E3F8-1B7A5A7E2DAE}"/>
                </a:ext>
              </a:extLst>
            </p:cNvPr>
            <p:cNvCxnSpPr>
              <a:cxnSpLocks/>
            </p:cNvCxnSpPr>
            <p:nvPr/>
          </p:nvCxnSpPr>
          <p:spPr>
            <a:xfrm>
              <a:off x="1295097" y="3163361"/>
              <a:ext cx="0" cy="1764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1" name="CaixaDeTexto 20">
              <a:extLst>
                <a:ext uri="{FF2B5EF4-FFF2-40B4-BE49-F238E27FC236}">
                  <a16:creationId xmlns:a16="http://schemas.microsoft.com/office/drawing/2014/main" id="{F3051166-FB83-1C01-C24B-836CCA65DF27}"/>
                </a:ext>
              </a:extLst>
            </p:cNvPr>
            <p:cNvSpPr txBox="1"/>
            <p:nvPr/>
          </p:nvSpPr>
          <p:spPr>
            <a:xfrm>
              <a:off x="1158048" y="2978475"/>
              <a:ext cx="1071476" cy="276999"/>
            </a:xfrm>
            <a:prstGeom prst="rect">
              <a:avLst/>
            </a:prstGeom>
            <a:noFill/>
          </p:spPr>
          <p:txBody>
            <a:bodyPr wrap="square" rtlCol="0">
              <a:spAutoFit/>
            </a:bodyPr>
            <a:lstStyle/>
            <a:p>
              <a:pPr algn="ctr"/>
              <a:r>
                <a:rPr lang="pt-BR" sz="1200" dirty="0"/>
                <a:t>Ponto inicial</a:t>
              </a:r>
            </a:p>
          </p:txBody>
        </p:sp>
        <mc:AlternateContent xmlns:mc="http://schemas.openxmlformats.org/markup-compatibility/2006" xmlns:a14="http://schemas.microsoft.com/office/drawing/2010/main">
          <mc:Choice Requires="a14">
            <p:sp>
              <p:nvSpPr>
                <p:cNvPr id="22" name="CaixaDeTexto 21">
                  <a:extLst>
                    <a:ext uri="{FF2B5EF4-FFF2-40B4-BE49-F238E27FC236}">
                      <a16:creationId xmlns:a16="http://schemas.microsoft.com/office/drawing/2014/main" id="{7167E7D4-807F-4A91-D2F9-5B3D43BE5896}"/>
                    </a:ext>
                  </a:extLst>
                </p:cNvPr>
                <p:cNvSpPr txBox="1"/>
                <p:nvPr/>
              </p:nvSpPr>
              <p:spPr>
                <a:xfrm>
                  <a:off x="1074774" y="4868216"/>
                  <a:ext cx="86794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m:rPr>
                                <m:sty m:val="p"/>
                              </m:rPr>
                              <a:rPr lang="pt-BR" sz="1400" b="0" i="0" smtClean="0">
                                <a:latin typeface="Cambria Math" panose="02040503050406030204" pitchFamily="18" charset="0"/>
                              </a:rPr>
                              <m:t>inicial</m:t>
                            </m:r>
                          </m:sub>
                        </m:sSub>
                      </m:oMath>
                    </m:oMathPara>
                  </a14:m>
                  <a:endParaRPr lang="pt-BR" sz="1400" dirty="0"/>
                </a:p>
              </p:txBody>
            </p:sp>
          </mc:Choice>
          <mc:Fallback xmlns="">
            <p:sp>
              <p:nvSpPr>
                <p:cNvPr id="22" name="CaixaDeTexto 21">
                  <a:extLst>
                    <a:ext uri="{FF2B5EF4-FFF2-40B4-BE49-F238E27FC236}">
                      <a16:creationId xmlns:a16="http://schemas.microsoft.com/office/drawing/2014/main" id="{7167E7D4-807F-4A91-D2F9-5B3D43BE5896}"/>
                    </a:ext>
                  </a:extLst>
                </p:cNvPr>
                <p:cNvSpPr txBox="1">
                  <a:spLocks noRot="1" noChangeAspect="1" noMove="1" noResize="1" noEditPoints="1" noAdjustHandles="1" noChangeArrowheads="1" noChangeShapeType="1" noTextEdit="1"/>
                </p:cNvSpPr>
                <p:nvPr/>
              </p:nvSpPr>
              <p:spPr>
                <a:xfrm>
                  <a:off x="1074774" y="4868216"/>
                  <a:ext cx="867941" cy="307777"/>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3" name="CaixaDeTexto 22">
                  <a:extLst>
                    <a:ext uri="{FF2B5EF4-FFF2-40B4-BE49-F238E27FC236}">
                      <a16:creationId xmlns:a16="http://schemas.microsoft.com/office/drawing/2014/main" id="{5563576F-5255-680C-F8CB-10958601F543}"/>
                    </a:ext>
                  </a:extLst>
                </p:cNvPr>
                <p:cNvSpPr txBox="1"/>
                <p:nvPr/>
              </p:nvSpPr>
              <p:spPr>
                <a:xfrm>
                  <a:off x="2671712" y="4867795"/>
                  <a:ext cx="86794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0" smtClean="0">
                                <a:latin typeface="Cambria Math" panose="02040503050406030204" pitchFamily="18" charset="0"/>
                              </a:rPr>
                              <m:t>ó</m:t>
                            </m:r>
                            <m:r>
                              <m:rPr>
                                <m:sty m:val="p"/>
                              </m:rPr>
                              <a:rPr lang="pt-BR" sz="1400" b="0" i="0" smtClean="0">
                                <a:latin typeface="Cambria Math" panose="02040503050406030204" pitchFamily="18" charset="0"/>
                              </a:rPr>
                              <m:t>timo</m:t>
                            </m:r>
                          </m:sub>
                        </m:sSub>
                      </m:oMath>
                    </m:oMathPara>
                  </a14:m>
                  <a:endParaRPr lang="pt-BR" sz="1400" dirty="0"/>
                </a:p>
              </p:txBody>
            </p:sp>
          </mc:Choice>
          <mc:Fallback xmlns="">
            <p:sp>
              <p:nvSpPr>
                <p:cNvPr id="23" name="CaixaDeTexto 22">
                  <a:extLst>
                    <a:ext uri="{FF2B5EF4-FFF2-40B4-BE49-F238E27FC236}">
                      <a16:creationId xmlns:a16="http://schemas.microsoft.com/office/drawing/2014/main" id="{5563576F-5255-680C-F8CB-10958601F543}"/>
                    </a:ext>
                  </a:extLst>
                </p:cNvPr>
                <p:cNvSpPr txBox="1">
                  <a:spLocks noRot="1" noChangeAspect="1" noMove="1" noResize="1" noEditPoints="1" noAdjustHandles="1" noChangeArrowheads="1" noChangeShapeType="1" noTextEdit="1"/>
                </p:cNvSpPr>
                <p:nvPr/>
              </p:nvSpPr>
              <p:spPr>
                <a:xfrm>
                  <a:off x="2671712" y="4867795"/>
                  <a:ext cx="867941" cy="307777"/>
                </a:xfrm>
                <a:prstGeom prst="rect">
                  <a:avLst/>
                </a:prstGeom>
                <a:blipFill>
                  <a:blip r:embed="rId6"/>
                  <a:stretch>
                    <a:fillRect/>
                  </a:stretch>
                </a:blipFill>
              </p:spPr>
              <p:txBody>
                <a:bodyPr/>
                <a:lstStyle/>
                <a:p>
                  <a:r>
                    <a:rPr lang="pt-BR">
                      <a:noFill/>
                    </a:rPr>
                    <a:t> </a:t>
                  </a:r>
                </a:p>
              </p:txBody>
            </p:sp>
          </mc:Fallback>
        </mc:AlternateContent>
        <p:cxnSp>
          <p:nvCxnSpPr>
            <p:cNvPr id="4" name="Conector de Seta Reta 3">
              <a:extLst>
                <a:ext uri="{FF2B5EF4-FFF2-40B4-BE49-F238E27FC236}">
                  <a16:creationId xmlns:a16="http://schemas.microsoft.com/office/drawing/2014/main" id="{AEECACA4-5B42-A865-92BE-067925FB1366}"/>
                </a:ext>
              </a:extLst>
            </p:cNvPr>
            <p:cNvCxnSpPr>
              <a:cxnSpLocks/>
            </p:cNvCxnSpPr>
            <p:nvPr/>
          </p:nvCxnSpPr>
          <p:spPr>
            <a:xfrm>
              <a:off x="1295851" y="3183756"/>
              <a:ext cx="473505" cy="79766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Elipse 18">
              <a:extLst>
                <a:ext uri="{FF2B5EF4-FFF2-40B4-BE49-F238E27FC236}">
                  <a16:creationId xmlns:a16="http://schemas.microsoft.com/office/drawing/2014/main" id="{600EFC4B-E5AE-01A3-BA49-9FAC5F7EB269}"/>
                </a:ext>
              </a:extLst>
            </p:cNvPr>
            <p:cNvSpPr/>
            <p:nvPr/>
          </p:nvSpPr>
          <p:spPr>
            <a:xfrm>
              <a:off x="1901608" y="4038530"/>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1" name="Forma Livre: Forma 40">
              <a:extLst>
                <a:ext uri="{FF2B5EF4-FFF2-40B4-BE49-F238E27FC236}">
                  <a16:creationId xmlns:a16="http://schemas.microsoft.com/office/drawing/2014/main" id="{530E5751-C05C-E237-ADF7-AC5CE485170E}"/>
                </a:ext>
              </a:extLst>
            </p:cNvPr>
            <p:cNvSpPr/>
            <p:nvPr/>
          </p:nvSpPr>
          <p:spPr>
            <a:xfrm>
              <a:off x="1314106" y="3182704"/>
              <a:ext cx="603593" cy="862246"/>
            </a:xfrm>
            <a:custGeom>
              <a:avLst/>
              <a:gdLst>
                <a:gd name="connsiteX0" fmla="*/ 0 w 609600"/>
                <a:gd name="connsiteY0" fmla="*/ 0 h 882650"/>
                <a:gd name="connsiteX1" fmla="*/ 374650 w 609600"/>
                <a:gd name="connsiteY1" fmla="*/ 273050 h 882650"/>
                <a:gd name="connsiteX2" fmla="*/ 609600 w 609600"/>
                <a:gd name="connsiteY2" fmla="*/ 882650 h 882650"/>
              </a:gdLst>
              <a:ahLst/>
              <a:cxnLst>
                <a:cxn ang="0">
                  <a:pos x="connsiteX0" y="connsiteY0"/>
                </a:cxn>
                <a:cxn ang="0">
                  <a:pos x="connsiteX1" y="connsiteY1"/>
                </a:cxn>
                <a:cxn ang="0">
                  <a:pos x="connsiteX2" y="connsiteY2"/>
                </a:cxn>
              </a:cxnLst>
              <a:rect l="l" t="t" r="r" b="b"/>
              <a:pathLst>
                <a:path w="609600" h="882650">
                  <a:moveTo>
                    <a:pt x="0" y="0"/>
                  </a:moveTo>
                  <a:cubicBezTo>
                    <a:pt x="136525" y="62971"/>
                    <a:pt x="273050" y="125942"/>
                    <a:pt x="374650" y="273050"/>
                  </a:cubicBezTo>
                  <a:cubicBezTo>
                    <a:pt x="476250" y="420158"/>
                    <a:pt x="542925" y="651404"/>
                    <a:pt x="609600" y="882650"/>
                  </a:cubicBezTo>
                </a:path>
              </a:pathLst>
            </a:custGeom>
            <a:noFill/>
            <a:ln w="3175">
              <a:solidFill>
                <a:schemeClr val="tx1"/>
              </a:solidFill>
              <a:prstDash val="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2" name="CaixaDeTexto 41">
              <a:extLst>
                <a:ext uri="{FF2B5EF4-FFF2-40B4-BE49-F238E27FC236}">
                  <a16:creationId xmlns:a16="http://schemas.microsoft.com/office/drawing/2014/main" id="{37EAAC62-22C5-6028-EB17-5E7D7A0FA774}"/>
                </a:ext>
              </a:extLst>
            </p:cNvPr>
            <p:cNvSpPr txBox="1"/>
            <p:nvPr/>
          </p:nvSpPr>
          <p:spPr>
            <a:xfrm>
              <a:off x="1897730" y="3887618"/>
              <a:ext cx="1071476" cy="276999"/>
            </a:xfrm>
            <a:prstGeom prst="rect">
              <a:avLst/>
            </a:prstGeom>
            <a:noFill/>
          </p:spPr>
          <p:txBody>
            <a:bodyPr wrap="square" rtlCol="0">
              <a:spAutoFit/>
            </a:bodyPr>
            <a:lstStyle/>
            <a:p>
              <a:r>
                <a:rPr lang="pt-BR" sz="1200" dirty="0"/>
                <a:t>Novo ponto</a:t>
              </a:r>
            </a:p>
          </p:txBody>
        </p:sp>
        <p:sp>
          <p:nvSpPr>
            <p:cNvPr id="44" name="CaixaDeTexto 43">
              <a:extLst>
                <a:ext uri="{FF2B5EF4-FFF2-40B4-BE49-F238E27FC236}">
                  <a16:creationId xmlns:a16="http://schemas.microsoft.com/office/drawing/2014/main" id="{0B96B558-FD3C-575E-D9A1-D3E273AF2DEB}"/>
                </a:ext>
              </a:extLst>
            </p:cNvPr>
            <p:cNvSpPr txBox="1"/>
            <p:nvPr/>
          </p:nvSpPr>
          <p:spPr>
            <a:xfrm>
              <a:off x="1644527" y="3277391"/>
              <a:ext cx="1195676" cy="461665"/>
            </a:xfrm>
            <a:prstGeom prst="rect">
              <a:avLst/>
            </a:prstGeom>
            <a:noFill/>
          </p:spPr>
          <p:txBody>
            <a:bodyPr wrap="square">
              <a:spAutoFit/>
            </a:bodyPr>
            <a:lstStyle/>
            <a:p>
              <a:pPr algn="ctr"/>
              <a:r>
                <a:rPr lang="pt-BR" sz="1200" dirty="0"/>
                <a:t>Passo de aprendizagem </a:t>
              </a:r>
            </a:p>
          </p:txBody>
        </p:sp>
        <p:cxnSp>
          <p:nvCxnSpPr>
            <p:cNvPr id="45" name="Conector reto 44">
              <a:extLst>
                <a:ext uri="{FF2B5EF4-FFF2-40B4-BE49-F238E27FC236}">
                  <a16:creationId xmlns:a16="http://schemas.microsoft.com/office/drawing/2014/main" id="{2C59751E-36DB-0194-586B-E3ADFD5E2F3E}"/>
                </a:ext>
              </a:extLst>
            </p:cNvPr>
            <p:cNvCxnSpPr>
              <a:cxnSpLocks/>
            </p:cNvCxnSpPr>
            <p:nvPr/>
          </p:nvCxnSpPr>
          <p:spPr>
            <a:xfrm>
              <a:off x="1924842" y="4071908"/>
              <a:ext cx="0" cy="828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6" name="CaixaDeTexto 45">
                  <a:extLst>
                    <a:ext uri="{FF2B5EF4-FFF2-40B4-BE49-F238E27FC236}">
                      <a16:creationId xmlns:a16="http://schemas.microsoft.com/office/drawing/2014/main" id="{ACD660F6-9366-FE86-1D50-0AFB812C300C}"/>
                    </a:ext>
                  </a:extLst>
                </p:cNvPr>
                <p:cNvSpPr txBox="1"/>
                <p:nvPr/>
              </p:nvSpPr>
              <p:spPr>
                <a:xfrm>
                  <a:off x="1703016" y="4879029"/>
                  <a:ext cx="86794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m:rPr>
                                <m:sty m:val="p"/>
                              </m:rPr>
                              <a:rPr lang="pt-BR" sz="1400" b="0" i="0" smtClean="0">
                                <a:latin typeface="Cambria Math" panose="02040503050406030204" pitchFamily="18" charset="0"/>
                              </a:rPr>
                              <m:t>novo</m:t>
                            </m:r>
                          </m:sub>
                        </m:sSub>
                      </m:oMath>
                    </m:oMathPara>
                  </a14:m>
                  <a:endParaRPr lang="pt-BR" sz="1400" dirty="0"/>
                </a:p>
              </p:txBody>
            </p:sp>
          </mc:Choice>
          <mc:Fallback xmlns="">
            <p:sp>
              <p:nvSpPr>
                <p:cNvPr id="46" name="CaixaDeTexto 45">
                  <a:extLst>
                    <a:ext uri="{FF2B5EF4-FFF2-40B4-BE49-F238E27FC236}">
                      <a16:creationId xmlns:a16="http://schemas.microsoft.com/office/drawing/2014/main" id="{ACD660F6-9366-FE86-1D50-0AFB812C300C}"/>
                    </a:ext>
                  </a:extLst>
                </p:cNvPr>
                <p:cNvSpPr txBox="1">
                  <a:spLocks noRot="1" noChangeAspect="1" noMove="1" noResize="1" noEditPoints="1" noAdjustHandles="1" noChangeArrowheads="1" noChangeShapeType="1" noTextEdit="1"/>
                </p:cNvSpPr>
                <p:nvPr/>
              </p:nvSpPr>
              <p:spPr>
                <a:xfrm>
                  <a:off x="1703016" y="4879029"/>
                  <a:ext cx="867941" cy="307777"/>
                </a:xfrm>
                <a:prstGeom prst="rect">
                  <a:avLst/>
                </a:prstGeom>
                <a:blipFill>
                  <a:blip r:embed="rId8"/>
                  <a:stretch>
                    <a:fillRect/>
                  </a:stretch>
                </a:blipFill>
              </p:spPr>
              <p:txBody>
                <a:bodyPr/>
                <a:lstStyle/>
                <a:p>
                  <a:r>
                    <a:rPr lang="pt-BR">
                      <a:noFill/>
                    </a:rPr>
                    <a:t> </a:t>
                  </a:r>
                </a:p>
              </p:txBody>
            </p:sp>
          </mc:Fallback>
        </mc:AlternateContent>
      </p:grpSp>
    </p:spTree>
    <p:extLst>
      <p:ext uri="{BB962C8B-B14F-4D97-AF65-F5344CB8AC3E}">
        <p14:creationId xmlns:p14="http://schemas.microsoft.com/office/powerpoint/2010/main" val="7225171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824B5-E32B-7737-F280-A9CDCD2E52A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F8D0636-D111-010D-30BF-359631D0DCF7}"/>
              </a:ext>
            </a:extLst>
          </p:cNvPr>
          <p:cNvSpPr>
            <a:spLocks noGrp="1"/>
          </p:cNvSpPr>
          <p:nvPr>
            <p:ph type="title"/>
          </p:nvPr>
        </p:nvSpPr>
        <p:spPr/>
        <p:txBody>
          <a:bodyPr/>
          <a:lstStyle/>
          <a:p>
            <a:r>
              <a:rPr lang="pt-BR" dirty="0"/>
              <a:t>Passo de aprendizagem</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3DAFB368-64B7-FC99-5EB4-63434C72A0BE}"/>
                  </a:ext>
                </a:extLst>
              </p:cNvPr>
              <p:cNvSpPr>
                <a:spLocks noGrp="1"/>
              </p:cNvSpPr>
              <p:nvPr>
                <p:ph idx="1"/>
              </p:nvPr>
            </p:nvSpPr>
            <p:spPr>
              <a:xfrm>
                <a:off x="5897232" y="1825624"/>
                <a:ext cx="6294765" cy="5032376"/>
              </a:xfrm>
            </p:spPr>
            <p:txBody>
              <a:bodyPr>
                <a:normAutofit/>
              </a:bodyPr>
              <a:lstStyle/>
              <a:p>
                <a:r>
                  <a:rPr lang="pt-BR" dirty="0"/>
                  <a:t>A taxa de aprendizagem, </a:t>
                </a:r>
                <a14:m>
                  <m:oMath xmlns:m="http://schemas.openxmlformats.org/officeDocument/2006/math">
                    <m:r>
                      <m:rPr>
                        <m:sty m:val="p"/>
                      </m:rPr>
                      <a:rPr lang="pt-BR" dirty="0">
                        <a:latin typeface="Cambria Math" panose="02040503050406030204" pitchFamily="18" charset="0"/>
                        <a:ea typeface="Cambria Math" panose="02040503050406030204" pitchFamily="18" charset="0"/>
                      </a:rPr>
                      <m:t>α</m:t>
                    </m:r>
                  </m:oMath>
                </a14:m>
                <a:r>
                  <a:rPr lang="pt-BR" dirty="0"/>
                  <a:t>, determina a </a:t>
                </a:r>
                <a:r>
                  <a:rPr lang="pt-BR" b="1" dirty="0">
                    <a:solidFill>
                      <a:schemeClr val="accent2"/>
                    </a:solidFill>
                  </a:rPr>
                  <a:t>porcentagem</a:t>
                </a:r>
                <a:r>
                  <a:rPr lang="pt-BR" b="1" dirty="0">
                    <a:solidFill>
                      <a:srgbClr val="00B050"/>
                    </a:solidFill>
                  </a:rPr>
                  <a:t> da informação do </a:t>
                </a:r>
                <a:r>
                  <a:rPr lang="pt-BR" b="1" dirty="0">
                    <a:solidFill>
                      <a:srgbClr val="0070C0"/>
                    </a:solidFill>
                  </a:rPr>
                  <a:t>vetor gradiente</a:t>
                </a:r>
                <a:r>
                  <a:rPr lang="pt-BR" b="1" dirty="0">
                    <a:solidFill>
                      <a:srgbClr val="00B050"/>
                    </a:solidFill>
                  </a:rPr>
                  <a:t> que é adicionada aos pesos</a:t>
                </a:r>
                <a:r>
                  <a:rPr lang="pt-BR" dirty="0"/>
                  <a:t>.</a:t>
                </a:r>
              </a:p>
              <a:p>
                <a:r>
                  <a:rPr lang="pt-BR" dirty="0"/>
                  <a:t>Os pesos são </a:t>
                </a:r>
                <a:r>
                  <a:rPr lang="pt-BR" b="1" dirty="0">
                    <a:solidFill>
                      <a:srgbClr val="00B0F0"/>
                    </a:solidFill>
                  </a:rPr>
                  <a:t>atualizados iterativamente </a:t>
                </a:r>
                <a:r>
                  <a:rPr lang="pt-BR" dirty="0"/>
                  <a:t>usando a equação:</a:t>
                </a:r>
              </a:p>
              <a:p>
                <a:pPr marL="0" indent="0">
                  <a:buNone/>
                </a:pPr>
                <a:endParaRPr lang="pt-BR" sz="100" dirty="0"/>
              </a:p>
              <a:p>
                <a:pPr marL="0" indent="0">
                  <a:buNone/>
                </a:pPr>
                <a14:m>
                  <m:oMathPara xmlns:m="http://schemas.openxmlformats.org/officeDocument/2006/math">
                    <m:oMath>
                      <m:sSub>
                        <m:sSubPr>
                          <m:ctrlPr>
                            <a:rPr lang="pt-BR" i="0" smtClean="0">
                              <a:latin typeface="Cambria Math" panose="02040503050406030204" pitchFamily="18" charset="0"/>
                            </a:rPr>
                          </m:ctrlPr>
                        </m:sSubPr>
                        <m:e>
                          <m:r>
                            <m:rPr>
                              <m:sty m:val="p"/>
                            </m:rPr>
                            <a:rPr lang="pt-BR" i="0" smtClean="0">
                              <a:latin typeface="Cambria Math" panose="02040503050406030204" pitchFamily="18" charset="0"/>
                            </a:rPr>
                            <m:t>a</m:t>
                          </m:r>
                        </m:e>
                        <m:sub>
                          <m:r>
                            <m:rPr>
                              <m:sty m:val="p"/>
                            </m:rPr>
                            <a:rPr lang="pt-BR" i="0" smtClean="0">
                              <a:latin typeface="Cambria Math" panose="02040503050406030204" pitchFamily="18" charset="0"/>
                            </a:rPr>
                            <m:t>novo</m:t>
                          </m:r>
                        </m:sub>
                      </m:sSub>
                      <m:r>
                        <a:rPr lang="pt-BR" i="0" smtClean="0">
                          <a:latin typeface="Cambria Math" panose="02040503050406030204" pitchFamily="18" charset="0"/>
                        </a:rPr>
                        <m:t>=</m:t>
                      </m:r>
                      <m:sSub>
                        <m:sSubPr>
                          <m:ctrlPr>
                            <a:rPr lang="pt-BR" i="0" smtClean="0">
                              <a:latin typeface="Cambria Math" panose="02040503050406030204" pitchFamily="18" charset="0"/>
                            </a:rPr>
                          </m:ctrlPr>
                        </m:sSubPr>
                        <m:e>
                          <m:r>
                            <m:rPr>
                              <m:sty m:val="p"/>
                            </m:rPr>
                            <a:rPr lang="pt-BR" i="0" smtClean="0">
                              <a:latin typeface="Cambria Math" panose="02040503050406030204" pitchFamily="18" charset="0"/>
                            </a:rPr>
                            <m:t>a</m:t>
                          </m:r>
                        </m:e>
                        <m:sub>
                          <m:r>
                            <m:rPr>
                              <m:sty m:val="p"/>
                            </m:rPr>
                            <a:rPr lang="pt-BR" i="0" smtClean="0">
                              <a:latin typeface="Cambria Math" panose="02040503050406030204" pitchFamily="18" charset="0"/>
                            </a:rPr>
                            <m:t>inicial</m:t>
                          </m:r>
                        </m:sub>
                      </m:sSub>
                      <m:r>
                        <a:rPr lang="pt-BR" i="0" smtClean="0">
                          <a:latin typeface="Cambria Math" panose="02040503050406030204" pitchFamily="18" charset="0"/>
                        </a:rPr>
                        <m:t>−</m:t>
                      </m:r>
                      <m:r>
                        <m:rPr>
                          <m:sty m:val="p"/>
                        </m:rPr>
                        <a:rPr lang="pt-BR" i="0" dirty="0" smtClean="0">
                          <a:latin typeface="Cambria Math" panose="02040503050406030204" pitchFamily="18" charset="0"/>
                          <a:ea typeface="Cambria Math" panose="02040503050406030204" pitchFamily="18" charset="0"/>
                        </a:rPr>
                        <m:t>α</m:t>
                      </m:r>
                      <m:f>
                        <m:fPr>
                          <m:ctrlPr>
                            <a:rPr lang="pt-BR" i="0" dirty="0" smtClean="0">
                              <a:latin typeface="Cambria Math" panose="02040503050406030204" pitchFamily="18" charset="0"/>
                            </a:rPr>
                          </m:ctrlPr>
                        </m:fPr>
                        <m:num>
                          <m:r>
                            <a:rPr lang="pt-BR" i="0" dirty="0" smtClean="0">
                              <a:latin typeface="Cambria Math" panose="02040503050406030204" pitchFamily="18" charset="0"/>
                            </a:rPr>
                            <m:t>𝜕</m:t>
                          </m:r>
                          <m:sSub>
                            <m:sSubPr>
                              <m:ctrlPr>
                                <a:rPr lang="pt-BR" smtClean="0">
                                  <a:latin typeface="Cambria Math" panose="02040503050406030204" pitchFamily="18" charset="0"/>
                                </a:rPr>
                              </m:ctrlPr>
                            </m:sSubPr>
                            <m:e>
                              <m:r>
                                <a:rPr lang="pt-BR" smtClean="0">
                                  <a:latin typeface="Cambria Math" panose="02040503050406030204" pitchFamily="18" charset="0"/>
                                </a:rPr>
                                <m:t>𝐽</m:t>
                              </m:r>
                            </m:e>
                            <m:sub>
                              <m:r>
                                <a:rPr lang="pt-BR" smtClean="0">
                                  <a:latin typeface="Cambria Math" panose="02040503050406030204" pitchFamily="18" charset="0"/>
                                </a:rPr>
                                <m:t>𝑒</m:t>
                              </m:r>
                            </m:sub>
                          </m:sSub>
                          <m:d>
                            <m:dPr>
                              <m:ctrlPr>
                                <a:rPr lang="pt-BR" i="1" smtClean="0">
                                  <a:latin typeface="Cambria Math" panose="02040503050406030204" pitchFamily="18" charset="0"/>
                                </a:rPr>
                              </m:ctrlPr>
                            </m:dPr>
                            <m:e>
                              <m:sSub>
                                <m:sSubPr>
                                  <m:ctrlPr>
                                    <a:rPr lang="pt-BR" smtClean="0">
                                      <a:latin typeface="Cambria Math" panose="02040503050406030204" pitchFamily="18" charset="0"/>
                                    </a:rPr>
                                  </m:ctrlPr>
                                </m:sSubPr>
                                <m:e>
                                  <m:r>
                                    <a:rPr lang="pt-BR" smtClean="0">
                                      <a:latin typeface="Cambria Math" panose="02040503050406030204" pitchFamily="18" charset="0"/>
                                    </a:rPr>
                                    <m:t>𝑎</m:t>
                                  </m:r>
                                </m:e>
                                <m:sub>
                                  <m:r>
                                    <a:rPr lang="pt-BR" smtClean="0">
                                      <a:latin typeface="Cambria Math" panose="02040503050406030204" pitchFamily="18" charset="0"/>
                                    </a:rPr>
                                    <m:t>𝑖𝑛𝑖𝑐𝑖𝑎𝑙</m:t>
                                  </m:r>
                                </m:sub>
                              </m:sSub>
                            </m:e>
                          </m:d>
                        </m:num>
                        <m:den>
                          <m:r>
                            <a:rPr lang="pt-BR" dirty="0" smtClean="0">
                              <a:latin typeface="Cambria Math" panose="02040503050406030204" pitchFamily="18" charset="0"/>
                            </a:rPr>
                            <m:t>𝜕</m:t>
                          </m:r>
                          <m:r>
                            <a:rPr lang="pt-BR" dirty="0" smtClean="0">
                              <a:latin typeface="Cambria Math" panose="02040503050406030204" pitchFamily="18" charset="0"/>
                            </a:rPr>
                            <m:t>𝑎</m:t>
                          </m:r>
                        </m:den>
                      </m:f>
                      <m:r>
                        <a:rPr lang="pt-BR" b="0" i="1" dirty="0" smtClean="0">
                          <a:latin typeface="Cambria Math" panose="02040503050406030204" pitchFamily="18" charset="0"/>
                        </a:rPr>
                        <m:t>,</m:t>
                      </m:r>
                    </m:oMath>
                  </m:oMathPara>
                </a14:m>
                <a:endParaRPr lang="pt-BR" dirty="0"/>
              </a:p>
              <a:p>
                <a:pPr marL="0" indent="0">
                  <a:buNone/>
                </a:pPr>
                <a:r>
                  <a:rPr lang="pt-BR" dirty="0">
                    <a:ea typeface="Cambria Math" panose="02040503050406030204" pitchFamily="18" charset="0"/>
                  </a:rPr>
                  <a:t>onde </a:t>
                </a:r>
                <a14:m>
                  <m:oMath xmlns:m="http://schemas.openxmlformats.org/officeDocument/2006/math">
                    <m:r>
                      <m:rPr>
                        <m:sty m:val="p"/>
                      </m:rPr>
                      <a:rPr lang="pt-BR" dirty="0">
                        <a:latin typeface="Cambria Math" panose="02040503050406030204" pitchFamily="18" charset="0"/>
                        <a:ea typeface="Cambria Math" panose="02040503050406030204" pitchFamily="18" charset="0"/>
                      </a:rPr>
                      <m:t>α</m:t>
                    </m:r>
                  </m:oMath>
                </a14:m>
                <a:r>
                  <a:rPr lang="pt-BR" dirty="0"/>
                  <a:t> deve ser sempre maior do que 0.</a:t>
                </a:r>
                <a:endParaRPr lang="pt-BR" sz="1400" dirty="0"/>
              </a:p>
              <a:p>
                <a:r>
                  <a:rPr lang="pt-BR" dirty="0"/>
                  <a:t>Ela é chamada de </a:t>
                </a:r>
                <a:r>
                  <a:rPr lang="pt-BR" b="1" dirty="0">
                    <a:solidFill>
                      <a:srgbClr val="7030A0"/>
                    </a:solidFill>
                  </a:rPr>
                  <a:t>equação de atualização dos pesos.</a:t>
                </a:r>
              </a:p>
              <a:p>
                <a:r>
                  <a:rPr lang="pt-BR" dirty="0"/>
                  <a:t>Vejamos como ela funciona.</a:t>
                </a:r>
              </a:p>
              <a:p>
                <a:pPr marL="0" indent="0">
                  <a:buNone/>
                </a:pPr>
                <a:endParaRPr lang="pt-BR" dirty="0"/>
              </a:p>
            </p:txBody>
          </p:sp>
        </mc:Choice>
        <mc:Fallback xmlns="">
          <p:sp>
            <p:nvSpPr>
              <p:cNvPr id="3" name="Espaço Reservado para Conteúdo 2">
                <a:extLst>
                  <a:ext uri="{FF2B5EF4-FFF2-40B4-BE49-F238E27FC236}">
                    <a16:creationId xmlns:a16="http://schemas.microsoft.com/office/drawing/2014/main" id="{3DAFB368-64B7-FC99-5EB4-63434C72A0BE}"/>
                  </a:ext>
                </a:extLst>
              </p:cNvPr>
              <p:cNvSpPr>
                <a:spLocks noGrp="1" noRot="1" noChangeAspect="1" noMove="1" noResize="1" noEditPoints="1" noAdjustHandles="1" noChangeArrowheads="1" noChangeShapeType="1" noTextEdit="1"/>
              </p:cNvSpPr>
              <p:nvPr>
                <p:ph idx="1"/>
              </p:nvPr>
            </p:nvSpPr>
            <p:spPr>
              <a:xfrm>
                <a:off x="5897232" y="1825624"/>
                <a:ext cx="6294765" cy="5032376"/>
              </a:xfrm>
              <a:blipFill>
                <a:blip r:embed="rId3"/>
                <a:stretch>
                  <a:fillRect l="-1936" t="-1937" r="-3291" b="-1574"/>
                </a:stretch>
              </a:blipFill>
            </p:spPr>
            <p:txBody>
              <a:bodyPr/>
              <a:lstStyle/>
              <a:p>
                <a:r>
                  <a:rPr lang="en-US">
                    <a:noFill/>
                  </a:rPr>
                  <a:t> </a:t>
                </a:r>
              </a:p>
            </p:txBody>
          </p:sp>
        </mc:Fallback>
      </mc:AlternateContent>
      <p:grpSp>
        <p:nvGrpSpPr>
          <p:cNvPr id="52" name="Agrupar 51">
            <a:extLst>
              <a:ext uri="{FF2B5EF4-FFF2-40B4-BE49-F238E27FC236}">
                <a16:creationId xmlns:a16="http://schemas.microsoft.com/office/drawing/2014/main" id="{BD7C7801-93AE-3521-9688-67EB7DF33460}"/>
              </a:ext>
            </a:extLst>
          </p:cNvPr>
          <p:cNvGrpSpPr/>
          <p:nvPr/>
        </p:nvGrpSpPr>
        <p:grpSpPr>
          <a:xfrm>
            <a:off x="973059" y="2353695"/>
            <a:ext cx="3963570" cy="2939416"/>
            <a:chOff x="973059" y="2353695"/>
            <a:chExt cx="3963570" cy="2939416"/>
          </a:xfrm>
        </p:grpSpPr>
        <p:sp>
          <p:nvSpPr>
            <p:cNvPr id="24" name="Forma Livre: Forma 23">
              <a:extLst>
                <a:ext uri="{FF2B5EF4-FFF2-40B4-BE49-F238E27FC236}">
                  <a16:creationId xmlns:a16="http://schemas.microsoft.com/office/drawing/2014/main" id="{AD352239-0C2F-18AE-061D-77B0099C6672}"/>
                </a:ext>
              </a:extLst>
            </p:cNvPr>
            <p:cNvSpPr/>
            <p:nvPr/>
          </p:nvSpPr>
          <p:spPr>
            <a:xfrm>
              <a:off x="1190625" y="2990850"/>
              <a:ext cx="3429000" cy="1752634"/>
            </a:xfrm>
            <a:custGeom>
              <a:avLst/>
              <a:gdLst>
                <a:gd name="connsiteX0" fmla="*/ 0 w 3429000"/>
                <a:gd name="connsiteY0" fmla="*/ 38100 h 1752634"/>
                <a:gd name="connsiteX1" fmla="*/ 1714500 w 3429000"/>
                <a:gd name="connsiteY1" fmla="*/ 1752600 h 1752634"/>
                <a:gd name="connsiteX2" fmla="*/ 3429000 w 3429000"/>
                <a:gd name="connsiteY2" fmla="*/ 0 h 1752634"/>
              </a:gdLst>
              <a:ahLst/>
              <a:cxnLst>
                <a:cxn ang="0">
                  <a:pos x="connsiteX0" y="connsiteY0"/>
                </a:cxn>
                <a:cxn ang="0">
                  <a:pos x="connsiteX1" y="connsiteY1"/>
                </a:cxn>
                <a:cxn ang="0">
                  <a:pos x="connsiteX2" y="connsiteY2"/>
                </a:cxn>
              </a:cxnLst>
              <a:rect l="l" t="t" r="r" b="b"/>
              <a:pathLst>
                <a:path w="3429000" h="1752634">
                  <a:moveTo>
                    <a:pt x="0" y="38100"/>
                  </a:moveTo>
                  <a:cubicBezTo>
                    <a:pt x="571500" y="898525"/>
                    <a:pt x="1143000" y="1758950"/>
                    <a:pt x="1714500" y="1752600"/>
                  </a:cubicBezTo>
                  <a:cubicBezTo>
                    <a:pt x="2286000" y="1746250"/>
                    <a:pt x="3119438" y="314325"/>
                    <a:pt x="3429000"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6" name="Conector de Seta Reta 5">
              <a:extLst>
                <a:ext uri="{FF2B5EF4-FFF2-40B4-BE49-F238E27FC236}">
                  <a16:creationId xmlns:a16="http://schemas.microsoft.com/office/drawing/2014/main" id="{4556B2FE-00BB-B5FB-6C0B-1E9D78EDD697}"/>
                </a:ext>
              </a:extLst>
            </p:cNvPr>
            <p:cNvCxnSpPr>
              <a:cxnSpLocks/>
            </p:cNvCxnSpPr>
            <p:nvPr/>
          </p:nvCxnSpPr>
          <p:spPr>
            <a:xfrm>
              <a:off x="974017" y="4916172"/>
              <a:ext cx="386096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Conector de Seta Reta 6">
              <a:extLst>
                <a:ext uri="{FF2B5EF4-FFF2-40B4-BE49-F238E27FC236}">
                  <a16:creationId xmlns:a16="http://schemas.microsoft.com/office/drawing/2014/main" id="{877E7BC2-D86C-E401-20A7-CD0960144C69}"/>
                </a:ext>
              </a:extLst>
            </p:cNvPr>
            <p:cNvCxnSpPr>
              <a:cxnSpLocks/>
            </p:cNvCxnSpPr>
            <p:nvPr/>
          </p:nvCxnSpPr>
          <p:spPr>
            <a:xfrm flipV="1">
              <a:off x="974018" y="2442308"/>
              <a:ext cx="0" cy="247386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CaixaDeTexto 7">
                  <a:extLst>
                    <a:ext uri="{FF2B5EF4-FFF2-40B4-BE49-F238E27FC236}">
                      <a16:creationId xmlns:a16="http://schemas.microsoft.com/office/drawing/2014/main" id="{6A25D9E2-360B-F174-8BBF-0A2E84CF2664}"/>
                    </a:ext>
                  </a:extLst>
                </p:cNvPr>
                <p:cNvSpPr txBox="1"/>
                <p:nvPr/>
              </p:nvSpPr>
              <p:spPr>
                <a:xfrm>
                  <a:off x="974017" y="2353695"/>
                  <a:ext cx="2747030" cy="369332"/>
                </a:xfrm>
                <a:prstGeom prst="rect">
                  <a:avLst/>
                </a:prstGeom>
                <a:noFill/>
              </p:spPr>
              <p:txBody>
                <a:bodyPr wrap="square" rtlCol="0">
                  <a:spAutoFit/>
                </a:bodyPr>
                <a:lstStyle/>
                <a:p>
                  <a:r>
                    <a:rPr lang="pt-BR" dirty="0"/>
                    <a:t>Função de erro, </a:t>
                  </a:r>
                  <a14:m>
                    <m:oMath xmlns:m="http://schemas.openxmlformats.org/officeDocument/2006/math">
                      <m:sSub>
                        <m:sSubPr>
                          <m:ctrlPr>
                            <a:rPr lang="pt-BR" b="0" i="1" smtClean="0">
                              <a:latin typeface="Cambria Math" panose="02040503050406030204" pitchFamily="18" charset="0"/>
                            </a:rPr>
                          </m:ctrlPr>
                        </m:sSubPr>
                        <m:e>
                          <m:r>
                            <a:rPr lang="pt-BR" b="0" i="1" smtClean="0">
                              <a:latin typeface="Cambria Math" panose="02040503050406030204" pitchFamily="18" charset="0"/>
                            </a:rPr>
                            <m:t>𝐽</m:t>
                          </m:r>
                        </m:e>
                        <m:sub>
                          <m:r>
                            <a:rPr lang="pt-BR" b="0" i="1" smtClean="0">
                              <a:latin typeface="Cambria Math" panose="02040503050406030204" pitchFamily="18" charset="0"/>
                            </a:rPr>
                            <m:t>𝑒</m:t>
                          </m:r>
                        </m:sub>
                      </m:sSub>
                      <m:r>
                        <a:rPr lang="pt-BR" b="0" i="1" smtClean="0">
                          <a:latin typeface="Cambria Math" panose="02040503050406030204" pitchFamily="18" charset="0"/>
                        </a:rPr>
                        <m:t>(</m:t>
                      </m:r>
                      <m:r>
                        <a:rPr lang="pt-BR" b="0" i="1" smtClean="0">
                          <a:latin typeface="Cambria Math" panose="02040503050406030204" pitchFamily="18" charset="0"/>
                        </a:rPr>
                        <m:t>𝑎</m:t>
                      </m:r>
                      <m:r>
                        <a:rPr lang="pt-BR" b="0" i="1" smtClean="0">
                          <a:latin typeface="Cambria Math" panose="02040503050406030204" pitchFamily="18" charset="0"/>
                        </a:rPr>
                        <m:t>)</m:t>
                      </m:r>
                    </m:oMath>
                  </a14:m>
                  <a:endParaRPr lang="pt-BR" dirty="0"/>
                </a:p>
              </p:txBody>
            </p:sp>
          </mc:Choice>
          <mc:Fallback xmlns="">
            <p:sp>
              <p:nvSpPr>
                <p:cNvPr id="8" name="CaixaDeTexto 7">
                  <a:extLst>
                    <a:ext uri="{FF2B5EF4-FFF2-40B4-BE49-F238E27FC236}">
                      <a16:creationId xmlns:a16="http://schemas.microsoft.com/office/drawing/2014/main" id="{A78938CD-F777-59C9-49FF-1EC87187C2BF}"/>
                    </a:ext>
                  </a:extLst>
                </p:cNvPr>
                <p:cNvSpPr txBox="1">
                  <a:spLocks noRot="1" noChangeAspect="1" noMove="1" noResize="1" noEditPoints="1" noAdjustHandles="1" noChangeArrowheads="1" noChangeShapeType="1" noTextEdit="1"/>
                </p:cNvSpPr>
                <p:nvPr/>
              </p:nvSpPr>
              <p:spPr>
                <a:xfrm>
                  <a:off x="974017" y="2353695"/>
                  <a:ext cx="2747030" cy="369332"/>
                </a:xfrm>
                <a:prstGeom prst="rect">
                  <a:avLst/>
                </a:prstGeom>
                <a:blipFill>
                  <a:blip r:embed="rId4"/>
                  <a:stretch>
                    <a:fillRect l="-2000" t="-8197" b="-24590"/>
                  </a:stretch>
                </a:blipFill>
              </p:spPr>
              <p:txBody>
                <a:bodyPr/>
                <a:lstStyle/>
                <a:p>
                  <a:r>
                    <a:rPr lang="pt-BR">
                      <a:noFill/>
                    </a:rPr>
                    <a:t> </a:t>
                  </a:r>
                </a:p>
              </p:txBody>
            </p:sp>
          </mc:Fallback>
        </mc:AlternateContent>
        <p:sp>
          <p:nvSpPr>
            <p:cNvPr id="9" name="CaixaDeTexto 8">
              <a:extLst>
                <a:ext uri="{FF2B5EF4-FFF2-40B4-BE49-F238E27FC236}">
                  <a16:creationId xmlns:a16="http://schemas.microsoft.com/office/drawing/2014/main" id="{CBE0D392-CD86-346B-F78B-7E7D4DB5A0C6}"/>
                </a:ext>
              </a:extLst>
            </p:cNvPr>
            <p:cNvSpPr txBox="1"/>
            <p:nvPr/>
          </p:nvSpPr>
          <p:spPr>
            <a:xfrm>
              <a:off x="4300295" y="4923779"/>
              <a:ext cx="636334" cy="369332"/>
            </a:xfrm>
            <a:prstGeom prst="rect">
              <a:avLst/>
            </a:prstGeom>
            <a:noFill/>
          </p:spPr>
          <p:txBody>
            <a:bodyPr wrap="square" rtlCol="0">
              <a:spAutoFit/>
            </a:bodyPr>
            <a:lstStyle/>
            <a:p>
              <a:pPr algn="r"/>
              <a:r>
                <a:rPr lang="pt-BR" dirty="0"/>
                <a:t>Peso</a:t>
              </a:r>
            </a:p>
          </p:txBody>
        </p:sp>
        <p:cxnSp>
          <p:nvCxnSpPr>
            <p:cNvPr id="10" name="Conector reto 9">
              <a:extLst>
                <a:ext uri="{FF2B5EF4-FFF2-40B4-BE49-F238E27FC236}">
                  <a16:creationId xmlns:a16="http://schemas.microsoft.com/office/drawing/2014/main" id="{DBD11855-7724-5DBC-812A-3E03BB970BA0}"/>
                </a:ext>
              </a:extLst>
            </p:cNvPr>
            <p:cNvCxnSpPr/>
            <p:nvPr/>
          </p:nvCxnSpPr>
          <p:spPr>
            <a:xfrm>
              <a:off x="976885" y="4744536"/>
              <a:ext cx="1930484" cy="0"/>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1" name="CaixaDeTexto 10">
              <a:extLst>
                <a:ext uri="{FF2B5EF4-FFF2-40B4-BE49-F238E27FC236}">
                  <a16:creationId xmlns:a16="http://schemas.microsoft.com/office/drawing/2014/main" id="{DB3EBCAF-5483-156A-6C02-04C826D77075}"/>
                </a:ext>
              </a:extLst>
            </p:cNvPr>
            <p:cNvSpPr txBox="1"/>
            <p:nvPr/>
          </p:nvSpPr>
          <p:spPr>
            <a:xfrm>
              <a:off x="2367751" y="4232230"/>
              <a:ext cx="1066949" cy="550146"/>
            </a:xfrm>
            <a:prstGeom prst="rect">
              <a:avLst/>
            </a:prstGeom>
            <a:noFill/>
          </p:spPr>
          <p:txBody>
            <a:bodyPr wrap="square" rtlCol="0">
              <a:spAutoFit/>
            </a:bodyPr>
            <a:lstStyle/>
            <a:p>
              <a:pPr algn="ctr"/>
              <a:r>
                <a:rPr lang="pt-BR" sz="1200" dirty="0"/>
                <a:t>Ponto de mínimo</a:t>
              </a:r>
            </a:p>
          </p:txBody>
        </p:sp>
        <p:cxnSp>
          <p:nvCxnSpPr>
            <p:cNvPr id="12" name="Conector reto 11">
              <a:extLst>
                <a:ext uri="{FF2B5EF4-FFF2-40B4-BE49-F238E27FC236}">
                  <a16:creationId xmlns:a16="http://schemas.microsoft.com/office/drawing/2014/main" id="{F32E6078-0804-72F4-5F76-A5DA078D2DB9}"/>
                </a:ext>
              </a:extLst>
            </p:cNvPr>
            <p:cNvCxnSpPr>
              <a:cxnSpLocks/>
            </p:cNvCxnSpPr>
            <p:nvPr/>
          </p:nvCxnSpPr>
          <p:spPr>
            <a:xfrm>
              <a:off x="2902477" y="4736969"/>
              <a:ext cx="0" cy="171598"/>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3" name="Elipse 12">
              <a:extLst>
                <a:ext uri="{FF2B5EF4-FFF2-40B4-BE49-F238E27FC236}">
                  <a16:creationId xmlns:a16="http://schemas.microsoft.com/office/drawing/2014/main" id="{B5D0D0B8-5078-87A3-A626-3F1E3EDEF0F3}"/>
                </a:ext>
              </a:extLst>
            </p:cNvPr>
            <p:cNvSpPr/>
            <p:nvPr/>
          </p:nvSpPr>
          <p:spPr>
            <a:xfrm>
              <a:off x="2879776" y="4721835"/>
              <a:ext cx="42900" cy="429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Elipse 13">
              <a:extLst>
                <a:ext uri="{FF2B5EF4-FFF2-40B4-BE49-F238E27FC236}">
                  <a16:creationId xmlns:a16="http://schemas.microsoft.com/office/drawing/2014/main" id="{4AAD06C7-C0BD-34BA-EEB0-80FBA9714E01}"/>
                </a:ext>
              </a:extLst>
            </p:cNvPr>
            <p:cNvSpPr/>
            <p:nvPr/>
          </p:nvSpPr>
          <p:spPr>
            <a:xfrm>
              <a:off x="1273647" y="3163362"/>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15" name="Conector reto 14">
              <a:extLst>
                <a:ext uri="{FF2B5EF4-FFF2-40B4-BE49-F238E27FC236}">
                  <a16:creationId xmlns:a16="http://schemas.microsoft.com/office/drawing/2014/main" id="{686E2EBF-DFE7-B601-1AA6-4447472964BD}"/>
                </a:ext>
              </a:extLst>
            </p:cNvPr>
            <p:cNvCxnSpPr/>
            <p:nvPr/>
          </p:nvCxnSpPr>
          <p:spPr>
            <a:xfrm>
              <a:off x="973059" y="3184593"/>
              <a:ext cx="324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7" name="Conector reto 16">
              <a:extLst>
                <a:ext uri="{FF2B5EF4-FFF2-40B4-BE49-F238E27FC236}">
                  <a16:creationId xmlns:a16="http://schemas.microsoft.com/office/drawing/2014/main" id="{562B22DD-0088-2E78-C884-697E7DB3EFA2}"/>
                </a:ext>
              </a:extLst>
            </p:cNvPr>
            <p:cNvCxnSpPr>
              <a:cxnSpLocks/>
            </p:cNvCxnSpPr>
            <p:nvPr/>
          </p:nvCxnSpPr>
          <p:spPr>
            <a:xfrm>
              <a:off x="1295097" y="3163361"/>
              <a:ext cx="0" cy="1764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1" name="CaixaDeTexto 20">
              <a:extLst>
                <a:ext uri="{FF2B5EF4-FFF2-40B4-BE49-F238E27FC236}">
                  <a16:creationId xmlns:a16="http://schemas.microsoft.com/office/drawing/2014/main" id="{395F7296-6BAB-C2A7-725C-D4C32B4D317A}"/>
                </a:ext>
              </a:extLst>
            </p:cNvPr>
            <p:cNvSpPr txBox="1"/>
            <p:nvPr/>
          </p:nvSpPr>
          <p:spPr>
            <a:xfrm>
              <a:off x="1158048" y="2978475"/>
              <a:ext cx="1071476" cy="276999"/>
            </a:xfrm>
            <a:prstGeom prst="rect">
              <a:avLst/>
            </a:prstGeom>
            <a:noFill/>
          </p:spPr>
          <p:txBody>
            <a:bodyPr wrap="square" rtlCol="0">
              <a:spAutoFit/>
            </a:bodyPr>
            <a:lstStyle/>
            <a:p>
              <a:pPr algn="ctr"/>
              <a:r>
                <a:rPr lang="pt-BR" sz="1200" dirty="0"/>
                <a:t>Ponto inicial</a:t>
              </a:r>
            </a:p>
          </p:txBody>
        </p:sp>
        <mc:AlternateContent xmlns:mc="http://schemas.openxmlformats.org/markup-compatibility/2006" xmlns:a14="http://schemas.microsoft.com/office/drawing/2010/main">
          <mc:Choice Requires="a14">
            <p:sp>
              <p:nvSpPr>
                <p:cNvPr id="22" name="CaixaDeTexto 21">
                  <a:extLst>
                    <a:ext uri="{FF2B5EF4-FFF2-40B4-BE49-F238E27FC236}">
                      <a16:creationId xmlns:a16="http://schemas.microsoft.com/office/drawing/2014/main" id="{2BF94E25-D082-5EB9-0249-5BBD89899DCF}"/>
                    </a:ext>
                  </a:extLst>
                </p:cNvPr>
                <p:cNvSpPr txBox="1"/>
                <p:nvPr/>
              </p:nvSpPr>
              <p:spPr>
                <a:xfrm>
                  <a:off x="1074774" y="4868216"/>
                  <a:ext cx="86794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m:rPr>
                                <m:sty m:val="p"/>
                              </m:rPr>
                              <a:rPr lang="pt-BR" sz="1400" b="0" i="0" smtClean="0">
                                <a:latin typeface="Cambria Math" panose="02040503050406030204" pitchFamily="18" charset="0"/>
                              </a:rPr>
                              <m:t>inicial</m:t>
                            </m:r>
                          </m:sub>
                        </m:sSub>
                      </m:oMath>
                    </m:oMathPara>
                  </a14:m>
                  <a:endParaRPr lang="pt-BR" sz="1400" dirty="0"/>
                </a:p>
              </p:txBody>
            </p:sp>
          </mc:Choice>
          <mc:Fallback xmlns="">
            <p:sp>
              <p:nvSpPr>
                <p:cNvPr id="22" name="CaixaDeTexto 21">
                  <a:extLst>
                    <a:ext uri="{FF2B5EF4-FFF2-40B4-BE49-F238E27FC236}">
                      <a16:creationId xmlns:a16="http://schemas.microsoft.com/office/drawing/2014/main" id="{7167E7D4-807F-4A91-D2F9-5B3D43BE5896}"/>
                    </a:ext>
                  </a:extLst>
                </p:cNvPr>
                <p:cNvSpPr txBox="1">
                  <a:spLocks noRot="1" noChangeAspect="1" noMove="1" noResize="1" noEditPoints="1" noAdjustHandles="1" noChangeArrowheads="1" noChangeShapeType="1" noTextEdit="1"/>
                </p:cNvSpPr>
                <p:nvPr/>
              </p:nvSpPr>
              <p:spPr>
                <a:xfrm>
                  <a:off x="1074774" y="4868216"/>
                  <a:ext cx="867941" cy="307777"/>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3" name="CaixaDeTexto 22">
                  <a:extLst>
                    <a:ext uri="{FF2B5EF4-FFF2-40B4-BE49-F238E27FC236}">
                      <a16:creationId xmlns:a16="http://schemas.microsoft.com/office/drawing/2014/main" id="{59A3AD53-C51A-C34F-2BCC-05BA99197460}"/>
                    </a:ext>
                  </a:extLst>
                </p:cNvPr>
                <p:cNvSpPr txBox="1"/>
                <p:nvPr/>
              </p:nvSpPr>
              <p:spPr>
                <a:xfrm>
                  <a:off x="2671712" y="4867795"/>
                  <a:ext cx="86794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0" smtClean="0">
                                <a:latin typeface="Cambria Math" panose="02040503050406030204" pitchFamily="18" charset="0"/>
                              </a:rPr>
                              <m:t>ó</m:t>
                            </m:r>
                            <m:r>
                              <m:rPr>
                                <m:sty m:val="p"/>
                              </m:rPr>
                              <a:rPr lang="pt-BR" sz="1400" b="0" i="0" smtClean="0">
                                <a:latin typeface="Cambria Math" panose="02040503050406030204" pitchFamily="18" charset="0"/>
                              </a:rPr>
                              <m:t>timo</m:t>
                            </m:r>
                          </m:sub>
                        </m:sSub>
                      </m:oMath>
                    </m:oMathPara>
                  </a14:m>
                  <a:endParaRPr lang="pt-BR" sz="1400" dirty="0"/>
                </a:p>
              </p:txBody>
            </p:sp>
          </mc:Choice>
          <mc:Fallback xmlns="">
            <p:sp>
              <p:nvSpPr>
                <p:cNvPr id="23" name="CaixaDeTexto 22">
                  <a:extLst>
                    <a:ext uri="{FF2B5EF4-FFF2-40B4-BE49-F238E27FC236}">
                      <a16:creationId xmlns:a16="http://schemas.microsoft.com/office/drawing/2014/main" id="{5563576F-5255-680C-F8CB-10958601F543}"/>
                    </a:ext>
                  </a:extLst>
                </p:cNvPr>
                <p:cNvSpPr txBox="1">
                  <a:spLocks noRot="1" noChangeAspect="1" noMove="1" noResize="1" noEditPoints="1" noAdjustHandles="1" noChangeArrowheads="1" noChangeShapeType="1" noTextEdit="1"/>
                </p:cNvSpPr>
                <p:nvPr/>
              </p:nvSpPr>
              <p:spPr>
                <a:xfrm>
                  <a:off x="2671712" y="4867795"/>
                  <a:ext cx="867941" cy="307777"/>
                </a:xfrm>
                <a:prstGeom prst="rect">
                  <a:avLst/>
                </a:prstGeom>
                <a:blipFill>
                  <a:blip r:embed="rId6"/>
                  <a:stretch>
                    <a:fillRect/>
                  </a:stretch>
                </a:blipFill>
              </p:spPr>
              <p:txBody>
                <a:bodyPr/>
                <a:lstStyle/>
                <a:p>
                  <a:r>
                    <a:rPr lang="pt-BR">
                      <a:noFill/>
                    </a:rPr>
                    <a:t> </a:t>
                  </a:r>
                </a:p>
              </p:txBody>
            </p:sp>
          </mc:Fallback>
        </mc:AlternateContent>
        <p:cxnSp>
          <p:nvCxnSpPr>
            <p:cNvPr id="4" name="Conector de Seta Reta 3">
              <a:extLst>
                <a:ext uri="{FF2B5EF4-FFF2-40B4-BE49-F238E27FC236}">
                  <a16:creationId xmlns:a16="http://schemas.microsoft.com/office/drawing/2014/main" id="{8DC2A5E0-A082-CC58-B934-3FFB3935678B}"/>
                </a:ext>
              </a:extLst>
            </p:cNvPr>
            <p:cNvCxnSpPr>
              <a:cxnSpLocks/>
            </p:cNvCxnSpPr>
            <p:nvPr/>
          </p:nvCxnSpPr>
          <p:spPr>
            <a:xfrm>
              <a:off x="1295851" y="3183756"/>
              <a:ext cx="473505" cy="79766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Elipse 18">
              <a:extLst>
                <a:ext uri="{FF2B5EF4-FFF2-40B4-BE49-F238E27FC236}">
                  <a16:creationId xmlns:a16="http://schemas.microsoft.com/office/drawing/2014/main" id="{71C43C28-09F1-353B-BC8E-ADAECB5EB76E}"/>
                </a:ext>
              </a:extLst>
            </p:cNvPr>
            <p:cNvSpPr/>
            <p:nvPr/>
          </p:nvSpPr>
          <p:spPr>
            <a:xfrm>
              <a:off x="1901608" y="4038530"/>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1" name="Forma Livre: Forma 40">
              <a:extLst>
                <a:ext uri="{FF2B5EF4-FFF2-40B4-BE49-F238E27FC236}">
                  <a16:creationId xmlns:a16="http://schemas.microsoft.com/office/drawing/2014/main" id="{F5EAFBE1-84DE-E789-2984-FE862A01CBCD}"/>
                </a:ext>
              </a:extLst>
            </p:cNvPr>
            <p:cNvSpPr/>
            <p:nvPr/>
          </p:nvSpPr>
          <p:spPr>
            <a:xfrm>
              <a:off x="1314106" y="3182704"/>
              <a:ext cx="603593" cy="862246"/>
            </a:xfrm>
            <a:custGeom>
              <a:avLst/>
              <a:gdLst>
                <a:gd name="connsiteX0" fmla="*/ 0 w 609600"/>
                <a:gd name="connsiteY0" fmla="*/ 0 h 882650"/>
                <a:gd name="connsiteX1" fmla="*/ 374650 w 609600"/>
                <a:gd name="connsiteY1" fmla="*/ 273050 h 882650"/>
                <a:gd name="connsiteX2" fmla="*/ 609600 w 609600"/>
                <a:gd name="connsiteY2" fmla="*/ 882650 h 882650"/>
              </a:gdLst>
              <a:ahLst/>
              <a:cxnLst>
                <a:cxn ang="0">
                  <a:pos x="connsiteX0" y="connsiteY0"/>
                </a:cxn>
                <a:cxn ang="0">
                  <a:pos x="connsiteX1" y="connsiteY1"/>
                </a:cxn>
                <a:cxn ang="0">
                  <a:pos x="connsiteX2" y="connsiteY2"/>
                </a:cxn>
              </a:cxnLst>
              <a:rect l="l" t="t" r="r" b="b"/>
              <a:pathLst>
                <a:path w="609600" h="882650">
                  <a:moveTo>
                    <a:pt x="0" y="0"/>
                  </a:moveTo>
                  <a:cubicBezTo>
                    <a:pt x="136525" y="62971"/>
                    <a:pt x="273050" y="125942"/>
                    <a:pt x="374650" y="273050"/>
                  </a:cubicBezTo>
                  <a:cubicBezTo>
                    <a:pt x="476250" y="420158"/>
                    <a:pt x="542925" y="651404"/>
                    <a:pt x="609600" y="882650"/>
                  </a:cubicBezTo>
                </a:path>
              </a:pathLst>
            </a:custGeom>
            <a:noFill/>
            <a:ln w="3175">
              <a:solidFill>
                <a:schemeClr val="tx1"/>
              </a:solidFill>
              <a:prstDash val="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2" name="CaixaDeTexto 41">
              <a:extLst>
                <a:ext uri="{FF2B5EF4-FFF2-40B4-BE49-F238E27FC236}">
                  <a16:creationId xmlns:a16="http://schemas.microsoft.com/office/drawing/2014/main" id="{C21A0C15-3686-9EDD-D546-681BD24E3869}"/>
                </a:ext>
              </a:extLst>
            </p:cNvPr>
            <p:cNvSpPr txBox="1"/>
            <p:nvPr/>
          </p:nvSpPr>
          <p:spPr>
            <a:xfrm>
              <a:off x="1897730" y="3887618"/>
              <a:ext cx="1071476" cy="276999"/>
            </a:xfrm>
            <a:prstGeom prst="rect">
              <a:avLst/>
            </a:prstGeom>
            <a:noFill/>
          </p:spPr>
          <p:txBody>
            <a:bodyPr wrap="square" rtlCol="0">
              <a:spAutoFit/>
            </a:bodyPr>
            <a:lstStyle/>
            <a:p>
              <a:r>
                <a:rPr lang="pt-BR" sz="1200" dirty="0"/>
                <a:t>Novo ponto</a:t>
              </a:r>
            </a:p>
          </p:txBody>
        </p:sp>
        <mc:AlternateContent xmlns:mc="http://schemas.openxmlformats.org/markup-compatibility/2006" xmlns:a14="http://schemas.microsoft.com/office/drawing/2010/main">
          <mc:Choice Requires="a14">
            <p:sp>
              <p:nvSpPr>
                <p:cNvPr id="44" name="CaixaDeTexto 43">
                  <a:extLst>
                    <a:ext uri="{FF2B5EF4-FFF2-40B4-BE49-F238E27FC236}">
                      <a16:creationId xmlns:a16="http://schemas.microsoft.com/office/drawing/2014/main" id="{4D57B8E0-B223-FB65-2B97-D3C8086F7826}"/>
                    </a:ext>
                  </a:extLst>
                </p:cNvPr>
                <p:cNvSpPr txBox="1"/>
                <p:nvPr/>
              </p:nvSpPr>
              <p:spPr>
                <a:xfrm>
                  <a:off x="1686947" y="3303430"/>
                  <a:ext cx="756505" cy="444032"/>
                </a:xfrm>
                <a:prstGeom prst="rect">
                  <a:avLst/>
                </a:prstGeom>
                <a:noFill/>
              </p:spPr>
              <p:txBody>
                <a:bodyPr wrap="square">
                  <a:spAutoFit/>
                </a:bodyPr>
                <a:lstStyle/>
                <a:p>
                  <a:pPr/>
                  <a14:m>
                    <m:oMathPara xmlns:m="http://schemas.openxmlformats.org/officeDocument/2006/math">
                      <m:oMath>
                        <m:r>
                          <a:rPr lang="pt-BR" sz="1200" i="1" dirty="0" smtClean="0">
                            <a:latin typeface="Cambria Math" panose="02040503050406030204" pitchFamily="18" charset="0"/>
                            <a:ea typeface="Cambria Math" panose="02040503050406030204" pitchFamily="18" charset="0"/>
                          </a:rPr>
                          <m:t>𝛼</m:t>
                        </m:r>
                        <m:f>
                          <m:fPr>
                            <m:ctrlPr>
                              <a:rPr lang="pt-BR" sz="1200" i="1" dirty="0" smtClean="0">
                                <a:latin typeface="Cambria Math" panose="02040503050406030204" pitchFamily="18" charset="0"/>
                              </a:rPr>
                            </m:ctrlPr>
                          </m:fPr>
                          <m:num>
                            <m:r>
                              <a:rPr lang="pt-BR" sz="1200" i="1" dirty="0" smtClean="0">
                                <a:latin typeface="Cambria Math" panose="02040503050406030204" pitchFamily="18" charset="0"/>
                              </a:rPr>
                              <m:t>𝜕</m:t>
                            </m:r>
                            <m:sSub>
                              <m:sSubPr>
                                <m:ctrlPr>
                                  <a:rPr lang="pt-BR" sz="1200" i="1">
                                    <a:latin typeface="Cambria Math" panose="02040503050406030204" pitchFamily="18" charset="0"/>
                                  </a:rPr>
                                </m:ctrlPr>
                              </m:sSubPr>
                              <m:e>
                                <m:r>
                                  <a:rPr lang="pt-BR" sz="1200" i="1">
                                    <a:latin typeface="Cambria Math" panose="02040503050406030204" pitchFamily="18" charset="0"/>
                                  </a:rPr>
                                  <m:t>𝐽</m:t>
                                </m:r>
                              </m:e>
                              <m:sub>
                                <m:r>
                                  <a:rPr lang="pt-BR" sz="1200" i="1">
                                    <a:latin typeface="Cambria Math" panose="02040503050406030204" pitchFamily="18" charset="0"/>
                                  </a:rPr>
                                  <m:t>𝑒</m:t>
                                </m:r>
                              </m:sub>
                            </m:sSub>
                            <m:r>
                              <a:rPr lang="pt-BR" sz="1200" i="1">
                                <a:latin typeface="Cambria Math" panose="02040503050406030204" pitchFamily="18" charset="0"/>
                              </a:rPr>
                              <m:t>(</m:t>
                            </m:r>
                            <m:sSub>
                              <m:sSubPr>
                                <m:ctrlPr>
                                  <a:rPr lang="pt-BR" sz="1200" i="1">
                                    <a:latin typeface="Cambria Math" panose="02040503050406030204" pitchFamily="18" charset="0"/>
                                  </a:rPr>
                                </m:ctrlPr>
                              </m:sSubPr>
                              <m:e>
                                <m:r>
                                  <a:rPr lang="pt-BR" sz="1200" i="1">
                                    <a:latin typeface="Cambria Math" panose="02040503050406030204" pitchFamily="18" charset="0"/>
                                  </a:rPr>
                                  <m:t>𝑎</m:t>
                                </m:r>
                              </m:e>
                              <m:sub>
                                <m:r>
                                  <m:rPr>
                                    <m:sty m:val="p"/>
                                  </m:rPr>
                                  <a:rPr lang="pt-BR" sz="1200">
                                    <a:latin typeface="Cambria Math" panose="02040503050406030204" pitchFamily="18" charset="0"/>
                                  </a:rPr>
                                  <m:t>inicial</m:t>
                                </m:r>
                              </m:sub>
                            </m:sSub>
                            <m:r>
                              <a:rPr lang="pt-BR" sz="1200" i="1">
                                <a:latin typeface="Cambria Math" panose="02040503050406030204" pitchFamily="18" charset="0"/>
                              </a:rPr>
                              <m:t>)</m:t>
                            </m:r>
                          </m:num>
                          <m:den>
                            <m:r>
                              <a:rPr lang="pt-BR" sz="1200" i="1" dirty="0" smtClean="0">
                                <a:latin typeface="Cambria Math" panose="02040503050406030204" pitchFamily="18" charset="0"/>
                              </a:rPr>
                              <m:t>𝜕</m:t>
                            </m:r>
                            <m:r>
                              <a:rPr lang="pt-BR" sz="1200" b="0" i="1" dirty="0" smtClean="0">
                                <a:latin typeface="Cambria Math" panose="02040503050406030204" pitchFamily="18" charset="0"/>
                              </a:rPr>
                              <m:t>𝑎</m:t>
                            </m:r>
                          </m:den>
                        </m:f>
                      </m:oMath>
                    </m:oMathPara>
                  </a14:m>
                  <a:endParaRPr lang="pt-BR" sz="1200" dirty="0"/>
                </a:p>
              </p:txBody>
            </p:sp>
          </mc:Choice>
          <mc:Fallback xmlns="">
            <p:sp>
              <p:nvSpPr>
                <p:cNvPr id="44" name="CaixaDeTexto 43">
                  <a:extLst>
                    <a:ext uri="{FF2B5EF4-FFF2-40B4-BE49-F238E27FC236}">
                      <a16:creationId xmlns:a16="http://schemas.microsoft.com/office/drawing/2014/main" id="{0B96B558-FD3C-575E-D9A1-D3E273AF2DEB}"/>
                    </a:ext>
                  </a:extLst>
                </p:cNvPr>
                <p:cNvSpPr txBox="1">
                  <a:spLocks noRot="1" noChangeAspect="1" noMove="1" noResize="1" noEditPoints="1" noAdjustHandles="1" noChangeArrowheads="1" noChangeShapeType="1" noTextEdit="1"/>
                </p:cNvSpPr>
                <p:nvPr/>
              </p:nvSpPr>
              <p:spPr>
                <a:xfrm>
                  <a:off x="1686947" y="3303430"/>
                  <a:ext cx="756505" cy="444032"/>
                </a:xfrm>
                <a:prstGeom prst="rect">
                  <a:avLst/>
                </a:prstGeom>
                <a:blipFill>
                  <a:blip r:embed="rId7"/>
                  <a:stretch>
                    <a:fillRect r="-37903" b="-1370"/>
                  </a:stretch>
                </a:blipFill>
              </p:spPr>
              <p:txBody>
                <a:bodyPr/>
                <a:lstStyle/>
                <a:p>
                  <a:r>
                    <a:rPr lang="pt-BR">
                      <a:noFill/>
                    </a:rPr>
                    <a:t> </a:t>
                  </a:r>
                </a:p>
              </p:txBody>
            </p:sp>
          </mc:Fallback>
        </mc:AlternateContent>
        <p:cxnSp>
          <p:nvCxnSpPr>
            <p:cNvPr id="45" name="Conector reto 44">
              <a:extLst>
                <a:ext uri="{FF2B5EF4-FFF2-40B4-BE49-F238E27FC236}">
                  <a16:creationId xmlns:a16="http://schemas.microsoft.com/office/drawing/2014/main" id="{CA22AD14-39B0-2F41-14AF-E3A95A2ADB3B}"/>
                </a:ext>
              </a:extLst>
            </p:cNvPr>
            <p:cNvCxnSpPr>
              <a:cxnSpLocks/>
            </p:cNvCxnSpPr>
            <p:nvPr/>
          </p:nvCxnSpPr>
          <p:spPr>
            <a:xfrm>
              <a:off x="1924842" y="4071908"/>
              <a:ext cx="0" cy="828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6" name="CaixaDeTexto 45">
                  <a:extLst>
                    <a:ext uri="{FF2B5EF4-FFF2-40B4-BE49-F238E27FC236}">
                      <a16:creationId xmlns:a16="http://schemas.microsoft.com/office/drawing/2014/main" id="{67F160FB-DE3E-79C3-88D2-4EA327A6593E}"/>
                    </a:ext>
                  </a:extLst>
                </p:cNvPr>
                <p:cNvSpPr txBox="1"/>
                <p:nvPr/>
              </p:nvSpPr>
              <p:spPr>
                <a:xfrm>
                  <a:off x="1703016" y="4879029"/>
                  <a:ext cx="86794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m:rPr>
                                <m:sty m:val="p"/>
                              </m:rPr>
                              <a:rPr lang="pt-BR" sz="1400" b="0" i="0" smtClean="0">
                                <a:latin typeface="Cambria Math" panose="02040503050406030204" pitchFamily="18" charset="0"/>
                              </a:rPr>
                              <m:t>novo</m:t>
                            </m:r>
                          </m:sub>
                        </m:sSub>
                      </m:oMath>
                    </m:oMathPara>
                  </a14:m>
                  <a:endParaRPr lang="pt-BR" sz="1400" dirty="0"/>
                </a:p>
              </p:txBody>
            </p:sp>
          </mc:Choice>
          <mc:Fallback xmlns="">
            <p:sp>
              <p:nvSpPr>
                <p:cNvPr id="46" name="CaixaDeTexto 45">
                  <a:extLst>
                    <a:ext uri="{FF2B5EF4-FFF2-40B4-BE49-F238E27FC236}">
                      <a16:creationId xmlns:a16="http://schemas.microsoft.com/office/drawing/2014/main" id="{ACD660F6-9366-FE86-1D50-0AFB812C300C}"/>
                    </a:ext>
                  </a:extLst>
                </p:cNvPr>
                <p:cNvSpPr txBox="1">
                  <a:spLocks noRot="1" noChangeAspect="1" noMove="1" noResize="1" noEditPoints="1" noAdjustHandles="1" noChangeArrowheads="1" noChangeShapeType="1" noTextEdit="1"/>
                </p:cNvSpPr>
                <p:nvPr/>
              </p:nvSpPr>
              <p:spPr>
                <a:xfrm>
                  <a:off x="1703016" y="4879029"/>
                  <a:ext cx="867941" cy="307777"/>
                </a:xfrm>
                <a:prstGeom prst="rect">
                  <a:avLst/>
                </a:prstGeom>
                <a:blipFill>
                  <a:blip r:embed="rId8"/>
                  <a:stretch>
                    <a:fillRect/>
                  </a:stretch>
                </a:blipFill>
              </p:spPr>
              <p:txBody>
                <a:bodyPr/>
                <a:lstStyle/>
                <a:p>
                  <a:r>
                    <a:rPr lang="pt-BR">
                      <a:noFill/>
                    </a:rPr>
                    <a:t> </a:t>
                  </a:r>
                </a:p>
              </p:txBody>
            </p:sp>
          </mc:Fallback>
        </mc:AlternateContent>
      </p:grpSp>
      <p:sp>
        <p:nvSpPr>
          <p:cNvPr id="5" name="CaixaDeTexto 47">
            <a:extLst>
              <a:ext uri="{FF2B5EF4-FFF2-40B4-BE49-F238E27FC236}">
                <a16:creationId xmlns:a16="http://schemas.microsoft.com/office/drawing/2014/main" id="{01C22BBB-35EB-E308-FDB7-BCA9B063B091}"/>
              </a:ext>
            </a:extLst>
          </p:cNvPr>
          <p:cNvSpPr txBox="1"/>
          <p:nvPr/>
        </p:nvSpPr>
        <p:spPr>
          <a:xfrm>
            <a:off x="9044614" y="3479939"/>
            <a:ext cx="1598943" cy="430887"/>
          </a:xfrm>
          <a:prstGeom prst="rect">
            <a:avLst/>
          </a:prstGeom>
          <a:noFill/>
        </p:spPr>
        <p:txBody>
          <a:bodyPr wrap="square" rtlCol="0">
            <a:spAutoFit/>
          </a:bodyPr>
          <a:lstStyle/>
          <a:p>
            <a:pPr algn="ctr"/>
            <a:r>
              <a:rPr lang="pt-BR" sz="1100" dirty="0"/>
              <a:t>sentido aposto ao apontado pelo gradiente</a:t>
            </a:r>
          </a:p>
        </p:txBody>
      </p:sp>
      <p:cxnSp>
        <p:nvCxnSpPr>
          <p:cNvPr id="16" name="Conector de Seta Reta 49">
            <a:extLst>
              <a:ext uri="{FF2B5EF4-FFF2-40B4-BE49-F238E27FC236}">
                <a16:creationId xmlns:a16="http://schemas.microsoft.com/office/drawing/2014/main" id="{A6DFF2D4-9482-CE1A-10F2-E2E0D4FD3158}"/>
              </a:ext>
            </a:extLst>
          </p:cNvPr>
          <p:cNvCxnSpPr>
            <a:cxnSpLocks/>
          </p:cNvCxnSpPr>
          <p:nvPr/>
        </p:nvCxnSpPr>
        <p:spPr>
          <a:xfrm flipV="1">
            <a:off x="9044614" y="3867167"/>
            <a:ext cx="413711" cy="47464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21240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CC3C31-4EA2-B4A2-431F-BF22FBB8A7BA}"/>
              </a:ext>
            </a:extLst>
          </p:cNvPr>
          <p:cNvSpPr>
            <a:spLocks noGrp="1"/>
          </p:cNvSpPr>
          <p:nvPr>
            <p:ph type="title"/>
          </p:nvPr>
        </p:nvSpPr>
        <p:spPr/>
        <p:txBody>
          <a:bodyPr/>
          <a:lstStyle/>
          <a:p>
            <a:r>
              <a:rPr lang="pt-BR" dirty="0"/>
              <a:t>Passo de aprendizagem</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F09EA0C7-E094-F158-6A1A-B80733321450}"/>
                  </a:ext>
                </a:extLst>
              </p:cNvPr>
              <p:cNvSpPr>
                <a:spLocks noGrp="1"/>
              </p:cNvSpPr>
              <p:nvPr>
                <p:ph idx="1"/>
              </p:nvPr>
            </p:nvSpPr>
            <p:spPr>
              <a:xfrm>
                <a:off x="5897233" y="1825624"/>
                <a:ext cx="6205337" cy="5032376"/>
              </a:xfrm>
            </p:spPr>
            <p:txBody>
              <a:bodyPr>
                <a:normAutofit/>
              </a:bodyPr>
              <a:lstStyle/>
              <a:p>
                <a:r>
                  <a:rPr lang="pt-BR" dirty="0"/>
                  <a:t>Se o peso atual está à esquerda do mínimo, o </a:t>
                </a:r>
                <a:r>
                  <a:rPr lang="pt-BR" b="1" dirty="0">
                    <a:solidFill>
                      <a:srgbClr val="7030A0"/>
                    </a:solidFill>
                  </a:rPr>
                  <a:t>termo de atualização</a:t>
                </a:r>
                <a:r>
                  <a:rPr lang="pt-BR" dirty="0"/>
                  <a:t> faz com que o </a:t>
                </a:r>
                <a:r>
                  <a:rPr lang="pt-BR" b="1" dirty="0">
                    <a:solidFill>
                      <a:schemeClr val="accent2"/>
                    </a:solidFill>
                  </a:rPr>
                  <a:t>novo valor do peso seja maior</a:t>
                </a:r>
                <a:r>
                  <a:rPr lang="pt-BR" dirty="0"/>
                  <a:t> do que o anterior.</a:t>
                </a:r>
              </a:p>
              <a:p>
                <a:pPr lvl="1">
                  <a:buFont typeface="Wingdings" panose="05000000000000000000" pitchFamily="2" charset="2"/>
                  <a:buChar char="§"/>
                </a:pPr>
                <a:r>
                  <a:rPr lang="pt-BR" dirty="0"/>
                  <a:t>À esquerda do mínimo, </a:t>
                </a:r>
                <a14:m>
                  <m:oMath xmlns:m="http://schemas.openxmlformats.org/officeDocument/2006/math">
                    <m:f>
                      <m:fPr>
                        <m:ctrlPr>
                          <a:rPr lang="pt-BR" i="1" dirty="0">
                            <a:latin typeface="Cambria Math" panose="02040503050406030204" pitchFamily="18" charset="0"/>
                          </a:rPr>
                        </m:ctrlPr>
                      </m:fPr>
                      <m:num>
                        <m:r>
                          <a:rPr lang="pt-BR" i="1" dirty="0">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𝑎</m:t>
                            </m:r>
                          </m:e>
                          <m:sub>
                            <m:r>
                              <m:rPr>
                                <m:sty m:val="p"/>
                              </m:rPr>
                              <a:rPr lang="pt-BR">
                                <a:latin typeface="Cambria Math" panose="02040503050406030204" pitchFamily="18" charset="0"/>
                              </a:rPr>
                              <m:t>inicial</m:t>
                            </m:r>
                          </m:sub>
                        </m:sSub>
                        <m:r>
                          <a:rPr lang="pt-BR" i="1">
                            <a:latin typeface="Cambria Math" panose="02040503050406030204" pitchFamily="18" charset="0"/>
                          </a:rPr>
                          <m:t>)</m:t>
                        </m:r>
                      </m:num>
                      <m:den>
                        <m:r>
                          <a:rPr lang="pt-BR" i="1" dirty="0">
                            <a:latin typeface="Cambria Math" panose="02040503050406030204" pitchFamily="18" charset="0"/>
                          </a:rPr>
                          <m:t>𝜕</m:t>
                        </m:r>
                        <m:r>
                          <a:rPr lang="pt-BR" i="1" dirty="0">
                            <a:latin typeface="Cambria Math" panose="02040503050406030204" pitchFamily="18" charset="0"/>
                          </a:rPr>
                          <m:t>𝑎</m:t>
                        </m:r>
                      </m:den>
                    </m:f>
                  </m:oMath>
                </a14:m>
                <a:r>
                  <a:rPr lang="pt-BR" dirty="0"/>
                  <a:t> terá sinal negativo,</a:t>
                </a:r>
              </a:p>
              <a:p>
                <a:pPr lvl="1">
                  <a:buFont typeface="Wingdings" panose="05000000000000000000" pitchFamily="2" charset="2"/>
                  <a:buChar char="§"/>
                </a:pPr>
                <a:r>
                  <a:rPr lang="pt-BR" dirty="0"/>
                  <a:t>Que quando multiplicado por </a:t>
                </a:r>
                <a14:m>
                  <m:oMath xmlns:m="http://schemas.openxmlformats.org/officeDocument/2006/math">
                    <m:r>
                      <a:rPr lang="pt-BR">
                        <a:latin typeface="Cambria Math" panose="02040503050406030204" pitchFamily="18" charset="0"/>
                      </a:rPr>
                      <m:t>−</m:t>
                    </m:r>
                    <m:r>
                      <a:rPr lang="pt-BR" i="1" dirty="0">
                        <a:latin typeface="Cambria Math" panose="02040503050406030204" pitchFamily="18" charset="0"/>
                        <a:ea typeface="Cambria Math" panose="02040503050406030204" pitchFamily="18" charset="0"/>
                      </a:rPr>
                      <m:t>𝛼</m:t>
                    </m:r>
                  </m:oMath>
                </a14:m>
                <a:r>
                  <a:rPr lang="pt-BR" dirty="0"/>
                  <a:t>, fará com que o termo de atualização se torne positivo,</a:t>
                </a:r>
              </a:p>
              <a:p>
                <a:pPr lvl="1">
                  <a:buFont typeface="Wingdings" panose="05000000000000000000" pitchFamily="2" charset="2"/>
                  <a:buChar char="§"/>
                </a:pPr>
                <a:r>
                  <a:rPr lang="pt-BR" dirty="0"/>
                  <a:t>Que faz com que </a:t>
                </a:r>
                <a14:m>
                  <m:oMath xmlns:m="http://schemas.openxmlformats.org/officeDocument/2006/math">
                    <m:r>
                      <a:rPr lang="pt-BR" i="1" dirty="0">
                        <a:latin typeface="Cambria Math" panose="02040503050406030204" pitchFamily="18" charset="0"/>
                        <a:ea typeface="Cambria Math" panose="02040503050406030204" pitchFamily="18" charset="0"/>
                      </a:rPr>
                      <m:t>𝛼</m:t>
                    </m:r>
                    <m:f>
                      <m:fPr>
                        <m:ctrlPr>
                          <a:rPr lang="pt-BR" i="1" dirty="0">
                            <a:latin typeface="Cambria Math" panose="02040503050406030204" pitchFamily="18" charset="0"/>
                          </a:rPr>
                        </m:ctrlPr>
                      </m:fPr>
                      <m:num>
                        <m:r>
                          <a:rPr lang="pt-BR" i="1" dirty="0">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𝑎</m:t>
                            </m:r>
                          </m:e>
                          <m:sub>
                            <m:r>
                              <m:rPr>
                                <m:sty m:val="p"/>
                              </m:rPr>
                              <a:rPr lang="pt-BR">
                                <a:latin typeface="Cambria Math" panose="02040503050406030204" pitchFamily="18" charset="0"/>
                              </a:rPr>
                              <m:t>inicial</m:t>
                            </m:r>
                          </m:sub>
                        </m:sSub>
                        <m:r>
                          <a:rPr lang="pt-BR" i="1">
                            <a:latin typeface="Cambria Math" panose="02040503050406030204" pitchFamily="18" charset="0"/>
                          </a:rPr>
                          <m:t>)</m:t>
                        </m:r>
                      </m:num>
                      <m:den>
                        <m:r>
                          <a:rPr lang="pt-BR" i="1" dirty="0">
                            <a:latin typeface="Cambria Math" panose="02040503050406030204" pitchFamily="18" charset="0"/>
                          </a:rPr>
                          <m:t>𝜕</m:t>
                        </m:r>
                        <m:r>
                          <a:rPr lang="pt-BR" i="1" dirty="0">
                            <a:latin typeface="Cambria Math" panose="02040503050406030204" pitchFamily="18" charset="0"/>
                          </a:rPr>
                          <m:t>𝑎</m:t>
                        </m:r>
                      </m:den>
                    </m:f>
                  </m:oMath>
                </a14:m>
                <a:r>
                  <a:rPr lang="pt-BR" dirty="0"/>
                  <a:t> seja </a:t>
                </a:r>
                <a:r>
                  <a:rPr lang="pt-BR" b="1" dirty="0">
                    <a:solidFill>
                      <a:srgbClr val="00B050"/>
                    </a:solidFill>
                  </a:rPr>
                  <a:t>somado</a:t>
                </a:r>
                <a:r>
                  <a:rPr lang="pt-BR" dirty="0"/>
                  <a:t> à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𝑎</m:t>
                        </m:r>
                      </m:e>
                      <m:sub>
                        <m:r>
                          <m:rPr>
                            <m:sty m:val="p"/>
                          </m:rPr>
                          <a:rPr lang="pt-BR">
                            <a:latin typeface="Cambria Math" panose="02040503050406030204" pitchFamily="18" charset="0"/>
                          </a:rPr>
                          <m:t>inicial</m:t>
                        </m:r>
                      </m:sub>
                    </m:sSub>
                  </m:oMath>
                </a14:m>
                <a:r>
                  <a:rPr lang="pt-BR" dirty="0"/>
                  <a:t>.</a:t>
                </a:r>
              </a:p>
            </p:txBody>
          </p:sp>
        </mc:Choice>
        <mc:Fallback xmlns="">
          <p:sp>
            <p:nvSpPr>
              <p:cNvPr id="3" name="Espaço Reservado para Conteúdo 2">
                <a:extLst>
                  <a:ext uri="{FF2B5EF4-FFF2-40B4-BE49-F238E27FC236}">
                    <a16:creationId xmlns:a16="http://schemas.microsoft.com/office/drawing/2014/main" id="{F09EA0C7-E094-F158-6A1A-B80733321450}"/>
                  </a:ext>
                </a:extLst>
              </p:cNvPr>
              <p:cNvSpPr>
                <a:spLocks noGrp="1" noRot="1" noChangeAspect="1" noMove="1" noResize="1" noEditPoints="1" noAdjustHandles="1" noChangeArrowheads="1" noChangeShapeType="1" noTextEdit="1"/>
              </p:cNvSpPr>
              <p:nvPr>
                <p:ph idx="1"/>
              </p:nvPr>
            </p:nvSpPr>
            <p:spPr>
              <a:xfrm>
                <a:off x="5897233" y="1825624"/>
                <a:ext cx="6205337" cy="5032376"/>
              </a:xfrm>
              <a:blipFill>
                <a:blip r:embed="rId3"/>
                <a:stretch>
                  <a:fillRect l="-1768" t="-1937" r="-1375"/>
                </a:stretch>
              </a:blipFill>
            </p:spPr>
            <p:txBody>
              <a:bodyPr/>
              <a:lstStyle/>
              <a:p>
                <a:r>
                  <a:rPr lang="en-US">
                    <a:noFill/>
                  </a:rPr>
                  <a:t> </a:t>
                </a:r>
              </a:p>
            </p:txBody>
          </p:sp>
        </mc:Fallback>
      </mc:AlternateContent>
      <p:grpSp>
        <p:nvGrpSpPr>
          <p:cNvPr id="52" name="Agrupar 51">
            <a:extLst>
              <a:ext uri="{FF2B5EF4-FFF2-40B4-BE49-F238E27FC236}">
                <a16:creationId xmlns:a16="http://schemas.microsoft.com/office/drawing/2014/main" id="{C28387F9-D7FD-85ED-8EAA-F893C59A9528}"/>
              </a:ext>
            </a:extLst>
          </p:cNvPr>
          <p:cNvGrpSpPr/>
          <p:nvPr/>
        </p:nvGrpSpPr>
        <p:grpSpPr>
          <a:xfrm>
            <a:off x="973059" y="2055748"/>
            <a:ext cx="3963570" cy="2939416"/>
            <a:chOff x="973059" y="2353695"/>
            <a:chExt cx="3963570" cy="2939416"/>
          </a:xfrm>
        </p:grpSpPr>
        <p:sp>
          <p:nvSpPr>
            <p:cNvPr id="24" name="Forma Livre: Forma 23">
              <a:extLst>
                <a:ext uri="{FF2B5EF4-FFF2-40B4-BE49-F238E27FC236}">
                  <a16:creationId xmlns:a16="http://schemas.microsoft.com/office/drawing/2014/main" id="{1AF02A9C-5A9B-AE81-9724-6E5E5F5C9AD5}"/>
                </a:ext>
              </a:extLst>
            </p:cNvPr>
            <p:cNvSpPr/>
            <p:nvPr/>
          </p:nvSpPr>
          <p:spPr>
            <a:xfrm>
              <a:off x="1190625" y="2990850"/>
              <a:ext cx="3429000" cy="1752634"/>
            </a:xfrm>
            <a:custGeom>
              <a:avLst/>
              <a:gdLst>
                <a:gd name="connsiteX0" fmla="*/ 0 w 3429000"/>
                <a:gd name="connsiteY0" fmla="*/ 38100 h 1752634"/>
                <a:gd name="connsiteX1" fmla="*/ 1714500 w 3429000"/>
                <a:gd name="connsiteY1" fmla="*/ 1752600 h 1752634"/>
                <a:gd name="connsiteX2" fmla="*/ 3429000 w 3429000"/>
                <a:gd name="connsiteY2" fmla="*/ 0 h 1752634"/>
              </a:gdLst>
              <a:ahLst/>
              <a:cxnLst>
                <a:cxn ang="0">
                  <a:pos x="connsiteX0" y="connsiteY0"/>
                </a:cxn>
                <a:cxn ang="0">
                  <a:pos x="connsiteX1" y="connsiteY1"/>
                </a:cxn>
                <a:cxn ang="0">
                  <a:pos x="connsiteX2" y="connsiteY2"/>
                </a:cxn>
              </a:cxnLst>
              <a:rect l="l" t="t" r="r" b="b"/>
              <a:pathLst>
                <a:path w="3429000" h="1752634">
                  <a:moveTo>
                    <a:pt x="0" y="38100"/>
                  </a:moveTo>
                  <a:cubicBezTo>
                    <a:pt x="571500" y="898525"/>
                    <a:pt x="1143000" y="1758950"/>
                    <a:pt x="1714500" y="1752600"/>
                  </a:cubicBezTo>
                  <a:cubicBezTo>
                    <a:pt x="2286000" y="1746250"/>
                    <a:pt x="3119438" y="314325"/>
                    <a:pt x="3429000"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6" name="Conector de Seta Reta 5">
              <a:extLst>
                <a:ext uri="{FF2B5EF4-FFF2-40B4-BE49-F238E27FC236}">
                  <a16:creationId xmlns:a16="http://schemas.microsoft.com/office/drawing/2014/main" id="{CECA8A08-ECD5-CF26-4CEC-3C8F2A7EB943}"/>
                </a:ext>
              </a:extLst>
            </p:cNvPr>
            <p:cNvCxnSpPr>
              <a:cxnSpLocks/>
            </p:cNvCxnSpPr>
            <p:nvPr/>
          </p:nvCxnSpPr>
          <p:spPr>
            <a:xfrm>
              <a:off x="974017" y="4916172"/>
              <a:ext cx="386096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Conector de Seta Reta 6">
              <a:extLst>
                <a:ext uri="{FF2B5EF4-FFF2-40B4-BE49-F238E27FC236}">
                  <a16:creationId xmlns:a16="http://schemas.microsoft.com/office/drawing/2014/main" id="{EBE189DA-FC3E-6F77-83E6-389C755E01A6}"/>
                </a:ext>
              </a:extLst>
            </p:cNvPr>
            <p:cNvCxnSpPr>
              <a:cxnSpLocks/>
            </p:cNvCxnSpPr>
            <p:nvPr/>
          </p:nvCxnSpPr>
          <p:spPr>
            <a:xfrm flipV="1">
              <a:off x="974018" y="2442308"/>
              <a:ext cx="0" cy="247386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CaixaDeTexto 7">
                  <a:extLst>
                    <a:ext uri="{FF2B5EF4-FFF2-40B4-BE49-F238E27FC236}">
                      <a16:creationId xmlns:a16="http://schemas.microsoft.com/office/drawing/2014/main" id="{A78938CD-F777-59C9-49FF-1EC87187C2BF}"/>
                    </a:ext>
                  </a:extLst>
                </p:cNvPr>
                <p:cNvSpPr txBox="1"/>
                <p:nvPr/>
              </p:nvSpPr>
              <p:spPr>
                <a:xfrm>
                  <a:off x="974017" y="2353695"/>
                  <a:ext cx="2747030" cy="369332"/>
                </a:xfrm>
                <a:prstGeom prst="rect">
                  <a:avLst/>
                </a:prstGeom>
                <a:noFill/>
              </p:spPr>
              <p:txBody>
                <a:bodyPr wrap="square" rtlCol="0">
                  <a:spAutoFit/>
                </a:bodyPr>
                <a:lstStyle/>
                <a:p>
                  <a:r>
                    <a:rPr lang="pt-BR" dirty="0"/>
                    <a:t>Função de erro, </a:t>
                  </a:r>
                  <a14:m>
                    <m:oMath xmlns:m="http://schemas.openxmlformats.org/officeDocument/2006/math">
                      <m:sSub>
                        <m:sSubPr>
                          <m:ctrlPr>
                            <a:rPr lang="pt-BR" b="0" i="1" smtClean="0">
                              <a:latin typeface="Cambria Math" panose="02040503050406030204" pitchFamily="18" charset="0"/>
                            </a:rPr>
                          </m:ctrlPr>
                        </m:sSubPr>
                        <m:e>
                          <m:r>
                            <a:rPr lang="pt-BR" b="0" i="1" smtClean="0">
                              <a:latin typeface="Cambria Math" panose="02040503050406030204" pitchFamily="18" charset="0"/>
                            </a:rPr>
                            <m:t>𝐽</m:t>
                          </m:r>
                        </m:e>
                        <m:sub>
                          <m:r>
                            <a:rPr lang="pt-BR" b="0" i="1" smtClean="0">
                              <a:latin typeface="Cambria Math" panose="02040503050406030204" pitchFamily="18" charset="0"/>
                            </a:rPr>
                            <m:t>𝑒</m:t>
                          </m:r>
                        </m:sub>
                      </m:sSub>
                      <m:r>
                        <a:rPr lang="pt-BR" b="0" i="1" smtClean="0">
                          <a:latin typeface="Cambria Math" panose="02040503050406030204" pitchFamily="18" charset="0"/>
                        </a:rPr>
                        <m:t>(</m:t>
                      </m:r>
                      <m:r>
                        <a:rPr lang="pt-BR" b="0" i="1" smtClean="0">
                          <a:latin typeface="Cambria Math" panose="02040503050406030204" pitchFamily="18" charset="0"/>
                        </a:rPr>
                        <m:t>𝑎</m:t>
                      </m:r>
                      <m:r>
                        <a:rPr lang="pt-BR" b="0" i="1" smtClean="0">
                          <a:latin typeface="Cambria Math" panose="02040503050406030204" pitchFamily="18" charset="0"/>
                        </a:rPr>
                        <m:t>)</m:t>
                      </m:r>
                    </m:oMath>
                  </a14:m>
                  <a:endParaRPr lang="pt-BR" dirty="0"/>
                </a:p>
              </p:txBody>
            </p:sp>
          </mc:Choice>
          <mc:Fallback xmlns="">
            <p:sp>
              <p:nvSpPr>
                <p:cNvPr id="8" name="CaixaDeTexto 7">
                  <a:extLst>
                    <a:ext uri="{FF2B5EF4-FFF2-40B4-BE49-F238E27FC236}">
                      <a16:creationId xmlns:a16="http://schemas.microsoft.com/office/drawing/2014/main" id="{A78938CD-F777-59C9-49FF-1EC87187C2BF}"/>
                    </a:ext>
                  </a:extLst>
                </p:cNvPr>
                <p:cNvSpPr txBox="1">
                  <a:spLocks noRot="1" noChangeAspect="1" noMove="1" noResize="1" noEditPoints="1" noAdjustHandles="1" noChangeArrowheads="1" noChangeShapeType="1" noTextEdit="1"/>
                </p:cNvSpPr>
                <p:nvPr/>
              </p:nvSpPr>
              <p:spPr>
                <a:xfrm>
                  <a:off x="974017" y="2353695"/>
                  <a:ext cx="2747030" cy="369332"/>
                </a:xfrm>
                <a:prstGeom prst="rect">
                  <a:avLst/>
                </a:prstGeom>
                <a:blipFill>
                  <a:blip r:embed="rId4"/>
                  <a:stretch>
                    <a:fillRect l="-2000" t="-8197" b="-24590"/>
                  </a:stretch>
                </a:blipFill>
              </p:spPr>
              <p:txBody>
                <a:bodyPr/>
                <a:lstStyle/>
                <a:p>
                  <a:r>
                    <a:rPr lang="pt-BR">
                      <a:noFill/>
                    </a:rPr>
                    <a:t> </a:t>
                  </a:r>
                </a:p>
              </p:txBody>
            </p:sp>
          </mc:Fallback>
        </mc:AlternateContent>
        <p:sp>
          <p:nvSpPr>
            <p:cNvPr id="9" name="CaixaDeTexto 8">
              <a:extLst>
                <a:ext uri="{FF2B5EF4-FFF2-40B4-BE49-F238E27FC236}">
                  <a16:creationId xmlns:a16="http://schemas.microsoft.com/office/drawing/2014/main" id="{A1CE1535-321D-E614-D63E-21C0CB455062}"/>
                </a:ext>
              </a:extLst>
            </p:cNvPr>
            <p:cNvSpPr txBox="1"/>
            <p:nvPr/>
          </p:nvSpPr>
          <p:spPr>
            <a:xfrm>
              <a:off x="4300295" y="4923779"/>
              <a:ext cx="636334" cy="369332"/>
            </a:xfrm>
            <a:prstGeom prst="rect">
              <a:avLst/>
            </a:prstGeom>
            <a:noFill/>
          </p:spPr>
          <p:txBody>
            <a:bodyPr wrap="square" rtlCol="0">
              <a:spAutoFit/>
            </a:bodyPr>
            <a:lstStyle/>
            <a:p>
              <a:pPr algn="r"/>
              <a:r>
                <a:rPr lang="pt-BR" dirty="0"/>
                <a:t>Peso</a:t>
              </a:r>
            </a:p>
          </p:txBody>
        </p:sp>
        <p:cxnSp>
          <p:nvCxnSpPr>
            <p:cNvPr id="10" name="Conector reto 9">
              <a:extLst>
                <a:ext uri="{FF2B5EF4-FFF2-40B4-BE49-F238E27FC236}">
                  <a16:creationId xmlns:a16="http://schemas.microsoft.com/office/drawing/2014/main" id="{C04D87AE-293E-34D0-E4BE-09E7635BC7EE}"/>
                </a:ext>
              </a:extLst>
            </p:cNvPr>
            <p:cNvCxnSpPr/>
            <p:nvPr/>
          </p:nvCxnSpPr>
          <p:spPr>
            <a:xfrm>
              <a:off x="976885" y="4744536"/>
              <a:ext cx="1930484" cy="0"/>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1" name="CaixaDeTexto 10">
              <a:extLst>
                <a:ext uri="{FF2B5EF4-FFF2-40B4-BE49-F238E27FC236}">
                  <a16:creationId xmlns:a16="http://schemas.microsoft.com/office/drawing/2014/main" id="{0ED8EC8A-F8D0-F14F-7E38-47715C0AD532}"/>
                </a:ext>
              </a:extLst>
            </p:cNvPr>
            <p:cNvSpPr txBox="1"/>
            <p:nvPr/>
          </p:nvSpPr>
          <p:spPr>
            <a:xfrm>
              <a:off x="2367751" y="4232230"/>
              <a:ext cx="1066949" cy="550146"/>
            </a:xfrm>
            <a:prstGeom prst="rect">
              <a:avLst/>
            </a:prstGeom>
            <a:noFill/>
          </p:spPr>
          <p:txBody>
            <a:bodyPr wrap="square" rtlCol="0">
              <a:spAutoFit/>
            </a:bodyPr>
            <a:lstStyle/>
            <a:p>
              <a:pPr algn="ctr"/>
              <a:r>
                <a:rPr lang="pt-BR" sz="1200" dirty="0"/>
                <a:t>Ponto de mínimo</a:t>
              </a:r>
            </a:p>
          </p:txBody>
        </p:sp>
        <p:cxnSp>
          <p:nvCxnSpPr>
            <p:cNvPr id="12" name="Conector reto 11">
              <a:extLst>
                <a:ext uri="{FF2B5EF4-FFF2-40B4-BE49-F238E27FC236}">
                  <a16:creationId xmlns:a16="http://schemas.microsoft.com/office/drawing/2014/main" id="{37A91F5D-D6CE-87E4-DD6F-6AEA41D6D82D}"/>
                </a:ext>
              </a:extLst>
            </p:cNvPr>
            <p:cNvCxnSpPr>
              <a:cxnSpLocks/>
            </p:cNvCxnSpPr>
            <p:nvPr/>
          </p:nvCxnSpPr>
          <p:spPr>
            <a:xfrm>
              <a:off x="2902477" y="4736969"/>
              <a:ext cx="0" cy="171598"/>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3" name="Elipse 12">
              <a:extLst>
                <a:ext uri="{FF2B5EF4-FFF2-40B4-BE49-F238E27FC236}">
                  <a16:creationId xmlns:a16="http://schemas.microsoft.com/office/drawing/2014/main" id="{34D38410-D059-6D93-1DD2-6F2EF0E92E63}"/>
                </a:ext>
              </a:extLst>
            </p:cNvPr>
            <p:cNvSpPr/>
            <p:nvPr/>
          </p:nvSpPr>
          <p:spPr>
            <a:xfrm>
              <a:off x="2879776" y="4721835"/>
              <a:ext cx="42900" cy="429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Elipse 13">
              <a:extLst>
                <a:ext uri="{FF2B5EF4-FFF2-40B4-BE49-F238E27FC236}">
                  <a16:creationId xmlns:a16="http://schemas.microsoft.com/office/drawing/2014/main" id="{483CF4C1-DDBF-4640-7392-235196C4D89B}"/>
                </a:ext>
              </a:extLst>
            </p:cNvPr>
            <p:cNvSpPr/>
            <p:nvPr/>
          </p:nvSpPr>
          <p:spPr>
            <a:xfrm>
              <a:off x="1273647" y="3163362"/>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15" name="Conector reto 14">
              <a:extLst>
                <a:ext uri="{FF2B5EF4-FFF2-40B4-BE49-F238E27FC236}">
                  <a16:creationId xmlns:a16="http://schemas.microsoft.com/office/drawing/2014/main" id="{D69F7809-96CB-75B0-3DD7-F1D3CFFC0DDA}"/>
                </a:ext>
              </a:extLst>
            </p:cNvPr>
            <p:cNvCxnSpPr/>
            <p:nvPr/>
          </p:nvCxnSpPr>
          <p:spPr>
            <a:xfrm>
              <a:off x="973059" y="3184593"/>
              <a:ext cx="324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7" name="Conector reto 16">
              <a:extLst>
                <a:ext uri="{FF2B5EF4-FFF2-40B4-BE49-F238E27FC236}">
                  <a16:creationId xmlns:a16="http://schemas.microsoft.com/office/drawing/2014/main" id="{51DB7F58-65FD-F0F4-E3F8-1B7A5A7E2DAE}"/>
                </a:ext>
              </a:extLst>
            </p:cNvPr>
            <p:cNvCxnSpPr>
              <a:cxnSpLocks/>
            </p:cNvCxnSpPr>
            <p:nvPr/>
          </p:nvCxnSpPr>
          <p:spPr>
            <a:xfrm>
              <a:off x="1295097" y="3163361"/>
              <a:ext cx="0" cy="1764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1" name="CaixaDeTexto 20">
              <a:extLst>
                <a:ext uri="{FF2B5EF4-FFF2-40B4-BE49-F238E27FC236}">
                  <a16:creationId xmlns:a16="http://schemas.microsoft.com/office/drawing/2014/main" id="{F3051166-FB83-1C01-C24B-836CCA65DF27}"/>
                </a:ext>
              </a:extLst>
            </p:cNvPr>
            <p:cNvSpPr txBox="1"/>
            <p:nvPr/>
          </p:nvSpPr>
          <p:spPr>
            <a:xfrm>
              <a:off x="1158048" y="2978475"/>
              <a:ext cx="1071476" cy="276999"/>
            </a:xfrm>
            <a:prstGeom prst="rect">
              <a:avLst/>
            </a:prstGeom>
            <a:noFill/>
          </p:spPr>
          <p:txBody>
            <a:bodyPr wrap="square" rtlCol="0">
              <a:spAutoFit/>
            </a:bodyPr>
            <a:lstStyle/>
            <a:p>
              <a:pPr algn="ctr"/>
              <a:r>
                <a:rPr lang="pt-BR" sz="1200" dirty="0"/>
                <a:t>Ponto inicial</a:t>
              </a:r>
            </a:p>
          </p:txBody>
        </p:sp>
        <mc:AlternateContent xmlns:mc="http://schemas.openxmlformats.org/markup-compatibility/2006" xmlns:a14="http://schemas.microsoft.com/office/drawing/2010/main">
          <mc:Choice Requires="a14">
            <p:sp>
              <p:nvSpPr>
                <p:cNvPr id="22" name="CaixaDeTexto 21">
                  <a:extLst>
                    <a:ext uri="{FF2B5EF4-FFF2-40B4-BE49-F238E27FC236}">
                      <a16:creationId xmlns:a16="http://schemas.microsoft.com/office/drawing/2014/main" id="{7167E7D4-807F-4A91-D2F9-5B3D43BE5896}"/>
                    </a:ext>
                  </a:extLst>
                </p:cNvPr>
                <p:cNvSpPr txBox="1"/>
                <p:nvPr/>
              </p:nvSpPr>
              <p:spPr>
                <a:xfrm>
                  <a:off x="1074774" y="4868216"/>
                  <a:ext cx="86794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m:rPr>
                                <m:sty m:val="p"/>
                              </m:rPr>
                              <a:rPr lang="pt-BR" sz="1400" b="0" i="0" smtClean="0">
                                <a:latin typeface="Cambria Math" panose="02040503050406030204" pitchFamily="18" charset="0"/>
                              </a:rPr>
                              <m:t>inicial</m:t>
                            </m:r>
                          </m:sub>
                        </m:sSub>
                      </m:oMath>
                    </m:oMathPara>
                  </a14:m>
                  <a:endParaRPr lang="pt-BR" sz="1400" dirty="0"/>
                </a:p>
              </p:txBody>
            </p:sp>
          </mc:Choice>
          <mc:Fallback xmlns="">
            <p:sp>
              <p:nvSpPr>
                <p:cNvPr id="22" name="CaixaDeTexto 21">
                  <a:extLst>
                    <a:ext uri="{FF2B5EF4-FFF2-40B4-BE49-F238E27FC236}">
                      <a16:creationId xmlns:a16="http://schemas.microsoft.com/office/drawing/2014/main" id="{7167E7D4-807F-4A91-D2F9-5B3D43BE5896}"/>
                    </a:ext>
                  </a:extLst>
                </p:cNvPr>
                <p:cNvSpPr txBox="1">
                  <a:spLocks noRot="1" noChangeAspect="1" noMove="1" noResize="1" noEditPoints="1" noAdjustHandles="1" noChangeArrowheads="1" noChangeShapeType="1" noTextEdit="1"/>
                </p:cNvSpPr>
                <p:nvPr/>
              </p:nvSpPr>
              <p:spPr>
                <a:xfrm>
                  <a:off x="1074774" y="4868216"/>
                  <a:ext cx="867941" cy="307777"/>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3" name="CaixaDeTexto 22">
                  <a:extLst>
                    <a:ext uri="{FF2B5EF4-FFF2-40B4-BE49-F238E27FC236}">
                      <a16:creationId xmlns:a16="http://schemas.microsoft.com/office/drawing/2014/main" id="{5563576F-5255-680C-F8CB-10958601F543}"/>
                    </a:ext>
                  </a:extLst>
                </p:cNvPr>
                <p:cNvSpPr txBox="1"/>
                <p:nvPr/>
              </p:nvSpPr>
              <p:spPr>
                <a:xfrm>
                  <a:off x="2671712" y="4867795"/>
                  <a:ext cx="86794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0" smtClean="0">
                                <a:latin typeface="Cambria Math" panose="02040503050406030204" pitchFamily="18" charset="0"/>
                              </a:rPr>
                              <m:t>ó</m:t>
                            </m:r>
                            <m:r>
                              <m:rPr>
                                <m:sty m:val="p"/>
                              </m:rPr>
                              <a:rPr lang="pt-BR" sz="1400" b="0" i="0" smtClean="0">
                                <a:latin typeface="Cambria Math" panose="02040503050406030204" pitchFamily="18" charset="0"/>
                              </a:rPr>
                              <m:t>timo</m:t>
                            </m:r>
                          </m:sub>
                        </m:sSub>
                      </m:oMath>
                    </m:oMathPara>
                  </a14:m>
                  <a:endParaRPr lang="pt-BR" sz="1400" dirty="0"/>
                </a:p>
              </p:txBody>
            </p:sp>
          </mc:Choice>
          <mc:Fallback xmlns="">
            <p:sp>
              <p:nvSpPr>
                <p:cNvPr id="23" name="CaixaDeTexto 22">
                  <a:extLst>
                    <a:ext uri="{FF2B5EF4-FFF2-40B4-BE49-F238E27FC236}">
                      <a16:creationId xmlns:a16="http://schemas.microsoft.com/office/drawing/2014/main" id="{5563576F-5255-680C-F8CB-10958601F543}"/>
                    </a:ext>
                  </a:extLst>
                </p:cNvPr>
                <p:cNvSpPr txBox="1">
                  <a:spLocks noRot="1" noChangeAspect="1" noMove="1" noResize="1" noEditPoints="1" noAdjustHandles="1" noChangeArrowheads="1" noChangeShapeType="1" noTextEdit="1"/>
                </p:cNvSpPr>
                <p:nvPr/>
              </p:nvSpPr>
              <p:spPr>
                <a:xfrm>
                  <a:off x="2671712" y="4867795"/>
                  <a:ext cx="867941" cy="307777"/>
                </a:xfrm>
                <a:prstGeom prst="rect">
                  <a:avLst/>
                </a:prstGeom>
                <a:blipFill>
                  <a:blip r:embed="rId6"/>
                  <a:stretch>
                    <a:fillRect/>
                  </a:stretch>
                </a:blipFill>
              </p:spPr>
              <p:txBody>
                <a:bodyPr/>
                <a:lstStyle/>
                <a:p>
                  <a:r>
                    <a:rPr lang="pt-BR">
                      <a:noFill/>
                    </a:rPr>
                    <a:t> </a:t>
                  </a:r>
                </a:p>
              </p:txBody>
            </p:sp>
          </mc:Fallback>
        </mc:AlternateContent>
        <p:cxnSp>
          <p:nvCxnSpPr>
            <p:cNvPr id="4" name="Conector de Seta Reta 3">
              <a:extLst>
                <a:ext uri="{FF2B5EF4-FFF2-40B4-BE49-F238E27FC236}">
                  <a16:creationId xmlns:a16="http://schemas.microsoft.com/office/drawing/2014/main" id="{AEECACA4-5B42-A865-92BE-067925FB1366}"/>
                </a:ext>
              </a:extLst>
            </p:cNvPr>
            <p:cNvCxnSpPr>
              <a:cxnSpLocks/>
            </p:cNvCxnSpPr>
            <p:nvPr/>
          </p:nvCxnSpPr>
          <p:spPr>
            <a:xfrm>
              <a:off x="1295851" y="3183756"/>
              <a:ext cx="473505" cy="79766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Elipse 18">
              <a:extLst>
                <a:ext uri="{FF2B5EF4-FFF2-40B4-BE49-F238E27FC236}">
                  <a16:creationId xmlns:a16="http://schemas.microsoft.com/office/drawing/2014/main" id="{600EFC4B-E5AE-01A3-BA49-9FAC5F7EB269}"/>
                </a:ext>
              </a:extLst>
            </p:cNvPr>
            <p:cNvSpPr/>
            <p:nvPr/>
          </p:nvSpPr>
          <p:spPr>
            <a:xfrm>
              <a:off x="1901608" y="4038530"/>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1" name="Forma Livre: Forma 40">
              <a:extLst>
                <a:ext uri="{FF2B5EF4-FFF2-40B4-BE49-F238E27FC236}">
                  <a16:creationId xmlns:a16="http://schemas.microsoft.com/office/drawing/2014/main" id="{530E5751-C05C-E237-ADF7-AC5CE485170E}"/>
                </a:ext>
              </a:extLst>
            </p:cNvPr>
            <p:cNvSpPr/>
            <p:nvPr/>
          </p:nvSpPr>
          <p:spPr>
            <a:xfrm>
              <a:off x="1314106" y="3182704"/>
              <a:ext cx="603593" cy="862246"/>
            </a:xfrm>
            <a:custGeom>
              <a:avLst/>
              <a:gdLst>
                <a:gd name="connsiteX0" fmla="*/ 0 w 609600"/>
                <a:gd name="connsiteY0" fmla="*/ 0 h 882650"/>
                <a:gd name="connsiteX1" fmla="*/ 374650 w 609600"/>
                <a:gd name="connsiteY1" fmla="*/ 273050 h 882650"/>
                <a:gd name="connsiteX2" fmla="*/ 609600 w 609600"/>
                <a:gd name="connsiteY2" fmla="*/ 882650 h 882650"/>
              </a:gdLst>
              <a:ahLst/>
              <a:cxnLst>
                <a:cxn ang="0">
                  <a:pos x="connsiteX0" y="connsiteY0"/>
                </a:cxn>
                <a:cxn ang="0">
                  <a:pos x="connsiteX1" y="connsiteY1"/>
                </a:cxn>
                <a:cxn ang="0">
                  <a:pos x="connsiteX2" y="connsiteY2"/>
                </a:cxn>
              </a:cxnLst>
              <a:rect l="l" t="t" r="r" b="b"/>
              <a:pathLst>
                <a:path w="609600" h="882650">
                  <a:moveTo>
                    <a:pt x="0" y="0"/>
                  </a:moveTo>
                  <a:cubicBezTo>
                    <a:pt x="136525" y="62971"/>
                    <a:pt x="273050" y="125942"/>
                    <a:pt x="374650" y="273050"/>
                  </a:cubicBezTo>
                  <a:cubicBezTo>
                    <a:pt x="476250" y="420158"/>
                    <a:pt x="542925" y="651404"/>
                    <a:pt x="609600" y="882650"/>
                  </a:cubicBezTo>
                </a:path>
              </a:pathLst>
            </a:custGeom>
            <a:noFill/>
            <a:ln w="3175">
              <a:solidFill>
                <a:schemeClr val="tx1"/>
              </a:solidFill>
              <a:prstDash val="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2" name="CaixaDeTexto 41">
              <a:extLst>
                <a:ext uri="{FF2B5EF4-FFF2-40B4-BE49-F238E27FC236}">
                  <a16:creationId xmlns:a16="http://schemas.microsoft.com/office/drawing/2014/main" id="{37EAAC62-22C5-6028-EB17-5E7D7A0FA774}"/>
                </a:ext>
              </a:extLst>
            </p:cNvPr>
            <p:cNvSpPr txBox="1"/>
            <p:nvPr/>
          </p:nvSpPr>
          <p:spPr>
            <a:xfrm>
              <a:off x="1897730" y="3887618"/>
              <a:ext cx="1071476" cy="276999"/>
            </a:xfrm>
            <a:prstGeom prst="rect">
              <a:avLst/>
            </a:prstGeom>
            <a:noFill/>
          </p:spPr>
          <p:txBody>
            <a:bodyPr wrap="square" rtlCol="0">
              <a:spAutoFit/>
            </a:bodyPr>
            <a:lstStyle/>
            <a:p>
              <a:r>
                <a:rPr lang="pt-BR" sz="1200" dirty="0"/>
                <a:t>Novo ponto</a:t>
              </a:r>
            </a:p>
          </p:txBody>
        </p:sp>
        <mc:AlternateContent xmlns:mc="http://schemas.openxmlformats.org/markup-compatibility/2006" xmlns:a14="http://schemas.microsoft.com/office/drawing/2010/main">
          <mc:Choice Requires="a14">
            <p:sp>
              <p:nvSpPr>
                <p:cNvPr id="44" name="CaixaDeTexto 43">
                  <a:extLst>
                    <a:ext uri="{FF2B5EF4-FFF2-40B4-BE49-F238E27FC236}">
                      <a16:creationId xmlns:a16="http://schemas.microsoft.com/office/drawing/2014/main" id="{0B96B558-FD3C-575E-D9A1-D3E273AF2DEB}"/>
                    </a:ext>
                  </a:extLst>
                </p:cNvPr>
                <p:cNvSpPr txBox="1"/>
                <p:nvPr/>
              </p:nvSpPr>
              <p:spPr>
                <a:xfrm>
                  <a:off x="1686947" y="3303430"/>
                  <a:ext cx="756505" cy="444032"/>
                </a:xfrm>
                <a:prstGeom prst="rect">
                  <a:avLst/>
                </a:prstGeom>
                <a:noFill/>
              </p:spPr>
              <p:txBody>
                <a:bodyPr wrap="square">
                  <a:spAutoFit/>
                </a:bodyPr>
                <a:lstStyle/>
                <a:p>
                  <a:pPr/>
                  <a14:m>
                    <m:oMathPara xmlns:m="http://schemas.openxmlformats.org/officeDocument/2006/math">
                      <m:oMath>
                        <m:r>
                          <a:rPr lang="pt-BR" sz="1200" i="1" dirty="0" smtClean="0">
                            <a:latin typeface="Cambria Math" panose="02040503050406030204" pitchFamily="18" charset="0"/>
                            <a:ea typeface="Cambria Math" panose="02040503050406030204" pitchFamily="18" charset="0"/>
                          </a:rPr>
                          <m:t>𝛼</m:t>
                        </m:r>
                        <m:f>
                          <m:fPr>
                            <m:ctrlPr>
                              <a:rPr lang="pt-BR" sz="1200" i="1" dirty="0" smtClean="0">
                                <a:latin typeface="Cambria Math" panose="02040503050406030204" pitchFamily="18" charset="0"/>
                              </a:rPr>
                            </m:ctrlPr>
                          </m:fPr>
                          <m:num>
                            <m:r>
                              <a:rPr lang="pt-BR" sz="1200" i="1" dirty="0" smtClean="0">
                                <a:latin typeface="Cambria Math" panose="02040503050406030204" pitchFamily="18" charset="0"/>
                              </a:rPr>
                              <m:t>𝜕</m:t>
                            </m:r>
                            <m:sSub>
                              <m:sSubPr>
                                <m:ctrlPr>
                                  <a:rPr lang="pt-BR" sz="1200" i="1">
                                    <a:latin typeface="Cambria Math" panose="02040503050406030204" pitchFamily="18" charset="0"/>
                                  </a:rPr>
                                </m:ctrlPr>
                              </m:sSubPr>
                              <m:e>
                                <m:r>
                                  <a:rPr lang="pt-BR" sz="1200" i="1">
                                    <a:latin typeface="Cambria Math" panose="02040503050406030204" pitchFamily="18" charset="0"/>
                                  </a:rPr>
                                  <m:t>𝐽</m:t>
                                </m:r>
                              </m:e>
                              <m:sub>
                                <m:r>
                                  <a:rPr lang="pt-BR" sz="1200" i="1">
                                    <a:latin typeface="Cambria Math" panose="02040503050406030204" pitchFamily="18" charset="0"/>
                                  </a:rPr>
                                  <m:t>𝑒</m:t>
                                </m:r>
                              </m:sub>
                            </m:sSub>
                            <m:r>
                              <a:rPr lang="pt-BR" sz="1200" i="1">
                                <a:latin typeface="Cambria Math" panose="02040503050406030204" pitchFamily="18" charset="0"/>
                              </a:rPr>
                              <m:t>(</m:t>
                            </m:r>
                            <m:sSub>
                              <m:sSubPr>
                                <m:ctrlPr>
                                  <a:rPr lang="pt-BR" sz="1200" i="1">
                                    <a:latin typeface="Cambria Math" panose="02040503050406030204" pitchFamily="18" charset="0"/>
                                  </a:rPr>
                                </m:ctrlPr>
                              </m:sSubPr>
                              <m:e>
                                <m:r>
                                  <a:rPr lang="pt-BR" sz="1200" i="1">
                                    <a:latin typeface="Cambria Math" panose="02040503050406030204" pitchFamily="18" charset="0"/>
                                  </a:rPr>
                                  <m:t>𝑎</m:t>
                                </m:r>
                              </m:e>
                              <m:sub>
                                <m:r>
                                  <m:rPr>
                                    <m:sty m:val="p"/>
                                  </m:rPr>
                                  <a:rPr lang="pt-BR" sz="1200">
                                    <a:latin typeface="Cambria Math" panose="02040503050406030204" pitchFamily="18" charset="0"/>
                                  </a:rPr>
                                  <m:t>inicial</m:t>
                                </m:r>
                              </m:sub>
                            </m:sSub>
                            <m:r>
                              <a:rPr lang="pt-BR" sz="1200" i="1">
                                <a:latin typeface="Cambria Math" panose="02040503050406030204" pitchFamily="18" charset="0"/>
                              </a:rPr>
                              <m:t>)</m:t>
                            </m:r>
                          </m:num>
                          <m:den>
                            <m:r>
                              <a:rPr lang="pt-BR" sz="1200" i="1" dirty="0" smtClean="0">
                                <a:latin typeface="Cambria Math" panose="02040503050406030204" pitchFamily="18" charset="0"/>
                              </a:rPr>
                              <m:t>𝜕</m:t>
                            </m:r>
                            <m:r>
                              <a:rPr lang="pt-BR" sz="1200" b="0" i="1" dirty="0" smtClean="0">
                                <a:latin typeface="Cambria Math" panose="02040503050406030204" pitchFamily="18" charset="0"/>
                              </a:rPr>
                              <m:t>𝑎</m:t>
                            </m:r>
                          </m:den>
                        </m:f>
                      </m:oMath>
                    </m:oMathPara>
                  </a14:m>
                  <a:endParaRPr lang="pt-BR" sz="1200" dirty="0"/>
                </a:p>
              </p:txBody>
            </p:sp>
          </mc:Choice>
          <mc:Fallback xmlns="">
            <p:sp>
              <p:nvSpPr>
                <p:cNvPr id="44" name="CaixaDeTexto 43">
                  <a:extLst>
                    <a:ext uri="{FF2B5EF4-FFF2-40B4-BE49-F238E27FC236}">
                      <a16:creationId xmlns:a16="http://schemas.microsoft.com/office/drawing/2014/main" id="{0B96B558-FD3C-575E-D9A1-D3E273AF2DEB}"/>
                    </a:ext>
                  </a:extLst>
                </p:cNvPr>
                <p:cNvSpPr txBox="1">
                  <a:spLocks noRot="1" noChangeAspect="1" noMove="1" noResize="1" noEditPoints="1" noAdjustHandles="1" noChangeArrowheads="1" noChangeShapeType="1" noTextEdit="1"/>
                </p:cNvSpPr>
                <p:nvPr/>
              </p:nvSpPr>
              <p:spPr>
                <a:xfrm>
                  <a:off x="1686947" y="3303430"/>
                  <a:ext cx="756505" cy="444032"/>
                </a:xfrm>
                <a:prstGeom prst="rect">
                  <a:avLst/>
                </a:prstGeom>
                <a:blipFill>
                  <a:blip r:embed="rId7"/>
                  <a:stretch>
                    <a:fillRect r="-37903" b="-1370"/>
                  </a:stretch>
                </a:blipFill>
              </p:spPr>
              <p:txBody>
                <a:bodyPr/>
                <a:lstStyle/>
                <a:p>
                  <a:r>
                    <a:rPr lang="pt-BR">
                      <a:noFill/>
                    </a:rPr>
                    <a:t> </a:t>
                  </a:r>
                </a:p>
              </p:txBody>
            </p:sp>
          </mc:Fallback>
        </mc:AlternateContent>
        <p:cxnSp>
          <p:nvCxnSpPr>
            <p:cNvPr id="45" name="Conector reto 44">
              <a:extLst>
                <a:ext uri="{FF2B5EF4-FFF2-40B4-BE49-F238E27FC236}">
                  <a16:creationId xmlns:a16="http://schemas.microsoft.com/office/drawing/2014/main" id="{2C59751E-36DB-0194-586B-E3ADFD5E2F3E}"/>
                </a:ext>
              </a:extLst>
            </p:cNvPr>
            <p:cNvCxnSpPr>
              <a:cxnSpLocks/>
            </p:cNvCxnSpPr>
            <p:nvPr/>
          </p:nvCxnSpPr>
          <p:spPr>
            <a:xfrm>
              <a:off x="1924842" y="4071908"/>
              <a:ext cx="0" cy="828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6" name="CaixaDeTexto 45">
                  <a:extLst>
                    <a:ext uri="{FF2B5EF4-FFF2-40B4-BE49-F238E27FC236}">
                      <a16:creationId xmlns:a16="http://schemas.microsoft.com/office/drawing/2014/main" id="{ACD660F6-9366-FE86-1D50-0AFB812C300C}"/>
                    </a:ext>
                  </a:extLst>
                </p:cNvPr>
                <p:cNvSpPr txBox="1"/>
                <p:nvPr/>
              </p:nvSpPr>
              <p:spPr>
                <a:xfrm>
                  <a:off x="1703016" y="4879029"/>
                  <a:ext cx="86794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m:rPr>
                                <m:sty m:val="p"/>
                              </m:rPr>
                              <a:rPr lang="pt-BR" sz="1400" b="0" i="0" smtClean="0">
                                <a:latin typeface="Cambria Math" panose="02040503050406030204" pitchFamily="18" charset="0"/>
                              </a:rPr>
                              <m:t>novo</m:t>
                            </m:r>
                          </m:sub>
                        </m:sSub>
                      </m:oMath>
                    </m:oMathPara>
                  </a14:m>
                  <a:endParaRPr lang="pt-BR" sz="1400" dirty="0"/>
                </a:p>
              </p:txBody>
            </p:sp>
          </mc:Choice>
          <mc:Fallback xmlns="">
            <p:sp>
              <p:nvSpPr>
                <p:cNvPr id="46" name="CaixaDeTexto 45">
                  <a:extLst>
                    <a:ext uri="{FF2B5EF4-FFF2-40B4-BE49-F238E27FC236}">
                      <a16:creationId xmlns:a16="http://schemas.microsoft.com/office/drawing/2014/main" id="{ACD660F6-9366-FE86-1D50-0AFB812C300C}"/>
                    </a:ext>
                  </a:extLst>
                </p:cNvPr>
                <p:cNvSpPr txBox="1">
                  <a:spLocks noRot="1" noChangeAspect="1" noMove="1" noResize="1" noEditPoints="1" noAdjustHandles="1" noChangeArrowheads="1" noChangeShapeType="1" noTextEdit="1"/>
                </p:cNvSpPr>
                <p:nvPr/>
              </p:nvSpPr>
              <p:spPr>
                <a:xfrm>
                  <a:off x="1703016" y="4879029"/>
                  <a:ext cx="867941" cy="307777"/>
                </a:xfrm>
                <a:prstGeom prst="rect">
                  <a:avLst/>
                </a:prstGeom>
                <a:blipFill>
                  <a:blip r:embed="rId8"/>
                  <a:stretch>
                    <a:fillRect/>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47" name="CaixaDeTexto 46">
                <a:extLst>
                  <a:ext uri="{FF2B5EF4-FFF2-40B4-BE49-F238E27FC236}">
                    <a16:creationId xmlns:a16="http://schemas.microsoft.com/office/drawing/2014/main" id="{A5146C3E-B0FA-B680-38D2-A628801FD84D}"/>
                  </a:ext>
                </a:extLst>
              </p:cNvPr>
              <p:cNvSpPr txBox="1"/>
              <p:nvPr/>
            </p:nvSpPr>
            <p:spPr>
              <a:xfrm>
                <a:off x="955480" y="5704354"/>
                <a:ext cx="3662982" cy="678584"/>
              </a:xfrm>
              <a:prstGeom prst="rect">
                <a:avLst/>
              </a:prstGeom>
              <a:noFill/>
            </p:spPr>
            <p:txBody>
              <a:bodyPr wrap="square" rtlCol="0">
                <a:spAutoFit/>
              </a:bodyPr>
              <a:lstStyle/>
              <a:p>
                <a:pPr algn="ctr"/>
                <a14:m>
                  <m:oMathPara xmlns:m="http://schemas.openxmlformats.org/officeDocument/2006/math">
                    <m:oMath>
                      <m:sSub>
                        <m:sSubPr>
                          <m:ctrlPr>
                            <a:rPr lang="pt-BR" sz="2000" b="0" i="1" smtClean="0">
                              <a:latin typeface="Cambria Math" panose="02040503050406030204" pitchFamily="18" charset="0"/>
                            </a:rPr>
                          </m:ctrlPr>
                        </m:sSubPr>
                        <m:e>
                          <m:r>
                            <a:rPr lang="pt-BR" sz="2000" b="0" i="1" smtClean="0">
                              <a:latin typeface="Cambria Math" panose="02040503050406030204" pitchFamily="18" charset="0"/>
                            </a:rPr>
                            <m:t>𝑎</m:t>
                          </m:r>
                        </m:e>
                        <m:sub>
                          <m:r>
                            <m:rPr>
                              <m:sty m:val="p"/>
                            </m:rPr>
                            <a:rPr lang="pt-BR" sz="2000" b="0" i="0" smtClean="0">
                              <a:latin typeface="Cambria Math" panose="02040503050406030204" pitchFamily="18" charset="0"/>
                            </a:rPr>
                            <m:t>novo</m:t>
                          </m:r>
                        </m:sub>
                      </m:sSub>
                      <m:r>
                        <a:rPr lang="pt-BR" sz="2000" b="0" i="0" smtClean="0">
                          <a:latin typeface="Cambria Math" panose="02040503050406030204" pitchFamily="18" charset="0"/>
                        </a:rPr>
                        <m:t>=</m:t>
                      </m:r>
                      <m:sSub>
                        <m:sSubPr>
                          <m:ctrlPr>
                            <a:rPr lang="pt-BR" sz="2000" i="1">
                              <a:latin typeface="Cambria Math" panose="02040503050406030204" pitchFamily="18" charset="0"/>
                            </a:rPr>
                          </m:ctrlPr>
                        </m:sSubPr>
                        <m:e>
                          <m:r>
                            <a:rPr lang="pt-BR" sz="2000" i="1">
                              <a:latin typeface="Cambria Math" panose="02040503050406030204" pitchFamily="18" charset="0"/>
                            </a:rPr>
                            <m:t>𝑎</m:t>
                          </m:r>
                        </m:e>
                        <m:sub>
                          <m:r>
                            <m:rPr>
                              <m:sty m:val="p"/>
                            </m:rPr>
                            <a:rPr lang="pt-BR" sz="2000">
                              <a:latin typeface="Cambria Math" panose="02040503050406030204" pitchFamily="18" charset="0"/>
                            </a:rPr>
                            <m:t>inicial</m:t>
                          </m:r>
                        </m:sub>
                      </m:sSub>
                      <m:r>
                        <a:rPr lang="pt-BR" sz="2000" b="0" i="0" smtClean="0">
                          <a:latin typeface="Cambria Math" panose="02040503050406030204" pitchFamily="18" charset="0"/>
                        </a:rPr>
                        <m:t>−</m:t>
                      </m:r>
                      <m:r>
                        <a:rPr lang="pt-BR" sz="2000" i="1" dirty="0">
                          <a:latin typeface="Cambria Math" panose="02040503050406030204" pitchFamily="18" charset="0"/>
                          <a:ea typeface="Cambria Math" panose="02040503050406030204" pitchFamily="18" charset="0"/>
                        </a:rPr>
                        <m:t>𝛼</m:t>
                      </m:r>
                      <m:f>
                        <m:fPr>
                          <m:ctrlPr>
                            <a:rPr lang="pt-BR" sz="2000" i="1" dirty="0">
                              <a:latin typeface="Cambria Math" panose="02040503050406030204" pitchFamily="18" charset="0"/>
                            </a:rPr>
                          </m:ctrlPr>
                        </m:fPr>
                        <m:num>
                          <m:r>
                            <a:rPr lang="pt-BR" sz="2000" i="1" dirty="0">
                              <a:latin typeface="Cambria Math" panose="02040503050406030204" pitchFamily="18" charset="0"/>
                            </a:rPr>
                            <m:t>𝜕</m:t>
                          </m:r>
                          <m:sSub>
                            <m:sSubPr>
                              <m:ctrlPr>
                                <a:rPr lang="pt-BR" sz="2000" i="1">
                                  <a:latin typeface="Cambria Math" panose="02040503050406030204" pitchFamily="18" charset="0"/>
                                </a:rPr>
                              </m:ctrlPr>
                            </m:sSubPr>
                            <m:e>
                              <m:r>
                                <a:rPr lang="pt-BR" sz="2000" i="1">
                                  <a:latin typeface="Cambria Math" panose="02040503050406030204" pitchFamily="18" charset="0"/>
                                </a:rPr>
                                <m:t>𝐽</m:t>
                              </m:r>
                            </m:e>
                            <m:sub>
                              <m:r>
                                <a:rPr lang="pt-BR" sz="2000" i="1">
                                  <a:latin typeface="Cambria Math" panose="02040503050406030204" pitchFamily="18" charset="0"/>
                                </a:rPr>
                                <m:t>𝑒</m:t>
                              </m:r>
                            </m:sub>
                          </m:sSub>
                          <m:r>
                            <a:rPr lang="pt-BR" sz="2000" i="1">
                              <a:latin typeface="Cambria Math" panose="02040503050406030204" pitchFamily="18" charset="0"/>
                            </a:rPr>
                            <m:t>(</m:t>
                          </m:r>
                          <m:sSub>
                            <m:sSubPr>
                              <m:ctrlPr>
                                <a:rPr lang="pt-BR" sz="2000" i="1">
                                  <a:latin typeface="Cambria Math" panose="02040503050406030204" pitchFamily="18" charset="0"/>
                                </a:rPr>
                              </m:ctrlPr>
                            </m:sSubPr>
                            <m:e>
                              <m:r>
                                <a:rPr lang="pt-BR" sz="2000" i="1">
                                  <a:latin typeface="Cambria Math" panose="02040503050406030204" pitchFamily="18" charset="0"/>
                                </a:rPr>
                                <m:t>𝑎</m:t>
                              </m:r>
                            </m:e>
                            <m:sub>
                              <m:r>
                                <m:rPr>
                                  <m:sty m:val="p"/>
                                </m:rPr>
                                <a:rPr lang="pt-BR" sz="2000">
                                  <a:latin typeface="Cambria Math" panose="02040503050406030204" pitchFamily="18" charset="0"/>
                                </a:rPr>
                                <m:t>inicial</m:t>
                              </m:r>
                            </m:sub>
                          </m:sSub>
                          <m:r>
                            <a:rPr lang="pt-BR" sz="2000" i="1">
                              <a:latin typeface="Cambria Math" panose="02040503050406030204" pitchFamily="18" charset="0"/>
                            </a:rPr>
                            <m:t>)</m:t>
                          </m:r>
                        </m:num>
                        <m:den>
                          <m:r>
                            <a:rPr lang="pt-BR" sz="2000" i="1" dirty="0">
                              <a:latin typeface="Cambria Math" panose="02040503050406030204" pitchFamily="18" charset="0"/>
                            </a:rPr>
                            <m:t>𝜕</m:t>
                          </m:r>
                          <m:r>
                            <a:rPr lang="pt-BR" sz="2000" i="1" dirty="0">
                              <a:latin typeface="Cambria Math" panose="02040503050406030204" pitchFamily="18" charset="0"/>
                            </a:rPr>
                            <m:t>𝑎</m:t>
                          </m:r>
                        </m:den>
                      </m:f>
                    </m:oMath>
                  </m:oMathPara>
                </a14:m>
                <a:endParaRPr lang="pt-BR" sz="2000" dirty="0"/>
              </a:p>
            </p:txBody>
          </p:sp>
        </mc:Choice>
        <mc:Fallback xmlns="">
          <p:sp>
            <p:nvSpPr>
              <p:cNvPr id="47" name="CaixaDeTexto 46">
                <a:extLst>
                  <a:ext uri="{FF2B5EF4-FFF2-40B4-BE49-F238E27FC236}">
                    <a16:creationId xmlns:a16="http://schemas.microsoft.com/office/drawing/2014/main" id="{A5146C3E-B0FA-B680-38D2-A628801FD84D}"/>
                  </a:ext>
                </a:extLst>
              </p:cNvPr>
              <p:cNvSpPr txBox="1">
                <a:spLocks noRot="1" noChangeAspect="1" noMove="1" noResize="1" noEditPoints="1" noAdjustHandles="1" noChangeArrowheads="1" noChangeShapeType="1" noTextEdit="1"/>
              </p:cNvSpPr>
              <p:nvPr/>
            </p:nvSpPr>
            <p:spPr>
              <a:xfrm>
                <a:off x="955480" y="5704354"/>
                <a:ext cx="3662982" cy="678584"/>
              </a:xfrm>
              <a:prstGeom prst="rect">
                <a:avLst/>
              </a:prstGeom>
              <a:blipFill>
                <a:blip r:embed="rId9"/>
                <a:stretch>
                  <a:fillRect/>
                </a:stretch>
              </a:blipFill>
            </p:spPr>
            <p:txBody>
              <a:bodyPr/>
              <a:lstStyle/>
              <a:p>
                <a:r>
                  <a:rPr lang="pt-BR">
                    <a:noFill/>
                  </a:rPr>
                  <a:t> </a:t>
                </a:r>
              </a:p>
            </p:txBody>
          </p:sp>
        </mc:Fallback>
      </mc:AlternateContent>
      <p:sp>
        <p:nvSpPr>
          <p:cNvPr id="48" name="CaixaDeTexto 47">
            <a:extLst>
              <a:ext uri="{FF2B5EF4-FFF2-40B4-BE49-F238E27FC236}">
                <a16:creationId xmlns:a16="http://schemas.microsoft.com/office/drawing/2014/main" id="{01C22BBB-35EB-E308-FDB7-BCA9B063B091}"/>
              </a:ext>
            </a:extLst>
          </p:cNvPr>
          <p:cNvSpPr txBox="1"/>
          <p:nvPr/>
        </p:nvSpPr>
        <p:spPr>
          <a:xfrm>
            <a:off x="2851197" y="6545877"/>
            <a:ext cx="2898196" cy="276999"/>
          </a:xfrm>
          <a:prstGeom prst="rect">
            <a:avLst/>
          </a:prstGeom>
          <a:noFill/>
        </p:spPr>
        <p:txBody>
          <a:bodyPr wrap="square" rtlCol="0">
            <a:spAutoFit/>
          </a:bodyPr>
          <a:lstStyle/>
          <a:p>
            <a:r>
              <a:rPr lang="pt-BR" sz="1200" dirty="0"/>
              <a:t>sentido aposto ao apontado pelo gradiente</a:t>
            </a:r>
          </a:p>
        </p:txBody>
      </p:sp>
      <p:cxnSp>
        <p:nvCxnSpPr>
          <p:cNvPr id="50" name="Conector de Seta Reta 49">
            <a:extLst>
              <a:ext uri="{FF2B5EF4-FFF2-40B4-BE49-F238E27FC236}">
                <a16:creationId xmlns:a16="http://schemas.microsoft.com/office/drawing/2014/main" id="{A6DFF2D4-9482-CE1A-10F2-E2E0D4FD3158}"/>
              </a:ext>
            </a:extLst>
          </p:cNvPr>
          <p:cNvCxnSpPr>
            <a:cxnSpLocks/>
          </p:cNvCxnSpPr>
          <p:nvPr/>
        </p:nvCxnSpPr>
        <p:spPr>
          <a:xfrm>
            <a:off x="2879776" y="6168939"/>
            <a:ext cx="89430" cy="34501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CaixaDeTexto 4">
            <a:extLst>
              <a:ext uri="{FF2B5EF4-FFF2-40B4-BE49-F238E27FC236}">
                <a16:creationId xmlns:a16="http://schemas.microsoft.com/office/drawing/2014/main" id="{81A2BF92-A8D9-4E65-BDD9-68638C6DCB76}"/>
              </a:ext>
            </a:extLst>
          </p:cNvPr>
          <p:cNvSpPr txBox="1"/>
          <p:nvPr/>
        </p:nvSpPr>
        <p:spPr>
          <a:xfrm>
            <a:off x="2729921" y="5288988"/>
            <a:ext cx="1790707" cy="276999"/>
          </a:xfrm>
          <a:prstGeom prst="rect">
            <a:avLst/>
          </a:prstGeom>
          <a:noFill/>
        </p:spPr>
        <p:txBody>
          <a:bodyPr wrap="square" rtlCol="0">
            <a:spAutoFit/>
          </a:bodyPr>
          <a:lstStyle/>
          <a:p>
            <a:pPr algn="ctr"/>
            <a:r>
              <a:rPr lang="pt-BR" sz="1200" dirty="0"/>
              <a:t>Termo de atualização</a:t>
            </a:r>
          </a:p>
        </p:txBody>
      </p:sp>
      <p:sp>
        <p:nvSpPr>
          <p:cNvPr id="26" name="Chave Direita 25">
            <a:extLst>
              <a:ext uri="{FF2B5EF4-FFF2-40B4-BE49-F238E27FC236}">
                <a16:creationId xmlns:a16="http://schemas.microsoft.com/office/drawing/2014/main" id="{8F5A814E-78F2-FFB2-52B9-94E958523F58}"/>
              </a:ext>
            </a:extLst>
          </p:cNvPr>
          <p:cNvSpPr/>
          <p:nvPr/>
        </p:nvSpPr>
        <p:spPr>
          <a:xfrm rot="16200000">
            <a:off x="3501985" y="4768070"/>
            <a:ext cx="246580" cy="179070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Tree>
    <p:extLst>
      <p:ext uri="{BB962C8B-B14F-4D97-AF65-F5344CB8AC3E}">
        <p14:creationId xmlns:p14="http://schemas.microsoft.com/office/powerpoint/2010/main" val="25788400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55B36-34CE-4878-83B4-42D1324C236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8DC80DC-35D1-9045-6686-A446DEAFC710}"/>
              </a:ext>
            </a:extLst>
          </p:cNvPr>
          <p:cNvSpPr>
            <a:spLocks noGrp="1"/>
          </p:cNvSpPr>
          <p:nvPr>
            <p:ph type="title"/>
          </p:nvPr>
        </p:nvSpPr>
        <p:spPr/>
        <p:txBody>
          <a:bodyPr/>
          <a:lstStyle/>
          <a:p>
            <a:r>
              <a:rPr lang="pt-BR" dirty="0"/>
              <a:t>Passo de aprendizagem</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802007BE-0A55-45A9-97D1-1F1399046C83}"/>
                  </a:ext>
                </a:extLst>
              </p:cNvPr>
              <p:cNvSpPr>
                <a:spLocks noGrp="1"/>
              </p:cNvSpPr>
              <p:nvPr>
                <p:ph idx="1"/>
              </p:nvPr>
            </p:nvSpPr>
            <p:spPr>
              <a:xfrm>
                <a:off x="5897233" y="1825624"/>
                <a:ext cx="6205337" cy="5032376"/>
              </a:xfrm>
            </p:spPr>
            <p:txBody>
              <a:bodyPr>
                <a:normAutofit/>
              </a:bodyPr>
              <a:lstStyle/>
              <a:p>
                <a:r>
                  <a:rPr lang="pt-BR" dirty="0"/>
                  <a:t>Se o peso atual está à direita do mínimo, o </a:t>
                </a:r>
                <a:r>
                  <a:rPr lang="pt-BR" b="1" dirty="0">
                    <a:solidFill>
                      <a:srgbClr val="7030A0"/>
                    </a:solidFill>
                  </a:rPr>
                  <a:t>termo de atualização</a:t>
                </a:r>
                <a:r>
                  <a:rPr lang="pt-BR" dirty="0"/>
                  <a:t> faz com que o </a:t>
                </a:r>
                <a:r>
                  <a:rPr lang="pt-BR" b="1" dirty="0">
                    <a:solidFill>
                      <a:schemeClr val="accent2"/>
                    </a:solidFill>
                  </a:rPr>
                  <a:t>novo valor do peso seja menor</a:t>
                </a:r>
                <a:r>
                  <a:rPr lang="pt-BR" dirty="0"/>
                  <a:t> do que o anterior.</a:t>
                </a:r>
              </a:p>
              <a:p>
                <a:pPr lvl="1">
                  <a:buFont typeface="Wingdings" panose="05000000000000000000" pitchFamily="2" charset="2"/>
                  <a:buChar char="§"/>
                </a:pPr>
                <a:r>
                  <a:rPr lang="pt-BR" dirty="0"/>
                  <a:t>À direita do mínimo, </a:t>
                </a:r>
                <a14:m>
                  <m:oMath xmlns:m="http://schemas.openxmlformats.org/officeDocument/2006/math">
                    <m:f>
                      <m:fPr>
                        <m:ctrlPr>
                          <a:rPr lang="pt-BR" i="1" dirty="0">
                            <a:latin typeface="Cambria Math" panose="02040503050406030204" pitchFamily="18" charset="0"/>
                          </a:rPr>
                        </m:ctrlPr>
                      </m:fPr>
                      <m:num>
                        <m:r>
                          <a:rPr lang="pt-BR" i="1" dirty="0">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𝑎</m:t>
                            </m:r>
                          </m:e>
                          <m:sub>
                            <m:r>
                              <m:rPr>
                                <m:sty m:val="p"/>
                              </m:rPr>
                              <a:rPr lang="pt-BR">
                                <a:latin typeface="Cambria Math" panose="02040503050406030204" pitchFamily="18" charset="0"/>
                              </a:rPr>
                              <m:t>inicial</m:t>
                            </m:r>
                          </m:sub>
                        </m:sSub>
                        <m:r>
                          <a:rPr lang="pt-BR" i="1">
                            <a:latin typeface="Cambria Math" panose="02040503050406030204" pitchFamily="18" charset="0"/>
                          </a:rPr>
                          <m:t>)</m:t>
                        </m:r>
                      </m:num>
                      <m:den>
                        <m:r>
                          <a:rPr lang="pt-BR" i="1" dirty="0">
                            <a:latin typeface="Cambria Math" panose="02040503050406030204" pitchFamily="18" charset="0"/>
                          </a:rPr>
                          <m:t>𝜕</m:t>
                        </m:r>
                        <m:r>
                          <a:rPr lang="pt-BR" i="1" dirty="0">
                            <a:latin typeface="Cambria Math" panose="02040503050406030204" pitchFamily="18" charset="0"/>
                          </a:rPr>
                          <m:t>𝑎</m:t>
                        </m:r>
                      </m:den>
                    </m:f>
                  </m:oMath>
                </a14:m>
                <a:r>
                  <a:rPr lang="pt-BR" dirty="0"/>
                  <a:t> terá sinal positivo,</a:t>
                </a:r>
              </a:p>
              <a:p>
                <a:pPr lvl="1">
                  <a:buFont typeface="Wingdings" panose="05000000000000000000" pitchFamily="2" charset="2"/>
                  <a:buChar char="§"/>
                </a:pPr>
                <a:r>
                  <a:rPr lang="pt-BR" dirty="0"/>
                  <a:t>Que quando multiplicado por </a:t>
                </a:r>
                <a14:m>
                  <m:oMath xmlns:m="http://schemas.openxmlformats.org/officeDocument/2006/math">
                    <m:r>
                      <a:rPr lang="pt-BR">
                        <a:latin typeface="Cambria Math" panose="02040503050406030204" pitchFamily="18" charset="0"/>
                      </a:rPr>
                      <m:t>−</m:t>
                    </m:r>
                    <m:r>
                      <a:rPr lang="pt-BR" i="1" dirty="0">
                        <a:latin typeface="Cambria Math" panose="02040503050406030204" pitchFamily="18" charset="0"/>
                        <a:ea typeface="Cambria Math" panose="02040503050406030204" pitchFamily="18" charset="0"/>
                      </a:rPr>
                      <m:t>𝛼</m:t>
                    </m:r>
                  </m:oMath>
                </a14:m>
                <a:r>
                  <a:rPr lang="pt-BR" dirty="0"/>
                  <a:t>, fará com que o termo de atualização se torne negativo.</a:t>
                </a:r>
              </a:p>
              <a:p>
                <a:pPr lvl="1">
                  <a:buFont typeface="Wingdings" panose="05000000000000000000" pitchFamily="2" charset="2"/>
                  <a:buChar char="§"/>
                </a:pPr>
                <a:r>
                  <a:rPr lang="pt-BR" dirty="0"/>
                  <a:t>Que faz com que </a:t>
                </a:r>
                <a14:m>
                  <m:oMath xmlns:m="http://schemas.openxmlformats.org/officeDocument/2006/math">
                    <m:r>
                      <a:rPr lang="pt-BR" i="1" dirty="0">
                        <a:latin typeface="Cambria Math" panose="02040503050406030204" pitchFamily="18" charset="0"/>
                        <a:ea typeface="Cambria Math" panose="02040503050406030204" pitchFamily="18" charset="0"/>
                      </a:rPr>
                      <m:t>𝛼</m:t>
                    </m:r>
                    <m:f>
                      <m:fPr>
                        <m:ctrlPr>
                          <a:rPr lang="pt-BR" i="1" dirty="0">
                            <a:latin typeface="Cambria Math" panose="02040503050406030204" pitchFamily="18" charset="0"/>
                          </a:rPr>
                        </m:ctrlPr>
                      </m:fPr>
                      <m:num>
                        <m:r>
                          <a:rPr lang="pt-BR" i="1" dirty="0">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𝑎</m:t>
                            </m:r>
                          </m:e>
                          <m:sub>
                            <m:r>
                              <m:rPr>
                                <m:sty m:val="p"/>
                              </m:rPr>
                              <a:rPr lang="pt-BR">
                                <a:latin typeface="Cambria Math" panose="02040503050406030204" pitchFamily="18" charset="0"/>
                              </a:rPr>
                              <m:t>inicial</m:t>
                            </m:r>
                          </m:sub>
                        </m:sSub>
                        <m:r>
                          <a:rPr lang="pt-BR" i="1">
                            <a:latin typeface="Cambria Math" panose="02040503050406030204" pitchFamily="18" charset="0"/>
                          </a:rPr>
                          <m:t>)</m:t>
                        </m:r>
                      </m:num>
                      <m:den>
                        <m:r>
                          <a:rPr lang="pt-BR" i="1" dirty="0">
                            <a:latin typeface="Cambria Math" panose="02040503050406030204" pitchFamily="18" charset="0"/>
                          </a:rPr>
                          <m:t>𝜕</m:t>
                        </m:r>
                        <m:r>
                          <a:rPr lang="pt-BR" i="1" dirty="0">
                            <a:latin typeface="Cambria Math" panose="02040503050406030204" pitchFamily="18" charset="0"/>
                          </a:rPr>
                          <m:t>𝑎</m:t>
                        </m:r>
                      </m:den>
                    </m:f>
                  </m:oMath>
                </a14:m>
                <a:r>
                  <a:rPr lang="pt-BR" dirty="0"/>
                  <a:t> seja </a:t>
                </a:r>
                <a:r>
                  <a:rPr lang="pt-BR" b="1" dirty="0">
                    <a:solidFill>
                      <a:srgbClr val="00B050"/>
                    </a:solidFill>
                  </a:rPr>
                  <a:t>subtraído</a:t>
                </a:r>
                <a:r>
                  <a:rPr lang="pt-BR" dirty="0"/>
                  <a:t> de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𝑎</m:t>
                        </m:r>
                      </m:e>
                      <m:sub>
                        <m:r>
                          <m:rPr>
                            <m:sty m:val="p"/>
                          </m:rPr>
                          <a:rPr lang="pt-BR">
                            <a:latin typeface="Cambria Math" panose="02040503050406030204" pitchFamily="18" charset="0"/>
                          </a:rPr>
                          <m:t>inicial</m:t>
                        </m:r>
                      </m:sub>
                    </m:sSub>
                  </m:oMath>
                </a14:m>
                <a:r>
                  <a:rPr lang="pt-BR" dirty="0"/>
                  <a:t>.</a:t>
                </a:r>
              </a:p>
              <a:p>
                <a:endParaRPr lang="pt-BR" dirty="0"/>
              </a:p>
            </p:txBody>
          </p:sp>
        </mc:Choice>
        <mc:Fallback xmlns="">
          <p:sp>
            <p:nvSpPr>
              <p:cNvPr id="3" name="Espaço Reservado para Conteúdo 2">
                <a:extLst>
                  <a:ext uri="{FF2B5EF4-FFF2-40B4-BE49-F238E27FC236}">
                    <a16:creationId xmlns:a16="http://schemas.microsoft.com/office/drawing/2014/main" id="{802007BE-0A55-45A9-97D1-1F1399046C83}"/>
                  </a:ext>
                </a:extLst>
              </p:cNvPr>
              <p:cNvSpPr>
                <a:spLocks noGrp="1" noRot="1" noChangeAspect="1" noMove="1" noResize="1" noEditPoints="1" noAdjustHandles="1" noChangeArrowheads="1" noChangeShapeType="1" noTextEdit="1"/>
              </p:cNvSpPr>
              <p:nvPr>
                <p:ph idx="1"/>
              </p:nvPr>
            </p:nvSpPr>
            <p:spPr>
              <a:xfrm>
                <a:off x="5897233" y="1825624"/>
                <a:ext cx="6205337" cy="5032376"/>
              </a:xfrm>
              <a:blipFill>
                <a:blip r:embed="rId3"/>
                <a:stretch>
                  <a:fillRect l="-1768" t="-1937"/>
                </a:stretch>
              </a:blipFill>
            </p:spPr>
            <p:txBody>
              <a:bodyPr/>
              <a:lstStyle/>
              <a:p>
                <a:r>
                  <a:rPr lang="en-US">
                    <a:noFill/>
                  </a:rPr>
                  <a:t> </a:t>
                </a:r>
              </a:p>
            </p:txBody>
          </p:sp>
        </mc:Fallback>
      </mc:AlternateContent>
      <p:sp>
        <p:nvSpPr>
          <p:cNvPr id="24" name="Forma Livre: Forma 23">
            <a:extLst>
              <a:ext uri="{FF2B5EF4-FFF2-40B4-BE49-F238E27FC236}">
                <a16:creationId xmlns:a16="http://schemas.microsoft.com/office/drawing/2014/main" id="{95AD1E5E-4D52-4805-C53B-35E995960688}"/>
              </a:ext>
            </a:extLst>
          </p:cNvPr>
          <p:cNvSpPr/>
          <p:nvPr/>
        </p:nvSpPr>
        <p:spPr>
          <a:xfrm>
            <a:off x="1190625" y="2692903"/>
            <a:ext cx="3429000" cy="1752634"/>
          </a:xfrm>
          <a:custGeom>
            <a:avLst/>
            <a:gdLst>
              <a:gd name="connsiteX0" fmla="*/ 0 w 3429000"/>
              <a:gd name="connsiteY0" fmla="*/ 38100 h 1752634"/>
              <a:gd name="connsiteX1" fmla="*/ 1714500 w 3429000"/>
              <a:gd name="connsiteY1" fmla="*/ 1752600 h 1752634"/>
              <a:gd name="connsiteX2" fmla="*/ 3429000 w 3429000"/>
              <a:gd name="connsiteY2" fmla="*/ 0 h 1752634"/>
            </a:gdLst>
            <a:ahLst/>
            <a:cxnLst>
              <a:cxn ang="0">
                <a:pos x="connsiteX0" y="connsiteY0"/>
              </a:cxn>
              <a:cxn ang="0">
                <a:pos x="connsiteX1" y="connsiteY1"/>
              </a:cxn>
              <a:cxn ang="0">
                <a:pos x="connsiteX2" y="connsiteY2"/>
              </a:cxn>
            </a:cxnLst>
            <a:rect l="l" t="t" r="r" b="b"/>
            <a:pathLst>
              <a:path w="3429000" h="1752634">
                <a:moveTo>
                  <a:pt x="0" y="38100"/>
                </a:moveTo>
                <a:cubicBezTo>
                  <a:pt x="571500" y="898525"/>
                  <a:pt x="1143000" y="1758950"/>
                  <a:pt x="1714500" y="1752600"/>
                </a:cubicBezTo>
                <a:cubicBezTo>
                  <a:pt x="2286000" y="1746250"/>
                  <a:pt x="3119438" y="314325"/>
                  <a:pt x="3429000"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6" name="Conector de Seta Reta 5">
            <a:extLst>
              <a:ext uri="{FF2B5EF4-FFF2-40B4-BE49-F238E27FC236}">
                <a16:creationId xmlns:a16="http://schemas.microsoft.com/office/drawing/2014/main" id="{E62A43FE-99D1-E4A5-BCAA-CF0A08BB8A4B}"/>
              </a:ext>
            </a:extLst>
          </p:cNvPr>
          <p:cNvCxnSpPr>
            <a:cxnSpLocks/>
          </p:cNvCxnSpPr>
          <p:nvPr/>
        </p:nvCxnSpPr>
        <p:spPr>
          <a:xfrm>
            <a:off x="974017" y="4618225"/>
            <a:ext cx="386096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Conector de Seta Reta 6">
            <a:extLst>
              <a:ext uri="{FF2B5EF4-FFF2-40B4-BE49-F238E27FC236}">
                <a16:creationId xmlns:a16="http://schemas.microsoft.com/office/drawing/2014/main" id="{54C9D9B1-14A6-AB3C-5EDD-20A8FCC9B42E}"/>
              </a:ext>
            </a:extLst>
          </p:cNvPr>
          <p:cNvCxnSpPr>
            <a:cxnSpLocks/>
          </p:cNvCxnSpPr>
          <p:nvPr/>
        </p:nvCxnSpPr>
        <p:spPr>
          <a:xfrm flipV="1">
            <a:off x="974018" y="2144361"/>
            <a:ext cx="0" cy="247386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CaixaDeTexto 7">
                <a:extLst>
                  <a:ext uri="{FF2B5EF4-FFF2-40B4-BE49-F238E27FC236}">
                    <a16:creationId xmlns:a16="http://schemas.microsoft.com/office/drawing/2014/main" id="{C9810D7C-618F-42D7-D15F-E07BF0143A5D}"/>
                  </a:ext>
                </a:extLst>
              </p:cNvPr>
              <p:cNvSpPr txBox="1"/>
              <p:nvPr/>
            </p:nvSpPr>
            <p:spPr>
              <a:xfrm>
                <a:off x="974017" y="2055748"/>
                <a:ext cx="2747030" cy="369332"/>
              </a:xfrm>
              <a:prstGeom prst="rect">
                <a:avLst/>
              </a:prstGeom>
              <a:noFill/>
            </p:spPr>
            <p:txBody>
              <a:bodyPr wrap="square" rtlCol="0">
                <a:spAutoFit/>
              </a:bodyPr>
              <a:lstStyle/>
              <a:p>
                <a:r>
                  <a:rPr lang="pt-BR" dirty="0"/>
                  <a:t>Função de erro, </a:t>
                </a:r>
                <a14:m>
                  <m:oMath xmlns:m="http://schemas.openxmlformats.org/officeDocument/2006/math">
                    <m:sSub>
                      <m:sSubPr>
                        <m:ctrlPr>
                          <a:rPr lang="pt-BR" b="0" i="1" smtClean="0">
                            <a:latin typeface="Cambria Math" panose="02040503050406030204" pitchFamily="18" charset="0"/>
                          </a:rPr>
                        </m:ctrlPr>
                      </m:sSubPr>
                      <m:e>
                        <m:r>
                          <a:rPr lang="pt-BR" b="0" i="1" smtClean="0">
                            <a:latin typeface="Cambria Math" panose="02040503050406030204" pitchFamily="18" charset="0"/>
                          </a:rPr>
                          <m:t>𝐽</m:t>
                        </m:r>
                      </m:e>
                      <m:sub>
                        <m:r>
                          <a:rPr lang="pt-BR" b="0" i="1" smtClean="0">
                            <a:latin typeface="Cambria Math" panose="02040503050406030204" pitchFamily="18" charset="0"/>
                          </a:rPr>
                          <m:t>𝑒</m:t>
                        </m:r>
                      </m:sub>
                    </m:sSub>
                    <m:r>
                      <a:rPr lang="pt-BR" b="0" i="1" smtClean="0">
                        <a:latin typeface="Cambria Math" panose="02040503050406030204" pitchFamily="18" charset="0"/>
                      </a:rPr>
                      <m:t>(</m:t>
                    </m:r>
                    <m:r>
                      <a:rPr lang="pt-BR" b="0" i="1" smtClean="0">
                        <a:latin typeface="Cambria Math" panose="02040503050406030204" pitchFamily="18" charset="0"/>
                      </a:rPr>
                      <m:t>𝑎</m:t>
                    </m:r>
                    <m:r>
                      <a:rPr lang="pt-BR" b="0" i="1" smtClean="0">
                        <a:latin typeface="Cambria Math" panose="02040503050406030204" pitchFamily="18" charset="0"/>
                      </a:rPr>
                      <m:t>)</m:t>
                    </m:r>
                  </m:oMath>
                </a14:m>
                <a:endParaRPr lang="pt-BR" dirty="0"/>
              </a:p>
            </p:txBody>
          </p:sp>
        </mc:Choice>
        <mc:Fallback xmlns="">
          <p:sp>
            <p:nvSpPr>
              <p:cNvPr id="8" name="CaixaDeTexto 7">
                <a:extLst>
                  <a:ext uri="{FF2B5EF4-FFF2-40B4-BE49-F238E27FC236}">
                    <a16:creationId xmlns:a16="http://schemas.microsoft.com/office/drawing/2014/main" id="{C9810D7C-618F-42D7-D15F-E07BF0143A5D}"/>
                  </a:ext>
                </a:extLst>
              </p:cNvPr>
              <p:cNvSpPr txBox="1">
                <a:spLocks noRot="1" noChangeAspect="1" noMove="1" noResize="1" noEditPoints="1" noAdjustHandles="1" noChangeArrowheads="1" noChangeShapeType="1" noTextEdit="1"/>
              </p:cNvSpPr>
              <p:nvPr/>
            </p:nvSpPr>
            <p:spPr>
              <a:xfrm>
                <a:off x="974017" y="2055748"/>
                <a:ext cx="2747030" cy="369332"/>
              </a:xfrm>
              <a:prstGeom prst="rect">
                <a:avLst/>
              </a:prstGeom>
              <a:blipFill>
                <a:blip r:embed="rId4"/>
                <a:stretch>
                  <a:fillRect l="-2000" t="-8197" b="-24590"/>
                </a:stretch>
              </a:blipFill>
            </p:spPr>
            <p:txBody>
              <a:bodyPr/>
              <a:lstStyle/>
              <a:p>
                <a:r>
                  <a:rPr lang="en-US">
                    <a:noFill/>
                  </a:rPr>
                  <a:t> </a:t>
                </a:r>
              </a:p>
            </p:txBody>
          </p:sp>
        </mc:Fallback>
      </mc:AlternateContent>
      <p:sp>
        <p:nvSpPr>
          <p:cNvPr id="9" name="CaixaDeTexto 8">
            <a:extLst>
              <a:ext uri="{FF2B5EF4-FFF2-40B4-BE49-F238E27FC236}">
                <a16:creationId xmlns:a16="http://schemas.microsoft.com/office/drawing/2014/main" id="{79409339-B873-6CD8-ABD2-05EB218DE072}"/>
              </a:ext>
            </a:extLst>
          </p:cNvPr>
          <p:cNvSpPr txBox="1"/>
          <p:nvPr/>
        </p:nvSpPr>
        <p:spPr>
          <a:xfrm>
            <a:off x="4570743" y="4280317"/>
            <a:ext cx="636334" cy="369332"/>
          </a:xfrm>
          <a:prstGeom prst="rect">
            <a:avLst/>
          </a:prstGeom>
          <a:noFill/>
        </p:spPr>
        <p:txBody>
          <a:bodyPr wrap="square" rtlCol="0">
            <a:spAutoFit/>
          </a:bodyPr>
          <a:lstStyle/>
          <a:p>
            <a:pPr algn="r"/>
            <a:r>
              <a:rPr lang="pt-BR" dirty="0"/>
              <a:t>Peso</a:t>
            </a:r>
          </a:p>
        </p:txBody>
      </p:sp>
      <p:cxnSp>
        <p:nvCxnSpPr>
          <p:cNvPr id="10" name="Conector reto 9">
            <a:extLst>
              <a:ext uri="{FF2B5EF4-FFF2-40B4-BE49-F238E27FC236}">
                <a16:creationId xmlns:a16="http://schemas.microsoft.com/office/drawing/2014/main" id="{039EA0C5-8C71-7A67-014E-9B8BFDF0F5AC}"/>
              </a:ext>
            </a:extLst>
          </p:cNvPr>
          <p:cNvCxnSpPr/>
          <p:nvPr/>
        </p:nvCxnSpPr>
        <p:spPr>
          <a:xfrm>
            <a:off x="976885" y="4446589"/>
            <a:ext cx="1930484" cy="0"/>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1" name="CaixaDeTexto 10">
            <a:extLst>
              <a:ext uri="{FF2B5EF4-FFF2-40B4-BE49-F238E27FC236}">
                <a16:creationId xmlns:a16="http://schemas.microsoft.com/office/drawing/2014/main" id="{2FE34480-3A98-C37D-1CC7-C4D46C84C191}"/>
              </a:ext>
            </a:extLst>
          </p:cNvPr>
          <p:cNvSpPr txBox="1"/>
          <p:nvPr/>
        </p:nvSpPr>
        <p:spPr>
          <a:xfrm>
            <a:off x="2367751" y="3934283"/>
            <a:ext cx="1066949" cy="550146"/>
          </a:xfrm>
          <a:prstGeom prst="rect">
            <a:avLst/>
          </a:prstGeom>
          <a:noFill/>
        </p:spPr>
        <p:txBody>
          <a:bodyPr wrap="square" rtlCol="0">
            <a:spAutoFit/>
          </a:bodyPr>
          <a:lstStyle/>
          <a:p>
            <a:pPr algn="ctr"/>
            <a:r>
              <a:rPr lang="pt-BR" sz="1200" dirty="0"/>
              <a:t>Ponto de mínimo</a:t>
            </a:r>
          </a:p>
        </p:txBody>
      </p:sp>
      <p:cxnSp>
        <p:nvCxnSpPr>
          <p:cNvPr id="12" name="Conector reto 11">
            <a:extLst>
              <a:ext uri="{FF2B5EF4-FFF2-40B4-BE49-F238E27FC236}">
                <a16:creationId xmlns:a16="http://schemas.microsoft.com/office/drawing/2014/main" id="{64134F0A-4EEF-6DAE-478A-B7431749E1EC}"/>
              </a:ext>
            </a:extLst>
          </p:cNvPr>
          <p:cNvCxnSpPr>
            <a:cxnSpLocks/>
          </p:cNvCxnSpPr>
          <p:nvPr/>
        </p:nvCxnSpPr>
        <p:spPr>
          <a:xfrm>
            <a:off x="2902477" y="4439022"/>
            <a:ext cx="0" cy="171598"/>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3" name="Elipse 12">
            <a:extLst>
              <a:ext uri="{FF2B5EF4-FFF2-40B4-BE49-F238E27FC236}">
                <a16:creationId xmlns:a16="http://schemas.microsoft.com/office/drawing/2014/main" id="{15DD9BF6-B244-29D4-119F-C6B3781653CD}"/>
              </a:ext>
            </a:extLst>
          </p:cNvPr>
          <p:cNvSpPr/>
          <p:nvPr/>
        </p:nvSpPr>
        <p:spPr>
          <a:xfrm>
            <a:off x="2879776" y="4423888"/>
            <a:ext cx="42900" cy="429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Elipse 13">
            <a:extLst>
              <a:ext uri="{FF2B5EF4-FFF2-40B4-BE49-F238E27FC236}">
                <a16:creationId xmlns:a16="http://schemas.microsoft.com/office/drawing/2014/main" id="{CDA6E95E-D9EC-3537-8F77-6EE3F47192AB}"/>
              </a:ext>
            </a:extLst>
          </p:cNvPr>
          <p:cNvSpPr/>
          <p:nvPr/>
        </p:nvSpPr>
        <p:spPr>
          <a:xfrm>
            <a:off x="4435947" y="2865415"/>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15" name="Conector reto 14">
            <a:extLst>
              <a:ext uri="{FF2B5EF4-FFF2-40B4-BE49-F238E27FC236}">
                <a16:creationId xmlns:a16="http://schemas.microsoft.com/office/drawing/2014/main" id="{FE0C45FA-56C4-F642-30D0-8D2DDF54AF46}"/>
              </a:ext>
            </a:extLst>
          </p:cNvPr>
          <p:cNvCxnSpPr/>
          <p:nvPr/>
        </p:nvCxnSpPr>
        <p:spPr>
          <a:xfrm>
            <a:off x="973059" y="2886646"/>
            <a:ext cx="3492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7" name="Conector reto 16">
            <a:extLst>
              <a:ext uri="{FF2B5EF4-FFF2-40B4-BE49-F238E27FC236}">
                <a16:creationId xmlns:a16="http://schemas.microsoft.com/office/drawing/2014/main" id="{E7D13DB9-4C75-078A-6958-6C154EC05952}"/>
              </a:ext>
            </a:extLst>
          </p:cNvPr>
          <p:cNvCxnSpPr>
            <a:cxnSpLocks/>
          </p:cNvCxnSpPr>
          <p:nvPr/>
        </p:nvCxnSpPr>
        <p:spPr>
          <a:xfrm>
            <a:off x="4457397" y="2893989"/>
            <a:ext cx="0" cy="1728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1" name="CaixaDeTexto 20">
            <a:extLst>
              <a:ext uri="{FF2B5EF4-FFF2-40B4-BE49-F238E27FC236}">
                <a16:creationId xmlns:a16="http://schemas.microsoft.com/office/drawing/2014/main" id="{392223F3-5DD2-71FD-B16F-33B193B11964}"/>
              </a:ext>
            </a:extLst>
          </p:cNvPr>
          <p:cNvSpPr txBox="1"/>
          <p:nvPr/>
        </p:nvSpPr>
        <p:spPr>
          <a:xfrm>
            <a:off x="3517064" y="2599556"/>
            <a:ext cx="1071476" cy="276999"/>
          </a:xfrm>
          <a:prstGeom prst="rect">
            <a:avLst/>
          </a:prstGeom>
          <a:noFill/>
        </p:spPr>
        <p:txBody>
          <a:bodyPr wrap="square" rtlCol="0">
            <a:spAutoFit/>
          </a:bodyPr>
          <a:lstStyle/>
          <a:p>
            <a:pPr algn="ctr"/>
            <a:r>
              <a:rPr lang="pt-BR" sz="1200" dirty="0"/>
              <a:t>Ponto inicial</a:t>
            </a:r>
          </a:p>
        </p:txBody>
      </p:sp>
      <mc:AlternateContent xmlns:mc="http://schemas.openxmlformats.org/markup-compatibility/2006" xmlns:a14="http://schemas.microsoft.com/office/drawing/2010/main">
        <mc:Choice Requires="a14">
          <p:sp>
            <p:nvSpPr>
              <p:cNvPr id="22" name="CaixaDeTexto 21">
                <a:extLst>
                  <a:ext uri="{FF2B5EF4-FFF2-40B4-BE49-F238E27FC236}">
                    <a16:creationId xmlns:a16="http://schemas.microsoft.com/office/drawing/2014/main" id="{0EE88986-EB8C-724C-244A-3D5A37DAF924}"/>
                  </a:ext>
                </a:extLst>
              </p:cNvPr>
              <p:cNvSpPr txBox="1"/>
              <p:nvPr/>
            </p:nvSpPr>
            <p:spPr>
              <a:xfrm>
                <a:off x="4044575" y="4592036"/>
                <a:ext cx="86794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m:rPr>
                              <m:sty m:val="p"/>
                            </m:rPr>
                            <a:rPr lang="pt-BR" sz="1400" b="0" i="0" smtClean="0">
                              <a:latin typeface="Cambria Math" panose="02040503050406030204" pitchFamily="18" charset="0"/>
                            </a:rPr>
                            <m:t>inicial</m:t>
                          </m:r>
                        </m:sub>
                      </m:sSub>
                    </m:oMath>
                  </m:oMathPara>
                </a14:m>
                <a:endParaRPr lang="pt-BR" sz="1400" dirty="0"/>
              </a:p>
            </p:txBody>
          </p:sp>
        </mc:Choice>
        <mc:Fallback xmlns="">
          <p:sp>
            <p:nvSpPr>
              <p:cNvPr id="22" name="CaixaDeTexto 21">
                <a:extLst>
                  <a:ext uri="{FF2B5EF4-FFF2-40B4-BE49-F238E27FC236}">
                    <a16:creationId xmlns:a16="http://schemas.microsoft.com/office/drawing/2014/main" id="{0EE88986-EB8C-724C-244A-3D5A37DAF924}"/>
                  </a:ext>
                </a:extLst>
              </p:cNvPr>
              <p:cNvSpPr txBox="1">
                <a:spLocks noRot="1" noChangeAspect="1" noMove="1" noResize="1" noEditPoints="1" noAdjustHandles="1" noChangeArrowheads="1" noChangeShapeType="1" noTextEdit="1"/>
              </p:cNvSpPr>
              <p:nvPr/>
            </p:nvSpPr>
            <p:spPr>
              <a:xfrm>
                <a:off x="4044575" y="4592036"/>
                <a:ext cx="867941" cy="30777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CaixaDeTexto 22">
                <a:extLst>
                  <a:ext uri="{FF2B5EF4-FFF2-40B4-BE49-F238E27FC236}">
                    <a16:creationId xmlns:a16="http://schemas.microsoft.com/office/drawing/2014/main" id="{C20C4FF7-F2B2-21E5-6E82-822BAEAF5190}"/>
                  </a:ext>
                </a:extLst>
              </p:cNvPr>
              <p:cNvSpPr txBox="1"/>
              <p:nvPr/>
            </p:nvSpPr>
            <p:spPr>
              <a:xfrm>
                <a:off x="2671712" y="4569848"/>
                <a:ext cx="86794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0" smtClean="0">
                              <a:latin typeface="Cambria Math" panose="02040503050406030204" pitchFamily="18" charset="0"/>
                            </a:rPr>
                            <m:t>ó</m:t>
                          </m:r>
                          <m:r>
                            <m:rPr>
                              <m:sty m:val="p"/>
                            </m:rPr>
                            <a:rPr lang="pt-BR" sz="1400" b="0" i="0" smtClean="0">
                              <a:latin typeface="Cambria Math" panose="02040503050406030204" pitchFamily="18" charset="0"/>
                            </a:rPr>
                            <m:t>timo</m:t>
                          </m:r>
                        </m:sub>
                      </m:sSub>
                    </m:oMath>
                  </m:oMathPara>
                </a14:m>
                <a:endParaRPr lang="pt-BR" sz="1400" dirty="0"/>
              </a:p>
            </p:txBody>
          </p:sp>
        </mc:Choice>
        <mc:Fallback xmlns="">
          <p:sp>
            <p:nvSpPr>
              <p:cNvPr id="23" name="CaixaDeTexto 22">
                <a:extLst>
                  <a:ext uri="{FF2B5EF4-FFF2-40B4-BE49-F238E27FC236}">
                    <a16:creationId xmlns:a16="http://schemas.microsoft.com/office/drawing/2014/main" id="{C20C4FF7-F2B2-21E5-6E82-822BAEAF5190}"/>
                  </a:ext>
                </a:extLst>
              </p:cNvPr>
              <p:cNvSpPr txBox="1">
                <a:spLocks noRot="1" noChangeAspect="1" noMove="1" noResize="1" noEditPoints="1" noAdjustHandles="1" noChangeArrowheads="1" noChangeShapeType="1" noTextEdit="1"/>
              </p:cNvSpPr>
              <p:nvPr/>
            </p:nvSpPr>
            <p:spPr>
              <a:xfrm>
                <a:off x="2671712" y="4569848"/>
                <a:ext cx="867941" cy="307777"/>
              </a:xfrm>
              <a:prstGeom prst="rect">
                <a:avLst/>
              </a:prstGeom>
              <a:blipFill>
                <a:blip r:embed="rId6"/>
                <a:stretch>
                  <a:fillRect/>
                </a:stretch>
              </a:blipFill>
            </p:spPr>
            <p:txBody>
              <a:bodyPr/>
              <a:lstStyle/>
              <a:p>
                <a:r>
                  <a:rPr lang="en-US">
                    <a:noFill/>
                  </a:rPr>
                  <a:t> </a:t>
                </a:r>
              </a:p>
            </p:txBody>
          </p:sp>
        </mc:Fallback>
      </mc:AlternateContent>
      <p:cxnSp>
        <p:nvCxnSpPr>
          <p:cNvPr id="4" name="Conector de Seta Reta 3">
            <a:extLst>
              <a:ext uri="{FF2B5EF4-FFF2-40B4-BE49-F238E27FC236}">
                <a16:creationId xmlns:a16="http://schemas.microsoft.com/office/drawing/2014/main" id="{DC244B52-4334-BD96-C961-7980C8966554}"/>
              </a:ext>
            </a:extLst>
          </p:cNvPr>
          <p:cNvCxnSpPr>
            <a:cxnSpLocks/>
          </p:cNvCxnSpPr>
          <p:nvPr/>
        </p:nvCxnSpPr>
        <p:spPr>
          <a:xfrm flipH="1">
            <a:off x="4000500" y="2896738"/>
            <a:ext cx="447243" cy="73187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Elipse 18">
            <a:extLst>
              <a:ext uri="{FF2B5EF4-FFF2-40B4-BE49-F238E27FC236}">
                <a16:creationId xmlns:a16="http://schemas.microsoft.com/office/drawing/2014/main" id="{9D1FBDB5-A30B-552C-6312-3B6BD90ACEA3}"/>
              </a:ext>
            </a:extLst>
          </p:cNvPr>
          <p:cNvSpPr/>
          <p:nvPr/>
        </p:nvSpPr>
        <p:spPr>
          <a:xfrm>
            <a:off x="3774858" y="3740583"/>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2" name="CaixaDeTexto 41">
            <a:extLst>
              <a:ext uri="{FF2B5EF4-FFF2-40B4-BE49-F238E27FC236}">
                <a16:creationId xmlns:a16="http://schemas.microsoft.com/office/drawing/2014/main" id="{7CF6E555-725C-0E5C-C537-9555F01F314A}"/>
              </a:ext>
            </a:extLst>
          </p:cNvPr>
          <p:cNvSpPr txBox="1"/>
          <p:nvPr/>
        </p:nvSpPr>
        <p:spPr>
          <a:xfrm>
            <a:off x="2870595" y="3628610"/>
            <a:ext cx="1071476" cy="276999"/>
          </a:xfrm>
          <a:prstGeom prst="rect">
            <a:avLst/>
          </a:prstGeom>
          <a:noFill/>
        </p:spPr>
        <p:txBody>
          <a:bodyPr wrap="square" rtlCol="0">
            <a:spAutoFit/>
          </a:bodyPr>
          <a:lstStyle/>
          <a:p>
            <a:r>
              <a:rPr lang="pt-BR" sz="1200" dirty="0"/>
              <a:t>Novo ponto</a:t>
            </a:r>
          </a:p>
        </p:txBody>
      </p:sp>
      <mc:AlternateContent xmlns:mc="http://schemas.openxmlformats.org/markup-compatibility/2006" xmlns:a14="http://schemas.microsoft.com/office/drawing/2010/main">
        <mc:Choice Requires="a14">
          <p:sp>
            <p:nvSpPr>
              <p:cNvPr id="44" name="CaixaDeTexto 43">
                <a:extLst>
                  <a:ext uri="{FF2B5EF4-FFF2-40B4-BE49-F238E27FC236}">
                    <a16:creationId xmlns:a16="http://schemas.microsoft.com/office/drawing/2014/main" id="{D1B49863-995B-5C94-39FC-9775AB496188}"/>
                  </a:ext>
                </a:extLst>
              </p:cNvPr>
              <p:cNvSpPr txBox="1"/>
              <p:nvPr/>
            </p:nvSpPr>
            <p:spPr>
              <a:xfrm>
                <a:off x="2833286" y="3005203"/>
                <a:ext cx="756505" cy="444032"/>
              </a:xfrm>
              <a:prstGeom prst="rect">
                <a:avLst/>
              </a:prstGeom>
              <a:noFill/>
            </p:spPr>
            <p:txBody>
              <a:bodyPr wrap="square">
                <a:spAutoFit/>
              </a:bodyPr>
              <a:lstStyle/>
              <a:p>
                <a:pPr/>
                <a14:m>
                  <m:oMathPara xmlns:m="http://schemas.openxmlformats.org/officeDocument/2006/math">
                    <m:oMath>
                      <m:r>
                        <a:rPr lang="pt-BR" sz="1200" i="1" dirty="0" smtClean="0">
                          <a:latin typeface="Cambria Math" panose="02040503050406030204" pitchFamily="18" charset="0"/>
                          <a:ea typeface="Cambria Math" panose="02040503050406030204" pitchFamily="18" charset="0"/>
                        </a:rPr>
                        <m:t>𝛼</m:t>
                      </m:r>
                      <m:f>
                        <m:fPr>
                          <m:ctrlPr>
                            <a:rPr lang="pt-BR" sz="1200" i="1" dirty="0" smtClean="0">
                              <a:latin typeface="Cambria Math" panose="02040503050406030204" pitchFamily="18" charset="0"/>
                            </a:rPr>
                          </m:ctrlPr>
                        </m:fPr>
                        <m:num>
                          <m:r>
                            <a:rPr lang="pt-BR" sz="1200" i="1" dirty="0" smtClean="0">
                              <a:latin typeface="Cambria Math" panose="02040503050406030204" pitchFamily="18" charset="0"/>
                            </a:rPr>
                            <m:t>𝜕</m:t>
                          </m:r>
                          <m:sSub>
                            <m:sSubPr>
                              <m:ctrlPr>
                                <a:rPr lang="pt-BR" sz="1200" i="1">
                                  <a:latin typeface="Cambria Math" panose="02040503050406030204" pitchFamily="18" charset="0"/>
                                </a:rPr>
                              </m:ctrlPr>
                            </m:sSubPr>
                            <m:e>
                              <m:r>
                                <a:rPr lang="pt-BR" sz="1200" i="1">
                                  <a:latin typeface="Cambria Math" panose="02040503050406030204" pitchFamily="18" charset="0"/>
                                </a:rPr>
                                <m:t>𝐽</m:t>
                              </m:r>
                            </m:e>
                            <m:sub>
                              <m:r>
                                <a:rPr lang="pt-BR" sz="1200" i="1">
                                  <a:latin typeface="Cambria Math" panose="02040503050406030204" pitchFamily="18" charset="0"/>
                                </a:rPr>
                                <m:t>𝑒</m:t>
                              </m:r>
                            </m:sub>
                          </m:sSub>
                          <m:r>
                            <a:rPr lang="pt-BR" sz="1200" i="1">
                              <a:latin typeface="Cambria Math" panose="02040503050406030204" pitchFamily="18" charset="0"/>
                            </a:rPr>
                            <m:t>(</m:t>
                          </m:r>
                          <m:sSub>
                            <m:sSubPr>
                              <m:ctrlPr>
                                <a:rPr lang="pt-BR" sz="1200" i="1">
                                  <a:latin typeface="Cambria Math" panose="02040503050406030204" pitchFamily="18" charset="0"/>
                                </a:rPr>
                              </m:ctrlPr>
                            </m:sSubPr>
                            <m:e>
                              <m:r>
                                <a:rPr lang="pt-BR" sz="1200" i="1">
                                  <a:latin typeface="Cambria Math" panose="02040503050406030204" pitchFamily="18" charset="0"/>
                                </a:rPr>
                                <m:t>𝑎</m:t>
                              </m:r>
                            </m:e>
                            <m:sub>
                              <m:r>
                                <m:rPr>
                                  <m:sty m:val="p"/>
                                </m:rPr>
                                <a:rPr lang="pt-BR" sz="1200">
                                  <a:latin typeface="Cambria Math" panose="02040503050406030204" pitchFamily="18" charset="0"/>
                                </a:rPr>
                                <m:t>inicial</m:t>
                              </m:r>
                            </m:sub>
                          </m:sSub>
                          <m:r>
                            <a:rPr lang="pt-BR" sz="1200" i="1">
                              <a:latin typeface="Cambria Math" panose="02040503050406030204" pitchFamily="18" charset="0"/>
                            </a:rPr>
                            <m:t>)</m:t>
                          </m:r>
                        </m:num>
                        <m:den>
                          <m:r>
                            <a:rPr lang="pt-BR" sz="1200" i="1" dirty="0" smtClean="0">
                              <a:latin typeface="Cambria Math" panose="02040503050406030204" pitchFamily="18" charset="0"/>
                            </a:rPr>
                            <m:t>𝜕</m:t>
                          </m:r>
                          <m:r>
                            <a:rPr lang="pt-BR" sz="1200" b="0" i="1" dirty="0" smtClean="0">
                              <a:latin typeface="Cambria Math" panose="02040503050406030204" pitchFamily="18" charset="0"/>
                            </a:rPr>
                            <m:t>𝑎</m:t>
                          </m:r>
                        </m:den>
                      </m:f>
                    </m:oMath>
                  </m:oMathPara>
                </a14:m>
                <a:endParaRPr lang="pt-BR" sz="1200" dirty="0"/>
              </a:p>
            </p:txBody>
          </p:sp>
        </mc:Choice>
        <mc:Fallback xmlns="">
          <p:sp>
            <p:nvSpPr>
              <p:cNvPr id="44" name="CaixaDeTexto 43">
                <a:extLst>
                  <a:ext uri="{FF2B5EF4-FFF2-40B4-BE49-F238E27FC236}">
                    <a16:creationId xmlns:a16="http://schemas.microsoft.com/office/drawing/2014/main" id="{D1B49863-995B-5C94-39FC-9775AB496188}"/>
                  </a:ext>
                </a:extLst>
              </p:cNvPr>
              <p:cNvSpPr txBox="1">
                <a:spLocks noRot="1" noChangeAspect="1" noMove="1" noResize="1" noEditPoints="1" noAdjustHandles="1" noChangeArrowheads="1" noChangeShapeType="1" noTextEdit="1"/>
              </p:cNvSpPr>
              <p:nvPr/>
            </p:nvSpPr>
            <p:spPr>
              <a:xfrm>
                <a:off x="2833286" y="3005203"/>
                <a:ext cx="756505" cy="444032"/>
              </a:xfrm>
              <a:prstGeom prst="rect">
                <a:avLst/>
              </a:prstGeom>
              <a:blipFill>
                <a:blip r:embed="rId7"/>
                <a:stretch>
                  <a:fillRect r="-37903" b="-1370"/>
                </a:stretch>
              </a:blipFill>
            </p:spPr>
            <p:txBody>
              <a:bodyPr/>
              <a:lstStyle/>
              <a:p>
                <a:r>
                  <a:rPr lang="en-US">
                    <a:noFill/>
                  </a:rPr>
                  <a:t> </a:t>
                </a:r>
              </a:p>
            </p:txBody>
          </p:sp>
        </mc:Fallback>
      </mc:AlternateContent>
      <p:cxnSp>
        <p:nvCxnSpPr>
          <p:cNvPr id="45" name="Conector reto 44">
            <a:extLst>
              <a:ext uri="{FF2B5EF4-FFF2-40B4-BE49-F238E27FC236}">
                <a16:creationId xmlns:a16="http://schemas.microsoft.com/office/drawing/2014/main" id="{F372B741-B2B5-BA49-3507-12F27F931DA6}"/>
              </a:ext>
            </a:extLst>
          </p:cNvPr>
          <p:cNvCxnSpPr>
            <a:cxnSpLocks/>
          </p:cNvCxnSpPr>
          <p:nvPr/>
        </p:nvCxnSpPr>
        <p:spPr>
          <a:xfrm>
            <a:off x="3798092" y="3773961"/>
            <a:ext cx="0" cy="828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6" name="CaixaDeTexto 45">
                <a:extLst>
                  <a:ext uri="{FF2B5EF4-FFF2-40B4-BE49-F238E27FC236}">
                    <a16:creationId xmlns:a16="http://schemas.microsoft.com/office/drawing/2014/main" id="{2A2FFB7B-0A97-529B-F3AB-053420899F77}"/>
                  </a:ext>
                </a:extLst>
              </p:cNvPr>
              <p:cNvSpPr txBox="1"/>
              <p:nvPr/>
            </p:nvSpPr>
            <p:spPr>
              <a:xfrm>
                <a:off x="3383787" y="4572994"/>
                <a:ext cx="86794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m:rPr>
                              <m:sty m:val="p"/>
                            </m:rPr>
                            <a:rPr lang="pt-BR" sz="1400" b="0" i="0" smtClean="0">
                              <a:latin typeface="Cambria Math" panose="02040503050406030204" pitchFamily="18" charset="0"/>
                            </a:rPr>
                            <m:t>novo</m:t>
                          </m:r>
                        </m:sub>
                      </m:sSub>
                    </m:oMath>
                  </m:oMathPara>
                </a14:m>
                <a:endParaRPr lang="pt-BR" sz="1400" dirty="0"/>
              </a:p>
            </p:txBody>
          </p:sp>
        </mc:Choice>
        <mc:Fallback xmlns="">
          <p:sp>
            <p:nvSpPr>
              <p:cNvPr id="46" name="CaixaDeTexto 45">
                <a:extLst>
                  <a:ext uri="{FF2B5EF4-FFF2-40B4-BE49-F238E27FC236}">
                    <a16:creationId xmlns:a16="http://schemas.microsoft.com/office/drawing/2014/main" id="{2A2FFB7B-0A97-529B-F3AB-053420899F77}"/>
                  </a:ext>
                </a:extLst>
              </p:cNvPr>
              <p:cNvSpPr txBox="1">
                <a:spLocks noRot="1" noChangeAspect="1" noMove="1" noResize="1" noEditPoints="1" noAdjustHandles="1" noChangeArrowheads="1" noChangeShapeType="1" noTextEdit="1"/>
              </p:cNvSpPr>
              <p:nvPr/>
            </p:nvSpPr>
            <p:spPr>
              <a:xfrm>
                <a:off x="3383787" y="4572994"/>
                <a:ext cx="867941" cy="30777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CaixaDeTexto 46">
                <a:extLst>
                  <a:ext uri="{FF2B5EF4-FFF2-40B4-BE49-F238E27FC236}">
                    <a16:creationId xmlns:a16="http://schemas.microsoft.com/office/drawing/2014/main" id="{EACF50E9-CB50-D05F-FA10-9A32D5DB4608}"/>
                  </a:ext>
                </a:extLst>
              </p:cNvPr>
              <p:cNvSpPr txBox="1"/>
              <p:nvPr/>
            </p:nvSpPr>
            <p:spPr>
              <a:xfrm>
                <a:off x="955480" y="5704354"/>
                <a:ext cx="3662982" cy="678584"/>
              </a:xfrm>
              <a:prstGeom prst="rect">
                <a:avLst/>
              </a:prstGeom>
              <a:noFill/>
            </p:spPr>
            <p:txBody>
              <a:bodyPr wrap="square" rtlCol="0">
                <a:spAutoFit/>
              </a:bodyPr>
              <a:lstStyle/>
              <a:p>
                <a:pPr algn="ctr"/>
                <a14:m>
                  <m:oMathPara xmlns:m="http://schemas.openxmlformats.org/officeDocument/2006/math">
                    <m:oMath>
                      <m:sSub>
                        <m:sSubPr>
                          <m:ctrlPr>
                            <a:rPr lang="pt-BR" sz="2000" b="0" i="1" smtClean="0">
                              <a:latin typeface="Cambria Math" panose="02040503050406030204" pitchFamily="18" charset="0"/>
                            </a:rPr>
                          </m:ctrlPr>
                        </m:sSubPr>
                        <m:e>
                          <m:r>
                            <a:rPr lang="pt-BR" sz="2000" b="0" i="1" smtClean="0">
                              <a:latin typeface="Cambria Math" panose="02040503050406030204" pitchFamily="18" charset="0"/>
                            </a:rPr>
                            <m:t>𝑎</m:t>
                          </m:r>
                        </m:e>
                        <m:sub>
                          <m:r>
                            <m:rPr>
                              <m:sty m:val="p"/>
                            </m:rPr>
                            <a:rPr lang="pt-BR" sz="2000" b="0" i="0" smtClean="0">
                              <a:latin typeface="Cambria Math" panose="02040503050406030204" pitchFamily="18" charset="0"/>
                            </a:rPr>
                            <m:t>novo</m:t>
                          </m:r>
                        </m:sub>
                      </m:sSub>
                      <m:r>
                        <a:rPr lang="pt-BR" sz="2000" b="0" i="0" smtClean="0">
                          <a:latin typeface="Cambria Math" panose="02040503050406030204" pitchFamily="18" charset="0"/>
                        </a:rPr>
                        <m:t>=</m:t>
                      </m:r>
                      <m:sSub>
                        <m:sSubPr>
                          <m:ctrlPr>
                            <a:rPr lang="pt-BR" sz="2000" i="1">
                              <a:latin typeface="Cambria Math" panose="02040503050406030204" pitchFamily="18" charset="0"/>
                            </a:rPr>
                          </m:ctrlPr>
                        </m:sSubPr>
                        <m:e>
                          <m:r>
                            <a:rPr lang="pt-BR" sz="2000" i="1">
                              <a:latin typeface="Cambria Math" panose="02040503050406030204" pitchFamily="18" charset="0"/>
                            </a:rPr>
                            <m:t>𝑎</m:t>
                          </m:r>
                        </m:e>
                        <m:sub>
                          <m:r>
                            <m:rPr>
                              <m:sty m:val="p"/>
                            </m:rPr>
                            <a:rPr lang="pt-BR" sz="2000">
                              <a:latin typeface="Cambria Math" panose="02040503050406030204" pitchFamily="18" charset="0"/>
                            </a:rPr>
                            <m:t>inicial</m:t>
                          </m:r>
                        </m:sub>
                      </m:sSub>
                      <m:r>
                        <a:rPr lang="pt-BR" sz="2000" b="0" i="0" smtClean="0">
                          <a:latin typeface="Cambria Math" panose="02040503050406030204" pitchFamily="18" charset="0"/>
                        </a:rPr>
                        <m:t>−</m:t>
                      </m:r>
                      <m:r>
                        <a:rPr lang="pt-BR" sz="2000" i="1" dirty="0">
                          <a:latin typeface="Cambria Math" panose="02040503050406030204" pitchFamily="18" charset="0"/>
                          <a:ea typeface="Cambria Math" panose="02040503050406030204" pitchFamily="18" charset="0"/>
                        </a:rPr>
                        <m:t>𝛼</m:t>
                      </m:r>
                      <m:f>
                        <m:fPr>
                          <m:ctrlPr>
                            <a:rPr lang="pt-BR" sz="2000" i="1" dirty="0">
                              <a:latin typeface="Cambria Math" panose="02040503050406030204" pitchFamily="18" charset="0"/>
                            </a:rPr>
                          </m:ctrlPr>
                        </m:fPr>
                        <m:num>
                          <m:r>
                            <a:rPr lang="pt-BR" sz="2000" i="1" dirty="0">
                              <a:latin typeface="Cambria Math" panose="02040503050406030204" pitchFamily="18" charset="0"/>
                            </a:rPr>
                            <m:t>𝜕</m:t>
                          </m:r>
                          <m:sSub>
                            <m:sSubPr>
                              <m:ctrlPr>
                                <a:rPr lang="pt-BR" sz="2000" i="1">
                                  <a:latin typeface="Cambria Math" panose="02040503050406030204" pitchFamily="18" charset="0"/>
                                </a:rPr>
                              </m:ctrlPr>
                            </m:sSubPr>
                            <m:e>
                              <m:r>
                                <a:rPr lang="pt-BR" sz="2000" i="1">
                                  <a:latin typeface="Cambria Math" panose="02040503050406030204" pitchFamily="18" charset="0"/>
                                </a:rPr>
                                <m:t>𝐽</m:t>
                              </m:r>
                            </m:e>
                            <m:sub>
                              <m:r>
                                <a:rPr lang="pt-BR" sz="2000" i="1">
                                  <a:latin typeface="Cambria Math" panose="02040503050406030204" pitchFamily="18" charset="0"/>
                                </a:rPr>
                                <m:t>𝑒</m:t>
                              </m:r>
                            </m:sub>
                          </m:sSub>
                          <m:r>
                            <a:rPr lang="pt-BR" sz="2000" i="1">
                              <a:latin typeface="Cambria Math" panose="02040503050406030204" pitchFamily="18" charset="0"/>
                            </a:rPr>
                            <m:t>(</m:t>
                          </m:r>
                          <m:sSub>
                            <m:sSubPr>
                              <m:ctrlPr>
                                <a:rPr lang="pt-BR" sz="2000" i="1">
                                  <a:latin typeface="Cambria Math" panose="02040503050406030204" pitchFamily="18" charset="0"/>
                                </a:rPr>
                              </m:ctrlPr>
                            </m:sSubPr>
                            <m:e>
                              <m:r>
                                <a:rPr lang="pt-BR" sz="2000" i="1">
                                  <a:latin typeface="Cambria Math" panose="02040503050406030204" pitchFamily="18" charset="0"/>
                                </a:rPr>
                                <m:t>𝑎</m:t>
                              </m:r>
                            </m:e>
                            <m:sub>
                              <m:r>
                                <m:rPr>
                                  <m:sty m:val="p"/>
                                </m:rPr>
                                <a:rPr lang="pt-BR" sz="2000">
                                  <a:latin typeface="Cambria Math" panose="02040503050406030204" pitchFamily="18" charset="0"/>
                                </a:rPr>
                                <m:t>inicial</m:t>
                              </m:r>
                            </m:sub>
                          </m:sSub>
                          <m:r>
                            <a:rPr lang="pt-BR" sz="2000" i="1">
                              <a:latin typeface="Cambria Math" panose="02040503050406030204" pitchFamily="18" charset="0"/>
                            </a:rPr>
                            <m:t>)</m:t>
                          </m:r>
                        </m:num>
                        <m:den>
                          <m:r>
                            <a:rPr lang="pt-BR" sz="2000" i="1" dirty="0">
                              <a:latin typeface="Cambria Math" panose="02040503050406030204" pitchFamily="18" charset="0"/>
                            </a:rPr>
                            <m:t>𝜕</m:t>
                          </m:r>
                          <m:r>
                            <a:rPr lang="pt-BR" sz="2000" i="1" dirty="0">
                              <a:latin typeface="Cambria Math" panose="02040503050406030204" pitchFamily="18" charset="0"/>
                            </a:rPr>
                            <m:t>𝑎</m:t>
                          </m:r>
                        </m:den>
                      </m:f>
                    </m:oMath>
                  </m:oMathPara>
                </a14:m>
                <a:endParaRPr lang="pt-BR" sz="2000" dirty="0"/>
              </a:p>
            </p:txBody>
          </p:sp>
        </mc:Choice>
        <mc:Fallback xmlns="">
          <p:sp>
            <p:nvSpPr>
              <p:cNvPr id="47" name="CaixaDeTexto 46">
                <a:extLst>
                  <a:ext uri="{FF2B5EF4-FFF2-40B4-BE49-F238E27FC236}">
                    <a16:creationId xmlns:a16="http://schemas.microsoft.com/office/drawing/2014/main" id="{A5146C3E-B0FA-B680-38D2-A628801FD84D}"/>
                  </a:ext>
                </a:extLst>
              </p:cNvPr>
              <p:cNvSpPr txBox="1">
                <a:spLocks noRot="1" noChangeAspect="1" noMove="1" noResize="1" noEditPoints="1" noAdjustHandles="1" noChangeArrowheads="1" noChangeShapeType="1" noTextEdit="1"/>
              </p:cNvSpPr>
              <p:nvPr/>
            </p:nvSpPr>
            <p:spPr>
              <a:xfrm>
                <a:off x="955480" y="5704354"/>
                <a:ext cx="3662982" cy="678584"/>
              </a:xfrm>
              <a:prstGeom prst="rect">
                <a:avLst/>
              </a:prstGeom>
              <a:blipFill>
                <a:blip r:embed="rId9"/>
                <a:stretch>
                  <a:fillRect/>
                </a:stretch>
              </a:blipFill>
            </p:spPr>
            <p:txBody>
              <a:bodyPr/>
              <a:lstStyle/>
              <a:p>
                <a:r>
                  <a:rPr lang="pt-BR">
                    <a:noFill/>
                  </a:rPr>
                  <a:t> </a:t>
                </a:r>
              </a:p>
            </p:txBody>
          </p:sp>
        </mc:Fallback>
      </mc:AlternateContent>
      <p:sp>
        <p:nvSpPr>
          <p:cNvPr id="48" name="CaixaDeTexto 47">
            <a:extLst>
              <a:ext uri="{FF2B5EF4-FFF2-40B4-BE49-F238E27FC236}">
                <a16:creationId xmlns:a16="http://schemas.microsoft.com/office/drawing/2014/main" id="{FB6EA329-858B-8339-B316-5B6D0837F3CE}"/>
              </a:ext>
            </a:extLst>
          </p:cNvPr>
          <p:cNvSpPr txBox="1"/>
          <p:nvPr/>
        </p:nvSpPr>
        <p:spPr>
          <a:xfrm>
            <a:off x="2851197" y="6545877"/>
            <a:ext cx="2898196" cy="276999"/>
          </a:xfrm>
          <a:prstGeom prst="rect">
            <a:avLst/>
          </a:prstGeom>
          <a:noFill/>
        </p:spPr>
        <p:txBody>
          <a:bodyPr wrap="square" rtlCol="0">
            <a:spAutoFit/>
          </a:bodyPr>
          <a:lstStyle/>
          <a:p>
            <a:r>
              <a:rPr lang="pt-BR" sz="1200" dirty="0"/>
              <a:t>sentido aposto ao apontado pelo gradiente</a:t>
            </a:r>
          </a:p>
        </p:txBody>
      </p:sp>
      <p:cxnSp>
        <p:nvCxnSpPr>
          <p:cNvPr id="50" name="Conector de Seta Reta 49">
            <a:extLst>
              <a:ext uri="{FF2B5EF4-FFF2-40B4-BE49-F238E27FC236}">
                <a16:creationId xmlns:a16="http://schemas.microsoft.com/office/drawing/2014/main" id="{6F971FB6-8DFF-4302-CEFF-DA4495AEEA22}"/>
              </a:ext>
            </a:extLst>
          </p:cNvPr>
          <p:cNvCxnSpPr>
            <a:cxnSpLocks/>
          </p:cNvCxnSpPr>
          <p:nvPr/>
        </p:nvCxnSpPr>
        <p:spPr>
          <a:xfrm>
            <a:off x="2879776" y="6168939"/>
            <a:ext cx="89430" cy="34501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CaixaDeTexto 4">
            <a:extLst>
              <a:ext uri="{FF2B5EF4-FFF2-40B4-BE49-F238E27FC236}">
                <a16:creationId xmlns:a16="http://schemas.microsoft.com/office/drawing/2014/main" id="{8C036354-5F62-B69D-2156-D972DE6F41D6}"/>
              </a:ext>
            </a:extLst>
          </p:cNvPr>
          <p:cNvSpPr txBox="1"/>
          <p:nvPr/>
        </p:nvSpPr>
        <p:spPr>
          <a:xfrm>
            <a:off x="2729921" y="5288988"/>
            <a:ext cx="1790707" cy="276999"/>
          </a:xfrm>
          <a:prstGeom prst="rect">
            <a:avLst/>
          </a:prstGeom>
          <a:noFill/>
        </p:spPr>
        <p:txBody>
          <a:bodyPr wrap="square" rtlCol="0">
            <a:spAutoFit/>
          </a:bodyPr>
          <a:lstStyle/>
          <a:p>
            <a:pPr algn="ctr"/>
            <a:r>
              <a:rPr lang="pt-BR" sz="1200" dirty="0"/>
              <a:t>Termo de atualização</a:t>
            </a:r>
          </a:p>
        </p:txBody>
      </p:sp>
      <p:sp>
        <p:nvSpPr>
          <p:cNvPr id="26" name="Chave Direita 25">
            <a:extLst>
              <a:ext uri="{FF2B5EF4-FFF2-40B4-BE49-F238E27FC236}">
                <a16:creationId xmlns:a16="http://schemas.microsoft.com/office/drawing/2014/main" id="{9C9CF1AE-34A8-0556-A9E5-E6F607CD3AC4}"/>
              </a:ext>
            </a:extLst>
          </p:cNvPr>
          <p:cNvSpPr/>
          <p:nvPr/>
        </p:nvSpPr>
        <p:spPr>
          <a:xfrm rot="16200000">
            <a:off x="3501985" y="4768070"/>
            <a:ext cx="246580" cy="179070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cxnSp>
        <p:nvCxnSpPr>
          <p:cNvPr id="28" name="Conector: Curvo 27">
            <a:extLst>
              <a:ext uri="{FF2B5EF4-FFF2-40B4-BE49-F238E27FC236}">
                <a16:creationId xmlns:a16="http://schemas.microsoft.com/office/drawing/2014/main" id="{81FD9F85-70A2-0DE8-FFC5-5557062E1604}"/>
              </a:ext>
            </a:extLst>
          </p:cNvPr>
          <p:cNvCxnSpPr>
            <a:cxnSpLocks/>
            <a:stCxn id="14" idx="2"/>
            <a:endCxn id="19" idx="2"/>
          </p:cNvCxnSpPr>
          <p:nvPr/>
        </p:nvCxnSpPr>
        <p:spPr>
          <a:xfrm rot="10800000" flipV="1">
            <a:off x="3774859" y="2886865"/>
            <a:ext cx="661089" cy="875168"/>
          </a:xfrm>
          <a:prstGeom prst="curvedConnector3">
            <a:avLst>
              <a:gd name="adj1" fmla="val 91931"/>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84138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E2277-700F-9E43-790B-9D23711BFFB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062D35D-B6EE-88FD-F460-EBB18CA173BC}"/>
              </a:ext>
            </a:extLst>
          </p:cNvPr>
          <p:cNvSpPr>
            <a:spLocks noGrp="1"/>
          </p:cNvSpPr>
          <p:nvPr>
            <p:ph type="title"/>
          </p:nvPr>
        </p:nvSpPr>
        <p:spPr/>
        <p:txBody>
          <a:bodyPr/>
          <a:lstStyle/>
          <a:p>
            <a:r>
              <a:rPr lang="pt-BR" dirty="0"/>
              <a:t>Passo de aprendizagem</a:t>
            </a:r>
          </a:p>
        </p:txBody>
      </p:sp>
      <p:sp>
        <p:nvSpPr>
          <p:cNvPr id="3" name="Espaço Reservado para Conteúdo 2">
            <a:extLst>
              <a:ext uri="{FF2B5EF4-FFF2-40B4-BE49-F238E27FC236}">
                <a16:creationId xmlns:a16="http://schemas.microsoft.com/office/drawing/2014/main" id="{FF249910-0A57-AEAC-E6E9-68DE1A336706}"/>
              </a:ext>
            </a:extLst>
          </p:cNvPr>
          <p:cNvSpPr>
            <a:spLocks noGrp="1"/>
          </p:cNvSpPr>
          <p:nvPr>
            <p:ph idx="1"/>
          </p:nvPr>
        </p:nvSpPr>
        <p:spPr>
          <a:xfrm>
            <a:off x="5897233" y="1825624"/>
            <a:ext cx="6205337" cy="5032376"/>
          </a:xfrm>
        </p:spPr>
        <p:txBody>
          <a:bodyPr>
            <a:normAutofit/>
          </a:bodyPr>
          <a:lstStyle/>
          <a:p>
            <a:r>
              <a:rPr lang="pt-BR" dirty="0"/>
              <a:t>Portanto, dado o</a:t>
            </a:r>
            <a:r>
              <a:rPr lang="pt-BR" b="1" dirty="0">
                <a:solidFill>
                  <a:srgbClr val="00B050"/>
                </a:solidFill>
              </a:rPr>
              <a:t> vetor gradiente </a:t>
            </a:r>
            <a:r>
              <a:rPr lang="pt-BR" dirty="0"/>
              <a:t>(direção e taxa de crescimento) </a:t>
            </a:r>
            <a:r>
              <a:rPr lang="pt-BR" b="1" dirty="0">
                <a:solidFill>
                  <a:srgbClr val="00B050"/>
                </a:solidFill>
              </a:rPr>
              <a:t>e uma taxa de aprendizagem</a:t>
            </a:r>
            <a:r>
              <a:rPr lang="pt-BR" dirty="0"/>
              <a:t>, podemos caminhar </a:t>
            </a:r>
            <a:r>
              <a:rPr lang="pt-BR" b="1" dirty="0">
                <a:solidFill>
                  <a:schemeClr val="accent1"/>
                </a:solidFill>
              </a:rPr>
              <a:t>iterativamente</a:t>
            </a:r>
            <a:r>
              <a:rPr lang="pt-BR" b="1" dirty="0">
                <a:solidFill>
                  <a:srgbClr val="00B050"/>
                </a:solidFill>
              </a:rPr>
              <a:t> </a:t>
            </a:r>
            <a:r>
              <a:rPr lang="pt-BR" dirty="0"/>
              <a:t>em direção ao ponto de mínimo.</a:t>
            </a:r>
          </a:p>
        </p:txBody>
      </p:sp>
      <p:sp>
        <p:nvSpPr>
          <p:cNvPr id="24" name="Forma Livre: Forma 23">
            <a:extLst>
              <a:ext uri="{FF2B5EF4-FFF2-40B4-BE49-F238E27FC236}">
                <a16:creationId xmlns:a16="http://schemas.microsoft.com/office/drawing/2014/main" id="{9A12137B-7F18-FBD1-C41B-49EAEE2E86BB}"/>
              </a:ext>
            </a:extLst>
          </p:cNvPr>
          <p:cNvSpPr/>
          <p:nvPr/>
        </p:nvSpPr>
        <p:spPr>
          <a:xfrm>
            <a:off x="1190625" y="2692903"/>
            <a:ext cx="3429000" cy="1752634"/>
          </a:xfrm>
          <a:custGeom>
            <a:avLst/>
            <a:gdLst>
              <a:gd name="connsiteX0" fmla="*/ 0 w 3429000"/>
              <a:gd name="connsiteY0" fmla="*/ 38100 h 1752634"/>
              <a:gd name="connsiteX1" fmla="*/ 1714500 w 3429000"/>
              <a:gd name="connsiteY1" fmla="*/ 1752600 h 1752634"/>
              <a:gd name="connsiteX2" fmla="*/ 3429000 w 3429000"/>
              <a:gd name="connsiteY2" fmla="*/ 0 h 1752634"/>
            </a:gdLst>
            <a:ahLst/>
            <a:cxnLst>
              <a:cxn ang="0">
                <a:pos x="connsiteX0" y="connsiteY0"/>
              </a:cxn>
              <a:cxn ang="0">
                <a:pos x="connsiteX1" y="connsiteY1"/>
              </a:cxn>
              <a:cxn ang="0">
                <a:pos x="connsiteX2" y="connsiteY2"/>
              </a:cxn>
            </a:cxnLst>
            <a:rect l="l" t="t" r="r" b="b"/>
            <a:pathLst>
              <a:path w="3429000" h="1752634">
                <a:moveTo>
                  <a:pt x="0" y="38100"/>
                </a:moveTo>
                <a:cubicBezTo>
                  <a:pt x="571500" y="898525"/>
                  <a:pt x="1143000" y="1758950"/>
                  <a:pt x="1714500" y="1752600"/>
                </a:cubicBezTo>
                <a:cubicBezTo>
                  <a:pt x="2286000" y="1746250"/>
                  <a:pt x="3119438" y="314325"/>
                  <a:pt x="3429000"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6" name="Conector de Seta Reta 5">
            <a:extLst>
              <a:ext uri="{FF2B5EF4-FFF2-40B4-BE49-F238E27FC236}">
                <a16:creationId xmlns:a16="http://schemas.microsoft.com/office/drawing/2014/main" id="{6601733F-F691-6113-4CE5-21289B583C5B}"/>
              </a:ext>
            </a:extLst>
          </p:cNvPr>
          <p:cNvCxnSpPr>
            <a:cxnSpLocks/>
          </p:cNvCxnSpPr>
          <p:nvPr/>
        </p:nvCxnSpPr>
        <p:spPr>
          <a:xfrm>
            <a:off x="974017" y="4618225"/>
            <a:ext cx="386096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Conector de Seta Reta 6">
            <a:extLst>
              <a:ext uri="{FF2B5EF4-FFF2-40B4-BE49-F238E27FC236}">
                <a16:creationId xmlns:a16="http://schemas.microsoft.com/office/drawing/2014/main" id="{B8CFE0C7-A4E7-CB3C-2885-FF1D03CA5B16}"/>
              </a:ext>
            </a:extLst>
          </p:cNvPr>
          <p:cNvCxnSpPr>
            <a:cxnSpLocks/>
          </p:cNvCxnSpPr>
          <p:nvPr/>
        </p:nvCxnSpPr>
        <p:spPr>
          <a:xfrm flipV="1">
            <a:off x="974018" y="2144361"/>
            <a:ext cx="0" cy="247386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CaixaDeTexto 7">
                <a:extLst>
                  <a:ext uri="{FF2B5EF4-FFF2-40B4-BE49-F238E27FC236}">
                    <a16:creationId xmlns:a16="http://schemas.microsoft.com/office/drawing/2014/main" id="{36BD4D9E-8F31-6602-8EEC-75C6316A991D}"/>
                  </a:ext>
                </a:extLst>
              </p:cNvPr>
              <p:cNvSpPr txBox="1"/>
              <p:nvPr/>
            </p:nvSpPr>
            <p:spPr>
              <a:xfrm>
                <a:off x="974017" y="2055748"/>
                <a:ext cx="2747030" cy="369332"/>
              </a:xfrm>
              <a:prstGeom prst="rect">
                <a:avLst/>
              </a:prstGeom>
              <a:noFill/>
            </p:spPr>
            <p:txBody>
              <a:bodyPr wrap="square" rtlCol="0">
                <a:spAutoFit/>
              </a:bodyPr>
              <a:lstStyle/>
              <a:p>
                <a:r>
                  <a:rPr lang="pt-BR" dirty="0"/>
                  <a:t>Função de erro, </a:t>
                </a:r>
                <a14:m>
                  <m:oMath xmlns:m="http://schemas.openxmlformats.org/officeDocument/2006/math">
                    <m:sSub>
                      <m:sSubPr>
                        <m:ctrlPr>
                          <a:rPr lang="pt-BR" b="0" i="1" smtClean="0">
                            <a:latin typeface="Cambria Math" panose="02040503050406030204" pitchFamily="18" charset="0"/>
                          </a:rPr>
                        </m:ctrlPr>
                      </m:sSubPr>
                      <m:e>
                        <m:r>
                          <a:rPr lang="pt-BR" b="0" i="1" smtClean="0">
                            <a:latin typeface="Cambria Math" panose="02040503050406030204" pitchFamily="18" charset="0"/>
                          </a:rPr>
                          <m:t>𝐽</m:t>
                        </m:r>
                      </m:e>
                      <m:sub>
                        <m:r>
                          <a:rPr lang="pt-BR" b="0" i="1" smtClean="0">
                            <a:latin typeface="Cambria Math" panose="02040503050406030204" pitchFamily="18" charset="0"/>
                          </a:rPr>
                          <m:t>𝑒</m:t>
                        </m:r>
                      </m:sub>
                    </m:sSub>
                    <m:r>
                      <a:rPr lang="pt-BR" b="0" i="1" smtClean="0">
                        <a:latin typeface="Cambria Math" panose="02040503050406030204" pitchFamily="18" charset="0"/>
                      </a:rPr>
                      <m:t>(</m:t>
                    </m:r>
                    <m:r>
                      <a:rPr lang="pt-BR" b="0" i="1" smtClean="0">
                        <a:latin typeface="Cambria Math" panose="02040503050406030204" pitchFamily="18" charset="0"/>
                      </a:rPr>
                      <m:t>𝑎</m:t>
                    </m:r>
                    <m:r>
                      <a:rPr lang="pt-BR" b="0" i="1" smtClean="0">
                        <a:latin typeface="Cambria Math" panose="02040503050406030204" pitchFamily="18" charset="0"/>
                      </a:rPr>
                      <m:t>)</m:t>
                    </m:r>
                  </m:oMath>
                </a14:m>
                <a:endParaRPr lang="pt-BR" dirty="0"/>
              </a:p>
            </p:txBody>
          </p:sp>
        </mc:Choice>
        <mc:Fallback xmlns="">
          <p:sp>
            <p:nvSpPr>
              <p:cNvPr id="8" name="CaixaDeTexto 7">
                <a:extLst>
                  <a:ext uri="{FF2B5EF4-FFF2-40B4-BE49-F238E27FC236}">
                    <a16:creationId xmlns:a16="http://schemas.microsoft.com/office/drawing/2014/main" xmlns="" xmlns:a14="http://schemas.microsoft.com/office/drawing/2010/main" id="{36BD4D9E-8F31-6602-8EEC-75C6316A991D}"/>
                  </a:ext>
                </a:extLst>
              </p:cNvPr>
              <p:cNvSpPr txBox="1">
                <a:spLocks noRot="1" noChangeAspect="1" noMove="1" noResize="1" noEditPoints="1" noAdjustHandles="1" noChangeArrowheads="1" noChangeShapeType="1" noTextEdit="1"/>
              </p:cNvSpPr>
              <p:nvPr/>
            </p:nvSpPr>
            <p:spPr>
              <a:xfrm>
                <a:off x="974017" y="2055748"/>
                <a:ext cx="2747030" cy="369332"/>
              </a:xfrm>
              <a:prstGeom prst="rect">
                <a:avLst/>
              </a:prstGeom>
              <a:blipFill rotWithShape="0">
                <a:blip r:embed="rId3"/>
                <a:stretch>
                  <a:fillRect l="-2000" t="-8197" b="-24590"/>
                </a:stretch>
              </a:blipFill>
            </p:spPr>
            <p:txBody>
              <a:bodyPr/>
              <a:lstStyle/>
              <a:p>
                <a:r>
                  <a:rPr lang="pt-BR">
                    <a:noFill/>
                  </a:rPr>
                  <a:t> </a:t>
                </a:r>
              </a:p>
            </p:txBody>
          </p:sp>
        </mc:Fallback>
      </mc:AlternateContent>
      <p:sp>
        <p:nvSpPr>
          <p:cNvPr id="9" name="CaixaDeTexto 8">
            <a:extLst>
              <a:ext uri="{FF2B5EF4-FFF2-40B4-BE49-F238E27FC236}">
                <a16:creationId xmlns:a16="http://schemas.microsoft.com/office/drawing/2014/main" id="{2628AFDC-5BFB-8F3F-6004-42AA7668BB44}"/>
              </a:ext>
            </a:extLst>
          </p:cNvPr>
          <p:cNvSpPr txBox="1"/>
          <p:nvPr/>
        </p:nvSpPr>
        <p:spPr>
          <a:xfrm>
            <a:off x="4300295" y="4625832"/>
            <a:ext cx="636334" cy="369332"/>
          </a:xfrm>
          <a:prstGeom prst="rect">
            <a:avLst/>
          </a:prstGeom>
          <a:noFill/>
        </p:spPr>
        <p:txBody>
          <a:bodyPr wrap="square" rtlCol="0">
            <a:spAutoFit/>
          </a:bodyPr>
          <a:lstStyle/>
          <a:p>
            <a:pPr algn="r"/>
            <a:r>
              <a:rPr lang="pt-BR" dirty="0"/>
              <a:t>Peso</a:t>
            </a:r>
          </a:p>
        </p:txBody>
      </p:sp>
      <p:cxnSp>
        <p:nvCxnSpPr>
          <p:cNvPr id="10" name="Conector reto 9">
            <a:extLst>
              <a:ext uri="{FF2B5EF4-FFF2-40B4-BE49-F238E27FC236}">
                <a16:creationId xmlns:a16="http://schemas.microsoft.com/office/drawing/2014/main" id="{6658C28E-0283-FC4A-0B5C-5DCDAE0EE825}"/>
              </a:ext>
            </a:extLst>
          </p:cNvPr>
          <p:cNvCxnSpPr/>
          <p:nvPr/>
        </p:nvCxnSpPr>
        <p:spPr>
          <a:xfrm>
            <a:off x="976885" y="4446589"/>
            <a:ext cx="1930484" cy="0"/>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1" name="CaixaDeTexto 10">
            <a:extLst>
              <a:ext uri="{FF2B5EF4-FFF2-40B4-BE49-F238E27FC236}">
                <a16:creationId xmlns:a16="http://schemas.microsoft.com/office/drawing/2014/main" id="{1B97234F-4121-972D-142A-35653790BFFF}"/>
              </a:ext>
            </a:extLst>
          </p:cNvPr>
          <p:cNvSpPr txBox="1"/>
          <p:nvPr/>
        </p:nvSpPr>
        <p:spPr>
          <a:xfrm>
            <a:off x="2683583" y="4163759"/>
            <a:ext cx="1066949" cy="550146"/>
          </a:xfrm>
          <a:prstGeom prst="rect">
            <a:avLst/>
          </a:prstGeom>
          <a:noFill/>
        </p:spPr>
        <p:txBody>
          <a:bodyPr wrap="square" rtlCol="0">
            <a:spAutoFit/>
          </a:bodyPr>
          <a:lstStyle/>
          <a:p>
            <a:pPr algn="ctr"/>
            <a:r>
              <a:rPr lang="pt-BR" sz="1200" dirty="0"/>
              <a:t>Ponto de mínimo</a:t>
            </a:r>
          </a:p>
        </p:txBody>
      </p:sp>
      <p:cxnSp>
        <p:nvCxnSpPr>
          <p:cNvPr id="12" name="Conector reto 11">
            <a:extLst>
              <a:ext uri="{FF2B5EF4-FFF2-40B4-BE49-F238E27FC236}">
                <a16:creationId xmlns:a16="http://schemas.microsoft.com/office/drawing/2014/main" id="{6A266EC2-2029-0C02-4116-56D7140603B0}"/>
              </a:ext>
            </a:extLst>
          </p:cNvPr>
          <p:cNvCxnSpPr>
            <a:cxnSpLocks/>
          </p:cNvCxnSpPr>
          <p:nvPr/>
        </p:nvCxnSpPr>
        <p:spPr>
          <a:xfrm>
            <a:off x="2902477" y="4439022"/>
            <a:ext cx="0" cy="171598"/>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3" name="Elipse 12">
            <a:extLst>
              <a:ext uri="{FF2B5EF4-FFF2-40B4-BE49-F238E27FC236}">
                <a16:creationId xmlns:a16="http://schemas.microsoft.com/office/drawing/2014/main" id="{A0E030FB-67BC-546E-A99D-10C41F6A8A3D}"/>
              </a:ext>
            </a:extLst>
          </p:cNvPr>
          <p:cNvSpPr/>
          <p:nvPr/>
        </p:nvSpPr>
        <p:spPr>
          <a:xfrm>
            <a:off x="2879776" y="4423888"/>
            <a:ext cx="42900" cy="429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Elipse 13">
            <a:extLst>
              <a:ext uri="{FF2B5EF4-FFF2-40B4-BE49-F238E27FC236}">
                <a16:creationId xmlns:a16="http://schemas.microsoft.com/office/drawing/2014/main" id="{DFCED1A8-F4A0-74EF-81A0-62573FF0B969}"/>
              </a:ext>
            </a:extLst>
          </p:cNvPr>
          <p:cNvSpPr/>
          <p:nvPr/>
        </p:nvSpPr>
        <p:spPr>
          <a:xfrm>
            <a:off x="1273647" y="2865415"/>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15" name="Conector reto 14">
            <a:extLst>
              <a:ext uri="{FF2B5EF4-FFF2-40B4-BE49-F238E27FC236}">
                <a16:creationId xmlns:a16="http://schemas.microsoft.com/office/drawing/2014/main" id="{8DDE6786-40C0-06F9-CF5C-BA07DAFCB799}"/>
              </a:ext>
            </a:extLst>
          </p:cNvPr>
          <p:cNvCxnSpPr/>
          <p:nvPr/>
        </p:nvCxnSpPr>
        <p:spPr>
          <a:xfrm>
            <a:off x="973059" y="2886646"/>
            <a:ext cx="324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7" name="Conector reto 16">
            <a:extLst>
              <a:ext uri="{FF2B5EF4-FFF2-40B4-BE49-F238E27FC236}">
                <a16:creationId xmlns:a16="http://schemas.microsoft.com/office/drawing/2014/main" id="{CAA5059E-2CB9-4291-0468-98399C4B2773}"/>
              </a:ext>
            </a:extLst>
          </p:cNvPr>
          <p:cNvCxnSpPr>
            <a:cxnSpLocks/>
          </p:cNvCxnSpPr>
          <p:nvPr/>
        </p:nvCxnSpPr>
        <p:spPr>
          <a:xfrm>
            <a:off x="1295097" y="2865414"/>
            <a:ext cx="0" cy="1764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1" name="CaixaDeTexto 20">
            <a:extLst>
              <a:ext uri="{FF2B5EF4-FFF2-40B4-BE49-F238E27FC236}">
                <a16:creationId xmlns:a16="http://schemas.microsoft.com/office/drawing/2014/main" id="{8CE3E78D-2832-6D21-5620-AF91D0D92A40}"/>
              </a:ext>
            </a:extLst>
          </p:cNvPr>
          <p:cNvSpPr txBox="1"/>
          <p:nvPr/>
        </p:nvSpPr>
        <p:spPr>
          <a:xfrm>
            <a:off x="1173996" y="2684418"/>
            <a:ext cx="1071476" cy="276999"/>
          </a:xfrm>
          <a:prstGeom prst="rect">
            <a:avLst/>
          </a:prstGeom>
          <a:noFill/>
        </p:spPr>
        <p:txBody>
          <a:bodyPr wrap="square" rtlCol="0">
            <a:spAutoFit/>
          </a:bodyPr>
          <a:lstStyle/>
          <a:p>
            <a:pPr algn="ctr"/>
            <a:r>
              <a:rPr lang="pt-BR" sz="1200" dirty="0"/>
              <a:t>Ponto inicial</a:t>
            </a:r>
          </a:p>
        </p:txBody>
      </p:sp>
      <mc:AlternateContent xmlns:mc="http://schemas.openxmlformats.org/markup-compatibility/2006" xmlns:a14="http://schemas.microsoft.com/office/drawing/2010/main">
        <mc:Choice Requires="a14">
          <p:sp>
            <p:nvSpPr>
              <p:cNvPr id="22" name="CaixaDeTexto 21">
                <a:extLst>
                  <a:ext uri="{FF2B5EF4-FFF2-40B4-BE49-F238E27FC236}">
                    <a16:creationId xmlns:a16="http://schemas.microsoft.com/office/drawing/2014/main" id="{009E9506-63AD-0EFC-ECF4-7CD8F23DBFF3}"/>
                  </a:ext>
                </a:extLst>
              </p:cNvPr>
              <p:cNvSpPr txBox="1"/>
              <p:nvPr/>
            </p:nvSpPr>
            <p:spPr>
              <a:xfrm>
                <a:off x="1074774" y="4570269"/>
                <a:ext cx="86794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m:rPr>
                              <m:sty m:val="p"/>
                            </m:rPr>
                            <a:rPr lang="pt-BR" sz="1400" b="0" i="0" smtClean="0">
                              <a:latin typeface="Cambria Math" panose="02040503050406030204" pitchFamily="18" charset="0"/>
                            </a:rPr>
                            <m:t>inicial</m:t>
                          </m:r>
                        </m:sub>
                      </m:sSub>
                    </m:oMath>
                  </m:oMathPara>
                </a14:m>
                <a:endParaRPr lang="pt-BR" sz="1400" dirty="0"/>
              </a:p>
            </p:txBody>
          </p:sp>
        </mc:Choice>
        <mc:Fallback xmlns="">
          <p:sp>
            <p:nvSpPr>
              <p:cNvPr id="22" name="CaixaDeTexto 21">
                <a:extLst>
                  <a:ext uri="{FF2B5EF4-FFF2-40B4-BE49-F238E27FC236}">
                    <a16:creationId xmlns:a16="http://schemas.microsoft.com/office/drawing/2014/main" xmlns="" xmlns:a14="http://schemas.microsoft.com/office/drawing/2010/main" id="{009E9506-63AD-0EFC-ECF4-7CD8F23DBFF3}"/>
                  </a:ext>
                </a:extLst>
              </p:cNvPr>
              <p:cNvSpPr txBox="1">
                <a:spLocks noRot="1" noChangeAspect="1" noMove="1" noResize="1" noEditPoints="1" noAdjustHandles="1" noChangeArrowheads="1" noChangeShapeType="1" noTextEdit="1"/>
              </p:cNvSpPr>
              <p:nvPr/>
            </p:nvSpPr>
            <p:spPr>
              <a:xfrm>
                <a:off x="1074774" y="4570269"/>
                <a:ext cx="867941" cy="307777"/>
              </a:xfrm>
              <a:prstGeom prst="rect">
                <a:avLst/>
              </a:prstGeom>
              <a:blipFill rotWithShape="0">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3" name="CaixaDeTexto 22">
                <a:extLst>
                  <a:ext uri="{FF2B5EF4-FFF2-40B4-BE49-F238E27FC236}">
                    <a16:creationId xmlns:a16="http://schemas.microsoft.com/office/drawing/2014/main" id="{3616B305-9CB0-B473-C7BF-EA4FB5BC2D55}"/>
                  </a:ext>
                </a:extLst>
              </p:cNvPr>
              <p:cNvSpPr txBox="1"/>
              <p:nvPr/>
            </p:nvSpPr>
            <p:spPr>
              <a:xfrm>
                <a:off x="2671712" y="4569848"/>
                <a:ext cx="86794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0" smtClean="0">
                              <a:latin typeface="Cambria Math" panose="02040503050406030204" pitchFamily="18" charset="0"/>
                            </a:rPr>
                            <m:t>ó</m:t>
                          </m:r>
                          <m:r>
                            <m:rPr>
                              <m:sty m:val="p"/>
                            </m:rPr>
                            <a:rPr lang="pt-BR" sz="1400" b="0" i="0" smtClean="0">
                              <a:latin typeface="Cambria Math" panose="02040503050406030204" pitchFamily="18" charset="0"/>
                            </a:rPr>
                            <m:t>timo</m:t>
                          </m:r>
                        </m:sub>
                      </m:sSub>
                    </m:oMath>
                  </m:oMathPara>
                </a14:m>
                <a:endParaRPr lang="pt-BR" sz="1400" dirty="0"/>
              </a:p>
            </p:txBody>
          </p:sp>
        </mc:Choice>
        <mc:Fallback xmlns="">
          <p:sp>
            <p:nvSpPr>
              <p:cNvPr id="23" name="CaixaDeTexto 22">
                <a:extLst>
                  <a:ext uri="{FF2B5EF4-FFF2-40B4-BE49-F238E27FC236}">
                    <a16:creationId xmlns:a16="http://schemas.microsoft.com/office/drawing/2014/main" xmlns="" xmlns:a14="http://schemas.microsoft.com/office/drawing/2010/main" id="{3616B305-9CB0-B473-C7BF-EA4FB5BC2D55}"/>
                  </a:ext>
                </a:extLst>
              </p:cNvPr>
              <p:cNvSpPr txBox="1">
                <a:spLocks noRot="1" noChangeAspect="1" noMove="1" noResize="1" noEditPoints="1" noAdjustHandles="1" noChangeArrowheads="1" noChangeShapeType="1" noTextEdit="1"/>
              </p:cNvSpPr>
              <p:nvPr/>
            </p:nvSpPr>
            <p:spPr>
              <a:xfrm>
                <a:off x="2671712" y="4569848"/>
                <a:ext cx="867941" cy="307777"/>
              </a:xfrm>
              <a:prstGeom prst="rect">
                <a:avLst/>
              </a:prstGeom>
              <a:blipFill rotWithShape="0">
                <a:blip r:embed="rId5"/>
                <a:stretch>
                  <a:fillRect/>
                </a:stretch>
              </a:blipFill>
            </p:spPr>
            <p:txBody>
              <a:bodyPr/>
              <a:lstStyle/>
              <a:p>
                <a:r>
                  <a:rPr lang="pt-BR">
                    <a:noFill/>
                  </a:rPr>
                  <a:t> </a:t>
                </a:r>
              </a:p>
            </p:txBody>
          </p:sp>
        </mc:Fallback>
      </mc:AlternateContent>
      <p:cxnSp>
        <p:nvCxnSpPr>
          <p:cNvPr id="4" name="Conector de Seta Reta 3">
            <a:extLst>
              <a:ext uri="{FF2B5EF4-FFF2-40B4-BE49-F238E27FC236}">
                <a16:creationId xmlns:a16="http://schemas.microsoft.com/office/drawing/2014/main" id="{D8D8EBA8-9252-FA17-0758-3EC098D4A552}"/>
              </a:ext>
            </a:extLst>
          </p:cNvPr>
          <p:cNvCxnSpPr>
            <a:cxnSpLocks/>
          </p:cNvCxnSpPr>
          <p:nvPr/>
        </p:nvCxnSpPr>
        <p:spPr>
          <a:xfrm>
            <a:off x="1295851" y="2885809"/>
            <a:ext cx="473505" cy="79766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Elipse 18">
            <a:extLst>
              <a:ext uri="{FF2B5EF4-FFF2-40B4-BE49-F238E27FC236}">
                <a16:creationId xmlns:a16="http://schemas.microsoft.com/office/drawing/2014/main" id="{5C3BA385-0F21-9DE3-C731-2E356FD76FBC}"/>
              </a:ext>
            </a:extLst>
          </p:cNvPr>
          <p:cNvSpPr/>
          <p:nvPr/>
        </p:nvSpPr>
        <p:spPr>
          <a:xfrm>
            <a:off x="1901608" y="3740583"/>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1" name="Forma Livre: Forma 40">
            <a:extLst>
              <a:ext uri="{FF2B5EF4-FFF2-40B4-BE49-F238E27FC236}">
                <a16:creationId xmlns:a16="http://schemas.microsoft.com/office/drawing/2014/main" id="{2D44C00B-D931-A8A7-3AD9-75A394317A2C}"/>
              </a:ext>
            </a:extLst>
          </p:cNvPr>
          <p:cNvSpPr/>
          <p:nvPr/>
        </p:nvSpPr>
        <p:spPr>
          <a:xfrm>
            <a:off x="1314106" y="2884757"/>
            <a:ext cx="603593" cy="862246"/>
          </a:xfrm>
          <a:custGeom>
            <a:avLst/>
            <a:gdLst>
              <a:gd name="connsiteX0" fmla="*/ 0 w 609600"/>
              <a:gd name="connsiteY0" fmla="*/ 0 h 882650"/>
              <a:gd name="connsiteX1" fmla="*/ 374650 w 609600"/>
              <a:gd name="connsiteY1" fmla="*/ 273050 h 882650"/>
              <a:gd name="connsiteX2" fmla="*/ 609600 w 609600"/>
              <a:gd name="connsiteY2" fmla="*/ 882650 h 882650"/>
            </a:gdLst>
            <a:ahLst/>
            <a:cxnLst>
              <a:cxn ang="0">
                <a:pos x="connsiteX0" y="connsiteY0"/>
              </a:cxn>
              <a:cxn ang="0">
                <a:pos x="connsiteX1" y="connsiteY1"/>
              </a:cxn>
              <a:cxn ang="0">
                <a:pos x="connsiteX2" y="connsiteY2"/>
              </a:cxn>
            </a:cxnLst>
            <a:rect l="l" t="t" r="r" b="b"/>
            <a:pathLst>
              <a:path w="609600" h="882650">
                <a:moveTo>
                  <a:pt x="0" y="0"/>
                </a:moveTo>
                <a:cubicBezTo>
                  <a:pt x="136525" y="62971"/>
                  <a:pt x="273050" y="125942"/>
                  <a:pt x="374650" y="273050"/>
                </a:cubicBezTo>
                <a:cubicBezTo>
                  <a:pt x="476250" y="420158"/>
                  <a:pt x="542925" y="651404"/>
                  <a:pt x="609600" y="882650"/>
                </a:cubicBezTo>
              </a:path>
            </a:pathLst>
          </a:custGeom>
          <a:noFill/>
          <a:ln w="3175">
            <a:solidFill>
              <a:schemeClr val="tx1"/>
            </a:solidFill>
            <a:prstDash val="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2" name="CaixaDeTexto 41">
            <a:extLst>
              <a:ext uri="{FF2B5EF4-FFF2-40B4-BE49-F238E27FC236}">
                <a16:creationId xmlns:a16="http://schemas.microsoft.com/office/drawing/2014/main" id="{FBAEB95B-710F-E24C-28C3-5A9AC998E627}"/>
              </a:ext>
            </a:extLst>
          </p:cNvPr>
          <p:cNvSpPr txBox="1"/>
          <p:nvPr/>
        </p:nvSpPr>
        <p:spPr>
          <a:xfrm>
            <a:off x="1872422" y="3579652"/>
            <a:ext cx="1071476" cy="276999"/>
          </a:xfrm>
          <a:prstGeom prst="rect">
            <a:avLst/>
          </a:prstGeom>
          <a:noFill/>
        </p:spPr>
        <p:txBody>
          <a:bodyPr wrap="square" rtlCol="0">
            <a:spAutoFit/>
          </a:bodyPr>
          <a:lstStyle/>
          <a:p>
            <a:r>
              <a:rPr lang="pt-BR" sz="1200" dirty="0"/>
              <a:t>Novo ponto</a:t>
            </a:r>
          </a:p>
        </p:txBody>
      </p:sp>
      <mc:AlternateContent xmlns:mc="http://schemas.openxmlformats.org/markup-compatibility/2006" xmlns:a14="http://schemas.microsoft.com/office/drawing/2010/main">
        <mc:Choice Requires="a14">
          <p:sp>
            <p:nvSpPr>
              <p:cNvPr id="44" name="CaixaDeTexto 43">
                <a:extLst>
                  <a:ext uri="{FF2B5EF4-FFF2-40B4-BE49-F238E27FC236}">
                    <a16:creationId xmlns:a16="http://schemas.microsoft.com/office/drawing/2014/main" id="{C175C0BA-5097-143C-81A3-F410417F7E1C}"/>
                  </a:ext>
                </a:extLst>
              </p:cNvPr>
              <p:cNvSpPr txBox="1"/>
              <p:nvPr/>
            </p:nvSpPr>
            <p:spPr>
              <a:xfrm>
                <a:off x="2328284" y="3803376"/>
                <a:ext cx="756505" cy="444032"/>
              </a:xfrm>
              <a:prstGeom prst="rect">
                <a:avLst/>
              </a:prstGeom>
              <a:noFill/>
            </p:spPr>
            <p:txBody>
              <a:bodyPr wrap="square">
                <a:spAutoFit/>
              </a:bodyPr>
              <a:lstStyle/>
              <a:p>
                <a:pPr/>
                <a14:m>
                  <m:oMathPara xmlns:m="http://schemas.openxmlformats.org/officeDocument/2006/math">
                    <m:oMath>
                      <m:r>
                        <a:rPr lang="pt-BR" sz="1200" i="1" dirty="0" smtClean="0">
                          <a:latin typeface="Cambria Math" panose="02040503050406030204" pitchFamily="18" charset="0"/>
                          <a:ea typeface="Cambria Math" panose="02040503050406030204" pitchFamily="18" charset="0"/>
                        </a:rPr>
                        <m:t>𝛼</m:t>
                      </m:r>
                      <m:f>
                        <m:fPr>
                          <m:ctrlPr>
                            <a:rPr lang="pt-BR" sz="1200" i="1" dirty="0" smtClean="0">
                              <a:latin typeface="Cambria Math" panose="02040503050406030204" pitchFamily="18" charset="0"/>
                            </a:rPr>
                          </m:ctrlPr>
                        </m:fPr>
                        <m:num>
                          <m:r>
                            <a:rPr lang="pt-BR" sz="1200" i="1" dirty="0" smtClean="0">
                              <a:latin typeface="Cambria Math" panose="02040503050406030204" pitchFamily="18" charset="0"/>
                            </a:rPr>
                            <m:t>𝜕</m:t>
                          </m:r>
                          <m:sSub>
                            <m:sSubPr>
                              <m:ctrlPr>
                                <a:rPr lang="pt-BR" sz="1200" i="1">
                                  <a:latin typeface="Cambria Math" panose="02040503050406030204" pitchFamily="18" charset="0"/>
                                </a:rPr>
                              </m:ctrlPr>
                            </m:sSubPr>
                            <m:e>
                              <m:r>
                                <a:rPr lang="pt-BR" sz="1200" i="1">
                                  <a:latin typeface="Cambria Math" panose="02040503050406030204" pitchFamily="18" charset="0"/>
                                </a:rPr>
                                <m:t>𝐽</m:t>
                              </m:r>
                            </m:e>
                            <m:sub>
                              <m:r>
                                <a:rPr lang="pt-BR" sz="1200" i="1">
                                  <a:latin typeface="Cambria Math" panose="02040503050406030204" pitchFamily="18" charset="0"/>
                                </a:rPr>
                                <m:t>𝑒</m:t>
                              </m:r>
                            </m:sub>
                          </m:sSub>
                          <m:r>
                            <a:rPr lang="pt-BR" sz="1200" i="1">
                              <a:latin typeface="Cambria Math" panose="02040503050406030204" pitchFamily="18" charset="0"/>
                            </a:rPr>
                            <m:t>(</m:t>
                          </m:r>
                          <m:sSub>
                            <m:sSubPr>
                              <m:ctrlPr>
                                <a:rPr lang="pt-BR" sz="1200" i="1">
                                  <a:latin typeface="Cambria Math" panose="02040503050406030204" pitchFamily="18" charset="0"/>
                                </a:rPr>
                              </m:ctrlPr>
                            </m:sSubPr>
                            <m:e>
                              <m:r>
                                <a:rPr lang="pt-BR" sz="1200" i="1">
                                  <a:latin typeface="Cambria Math" panose="02040503050406030204" pitchFamily="18" charset="0"/>
                                </a:rPr>
                                <m:t>𝑎</m:t>
                              </m:r>
                            </m:e>
                            <m:sub>
                              <m:r>
                                <m:rPr>
                                  <m:sty m:val="p"/>
                                </m:rPr>
                                <a:rPr lang="pt-BR" sz="1200" b="0" i="0" smtClean="0">
                                  <a:latin typeface="Cambria Math" panose="02040503050406030204" pitchFamily="18" charset="0"/>
                                </a:rPr>
                                <m:t>novo</m:t>
                              </m:r>
                            </m:sub>
                          </m:sSub>
                          <m:r>
                            <a:rPr lang="pt-BR" sz="1200" i="1">
                              <a:latin typeface="Cambria Math" panose="02040503050406030204" pitchFamily="18" charset="0"/>
                            </a:rPr>
                            <m:t>)</m:t>
                          </m:r>
                        </m:num>
                        <m:den>
                          <m:r>
                            <a:rPr lang="pt-BR" sz="1200" i="1" dirty="0" smtClean="0">
                              <a:latin typeface="Cambria Math" panose="02040503050406030204" pitchFamily="18" charset="0"/>
                            </a:rPr>
                            <m:t>𝜕</m:t>
                          </m:r>
                          <m:r>
                            <a:rPr lang="pt-BR" sz="1200" b="0" i="1" dirty="0" smtClean="0">
                              <a:latin typeface="Cambria Math" panose="02040503050406030204" pitchFamily="18" charset="0"/>
                            </a:rPr>
                            <m:t>𝑎</m:t>
                          </m:r>
                        </m:den>
                      </m:f>
                    </m:oMath>
                  </m:oMathPara>
                </a14:m>
                <a:endParaRPr lang="pt-BR" sz="1200" dirty="0"/>
              </a:p>
            </p:txBody>
          </p:sp>
        </mc:Choice>
        <mc:Fallback xmlns="">
          <p:sp>
            <p:nvSpPr>
              <p:cNvPr id="44" name="CaixaDeTexto 43">
                <a:extLst>
                  <a:ext uri="{FF2B5EF4-FFF2-40B4-BE49-F238E27FC236}">
                    <a16:creationId xmlns:a16="http://schemas.microsoft.com/office/drawing/2014/main" xmlns="" xmlns:a14="http://schemas.microsoft.com/office/drawing/2010/main" id="{C175C0BA-5097-143C-81A3-F410417F7E1C}"/>
                  </a:ext>
                </a:extLst>
              </p:cNvPr>
              <p:cNvSpPr txBox="1">
                <a:spLocks noRot="1" noChangeAspect="1" noMove="1" noResize="1" noEditPoints="1" noAdjustHandles="1" noChangeArrowheads="1" noChangeShapeType="1" noTextEdit="1"/>
              </p:cNvSpPr>
              <p:nvPr/>
            </p:nvSpPr>
            <p:spPr>
              <a:xfrm>
                <a:off x="2328284" y="3803376"/>
                <a:ext cx="756505" cy="444032"/>
              </a:xfrm>
              <a:prstGeom prst="rect">
                <a:avLst/>
              </a:prstGeom>
              <a:blipFill rotWithShape="0">
                <a:blip r:embed="rId6"/>
                <a:stretch>
                  <a:fillRect r="-29032" b="-1370"/>
                </a:stretch>
              </a:blipFill>
            </p:spPr>
            <p:txBody>
              <a:bodyPr/>
              <a:lstStyle/>
              <a:p>
                <a:r>
                  <a:rPr lang="pt-BR">
                    <a:noFill/>
                  </a:rPr>
                  <a:t> </a:t>
                </a:r>
              </a:p>
            </p:txBody>
          </p:sp>
        </mc:Fallback>
      </mc:AlternateContent>
      <p:cxnSp>
        <p:nvCxnSpPr>
          <p:cNvPr id="45" name="Conector reto 44">
            <a:extLst>
              <a:ext uri="{FF2B5EF4-FFF2-40B4-BE49-F238E27FC236}">
                <a16:creationId xmlns:a16="http://schemas.microsoft.com/office/drawing/2014/main" id="{7BA96501-5A5A-E5AB-9D1D-9FD5C2346EB1}"/>
              </a:ext>
            </a:extLst>
          </p:cNvPr>
          <p:cNvCxnSpPr>
            <a:cxnSpLocks/>
          </p:cNvCxnSpPr>
          <p:nvPr/>
        </p:nvCxnSpPr>
        <p:spPr>
          <a:xfrm>
            <a:off x="1924842" y="3773961"/>
            <a:ext cx="0" cy="828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6" name="CaixaDeTexto 45">
                <a:extLst>
                  <a:ext uri="{FF2B5EF4-FFF2-40B4-BE49-F238E27FC236}">
                    <a16:creationId xmlns:a16="http://schemas.microsoft.com/office/drawing/2014/main" id="{C19EAC35-A140-C8F7-7653-05C10318AAB8}"/>
                  </a:ext>
                </a:extLst>
              </p:cNvPr>
              <p:cNvSpPr txBox="1"/>
              <p:nvPr/>
            </p:nvSpPr>
            <p:spPr>
              <a:xfrm>
                <a:off x="1703016" y="4581082"/>
                <a:ext cx="86794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m:rPr>
                              <m:sty m:val="p"/>
                            </m:rPr>
                            <a:rPr lang="pt-BR" sz="1400" b="0" i="0" smtClean="0">
                              <a:latin typeface="Cambria Math" panose="02040503050406030204" pitchFamily="18" charset="0"/>
                            </a:rPr>
                            <m:t>novo</m:t>
                          </m:r>
                        </m:sub>
                      </m:sSub>
                    </m:oMath>
                  </m:oMathPara>
                </a14:m>
                <a:endParaRPr lang="pt-BR" sz="1400" dirty="0"/>
              </a:p>
            </p:txBody>
          </p:sp>
        </mc:Choice>
        <mc:Fallback xmlns="">
          <p:sp>
            <p:nvSpPr>
              <p:cNvPr id="46" name="CaixaDeTexto 45">
                <a:extLst>
                  <a:ext uri="{FF2B5EF4-FFF2-40B4-BE49-F238E27FC236}">
                    <a16:creationId xmlns:a16="http://schemas.microsoft.com/office/drawing/2014/main" xmlns="" xmlns:a14="http://schemas.microsoft.com/office/drawing/2010/main" id="{C19EAC35-A140-C8F7-7653-05C10318AAB8}"/>
                  </a:ext>
                </a:extLst>
              </p:cNvPr>
              <p:cNvSpPr txBox="1">
                <a:spLocks noRot="1" noChangeAspect="1" noMove="1" noResize="1" noEditPoints="1" noAdjustHandles="1" noChangeArrowheads="1" noChangeShapeType="1" noTextEdit="1"/>
              </p:cNvSpPr>
              <p:nvPr/>
            </p:nvSpPr>
            <p:spPr>
              <a:xfrm>
                <a:off x="1703016" y="4581082"/>
                <a:ext cx="867941" cy="307777"/>
              </a:xfrm>
              <a:prstGeom prst="rect">
                <a:avLst/>
              </a:prstGeom>
              <a:blipFill rotWithShape="0">
                <a:blip r:embed="rId7"/>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7" name="CaixaDeTexto 46">
                <a:extLst>
                  <a:ext uri="{FF2B5EF4-FFF2-40B4-BE49-F238E27FC236}">
                    <a16:creationId xmlns:a16="http://schemas.microsoft.com/office/drawing/2014/main" id="{D33E10AB-FEF7-84CD-FDCE-1ED204C52B50}"/>
                  </a:ext>
                </a:extLst>
              </p:cNvPr>
              <p:cNvSpPr txBox="1"/>
              <p:nvPr/>
            </p:nvSpPr>
            <p:spPr>
              <a:xfrm>
                <a:off x="955480" y="5704354"/>
                <a:ext cx="3662982" cy="678584"/>
              </a:xfrm>
              <a:prstGeom prst="rect">
                <a:avLst/>
              </a:prstGeom>
              <a:noFill/>
            </p:spPr>
            <p:txBody>
              <a:bodyPr wrap="square" rtlCol="0">
                <a:spAutoFit/>
              </a:bodyPr>
              <a:lstStyle/>
              <a:p>
                <a:pPr algn="ctr"/>
                <a14:m>
                  <m:oMathPara xmlns:m="http://schemas.openxmlformats.org/officeDocument/2006/math">
                    <m:oMath>
                      <m:sSub>
                        <m:sSubPr>
                          <m:ctrlPr>
                            <a:rPr lang="pt-BR" sz="2000" b="0" i="1" smtClean="0">
                              <a:latin typeface="Cambria Math" panose="02040503050406030204" pitchFamily="18" charset="0"/>
                            </a:rPr>
                          </m:ctrlPr>
                        </m:sSubPr>
                        <m:e>
                          <m:r>
                            <a:rPr lang="pt-BR" sz="2000" b="0" i="1" smtClean="0">
                              <a:latin typeface="Cambria Math" panose="02040503050406030204" pitchFamily="18" charset="0"/>
                            </a:rPr>
                            <m:t>𝑎</m:t>
                          </m:r>
                        </m:e>
                        <m:sub>
                          <m:r>
                            <m:rPr>
                              <m:sty m:val="p"/>
                            </m:rPr>
                            <a:rPr lang="pt-BR" sz="2000" b="0" i="0" smtClean="0">
                              <a:latin typeface="Cambria Math" panose="02040503050406030204" pitchFamily="18" charset="0"/>
                            </a:rPr>
                            <m:t>novo</m:t>
                          </m:r>
                        </m:sub>
                      </m:sSub>
                      <m:r>
                        <a:rPr lang="pt-BR" sz="2000" b="0" i="0" smtClean="0">
                          <a:latin typeface="Cambria Math" panose="02040503050406030204" pitchFamily="18" charset="0"/>
                        </a:rPr>
                        <m:t>=</m:t>
                      </m:r>
                      <m:sSub>
                        <m:sSubPr>
                          <m:ctrlPr>
                            <a:rPr lang="pt-BR" sz="2000" i="1">
                              <a:latin typeface="Cambria Math" panose="02040503050406030204" pitchFamily="18" charset="0"/>
                            </a:rPr>
                          </m:ctrlPr>
                        </m:sSubPr>
                        <m:e>
                          <m:r>
                            <a:rPr lang="pt-BR" sz="2000" i="1">
                              <a:latin typeface="Cambria Math" panose="02040503050406030204" pitchFamily="18" charset="0"/>
                            </a:rPr>
                            <m:t>𝑎</m:t>
                          </m:r>
                        </m:e>
                        <m:sub>
                          <m:r>
                            <m:rPr>
                              <m:sty m:val="p"/>
                            </m:rPr>
                            <a:rPr lang="pt-BR" sz="2000">
                              <a:latin typeface="Cambria Math" panose="02040503050406030204" pitchFamily="18" charset="0"/>
                            </a:rPr>
                            <m:t>inicial</m:t>
                          </m:r>
                        </m:sub>
                      </m:sSub>
                      <m:r>
                        <a:rPr lang="pt-BR" sz="2000" b="0" i="0" smtClean="0">
                          <a:latin typeface="Cambria Math" panose="02040503050406030204" pitchFamily="18" charset="0"/>
                        </a:rPr>
                        <m:t>−</m:t>
                      </m:r>
                      <m:r>
                        <a:rPr lang="pt-BR" sz="2000" i="1" dirty="0">
                          <a:latin typeface="Cambria Math" panose="02040503050406030204" pitchFamily="18" charset="0"/>
                          <a:ea typeface="Cambria Math" panose="02040503050406030204" pitchFamily="18" charset="0"/>
                        </a:rPr>
                        <m:t>𝛼</m:t>
                      </m:r>
                      <m:f>
                        <m:fPr>
                          <m:ctrlPr>
                            <a:rPr lang="pt-BR" sz="2000" i="1" dirty="0">
                              <a:latin typeface="Cambria Math" panose="02040503050406030204" pitchFamily="18" charset="0"/>
                            </a:rPr>
                          </m:ctrlPr>
                        </m:fPr>
                        <m:num>
                          <m:r>
                            <a:rPr lang="pt-BR" sz="2000" i="1" dirty="0">
                              <a:latin typeface="Cambria Math" panose="02040503050406030204" pitchFamily="18" charset="0"/>
                            </a:rPr>
                            <m:t>𝜕</m:t>
                          </m:r>
                          <m:sSub>
                            <m:sSubPr>
                              <m:ctrlPr>
                                <a:rPr lang="pt-BR" sz="2000" i="1">
                                  <a:latin typeface="Cambria Math" panose="02040503050406030204" pitchFamily="18" charset="0"/>
                                </a:rPr>
                              </m:ctrlPr>
                            </m:sSubPr>
                            <m:e>
                              <m:r>
                                <a:rPr lang="pt-BR" sz="2000" i="1">
                                  <a:latin typeface="Cambria Math" panose="02040503050406030204" pitchFamily="18" charset="0"/>
                                </a:rPr>
                                <m:t>𝐽</m:t>
                              </m:r>
                            </m:e>
                            <m:sub>
                              <m:r>
                                <a:rPr lang="pt-BR" sz="2000" i="1">
                                  <a:latin typeface="Cambria Math" panose="02040503050406030204" pitchFamily="18" charset="0"/>
                                </a:rPr>
                                <m:t>𝑒</m:t>
                              </m:r>
                            </m:sub>
                          </m:sSub>
                          <m:r>
                            <a:rPr lang="pt-BR" sz="2000" i="1">
                              <a:latin typeface="Cambria Math" panose="02040503050406030204" pitchFamily="18" charset="0"/>
                            </a:rPr>
                            <m:t>(</m:t>
                          </m:r>
                          <m:sSub>
                            <m:sSubPr>
                              <m:ctrlPr>
                                <a:rPr lang="pt-BR" sz="2000" i="1">
                                  <a:latin typeface="Cambria Math" panose="02040503050406030204" pitchFamily="18" charset="0"/>
                                </a:rPr>
                              </m:ctrlPr>
                            </m:sSubPr>
                            <m:e>
                              <m:r>
                                <a:rPr lang="pt-BR" sz="2000" i="1">
                                  <a:latin typeface="Cambria Math" panose="02040503050406030204" pitchFamily="18" charset="0"/>
                                </a:rPr>
                                <m:t>𝑎</m:t>
                              </m:r>
                            </m:e>
                            <m:sub>
                              <m:r>
                                <m:rPr>
                                  <m:sty m:val="p"/>
                                </m:rPr>
                                <a:rPr lang="pt-BR" sz="2000">
                                  <a:latin typeface="Cambria Math" panose="02040503050406030204" pitchFamily="18" charset="0"/>
                                </a:rPr>
                                <m:t>inicial</m:t>
                              </m:r>
                            </m:sub>
                          </m:sSub>
                          <m:r>
                            <a:rPr lang="pt-BR" sz="2000" i="1">
                              <a:latin typeface="Cambria Math" panose="02040503050406030204" pitchFamily="18" charset="0"/>
                            </a:rPr>
                            <m:t>)</m:t>
                          </m:r>
                        </m:num>
                        <m:den>
                          <m:r>
                            <a:rPr lang="pt-BR" sz="2000" i="1" dirty="0">
                              <a:latin typeface="Cambria Math" panose="02040503050406030204" pitchFamily="18" charset="0"/>
                            </a:rPr>
                            <m:t>𝜕</m:t>
                          </m:r>
                          <m:r>
                            <a:rPr lang="pt-BR" sz="2000" i="1" dirty="0">
                              <a:latin typeface="Cambria Math" panose="02040503050406030204" pitchFamily="18" charset="0"/>
                            </a:rPr>
                            <m:t>𝑎</m:t>
                          </m:r>
                        </m:den>
                      </m:f>
                    </m:oMath>
                  </m:oMathPara>
                </a14:m>
                <a:endParaRPr lang="pt-BR" sz="2000" dirty="0"/>
              </a:p>
            </p:txBody>
          </p:sp>
        </mc:Choice>
        <mc:Fallback xmlns="">
          <p:sp>
            <p:nvSpPr>
              <p:cNvPr id="47" name="CaixaDeTexto 46">
                <a:extLst>
                  <a:ext uri="{FF2B5EF4-FFF2-40B4-BE49-F238E27FC236}">
                    <a16:creationId xmlns:a16="http://schemas.microsoft.com/office/drawing/2014/main" id="{A5146C3E-B0FA-B680-38D2-A628801FD84D}"/>
                  </a:ext>
                </a:extLst>
              </p:cNvPr>
              <p:cNvSpPr txBox="1">
                <a:spLocks noRot="1" noChangeAspect="1" noMove="1" noResize="1" noEditPoints="1" noAdjustHandles="1" noChangeArrowheads="1" noChangeShapeType="1" noTextEdit="1"/>
              </p:cNvSpPr>
              <p:nvPr/>
            </p:nvSpPr>
            <p:spPr>
              <a:xfrm>
                <a:off x="955480" y="5704354"/>
                <a:ext cx="3662982" cy="678584"/>
              </a:xfrm>
              <a:prstGeom prst="rect">
                <a:avLst/>
              </a:prstGeom>
              <a:blipFill>
                <a:blip r:embed="rId9"/>
                <a:stretch>
                  <a:fillRect/>
                </a:stretch>
              </a:blipFill>
            </p:spPr>
            <p:txBody>
              <a:bodyPr/>
              <a:lstStyle/>
              <a:p>
                <a:r>
                  <a:rPr lang="pt-BR">
                    <a:noFill/>
                  </a:rPr>
                  <a:t> </a:t>
                </a:r>
              </a:p>
            </p:txBody>
          </p:sp>
        </mc:Fallback>
      </mc:AlternateContent>
      <p:sp>
        <p:nvSpPr>
          <p:cNvPr id="48" name="CaixaDeTexto 47">
            <a:extLst>
              <a:ext uri="{FF2B5EF4-FFF2-40B4-BE49-F238E27FC236}">
                <a16:creationId xmlns:a16="http://schemas.microsoft.com/office/drawing/2014/main" id="{4AE040C1-4906-8D50-4FF3-FA03EBBAA2E3}"/>
              </a:ext>
            </a:extLst>
          </p:cNvPr>
          <p:cNvSpPr txBox="1"/>
          <p:nvPr/>
        </p:nvSpPr>
        <p:spPr>
          <a:xfrm>
            <a:off x="2851197" y="6545877"/>
            <a:ext cx="2898196" cy="276999"/>
          </a:xfrm>
          <a:prstGeom prst="rect">
            <a:avLst/>
          </a:prstGeom>
          <a:noFill/>
        </p:spPr>
        <p:txBody>
          <a:bodyPr wrap="square" rtlCol="0">
            <a:spAutoFit/>
          </a:bodyPr>
          <a:lstStyle/>
          <a:p>
            <a:r>
              <a:rPr lang="pt-BR" sz="1200" dirty="0"/>
              <a:t>sentido aposto ao apontado pelo gradiente</a:t>
            </a:r>
          </a:p>
        </p:txBody>
      </p:sp>
      <p:cxnSp>
        <p:nvCxnSpPr>
          <p:cNvPr id="50" name="Conector de Seta Reta 49">
            <a:extLst>
              <a:ext uri="{FF2B5EF4-FFF2-40B4-BE49-F238E27FC236}">
                <a16:creationId xmlns:a16="http://schemas.microsoft.com/office/drawing/2014/main" id="{7D7F8FAE-E203-A39C-9C19-0BF73A9CD1A4}"/>
              </a:ext>
            </a:extLst>
          </p:cNvPr>
          <p:cNvCxnSpPr>
            <a:cxnSpLocks/>
          </p:cNvCxnSpPr>
          <p:nvPr/>
        </p:nvCxnSpPr>
        <p:spPr>
          <a:xfrm>
            <a:off x="2879776" y="6168939"/>
            <a:ext cx="89430" cy="34501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CaixaDeTexto 4">
            <a:extLst>
              <a:ext uri="{FF2B5EF4-FFF2-40B4-BE49-F238E27FC236}">
                <a16:creationId xmlns:a16="http://schemas.microsoft.com/office/drawing/2014/main" id="{55A5996C-9053-5970-0342-0500D2C5EF44}"/>
              </a:ext>
            </a:extLst>
          </p:cNvPr>
          <p:cNvSpPr txBox="1"/>
          <p:nvPr/>
        </p:nvSpPr>
        <p:spPr>
          <a:xfrm>
            <a:off x="2729921" y="5288988"/>
            <a:ext cx="1790707" cy="276999"/>
          </a:xfrm>
          <a:prstGeom prst="rect">
            <a:avLst/>
          </a:prstGeom>
          <a:noFill/>
        </p:spPr>
        <p:txBody>
          <a:bodyPr wrap="square" rtlCol="0">
            <a:spAutoFit/>
          </a:bodyPr>
          <a:lstStyle/>
          <a:p>
            <a:pPr algn="ctr"/>
            <a:r>
              <a:rPr lang="pt-BR" sz="1200" dirty="0"/>
              <a:t>Termo de atualização</a:t>
            </a:r>
          </a:p>
        </p:txBody>
      </p:sp>
      <p:sp>
        <p:nvSpPr>
          <p:cNvPr id="26" name="Chave Direita 25">
            <a:extLst>
              <a:ext uri="{FF2B5EF4-FFF2-40B4-BE49-F238E27FC236}">
                <a16:creationId xmlns:a16="http://schemas.microsoft.com/office/drawing/2014/main" id="{A019FC8F-5684-7736-FEA0-2C289609A668}"/>
              </a:ext>
            </a:extLst>
          </p:cNvPr>
          <p:cNvSpPr/>
          <p:nvPr/>
        </p:nvSpPr>
        <p:spPr>
          <a:xfrm rot="16200000">
            <a:off x="3501985" y="4768070"/>
            <a:ext cx="246580" cy="179070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32" name="Forma Livre: Forma 40">
            <a:extLst>
              <a:ext uri="{FF2B5EF4-FFF2-40B4-BE49-F238E27FC236}">
                <a16:creationId xmlns:a16="http://schemas.microsoft.com/office/drawing/2014/main" id="{2D44C00B-D931-A8A7-3AD9-75A394317A2C}"/>
              </a:ext>
            </a:extLst>
          </p:cNvPr>
          <p:cNvSpPr/>
          <p:nvPr/>
        </p:nvSpPr>
        <p:spPr>
          <a:xfrm rot="20350615">
            <a:off x="2058423" y="3706083"/>
            <a:ext cx="310198" cy="681767"/>
          </a:xfrm>
          <a:custGeom>
            <a:avLst/>
            <a:gdLst>
              <a:gd name="connsiteX0" fmla="*/ 0 w 609600"/>
              <a:gd name="connsiteY0" fmla="*/ 0 h 882650"/>
              <a:gd name="connsiteX1" fmla="*/ 374650 w 609600"/>
              <a:gd name="connsiteY1" fmla="*/ 273050 h 882650"/>
              <a:gd name="connsiteX2" fmla="*/ 609600 w 609600"/>
              <a:gd name="connsiteY2" fmla="*/ 882650 h 882650"/>
            </a:gdLst>
            <a:ahLst/>
            <a:cxnLst>
              <a:cxn ang="0">
                <a:pos x="connsiteX0" y="connsiteY0"/>
              </a:cxn>
              <a:cxn ang="0">
                <a:pos x="connsiteX1" y="connsiteY1"/>
              </a:cxn>
              <a:cxn ang="0">
                <a:pos x="connsiteX2" y="connsiteY2"/>
              </a:cxn>
            </a:cxnLst>
            <a:rect l="l" t="t" r="r" b="b"/>
            <a:pathLst>
              <a:path w="609600" h="882650">
                <a:moveTo>
                  <a:pt x="0" y="0"/>
                </a:moveTo>
                <a:cubicBezTo>
                  <a:pt x="136525" y="62971"/>
                  <a:pt x="273050" y="125942"/>
                  <a:pt x="374650" y="273050"/>
                </a:cubicBezTo>
                <a:cubicBezTo>
                  <a:pt x="476250" y="420158"/>
                  <a:pt x="542925" y="651404"/>
                  <a:pt x="609600" y="882650"/>
                </a:cubicBezTo>
              </a:path>
            </a:pathLst>
          </a:custGeom>
          <a:noFill/>
          <a:ln w="3175">
            <a:solidFill>
              <a:schemeClr val="tx1"/>
            </a:solidFill>
            <a:prstDash val="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4" name="Elipse 33">
            <a:extLst>
              <a:ext uri="{FF2B5EF4-FFF2-40B4-BE49-F238E27FC236}">
                <a16:creationId xmlns:a16="http://schemas.microsoft.com/office/drawing/2014/main" id="{5C3BA385-0F21-9DE3-C731-2E356FD76FBC}"/>
              </a:ext>
            </a:extLst>
          </p:cNvPr>
          <p:cNvSpPr/>
          <p:nvPr/>
        </p:nvSpPr>
        <p:spPr>
          <a:xfrm>
            <a:off x="2445619" y="4270016"/>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35" name="Conector reto 34">
            <a:extLst>
              <a:ext uri="{FF2B5EF4-FFF2-40B4-BE49-F238E27FC236}">
                <a16:creationId xmlns:a16="http://schemas.microsoft.com/office/drawing/2014/main" id="{8DDE6786-40C0-06F9-CF5C-BA07DAFCB799}"/>
              </a:ext>
            </a:extLst>
          </p:cNvPr>
          <p:cNvCxnSpPr/>
          <p:nvPr/>
        </p:nvCxnSpPr>
        <p:spPr>
          <a:xfrm>
            <a:off x="958483" y="3773958"/>
            <a:ext cx="972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6" name="Conector reto 35">
            <a:extLst>
              <a:ext uri="{FF2B5EF4-FFF2-40B4-BE49-F238E27FC236}">
                <a16:creationId xmlns:a16="http://schemas.microsoft.com/office/drawing/2014/main" id="{8DDE6786-40C0-06F9-CF5C-BA07DAFCB799}"/>
              </a:ext>
            </a:extLst>
          </p:cNvPr>
          <p:cNvCxnSpPr/>
          <p:nvPr/>
        </p:nvCxnSpPr>
        <p:spPr>
          <a:xfrm>
            <a:off x="968008" y="4297833"/>
            <a:ext cx="1512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22445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CC3C31-4EA2-B4A2-431F-BF22FBB8A7BA}"/>
              </a:ext>
            </a:extLst>
          </p:cNvPr>
          <p:cNvSpPr>
            <a:spLocks noGrp="1"/>
          </p:cNvSpPr>
          <p:nvPr>
            <p:ph type="title"/>
          </p:nvPr>
        </p:nvSpPr>
        <p:spPr/>
        <p:txBody>
          <a:bodyPr/>
          <a:lstStyle/>
          <a:p>
            <a:r>
              <a:rPr lang="pt-BR" dirty="0"/>
              <a:t>Otimização iterativa</a:t>
            </a:r>
          </a:p>
        </p:txBody>
      </p:sp>
      <p:sp>
        <p:nvSpPr>
          <p:cNvPr id="3" name="Espaço Reservado para Conteúdo 2">
            <a:extLst>
              <a:ext uri="{FF2B5EF4-FFF2-40B4-BE49-F238E27FC236}">
                <a16:creationId xmlns:a16="http://schemas.microsoft.com/office/drawing/2014/main" id="{F09EA0C7-E094-F158-6A1A-B80733321450}"/>
              </a:ext>
            </a:extLst>
          </p:cNvPr>
          <p:cNvSpPr>
            <a:spLocks noGrp="1"/>
          </p:cNvSpPr>
          <p:nvPr>
            <p:ph idx="1"/>
          </p:nvPr>
        </p:nvSpPr>
        <p:spPr>
          <a:xfrm>
            <a:off x="5353807" y="1825624"/>
            <a:ext cx="6646410" cy="5032376"/>
          </a:xfrm>
        </p:spPr>
        <p:txBody>
          <a:bodyPr>
            <a:normAutofit/>
          </a:bodyPr>
          <a:lstStyle/>
          <a:p>
            <a:r>
              <a:rPr lang="pt-BR" dirty="0"/>
              <a:t>A cada </a:t>
            </a:r>
            <a:r>
              <a:rPr lang="pt-BR" b="1" dirty="0">
                <a:solidFill>
                  <a:srgbClr val="00B050"/>
                </a:solidFill>
              </a:rPr>
              <a:t>iteração</a:t>
            </a:r>
            <a:r>
              <a:rPr lang="pt-BR" dirty="0"/>
              <a:t> do GD calculamos o gradiente no ponto atual e atualizamos os pesos com uma porcentagem dele.</a:t>
            </a:r>
          </a:p>
          <a:p>
            <a:r>
              <a:rPr lang="pt-BR" b="1" dirty="0">
                <a:solidFill>
                  <a:srgbClr val="00B050"/>
                </a:solidFill>
              </a:rPr>
              <a:t>Repetimos</a:t>
            </a:r>
            <a:r>
              <a:rPr lang="pt-BR" dirty="0"/>
              <a:t> esse processo </a:t>
            </a:r>
            <a:r>
              <a:rPr lang="pt-BR" b="1" dirty="0">
                <a:solidFill>
                  <a:srgbClr val="00B050"/>
                </a:solidFill>
              </a:rPr>
              <a:t>até</a:t>
            </a:r>
            <a:r>
              <a:rPr lang="pt-BR" dirty="0"/>
              <a:t> que a </a:t>
            </a:r>
            <a:r>
              <a:rPr lang="pt-BR" b="1" dirty="0">
                <a:solidFill>
                  <a:srgbClr val="00B050"/>
                </a:solidFill>
              </a:rPr>
              <a:t>inclinação do hiperplano tangente ao ponto atual se torne igual a 0</a:t>
            </a:r>
            <a:r>
              <a:rPr lang="pt-BR" dirty="0"/>
              <a:t>, indicando que o ponto de mínimo foi atingido.</a:t>
            </a:r>
          </a:p>
          <a:p>
            <a:r>
              <a:rPr lang="pt-BR" b="1" dirty="0">
                <a:solidFill>
                  <a:schemeClr val="accent2"/>
                </a:solidFill>
              </a:rPr>
              <a:t>O que ocorre quando o gradiente é 0?</a:t>
            </a:r>
          </a:p>
        </p:txBody>
      </p:sp>
      <p:grpSp>
        <p:nvGrpSpPr>
          <p:cNvPr id="4" name="Agrupar 3">
            <a:extLst>
              <a:ext uri="{FF2B5EF4-FFF2-40B4-BE49-F238E27FC236}">
                <a16:creationId xmlns:a16="http://schemas.microsoft.com/office/drawing/2014/main" id="{ED41ABFD-548C-4B86-C347-18D33EB57FE8}"/>
              </a:ext>
            </a:extLst>
          </p:cNvPr>
          <p:cNvGrpSpPr/>
          <p:nvPr/>
        </p:nvGrpSpPr>
        <p:grpSpPr>
          <a:xfrm>
            <a:off x="654563" y="2353695"/>
            <a:ext cx="3963570" cy="2939416"/>
            <a:chOff x="973059" y="2353695"/>
            <a:chExt cx="3963570" cy="2939416"/>
          </a:xfrm>
        </p:grpSpPr>
        <p:grpSp>
          <p:nvGrpSpPr>
            <p:cNvPr id="16" name="Agrupar 15">
              <a:extLst>
                <a:ext uri="{FF2B5EF4-FFF2-40B4-BE49-F238E27FC236}">
                  <a16:creationId xmlns:a16="http://schemas.microsoft.com/office/drawing/2014/main" id="{BC27F250-00D2-02E2-BA5C-F825D68F865C}"/>
                </a:ext>
              </a:extLst>
            </p:cNvPr>
            <p:cNvGrpSpPr/>
            <p:nvPr/>
          </p:nvGrpSpPr>
          <p:grpSpPr>
            <a:xfrm>
              <a:off x="973059" y="2353695"/>
              <a:ext cx="3963570" cy="2939416"/>
              <a:chOff x="973059" y="2353695"/>
              <a:chExt cx="3963570" cy="2939416"/>
            </a:xfrm>
          </p:grpSpPr>
          <p:sp>
            <p:nvSpPr>
              <p:cNvPr id="18" name="Forma Livre: Forma 17">
                <a:extLst>
                  <a:ext uri="{FF2B5EF4-FFF2-40B4-BE49-F238E27FC236}">
                    <a16:creationId xmlns:a16="http://schemas.microsoft.com/office/drawing/2014/main" id="{6C28BCEA-AC0E-ACCA-1D14-5089AF236AFF}"/>
                  </a:ext>
                </a:extLst>
              </p:cNvPr>
              <p:cNvSpPr/>
              <p:nvPr/>
            </p:nvSpPr>
            <p:spPr>
              <a:xfrm>
                <a:off x="1190625" y="2990850"/>
                <a:ext cx="3429000" cy="1752634"/>
              </a:xfrm>
              <a:custGeom>
                <a:avLst/>
                <a:gdLst>
                  <a:gd name="connsiteX0" fmla="*/ 0 w 3429000"/>
                  <a:gd name="connsiteY0" fmla="*/ 38100 h 1752634"/>
                  <a:gd name="connsiteX1" fmla="*/ 1714500 w 3429000"/>
                  <a:gd name="connsiteY1" fmla="*/ 1752600 h 1752634"/>
                  <a:gd name="connsiteX2" fmla="*/ 3429000 w 3429000"/>
                  <a:gd name="connsiteY2" fmla="*/ 0 h 1752634"/>
                </a:gdLst>
                <a:ahLst/>
                <a:cxnLst>
                  <a:cxn ang="0">
                    <a:pos x="connsiteX0" y="connsiteY0"/>
                  </a:cxn>
                  <a:cxn ang="0">
                    <a:pos x="connsiteX1" y="connsiteY1"/>
                  </a:cxn>
                  <a:cxn ang="0">
                    <a:pos x="connsiteX2" y="connsiteY2"/>
                  </a:cxn>
                </a:cxnLst>
                <a:rect l="l" t="t" r="r" b="b"/>
                <a:pathLst>
                  <a:path w="3429000" h="1752634">
                    <a:moveTo>
                      <a:pt x="0" y="38100"/>
                    </a:moveTo>
                    <a:cubicBezTo>
                      <a:pt x="571500" y="898525"/>
                      <a:pt x="1143000" y="1758950"/>
                      <a:pt x="1714500" y="1752600"/>
                    </a:cubicBezTo>
                    <a:cubicBezTo>
                      <a:pt x="2286000" y="1746250"/>
                      <a:pt x="3119438" y="314325"/>
                      <a:pt x="3429000"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9" name="Conector de Seta Reta 18">
                <a:extLst>
                  <a:ext uri="{FF2B5EF4-FFF2-40B4-BE49-F238E27FC236}">
                    <a16:creationId xmlns:a16="http://schemas.microsoft.com/office/drawing/2014/main" id="{0EB327B9-9368-9517-1592-A958BAFB326E}"/>
                  </a:ext>
                </a:extLst>
              </p:cNvPr>
              <p:cNvCxnSpPr>
                <a:cxnSpLocks/>
              </p:cNvCxnSpPr>
              <p:nvPr/>
            </p:nvCxnSpPr>
            <p:spPr>
              <a:xfrm>
                <a:off x="974017" y="4916172"/>
                <a:ext cx="386096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ector de Seta Reta 19">
                <a:extLst>
                  <a:ext uri="{FF2B5EF4-FFF2-40B4-BE49-F238E27FC236}">
                    <a16:creationId xmlns:a16="http://schemas.microsoft.com/office/drawing/2014/main" id="{FB2A4E76-B9EA-7978-E3C8-354FACD511F5}"/>
                  </a:ext>
                </a:extLst>
              </p:cNvPr>
              <p:cNvCxnSpPr>
                <a:cxnSpLocks/>
              </p:cNvCxnSpPr>
              <p:nvPr/>
            </p:nvCxnSpPr>
            <p:spPr>
              <a:xfrm flipV="1">
                <a:off x="974018" y="2442308"/>
                <a:ext cx="0" cy="247386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CaixaDeTexto 25">
                    <a:extLst>
                      <a:ext uri="{FF2B5EF4-FFF2-40B4-BE49-F238E27FC236}">
                        <a16:creationId xmlns:a16="http://schemas.microsoft.com/office/drawing/2014/main" id="{708B64BB-3945-1538-F968-FE34B3BF7F7E}"/>
                      </a:ext>
                    </a:extLst>
                  </p:cNvPr>
                  <p:cNvSpPr txBox="1"/>
                  <p:nvPr/>
                </p:nvSpPr>
                <p:spPr>
                  <a:xfrm>
                    <a:off x="974017" y="2353695"/>
                    <a:ext cx="2747030" cy="369332"/>
                  </a:xfrm>
                  <a:prstGeom prst="rect">
                    <a:avLst/>
                  </a:prstGeom>
                  <a:noFill/>
                </p:spPr>
                <p:txBody>
                  <a:bodyPr wrap="square" rtlCol="0">
                    <a:spAutoFit/>
                  </a:bodyPr>
                  <a:lstStyle/>
                  <a:p>
                    <a:r>
                      <a:rPr lang="pt-BR" dirty="0"/>
                      <a:t>Função de erro, </a:t>
                    </a:r>
                    <a14:m>
                      <m:oMath xmlns:m="http://schemas.openxmlformats.org/officeDocument/2006/math">
                        <m:sSub>
                          <m:sSubPr>
                            <m:ctrlPr>
                              <a:rPr lang="pt-BR" b="0" i="1" smtClean="0">
                                <a:latin typeface="Cambria Math" panose="02040503050406030204" pitchFamily="18" charset="0"/>
                              </a:rPr>
                            </m:ctrlPr>
                          </m:sSubPr>
                          <m:e>
                            <m:r>
                              <a:rPr lang="pt-BR" b="0" i="1" smtClean="0">
                                <a:latin typeface="Cambria Math" panose="02040503050406030204" pitchFamily="18" charset="0"/>
                              </a:rPr>
                              <m:t>𝐽</m:t>
                            </m:r>
                          </m:e>
                          <m:sub>
                            <m:r>
                              <a:rPr lang="pt-BR" b="0" i="1" smtClean="0">
                                <a:latin typeface="Cambria Math" panose="02040503050406030204" pitchFamily="18" charset="0"/>
                              </a:rPr>
                              <m:t>𝑒</m:t>
                            </m:r>
                          </m:sub>
                        </m:sSub>
                        <m:r>
                          <a:rPr lang="pt-BR" b="0" i="1" smtClean="0">
                            <a:latin typeface="Cambria Math" panose="02040503050406030204" pitchFamily="18" charset="0"/>
                          </a:rPr>
                          <m:t>(</m:t>
                        </m:r>
                        <m:r>
                          <a:rPr lang="pt-BR" b="0" i="1" smtClean="0">
                            <a:latin typeface="Cambria Math" panose="02040503050406030204" pitchFamily="18" charset="0"/>
                          </a:rPr>
                          <m:t>𝑎</m:t>
                        </m:r>
                        <m:r>
                          <a:rPr lang="pt-BR" b="0" i="1" smtClean="0">
                            <a:latin typeface="Cambria Math" panose="02040503050406030204" pitchFamily="18" charset="0"/>
                          </a:rPr>
                          <m:t>)</m:t>
                        </m:r>
                      </m:oMath>
                    </a14:m>
                    <a:endParaRPr lang="pt-BR" dirty="0"/>
                  </a:p>
                </p:txBody>
              </p:sp>
            </mc:Choice>
            <mc:Fallback xmlns="">
              <p:sp>
                <p:nvSpPr>
                  <p:cNvPr id="26" name="CaixaDeTexto 25">
                    <a:extLst>
                      <a:ext uri="{FF2B5EF4-FFF2-40B4-BE49-F238E27FC236}">
                        <a16:creationId xmlns:a16="http://schemas.microsoft.com/office/drawing/2014/main" id="{708B64BB-3945-1538-F968-FE34B3BF7F7E}"/>
                      </a:ext>
                    </a:extLst>
                  </p:cNvPr>
                  <p:cNvSpPr txBox="1">
                    <a:spLocks noRot="1" noChangeAspect="1" noMove="1" noResize="1" noEditPoints="1" noAdjustHandles="1" noChangeArrowheads="1" noChangeShapeType="1" noTextEdit="1"/>
                  </p:cNvSpPr>
                  <p:nvPr/>
                </p:nvSpPr>
                <p:spPr>
                  <a:xfrm>
                    <a:off x="974017" y="2353695"/>
                    <a:ext cx="2747030" cy="369332"/>
                  </a:xfrm>
                  <a:prstGeom prst="rect">
                    <a:avLst/>
                  </a:prstGeom>
                  <a:blipFill>
                    <a:blip r:embed="rId3"/>
                    <a:stretch>
                      <a:fillRect l="-2000" t="-8197" b="-24590"/>
                    </a:stretch>
                  </a:blipFill>
                </p:spPr>
                <p:txBody>
                  <a:bodyPr/>
                  <a:lstStyle/>
                  <a:p>
                    <a:r>
                      <a:rPr lang="pt-BR">
                        <a:noFill/>
                      </a:rPr>
                      <a:t> </a:t>
                    </a:r>
                  </a:p>
                </p:txBody>
              </p:sp>
            </mc:Fallback>
          </mc:AlternateContent>
          <p:sp>
            <p:nvSpPr>
              <p:cNvPr id="27" name="CaixaDeTexto 26">
                <a:extLst>
                  <a:ext uri="{FF2B5EF4-FFF2-40B4-BE49-F238E27FC236}">
                    <a16:creationId xmlns:a16="http://schemas.microsoft.com/office/drawing/2014/main" id="{33C03641-A896-5188-5291-D3C1622B3FD8}"/>
                  </a:ext>
                </a:extLst>
              </p:cNvPr>
              <p:cNvSpPr txBox="1"/>
              <p:nvPr/>
            </p:nvSpPr>
            <p:spPr>
              <a:xfrm>
                <a:off x="4300295" y="4923779"/>
                <a:ext cx="636334" cy="369332"/>
              </a:xfrm>
              <a:prstGeom prst="rect">
                <a:avLst/>
              </a:prstGeom>
              <a:noFill/>
            </p:spPr>
            <p:txBody>
              <a:bodyPr wrap="square" rtlCol="0">
                <a:spAutoFit/>
              </a:bodyPr>
              <a:lstStyle/>
              <a:p>
                <a:pPr algn="r"/>
                <a:r>
                  <a:rPr lang="pt-BR" dirty="0"/>
                  <a:t>Peso</a:t>
                </a:r>
              </a:p>
            </p:txBody>
          </p:sp>
          <p:cxnSp>
            <p:nvCxnSpPr>
              <p:cNvPr id="28" name="Conector reto 27">
                <a:extLst>
                  <a:ext uri="{FF2B5EF4-FFF2-40B4-BE49-F238E27FC236}">
                    <a16:creationId xmlns:a16="http://schemas.microsoft.com/office/drawing/2014/main" id="{71BE268E-A73C-EBD6-430F-5DC7906AD0C9}"/>
                  </a:ext>
                </a:extLst>
              </p:cNvPr>
              <p:cNvCxnSpPr/>
              <p:nvPr/>
            </p:nvCxnSpPr>
            <p:spPr>
              <a:xfrm>
                <a:off x="976885" y="4744536"/>
                <a:ext cx="1930484" cy="0"/>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30" name="Conector reto 29">
                <a:extLst>
                  <a:ext uri="{FF2B5EF4-FFF2-40B4-BE49-F238E27FC236}">
                    <a16:creationId xmlns:a16="http://schemas.microsoft.com/office/drawing/2014/main" id="{75094F36-EDC3-CA21-125A-0EE943C62CCB}"/>
                  </a:ext>
                </a:extLst>
              </p:cNvPr>
              <p:cNvCxnSpPr>
                <a:cxnSpLocks/>
              </p:cNvCxnSpPr>
              <p:nvPr/>
            </p:nvCxnSpPr>
            <p:spPr>
              <a:xfrm>
                <a:off x="2902477" y="4736969"/>
                <a:ext cx="0" cy="171598"/>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31" name="Elipse 30">
                <a:extLst>
                  <a:ext uri="{FF2B5EF4-FFF2-40B4-BE49-F238E27FC236}">
                    <a16:creationId xmlns:a16="http://schemas.microsoft.com/office/drawing/2014/main" id="{4F74B96C-E784-361B-FC9A-C4EF081FD895}"/>
                  </a:ext>
                </a:extLst>
              </p:cNvPr>
              <p:cNvSpPr/>
              <p:nvPr/>
            </p:nvSpPr>
            <p:spPr>
              <a:xfrm>
                <a:off x="2879776" y="4721835"/>
                <a:ext cx="42900" cy="429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2" name="Elipse 31">
                <a:extLst>
                  <a:ext uri="{FF2B5EF4-FFF2-40B4-BE49-F238E27FC236}">
                    <a16:creationId xmlns:a16="http://schemas.microsoft.com/office/drawing/2014/main" id="{671C9CA5-E5AD-29D4-50CD-004105724E54}"/>
                  </a:ext>
                </a:extLst>
              </p:cNvPr>
              <p:cNvSpPr/>
              <p:nvPr/>
            </p:nvSpPr>
            <p:spPr>
              <a:xfrm>
                <a:off x="1273647" y="3163362"/>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33" name="Conector reto 32">
                <a:extLst>
                  <a:ext uri="{FF2B5EF4-FFF2-40B4-BE49-F238E27FC236}">
                    <a16:creationId xmlns:a16="http://schemas.microsoft.com/office/drawing/2014/main" id="{55BCAC41-0745-6FC8-1A6E-02719DA867BC}"/>
                  </a:ext>
                </a:extLst>
              </p:cNvPr>
              <p:cNvCxnSpPr/>
              <p:nvPr/>
            </p:nvCxnSpPr>
            <p:spPr>
              <a:xfrm>
                <a:off x="973059" y="3184593"/>
                <a:ext cx="324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4" name="Conector reto 33">
                <a:extLst>
                  <a:ext uri="{FF2B5EF4-FFF2-40B4-BE49-F238E27FC236}">
                    <a16:creationId xmlns:a16="http://schemas.microsoft.com/office/drawing/2014/main" id="{58165A6F-4823-C968-4CC3-010FF73A64B6}"/>
                  </a:ext>
                </a:extLst>
              </p:cNvPr>
              <p:cNvCxnSpPr>
                <a:cxnSpLocks/>
              </p:cNvCxnSpPr>
              <p:nvPr/>
            </p:nvCxnSpPr>
            <p:spPr>
              <a:xfrm>
                <a:off x="1295097" y="3163361"/>
                <a:ext cx="0" cy="1764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5" name="CaixaDeTexto 34">
                <a:extLst>
                  <a:ext uri="{FF2B5EF4-FFF2-40B4-BE49-F238E27FC236}">
                    <a16:creationId xmlns:a16="http://schemas.microsoft.com/office/drawing/2014/main" id="{392D10D5-4FB0-851A-EF0A-524C94C0CD21}"/>
                  </a:ext>
                </a:extLst>
              </p:cNvPr>
              <p:cNvSpPr txBox="1"/>
              <p:nvPr/>
            </p:nvSpPr>
            <p:spPr>
              <a:xfrm>
                <a:off x="1158048" y="2978475"/>
                <a:ext cx="1071476" cy="276999"/>
              </a:xfrm>
              <a:prstGeom prst="rect">
                <a:avLst/>
              </a:prstGeom>
              <a:noFill/>
            </p:spPr>
            <p:txBody>
              <a:bodyPr wrap="square" rtlCol="0">
                <a:spAutoFit/>
              </a:bodyPr>
              <a:lstStyle/>
              <a:p>
                <a:pPr algn="ctr"/>
                <a:r>
                  <a:rPr lang="pt-BR" sz="1200" dirty="0"/>
                  <a:t>Ponto inicial</a:t>
                </a:r>
              </a:p>
            </p:txBody>
          </p:sp>
          <mc:AlternateContent xmlns:mc="http://schemas.openxmlformats.org/markup-compatibility/2006" xmlns:a14="http://schemas.microsoft.com/office/drawing/2010/main">
            <mc:Choice Requires="a14">
              <p:sp>
                <p:nvSpPr>
                  <p:cNvPr id="36" name="CaixaDeTexto 35">
                    <a:extLst>
                      <a:ext uri="{FF2B5EF4-FFF2-40B4-BE49-F238E27FC236}">
                        <a16:creationId xmlns:a16="http://schemas.microsoft.com/office/drawing/2014/main" id="{FB65B051-0C1A-E311-B392-188679189CE2}"/>
                      </a:ext>
                    </a:extLst>
                  </p:cNvPr>
                  <p:cNvSpPr txBox="1"/>
                  <p:nvPr/>
                </p:nvSpPr>
                <p:spPr>
                  <a:xfrm>
                    <a:off x="1074774" y="4868216"/>
                    <a:ext cx="86794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m:rPr>
                                  <m:sty m:val="p"/>
                                </m:rPr>
                                <a:rPr lang="pt-BR" sz="1400" b="0" i="0" smtClean="0">
                                  <a:latin typeface="Cambria Math" panose="02040503050406030204" pitchFamily="18" charset="0"/>
                                </a:rPr>
                                <m:t>inicial</m:t>
                              </m:r>
                            </m:sub>
                          </m:sSub>
                        </m:oMath>
                      </m:oMathPara>
                    </a14:m>
                    <a:endParaRPr lang="pt-BR" sz="1400" dirty="0"/>
                  </a:p>
                </p:txBody>
              </p:sp>
            </mc:Choice>
            <mc:Fallback xmlns="">
              <p:sp>
                <p:nvSpPr>
                  <p:cNvPr id="36" name="CaixaDeTexto 35">
                    <a:extLst>
                      <a:ext uri="{FF2B5EF4-FFF2-40B4-BE49-F238E27FC236}">
                        <a16:creationId xmlns:a16="http://schemas.microsoft.com/office/drawing/2014/main" id="{FB65B051-0C1A-E311-B392-188679189CE2}"/>
                      </a:ext>
                    </a:extLst>
                  </p:cNvPr>
                  <p:cNvSpPr txBox="1">
                    <a:spLocks noRot="1" noChangeAspect="1" noMove="1" noResize="1" noEditPoints="1" noAdjustHandles="1" noChangeArrowheads="1" noChangeShapeType="1" noTextEdit="1"/>
                  </p:cNvSpPr>
                  <p:nvPr/>
                </p:nvSpPr>
                <p:spPr>
                  <a:xfrm>
                    <a:off x="1074774" y="4868216"/>
                    <a:ext cx="867941" cy="307777"/>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7" name="CaixaDeTexto 36">
                    <a:extLst>
                      <a:ext uri="{FF2B5EF4-FFF2-40B4-BE49-F238E27FC236}">
                        <a16:creationId xmlns:a16="http://schemas.microsoft.com/office/drawing/2014/main" id="{085EEAC7-A39B-8E54-1ABE-192465A83EF9}"/>
                      </a:ext>
                    </a:extLst>
                  </p:cNvPr>
                  <p:cNvSpPr txBox="1"/>
                  <p:nvPr/>
                </p:nvSpPr>
                <p:spPr>
                  <a:xfrm>
                    <a:off x="2671712" y="4867795"/>
                    <a:ext cx="86794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0" smtClean="0">
                                  <a:latin typeface="Cambria Math" panose="02040503050406030204" pitchFamily="18" charset="0"/>
                                </a:rPr>
                                <m:t>ó</m:t>
                              </m:r>
                              <m:r>
                                <m:rPr>
                                  <m:sty m:val="p"/>
                                </m:rPr>
                                <a:rPr lang="pt-BR" sz="1400" b="0" i="0" smtClean="0">
                                  <a:latin typeface="Cambria Math" panose="02040503050406030204" pitchFamily="18" charset="0"/>
                                </a:rPr>
                                <m:t>timo</m:t>
                              </m:r>
                            </m:sub>
                          </m:sSub>
                        </m:oMath>
                      </m:oMathPara>
                    </a14:m>
                    <a:endParaRPr lang="pt-BR" sz="1400" dirty="0"/>
                  </a:p>
                </p:txBody>
              </p:sp>
            </mc:Choice>
            <mc:Fallback xmlns="">
              <p:sp>
                <p:nvSpPr>
                  <p:cNvPr id="37" name="CaixaDeTexto 36">
                    <a:extLst>
                      <a:ext uri="{FF2B5EF4-FFF2-40B4-BE49-F238E27FC236}">
                        <a16:creationId xmlns:a16="http://schemas.microsoft.com/office/drawing/2014/main" id="{085EEAC7-A39B-8E54-1ABE-192465A83EF9}"/>
                      </a:ext>
                    </a:extLst>
                  </p:cNvPr>
                  <p:cNvSpPr txBox="1">
                    <a:spLocks noRot="1" noChangeAspect="1" noMove="1" noResize="1" noEditPoints="1" noAdjustHandles="1" noChangeArrowheads="1" noChangeShapeType="1" noTextEdit="1"/>
                  </p:cNvSpPr>
                  <p:nvPr/>
                </p:nvSpPr>
                <p:spPr>
                  <a:xfrm>
                    <a:off x="2671712" y="4867795"/>
                    <a:ext cx="867941" cy="307777"/>
                  </a:xfrm>
                  <a:prstGeom prst="rect">
                    <a:avLst/>
                  </a:prstGeom>
                  <a:blipFill>
                    <a:blip r:embed="rId5"/>
                    <a:stretch>
                      <a:fillRect/>
                    </a:stretch>
                  </a:blipFill>
                </p:spPr>
                <p:txBody>
                  <a:bodyPr/>
                  <a:lstStyle/>
                  <a:p>
                    <a:r>
                      <a:rPr lang="pt-BR">
                        <a:noFill/>
                      </a:rPr>
                      <a:t> </a:t>
                    </a:r>
                  </a:p>
                </p:txBody>
              </p:sp>
            </mc:Fallback>
          </mc:AlternateContent>
          <p:cxnSp>
            <p:nvCxnSpPr>
              <p:cNvPr id="38" name="Conector de Seta Reta 37">
                <a:extLst>
                  <a:ext uri="{FF2B5EF4-FFF2-40B4-BE49-F238E27FC236}">
                    <a16:creationId xmlns:a16="http://schemas.microsoft.com/office/drawing/2014/main" id="{68034E18-A442-62D7-3DB8-7E034ACBB8FB}"/>
                  </a:ext>
                </a:extLst>
              </p:cNvPr>
              <p:cNvCxnSpPr>
                <a:cxnSpLocks/>
              </p:cNvCxnSpPr>
              <p:nvPr/>
            </p:nvCxnSpPr>
            <p:spPr>
              <a:xfrm>
                <a:off x="1295851" y="3183756"/>
                <a:ext cx="473505" cy="79766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9" name="Elipse 38">
                <a:extLst>
                  <a:ext uri="{FF2B5EF4-FFF2-40B4-BE49-F238E27FC236}">
                    <a16:creationId xmlns:a16="http://schemas.microsoft.com/office/drawing/2014/main" id="{F6FC7276-D03F-FF26-A5BB-9174F6A90A78}"/>
                  </a:ext>
                </a:extLst>
              </p:cNvPr>
              <p:cNvSpPr/>
              <p:nvPr/>
            </p:nvSpPr>
            <p:spPr>
              <a:xfrm>
                <a:off x="1901608" y="4038530"/>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0" name="Forma Livre: Forma 39">
                <a:extLst>
                  <a:ext uri="{FF2B5EF4-FFF2-40B4-BE49-F238E27FC236}">
                    <a16:creationId xmlns:a16="http://schemas.microsoft.com/office/drawing/2014/main" id="{A190C2C1-537B-4D0E-665C-CD1CAB22ED1F}"/>
                  </a:ext>
                </a:extLst>
              </p:cNvPr>
              <p:cNvSpPr/>
              <p:nvPr/>
            </p:nvSpPr>
            <p:spPr>
              <a:xfrm>
                <a:off x="1314106" y="3182704"/>
                <a:ext cx="603593" cy="862246"/>
              </a:xfrm>
              <a:custGeom>
                <a:avLst/>
                <a:gdLst>
                  <a:gd name="connsiteX0" fmla="*/ 0 w 609600"/>
                  <a:gd name="connsiteY0" fmla="*/ 0 h 882650"/>
                  <a:gd name="connsiteX1" fmla="*/ 374650 w 609600"/>
                  <a:gd name="connsiteY1" fmla="*/ 273050 h 882650"/>
                  <a:gd name="connsiteX2" fmla="*/ 609600 w 609600"/>
                  <a:gd name="connsiteY2" fmla="*/ 882650 h 882650"/>
                </a:gdLst>
                <a:ahLst/>
                <a:cxnLst>
                  <a:cxn ang="0">
                    <a:pos x="connsiteX0" y="connsiteY0"/>
                  </a:cxn>
                  <a:cxn ang="0">
                    <a:pos x="connsiteX1" y="connsiteY1"/>
                  </a:cxn>
                  <a:cxn ang="0">
                    <a:pos x="connsiteX2" y="connsiteY2"/>
                  </a:cxn>
                </a:cxnLst>
                <a:rect l="l" t="t" r="r" b="b"/>
                <a:pathLst>
                  <a:path w="609600" h="882650">
                    <a:moveTo>
                      <a:pt x="0" y="0"/>
                    </a:moveTo>
                    <a:cubicBezTo>
                      <a:pt x="136525" y="62971"/>
                      <a:pt x="273050" y="125942"/>
                      <a:pt x="374650" y="273050"/>
                    </a:cubicBezTo>
                    <a:cubicBezTo>
                      <a:pt x="476250" y="420158"/>
                      <a:pt x="542925" y="651404"/>
                      <a:pt x="609600" y="882650"/>
                    </a:cubicBezTo>
                  </a:path>
                </a:pathLst>
              </a:custGeom>
              <a:noFill/>
              <a:ln w="3175">
                <a:solidFill>
                  <a:schemeClr val="tx1"/>
                </a:solidFill>
                <a:prstDash val="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1" name="CaixaDeTexto 40">
                <a:extLst>
                  <a:ext uri="{FF2B5EF4-FFF2-40B4-BE49-F238E27FC236}">
                    <a16:creationId xmlns:a16="http://schemas.microsoft.com/office/drawing/2014/main" id="{C6AED7E6-776D-2275-0616-9245A6D9FA2F}"/>
                  </a:ext>
                </a:extLst>
              </p:cNvPr>
              <p:cNvSpPr txBox="1"/>
              <p:nvPr/>
            </p:nvSpPr>
            <p:spPr>
              <a:xfrm>
                <a:off x="2355219" y="4333840"/>
                <a:ext cx="1071476" cy="261610"/>
              </a:xfrm>
              <a:prstGeom prst="rect">
                <a:avLst/>
              </a:prstGeom>
              <a:noFill/>
            </p:spPr>
            <p:txBody>
              <a:bodyPr wrap="square" rtlCol="0">
                <a:spAutoFit/>
              </a:bodyPr>
              <a:lstStyle/>
              <a:p>
                <a:r>
                  <a:rPr lang="pt-BR" sz="1100" dirty="0"/>
                  <a:t>Novo ponto</a:t>
                </a:r>
              </a:p>
            </p:txBody>
          </p:sp>
          <mc:AlternateContent xmlns:mc="http://schemas.openxmlformats.org/markup-compatibility/2006" xmlns:a14="http://schemas.microsoft.com/office/drawing/2010/main">
            <mc:Choice Requires="a14">
              <p:sp>
                <p:nvSpPr>
                  <p:cNvPr id="42" name="CaixaDeTexto 41">
                    <a:extLst>
                      <a:ext uri="{FF2B5EF4-FFF2-40B4-BE49-F238E27FC236}">
                        <a16:creationId xmlns:a16="http://schemas.microsoft.com/office/drawing/2014/main" id="{C1D5DB3A-D103-9E96-0C21-7F28D7FEA74D}"/>
                      </a:ext>
                    </a:extLst>
                  </p:cNvPr>
                  <p:cNvSpPr txBox="1"/>
                  <p:nvPr/>
                </p:nvSpPr>
                <p:spPr>
                  <a:xfrm>
                    <a:off x="1686947" y="3303430"/>
                    <a:ext cx="756505" cy="444032"/>
                  </a:xfrm>
                  <a:prstGeom prst="rect">
                    <a:avLst/>
                  </a:prstGeom>
                  <a:noFill/>
                </p:spPr>
                <p:txBody>
                  <a:bodyPr wrap="square">
                    <a:spAutoFit/>
                  </a:bodyPr>
                  <a:lstStyle/>
                  <a:p>
                    <a:pPr/>
                    <a14:m>
                      <m:oMathPara xmlns:m="http://schemas.openxmlformats.org/officeDocument/2006/math">
                        <m:oMath>
                          <m:r>
                            <a:rPr lang="pt-BR" sz="1200" i="1" dirty="0" smtClean="0">
                              <a:latin typeface="Cambria Math" panose="02040503050406030204" pitchFamily="18" charset="0"/>
                              <a:ea typeface="Cambria Math" panose="02040503050406030204" pitchFamily="18" charset="0"/>
                            </a:rPr>
                            <m:t>𝛼</m:t>
                          </m:r>
                          <m:f>
                            <m:fPr>
                              <m:ctrlPr>
                                <a:rPr lang="pt-BR" sz="1200" i="1" dirty="0" smtClean="0">
                                  <a:latin typeface="Cambria Math" panose="02040503050406030204" pitchFamily="18" charset="0"/>
                                </a:rPr>
                              </m:ctrlPr>
                            </m:fPr>
                            <m:num>
                              <m:r>
                                <a:rPr lang="pt-BR" sz="1200" i="1" dirty="0" smtClean="0">
                                  <a:latin typeface="Cambria Math" panose="02040503050406030204" pitchFamily="18" charset="0"/>
                                </a:rPr>
                                <m:t>𝜕</m:t>
                              </m:r>
                              <m:sSub>
                                <m:sSubPr>
                                  <m:ctrlPr>
                                    <a:rPr lang="pt-BR" sz="1200" i="1">
                                      <a:latin typeface="Cambria Math" panose="02040503050406030204" pitchFamily="18" charset="0"/>
                                    </a:rPr>
                                  </m:ctrlPr>
                                </m:sSubPr>
                                <m:e>
                                  <m:r>
                                    <a:rPr lang="pt-BR" sz="1200" i="1">
                                      <a:latin typeface="Cambria Math" panose="02040503050406030204" pitchFamily="18" charset="0"/>
                                    </a:rPr>
                                    <m:t>𝐽</m:t>
                                  </m:r>
                                </m:e>
                                <m:sub>
                                  <m:r>
                                    <a:rPr lang="pt-BR" sz="1200" i="1">
                                      <a:latin typeface="Cambria Math" panose="02040503050406030204" pitchFamily="18" charset="0"/>
                                    </a:rPr>
                                    <m:t>𝑒</m:t>
                                  </m:r>
                                </m:sub>
                              </m:sSub>
                              <m:r>
                                <a:rPr lang="pt-BR" sz="1200" i="1">
                                  <a:latin typeface="Cambria Math" panose="02040503050406030204" pitchFamily="18" charset="0"/>
                                </a:rPr>
                                <m:t>(</m:t>
                              </m:r>
                              <m:sSub>
                                <m:sSubPr>
                                  <m:ctrlPr>
                                    <a:rPr lang="pt-BR" sz="1200" i="1">
                                      <a:latin typeface="Cambria Math" panose="02040503050406030204" pitchFamily="18" charset="0"/>
                                    </a:rPr>
                                  </m:ctrlPr>
                                </m:sSubPr>
                                <m:e>
                                  <m:r>
                                    <a:rPr lang="pt-BR" sz="1200" i="1">
                                      <a:latin typeface="Cambria Math" panose="02040503050406030204" pitchFamily="18" charset="0"/>
                                    </a:rPr>
                                    <m:t>𝑎</m:t>
                                  </m:r>
                                </m:e>
                                <m:sub>
                                  <m:r>
                                    <m:rPr>
                                      <m:sty m:val="p"/>
                                    </m:rPr>
                                    <a:rPr lang="pt-BR" sz="1200">
                                      <a:latin typeface="Cambria Math" panose="02040503050406030204" pitchFamily="18" charset="0"/>
                                    </a:rPr>
                                    <m:t>inicial</m:t>
                                  </m:r>
                                </m:sub>
                              </m:sSub>
                              <m:r>
                                <a:rPr lang="pt-BR" sz="1200" i="1">
                                  <a:latin typeface="Cambria Math" panose="02040503050406030204" pitchFamily="18" charset="0"/>
                                </a:rPr>
                                <m:t>)</m:t>
                              </m:r>
                            </m:num>
                            <m:den>
                              <m:r>
                                <a:rPr lang="pt-BR" sz="1200" i="1" dirty="0" smtClean="0">
                                  <a:latin typeface="Cambria Math" panose="02040503050406030204" pitchFamily="18" charset="0"/>
                                </a:rPr>
                                <m:t>𝜕</m:t>
                              </m:r>
                              <m:r>
                                <a:rPr lang="pt-BR" sz="1200" b="0" i="1" dirty="0" smtClean="0">
                                  <a:latin typeface="Cambria Math" panose="02040503050406030204" pitchFamily="18" charset="0"/>
                                </a:rPr>
                                <m:t>𝑎</m:t>
                              </m:r>
                            </m:den>
                          </m:f>
                        </m:oMath>
                      </m:oMathPara>
                    </a14:m>
                    <a:endParaRPr lang="pt-BR" sz="1200" dirty="0"/>
                  </a:p>
                </p:txBody>
              </p:sp>
            </mc:Choice>
            <mc:Fallback xmlns="">
              <p:sp>
                <p:nvSpPr>
                  <p:cNvPr id="42" name="CaixaDeTexto 41">
                    <a:extLst>
                      <a:ext uri="{FF2B5EF4-FFF2-40B4-BE49-F238E27FC236}">
                        <a16:creationId xmlns:a16="http://schemas.microsoft.com/office/drawing/2014/main" id="{C1D5DB3A-D103-9E96-0C21-7F28D7FEA74D}"/>
                      </a:ext>
                    </a:extLst>
                  </p:cNvPr>
                  <p:cNvSpPr txBox="1">
                    <a:spLocks noRot="1" noChangeAspect="1" noMove="1" noResize="1" noEditPoints="1" noAdjustHandles="1" noChangeArrowheads="1" noChangeShapeType="1" noTextEdit="1"/>
                  </p:cNvSpPr>
                  <p:nvPr/>
                </p:nvSpPr>
                <p:spPr>
                  <a:xfrm>
                    <a:off x="1686947" y="3303430"/>
                    <a:ext cx="756505" cy="444032"/>
                  </a:xfrm>
                  <a:prstGeom prst="rect">
                    <a:avLst/>
                  </a:prstGeom>
                  <a:blipFill>
                    <a:blip r:embed="rId6"/>
                    <a:stretch>
                      <a:fillRect r="-37903" b="-1370"/>
                    </a:stretch>
                  </a:blipFill>
                </p:spPr>
                <p:txBody>
                  <a:bodyPr/>
                  <a:lstStyle/>
                  <a:p>
                    <a:r>
                      <a:rPr lang="pt-BR">
                        <a:noFill/>
                      </a:rPr>
                      <a:t> </a:t>
                    </a:r>
                  </a:p>
                </p:txBody>
              </p:sp>
            </mc:Fallback>
          </mc:AlternateContent>
          <p:cxnSp>
            <p:nvCxnSpPr>
              <p:cNvPr id="43" name="Conector reto 42">
                <a:extLst>
                  <a:ext uri="{FF2B5EF4-FFF2-40B4-BE49-F238E27FC236}">
                    <a16:creationId xmlns:a16="http://schemas.microsoft.com/office/drawing/2014/main" id="{33AD0DEC-1BFB-48CC-9552-A207C6E4AB5F}"/>
                  </a:ext>
                </a:extLst>
              </p:cNvPr>
              <p:cNvCxnSpPr>
                <a:cxnSpLocks/>
              </p:cNvCxnSpPr>
              <p:nvPr/>
            </p:nvCxnSpPr>
            <p:spPr>
              <a:xfrm>
                <a:off x="1924842" y="4071908"/>
                <a:ext cx="0" cy="828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CaixaDeTexto 43">
                    <a:extLst>
                      <a:ext uri="{FF2B5EF4-FFF2-40B4-BE49-F238E27FC236}">
                        <a16:creationId xmlns:a16="http://schemas.microsoft.com/office/drawing/2014/main" id="{18D9158A-32E2-486B-D9F5-660207BFF35D}"/>
                      </a:ext>
                    </a:extLst>
                  </p:cNvPr>
                  <p:cNvSpPr txBox="1"/>
                  <p:nvPr/>
                </p:nvSpPr>
                <p:spPr>
                  <a:xfrm>
                    <a:off x="1785331" y="4880663"/>
                    <a:ext cx="521882" cy="307777"/>
                  </a:xfrm>
                  <a:prstGeom prst="rect">
                    <a:avLst/>
                  </a:prstGeom>
                  <a:noFill/>
                </p:spPr>
                <p:txBody>
                  <a:bodyPr wrap="square" rtlCol="0">
                    <a:spAutoFit/>
                  </a:bodyPr>
                  <a:lstStyle/>
                  <a:p>
                    <a:pPr algn="ctr"/>
                    <a14:m>
                      <m:oMathPara xmlns:m="http://schemas.openxmlformats.org/officeDocument/2006/math">
                        <m:oMathParaPr>
                          <m:jc m:val="left"/>
                        </m:oMathParaPr>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m:rPr>
                                  <m:sty m:val="p"/>
                                </m:rPr>
                                <a:rPr lang="pt-BR" sz="1400" b="0" i="0" smtClean="0">
                                  <a:latin typeface="Cambria Math" panose="02040503050406030204" pitchFamily="18" charset="0"/>
                                </a:rPr>
                                <m:t>ant</m:t>
                              </m:r>
                              <m:r>
                                <a:rPr lang="pt-BR" sz="1400" b="0" i="1" smtClean="0">
                                  <a:latin typeface="Cambria Math" panose="02040503050406030204" pitchFamily="18" charset="0"/>
                                </a:rPr>
                                <m:t>.</m:t>
                              </m:r>
                            </m:sub>
                          </m:sSub>
                        </m:oMath>
                      </m:oMathPara>
                    </a14:m>
                    <a:endParaRPr lang="pt-BR" sz="1400" dirty="0"/>
                  </a:p>
                </p:txBody>
              </p:sp>
            </mc:Choice>
            <mc:Fallback xmlns="">
              <p:sp>
                <p:nvSpPr>
                  <p:cNvPr id="44" name="CaixaDeTexto 43">
                    <a:extLst>
                      <a:ext uri="{FF2B5EF4-FFF2-40B4-BE49-F238E27FC236}">
                        <a16:creationId xmlns:a16="http://schemas.microsoft.com/office/drawing/2014/main" id="{18D9158A-32E2-486B-D9F5-660207BFF35D}"/>
                      </a:ext>
                    </a:extLst>
                  </p:cNvPr>
                  <p:cNvSpPr txBox="1">
                    <a:spLocks noRot="1" noChangeAspect="1" noMove="1" noResize="1" noEditPoints="1" noAdjustHandles="1" noChangeArrowheads="1" noChangeShapeType="1" noTextEdit="1"/>
                  </p:cNvSpPr>
                  <p:nvPr/>
                </p:nvSpPr>
                <p:spPr>
                  <a:xfrm>
                    <a:off x="1785331" y="4880663"/>
                    <a:ext cx="521882" cy="307777"/>
                  </a:xfrm>
                  <a:prstGeom prst="rect">
                    <a:avLst/>
                  </a:prstGeom>
                  <a:blipFill>
                    <a:blip r:embed="rId7"/>
                    <a:stretch>
                      <a:fillRect/>
                    </a:stretch>
                  </a:blipFill>
                </p:spPr>
                <p:txBody>
                  <a:bodyPr/>
                  <a:lstStyle/>
                  <a:p>
                    <a:r>
                      <a:rPr lang="pt-BR">
                        <a:noFill/>
                      </a:rPr>
                      <a:t> </a:t>
                    </a:r>
                  </a:p>
                </p:txBody>
              </p:sp>
            </mc:Fallback>
          </mc:AlternateContent>
        </p:grpSp>
        <p:sp>
          <p:nvSpPr>
            <p:cNvPr id="45" name="Forma Livre: Forma 44">
              <a:extLst>
                <a:ext uri="{FF2B5EF4-FFF2-40B4-BE49-F238E27FC236}">
                  <a16:creationId xmlns:a16="http://schemas.microsoft.com/office/drawing/2014/main" id="{7EA99A1F-BA18-1253-B4C5-1677BA9FFD90}"/>
                </a:ext>
              </a:extLst>
            </p:cNvPr>
            <p:cNvSpPr/>
            <p:nvPr/>
          </p:nvSpPr>
          <p:spPr>
            <a:xfrm rot="20640245">
              <a:off x="2025336" y="4007159"/>
              <a:ext cx="291944" cy="588367"/>
            </a:xfrm>
            <a:custGeom>
              <a:avLst/>
              <a:gdLst>
                <a:gd name="connsiteX0" fmla="*/ 0 w 609600"/>
                <a:gd name="connsiteY0" fmla="*/ 0 h 882650"/>
                <a:gd name="connsiteX1" fmla="*/ 374650 w 609600"/>
                <a:gd name="connsiteY1" fmla="*/ 273050 h 882650"/>
                <a:gd name="connsiteX2" fmla="*/ 609600 w 609600"/>
                <a:gd name="connsiteY2" fmla="*/ 882650 h 882650"/>
              </a:gdLst>
              <a:ahLst/>
              <a:cxnLst>
                <a:cxn ang="0">
                  <a:pos x="connsiteX0" y="connsiteY0"/>
                </a:cxn>
                <a:cxn ang="0">
                  <a:pos x="connsiteX1" y="connsiteY1"/>
                </a:cxn>
                <a:cxn ang="0">
                  <a:pos x="connsiteX2" y="connsiteY2"/>
                </a:cxn>
              </a:cxnLst>
              <a:rect l="l" t="t" r="r" b="b"/>
              <a:pathLst>
                <a:path w="609600" h="882650">
                  <a:moveTo>
                    <a:pt x="0" y="0"/>
                  </a:moveTo>
                  <a:cubicBezTo>
                    <a:pt x="136525" y="62971"/>
                    <a:pt x="273050" y="125942"/>
                    <a:pt x="374650" y="273050"/>
                  </a:cubicBezTo>
                  <a:cubicBezTo>
                    <a:pt x="476250" y="420158"/>
                    <a:pt x="542925" y="651404"/>
                    <a:pt x="609600" y="882650"/>
                  </a:cubicBezTo>
                </a:path>
              </a:pathLst>
            </a:custGeom>
            <a:noFill/>
            <a:ln w="3175">
              <a:solidFill>
                <a:schemeClr val="tx1"/>
              </a:solidFill>
              <a:prstDash val="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6" name="Elipse 45">
              <a:extLst>
                <a:ext uri="{FF2B5EF4-FFF2-40B4-BE49-F238E27FC236}">
                  <a16:creationId xmlns:a16="http://schemas.microsoft.com/office/drawing/2014/main" id="{C3DEEC2D-A2E8-B62C-3519-1662739D0B6E}"/>
                </a:ext>
              </a:extLst>
            </p:cNvPr>
            <p:cNvSpPr/>
            <p:nvPr/>
          </p:nvSpPr>
          <p:spPr>
            <a:xfrm>
              <a:off x="2380859" y="4524896"/>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mc:AlternateContent xmlns:mc="http://schemas.openxmlformats.org/markup-compatibility/2006" xmlns:a14="http://schemas.microsoft.com/office/drawing/2010/main">
          <mc:Choice Requires="a14">
            <p:sp>
              <p:nvSpPr>
                <p:cNvPr id="47" name="CaixaDeTexto 46">
                  <a:extLst>
                    <a:ext uri="{FF2B5EF4-FFF2-40B4-BE49-F238E27FC236}">
                      <a16:creationId xmlns:a16="http://schemas.microsoft.com/office/drawing/2014/main" id="{744BE183-5F01-AB59-599F-17091AA24B29}"/>
                    </a:ext>
                  </a:extLst>
                </p:cNvPr>
                <p:cNvSpPr txBox="1"/>
                <p:nvPr/>
              </p:nvSpPr>
              <p:spPr>
                <a:xfrm>
                  <a:off x="2119544" y="3893176"/>
                  <a:ext cx="756505" cy="444032"/>
                </a:xfrm>
                <a:prstGeom prst="rect">
                  <a:avLst/>
                </a:prstGeom>
                <a:noFill/>
              </p:spPr>
              <p:txBody>
                <a:bodyPr wrap="square">
                  <a:spAutoFit/>
                </a:bodyPr>
                <a:lstStyle/>
                <a:p>
                  <a:pPr/>
                  <a14:m>
                    <m:oMathPara xmlns:m="http://schemas.openxmlformats.org/officeDocument/2006/math">
                      <m:oMath>
                        <m:r>
                          <a:rPr lang="pt-BR" sz="1200" i="1" dirty="0" smtClean="0">
                            <a:latin typeface="Cambria Math" panose="02040503050406030204" pitchFamily="18" charset="0"/>
                            <a:ea typeface="Cambria Math" panose="02040503050406030204" pitchFamily="18" charset="0"/>
                          </a:rPr>
                          <m:t>𝛼</m:t>
                        </m:r>
                        <m:f>
                          <m:fPr>
                            <m:ctrlPr>
                              <a:rPr lang="pt-BR" sz="1200" i="1" dirty="0" smtClean="0">
                                <a:latin typeface="Cambria Math" panose="02040503050406030204" pitchFamily="18" charset="0"/>
                              </a:rPr>
                            </m:ctrlPr>
                          </m:fPr>
                          <m:num>
                            <m:r>
                              <a:rPr lang="pt-BR" sz="1200" i="1" dirty="0" smtClean="0">
                                <a:latin typeface="Cambria Math" panose="02040503050406030204" pitchFamily="18" charset="0"/>
                              </a:rPr>
                              <m:t>𝜕</m:t>
                            </m:r>
                            <m:sSub>
                              <m:sSubPr>
                                <m:ctrlPr>
                                  <a:rPr lang="pt-BR" sz="1200" i="1">
                                    <a:latin typeface="Cambria Math" panose="02040503050406030204" pitchFamily="18" charset="0"/>
                                  </a:rPr>
                                </m:ctrlPr>
                              </m:sSubPr>
                              <m:e>
                                <m:r>
                                  <a:rPr lang="pt-BR" sz="1200" i="1">
                                    <a:latin typeface="Cambria Math" panose="02040503050406030204" pitchFamily="18" charset="0"/>
                                  </a:rPr>
                                  <m:t>𝐽</m:t>
                                </m:r>
                              </m:e>
                              <m:sub>
                                <m:r>
                                  <a:rPr lang="pt-BR" sz="1200" i="1">
                                    <a:latin typeface="Cambria Math" panose="02040503050406030204" pitchFamily="18" charset="0"/>
                                  </a:rPr>
                                  <m:t>𝑒</m:t>
                                </m:r>
                              </m:sub>
                            </m:sSub>
                            <m:r>
                              <a:rPr lang="pt-BR" sz="1200" i="1" smtClean="0">
                                <a:latin typeface="Cambria Math" panose="02040503050406030204" pitchFamily="18" charset="0"/>
                              </a:rPr>
                              <m:t>(</m:t>
                            </m:r>
                            <m:sSub>
                              <m:sSubPr>
                                <m:ctrlPr>
                                  <a:rPr lang="pt-BR" sz="1200" i="1">
                                    <a:latin typeface="Cambria Math" panose="02040503050406030204" pitchFamily="18" charset="0"/>
                                  </a:rPr>
                                </m:ctrlPr>
                              </m:sSubPr>
                              <m:e>
                                <m:r>
                                  <a:rPr lang="pt-BR" sz="1200" i="1">
                                    <a:latin typeface="Cambria Math" panose="02040503050406030204" pitchFamily="18" charset="0"/>
                                  </a:rPr>
                                  <m:t>𝑎</m:t>
                                </m:r>
                              </m:e>
                              <m:sub>
                                <m:r>
                                  <m:rPr>
                                    <m:sty m:val="p"/>
                                  </m:rPr>
                                  <a:rPr lang="pt-BR" sz="1200" b="0" i="0" smtClean="0">
                                    <a:latin typeface="Cambria Math" panose="02040503050406030204" pitchFamily="18" charset="0"/>
                                  </a:rPr>
                                  <m:t>anterior</m:t>
                                </m:r>
                              </m:sub>
                            </m:sSub>
                            <m:r>
                              <a:rPr lang="pt-BR" sz="1200" i="1">
                                <a:latin typeface="Cambria Math" panose="02040503050406030204" pitchFamily="18" charset="0"/>
                              </a:rPr>
                              <m:t>)</m:t>
                            </m:r>
                          </m:num>
                          <m:den>
                            <m:r>
                              <a:rPr lang="pt-BR" sz="1200" i="1" dirty="0" smtClean="0">
                                <a:latin typeface="Cambria Math" panose="02040503050406030204" pitchFamily="18" charset="0"/>
                              </a:rPr>
                              <m:t>𝜕</m:t>
                            </m:r>
                            <m:r>
                              <a:rPr lang="pt-BR" sz="1200" b="0" i="1" dirty="0" smtClean="0">
                                <a:latin typeface="Cambria Math" panose="02040503050406030204" pitchFamily="18" charset="0"/>
                              </a:rPr>
                              <m:t>𝑎</m:t>
                            </m:r>
                          </m:den>
                        </m:f>
                      </m:oMath>
                    </m:oMathPara>
                  </a14:m>
                  <a:endParaRPr lang="pt-BR" sz="1200" dirty="0"/>
                </a:p>
              </p:txBody>
            </p:sp>
          </mc:Choice>
          <mc:Fallback xmlns="">
            <p:sp>
              <p:nvSpPr>
                <p:cNvPr id="47" name="CaixaDeTexto 46">
                  <a:extLst>
                    <a:ext uri="{FF2B5EF4-FFF2-40B4-BE49-F238E27FC236}">
                      <a16:creationId xmlns:a16="http://schemas.microsoft.com/office/drawing/2014/main" id="{744BE183-5F01-AB59-599F-17091AA24B29}"/>
                    </a:ext>
                  </a:extLst>
                </p:cNvPr>
                <p:cNvSpPr txBox="1">
                  <a:spLocks noRot="1" noChangeAspect="1" noMove="1" noResize="1" noEditPoints="1" noAdjustHandles="1" noChangeArrowheads="1" noChangeShapeType="1" noTextEdit="1"/>
                </p:cNvSpPr>
                <p:nvPr/>
              </p:nvSpPr>
              <p:spPr>
                <a:xfrm>
                  <a:off x="2119544" y="3893176"/>
                  <a:ext cx="756505" cy="444032"/>
                </a:xfrm>
                <a:prstGeom prst="rect">
                  <a:avLst/>
                </a:prstGeom>
                <a:blipFill>
                  <a:blip r:embed="rId8"/>
                  <a:stretch>
                    <a:fillRect r="-52419" b="-2778"/>
                  </a:stretch>
                </a:blipFill>
              </p:spPr>
              <p:txBody>
                <a:bodyPr/>
                <a:lstStyle/>
                <a:p>
                  <a:r>
                    <a:rPr lang="pt-BR">
                      <a:noFill/>
                    </a:rPr>
                    <a:t> </a:t>
                  </a:r>
                </a:p>
              </p:txBody>
            </p:sp>
          </mc:Fallback>
        </mc:AlternateContent>
        <p:cxnSp>
          <p:nvCxnSpPr>
            <p:cNvPr id="48" name="Conector reto 47">
              <a:extLst>
                <a:ext uri="{FF2B5EF4-FFF2-40B4-BE49-F238E27FC236}">
                  <a16:creationId xmlns:a16="http://schemas.microsoft.com/office/drawing/2014/main" id="{91970589-0FEE-A18A-6939-B759912143E8}"/>
                </a:ext>
              </a:extLst>
            </p:cNvPr>
            <p:cNvCxnSpPr>
              <a:cxnSpLocks/>
            </p:cNvCxnSpPr>
            <p:nvPr/>
          </p:nvCxnSpPr>
          <p:spPr>
            <a:xfrm>
              <a:off x="2402309" y="4543393"/>
              <a:ext cx="0" cy="360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CaixaDeTexto 48">
                  <a:extLst>
                    <a:ext uri="{FF2B5EF4-FFF2-40B4-BE49-F238E27FC236}">
                      <a16:creationId xmlns:a16="http://schemas.microsoft.com/office/drawing/2014/main" id="{549CB10D-AF19-2EAB-1F32-C5517B1BA991}"/>
                    </a:ext>
                  </a:extLst>
                </p:cNvPr>
                <p:cNvSpPr txBox="1"/>
                <p:nvPr/>
              </p:nvSpPr>
              <p:spPr>
                <a:xfrm>
                  <a:off x="2245894" y="4879610"/>
                  <a:ext cx="521882" cy="307777"/>
                </a:xfrm>
                <a:prstGeom prst="rect">
                  <a:avLst/>
                </a:prstGeom>
                <a:noFill/>
              </p:spPr>
              <p:txBody>
                <a:bodyPr wrap="square" rtlCol="0">
                  <a:spAutoFit/>
                </a:bodyPr>
                <a:lstStyle/>
                <a:p>
                  <a:pPr algn="ctr"/>
                  <a14:m>
                    <m:oMathPara xmlns:m="http://schemas.openxmlformats.org/officeDocument/2006/math">
                      <m:oMathParaPr>
                        <m:jc m:val="left"/>
                      </m:oMathParaPr>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m:rPr>
                                <m:sty m:val="p"/>
                              </m:rPr>
                              <a:rPr lang="pt-BR" sz="1400" b="0" i="0" smtClean="0">
                                <a:latin typeface="Cambria Math" panose="02040503050406030204" pitchFamily="18" charset="0"/>
                              </a:rPr>
                              <m:t>novo</m:t>
                            </m:r>
                          </m:sub>
                        </m:sSub>
                      </m:oMath>
                    </m:oMathPara>
                  </a14:m>
                  <a:endParaRPr lang="pt-BR" sz="1400" dirty="0"/>
                </a:p>
              </p:txBody>
            </p:sp>
          </mc:Choice>
          <mc:Fallback xmlns="">
            <p:sp>
              <p:nvSpPr>
                <p:cNvPr id="49" name="CaixaDeTexto 48">
                  <a:extLst>
                    <a:ext uri="{FF2B5EF4-FFF2-40B4-BE49-F238E27FC236}">
                      <a16:creationId xmlns:a16="http://schemas.microsoft.com/office/drawing/2014/main" id="{549CB10D-AF19-2EAB-1F32-C5517B1BA991}"/>
                    </a:ext>
                  </a:extLst>
                </p:cNvPr>
                <p:cNvSpPr txBox="1">
                  <a:spLocks noRot="1" noChangeAspect="1" noMove="1" noResize="1" noEditPoints="1" noAdjustHandles="1" noChangeArrowheads="1" noChangeShapeType="1" noTextEdit="1"/>
                </p:cNvSpPr>
                <p:nvPr/>
              </p:nvSpPr>
              <p:spPr>
                <a:xfrm>
                  <a:off x="2245894" y="4879610"/>
                  <a:ext cx="521882" cy="307777"/>
                </a:xfrm>
                <a:prstGeom prst="rect">
                  <a:avLst/>
                </a:prstGeom>
                <a:blipFill>
                  <a:blip r:embed="rId9"/>
                  <a:stretch>
                    <a:fillRect r="-2326"/>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50" name="CaixaDeTexto 49">
                <a:extLst>
                  <a:ext uri="{FF2B5EF4-FFF2-40B4-BE49-F238E27FC236}">
                    <a16:creationId xmlns:a16="http://schemas.microsoft.com/office/drawing/2014/main" id="{AD34DBF0-EDFD-5DD5-7A9F-3D8017EA2434}"/>
                  </a:ext>
                </a:extLst>
              </p:cNvPr>
              <p:cNvSpPr txBox="1"/>
              <p:nvPr/>
            </p:nvSpPr>
            <p:spPr>
              <a:xfrm>
                <a:off x="581889" y="5591230"/>
                <a:ext cx="3981143" cy="678584"/>
              </a:xfrm>
              <a:prstGeom prst="rect">
                <a:avLst/>
              </a:prstGeom>
              <a:noFill/>
            </p:spPr>
            <p:txBody>
              <a:bodyPr wrap="square" rtlCol="0">
                <a:spAutoFit/>
              </a:bodyPr>
              <a:lstStyle/>
              <a:p>
                <a:pPr algn="ctr"/>
                <a14:m>
                  <m:oMathPara xmlns:m="http://schemas.openxmlformats.org/officeDocument/2006/math">
                    <m:oMath>
                      <m:sSub>
                        <m:sSubPr>
                          <m:ctrlPr>
                            <a:rPr lang="pt-BR" sz="2000" b="0" i="1" smtClean="0">
                              <a:latin typeface="Cambria Math" panose="02040503050406030204" pitchFamily="18" charset="0"/>
                            </a:rPr>
                          </m:ctrlPr>
                        </m:sSubPr>
                        <m:e>
                          <m:r>
                            <a:rPr lang="pt-BR" sz="2000" b="0" i="1" smtClean="0">
                              <a:latin typeface="Cambria Math" panose="02040503050406030204" pitchFamily="18" charset="0"/>
                            </a:rPr>
                            <m:t>𝑎</m:t>
                          </m:r>
                        </m:e>
                        <m:sub>
                          <m:r>
                            <m:rPr>
                              <m:sty m:val="p"/>
                            </m:rPr>
                            <a:rPr lang="pt-BR" sz="2000" b="0" i="0" smtClean="0">
                              <a:latin typeface="Cambria Math" panose="02040503050406030204" pitchFamily="18" charset="0"/>
                            </a:rPr>
                            <m:t>novo</m:t>
                          </m:r>
                        </m:sub>
                      </m:sSub>
                      <m:r>
                        <a:rPr lang="pt-BR" sz="2000" b="0" i="0" smtClean="0">
                          <a:latin typeface="Cambria Math" panose="02040503050406030204" pitchFamily="18" charset="0"/>
                        </a:rPr>
                        <m:t>=</m:t>
                      </m:r>
                      <m:sSub>
                        <m:sSubPr>
                          <m:ctrlPr>
                            <a:rPr lang="pt-BR" sz="2000" i="1">
                              <a:latin typeface="Cambria Math" panose="02040503050406030204" pitchFamily="18" charset="0"/>
                            </a:rPr>
                          </m:ctrlPr>
                        </m:sSubPr>
                        <m:e>
                          <m:r>
                            <a:rPr lang="pt-BR" sz="2000" i="1">
                              <a:latin typeface="Cambria Math" panose="02040503050406030204" pitchFamily="18" charset="0"/>
                            </a:rPr>
                            <m:t>𝑎</m:t>
                          </m:r>
                        </m:e>
                        <m:sub>
                          <m:r>
                            <m:rPr>
                              <m:sty m:val="p"/>
                            </m:rPr>
                            <a:rPr lang="pt-BR" sz="2000" b="0" i="0" smtClean="0">
                              <a:latin typeface="Cambria Math" panose="02040503050406030204" pitchFamily="18" charset="0"/>
                            </a:rPr>
                            <m:t>anterior</m:t>
                          </m:r>
                        </m:sub>
                      </m:sSub>
                      <m:r>
                        <a:rPr lang="pt-BR" sz="2000" b="0" i="0" smtClean="0">
                          <a:latin typeface="Cambria Math" panose="02040503050406030204" pitchFamily="18" charset="0"/>
                        </a:rPr>
                        <m:t>−</m:t>
                      </m:r>
                      <m:r>
                        <a:rPr lang="pt-BR" sz="2000" i="1" dirty="0">
                          <a:latin typeface="Cambria Math" panose="02040503050406030204" pitchFamily="18" charset="0"/>
                          <a:ea typeface="Cambria Math" panose="02040503050406030204" pitchFamily="18" charset="0"/>
                        </a:rPr>
                        <m:t>𝛼</m:t>
                      </m:r>
                      <m:f>
                        <m:fPr>
                          <m:ctrlPr>
                            <a:rPr lang="pt-BR" sz="2000" i="1" dirty="0">
                              <a:latin typeface="Cambria Math" panose="02040503050406030204" pitchFamily="18" charset="0"/>
                            </a:rPr>
                          </m:ctrlPr>
                        </m:fPr>
                        <m:num>
                          <m:r>
                            <a:rPr lang="pt-BR" sz="2000" i="1" dirty="0">
                              <a:latin typeface="Cambria Math" panose="02040503050406030204" pitchFamily="18" charset="0"/>
                            </a:rPr>
                            <m:t>𝜕</m:t>
                          </m:r>
                          <m:sSub>
                            <m:sSubPr>
                              <m:ctrlPr>
                                <a:rPr lang="pt-BR" sz="2000" i="1">
                                  <a:latin typeface="Cambria Math" panose="02040503050406030204" pitchFamily="18" charset="0"/>
                                </a:rPr>
                              </m:ctrlPr>
                            </m:sSubPr>
                            <m:e>
                              <m:r>
                                <a:rPr lang="pt-BR" sz="2000" i="1">
                                  <a:latin typeface="Cambria Math" panose="02040503050406030204" pitchFamily="18" charset="0"/>
                                </a:rPr>
                                <m:t>𝐽</m:t>
                              </m:r>
                            </m:e>
                            <m:sub>
                              <m:r>
                                <a:rPr lang="pt-BR" sz="2000" i="1">
                                  <a:latin typeface="Cambria Math" panose="02040503050406030204" pitchFamily="18" charset="0"/>
                                </a:rPr>
                                <m:t>𝑒</m:t>
                              </m:r>
                            </m:sub>
                          </m:sSub>
                          <m:r>
                            <a:rPr lang="pt-BR" sz="2000" i="1" smtClean="0">
                              <a:latin typeface="Cambria Math" panose="02040503050406030204" pitchFamily="18" charset="0"/>
                            </a:rPr>
                            <m:t>(</m:t>
                          </m:r>
                          <m:sSub>
                            <m:sSubPr>
                              <m:ctrlPr>
                                <a:rPr lang="pt-BR" sz="2000" i="1">
                                  <a:latin typeface="Cambria Math" panose="02040503050406030204" pitchFamily="18" charset="0"/>
                                </a:rPr>
                              </m:ctrlPr>
                            </m:sSubPr>
                            <m:e>
                              <m:r>
                                <a:rPr lang="pt-BR" sz="2000" i="1">
                                  <a:latin typeface="Cambria Math" panose="02040503050406030204" pitchFamily="18" charset="0"/>
                                </a:rPr>
                                <m:t>𝑎</m:t>
                              </m:r>
                            </m:e>
                            <m:sub>
                              <m:r>
                                <m:rPr>
                                  <m:sty m:val="p"/>
                                </m:rPr>
                                <a:rPr lang="pt-BR" sz="2000" b="0" i="0" smtClean="0">
                                  <a:latin typeface="Cambria Math" panose="02040503050406030204" pitchFamily="18" charset="0"/>
                                </a:rPr>
                                <m:t>anterior</m:t>
                              </m:r>
                            </m:sub>
                          </m:sSub>
                          <m:r>
                            <a:rPr lang="pt-BR" sz="2000" i="1">
                              <a:latin typeface="Cambria Math" panose="02040503050406030204" pitchFamily="18" charset="0"/>
                            </a:rPr>
                            <m:t>)</m:t>
                          </m:r>
                        </m:num>
                        <m:den>
                          <m:r>
                            <a:rPr lang="pt-BR" sz="2000" i="1" dirty="0">
                              <a:latin typeface="Cambria Math" panose="02040503050406030204" pitchFamily="18" charset="0"/>
                            </a:rPr>
                            <m:t>𝜕</m:t>
                          </m:r>
                          <m:r>
                            <a:rPr lang="pt-BR" sz="2000" i="1" dirty="0">
                              <a:latin typeface="Cambria Math" panose="02040503050406030204" pitchFamily="18" charset="0"/>
                            </a:rPr>
                            <m:t>𝑎</m:t>
                          </m:r>
                        </m:den>
                      </m:f>
                    </m:oMath>
                  </m:oMathPara>
                </a14:m>
                <a:endParaRPr lang="pt-BR" sz="2000" dirty="0"/>
              </a:p>
            </p:txBody>
          </p:sp>
        </mc:Choice>
        <mc:Fallback xmlns="">
          <p:sp>
            <p:nvSpPr>
              <p:cNvPr id="50" name="CaixaDeTexto 49">
                <a:extLst>
                  <a:ext uri="{FF2B5EF4-FFF2-40B4-BE49-F238E27FC236}">
                    <a16:creationId xmlns:a16="http://schemas.microsoft.com/office/drawing/2014/main" id="{AD34DBF0-EDFD-5DD5-7A9F-3D8017EA2434}"/>
                  </a:ext>
                </a:extLst>
              </p:cNvPr>
              <p:cNvSpPr txBox="1">
                <a:spLocks noRot="1" noChangeAspect="1" noMove="1" noResize="1" noEditPoints="1" noAdjustHandles="1" noChangeArrowheads="1" noChangeShapeType="1" noTextEdit="1"/>
              </p:cNvSpPr>
              <p:nvPr/>
            </p:nvSpPr>
            <p:spPr>
              <a:xfrm>
                <a:off x="581889" y="5591230"/>
                <a:ext cx="3981143" cy="678584"/>
              </a:xfrm>
              <a:prstGeom prst="rect">
                <a:avLst/>
              </a:prstGeom>
              <a:blipFill>
                <a:blip r:embed="rId10"/>
                <a:stretch>
                  <a:fillRect/>
                </a:stretch>
              </a:blipFill>
            </p:spPr>
            <p:txBody>
              <a:bodyPr/>
              <a:lstStyle/>
              <a:p>
                <a:r>
                  <a:rPr lang="en-US">
                    <a:noFill/>
                  </a:rPr>
                  <a:t> </a:t>
                </a:r>
              </a:p>
            </p:txBody>
          </p:sp>
        </mc:Fallback>
      </mc:AlternateContent>
      <p:sp>
        <p:nvSpPr>
          <p:cNvPr id="51" name="Chave Direita 50">
            <a:extLst>
              <a:ext uri="{FF2B5EF4-FFF2-40B4-BE49-F238E27FC236}">
                <a16:creationId xmlns:a16="http://schemas.microsoft.com/office/drawing/2014/main" id="{BBB7610F-0D45-15F0-36E0-B73700205383}"/>
              </a:ext>
            </a:extLst>
          </p:cNvPr>
          <p:cNvSpPr/>
          <p:nvPr/>
        </p:nvSpPr>
        <p:spPr>
          <a:xfrm rot="5400000">
            <a:off x="2485579" y="4359378"/>
            <a:ext cx="237200" cy="386192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52" name="CaixaDeTexto 51">
            <a:extLst>
              <a:ext uri="{FF2B5EF4-FFF2-40B4-BE49-F238E27FC236}">
                <a16:creationId xmlns:a16="http://schemas.microsoft.com/office/drawing/2014/main" id="{38BE7280-D6C2-F198-63A6-75BAA02AF46C}"/>
              </a:ext>
            </a:extLst>
          </p:cNvPr>
          <p:cNvSpPr txBox="1"/>
          <p:nvPr/>
        </p:nvSpPr>
        <p:spPr>
          <a:xfrm>
            <a:off x="654563" y="6432986"/>
            <a:ext cx="3880580" cy="369332"/>
          </a:xfrm>
          <a:prstGeom prst="rect">
            <a:avLst/>
          </a:prstGeom>
          <a:noFill/>
        </p:spPr>
        <p:txBody>
          <a:bodyPr wrap="square" rtlCol="0">
            <a:spAutoFit/>
          </a:bodyPr>
          <a:lstStyle/>
          <a:p>
            <a:pPr algn="ctr"/>
            <a:r>
              <a:rPr lang="pt-BR" dirty="0"/>
              <a:t>Equação de atualização dos pesos</a:t>
            </a:r>
          </a:p>
        </p:txBody>
      </p:sp>
    </p:spTree>
    <p:extLst>
      <p:ext uri="{BB962C8B-B14F-4D97-AF65-F5344CB8AC3E}">
        <p14:creationId xmlns:p14="http://schemas.microsoft.com/office/powerpoint/2010/main" val="14182304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4CC07-5164-3C85-E8FA-D50DCD6DE55C}"/>
              </a:ext>
            </a:extLst>
          </p:cNvPr>
          <p:cNvSpPr>
            <a:spLocks noGrp="1"/>
          </p:cNvSpPr>
          <p:nvPr>
            <p:ph type="title"/>
          </p:nvPr>
        </p:nvSpPr>
        <p:spPr/>
        <p:txBody>
          <a:bodyPr/>
          <a:lstStyle/>
          <a:p>
            <a:r>
              <a:rPr lang="pt-BR" dirty="0"/>
              <a:t>Otimização iterativa</a:t>
            </a:r>
            <a:endParaRPr lang="en-US" dirty="0"/>
          </a:p>
        </p:txBody>
      </p:sp>
      <p:sp>
        <p:nvSpPr>
          <p:cNvPr id="3" name="Content Placeholder 2">
            <a:extLst>
              <a:ext uri="{FF2B5EF4-FFF2-40B4-BE49-F238E27FC236}">
                <a16:creationId xmlns:a16="http://schemas.microsoft.com/office/drawing/2014/main" id="{C9EC55E5-C8A8-27F2-D000-5CBB479BF656}"/>
              </a:ext>
            </a:extLst>
          </p:cNvPr>
          <p:cNvSpPr>
            <a:spLocks noGrp="1"/>
          </p:cNvSpPr>
          <p:nvPr>
            <p:ph idx="1"/>
          </p:nvPr>
        </p:nvSpPr>
        <p:spPr>
          <a:xfrm>
            <a:off x="5684362" y="1825624"/>
            <a:ext cx="6410228" cy="5032375"/>
          </a:xfrm>
        </p:spPr>
        <p:txBody>
          <a:bodyPr>
            <a:normAutofit/>
          </a:bodyPr>
          <a:lstStyle/>
          <a:p>
            <a:r>
              <a:rPr lang="pt-BR" dirty="0"/>
              <a:t>Quando os elementos do vetor gradiente se tornam iguais a 0, os </a:t>
            </a:r>
            <a:r>
              <a:rPr lang="pt-BR" b="1" dirty="0">
                <a:solidFill>
                  <a:schemeClr val="accent2"/>
                </a:solidFill>
              </a:rPr>
              <a:t>pesos não são mais atualizados</a:t>
            </a:r>
            <a:r>
              <a:rPr lang="pt-BR" dirty="0"/>
              <a:t>, permanecendo </a:t>
            </a:r>
            <a:r>
              <a:rPr lang="pt-BR" b="1" dirty="0">
                <a:solidFill>
                  <a:srgbClr val="7030A0"/>
                </a:solidFill>
              </a:rPr>
              <a:t>constantes</a:t>
            </a:r>
            <a:r>
              <a:rPr lang="pt-BR" dirty="0"/>
              <a:t>.</a:t>
            </a:r>
          </a:p>
          <a:p>
            <a:r>
              <a:rPr lang="pt-BR" dirty="0"/>
              <a:t>Consequentemente, se os pesos são constantes, </a:t>
            </a:r>
            <a:r>
              <a:rPr lang="pt-BR" b="1" dirty="0">
                <a:solidFill>
                  <a:srgbClr val="7030A0"/>
                </a:solidFill>
              </a:rPr>
              <a:t>o erro se torna constante</a:t>
            </a:r>
            <a:r>
              <a:rPr lang="pt-BR" dirty="0"/>
              <a:t>.</a:t>
            </a:r>
          </a:p>
          <a:p>
            <a:r>
              <a:rPr lang="pt-BR" dirty="0"/>
              <a:t>Essa constância do erro (i.e., reta), é uma das formas usadas para encerrar o treinamento.</a:t>
            </a:r>
          </a:p>
          <a:p>
            <a:pPr lvl="1">
              <a:buFont typeface="Wingdings" panose="05000000000000000000" pitchFamily="2" charset="2"/>
              <a:buChar char="§"/>
            </a:pPr>
            <a:r>
              <a:rPr lang="pt-BR" dirty="0"/>
              <a:t>Se a </a:t>
            </a:r>
            <a:r>
              <a:rPr lang="pt-BR" b="1" dirty="0">
                <a:solidFill>
                  <a:srgbClr val="00B050"/>
                </a:solidFill>
              </a:rPr>
              <a:t>diferença do erro entre duas iterações consecutivas</a:t>
            </a:r>
            <a:r>
              <a:rPr lang="pt-BR" dirty="0"/>
              <a:t> cair abaixo de um valor bem pequeno, pode-se encerrar o treinamento.</a:t>
            </a:r>
            <a:endParaRPr lang="en-US" dirty="0"/>
          </a:p>
        </p:txBody>
      </p:sp>
      <mc:AlternateContent xmlns:mc="http://schemas.openxmlformats.org/markup-compatibility/2006" xmlns:a14="http://schemas.microsoft.com/office/drawing/2010/main">
        <mc:Choice Requires="a14">
          <p:sp>
            <p:nvSpPr>
              <p:cNvPr id="4" name="CaixaDeTexto 49">
                <a:extLst>
                  <a:ext uri="{FF2B5EF4-FFF2-40B4-BE49-F238E27FC236}">
                    <a16:creationId xmlns:a16="http://schemas.microsoft.com/office/drawing/2014/main" id="{75B195AC-8D57-E609-4AEB-9B162275450D}"/>
                  </a:ext>
                </a:extLst>
              </p:cNvPr>
              <p:cNvSpPr txBox="1"/>
              <p:nvPr/>
            </p:nvSpPr>
            <p:spPr>
              <a:xfrm>
                <a:off x="947049" y="1980762"/>
                <a:ext cx="4078575" cy="678519"/>
              </a:xfrm>
              <a:prstGeom prst="rect">
                <a:avLst/>
              </a:prstGeom>
              <a:noFill/>
            </p:spPr>
            <p:txBody>
              <a:bodyPr wrap="square" rtlCol="0">
                <a:spAutoFit/>
              </a:bodyPr>
              <a:lstStyle/>
              <a:p>
                <a:pPr algn="ctr"/>
                <a14:m>
                  <m:oMathPara xmlns:m="http://schemas.openxmlformats.org/officeDocument/2006/math">
                    <m:oMath>
                      <m:sSub>
                        <m:sSubPr>
                          <m:ctrlPr>
                            <a:rPr lang="pt-BR" sz="2000" b="1" i="1" smtClean="0">
                              <a:latin typeface="Cambria Math" panose="02040503050406030204" pitchFamily="18" charset="0"/>
                            </a:rPr>
                          </m:ctrlPr>
                        </m:sSubPr>
                        <m:e>
                          <m:r>
                            <a:rPr lang="pt-BR" sz="2000" b="1" i="1" smtClean="0">
                              <a:latin typeface="Cambria Math" panose="02040503050406030204" pitchFamily="18" charset="0"/>
                            </a:rPr>
                            <m:t>𝒂</m:t>
                          </m:r>
                        </m:e>
                        <m:sub>
                          <m:r>
                            <m:rPr>
                              <m:sty m:val="p"/>
                            </m:rPr>
                            <a:rPr lang="pt-BR" sz="2000" b="0" i="0" smtClean="0">
                              <a:latin typeface="Cambria Math" panose="02040503050406030204" pitchFamily="18" charset="0"/>
                            </a:rPr>
                            <m:t>novo</m:t>
                          </m:r>
                        </m:sub>
                      </m:sSub>
                      <m:r>
                        <a:rPr lang="pt-BR" sz="2000" b="0" i="0" smtClean="0">
                          <a:latin typeface="Cambria Math" panose="02040503050406030204" pitchFamily="18" charset="0"/>
                        </a:rPr>
                        <m:t>=</m:t>
                      </m:r>
                      <m:sSub>
                        <m:sSubPr>
                          <m:ctrlPr>
                            <a:rPr lang="pt-BR" sz="2000" b="1" i="1">
                              <a:latin typeface="Cambria Math" panose="02040503050406030204" pitchFamily="18" charset="0"/>
                            </a:rPr>
                          </m:ctrlPr>
                        </m:sSubPr>
                        <m:e>
                          <m:r>
                            <a:rPr lang="pt-BR" sz="2000" b="1" i="1">
                              <a:latin typeface="Cambria Math" panose="02040503050406030204" pitchFamily="18" charset="0"/>
                            </a:rPr>
                            <m:t>𝒂</m:t>
                          </m:r>
                        </m:e>
                        <m:sub>
                          <m:r>
                            <m:rPr>
                              <m:sty m:val="p"/>
                            </m:rPr>
                            <a:rPr lang="pt-BR" sz="2000" b="0" i="0" smtClean="0">
                              <a:latin typeface="Cambria Math" panose="02040503050406030204" pitchFamily="18" charset="0"/>
                            </a:rPr>
                            <m:t>anterior</m:t>
                          </m:r>
                        </m:sub>
                      </m:sSub>
                      <m:r>
                        <a:rPr lang="pt-BR" sz="2000" b="0" i="0" smtClean="0">
                          <a:latin typeface="Cambria Math" panose="02040503050406030204" pitchFamily="18" charset="0"/>
                        </a:rPr>
                        <m:t>−</m:t>
                      </m:r>
                      <m:r>
                        <a:rPr lang="pt-BR" sz="2000" i="1" dirty="0">
                          <a:latin typeface="Cambria Math" panose="02040503050406030204" pitchFamily="18" charset="0"/>
                          <a:ea typeface="Cambria Math" panose="02040503050406030204" pitchFamily="18" charset="0"/>
                        </a:rPr>
                        <m:t>𝛼</m:t>
                      </m:r>
                      <m:f>
                        <m:fPr>
                          <m:ctrlPr>
                            <a:rPr lang="pt-BR" sz="2000" i="1" dirty="0">
                              <a:latin typeface="Cambria Math" panose="02040503050406030204" pitchFamily="18" charset="0"/>
                            </a:rPr>
                          </m:ctrlPr>
                        </m:fPr>
                        <m:num>
                          <m:r>
                            <a:rPr lang="pt-BR" sz="2000" i="1" dirty="0">
                              <a:latin typeface="Cambria Math" panose="02040503050406030204" pitchFamily="18" charset="0"/>
                            </a:rPr>
                            <m:t>𝜕</m:t>
                          </m:r>
                          <m:sSub>
                            <m:sSubPr>
                              <m:ctrlPr>
                                <a:rPr lang="pt-BR" sz="2000" i="1">
                                  <a:latin typeface="Cambria Math" panose="02040503050406030204" pitchFamily="18" charset="0"/>
                                </a:rPr>
                              </m:ctrlPr>
                            </m:sSubPr>
                            <m:e>
                              <m:r>
                                <a:rPr lang="pt-BR" sz="2000" i="1">
                                  <a:latin typeface="Cambria Math" panose="02040503050406030204" pitchFamily="18" charset="0"/>
                                </a:rPr>
                                <m:t>𝐽</m:t>
                              </m:r>
                            </m:e>
                            <m:sub>
                              <m:r>
                                <a:rPr lang="pt-BR" sz="2000" i="1">
                                  <a:latin typeface="Cambria Math" panose="02040503050406030204" pitchFamily="18" charset="0"/>
                                </a:rPr>
                                <m:t>𝑒</m:t>
                              </m:r>
                            </m:sub>
                          </m:sSub>
                          <m:r>
                            <a:rPr lang="pt-BR" sz="2000" i="1" smtClean="0">
                              <a:latin typeface="Cambria Math" panose="02040503050406030204" pitchFamily="18" charset="0"/>
                            </a:rPr>
                            <m:t>(</m:t>
                          </m:r>
                          <m:sSub>
                            <m:sSubPr>
                              <m:ctrlPr>
                                <a:rPr lang="pt-BR" sz="2000" b="1" i="1">
                                  <a:latin typeface="Cambria Math" panose="02040503050406030204" pitchFamily="18" charset="0"/>
                                </a:rPr>
                              </m:ctrlPr>
                            </m:sSubPr>
                            <m:e>
                              <m:r>
                                <a:rPr lang="pt-BR" sz="2000" b="1" i="1">
                                  <a:latin typeface="Cambria Math" panose="02040503050406030204" pitchFamily="18" charset="0"/>
                                </a:rPr>
                                <m:t>𝒂</m:t>
                              </m:r>
                            </m:e>
                            <m:sub>
                              <m:r>
                                <m:rPr>
                                  <m:sty m:val="p"/>
                                </m:rPr>
                                <a:rPr lang="pt-BR" sz="2000" b="0" i="0" smtClean="0">
                                  <a:latin typeface="Cambria Math" panose="02040503050406030204" pitchFamily="18" charset="0"/>
                                </a:rPr>
                                <m:t>anterior</m:t>
                              </m:r>
                            </m:sub>
                          </m:sSub>
                          <m:r>
                            <a:rPr lang="pt-BR" sz="2000" i="1">
                              <a:latin typeface="Cambria Math" panose="02040503050406030204" pitchFamily="18" charset="0"/>
                            </a:rPr>
                            <m:t>)</m:t>
                          </m:r>
                        </m:num>
                        <m:den>
                          <m:r>
                            <a:rPr lang="pt-BR" sz="2000" i="1" dirty="0">
                              <a:latin typeface="Cambria Math" panose="02040503050406030204" pitchFamily="18" charset="0"/>
                            </a:rPr>
                            <m:t>𝜕</m:t>
                          </m:r>
                          <m:r>
                            <a:rPr lang="pt-BR" sz="2000" b="1" i="1" dirty="0">
                              <a:latin typeface="Cambria Math" panose="02040503050406030204" pitchFamily="18" charset="0"/>
                            </a:rPr>
                            <m:t>𝒂</m:t>
                          </m:r>
                        </m:den>
                      </m:f>
                    </m:oMath>
                  </m:oMathPara>
                </a14:m>
                <a:endParaRPr lang="pt-BR" sz="2000" dirty="0"/>
              </a:p>
            </p:txBody>
          </p:sp>
        </mc:Choice>
        <mc:Fallback xmlns="">
          <p:sp>
            <p:nvSpPr>
              <p:cNvPr id="4" name="CaixaDeTexto 49">
                <a:extLst>
                  <a:ext uri="{FF2B5EF4-FFF2-40B4-BE49-F238E27FC236}">
                    <a16:creationId xmlns:a16="http://schemas.microsoft.com/office/drawing/2014/main" id="{75B195AC-8D57-E609-4AEB-9B162275450D}"/>
                  </a:ext>
                </a:extLst>
              </p:cNvPr>
              <p:cNvSpPr txBox="1">
                <a:spLocks noRot="1" noChangeAspect="1" noMove="1" noResize="1" noEditPoints="1" noAdjustHandles="1" noChangeArrowheads="1" noChangeShapeType="1" noTextEdit="1"/>
              </p:cNvSpPr>
              <p:nvPr/>
            </p:nvSpPr>
            <p:spPr>
              <a:xfrm>
                <a:off x="947049" y="1980762"/>
                <a:ext cx="4078575" cy="678519"/>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FF60BC3-6E0D-EC71-61D0-DF5C00BB2B96}"/>
                  </a:ext>
                </a:extLst>
              </p:cNvPr>
              <p:cNvSpPr txBox="1"/>
              <p:nvPr/>
            </p:nvSpPr>
            <p:spPr>
              <a:xfrm>
                <a:off x="1312410" y="3062544"/>
                <a:ext cx="3330803" cy="610936"/>
              </a:xfrm>
              <a:prstGeom prst="rect">
                <a:avLst/>
              </a:prstGeom>
              <a:noFill/>
            </p:spPr>
            <p:txBody>
              <a:bodyPr wrap="square">
                <a:spAutoFit/>
              </a:bodyPr>
              <a:lstStyle/>
              <a:p>
                <a:pPr/>
                <a14:m>
                  <m:oMathPara xmlns:m="http://schemas.openxmlformats.org/officeDocument/2006/math">
                    <m:oMath>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𝑁</m:t>
                          </m:r>
                        </m:den>
                      </m:f>
                      <m:sSup>
                        <m:sSupPr>
                          <m:ctrlPr>
                            <a:rPr lang="pt-BR" b="1" i="1">
                              <a:latin typeface="Cambria Math" panose="02040503050406030204" pitchFamily="18" charset="0"/>
                            </a:rPr>
                          </m:ctrlPr>
                        </m:sSupPr>
                        <m:e>
                          <m:d>
                            <m:dPr>
                              <m:begChr m:val="‖"/>
                              <m:endChr m:val="‖"/>
                              <m:ctrlPr>
                                <a:rPr lang="pt-BR" b="1" i="1">
                                  <a:latin typeface="Cambria Math" panose="02040503050406030204" pitchFamily="18" charset="0"/>
                                </a:rPr>
                              </m:ctrlPr>
                            </m:dPr>
                            <m:e>
                              <m:r>
                                <a:rPr lang="pt-BR" b="1" i="1">
                                  <a:latin typeface="Cambria Math" panose="02040503050406030204" pitchFamily="18" charset="0"/>
                                </a:rPr>
                                <m:t>𝒚</m:t>
                              </m:r>
                              <m:r>
                                <a:rPr lang="pt-BR" i="1">
                                  <a:latin typeface="Cambria Math" panose="02040503050406030204" pitchFamily="18" charset="0"/>
                                </a:rPr>
                                <m:t> −</m:t>
                              </m:r>
                              <m:r>
                                <a:rPr lang="pt-BR" b="1" i="1">
                                  <a:latin typeface="Cambria Math" panose="02040503050406030204" pitchFamily="18" charset="0"/>
                                </a:rPr>
                                <m:t>𝑿𝒂</m:t>
                              </m:r>
                            </m:e>
                          </m:d>
                        </m:e>
                        <m:sup>
                          <m:r>
                            <a:rPr lang="pt-BR" i="1">
                              <a:latin typeface="Cambria Math" panose="02040503050406030204" pitchFamily="18" charset="0"/>
                            </a:rPr>
                            <m:t>2</m:t>
                          </m:r>
                        </m:sup>
                      </m:sSup>
                    </m:oMath>
                  </m:oMathPara>
                </a14:m>
                <a:endParaRPr lang="en-US" dirty="0"/>
              </a:p>
            </p:txBody>
          </p:sp>
        </mc:Choice>
        <mc:Fallback xmlns="">
          <p:sp>
            <p:nvSpPr>
              <p:cNvPr id="7" name="TextBox 6">
                <a:extLst>
                  <a:ext uri="{FF2B5EF4-FFF2-40B4-BE49-F238E27FC236}">
                    <a16:creationId xmlns:a16="http://schemas.microsoft.com/office/drawing/2014/main" id="{DFF60BC3-6E0D-EC71-61D0-DF5C00BB2B96}"/>
                  </a:ext>
                </a:extLst>
              </p:cNvPr>
              <p:cNvSpPr txBox="1">
                <a:spLocks noRot="1" noChangeAspect="1" noMove="1" noResize="1" noEditPoints="1" noAdjustHandles="1" noChangeArrowheads="1" noChangeShapeType="1" noTextEdit="1"/>
              </p:cNvSpPr>
              <p:nvPr/>
            </p:nvSpPr>
            <p:spPr>
              <a:xfrm>
                <a:off x="1312410" y="3062544"/>
                <a:ext cx="3330803" cy="610936"/>
              </a:xfrm>
              <a:prstGeom prst="rect">
                <a:avLst/>
              </a:prstGeom>
              <a:blipFill>
                <a:blip r:embed="rId3"/>
                <a:stretch>
                  <a:fillRect/>
                </a:stretch>
              </a:blipFill>
            </p:spPr>
            <p:txBody>
              <a:bodyPr/>
              <a:lstStyle/>
              <a:p>
                <a:r>
                  <a:rPr lang="en-US">
                    <a:noFill/>
                  </a:rPr>
                  <a:t> </a:t>
                </a:r>
              </a:p>
            </p:txBody>
          </p:sp>
        </mc:Fallback>
      </mc:AlternateContent>
      <p:pic>
        <p:nvPicPr>
          <p:cNvPr id="11" name="Picture 10">
            <a:extLst>
              <a:ext uri="{FF2B5EF4-FFF2-40B4-BE49-F238E27FC236}">
                <a16:creationId xmlns:a16="http://schemas.microsoft.com/office/drawing/2014/main" id="{B98B5F86-3939-B850-99BF-BD516A3DCB1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63520" y="4104385"/>
            <a:ext cx="4002296" cy="2668197"/>
          </a:xfrm>
          <a:prstGeom prst="rect">
            <a:avLst/>
          </a:prstGeom>
        </p:spPr>
      </p:pic>
      <p:sp>
        <p:nvSpPr>
          <p:cNvPr id="12" name="Arrow: Down 11">
            <a:extLst>
              <a:ext uri="{FF2B5EF4-FFF2-40B4-BE49-F238E27FC236}">
                <a16:creationId xmlns:a16="http://schemas.microsoft.com/office/drawing/2014/main" id="{3ED116A8-9241-BD04-5661-741C84A3F581}"/>
              </a:ext>
            </a:extLst>
          </p:cNvPr>
          <p:cNvSpPr/>
          <p:nvPr/>
        </p:nvSpPr>
        <p:spPr>
          <a:xfrm>
            <a:off x="2854733" y="2711481"/>
            <a:ext cx="246156" cy="29892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Arrow: Down 12">
            <a:extLst>
              <a:ext uri="{FF2B5EF4-FFF2-40B4-BE49-F238E27FC236}">
                <a16:creationId xmlns:a16="http://schemas.microsoft.com/office/drawing/2014/main" id="{079A896D-7F5E-D405-8833-14DF91B2118B}"/>
              </a:ext>
            </a:extLst>
          </p:cNvPr>
          <p:cNvSpPr/>
          <p:nvPr/>
        </p:nvSpPr>
        <p:spPr>
          <a:xfrm>
            <a:off x="2834820" y="3777177"/>
            <a:ext cx="246156" cy="29892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2769095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CC3C31-4EA2-B4A2-431F-BF22FBB8A7BA}"/>
              </a:ext>
            </a:extLst>
          </p:cNvPr>
          <p:cNvSpPr>
            <a:spLocks noGrp="1"/>
          </p:cNvSpPr>
          <p:nvPr>
            <p:ph type="title"/>
          </p:nvPr>
        </p:nvSpPr>
        <p:spPr/>
        <p:txBody>
          <a:bodyPr/>
          <a:lstStyle/>
          <a:p>
            <a:r>
              <a:rPr lang="pt-BR" dirty="0"/>
              <a:t>Tamanho do passo de aprendizagem</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F09EA0C7-E094-F158-6A1A-B80733321450}"/>
                  </a:ext>
                </a:extLst>
              </p:cNvPr>
              <p:cNvSpPr>
                <a:spLocks noGrp="1"/>
              </p:cNvSpPr>
              <p:nvPr>
                <p:ph idx="1"/>
              </p:nvPr>
            </p:nvSpPr>
            <p:spPr>
              <a:xfrm>
                <a:off x="5897233" y="1825624"/>
                <a:ext cx="6102983" cy="5032376"/>
              </a:xfrm>
            </p:spPr>
            <p:txBody>
              <a:bodyPr>
                <a:normAutofit/>
              </a:bodyPr>
              <a:lstStyle/>
              <a:p>
                <a:r>
                  <a:rPr lang="pt-BR" dirty="0"/>
                  <a:t>O objetivo é que a cada nova iteração, o GD mova o vetor de pesos, </a:t>
                </a:r>
                <a14:m>
                  <m:oMath xmlns:m="http://schemas.openxmlformats.org/officeDocument/2006/math">
                    <m:r>
                      <a:rPr lang="pt-BR" i="1">
                        <a:latin typeface="Cambria Math" panose="02040503050406030204" pitchFamily="18" charset="0"/>
                      </a:rPr>
                      <m:t>𝑎</m:t>
                    </m:r>
                  </m:oMath>
                </a14:m>
                <a:r>
                  <a:rPr lang="pt-BR" dirty="0"/>
                  <a:t>, para mais e mais perto do ponto de mínimo, </a:t>
                </a:r>
                <a14:m>
                  <m:oMath xmlns:m="http://schemas.openxmlformats.org/officeDocument/2006/math">
                    <m:sSub>
                      <m:sSubPr>
                        <m:ctrlPr>
                          <a:rPr lang="pt-BR" sz="2800" b="0" i="1" smtClean="0">
                            <a:latin typeface="Cambria Math" panose="02040503050406030204" pitchFamily="18" charset="0"/>
                          </a:rPr>
                        </m:ctrlPr>
                      </m:sSubPr>
                      <m:e>
                        <m:r>
                          <a:rPr lang="pt-BR" sz="2800" b="0" i="1" smtClean="0">
                            <a:latin typeface="Cambria Math" panose="02040503050406030204" pitchFamily="18" charset="0"/>
                          </a:rPr>
                          <m:t>𝑎</m:t>
                        </m:r>
                      </m:e>
                      <m:sub>
                        <m:r>
                          <a:rPr lang="pt-BR" sz="2800" b="0" i="0" smtClean="0">
                            <a:latin typeface="Cambria Math" panose="02040503050406030204" pitchFamily="18" charset="0"/>
                          </a:rPr>
                          <m:t>ó</m:t>
                        </m:r>
                        <m:r>
                          <m:rPr>
                            <m:sty m:val="p"/>
                          </m:rPr>
                          <a:rPr lang="pt-BR" sz="2800" b="0" i="0" smtClean="0">
                            <a:latin typeface="Cambria Math" panose="02040503050406030204" pitchFamily="18" charset="0"/>
                          </a:rPr>
                          <m:t>timo</m:t>
                        </m:r>
                      </m:sub>
                    </m:sSub>
                  </m:oMath>
                </a14:m>
                <a:r>
                  <a:rPr lang="pt-BR" sz="2800" dirty="0"/>
                  <a:t>.</a:t>
                </a:r>
                <a:endParaRPr lang="pt-BR" dirty="0"/>
              </a:p>
              <a:p>
                <a:r>
                  <a:rPr lang="pt-BR" dirty="0"/>
                  <a:t>Porém, devemos tomar </a:t>
                </a:r>
                <a:r>
                  <a:rPr lang="pt-BR" b="1" dirty="0">
                    <a:solidFill>
                      <a:srgbClr val="00B050"/>
                    </a:solidFill>
                  </a:rPr>
                  <a:t>cuidado</a:t>
                </a:r>
                <a:r>
                  <a:rPr lang="pt-BR" dirty="0"/>
                  <a:t>, com o </a:t>
                </a:r>
                <a:r>
                  <a:rPr lang="pt-BR" b="1" dirty="0">
                    <a:solidFill>
                      <a:srgbClr val="00B050"/>
                    </a:solidFill>
                  </a:rPr>
                  <a:t>tamanho do passo de aprendizagem</a:t>
                </a:r>
                <a:r>
                  <a:rPr lang="pt-BR" dirty="0"/>
                  <a:t>, que é ditado pela </a:t>
                </a:r>
                <a:r>
                  <a:rPr lang="pt-BR" b="1" dirty="0">
                    <a:solidFill>
                      <a:srgbClr val="00B0F0"/>
                    </a:solidFill>
                  </a:rPr>
                  <a:t>taxa de aprendizagem</a:t>
                </a:r>
                <a:r>
                  <a:rPr lang="pt-BR" dirty="0"/>
                  <a:t>, </a:t>
                </a:r>
                <a14:m>
                  <m:oMath xmlns:m="http://schemas.openxmlformats.org/officeDocument/2006/math">
                    <m:r>
                      <a:rPr lang="pt-BR" i="1" smtClean="0">
                        <a:latin typeface="Cambria Math" panose="02040503050406030204" pitchFamily="18" charset="0"/>
                        <a:ea typeface="Cambria Math" panose="02040503050406030204" pitchFamily="18" charset="0"/>
                      </a:rPr>
                      <m:t>𝛼</m:t>
                    </m:r>
                  </m:oMath>
                </a14:m>
                <a:r>
                  <a:rPr lang="pt-BR" dirty="0"/>
                  <a:t>.</a:t>
                </a:r>
              </a:p>
            </p:txBody>
          </p:sp>
        </mc:Choice>
        <mc:Fallback xmlns="">
          <p:sp>
            <p:nvSpPr>
              <p:cNvPr id="3" name="Espaço Reservado para Conteúdo 2">
                <a:extLst>
                  <a:ext uri="{FF2B5EF4-FFF2-40B4-BE49-F238E27FC236}">
                    <a16:creationId xmlns:a16="http://schemas.microsoft.com/office/drawing/2014/main" xmlns:a14="http://schemas.microsoft.com/office/drawing/2010/main" xmlns="" id="{F09EA0C7-E094-F158-6A1A-B80733321450}"/>
                  </a:ext>
                </a:extLst>
              </p:cNvPr>
              <p:cNvSpPr>
                <a:spLocks noGrp="1" noRot="1" noChangeAspect="1" noMove="1" noResize="1" noEditPoints="1" noAdjustHandles="1" noChangeArrowheads="1" noChangeShapeType="1" noTextEdit="1"/>
              </p:cNvSpPr>
              <p:nvPr>
                <p:ph idx="1"/>
              </p:nvPr>
            </p:nvSpPr>
            <p:spPr>
              <a:xfrm>
                <a:off x="5897233" y="1825624"/>
                <a:ext cx="6102983" cy="5032376"/>
              </a:xfrm>
              <a:blipFill rotWithShape="0">
                <a:blip r:embed="rId3"/>
                <a:stretch>
                  <a:fillRect l="-1796" t="-1937" r="-3293"/>
                </a:stretch>
              </a:blipFill>
            </p:spPr>
            <p:txBody>
              <a:bodyPr/>
              <a:lstStyle/>
              <a:p>
                <a:r>
                  <a:rPr lang="pt-BR">
                    <a:noFill/>
                  </a:rPr>
                  <a:t> </a:t>
                </a:r>
              </a:p>
            </p:txBody>
          </p:sp>
        </mc:Fallback>
      </mc:AlternateContent>
      <p:grpSp>
        <p:nvGrpSpPr>
          <p:cNvPr id="9" name="Agrupar 8">
            <a:extLst>
              <a:ext uri="{FF2B5EF4-FFF2-40B4-BE49-F238E27FC236}">
                <a16:creationId xmlns:a16="http://schemas.microsoft.com/office/drawing/2014/main" id="{CE5633B0-F4B8-9229-2E27-248A503BF5C6}"/>
              </a:ext>
            </a:extLst>
          </p:cNvPr>
          <p:cNvGrpSpPr/>
          <p:nvPr/>
        </p:nvGrpSpPr>
        <p:grpSpPr>
          <a:xfrm>
            <a:off x="973059" y="2353695"/>
            <a:ext cx="3963570" cy="2939416"/>
            <a:chOff x="973059" y="2353695"/>
            <a:chExt cx="3963570" cy="2939416"/>
          </a:xfrm>
        </p:grpSpPr>
        <p:grpSp>
          <p:nvGrpSpPr>
            <p:cNvPr id="4" name="Agrupar 3">
              <a:extLst>
                <a:ext uri="{FF2B5EF4-FFF2-40B4-BE49-F238E27FC236}">
                  <a16:creationId xmlns:a16="http://schemas.microsoft.com/office/drawing/2014/main" id="{ED41ABFD-548C-4B86-C347-18D33EB57FE8}"/>
                </a:ext>
              </a:extLst>
            </p:cNvPr>
            <p:cNvGrpSpPr/>
            <p:nvPr/>
          </p:nvGrpSpPr>
          <p:grpSpPr>
            <a:xfrm>
              <a:off x="973059" y="2353695"/>
              <a:ext cx="3963570" cy="2939416"/>
              <a:chOff x="973059" y="2353695"/>
              <a:chExt cx="3963570" cy="2939416"/>
            </a:xfrm>
          </p:grpSpPr>
          <p:grpSp>
            <p:nvGrpSpPr>
              <p:cNvPr id="16" name="Agrupar 15">
                <a:extLst>
                  <a:ext uri="{FF2B5EF4-FFF2-40B4-BE49-F238E27FC236}">
                    <a16:creationId xmlns:a16="http://schemas.microsoft.com/office/drawing/2014/main" id="{BC27F250-00D2-02E2-BA5C-F825D68F865C}"/>
                  </a:ext>
                </a:extLst>
              </p:cNvPr>
              <p:cNvGrpSpPr/>
              <p:nvPr/>
            </p:nvGrpSpPr>
            <p:grpSpPr>
              <a:xfrm>
                <a:off x="973059" y="2353695"/>
                <a:ext cx="3963570" cy="2939416"/>
                <a:chOff x="973059" y="2353695"/>
                <a:chExt cx="3963570" cy="2939416"/>
              </a:xfrm>
            </p:grpSpPr>
            <p:sp>
              <p:nvSpPr>
                <p:cNvPr id="18" name="Forma Livre: Forma 17">
                  <a:extLst>
                    <a:ext uri="{FF2B5EF4-FFF2-40B4-BE49-F238E27FC236}">
                      <a16:creationId xmlns:a16="http://schemas.microsoft.com/office/drawing/2014/main" id="{6C28BCEA-AC0E-ACCA-1D14-5089AF236AFF}"/>
                    </a:ext>
                  </a:extLst>
                </p:cNvPr>
                <p:cNvSpPr/>
                <p:nvPr/>
              </p:nvSpPr>
              <p:spPr>
                <a:xfrm>
                  <a:off x="1190625" y="2990850"/>
                  <a:ext cx="3429000" cy="1752634"/>
                </a:xfrm>
                <a:custGeom>
                  <a:avLst/>
                  <a:gdLst>
                    <a:gd name="connsiteX0" fmla="*/ 0 w 3429000"/>
                    <a:gd name="connsiteY0" fmla="*/ 38100 h 1752634"/>
                    <a:gd name="connsiteX1" fmla="*/ 1714500 w 3429000"/>
                    <a:gd name="connsiteY1" fmla="*/ 1752600 h 1752634"/>
                    <a:gd name="connsiteX2" fmla="*/ 3429000 w 3429000"/>
                    <a:gd name="connsiteY2" fmla="*/ 0 h 1752634"/>
                  </a:gdLst>
                  <a:ahLst/>
                  <a:cxnLst>
                    <a:cxn ang="0">
                      <a:pos x="connsiteX0" y="connsiteY0"/>
                    </a:cxn>
                    <a:cxn ang="0">
                      <a:pos x="connsiteX1" y="connsiteY1"/>
                    </a:cxn>
                    <a:cxn ang="0">
                      <a:pos x="connsiteX2" y="connsiteY2"/>
                    </a:cxn>
                  </a:cxnLst>
                  <a:rect l="l" t="t" r="r" b="b"/>
                  <a:pathLst>
                    <a:path w="3429000" h="1752634">
                      <a:moveTo>
                        <a:pt x="0" y="38100"/>
                      </a:moveTo>
                      <a:cubicBezTo>
                        <a:pt x="571500" y="898525"/>
                        <a:pt x="1143000" y="1758950"/>
                        <a:pt x="1714500" y="1752600"/>
                      </a:cubicBezTo>
                      <a:cubicBezTo>
                        <a:pt x="2286000" y="1746250"/>
                        <a:pt x="3119438" y="314325"/>
                        <a:pt x="3429000"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9" name="Conector de Seta Reta 18">
                  <a:extLst>
                    <a:ext uri="{FF2B5EF4-FFF2-40B4-BE49-F238E27FC236}">
                      <a16:creationId xmlns:a16="http://schemas.microsoft.com/office/drawing/2014/main" id="{0EB327B9-9368-9517-1592-A958BAFB326E}"/>
                    </a:ext>
                  </a:extLst>
                </p:cNvPr>
                <p:cNvCxnSpPr>
                  <a:cxnSpLocks/>
                </p:cNvCxnSpPr>
                <p:nvPr/>
              </p:nvCxnSpPr>
              <p:spPr>
                <a:xfrm>
                  <a:off x="974017" y="4916172"/>
                  <a:ext cx="386096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ector de Seta Reta 19">
                  <a:extLst>
                    <a:ext uri="{FF2B5EF4-FFF2-40B4-BE49-F238E27FC236}">
                      <a16:creationId xmlns:a16="http://schemas.microsoft.com/office/drawing/2014/main" id="{FB2A4E76-B9EA-7978-E3C8-354FACD511F5}"/>
                    </a:ext>
                  </a:extLst>
                </p:cNvPr>
                <p:cNvCxnSpPr>
                  <a:cxnSpLocks/>
                </p:cNvCxnSpPr>
                <p:nvPr/>
              </p:nvCxnSpPr>
              <p:spPr>
                <a:xfrm flipV="1">
                  <a:off x="974018" y="2442308"/>
                  <a:ext cx="0" cy="247386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CaixaDeTexto 25">
                      <a:extLst>
                        <a:ext uri="{FF2B5EF4-FFF2-40B4-BE49-F238E27FC236}">
                          <a16:creationId xmlns:a16="http://schemas.microsoft.com/office/drawing/2014/main" id="{708B64BB-3945-1538-F968-FE34B3BF7F7E}"/>
                        </a:ext>
                      </a:extLst>
                    </p:cNvPr>
                    <p:cNvSpPr txBox="1"/>
                    <p:nvPr/>
                  </p:nvSpPr>
                  <p:spPr>
                    <a:xfrm>
                      <a:off x="974017" y="2353695"/>
                      <a:ext cx="2747030" cy="369332"/>
                    </a:xfrm>
                    <a:prstGeom prst="rect">
                      <a:avLst/>
                    </a:prstGeom>
                    <a:noFill/>
                  </p:spPr>
                  <p:txBody>
                    <a:bodyPr wrap="square" rtlCol="0">
                      <a:spAutoFit/>
                    </a:bodyPr>
                    <a:lstStyle/>
                    <a:p>
                      <a:r>
                        <a:rPr lang="pt-BR" dirty="0"/>
                        <a:t>Função de erro, </a:t>
                      </a:r>
                      <a14:m>
                        <m:oMath xmlns:m="http://schemas.openxmlformats.org/officeDocument/2006/math">
                          <m:sSub>
                            <m:sSubPr>
                              <m:ctrlPr>
                                <a:rPr lang="pt-BR" b="0" i="1" smtClean="0">
                                  <a:latin typeface="Cambria Math" panose="02040503050406030204" pitchFamily="18" charset="0"/>
                                </a:rPr>
                              </m:ctrlPr>
                            </m:sSubPr>
                            <m:e>
                              <m:r>
                                <a:rPr lang="pt-BR" b="0" i="1" smtClean="0">
                                  <a:latin typeface="Cambria Math" panose="02040503050406030204" pitchFamily="18" charset="0"/>
                                </a:rPr>
                                <m:t>𝐽</m:t>
                              </m:r>
                            </m:e>
                            <m:sub>
                              <m:r>
                                <a:rPr lang="pt-BR" b="0" i="1" smtClean="0">
                                  <a:latin typeface="Cambria Math" panose="02040503050406030204" pitchFamily="18" charset="0"/>
                                </a:rPr>
                                <m:t>𝑒</m:t>
                              </m:r>
                            </m:sub>
                          </m:sSub>
                          <m:r>
                            <a:rPr lang="pt-BR" b="0" i="1" smtClean="0">
                              <a:latin typeface="Cambria Math" panose="02040503050406030204" pitchFamily="18" charset="0"/>
                            </a:rPr>
                            <m:t>(</m:t>
                          </m:r>
                          <m:r>
                            <a:rPr lang="pt-BR" b="0" i="1" smtClean="0">
                              <a:latin typeface="Cambria Math" panose="02040503050406030204" pitchFamily="18" charset="0"/>
                            </a:rPr>
                            <m:t>𝑎</m:t>
                          </m:r>
                          <m:r>
                            <a:rPr lang="pt-BR" b="0" i="1" smtClean="0">
                              <a:latin typeface="Cambria Math" panose="02040503050406030204" pitchFamily="18" charset="0"/>
                            </a:rPr>
                            <m:t>)</m:t>
                          </m:r>
                        </m:oMath>
                      </a14:m>
                      <a:endParaRPr lang="pt-BR" dirty="0"/>
                    </a:p>
                  </p:txBody>
                </p:sp>
              </mc:Choice>
              <mc:Fallback xmlns="">
                <p:sp>
                  <p:nvSpPr>
                    <p:cNvPr id="26" name="CaixaDeTexto 25">
                      <a:extLst>
                        <a:ext uri="{FF2B5EF4-FFF2-40B4-BE49-F238E27FC236}">
                          <a16:creationId xmlns:a16="http://schemas.microsoft.com/office/drawing/2014/main" id="{708B64BB-3945-1538-F968-FE34B3BF7F7E}"/>
                        </a:ext>
                      </a:extLst>
                    </p:cNvPr>
                    <p:cNvSpPr txBox="1">
                      <a:spLocks noRot="1" noChangeAspect="1" noMove="1" noResize="1" noEditPoints="1" noAdjustHandles="1" noChangeArrowheads="1" noChangeShapeType="1" noTextEdit="1"/>
                    </p:cNvSpPr>
                    <p:nvPr/>
                  </p:nvSpPr>
                  <p:spPr>
                    <a:xfrm>
                      <a:off x="974017" y="2353695"/>
                      <a:ext cx="2747030" cy="369332"/>
                    </a:xfrm>
                    <a:prstGeom prst="rect">
                      <a:avLst/>
                    </a:prstGeom>
                    <a:blipFill>
                      <a:blip r:embed="rId4"/>
                      <a:stretch>
                        <a:fillRect l="-2000" t="-8197" b="-24590"/>
                      </a:stretch>
                    </a:blipFill>
                  </p:spPr>
                  <p:txBody>
                    <a:bodyPr/>
                    <a:lstStyle/>
                    <a:p>
                      <a:r>
                        <a:rPr lang="pt-BR">
                          <a:noFill/>
                        </a:rPr>
                        <a:t> </a:t>
                      </a:r>
                    </a:p>
                  </p:txBody>
                </p:sp>
              </mc:Fallback>
            </mc:AlternateContent>
            <p:sp>
              <p:nvSpPr>
                <p:cNvPr id="27" name="CaixaDeTexto 26">
                  <a:extLst>
                    <a:ext uri="{FF2B5EF4-FFF2-40B4-BE49-F238E27FC236}">
                      <a16:creationId xmlns:a16="http://schemas.microsoft.com/office/drawing/2014/main" id="{33C03641-A896-5188-5291-D3C1622B3FD8}"/>
                    </a:ext>
                  </a:extLst>
                </p:cNvPr>
                <p:cNvSpPr txBox="1"/>
                <p:nvPr/>
              </p:nvSpPr>
              <p:spPr>
                <a:xfrm>
                  <a:off x="4300295" y="4923779"/>
                  <a:ext cx="636334" cy="369332"/>
                </a:xfrm>
                <a:prstGeom prst="rect">
                  <a:avLst/>
                </a:prstGeom>
                <a:noFill/>
              </p:spPr>
              <p:txBody>
                <a:bodyPr wrap="square" rtlCol="0">
                  <a:spAutoFit/>
                </a:bodyPr>
                <a:lstStyle/>
                <a:p>
                  <a:pPr algn="r"/>
                  <a:r>
                    <a:rPr lang="pt-BR" dirty="0"/>
                    <a:t>Peso</a:t>
                  </a:r>
                </a:p>
              </p:txBody>
            </p:sp>
            <p:cxnSp>
              <p:nvCxnSpPr>
                <p:cNvPr id="28" name="Conector reto 27">
                  <a:extLst>
                    <a:ext uri="{FF2B5EF4-FFF2-40B4-BE49-F238E27FC236}">
                      <a16:creationId xmlns:a16="http://schemas.microsoft.com/office/drawing/2014/main" id="{71BE268E-A73C-EBD6-430F-5DC7906AD0C9}"/>
                    </a:ext>
                  </a:extLst>
                </p:cNvPr>
                <p:cNvCxnSpPr/>
                <p:nvPr/>
              </p:nvCxnSpPr>
              <p:spPr>
                <a:xfrm>
                  <a:off x="976885" y="4744536"/>
                  <a:ext cx="1930484" cy="0"/>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30" name="Conector reto 29">
                  <a:extLst>
                    <a:ext uri="{FF2B5EF4-FFF2-40B4-BE49-F238E27FC236}">
                      <a16:creationId xmlns:a16="http://schemas.microsoft.com/office/drawing/2014/main" id="{75094F36-EDC3-CA21-125A-0EE943C62CCB}"/>
                    </a:ext>
                  </a:extLst>
                </p:cNvPr>
                <p:cNvCxnSpPr>
                  <a:cxnSpLocks/>
                </p:cNvCxnSpPr>
                <p:nvPr/>
              </p:nvCxnSpPr>
              <p:spPr>
                <a:xfrm>
                  <a:off x="2902477" y="4736969"/>
                  <a:ext cx="0" cy="171598"/>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31" name="Elipse 30">
                  <a:extLst>
                    <a:ext uri="{FF2B5EF4-FFF2-40B4-BE49-F238E27FC236}">
                      <a16:creationId xmlns:a16="http://schemas.microsoft.com/office/drawing/2014/main" id="{4F74B96C-E784-361B-FC9A-C4EF081FD895}"/>
                    </a:ext>
                  </a:extLst>
                </p:cNvPr>
                <p:cNvSpPr/>
                <p:nvPr/>
              </p:nvSpPr>
              <p:spPr>
                <a:xfrm>
                  <a:off x="2879776" y="4721835"/>
                  <a:ext cx="42900" cy="429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2" name="Elipse 31">
                  <a:extLst>
                    <a:ext uri="{FF2B5EF4-FFF2-40B4-BE49-F238E27FC236}">
                      <a16:creationId xmlns:a16="http://schemas.microsoft.com/office/drawing/2014/main" id="{671C9CA5-E5AD-29D4-50CD-004105724E54}"/>
                    </a:ext>
                  </a:extLst>
                </p:cNvPr>
                <p:cNvSpPr/>
                <p:nvPr/>
              </p:nvSpPr>
              <p:spPr>
                <a:xfrm>
                  <a:off x="1273647" y="3163362"/>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33" name="Conector reto 32">
                  <a:extLst>
                    <a:ext uri="{FF2B5EF4-FFF2-40B4-BE49-F238E27FC236}">
                      <a16:creationId xmlns:a16="http://schemas.microsoft.com/office/drawing/2014/main" id="{55BCAC41-0745-6FC8-1A6E-02719DA867BC}"/>
                    </a:ext>
                  </a:extLst>
                </p:cNvPr>
                <p:cNvCxnSpPr/>
                <p:nvPr/>
              </p:nvCxnSpPr>
              <p:spPr>
                <a:xfrm>
                  <a:off x="973059" y="3184593"/>
                  <a:ext cx="324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4" name="Conector reto 33">
                  <a:extLst>
                    <a:ext uri="{FF2B5EF4-FFF2-40B4-BE49-F238E27FC236}">
                      <a16:creationId xmlns:a16="http://schemas.microsoft.com/office/drawing/2014/main" id="{58165A6F-4823-C968-4CC3-010FF73A64B6}"/>
                    </a:ext>
                  </a:extLst>
                </p:cNvPr>
                <p:cNvCxnSpPr>
                  <a:cxnSpLocks/>
                </p:cNvCxnSpPr>
                <p:nvPr/>
              </p:nvCxnSpPr>
              <p:spPr>
                <a:xfrm>
                  <a:off x="1295097" y="3163361"/>
                  <a:ext cx="0" cy="1764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5" name="CaixaDeTexto 34">
                  <a:extLst>
                    <a:ext uri="{FF2B5EF4-FFF2-40B4-BE49-F238E27FC236}">
                      <a16:creationId xmlns:a16="http://schemas.microsoft.com/office/drawing/2014/main" id="{392D10D5-4FB0-851A-EF0A-524C94C0CD21}"/>
                    </a:ext>
                  </a:extLst>
                </p:cNvPr>
                <p:cNvSpPr txBox="1"/>
                <p:nvPr/>
              </p:nvSpPr>
              <p:spPr>
                <a:xfrm>
                  <a:off x="1158048" y="2978475"/>
                  <a:ext cx="1071476" cy="276999"/>
                </a:xfrm>
                <a:prstGeom prst="rect">
                  <a:avLst/>
                </a:prstGeom>
                <a:noFill/>
              </p:spPr>
              <p:txBody>
                <a:bodyPr wrap="square" rtlCol="0">
                  <a:spAutoFit/>
                </a:bodyPr>
                <a:lstStyle/>
                <a:p>
                  <a:pPr algn="ctr"/>
                  <a:r>
                    <a:rPr lang="pt-BR" sz="1200" dirty="0"/>
                    <a:t>Ponto inicial</a:t>
                  </a:r>
                </a:p>
              </p:txBody>
            </p:sp>
            <mc:AlternateContent xmlns:mc="http://schemas.openxmlformats.org/markup-compatibility/2006" xmlns:a14="http://schemas.microsoft.com/office/drawing/2010/main">
              <mc:Choice Requires="a14">
                <p:sp>
                  <p:nvSpPr>
                    <p:cNvPr id="36" name="CaixaDeTexto 35">
                      <a:extLst>
                        <a:ext uri="{FF2B5EF4-FFF2-40B4-BE49-F238E27FC236}">
                          <a16:creationId xmlns:a16="http://schemas.microsoft.com/office/drawing/2014/main" id="{FB65B051-0C1A-E311-B392-188679189CE2}"/>
                        </a:ext>
                      </a:extLst>
                    </p:cNvPr>
                    <p:cNvSpPr txBox="1"/>
                    <p:nvPr/>
                  </p:nvSpPr>
                  <p:spPr>
                    <a:xfrm>
                      <a:off x="1074774" y="4868216"/>
                      <a:ext cx="86794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m:rPr>
                                    <m:sty m:val="p"/>
                                  </m:rPr>
                                  <a:rPr lang="pt-BR" sz="1400" b="0" i="0" smtClean="0">
                                    <a:latin typeface="Cambria Math" panose="02040503050406030204" pitchFamily="18" charset="0"/>
                                  </a:rPr>
                                  <m:t>inicial</m:t>
                                </m:r>
                              </m:sub>
                            </m:sSub>
                          </m:oMath>
                        </m:oMathPara>
                      </a14:m>
                      <a:endParaRPr lang="pt-BR" sz="1400" dirty="0"/>
                    </a:p>
                  </p:txBody>
                </p:sp>
              </mc:Choice>
              <mc:Fallback xmlns="">
                <p:sp>
                  <p:nvSpPr>
                    <p:cNvPr id="36" name="CaixaDeTexto 35">
                      <a:extLst>
                        <a:ext uri="{FF2B5EF4-FFF2-40B4-BE49-F238E27FC236}">
                          <a16:creationId xmlns:a16="http://schemas.microsoft.com/office/drawing/2014/main" id="{FB65B051-0C1A-E311-B392-188679189CE2}"/>
                        </a:ext>
                      </a:extLst>
                    </p:cNvPr>
                    <p:cNvSpPr txBox="1">
                      <a:spLocks noRot="1" noChangeAspect="1" noMove="1" noResize="1" noEditPoints="1" noAdjustHandles="1" noChangeArrowheads="1" noChangeShapeType="1" noTextEdit="1"/>
                    </p:cNvSpPr>
                    <p:nvPr/>
                  </p:nvSpPr>
                  <p:spPr>
                    <a:xfrm>
                      <a:off x="1074774" y="4868216"/>
                      <a:ext cx="867941" cy="307777"/>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7" name="CaixaDeTexto 36">
                      <a:extLst>
                        <a:ext uri="{FF2B5EF4-FFF2-40B4-BE49-F238E27FC236}">
                          <a16:creationId xmlns:a16="http://schemas.microsoft.com/office/drawing/2014/main" id="{085EEAC7-A39B-8E54-1ABE-192465A83EF9}"/>
                        </a:ext>
                      </a:extLst>
                    </p:cNvPr>
                    <p:cNvSpPr txBox="1"/>
                    <p:nvPr/>
                  </p:nvSpPr>
                  <p:spPr>
                    <a:xfrm>
                      <a:off x="2671712" y="4867795"/>
                      <a:ext cx="86794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0" smtClean="0">
                                    <a:latin typeface="Cambria Math" panose="02040503050406030204" pitchFamily="18" charset="0"/>
                                  </a:rPr>
                                  <m:t>ó</m:t>
                                </m:r>
                                <m:r>
                                  <m:rPr>
                                    <m:sty m:val="p"/>
                                  </m:rPr>
                                  <a:rPr lang="pt-BR" sz="1400" b="0" i="0" smtClean="0">
                                    <a:latin typeface="Cambria Math" panose="02040503050406030204" pitchFamily="18" charset="0"/>
                                  </a:rPr>
                                  <m:t>timo</m:t>
                                </m:r>
                              </m:sub>
                            </m:sSub>
                          </m:oMath>
                        </m:oMathPara>
                      </a14:m>
                      <a:endParaRPr lang="pt-BR" sz="1400" dirty="0"/>
                    </a:p>
                  </p:txBody>
                </p:sp>
              </mc:Choice>
              <mc:Fallback xmlns="">
                <p:sp>
                  <p:nvSpPr>
                    <p:cNvPr id="37" name="CaixaDeTexto 36">
                      <a:extLst>
                        <a:ext uri="{FF2B5EF4-FFF2-40B4-BE49-F238E27FC236}">
                          <a16:creationId xmlns:a16="http://schemas.microsoft.com/office/drawing/2014/main" id="{085EEAC7-A39B-8E54-1ABE-192465A83EF9}"/>
                        </a:ext>
                      </a:extLst>
                    </p:cNvPr>
                    <p:cNvSpPr txBox="1">
                      <a:spLocks noRot="1" noChangeAspect="1" noMove="1" noResize="1" noEditPoints="1" noAdjustHandles="1" noChangeArrowheads="1" noChangeShapeType="1" noTextEdit="1"/>
                    </p:cNvSpPr>
                    <p:nvPr/>
                  </p:nvSpPr>
                  <p:spPr>
                    <a:xfrm>
                      <a:off x="2671712" y="4867795"/>
                      <a:ext cx="867941" cy="307777"/>
                    </a:xfrm>
                    <a:prstGeom prst="rect">
                      <a:avLst/>
                    </a:prstGeom>
                    <a:blipFill>
                      <a:blip r:embed="rId6"/>
                      <a:stretch>
                        <a:fillRect/>
                      </a:stretch>
                    </a:blipFill>
                  </p:spPr>
                  <p:txBody>
                    <a:bodyPr/>
                    <a:lstStyle/>
                    <a:p>
                      <a:r>
                        <a:rPr lang="pt-BR">
                          <a:noFill/>
                        </a:rPr>
                        <a:t> </a:t>
                      </a:r>
                    </a:p>
                  </p:txBody>
                </p:sp>
              </mc:Fallback>
            </mc:AlternateContent>
            <p:sp>
              <p:nvSpPr>
                <p:cNvPr id="39" name="Elipse 38">
                  <a:extLst>
                    <a:ext uri="{FF2B5EF4-FFF2-40B4-BE49-F238E27FC236}">
                      <a16:creationId xmlns:a16="http://schemas.microsoft.com/office/drawing/2014/main" id="{F6FC7276-D03F-FF26-A5BB-9174F6A90A78}"/>
                    </a:ext>
                  </a:extLst>
                </p:cNvPr>
                <p:cNvSpPr/>
                <p:nvPr/>
              </p:nvSpPr>
              <p:spPr>
                <a:xfrm>
                  <a:off x="1901608" y="4038530"/>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0" name="Forma Livre: Forma 39">
                  <a:extLst>
                    <a:ext uri="{FF2B5EF4-FFF2-40B4-BE49-F238E27FC236}">
                      <a16:creationId xmlns:a16="http://schemas.microsoft.com/office/drawing/2014/main" id="{A190C2C1-537B-4D0E-665C-CD1CAB22ED1F}"/>
                    </a:ext>
                  </a:extLst>
                </p:cNvPr>
                <p:cNvSpPr/>
                <p:nvPr/>
              </p:nvSpPr>
              <p:spPr>
                <a:xfrm>
                  <a:off x="1314106" y="3182704"/>
                  <a:ext cx="603593" cy="862246"/>
                </a:xfrm>
                <a:custGeom>
                  <a:avLst/>
                  <a:gdLst>
                    <a:gd name="connsiteX0" fmla="*/ 0 w 609600"/>
                    <a:gd name="connsiteY0" fmla="*/ 0 h 882650"/>
                    <a:gd name="connsiteX1" fmla="*/ 374650 w 609600"/>
                    <a:gd name="connsiteY1" fmla="*/ 273050 h 882650"/>
                    <a:gd name="connsiteX2" fmla="*/ 609600 w 609600"/>
                    <a:gd name="connsiteY2" fmla="*/ 882650 h 882650"/>
                  </a:gdLst>
                  <a:ahLst/>
                  <a:cxnLst>
                    <a:cxn ang="0">
                      <a:pos x="connsiteX0" y="connsiteY0"/>
                    </a:cxn>
                    <a:cxn ang="0">
                      <a:pos x="connsiteX1" y="connsiteY1"/>
                    </a:cxn>
                    <a:cxn ang="0">
                      <a:pos x="connsiteX2" y="connsiteY2"/>
                    </a:cxn>
                  </a:cxnLst>
                  <a:rect l="l" t="t" r="r" b="b"/>
                  <a:pathLst>
                    <a:path w="609600" h="882650">
                      <a:moveTo>
                        <a:pt x="0" y="0"/>
                      </a:moveTo>
                      <a:cubicBezTo>
                        <a:pt x="136525" y="62971"/>
                        <a:pt x="273050" y="125942"/>
                        <a:pt x="374650" y="273050"/>
                      </a:cubicBezTo>
                      <a:cubicBezTo>
                        <a:pt x="476250" y="420158"/>
                        <a:pt x="542925" y="651404"/>
                        <a:pt x="609600" y="882650"/>
                      </a:cubicBezTo>
                    </a:path>
                  </a:pathLst>
                </a:custGeom>
                <a:noFill/>
                <a:ln w="3175">
                  <a:solidFill>
                    <a:schemeClr val="tx1"/>
                  </a:solidFill>
                  <a:prstDash val="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5" name="Forma Livre: Forma 44">
                <a:extLst>
                  <a:ext uri="{FF2B5EF4-FFF2-40B4-BE49-F238E27FC236}">
                    <a16:creationId xmlns:a16="http://schemas.microsoft.com/office/drawing/2014/main" id="{7EA99A1F-BA18-1253-B4C5-1677BA9FFD90}"/>
                  </a:ext>
                </a:extLst>
              </p:cNvPr>
              <p:cNvSpPr/>
              <p:nvPr/>
            </p:nvSpPr>
            <p:spPr>
              <a:xfrm rot="20640245">
                <a:off x="2025336" y="4007159"/>
                <a:ext cx="291944" cy="588367"/>
              </a:xfrm>
              <a:custGeom>
                <a:avLst/>
                <a:gdLst>
                  <a:gd name="connsiteX0" fmla="*/ 0 w 609600"/>
                  <a:gd name="connsiteY0" fmla="*/ 0 h 882650"/>
                  <a:gd name="connsiteX1" fmla="*/ 374650 w 609600"/>
                  <a:gd name="connsiteY1" fmla="*/ 273050 h 882650"/>
                  <a:gd name="connsiteX2" fmla="*/ 609600 w 609600"/>
                  <a:gd name="connsiteY2" fmla="*/ 882650 h 882650"/>
                </a:gdLst>
                <a:ahLst/>
                <a:cxnLst>
                  <a:cxn ang="0">
                    <a:pos x="connsiteX0" y="connsiteY0"/>
                  </a:cxn>
                  <a:cxn ang="0">
                    <a:pos x="connsiteX1" y="connsiteY1"/>
                  </a:cxn>
                  <a:cxn ang="0">
                    <a:pos x="connsiteX2" y="connsiteY2"/>
                  </a:cxn>
                </a:cxnLst>
                <a:rect l="l" t="t" r="r" b="b"/>
                <a:pathLst>
                  <a:path w="609600" h="882650">
                    <a:moveTo>
                      <a:pt x="0" y="0"/>
                    </a:moveTo>
                    <a:cubicBezTo>
                      <a:pt x="136525" y="62971"/>
                      <a:pt x="273050" y="125942"/>
                      <a:pt x="374650" y="273050"/>
                    </a:cubicBezTo>
                    <a:cubicBezTo>
                      <a:pt x="476250" y="420158"/>
                      <a:pt x="542925" y="651404"/>
                      <a:pt x="609600" y="882650"/>
                    </a:cubicBezTo>
                  </a:path>
                </a:pathLst>
              </a:custGeom>
              <a:noFill/>
              <a:ln w="3175">
                <a:solidFill>
                  <a:schemeClr val="tx1"/>
                </a:solidFill>
                <a:prstDash val="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6" name="Elipse 45">
                <a:extLst>
                  <a:ext uri="{FF2B5EF4-FFF2-40B4-BE49-F238E27FC236}">
                    <a16:creationId xmlns:a16="http://schemas.microsoft.com/office/drawing/2014/main" id="{C3DEEC2D-A2E8-B62C-3519-1662739D0B6E}"/>
                  </a:ext>
                </a:extLst>
              </p:cNvPr>
              <p:cNvSpPr/>
              <p:nvPr/>
            </p:nvSpPr>
            <p:spPr>
              <a:xfrm>
                <a:off x="2380859" y="4524896"/>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5" name="Elipse 4">
              <a:extLst>
                <a:ext uri="{FF2B5EF4-FFF2-40B4-BE49-F238E27FC236}">
                  <a16:creationId xmlns:a16="http://schemas.microsoft.com/office/drawing/2014/main" id="{CFEC7173-3A11-257C-8B29-88E6C03AF05D}"/>
                </a:ext>
              </a:extLst>
            </p:cNvPr>
            <p:cNvSpPr/>
            <p:nvPr/>
          </p:nvSpPr>
          <p:spPr>
            <a:xfrm>
              <a:off x="2787464" y="4711210"/>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6" name="Forma Livre: Forma 5">
              <a:extLst>
                <a:ext uri="{FF2B5EF4-FFF2-40B4-BE49-F238E27FC236}">
                  <a16:creationId xmlns:a16="http://schemas.microsoft.com/office/drawing/2014/main" id="{62D36D4E-5EF0-F146-5C38-DEC61AD81225}"/>
                </a:ext>
              </a:extLst>
            </p:cNvPr>
            <p:cNvSpPr/>
            <p:nvPr/>
          </p:nvSpPr>
          <p:spPr>
            <a:xfrm rot="20640245">
              <a:off x="2447865" y="4495831"/>
              <a:ext cx="302953" cy="273031"/>
            </a:xfrm>
            <a:custGeom>
              <a:avLst/>
              <a:gdLst>
                <a:gd name="connsiteX0" fmla="*/ 0 w 609600"/>
                <a:gd name="connsiteY0" fmla="*/ 0 h 882650"/>
                <a:gd name="connsiteX1" fmla="*/ 374650 w 609600"/>
                <a:gd name="connsiteY1" fmla="*/ 273050 h 882650"/>
                <a:gd name="connsiteX2" fmla="*/ 609600 w 609600"/>
                <a:gd name="connsiteY2" fmla="*/ 882650 h 882650"/>
              </a:gdLst>
              <a:ahLst/>
              <a:cxnLst>
                <a:cxn ang="0">
                  <a:pos x="connsiteX0" y="connsiteY0"/>
                </a:cxn>
                <a:cxn ang="0">
                  <a:pos x="connsiteX1" y="connsiteY1"/>
                </a:cxn>
                <a:cxn ang="0">
                  <a:pos x="connsiteX2" y="connsiteY2"/>
                </a:cxn>
              </a:cxnLst>
              <a:rect l="l" t="t" r="r" b="b"/>
              <a:pathLst>
                <a:path w="609600" h="882650">
                  <a:moveTo>
                    <a:pt x="0" y="0"/>
                  </a:moveTo>
                  <a:cubicBezTo>
                    <a:pt x="136525" y="62971"/>
                    <a:pt x="273050" y="125942"/>
                    <a:pt x="374650" y="273050"/>
                  </a:cubicBezTo>
                  <a:cubicBezTo>
                    <a:pt x="476250" y="420158"/>
                    <a:pt x="542925" y="651404"/>
                    <a:pt x="609600" y="882650"/>
                  </a:cubicBezTo>
                </a:path>
              </a:pathLst>
            </a:custGeom>
            <a:noFill/>
            <a:ln w="3175">
              <a:solidFill>
                <a:schemeClr val="tx1"/>
              </a:solidFill>
              <a:prstDash val="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Tree>
    <p:extLst>
      <p:ext uri="{BB962C8B-B14F-4D97-AF65-F5344CB8AC3E}">
        <p14:creationId xmlns:p14="http://schemas.microsoft.com/office/powerpoint/2010/main" val="39912074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29DE4-9BB7-A424-DEBE-4DADE6650C4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A69D8A0-928C-266D-E63A-469D59887BB5}"/>
              </a:ext>
            </a:extLst>
          </p:cNvPr>
          <p:cNvSpPr>
            <a:spLocks noGrp="1"/>
          </p:cNvSpPr>
          <p:nvPr>
            <p:ph type="title"/>
          </p:nvPr>
        </p:nvSpPr>
        <p:spPr/>
        <p:txBody>
          <a:bodyPr/>
          <a:lstStyle/>
          <a:p>
            <a:r>
              <a:rPr lang="pt-BR" dirty="0"/>
              <a:t>Tamanho do passo de aprendizagem</a:t>
            </a:r>
          </a:p>
        </p:txBody>
      </p:sp>
      <p:sp>
        <p:nvSpPr>
          <p:cNvPr id="3" name="Espaço Reservado para Conteúdo 2">
            <a:extLst>
              <a:ext uri="{FF2B5EF4-FFF2-40B4-BE49-F238E27FC236}">
                <a16:creationId xmlns:a16="http://schemas.microsoft.com/office/drawing/2014/main" id="{82489D92-82CF-37A2-5BFD-51D850911B3A}"/>
              </a:ext>
            </a:extLst>
          </p:cNvPr>
          <p:cNvSpPr>
            <a:spLocks noGrp="1"/>
          </p:cNvSpPr>
          <p:nvPr>
            <p:ph idx="1"/>
          </p:nvPr>
        </p:nvSpPr>
        <p:spPr>
          <a:xfrm>
            <a:off x="5897232" y="1825624"/>
            <a:ext cx="6294765" cy="5032376"/>
          </a:xfrm>
        </p:spPr>
        <p:txBody>
          <a:bodyPr>
            <a:normAutofit/>
          </a:bodyPr>
          <a:lstStyle/>
          <a:p>
            <a:r>
              <a:rPr lang="pt-BR" dirty="0"/>
              <a:t>A </a:t>
            </a:r>
            <a:r>
              <a:rPr lang="pt-BR" b="0" dirty="0">
                <a:effectLst/>
              </a:rPr>
              <a:t>taxa de aprendizagem é um </a:t>
            </a:r>
            <a:r>
              <a:rPr lang="pt-BR" b="1" dirty="0">
                <a:solidFill>
                  <a:srgbClr val="7030A0"/>
                </a:solidFill>
                <a:effectLst/>
              </a:rPr>
              <a:t>hiperparâmetro</a:t>
            </a:r>
            <a:r>
              <a:rPr lang="pt-BR" b="0" dirty="0">
                <a:effectLst/>
              </a:rPr>
              <a:t> crucial para o GD.</a:t>
            </a:r>
          </a:p>
          <a:p>
            <a:pPr lvl="1">
              <a:buFont typeface="Wingdings" panose="05000000000000000000" pitchFamily="2" charset="2"/>
              <a:buChar char="§"/>
            </a:pPr>
            <a:r>
              <a:rPr lang="pt-BR" b="1" dirty="0">
                <a:solidFill>
                  <a:srgbClr val="7030A0"/>
                </a:solidFill>
                <a:effectLst/>
              </a:rPr>
              <a:t>Hiperparâmetros</a:t>
            </a:r>
            <a:r>
              <a:rPr lang="pt-BR" dirty="0">
                <a:effectLst/>
              </a:rPr>
              <a:t> são </a:t>
            </a:r>
            <a:r>
              <a:rPr lang="pt-BR" b="0" dirty="0">
                <a:effectLst/>
              </a:rPr>
              <a:t>parâmetros do modelo que </a:t>
            </a:r>
            <a:r>
              <a:rPr lang="pt-BR" b="1" dirty="0">
                <a:solidFill>
                  <a:srgbClr val="00B050"/>
                </a:solidFill>
                <a:effectLst/>
              </a:rPr>
              <a:t>não são aprendidos durante o treinamento</a:t>
            </a:r>
            <a:r>
              <a:rPr lang="pt-BR" b="0" dirty="0">
                <a:effectLst/>
              </a:rPr>
              <a:t>, mas sim definidos antes do treinamento.</a:t>
            </a:r>
          </a:p>
          <a:p>
            <a:r>
              <a:rPr lang="pt-BR" dirty="0"/>
              <a:t>O valor da</a:t>
            </a:r>
            <a:r>
              <a:rPr lang="pt-BR" b="0" dirty="0">
                <a:effectLst/>
              </a:rPr>
              <a:t> </a:t>
            </a:r>
            <a:r>
              <a:rPr lang="pt-BR" b="1" dirty="0">
                <a:solidFill>
                  <a:srgbClr val="00B0F0"/>
                </a:solidFill>
                <a:effectLst/>
              </a:rPr>
              <a:t>taxa de aprendizagem</a:t>
            </a:r>
            <a:r>
              <a:rPr lang="pt-BR" b="1" dirty="0">
                <a:solidFill>
                  <a:srgbClr val="00B0F0"/>
                </a:solidFill>
              </a:rPr>
              <a:t> influencia diretamente o tamanho do passo</a:t>
            </a:r>
            <a:r>
              <a:rPr lang="pt-BR" dirty="0"/>
              <a:t> de aprendizagem.</a:t>
            </a:r>
          </a:p>
          <a:p>
            <a:r>
              <a:rPr lang="pt-BR" b="0" dirty="0">
                <a:effectLst/>
              </a:rPr>
              <a:t>Que conseque</a:t>
            </a:r>
            <a:r>
              <a:rPr lang="pt-BR" dirty="0"/>
              <a:t>ntemente,</a:t>
            </a:r>
            <a:r>
              <a:rPr lang="pt-BR" b="0" dirty="0">
                <a:effectLst/>
              </a:rPr>
              <a:t> </a:t>
            </a:r>
            <a:r>
              <a:rPr lang="pt-BR" b="1" dirty="0">
                <a:solidFill>
                  <a:schemeClr val="accent2"/>
                </a:solidFill>
                <a:effectLst/>
              </a:rPr>
              <a:t>influencia a velocidade e a convergência</a:t>
            </a:r>
            <a:r>
              <a:rPr lang="pt-BR" b="0" dirty="0">
                <a:effectLst/>
              </a:rPr>
              <a:t> do treinamento.</a:t>
            </a:r>
            <a:endParaRPr lang="pt-BR" dirty="0"/>
          </a:p>
        </p:txBody>
      </p:sp>
      <p:grpSp>
        <p:nvGrpSpPr>
          <p:cNvPr id="9" name="Agrupar 8">
            <a:extLst>
              <a:ext uri="{FF2B5EF4-FFF2-40B4-BE49-F238E27FC236}">
                <a16:creationId xmlns:a16="http://schemas.microsoft.com/office/drawing/2014/main" id="{2B3300FC-1F8B-4D40-55FC-4DADDEF60A38}"/>
              </a:ext>
            </a:extLst>
          </p:cNvPr>
          <p:cNvGrpSpPr/>
          <p:nvPr/>
        </p:nvGrpSpPr>
        <p:grpSpPr>
          <a:xfrm>
            <a:off x="973059" y="2353695"/>
            <a:ext cx="3963570" cy="2939416"/>
            <a:chOff x="973059" y="2353695"/>
            <a:chExt cx="3963570" cy="2939416"/>
          </a:xfrm>
        </p:grpSpPr>
        <p:grpSp>
          <p:nvGrpSpPr>
            <p:cNvPr id="4" name="Agrupar 3">
              <a:extLst>
                <a:ext uri="{FF2B5EF4-FFF2-40B4-BE49-F238E27FC236}">
                  <a16:creationId xmlns:a16="http://schemas.microsoft.com/office/drawing/2014/main" id="{B120F7B9-2248-79F2-6FA7-FC181ABBD533}"/>
                </a:ext>
              </a:extLst>
            </p:cNvPr>
            <p:cNvGrpSpPr/>
            <p:nvPr/>
          </p:nvGrpSpPr>
          <p:grpSpPr>
            <a:xfrm>
              <a:off x="973059" y="2353695"/>
              <a:ext cx="3963570" cy="2939416"/>
              <a:chOff x="973059" y="2353695"/>
              <a:chExt cx="3963570" cy="2939416"/>
            </a:xfrm>
          </p:grpSpPr>
          <p:grpSp>
            <p:nvGrpSpPr>
              <p:cNvPr id="16" name="Agrupar 15">
                <a:extLst>
                  <a:ext uri="{FF2B5EF4-FFF2-40B4-BE49-F238E27FC236}">
                    <a16:creationId xmlns:a16="http://schemas.microsoft.com/office/drawing/2014/main" id="{0949F496-8EBB-9C8C-9640-ABA37C0EEB23}"/>
                  </a:ext>
                </a:extLst>
              </p:cNvPr>
              <p:cNvGrpSpPr/>
              <p:nvPr/>
            </p:nvGrpSpPr>
            <p:grpSpPr>
              <a:xfrm>
                <a:off x="973059" y="2353695"/>
                <a:ext cx="3963570" cy="2939416"/>
                <a:chOff x="973059" y="2353695"/>
                <a:chExt cx="3963570" cy="2939416"/>
              </a:xfrm>
            </p:grpSpPr>
            <p:sp>
              <p:nvSpPr>
                <p:cNvPr id="18" name="Forma Livre: Forma 17">
                  <a:extLst>
                    <a:ext uri="{FF2B5EF4-FFF2-40B4-BE49-F238E27FC236}">
                      <a16:creationId xmlns:a16="http://schemas.microsoft.com/office/drawing/2014/main" id="{7E9E0D75-6F30-7E13-24A5-13AEEE768B26}"/>
                    </a:ext>
                  </a:extLst>
                </p:cNvPr>
                <p:cNvSpPr/>
                <p:nvPr/>
              </p:nvSpPr>
              <p:spPr>
                <a:xfrm>
                  <a:off x="1190625" y="2990850"/>
                  <a:ext cx="3429000" cy="1752634"/>
                </a:xfrm>
                <a:custGeom>
                  <a:avLst/>
                  <a:gdLst>
                    <a:gd name="connsiteX0" fmla="*/ 0 w 3429000"/>
                    <a:gd name="connsiteY0" fmla="*/ 38100 h 1752634"/>
                    <a:gd name="connsiteX1" fmla="*/ 1714500 w 3429000"/>
                    <a:gd name="connsiteY1" fmla="*/ 1752600 h 1752634"/>
                    <a:gd name="connsiteX2" fmla="*/ 3429000 w 3429000"/>
                    <a:gd name="connsiteY2" fmla="*/ 0 h 1752634"/>
                  </a:gdLst>
                  <a:ahLst/>
                  <a:cxnLst>
                    <a:cxn ang="0">
                      <a:pos x="connsiteX0" y="connsiteY0"/>
                    </a:cxn>
                    <a:cxn ang="0">
                      <a:pos x="connsiteX1" y="connsiteY1"/>
                    </a:cxn>
                    <a:cxn ang="0">
                      <a:pos x="connsiteX2" y="connsiteY2"/>
                    </a:cxn>
                  </a:cxnLst>
                  <a:rect l="l" t="t" r="r" b="b"/>
                  <a:pathLst>
                    <a:path w="3429000" h="1752634">
                      <a:moveTo>
                        <a:pt x="0" y="38100"/>
                      </a:moveTo>
                      <a:cubicBezTo>
                        <a:pt x="571500" y="898525"/>
                        <a:pt x="1143000" y="1758950"/>
                        <a:pt x="1714500" y="1752600"/>
                      </a:cubicBezTo>
                      <a:cubicBezTo>
                        <a:pt x="2286000" y="1746250"/>
                        <a:pt x="3119438" y="314325"/>
                        <a:pt x="3429000"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9" name="Conector de Seta Reta 18">
                  <a:extLst>
                    <a:ext uri="{FF2B5EF4-FFF2-40B4-BE49-F238E27FC236}">
                      <a16:creationId xmlns:a16="http://schemas.microsoft.com/office/drawing/2014/main" id="{5C80E982-5424-B462-EEBF-FBC879B7AC50}"/>
                    </a:ext>
                  </a:extLst>
                </p:cNvPr>
                <p:cNvCxnSpPr>
                  <a:cxnSpLocks/>
                </p:cNvCxnSpPr>
                <p:nvPr/>
              </p:nvCxnSpPr>
              <p:spPr>
                <a:xfrm>
                  <a:off x="974017" y="4916172"/>
                  <a:ext cx="386096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ector de Seta Reta 19">
                  <a:extLst>
                    <a:ext uri="{FF2B5EF4-FFF2-40B4-BE49-F238E27FC236}">
                      <a16:creationId xmlns:a16="http://schemas.microsoft.com/office/drawing/2014/main" id="{85A7FF84-84D1-6CB7-8E1A-EF8D55926DCC}"/>
                    </a:ext>
                  </a:extLst>
                </p:cNvPr>
                <p:cNvCxnSpPr>
                  <a:cxnSpLocks/>
                </p:cNvCxnSpPr>
                <p:nvPr/>
              </p:nvCxnSpPr>
              <p:spPr>
                <a:xfrm flipV="1">
                  <a:off x="974018" y="2442308"/>
                  <a:ext cx="0" cy="247386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CaixaDeTexto 25">
                      <a:extLst>
                        <a:ext uri="{FF2B5EF4-FFF2-40B4-BE49-F238E27FC236}">
                          <a16:creationId xmlns:a16="http://schemas.microsoft.com/office/drawing/2014/main" id="{57BF668F-0902-E2D5-7E6D-EE930ED32B29}"/>
                        </a:ext>
                      </a:extLst>
                    </p:cNvPr>
                    <p:cNvSpPr txBox="1"/>
                    <p:nvPr/>
                  </p:nvSpPr>
                  <p:spPr>
                    <a:xfrm>
                      <a:off x="974017" y="2353695"/>
                      <a:ext cx="2747030" cy="369332"/>
                    </a:xfrm>
                    <a:prstGeom prst="rect">
                      <a:avLst/>
                    </a:prstGeom>
                    <a:noFill/>
                  </p:spPr>
                  <p:txBody>
                    <a:bodyPr wrap="square" rtlCol="0">
                      <a:spAutoFit/>
                    </a:bodyPr>
                    <a:lstStyle/>
                    <a:p>
                      <a:r>
                        <a:rPr lang="pt-BR" dirty="0"/>
                        <a:t>Função de erro, </a:t>
                      </a:r>
                      <a14:m>
                        <m:oMath xmlns:m="http://schemas.openxmlformats.org/officeDocument/2006/math">
                          <m:sSub>
                            <m:sSubPr>
                              <m:ctrlPr>
                                <a:rPr lang="pt-BR" b="0" i="1" smtClean="0">
                                  <a:latin typeface="Cambria Math" panose="02040503050406030204" pitchFamily="18" charset="0"/>
                                </a:rPr>
                              </m:ctrlPr>
                            </m:sSubPr>
                            <m:e>
                              <m:r>
                                <a:rPr lang="pt-BR" b="0" i="1" smtClean="0">
                                  <a:latin typeface="Cambria Math" panose="02040503050406030204" pitchFamily="18" charset="0"/>
                                </a:rPr>
                                <m:t>𝐽</m:t>
                              </m:r>
                            </m:e>
                            <m:sub>
                              <m:r>
                                <a:rPr lang="pt-BR" b="0" i="1" smtClean="0">
                                  <a:latin typeface="Cambria Math" panose="02040503050406030204" pitchFamily="18" charset="0"/>
                                </a:rPr>
                                <m:t>𝑒</m:t>
                              </m:r>
                            </m:sub>
                          </m:sSub>
                          <m:r>
                            <a:rPr lang="pt-BR" b="0" i="1" smtClean="0">
                              <a:latin typeface="Cambria Math" panose="02040503050406030204" pitchFamily="18" charset="0"/>
                            </a:rPr>
                            <m:t>(</m:t>
                          </m:r>
                          <m:r>
                            <a:rPr lang="pt-BR" b="0" i="1" smtClean="0">
                              <a:latin typeface="Cambria Math" panose="02040503050406030204" pitchFamily="18" charset="0"/>
                            </a:rPr>
                            <m:t>𝑎</m:t>
                          </m:r>
                          <m:r>
                            <a:rPr lang="pt-BR" b="0" i="1" smtClean="0">
                              <a:latin typeface="Cambria Math" panose="02040503050406030204" pitchFamily="18" charset="0"/>
                            </a:rPr>
                            <m:t>)</m:t>
                          </m:r>
                        </m:oMath>
                      </a14:m>
                      <a:endParaRPr lang="pt-BR" dirty="0"/>
                    </a:p>
                  </p:txBody>
                </p:sp>
              </mc:Choice>
              <mc:Fallback xmlns="">
                <p:sp>
                  <p:nvSpPr>
                    <p:cNvPr id="26" name="CaixaDeTexto 25">
                      <a:extLst>
                        <a:ext uri="{FF2B5EF4-FFF2-40B4-BE49-F238E27FC236}">
                          <a16:creationId xmlns:a16="http://schemas.microsoft.com/office/drawing/2014/main" id="{708B64BB-3945-1538-F968-FE34B3BF7F7E}"/>
                        </a:ext>
                      </a:extLst>
                    </p:cNvPr>
                    <p:cNvSpPr txBox="1">
                      <a:spLocks noRot="1" noChangeAspect="1" noMove="1" noResize="1" noEditPoints="1" noAdjustHandles="1" noChangeArrowheads="1" noChangeShapeType="1" noTextEdit="1"/>
                    </p:cNvSpPr>
                    <p:nvPr/>
                  </p:nvSpPr>
                  <p:spPr>
                    <a:xfrm>
                      <a:off x="974017" y="2353695"/>
                      <a:ext cx="2747030" cy="369332"/>
                    </a:xfrm>
                    <a:prstGeom prst="rect">
                      <a:avLst/>
                    </a:prstGeom>
                    <a:blipFill>
                      <a:blip r:embed="rId4"/>
                      <a:stretch>
                        <a:fillRect l="-2000" t="-8197" b="-24590"/>
                      </a:stretch>
                    </a:blipFill>
                  </p:spPr>
                  <p:txBody>
                    <a:bodyPr/>
                    <a:lstStyle/>
                    <a:p>
                      <a:r>
                        <a:rPr lang="pt-BR">
                          <a:noFill/>
                        </a:rPr>
                        <a:t> </a:t>
                      </a:r>
                    </a:p>
                  </p:txBody>
                </p:sp>
              </mc:Fallback>
            </mc:AlternateContent>
            <p:sp>
              <p:nvSpPr>
                <p:cNvPr id="27" name="CaixaDeTexto 26">
                  <a:extLst>
                    <a:ext uri="{FF2B5EF4-FFF2-40B4-BE49-F238E27FC236}">
                      <a16:creationId xmlns:a16="http://schemas.microsoft.com/office/drawing/2014/main" id="{12AA2389-33DB-1C45-F9B3-4F94D2E6E4AA}"/>
                    </a:ext>
                  </a:extLst>
                </p:cNvPr>
                <p:cNvSpPr txBox="1"/>
                <p:nvPr/>
              </p:nvSpPr>
              <p:spPr>
                <a:xfrm>
                  <a:off x="4300295" y="4923779"/>
                  <a:ext cx="636334" cy="369332"/>
                </a:xfrm>
                <a:prstGeom prst="rect">
                  <a:avLst/>
                </a:prstGeom>
                <a:noFill/>
              </p:spPr>
              <p:txBody>
                <a:bodyPr wrap="square" rtlCol="0">
                  <a:spAutoFit/>
                </a:bodyPr>
                <a:lstStyle/>
                <a:p>
                  <a:pPr algn="r"/>
                  <a:r>
                    <a:rPr lang="pt-BR" dirty="0"/>
                    <a:t>Peso</a:t>
                  </a:r>
                </a:p>
              </p:txBody>
            </p:sp>
            <p:cxnSp>
              <p:nvCxnSpPr>
                <p:cNvPr id="28" name="Conector reto 27">
                  <a:extLst>
                    <a:ext uri="{FF2B5EF4-FFF2-40B4-BE49-F238E27FC236}">
                      <a16:creationId xmlns:a16="http://schemas.microsoft.com/office/drawing/2014/main" id="{F3AABC85-C5C4-1FAD-D98F-80CF3D8A67ED}"/>
                    </a:ext>
                  </a:extLst>
                </p:cNvPr>
                <p:cNvCxnSpPr/>
                <p:nvPr/>
              </p:nvCxnSpPr>
              <p:spPr>
                <a:xfrm>
                  <a:off x="976885" y="4744536"/>
                  <a:ext cx="1930484" cy="0"/>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30" name="Conector reto 29">
                  <a:extLst>
                    <a:ext uri="{FF2B5EF4-FFF2-40B4-BE49-F238E27FC236}">
                      <a16:creationId xmlns:a16="http://schemas.microsoft.com/office/drawing/2014/main" id="{556A9EFF-2F10-64A9-707F-EF039943488D}"/>
                    </a:ext>
                  </a:extLst>
                </p:cNvPr>
                <p:cNvCxnSpPr>
                  <a:cxnSpLocks/>
                </p:cNvCxnSpPr>
                <p:nvPr/>
              </p:nvCxnSpPr>
              <p:spPr>
                <a:xfrm>
                  <a:off x="2902477" y="4736969"/>
                  <a:ext cx="0" cy="171598"/>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31" name="Elipse 30">
                  <a:extLst>
                    <a:ext uri="{FF2B5EF4-FFF2-40B4-BE49-F238E27FC236}">
                      <a16:creationId xmlns:a16="http://schemas.microsoft.com/office/drawing/2014/main" id="{318D3C96-0AD2-DBEA-8C0E-436657B82273}"/>
                    </a:ext>
                  </a:extLst>
                </p:cNvPr>
                <p:cNvSpPr/>
                <p:nvPr/>
              </p:nvSpPr>
              <p:spPr>
                <a:xfrm>
                  <a:off x="2879776" y="4721835"/>
                  <a:ext cx="42900" cy="429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2" name="Elipse 31">
                  <a:extLst>
                    <a:ext uri="{FF2B5EF4-FFF2-40B4-BE49-F238E27FC236}">
                      <a16:creationId xmlns:a16="http://schemas.microsoft.com/office/drawing/2014/main" id="{D9E0D33F-5E6E-2C79-1D5E-74513F899E00}"/>
                    </a:ext>
                  </a:extLst>
                </p:cNvPr>
                <p:cNvSpPr/>
                <p:nvPr/>
              </p:nvSpPr>
              <p:spPr>
                <a:xfrm>
                  <a:off x="1273647" y="3163362"/>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33" name="Conector reto 32">
                  <a:extLst>
                    <a:ext uri="{FF2B5EF4-FFF2-40B4-BE49-F238E27FC236}">
                      <a16:creationId xmlns:a16="http://schemas.microsoft.com/office/drawing/2014/main" id="{1772BD86-71F2-A920-B75A-653C6A672D1F}"/>
                    </a:ext>
                  </a:extLst>
                </p:cNvPr>
                <p:cNvCxnSpPr/>
                <p:nvPr/>
              </p:nvCxnSpPr>
              <p:spPr>
                <a:xfrm>
                  <a:off x="973059" y="3184593"/>
                  <a:ext cx="324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4" name="Conector reto 33">
                  <a:extLst>
                    <a:ext uri="{FF2B5EF4-FFF2-40B4-BE49-F238E27FC236}">
                      <a16:creationId xmlns:a16="http://schemas.microsoft.com/office/drawing/2014/main" id="{77DDF51A-A423-FBEF-5D7A-7915270BDF2E}"/>
                    </a:ext>
                  </a:extLst>
                </p:cNvPr>
                <p:cNvCxnSpPr>
                  <a:cxnSpLocks/>
                </p:cNvCxnSpPr>
                <p:nvPr/>
              </p:nvCxnSpPr>
              <p:spPr>
                <a:xfrm>
                  <a:off x="1295097" y="3163361"/>
                  <a:ext cx="0" cy="1764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5" name="CaixaDeTexto 34">
                  <a:extLst>
                    <a:ext uri="{FF2B5EF4-FFF2-40B4-BE49-F238E27FC236}">
                      <a16:creationId xmlns:a16="http://schemas.microsoft.com/office/drawing/2014/main" id="{C8E8716D-6C5E-7E84-3DF5-124A02F5083E}"/>
                    </a:ext>
                  </a:extLst>
                </p:cNvPr>
                <p:cNvSpPr txBox="1"/>
                <p:nvPr/>
              </p:nvSpPr>
              <p:spPr>
                <a:xfrm>
                  <a:off x="1158048" y="2978475"/>
                  <a:ext cx="1071476" cy="276999"/>
                </a:xfrm>
                <a:prstGeom prst="rect">
                  <a:avLst/>
                </a:prstGeom>
                <a:noFill/>
              </p:spPr>
              <p:txBody>
                <a:bodyPr wrap="square" rtlCol="0">
                  <a:spAutoFit/>
                </a:bodyPr>
                <a:lstStyle/>
                <a:p>
                  <a:pPr algn="ctr"/>
                  <a:r>
                    <a:rPr lang="pt-BR" sz="1200" dirty="0"/>
                    <a:t>Ponto inicial</a:t>
                  </a:r>
                </a:p>
              </p:txBody>
            </p:sp>
            <mc:AlternateContent xmlns:mc="http://schemas.openxmlformats.org/markup-compatibility/2006" xmlns:a14="http://schemas.microsoft.com/office/drawing/2010/main">
              <mc:Choice Requires="a14">
                <p:sp>
                  <p:nvSpPr>
                    <p:cNvPr id="36" name="CaixaDeTexto 35">
                      <a:extLst>
                        <a:ext uri="{FF2B5EF4-FFF2-40B4-BE49-F238E27FC236}">
                          <a16:creationId xmlns:a16="http://schemas.microsoft.com/office/drawing/2014/main" id="{025B04DE-447C-58F7-8A10-79310E76234B}"/>
                        </a:ext>
                      </a:extLst>
                    </p:cNvPr>
                    <p:cNvSpPr txBox="1"/>
                    <p:nvPr/>
                  </p:nvSpPr>
                  <p:spPr>
                    <a:xfrm>
                      <a:off x="1074774" y="4868216"/>
                      <a:ext cx="86794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m:rPr>
                                    <m:sty m:val="p"/>
                                  </m:rPr>
                                  <a:rPr lang="pt-BR" sz="1400" b="0" i="0" smtClean="0">
                                    <a:latin typeface="Cambria Math" panose="02040503050406030204" pitchFamily="18" charset="0"/>
                                  </a:rPr>
                                  <m:t>inicial</m:t>
                                </m:r>
                              </m:sub>
                            </m:sSub>
                          </m:oMath>
                        </m:oMathPara>
                      </a14:m>
                      <a:endParaRPr lang="pt-BR" sz="1400" dirty="0"/>
                    </a:p>
                  </p:txBody>
                </p:sp>
              </mc:Choice>
              <mc:Fallback xmlns="">
                <p:sp>
                  <p:nvSpPr>
                    <p:cNvPr id="36" name="CaixaDeTexto 35">
                      <a:extLst>
                        <a:ext uri="{FF2B5EF4-FFF2-40B4-BE49-F238E27FC236}">
                          <a16:creationId xmlns:a16="http://schemas.microsoft.com/office/drawing/2014/main" id="{FB65B051-0C1A-E311-B392-188679189CE2}"/>
                        </a:ext>
                      </a:extLst>
                    </p:cNvPr>
                    <p:cNvSpPr txBox="1">
                      <a:spLocks noRot="1" noChangeAspect="1" noMove="1" noResize="1" noEditPoints="1" noAdjustHandles="1" noChangeArrowheads="1" noChangeShapeType="1" noTextEdit="1"/>
                    </p:cNvSpPr>
                    <p:nvPr/>
                  </p:nvSpPr>
                  <p:spPr>
                    <a:xfrm>
                      <a:off x="1074774" y="4868216"/>
                      <a:ext cx="867941" cy="307777"/>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7" name="CaixaDeTexto 36">
                      <a:extLst>
                        <a:ext uri="{FF2B5EF4-FFF2-40B4-BE49-F238E27FC236}">
                          <a16:creationId xmlns:a16="http://schemas.microsoft.com/office/drawing/2014/main" id="{515C45D2-5D7C-E18F-C743-D8A98E1942B2}"/>
                        </a:ext>
                      </a:extLst>
                    </p:cNvPr>
                    <p:cNvSpPr txBox="1"/>
                    <p:nvPr/>
                  </p:nvSpPr>
                  <p:spPr>
                    <a:xfrm>
                      <a:off x="2671712" y="4867795"/>
                      <a:ext cx="86794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0" smtClean="0">
                                    <a:latin typeface="Cambria Math" panose="02040503050406030204" pitchFamily="18" charset="0"/>
                                  </a:rPr>
                                  <m:t>ó</m:t>
                                </m:r>
                                <m:r>
                                  <m:rPr>
                                    <m:sty m:val="p"/>
                                  </m:rPr>
                                  <a:rPr lang="pt-BR" sz="1400" b="0" i="0" smtClean="0">
                                    <a:latin typeface="Cambria Math" panose="02040503050406030204" pitchFamily="18" charset="0"/>
                                  </a:rPr>
                                  <m:t>timo</m:t>
                                </m:r>
                              </m:sub>
                            </m:sSub>
                          </m:oMath>
                        </m:oMathPara>
                      </a14:m>
                      <a:endParaRPr lang="pt-BR" sz="1400" dirty="0"/>
                    </a:p>
                  </p:txBody>
                </p:sp>
              </mc:Choice>
              <mc:Fallback xmlns="">
                <p:sp>
                  <p:nvSpPr>
                    <p:cNvPr id="37" name="CaixaDeTexto 36">
                      <a:extLst>
                        <a:ext uri="{FF2B5EF4-FFF2-40B4-BE49-F238E27FC236}">
                          <a16:creationId xmlns:a16="http://schemas.microsoft.com/office/drawing/2014/main" id="{085EEAC7-A39B-8E54-1ABE-192465A83EF9}"/>
                        </a:ext>
                      </a:extLst>
                    </p:cNvPr>
                    <p:cNvSpPr txBox="1">
                      <a:spLocks noRot="1" noChangeAspect="1" noMove="1" noResize="1" noEditPoints="1" noAdjustHandles="1" noChangeArrowheads="1" noChangeShapeType="1" noTextEdit="1"/>
                    </p:cNvSpPr>
                    <p:nvPr/>
                  </p:nvSpPr>
                  <p:spPr>
                    <a:xfrm>
                      <a:off x="2671712" y="4867795"/>
                      <a:ext cx="867941" cy="307777"/>
                    </a:xfrm>
                    <a:prstGeom prst="rect">
                      <a:avLst/>
                    </a:prstGeom>
                    <a:blipFill>
                      <a:blip r:embed="rId6"/>
                      <a:stretch>
                        <a:fillRect/>
                      </a:stretch>
                    </a:blipFill>
                  </p:spPr>
                  <p:txBody>
                    <a:bodyPr/>
                    <a:lstStyle/>
                    <a:p>
                      <a:r>
                        <a:rPr lang="pt-BR">
                          <a:noFill/>
                        </a:rPr>
                        <a:t> </a:t>
                      </a:r>
                    </a:p>
                  </p:txBody>
                </p:sp>
              </mc:Fallback>
            </mc:AlternateContent>
            <p:sp>
              <p:nvSpPr>
                <p:cNvPr id="39" name="Elipse 38">
                  <a:extLst>
                    <a:ext uri="{FF2B5EF4-FFF2-40B4-BE49-F238E27FC236}">
                      <a16:creationId xmlns:a16="http://schemas.microsoft.com/office/drawing/2014/main" id="{DC32555F-71FC-AEEF-E51E-BF16C39AD56B}"/>
                    </a:ext>
                  </a:extLst>
                </p:cNvPr>
                <p:cNvSpPr/>
                <p:nvPr/>
              </p:nvSpPr>
              <p:spPr>
                <a:xfrm>
                  <a:off x="1901608" y="4038530"/>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0" name="Forma Livre: Forma 39">
                  <a:extLst>
                    <a:ext uri="{FF2B5EF4-FFF2-40B4-BE49-F238E27FC236}">
                      <a16:creationId xmlns:a16="http://schemas.microsoft.com/office/drawing/2014/main" id="{2D9FFB36-1313-7712-2996-7E6FC8DE1E52}"/>
                    </a:ext>
                  </a:extLst>
                </p:cNvPr>
                <p:cNvSpPr/>
                <p:nvPr/>
              </p:nvSpPr>
              <p:spPr>
                <a:xfrm>
                  <a:off x="1314106" y="3182704"/>
                  <a:ext cx="603593" cy="862246"/>
                </a:xfrm>
                <a:custGeom>
                  <a:avLst/>
                  <a:gdLst>
                    <a:gd name="connsiteX0" fmla="*/ 0 w 609600"/>
                    <a:gd name="connsiteY0" fmla="*/ 0 h 882650"/>
                    <a:gd name="connsiteX1" fmla="*/ 374650 w 609600"/>
                    <a:gd name="connsiteY1" fmla="*/ 273050 h 882650"/>
                    <a:gd name="connsiteX2" fmla="*/ 609600 w 609600"/>
                    <a:gd name="connsiteY2" fmla="*/ 882650 h 882650"/>
                  </a:gdLst>
                  <a:ahLst/>
                  <a:cxnLst>
                    <a:cxn ang="0">
                      <a:pos x="connsiteX0" y="connsiteY0"/>
                    </a:cxn>
                    <a:cxn ang="0">
                      <a:pos x="connsiteX1" y="connsiteY1"/>
                    </a:cxn>
                    <a:cxn ang="0">
                      <a:pos x="connsiteX2" y="connsiteY2"/>
                    </a:cxn>
                  </a:cxnLst>
                  <a:rect l="l" t="t" r="r" b="b"/>
                  <a:pathLst>
                    <a:path w="609600" h="882650">
                      <a:moveTo>
                        <a:pt x="0" y="0"/>
                      </a:moveTo>
                      <a:cubicBezTo>
                        <a:pt x="136525" y="62971"/>
                        <a:pt x="273050" y="125942"/>
                        <a:pt x="374650" y="273050"/>
                      </a:cubicBezTo>
                      <a:cubicBezTo>
                        <a:pt x="476250" y="420158"/>
                        <a:pt x="542925" y="651404"/>
                        <a:pt x="609600" y="882650"/>
                      </a:cubicBezTo>
                    </a:path>
                  </a:pathLst>
                </a:custGeom>
                <a:noFill/>
                <a:ln w="3175">
                  <a:solidFill>
                    <a:schemeClr val="tx1"/>
                  </a:solidFill>
                  <a:prstDash val="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5" name="Forma Livre: Forma 44">
                <a:extLst>
                  <a:ext uri="{FF2B5EF4-FFF2-40B4-BE49-F238E27FC236}">
                    <a16:creationId xmlns:a16="http://schemas.microsoft.com/office/drawing/2014/main" id="{F03F2ADA-C162-4847-8B5E-8BC3CA32F8BD}"/>
                  </a:ext>
                </a:extLst>
              </p:cNvPr>
              <p:cNvSpPr/>
              <p:nvPr/>
            </p:nvSpPr>
            <p:spPr>
              <a:xfrm rot="20640245">
                <a:off x="2025336" y="4007159"/>
                <a:ext cx="291944" cy="588367"/>
              </a:xfrm>
              <a:custGeom>
                <a:avLst/>
                <a:gdLst>
                  <a:gd name="connsiteX0" fmla="*/ 0 w 609600"/>
                  <a:gd name="connsiteY0" fmla="*/ 0 h 882650"/>
                  <a:gd name="connsiteX1" fmla="*/ 374650 w 609600"/>
                  <a:gd name="connsiteY1" fmla="*/ 273050 h 882650"/>
                  <a:gd name="connsiteX2" fmla="*/ 609600 w 609600"/>
                  <a:gd name="connsiteY2" fmla="*/ 882650 h 882650"/>
                </a:gdLst>
                <a:ahLst/>
                <a:cxnLst>
                  <a:cxn ang="0">
                    <a:pos x="connsiteX0" y="connsiteY0"/>
                  </a:cxn>
                  <a:cxn ang="0">
                    <a:pos x="connsiteX1" y="connsiteY1"/>
                  </a:cxn>
                  <a:cxn ang="0">
                    <a:pos x="connsiteX2" y="connsiteY2"/>
                  </a:cxn>
                </a:cxnLst>
                <a:rect l="l" t="t" r="r" b="b"/>
                <a:pathLst>
                  <a:path w="609600" h="882650">
                    <a:moveTo>
                      <a:pt x="0" y="0"/>
                    </a:moveTo>
                    <a:cubicBezTo>
                      <a:pt x="136525" y="62971"/>
                      <a:pt x="273050" y="125942"/>
                      <a:pt x="374650" y="273050"/>
                    </a:cubicBezTo>
                    <a:cubicBezTo>
                      <a:pt x="476250" y="420158"/>
                      <a:pt x="542925" y="651404"/>
                      <a:pt x="609600" y="882650"/>
                    </a:cubicBezTo>
                  </a:path>
                </a:pathLst>
              </a:custGeom>
              <a:noFill/>
              <a:ln w="3175">
                <a:solidFill>
                  <a:schemeClr val="tx1"/>
                </a:solidFill>
                <a:prstDash val="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6" name="Elipse 45">
                <a:extLst>
                  <a:ext uri="{FF2B5EF4-FFF2-40B4-BE49-F238E27FC236}">
                    <a16:creationId xmlns:a16="http://schemas.microsoft.com/office/drawing/2014/main" id="{2B72F850-4E7B-B1E7-228F-0563502AC9B4}"/>
                  </a:ext>
                </a:extLst>
              </p:cNvPr>
              <p:cNvSpPr/>
              <p:nvPr/>
            </p:nvSpPr>
            <p:spPr>
              <a:xfrm>
                <a:off x="2380859" y="4524896"/>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5" name="Elipse 4">
              <a:extLst>
                <a:ext uri="{FF2B5EF4-FFF2-40B4-BE49-F238E27FC236}">
                  <a16:creationId xmlns:a16="http://schemas.microsoft.com/office/drawing/2014/main" id="{E7F81A81-0FE2-F3EE-F177-39DEC80A611D}"/>
                </a:ext>
              </a:extLst>
            </p:cNvPr>
            <p:cNvSpPr/>
            <p:nvPr/>
          </p:nvSpPr>
          <p:spPr>
            <a:xfrm>
              <a:off x="2787464" y="4711210"/>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6" name="Forma Livre: Forma 5">
              <a:extLst>
                <a:ext uri="{FF2B5EF4-FFF2-40B4-BE49-F238E27FC236}">
                  <a16:creationId xmlns:a16="http://schemas.microsoft.com/office/drawing/2014/main" id="{05B6ED55-74A8-57F1-BED0-5ACC4658D959}"/>
                </a:ext>
              </a:extLst>
            </p:cNvPr>
            <p:cNvSpPr/>
            <p:nvPr/>
          </p:nvSpPr>
          <p:spPr>
            <a:xfrm rot="20640245">
              <a:off x="2447865" y="4495831"/>
              <a:ext cx="302953" cy="273031"/>
            </a:xfrm>
            <a:custGeom>
              <a:avLst/>
              <a:gdLst>
                <a:gd name="connsiteX0" fmla="*/ 0 w 609600"/>
                <a:gd name="connsiteY0" fmla="*/ 0 h 882650"/>
                <a:gd name="connsiteX1" fmla="*/ 374650 w 609600"/>
                <a:gd name="connsiteY1" fmla="*/ 273050 h 882650"/>
                <a:gd name="connsiteX2" fmla="*/ 609600 w 609600"/>
                <a:gd name="connsiteY2" fmla="*/ 882650 h 882650"/>
              </a:gdLst>
              <a:ahLst/>
              <a:cxnLst>
                <a:cxn ang="0">
                  <a:pos x="connsiteX0" y="connsiteY0"/>
                </a:cxn>
                <a:cxn ang="0">
                  <a:pos x="connsiteX1" y="connsiteY1"/>
                </a:cxn>
                <a:cxn ang="0">
                  <a:pos x="connsiteX2" y="connsiteY2"/>
                </a:cxn>
              </a:cxnLst>
              <a:rect l="l" t="t" r="r" b="b"/>
              <a:pathLst>
                <a:path w="609600" h="882650">
                  <a:moveTo>
                    <a:pt x="0" y="0"/>
                  </a:moveTo>
                  <a:cubicBezTo>
                    <a:pt x="136525" y="62971"/>
                    <a:pt x="273050" y="125942"/>
                    <a:pt x="374650" y="273050"/>
                  </a:cubicBezTo>
                  <a:cubicBezTo>
                    <a:pt x="476250" y="420158"/>
                    <a:pt x="542925" y="651404"/>
                    <a:pt x="609600" y="882650"/>
                  </a:cubicBezTo>
                </a:path>
              </a:pathLst>
            </a:custGeom>
            <a:noFill/>
            <a:ln w="3175">
              <a:solidFill>
                <a:schemeClr val="tx1"/>
              </a:solidFill>
              <a:prstDash val="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Tree>
    <p:extLst>
      <p:ext uri="{BB962C8B-B14F-4D97-AF65-F5344CB8AC3E}">
        <p14:creationId xmlns:p14="http://schemas.microsoft.com/office/powerpoint/2010/main" val="30558780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CC3C31-4EA2-B4A2-431F-BF22FBB8A7BA}"/>
              </a:ext>
            </a:extLst>
          </p:cNvPr>
          <p:cNvSpPr>
            <a:spLocks noGrp="1"/>
          </p:cNvSpPr>
          <p:nvPr>
            <p:ph type="title"/>
          </p:nvPr>
        </p:nvSpPr>
        <p:spPr/>
        <p:txBody>
          <a:bodyPr/>
          <a:lstStyle/>
          <a:p>
            <a:r>
              <a:rPr lang="pt-BR" dirty="0"/>
              <a:t>Tamanho do passo de aprendizagem</a:t>
            </a:r>
          </a:p>
        </p:txBody>
      </p:sp>
      <p:sp>
        <p:nvSpPr>
          <p:cNvPr id="3" name="Espaço Reservado para Conteúdo 2">
            <a:extLst>
              <a:ext uri="{FF2B5EF4-FFF2-40B4-BE49-F238E27FC236}">
                <a16:creationId xmlns:a16="http://schemas.microsoft.com/office/drawing/2014/main" id="{F09EA0C7-E094-F158-6A1A-B80733321450}"/>
              </a:ext>
            </a:extLst>
          </p:cNvPr>
          <p:cNvSpPr>
            <a:spLocks noGrp="1"/>
          </p:cNvSpPr>
          <p:nvPr>
            <p:ph idx="1"/>
          </p:nvPr>
        </p:nvSpPr>
        <p:spPr>
          <a:xfrm>
            <a:off x="5714129" y="1825624"/>
            <a:ext cx="6286087" cy="5032376"/>
          </a:xfrm>
        </p:spPr>
        <p:txBody>
          <a:bodyPr>
            <a:normAutofit/>
          </a:bodyPr>
          <a:lstStyle/>
          <a:p>
            <a:r>
              <a:rPr lang="pt-BR" dirty="0"/>
              <a:t>Se o passo de aprendizagem for </a:t>
            </a:r>
            <a:r>
              <a:rPr lang="pt-BR" b="1" dirty="0">
                <a:solidFill>
                  <a:srgbClr val="00B050"/>
                </a:solidFill>
              </a:rPr>
              <a:t>muito grande</a:t>
            </a:r>
            <a:r>
              <a:rPr lang="pt-BR" dirty="0"/>
              <a:t>, podemos </a:t>
            </a:r>
            <a:r>
              <a:rPr lang="pt-BR" b="1" dirty="0">
                <a:solidFill>
                  <a:schemeClr val="accent2"/>
                </a:solidFill>
              </a:rPr>
              <a:t>ultrapassar</a:t>
            </a:r>
            <a:r>
              <a:rPr lang="pt-BR" dirty="0"/>
              <a:t> o ponto de mínimo.</a:t>
            </a:r>
          </a:p>
        </p:txBody>
      </p:sp>
      <p:grpSp>
        <p:nvGrpSpPr>
          <p:cNvPr id="9" name="Agrupar 8">
            <a:extLst>
              <a:ext uri="{FF2B5EF4-FFF2-40B4-BE49-F238E27FC236}">
                <a16:creationId xmlns:a16="http://schemas.microsoft.com/office/drawing/2014/main" id="{B40DA0F3-64A9-E79C-828F-083E52679EA2}"/>
              </a:ext>
            </a:extLst>
          </p:cNvPr>
          <p:cNvGrpSpPr/>
          <p:nvPr/>
        </p:nvGrpSpPr>
        <p:grpSpPr>
          <a:xfrm>
            <a:off x="973059" y="2353695"/>
            <a:ext cx="3963570" cy="2939416"/>
            <a:chOff x="973059" y="2353695"/>
            <a:chExt cx="3963570" cy="2939416"/>
          </a:xfrm>
        </p:grpSpPr>
        <p:grpSp>
          <p:nvGrpSpPr>
            <p:cNvPr id="4" name="Agrupar 3">
              <a:extLst>
                <a:ext uri="{FF2B5EF4-FFF2-40B4-BE49-F238E27FC236}">
                  <a16:creationId xmlns:a16="http://schemas.microsoft.com/office/drawing/2014/main" id="{ED41ABFD-548C-4B86-C347-18D33EB57FE8}"/>
                </a:ext>
              </a:extLst>
            </p:cNvPr>
            <p:cNvGrpSpPr/>
            <p:nvPr/>
          </p:nvGrpSpPr>
          <p:grpSpPr>
            <a:xfrm>
              <a:off x="973059" y="2353695"/>
              <a:ext cx="3963570" cy="2939416"/>
              <a:chOff x="973059" y="2353695"/>
              <a:chExt cx="3963570" cy="2939416"/>
            </a:xfrm>
          </p:grpSpPr>
          <p:grpSp>
            <p:nvGrpSpPr>
              <p:cNvPr id="16" name="Agrupar 15">
                <a:extLst>
                  <a:ext uri="{FF2B5EF4-FFF2-40B4-BE49-F238E27FC236}">
                    <a16:creationId xmlns:a16="http://schemas.microsoft.com/office/drawing/2014/main" id="{BC27F250-00D2-02E2-BA5C-F825D68F865C}"/>
                  </a:ext>
                </a:extLst>
              </p:cNvPr>
              <p:cNvGrpSpPr/>
              <p:nvPr/>
            </p:nvGrpSpPr>
            <p:grpSpPr>
              <a:xfrm>
                <a:off x="973059" y="2353695"/>
                <a:ext cx="3963570" cy="2939416"/>
                <a:chOff x="973059" y="2353695"/>
                <a:chExt cx="3963570" cy="2939416"/>
              </a:xfrm>
            </p:grpSpPr>
            <p:sp>
              <p:nvSpPr>
                <p:cNvPr id="18" name="Forma Livre: Forma 17">
                  <a:extLst>
                    <a:ext uri="{FF2B5EF4-FFF2-40B4-BE49-F238E27FC236}">
                      <a16:creationId xmlns:a16="http://schemas.microsoft.com/office/drawing/2014/main" id="{6C28BCEA-AC0E-ACCA-1D14-5089AF236AFF}"/>
                    </a:ext>
                  </a:extLst>
                </p:cNvPr>
                <p:cNvSpPr/>
                <p:nvPr/>
              </p:nvSpPr>
              <p:spPr>
                <a:xfrm>
                  <a:off x="1190625" y="2990850"/>
                  <a:ext cx="3429000" cy="1752634"/>
                </a:xfrm>
                <a:custGeom>
                  <a:avLst/>
                  <a:gdLst>
                    <a:gd name="connsiteX0" fmla="*/ 0 w 3429000"/>
                    <a:gd name="connsiteY0" fmla="*/ 38100 h 1752634"/>
                    <a:gd name="connsiteX1" fmla="*/ 1714500 w 3429000"/>
                    <a:gd name="connsiteY1" fmla="*/ 1752600 h 1752634"/>
                    <a:gd name="connsiteX2" fmla="*/ 3429000 w 3429000"/>
                    <a:gd name="connsiteY2" fmla="*/ 0 h 1752634"/>
                  </a:gdLst>
                  <a:ahLst/>
                  <a:cxnLst>
                    <a:cxn ang="0">
                      <a:pos x="connsiteX0" y="connsiteY0"/>
                    </a:cxn>
                    <a:cxn ang="0">
                      <a:pos x="connsiteX1" y="connsiteY1"/>
                    </a:cxn>
                    <a:cxn ang="0">
                      <a:pos x="connsiteX2" y="connsiteY2"/>
                    </a:cxn>
                  </a:cxnLst>
                  <a:rect l="l" t="t" r="r" b="b"/>
                  <a:pathLst>
                    <a:path w="3429000" h="1752634">
                      <a:moveTo>
                        <a:pt x="0" y="38100"/>
                      </a:moveTo>
                      <a:cubicBezTo>
                        <a:pt x="571500" y="898525"/>
                        <a:pt x="1143000" y="1758950"/>
                        <a:pt x="1714500" y="1752600"/>
                      </a:cubicBezTo>
                      <a:cubicBezTo>
                        <a:pt x="2286000" y="1746250"/>
                        <a:pt x="3119438" y="314325"/>
                        <a:pt x="3429000"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9" name="Conector de Seta Reta 18">
                  <a:extLst>
                    <a:ext uri="{FF2B5EF4-FFF2-40B4-BE49-F238E27FC236}">
                      <a16:creationId xmlns:a16="http://schemas.microsoft.com/office/drawing/2014/main" id="{0EB327B9-9368-9517-1592-A958BAFB326E}"/>
                    </a:ext>
                  </a:extLst>
                </p:cNvPr>
                <p:cNvCxnSpPr>
                  <a:cxnSpLocks/>
                </p:cNvCxnSpPr>
                <p:nvPr/>
              </p:nvCxnSpPr>
              <p:spPr>
                <a:xfrm>
                  <a:off x="974017" y="4916172"/>
                  <a:ext cx="386096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ector de Seta Reta 19">
                  <a:extLst>
                    <a:ext uri="{FF2B5EF4-FFF2-40B4-BE49-F238E27FC236}">
                      <a16:creationId xmlns:a16="http://schemas.microsoft.com/office/drawing/2014/main" id="{FB2A4E76-B9EA-7978-E3C8-354FACD511F5}"/>
                    </a:ext>
                  </a:extLst>
                </p:cNvPr>
                <p:cNvCxnSpPr>
                  <a:cxnSpLocks/>
                </p:cNvCxnSpPr>
                <p:nvPr/>
              </p:nvCxnSpPr>
              <p:spPr>
                <a:xfrm flipV="1">
                  <a:off x="974018" y="2442308"/>
                  <a:ext cx="0" cy="247386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CaixaDeTexto 25">
                      <a:extLst>
                        <a:ext uri="{FF2B5EF4-FFF2-40B4-BE49-F238E27FC236}">
                          <a16:creationId xmlns:a16="http://schemas.microsoft.com/office/drawing/2014/main" id="{708B64BB-3945-1538-F968-FE34B3BF7F7E}"/>
                        </a:ext>
                      </a:extLst>
                    </p:cNvPr>
                    <p:cNvSpPr txBox="1"/>
                    <p:nvPr/>
                  </p:nvSpPr>
                  <p:spPr>
                    <a:xfrm>
                      <a:off x="974017" y="2353695"/>
                      <a:ext cx="2747030" cy="369332"/>
                    </a:xfrm>
                    <a:prstGeom prst="rect">
                      <a:avLst/>
                    </a:prstGeom>
                    <a:noFill/>
                  </p:spPr>
                  <p:txBody>
                    <a:bodyPr wrap="square" rtlCol="0">
                      <a:spAutoFit/>
                    </a:bodyPr>
                    <a:lstStyle/>
                    <a:p>
                      <a:r>
                        <a:rPr lang="pt-BR" dirty="0"/>
                        <a:t>Função de erro, </a:t>
                      </a:r>
                      <a14:m>
                        <m:oMath xmlns:m="http://schemas.openxmlformats.org/officeDocument/2006/math">
                          <m:sSub>
                            <m:sSubPr>
                              <m:ctrlPr>
                                <a:rPr lang="pt-BR" b="0" i="1" smtClean="0">
                                  <a:latin typeface="Cambria Math" panose="02040503050406030204" pitchFamily="18" charset="0"/>
                                </a:rPr>
                              </m:ctrlPr>
                            </m:sSubPr>
                            <m:e>
                              <m:r>
                                <a:rPr lang="pt-BR" b="0" i="1" smtClean="0">
                                  <a:latin typeface="Cambria Math" panose="02040503050406030204" pitchFamily="18" charset="0"/>
                                </a:rPr>
                                <m:t>𝐽</m:t>
                              </m:r>
                            </m:e>
                            <m:sub>
                              <m:r>
                                <a:rPr lang="pt-BR" b="0" i="1" smtClean="0">
                                  <a:latin typeface="Cambria Math" panose="02040503050406030204" pitchFamily="18" charset="0"/>
                                </a:rPr>
                                <m:t>𝑒</m:t>
                              </m:r>
                            </m:sub>
                          </m:sSub>
                          <m:r>
                            <a:rPr lang="pt-BR" b="0" i="1" smtClean="0">
                              <a:latin typeface="Cambria Math" panose="02040503050406030204" pitchFamily="18" charset="0"/>
                            </a:rPr>
                            <m:t>(</m:t>
                          </m:r>
                          <m:r>
                            <a:rPr lang="pt-BR" b="0" i="1" smtClean="0">
                              <a:latin typeface="Cambria Math" panose="02040503050406030204" pitchFamily="18" charset="0"/>
                            </a:rPr>
                            <m:t>𝑎</m:t>
                          </m:r>
                          <m:r>
                            <a:rPr lang="pt-BR" b="0" i="1" smtClean="0">
                              <a:latin typeface="Cambria Math" panose="02040503050406030204" pitchFamily="18" charset="0"/>
                            </a:rPr>
                            <m:t>)</m:t>
                          </m:r>
                        </m:oMath>
                      </a14:m>
                      <a:endParaRPr lang="pt-BR" dirty="0"/>
                    </a:p>
                  </p:txBody>
                </p:sp>
              </mc:Choice>
              <mc:Fallback xmlns="">
                <p:sp>
                  <p:nvSpPr>
                    <p:cNvPr id="26" name="CaixaDeTexto 25">
                      <a:extLst>
                        <a:ext uri="{FF2B5EF4-FFF2-40B4-BE49-F238E27FC236}">
                          <a16:creationId xmlns:a16="http://schemas.microsoft.com/office/drawing/2014/main" id="{708B64BB-3945-1538-F968-FE34B3BF7F7E}"/>
                        </a:ext>
                      </a:extLst>
                    </p:cNvPr>
                    <p:cNvSpPr txBox="1">
                      <a:spLocks noRot="1" noChangeAspect="1" noMove="1" noResize="1" noEditPoints="1" noAdjustHandles="1" noChangeArrowheads="1" noChangeShapeType="1" noTextEdit="1"/>
                    </p:cNvSpPr>
                    <p:nvPr/>
                  </p:nvSpPr>
                  <p:spPr>
                    <a:xfrm>
                      <a:off x="974017" y="2353695"/>
                      <a:ext cx="2747030" cy="369332"/>
                    </a:xfrm>
                    <a:prstGeom prst="rect">
                      <a:avLst/>
                    </a:prstGeom>
                    <a:blipFill>
                      <a:blip r:embed="rId3"/>
                      <a:stretch>
                        <a:fillRect l="-2000" t="-8197" b="-24590"/>
                      </a:stretch>
                    </a:blipFill>
                  </p:spPr>
                  <p:txBody>
                    <a:bodyPr/>
                    <a:lstStyle/>
                    <a:p>
                      <a:r>
                        <a:rPr lang="pt-BR">
                          <a:noFill/>
                        </a:rPr>
                        <a:t> </a:t>
                      </a:r>
                    </a:p>
                  </p:txBody>
                </p:sp>
              </mc:Fallback>
            </mc:AlternateContent>
            <p:sp>
              <p:nvSpPr>
                <p:cNvPr id="27" name="CaixaDeTexto 26">
                  <a:extLst>
                    <a:ext uri="{FF2B5EF4-FFF2-40B4-BE49-F238E27FC236}">
                      <a16:creationId xmlns:a16="http://schemas.microsoft.com/office/drawing/2014/main" id="{33C03641-A896-5188-5291-D3C1622B3FD8}"/>
                    </a:ext>
                  </a:extLst>
                </p:cNvPr>
                <p:cNvSpPr txBox="1"/>
                <p:nvPr/>
              </p:nvSpPr>
              <p:spPr>
                <a:xfrm>
                  <a:off x="4300295" y="4923779"/>
                  <a:ext cx="636334" cy="369332"/>
                </a:xfrm>
                <a:prstGeom prst="rect">
                  <a:avLst/>
                </a:prstGeom>
                <a:noFill/>
              </p:spPr>
              <p:txBody>
                <a:bodyPr wrap="square" rtlCol="0">
                  <a:spAutoFit/>
                </a:bodyPr>
                <a:lstStyle/>
                <a:p>
                  <a:pPr algn="r"/>
                  <a:r>
                    <a:rPr lang="pt-BR" dirty="0"/>
                    <a:t>Peso</a:t>
                  </a:r>
                </a:p>
              </p:txBody>
            </p:sp>
            <p:cxnSp>
              <p:nvCxnSpPr>
                <p:cNvPr id="28" name="Conector reto 27">
                  <a:extLst>
                    <a:ext uri="{FF2B5EF4-FFF2-40B4-BE49-F238E27FC236}">
                      <a16:creationId xmlns:a16="http://schemas.microsoft.com/office/drawing/2014/main" id="{71BE268E-A73C-EBD6-430F-5DC7906AD0C9}"/>
                    </a:ext>
                  </a:extLst>
                </p:cNvPr>
                <p:cNvCxnSpPr/>
                <p:nvPr/>
              </p:nvCxnSpPr>
              <p:spPr>
                <a:xfrm>
                  <a:off x="976885" y="4744536"/>
                  <a:ext cx="1930484" cy="0"/>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30" name="Conector reto 29">
                  <a:extLst>
                    <a:ext uri="{FF2B5EF4-FFF2-40B4-BE49-F238E27FC236}">
                      <a16:creationId xmlns:a16="http://schemas.microsoft.com/office/drawing/2014/main" id="{75094F36-EDC3-CA21-125A-0EE943C62CCB}"/>
                    </a:ext>
                  </a:extLst>
                </p:cNvPr>
                <p:cNvCxnSpPr>
                  <a:cxnSpLocks/>
                </p:cNvCxnSpPr>
                <p:nvPr/>
              </p:nvCxnSpPr>
              <p:spPr>
                <a:xfrm>
                  <a:off x="2902477" y="4736969"/>
                  <a:ext cx="0" cy="171598"/>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31" name="Elipse 30">
                  <a:extLst>
                    <a:ext uri="{FF2B5EF4-FFF2-40B4-BE49-F238E27FC236}">
                      <a16:creationId xmlns:a16="http://schemas.microsoft.com/office/drawing/2014/main" id="{4F74B96C-E784-361B-FC9A-C4EF081FD895}"/>
                    </a:ext>
                  </a:extLst>
                </p:cNvPr>
                <p:cNvSpPr/>
                <p:nvPr/>
              </p:nvSpPr>
              <p:spPr>
                <a:xfrm>
                  <a:off x="2879776" y="4721835"/>
                  <a:ext cx="42900" cy="429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2" name="Elipse 31">
                  <a:extLst>
                    <a:ext uri="{FF2B5EF4-FFF2-40B4-BE49-F238E27FC236}">
                      <a16:creationId xmlns:a16="http://schemas.microsoft.com/office/drawing/2014/main" id="{671C9CA5-E5AD-29D4-50CD-004105724E54}"/>
                    </a:ext>
                  </a:extLst>
                </p:cNvPr>
                <p:cNvSpPr/>
                <p:nvPr/>
              </p:nvSpPr>
              <p:spPr>
                <a:xfrm>
                  <a:off x="1273647" y="3163362"/>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33" name="Conector reto 32">
                  <a:extLst>
                    <a:ext uri="{FF2B5EF4-FFF2-40B4-BE49-F238E27FC236}">
                      <a16:creationId xmlns:a16="http://schemas.microsoft.com/office/drawing/2014/main" id="{55BCAC41-0745-6FC8-1A6E-02719DA867BC}"/>
                    </a:ext>
                  </a:extLst>
                </p:cNvPr>
                <p:cNvCxnSpPr/>
                <p:nvPr/>
              </p:nvCxnSpPr>
              <p:spPr>
                <a:xfrm>
                  <a:off x="973059" y="3184593"/>
                  <a:ext cx="324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4" name="Conector reto 33">
                  <a:extLst>
                    <a:ext uri="{FF2B5EF4-FFF2-40B4-BE49-F238E27FC236}">
                      <a16:creationId xmlns:a16="http://schemas.microsoft.com/office/drawing/2014/main" id="{58165A6F-4823-C968-4CC3-010FF73A64B6}"/>
                    </a:ext>
                  </a:extLst>
                </p:cNvPr>
                <p:cNvCxnSpPr>
                  <a:cxnSpLocks/>
                </p:cNvCxnSpPr>
                <p:nvPr/>
              </p:nvCxnSpPr>
              <p:spPr>
                <a:xfrm>
                  <a:off x="1295097" y="3163361"/>
                  <a:ext cx="0" cy="1764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5" name="CaixaDeTexto 34">
                  <a:extLst>
                    <a:ext uri="{FF2B5EF4-FFF2-40B4-BE49-F238E27FC236}">
                      <a16:creationId xmlns:a16="http://schemas.microsoft.com/office/drawing/2014/main" id="{392D10D5-4FB0-851A-EF0A-524C94C0CD21}"/>
                    </a:ext>
                  </a:extLst>
                </p:cNvPr>
                <p:cNvSpPr txBox="1"/>
                <p:nvPr/>
              </p:nvSpPr>
              <p:spPr>
                <a:xfrm>
                  <a:off x="1158048" y="2978475"/>
                  <a:ext cx="1071476" cy="276999"/>
                </a:xfrm>
                <a:prstGeom prst="rect">
                  <a:avLst/>
                </a:prstGeom>
                <a:noFill/>
              </p:spPr>
              <p:txBody>
                <a:bodyPr wrap="square" rtlCol="0">
                  <a:spAutoFit/>
                </a:bodyPr>
                <a:lstStyle/>
                <a:p>
                  <a:pPr algn="ctr"/>
                  <a:r>
                    <a:rPr lang="pt-BR" sz="1200" dirty="0"/>
                    <a:t>Ponto inicial</a:t>
                  </a:r>
                </a:p>
              </p:txBody>
            </p:sp>
            <mc:AlternateContent xmlns:mc="http://schemas.openxmlformats.org/markup-compatibility/2006" xmlns:a14="http://schemas.microsoft.com/office/drawing/2010/main">
              <mc:Choice Requires="a14">
                <p:sp>
                  <p:nvSpPr>
                    <p:cNvPr id="36" name="CaixaDeTexto 35">
                      <a:extLst>
                        <a:ext uri="{FF2B5EF4-FFF2-40B4-BE49-F238E27FC236}">
                          <a16:creationId xmlns:a16="http://schemas.microsoft.com/office/drawing/2014/main" id="{FB65B051-0C1A-E311-B392-188679189CE2}"/>
                        </a:ext>
                      </a:extLst>
                    </p:cNvPr>
                    <p:cNvSpPr txBox="1"/>
                    <p:nvPr/>
                  </p:nvSpPr>
                  <p:spPr>
                    <a:xfrm>
                      <a:off x="1074774" y="4868216"/>
                      <a:ext cx="86794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m:rPr>
                                    <m:sty m:val="p"/>
                                  </m:rPr>
                                  <a:rPr lang="pt-BR" sz="1400" b="0" i="0" smtClean="0">
                                    <a:latin typeface="Cambria Math" panose="02040503050406030204" pitchFamily="18" charset="0"/>
                                  </a:rPr>
                                  <m:t>inicial</m:t>
                                </m:r>
                              </m:sub>
                            </m:sSub>
                          </m:oMath>
                        </m:oMathPara>
                      </a14:m>
                      <a:endParaRPr lang="pt-BR" sz="1400" dirty="0"/>
                    </a:p>
                  </p:txBody>
                </p:sp>
              </mc:Choice>
              <mc:Fallback xmlns="">
                <p:sp>
                  <p:nvSpPr>
                    <p:cNvPr id="36" name="CaixaDeTexto 35">
                      <a:extLst>
                        <a:ext uri="{FF2B5EF4-FFF2-40B4-BE49-F238E27FC236}">
                          <a16:creationId xmlns:a16="http://schemas.microsoft.com/office/drawing/2014/main" id="{FB65B051-0C1A-E311-B392-188679189CE2}"/>
                        </a:ext>
                      </a:extLst>
                    </p:cNvPr>
                    <p:cNvSpPr txBox="1">
                      <a:spLocks noRot="1" noChangeAspect="1" noMove="1" noResize="1" noEditPoints="1" noAdjustHandles="1" noChangeArrowheads="1" noChangeShapeType="1" noTextEdit="1"/>
                    </p:cNvSpPr>
                    <p:nvPr/>
                  </p:nvSpPr>
                  <p:spPr>
                    <a:xfrm>
                      <a:off x="1074774" y="4868216"/>
                      <a:ext cx="867941" cy="307777"/>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7" name="CaixaDeTexto 36">
                      <a:extLst>
                        <a:ext uri="{FF2B5EF4-FFF2-40B4-BE49-F238E27FC236}">
                          <a16:creationId xmlns:a16="http://schemas.microsoft.com/office/drawing/2014/main" id="{085EEAC7-A39B-8E54-1ABE-192465A83EF9}"/>
                        </a:ext>
                      </a:extLst>
                    </p:cNvPr>
                    <p:cNvSpPr txBox="1"/>
                    <p:nvPr/>
                  </p:nvSpPr>
                  <p:spPr>
                    <a:xfrm>
                      <a:off x="2671712" y="4867795"/>
                      <a:ext cx="86794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0" smtClean="0">
                                    <a:latin typeface="Cambria Math" panose="02040503050406030204" pitchFamily="18" charset="0"/>
                                  </a:rPr>
                                  <m:t>ó</m:t>
                                </m:r>
                                <m:r>
                                  <m:rPr>
                                    <m:sty m:val="p"/>
                                  </m:rPr>
                                  <a:rPr lang="pt-BR" sz="1400" b="0" i="0" smtClean="0">
                                    <a:latin typeface="Cambria Math" panose="02040503050406030204" pitchFamily="18" charset="0"/>
                                  </a:rPr>
                                  <m:t>timo</m:t>
                                </m:r>
                              </m:sub>
                            </m:sSub>
                          </m:oMath>
                        </m:oMathPara>
                      </a14:m>
                      <a:endParaRPr lang="pt-BR" sz="1400" dirty="0"/>
                    </a:p>
                  </p:txBody>
                </p:sp>
              </mc:Choice>
              <mc:Fallback xmlns="">
                <p:sp>
                  <p:nvSpPr>
                    <p:cNvPr id="37" name="CaixaDeTexto 36">
                      <a:extLst>
                        <a:ext uri="{FF2B5EF4-FFF2-40B4-BE49-F238E27FC236}">
                          <a16:creationId xmlns:a16="http://schemas.microsoft.com/office/drawing/2014/main" id="{085EEAC7-A39B-8E54-1ABE-192465A83EF9}"/>
                        </a:ext>
                      </a:extLst>
                    </p:cNvPr>
                    <p:cNvSpPr txBox="1">
                      <a:spLocks noRot="1" noChangeAspect="1" noMove="1" noResize="1" noEditPoints="1" noAdjustHandles="1" noChangeArrowheads="1" noChangeShapeType="1" noTextEdit="1"/>
                    </p:cNvSpPr>
                    <p:nvPr/>
                  </p:nvSpPr>
                  <p:spPr>
                    <a:xfrm>
                      <a:off x="2671712" y="4867795"/>
                      <a:ext cx="867941" cy="307777"/>
                    </a:xfrm>
                    <a:prstGeom prst="rect">
                      <a:avLst/>
                    </a:prstGeom>
                    <a:blipFill>
                      <a:blip r:embed="rId5"/>
                      <a:stretch>
                        <a:fillRect/>
                      </a:stretch>
                    </a:blipFill>
                  </p:spPr>
                  <p:txBody>
                    <a:bodyPr/>
                    <a:lstStyle/>
                    <a:p>
                      <a:r>
                        <a:rPr lang="pt-BR">
                          <a:noFill/>
                        </a:rPr>
                        <a:t> </a:t>
                      </a:r>
                    </a:p>
                  </p:txBody>
                </p:sp>
              </mc:Fallback>
            </mc:AlternateContent>
            <p:sp>
              <p:nvSpPr>
                <p:cNvPr id="39" name="Elipse 38">
                  <a:extLst>
                    <a:ext uri="{FF2B5EF4-FFF2-40B4-BE49-F238E27FC236}">
                      <a16:creationId xmlns:a16="http://schemas.microsoft.com/office/drawing/2014/main" id="{F6FC7276-D03F-FF26-A5BB-9174F6A90A78}"/>
                    </a:ext>
                  </a:extLst>
                </p:cNvPr>
                <p:cNvSpPr/>
                <p:nvPr/>
              </p:nvSpPr>
              <p:spPr>
                <a:xfrm>
                  <a:off x="1901608" y="4038530"/>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0" name="Forma Livre: Forma 39">
                  <a:extLst>
                    <a:ext uri="{FF2B5EF4-FFF2-40B4-BE49-F238E27FC236}">
                      <a16:creationId xmlns:a16="http://schemas.microsoft.com/office/drawing/2014/main" id="{A190C2C1-537B-4D0E-665C-CD1CAB22ED1F}"/>
                    </a:ext>
                  </a:extLst>
                </p:cNvPr>
                <p:cNvSpPr/>
                <p:nvPr/>
              </p:nvSpPr>
              <p:spPr>
                <a:xfrm>
                  <a:off x="1314106" y="3182704"/>
                  <a:ext cx="603593" cy="862246"/>
                </a:xfrm>
                <a:custGeom>
                  <a:avLst/>
                  <a:gdLst>
                    <a:gd name="connsiteX0" fmla="*/ 0 w 609600"/>
                    <a:gd name="connsiteY0" fmla="*/ 0 h 882650"/>
                    <a:gd name="connsiteX1" fmla="*/ 374650 w 609600"/>
                    <a:gd name="connsiteY1" fmla="*/ 273050 h 882650"/>
                    <a:gd name="connsiteX2" fmla="*/ 609600 w 609600"/>
                    <a:gd name="connsiteY2" fmla="*/ 882650 h 882650"/>
                  </a:gdLst>
                  <a:ahLst/>
                  <a:cxnLst>
                    <a:cxn ang="0">
                      <a:pos x="connsiteX0" y="connsiteY0"/>
                    </a:cxn>
                    <a:cxn ang="0">
                      <a:pos x="connsiteX1" y="connsiteY1"/>
                    </a:cxn>
                    <a:cxn ang="0">
                      <a:pos x="connsiteX2" y="connsiteY2"/>
                    </a:cxn>
                  </a:cxnLst>
                  <a:rect l="l" t="t" r="r" b="b"/>
                  <a:pathLst>
                    <a:path w="609600" h="882650">
                      <a:moveTo>
                        <a:pt x="0" y="0"/>
                      </a:moveTo>
                      <a:cubicBezTo>
                        <a:pt x="136525" y="62971"/>
                        <a:pt x="273050" y="125942"/>
                        <a:pt x="374650" y="273050"/>
                      </a:cubicBezTo>
                      <a:cubicBezTo>
                        <a:pt x="476250" y="420158"/>
                        <a:pt x="542925" y="651404"/>
                        <a:pt x="609600" y="882650"/>
                      </a:cubicBezTo>
                    </a:path>
                  </a:pathLst>
                </a:custGeom>
                <a:noFill/>
                <a:ln w="3175">
                  <a:solidFill>
                    <a:schemeClr val="tx1"/>
                  </a:solidFill>
                  <a:prstDash val="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5" name="Forma Livre: Forma 44">
                <a:extLst>
                  <a:ext uri="{FF2B5EF4-FFF2-40B4-BE49-F238E27FC236}">
                    <a16:creationId xmlns:a16="http://schemas.microsoft.com/office/drawing/2014/main" id="{7EA99A1F-BA18-1253-B4C5-1677BA9FFD90}"/>
                  </a:ext>
                </a:extLst>
              </p:cNvPr>
              <p:cNvSpPr/>
              <p:nvPr/>
            </p:nvSpPr>
            <p:spPr>
              <a:xfrm rot="20640245">
                <a:off x="2025336" y="4007159"/>
                <a:ext cx="291944" cy="588367"/>
              </a:xfrm>
              <a:custGeom>
                <a:avLst/>
                <a:gdLst>
                  <a:gd name="connsiteX0" fmla="*/ 0 w 609600"/>
                  <a:gd name="connsiteY0" fmla="*/ 0 h 882650"/>
                  <a:gd name="connsiteX1" fmla="*/ 374650 w 609600"/>
                  <a:gd name="connsiteY1" fmla="*/ 273050 h 882650"/>
                  <a:gd name="connsiteX2" fmla="*/ 609600 w 609600"/>
                  <a:gd name="connsiteY2" fmla="*/ 882650 h 882650"/>
                </a:gdLst>
                <a:ahLst/>
                <a:cxnLst>
                  <a:cxn ang="0">
                    <a:pos x="connsiteX0" y="connsiteY0"/>
                  </a:cxn>
                  <a:cxn ang="0">
                    <a:pos x="connsiteX1" y="connsiteY1"/>
                  </a:cxn>
                  <a:cxn ang="0">
                    <a:pos x="connsiteX2" y="connsiteY2"/>
                  </a:cxn>
                </a:cxnLst>
                <a:rect l="l" t="t" r="r" b="b"/>
                <a:pathLst>
                  <a:path w="609600" h="882650">
                    <a:moveTo>
                      <a:pt x="0" y="0"/>
                    </a:moveTo>
                    <a:cubicBezTo>
                      <a:pt x="136525" y="62971"/>
                      <a:pt x="273050" y="125942"/>
                      <a:pt x="374650" y="273050"/>
                    </a:cubicBezTo>
                    <a:cubicBezTo>
                      <a:pt x="476250" y="420158"/>
                      <a:pt x="542925" y="651404"/>
                      <a:pt x="609600" y="882650"/>
                    </a:cubicBezTo>
                  </a:path>
                </a:pathLst>
              </a:custGeom>
              <a:noFill/>
              <a:ln w="3175">
                <a:solidFill>
                  <a:schemeClr val="tx1"/>
                </a:solidFill>
                <a:prstDash val="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6" name="Elipse 45">
                <a:extLst>
                  <a:ext uri="{FF2B5EF4-FFF2-40B4-BE49-F238E27FC236}">
                    <a16:creationId xmlns:a16="http://schemas.microsoft.com/office/drawing/2014/main" id="{C3DEEC2D-A2E8-B62C-3519-1662739D0B6E}"/>
                  </a:ext>
                </a:extLst>
              </p:cNvPr>
              <p:cNvSpPr/>
              <p:nvPr/>
            </p:nvSpPr>
            <p:spPr>
              <a:xfrm>
                <a:off x="2380859" y="4524896"/>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5" name="Elipse 4">
              <a:extLst>
                <a:ext uri="{FF2B5EF4-FFF2-40B4-BE49-F238E27FC236}">
                  <a16:creationId xmlns:a16="http://schemas.microsoft.com/office/drawing/2014/main" id="{CFEC7173-3A11-257C-8B29-88E6C03AF05D}"/>
                </a:ext>
              </a:extLst>
            </p:cNvPr>
            <p:cNvSpPr/>
            <p:nvPr/>
          </p:nvSpPr>
          <p:spPr>
            <a:xfrm>
              <a:off x="2787464" y="4711210"/>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6" name="Forma Livre: Forma 5">
              <a:extLst>
                <a:ext uri="{FF2B5EF4-FFF2-40B4-BE49-F238E27FC236}">
                  <a16:creationId xmlns:a16="http://schemas.microsoft.com/office/drawing/2014/main" id="{62D36D4E-5EF0-F146-5C38-DEC61AD81225}"/>
                </a:ext>
              </a:extLst>
            </p:cNvPr>
            <p:cNvSpPr/>
            <p:nvPr/>
          </p:nvSpPr>
          <p:spPr>
            <a:xfrm rot="20640245">
              <a:off x="2447865" y="4495831"/>
              <a:ext cx="302953" cy="273031"/>
            </a:xfrm>
            <a:custGeom>
              <a:avLst/>
              <a:gdLst>
                <a:gd name="connsiteX0" fmla="*/ 0 w 609600"/>
                <a:gd name="connsiteY0" fmla="*/ 0 h 882650"/>
                <a:gd name="connsiteX1" fmla="*/ 374650 w 609600"/>
                <a:gd name="connsiteY1" fmla="*/ 273050 h 882650"/>
                <a:gd name="connsiteX2" fmla="*/ 609600 w 609600"/>
                <a:gd name="connsiteY2" fmla="*/ 882650 h 882650"/>
              </a:gdLst>
              <a:ahLst/>
              <a:cxnLst>
                <a:cxn ang="0">
                  <a:pos x="connsiteX0" y="connsiteY0"/>
                </a:cxn>
                <a:cxn ang="0">
                  <a:pos x="connsiteX1" y="connsiteY1"/>
                </a:cxn>
                <a:cxn ang="0">
                  <a:pos x="connsiteX2" y="connsiteY2"/>
                </a:cxn>
              </a:cxnLst>
              <a:rect l="l" t="t" r="r" b="b"/>
              <a:pathLst>
                <a:path w="609600" h="882650">
                  <a:moveTo>
                    <a:pt x="0" y="0"/>
                  </a:moveTo>
                  <a:cubicBezTo>
                    <a:pt x="136525" y="62971"/>
                    <a:pt x="273050" y="125942"/>
                    <a:pt x="374650" y="273050"/>
                  </a:cubicBezTo>
                  <a:cubicBezTo>
                    <a:pt x="476250" y="420158"/>
                    <a:pt x="542925" y="651404"/>
                    <a:pt x="609600" y="882650"/>
                  </a:cubicBezTo>
                </a:path>
              </a:pathLst>
            </a:custGeom>
            <a:noFill/>
            <a:ln w="3175">
              <a:solidFill>
                <a:schemeClr val="tx1"/>
              </a:solidFill>
              <a:prstDash val="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7" name="Elipse 6">
              <a:extLst>
                <a:ext uri="{FF2B5EF4-FFF2-40B4-BE49-F238E27FC236}">
                  <a16:creationId xmlns:a16="http://schemas.microsoft.com/office/drawing/2014/main" id="{F10A95C3-BB34-F522-3D99-683166B96EBB}"/>
                </a:ext>
              </a:extLst>
            </p:cNvPr>
            <p:cNvSpPr/>
            <p:nvPr/>
          </p:nvSpPr>
          <p:spPr>
            <a:xfrm>
              <a:off x="3189264" y="4607975"/>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8" name="Forma Livre: Forma 7">
              <a:extLst>
                <a:ext uri="{FF2B5EF4-FFF2-40B4-BE49-F238E27FC236}">
                  <a16:creationId xmlns:a16="http://schemas.microsoft.com/office/drawing/2014/main" id="{FC1A3823-B1C8-B7C6-F602-49A745E6FA6F}"/>
                </a:ext>
              </a:extLst>
            </p:cNvPr>
            <p:cNvSpPr/>
            <p:nvPr/>
          </p:nvSpPr>
          <p:spPr>
            <a:xfrm rot="18167588">
              <a:off x="2851310" y="4542541"/>
              <a:ext cx="302953" cy="273031"/>
            </a:xfrm>
            <a:custGeom>
              <a:avLst/>
              <a:gdLst>
                <a:gd name="connsiteX0" fmla="*/ 0 w 609600"/>
                <a:gd name="connsiteY0" fmla="*/ 0 h 882650"/>
                <a:gd name="connsiteX1" fmla="*/ 374650 w 609600"/>
                <a:gd name="connsiteY1" fmla="*/ 273050 h 882650"/>
                <a:gd name="connsiteX2" fmla="*/ 609600 w 609600"/>
                <a:gd name="connsiteY2" fmla="*/ 882650 h 882650"/>
              </a:gdLst>
              <a:ahLst/>
              <a:cxnLst>
                <a:cxn ang="0">
                  <a:pos x="connsiteX0" y="connsiteY0"/>
                </a:cxn>
                <a:cxn ang="0">
                  <a:pos x="connsiteX1" y="connsiteY1"/>
                </a:cxn>
                <a:cxn ang="0">
                  <a:pos x="connsiteX2" y="connsiteY2"/>
                </a:cxn>
              </a:cxnLst>
              <a:rect l="l" t="t" r="r" b="b"/>
              <a:pathLst>
                <a:path w="609600" h="882650">
                  <a:moveTo>
                    <a:pt x="0" y="0"/>
                  </a:moveTo>
                  <a:cubicBezTo>
                    <a:pt x="136525" y="62971"/>
                    <a:pt x="273050" y="125942"/>
                    <a:pt x="374650" y="273050"/>
                  </a:cubicBezTo>
                  <a:cubicBezTo>
                    <a:pt x="476250" y="420158"/>
                    <a:pt x="542925" y="651404"/>
                    <a:pt x="609600" y="882650"/>
                  </a:cubicBezTo>
                </a:path>
              </a:pathLst>
            </a:custGeom>
            <a:noFill/>
            <a:ln w="3175">
              <a:solidFill>
                <a:schemeClr val="tx1"/>
              </a:solidFill>
              <a:prstDash val="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Tree>
    <p:extLst>
      <p:ext uri="{BB962C8B-B14F-4D97-AF65-F5344CB8AC3E}">
        <p14:creationId xmlns:p14="http://schemas.microsoft.com/office/powerpoint/2010/main" val="35905330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CC3C31-4EA2-B4A2-431F-BF22FBB8A7BA}"/>
              </a:ext>
            </a:extLst>
          </p:cNvPr>
          <p:cNvSpPr>
            <a:spLocks noGrp="1"/>
          </p:cNvSpPr>
          <p:nvPr>
            <p:ph type="title"/>
          </p:nvPr>
        </p:nvSpPr>
        <p:spPr/>
        <p:txBody>
          <a:bodyPr/>
          <a:lstStyle/>
          <a:p>
            <a:r>
              <a:rPr lang="pt-BR" dirty="0"/>
              <a:t>Tamanho do passo de aprendizagem</a:t>
            </a:r>
          </a:p>
        </p:txBody>
      </p:sp>
      <p:sp>
        <p:nvSpPr>
          <p:cNvPr id="3" name="Espaço Reservado para Conteúdo 2">
            <a:extLst>
              <a:ext uri="{FF2B5EF4-FFF2-40B4-BE49-F238E27FC236}">
                <a16:creationId xmlns:a16="http://schemas.microsoft.com/office/drawing/2014/main" id="{F09EA0C7-E094-F158-6A1A-B80733321450}"/>
              </a:ext>
            </a:extLst>
          </p:cNvPr>
          <p:cNvSpPr>
            <a:spLocks noGrp="1"/>
          </p:cNvSpPr>
          <p:nvPr>
            <p:ph idx="1"/>
          </p:nvPr>
        </p:nvSpPr>
        <p:spPr>
          <a:xfrm>
            <a:off x="5714129" y="1825624"/>
            <a:ext cx="6286087" cy="5032376"/>
          </a:xfrm>
        </p:spPr>
        <p:txBody>
          <a:bodyPr>
            <a:normAutofit/>
          </a:bodyPr>
          <a:lstStyle/>
          <a:p>
            <a:r>
              <a:rPr lang="pt-BR" dirty="0"/>
              <a:t>Se o passo de aprendizagem for </a:t>
            </a:r>
            <a:r>
              <a:rPr lang="pt-BR" b="1" dirty="0">
                <a:solidFill>
                  <a:srgbClr val="00B050"/>
                </a:solidFill>
              </a:rPr>
              <a:t>muito grande</a:t>
            </a:r>
            <a:r>
              <a:rPr lang="pt-BR" dirty="0"/>
              <a:t>, o processo de otimização pode ficar </a:t>
            </a:r>
            <a:r>
              <a:rPr lang="pt-BR" b="1" dirty="0">
                <a:solidFill>
                  <a:srgbClr val="00B050"/>
                </a:solidFill>
              </a:rPr>
              <a:t>ziguezagueando</a:t>
            </a:r>
            <a:r>
              <a:rPr lang="pt-BR" dirty="0"/>
              <a:t> de um lado para o outro da base da superfície </a:t>
            </a:r>
            <a:r>
              <a:rPr lang="pt-BR" b="1" dirty="0">
                <a:solidFill>
                  <a:srgbClr val="00B050"/>
                </a:solidFill>
              </a:rPr>
              <a:t>sem nunca atingir o ponto de mínimo</a:t>
            </a:r>
            <a:r>
              <a:rPr lang="pt-BR" dirty="0"/>
              <a:t>.</a:t>
            </a:r>
          </a:p>
        </p:txBody>
      </p:sp>
      <p:grpSp>
        <p:nvGrpSpPr>
          <p:cNvPr id="4" name="Agrupar 3">
            <a:extLst>
              <a:ext uri="{FF2B5EF4-FFF2-40B4-BE49-F238E27FC236}">
                <a16:creationId xmlns:a16="http://schemas.microsoft.com/office/drawing/2014/main" id="{ED41ABFD-548C-4B86-C347-18D33EB57FE8}"/>
              </a:ext>
            </a:extLst>
          </p:cNvPr>
          <p:cNvGrpSpPr/>
          <p:nvPr/>
        </p:nvGrpSpPr>
        <p:grpSpPr>
          <a:xfrm>
            <a:off x="973059" y="2353695"/>
            <a:ext cx="3963570" cy="2939416"/>
            <a:chOff x="973059" y="2353695"/>
            <a:chExt cx="3963570" cy="2939416"/>
          </a:xfrm>
        </p:grpSpPr>
        <p:grpSp>
          <p:nvGrpSpPr>
            <p:cNvPr id="16" name="Agrupar 15">
              <a:extLst>
                <a:ext uri="{FF2B5EF4-FFF2-40B4-BE49-F238E27FC236}">
                  <a16:creationId xmlns:a16="http://schemas.microsoft.com/office/drawing/2014/main" id="{BC27F250-00D2-02E2-BA5C-F825D68F865C}"/>
                </a:ext>
              </a:extLst>
            </p:cNvPr>
            <p:cNvGrpSpPr/>
            <p:nvPr/>
          </p:nvGrpSpPr>
          <p:grpSpPr>
            <a:xfrm>
              <a:off x="973059" y="2353695"/>
              <a:ext cx="3963570" cy="2939416"/>
              <a:chOff x="973059" y="2353695"/>
              <a:chExt cx="3963570" cy="2939416"/>
            </a:xfrm>
          </p:grpSpPr>
          <p:sp>
            <p:nvSpPr>
              <p:cNvPr id="18" name="Forma Livre: Forma 17">
                <a:extLst>
                  <a:ext uri="{FF2B5EF4-FFF2-40B4-BE49-F238E27FC236}">
                    <a16:creationId xmlns:a16="http://schemas.microsoft.com/office/drawing/2014/main" id="{6C28BCEA-AC0E-ACCA-1D14-5089AF236AFF}"/>
                  </a:ext>
                </a:extLst>
              </p:cNvPr>
              <p:cNvSpPr/>
              <p:nvPr/>
            </p:nvSpPr>
            <p:spPr>
              <a:xfrm>
                <a:off x="1190625" y="2990850"/>
                <a:ext cx="3429000" cy="1752634"/>
              </a:xfrm>
              <a:custGeom>
                <a:avLst/>
                <a:gdLst>
                  <a:gd name="connsiteX0" fmla="*/ 0 w 3429000"/>
                  <a:gd name="connsiteY0" fmla="*/ 38100 h 1752634"/>
                  <a:gd name="connsiteX1" fmla="*/ 1714500 w 3429000"/>
                  <a:gd name="connsiteY1" fmla="*/ 1752600 h 1752634"/>
                  <a:gd name="connsiteX2" fmla="*/ 3429000 w 3429000"/>
                  <a:gd name="connsiteY2" fmla="*/ 0 h 1752634"/>
                </a:gdLst>
                <a:ahLst/>
                <a:cxnLst>
                  <a:cxn ang="0">
                    <a:pos x="connsiteX0" y="connsiteY0"/>
                  </a:cxn>
                  <a:cxn ang="0">
                    <a:pos x="connsiteX1" y="connsiteY1"/>
                  </a:cxn>
                  <a:cxn ang="0">
                    <a:pos x="connsiteX2" y="connsiteY2"/>
                  </a:cxn>
                </a:cxnLst>
                <a:rect l="l" t="t" r="r" b="b"/>
                <a:pathLst>
                  <a:path w="3429000" h="1752634">
                    <a:moveTo>
                      <a:pt x="0" y="38100"/>
                    </a:moveTo>
                    <a:cubicBezTo>
                      <a:pt x="571500" y="898525"/>
                      <a:pt x="1143000" y="1758950"/>
                      <a:pt x="1714500" y="1752600"/>
                    </a:cubicBezTo>
                    <a:cubicBezTo>
                      <a:pt x="2286000" y="1746250"/>
                      <a:pt x="3119438" y="314325"/>
                      <a:pt x="3429000"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9" name="Conector de Seta Reta 18">
                <a:extLst>
                  <a:ext uri="{FF2B5EF4-FFF2-40B4-BE49-F238E27FC236}">
                    <a16:creationId xmlns:a16="http://schemas.microsoft.com/office/drawing/2014/main" id="{0EB327B9-9368-9517-1592-A958BAFB326E}"/>
                  </a:ext>
                </a:extLst>
              </p:cNvPr>
              <p:cNvCxnSpPr>
                <a:cxnSpLocks/>
              </p:cNvCxnSpPr>
              <p:nvPr/>
            </p:nvCxnSpPr>
            <p:spPr>
              <a:xfrm>
                <a:off x="974017" y="4916172"/>
                <a:ext cx="386096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ector de Seta Reta 19">
                <a:extLst>
                  <a:ext uri="{FF2B5EF4-FFF2-40B4-BE49-F238E27FC236}">
                    <a16:creationId xmlns:a16="http://schemas.microsoft.com/office/drawing/2014/main" id="{FB2A4E76-B9EA-7978-E3C8-354FACD511F5}"/>
                  </a:ext>
                </a:extLst>
              </p:cNvPr>
              <p:cNvCxnSpPr>
                <a:cxnSpLocks/>
              </p:cNvCxnSpPr>
              <p:nvPr/>
            </p:nvCxnSpPr>
            <p:spPr>
              <a:xfrm flipV="1">
                <a:off x="974018" y="2442308"/>
                <a:ext cx="0" cy="247386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CaixaDeTexto 25">
                    <a:extLst>
                      <a:ext uri="{FF2B5EF4-FFF2-40B4-BE49-F238E27FC236}">
                        <a16:creationId xmlns:a16="http://schemas.microsoft.com/office/drawing/2014/main" id="{708B64BB-3945-1538-F968-FE34B3BF7F7E}"/>
                      </a:ext>
                    </a:extLst>
                  </p:cNvPr>
                  <p:cNvSpPr txBox="1"/>
                  <p:nvPr/>
                </p:nvSpPr>
                <p:spPr>
                  <a:xfrm>
                    <a:off x="974017" y="2353695"/>
                    <a:ext cx="2747030" cy="369332"/>
                  </a:xfrm>
                  <a:prstGeom prst="rect">
                    <a:avLst/>
                  </a:prstGeom>
                  <a:noFill/>
                </p:spPr>
                <p:txBody>
                  <a:bodyPr wrap="square" rtlCol="0">
                    <a:spAutoFit/>
                  </a:bodyPr>
                  <a:lstStyle/>
                  <a:p>
                    <a:r>
                      <a:rPr lang="pt-BR" dirty="0"/>
                      <a:t>Função de erro, </a:t>
                    </a:r>
                    <a14:m>
                      <m:oMath xmlns:m="http://schemas.openxmlformats.org/officeDocument/2006/math">
                        <m:sSub>
                          <m:sSubPr>
                            <m:ctrlPr>
                              <a:rPr lang="pt-BR" b="0" i="1" smtClean="0">
                                <a:latin typeface="Cambria Math" panose="02040503050406030204" pitchFamily="18" charset="0"/>
                              </a:rPr>
                            </m:ctrlPr>
                          </m:sSubPr>
                          <m:e>
                            <m:r>
                              <a:rPr lang="pt-BR" b="0" i="1" smtClean="0">
                                <a:latin typeface="Cambria Math" panose="02040503050406030204" pitchFamily="18" charset="0"/>
                              </a:rPr>
                              <m:t>𝐽</m:t>
                            </m:r>
                          </m:e>
                          <m:sub>
                            <m:r>
                              <a:rPr lang="pt-BR" b="0" i="1" smtClean="0">
                                <a:latin typeface="Cambria Math" panose="02040503050406030204" pitchFamily="18" charset="0"/>
                              </a:rPr>
                              <m:t>𝑒</m:t>
                            </m:r>
                          </m:sub>
                        </m:sSub>
                        <m:r>
                          <a:rPr lang="pt-BR" b="0" i="1" smtClean="0">
                            <a:latin typeface="Cambria Math" panose="02040503050406030204" pitchFamily="18" charset="0"/>
                          </a:rPr>
                          <m:t>(</m:t>
                        </m:r>
                        <m:r>
                          <a:rPr lang="pt-BR" b="0" i="1" smtClean="0">
                            <a:latin typeface="Cambria Math" panose="02040503050406030204" pitchFamily="18" charset="0"/>
                          </a:rPr>
                          <m:t>𝑎</m:t>
                        </m:r>
                        <m:r>
                          <a:rPr lang="pt-BR" b="0" i="1" smtClean="0">
                            <a:latin typeface="Cambria Math" panose="02040503050406030204" pitchFamily="18" charset="0"/>
                          </a:rPr>
                          <m:t>)</m:t>
                        </m:r>
                      </m:oMath>
                    </a14:m>
                    <a:endParaRPr lang="pt-BR" dirty="0"/>
                  </a:p>
                </p:txBody>
              </p:sp>
            </mc:Choice>
            <mc:Fallback xmlns="">
              <p:sp>
                <p:nvSpPr>
                  <p:cNvPr id="26" name="CaixaDeTexto 25">
                    <a:extLst>
                      <a:ext uri="{FF2B5EF4-FFF2-40B4-BE49-F238E27FC236}">
                        <a16:creationId xmlns:a16="http://schemas.microsoft.com/office/drawing/2014/main" id="{708B64BB-3945-1538-F968-FE34B3BF7F7E}"/>
                      </a:ext>
                    </a:extLst>
                  </p:cNvPr>
                  <p:cNvSpPr txBox="1">
                    <a:spLocks noRot="1" noChangeAspect="1" noMove="1" noResize="1" noEditPoints="1" noAdjustHandles="1" noChangeArrowheads="1" noChangeShapeType="1" noTextEdit="1"/>
                  </p:cNvSpPr>
                  <p:nvPr/>
                </p:nvSpPr>
                <p:spPr>
                  <a:xfrm>
                    <a:off x="974017" y="2353695"/>
                    <a:ext cx="2747030" cy="369332"/>
                  </a:xfrm>
                  <a:prstGeom prst="rect">
                    <a:avLst/>
                  </a:prstGeom>
                  <a:blipFill>
                    <a:blip r:embed="rId3"/>
                    <a:stretch>
                      <a:fillRect l="-2000" t="-8197" b="-24590"/>
                    </a:stretch>
                  </a:blipFill>
                </p:spPr>
                <p:txBody>
                  <a:bodyPr/>
                  <a:lstStyle/>
                  <a:p>
                    <a:r>
                      <a:rPr lang="pt-BR">
                        <a:noFill/>
                      </a:rPr>
                      <a:t> </a:t>
                    </a:r>
                  </a:p>
                </p:txBody>
              </p:sp>
            </mc:Fallback>
          </mc:AlternateContent>
          <p:sp>
            <p:nvSpPr>
              <p:cNvPr id="27" name="CaixaDeTexto 26">
                <a:extLst>
                  <a:ext uri="{FF2B5EF4-FFF2-40B4-BE49-F238E27FC236}">
                    <a16:creationId xmlns:a16="http://schemas.microsoft.com/office/drawing/2014/main" id="{33C03641-A896-5188-5291-D3C1622B3FD8}"/>
                  </a:ext>
                </a:extLst>
              </p:cNvPr>
              <p:cNvSpPr txBox="1"/>
              <p:nvPr/>
            </p:nvSpPr>
            <p:spPr>
              <a:xfrm>
                <a:off x="4300295" y="4923779"/>
                <a:ext cx="636334" cy="369332"/>
              </a:xfrm>
              <a:prstGeom prst="rect">
                <a:avLst/>
              </a:prstGeom>
              <a:noFill/>
            </p:spPr>
            <p:txBody>
              <a:bodyPr wrap="square" rtlCol="0">
                <a:spAutoFit/>
              </a:bodyPr>
              <a:lstStyle/>
              <a:p>
                <a:pPr algn="r"/>
                <a:r>
                  <a:rPr lang="pt-BR" dirty="0"/>
                  <a:t>Peso</a:t>
                </a:r>
              </a:p>
            </p:txBody>
          </p:sp>
          <p:cxnSp>
            <p:nvCxnSpPr>
              <p:cNvPr id="28" name="Conector reto 27">
                <a:extLst>
                  <a:ext uri="{FF2B5EF4-FFF2-40B4-BE49-F238E27FC236}">
                    <a16:creationId xmlns:a16="http://schemas.microsoft.com/office/drawing/2014/main" id="{71BE268E-A73C-EBD6-430F-5DC7906AD0C9}"/>
                  </a:ext>
                </a:extLst>
              </p:cNvPr>
              <p:cNvCxnSpPr/>
              <p:nvPr/>
            </p:nvCxnSpPr>
            <p:spPr>
              <a:xfrm>
                <a:off x="976885" y="4744536"/>
                <a:ext cx="1930484" cy="0"/>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30" name="Conector reto 29">
                <a:extLst>
                  <a:ext uri="{FF2B5EF4-FFF2-40B4-BE49-F238E27FC236}">
                    <a16:creationId xmlns:a16="http://schemas.microsoft.com/office/drawing/2014/main" id="{75094F36-EDC3-CA21-125A-0EE943C62CCB}"/>
                  </a:ext>
                </a:extLst>
              </p:cNvPr>
              <p:cNvCxnSpPr>
                <a:cxnSpLocks/>
              </p:cNvCxnSpPr>
              <p:nvPr/>
            </p:nvCxnSpPr>
            <p:spPr>
              <a:xfrm>
                <a:off x="2902477" y="4736969"/>
                <a:ext cx="0" cy="171598"/>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31" name="Elipse 30">
                <a:extLst>
                  <a:ext uri="{FF2B5EF4-FFF2-40B4-BE49-F238E27FC236}">
                    <a16:creationId xmlns:a16="http://schemas.microsoft.com/office/drawing/2014/main" id="{4F74B96C-E784-361B-FC9A-C4EF081FD895}"/>
                  </a:ext>
                </a:extLst>
              </p:cNvPr>
              <p:cNvSpPr/>
              <p:nvPr/>
            </p:nvSpPr>
            <p:spPr>
              <a:xfrm>
                <a:off x="2879776" y="4721835"/>
                <a:ext cx="42900" cy="429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2" name="Elipse 31">
                <a:extLst>
                  <a:ext uri="{FF2B5EF4-FFF2-40B4-BE49-F238E27FC236}">
                    <a16:creationId xmlns:a16="http://schemas.microsoft.com/office/drawing/2014/main" id="{671C9CA5-E5AD-29D4-50CD-004105724E54}"/>
                  </a:ext>
                </a:extLst>
              </p:cNvPr>
              <p:cNvSpPr/>
              <p:nvPr/>
            </p:nvSpPr>
            <p:spPr>
              <a:xfrm>
                <a:off x="1273647" y="3163362"/>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33" name="Conector reto 32">
                <a:extLst>
                  <a:ext uri="{FF2B5EF4-FFF2-40B4-BE49-F238E27FC236}">
                    <a16:creationId xmlns:a16="http://schemas.microsoft.com/office/drawing/2014/main" id="{55BCAC41-0745-6FC8-1A6E-02719DA867BC}"/>
                  </a:ext>
                </a:extLst>
              </p:cNvPr>
              <p:cNvCxnSpPr/>
              <p:nvPr/>
            </p:nvCxnSpPr>
            <p:spPr>
              <a:xfrm>
                <a:off x="973059" y="3184593"/>
                <a:ext cx="324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4" name="Conector reto 33">
                <a:extLst>
                  <a:ext uri="{FF2B5EF4-FFF2-40B4-BE49-F238E27FC236}">
                    <a16:creationId xmlns:a16="http://schemas.microsoft.com/office/drawing/2014/main" id="{58165A6F-4823-C968-4CC3-010FF73A64B6}"/>
                  </a:ext>
                </a:extLst>
              </p:cNvPr>
              <p:cNvCxnSpPr>
                <a:cxnSpLocks/>
              </p:cNvCxnSpPr>
              <p:nvPr/>
            </p:nvCxnSpPr>
            <p:spPr>
              <a:xfrm>
                <a:off x="1295097" y="3163361"/>
                <a:ext cx="0" cy="1764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5" name="CaixaDeTexto 34">
                <a:extLst>
                  <a:ext uri="{FF2B5EF4-FFF2-40B4-BE49-F238E27FC236}">
                    <a16:creationId xmlns:a16="http://schemas.microsoft.com/office/drawing/2014/main" id="{392D10D5-4FB0-851A-EF0A-524C94C0CD21}"/>
                  </a:ext>
                </a:extLst>
              </p:cNvPr>
              <p:cNvSpPr txBox="1"/>
              <p:nvPr/>
            </p:nvSpPr>
            <p:spPr>
              <a:xfrm>
                <a:off x="1158048" y="2978475"/>
                <a:ext cx="1071476" cy="276999"/>
              </a:xfrm>
              <a:prstGeom prst="rect">
                <a:avLst/>
              </a:prstGeom>
              <a:noFill/>
            </p:spPr>
            <p:txBody>
              <a:bodyPr wrap="square" rtlCol="0">
                <a:spAutoFit/>
              </a:bodyPr>
              <a:lstStyle/>
              <a:p>
                <a:pPr algn="ctr"/>
                <a:r>
                  <a:rPr lang="pt-BR" sz="1200" dirty="0"/>
                  <a:t>Ponto inicial</a:t>
                </a:r>
              </a:p>
            </p:txBody>
          </p:sp>
          <mc:AlternateContent xmlns:mc="http://schemas.openxmlformats.org/markup-compatibility/2006" xmlns:a14="http://schemas.microsoft.com/office/drawing/2010/main">
            <mc:Choice Requires="a14">
              <p:sp>
                <p:nvSpPr>
                  <p:cNvPr id="36" name="CaixaDeTexto 35">
                    <a:extLst>
                      <a:ext uri="{FF2B5EF4-FFF2-40B4-BE49-F238E27FC236}">
                        <a16:creationId xmlns:a16="http://schemas.microsoft.com/office/drawing/2014/main" id="{FB65B051-0C1A-E311-B392-188679189CE2}"/>
                      </a:ext>
                    </a:extLst>
                  </p:cNvPr>
                  <p:cNvSpPr txBox="1"/>
                  <p:nvPr/>
                </p:nvSpPr>
                <p:spPr>
                  <a:xfrm>
                    <a:off x="1074774" y="4868216"/>
                    <a:ext cx="86794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m:rPr>
                                  <m:sty m:val="p"/>
                                </m:rPr>
                                <a:rPr lang="pt-BR" sz="1400" b="0" i="0" smtClean="0">
                                  <a:latin typeface="Cambria Math" panose="02040503050406030204" pitchFamily="18" charset="0"/>
                                </a:rPr>
                                <m:t>inicial</m:t>
                              </m:r>
                            </m:sub>
                          </m:sSub>
                        </m:oMath>
                      </m:oMathPara>
                    </a14:m>
                    <a:endParaRPr lang="pt-BR" sz="1400" dirty="0"/>
                  </a:p>
                </p:txBody>
              </p:sp>
            </mc:Choice>
            <mc:Fallback xmlns="">
              <p:sp>
                <p:nvSpPr>
                  <p:cNvPr id="36" name="CaixaDeTexto 35">
                    <a:extLst>
                      <a:ext uri="{FF2B5EF4-FFF2-40B4-BE49-F238E27FC236}">
                        <a16:creationId xmlns:a16="http://schemas.microsoft.com/office/drawing/2014/main" id="{FB65B051-0C1A-E311-B392-188679189CE2}"/>
                      </a:ext>
                    </a:extLst>
                  </p:cNvPr>
                  <p:cNvSpPr txBox="1">
                    <a:spLocks noRot="1" noChangeAspect="1" noMove="1" noResize="1" noEditPoints="1" noAdjustHandles="1" noChangeArrowheads="1" noChangeShapeType="1" noTextEdit="1"/>
                  </p:cNvSpPr>
                  <p:nvPr/>
                </p:nvSpPr>
                <p:spPr>
                  <a:xfrm>
                    <a:off x="1074774" y="4868216"/>
                    <a:ext cx="867941" cy="307777"/>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7" name="CaixaDeTexto 36">
                    <a:extLst>
                      <a:ext uri="{FF2B5EF4-FFF2-40B4-BE49-F238E27FC236}">
                        <a16:creationId xmlns:a16="http://schemas.microsoft.com/office/drawing/2014/main" id="{085EEAC7-A39B-8E54-1ABE-192465A83EF9}"/>
                      </a:ext>
                    </a:extLst>
                  </p:cNvPr>
                  <p:cNvSpPr txBox="1"/>
                  <p:nvPr/>
                </p:nvSpPr>
                <p:spPr>
                  <a:xfrm>
                    <a:off x="2671712" y="4867795"/>
                    <a:ext cx="86794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0" smtClean="0">
                                  <a:latin typeface="Cambria Math" panose="02040503050406030204" pitchFamily="18" charset="0"/>
                                </a:rPr>
                                <m:t>ó</m:t>
                              </m:r>
                              <m:r>
                                <m:rPr>
                                  <m:sty m:val="p"/>
                                </m:rPr>
                                <a:rPr lang="pt-BR" sz="1400" b="0" i="0" smtClean="0">
                                  <a:latin typeface="Cambria Math" panose="02040503050406030204" pitchFamily="18" charset="0"/>
                                </a:rPr>
                                <m:t>timo</m:t>
                              </m:r>
                            </m:sub>
                          </m:sSub>
                        </m:oMath>
                      </m:oMathPara>
                    </a14:m>
                    <a:endParaRPr lang="pt-BR" sz="1400" dirty="0"/>
                  </a:p>
                </p:txBody>
              </p:sp>
            </mc:Choice>
            <mc:Fallback xmlns="">
              <p:sp>
                <p:nvSpPr>
                  <p:cNvPr id="37" name="CaixaDeTexto 36">
                    <a:extLst>
                      <a:ext uri="{FF2B5EF4-FFF2-40B4-BE49-F238E27FC236}">
                        <a16:creationId xmlns:a16="http://schemas.microsoft.com/office/drawing/2014/main" id="{085EEAC7-A39B-8E54-1ABE-192465A83EF9}"/>
                      </a:ext>
                    </a:extLst>
                  </p:cNvPr>
                  <p:cNvSpPr txBox="1">
                    <a:spLocks noRot="1" noChangeAspect="1" noMove="1" noResize="1" noEditPoints="1" noAdjustHandles="1" noChangeArrowheads="1" noChangeShapeType="1" noTextEdit="1"/>
                  </p:cNvSpPr>
                  <p:nvPr/>
                </p:nvSpPr>
                <p:spPr>
                  <a:xfrm>
                    <a:off x="2671712" y="4867795"/>
                    <a:ext cx="867941" cy="307777"/>
                  </a:xfrm>
                  <a:prstGeom prst="rect">
                    <a:avLst/>
                  </a:prstGeom>
                  <a:blipFill>
                    <a:blip r:embed="rId5"/>
                    <a:stretch>
                      <a:fillRect/>
                    </a:stretch>
                  </a:blipFill>
                </p:spPr>
                <p:txBody>
                  <a:bodyPr/>
                  <a:lstStyle/>
                  <a:p>
                    <a:r>
                      <a:rPr lang="pt-BR">
                        <a:noFill/>
                      </a:rPr>
                      <a:t> </a:t>
                    </a:r>
                  </a:p>
                </p:txBody>
              </p:sp>
            </mc:Fallback>
          </mc:AlternateContent>
          <p:sp>
            <p:nvSpPr>
              <p:cNvPr id="39" name="Elipse 38">
                <a:extLst>
                  <a:ext uri="{FF2B5EF4-FFF2-40B4-BE49-F238E27FC236}">
                    <a16:creationId xmlns:a16="http://schemas.microsoft.com/office/drawing/2014/main" id="{F6FC7276-D03F-FF26-A5BB-9174F6A90A78}"/>
                  </a:ext>
                </a:extLst>
              </p:cNvPr>
              <p:cNvSpPr/>
              <p:nvPr/>
            </p:nvSpPr>
            <p:spPr>
              <a:xfrm>
                <a:off x="1901608" y="4038530"/>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0" name="Forma Livre: Forma 39">
                <a:extLst>
                  <a:ext uri="{FF2B5EF4-FFF2-40B4-BE49-F238E27FC236}">
                    <a16:creationId xmlns:a16="http://schemas.microsoft.com/office/drawing/2014/main" id="{A190C2C1-537B-4D0E-665C-CD1CAB22ED1F}"/>
                  </a:ext>
                </a:extLst>
              </p:cNvPr>
              <p:cNvSpPr/>
              <p:nvPr/>
            </p:nvSpPr>
            <p:spPr>
              <a:xfrm>
                <a:off x="1314106" y="3182704"/>
                <a:ext cx="603593" cy="862246"/>
              </a:xfrm>
              <a:custGeom>
                <a:avLst/>
                <a:gdLst>
                  <a:gd name="connsiteX0" fmla="*/ 0 w 609600"/>
                  <a:gd name="connsiteY0" fmla="*/ 0 h 882650"/>
                  <a:gd name="connsiteX1" fmla="*/ 374650 w 609600"/>
                  <a:gd name="connsiteY1" fmla="*/ 273050 h 882650"/>
                  <a:gd name="connsiteX2" fmla="*/ 609600 w 609600"/>
                  <a:gd name="connsiteY2" fmla="*/ 882650 h 882650"/>
                </a:gdLst>
                <a:ahLst/>
                <a:cxnLst>
                  <a:cxn ang="0">
                    <a:pos x="connsiteX0" y="connsiteY0"/>
                  </a:cxn>
                  <a:cxn ang="0">
                    <a:pos x="connsiteX1" y="connsiteY1"/>
                  </a:cxn>
                  <a:cxn ang="0">
                    <a:pos x="connsiteX2" y="connsiteY2"/>
                  </a:cxn>
                </a:cxnLst>
                <a:rect l="l" t="t" r="r" b="b"/>
                <a:pathLst>
                  <a:path w="609600" h="882650">
                    <a:moveTo>
                      <a:pt x="0" y="0"/>
                    </a:moveTo>
                    <a:cubicBezTo>
                      <a:pt x="136525" y="62971"/>
                      <a:pt x="273050" y="125942"/>
                      <a:pt x="374650" y="273050"/>
                    </a:cubicBezTo>
                    <a:cubicBezTo>
                      <a:pt x="476250" y="420158"/>
                      <a:pt x="542925" y="651404"/>
                      <a:pt x="609600" y="882650"/>
                    </a:cubicBezTo>
                  </a:path>
                </a:pathLst>
              </a:custGeom>
              <a:noFill/>
              <a:ln w="3175">
                <a:solidFill>
                  <a:schemeClr val="tx1"/>
                </a:solidFill>
                <a:prstDash val="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5" name="Forma Livre: Forma 44">
              <a:extLst>
                <a:ext uri="{FF2B5EF4-FFF2-40B4-BE49-F238E27FC236}">
                  <a16:creationId xmlns:a16="http://schemas.microsoft.com/office/drawing/2014/main" id="{7EA99A1F-BA18-1253-B4C5-1677BA9FFD90}"/>
                </a:ext>
              </a:extLst>
            </p:cNvPr>
            <p:cNvSpPr/>
            <p:nvPr/>
          </p:nvSpPr>
          <p:spPr>
            <a:xfrm rot="20640245">
              <a:off x="2025336" y="4007159"/>
              <a:ext cx="291944" cy="588367"/>
            </a:xfrm>
            <a:custGeom>
              <a:avLst/>
              <a:gdLst>
                <a:gd name="connsiteX0" fmla="*/ 0 w 609600"/>
                <a:gd name="connsiteY0" fmla="*/ 0 h 882650"/>
                <a:gd name="connsiteX1" fmla="*/ 374650 w 609600"/>
                <a:gd name="connsiteY1" fmla="*/ 273050 h 882650"/>
                <a:gd name="connsiteX2" fmla="*/ 609600 w 609600"/>
                <a:gd name="connsiteY2" fmla="*/ 882650 h 882650"/>
              </a:gdLst>
              <a:ahLst/>
              <a:cxnLst>
                <a:cxn ang="0">
                  <a:pos x="connsiteX0" y="connsiteY0"/>
                </a:cxn>
                <a:cxn ang="0">
                  <a:pos x="connsiteX1" y="connsiteY1"/>
                </a:cxn>
                <a:cxn ang="0">
                  <a:pos x="connsiteX2" y="connsiteY2"/>
                </a:cxn>
              </a:cxnLst>
              <a:rect l="l" t="t" r="r" b="b"/>
              <a:pathLst>
                <a:path w="609600" h="882650">
                  <a:moveTo>
                    <a:pt x="0" y="0"/>
                  </a:moveTo>
                  <a:cubicBezTo>
                    <a:pt x="136525" y="62971"/>
                    <a:pt x="273050" y="125942"/>
                    <a:pt x="374650" y="273050"/>
                  </a:cubicBezTo>
                  <a:cubicBezTo>
                    <a:pt x="476250" y="420158"/>
                    <a:pt x="542925" y="651404"/>
                    <a:pt x="609600" y="882650"/>
                  </a:cubicBezTo>
                </a:path>
              </a:pathLst>
            </a:custGeom>
            <a:noFill/>
            <a:ln w="3175">
              <a:solidFill>
                <a:schemeClr val="tx1"/>
              </a:solidFill>
              <a:prstDash val="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6" name="Elipse 45">
              <a:extLst>
                <a:ext uri="{FF2B5EF4-FFF2-40B4-BE49-F238E27FC236}">
                  <a16:creationId xmlns:a16="http://schemas.microsoft.com/office/drawing/2014/main" id="{C3DEEC2D-A2E8-B62C-3519-1662739D0B6E}"/>
                </a:ext>
              </a:extLst>
            </p:cNvPr>
            <p:cNvSpPr/>
            <p:nvPr/>
          </p:nvSpPr>
          <p:spPr>
            <a:xfrm>
              <a:off x="2380859" y="4524896"/>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5" name="Elipse 4">
            <a:extLst>
              <a:ext uri="{FF2B5EF4-FFF2-40B4-BE49-F238E27FC236}">
                <a16:creationId xmlns:a16="http://schemas.microsoft.com/office/drawing/2014/main" id="{CFEC7173-3A11-257C-8B29-88E6C03AF05D}"/>
              </a:ext>
            </a:extLst>
          </p:cNvPr>
          <p:cNvSpPr/>
          <p:nvPr/>
        </p:nvSpPr>
        <p:spPr>
          <a:xfrm>
            <a:off x="2787464" y="4711210"/>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6" name="Forma Livre: Forma 5">
            <a:extLst>
              <a:ext uri="{FF2B5EF4-FFF2-40B4-BE49-F238E27FC236}">
                <a16:creationId xmlns:a16="http://schemas.microsoft.com/office/drawing/2014/main" id="{62D36D4E-5EF0-F146-5C38-DEC61AD81225}"/>
              </a:ext>
            </a:extLst>
          </p:cNvPr>
          <p:cNvSpPr/>
          <p:nvPr/>
        </p:nvSpPr>
        <p:spPr>
          <a:xfrm rot="20640245">
            <a:off x="2447865" y="4495831"/>
            <a:ext cx="302953" cy="273031"/>
          </a:xfrm>
          <a:custGeom>
            <a:avLst/>
            <a:gdLst>
              <a:gd name="connsiteX0" fmla="*/ 0 w 609600"/>
              <a:gd name="connsiteY0" fmla="*/ 0 h 882650"/>
              <a:gd name="connsiteX1" fmla="*/ 374650 w 609600"/>
              <a:gd name="connsiteY1" fmla="*/ 273050 h 882650"/>
              <a:gd name="connsiteX2" fmla="*/ 609600 w 609600"/>
              <a:gd name="connsiteY2" fmla="*/ 882650 h 882650"/>
            </a:gdLst>
            <a:ahLst/>
            <a:cxnLst>
              <a:cxn ang="0">
                <a:pos x="connsiteX0" y="connsiteY0"/>
              </a:cxn>
              <a:cxn ang="0">
                <a:pos x="connsiteX1" y="connsiteY1"/>
              </a:cxn>
              <a:cxn ang="0">
                <a:pos x="connsiteX2" y="connsiteY2"/>
              </a:cxn>
            </a:cxnLst>
            <a:rect l="l" t="t" r="r" b="b"/>
            <a:pathLst>
              <a:path w="609600" h="882650">
                <a:moveTo>
                  <a:pt x="0" y="0"/>
                </a:moveTo>
                <a:cubicBezTo>
                  <a:pt x="136525" y="62971"/>
                  <a:pt x="273050" y="125942"/>
                  <a:pt x="374650" y="273050"/>
                </a:cubicBezTo>
                <a:cubicBezTo>
                  <a:pt x="476250" y="420158"/>
                  <a:pt x="542925" y="651404"/>
                  <a:pt x="609600" y="882650"/>
                </a:cubicBezTo>
              </a:path>
            </a:pathLst>
          </a:custGeom>
          <a:noFill/>
          <a:ln w="3175">
            <a:solidFill>
              <a:schemeClr val="tx1"/>
            </a:solidFill>
            <a:prstDash val="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7" name="Elipse 6">
            <a:extLst>
              <a:ext uri="{FF2B5EF4-FFF2-40B4-BE49-F238E27FC236}">
                <a16:creationId xmlns:a16="http://schemas.microsoft.com/office/drawing/2014/main" id="{F10A95C3-BB34-F522-3D99-683166B96EBB}"/>
              </a:ext>
            </a:extLst>
          </p:cNvPr>
          <p:cNvSpPr/>
          <p:nvPr/>
        </p:nvSpPr>
        <p:spPr>
          <a:xfrm>
            <a:off x="3189264" y="4607975"/>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8" name="Forma Livre: Forma 7">
            <a:extLst>
              <a:ext uri="{FF2B5EF4-FFF2-40B4-BE49-F238E27FC236}">
                <a16:creationId xmlns:a16="http://schemas.microsoft.com/office/drawing/2014/main" id="{FC1A3823-B1C8-B7C6-F602-49A745E6FA6F}"/>
              </a:ext>
            </a:extLst>
          </p:cNvPr>
          <p:cNvSpPr/>
          <p:nvPr/>
        </p:nvSpPr>
        <p:spPr>
          <a:xfrm rot="18167588">
            <a:off x="2851310" y="4542541"/>
            <a:ext cx="302953" cy="273031"/>
          </a:xfrm>
          <a:custGeom>
            <a:avLst/>
            <a:gdLst>
              <a:gd name="connsiteX0" fmla="*/ 0 w 609600"/>
              <a:gd name="connsiteY0" fmla="*/ 0 h 882650"/>
              <a:gd name="connsiteX1" fmla="*/ 374650 w 609600"/>
              <a:gd name="connsiteY1" fmla="*/ 273050 h 882650"/>
              <a:gd name="connsiteX2" fmla="*/ 609600 w 609600"/>
              <a:gd name="connsiteY2" fmla="*/ 882650 h 882650"/>
            </a:gdLst>
            <a:ahLst/>
            <a:cxnLst>
              <a:cxn ang="0">
                <a:pos x="connsiteX0" y="connsiteY0"/>
              </a:cxn>
              <a:cxn ang="0">
                <a:pos x="connsiteX1" y="connsiteY1"/>
              </a:cxn>
              <a:cxn ang="0">
                <a:pos x="connsiteX2" y="connsiteY2"/>
              </a:cxn>
            </a:cxnLst>
            <a:rect l="l" t="t" r="r" b="b"/>
            <a:pathLst>
              <a:path w="609600" h="882650">
                <a:moveTo>
                  <a:pt x="0" y="0"/>
                </a:moveTo>
                <a:cubicBezTo>
                  <a:pt x="136525" y="62971"/>
                  <a:pt x="273050" y="125942"/>
                  <a:pt x="374650" y="273050"/>
                </a:cubicBezTo>
                <a:cubicBezTo>
                  <a:pt x="476250" y="420158"/>
                  <a:pt x="542925" y="651404"/>
                  <a:pt x="609600" y="882650"/>
                </a:cubicBezTo>
              </a:path>
            </a:pathLst>
          </a:custGeom>
          <a:noFill/>
          <a:ln w="3175">
            <a:solidFill>
              <a:schemeClr val="tx1"/>
            </a:solidFill>
            <a:prstDash val="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 name="Elipse 8">
            <a:extLst>
              <a:ext uri="{FF2B5EF4-FFF2-40B4-BE49-F238E27FC236}">
                <a16:creationId xmlns:a16="http://schemas.microsoft.com/office/drawing/2014/main" id="{66F5E9C4-6E6A-D729-D1C1-7AE8FCF29BCD}"/>
              </a:ext>
            </a:extLst>
          </p:cNvPr>
          <p:cNvSpPr/>
          <p:nvPr/>
        </p:nvSpPr>
        <p:spPr>
          <a:xfrm>
            <a:off x="2556441" y="4636742"/>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Forma Livre: Forma 9">
            <a:extLst>
              <a:ext uri="{FF2B5EF4-FFF2-40B4-BE49-F238E27FC236}">
                <a16:creationId xmlns:a16="http://schemas.microsoft.com/office/drawing/2014/main" id="{2FCC8D0F-7BC9-5790-E377-6357912CB7EE}"/>
              </a:ext>
            </a:extLst>
          </p:cNvPr>
          <p:cNvSpPr/>
          <p:nvPr/>
        </p:nvSpPr>
        <p:spPr>
          <a:xfrm rot="3432412" flipH="1">
            <a:off x="2742814" y="4370323"/>
            <a:ext cx="337490" cy="529669"/>
          </a:xfrm>
          <a:custGeom>
            <a:avLst/>
            <a:gdLst>
              <a:gd name="connsiteX0" fmla="*/ 0 w 609600"/>
              <a:gd name="connsiteY0" fmla="*/ 0 h 882650"/>
              <a:gd name="connsiteX1" fmla="*/ 374650 w 609600"/>
              <a:gd name="connsiteY1" fmla="*/ 273050 h 882650"/>
              <a:gd name="connsiteX2" fmla="*/ 609600 w 609600"/>
              <a:gd name="connsiteY2" fmla="*/ 882650 h 882650"/>
            </a:gdLst>
            <a:ahLst/>
            <a:cxnLst>
              <a:cxn ang="0">
                <a:pos x="connsiteX0" y="connsiteY0"/>
              </a:cxn>
              <a:cxn ang="0">
                <a:pos x="connsiteX1" y="connsiteY1"/>
              </a:cxn>
              <a:cxn ang="0">
                <a:pos x="connsiteX2" y="connsiteY2"/>
              </a:cxn>
            </a:cxnLst>
            <a:rect l="l" t="t" r="r" b="b"/>
            <a:pathLst>
              <a:path w="609600" h="882650">
                <a:moveTo>
                  <a:pt x="0" y="0"/>
                </a:moveTo>
                <a:cubicBezTo>
                  <a:pt x="136525" y="62971"/>
                  <a:pt x="273050" y="125942"/>
                  <a:pt x="374650" y="273050"/>
                </a:cubicBezTo>
                <a:cubicBezTo>
                  <a:pt x="476250" y="420158"/>
                  <a:pt x="542925" y="651404"/>
                  <a:pt x="609600" y="882650"/>
                </a:cubicBezTo>
              </a:path>
            </a:pathLst>
          </a:custGeom>
          <a:noFill/>
          <a:ln w="3175">
            <a:solidFill>
              <a:schemeClr val="tx1"/>
            </a:solidFill>
            <a:prstDash val="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3882153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CC3C31-4EA2-B4A2-431F-BF22FBB8A7BA}"/>
              </a:ext>
            </a:extLst>
          </p:cNvPr>
          <p:cNvSpPr>
            <a:spLocks noGrp="1"/>
          </p:cNvSpPr>
          <p:nvPr>
            <p:ph type="title"/>
          </p:nvPr>
        </p:nvSpPr>
        <p:spPr/>
        <p:txBody>
          <a:bodyPr/>
          <a:lstStyle/>
          <a:p>
            <a:r>
              <a:rPr lang="pt-BR" dirty="0"/>
              <a:t>Tamanho do passo de aprendizagem</a:t>
            </a:r>
          </a:p>
        </p:txBody>
      </p:sp>
      <p:sp>
        <p:nvSpPr>
          <p:cNvPr id="3" name="Espaço Reservado para Conteúdo 2">
            <a:extLst>
              <a:ext uri="{FF2B5EF4-FFF2-40B4-BE49-F238E27FC236}">
                <a16:creationId xmlns:a16="http://schemas.microsoft.com/office/drawing/2014/main" id="{F09EA0C7-E094-F158-6A1A-B80733321450}"/>
              </a:ext>
            </a:extLst>
          </p:cNvPr>
          <p:cNvSpPr>
            <a:spLocks noGrp="1"/>
          </p:cNvSpPr>
          <p:nvPr>
            <p:ph idx="1"/>
          </p:nvPr>
        </p:nvSpPr>
        <p:spPr>
          <a:xfrm>
            <a:off x="5714129" y="1825624"/>
            <a:ext cx="6342753" cy="5032376"/>
          </a:xfrm>
        </p:spPr>
        <p:txBody>
          <a:bodyPr>
            <a:normAutofit/>
          </a:bodyPr>
          <a:lstStyle/>
          <a:p>
            <a:r>
              <a:rPr lang="pt-BR" dirty="0"/>
              <a:t>Dependendo do quão grande for o valor do passo de aprendizagem, pode ocorrer até a </a:t>
            </a:r>
            <a:r>
              <a:rPr lang="pt-BR" b="1" dirty="0">
                <a:solidFill>
                  <a:srgbClr val="00B050"/>
                </a:solidFill>
              </a:rPr>
              <a:t>divergência</a:t>
            </a:r>
            <a:r>
              <a:rPr lang="pt-BR" dirty="0"/>
              <a:t> ao invés da convergência.</a:t>
            </a:r>
          </a:p>
          <a:p>
            <a:r>
              <a:rPr lang="pt-BR" dirty="0"/>
              <a:t>Ou seja, ao invés de se aproximar do ponto de mínimo, o algoritmo </a:t>
            </a:r>
            <a:r>
              <a:rPr lang="pt-BR" b="1" dirty="0">
                <a:solidFill>
                  <a:srgbClr val="00B050"/>
                </a:solidFill>
              </a:rPr>
              <a:t>se distancia</a:t>
            </a:r>
            <a:r>
              <a:rPr lang="pt-BR" dirty="0"/>
              <a:t> dele a cada iteração.</a:t>
            </a:r>
          </a:p>
          <a:p>
            <a:r>
              <a:rPr lang="pt-BR" dirty="0"/>
              <a:t>Se isso ocorrer, após algumas iterações, ocorre o </a:t>
            </a:r>
            <a:r>
              <a:rPr lang="pt-BR" b="1" dirty="0">
                <a:solidFill>
                  <a:schemeClr val="accent2"/>
                </a:solidFill>
              </a:rPr>
              <a:t>estouro da precisão numérica </a:t>
            </a:r>
            <a:r>
              <a:rPr lang="pt-BR" dirty="0"/>
              <a:t>das variáveis envolvidas no algoritmo de atualização dos pesos.</a:t>
            </a:r>
          </a:p>
        </p:txBody>
      </p:sp>
      <p:sp>
        <p:nvSpPr>
          <p:cNvPr id="18" name="Forma Livre: Forma 17">
            <a:extLst>
              <a:ext uri="{FF2B5EF4-FFF2-40B4-BE49-F238E27FC236}">
                <a16:creationId xmlns:a16="http://schemas.microsoft.com/office/drawing/2014/main" id="{6C28BCEA-AC0E-ACCA-1D14-5089AF236AFF}"/>
              </a:ext>
            </a:extLst>
          </p:cNvPr>
          <p:cNvSpPr/>
          <p:nvPr/>
        </p:nvSpPr>
        <p:spPr>
          <a:xfrm>
            <a:off x="1190625" y="2990850"/>
            <a:ext cx="3429000" cy="1752634"/>
          </a:xfrm>
          <a:custGeom>
            <a:avLst/>
            <a:gdLst>
              <a:gd name="connsiteX0" fmla="*/ 0 w 3429000"/>
              <a:gd name="connsiteY0" fmla="*/ 38100 h 1752634"/>
              <a:gd name="connsiteX1" fmla="*/ 1714500 w 3429000"/>
              <a:gd name="connsiteY1" fmla="*/ 1752600 h 1752634"/>
              <a:gd name="connsiteX2" fmla="*/ 3429000 w 3429000"/>
              <a:gd name="connsiteY2" fmla="*/ 0 h 1752634"/>
            </a:gdLst>
            <a:ahLst/>
            <a:cxnLst>
              <a:cxn ang="0">
                <a:pos x="connsiteX0" y="connsiteY0"/>
              </a:cxn>
              <a:cxn ang="0">
                <a:pos x="connsiteX1" y="connsiteY1"/>
              </a:cxn>
              <a:cxn ang="0">
                <a:pos x="connsiteX2" y="connsiteY2"/>
              </a:cxn>
            </a:cxnLst>
            <a:rect l="l" t="t" r="r" b="b"/>
            <a:pathLst>
              <a:path w="3429000" h="1752634">
                <a:moveTo>
                  <a:pt x="0" y="38100"/>
                </a:moveTo>
                <a:cubicBezTo>
                  <a:pt x="571500" y="898525"/>
                  <a:pt x="1143000" y="1758950"/>
                  <a:pt x="1714500" y="1752600"/>
                </a:cubicBezTo>
                <a:cubicBezTo>
                  <a:pt x="2286000" y="1746250"/>
                  <a:pt x="3119438" y="314325"/>
                  <a:pt x="3429000"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9" name="Conector de Seta Reta 18">
            <a:extLst>
              <a:ext uri="{FF2B5EF4-FFF2-40B4-BE49-F238E27FC236}">
                <a16:creationId xmlns:a16="http://schemas.microsoft.com/office/drawing/2014/main" id="{0EB327B9-9368-9517-1592-A958BAFB326E}"/>
              </a:ext>
            </a:extLst>
          </p:cNvPr>
          <p:cNvCxnSpPr>
            <a:cxnSpLocks/>
          </p:cNvCxnSpPr>
          <p:nvPr/>
        </p:nvCxnSpPr>
        <p:spPr>
          <a:xfrm>
            <a:off x="974017" y="4916172"/>
            <a:ext cx="386096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ector de Seta Reta 19">
            <a:extLst>
              <a:ext uri="{FF2B5EF4-FFF2-40B4-BE49-F238E27FC236}">
                <a16:creationId xmlns:a16="http://schemas.microsoft.com/office/drawing/2014/main" id="{FB2A4E76-B9EA-7978-E3C8-354FACD511F5}"/>
              </a:ext>
            </a:extLst>
          </p:cNvPr>
          <p:cNvCxnSpPr>
            <a:cxnSpLocks/>
          </p:cNvCxnSpPr>
          <p:nvPr/>
        </p:nvCxnSpPr>
        <p:spPr>
          <a:xfrm flipV="1">
            <a:off x="974018" y="2442308"/>
            <a:ext cx="0" cy="247386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CaixaDeTexto 25">
                <a:extLst>
                  <a:ext uri="{FF2B5EF4-FFF2-40B4-BE49-F238E27FC236}">
                    <a16:creationId xmlns:a16="http://schemas.microsoft.com/office/drawing/2014/main" id="{708B64BB-3945-1538-F968-FE34B3BF7F7E}"/>
                  </a:ext>
                </a:extLst>
              </p:cNvPr>
              <p:cNvSpPr txBox="1"/>
              <p:nvPr/>
            </p:nvSpPr>
            <p:spPr>
              <a:xfrm>
                <a:off x="960281" y="2256394"/>
                <a:ext cx="2747030" cy="369332"/>
              </a:xfrm>
              <a:prstGeom prst="rect">
                <a:avLst/>
              </a:prstGeom>
              <a:noFill/>
            </p:spPr>
            <p:txBody>
              <a:bodyPr wrap="square" rtlCol="0">
                <a:spAutoFit/>
              </a:bodyPr>
              <a:lstStyle/>
              <a:p>
                <a:r>
                  <a:rPr lang="pt-BR" dirty="0"/>
                  <a:t>Função de erro, </a:t>
                </a:r>
                <a14:m>
                  <m:oMath xmlns:m="http://schemas.openxmlformats.org/officeDocument/2006/math">
                    <m:sSub>
                      <m:sSubPr>
                        <m:ctrlPr>
                          <a:rPr lang="pt-BR" b="0" i="1" smtClean="0">
                            <a:latin typeface="Cambria Math" panose="02040503050406030204" pitchFamily="18" charset="0"/>
                          </a:rPr>
                        </m:ctrlPr>
                      </m:sSubPr>
                      <m:e>
                        <m:r>
                          <a:rPr lang="pt-BR" b="0" i="1" smtClean="0">
                            <a:latin typeface="Cambria Math" panose="02040503050406030204" pitchFamily="18" charset="0"/>
                          </a:rPr>
                          <m:t>𝐽</m:t>
                        </m:r>
                      </m:e>
                      <m:sub>
                        <m:r>
                          <a:rPr lang="pt-BR" b="0" i="1" smtClean="0">
                            <a:latin typeface="Cambria Math" panose="02040503050406030204" pitchFamily="18" charset="0"/>
                          </a:rPr>
                          <m:t>𝑒</m:t>
                        </m:r>
                      </m:sub>
                    </m:sSub>
                    <m:r>
                      <a:rPr lang="pt-BR" b="0" i="1" smtClean="0">
                        <a:latin typeface="Cambria Math" panose="02040503050406030204" pitchFamily="18" charset="0"/>
                      </a:rPr>
                      <m:t>(</m:t>
                    </m:r>
                    <m:r>
                      <a:rPr lang="pt-BR" b="0" i="1" smtClean="0">
                        <a:latin typeface="Cambria Math" panose="02040503050406030204" pitchFamily="18" charset="0"/>
                      </a:rPr>
                      <m:t>𝑎</m:t>
                    </m:r>
                    <m:r>
                      <a:rPr lang="pt-BR" b="0" i="1" smtClean="0">
                        <a:latin typeface="Cambria Math" panose="02040503050406030204" pitchFamily="18" charset="0"/>
                      </a:rPr>
                      <m:t>)</m:t>
                    </m:r>
                  </m:oMath>
                </a14:m>
                <a:endParaRPr lang="pt-BR" dirty="0"/>
              </a:p>
            </p:txBody>
          </p:sp>
        </mc:Choice>
        <mc:Fallback xmlns="">
          <p:sp>
            <p:nvSpPr>
              <p:cNvPr id="26" name="CaixaDeTexto 25">
                <a:extLst>
                  <a:ext uri="{FF2B5EF4-FFF2-40B4-BE49-F238E27FC236}">
                    <a16:creationId xmlns:a16="http://schemas.microsoft.com/office/drawing/2014/main" id="{708B64BB-3945-1538-F968-FE34B3BF7F7E}"/>
                  </a:ext>
                </a:extLst>
              </p:cNvPr>
              <p:cNvSpPr txBox="1">
                <a:spLocks noRot="1" noChangeAspect="1" noMove="1" noResize="1" noEditPoints="1" noAdjustHandles="1" noChangeArrowheads="1" noChangeShapeType="1" noTextEdit="1"/>
              </p:cNvSpPr>
              <p:nvPr/>
            </p:nvSpPr>
            <p:spPr>
              <a:xfrm>
                <a:off x="960281" y="2256394"/>
                <a:ext cx="2747030" cy="369332"/>
              </a:xfrm>
              <a:prstGeom prst="rect">
                <a:avLst/>
              </a:prstGeom>
              <a:blipFill>
                <a:blip r:embed="rId3"/>
                <a:stretch>
                  <a:fillRect l="-2000" t="-8197" b="-24590"/>
                </a:stretch>
              </a:blipFill>
            </p:spPr>
            <p:txBody>
              <a:bodyPr/>
              <a:lstStyle/>
              <a:p>
                <a:r>
                  <a:rPr lang="pt-BR">
                    <a:noFill/>
                  </a:rPr>
                  <a:t> </a:t>
                </a:r>
              </a:p>
            </p:txBody>
          </p:sp>
        </mc:Fallback>
      </mc:AlternateContent>
      <p:sp>
        <p:nvSpPr>
          <p:cNvPr id="27" name="CaixaDeTexto 26">
            <a:extLst>
              <a:ext uri="{FF2B5EF4-FFF2-40B4-BE49-F238E27FC236}">
                <a16:creationId xmlns:a16="http://schemas.microsoft.com/office/drawing/2014/main" id="{33C03641-A896-5188-5291-D3C1622B3FD8}"/>
              </a:ext>
            </a:extLst>
          </p:cNvPr>
          <p:cNvSpPr txBox="1"/>
          <p:nvPr/>
        </p:nvSpPr>
        <p:spPr>
          <a:xfrm>
            <a:off x="4300295" y="4923779"/>
            <a:ext cx="636334" cy="369332"/>
          </a:xfrm>
          <a:prstGeom prst="rect">
            <a:avLst/>
          </a:prstGeom>
          <a:noFill/>
        </p:spPr>
        <p:txBody>
          <a:bodyPr wrap="square" rtlCol="0">
            <a:spAutoFit/>
          </a:bodyPr>
          <a:lstStyle/>
          <a:p>
            <a:pPr algn="r"/>
            <a:r>
              <a:rPr lang="pt-BR" dirty="0"/>
              <a:t>Peso</a:t>
            </a:r>
          </a:p>
        </p:txBody>
      </p:sp>
      <p:cxnSp>
        <p:nvCxnSpPr>
          <p:cNvPr id="28" name="Conector reto 27">
            <a:extLst>
              <a:ext uri="{FF2B5EF4-FFF2-40B4-BE49-F238E27FC236}">
                <a16:creationId xmlns:a16="http://schemas.microsoft.com/office/drawing/2014/main" id="{71BE268E-A73C-EBD6-430F-5DC7906AD0C9}"/>
              </a:ext>
            </a:extLst>
          </p:cNvPr>
          <p:cNvCxnSpPr/>
          <p:nvPr/>
        </p:nvCxnSpPr>
        <p:spPr>
          <a:xfrm>
            <a:off x="976885" y="4744536"/>
            <a:ext cx="1930484" cy="0"/>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30" name="Conector reto 29">
            <a:extLst>
              <a:ext uri="{FF2B5EF4-FFF2-40B4-BE49-F238E27FC236}">
                <a16:creationId xmlns:a16="http://schemas.microsoft.com/office/drawing/2014/main" id="{75094F36-EDC3-CA21-125A-0EE943C62CCB}"/>
              </a:ext>
            </a:extLst>
          </p:cNvPr>
          <p:cNvCxnSpPr>
            <a:cxnSpLocks/>
          </p:cNvCxnSpPr>
          <p:nvPr/>
        </p:nvCxnSpPr>
        <p:spPr>
          <a:xfrm>
            <a:off x="2902477" y="4736969"/>
            <a:ext cx="0" cy="171598"/>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31" name="Elipse 30">
            <a:extLst>
              <a:ext uri="{FF2B5EF4-FFF2-40B4-BE49-F238E27FC236}">
                <a16:creationId xmlns:a16="http://schemas.microsoft.com/office/drawing/2014/main" id="{4F74B96C-E784-361B-FC9A-C4EF081FD895}"/>
              </a:ext>
            </a:extLst>
          </p:cNvPr>
          <p:cNvSpPr/>
          <p:nvPr/>
        </p:nvSpPr>
        <p:spPr>
          <a:xfrm>
            <a:off x="2879776" y="4721835"/>
            <a:ext cx="42900" cy="429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2" name="Elipse 31">
            <a:extLst>
              <a:ext uri="{FF2B5EF4-FFF2-40B4-BE49-F238E27FC236}">
                <a16:creationId xmlns:a16="http://schemas.microsoft.com/office/drawing/2014/main" id="{671C9CA5-E5AD-29D4-50CD-004105724E54}"/>
              </a:ext>
            </a:extLst>
          </p:cNvPr>
          <p:cNvSpPr/>
          <p:nvPr/>
        </p:nvSpPr>
        <p:spPr>
          <a:xfrm>
            <a:off x="1916798" y="4055384"/>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33" name="Conector reto 32">
            <a:extLst>
              <a:ext uri="{FF2B5EF4-FFF2-40B4-BE49-F238E27FC236}">
                <a16:creationId xmlns:a16="http://schemas.microsoft.com/office/drawing/2014/main" id="{55BCAC41-0745-6FC8-1A6E-02719DA867BC}"/>
              </a:ext>
            </a:extLst>
          </p:cNvPr>
          <p:cNvCxnSpPr/>
          <p:nvPr/>
        </p:nvCxnSpPr>
        <p:spPr>
          <a:xfrm>
            <a:off x="976073" y="4076834"/>
            <a:ext cx="972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4" name="Conector reto 33">
            <a:extLst>
              <a:ext uri="{FF2B5EF4-FFF2-40B4-BE49-F238E27FC236}">
                <a16:creationId xmlns:a16="http://schemas.microsoft.com/office/drawing/2014/main" id="{58165A6F-4823-C968-4CC3-010FF73A64B6}"/>
              </a:ext>
            </a:extLst>
          </p:cNvPr>
          <p:cNvCxnSpPr>
            <a:cxnSpLocks/>
          </p:cNvCxnSpPr>
          <p:nvPr/>
        </p:nvCxnSpPr>
        <p:spPr>
          <a:xfrm>
            <a:off x="1937945" y="4076834"/>
            <a:ext cx="0" cy="828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5" name="CaixaDeTexto 34">
            <a:extLst>
              <a:ext uri="{FF2B5EF4-FFF2-40B4-BE49-F238E27FC236}">
                <a16:creationId xmlns:a16="http://schemas.microsoft.com/office/drawing/2014/main" id="{392D10D5-4FB0-851A-EF0A-524C94C0CD21}"/>
              </a:ext>
            </a:extLst>
          </p:cNvPr>
          <p:cNvSpPr txBox="1"/>
          <p:nvPr/>
        </p:nvSpPr>
        <p:spPr>
          <a:xfrm>
            <a:off x="1900274" y="3980864"/>
            <a:ext cx="1071476" cy="276999"/>
          </a:xfrm>
          <a:prstGeom prst="rect">
            <a:avLst/>
          </a:prstGeom>
          <a:noFill/>
        </p:spPr>
        <p:txBody>
          <a:bodyPr wrap="square" rtlCol="0">
            <a:spAutoFit/>
          </a:bodyPr>
          <a:lstStyle/>
          <a:p>
            <a:pPr algn="ctr"/>
            <a:r>
              <a:rPr lang="pt-BR" sz="1200" dirty="0"/>
              <a:t>Ponto inicial</a:t>
            </a:r>
          </a:p>
        </p:txBody>
      </p:sp>
      <mc:AlternateContent xmlns:mc="http://schemas.openxmlformats.org/markup-compatibility/2006" xmlns:a14="http://schemas.microsoft.com/office/drawing/2010/main">
        <mc:Choice Requires="a14">
          <p:sp>
            <p:nvSpPr>
              <p:cNvPr id="36" name="CaixaDeTexto 35">
                <a:extLst>
                  <a:ext uri="{FF2B5EF4-FFF2-40B4-BE49-F238E27FC236}">
                    <a16:creationId xmlns:a16="http://schemas.microsoft.com/office/drawing/2014/main" id="{FB65B051-0C1A-E311-B392-188679189CE2}"/>
                  </a:ext>
                </a:extLst>
              </p:cNvPr>
              <p:cNvSpPr txBox="1"/>
              <p:nvPr/>
            </p:nvSpPr>
            <p:spPr>
              <a:xfrm>
                <a:off x="1727251" y="4865131"/>
                <a:ext cx="86794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m:rPr>
                              <m:sty m:val="p"/>
                            </m:rPr>
                            <a:rPr lang="pt-BR" sz="1400" b="0" i="0" smtClean="0">
                              <a:latin typeface="Cambria Math" panose="02040503050406030204" pitchFamily="18" charset="0"/>
                            </a:rPr>
                            <m:t>inicial</m:t>
                          </m:r>
                        </m:sub>
                      </m:sSub>
                    </m:oMath>
                  </m:oMathPara>
                </a14:m>
                <a:endParaRPr lang="pt-BR" sz="1400" dirty="0"/>
              </a:p>
            </p:txBody>
          </p:sp>
        </mc:Choice>
        <mc:Fallback xmlns="">
          <p:sp>
            <p:nvSpPr>
              <p:cNvPr id="36" name="CaixaDeTexto 35">
                <a:extLst>
                  <a:ext uri="{FF2B5EF4-FFF2-40B4-BE49-F238E27FC236}">
                    <a16:creationId xmlns:a16="http://schemas.microsoft.com/office/drawing/2014/main" id="{FB65B051-0C1A-E311-B392-188679189CE2}"/>
                  </a:ext>
                </a:extLst>
              </p:cNvPr>
              <p:cNvSpPr txBox="1">
                <a:spLocks noRot="1" noChangeAspect="1" noMove="1" noResize="1" noEditPoints="1" noAdjustHandles="1" noChangeArrowheads="1" noChangeShapeType="1" noTextEdit="1"/>
              </p:cNvSpPr>
              <p:nvPr/>
            </p:nvSpPr>
            <p:spPr>
              <a:xfrm>
                <a:off x="1727251" y="4865131"/>
                <a:ext cx="867941" cy="307777"/>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7" name="CaixaDeTexto 36">
                <a:extLst>
                  <a:ext uri="{FF2B5EF4-FFF2-40B4-BE49-F238E27FC236}">
                    <a16:creationId xmlns:a16="http://schemas.microsoft.com/office/drawing/2014/main" id="{085EEAC7-A39B-8E54-1ABE-192465A83EF9}"/>
                  </a:ext>
                </a:extLst>
              </p:cNvPr>
              <p:cNvSpPr txBox="1"/>
              <p:nvPr/>
            </p:nvSpPr>
            <p:spPr>
              <a:xfrm>
                <a:off x="2671712" y="4867795"/>
                <a:ext cx="86794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0" smtClean="0">
                              <a:latin typeface="Cambria Math" panose="02040503050406030204" pitchFamily="18" charset="0"/>
                            </a:rPr>
                            <m:t>ó</m:t>
                          </m:r>
                          <m:r>
                            <m:rPr>
                              <m:sty m:val="p"/>
                            </m:rPr>
                            <a:rPr lang="pt-BR" sz="1400" b="0" i="0" smtClean="0">
                              <a:latin typeface="Cambria Math" panose="02040503050406030204" pitchFamily="18" charset="0"/>
                            </a:rPr>
                            <m:t>timo</m:t>
                          </m:r>
                        </m:sub>
                      </m:sSub>
                    </m:oMath>
                  </m:oMathPara>
                </a14:m>
                <a:endParaRPr lang="pt-BR" sz="1400" dirty="0"/>
              </a:p>
            </p:txBody>
          </p:sp>
        </mc:Choice>
        <mc:Fallback xmlns="">
          <p:sp>
            <p:nvSpPr>
              <p:cNvPr id="37" name="CaixaDeTexto 36">
                <a:extLst>
                  <a:ext uri="{FF2B5EF4-FFF2-40B4-BE49-F238E27FC236}">
                    <a16:creationId xmlns:a16="http://schemas.microsoft.com/office/drawing/2014/main" id="{085EEAC7-A39B-8E54-1ABE-192465A83EF9}"/>
                  </a:ext>
                </a:extLst>
              </p:cNvPr>
              <p:cNvSpPr txBox="1">
                <a:spLocks noRot="1" noChangeAspect="1" noMove="1" noResize="1" noEditPoints="1" noAdjustHandles="1" noChangeArrowheads="1" noChangeShapeType="1" noTextEdit="1"/>
              </p:cNvSpPr>
              <p:nvPr/>
            </p:nvSpPr>
            <p:spPr>
              <a:xfrm>
                <a:off x="2671712" y="4867795"/>
                <a:ext cx="867941" cy="307777"/>
              </a:xfrm>
              <a:prstGeom prst="rect">
                <a:avLst/>
              </a:prstGeom>
              <a:blipFill>
                <a:blip r:embed="rId5"/>
                <a:stretch>
                  <a:fillRect/>
                </a:stretch>
              </a:blipFill>
            </p:spPr>
            <p:txBody>
              <a:bodyPr/>
              <a:lstStyle/>
              <a:p>
                <a:r>
                  <a:rPr lang="pt-BR">
                    <a:noFill/>
                  </a:rPr>
                  <a:t> </a:t>
                </a:r>
              </a:p>
            </p:txBody>
          </p:sp>
        </mc:Fallback>
      </mc:AlternateContent>
      <p:sp>
        <p:nvSpPr>
          <p:cNvPr id="12" name="Elipse 11">
            <a:extLst>
              <a:ext uri="{FF2B5EF4-FFF2-40B4-BE49-F238E27FC236}">
                <a16:creationId xmlns:a16="http://schemas.microsoft.com/office/drawing/2014/main" id="{5B563BA0-E378-3A17-97FE-B854F1F16851}"/>
              </a:ext>
            </a:extLst>
          </p:cNvPr>
          <p:cNvSpPr/>
          <p:nvPr/>
        </p:nvSpPr>
        <p:spPr>
          <a:xfrm>
            <a:off x="1627867" y="3679240"/>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 name="Elipse 12">
            <a:extLst>
              <a:ext uri="{FF2B5EF4-FFF2-40B4-BE49-F238E27FC236}">
                <a16:creationId xmlns:a16="http://schemas.microsoft.com/office/drawing/2014/main" id="{E968D954-3A1A-EEFB-4E47-00D7C7965803}"/>
              </a:ext>
            </a:extLst>
          </p:cNvPr>
          <p:cNvSpPr/>
          <p:nvPr/>
        </p:nvSpPr>
        <p:spPr>
          <a:xfrm>
            <a:off x="3860692" y="3937964"/>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Elipse 13">
            <a:extLst>
              <a:ext uri="{FF2B5EF4-FFF2-40B4-BE49-F238E27FC236}">
                <a16:creationId xmlns:a16="http://schemas.microsoft.com/office/drawing/2014/main" id="{7A59E676-E956-52B1-0902-CBD97A81139E}"/>
              </a:ext>
            </a:extLst>
          </p:cNvPr>
          <p:cNvSpPr/>
          <p:nvPr/>
        </p:nvSpPr>
        <p:spPr>
          <a:xfrm>
            <a:off x="4286854" y="3358565"/>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5" name="Elipse 14">
            <a:extLst>
              <a:ext uri="{FF2B5EF4-FFF2-40B4-BE49-F238E27FC236}">
                <a16:creationId xmlns:a16="http://schemas.microsoft.com/office/drawing/2014/main" id="{1EBB8C24-58B5-9A66-A8FC-5E5CE61DE597}"/>
              </a:ext>
            </a:extLst>
          </p:cNvPr>
          <p:cNvSpPr/>
          <p:nvPr/>
        </p:nvSpPr>
        <p:spPr>
          <a:xfrm>
            <a:off x="1329185" y="3237497"/>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7" name="Elipse 16">
            <a:extLst>
              <a:ext uri="{FF2B5EF4-FFF2-40B4-BE49-F238E27FC236}">
                <a16:creationId xmlns:a16="http://schemas.microsoft.com/office/drawing/2014/main" id="{23390379-6E1F-E439-E024-14CB2C3DA972}"/>
              </a:ext>
            </a:extLst>
          </p:cNvPr>
          <p:cNvSpPr/>
          <p:nvPr/>
        </p:nvSpPr>
        <p:spPr>
          <a:xfrm>
            <a:off x="4556729" y="3018840"/>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1" name="Forma Livre: Forma 20">
            <a:extLst>
              <a:ext uri="{FF2B5EF4-FFF2-40B4-BE49-F238E27FC236}">
                <a16:creationId xmlns:a16="http://schemas.microsoft.com/office/drawing/2014/main" id="{B640F571-9B12-CCD9-8EFD-D2112AA8C4E3}"/>
              </a:ext>
            </a:extLst>
          </p:cNvPr>
          <p:cNvSpPr/>
          <p:nvPr/>
        </p:nvSpPr>
        <p:spPr>
          <a:xfrm>
            <a:off x="1962150" y="3788763"/>
            <a:ext cx="1914525" cy="292700"/>
          </a:xfrm>
          <a:custGeom>
            <a:avLst/>
            <a:gdLst>
              <a:gd name="connsiteX0" fmla="*/ 0 w 1914525"/>
              <a:gd name="connsiteY0" fmla="*/ 292700 h 292700"/>
              <a:gd name="connsiteX1" fmla="*/ 695325 w 1914525"/>
              <a:gd name="connsiteY1" fmla="*/ 2187 h 292700"/>
              <a:gd name="connsiteX2" fmla="*/ 1914525 w 1914525"/>
              <a:gd name="connsiteY2" fmla="*/ 164112 h 292700"/>
            </a:gdLst>
            <a:ahLst/>
            <a:cxnLst>
              <a:cxn ang="0">
                <a:pos x="connsiteX0" y="connsiteY0"/>
              </a:cxn>
              <a:cxn ang="0">
                <a:pos x="connsiteX1" y="connsiteY1"/>
              </a:cxn>
              <a:cxn ang="0">
                <a:pos x="connsiteX2" y="connsiteY2"/>
              </a:cxn>
            </a:cxnLst>
            <a:rect l="l" t="t" r="r" b="b"/>
            <a:pathLst>
              <a:path w="1914525" h="292700">
                <a:moveTo>
                  <a:pt x="0" y="292700"/>
                </a:moveTo>
                <a:cubicBezTo>
                  <a:pt x="188119" y="158159"/>
                  <a:pt x="376238" y="23618"/>
                  <a:pt x="695325" y="2187"/>
                </a:cubicBezTo>
                <a:cubicBezTo>
                  <a:pt x="1014413" y="-19244"/>
                  <a:pt x="1651794" y="122837"/>
                  <a:pt x="1914525" y="164112"/>
                </a:cubicBezTo>
              </a:path>
            </a:pathLst>
          </a:custGeom>
          <a:no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3" name="Forma Livre: Forma 22">
            <a:extLst>
              <a:ext uri="{FF2B5EF4-FFF2-40B4-BE49-F238E27FC236}">
                <a16:creationId xmlns:a16="http://schemas.microsoft.com/office/drawing/2014/main" id="{F0968180-C17A-4999-BE8C-1996E774567C}"/>
              </a:ext>
            </a:extLst>
          </p:cNvPr>
          <p:cNvSpPr/>
          <p:nvPr/>
        </p:nvSpPr>
        <p:spPr>
          <a:xfrm>
            <a:off x="1647825" y="3492559"/>
            <a:ext cx="2224088" cy="455554"/>
          </a:xfrm>
          <a:custGeom>
            <a:avLst/>
            <a:gdLst>
              <a:gd name="connsiteX0" fmla="*/ 2224088 w 2224088"/>
              <a:gd name="connsiteY0" fmla="*/ 455554 h 455554"/>
              <a:gd name="connsiteX1" fmla="*/ 1181100 w 2224088"/>
              <a:gd name="connsiteY1" fmla="*/ 7879 h 455554"/>
              <a:gd name="connsiteX2" fmla="*/ 0 w 2224088"/>
              <a:gd name="connsiteY2" fmla="*/ 212666 h 455554"/>
            </a:gdLst>
            <a:ahLst/>
            <a:cxnLst>
              <a:cxn ang="0">
                <a:pos x="connsiteX0" y="connsiteY0"/>
              </a:cxn>
              <a:cxn ang="0">
                <a:pos x="connsiteX1" y="connsiteY1"/>
              </a:cxn>
              <a:cxn ang="0">
                <a:pos x="connsiteX2" y="connsiteY2"/>
              </a:cxn>
            </a:cxnLst>
            <a:rect l="l" t="t" r="r" b="b"/>
            <a:pathLst>
              <a:path w="2224088" h="455554">
                <a:moveTo>
                  <a:pt x="2224088" y="455554"/>
                </a:moveTo>
                <a:cubicBezTo>
                  <a:pt x="1887934" y="251957"/>
                  <a:pt x="1551781" y="48360"/>
                  <a:pt x="1181100" y="7879"/>
                </a:cubicBezTo>
                <a:cubicBezTo>
                  <a:pt x="810419" y="-32602"/>
                  <a:pt x="405209" y="90032"/>
                  <a:pt x="0" y="212666"/>
                </a:cubicBezTo>
              </a:path>
            </a:pathLst>
          </a:custGeom>
          <a:no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4" name="Forma Livre: Forma 23">
            <a:extLst>
              <a:ext uri="{FF2B5EF4-FFF2-40B4-BE49-F238E27FC236}">
                <a16:creationId xmlns:a16="http://schemas.microsoft.com/office/drawing/2014/main" id="{B6FF6AE7-D340-CC3C-9D4E-ABD2740882E5}"/>
              </a:ext>
            </a:extLst>
          </p:cNvPr>
          <p:cNvSpPr/>
          <p:nvPr/>
        </p:nvSpPr>
        <p:spPr>
          <a:xfrm>
            <a:off x="1647825" y="3178360"/>
            <a:ext cx="2667000" cy="517340"/>
          </a:xfrm>
          <a:custGeom>
            <a:avLst/>
            <a:gdLst>
              <a:gd name="connsiteX0" fmla="*/ 0 w 2667000"/>
              <a:gd name="connsiteY0" fmla="*/ 517340 h 517340"/>
              <a:gd name="connsiteX1" fmla="*/ 1042988 w 2667000"/>
              <a:gd name="connsiteY1" fmla="*/ 12515 h 517340"/>
              <a:gd name="connsiteX2" fmla="*/ 2667000 w 2667000"/>
              <a:gd name="connsiteY2" fmla="*/ 203015 h 517340"/>
            </a:gdLst>
            <a:ahLst/>
            <a:cxnLst>
              <a:cxn ang="0">
                <a:pos x="connsiteX0" y="connsiteY0"/>
              </a:cxn>
              <a:cxn ang="0">
                <a:pos x="connsiteX1" y="connsiteY1"/>
              </a:cxn>
              <a:cxn ang="0">
                <a:pos x="connsiteX2" y="connsiteY2"/>
              </a:cxn>
            </a:cxnLst>
            <a:rect l="l" t="t" r="r" b="b"/>
            <a:pathLst>
              <a:path w="2667000" h="517340">
                <a:moveTo>
                  <a:pt x="0" y="517340"/>
                </a:moveTo>
                <a:cubicBezTo>
                  <a:pt x="299244" y="291121"/>
                  <a:pt x="598488" y="64903"/>
                  <a:pt x="1042988" y="12515"/>
                </a:cubicBezTo>
                <a:cubicBezTo>
                  <a:pt x="1487488" y="-39873"/>
                  <a:pt x="2077244" y="81571"/>
                  <a:pt x="2667000" y="203015"/>
                </a:cubicBezTo>
              </a:path>
            </a:pathLst>
          </a:custGeom>
          <a:no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5" name="Forma Livre: Forma 24">
            <a:extLst>
              <a:ext uri="{FF2B5EF4-FFF2-40B4-BE49-F238E27FC236}">
                <a16:creationId xmlns:a16="http://schemas.microsoft.com/office/drawing/2014/main" id="{6E85C26E-1CD4-6AFF-0651-5530F449B578}"/>
              </a:ext>
            </a:extLst>
          </p:cNvPr>
          <p:cNvSpPr/>
          <p:nvPr/>
        </p:nvSpPr>
        <p:spPr>
          <a:xfrm>
            <a:off x="1357313" y="2951336"/>
            <a:ext cx="2962275" cy="415752"/>
          </a:xfrm>
          <a:custGeom>
            <a:avLst/>
            <a:gdLst>
              <a:gd name="connsiteX0" fmla="*/ 2962275 w 2962275"/>
              <a:gd name="connsiteY0" fmla="*/ 415752 h 415752"/>
              <a:gd name="connsiteX1" fmla="*/ 1333500 w 2962275"/>
              <a:gd name="connsiteY1" fmla="*/ 1414 h 415752"/>
              <a:gd name="connsiteX2" fmla="*/ 0 w 2962275"/>
              <a:gd name="connsiteY2" fmla="*/ 306214 h 415752"/>
            </a:gdLst>
            <a:ahLst/>
            <a:cxnLst>
              <a:cxn ang="0">
                <a:pos x="connsiteX0" y="connsiteY0"/>
              </a:cxn>
              <a:cxn ang="0">
                <a:pos x="connsiteX1" y="connsiteY1"/>
              </a:cxn>
              <a:cxn ang="0">
                <a:pos x="connsiteX2" y="connsiteY2"/>
              </a:cxn>
            </a:cxnLst>
            <a:rect l="l" t="t" r="r" b="b"/>
            <a:pathLst>
              <a:path w="2962275" h="415752">
                <a:moveTo>
                  <a:pt x="2962275" y="415752"/>
                </a:moveTo>
                <a:cubicBezTo>
                  <a:pt x="2394743" y="217711"/>
                  <a:pt x="1827212" y="19670"/>
                  <a:pt x="1333500" y="1414"/>
                </a:cubicBezTo>
                <a:cubicBezTo>
                  <a:pt x="839787" y="-16842"/>
                  <a:pt x="419893" y="144686"/>
                  <a:pt x="0" y="306214"/>
                </a:cubicBezTo>
              </a:path>
            </a:pathLst>
          </a:custGeom>
          <a:no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1" name="Forma Livre: Forma 40">
            <a:extLst>
              <a:ext uri="{FF2B5EF4-FFF2-40B4-BE49-F238E27FC236}">
                <a16:creationId xmlns:a16="http://schemas.microsoft.com/office/drawing/2014/main" id="{E191B056-71F7-5DFD-E5ED-20A36EBF466C}"/>
              </a:ext>
            </a:extLst>
          </p:cNvPr>
          <p:cNvSpPr/>
          <p:nvPr/>
        </p:nvSpPr>
        <p:spPr>
          <a:xfrm>
            <a:off x="1347788" y="2704740"/>
            <a:ext cx="3238500" cy="557573"/>
          </a:xfrm>
          <a:custGeom>
            <a:avLst/>
            <a:gdLst>
              <a:gd name="connsiteX0" fmla="*/ 0 w 3238500"/>
              <a:gd name="connsiteY0" fmla="*/ 557573 h 557573"/>
              <a:gd name="connsiteX1" fmla="*/ 1409700 w 3238500"/>
              <a:gd name="connsiteY1" fmla="*/ 5123 h 557573"/>
              <a:gd name="connsiteX2" fmla="*/ 3238500 w 3238500"/>
              <a:gd name="connsiteY2" fmla="*/ 328973 h 557573"/>
            </a:gdLst>
            <a:ahLst/>
            <a:cxnLst>
              <a:cxn ang="0">
                <a:pos x="connsiteX0" y="connsiteY0"/>
              </a:cxn>
              <a:cxn ang="0">
                <a:pos x="connsiteX1" y="connsiteY1"/>
              </a:cxn>
              <a:cxn ang="0">
                <a:pos x="connsiteX2" y="connsiteY2"/>
              </a:cxn>
            </a:cxnLst>
            <a:rect l="l" t="t" r="r" b="b"/>
            <a:pathLst>
              <a:path w="3238500" h="557573">
                <a:moveTo>
                  <a:pt x="0" y="557573"/>
                </a:moveTo>
                <a:cubicBezTo>
                  <a:pt x="434975" y="300398"/>
                  <a:pt x="869950" y="43223"/>
                  <a:pt x="1409700" y="5123"/>
                </a:cubicBezTo>
                <a:cubicBezTo>
                  <a:pt x="1949450" y="-32977"/>
                  <a:pt x="2593975" y="147998"/>
                  <a:pt x="3238500" y="328973"/>
                </a:cubicBezTo>
              </a:path>
            </a:pathLst>
          </a:custGeom>
          <a:no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8167295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CC3C31-4EA2-B4A2-431F-BF22FBB8A7BA}"/>
              </a:ext>
            </a:extLst>
          </p:cNvPr>
          <p:cNvSpPr>
            <a:spLocks noGrp="1"/>
          </p:cNvSpPr>
          <p:nvPr>
            <p:ph type="title"/>
          </p:nvPr>
        </p:nvSpPr>
        <p:spPr/>
        <p:txBody>
          <a:bodyPr/>
          <a:lstStyle/>
          <a:p>
            <a:r>
              <a:rPr lang="pt-BR" dirty="0"/>
              <a:t>Tamanho do passo de aprendizagem</a:t>
            </a:r>
          </a:p>
        </p:txBody>
      </p:sp>
      <p:sp>
        <p:nvSpPr>
          <p:cNvPr id="3" name="Espaço Reservado para Conteúdo 2">
            <a:extLst>
              <a:ext uri="{FF2B5EF4-FFF2-40B4-BE49-F238E27FC236}">
                <a16:creationId xmlns:a16="http://schemas.microsoft.com/office/drawing/2014/main" id="{F09EA0C7-E094-F158-6A1A-B80733321450}"/>
              </a:ext>
            </a:extLst>
          </p:cNvPr>
          <p:cNvSpPr>
            <a:spLocks noGrp="1"/>
          </p:cNvSpPr>
          <p:nvPr>
            <p:ph idx="1"/>
          </p:nvPr>
        </p:nvSpPr>
        <p:spPr>
          <a:xfrm>
            <a:off x="5635927" y="1825624"/>
            <a:ext cx="6364289" cy="5032376"/>
          </a:xfrm>
        </p:spPr>
        <p:txBody>
          <a:bodyPr>
            <a:normAutofit lnSpcReduction="10000"/>
          </a:bodyPr>
          <a:lstStyle/>
          <a:p>
            <a:r>
              <a:rPr lang="pt-BR" dirty="0"/>
              <a:t>Outra questão, </a:t>
            </a:r>
            <a:r>
              <a:rPr lang="pt-BR" b="1" dirty="0">
                <a:solidFill>
                  <a:srgbClr val="00B050"/>
                </a:solidFill>
              </a:rPr>
              <a:t>menos problemática</a:t>
            </a:r>
            <a:r>
              <a:rPr lang="pt-BR" dirty="0"/>
              <a:t> que passos grandes, é a situação oposta.</a:t>
            </a:r>
          </a:p>
          <a:p>
            <a:r>
              <a:rPr lang="pt-BR" dirty="0"/>
              <a:t>Passos </a:t>
            </a:r>
            <a:r>
              <a:rPr lang="pt-BR" b="1" dirty="0">
                <a:solidFill>
                  <a:srgbClr val="00B050"/>
                </a:solidFill>
              </a:rPr>
              <a:t>muito pequenos</a:t>
            </a:r>
            <a:r>
              <a:rPr lang="pt-BR" dirty="0"/>
              <a:t> fazem com que se </a:t>
            </a:r>
            <a:r>
              <a:rPr lang="pt-BR" b="1" dirty="0">
                <a:solidFill>
                  <a:srgbClr val="00B050"/>
                </a:solidFill>
              </a:rPr>
              <a:t>leve muito tempo</a:t>
            </a:r>
            <a:r>
              <a:rPr lang="pt-BR" dirty="0"/>
              <a:t>, i.e., muitas iterações, para atingir o ponto de mínimo.</a:t>
            </a:r>
          </a:p>
          <a:p>
            <a:r>
              <a:rPr lang="pt-BR" dirty="0"/>
              <a:t>Se cada iteração levar um tempo razoável para ser executada, o tempo necessário para se atingir o ponto de mínimo pode ser muito grande.</a:t>
            </a:r>
          </a:p>
          <a:p>
            <a:r>
              <a:rPr lang="pt-BR" dirty="0"/>
              <a:t>Porém, </a:t>
            </a:r>
            <a:r>
              <a:rPr lang="pt-BR" b="1" dirty="0">
                <a:solidFill>
                  <a:srgbClr val="00B050"/>
                </a:solidFill>
              </a:rPr>
              <a:t>se esperarmos </a:t>
            </a:r>
            <a:r>
              <a:rPr lang="pt-BR" dirty="0"/>
              <a:t>tempo suficiente, a </a:t>
            </a:r>
            <a:r>
              <a:rPr lang="pt-BR" b="1" dirty="0">
                <a:solidFill>
                  <a:srgbClr val="00B050"/>
                </a:solidFill>
              </a:rPr>
              <a:t>convergência é garantida</a:t>
            </a:r>
            <a:r>
              <a:rPr lang="pt-BR" dirty="0"/>
              <a:t>.</a:t>
            </a:r>
          </a:p>
        </p:txBody>
      </p:sp>
      <p:grpSp>
        <p:nvGrpSpPr>
          <p:cNvPr id="81" name="Agrupar 80">
            <a:extLst>
              <a:ext uri="{FF2B5EF4-FFF2-40B4-BE49-F238E27FC236}">
                <a16:creationId xmlns:a16="http://schemas.microsoft.com/office/drawing/2014/main" id="{4F34C0FD-8BB0-C876-0EDF-2B0F445FCB08}"/>
              </a:ext>
            </a:extLst>
          </p:cNvPr>
          <p:cNvGrpSpPr/>
          <p:nvPr/>
        </p:nvGrpSpPr>
        <p:grpSpPr>
          <a:xfrm>
            <a:off x="973059" y="2353695"/>
            <a:ext cx="3963570" cy="2939416"/>
            <a:chOff x="973059" y="2353695"/>
            <a:chExt cx="3963570" cy="2939416"/>
          </a:xfrm>
        </p:grpSpPr>
        <p:grpSp>
          <p:nvGrpSpPr>
            <p:cNvPr id="16" name="Agrupar 15">
              <a:extLst>
                <a:ext uri="{FF2B5EF4-FFF2-40B4-BE49-F238E27FC236}">
                  <a16:creationId xmlns:a16="http://schemas.microsoft.com/office/drawing/2014/main" id="{BC27F250-00D2-02E2-BA5C-F825D68F865C}"/>
                </a:ext>
              </a:extLst>
            </p:cNvPr>
            <p:cNvGrpSpPr/>
            <p:nvPr/>
          </p:nvGrpSpPr>
          <p:grpSpPr>
            <a:xfrm>
              <a:off x="973059" y="2353695"/>
              <a:ext cx="3963570" cy="2939416"/>
              <a:chOff x="973059" y="2353695"/>
              <a:chExt cx="3963570" cy="2939416"/>
            </a:xfrm>
          </p:grpSpPr>
          <p:sp>
            <p:nvSpPr>
              <p:cNvPr id="18" name="Forma Livre: Forma 17">
                <a:extLst>
                  <a:ext uri="{FF2B5EF4-FFF2-40B4-BE49-F238E27FC236}">
                    <a16:creationId xmlns:a16="http://schemas.microsoft.com/office/drawing/2014/main" id="{6C28BCEA-AC0E-ACCA-1D14-5089AF236AFF}"/>
                  </a:ext>
                </a:extLst>
              </p:cNvPr>
              <p:cNvSpPr/>
              <p:nvPr/>
            </p:nvSpPr>
            <p:spPr>
              <a:xfrm>
                <a:off x="1190625" y="2990850"/>
                <a:ext cx="3429000" cy="1752634"/>
              </a:xfrm>
              <a:custGeom>
                <a:avLst/>
                <a:gdLst>
                  <a:gd name="connsiteX0" fmla="*/ 0 w 3429000"/>
                  <a:gd name="connsiteY0" fmla="*/ 38100 h 1752634"/>
                  <a:gd name="connsiteX1" fmla="*/ 1714500 w 3429000"/>
                  <a:gd name="connsiteY1" fmla="*/ 1752600 h 1752634"/>
                  <a:gd name="connsiteX2" fmla="*/ 3429000 w 3429000"/>
                  <a:gd name="connsiteY2" fmla="*/ 0 h 1752634"/>
                </a:gdLst>
                <a:ahLst/>
                <a:cxnLst>
                  <a:cxn ang="0">
                    <a:pos x="connsiteX0" y="connsiteY0"/>
                  </a:cxn>
                  <a:cxn ang="0">
                    <a:pos x="connsiteX1" y="connsiteY1"/>
                  </a:cxn>
                  <a:cxn ang="0">
                    <a:pos x="connsiteX2" y="connsiteY2"/>
                  </a:cxn>
                </a:cxnLst>
                <a:rect l="l" t="t" r="r" b="b"/>
                <a:pathLst>
                  <a:path w="3429000" h="1752634">
                    <a:moveTo>
                      <a:pt x="0" y="38100"/>
                    </a:moveTo>
                    <a:cubicBezTo>
                      <a:pt x="571500" y="898525"/>
                      <a:pt x="1143000" y="1758950"/>
                      <a:pt x="1714500" y="1752600"/>
                    </a:cubicBezTo>
                    <a:cubicBezTo>
                      <a:pt x="2286000" y="1746250"/>
                      <a:pt x="3119438" y="314325"/>
                      <a:pt x="3429000"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9" name="Conector de Seta Reta 18">
                <a:extLst>
                  <a:ext uri="{FF2B5EF4-FFF2-40B4-BE49-F238E27FC236}">
                    <a16:creationId xmlns:a16="http://schemas.microsoft.com/office/drawing/2014/main" id="{0EB327B9-9368-9517-1592-A958BAFB326E}"/>
                  </a:ext>
                </a:extLst>
              </p:cNvPr>
              <p:cNvCxnSpPr>
                <a:cxnSpLocks/>
              </p:cNvCxnSpPr>
              <p:nvPr/>
            </p:nvCxnSpPr>
            <p:spPr>
              <a:xfrm>
                <a:off x="974017" y="4916172"/>
                <a:ext cx="386096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ector de Seta Reta 19">
                <a:extLst>
                  <a:ext uri="{FF2B5EF4-FFF2-40B4-BE49-F238E27FC236}">
                    <a16:creationId xmlns:a16="http://schemas.microsoft.com/office/drawing/2014/main" id="{FB2A4E76-B9EA-7978-E3C8-354FACD511F5}"/>
                  </a:ext>
                </a:extLst>
              </p:cNvPr>
              <p:cNvCxnSpPr>
                <a:cxnSpLocks/>
              </p:cNvCxnSpPr>
              <p:nvPr/>
            </p:nvCxnSpPr>
            <p:spPr>
              <a:xfrm flipV="1">
                <a:off x="974018" y="2442308"/>
                <a:ext cx="0" cy="247386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CaixaDeTexto 25">
                    <a:extLst>
                      <a:ext uri="{FF2B5EF4-FFF2-40B4-BE49-F238E27FC236}">
                        <a16:creationId xmlns:a16="http://schemas.microsoft.com/office/drawing/2014/main" id="{708B64BB-3945-1538-F968-FE34B3BF7F7E}"/>
                      </a:ext>
                    </a:extLst>
                  </p:cNvPr>
                  <p:cNvSpPr txBox="1"/>
                  <p:nvPr/>
                </p:nvSpPr>
                <p:spPr>
                  <a:xfrm>
                    <a:off x="974017" y="2353695"/>
                    <a:ext cx="2747030" cy="369332"/>
                  </a:xfrm>
                  <a:prstGeom prst="rect">
                    <a:avLst/>
                  </a:prstGeom>
                  <a:noFill/>
                </p:spPr>
                <p:txBody>
                  <a:bodyPr wrap="square" rtlCol="0">
                    <a:spAutoFit/>
                  </a:bodyPr>
                  <a:lstStyle/>
                  <a:p>
                    <a:r>
                      <a:rPr lang="pt-BR" dirty="0"/>
                      <a:t>Função de erro, </a:t>
                    </a:r>
                    <a14:m>
                      <m:oMath xmlns:m="http://schemas.openxmlformats.org/officeDocument/2006/math">
                        <m:sSub>
                          <m:sSubPr>
                            <m:ctrlPr>
                              <a:rPr lang="pt-BR" b="0" i="1" smtClean="0">
                                <a:latin typeface="Cambria Math" panose="02040503050406030204" pitchFamily="18" charset="0"/>
                              </a:rPr>
                            </m:ctrlPr>
                          </m:sSubPr>
                          <m:e>
                            <m:r>
                              <a:rPr lang="pt-BR" b="0" i="1" smtClean="0">
                                <a:latin typeface="Cambria Math" panose="02040503050406030204" pitchFamily="18" charset="0"/>
                              </a:rPr>
                              <m:t>𝐽</m:t>
                            </m:r>
                          </m:e>
                          <m:sub>
                            <m:r>
                              <a:rPr lang="pt-BR" b="0" i="1" smtClean="0">
                                <a:latin typeface="Cambria Math" panose="02040503050406030204" pitchFamily="18" charset="0"/>
                              </a:rPr>
                              <m:t>𝑒</m:t>
                            </m:r>
                          </m:sub>
                        </m:sSub>
                        <m:r>
                          <a:rPr lang="pt-BR" b="0" i="1" smtClean="0">
                            <a:latin typeface="Cambria Math" panose="02040503050406030204" pitchFamily="18" charset="0"/>
                          </a:rPr>
                          <m:t>(</m:t>
                        </m:r>
                        <m:r>
                          <a:rPr lang="pt-BR" b="0" i="1" smtClean="0">
                            <a:latin typeface="Cambria Math" panose="02040503050406030204" pitchFamily="18" charset="0"/>
                          </a:rPr>
                          <m:t>𝑎</m:t>
                        </m:r>
                        <m:r>
                          <a:rPr lang="pt-BR" b="0" i="1" smtClean="0">
                            <a:latin typeface="Cambria Math" panose="02040503050406030204" pitchFamily="18" charset="0"/>
                          </a:rPr>
                          <m:t>)</m:t>
                        </m:r>
                      </m:oMath>
                    </a14:m>
                    <a:endParaRPr lang="pt-BR" dirty="0"/>
                  </a:p>
                </p:txBody>
              </p:sp>
            </mc:Choice>
            <mc:Fallback xmlns="">
              <p:sp>
                <p:nvSpPr>
                  <p:cNvPr id="26" name="CaixaDeTexto 25">
                    <a:extLst>
                      <a:ext uri="{FF2B5EF4-FFF2-40B4-BE49-F238E27FC236}">
                        <a16:creationId xmlns:a16="http://schemas.microsoft.com/office/drawing/2014/main" id="{708B64BB-3945-1538-F968-FE34B3BF7F7E}"/>
                      </a:ext>
                    </a:extLst>
                  </p:cNvPr>
                  <p:cNvSpPr txBox="1">
                    <a:spLocks noRot="1" noChangeAspect="1" noMove="1" noResize="1" noEditPoints="1" noAdjustHandles="1" noChangeArrowheads="1" noChangeShapeType="1" noTextEdit="1"/>
                  </p:cNvSpPr>
                  <p:nvPr/>
                </p:nvSpPr>
                <p:spPr>
                  <a:xfrm>
                    <a:off x="974017" y="2353695"/>
                    <a:ext cx="2747030" cy="369332"/>
                  </a:xfrm>
                  <a:prstGeom prst="rect">
                    <a:avLst/>
                  </a:prstGeom>
                  <a:blipFill>
                    <a:blip r:embed="rId3"/>
                    <a:stretch>
                      <a:fillRect l="-2000" t="-8197" b="-24590"/>
                    </a:stretch>
                  </a:blipFill>
                </p:spPr>
                <p:txBody>
                  <a:bodyPr/>
                  <a:lstStyle/>
                  <a:p>
                    <a:r>
                      <a:rPr lang="pt-BR">
                        <a:noFill/>
                      </a:rPr>
                      <a:t> </a:t>
                    </a:r>
                  </a:p>
                </p:txBody>
              </p:sp>
            </mc:Fallback>
          </mc:AlternateContent>
          <p:sp>
            <p:nvSpPr>
              <p:cNvPr id="27" name="CaixaDeTexto 26">
                <a:extLst>
                  <a:ext uri="{FF2B5EF4-FFF2-40B4-BE49-F238E27FC236}">
                    <a16:creationId xmlns:a16="http://schemas.microsoft.com/office/drawing/2014/main" id="{33C03641-A896-5188-5291-D3C1622B3FD8}"/>
                  </a:ext>
                </a:extLst>
              </p:cNvPr>
              <p:cNvSpPr txBox="1"/>
              <p:nvPr/>
            </p:nvSpPr>
            <p:spPr>
              <a:xfrm>
                <a:off x="4300295" y="4923779"/>
                <a:ext cx="636334" cy="369332"/>
              </a:xfrm>
              <a:prstGeom prst="rect">
                <a:avLst/>
              </a:prstGeom>
              <a:noFill/>
            </p:spPr>
            <p:txBody>
              <a:bodyPr wrap="square" rtlCol="0">
                <a:spAutoFit/>
              </a:bodyPr>
              <a:lstStyle/>
              <a:p>
                <a:pPr algn="r"/>
                <a:r>
                  <a:rPr lang="pt-BR" dirty="0"/>
                  <a:t>Peso</a:t>
                </a:r>
              </a:p>
            </p:txBody>
          </p:sp>
          <p:cxnSp>
            <p:nvCxnSpPr>
              <p:cNvPr id="28" name="Conector reto 27">
                <a:extLst>
                  <a:ext uri="{FF2B5EF4-FFF2-40B4-BE49-F238E27FC236}">
                    <a16:creationId xmlns:a16="http://schemas.microsoft.com/office/drawing/2014/main" id="{71BE268E-A73C-EBD6-430F-5DC7906AD0C9}"/>
                  </a:ext>
                </a:extLst>
              </p:cNvPr>
              <p:cNvCxnSpPr/>
              <p:nvPr/>
            </p:nvCxnSpPr>
            <p:spPr>
              <a:xfrm>
                <a:off x="976885" y="4744536"/>
                <a:ext cx="1930484" cy="0"/>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30" name="Conector reto 29">
                <a:extLst>
                  <a:ext uri="{FF2B5EF4-FFF2-40B4-BE49-F238E27FC236}">
                    <a16:creationId xmlns:a16="http://schemas.microsoft.com/office/drawing/2014/main" id="{75094F36-EDC3-CA21-125A-0EE943C62CCB}"/>
                  </a:ext>
                </a:extLst>
              </p:cNvPr>
              <p:cNvCxnSpPr>
                <a:cxnSpLocks/>
              </p:cNvCxnSpPr>
              <p:nvPr/>
            </p:nvCxnSpPr>
            <p:spPr>
              <a:xfrm>
                <a:off x="2902477" y="4736969"/>
                <a:ext cx="0" cy="171598"/>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31" name="Elipse 30">
                <a:extLst>
                  <a:ext uri="{FF2B5EF4-FFF2-40B4-BE49-F238E27FC236}">
                    <a16:creationId xmlns:a16="http://schemas.microsoft.com/office/drawing/2014/main" id="{4F74B96C-E784-361B-FC9A-C4EF081FD895}"/>
                  </a:ext>
                </a:extLst>
              </p:cNvPr>
              <p:cNvSpPr/>
              <p:nvPr/>
            </p:nvSpPr>
            <p:spPr>
              <a:xfrm>
                <a:off x="2879776" y="4721835"/>
                <a:ext cx="42900" cy="429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2" name="Elipse 31">
                <a:extLst>
                  <a:ext uri="{FF2B5EF4-FFF2-40B4-BE49-F238E27FC236}">
                    <a16:creationId xmlns:a16="http://schemas.microsoft.com/office/drawing/2014/main" id="{671C9CA5-E5AD-29D4-50CD-004105724E54}"/>
                  </a:ext>
                </a:extLst>
              </p:cNvPr>
              <p:cNvSpPr/>
              <p:nvPr/>
            </p:nvSpPr>
            <p:spPr>
              <a:xfrm>
                <a:off x="1273647" y="3163362"/>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33" name="Conector reto 32">
                <a:extLst>
                  <a:ext uri="{FF2B5EF4-FFF2-40B4-BE49-F238E27FC236}">
                    <a16:creationId xmlns:a16="http://schemas.microsoft.com/office/drawing/2014/main" id="{55BCAC41-0745-6FC8-1A6E-02719DA867BC}"/>
                  </a:ext>
                </a:extLst>
              </p:cNvPr>
              <p:cNvCxnSpPr/>
              <p:nvPr/>
            </p:nvCxnSpPr>
            <p:spPr>
              <a:xfrm>
                <a:off x="973059" y="3184593"/>
                <a:ext cx="324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4" name="Conector reto 33">
                <a:extLst>
                  <a:ext uri="{FF2B5EF4-FFF2-40B4-BE49-F238E27FC236}">
                    <a16:creationId xmlns:a16="http://schemas.microsoft.com/office/drawing/2014/main" id="{58165A6F-4823-C968-4CC3-010FF73A64B6}"/>
                  </a:ext>
                </a:extLst>
              </p:cNvPr>
              <p:cNvCxnSpPr>
                <a:cxnSpLocks/>
              </p:cNvCxnSpPr>
              <p:nvPr/>
            </p:nvCxnSpPr>
            <p:spPr>
              <a:xfrm>
                <a:off x="1295097" y="3163361"/>
                <a:ext cx="0" cy="1764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5" name="CaixaDeTexto 34">
                <a:extLst>
                  <a:ext uri="{FF2B5EF4-FFF2-40B4-BE49-F238E27FC236}">
                    <a16:creationId xmlns:a16="http://schemas.microsoft.com/office/drawing/2014/main" id="{392D10D5-4FB0-851A-EF0A-524C94C0CD21}"/>
                  </a:ext>
                </a:extLst>
              </p:cNvPr>
              <p:cNvSpPr txBox="1"/>
              <p:nvPr/>
            </p:nvSpPr>
            <p:spPr>
              <a:xfrm>
                <a:off x="1102767" y="2716168"/>
                <a:ext cx="1071476" cy="276999"/>
              </a:xfrm>
              <a:prstGeom prst="rect">
                <a:avLst/>
              </a:prstGeom>
              <a:noFill/>
            </p:spPr>
            <p:txBody>
              <a:bodyPr wrap="square" rtlCol="0">
                <a:spAutoFit/>
              </a:bodyPr>
              <a:lstStyle/>
              <a:p>
                <a:pPr algn="ctr"/>
                <a:r>
                  <a:rPr lang="pt-BR" sz="1200" dirty="0"/>
                  <a:t>Ponto inicial</a:t>
                </a:r>
              </a:p>
            </p:txBody>
          </p:sp>
          <mc:AlternateContent xmlns:mc="http://schemas.openxmlformats.org/markup-compatibility/2006" xmlns:a14="http://schemas.microsoft.com/office/drawing/2010/main">
            <mc:Choice Requires="a14">
              <p:sp>
                <p:nvSpPr>
                  <p:cNvPr id="36" name="CaixaDeTexto 35">
                    <a:extLst>
                      <a:ext uri="{FF2B5EF4-FFF2-40B4-BE49-F238E27FC236}">
                        <a16:creationId xmlns:a16="http://schemas.microsoft.com/office/drawing/2014/main" id="{FB65B051-0C1A-E311-B392-188679189CE2}"/>
                      </a:ext>
                    </a:extLst>
                  </p:cNvPr>
                  <p:cNvSpPr txBox="1"/>
                  <p:nvPr/>
                </p:nvSpPr>
                <p:spPr>
                  <a:xfrm>
                    <a:off x="1074774" y="4868216"/>
                    <a:ext cx="86794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m:rPr>
                                  <m:sty m:val="p"/>
                                </m:rPr>
                                <a:rPr lang="pt-BR" sz="1400" b="0" i="0" smtClean="0">
                                  <a:latin typeface="Cambria Math" panose="02040503050406030204" pitchFamily="18" charset="0"/>
                                </a:rPr>
                                <m:t>inicial</m:t>
                              </m:r>
                            </m:sub>
                          </m:sSub>
                        </m:oMath>
                      </m:oMathPara>
                    </a14:m>
                    <a:endParaRPr lang="pt-BR" sz="1400" dirty="0"/>
                  </a:p>
                </p:txBody>
              </p:sp>
            </mc:Choice>
            <mc:Fallback xmlns="">
              <p:sp>
                <p:nvSpPr>
                  <p:cNvPr id="36" name="CaixaDeTexto 35">
                    <a:extLst>
                      <a:ext uri="{FF2B5EF4-FFF2-40B4-BE49-F238E27FC236}">
                        <a16:creationId xmlns:a16="http://schemas.microsoft.com/office/drawing/2014/main" id="{FB65B051-0C1A-E311-B392-188679189CE2}"/>
                      </a:ext>
                    </a:extLst>
                  </p:cNvPr>
                  <p:cNvSpPr txBox="1">
                    <a:spLocks noRot="1" noChangeAspect="1" noMove="1" noResize="1" noEditPoints="1" noAdjustHandles="1" noChangeArrowheads="1" noChangeShapeType="1" noTextEdit="1"/>
                  </p:cNvSpPr>
                  <p:nvPr/>
                </p:nvSpPr>
                <p:spPr>
                  <a:xfrm>
                    <a:off x="1074774" y="4868216"/>
                    <a:ext cx="867941" cy="307777"/>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7" name="CaixaDeTexto 36">
                    <a:extLst>
                      <a:ext uri="{FF2B5EF4-FFF2-40B4-BE49-F238E27FC236}">
                        <a16:creationId xmlns:a16="http://schemas.microsoft.com/office/drawing/2014/main" id="{085EEAC7-A39B-8E54-1ABE-192465A83EF9}"/>
                      </a:ext>
                    </a:extLst>
                  </p:cNvPr>
                  <p:cNvSpPr txBox="1"/>
                  <p:nvPr/>
                </p:nvSpPr>
                <p:spPr>
                  <a:xfrm>
                    <a:off x="2671712" y="4867795"/>
                    <a:ext cx="86794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0" smtClean="0">
                                  <a:latin typeface="Cambria Math" panose="02040503050406030204" pitchFamily="18" charset="0"/>
                                </a:rPr>
                                <m:t>ó</m:t>
                              </m:r>
                              <m:r>
                                <m:rPr>
                                  <m:sty m:val="p"/>
                                </m:rPr>
                                <a:rPr lang="pt-BR" sz="1400" b="0" i="0" smtClean="0">
                                  <a:latin typeface="Cambria Math" panose="02040503050406030204" pitchFamily="18" charset="0"/>
                                </a:rPr>
                                <m:t>timo</m:t>
                              </m:r>
                            </m:sub>
                          </m:sSub>
                        </m:oMath>
                      </m:oMathPara>
                    </a14:m>
                    <a:endParaRPr lang="pt-BR" sz="1400" dirty="0"/>
                  </a:p>
                </p:txBody>
              </p:sp>
            </mc:Choice>
            <mc:Fallback xmlns="">
              <p:sp>
                <p:nvSpPr>
                  <p:cNvPr id="37" name="CaixaDeTexto 36">
                    <a:extLst>
                      <a:ext uri="{FF2B5EF4-FFF2-40B4-BE49-F238E27FC236}">
                        <a16:creationId xmlns:a16="http://schemas.microsoft.com/office/drawing/2014/main" id="{085EEAC7-A39B-8E54-1ABE-192465A83EF9}"/>
                      </a:ext>
                    </a:extLst>
                  </p:cNvPr>
                  <p:cNvSpPr txBox="1">
                    <a:spLocks noRot="1" noChangeAspect="1" noMove="1" noResize="1" noEditPoints="1" noAdjustHandles="1" noChangeArrowheads="1" noChangeShapeType="1" noTextEdit="1"/>
                  </p:cNvSpPr>
                  <p:nvPr/>
                </p:nvSpPr>
                <p:spPr>
                  <a:xfrm>
                    <a:off x="2671712" y="4867795"/>
                    <a:ext cx="867941" cy="307777"/>
                  </a:xfrm>
                  <a:prstGeom prst="rect">
                    <a:avLst/>
                  </a:prstGeom>
                  <a:blipFill>
                    <a:blip r:embed="rId5"/>
                    <a:stretch>
                      <a:fillRect/>
                    </a:stretch>
                  </a:blipFill>
                </p:spPr>
                <p:txBody>
                  <a:bodyPr/>
                  <a:lstStyle/>
                  <a:p>
                    <a:r>
                      <a:rPr lang="pt-BR">
                        <a:noFill/>
                      </a:rPr>
                      <a:t> </a:t>
                    </a:r>
                  </a:p>
                </p:txBody>
              </p:sp>
            </mc:Fallback>
          </mc:AlternateContent>
          <p:sp>
            <p:nvSpPr>
              <p:cNvPr id="39" name="Elipse 38">
                <a:extLst>
                  <a:ext uri="{FF2B5EF4-FFF2-40B4-BE49-F238E27FC236}">
                    <a16:creationId xmlns:a16="http://schemas.microsoft.com/office/drawing/2014/main" id="{F6FC7276-D03F-FF26-A5BB-9174F6A90A78}"/>
                  </a:ext>
                </a:extLst>
              </p:cNvPr>
              <p:cNvSpPr/>
              <p:nvPr/>
            </p:nvSpPr>
            <p:spPr>
              <a:xfrm>
                <a:off x="1901608" y="4038530"/>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6" name="Elipse 45">
              <a:extLst>
                <a:ext uri="{FF2B5EF4-FFF2-40B4-BE49-F238E27FC236}">
                  <a16:creationId xmlns:a16="http://schemas.microsoft.com/office/drawing/2014/main" id="{C3DEEC2D-A2E8-B62C-3519-1662739D0B6E}"/>
                </a:ext>
              </a:extLst>
            </p:cNvPr>
            <p:cNvSpPr/>
            <p:nvPr/>
          </p:nvSpPr>
          <p:spPr>
            <a:xfrm>
              <a:off x="2355906" y="4503465"/>
              <a:ext cx="42900" cy="42900"/>
            </a:xfrm>
            <a:prstGeom prst="ellipse">
              <a:avLst/>
            </a:prstGeom>
            <a:solidFill>
              <a:schemeClr val="tx1"/>
            </a:solid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5" name="Elipse 4">
              <a:extLst>
                <a:ext uri="{FF2B5EF4-FFF2-40B4-BE49-F238E27FC236}">
                  <a16:creationId xmlns:a16="http://schemas.microsoft.com/office/drawing/2014/main" id="{CFEC7173-3A11-257C-8B29-88E6C03AF05D}"/>
                </a:ext>
              </a:extLst>
            </p:cNvPr>
            <p:cNvSpPr/>
            <p:nvPr/>
          </p:nvSpPr>
          <p:spPr>
            <a:xfrm>
              <a:off x="2787464" y="4711210"/>
              <a:ext cx="42900" cy="42900"/>
            </a:xfrm>
            <a:prstGeom prst="ellipse">
              <a:avLst/>
            </a:prstGeom>
            <a:solidFill>
              <a:schemeClr val="tx1"/>
            </a:solid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 name="Elipse 8">
              <a:extLst>
                <a:ext uri="{FF2B5EF4-FFF2-40B4-BE49-F238E27FC236}">
                  <a16:creationId xmlns:a16="http://schemas.microsoft.com/office/drawing/2014/main" id="{66F5E9C4-6E6A-D729-D1C1-7AE8FCF29BCD}"/>
                </a:ext>
              </a:extLst>
            </p:cNvPr>
            <p:cNvSpPr/>
            <p:nvPr/>
          </p:nvSpPr>
          <p:spPr>
            <a:xfrm>
              <a:off x="2556441" y="4636742"/>
              <a:ext cx="42900" cy="42900"/>
            </a:xfrm>
            <a:prstGeom prst="ellipse">
              <a:avLst/>
            </a:prstGeom>
            <a:solidFill>
              <a:schemeClr val="tx1"/>
            </a:solid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1" name="Elipse 10">
              <a:extLst>
                <a:ext uri="{FF2B5EF4-FFF2-40B4-BE49-F238E27FC236}">
                  <a16:creationId xmlns:a16="http://schemas.microsoft.com/office/drawing/2014/main" id="{7F069FBA-00C8-0C44-E723-6CADD06562F5}"/>
                </a:ext>
              </a:extLst>
            </p:cNvPr>
            <p:cNvSpPr/>
            <p:nvPr/>
          </p:nvSpPr>
          <p:spPr>
            <a:xfrm>
              <a:off x="1327675" y="3244123"/>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Elipse 11">
              <a:extLst>
                <a:ext uri="{FF2B5EF4-FFF2-40B4-BE49-F238E27FC236}">
                  <a16:creationId xmlns:a16="http://schemas.microsoft.com/office/drawing/2014/main" id="{CC4F1DE4-810A-9509-F69E-9B0C77B0F7AC}"/>
                </a:ext>
              </a:extLst>
            </p:cNvPr>
            <p:cNvSpPr/>
            <p:nvPr/>
          </p:nvSpPr>
          <p:spPr>
            <a:xfrm>
              <a:off x="1378120" y="3319499"/>
              <a:ext cx="42900" cy="42900"/>
            </a:xfrm>
            <a:prstGeom prst="ellipse">
              <a:avLst/>
            </a:prstGeom>
            <a:solidFill>
              <a:schemeClr val="tx1"/>
            </a:solid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 name="Elipse 12">
              <a:extLst>
                <a:ext uri="{FF2B5EF4-FFF2-40B4-BE49-F238E27FC236}">
                  <a16:creationId xmlns:a16="http://schemas.microsoft.com/office/drawing/2014/main" id="{7F72007A-7FB4-0FD4-B790-8C68A292728B}"/>
                </a:ext>
              </a:extLst>
            </p:cNvPr>
            <p:cNvSpPr/>
            <p:nvPr/>
          </p:nvSpPr>
          <p:spPr>
            <a:xfrm>
              <a:off x="1425429" y="3388905"/>
              <a:ext cx="42900" cy="42900"/>
            </a:xfrm>
            <a:prstGeom prst="ellipse">
              <a:avLst/>
            </a:prstGeom>
            <a:solidFill>
              <a:schemeClr val="tx1"/>
            </a:solid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Elipse 13">
              <a:extLst>
                <a:ext uri="{FF2B5EF4-FFF2-40B4-BE49-F238E27FC236}">
                  <a16:creationId xmlns:a16="http://schemas.microsoft.com/office/drawing/2014/main" id="{A43108D4-8CDD-E0C1-6AA8-F3B847B5A5FE}"/>
                </a:ext>
              </a:extLst>
            </p:cNvPr>
            <p:cNvSpPr/>
            <p:nvPr/>
          </p:nvSpPr>
          <p:spPr>
            <a:xfrm>
              <a:off x="1472521" y="3458311"/>
              <a:ext cx="42900" cy="42900"/>
            </a:xfrm>
            <a:prstGeom prst="ellipse">
              <a:avLst/>
            </a:prstGeom>
            <a:solidFill>
              <a:schemeClr val="tx1"/>
            </a:solid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5" name="Elipse 14">
              <a:extLst>
                <a:ext uri="{FF2B5EF4-FFF2-40B4-BE49-F238E27FC236}">
                  <a16:creationId xmlns:a16="http://schemas.microsoft.com/office/drawing/2014/main" id="{91F238E2-F971-328C-8AA8-EEC9108E5CF2}"/>
                </a:ext>
              </a:extLst>
            </p:cNvPr>
            <p:cNvSpPr/>
            <p:nvPr/>
          </p:nvSpPr>
          <p:spPr>
            <a:xfrm>
              <a:off x="1515421" y="3527717"/>
              <a:ext cx="42900" cy="42900"/>
            </a:xfrm>
            <a:prstGeom prst="ellipse">
              <a:avLst/>
            </a:prstGeom>
            <a:solidFill>
              <a:schemeClr val="tx1"/>
            </a:solid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7" name="Elipse 16">
              <a:extLst>
                <a:ext uri="{FF2B5EF4-FFF2-40B4-BE49-F238E27FC236}">
                  <a16:creationId xmlns:a16="http://schemas.microsoft.com/office/drawing/2014/main" id="{6A46DFA2-73FE-1EFA-14D1-691BA83ED8A3}"/>
                </a:ext>
              </a:extLst>
            </p:cNvPr>
            <p:cNvSpPr/>
            <p:nvPr/>
          </p:nvSpPr>
          <p:spPr>
            <a:xfrm>
              <a:off x="1561796" y="3591834"/>
              <a:ext cx="42900" cy="42900"/>
            </a:xfrm>
            <a:prstGeom prst="ellipse">
              <a:avLst/>
            </a:prstGeom>
            <a:solidFill>
              <a:schemeClr val="tx1"/>
            </a:solid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1" name="Elipse 20">
              <a:extLst>
                <a:ext uri="{FF2B5EF4-FFF2-40B4-BE49-F238E27FC236}">
                  <a16:creationId xmlns:a16="http://schemas.microsoft.com/office/drawing/2014/main" id="{BA98C14A-660A-E23C-A63D-8AD8F1592E9B}"/>
                </a:ext>
              </a:extLst>
            </p:cNvPr>
            <p:cNvSpPr/>
            <p:nvPr/>
          </p:nvSpPr>
          <p:spPr>
            <a:xfrm>
              <a:off x="1607987" y="3658240"/>
              <a:ext cx="42900" cy="42900"/>
            </a:xfrm>
            <a:prstGeom prst="ellipse">
              <a:avLst/>
            </a:prstGeom>
            <a:solidFill>
              <a:schemeClr val="tx1"/>
            </a:solid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Elipse 21">
              <a:extLst>
                <a:ext uri="{FF2B5EF4-FFF2-40B4-BE49-F238E27FC236}">
                  <a16:creationId xmlns:a16="http://schemas.microsoft.com/office/drawing/2014/main" id="{7B8D126E-C9F2-6234-AB34-F636263D8513}"/>
                </a:ext>
              </a:extLst>
            </p:cNvPr>
            <p:cNvSpPr/>
            <p:nvPr/>
          </p:nvSpPr>
          <p:spPr>
            <a:xfrm>
              <a:off x="1652758" y="3715546"/>
              <a:ext cx="42900" cy="42900"/>
            </a:xfrm>
            <a:prstGeom prst="ellipse">
              <a:avLst/>
            </a:prstGeom>
            <a:solidFill>
              <a:schemeClr val="tx1"/>
            </a:solid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3" name="Elipse 22">
              <a:extLst>
                <a:ext uri="{FF2B5EF4-FFF2-40B4-BE49-F238E27FC236}">
                  <a16:creationId xmlns:a16="http://schemas.microsoft.com/office/drawing/2014/main" id="{6365D0AE-A3DF-B7AC-F475-9F70022DDB01}"/>
                </a:ext>
              </a:extLst>
            </p:cNvPr>
            <p:cNvSpPr/>
            <p:nvPr/>
          </p:nvSpPr>
          <p:spPr>
            <a:xfrm>
              <a:off x="1698039" y="3779571"/>
              <a:ext cx="42900" cy="42900"/>
            </a:xfrm>
            <a:prstGeom prst="ellipse">
              <a:avLst/>
            </a:prstGeom>
            <a:solidFill>
              <a:schemeClr val="tx1"/>
            </a:solid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4" name="Elipse 23">
              <a:extLst>
                <a:ext uri="{FF2B5EF4-FFF2-40B4-BE49-F238E27FC236}">
                  <a16:creationId xmlns:a16="http://schemas.microsoft.com/office/drawing/2014/main" id="{1DA23385-85C2-2EAA-B092-6A525B4513FD}"/>
                </a:ext>
              </a:extLst>
            </p:cNvPr>
            <p:cNvSpPr/>
            <p:nvPr/>
          </p:nvSpPr>
          <p:spPr>
            <a:xfrm>
              <a:off x="1740861" y="3843596"/>
              <a:ext cx="42900" cy="42900"/>
            </a:xfrm>
            <a:prstGeom prst="ellipse">
              <a:avLst/>
            </a:prstGeom>
            <a:solidFill>
              <a:schemeClr val="tx1"/>
            </a:solid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5" name="Elipse 24">
              <a:extLst>
                <a:ext uri="{FF2B5EF4-FFF2-40B4-BE49-F238E27FC236}">
                  <a16:creationId xmlns:a16="http://schemas.microsoft.com/office/drawing/2014/main" id="{738ABD31-C46E-659E-05F5-B531A68619AD}"/>
                </a:ext>
              </a:extLst>
            </p:cNvPr>
            <p:cNvSpPr/>
            <p:nvPr/>
          </p:nvSpPr>
          <p:spPr>
            <a:xfrm>
              <a:off x="1799450" y="3921665"/>
              <a:ext cx="42900" cy="42900"/>
            </a:xfrm>
            <a:prstGeom prst="ellipse">
              <a:avLst/>
            </a:prstGeom>
            <a:solidFill>
              <a:schemeClr val="tx1"/>
            </a:solid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9" name="Elipse 28">
              <a:extLst>
                <a:ext uri="{FF2B5EF4-FFF2-40B4-BE49-F238E27FC236}">
                  <a16:creationId xmlns:a16="http://schemas.microsoft.com/office/drawing/2014/main" id="{737BA4D0-63B5-D4AC-255A-56D2243936D3}"/>
                </a:ext>
              </a:extLst>
            </p:cNvPr>
            <p:cNvSpPr/>
            <p:nvPr/>
          </p:nvSpPr>
          <p:spPr>
            <a:xfrm>
              <a:off x="1858708" y="3984100"/>
              <a:ext cx="42900" cy="42900"/>
            </a:xfrm>
            <a:prstGeom prst="ellipse">
              <a:avLst/>
            </a:prstGeom>
            <a:solidFill>
              <a:schemeClr val="tx1"/>
            </a:solid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8" name="Elipse 37">
              <a:extLst>
                <a:ext uri="{FF2B5EF4-FFF2-40B4-BE49-F238E27FC236}">
                  <a16:creationId xmlns:a16="http://schemas.microsoft.com/office/drawing/2014/main" id="{56EDA7AD-1FD1-7936-23DD-5AC2EF35C705}"/>
                </a:ext>
              </a:extLst>
            </p:cNvPr>
            <p:cNvSpPr/>
            <p:nvPr/>
          </p:nvSpPr>
          <p:spPr>
            <a:xfrm>
              <a:off x="1954518" y="4114730"/>
              <a:ext cx="42900" cy="42900"/>
            </a:xfrm>
            <a:prstGeom prst="ellipse">
              <a:avLst/>
            </a:prstGeom>
            <a:solidFill>
              <a:schemeClr val="tx1"/>
            </a:solid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1" name="Elipse 40">
              <a:extLst>
                <a:ext uri="{FF2B5EF4-FFF2-40B4-BE49-F238E27FC236}">
                  <a16:creationId xmlns:a16="http://schemas.microsoft.com/office/drawing/2014/main" id="{D65708CB-153B-FC5B-3AF3-F1301A4F421D}"/>
                </a:ext>
              </a:extLst>
            </p:cNvPr>
            <p:cNvSpPr/>
            <p:nvPr/>
          </p:nvSpPr>
          <p:spPr>
            <a:xfrm>
              <a:off x="2025000" y="4187806"/>
              <a:ext cx="42900" cy="42900"/>
            </a:xfrm>
            <a:prstGeom prst="ellipse">
              <a:avLst/>
            </a:prstGeom>
            <a:solidFill>
              <a:schemeClr val="tx1"/>
            </a:solid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2" name="Elipse 41">
              <a:extLst>
                <a:ext uri="{FF2B5EF4-FFF2-40B4-BE49-F238E27FC236}">
                  <a16:creationId xmlns:a16="http://schemas.microsoft.com/office/drawing/2014/main" id="{175F876A-1E08-2BA1-BBFD-720FE6AB00B1}"/>
                </a:ext>
              </a:extLst>
            </p:cNvPr>
            <p:cNvSpPr/>
            <p:nvPr/>
          </p:nvSpPr>
          <p:spPr>
            <a:xfrm>
              <a:off x="2075827" y="4253457"/>
              <a:ext cx="42900" cy="42900"/>
            </a:xfrm>
            <a:prstGeom prst="ellipse">
              <a:avLst/>
            </a:prstGeom>
            <a:solidFill>
              <a:schemeClr val="tx1"/>
            </a:solid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3" name="Elipse 42">
              <a:extLst>
                <a:ext uri="{FF2B5EF4-FFF2-40B4-BE49-F238E27FC236}">
                  <a16:creationId xmlns:a16="http://schemas.microsoft.com/office/drawing/2014/main" id="{5DDD2C90-020A-08D1-E390-5A3409D7257D}"/>
                </a:ext>
              </a:extLst>
            </p:cNvPr>
            <p:cNvSpPr/>
            <p:nvPr/>
          </p:nvSpPr>
          <p:spPr>
            <a:xfrm>
              <a:off x="2152793" y="4320362"/>
              <a:ext cx="42900" cy="42900"/>
            </a:xfrm>
            <a:prstGeom prst="ellipse">
              <a:avLst/>
            </a:prstGeom>
            <a:solidFill>
              <a:schemeClr val="tx1"/>
            </a:solid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4" name="Elipse 43">
              <a:extLst>
                <a:ext uri="{FF2B5EF4-FFF2-40B4-BE49-F238E27FC236}">
                  <a16:creationId xmlns:a16="http://schemas.microsoft.com/office/drawing/2014/main" id="{514B35BC-F8FA-6EA4-613D-CBCE40868BDB}"/>
                </a:ext>
              </a:extLst>
            </p:cNvPr>
            <p:cNvSpPr/>
            <p:nvPr/>
          </p:nvSpPr>
          <p:spPr>
            <a:xfrm>
              <a:off x="2208074" y="4381430"/>
              <a:ext cx="42900" cy="42900"/>
            </a:xfrm>
            <a:prstGeom prst="ellipse">
              <a:avLst/>
            </a:prstGeom>
            <a:solidFill>
              <a:schemeClr val="tx1"/>
            </a:solid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7" name="Elipse 46">
              <a:extLst>
                <a:ext uri="{FF2B5EF4-FFF2-40B4-BE49-F238E27FC236}">
                  <a16:creationId xmlns:a16="http://schemas.microsoft.com/office/drawing/2014/main" id="{332B17B3-F946-7D34-9C30-5263B9F3CC17}"/>
                </a:ext>
              </a:extLst>
            </p:cNvPr>
            <p:cNvSpPr/>
            <p:nvPr/>
          </p:nvSpPr>
          <p:spPr>
            <a:xfrm>
              <a:off x="2283183" y="4444235"/>
              <a:ext cx="42900" cy="42900"/>
            </a:xfrm>
            <a:prstGeom prst="ellipse">
              <a:avLst/>
            </a:prstGeom>
            <a:solidFill>
              <a:schemeClr val="tx1"/>
            </a:solid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8" name="Elipse 47">
              <a:extLst>
                <a:ext uri="{FF2B5EF4-FFF2-40B4-BE49-F238E27FC236}">
                  <a16:creationId xmlns:a16="http://schemas.microsoft.com/office/drawing/2014/main" id="{CDD1BD60-16E5-3ED7-F192-8B8F8F046E8A}"/>
                </a:ext>
              </a:extLst>
            </p:cNvPr>
            <p:cNvSpPr/>
            <p:nvPr/>
          </p:nvSpPr>
          <p:spPr>
            <a:xfrm>
              <a:off x="2409933" y="4546365"/>
              <a:ext cx="42900" cy="42900"/>
            </a:xfrm>
            <a:prstGeom prst="ellipse">
              <a:avLst/>
            </a:prstGeom>
            <a:solidFill>
              <a:schemeClr val="tx1"/>
            </a:solid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9" name="Elipse 48">
              <a:extLst>
                <a:ext uri="{FF2B5EF4-FFF2-40B4-BE49-F238E27FC236}">
                  <a16:creationId xmlns:a16="http://schemas.microsoft.com/office/drawing/2014/main" id="{E5B2DBF1-2D5F-1E8B-0DBB-A29836F8CCCE}"/>
                </a:ext>
              </a:extLst>
            </p:cNvPr>
            <p:cNvSpPr/>
            <p:nvPr/>
          </p:nvSpPr>
          <p:spPr>
            <a:xfrm>
              <a:off x="2485410" y="4597706"/>
              <a:ext cx="42900" cy="42900"/>
            </a:xfrm>
            <a:prstGeom prst="ellipse">
              <a:avLst/>
            </a:prstGeom>
            <a:solidFill>
              <a:schemeClr val="tx1"/>
            </a:solid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50" name="Elipse 49">
              <a:extLst>
                <a:ext uri="{FF2B5EF4-FFF2-40B4-BE49-F238E27FC236}">
                  <a16:creationId xmlns:a16="http://schemas.microsoft.com/office/drawing/2014/main" id="{ACD15CFD-B032-1F2A-1EE8-B61E322D67FC}"/>
                </a:ext>
              </a:extLst>
            </p:cNvPr>
            <p:cNvSpPr/>
            <p:nvPr/>
          </p:nvSpPr>
          <p:spPr>
            <a:xfrm>
              <a:off x="2635389" y="4670729"/>
              <a:ext cx="42900" cy="42900"/>
            </a:xfrm>
            <a:prstGeom prst="ellipse">
              <a:avLst/>
            </a:prstGeom>
            <a:solidFill>
              <a:schemeClr val="tx1"/>
            </a:solid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51" name="Elipse 50">
              <a:extLst>
                <a:ext uri="{FF2B5EF4-FFF2-40B4-BE49-F238E27FC236}">
                  <a16:creationId xmlns:a16="http://schemas.microsoft.com/office/drawing/2014/main" id="{E88579B0-B02D-BD9C-E35E-770F228E7214}"/>
                </a:ext>
              </a:extLst>
            </p:cNvPr>
            <p:cNvSpPr/>
            <p:nvPr/>
          </p:nvSpPr>
          <p:spPr>
            <a:xfrm>
              <a:off x="2714517" y="4703811"/>
              <a:ext cx="42900" cy="42900"/>
            </a:xfrm>
            <a:prstGeom prst="ellipse">
              <a:avLst/>
            </a:prstGeom>
            <a:solidFill>
              <a:schemeClr val="tx1"/>
            </a:solid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52" name="Forma Livre: Forma 51">
              <a:extLst>
                <a:ext uri="{FF2B5EF4-FFF2-40B4-BE49-F238E27FC236}">
                  <a16:creationId xmlns:a16="http://schemas.microsoft.com/office/drawing/2014/main" id="{D57FE806-611C-B25D-9C44-B106EAADB91C}"/>
                </a:ext>
              </a:extLst>
            </p:cNvPr>
            <p:cNvSpPr/>
            <p:nvPr/>
          </p:nvSpPr>
          <p:spPr>
            <a:xfrm>
              <a:off x="1314450" y="3143408"/>
              <a:ext cx="87751" cy="109380"/>
            </a:xfrm>
            <a:custGeom>
              <a:avLst/>
              <a:gdLst>
                <a:gd name="connsiteX0" fmla="*/ 0 w 87751"/>
                <a:gd name="connsiteY0" fmla="*/ 28417 h 109380"/>
                <a:gd name="connsiteX1" fmla="*/ 85725 w 87751"/>
                <a:gd name="connsiteY1" fmla="*/ 4605 h 109380"/>
                <a:gd name="connsiteX2" fmla="*/ 52388 w 87751"/>
                <a:gd name="connsiteY2" fmla="*/ 109380 h 109380"/>
              </a:gdLst>
              <a:ahLst/>
              <a:cxnLst>
                <a:cxn ang="0">
                  <a:pos x="connsiteX0" y="connsiteY0"/>
                </a:cxn>
                <a:cxn ang="0">
                  <a:pos x="connsiteX1" y="connsiteY1"/>
                </a:cxn>
                <a:cxn ang="0">
                  <a:pos x="connsiteX2" y="connsiteY2"/>
                </a:cxn>
              </a:cxnLst>
              <a:rect l="l" t="t" r="r" b="b"/>
              <a:pathLst>
                <a:path w="87751" h="109380">
                  <a:moveTo>
                    <a:pt x="0" y="28417"/>
                  </a:moveTo>
                  <a:cubicBezTo>
                    <a:pt x="38497" y="9764"/>
                    <a:pt x="76994" y="-8889"/>
                    <a:pt x="85725" y="4605"/>
                  </a:cubicBezTo>
                  <a:cubicBezTo>
                    <a:pt x="94456" y="18099"/>
                    <a:pt x="73422" y="63739"/>
                    <a:pt x="52388" y="109380"/>
                  </a:cubicBezTo>
                </a:path>
              </a:pathLst>
            </a:custGeom>
            <a:noFill/>
            <a:ln w="3175">
              <a:solidFill>
                <a:schemeClr val="tx1"/>
              </a:solidFill>
              <a:prstDash val="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3" name="Forma Livre: Forma 52">
              <a:extLst>
                <a:ext uri="{FF2B5EF4-FFF2-40B4-BE49-F238E27FC236}">
                  <a16:creationId xmlns:a16="http://schemas.microsoft.com/office/drawing/2014/main" id="{1DF0A457-E5D4-2DE1-6F74-765414E143DF}"/>
                </a:ext>
              </a:extLst>
            </p:cNvPr>
            <p:cNvSpPr/>
            <p:nvPr/>
          </p:nvSpPr>
          <p:spPr>
            <a:xfrm>
              <a:off x="1362075" y="3235526"/>
              <a:ext cx="134966" cy="102987"/>
            </a:xfrm>
            <a:custGeom>
              <a:avLst/>
              <a:gdLst>
                <a:gd name="connsiteX0" fmla="*/ 0 w 134966"/>
                <a:gd name="connsiteY0" fmla="*/ 12499 h 102987"/>
                <a:gd name="connsiteX1" fmla="*/ 133350 w 134966"/>
                <a:gd name="connsiteY1" fmla="*/ 7737 h 102987"/>
                <a:gd name="connsiteX2" fmla="*/ 61913 w 134966"/>
                <a:gd name="connsiteY2" fmla="*/ 102987 h 102987"/>
              </a:gdLst>
              <a:ahLst/>
              <a:cxnLst>
                <a:cxn ang="0">
                  <a:pos x="connsiteX0" y="connsiteY0"/>
                </a:cxn>
                <a:cxn ang="0">
                  <a:pos x="connsiteX1" y="connsiteY1"/>
                </a:cxn>
                <a:cxn ang="0">
                  <a:pos x="connsiteX2" y="connsiteY2"/>
                </a:cxn>
              </a:cxnLst>
              <a:rect l="l" t="t" r="r" b="b"/>
              <a:pathLst>
                <a:path w="134966" h="102987">
                  <a:moveTo>
                    <a:pt x="0" y="12499"/>
                  </a:moveTo>
                  <a:cubicBezTo>
                    <a:pt x="61515" y="2577"/>
                    <a:pt x="123031" y="-7344"/>
                    <a:pt x="133350" y="7737"/>
                  </a:cubicBezTo>
                  <a:cubicBezTo>
                    <a:pt x="143669" y="22818"/>
                    <a:pt x="102791" y="62902"/>
                    <a:pt x="61913" y="102987"/>
                  </a:cubicBezTo>
                </a:path>
              </a:pathLst>
            </a:custGeom>
            <a:noFill/>
            <a:ln w="3175">
              <a:solidFill>
                <a:schemeClr val="tx1"/>
              </a:solidFill>
              <a:prstDash val="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4" name="Forma Livre: Forma 53">
              <a:extLst>
                <a:ext uri="{FF2B5EF4-FFF2-40B4-BE49-F238E27FC236}">
                  <a16:creationId xmlns:a16="http://schemas.microsoft.com/office/drawing/2014/main" id="{FA4AB10D-42FB-9BC1-5B4B-DE2A62632A3D}"/>
                </a:ext>
              </a:extLst>
            </p:cNvPr>
            <p:cNvSpPr/>
            <p:nvPr/>
          </p:nvSpPr>
          <p:spPr>
            <a:xfrm>
              <a:off x="1400175" y="3310085"/>
              <a:ext cx="120084" cy="99865"/>
            </a:xfrm>
            <a:custGeom>
              <a:avLst/>
              <a:gdLst>
                <a:gd name="connsiteX0" fmla="*/ 0 w 120084"/>
                <a:gd name="connsiteY0" fmla="*/ 23665 h 99865"/>
                <a:gd name="connsiteX1" fmla="*/ 119063 w 120084"/>
                <a:gd name="connsiteY1" fmla="*/ 4615 h 99865"/>
                <a:gd name="connsiteX2" fmla="*/ 47625 w 120084"/>
                <a:gd name="connsiteY2" fmla="*/ 99865 h 99865"/>
              </a:gdLst>
              <a:ahLst/>
              <a:cxnLst>
                <a:cxn ang="0">
                  <a:pos x="connsiteX0" y="connsiteY0"/>
                </a:cxn>
                <a:cxn ang="0">
                  <a:pos x="connsiteX1" y="connsiteY1"/>
                </a:cxn>
                <a:cxn ang="0">
                  <a:pos x="connsiteX2" y="connsiteY2"/>
                </a:cxn>
              </a:cxnLst>
              <a:rect l="l" t="t" r="r" b="b"/>
              <a:pathLst>
                <a:path w="120084" h="99865">
                  <a:moveTo>
                    <a:pt x="0" y="23665"/>
                  </a:moveTo>
                  <a:cubicBezTo>
                    <a:pt x="55563" y="7790"/>
                    <a:pt x="111126" y="-8085"/>
                    <a:pt x="119063" y="4615"/>
                  </a:cubicBezTo>
                  <a:cubicBezTo>
                    <a:pt x="127000" y="17315"/>
                    <a:pt x="87312" y="58590"/>
                    <a:pt x="47625" y="99865"/>
                  </a:cubicBezTo>
                </a:path>
              </a:pathLst>
            </a:custGeom>
            <a:no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5" name="Forma Livre: Forma 54">
              <a:extLst>
                <a:ext uri="{FF2B5EF4-FFF2-40B4-BE49-F238E27FC236}">
                  <a16:creationId xmlns:a16="http://schemas.microsoft.com/office/drawing/2014/main" id="{D3AAA687-E8E8-0A22-0AA9-EA7171F6A6F7}"/>
                </a:ext>
              </a:extLst>
            </p:cNvPr>
            <p:cNvSpPr/>
            <p:nvPr/>
          </p:nvSpPr>
          <p:spPr>
            <a:xfrm>
              <a:off x="1447800" y="3368793"/>
              <a:ext cx="111669" cy="112595"/>
            </a:xfrm>
            <a:custGeom>
              <a:avLst/>
              <a:gdLst>
                <a:gd name="connsiteX0" fmla="*/ 0 w 111669"/>
                <a:gd name="connsiteY0" fmla="*/ 41157 h 112595"/>
                <a:gd name="connsiteX1" fmla="*/ 109538 w 111669"/>
                <a:gd name="connsiteY1" fmla="*/ 3057 h 112595"/>
                <a:gd name="connsiteX2" fmla="*/ 61913 w 111669"/>
                <a:gd name="connsiteY2" fmla="*/ 112595 h 112595"/>
              </a:gdLst>
              <a:ahLst/>
              <a:cxnLst>
                <a:cxn ang="0">
                  <a:pos x="connsiteX0" y="connsiteY0"/>
                </a:cxn>
                <a:cxn ang="0">
                  <a:pos x="connsiteX1" y="connsiteY1"/>
                </a:cxn>
                <a:cxn ang="0">
                  <a:pos x="connsiteX2" y="connsiteY2"/>
                </a:cxn>
              </a:cxnLst>
              <a:rect l="l" t="t" r="r" b="b"/>
              <a:pathLst>
                <a:path w="111669" h="112595">
                  <a:moveTo>
                    <a:pt x="0" y="41157"/>
                  </a:moveTo>
                  <a:cubicBezTo>
                    <a:pt x="49609" y="16154"/>
                    <a:pt x="99219" y="-8849"/>
                    <a:pt x="109538" y="3057"/>
                  </a:cubicBezTo>
                  <a:cubicBezTo>
                    <a:pt x="119857" y="14963"/>
                    <a:pt x="90885" y="63779"/>
                    <a:pt x="61913" y="112595"/>
                  </a:cubicBezTo>
                </a:path>
              </a:pathLst>
            </a:custGeom>
            <a:no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6" name="Forma Livre: Forma 55">
              <a:extLst>
                <a:ext uri="{FF2B5EF4-FFF2-40B4-BE49-F238E27FC236}">
                  <a16:creationId xmlns:a16="http://schemas.microsoft.com/office/drawing/2014/main" id="{E344A5C9-4592-EA82-0B7E-2CE9A88F3EC4}"/>
                </a:ext>
              </a:extLst>
            </p:cNvPr>
            <p:cNvSpPr/>
            <p:nvPr/>
          </p:nvSpPr>
          <p:spPr>
            <a:xfrm>
              <a:off x="1500188" y="3430385"/>
              <a:ext cx="92355" cy="117678"/>
            </a:xfrm>
            <a:custGeom>
              <a:avLst/>
              <a:gdLst>
                <a:gd name="connsiteX0" fmla="*/ 0 w 92355"/>
                <a:gd name="connsiteY0" fmla="*/ 41478 h 117678"/>
                <a:gd name="connsiteX1" fmla="*/ 90487 w 92355"/>
                <a:gd name="connsiteY1" fmla="*/ 3378 h 117678"/>
                <a:gd name="connsiteX2" fmla="*/ 52387 w 92355"/>
                <a:gd name="connsiteY2" fmla="*/ 117678 h 117678"/>
              </a:gdLst>
              <a:ahLst/>
              <a:cxnLst>
                <a:cxn ang="0">
                  <a:pos x="connsiteX0" y="connsiteY0"/>
                </a:cxn>
                <a:cxn ang="0">
                  <a:pos x="connsiteX1" y="connsiteY1"/>
                </a:cxn>
                <a:cxn ang="0">
                  <a:pos x="connsiteX2" y="connsiteY2"/>
                </a:cxn>
              </a:cxnLst>
              <a:rect l="l" t="t" r="r" b="b"/>
              <a:pathLst>
                <a:path w="92355" h="117678">
                  <a:moveTo>
                    <a:pt x="0" y="41478"/>
                  </a:moveTo>
                  <a:cubicBezTo>
                    <a:pt x="40878" y="16078"/>
                    <a:pt x="81756" y="-9322"/>
                    <a:pt x="90487" y="3378"/>
                  </a:cubicBezTo>
                  <a:cubicBezTo>
                    <a:pt x="99218" y="16078"/>
                    <a:pt x="75802" y="66878"/>
                    <a:pt x="52387" y="117678"/>
                  </a:cubicBezTo>
                </a:path>
              </a:pathLst>
            </a:custGeom>
            <a:no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7" name="Forma Livre: Forma 56">
              <a:extLst>
                <a:ext uri="{FF2B5EF4-FFF2-40B4-BE49-F238E27FC236}">
                  <a16:creationId xmlns:a16="http://schemas.microsoft.com/office/drawing/2014/main" id="{7C62A9D7-8CED-886C-1008-4FED473EF7E2}"/>
                </a:ext>
              </a:extLst>
            </p:cNvPr>
            <p:cNvSpPr/>
            <p:nvPr/>
          </p:nvSpPr>
          <p:spPr>
            <a:xfrm>
              <a:off x="1552575" y="3493544"/>
              <a:ext cx="69039" cy="111669"/>
            </a:xfrm>
            <a:custGeom>
              <a:avLst/>
              <a:gdLst>
                <a:gd name="connsiteX0" fmla="*/ 0 w 69039"/>
                <a:gd name="connsiteY0" fmla="*/ 49756 h 111669"/>
                <a:gd name="connsiteX1" fmla="*/ 66675 w 69039"/>
                <a:gd name="connsiteY1" fmla="*/ 2131 h 111669"/>
                <a:gd name="connsiteX2" fmla="*/ 47625 w 69039"/>
                <a:gd name="connsiteY2" fmla="*/ 111669 h 111669"/>
              </a:gdLst>
              <a:ahLst/>
              <a:cxnLst>
                <a:cxn ang="0">
                  <a:pos x="connsiteX0" y="connsiteY0"/>
                </a:cxn>
                <a:cxn ang="0">
                  <a:pos x="connsiteX1" y="connsiteY1"/>
                </a:cxn>
                <a:cxn ang="0">
                  <a:pos x="connsiteX2" y="connsiteY2"/>
                </a:cxn>
              </a:cxnLst>
              <a:rect l="l" t="t" r="r" b="b"/>
              <a:pathLst>
                <a:path w="69039" h="111669">
                  <a:moveTo>
                    <a:pt x="0" y="49756"/>
                  </a:moveTo>
                  <a:cubicBezTo>
                    <a:pt x="29369" y="20784"/>
                    <a:pt x="58738" y="-8188"/>
                    <a:pt x="66675" y="2131"/>
                  </a:cubicBezTo>
                  <a:cubicBezTo>
                    <a:pt x="74612" y="12450"/>
                    <a:pt x="61118" y="62059"/>
                    <a:pt x="47625" y="111669"/>
                  </a:cubicBezTo>
                </a:path>
              </a:pathLst>
            </a:custGeom>
            <a:no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8" name="Forma Livre: Forma 57">
              <a:extLst>
                <a:ext uri="{FF2B5EF4-FFF2-40B4-BE49-F238E27FC236}">
                  <a16:creationId xmlns:a16="http://schemas.microsoft.com/office/drawing/2014/main" id="{FCAD2A4D-7160-44D1-B740-BF7032929A14}"/>
                </a:ext>
              </a:extLst>
            </p:cNvPr>
            <p:cNvSpPr/>
            <p:nvPr/>
          </p:nvSpPr>
          <p:spPr>
            <a:xfrm>
              <a:off x="1595438" y="3564253"/>
              <a:ext cx="78640" cy="117160"/>
            </a:xfrm>
            <a:custGeom>
              <a:avLst/>
              <a:gdLst>
                <a:gd name="connsiteX0" fmla="*/ 0 w 78640"/>
                <a:gd name="connsiteY0" fmla="*/ 45722 h 117160"/>
                <a:gd name="connsiteX1" fmla="*/ 76200 w 78640"/>
                <a:gd name="connsiteY1" fmla="*/ 2860 h 117160"/>
                <a:gd name="connsiteX2" fmla="*/ 52387 w 78640"/>
                <a:gd name="connsiteY2" fmla="*/ 117160 h 117160"/>
              </a:gdLst>
              <a:ahLst/>
              <a:cxnLst>
                <a:cxn ang="0">
                  <a:pos x="connsiteX0" y="connsiteY0"/>
                </a:cxn>
                <a:cxn ang="0">
                  <a:pos x="connsiteX1" y="connsiteY1"/>
                </a:cxn>
                <a:cxn ang="0">
                  <a:pos x="connsiteX2" y="connsiteY2"/>
                </a:cxn>
              </a:cxnLst>
              <a:rect l="l" t="t" r="r" b="b"/>
              <a:pathLst>
                <a:path w="78640" h="117160">
                  <a:moveTo>
                    <a:pt x="0" y="45722"/>
                  </a:moveTo>
                  <a:cubicBezTo>
                    <a:pt x="33734" y="18338"/>
                    <a:pt x="67469" y="-9046"/>
                    <a:pt x="76200" y="2860"/>
                  </a:cubicBezTo>
                  <a:cubicBezTo>
                    <a:pt x="84931" y="14766"/>
                    <a:pt x="68659" y="65963"/>
                    <a:pt x="52387" y="117160"/>
                  </a:cubicBezTo>
                </a:path>
              </a:pathLst>
            </a:custGeom>
            <a:no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0" name="Forma Livre: Forma 59">
              <a:extLst>
                <a:ext uri="{FF2B5EF4-FFF2-40B4-BE49-F238E27FC236}">
                  <a16:creationId xmlns:a16="http://schemas.microsoft.com/office/drawing/2014/main" id="{F1A38194-7B65-BCBB-2977-4345DF290245}"/>
                </a:ext>
              </a:extLst>
            </p:cNvPr>
            <p:cNvSpPr/>
            <p:nvPr/>
          </p:nvSpPr>
          <p:spPr>
            <a:xfrm>
              <a:off x="1643063" y="3627272"/>
              <a:ext cx="77665" cy="111291"/>
            </a:xfrm>
            <a:custGeom>
              <a:avLst/>
              <a:gdLst>
                <a:gd name="connsiteX0" fmla="*/ 0 w 77665"/>
                <a:gd name="connsiteY0" fmla="*/ 54141 h 111291"/>
                <a:gd name="connsiteX1" fmla="*/ 76200 w 77665"/>
                <a:gd name="connsiteY1" fmla="*/ 1753 h 111291"/>
                <a:gd name="connsiteX2" fmla="*/ 42862 w 77665"/>
                <a:gd name="connsiteY2" fmla="*/ 111291 h 111291"/>
              </a:gdLst>
              <a:ahLst/>
              <a:cxnLst>
                <a:cxn ang="0">
                  <a:pos x="connsiteX0" y="connsiteY0"/>
                </a:cxn>
                <a:cxn ang="0">
                  <a:pos x="connsiteX1" y="connsiteY1"/>
                </a:cxn>
                <a:cxn ang="0">
                  <a:pos x="connsiteX2" y="connsiteY2"/>
                </a:cxn>
              </a:cxnLst>
              <a:rect l="l" t="t" r="r" b="b"/>
              <a:pathLst>
                <a:path w="77665" h="111291">
                  <a:moveTo>
                    <a:pt x="0" y="54141"/>
                  </a:moveTo>
                  <a:cubicBezTo>
                    <a:pt x="34528" y="23184"/>
                    <a:pt x="69056" y="-7772"/>
                    <a:pt x="76200" y="1753"/>
                  </a:cubicBezTo>
                  <a:cubicBezTo>
                    <a:pt x="83344" y="11278"/>
                    <a:pt x="63103" y="61284"/>
                    <a:pt x="42862" y="111291"/>
                  </a:cubicBezTo>
                </a:path>
              </a:pathLst>
            </a:custGeom>
            <a:no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1" name="Forma Livre: Forma 60">
              <a:extLst>
                <a:ext uri="{FF2B5EF4-FFF2-40B4-BE49-F238E27FC236}">
                  <a16:creationId xmlns:a16="http://schemas.microsoft.com/office/drawing/2014/main" id="{564F9501-3436-F9FF-28D2-FC3BC9E298B0}"/>
                </a:ext>
              </a:extLst>
            </p:cNvPr>
            <p:cNvSpPr/>
            <p:nvPr/>
          </p:nvSpPr>
          <p:spPr>
            <a:xfrm>
              <a:off x="1672945" y="3701326"/>
              <a:ext cx="77665" cy="111291"/>
            </a:xfrm>
            <a:custGeom>
              <a:avLst/>
              <a:gdLst>
                <a:gd name="connsiteX0" fmla="*/ 0 w 77665"/>
                <a:gd name="connsiteY0" fmla="*/ 54141 h 111291"/>
                <a:gd name="connsiteX1" fmla="*/ 76200 w 77665"/>
                <a:gd name="connsiteY1" fmla="*/ 1753 h 111291"/>
                <a:gd name="connsiteX2" fmla="*/ 42862 w 77665"/>
                <a:gd name="connsiteY2" fmla="*/ 111291 h 111291"/>
              </a:gdLst>
              <a:ahLst/>
              <a:cxnLst>
                <a:cxn ang="0">
                  <a:pos x="connsiteX0" y="connsiteY0"/>
                </a:cxn>
                <a:cxn ang="0">
                  <a:pos x="connsiteX1" y="connsiteY1"/>
                </a:cxn>
                <a:cxn ang="0">
                  <a:pos x="connsiteX2" y="connsiteY2"/>
                </a:cxn>
              </a:cxnLst>
              <a:rect l="l" t="t" r="r" b="b"/>
              <a:pathLst>
                <a:path w="77665" h="111291">
                  <a:moveTo>
                    <a:pt x="0" y="54141"/>
                  </a:moveTo>
                  <a:cubicBezTo>
                    <a:pt x="34528" y="23184"/>
                    <a:pt x="69056" y="-7772"/>
                    <a:pt x="76200" y="1753"/>
                  </a:cubicBezTo>
                  <a:cubicBezTo>
                    <a:pt x="83344" y="11278"/>
                    <a:pt x="63103" y="61284"/>
                    <a:pt x="42862" y="111291"/>
                  </a:cubicBezTo>
                </a:path>
              </a:pathLst>
            </a:custGeom>
            <a:no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2" name="Forma Livre: Forma 61">
              <a:extLst>
                <a:ext uri="{FF2B5EF4-FFF2-40B4-BE49-F238E27FC236}">
                  <a16:creationId xmlns:a16="http://schemas.microsoft.com/office/drawing/2014/main" id="{EB5C1DE8-1D90-2807-7A37-610CFC2241BF}"/>
                </a:ext>
              </a:extLst>
            </p:cNvPr>
            <p:cNvSpPr/>
            <p:nvPr/>
          </p:nvSpPr>
          <p:spPr>
            <a:xfrm>
              <a:off x="1714723" y="3763481"/>
              <a:ext cx="77665" cy="111291"/>
            </a:xfrm>
            <a:custGeom>
              <a:avLst/>
              <a:gdLst>
                <a:gd name="connsiteX0" fmla="*/ 0 w 77665"/>
                <a:gd name="connsiteY0" fmla="*/ 54141 h 111291"/>
                <a:gd name="connsiteX1" fmla="*/ 76200 w 77665"/>
                <a:gd name="connsiteY1" fmla="*/ 1753 h 111291"/>
                <a:gd name="connsiteX2" fmla="*/ 42862 w 77665"/>
                <a:gd name="connsiteY2" fmla="*/ 111291 h 111291"/>
              </a:gdLst>
              <a:ahLst/>
              <a:cxnLst>
                <a:cxn ang="0">
                  <a:pos x="connsiteX0" y="connsiteY0"/>
                </a:cxn>
                <a:cxn ang="0">
                  <a:pos x="connsiteX1" y="connsiteY1"/>
                </a:cxn>
                <a:cxn ang="0">
                  <a:pos x="connsiteX2" y="connsiteY2"/>
                </a:cxn>
              </a:cxnLst>
              <a:rect l="l" t="t" r="r" b="b"/>
              <a:pathLst>
                <a:path w="77665" h="111291">
                  <a:moveTo>
                    <a:pt x="0" y="54141"/>
                  </a:moveTo>
                  <a:cubicBezTo>
                    <a:pt x="34528" y="23184"/>
                    <a:pt x="69056" y="-7772"/>
                    <a:pt x="76200" y="1753"/>
                  </a:cubicBezTo>
                  <a:cubicBezTo>
                    <a:pt x="83344" y="11278"/>
                    <a:pt x="63103" y="61284"/>
                    <a:pt x="42862" y="111291"/>
                  </a:cubicBezTo>
                </a:path>
              </a:pathLst>
            </a:custGeom>
            <a:no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3" name="Forma Livre: Forma 62">
              <a:extLst>
                <a:ext uri="{FF2B5EF4-FFF2-40B4-BE49-F238E27FC236}">
                  <a16:creationId xmlns:a16="http://schemas.microsoft.com/office/drawing/2014/main" id="{A78A777C-ABAA-46CF-76F7-8785A8DD1EE4}"/>
                </a:ext>
              </a:extLst>
            </p:cNvPr>
            <p:cNvSpPr/>
            <p:nvPr/>
          </p:nvSpPr>
          <p:spPr>
            <a:xfrm>
              <a:off x="1757623" y="3811521"/>
              <a:ext cx="113994" cy="125406"/>
            </a:xfrm>
            <a:custGeom>
              <a:avLst/>
              <a:gdLst>
                <a:gd name="connsiteX0" fmla="*/ 0 w 77665"/>
                <a:gd name="connsiteY0" fmla="*/ 54141 h 111291"/>
                <a:gd name="connsiteX1" fmla="*/ 76200 w 77665"/>
                <a:gd name="connsiteY1" fmla="*/ 1753 h 111291"/>
                <a:gd name="connsiteX2" fmla="*/ 42862 w 77665"/>
                <a:gd name="connsiteY2" fmla="*/ 111291 h 111291"/>
              </a:gdLst>
              <a:ahLst/>
              <a:cxnLst>
                <a:cxn ang="0">
                  <a:pos x="connsiteX0" y="connsiteY0"/>
                </a:cxn>
                <a:cxn ang="0">
                  <a:pos x="connsiteX1" y="connsiteY1"/>
                </a:cxn>
                <a:cxn ang="0">
                  <a:pos x="connsiteX2" y="connsiteY2"/>
                </a:cxn>
              </a:cxnLst>
              <a:rect l="l" t="t" r="r" b="b"/>
              <a:pathLst>
                <a:path w="77665" h="111291">
                  <a:moveTo>
                    <a:pt x="0" y="54141"/>
                  </a:moveTo>
                  <a:cubicBezTo>
                    <a:pt x="34528" y="23184"/>
                    <a:pt x="69056" y="-7772"/>
                    <a:pt x="76200" y="1753"/>
                  </a:cubicBezTo>
                  <a:cubicBezTo>
                    <a:pt x="83344" y="11278"/>
                    <a:pt x="63103" y="61284"/>
                    <a:pt x="42862" y="111291"/>
                  </a:cubicBezTo>
                </a:path>
              </a:pathLst>
            </a:custGeom>
            <a:no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4" name="Forma Livre: Forma 63">
              <a:extLst>
                <a:ext uri="{FF2B5EF4-FFF2-40B4-BE49-F238E27FC236}">
                  <a16:creationId xmlns:a16="http://schemas.microsoft.com/office/drawing/2014/main" id="{54A11321-0DCE-958E-4505-BE313F984ECA}"/>
                </a:ext>
              </a:extLst>
            </p:cNvPr>
            <p:cNvSpPr/>
            <p:nvPr/>
          </p:nvSpPr>
          <p:spPr>
            <a:xfrm>
              <a:off x="1821503" y="3895318"/>
              <a:ext cx="88624" cy="111291"/>
            </a:xfrm>
            <a:custGeom>
              <a:avLst/>
              <a:gdLst>
                <a:gd name="connsiteX0" fmla="*/ 0 w 77665"/>
                <a:gd name="connsiteY0" fmla="*/ 54141 h 111291"/>
                <a:gd name="connsiteX1" fmla="*/ 76200 w 77665"/>
                <a:gd name="connsiteY1" fmla="*/ 1753 h 111291"/>
                <a:gd name="connsiteX2" fmla="*/ 42862 w 77665"/>
                <a:gd name="connsiteY2" fmla="*/ 111291 h 111291"/>
              </a:gdLst>
              <a:ahLst/>
              <a:cxnLst>
                <a:cxn ang="0">
                  <a:pos x="connsiteX0" y="connsiteY0"/>
                </a:cxn>
                <a:cxn ang="0">
                  <a:pos x="connsiteX1" y="connsiteY1"/>
                </a:cxn>
                <a:cxn ang="0">
                  <a:pos x="connsiteX2" y="connsiteY2"/>
                </a:cxn>
              </a:cxnLst>
              <a:rect l="l" t="t" r="r" b="b"/>
              <a:pathLst>
                <a:path w="77665" h="111291">
                  <a:moveTo>
                    <a:pt x="0" y="54141"/>
                  </a:moveTo>
                  <a:cubicBezTo>
                    <a:pt x="34528" y="23184"/>
                    <a:pt x="69056" y="-7772"/>
                    <a:pt x="76200" y="1753"/>
                  </a:cubicBezTo>
                  <a:cubicBezTo>
                    <a:pt x="83344" y="11278"/>
                    <a:pt x="63103" y="61284"/>
                    <a:pt x="42862" y="111291"/>
                  </a:cubicBezTo>
                </a:path>
              </a:pathLst>
            </a:custGeom>
            <a:no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5" name="Forma Livre: Forma 64">
              <a:extLst>
                <a:ext uri="{FF2B5EF4-FFF2-40B4-BE49-F238E27FC236}">
                  <a16:creationId xmlns:a16="http://schemas.microsoft.com/office/drawing/2014/main" id="{2D97E6F2-CC68-004D-956A-DE643D2955A7}"/>
                </a:ext>
              </a:extLst>
            </p:cNvPr>
            <p:cNvSpPr/>
            <p:nvPr/>
          </p:nvSpPr>
          <p:spPr>
            <a:xfrm>
              <a:off x="1880976" y="3950963"/>
              <a:ext cx="77665" cy="111291"/>
            </a:xfrm>
            <a:custGeom>
              <a:avLst/>
              <a:gdLst>
                <a:gd name="connsiteX0" fmla="*/ 0 w 77665"/>
                <a:gd name="connsiteY0" fmla="*/ 54141 h 111291"/>
                <a:gd name="connsiteX1" fmla="*/ 76200 w 77665"/>
                <a:gd name="connsiteY1" fmla="*/ 1753 h 111291"/>
                <a:gd name="connsiteX2" fmla="*/ 42862 w 77665"/>
                <a:gd name="connsiteY2" fmla="*/ 111291 h 111291"/>
              </a:gdLst>
              <a:ahLst/>
              <a:cxnLst>
                <a:cxn ang="0">
                  <a:pos x="connsiteX0" y="connsiteY0"/>
                </a:cxn>
                <a:cxn ang="0">
                  <a:pos x="connsiteX1" y="connsiteY1"/>
                </a:cxn>
                <a:cxn ang="0">
                  <a:pos x="connsiteX2" y="connsiteY2"/>
                </a:cxn>
              </a:cxnLst>
              <a:rect l="l" t="t" r="r" b="b"/>
              <a:pathLst>
                <a:path w="77665" h="111291">
                  <a:moveTo>
                    <a:pt x="0" y="54141"/>
                  </a:moveTo>
                  <a:cubicBezTo>
                    <a:pt x="34528" y="23184"/>
                    <a:pt x="69056" y="-7772"/>
                    <a:pt x="76200" y="1753"/>
                  </a:cubicBezTo>
                  <a:cubicBezTo>
                    <a:pt x="83344" y="11278"/>
                    <a:pt x="63103" y="61284"/>
                    <a:pt x="42862" y="111291"/>
                  </a:cubicBezTo>
                </a:path>
              </a:pathLst>
            </a:custGeom>
            <a:no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6" name="Forma Livre: Forma 65">
              <a:extLst>
                <a:ext uri="{FF2B5EF4-FFF2-40B4-BE49-F238E27FC236}">
                  <a16:creationId xmlns:a16="http://schemas.microsoft.com/office/drawing/2014/main" id="{D37F839C-B273-7AF7-9774-8944F7C38068}"/>
                </a:ext>
              </a:extLst>
            </p:cNvPr>
            <p:cNvSpPr/>
            <p:nvPr/>
          </p:nvSpPr>
          <p:spPr>
            <a:xfrm>
              <a:off x="1926411" y="4005230"/>
              <a:ext cx="98586" cy="152400"/>
            </a:xfrm>
            <a:custGeom>
              <a:avLst/>
              <a:gdLst>
                <a:gd name="connsiteX0" fmla="*/ 0 w 77665"/>
                <a:gd name="connsiteY0" fmla="*/ 54141 h 111291"/>
                <a:gd name="connsiteX1" fmla="*/ 76200 w 77665"/>
                <a:gd name="connsiteY1" fmla="*/ 1753 h 111291"/>
                <a:gd name="connsiteX2" fmla="*/ 42862 w 77665"/>
                <a:gd name="connsiteY2" fmla="*/ 111291 h 111291"/>
              </a:gdLst>
              <a:ahLst/>
              <a:cxnLst>
                <a:cxn ang="0">
                  <a:pos x="connsiteX0" y="connsiteY0"/>
                </a:cxn>
                <a:cxn ang="0">
                  <a:pos x="connsiteX1" y="connsiteY1"/>
                </a:cxn>
                <a:cxn ang="0">
                  <a:pos x="connsiteX2" y="connsiteY2"/>
                </a:cxn>
              </a:cxnLst>
              <a:rect l="l" t="t" r="r" b="b"/>
              <a:pathLst>
                <a:path w="77665" h="111291">
                  <a:moveTo>
                    <a:pt x="0" y="54141"/>
                  </a:moveTo>
                  <a:cubicBezTo>
                    <a:pt x="34528" y="23184"/>
                    <a:pt x="69056" y="-7772"/>
                    <a:pt x="76200" y="1753"/>
                  </a:cubicBezTo>
                  <a:cubicBezTo>
                    <a:pt x="83344" y="11278"/>
                    <a:pt x="63103" y="61284"/>
                    <a:pt x="42862" y="111291"/>
                  </a:cubicBezTo>
                </a:path>
              </a:pathLst>
            </a:custGeom>
            <a:no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7" name="Forma Livre: Forma 66">
              <a:extLst>
                <a:ext uri="{FF2B5EF4-FFF2-40B4-BE49-F238E27FC236}">
                  <a16:creationId xmlns:a16="http://schemas.microsoft.com/office/drawing/2014/main" id="{EDBB2EA8-D634-AABA-077C-BE358C721A12}"/>
                </a:ext>
              </a:extLst>
            </p:cNvPr>
            <p:cNvSpPr/>
            <p:nvPr/>
          </p:nvSpPr>
          <p:spPr>
            <a:xfrm>
              <a:off x="1986165" y="4073869"/>
              <a:ext cx="98578" cy="131717"/>
            </a:xfrm>
            <a:custGeom>
              <a:avLst/>
              <a:gdLst>
                <a:gd name="connsiteX0" fmla="*/ 0 w 77665"/>
                <a:gd name="connsiteY0" fmla="*/ 54141 h 111291"/>
                <a:gd name="connsiteX1" fmla="*/ 76200 w 77665"/>
                <a:gd name="connsiteY1" fmla="*/ 1753 h 111291"/>
                <a:gd name="connsiteX2" fmla="*/ 42862 w 77665"/>
                <a:gd name="connsiteY2" fmla="*/ 111291 h 111291"/>
              </a:gdLst>
              <a:ahLst/>
              <a:cxnLst>
                <a:cxn ang="0">
                  <a:pos x="connsiteX0" y="connsiteY0"/>
                </a:cxn>
                <a:cxn ang="0">
                  <a:pos x="connsiteX1" y="connsiteY1"/>
                </a:cxn>
                <a:cxn ang="0">
                  <a:pos x="connsiteX2" y="connsiteY2"/>
                </a:cxn>
              </a:cxnLst>
              <a:rect l="l" t="t" r="r" b="b"/>
              <a:pathLst>
                <a:path w="77665" h="111291">
                  <a:moveTo>
                    <a:pt x="0" y="54141"/>
                  </a:moveTo>
                  <a:cubicBezTo>
                    <a:pt x="34528" y="23184"/>
                    <a:pt x="69056" y="-7772"/>
                    <a:pt x="76200" y="1753"/>
                  </a:cubicBezTo>
                  <a:cubicBezTo>
                    <a:pt x="83344" y="11278"/>
                    <a:pt x="63103" y="61284"/>
                    <a:pt x="42862" y="111291"/>
                  </a:cubicBezTo>
                </a:path>
              </a:pathLst>
            </a:custGeom>
            <a:no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8" name="Forma Livre: Forma 67">
              <a:extLst>
                <a:ext uri="{FF2B5EF4-FFF2-40B4-BE49-F238E27FC236}">
                  <a16:creationId xmlns:a16="http://schemas.microsoft.com/office/drawing/2014/main" id="{93E645CA-D65E-103D-DDF1-9D62FB3EDB7F}"/>
                </a:ext>
              </a:extLst>
            </p:cNvPr>
            <p:cNvSpPr/>
            <p:nvPr/>
          </p:nvSpPr>
          <p:spPr>
            <a:xfrm>
              <a:off x="2045913" y="4168557"/>
              <a:ext cx="77665" cy="111291"/>
            </a:xfrm>
            <a:custGeom>
              <a:avLst/>
              <a:gdLst>
                <a:gd name="connsiteX0" fmla="*/ 0 w 77665"/>
                <a:gd name="connsiteY0" fmla="*/ 54141 h 111291"/>
                <a:gd name="connsiteX1" fmla="*/ 76200 w 77665"/>
                <a:gd name="connsiteY1" fmla="*/ 1753 h 111291"/>
                <a:gd name="connsiteX2" fmla="*/ 42862 w 77665"/>
                <a:gd name="connsiteY2" fmla="*/ 111291 h 111291"/>
              </a:gdLst>
              <a:ahLst/>
              <a:cxnLst>
                <a:cxn ang="0">
                  <a:pos x="connsiteX0" y="connsiteY0"/>
                </a:cxn>
                <a:cxn ang="0">
                  <a:pos x="connsiteX1" y="connsiteY1"/>
                </a:cxn>
                <a:cxn ang="0">
                  <a:pos x="connsiteX2" y="connsiteY2"/>
                </a:cxn>
              </a:cxnLst>
              <a:rect l="l" t="t" r="r" b="b"/>
              <a:pathLst>
                <a:path w="77665" h="111291">
                  <a:moveTo>
                    <a:pt x="0" y="54141"/>
                  </a:moveTo>
                  <a:cubicBezTo>
                    <a:pt x="34528" y="23184"/>
                    <a:pt x="69056" y="-7772"/>
                    <a:pt x="76200" y="1753"/>
                  </a:cubicBezTo>
                  <a:cubicBezTo>
                    <a:pt x="83344" y="11278"/>
                    <a:pt x="63103" y="61284"/>
                    <a:pt x="42862" y="111291"/>
                  </a:cubicBezTo>
                </a:path>
              </a:pathLst>
            </a:custGeom>
            <a:no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0" name="Forma Livre: Forma 69">
              <a:extLst>
                <a:ext uri="{FF2B5EF4-FFF2-40B4-BE49-F238E27FC236}">
                  <a16:creationId xmlns:a16="http://schemas.microsoft.com/office/drawing/2014/main" id="{43B103BC-B12F-A33E-DE0F-88EC59D3C67D}"/>
                </a:ext>
              </a:extLst>
            </p:cNvPr>
            <p:cNvSpPr/>
            <p:nvPr/>
          </p:nvSpPr>
          <p:spPr>
            <a:xfrm>
              <a:off x="2098675" y="4235311"/>
              <a:ext cx="107993" cy="111264"/>
            </a:xfrm>
            <a:custGeom>
              <a:avLst/>
              <a:gdLst>
                <a:gd name="connsiteX0" fmla="*/ 0 w 107993"/>
                <a:gd name="connsiteY0" fmla="*/ 38239 h 111264"/>
                <a:gd name="connsiteX1" fmla="*/ 101600 w 107993"/>
                <a:gd name="connsiteY1" fmla="*/ 3314 h 111264"/>
                <a:gd name="connsiteX2" fmla="*/ 88900 w 107993"/>
                <a:gd name="connsiteY2" fmla="*/ 111264 h 111264"/>
              </a:gdLst>
              <a:ahLst/>
              <a:cxnLst>
                <a:cxn ang="0">
                  <a:pos x="connsiteX0" y="connsiteY0"/>
                </a:cxn>
                <a:cxn ang="0">
                  <a:pos x="connsiteX1" y="connsiteY1"/>
                </a:cxn>
                <a:cxn ang="0">
                  <a:pos x="connsiteX2" y="connsiteY2"/>
                </a:cxn>
              </a:cxnLst>
              <a:rect l="l" t="t" r="r" b="b"/>
              <a:pathLst>
                <a:path w="107993" h="111264">
                  <a:moveTo>
                    <a:pt x="0" y="38239"/>
                  </a:moveTo>
                  <a:cubicBezTo>
                    <a:pt x="43391" y="14691"/>
                    <a:pt x="86783" y="-8857"/>
                    <a:pt x="101600" y="3314"/>
                  </a:cubicBezTo>
                  <a:cubicBezTo>
                    <a:pt x="116417" y="15485"/>
                    <a:pt x="102658" y="63374"/>
                    <a:pt x="88900" y="111264"/>
                  </a:cubicBezTo>
                </a:path>
              </a:pathLst>
            </a:custGeom>
            <a:no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1" name="Forma Livre: Forma 70">
              <a:extLst>
                <a:ext uri="{FF2B5EF4-FFF2-40B4-BE49-F238E27FC236}">
                  <a16:creationId xmlns:a16="http://schemas.microsoft.com/office/drawing/2014/main" id="{6BCCEA16-BC55-6616-B281-605F855C505E}"/>
                </a:ext>
              </a:extLst>
            </p:cNvPr>
            <p:cNvSpPr/>
            <p:nvPr/>
          </p:nvSpPr>
          <p:spPr>
            <a:xfrm>
              <a:off x="2174875" y="4292461"/>
              <a:ext cx="89562" cy="111264"/>
            </a:xfrm>
            <a:custGeom>
              <a:avLst/>
              <a:gdLst>
                <a:gd name="connsiteX0" fmla="*/ 0 w 89562"/>
                <a:gd name="connsiteY0" fmla="*/ 38239 h 111264"/>
                <a:gd name="connsiteX1" fmla="*/ 85725 w 89562"/>
                <a:gd name="connsiteY1" fmla="*/ 3314 h 111264"/>
                <a:gd name="connsiteX2" fmla="*/ 66675 w 89562"/>
                <a:gd name="connsiteY2" fmla="*/ 111264 h 111264"/>
              </a:gdLst>
              <a:ahLst/>
              <a:cxnLst>
                <a:cxn ang="0">
                  <a:pos x="connsiteX0" y="connsiteY0"/>
                </a:cxn>
                <a:cxn ang="0">
                  <a:pos x="connsiteX1" y="connsiteY1"/>
                </a:cxn>
                <a:cxn ang="0">
                  <a:pos x="connsiteX2" y="connsiteY2"/>
                </a:cxn>
              </a:cxnLst>
              <a:rect l="l" t="t" r="r" b="b"/>
              <a:pathLst>
                <a:path w="89562" h="111264">
                  <a:moveTo>
                    <a:pt x="0" y="38239"/>
                  </a:moveTo>
                  <a:cubicBezTo>
                    <a:pt x="37306" y="14691"/>
                    <a:pt x="74612" y="-8857"/>
                    <a:pt x="85725" y="3314"/>
                  </a:cubicBezTo>
                  <a:cubicBezTo>
                    <a:pt x="96838" y="15485"/>
                    <a:pt x="81756" y="63374"/>
                    <a:pt x="66675" y="111264"/>
                  </a:cubicBezTo>
                </a:path>
              </a:pathLst>
            </a:custGeom>
            <a:no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2" name="Forma Livre: Forma 71">
              <a:extLst>
                <a:ext uri="{FF2B5EF4-FFF2-40B4-BE49-F238E27FC236}">
                  <a16:creationId xmlns:a16="http://schemas.microsoft.com/office/drawing/2014/main" id="{D7F56D13-06A0-62E6-112F-8C2FA22995A9}"/>
                </a:ext>
              </a:extLst>
            </p:cNvPr>
            <p:cNvSpPr/>
            <p:nvPr/>
          </p:nvSpPr>
          <p:spPr>
            <a:xfrm>
              <a:off x="2235200" y="4340019"/>
              <a:ext cx="87012" cy="133556"/>
            </a:xfrm>
            <a:custGeom>
              <a:avLst/>
              <a:gdLst>
                <a:gd name="connsiteX0" fmla="*/ 0 w 87012"/>
                <a:gd name="connsiteY0" fmla="*/ 51006 h 133556"/>
                <a:gd name="connsiteX1" fmla="*/ 79375 w 87012"/>
                <a:gd name="connsiteY1" fmla="*/ 3381 h 133556"/>
                <a:gd name="connsiteX2" fmla="*/ 79375 w 87012"/>
                <a:gd name="connsiteY2" fmla="*/ 133556 h 133556"/>
              </a:gdLst>
              <a:ahLst/>
              <a:cxnLst>
                <a:cxn ang="0">
                  <a:pos x="connsiteX0" y="connsiteY0"/>
                </a:cxn>
                <a:cxn ang="0">
                  <a:pos x="connsiteX1" y="connsiteY1"/>
                </a:cxn>
                <a:cxn ang="0">
                  <a:pos x="connsiteX2" y="connsiteY2"/>
                </a:cxn>
              </a:cxnLst>
              <a:rect l="l" t="t" r="r" b="b"/>
              <a:pathLst>
                <a:path w="87012" h="133556">
                  <a:moveTo>
                    <a:pt x="0" y="51006"/>
                  </a:moveTo>
                  <a:cubicBezTo>
                    <a:pt x="33073" y="20314"/>
                    <a:pt x="66146" y="-10377"/>
                    <a:pt x="79375" y="3381"/>
                  </a:cubicBezTo>
                  <a:cubicBezTo>
                    <a:pt x="92604" y="17139"/>
                    <a:pt x="85989" y="75347"/>
                    <a:pt x="79375" y="133556"/>
                  </a:cubicBezTo>
                </a:path>
              </a:pathLst>
            </a:custGeom>
            <a:no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3" name="Forma Livre: Forma 72">
              <a:extLst>
                <a:ext uri="{FF2B5EF4-FFF2-40B4-BE49-F238E27FC236}">
                  <a16:creationId xmlns:a16="http://schemas.microsoft.com/office/drawing/2014/main" id="{D79D1EC4-900A-E0DC-21EB-C06FE8BE60DC}"/>
                </a:ext>
              </a:extLst>
            </p:cNvPr>
            <p:cNvSpPr/>
            <p:nvPr/>
          </p:nvSpPr>
          <p:spPr>
            <a:xfrm>
              <a:off x="2311400" y="4398411"/>
              <a:ext cx="79448" cy="125964"/>
            </a:xfrm>
            <a:custGeom>
              <a:avLst/>
              <a:gdLst>
                <a:gd name="connsiteX0" fmla="*/ 0 w 79448"/>
                <a:gd name="connsiteY0" fmla="*/ 59289 h 125964"/>
                <a:gd name="connsiteX1" fmla="*/ 66675 w 79448"/>
                <a:gd name="connsiteY1" fmla="*/ 2139 h 125964"/>
                <a:gd name="connsiteX2" fmla="*/ 79375 w 79448"/>
                <a:gd name="connsiteY2" fmla="*/ 125964 h 125964"/>
              </a:gdLst>
              <a:ahLst/>
              <a:cxnLst>
                <a:cxn ang="0">
                  <a:pos x="connsiteX0" y="connsiteY0"/>
                </a:cxn>
                <a:cxn ang="0">
                  <a:pos x="connsiteX1" y="connsiteY1"/>
                </a:cxn>
                <a:cxn ang="0">
                  <a:pos x="connsiteX2" y="connsiteY2"/>
                </a:cxn>
              </a:cxnLst>
              <a:rect l="l" t="t" r="r" b="b"/>
              <a:pathLst>
                <a:path w="79448" h="125964">
                  <a:moveTo>
                    <a:pt x="0" y="59289"/>
                  </a:moveTo>
                  <a:cubicBezTo>
                    <a:pt x="26723" y="25158"/>
                    <a:pt x="53446" y="-8973"/>
                    <a:pt x="66675" y="2139"/>
                  </a:cubicBezTo>
                  <a:cubicBezTo>
                    <a:pt x="79904" y="13251"/>
                    <a:pt x="79639" y="69607"/>
                    <a:pt x="79375" y="125964"/>
                  </a:cubicBezTo>
                </a:path>
              </a:pathLst>
            </a:custGeom>
            <a:no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4" name="Forma Livre: Forma 73">
              <a:extLst>
                <a:ext uri="{FF2B5EF4-FFF2-40B4-BE49-F238E27FC236}">
                  <a16:creationId xmlns:a16="http://schemas.microsoft.com/office/drawing/2014/main" id="{CFA317FC-CBA8-2D85-F2CA-3A07BFAD6E3A}"/>
                </a:ext>
              </a:extLst>
            </p:cNvPr>
            <p:cNvSpPr/>
            <p:nvPr/>
          </p:nvSpPr>
          <p:spPr>
            <a:xfrm>
              <a:off x="2374900" y="4452843"/>
              <a:ext cx="85662" cy="125507"/>
            </a:xfrm>
            <a:custGeom>
              <a:avLst/>
              <a:gdLst>
                <a:gd name="connsiteX0" fmla="*/ 0 w 85662"/>
                <a:gd name="connsiteY0" fmla="*/ 65182 h 125507"/>
                <a:gd name="connsiteX1" fmla="*/ 82550 w 85662"/>
                <a:gd name="connsiteY1" fmla="*/ 1682 h 125507"/>
                <a:gd name="connsiteX2" fmla="*/ 60325 w 85662"/>
                <a:gd name="connsiteY2" fmla="*/ 125507 h 125507"/>
              </a:gdLst>
              <a:ahLst/>
              <a:cxnLst>
                <a:cxn ang="0">
                  <a:pos x="connsiteX0" y="connsiteY0"/>
                </a:cxn>
                <a:cxn ang="0">
                  <a:pos x="connsiteX1" y="connsiteY1"/>
                </a:cxn>
                <a:cxn ang="0">
                  <a:pos x="connsiteX2" y="connsiteY2"/>
                </a:cxn>
              </a:cxnLst>
              <a:rect l="l" t="t" r="r" b="b"/>
              <a:pathLst>
                <a:path w="85662" h="125507">
                  <a:moveTo>
                    <a:pt x="0" y="65182"/>
                  </a:moveTo>
                  <a:cubicBezTo>
                    <a:pt x="36248" y="28405"/>
                    <a:pt x="72496" y="-8372"/>
                    <a:pt x="82550" y="1682"/>
                  </a:cubicBezTo>
                  <a:cubicBezTo>
                    <a:pt x="92604" y="11736"/>
                    <a:pt x="76464" y="68621"/>
                    <a:pt x="60325" y="125507"/>
                  </a:cubicBezTo>
                </a:path>
              </a:pathLst>
            </a:custGeom>
            <a:no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5" name="Forma Livre: Forma 74">
              <a:extLst>
                <a:ext uri="{FF2B5EF4-FFF2-40B4-BE49-F238E27FC236}">
                  <a16:creationId xmlns:a16="http://schemas.microsoft.com/office/drawing/2014/main" id="{600EBBD5-E1A7-6BC3-AEAB-AEB3DEBB9379}"/>
                </a:ext>
              </a:extLst>
            </p:cNvPr>
            <p:cNvSpPr/>
            <p:nvPr/>
          </p:nvSpPr>
          <p:spPr>
            <a:xfrm>
              <a:off x="2444750" y="4501630"/>
              <a:ext cx="72127" cy="98945"/>
            </a:xfrm>
            <a:custGeom>
              <a:avLst/>
              <a:gdLst>
                <a:gd name="connsiteX0" fmla="*/ 0 w 72127"/>
                <a:gd name="connsiteY0" fmla="*/ 67195 h 98945"/>
                <a:gd name="connsiteX1" fmla="*/ 63500 w 72127"/>
                <a:gd name="connsiteY1" fmla="*/ 520 h 98945"/>
                <a:gd name="connsiteX2" fmla="*/ 69850 w 72127"/>
                <a:gd name="connsiteY2" fmla="*/ 98945 h 98945"/>
              </a:gdLst>
              <a:ahLst/>
              <a:cxnLst>
                <a:cxn ang="0">
                  <a:pos x="connsiteX0" y="connsiteY0"/>
                </a:cxn>
                <a:cxn ang="0">
                  <a:pos x="connsiteX1" y="connsiteY1"/>
                </a:cxn>
                <a:cxn ang="0">
                  <a:pos x="connsiteX2" y="connsiteY2"/>
                </a:cxn>
              </a:cxnLst>
              <a:rect l="l" t="t" r="r" b="b"/>
              <a:pathLst>
                <a:path w="72127" h="98945">
                  <a:moveTo>
                    <a:pt x="0" y="67195"/>
                  </a:moveTo>
                  <a:cubicBezTo>
                    <a:pt x="25929" y="31211"/>
                    <a:pt x="51858" y="-4772"/>
                    <a:pt x="63500" y="520"/>
                  </a:cubicBezTo>
                  <a:cubicBezTo>
                    <a:pt x="75142" y="5812"/>
                    <a:pt x="72496" y="52378"/>
                    <a:pt x="69850" y="98945"/>
                  </a:cubicBezTo>
                </a:path>
              </a:pathLst>
            </a:custGeom>
            <a:no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6" name="Forma Livre: Forma 75">
              <a:extLst>
                <a:ext uri="{FF2B5EF4-FFF2-40B4-BE49-F238E27FC236}">
                  <a16:creationId xmlns:a16="http://schemas.microsoft.com/office/drawing/2014/main" id="{AF771831-DE3E-AC38-FF22-C146CA0083AA}"/>
                </a:ext>
              </a:extLst>
            </p:cNvPr>
            <p:cNvSpPr/>
            <p:nvPr/>
          </p:nvSpPr>
          <p:spPr>
            <a:xfrm>
              <a:off x="2508250" y="4539696"/>
              <a:ext cx="76200" cy="111679"/>
            </a:xfrm>
            <a:custGeom>
              <a:avLst/>
              <a:gdLst>
                <a:gd name="connsiteX0" fmla="*/ 0 w 76200"/>
                <a:gd name="connsiteY0" fmla="*/ 76754 h 111679"/>
                <a:gd name="connsiteX1" fmla="*/ 60325 w 76200"/>
                <a:gd name="connsiteY1" fmla="*/ 554 h 111679"/>
                <a:gd name="connsiteX2" fmla="*/ 76200 w 76200"/>
                <a:gd name="connsiteY2" fmla="*/ 111679 h 111679"/>
              </a:gdLst>
              <a:ahLst/>
              <a:cxnLst>
                <a:cxn ang="0">
                  <a:pos x="connsiteX0" y="connsiteY0"/>
                </a:cxn>
                <a:cxn ang="0">
                  <a:pos x="connsiteX1" y="connsiteY1"/>
                </a:cxn>
                <a:cxn ang="0">
                  <a:pos x="connsiteX2" y="connsiteY2"/>
                </a:cxn>
              </a:cxnLst>
              <a:rect l="l" t="t" r="r" b="b"/>
              <a:pathLst>
                <a:path w="76200" h="111679">
                  <a:moveTo>
                    <a:pt x="0" y="76754"/>
                  </a:moveTo>
                  <a:cubicBezTo>
                    <a:pt x="23812" y="35743"/>
                    <a:pt x="47625" y="-5267"/>
                    <a:pt x="60325" y="554"/>
                  </a:cubicBezTo>
                  <a:cubicBezTo>
                    <a:pt x="73025" y="6375"/>
                    <a:pt x="74612" y="59027"/>
                    <a:pt x="76200" y="111679"/>
                  </a:cubicBezTo>
                </a:path>
              </a:pathLst>
            </a:custGeom>
            <a:no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7" name="Forma Livre: Forma 76">
              <a:extLst>
                <a:ext uri="{FF2B5EF4-FFF2-40B4-BE49-F238E27FC236}">
                  <a16:creationId xmlns:a16="http://schemas.microsoft.com/office/drawing/2014/main" id="{9E3EE2E2-AAFC-F971-94C2-3CA4B3CB80E6}"/>
                </a:ext>
              </a:extLst>
            </p:cNvPr>
            <p:cNvSpPr/>
            <p:nvPr/>
          </p:nvSpPr>
          <p:spPr>
            <a:xfrm>
              <a:off x="2565400" y="4577916"/>
              <a:ext cx="92820" cy="114734"/>
            </a:xfrm>
            <a:custGeom>
              <a:avLst/>
              <a:gdLst>
                <a:gd name="connsiteX0" fmla="*/ 0 w 92820"/>
                <a:gd name="connsiteY0" fmla="*/ 82984 h 114734"/>
                <a:gd name="connsiteX1" fmla="*/ 79375 w 92820"/>
                <a:gd name="connsiteY1" fmla="*/ 434 h 114734"/>
                <a:gd name="connsiteX2" fmla="*/ 92075 w 92820"/>
                <a:gd name="connsiteY2" fmla="*/ 114734 h 114734"/>
              </a:gdLst>
              <a:ahLst/>
              <a:cxnLst>
                <a:cxn ang="0">
                  <a:pos x="connsiteX0" y="connsiteY0"/>
                </a:cxn>
                <a:cxn ang="0">
                  <a:pos x="connsiteX1" y="connsiteY1"/>
                </a:cxn>
                <a:cxn ang="0">
                  <a:pos x="connsiteX2" y="connsiteY2"/>
                </a:cxn>
              </a:cxnLst>
              <a:rect l="l" t="t" r="r" b="b"/>
              <a:pathLst>
                <a:path w="92820" h="114734">
                  <a:moveTo>
                    <a:pt x="0" y="82984"/>
                  </a:moveTo>
                  <a:cubicBezTo>
                    <a:pt x="32014" y="39063"/>
                    <a:pt x="64029" y="-4858"/>
                    <a:pt x="79375" y="434"/>
                  </a:cubicBezTo>
                  <a:cubicBezTo>
                    <a:pt x="94721" y="5726"/>
                    <a:pt x="93398" y="60230"/>
                    <a:pt x="92075" y="114734"/>
                  </a:cubicBezTo>
                </a:path>
              </a:pathLst>
            </a:custGeom>
            <a:no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8" name="Forma Livre: Forma 77">
              <a:extLst>
                <a:ext uri="{FF2B5EF4-FFF2-40B4-BE49-F238E27FC236}">
                  <a16:creationId xmlns:a16="http://schemas.microsoft.com/office/drawing/2014/main" id="{A2A80F15-32A8-C453-F003-E9E0F2429B5F}"/>
                </a:ext>
              </a:extLst>
            </p:cNvPr>
            <p:cNvSpPr/>
            <p:nvPr/>
          </p:nvSpPr>
          <p:spPr>
            <a:xfrm>
              <a:off x="2651125" y="4603482"/>
              <a:ext cx="95250" cy="114568"/>
            </a:xfrm>
            <a:custGeom>
              <a:avLst/>
              <a:gdLst>
                <a:gd name="connsiteX0" fmla="*/ 0 w 95250"/>
                <a:gd name="connsiteY0" fmla="*/ 89168 h 114568"/>
                <a:gd name="connsiteX1" fmla="*/ 66675 w 95250"/>
                <a:gd name="connsiteY1" fmla="*/ 268 h 114568"/>
                <a:gd name="connsiteX2" fmla="*/ 95250 w 95250"/>
                <a:gd name="connsiteY2" fmla="*/ 114568 h 114568"/>
              </a:gdLst>
              <a:ahLst/>
              <a:cxnLst>
                <a:cxn ang="0">
                  <a:pos x="connsiteX0" y="connsiteY0"/>
                </a:cxn>
                <a:cxn ang="0">
                  <a:pos x="connsiteX1" y="connsiteY1"/>
                </a:cxn>
                <a:cxn ang="0">
                  <a:pos x="connsiteX2" y="connsiteY2"/>
                </a:cxn>
              </a:cxnLst>
              <a:rect l="l" t="t" r="r" b="b"/>
              <a:pathLst>
                <a:path w="95250" h="114568">
                  <a:moveTo>
                    <a:pt x="0" y="89168"/>
                  </a:moveTo>
                  <a:cubicBezTo>
                    <a:pt x="25400" y="42601"/>
                    <a:pt x="50800" y="-3965"/>
                    <a:pt x="66675" y="268"/>
                  </a:cubicBezTo>
                  <a:cubicBezTo>
                    <a:pt x="82550" y="4501"/>
                    <a:pt x="88900" y="59534"/>
                    <a:pt x="95250" y="114568"/>
                  </a:cubicBezTo>
                </a:path>
              </a:pathLst>
            </a:custGeom>
            <a:no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9" name="Forma Livre: Forma 78">
              <a:extLst>
                <a:ext uri="{FF2B5EF4-FFF2-40B4-BE49-F238E27FC236}">
                  <a16:creationId xmlns:a16="http://schemas.microsoft.com/office/drawing/2014/main" id="{6EF95DE3-0AEA-02CB-E478-9BE340A6783A}"/>
                </a:ext>
              </a:extLst>
            </p:cNvPr>
            <p:cNvSpPr/>
            <p:nvPr/>
          </p:nvSpPr>
          <p:spPr>
            <a:xfrm>
              <a:off x="2733675" y="4606865"/>
              <a:ext cx="82550" cy="117535"/>
            </a:xfrm>
            <a:custGeom>
              <a:avLst/>
              <a:gdLst>
                <a:gd name="connsiteX0" fmla="*/ 0 w 82550"/>
                <a:gd name="connsiteY0" fmla="*/ 104835 h 117535"/>
                <a:gd name="connsiteX1" fmla="*/ 60325 w 82550"/>
                <a:gd name="connsiteY1" fmla="*/ 60 h 117535"/>
                <a:gd name="connsiteX2" fmla="*/ 82550 w 82550"/>
                <a:gd name="connsiteY2" fmla="*/ 117535 h 117535"/>
              </a:gdLst>
              <a:ahLst/>
              <a:cxnLst>
                <a:cxn ang="0">
                  <a:pos x="connsiteX0" y="connsiteY0"/>
                </a:cxn>
                <a:cxn ang="0">
                  <a:pos x="connsiteX1" y="connsiteY1"/>
                </a:cxn>
                <a:cxn ang="0">
                  <a:pos x="connsiteX2" y="connsiteY2"/>
                </a:cxn>
              </a:cxnLst>
              <a:rect l="l" t="t" r="r" b="b"/>
              <a:pathLst>
                <a:path w="82550" h="117535">
                  <a:moveTo>
                    <a:pt x="0" y="104835"/>
                  </a:moveTo>
                  <a:cubicBezTo>
                    <a:pt x="23283" y="51389"/>
                    <a:pt x="46567" y="-2057"/>
                    <a:pt x="60325" y="60"/>
                  </a:cubicBezTo>
                  <a:cubicBezTo>
                    <a:pt x="74083" y="2177"/>
                    <a:pt x="78316" y="59856"/>
                    <a:pt x="82550" y="117535"/>
                  </a:cubicBezTo>
                </a:path>
              </a:pathLst>
            </a:custGeom>
            <a:no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0" name="Forma Livre: Forma 79">
              <a:extLst>
                <a:ext uri="{FF2B5EF4-FFF2-40B4-BE49-F238E27FC236}">
                  <a16:creationId xmlns:a16="http://schemas.microsoft.com/office/drawing/2014/main" id="{F1748201-F8B2-ADE8-2CD8-08B0B3212FE4}"/>
                </a:ext>
              </a:extLst>
            </p:cNvPr>
            <p:cNvSpPr/>
            <p:nvPr/>
          </p:nvSpPr>
          <p:spPr>
            <a:xfrm>
              <a:off x="2800350" y="4632261"/>
              <a:ext cx="107950" cy="111189"/>
            </a:xfrm>
            <a:custGeom>
              <a:avLst/>
              <a:gdLst>
                <a:gd name="connsiteX0" fmla="*/ 0 w 107950"/>
                <a:gd name="connsiteY0" fmla="*/ 98489 h 111189"/>
                <a:gd name="connsiteX1" fmla="*/ 60325 w 107950"/>
                <a:gd name="connsiteY1" fmla="*/ 64 h 111189"/>
                <a:gd name="connsiteX2" fmla="*/ 107950 w 107950"/>
                <a:gd name="connsiteY2" fmla="*/ 111189 h 111189"/>
              </a:gdLst>
              <a:ahLst/>
              <a:cxnLst>
                <a:cxn ang="0">
                  <a:pos x="connsiteX0" y="connsiteY0"/>
                </a:cxn>
                <a:cxn ang="0">
                  <a:pos x="connsiteX1" y="connsiteY1"/>
                </a:cxn>
                <a:cxn ang="0">
                  <a:pos x="connsiteX2" y="connsiteY2"/>
                </a:cxn>
              </a:cxnLst>
              <a:rect l="l" t="t" r="r" b="b"/>
              <a:pathLst>
                <a:path w="107950" h="111189">
                  <a:moveTo>
                    <a:pt x="0" y="98489"/>
                  </a:moveTo>
                  <a:cubicBezTo>
                    <a:pt x="21166" y="48218"/>
                    <a:pt x="42333" y="-2053"/>
                    <a:pt x="60325" y="64"/>
                  </a:cubicBezTo>
                  <a:cubicBezTo>
                    <a:pt x="78317" y="2181"/>
                    <a:pt x="93133" y="56685"/>
                    <a:pt x="107950" y="111189"/>
                  </a:cubicBezTo>
                </a:path>
              </a:pathLst>
            </a:custGeom>
            <a:noFill/>
            <a:ln w="6350">
              <a:solidFill>
                <a:schemeClr val="tx1"/>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Tree>
    <p:extLst>
      <p:ext uri="{BB962C8B-B14F-4D97-AF65-F5344CB8AC3E}">
        <p14:creationId xmlns:p14="http://schemas.microsoft.com/office/powerpoint/2010/main" val="21672114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C0E484-4D14-ED45-6334-FB9030891CDC}"/>
              </a:ext>
            </a:extLst>
          </p:cNvPr>
          <p:cNvSpPr>
            <a:spLocks noGrp="1"/>
          </p:cNvSpPr>
          <p:nvPr>
            <p:ph type="title"/>
          </p:nvPr>
        </p:nvSpPr>
        <p:spPr>
          <a:xfrm>
            <a:off x="838199" y="365125"/>
            <a:ext cx="11264757" cy="1325563"/>
          </a:xfrm>
        </p:spPr>
        <p:txBody>
          <a:bodyPr/>
          <a:lstStyle/>
          <a:p>
            <a:r>
              <a:rPr lang="pt-BR" dirty="0"/>
              <a:t>Qual o tamanho de passo de aprendizagem usar?</a:t>
            </a:r>
          </a:p>
        </p:txBody>
      </p:sp>
      <p:sp>
        <p:nvSpPr>
          <p:cNvPr id="3" name="Espaço Reservado para Conteúdo 2">
            <a:extLst>
              <a:ext uri="{FF2B5EF4-FFF2-40B4-BE49-F238E27FC236}">
                <a16:creationId xmlns:a16="http://schemas.microsoft.com/office/drawing/2014/main" id="{8AA55DA5-8239-8A32-8EFE-CC711352420F}"/>
              </a:ext>
            </a:extLst>
          </p:cNvPr>
          <p:cNvSpPr>
            <a:spLocks noGrp="1"/>
          </p:cNvSpPr>
          <p:nvPr>
            <p:ph idx="1"/>
          </p:nvPr>
        </p:nvSpPr>
        <p:spPr>
          <a:xfrm>
            <a:off x="4996107" y="1825624"/>
            <a:ext cx="7195894" cy="5032376"/>
          </a:xfrm>
        </p:spPr>
        <p:txBody>
          <a:bodyPr>
            <a:normAutofit lnSpcReduction="10000"/>
          </a:bodyPr>
          <a:lstStyle/>
          <a:p>
            <a:r>
              <a:rPr lang="pt-BR" dirty="0"/>
              <a:t>É importante escolhermos um passo de aprendizagem que </a:t>
            </a:r>
            <a:r>
              <a:rPr lang="pt-BR" b="1" dirty="0">
                <a:solidFill>
                  <a:schemeClr val="accent2"/>
                </a:solidFill>
              </a:rPr>
              <a:t>acelere</a:t>
            </a:r>
            <a:r>
              <a:rPr lang="pt-BR" b="1" dirty="0">
                <a:solidFill>
                  <a:srgbClr val="00B050"/>
                </a:solidFill>
              </a:rPr>
              <a:t> a convergência </a:t>
            </a:r>
            <a:r>
              <a:rPr lang="pt-BR" b="1" dirty="0">
                <a:solidFill>
                  <a:schemeClr val="accent2"/>
                </a:solidFill>
              </a:rPr>
              <a:t>sem causar oscilações</a:t>
            </a:r>
            <a:r>
              <a:rPr lang="pt-BR" b="1" dirty="0">
                <a:solidFill>
                  <a:srgbClr val="00B050"/>
                </a:solidFill>
              </a:rPr>
              <a:t> em torno do ponto de mínimo</a:t>
            </a:r>
            <a:r>
              <a:rPr lang="pt-BR" dirty="0"/>
              <a:t>.</a:t>
            </a:r>
          </a:p>
          <a:p>
            <a:r>
              <a:rPr lang="pt-BR" dirty="0"/>
              <a:t>Em geral, um bom valor para o passo é encontrado por </a:t>
            </a:r>
            <a:r>
              <a:rPr lang="pt-BR" b="1" dirty="0">
                <a:solidFill>
                  <a:srgbClr val="7030A0"/>
                </a:solidFill>
              </a:rPr>
              <a:t>tentativa e erro ou otimização.</a:t>
            </a:r>
            <a:endParaRPr lang="pt-BR" dirty="0"/>
          </a:p>
          <a:p>
            <a:r>
              <a:rPr lang="pt-BR" dirty="0"/>
              <a:t>Uma forma mais avançada é ajustar o passo ao longo das iterações.</a:t>
            </a:r>
          </a:p>
          <a:p>
            <a:pPr lvl="1">
              <a:buFont typeface="Wingdings" panose="05000000000000000000" pitchFamily="2" charset="2"/>
              <a:buChar char="§"/>
            </a:pPr>
            <a:r>
              <a:rPr lang="pt-BR" dirty="0"/>
              <a:t>Usamos </a:t>
            </a:r>
            <a:r>
              <a:rPr lang="pt-BR" b="1" dirty="0">
                <a:solidFill>
                  <a:srgbClr val="00B050"/>
                </a:solidFill>
              </a:rPr>
              <a:t>valores maiores no início</a:t>
            </a:r>
            <a:r>
              <a:rPr lang="pt-BR" dirty="0"/>
              <a:t>, em pontos distantes do mínimo, e o </a:t>
            </a:r>
            <a:r>
              <a:rPr lang="pt-BR" b="1" dirty="0">
                <a:solidFill>
                  <a:srgbClr val="00B050"/>
                </a:solidFill>
              </a:rPr>
              <a:t>reduzimos gradualmente </a:t>
            </a:r>
            <a:r>
              <a:rPr lang="pt-BR" dirty="0"/>
              <a:t>ao longo das iterações.</a:t>
            </a:r>
          </a:p>
          <a:p>
            <a:pPr lvl="1">
              <a:buFont typeface="Wingdings" panose="05000000000000000000" pitchFamily="2" charset="2"/>
              <a:buChar char="§"/>
            </a:pPr>
            <a:r>
              <a:rPr lang="pt-BR" dirty="0"/>
              <a:t>Existem métodos que o ajustam automaticamente usando informação histórica dos gradientes.</a:t>
            </a:r>
          </a:p>
        </p:txBody>
      </p:sp>
      <p:grpSp>
        <p:nvGrpSpPr>
          <p:cNvPr id="4" name="Group 3">
            <a:extLst>
              <a:ext uri="{FF2B5EF4-FFF2-40B4-BE49-F238E27FC236}">
                <a16:creationId xmlns:a16="http://schemas.microsoft.com/office/drawing/2014/main" id="{281C0929-D05A-423F-33E3-1E65503E9587}"/>
              </a:ext>
            </a:extLst>
          </p:cNvPr>
          <p:cNvGrpSpPr/>
          <p:nvPr/>
        </p:nvGrpSpPr>
        <p:grpSpPr>
          <a:xfrm>
            <a:off x="709108" y="2495097"/>
            <a:ext cx="3963570" cy="2939416"/>
            <a:chOff x="973059" y="2353695"/>
            <a:chExt cx="3963570" cy="2939416"/>
          </a:xfrm>
        </p:grpSpPr>
        <p:sp>
          <p:nvSpPr>
            <p:cNvPr id="33" name="Forma Livre: Forma 32">
              <a:extLst>
                <a:ext uri="{FF2B5EF4-FFF2-40B4-BE49-F238E27FC236}">
                  <a16:creationId xmlns:a16="http://schemas.microsoft.com/office/drawing/2014/main" id="{7C72AF5E-AD61-47E9-180D-8D4F9F4548A7}"/>
                </a:ext>
              </a:extLst>
            </p:cNvPr>
            <p:cNvSpPr/>
            <p:nvPr/>
          </p:nvSpPr>
          <p:spPr>
            <a:xfrm>
              <a:off x="1190625" y="2990850"/>
              <a:ext cx="3429000" cy="1752634"/>
            </a:xfrm>
            <a:custGeom>
              <a:avLst/>
              <a:gdLst>
                <a:gd name="connsiteX0" fmla="*/ 0 w 3429000"/>
                <a:gd name="connsiteY0" fmla="*/ 38100 h 1752634"/>
                <a:gd name="connsiteX1" fmla="*/ 1714500 w 3429000"/>
                <a:gd name="connsiteY1" fmla="*/ 1752600 h 1752634"/>
                <a:gd name="connsiteX2" fmla="*/ 3429000 w 3429000"/>
                <a:gd name="connsiteY2" fmla="*/ 0 h 1752634"/>
              </a:gdLst>
              <a:ahLst/>
              <a:cxnLst>
                <a:cxn ang="0">
                  <a:pos x="connsiteX0" y="connsiteY0"/>
                </a:cxn>
                <a:cxn ang="0">
                  <a:pos x="connsiteX1" y="connsiteY1"/>
                </a:cxn>
                <a:cxn ang="0">
                  <a:pos x="connsiteX2" y="connsiteY2"/>
                </a:cxn>
              </a:cxnLst>
              <a:rect l="l" t="t" r="r" b="b"/>
              <a:pathLst>
                <a:path w="3429000" h="1752634">
                  <a:moveTo>
                    <a:pt x="0" y="38100"/>
                  </a:moveTo>
                  <a:cubicBezTo>
                    <a:pt x="571500" y="898525"/>
                    <a:pt x="1143000" y="1758950"/>
                    <a:pt x="1714500" y="1752600"/>
                  </a:cubicBezTo>
                  <a:cubicBezTo>
                    <a:pt x="2286000" y="1746250"/>
                    <a:pt x="3119438" y="314325"/>
                    <a:pt x="3429000"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34" name="Conector de Seta Reta 33">
              <a:extLst>
                <a:ext uri="{FF2B5EF4-FFF2-40B4-BE49-F238E27FC236}">
                  <a16:creationId xmlns:a16="http://schemas.microsoft.com/office/drawing/2014/main" id="{4FC25C18-C83D-3AB8-F417-92EAF612ED8A}"/>
                </a:ext>
              </a:extLst>
            </p:cNvPr>
            <p:cNvCxnSpPr>
              <a:cxnSpLocks/>
            </p:cNvCxnSpPr>
            <p:nvPr/>
          </p:nvCxnSpPr>
          <p:spPr>
            <a:xfrm>
              <a:off x="974017" y="4916172"/>
              <a:ext cx="386096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onector de Seta Reta 34">
              <a:extLst>
                <a:ext uri="{FF2B5EF4-FFF2-40B4-BE49-F238E27FC236}">
                  <a16:creationId xmlns:a16="http://schemas.microsoft.com/office/drawing/2014/main" id="{A31A3BE8-21C2-9616-3724-97C10E8F919C}"/>
                </a:ext>
              </a:extLst>
            </p:cNvPr>
            <p:cNvCxnSpPr>
              <a:cxnSpLocks/>
            </p:cNvCxnSpPr>
            <p:nvPr/>
          </p:nvCxnSpPr>
          <p:spPr>
            <a:xfrm flipV="1">
              <a:off x="974018" y="2442308"/>
              <a:ext cx="0" cy="247386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CaixaDeTexto 35">
                  <a:extLst>
                    <a:ext uri="{FF2B5EF4-FFF2-40B4-BE49-F238E27FC236}">
                      <a16:creationId xmlns:a16="http://schemas.microsoft.com/office/drawing/2014/main" id="{B6292365-46CE-2DC6-BC86-6332CDC50DD5}"/>
                    </a:ext>
                  </a:extLst>
                </p:cNvPr>
                <p:cNvSpPr txBox="1"/>
                <p:nvPr/>
              </p:nvSpPr>
              <p:spPr>
                <a:xfrm>
                  <a:off x="974017" y="2353695"/>
                  <a:ext cx="2747030" cy="369332"/>
                </a:xfrm>
                <a:prstGeom prst="rect">
                  <a:avLst/>
                </a:prstGeom>
                <a:noFill/>
              </p:spPr>
              <p:txBody>
                <a:bodyPr wrap="square" rtlCol="0">
                  <a:spAutoFit/>
                </a:bodyPr>
                <a:lstStyle/>
                <a:p>
                  <a:r>
                    <a:rPr lang="pt-BR" dirty="0"/>
                    <a:t>Função de erro, </a:t>
                  </a:r>
                  <a14:m>
                    <m:oMath xmlns:m="http://schemas.openxmlformats.org/officeDocument/2006/math">
                      <m:sSub>
                        <m:sSubPr>
                          <m:ctrlPr>
                            <a:rPr lang="pt-BR" b="0" i="1" smtClean="0">
                              <a:latin typeface="Cambria Math" panose="02040503050406030204" pitchFamily="18" charset="0"/>
                            </a:rPr>
                          </m:ctrlPr>
                        </m:sSubPr>
                        <m:e>
                          <m:r>
                            <a:rPr lang="pt-BR" b="0" i="1" smtClean="0">
                              <a:latin typeface="Cambria Math" panose="02040503050406030204" pitchFamily="18" charset="0"/>
                            </a:rPr>
                            <m:t>𝐽</m:t>
                          </m:r>
                        </m:e>
                        <m:sub>
                          <m:r>
                            <a:rPr lang="pt-BR" b="0" i="1" smtClean="0">
                              <a:latin typeface="Cambria Math" panose="02040503050406030204" pitchFamily="18" charset="0"/>
                            </a:rPr>
                            <m:t>𝑒</m:t>
                          </m:r>
                        </m:sub>
                      </m:sSub>
                      <m:r>
                        <a:rPr lang="pt-BR" b="0" i="1" smtClean="0">
                          <a:latin typeface="Cambria Math" panose="02040503050406030204" pitchFamily="18" charset="0"/>
                        </a:rPr>
                        <m:t>(</m:t>
                      </m:r>
                      <m:r>
                        <a:rPr lang="pt-BR" b="0" i="1" smtClean="0">
                          <a:latin typeface="Cambria Math" panose="02040503050406030204" pitchFamily="18" charset="0"/>
                        </a:rPr>
                        <m:t>𝑎</m:t>
                      </m:r>
                      <m:r>
                        <a:rPr lang="pt-BR" b="0" i="1" smtClean="0">
                          <a:latin typeface="Cambria Math" panose="02040503050406030204" pitchFamily="18" charset="0"/>
                        </a:rPr>
                        <m:t>)</m:t>
                      </m:r>
                    </m:oMath>
                  </a14:m>
                  <a:endParaRPr lang="pt-BR" dirty="0"/>
                </a:p>
              </p:txBody>
            </p:sp>
          </mc:Choice>
          <mc:Fallback xmlns="">
            <p:sp>
              <p:nvSpPr>
                <p:cNvPr id="36" name="CaixaDeTexto 35">
                  <a:extLst>
                    <a:ext uri="{FF2B5EF4-FFF2-40B4-BE49-F238E27FC236}">
                      <a16:creationId xmlns:a16="http://schemas.microsoft.com/office/drawing/2014/main" id="{B6292365-46CE-2DC6-BC86-6332CDC50DD5}"/>
                    </a:ext>
                  </a:extLst>
                </p:cNvPr>
                <p:cNvSpPr txBox="1">
                  <a:spLocks noRot="1" noChangeAspect="1" noMove="1" noResize="1" noEditPoints="1" noAdjustHandles="1" noChangeArrowheads="1" noChangeShapeType="1" noTextEdit="1"/>
                </p:cNvSpPr>
                <p:nvPr/>
              </p:nvSpPr>
              <p:spPr>
                <a:xfrm>
                  <a:off x="974017" y="2353695"/>
                  <a:ext cx="2747030" cy="369332"/>
                </a:xfrm>
                <a:prstGeom prst="rect">
                  <a:avLst/>
                </a:prstGeom>
                <a:blipFill>
                  <a:blip r:embed="rId3"/>
                  <a:stretch>
                    <a:fillRect l="-1774" t="-8197" b="-24590"/>
                  </a:stretch>
                </a:blipFill>
              </p:spPr>
              <p:txBody>
                <a:bodyPr/>
                <a:lstStyle/>
                <a:p>
                  <a:r>
                    <a:rPr lang="en-US">
                      <a:noFill/>
                    </a:rPr>
                    <a:t> </a:t>
                  </a:r>
                </a:p>
              </p:txBody>
            </p:sp>
          </mc:Fallback>
        </mc:AlternateContent>
        <p:sp>
          <p:nvSpPr>
            <p:cNvPr id="37" name="CaixaDeTexto 36">
              <a:extLst>
                <a:ext uri="{FF2B5EF4-FFF2-40B4-BE49-F238E27FC236}">
                  <a16:creationId xmlns:a16="http://schemas.microsoft.com/office/drawing/2014/main" id="{01390CF0-6B6A-9B0D-7DE8-899223FCADD7}"/>
                </a:ext>
              </a:extLst>
            </p:cNvPr>
            <p:cNvSpPr txBox="1"/>
            <p:nvPr/>
          </p:nvSpPr>
          <p:spPr>
            <a:xfrm>
              <a:off x="4300295" y="4923779"/>
              <a:ext cx="636334" cy="369332"/>
            </a:xfrm>
            <a:prstGeom prst="rect">
              <a:avLst/>
            </a:prstGeom>
            <a:noFill/>
          </p:spPr>
          <p:txBody>
            <a:bodyPr wrap="square" rtlCol="0">
              <a:spAutoFit/>
            </a:bodyPr>
            <a:lstStyle/>
            <a:p>
              <a:pPr algn="r"/>
              <a:r>
                <a:rPr lang="pt-BR" dirty="0"/>
                <a:t>Peso</a:t>
              </a:r>
            </a:p>
          </p:txBody>
        </p:sp>
        <p:cxnSp>
          <p:nvCxnSpPr>
            <p:cNvPr id="38" name="Conector reto 37">
              <a:extLst>
                <a:ext uri="{FF2B5EF4-FFF2-40B4-BE49-F238E27FC236}">
                  <a16:creationId xmlns:a16="http://schemas.microsoft.com/office/drawing/2014/main" id="{6864894A-0008-36B9-4A42-31E85C4D2710}"/>
                </a:ext>
              </a:extLst>
            </p:cNvPr>
            <p:cNvCxnSpPr/>
            <p:nvPr/>
          </p:nvCxnSpPr>
          <p:spPr>
            <a:xfrm>
              <a:off x="976885" y="4744536"/>
              <a:ext cx="1930484" cy="0"/>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39" name="Conector reto 38">
              <a:extLst>
                <a:ext uri="{FF2B5EF4-FFF2-40B4-BE49-F238E27FC236}">
                  <a16:creationId xmlns:a16="http://schemas.microsoft.com/office/drawing/2014/main" id="{68DC3660-BA2F-2A1E-7738-D4BCA0921550}"/>
                </a:ext>
              </a:extLst>
            </p:cNvPr>
            <p:cNvCxnSpPr>
              <a:cxnSpLocks/>
            </p:cNvCxnSpPr>
            <p:nvPr/>
          </p:nvCxnSpPr>
          <p:spPr>
            <a:xfrm>
              <a:off x="2902477" y="4736969"/>
              <a:ext cx="0" cy="171598"/>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40" name="Elipse 39">
              <a:extLst>
                <a:ext uri="{FF2B5EF4-FFF2-40B4-BE49-F238E27FC236}">
                  <a16:creationId xmlns:a16="http://schemas.microsoft.com/office/drawing/2014/main" id="{C43B5FA5-C881-689C-19C6-ABBBD27317D9}"/>
                </a:ext>
              </a:extLst>
            </p:cNvPr>
            <p:cNvSpPr/>
            <p:nvPr/>
          </p:nvSpPr>
          <p:spPr>
            <a:xfrm>
              <a:off x="2879776" y="4721835"/>
              <a:ext cx="42900" cy="429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1" name="Elipse 40">
              <a:extLst>
                <a:ext uri="{FF2B5EF4-FFF2-40B4-BE49-F238E27FC236}">
                  <a16:creationId xmlns:a16="http://schemas.microsoft.com/office/drawing/2014/main" id="{25D89519-9D18-E533-6B58-8EDFDB682401}"/>
                </a:ext>
              </a:extLst>
            </p:cNvPr>
            <p:cNvSpPr/>
            <p:nvPr/>
          </p:nvSpPr>
          <p:spPr>
            <a:xfrm>
              <a:off x="1273647" y="3163362"/>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42" name="Conector reto 41">
              <a:extLst>
                <a:ext uri="{FF2B5EF4-FFF2-40B4-BE49-F238E27FC236}">
                  <a16:creationId xmlns:a16="http://schemas.microsoft.com/office/drawing/2014/main" id="{77635043-48FD-B7AE-C2C5-B612334BCA3B}"/>
                </a:ext>
              </a:extLst>
            </p:cNvPr>
            <p:cNvCxnSpPr/>
            <p:nvPr/>
          </p:nvCxnSpPr>
          <p:spPr>
            <a:xfrm>
              <a:off x="973059" y="3184593"/>
              <a:ext cx="324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3" name="Conector reto 42">
              <a:extLst>
                <a:ext uri="{FF2B5EF4-FFF2-40B4-BE49-F238E27FC236}">
                  <a16:creationId xmlns:a16="http://schemas.microsoft.com/office/drawing/2014/main" id="{D2A5FB6B-929B-9E63-6566-29FABE31E513}"/>
                </a:ext>
              </a:extLst>
            </p:cNvPr>
            <p:cNvCxnSpPr>
              <a:cxnSpLocks/>
            </p:cNvCxnSpPr>
            <p:nvPr/>
          </p:nvCxnSpPr>
          <p:spPr>
            <a:xfrm>
              <a:off x="1295097" y="3163361"/>
              <a:ext cx="0" cy="1764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4" name="CaixaDeTexto 43">
              <a:extLst>
                <a:ext uri="{FF2B5EF4-FFF2-40B4-BE49-F238E27FC236}">
                  <a16:creationId xmlns:a16="http://schemas.microsoft.com/office/drawing/2014/main" id="{8B414CE2-054A-BC5F-52BD-A5CF45D78027}"/>
                </a:ext>
              </a:extLst>
            </p:cNvPr>
            <p:cNvSpPr txBox="1"/>
            <p:nvPr/>
          </p:nvSpPr>
          <p:spPr>
            <a:xfrm>
              <a:off x="1158048" y="2978475"/>
              <a:ext cx="1071476" cy="276999"/>
            </a:xfrm>
            <a:prstGeom prst="rect">
              <a:avLst/>
            </a:prstGeom>
            <a:noFill/>
          </p:spPr>
          <p:txBody>
            <a:bodyPr wrap="square" rtlCol="0">
              <a:spAutoFit/>
            </a:bodyPr>
            <a:lstStyle/>
            <a:p>
              <a:pPr algn="ctr"/>
              <a:r>
                <a:rPr lang="pt-BR" sz="1200" dirty="0"/>
                <a:t>Ponto inicial</a:t>
              </a:r>
            </a:p>
          </p:txBody>
        </p:sp>
        <mc:AlternateContent xmlns:mc="http://schemas.openxmlformats.org/markup-compatibility/2006" xmlns:a14="http://schemas.microsoft.com/office/drawing/2010/main">
          <mc:Choice Requires="a14">
            <p:sp>
              <p:nvSpPr>
                <p:cNvPr id="45" name="CaixaDeTexto 44">
                  <a:extLst>
                    <a:ext uri="{FF2B5EF4-FFF2-40B4-BE49-F238E27FC236}">
                      <a16:creationId xmlns:a16="http://schemas.microsoft.com/office/drawing/2014/main" id="{817CCF2F-1EC0-D9DF-709B-A0C664906BF7}"/>
                    </a:ext>
                  </a:extLst>
                </p:cNvPr>
                <p:cNvSpPr txBox="1"/>
                <p:nvPr/>
              </p:nvSpPr>
              <p:spPr>
                <a:xfrm>
                  <a:off x="1074774" y="4868216"/>
                  <a:ext cx="86794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m:rPr>
                                <m:sty m:val="p"/>
                              </m:rPr>
                              <a:rPr lang="pt-BR" sz="1400" b="0" i="0" smtClean="0">
                                <a:latin typeface="Cambria Math" panose="02040503050406030204" pitchFamily="18" charset="0"/>
                              </a:rPr>
                              <m:t>inicial</m:t>
                            </m:r>
                          </m:sub>
                        </m:sSub>
                      </m:oMath>
                    </m:oMathPara>
                  </a14:m>
                  <a:endParaRPr lang="pt-BR" sz="1400" dirty="0"/>
                </a:p>
              </p:txBody>
            </p:sp>
          </mc:Choice>
          <mc:Fallback xmlns="">
            <p:sp>
              <p:nvSpPr>
                <p:cNvPr id="45" name="CaixaDeTexto 44">
                  <a:extLst>
                    <a:ext uri="{FF2B5EF4-FFF2-40B4-BE49-F238E27FC236}">
                      <a16:creationId xmlns:a16="http://schemas.microsoft.com/office/drawing/2014/main" id="{817CCF2F-1EC0-D9DF-709B-A0C664906BF7}"/>
                    </a:ext>
                  </a:extLst>
                </p:cNvPr>
                <p:cNvSpPr txBox="1">
                  <a:spLocks noRot="1" noChangeAspect="1" noMove="1" noResize="1" noEditPoints="1" noAdjustHandles="1" noChangeArrowheads="1" noChangeShapeType="1" noTextEdit="1"/>
                </p:cNvSpPr>
                <p:nvPr/>
              </p:nvSpPr>
              <p:spPr>
                <a:xfrm>
                  <a:off x="1074774" y="4868216"/>
                  <a:ext cx="867941" cy="30777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CaixaDeTexto 45">
                  <a:extLst>
                    <a:ext uri="{FF2B5EF4-FFF2-40B4-BE49-F238E27FC236}">
                      <a16:creationId xmlns:a16="http://schemas.microsoft.com/office/drawing/2014/main" id="{E9293F4B-DA9A-FFF9-B290-85C88F2B0387}"/>
                    </a:ext>
                  </a:extLst>
                </p:cNvPr>
                <p:cNvSpPr txBox="1"/>
                <p:nvPr/>
              </p:nvSpPr>
              <p:spPr>
                <a:xfrm>
                  <a:off x="2671712" y="4867795"/>
                  <a:ext cx="867941" cy="307777"/>
                </a:xfrm>
                <a:prstGeom prst="rect">
                  <a:avLst/>
                </a:prstGeom>
                <a:noFill/>
              </p:spPr>
              <p:txBody>
                <a:bodyPr wrap="square" rtlCol="0">
                  <a:spAutoFit/>
                </a:bodyPr>
                <a:lstStyle/>
                <a:p>
                  <a:pPr algn="ctr"/>
                  <a14:m>
                    <m:oMathPara xmlns:m="http://schemas.openxmlformats.org/officeDocument/2006/math">
                      <m:o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0" smtClean="0">
                                <a:latin typeface="Cambria Math" panose="02040503050406030204" pitchFamily="18" charset="0"/>
                              </a:rPr>
                              <m:t>ó</m:t>
                            </m:r>
                            <m:r>
                              <m:rPr>
                                <m:sty m:val="p"/>
                              </m:rPr>
                              <a:rPr lang="pt-BR" sz="1400" b="0" i="0" smtClean="0">
                                <a:latin typeface="Cambria Math" panose="02040503050406030204" pitchFamily="18" charset="0"/>
                              </a:rPr>
                              <m:t>timo</m:t>
                            </m:r>
                          </m:sub>
                        </m:sSub>
                      </m:oMath>
                    </m:oMathPara>
                  </a14:m>
                  <a:endParaRPr lang="pt-BR" sz="1400" dirty="0"/>
                </a:p>
              </p:txBody>
            </p:sp>
          </mc:Choice>
          <mc:Fallback xmlns="">
            <p:sp>
              <p:nvSpPr>
                <p:cNvPr id="46" name="CaixaDeTexto 45">
                  <a:extLst>
                    <a:ext uri="{FF2B5EF4-FFF2-40B4-BE49-F238E27FC236}">
                      <a16:creationId xmlns:a16="http://schemas.microsoft.com/office/drawing/2014/main" id="{E9293F4B-DA9A-FFF9-B290-85C88F2B0387}"/>
                    </a:ext>
                  </a:extLst>
                </p:cNvPr>
                <p:cNvSpPr txBox="1">
                  <a:spLocks noRot="1" noChangeAspect="1" noMove="1" noResize="1" noEditPoints="1" noAdjustHandles="1" noChangeArrowheads="1" noChangeShapeType="1" noTextEdit="1"/>
                </p:cNvSpPr>
                <p:nvPr/>
              </p:nvSpPr>
              <p:spPr>
                <a:xfrm>
                  <a:off x="2671712" y="4867795"/>
                  <a:ext cx="867941" cy="307777"/>
                </a:xfrm>
                <a:prstGeom prst="rect">
                  <a:avLst/>
                </a:prstGeom>
                <a:blipFill>
                  <a:blip r:embed="rId5"/>
                  <a:stretch>
                    <a:fillRect/>
                  </a:stretch>
                </a:blipFill>
              </p:spPr>
              <p:txBody>
                <a:bodyPr/>
                <a:lstStyle/>
                <a:p>
                  <a:r>
                    <a:rPr lang="en-US">
                      <a:noFill/>
                    </a:rPr>
                    <a:t> </a:t>
                  </a:r>
                </a:p>
              </p:txBody>
            </p:sp>
          </mc:Fallback>
        </mc:AlternateContent>
        <p:sp>
          <p:nvSpPr>
            <p:cNvPr id="47" name="Elipse 46">
              <a:extLst>
                <a:ext uri="{FF2B5EF4-FFF2-40B4-BE49-F238E27FC236}">
                  <a16:creationId xmlns:a16="http://schemas.microsoft.com/office/drawing/2014/main" id="{5F4218F3-E7B7-8DA4-1DC8-C96504FB4BB7}"/>
                </a:ext>
              </a:extLst>
            </p:cNvPr>
            <p:cNvSpPr/>
            <p:nvPr/>
          </p:nvSpPr>
          <p:spPr>
            <a:xfrm>
              <a:off x="1740861" y="3835847"/>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8" name="Forma Livre: Forma 47">
              <a:extLst>
                <a:ext uri="{FF2B5EF4-FFF2-40B4-BE49-F238E27FC236}">
                  <a16:creationId xmlns:a16="http://schemas.microsoft.com/office/drawing/2014/main" id="{3F2AA93E-3E48-E7DC-29CB-C3AD7972760F}"/>
                </a:ext>
              </a:extLst>
            </p:cNvPr>
            <p:cNvSpPr/>
            <p:nvPr/>
          </p:nvSpPr>
          <p:spPr>
            <a:xfrm>
              <a:off x="1314107" y="3182705"/>
              <a:ext cx="426750" cy="652084"/>
            </a:xfrm>
            <a:custGeom>
              <a:avLst/>
              <a:gdLst>
                <a:gd name="connsiteX0" fmla="*/ 0 w 609600"/>
                <a:gd name="connsiteY0" fmla="*/ 0 h 882650"/>
                <a:gd name="connsiteX1" fmla="*/ 374650 w 609600"/>
                <a:gd name="connsiteY1" fmla="*/ 273050 h 882650"/>
                <a:gd name="connsiteX2" fmla="*/ 609600 w 609600"/>
                <a:gd name="connsiteY2" fmla="*/ 882650 h 882650"/>
              </a:gdLst>
              <a:ahLst/>
              <a:cxnLst>
                <a:cxn ang="0">
                  <a:pos x="connsiteX0" y="connsiteY0"/>
                </a:cxn>
                <a:cxn ang="0">
                  <a:pos x="connsiteX1" y="connsiteY1"/>
                </a:cxn>
                <a:cxn ang="0">
                  <a:pos x="connsiteX2" y="connsiteY2"/>
                </a:cxn>
              </a:cxnLst>
              <a:rect l="l" t="t" r="r" b="b"/>
              <a:pathLst>
                <a:path w="609600" h="882650">
                  <a:moveTo>
                    <a:pt x="0" y="0"/>
                  </a:moveTo>
                  <a:cubicBezTo>
                    <a:pt x="136525" y="62971"/>
                    <a:pt x="273050" y="125942"/>
                    <a:pt x="374650" y="273050"/>
                  </a:cubicBezTo>
                  <a:cubicBezTo>
                    <a:pt x="476250" y="420158"/>
                    <a:pt x="542925" y="651404"/>
                    <a:pt x="609600" y="882650"/>
                  </a:cubicBezTo>
                </a:path>
              </a:pathLst>
            </a:custGeom>
            <a:noFill/>
            <a:ln w="3175">
              <a:solidFill>
                <a:schemeClr val="tx1"/>
              </a:solidFill>
              <a:prstDash val="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1" name="Forma Livre: Forma 30">
              <a:extLst>
                <a:ext uri="{FF2B5EF4-FFF2-40B4-BE49-F238E27FC236}">
                  <a16:creationId xmlns:a16="http://schemas.microsoft.com/office/drawing/2014/main" id="{8FA397AA-05A1-EEFF-C919-6CA5767484D1}"/>
                </a:ext>
              </a:extLst>
            </p:cNvPr>
            <p:cNvSpPr/>
            <p:nvPr/>
          </p:nvSpPr>
          <p:spPr>
            <a:xfrm rot="20640245">
              <a:off x="1827404" y="3824639"/>
              <a:ext cx="183929" cy="449474"/>
            </a:xfrm>
            <a:custGeom>
              <a:avLst/>
              <a:gdLst>
                <a:gd name="connsiteX0" fmla="*/ 0 w 609600"/>
                <a:gd name="connsiteY0" fmla="*/ 0 h 882650"/>
                <a:gd name="connsiteX1" fmla="*/ 374650 w 609600"/>
                <a:gd name="connsiteY1" fmla="*/ 273050 h 882650"/>
                <a:gd name="connsiteX2" fmla="*/ 609600 w 609600"/>
                <a:gd name="connsiteY2" fmla="*/ 882650 h 882650"/>
              </a:gdLst>
              <a:ahLst/>
              <a:cxnLst>
                <a:cxn ang="0">
                  <a:pos x="connsiteX0" y="connsiteY0"/>
                </a:cxn>
                <a:cxn ang="0">
                  <a:pos x="connsiteX1" y="connsiteY1"/>
                </a:cxn>
                <a:cxn ang="0">
                  <a:pos x="connsiteX2" y="connsiteY2"/>
                </a:cxn>
              </a:cxnLst>
              <a:rect l="l" t="t" r="r" b="b"/>
              <a:pathLst>
                <a:path w="609600" h="882650">
                  <a:moveTo>
                    <a:pt x="0" y="0"/>
                  </a:moveTo>
                  <a:cubicBezTo>
                    <a:pt x="136525" y="62971"/>
                    <a:pt x="273050" y="125942"/>
                    <a:pt x="374650" y="273050"/>
                  </a:cubicBezTo>
                  <a:cubicBezTo>
                    <a:pt x="476250" y="420158"/>
                    <a:pt x="542925" y="651404"/>
                    <a:pt x="609600" y="882650"/>
                  </a:cubicBezTo>
                </a:path>
              </a:pathLst>
            </a:custGeom>
            <a:noFill/>
            <a:ln w="3175">
              <a:solidFill>
                <a:schemeClr val="tx1"/>
              </a:solidFill>
              <a:prstDash val="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2" name="Elipse 31">
              <a:extLst>
                <a:ext uri="{FF2B5EF4-FFF2-40B4-BE49-F238E27FC236}">
                  <a16:creationId xmlns:a16="http://schemas.microsoft.com/office/drawing/2014/main" id="{B29390A2-9262-FB14-083B-A534B818F00B}"/>
                </a:ext>
              </a:extLst>
            </p:cNvPr>
            <p:cNvSpPr/>
            <p:nvPr/>
          </p:nvSpPr>
          <p:spPr>
            <a:xfrm>
              <a:off x="2069709" y="4240069"/>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7" name="Forma Livre: Forma 26">
              <a:extLst>
                <a:ext uri="{FF2B5EF4-FFF2-40B4-BE49-F238E27FC236}">
                  <a16:creationId xmlns:a16="http://schemas.microsoft.com/office/drawing/2014/main" id="{8DAFDB50-9816-E13B-8193-15D77D430A96}"/>
                </a:ext>
              </a:extLst>
            </p:cNvPr>
            <p:cNvSpPr/>
            <p:nvPr/>
          </p:nvSpPr>
          <p:spPr>
            <a:xfrm rot="20640245">
              <a:off x="2121561" y="4220598"/>
              <a:ext cx="239180" cy="375258"/>
            </a:xfrm>
            <a:custGeom>
              <a:avLst/>
              <a:gdLst>
                <a:gd name="connsiteX0" fmla="*/ 0 w 609600"/>
                <a:gd name="connsiteY0" fmla="*/ 0 h 882650"/>
                <a:gd name="connsiteX1" fmla="*/ 374650 w 609600"/>
                <a:gd name="connsiteY1" fmla="*/ 273050 h 882650"/>
                <a:gd name="connsiteX2" fmla="*/ 609600 w 609600"/>
                <a:gd name="connsiteY2" fmla="*/ 882650 h 882650"/>
              </a:gdLst>
              <a:ahLst/>
              <a:cxnLst>
                <a:cxn ang="0">
                  <a:pos x="connsiteX0" y="connsiteY0"/>
                </a:cxn>
                <a:cxn ang="0">
                  <a:pos x="connsiteX1" y="connsiteY1"/>
                </a:cxn>
                <a:cxn ang="0">
                  <a:pos x="connsiteX2" y="connsiteY2"/>
                </a:cxn>
              </a:cxnLst>
              <a:rect l="l" t="t" r="r" b="b"/>
              <a:pathLst>
                <a:path w="609600" h="882650">
                  <a:moveTo>
                    <a:pt x="0" y="0"/>
                  </a:moveTo>
                  <a:cubicBezTo>
                    <a:pt x="136525" y="62971"/>
                    <a:pt x="273050" y="125942"/>
                    <a:pt x="374650" y="273050"/>
                  </a:cubicBezTo>
                  <a:cubicBezTo>
                    <a:pt x="476250" y="420158"/>
                    <a:pt x="542925" y="651404"/>
                    <a:pt x="609600" y="882650"/>
                  </a:cubicBezTo>
                </a:path>
              </a:pathLst>
            </a:custGeom>
            <a:noFill/>
            <a:ln w="3175">
              <a:solidFill>
                <a:schemeClr val="tx1"/>
              </a:solidFill>
              <a:prstDash val="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9" name="Elipse 48">
              <a:extLst>
                <a:ext uri="{FF2B5EF4-FFF2-40B4-BE49-F238E27FC236}">
                  <a16:creationId xmlns:a16="http://schemas.microsoft.com/office/drawing/2014/main" id="{29C597F8-F861-3A5C-3281-647E1D8BFA21}"/>
                </a:ext>
              </a:extLst>
            </p:cNvPr>
            <p:cNvSpPr/>
            <p:nvPr/>
          </p:nvSpPr>
          <p:spPr>
            <a:xfrm>
              <a:off x="2407819" y="4544528"/>
              <a:ext cx="42900" cy="429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50" name="Forma Livre: Forma 49">
              <a:extLst>
                <a:ext uri="{FF2B5EF4-FFF2-40B4-BE49-F238E27FC236}">
                  <a16:creationId xmlns:a16="http://schemas.microsoft.com/office/drawing/2014/main" id="{97E46359-542C-F2F4-3E16-3004D2BAA58D}"/>
                </a:ext>
              </a:extLst>
            </p:cNvPr>
            <p:cNvSpPr/>
            <p:nvPr/>
          </p:nvSpPr>
          <p:spPr>
            <a:xfrm rot="20640245">
              <a:off x="2464434" y="4512879"/>
              <a:ext cx="405642" cy="292152"/>
            </a:xfrm>
            <a:custGeom>
              <a:avLst/>
              <a:gdLst>
                <a:gd name="connsiteX0" fmla="*/ 0 w 609600"/>
                <a:gd name="connsiteY0" fmla="*/ 0 h 882650"/>
                <a:gd name="connsiteX1" fmla="*/ 374650 w 609600"/>
                <a:gd name="connsiteY1" fmla="*/ 273050 h 882650"/>
                <a:gd name="connsiteX2" fmla="*/ 609600 w 609600"/>
                <a:gd name="connsiteY2" fmla="*/ 882650 h 882650"/>
              </a:gdLst>
              <a:ahLst/>
              <a:cxnLst>
                <a:cxn ang="0">
                  <a:pos x="connsiteX0" y="connsiteY0"/>
                </a:cxn>
                <a:cxn ang="0">
                  <a:pos x="connsiteX1" y="connsiteY1"/>
                </a:cxn>
                <a:cxn ang="0">
                  <a:pos x="connsiteX2" y="connsiteY2"/>
                </a:cxn>
              </a:cxnLst>
              <a:rect l="l" t="t" r="r" b="b"/>
              <a:pathLst>
                <a:path w="609600" h="882650">
                  <a:moveTo>
                    <a:pt x="0" y="0"/>
                  </a:moveTo>
                  <a:cubicBezTo>
                    <a:pt x="136525" y="62971"/>
                    <a:pt x="273050" y="125942"/>
                    <a:pt x="374650" y="273050"/>
                  </a:cubicBezTo>
                  <a:cubicBezTo>
                    <a:pt x="476250" y="420158"/>
                    <a:pt x="542925" y="651404"/>
                    <a:pt x="609600" y="882650"/>
                  </a:cubicBezTo>
                </a:path>
              </a:pathLst>
            </a:custGeom>
            <a:noFill/>
            <a:ln w="3175">
              <a:solidFill>
                <a:schemeClr val="tx1"/>
              </a:solidFill>
              <a:prstDash val="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Tree>
    <p:extLst>
      <p:ext uri="{BB962C8B-B14F-4D97-AF65-F5344CB8AC3E}">
        <p14:creationId xmlns:p14="http://schemas.microsoft.com/office/powerpoint/2010/main" val="38964753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53A2C8-8CC9-DF50-3DA9-94EFAB2C6BDA}"/>
              </a:ext>
            </a:extLst>
          </p:cNvPr>
          <p:cNvSpPr>
            <a:spLocks noGrp="1"/>
          </p:cNvSpPr>
          <p:nvPr>
            <p:ph type="title"/>
          </p:nvPr>
        </p:nvSpPr>
        <p:spPr/>
        <p:txBody>
          <a:bodyPr/>
          <a:lstStyle/>
          <a:p>
            <a:r>
              <a:rPr lang="pt-BR" dirty="0"/>
              <a:t>Pseudocódigo do gradiente descendente</a:t>
            </a:r>
          </a:p>
        </p:txBody>
      </p:sp>
      <p:pic>
        <p:nvPicPr>
          <p:cNvPr id="1030" name="Picture 6" descr="Gradient Descent Animation">
            <a:extLst>
              <a:ext uri="{FF2B5EF4-FFF2-40B4-BE49-F238E27FC236}">
                <a16:creationId xmlns:a16="http://schemas.microsoft.com/office/drawing/2014/main" id="{D11124B9-2CE5-CB44-B549-5A28D9F522B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898" r="6408"/>
          <a:stretch/>
        </p:blipFill>
        <p:spPr bwMode="auto">
          <a:xfrm>
            <a:off x="1172863" y="3742873"/>
            <a:ext cx="5734908" cy="2750002"/>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B09DE927-8E6D-630C-9389-F5DD1A3E13B4}"/>
                  </a:ext>
                </a:extLst>
              </p:cNvPr>
              <p:cNvSpPr/>
              <p:nvPr/>
            </p:nvSpPr>
            <p:spPr>
              <a:xfrm>
                <a:off x="240443" y="2004952"/>
                <a:ext cx="7675164" cy="1466363"/>
              </a:xfrm>
              <a:prstGeom prst="rect">
                <a:avLst/>
              </a:prstGeom>
              <a:ln>
                <a:solidFill>
                  <a:schemeClr val="tx1"/>
                </a:solidFill>
              </a:ln>
            </p:spPr>
            <p:txBody>
              <a:bodyPr wrap="square">
                <a:spAutoFit/>
              </a:bodyPr>
              <a:lstStyle/>
              <a:p>
                <a14:m>
                  <m:oMath xmlns:m="http://schemas.openxmlformats.org/officeDocument/2006/math">
                    <m:r>
                      <a:rPr lang="pt-BR" b="1" i="1" smtClean="0">
                        <a:latin typeface="Cambria Math" panose="02040503050406030204" pitchFamily="18" charset="0"/>
                      </a:rPr>
                      <m:t>𝒂</m:t>
                    </m:r>
                    <m:r>
                      <a:rPr lang="pt-BR" b="1" i="1" smtClean="0">
                        <a:latin typeface="Cambria Math" panose="02040503050406030204" pitchFamily="18" charset="0"/>
                      </a:rPr>
                      <m:t> </m:t>
                    </m:r>
                  </m:oMath>
                </a14:m>
                <a:r>
                  <a:rPr lang="en-US" b="1" dirty="0"/>
                  <a:t> </a:t>
                </a:r>
                <a14:m>
                  <m:oMath xmlns:m="http://schemas.openxmlformats.org/officeDocument/2006/math">
                    <m:r>
                      <a:rPr lang="en-US" b="1" i="1" dirty="0">
                        <a:latin typeface="Cambria Math" panose="02040503050406030204" pitchFamily="18" charset="0"/>
                        <a:ea typeface="Cambria Math" panose="02040503050406030204" pitchFamily="18" charset="0"/>
                      </a:rPr>
                      <m:t>←</m:t>
                    </m:r>
                    <m:r>
                      <m:rPr>
                        <m:sty m:val="p"/>
                      </m:rPr>
                      <a:rPr lang="en-US" dirty="0">
                        <a:latin typeface="Cambria Math" panose="02040503050406030204" pitchFamily="18" charset="0"/>
                        <a:ea typeface="Cambria Math" panose="02040503050406030204" pitchFamily="18" charset="0"/>
                      </a:rPr>
                      <m:t>inicializa</m:t>
                    </m:r>
                    <m:r>
                      <a:rPr lang="en-US" dirty="0">
                        <a:latin typeface="Cambria Math" panose="02040503050406030204" pitchFamily="18" charset="0"/>
                        <a:ea typeface="Cambria Math" panose="02040503050406030204" pitchFamily="18" charset="0"/>
                      </a:rPr>
                      <m:t> </m:t>
                    </m:r>
                    <m:r>
                      <m:rPr>
                        <m:sty m:val="p"/>
                      </m:rPr>
                      <a:rPr lang="en-US" dirty="0">
                        <a:latin typeface="Cambria Math" panose="02040503050406030204" pitchFamily="18" charset="0"/>
                        <a:ea typeface="Cambria Math" panose="02040503050406030204" pitchFamily="18" charset="0"/>
                      </a:rPr>
                      <m:t>em</m:t>
                    </m:r>
                    <m:r>
                      <a:rPr lang="en-US" dirty="0">
                        <a:latin typeface="Cambria Math" panose="02040503050406030204" pitchFamily="18" charset="0"/>
                        <a:ea typeface="Cambria Math" panose="02040503050406030204" pitchFamily="18" charset="0"/>
                      </a:rPr>
                      <m:t> </m:t>
                    </m:r>
                    <m:r>
                      <m:rPr>
                        <m:sty m:val="p"/>
                      </m:rPr>
                      <a:rPr lang="pt-BR" dirty="0">
                        <a:latin typeface="Cambria Math" panose="02040503050406030204" pitchFamily="18" charset="0"/>
                        <a:ea typeface="Cambria Math" panose="02040503050406030204" pitchFamily="18" charset="0"/>
                      </a:rPr>
                      <m:t>um</m:t>
                    </m:r>
                    <m:r>
                      <a:rPr lang="pt-BR" dirty="0">
                        <a:latin typeface="Cambria Math" panose="02040503050406030204" pitchFamily="18" charset="0"/>
                        <a:ea typeface="Cambria Math" panose="02040503050406030204" pitchFamily="18" charset="0"/>
                      </a:rPr>
                      <m:t> </m:t>
                    </m:r>
                    <m:r>
                      <m:rPr>
                        <m:sty m:val="p"/>
                      </m:rPr>
                      <a:rPr lang="pt-BR" dirty="0">
                        <a:latin typeface="Cambria Math" panose="02040503050406030204" pitchFamily="18" charset="0"/>
                        <a:ea typeface="Cambria Math" panose="02040503050406030204" pitchFamily="18" charset="0"/>
                      </a:rPr>
                      <m:t>ponto</m:t>
                    </m:r>
                    <m:r>
                      <a:rPr lang="pt-BR" dirty="0">
                        <a:latin typeface="Cambria Math" panose="02040503050406030204" pitchFamily="18" charset="0"/>
                        <a:ea typeface="Cambria Math" panose="02040503050406030204" pitchFamily="18" charset="0"/>
                      </a:rPr>
                      <m:t> </m:t>
                    </m:r>
                    <m:r>
                      <m:rPr>
                        <m:sty m:val="p"/>
                      </m:rPr>
                      <a:rPr lang="pt-BR" dirty="0">
                        <a:latin typeface="Cambria Math" panose="02040503050406030204" pitchFamily="18" charset="0"/>
                        <a:ea typeface="Cambria Math" panose="02040503050406030204" pitchFamily="18" charset="0"/>
                      </a:rPr>
                      <m:t>qualquer</m:t>
                    </m:r>
                    <m:r>
                      <a:rPr lang="pt-BR" dirty="0">
                        <a:latin typeface="Cambria Math" panose="02040503050406030204" pitchFamily="18" charset="0"/>
                        <a:ea typeface="Cambria Math" panose="02040503050406030204" pitchFamily="18" charset="0"/>
                      </a:rPr>
                      <m:t> </m:t>
                    </m:r>
                    <m:r>
                      <m:rPr>
                        <m:sty m:val="p"/>
                      </m:rPr>
                      <a:rPr lang="pt-BR" dirty="0">
                        <a:latin typeface="Cambria Math" panose="02040503050406030204" pitchFamily="18" charset="0"/>
                        <a:ea typeface="Cambria Math" panose="02040503050406030204" pitchFamily="18" charset="0"/>
                      </a:rPr>
                      <m:t>do</m:t>
                    </m:r>
                    <m:r>
                      <a:rPr lang="pt-BR" dirty="0">
                        <a:latin typeface="Cambria Math" panose="02040503050406030204" pitchFamily="18" charset="0"/>
                        <a:ea typeface="Cambria Math" panose="02040503050406030204" pitchFamily="18" charset="0"/>
                      </a:rPr>
                      <m:t> </m:t>
                    </m:r>
                    <m:r>
                      <m:rPr>
                        <m:sty m:val="p"/>
                      </m:rPr>
                      <a:rPr lang="pt-BR" dirty="0">
                        <a:latin typeface="Cambria Math" panose="02040503050406030204" pitchFamily="18" charset="0"/>
                        <a:ea typeface="Cambria Math" panose="02040503050406030204" pitchFamily="18" charset="0"/>
                      </a:rPr>
                      <m:t>espa</m:t>
                    </m:r>
                    <m:r>
                      <a:rPr lang="pt-BR" dirty="0">
                        <a:latin typeface="Cambria Math" panose="02040503050406030204" pitchFamily="18" charset="0"/>
                        <a:ea typeface="Cambria Math" panose="02040503050406030204" pitchFamily="18" charset="0"/>
                      </a:rPr>
                      <m:t>ç</m:t>
                    </m:r>
                    <m:r>
                      <m:rPr>
                        <m:sty m:val="p"/>
                      </m:rPr>
                      <a:rPr lang="pt-BR" dirty="0">
                        <a:latin typeface="Cambria Math" panose="02040503050406030204" pitchFamily="18" charset="0"/>
                        <a:ea typeface="Cambria Math" panose="02040503050406030204" pitchFamily="18" charset="0"/>
                      </a:rPr>
                      <m:t>o</m:t>
                    </m:r>
                    <m:r>
                      <a:rPr lang="pt-BR" dirty="0">
                        <a:latin typeface="Cambria Math" panose="02040503050406030204" pitchFamily="18" charset="0"/>
                        <a:ea typeface="Cambria Math" panose="02040503050406030204" pitchFamily="18" charset="0"/>
                      </a:rPr>
                      <m:t> </m:t>
                    </m:r>
                    <m:r>
                      <m:rPr>
                        <m:sty m:val="p"/>
                      </m:rPr>
                      <a:rPr lang="pt-BR" dirty="0">
                        <a:latin typeface="Cambria Math" panose="02040503050406030204" pitchFamily="18" charset="0"/>
                        <a:ea typeface="Cambria Math" panose="02040503050406030204" pitchFamily="18" charset="0"/>
                      </a:rPr>
                      <m:t>de</m:t>
                    </m:r>
                    <m:r>
                      <a:rPr lang="pt-BR" dirty="0">
                        <a:latin typeface="Cambria Math" panose="02040503050406030204" pitchFamily="18" charset="0"/>
                        <a:ea typeface="Cambria Math" panose="02040503050406030204" pitchFamily="18" charset="0"/>
                      </a:rPr>
                      <m:t> </m:t>
                    </m:r>
                    <m:r>
                      <m:rPr>
                        <m:sty m:val="p"/>
                      </m:rPr>
                      <a:rPr lang="pt-BR" b="0" i="0" dirty="0" smtClean="0">
                        <a:latin typeface="Cambria Math" panose="02040503050406030204" pitchFamily="18" charset="0"/>
                        <a:ea typeface="Cambria Math" panose="02040503050406030204" pitchFamily="18" charset="0"/>
                      </a:rPr>
                      <m:t>pesos</m:t>
                    </m:r>
                  </m:oMath>
                </a14:m>
                <a:endParaRPr lang="pt-BR" b="0" dirty="0">
                  <a:ea typeface="Cambria Math" panose="02040503050406030204" pitchFamily="18" charset="0"/>
                </a:endParaRPr>
              </a:p>
              <a:p>
                <a14:m>
                  <m:oMath xmlns:m="http://schemas.openxmlformats.org/officeDocument/2006/math">
                    <m:r>
                      <a:rPr lang="pt-BR" i="1">
                        <a:latin typeface="Cambria Math" panose="02040503050406030204" pitchFamily="18" charset="0"/>
                        <a:ea typeface="Cambria Math" panose="02040503050406030204" pitchFamily="18" charset="0"/>
                      </a:rPr>
                      <m:t>𝛼</m:t>
                    </m:r>
                  </m:oMath>
                </a14:m>
                <a:r>
                  <a:rPr lang="en-US" b="1" dirty="0">
                    <a:ea typeface="Cambria Math" panose="02040503050406030204" pitchFamily="18" charset="0"/>
                  </a:rPr>
                  <a:t> </a:t>
                </a:r>
                <a14:m>
                  <m:oMath xmlns:m="http://schemas.openxmlformats.org/officeDocument/2006/math">
                    <m:r>
                      <a:rPr lang="pt-BR" b="1" i="0" dirty="0" smtClean="0">
                        <a:latin typeface="Cambria Math" panose="02040503050406030204" pitchFamily="18" charset="0"/>
                        <a:ea typeface="Cambria Math" panose="02040503050406030204" pitchFamily="18" charset="0"/>
                      </a:rPr>
                      <m:t> </m:t>
                    </m:r>
                    <m:r>
                      <a:rPr lang="en-US" b="1" i="1" dirty="0">
                        <a:latin typeface="Cambria Math" panose="02040503050406030204" pitchFamily="18" charset="0"/>
                        <a:ea typeface="Cambria Math" panose="02040503050406030204" pitchFamily="18" charset="0"/>
                      </a:rPr>
                      <m:t>←</m:t>
                    </m:r>
                    <m:r>
                      <m:rPr>
                        <m:sty m:val="p"/>
                      </m:rPr>
                      <a:rPr lang="en-US" dirty="0">
                        <a:latin typeface="Cambria Math" panose="02040503050406030204" pitchFamily="18" charset="0"/>
                        <a:ea typeface="Cambria Math" panose="02040503050406030204" pitchFamily="18" charset="0"/>
                      </a:rPr>
                      <m:t>inicializa</m:t>
                    </m:r>
                    <m:r>
                      <a:rPr lang="en-US" dirty="0">
                        <a:latin typeface="Cambria Math" panose="02040503050406030204" pitchFamily="18" charset="0"/>
                        <a:ea typeface="Cambria Math" panose="02040503050406030204" pitchFamily="18" charset="0"/>
                      </a:rPr>
                      <m:t> </m:t>
                    </m:r>
                    <m:r>
                      <m:rPr>
                        <m:sty m:val="p"/>
                      </m:rPr>
                      <a:rPr lang="pt-BR" b="0" i="0" dirty="0" smtClean="0">
                        <a:latin typeface="Cambria Math" panose="02040503050406030204" pitchFamily="18" charset="0"/>
                        <a:ea typeface="Cambria Math" panose="02040503050406030204" pitchFamily="18" charset="0"/>
                      </a:rPr>
                      <m:t>a</m:t>
                    </m:r>
                    <m:r>
                      <a:rPr lang="pt-BR" b="0" i="0" dirty="0" smtClean="0">
                        <a:latin typeface="Cambria Math" panose="02040503050406030204" pitchFamily="18" charset="0"/>
                        <a:ea typeface="Cambria Math" panose="02040503050406030204" pitchFamily="18" charset="0"/>
                      </a:rPr>
                      <m:t> </m:t>
                    </m:r>
                    <m:r>
                      <m:rPr>
                        <m:sty m:val="p"/>
                      </m:rPr>
                      <a:rPr lang="pt-BR" b="0" i="0" dirty="0" smtClean="0">
                        <a:latin typeface="Cambria Math" panose="02040503050406030204" pitchFamily="18" charset="0"/>
                        <a:ea typeface="Cambria Math" panose="02040503050406030204" pitchFamily="18" charset="0"/>
                      </a:rPr>
                      <m:t>taxa</m:t>
                    </m:r>
                    <m:r>
                      <a:rPr lang="pt-BR" b="0" i="0" dirty="0" smtClean="0">
                        <a:latin typeface="Cambria Math" panose="02040503050406030204" pitchFamily="18" charset="0"/>
                        <a:ea typeface="Cambria Math" panose="02040503050406030204" pitchFamily="18" charset="0"/>
                      </a:rPr>
                      <m:t> </m:t>
                    </m:r>
                    <m:r>
                      <m:rPr>
                        <m:sty m:val="p"/>
                      </m:rPr>
                      <a:rPr lang="pt-BR" b="0" i="0" dirty="0" smtClean="0">
                        <a:latin typeface="Cambria Math" panose="02040503050406030204" pitchFamily="18" charset="0"/>
                        <a:ea typeface="Cambria Math" panose="02040503050406030204" pitchFamily="18" charset="0"/>
                      </a:rPr>
                      <m:t>de</m:t>
                    </m:r>
                    <m:r>
                      <a:rPr lang="pt-BR" b="0" i="0" dirty="0" smtClean="0">
                        <a:latin typeface="Cambria Math" panose="02040503050406030204" pitchFamily="18" charset="0"/>
                        <a:ea typeface="Cambria Math" panose="02040503050406030204" pitchFamily="18" charset="0"/>
                      </a:rPr>
                      <m:t> </m:t>
                    </m:r>
                    <m:r>
                      <m:rPr>
                        <m:sty m:val="p"/>
                      </m:rPr>
                      <a:rPr lang="pt-BR" b="0" i="0" dirty="0" smtClean="0">
                        <a:latin typeface="Cambria Math" panose="02040503050406030204" pitchFamily="18" charset="0"/>
                        <a:ea typeface="Cambria Math" panose="02040503050406030204" pitchFamily="18" charset="0"/>
                      </a:rPr>
                      <m:t>aprendizagem</m:t>
                    </m:r>
                    <m:r>
                      <a:rPr lang="en-US" dirty="0">
                        <a:latin typeface="Cambria Math" panose="02040503050406030204" pitchFamily="18" charset="0"/>
                        <a:ea typeface="Cambria Math" panose="02040503050406030204" pitchFamily="18" charset="0"/>
                      </a:rPr>
                      <m:t> </m:t>
                    </m:r>
                  </m:oMath>
                </a14:m>
                <a:endParaRPr lang="pt-BR" b="0" dirty="0">
                  <a:ea typeface="Cambria Math" panose="02040503050406030204" pitchFamily="18" charset="0"/>
                </a:endParaRPr>
              </a:p>
              <a:p>
                <a:r>
                  <a:rPr lang="pt-BR" b="1" dirty="0">
                    <a:latin typeface="Cambria Math" panose="02040503050406030204" pitchFamily="18" charset="0"/>
                    <a:ea typeface="Cambria Math" panose="02040503050406030204" pitchFamily="18" charset="0"/>
                  </a:rPr>
                  <a:t>loop até </a:t>
                </a:r>
                <a:r>
                  <a:rPr lang="pt-BR" dirty="0">
                    <a:latin typeface="Cambria Math" panose="02040503050406030204" pitchFamily="18" charset="0"/>
                    <a:ea typeface="Cambria Math" panose="02040503050406030204" pitchFamily="18" charset="0"/>
                  </a:rPr>
                  <a:t>convergir </a:t>
                </a:r>
                <a:r>
                  <a:rPr lang="pt-BR" b="1" dirty="0">
                    <a:latin typeface="Cambria Math" panose="02040503050406030204" pitchFamily="18" charset="0"/>
                    <a:ea typeface="Cambria Math" panose="02040503050406030204" pitchFamily="18" charset="0"/>
                  </a:rPr>
                  <a:t>ou </a:t>
                </a:r>
                <a:r>
                  <a:rPr lang="pt-BR" dirty="0">
                    <a:latin typeface="Cambria Math" panose="02040503050406030204" pitchFamily="18" charset="0"/>
                    <a:ea typeface="Cambria Math" panose="02040503050406030204" pitchFamily="18" charset="0"/>
                  </a:rPr>
                  <a:t>atingir o número máximo de iterações </a:t>
                </a:r>
                <a:r>
                  <a:rPr lang="pt-BR" b="1" dirty="0">
                    <a:latin typeface="Cambria Math" panose="02040503050406030204" pitchFamily="18" charset="0"/>
                    <a:ea typeface="Cambria Math" panose="02040503050406030204" pitchFamily="18" charset="0"/>
                  </a:rPr>
                  <a:t>do</a:t>
                </a:r>
              </a:p>
              <a:p>
                <a:r>
                  <a:rPr lang="en-US" sz="2400" dirty="0"/>
                  <a:t>	</a:t>
                </a:r>
                <a14:m>
                  <m:oMath xmlns:m="http://schemas.openxmlformats.org/officeDocument/2006/math">
                    <m:r>
                      <a:rPr lang="pt-BR" sz="2400" b="1" i="1">
                        <a:latin typeface="Cambria Math" panose="02040503050406030204" pitchFamily="18" charset="0"/>
                      </a:rPr>
                      <m:t>𝒂</m:t>
                    </m:r>
                    <m:r>
                      <a:rPr lang="en-US" sz="2400" b="1" i="1">
                        <a:latin typeface="Cambria Math" panose="02040503050406030204" pitchFamily="18" charset="0"/>
                        <a:ea typeface="Cambria Math" panose="02040503050406030204" pitchFamily="18" charset="0"/>
                      </a:rPr>
                      <m:t>←</m:t>
                    </m:r>
                    <m:r>
                      <a:rPr lang="pt-BR" sz="2400" b="1" i="1">
                        <a:latin typeface="Cambria Math" panose="02040503050406030204" pitchFamily="18" charset="0"/>
                      </a:rPr>
                      <m:t>𝒂</m:t>
                    </m:r>
                    <m:r>
                      <a:rPr lang="pt-BR" sz="2400" i="1">
                        <a:latin typeface="Cambria Math" panose="02040503050406030204" pitchFamily="18" charset="0"/>
                        <a:ea typeface="Cambria Math" panose="02040503050406030204" pitchFamily="18" charset="0"/>
                      </a:rPr>
                      <m:t>−</m:t>
                    </m:r>
                    <m:r>
                      <a:rPr lang="pt-BR" sz="2400" i="1">
                        <a:latin typeface="Cambria Math" panose="02040503050406030204" pitchFamily="18" charset="0"/>
                        <a:ea typeface="Cambria Math" panose="02040503050406030204" pitchFamily="18" charset="0"/>
                      </a:rPr>
                      <m:t>𝛼</m:t>
                    </m:r>
                    <m:f>
                      <m:fPr>
                        <m:ctrlPr>
                          <a:rPr lang="pt-BR" sz="2400" i="1" smtClean="0">
                            <a:latin typeface="Cambria Math" panose="02040503050406030204" pitchFamily="18" charset="0"/>
                            <a:ea typeface="Cambria Math" panose="02040503050406030204" pitchFamily="18" charset="0"/>
                          </a:rPr>
                        </m:ctrlPr>
                      </m:fPr>
                      <m:num>
                        <m:r>
                          <a:rPr lang="pt-BR" sz="2400" i="1" smtClean="0">
                            <a:latin typeface="Cambria Math" panose="02040503050406030204" pitchFamily="18" charset="0"/>
                            <a:ea typeface="Cambria Math" panose="02040503050406030204" pitchFamily="18" charset="0"/>
                          </a:rPr>
                          <m:t>𝜕</m:t>
                        </m:r>
                        <m:sSub>
                          <m:sSubPr>
                            <m:ctrlPr>
                              <a:rPr lang="pt-BR" sz="2400" i="1">
                                <a:latin typeface="Cambria Math" panose="02040503050406030204" pitchFamily="18" charset="0"/>
                                <a:ea typeface="Cambria Math" panose="02040503050406030204" pitchFamily="18" charset="0"/>
                              </a:rPr>
                            </m:ctrlPr>
                          </m:sSubPr>
                          <m:e>
                            <m:r>
                              <a:rPr lang="pt-BR" sz="2400" i="1">
                                <a:latin typeface="Cambria Math" panose="02040503050406030204" pitchFamily="18" charset="0"/>
                                <a:ea typeface="Cambria Math" panose="02040503050406030204" pitchFamily="18" charset="0"/>
                              </a:rPr>
                              <m:t>𝐽</m:t>
                            </m:r>
                          </m:e>
                          <m:sub>
                            <m:r>
                              <a:rPr lang="pt-BR" sz="2400" i="1">
                                <a:latin typeface="Cambria Math" panose="02040503050406030204" pitchFamily="18" charset="0"/>
                                <a:ea typeface="Cambria Math" panose="02040503050406030204" pitchFamily="18" charset="0"/>
                              </a:rPr>
                              <m:t>𝑒</m:t>
                            </m:r>
                          </m:sub>
                        </m:sSub>
                        <m:r>
                          <a:rPr lang="pt-BR" sz="2400" i="1">
                            <a:latin typeface="Cambria Math" panose="02040503050406030204" pitchFamily="18" charset="0"/>
                            <a:ea typeface="Cambria Math" panose="02040503050406030204" pitchFamily="18" charset="0"/>
                          </a:rPr>
                          <m:t>(</m:t>
                        </m:r>
                        <m:r>
                          <a:rPr lang="pt-BR" sz="2400" b="1" i="1">
                            <a:latin typeface="Cambria Math" panose="02040503050406030204" pitchFamily="18" charset="0"/>
                            <a:ea typeface="Cambria Math" panose="02040503050406030204" pitchFamily="18" charset="0"/>
                          </a:rPr>
                          <m:t>𝒂</m:t>
                        </m:r>
                        <m:r>
                          <a:rPr lang="pt-BR" sz="2400" i="1">
                            <a:latin typeface="Cambria Math" panose="02040503050406030204" pitchFamily="18" charset="0"/>
                            <a:ea typeface="Cambria Math" panose="02040503050406030204" pitchFamily="18" charset="0"/>
                          </a:rPr>
                          <m:t>)</m:t>
                        </m:r>
                      </m:num>
                      <m:den>
                        <m:r>
                          <a:rPr lang="pt-BR" sz="2400" i="1" smtClean="0">
                            <a:latin typeface="Cambria Math" panose="02040503050406030204" pitchFamily="18" charset="0"/>
                            <a:ea typeface="Cambria Math" panose="02040503050406030204" pitchFamily="18" charset="0"/>
                          </a:rPr>
                          <m:t>𝜕</m:t>
                        </m:r>
                        <m:r>
                          <a:rPr lang="pt-BR" sz="2400" b="1" i="1">
                            <a:latin typeface="Cambria Math" panose="02040503050406030204" pitchFamily="18" charset="0"/>
                          </a:rPr>
                          <m:t>𝒂</m:t>
                        </m:r>
                      </m:den>
                    </m:f>
                  </m:oMath>
                </a14:m>
                <a:r>
                  <a:rPr lang="nl-BE" sz="2400" dirty="0"/>
                  <a:t> </a:t>
                </a:r>
                <a:r>
                  <a:rPr lang="nl-BE" dirty="0"/>
                  <a:t>(</a:t>
                </a:r>
                <a:r>
                  <a:rPr lang="nl-BE" b="1" dirty="0">
                    <a:solidFill>
                      <a:srgbClr val="00B0F0"/>
                    </a:solidFill>
                  </a:rPr>
                  <a:t>eq. de atualização dos pesos</a:t>
                </a:r>
                <a:r>
                  <a:rPr lang="nl-BE" dirty="0"/>
                  <a:t>)</a:t>
                </a:r>
              </a:p>
            </p:txBody>
          </p:sp>
        </mc:Choice>
        <mc:Fallback xmlns="">
          <p:sp>
            <p:nvSpPr>
              <p:cNvPr id="4" name="Rectangle 3">
                <a:extLst>
                  <a:ext uri="{FF2B5EF4-FFF2-40B4-BE49-F238E27FC236}">
                    <a16:creationId xmlns:a16="http://schemas.microsoft.com/office/drawing/2014/main" id="{B09DE927-8E6D-630C-9389-F5DD1A3E13B4}"/>
                  </a:ext>
                </a:extLst>
              </p:cNvPr>
              <p:cNvSpPr>
                <a:spLocks noRot="1" noChangeAspect="1" noMove="1" noResize="1" noEditPoints="1" noAdjustHandles="1" noChangeArrowheads="1" noChangeShapeType="1" noTextEdit="1"/>
              </p:cNvSpPr>
              <p:nvPr/>
            </p:nvSpPr>
            <p:spPr>
              <a:xfrm>
                <a:off x="240443" y="2004952"/>
                <a:ext cx="7675164" cy="1466363"/>
              </a:xfrm>
              <a:prstGeom prst="rect">
                <a:avLst/>
              </a:prstGeom>
              <a:blipFill>
                <a:blip r:embed="rId3"/>
                <a:stretch>
                  <a:fillRect l="-555"/>
                </a:stretch>
              </a:blipFill>
              <a:ln>
                <a:solidFill>
                  <a:schemeClr val="tx1"/>
                </a:solidFill>
              </a:ln>
            </p:spPr>
            <p:txBody>
              <a:bodyPr/>
              <a:lstStyle/>
              <a:p>
                <a:r>
                  <a:rPr lang="en-US">
                    <a:noFill/>
                  </a:rPr>
                  <a:t> </a:t>
                </a:r>
              </a:p>
            </p:txBody>
          </p:sp>
        </mc:Fallback>
      </mc:AlternateContent>
      <p:sp>
        <p:nvSpPr>
          <p:cNvPr id="8" name="Content Placeholder 7">
            <a:extLst>
              <a:ext uri="{FF2B5EF4-FFF2-40B4-BE49-F238E27FC236}">
                <a16:creationId xmlns:a16="http://schemas.microsoft.com/office/drawing/2014/main" id="{2ED9D95A-CAE0-5EC9-5B46-F1BB52462466}"/>
              </a:ext>
            </a:extLst>
          </p:cNvPr>
          <p:cNvSpPr>
            <a:spLocks noGrp="1"/>
          </p:cNvSpPr>
          <p:nvPr>
            <p:ph idx="1"/>
          </p:nvPr>
        </p:nvSpPr>
        <p:spPr>
          <a:xfrm>
            <a:off x="8003357" y="1825625"/>
            <a:ext cx="4119512" cy="4351338"/>
          </a:xfrm>
        </p:spPr>
        <p:txBody>
          <a:bodyPr/>
          <a:lstStyle/>
          <a:p>
            <a:r>
              <a:rPr lang="pt-BR" dirty="0"/>
              <a:t>A animação ao lado mostra o </a:t>
            </a:r>
            <a:r>
              <a:rPr lang="pt-BR" b="1" dirty="0">
                <a:solidFill>
                  <a:schemeClr val="accent1"/>
                </a:solidFill>
              </a:rPr>
              <a:t>gradiente descendente atualizando os pesos</a:t>
            </a:r>
            <a:r>
              <a:rPr lang="pt-BR" dirty="0"/>
              <a:t> de um </a:t>
            </a:r>
            <a:r>
              <a:rPr lang="pt-BR" b="1" dirty="0">
                <a:solidFill>
                  <a:schemeClr val="accent2"/>
                </a:solidFill>
              </a:rPr>
              <a:t>modelo</a:t>
            </a:r>
            <a:r>
              <a:rPr lang="pt-BR" dirty="0"/>
              <a:t>, no caso, uma </a:t>
            </a:r>
            <a:r>
              <a:rPr lang="pt-BR" b="1" dirty="0">
                <a:solidFill>
                  <a:schemeClr val="accent2"/>
                </a:solidFill>
              </a:rPr>
              <a:t>reta</a:t>
            </a:r>
            <a:r>
              <a:rPr lang="pt-BR" dirty="0"/>
              <a:t>, para que ele se </a:t>
            </a:r>
            <a:r>
              <a:rPr lang="pt-BR" b="1" dirty="0">
                <a:solidFill>
                  <a:srgbClr val="00B050"/>
                </a:solidFill>
              </a:rPr>
              <a:t>ajuste da melhor forma possível aos dados</a:t>
            </a:r>
            <a:r>
              <a:rPr lang="pt-BR" dirty="0"/>
              <a:t> de treinamento (</a:t>
            </a:r>
            <a:r>
              <a:rPr lang="pt-BR" b="1" dirty="0">
                <a:solidFill>
                  <a:srgbClr val="00B0F0"/>
                </a:solidFill>
              </a:rPr>
              <a:t>pontos azuis</a:t>
            </a:r>
            <a:r>
              <a:rPr lang="pt-BR" dirty="0"/>
              <a:t>).</a:t>
            </a:r>
            <a:endParaRPr lang="en-US" dirty="0"/>
          </a:p>
        </p:txBody>
      </p:sp>
    </p:spTree>
    <p:extLst>
      <p:ext uri="{BB962C8B-B14F-4D97-AF65-F5344CB8AC3E}">
        <p14:creationId xmlns:p14="http://schemas.microsoft.com/office/powerpoint/2010/main" val="5947614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ACDD9-40E5-A4AE-278D-AF1FDC8863A4}"/>
              </a:ext>
            </a:extLst>
          </p:cNvPr>
          <p:cNvSpPr>
            <a:spLocks noGrp="1"/>
          </p:cNvSpPr>
          <p:nvPr>
            <p:ph type="title"/>
          </p:nvPr>
        </p:nvSpPr>
        <p:spPr/>
        <p:txBody>
          <a:bodyPr/>
          <a:lstStyle/>
          <a:p>
            <a:r>
              <a:rPr lang="pt-BR" noProof="0"/>
              <a:t>Versões do gradiente descendente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0ECCFF5-5C4A-6AD6-A038-D9C133F0B029}"/>
                  </a:ext>
                </a:extLst>
              </p:cNvPr>
              <p:cNvSpPr>
                <a:spLocks noGrp="1"/>
              </p:cNvSpPr>
              <p:nvPr>
                <p:ph idx="1"/>
              </p:nvPr>
            </p:nvSpPr>
            <p:spPr>
              <a:xfrm>
                <a:off x="838199" y="1825624"/>
                <a:ext cx="11353801" cy="5032375"/>
              </a:xfrm>
            </p:spPr>
            <p:txBody>
              <a:bodyPr>
                <a:normAutofit/>
              </a:bodyPr>
              <a:lstStyle/>
              <a:p>
                <a:r>
                  <a:rPr lang="pt-BR" dirty="0"/>
                  <a:t>O GD pode ser implementado de </a:t>
                </a:r>
                <a:r>
                  <a:rPr lang="pt-BR" b="1" dirty="0"/>
                  <a:t>3 formas diferentes dependendo de como calculamos o vetor gradiente na equação de atualização dos pesos</a:t>
                </a:r>
                <a:r>
                  <a:rPr lang="pt-BR" dirty="0"/>
                  <a:t>.</a:t>
                </a:r>
              </a:p>
              <a:p>
                <a:r>
                  <a:rPr lang="pt-BR" dirty="0"/>
                  <a:t>Para entendermos as 3 versões, vamos primeiro encontrar o vetor gradiente, </a:t>
                </a:r>
                <a14:m>
                  <m:oMath xmlns:m="http://schemas.openxmlformats.org/officeDocument/2006/math">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𝐽</m:t>
                            </m:r>
                          </m:e>
                          <m:sub>
                            <m:r>
                              <a:rPr lang="pt-BR" i="1">
                                <a:latin typeface="Cambria Math" panose="02040503050406030204" pitchFamily="18" charset="0"/>
                                <a:ea typeface="Cambria Math" panose="02040503050406030204" pitchFamily="18" charset="0"/>
                              </a:rPr>
                              <m:t>𝑒</m:t>
                            </m:r>
                          </m:sub>
                        </m:sSub>
                        <m:r>
                          <a:rPr lang="pt-BR" i="1">
                            <a:latin typeface="Cambria Math" panose="02040503050406030204" pitchFamily="18" charset="0"/>
                            <a:ea typeface="Cambria Math" panose="02040503050406030204" pitchFamily="18" charset="0"/>
                          </a:rPr>
                          <m:t>(</m:t>
                        </m:r>
                        <m:r>
                          <a:rPr lang="pt-BR" b="1" i="1">
                            <a:latin typeface="Cambria Math" panose="02040503050406030204" pitchFamily="18" charset="0"/>
                            <a:ea typeface="Cambria Math" panose="02040503050406030204" pitchFamily="18" charset="0"/>
                          </a:rPr>
                          <m:t>𝒂</m:t>
                        </m:r>
                        <m:r>
                          <a:rPr lang="pt-BR" i="1">
                            <a:latin typeface="Cambria Math" panose="02040503050406030204" pitchFamily="18" charset="0"/>
                            <a:ea typeface="Cambria Math" panose="02040503050406030204" pitchFamily="18" charset="0"/>
                          </a:rPr>
                          <m:t>)</m:t>
                        </m:r>
                      </m:num>
                      <m:den>
                        <m:r>
                          <a:rPr lang="pt-BR" i="1">
                            <a:latin typeface="Cambria Math" panose="02040503050406030204" pitchFamily="18" charset="0"/>
                            <a:ea typeface="Cambria Math" panose="02040503050406030204" pitchFamily="18" charset="0"/>
                          </a:rPr>
                          <m:t>𝜕</m:t>
                        </m:r>
                        <m:r>
                          <a:rPr lang="pt-BR" b="1" i="1">
                            <a:latin typeface="Cambria Math" panose="02040503050406030204" pitchFamily="18" charset="0"/>
                          </a:rPr>
                          <m:t>𝒂</m:t>
                        </m:r>
                      </m:den>
                    </m:f>
                  </m:oMath>
                </a14:m>
                <a:r>
                  <a:rPr lang="pt-BR" dirty="0"/>
                  <a:t>, e substituí-lo na equação de atualização dos pesos.</a:t>
                </a:r>
              </a:p>
              <a:p>
                <a:r>
                  <a:rPr lang="pt-BR" dirty="0"/>
                  <a:t>Vamos considerar o </a:t>
                </a:r>
                <a:r>
                  <a:rPr lang="pt-BR" b="1" dirty="0">
                    <a:solidFill>
                      <a:schemeClr val="accent2"/>
                    </a:solidFill>
                  </a:rPr>
                  <a:t>EQM como função de erro </a:t>
                </a:r>
                <a:r>
                  <a:rPr lang="pt-BR" dirty="0"/>
                  <a:t>e o</a:t>
                </a:r>
                <a:r>
                  <a:rPr lang="pt-BR" b="1" dirty="0">
                    <a:solidFill>
                      <a:schemeClr val="accent2"/>
                    </a:solidFill>
                  </a:rPr>
                  <a:t> </a:t>
                </a:r>
                <a:r>
                  <a:rPr lang="pt-BR" b="1" dirty="0">
                    <a:solidFill>
                      <a:srgbClr val="7030A0"/>
                    </a:solidFill>
                  </a:rPr>
                  <a:t>hiperplano como função hipótese</a:t>
                </a:r>
              </a:p>
              <a:p>
                <a:pPr marL="0" indent="0">
                  <a:buNone/>
                </a:pPr>
                <a14:m>
                  <m:oMathPara xmlns:m="http://schemas.openxmlformats.org/officeDocument/2006/math">
                    <m:oMath>
                      <m:acc>
                        <m:accPr>
                          <m:chr m:val="̂"/>
                          <m:ctrlPr>
                            <a:rPr lang="pt-BR" i="1">
                              <a:latin typeface="Cambria Math" panose="02040503050406030204" pitchFamily="18" charset="0"/>
                            </a:rPr>
                          </m:ctrlPr>
                        </m:accPr>
                        <m:e>
                          <m:r>
                            <a:rPr lang="pt-BR" i="1">
                              <a:latin typeface="Cambria Math" panose="02040503050406030204" pitchFamily="18" charset="0"/>
                            </a:rPr>
                            <m:t>𝑦</m:t>
                          </m:r>
                        </m:e>
                      </m:acc>
                      <m:d>
                        <m:dPr>
                          <m:ctrlPr>
                            <a:rPr lang="pt-BR"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0</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1</m:t>
                          </m:r>
                        </m:sub>
                      </m:sSub>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1</m:t>
                          </m:r>
                        </m:sub>
                      </m:sSub>
                      <m:d>
                        <m:dPr>
                          <m:ctrlPr>
                            <a:rPr lang="pt-BR"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𝐾</m:t>
                          </m:r>
                        </m:sub>
                      </m:sSub>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𝐾</m:t>
                          </m:r>
                        </m:sub>
                      </m:sSub>
                      <m:d>
                        <m:dPr>
                          <m:ctrlPr>
                            <a:rPr lang="pt-BR"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m:t>
                      </m:r>
                      <m:nary>
                        <m:naryPr>
                          <m:chr m:val="∑"/>
                          <m:ctrlPr>
                            <a:rPr lang="pt-BR" i="1">
                              <a:latin typeface="Cambria Math" panose="02040503050406030204" pitchFamily="18" charset="0"/>
                            </a:rPr>
                          </m:ctrlPr>
                        </m:naryPr>
                        <m:sub>
                          <m:r>
                            <m:rPr>
                              <m:brk m:alnAt="23"/>
                            </m:rPr>
                            <a:rPr lang="pt-BR" i="1">
                              <a:latin typeface="Cambria Math" panose="02040503050406030204" pitchFamily="18" charset="0"/>
                            </a:rPr>
                            <m:t>𝑖</m:t>
                          </m:r>
                          <m:r>
                            <a:rPr lang="pt-BR" i="1">
                              <a:latin typeface="Cambria Math" panose="02040503050406030204" pitchFamily="18" charset="0"/>
                            </a:rPr>
                            <m:t>=0</m:t>
                          </m:r>
                        </m:sub>
                        <m:sup>
                          <m:r>
                            <a:rPr lang="pt-BR" i="1">
                              <a:latin typeface="Cambria Math" panose="02040503050406030204" pitchFamily="18" charset="0"/>
                            </a:rPr>
                            <m:t>𝐾</m:t>
                          </m:r>
                        </m:sup>
                        <m:e>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𝑖</m:t>
                              </m:r>
                            </m:sub>
                          </m:sSub>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𝑖</m:t>
                              </m:r>
                            </m:sub>
                          </m:sSub>
                          <m:d>
                            <m:dPr>
                              <m:ctrlPr>
                                <a:rPr lang="pt-BR" i="1">
                                  <a:latin typeface="Cambria Math" panose="02040503050406030204" pitchFamily="18" charset="0"/>
                                </a:rPr>
                              </m:ctrlPr>
                            </m:dPr>
                            <m:e>
                              <m:r>
                                <a:rPr lang="pt-BR" i="1">
                                  <a:latin typeface="Cambria Math" panose="02040503050406030204" pitchFamily="18" charset="0"/>
                                </a:rPr>
                                <m:t>𝑛</m:t>
                              </m:r>
                            </m:e>
                          </m:d>
                        </m:e>
                      </m:nary>
                      <m:r>
                        <a:rPr lang="pt-BR" i="1">
                          <a:latin typeface="Cambria Math" panose="02040503050406030204" pitchFamily="18" charset="0"/>
                        </a:rPr>
                        <m:t>=</m:t>
                      </m:r>
                      <m:sSup>
                        <m:sSupPr>
                          <m:ctrlPr>
                            <a:rPr lang="pt-BR" b="1" i="1" smtClean="0">
                              <a:latin typeface="Cambria Math" panose="02040503050406030204" pitchFamily="18" charset="0"/>
                            </a:rPr>
                          </m:ctrlPr>
                        </m:sSupPr>
                        <m:e>
                          <m:r>
                            <a:rPr lang="pt-BR" b="1" i="1" smtClean="0">
                              <a:latin typeface="Cambria Math" panose="02040503050406030204" pitchFamily="18" charset="0"/>
                            </a:rPr>
                            <m:t>𝒂</m:t>
                          </m:r>
                        </m:e>
                        <m:sup>
                          <m:r>
                            <a:rPr lang="pt-BR" i="1">
                              <a:latin typeface="Cambria Math" panose="02040503050406030204" pitchFamily="18" charset="0"/>
                            </a:rPr>
                            <m:t>𝑇</m:t>
                          </m:r>
                        </m:sup>
                      </m:sSup>
                      <m:r>
                        <a:rPr lang="pt-BR" b="1" i="1">
                          <a:latin typeface="Cambria Math" panose="02040503050406030204" pitchFamily="18" charset="0"/>
                        </a:rPr>
                        <m:t>𝒙</m:t>
                      </m:r>
                      <m:r>
                        <a:rPr lang="pt-BR" i="1">
                          <a:latin typeface="Cambria Math" panose="02040503050406030204" pitchFamily="18" charset="0"/>
                        </a:rPr>
                        <m:t>(</m:t>
                      </m:r>
                      <m:r>
                        <a:rPr lang="pt-BR" i="1">
                          <a:latin typeface="Cambria Math" panose="02040503050406030204" pitchFamily="18" charset="0"/>
                        </a:rPr>
                        <m:t>𝑛</m:t>
                      </m:r>
                      <m:r>
                        <a:rPr lang="pt-BR" i="1">
                          <a:latin typeface="Cambria Math" panose="02040503050406030204" pitchFamily="18" charset="0"/>
                        </a:rPr>
                        <m:t>),</m:t>
                      </m:r>
                    </m:oMath>
                  </m:oMathPara>
                </a14:m>
                <a:endParaRPr lang="pt-BR" dirty="0"/>
              </a:p>
              <a:p>
                <a:pPr marL="0" indent="0">
                  <a:buNone/>
                </a:pPr>
                <a:r>
                  <a:rPr lang="pt-BR" dirty="0"/>
                  <a:t>onde </a:t>
                </a:r>
                <a14:m>
                  <m:oMath xmlns:m="http://schemas.openxmlformats.org/officeDocument/2006/math">
                    <m:r>
                      <a:rPr lang="pt-BR" b="1" i="1">
                        <a:latin typeface="Cambria Math" panose="02040503050406030204" pitchFamily="18" charset="0"/>
                      </a:rPr>
                      <m:t>𝒙</m:t>
                    </m:r>
                    <m:d>
                      <m:dPr>
                        <m:ctrlPr>
                          <a:rPr lang="pt-BR"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1  </m:t>
                        </m:r>
                        <m:r>
                          <a:rPr lang="pt-BR" i="1">
                            <a:latin typeface="Cambria Math" panose="02040503050406030204" pitchFamily="18" charset="0"/>
                          </a:rPr>
                          <m:t>𝑥</m:t>
                        </m:r>
                      </m:e>
                      <m:sub>
                        <m:r>
                          <a:rPr lang="pt-BR" i="1">
                            <a:latin typeface="Cambria Math" panose="02040503050406030204" pitchFamily="18" charset="0"/>
                          </a:rPr>
                          <m:t>1</m:t>
                        </m:r>
                      </m:sub>
                    </m:sSub>
                    <m:d>
                      <m:dPr>
                        <m:ctrlPr>
                          <a:rPr lang="pt-BR"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 …</m:t>
                    </m:r>
                    <m:sSub>
                      <m:sSubPr>
                        <m:ctrlPr>
                          <a:rPr lang="pt-BR" i="1">
                            <a:latin typeface="Cambria Math" panose="02040503050406030204" pitchFamily="18" charset="0"/>
                          </a:rPr>
                        </m:ctrlPr>
                      </m:sSubPr>
                      <m:e>
                        <m:r>
                          <a:rPr lang="pt-BR" i="1">
                            <a:latin typeface="Cambria Math" panose="02040503050406030204" pitchFamily="18" charset="0"/>
                          </a:rPr>
                          <m:t> </m:t>
                        </m:r>
                        <m:r>
                          <a:rPr lang="pt-BR" i="1">
                            <a:latin typeface="Cambria Math" panose="02040503050406030204" pitchFamily="18" charset="0"/>
                          </a:rPr>
                          <m:t>𝑥</m:t>
                        </m:r>
                      </m:e>
                      <m:sub>
                        <m:r>
                          <a:rPr lang="pt-BR" i="1">
                            <a:latin typeface="Cambria Math" panose="02040503050406030204" pitchFamily="18" charset="0"/>
                          </a:rPr>
                          <m:t>𝐾</m:t>
                        </m:r>
                      </m:sub>
                    </m:sSub>
                    <m:d>
                      <m:dPr>
                        <m:ctrlPr>
                          <a:rPr lang="pt-BR"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m:t>
                    </m:r>
                    <m:r>
                      <a:rPr lang="pt-BR" i="1">
                        <a:latin typeface="Cambria Math" panose="02040503050406030204" pitchFamily="18" charset="0"/>
                        <a:ea typeface="Cambria Math" panose="02040503050406030204" pitchFamily="18" charset="0"/>
                      </a:rPr>
                      <m:t>∈</m:t>
                    </m:r>
                    <m:sSup>
                      <m:sSupPr>
                        <m:ctrlPr>
                          <a:rPr lang="pt-BR" i="1">
                            <a:latin typeface="Cambria Math" panose="02040503050406030204" pitchFamily="18" charset="0"/>
                            <a:ea typeface="Cambria Math" panose="02040503050406030204" pitchFamily="18" charset="0"/>
                          </a:rPr>
                        </m:ctrlPr>
                      </m:sSupPr>
                      <m:e>
                        <m:r>
                          <a:rPr lang="pt-BR" i="1">
                            <a:latin typeface="Cambria Math" panose="02040503050406030204" pitchFamily="18" charset="0"/>
                            <a:ea typeface="Cambria Math" panose="02040503050406030204" pitchFamily="18" charset="0"/>
                          </a:rPr>
                          <m:t>ℝ</m:t>
                        </m:r>
                      </m:e>
                      <m:sup>
                        <m:r>
                          <a:rPr lang="pt-BR" i="1">
                            <a:latin typeface="Cambria Math" panose="02040503050406030204" pitchFamily="18" charset="0"/>
                            <a:ea typeface="Cambria Math" panose="02040503050406030204" pitchFamily="18" charset="0"/>
                          </a:rPr>
                          <m:t>𝐾</m:t>
                        </m:r>
                        <m:r>
                          <a:rPr lang="pt-BR" i="1">
                            <a:latin typeface="Cambria Math" panose="02040503050406030204" pitchFamily="18" charset="0"/>
                            <a:ea typeface="Cambria Math" panose="02040503050406030204" pitchFamily="18" charset="0"/>
                          </a:rPr>
                          <m:t>+1×1</m:t>
                        </m:r>
                      </m:sup>
                    </m:sSup>
                  </m:oMath>
                </a14:m>
                <a:r>
                  <a:rPr lang="pt-BR" dirty="0"/>
                  <a:t> é um vetor com todos os atributos da </a:t>
                </a:r>
                <a14:m>
                  <m:oMath xmlns:m="http://schemas.openxmlformats.org/officeDocument/2006/math">
                    <m:r>
                      <a:rPr lang="pt-BR" i="1">
                        <a:latin typeface="Cambria Math" panose="02040503050406030204" pitchFamily="18" charset="0"/>
                      </a:rPr>
                      <m:t>𝑛</m:t>
                    </m:r>
                  </m:oMath>
                </a14:m>
                <a:r>
                  <a:rPr lang="pt-BR" dirty="0"/>
                  <a:t>-</a:t>
                </a:r>
                <a:r>
                  <a:rPr lang="pt-BR" dirty="0" err="1"/>
                  <a:t>ésima</a:t>
                </a:r>
                <a:r>
                  <a:rPr lang="pt-BR" dirty="0"/>
                  <a:t> amostra de treinamento e </a:t>
                </a:r>
                <a14:m>
                  <m:oMath xmlns:m="http://schemas.openxmlformats.org/officeDocument/2006/math">
                    <m:r>
                      <a:rPr lang="pt-BR" b="1" i="1">
                        <a:latin typeface="Cambria Math" panose="02040503050406030204" pitchFamily="18" charset="0"/>
                      </a:rPr>
                      <m:t>𝒂</m:t>
                    </m:r>
                    <m:r>
                      <a:rPr lang="pt-BR" b="1" i="1">
                        <a:latin typeface="Cambria Math" panose="02040503050406030204" pitchFamily="18" charset="0"/>
                      </a:rPr>
                      <m:t>=</m:t>
                    </m:r>
                    <m:sSup>
                      <m:sSupPr>
                        <m:ctrlPr>
                          <a:rPr lang="pt-BR" b="1" i="1">
                            <a:latin typeface="Cambria Math" panose="02040503050406030204" pitchFamily="18" charset="0"/>
                          </a:rPr>
                        </m:ctrlPr>
                      </m:sSupPr>
                      <m:e>
                        <m:r>
                          <a:rPr lang="pt-BR" b="1" i="1">
                            <a:latin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i="1">
                                <a:latin typeface="Cambria Math" panose="02040503050406030204" pitchFamily="18" charset="0"/>
                                <a:ea typeface="Cambria Math" panose="02040503050406030204" pitchFamily="18" charset="0"/>
                              </a:rPr>
                              <m:t>0</m:t>
                            </m:r>
                          </m:sub>
                        </m:sSub>
                        <m:r>
                          <a:rPr lang="pt-BR" b="1"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i="1">
                                <a:latin typeface="Cambria Math" panose="02040503050406030204" pitchFamily="18" charset="0"/>
                                <a:ea typeface="Cambria Math" panose="02040503050406030204" pitchFamily="18" charset="0"/>
                              </a:rPr>
                              <m:t>𝐾</m:t>
                            </m:r>
                          </m:sub>
                        </m:sSub>
                        <m:r>
                          <a:rPr lang="pt-BR" b="1" i="1">
                            <a:latin typeface="Cambria Math" panose="02040503050406030204" pitchFamily="18" charset="0"/>
                          </a:rPr>
                          <m:t>]</m:t>
                        </m:r>
                      </m:e>
                      <m:sup>
                        <m:r>
                          <a:rPr lang="pt-BR" i="1">
                            <a:latin typeface="Cambria Math" panose="02040503050406030204" pitchFamily="18" charset="0"/>
                          </a:rPr>
                          <m:t>𝑇</m:t>
                        </m:r>
                      </m:sup>
                    </m:sSup>
                    <m:r>
                      <a:rPr lang="pt-BR" b="1" i="1">
                        <a:latin typeface="Cambria Math" panose="02040503050406030204" pitchFamily="18" charset="0"/>
                        <a:ea typeface="Cambria Math" panose="02040503050406030204" pitchFamily="18" charset="0"/>
                      </a:rPr>
                      <m:t>∈</m:t>
                    </m:r>
                    <m:sSup>
                      <m:sSupPr>
                        <m:ctrlPr>
                          <a:rPr lang="pt-BR" b="1" i="1">
                            <a:latin typeface="Cambria Math" panose="02040503050406030204" pitchFamily="18" charset="0"/>
                            <a:ea typeface="Cambria Math" panose="02040503050406030204" pitchFamily="18" charset="0"/>
                          </a:rPr>
                        </m:ctrlPr>
                      </m:sSupPr>
                      <m:e>
                        <m:r>
                          <a:rPr lang="pt-BR" b="1" i="1">
                            <a:latin typeface="Cambria Math" panose="02040503050406030204" pitchFamily="18" charset="0"/>
                            <a:ea typeface="Cambria Math" panose="02040503050406030204" pitchFamily="18" charset="0"/>
                          </a:rPr>
                          <m:t> </m:t>
                        </m:r>
                        <m:r>
                          <a:rPr lang="pt-BR" b="1" i="1">
                            <a:latin typeface="Cambria Math" panose="02040503050406030204" pitchFamily="18" charset="0"/>
                            <a:ea typeface="Cambria Math" panose="02040503050406030204" pitchFamily="18" charset="0"/>
                          </a:rPr>
                          <m:t>ℝ</m:t>
                        </m:r>
                      </m:e>
                      <m:sup>
                        <m:r>
                          <a:rPr lang="pt-BR" i="1">
                            <a:latin typeface="Cambria Math" panose="02040503050406030204" pitchFamily="18" charset="0"/>
                            <a:ea typeface="Cambria Math" panose="02040503050406030204" pitchFamily="18" charset="0"/>
                          </a:rPr>
                          <m:t>𝐾</m:t>
                        </m:r>
                        <m:r>
                          <a:rPr lang="pt-BR" i="1">
                            <a:latin typeface="Cambria Math" panose="02040503050406030204" pitchFamily="18" charset="0"/>
                            <a:ea typeface="Cambria Math" panose="02040503050406030204" pitchFamily="18" charset="0"/>
                          </a:rPr>
                          <m:t>+1×1</m:t>
                        </m:r>
                      </m:sup>
                    </m:sSup>
                  </m:oMath>
                </a14:m>
                <a:r>
                  <a:rPr lang="pt-BR" dirty="0"/>
                  <a:t>.</a:t>
                </a:r>
              </a:p>
            </p:txBody>
          </p:sp>
        </mc:Choice>
        <mc:Fallback xmlns="">
          <p:sp>
            <p:nvSpPr>
              <p:cNvPr id="3" name="Content Placeholder 2">
                <a:extLst>
                  <a:ext uri="{FF2B5EF4-FFF2-40B4-BE49-F238E27FC236}">
                    <a16:creationId xmlns:a16="http://schemas.microsoft.com/office/drawing/2014/main" xmlns:a14="http://schemas.microsoft.com/office/drawing/2010/main" xmlns="" id="{C0ECCFF5-5C4A-6AD6-A038-D9C133F0B029}"/>
                  </a:ext>
                </a:extLst>
              </p:cNvPr>
              <p:cNvSpPr>
                <a:spLocks noGrp="1" noRot="1" noChangeAspect="1" noMove="1" noResize="1" noEditPoints="1" noAdjustHandles="1" noChangeArrowheads="1" noChangeShapeType="1" noTextEdit="1"/>
              </p:cNvSpPr>
              <p:nvPr>
                <p:ph idx="1"/>
              </p:nvPr>
            </p:nvSpPr>
            <p:spPr>
              <a:xfrm>
                <a:off x="838199" y="1825624"/>
                <a:ext cx="11353801" cy="5032375"/>
              </a:xfrm>
              <a:blipFill rotWithShape="0">
                <a:blip r:embed="rId2"/>
                <a:stretch>
                  <a:fillRect l="-1074" t="-1937"/>
                </a:stretch>
              </a:blipFill>
            </p:spPr>
            <p:txBody>
              <a:bodyPr/>
              <a:lstStyle/>
              <a:p>
                <a:r>
                  <a:rPr lang="pt-BR">
                    <a:noFill/>
                  </a:rPr>
                  <a:t> </a:t>
                </a:r>
              </a:p>
            </p:txBody>
          </p:sp>
        </mc:Fallback>
      </mc:AlternateContent>
      <p:sp>
        <p:nvSpPr>
          <p:cNvPr id="4" name="Chave Direita 3">
            <a:extLst>
              <a:ext uri="{FF2B5EF4-FFF2-40B4-BE49-F238E27FC236}">
                <a16:creationId xmlns:a16="http://schemas.microsoft.com/office/drawing/2014/main" id="{021EE6D7-9930-A65A-DD1C-3A4F859A185C}"/>
              </a:ext>
            </a:extLst>
          </p:cNvPr>
          <p:cNvSpPr/>
          <p:nvPr/>
        </p:nvSpPr>
        <p:spPr>
          <a:xfrm rot="5400000">
            <a:off x="5110679" y="3108768"/>
            <a:ext cx="164878" cy="457334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5" name="CaixaDeTexto 4">
            <a:extLst>
              <a:ext uri="{FF2B5EF4-FFF2-40B4-BE49-F238E27FC236}">
                <a16:creationId xmlns:a16="http://schemas.microsoft.com/office/drawing/2014/main" id="{3FEBDEDF-6E0B-439A-F6E7-7E2569A0D585}"/>
              </a:ext>
            </a:extLst>
          </p:cNvPr>
          <p:cNvSpPr txBox="1"/>
          <p:nvPr/>
        </p:nvSpPr>
        <p:spPr>
          <a:xfrm>
            <a:off x="2906444" y="5532742"/>
            <a:ext cx="4417891" cy="307777"/>
          </a:xfrm>
          <a:prstGeom prst="rect">
            <a:avLst/>
          </a:prstGeom>
          <a:noFill/>
        </p:spPr>
        <p:txBody>
          <a:bodyPr wrap="square" rtlCol="0">
            <a:spAutoFit/>
          </a:bodyPr>
          <a:lstStyle/>
          <a:p>
            <a:pPr algn="ctr"/>
            <a:r>
              <a:rPr lang="pt-BR" sz="1400" dirty="0"/>
              <a:t>Equação do hiperplano</a:t>
            </a:r>
          </a:p>
        </p:txBody>
      </p:sp>
    </p:spTree>
    <p:extLst>
      <p:ext uri="{BB962C8B-B14F-4D97-AF65-F5344CB8AC3E}">
        <p14:creationId xmlns:p14="http://schemas.microsoft.com/office/powerpoint/2010/main" val="194884962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86E35-2132-957C-5119-8416C939A543}"/>
              </a:ext>
            </a:extLst>
          </p:cNvPr>
          <p:cNvSpPr>
            <a:spLocks noGrp="1"/>
          </p:cNvSpPr>
          <p:nvPr>
            <p:ph type="title"/>
          </p:nvPr>
        </p:nvSpPr>
        <p:spPr/>
        <p:txBody>
          <a:bodyPr/>
          <a:lstStyle/>
          <a:p>
            <a:r>
              <a:rPr lang="pt-BR" dirty="0"/>
              <a:t>Vetor gradiente</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DC5EC678-4C25-1184-B2F1-399C0F236041}"/>
                  </a:ext>
                </a:extLst>
              </p:cNvPr>
              <p:cNvSpPr>
                <a:spLocks noGrp="1"/>
              </p:cNvSpPr>
              <p:nvPr>
                <p:ph idx="1"/>
              </p:nvPr>
            </p:nvSpPr>
            <p:spPr>
              <a:xfrm>
                <a:off x="838198" y="1777430"/>
                <a:ext cx="11353801" cy="5080570"/>
              </a:xfrm>
            </p:spPr>
            <p:txBody>
              <a:bodyPr>
                <a:normAutofit/>
              </a:bodyPr>
              <a:lstStyle/>
              <a:p>
                <a:r>
                  <a:rPr lang="pt-BR" dirty="0"/>
                  <a:t>O </a:t>
                </a:r>
                <a:r>
                  <a:rPr lang="pt-BR" b="1" dirty="0"/>
                  <a:t>vetor gradiente </a:t>
                </a:r>
                <a:r>
                  <a:rPr lang="pt-BR" dirty="0"/>
                  <a:t>da</a:t>
                </a:r>
                <a:r>
                  <a:rPr lang="pt-BR" b="1" dirty="0"/>
                  <a:t> função de erro em relação aos pesos </a:t>
                </a:r>
                <a:r>
                  <a:rPr lang="pt-BR" dirty="0"/>
                  <a:t>é dado por</a:t>
                </a:r>
              </a:p>
              <a:p>
                <a:pPr marL="0" indent="0">
                  <a:buNone/>
                </a:pPr>
                <a14:m>
                  <m:oMathPara xmlns:m="http://schemas.openxmlformats.org/officeDocument/2006/math">
                    <m:oMath>
                      <m:f>
                        <m:fPr>
                          <m:ctrlPr>
                            <a:rPr lang="pt-BR" i="0" smtClean="0">
                              <a:latin typeface="Cambria Math" panose="02040503050406030204" pitchFamily="18" charset="0"/>
                            </a:rPr>
                          </m:ctrlPr>
                        </m:fPr>
                        <m:num>
                          <m:r>
                            <a:rPr lang="pt-BR" i="0" smtClean="0">
                              <a:latin typeface="Cambria Math" panose="02040503050406030204" pitchFamily="18" charset="0"/>
                            </a:rPr>
                            <m:t>𝜕</m:t>
                          </m:r>
                          <m:sSub>
                            <m:sSubPr>
                              <m:ctrlPr>
                                <a:rPr lang="pt-BR" smtClean="0">
                                  <a:latin typeface="Cambria Math" panose="02040503050406030204" pitchFamily="18" charset="0"/>
                                </a:rPr>
                              </m:ctrlPr>
                            </m:sSubPr>
                            <m:e>
                              <m:r>
                                <a:rPr lang="pt-BR" smtClean="0">
                                  <a:latin typeface="Cambria Math" panose="02040503050406030204" pitchFamily="18" charset="0"/>
                                </a:rPr>
                                <m:t>𝐽</m:t>
                              </m:r>
                            </m:e>
                            <m:sub>
                              <m:r>
                                <a:rPr lang="pt-BR" smtClean="0">
                                  <a:latin typeface="Cambria Math" panose="02040503050406030204" pitchFamily="18" charset="0"/>
                                </a:rPr>
                                <m:t>𝑒</m:t>
                              </m:r>
                            </m:sub>
                          </m:sSub>
                          <m:d>
                            <m:dPr>
                              <m:ctrlPr>
                                <a:rPr lang="pt-BR" b="1" smtClean="0">
                                  <a:latin typeface="Cambria Math" panose="02040503050406030204" pitchFamily="18" charset="0"/>
                                </a:rPr>
                              </m:ctrlPr>
                            </m:dPr>
                            <m:e>
                              <m:r>
                                <a:rPr lang="pt-BR" b="1" smtClean="0">
                                  <a:latin typeface="Cambria Math" panose="02040503050406030204" pitchFamily="18" charset="0"/>
                                </a:rPr>
                                <m:t>𝒂</m:t>
                              </m:r>
                            </m:e>
                          </m:d>
                        </m:num>
                        <m:den>
                          <m:r>
                            <a:rPr lang="pt-BR" smtClean="0">
                              <a:latin typeface="Cambria Math" panose="02040503050406030204" pitchFamily="18" charset="0"/>
                            </a:rPr>
                            <m:t>𝜕</m:t>
                          </m:r>
                          <m:r>
                            <a:rPr lang="pt-BR" b="1" smtClean="0">
                              <a:latin typeface="Cambria Math" panose="02040503050406030204" pitchFamily="18" charset="0"/>
                            </a:rPr>
                            <m:t>𝒂</m:t>
                          </m:r>
                        </m:den>
                      </m:f>
                      <m:r>
                        <a:rPr lang="pt-BR" b="1" smtClean="0">
                          <a:latin typeface="Cambria Math" panose="02040503050406030204" pitchFamily="18" charset="0"/>
                        </a:rPr>
                        <m:t>=</m:t>
                      </m:r>
                      <m:f>
                        <m:fPr>
                          <m:ctrlPr>
                            <a:rPr lang="pt-BR" smtClean="0">
                              <a:latin typeface="Cambria Math" panose="02040503050406030204" pitchFamily="18" charset="0"/>
                            </a:rPr>
                          </m:ctrlPr>
                        </m:fPr>
                        <m:num>
                          <m:r>
                            <a:rPr lang="pt-BR" smtClean="0">
                              <a:latin typeface="Cambria Math" panose="02040503050406030204" pitchFamily="18" charset="0"/>
                            </a:rPr>
                            <m:t>𝜕</m:t>
                          </m:r>
                        </m:num>
                        <m:den>
                          <m:r>
                            <a:rPr lang="pt-BR" smtClean="0">
                              <a:latin typeface="Cambria Math" panose="02040503050406030204" pitchFamily="18" charset="0"/>
                            </a:rPr>
                            <m:t>𝜕</m:t>
                          </m:r>
                          <m:r>
                            <a:rPr lang="pt-BR" b="1" smtClean="0">
                              <a:latin typeface="Cambria Math" panose="02040503050406030204" pitchFamily="18" charset="0"/>
                            </a:rPr>
                            <m:t>𝒂</m:t>
                          </m:r>
                        </m:den>
                      </m:f>
                      <m:d>
                        <m:dPr>
                          <m:begChr m:val="["/>
                          <m:endChr m:val="]"/>
                          <m:ctrlPr>
                            <a:rPr lang="pt-BR" i="1" smtClean="0">
                              <a:latin typeface="Cambria Math" panose="02040503050406030204" pitchFamily="18" charset="0"/>
                            </a:rPr>
                          </m:ctrlPr>
                        </m:dPr>
                        <m:e>
                          <m:f>
                            <m:fPr>
                              <m:ctrlPr>
                                <a:rPr lang="pt-BR" smtClean="0">
                                  <a:latin typeface="Cambria Math" panose="02040503050406030204" pitchFamily="18" charset="0"/>
                                </a:rPr>
                              </m:ctrlPr>
                            </m:fPr>
                            <m:num>
                              <m:r>
                                <a:rPr lang="pt-BR" smtClean="0">
                                  <a:latin typeface="Cambria Math" panose="02040503050406030204" pitchFamily="18" charset="0"/>
                                </a:rPr>
                                <m:t>1</m:t>
                              </m:r>
                            </m:num>
                            <m:den>
                              <m:r>
                                <a:rPr lang="pt-BR" smtClean="0">
                                  <a:latin typeface="Cambria Math" panose="02040503050406030204" pitchFamily="18" charset="0"/>
                                </a:rPr>
                                <m:t>𝑁</m:t>
                              </m:r>
                            </m:den>
                          </m:f>
                          <m:nary>
                            <m:naryPr>
                              <m:chr m:val="∑"/>
                              <m:ctrlPr>
                                <a:rPr lang="pt-BR" b="0" smtClean="0">
                                  <a:latin typeface="Cambria Math" panose="02040503050406030204" pitchFamily="18" charset="0"/>
                                </a:rPr>
                              </m:ctrlPr>
                            </m:naryPr>
                            <m:sub>
                              <m:r>
                                <m:rPr>
                                  <m:brk m:alnAt="23"/>
                                </m:rPr>
                                <a:rPr lang="pt-BR" b="0" smtClean="0">
                                  <a:latin typeface="Cambria Math" panose="02040503050406030204" pitchFamily="18" charset="0"/>
                                </a:rPr>
                                <m:t>𝑛</m:t>
                              </m:r>
                              <m:r>
                                <a:rPr lang="pt-BR" b="0" smtClean="0">
                                  <a:latin typeface="Cambria Math" panose="02040503050406030204" pitchFamily="18" charset="0"/>
                                </a:rPr>
                                <m:t>=0</m:t>
                              </m:r>
                            </m:sub>
                            <m:sup>
                              <m:r>
                                <a:rPr lang="pt-BR" b="0" smtClean="0">
                                  <a:latin typeface="Cambria Math" panose="02040503050406030204" pitchFamily="18" charset="0"/>
                                </a:rPr>
                                <m:t>𝑁</m:t>
                              </m:r>
                              <m:r>
                                <a:rPr lang="pt-BR" b="0" smtClean="0">
                                  <a:latin typeface="Cambria Math" panose="02040503050406030204" pitchFamily="18" charset="0"/>
                                </a:rPr>
                                <m:t>−1</m:t>
                              </m:r>
                            </m:sup>
                            <m:e>
                              <m:sSup>
                                <m:sSupPr>
                                  <m:ctrlPr>
                                    <a:rPr lang="pt-BR" b="0" i="1" smtClean="0">
                                      <a:latin typeface="Cambria Math" panose="02040503050406030204" pitchFamily="18" charset="0"/>
                                    </a:rPr>
                                  </m:ctrlPr>
                                </m:sSupPr>
                                <m:e>
                                  <m:d>
                                    <m:dPr>
                                      <m:ctrlPr>
                                        <a:rPr lang="pt-BR" b="0" smtClean="0">
                                          <a:latin typeface="Cambria Math" panose="02040503050406030204" pitchFamily="18" charset="0"/>
                                        </a:rPr>
                                      </m:ctrlPr>
                                    </m:dPr>
                                    <m:e>
                                      <m:r>
                                        <a:rPr lang="pt-BR" b="0" smtClean="0">
                                          <a:latin typeface="Cambria Math" panose="02040503050406030204" pitchFamily="18" charset="0"/>
                                        </a:rPr>
                                        <m:t>𝑦</m:t>
                                      </m:r>
                                      <m:d>
                                        <m:dPr>
                                          <m:ctrlPr>
                                            <a:rPr lang="pt-BR" b="0" smtClean="0">
                                              <a:latin typeface="Cambria Math" panose="02040503050406030204" pitchFamily="18" charset="0"/>
                                            </a:rPr>
                                          </m:ctrlPr>
                                        </m:dPr>
                                        <m:e>
                                          <m:r>
                                            <a:rPr lang="pt-BR" b="0" smtClean="0">
                                              <a:latin typeface="Cambria Math" panose="02040503050406030204" pitchFamily="18" charset="0"/>
                                            </a:rPr>
                                            <m:t>𝑛</m:t>
                                          </m:r>
                                        </m:e>
                                      </m:d>
                                      <m:r>
                                        <a:rPr lang="pt-BR" b="0" smtClean="0">
                                          <a:latin typeface="Cambria Math" panose="02040503050406030204" pitchFamily="18" charset="0"/>
                                        </a:rPr>
                                        <m:t>−</m:t>
                                      </m:r>
                                      <m:acc>
                                        <m:accPr>
                                          <m:chr m:val="̂"/>
                                          <m:ctrlPr>
                                            <a:rPr lang="pt-BR" smtClean="0">
                                              <a:latin typeface="Cambria Math" panose="02040503050406030204" pitchFamily="18" charset="0"/>
                                            </a:rPr>
                                          </m:ctrlPr>
                                        </m:accPr>
                                        <m:e>
                                          <m:r>
                                            <a:rPr lang="pt-BR" smtClean="0">
                                              <a:latin typeface="Cambria Math" panose="02040503050406030204" pitchFamily="18" charset="0"/>
                                            </a:rPr>
                                            <m:t>𝑦</m:t>
                                          </m:r>
                                        </m:e>
                                      </m:acc>
                                      <m:d>
                                        <m:dPr>
                                          <m:ctrlPr>
                                            <a:rPr lang="pt-BR" smtClean="0">
                                              <a:latin typeface="Cambria Math" panose="02040503050406030204" pitchFamily="18" charset="0"/>
                                            </a:rPr>
                                          </m:ctrlPr>
                                        </m:dPr>
                                        <m:e>
                                          <m:r>
                                            <a:rPr lang="pt-BR" smtClean="0">
                                              <a:latin typeface="Cambria Math" panose="02040503050406030204" pitchFamily="18" charset="0"/>
                                            </a:rPr>
                                            <m:t>𝑛</m:t>
                                          </m:r>
                                        </m:e>
                                      </m:d>
                                    </m:e>
                                  </m:d>
                                </m:e>
                                <m:sup>
                                  <m:r>
                                    <a:rPr lang="pt-BR" b="0" smtClean="0">
                                      <a:latin typeface="Cambria Math" panose="02040503050406030204" pitchFamily="18" charset="0"/>
                                    </a:rPr>
                                    <m:t>2</m:t>
                                  </m:r>
                                </m:sup>
                              </m:sSup>
                            </m:e>
                          </m:nary>
                        </m:e>
                      </m:d>
                      <m:r>
                        <a:rPr lang="pt-BR" b="1" i="1" smtClean="0">
                          <a:latin typeface="Cambria Math" panose="02040503050406030204" pitchFamily="18" charset="0"/>
                        </a:rPr>
                        <m:t>=</m:t>
                      </m:r>
                      <m:f>
                        <m:fPr>
                          <m:ctrlPr>
                            <a:rPr lang="pt-BR">
                              <a:latin typeface="Cambria Math" panose="02040503050406030204" pitchFamily="18" charset="0"/>
                            </a:rPr>
                          </m:ctrlPr>
                        </m:fPr>
                        <m:num>
                          <m:r>
                            <a:rPr lang="pt-BR">
                              <a:latin typeface="Cambria Math" panose="02040503050406030204" pitchFamily="18" charset="0"/>
                            </a:rPr>
                            <m:t>1</m:t>
                          </m:r>
                        </m:num>
                        <m:den>
                          <m:r>
                            <a:rPr lang="pt-BR">
                              <a:latin typeface="Cambria Math" panose="02040503050406030204" pitchFamily="18" charset="0"/>
                            </a:rPr>
                            <m:t>𝑁</m:t>
                          </m:r>
                        </m:den>
                      </m:f>
                      <m:nary>
                        <m:naryPr>
                          <m:chr m:val="∑"/>
                          <m:ctrlPr>
                            <a:rPr lang="pt-BR">
                              <a:latin typeface="Cambria Math" panose="02040503050406030204" pitchFamily="18" charset="0"/>
                            </a:rPr>
                          </m:ctrlPr>
                        </m:naryPr>
                        <m:sub>
                          <m:r>
                            <m:rPr>
                              <m:brk m:alnAt="23"/>
                            </m:rPr>
                            <a:rPr lang="pt-BR">
                              <a:latin typeface="Cambria Math" panose="02040503050406030204" pitchFamily="18" charset="0"/>
                            </a:rPr>
                            <m:t>𝑛</m:t>
                          </m:r>
                          <m:r>
                            <a:rPr lang="pt-BR">
                              <a:latin typeface="Cambria Math" panose="02040503050406030204" pitchFamily="18" charset="0"/>
                            </a:rPr>
                            <m:t>=0</m:t>
                          </m:r>
                        </m:sub>
                        <m:sup>
                          <m:r>
                            <a:rPr lang="pt-BR">
                              <a:latin typeface="Cambria Math" panose="02040503050406030204" pitchFamily="18" charset="0"/>
                            </a:rPr>
                            <m:t>𝑁</m:t>
                          </m:r>
                          <m:r>
                            <a:rPr lang="pt-BR">
                              <a:latin typeface="Cambria Math" panose="02040503050406030204" pitchFamily="18" charset="0"/>
                            </a:rPr>
                            <m:t>−1</m:t>
                          </m:r>
                        </m:sup>
                        <m:e>
                          <m:d>
                            <m:dPr>
                              <m:begChr m:val="["/>
                              <m:endChr m:val="]"/>
                              <m:ctrlPr>
                                <a:rPr lang="pt-BR" i="1">
                                  <a:latin typeface="Cambria Math" panose="02040503050406030204" pitchFamily="18" charset="0"/>
                                </a:rPr>
                              </m:ctrlPr>
                            </m:dPr>
                            <m:e>
                              <m:f>
                                <m:fPr>
                                  <m:ctrlPr>
                                    <a:rPr lang="pt-BR">
                                      <a:latin typeface="Cambria Math" panose="02040503050406030204" pitchFamily="18" charset="0"/>
                                    </a:rPr>
                                  </m:ctrlPr>
                                </m:fPr>
                                <m:num>
                                  <m:r>
                                    <a:rPr lang="pt-BR">
                                      <a:latin typeface="Cambria Math" panose="02040503050406030204" pitchFamily="18" charset="0"/>
                                    </a:rPr>
                                    <m:t>𝜕</m:t>
                                  </m:r>
                                  <m:sSup>
                                    <m:sSupPr>
                                      <m:ctrlPr>
                                        <a:rPr lang="pt-BR" i="1">
                                          <a:latin typeface="Cambria Math" panose="02040503050406030204" pitchFamily="18" charset="0"/>
                                        </a:rPr>
                                      </m:ctrlPr>
                                    </m:sSupPr>
                                    <m:e>
                                      <m:d>
                                        <m:dPr>
                                          <m:ctrlPr>
                                            <a:rPr lang="pt-BR">
                                              <a:latin typeface="Cambria Math" panose="02040503050406030204" pitchFamily="18" charset="0"/>
                                            </a:rPr>
                                          </m:ctrlPr>
                                        </m:dPr>
                                        <m:e>
                                          <m:r>
                                            <a:rPr lang="pt-BR">
                                              <a:latin typeface="Cambria Math" panose="02040503050406030204" pitchFamily="18" charset="0"/>
                                            </a:rPr>
                                            <m:t>𝑦</m:t>
                                          </m:r>
                                          <m:d>
                                            <m:dPr>
                                              <m:ctrlPr>
                                                <a:rPr lang="pt-BR">
                                                  <a:latin typeface="Cambria Math" panose="02040503050406030204" pitchFamily="18" charset="0"/>
                                                </a:rPr>
                                              </m:ctrlPr>
                                            </m:dPr>
                                            <m:e>
                                              <m:r>
                                                <a:rPr lang="pt-BR">
                                                  <a:latin typeface="Cambria Math" panose="02040503050406030204" pitchFamily="18" charset="0"/>
                                                </a:rPr>
                                                <m:t>𝑛</m:t>
                                              </m:r>
                                            </m:e>
                                          </m:d>
                                          <m:r>
                                            <a:rPr lang="pt-BR">
                                              <a:latin typeface="Cambria Math" panose="02040503050406030204" pitchFamily="18" charset="0"/>
                                            </a:rPr>
                                            <m:t>−</m:t>
                                          </m:r>
                                          <m:limLow>
                                            <m:limLowPr>
                                              <m:ctrlPr>
                                                <a:rPr lang="pt-BR" i="1">
                                                  <a:latin typeface="Cambria Math" panose="02040503050406030204" pitchFamily="18" charset="0"/>
                                                </a:rPr>
                                              </m:ctrlPr>
                                            </m:limLowPr>
                                            <m:e>
                                              <m:groupChr>
                                                <m:groupChrPr>
                                                  <m:chr m:val="⏟"/>
                                                  <m:pos m:val="bot"/>
                                                  <m:vertJc m:val="top"/>
                                                  <m:ctrlPr>
                                                    <a:rPr lang="pt-BR" i="1">
                                                      <a:latin typeface="Cambria Math" panose="02040503050406030204" pitchFamily="18" charset="0"/>
                                                    </a:rPr>
                                                  </m:ctrlPr>
                                                </m:groupChrPr>
                                                <m:e>
                                                  <m:acc>
                                                    <m:accPr>
                                                      <m:chr m:val="̂"/>
                                                      <m:ctrlPr>
                                                        <a:rPr lang="pt-BR">
                                                          <a:latin typeface="Cambria Math" panose="02040503050406030204" pitchFamily="18" charset="0"/>
                                                        </a:rPr>
                                                      </m:ctrlPr>
                                                    </m:accPr>
                                                    <m:e>
                                                      <m:r>
                                                        <a:rPr lang="pt-BR">
                                                          <a:latin typeface="Cambria Math" panose="02040503050406030204" pitchFamily="18" charset="0"/>
                                                        </a:rPr>
                                                        <m:t>𝑦</m:t>
                                                      </m:r>
                                                    </m:e>
                                                  </m:acc>
                                                  <m:d>
                                                    <m:dPr>
                                                      <m:ctrlPr>
                                                        <a:rPr lang="pt-BR">
                                                          <a:latin typeface="Cambria Math" panose="02040503050406030204" pitchFamily="18" charset="0"/>
                                                        </a:rPr>
                                                      </m:ctrlPr>
                                                    </m:dPr>
                                                    <m:e>
                                                      <m:r>
                                                        <a:rPr lang="pt-BR">
                                                          <a:latin typeface="Cambria Math" panose="02040503050406030204" pitchFamily="18" charset="0"/>
                                                        </a:rPr>
                                                        <m:t>𝑛</m:t>
                                                      </m:r>
                                                    </m:e>
                                                  </m:d>
                                                </m:e>
                                              </m:groupChr>
                                            </m:e>
                                            <m:lim>
                                              <m:sSup>
                                                <m:sSupPr>
                                                  <m:ctrlPr>
                                                    <a:rPr lang="pt-BR" b="1" i="1">
                                                      <a:latin typeface="Cambria Math" panose="02040503050406030204" pitchFamily="18" charset="0"/>
                                                    </a:rPr>
                                                  </m:ctrlPr>
                                                </m:sSupPr>
                                                <m:e>
                                                  <m:r>
                                                    <a:rPr lang="pt-BR" b="1" i="1">
                                                      <a:latin typeface="Cambria Math" panose="02040503050406030204" pitchFamily="18" charset="0"/>
                                                    </a:rPr>
                                                    <m:t>𝒂</m:t>
                                                  </m:r>
                                                </m:e>
                                                <m:sup>
                                                  <m:r>
                                                    <a:rPr lang="pt-BR" i="1">
                                                      <a:latin typeface="Cambria Math" panose="02040503050406030204" pitchFamily="18" charset="0"/>
                                                    </a:rPr>
                                                    <m:t>𝑇</m:t>
                                                  </m:r>
                                                </m:sup>
                                              </m:sSup>
                                              <m:r>
                                                <a:rPr lang="pt-BR" b="1" i="1">
                                                  <a:latin typeface="Cambria Math" panose="02040503050406030204" pitchFamily="18" charset="0"/>
                                                </a:rPr>
                                                <m:t>𝒙</m:t>
                                              </m:r>
                                              <m:r>
                                                <a:rPr lang="pt-BR" i="1">
                                                  <a:latin typeface="Cambria Math" panose="02040503050406030204" pitchFamily="18" charset="0"/>
                                                </a:rPr>
                                                <m:t>(</m:t>
                                              </m:r>
                                              <m:r>
                                                <a:rPr lang="pt-BR" i="1">
                                                  <a:latin typeface="Cambria Math" panose="02040503050406030204" pitchFamily="18" charset="0"/>
                                                </a:rPr>
                                                <m:t>𝑛</m:t>
                                              </m:r>
                                              <m:r>
                                                <a:rPr lang="pt-BR" i="1">
                                                  <a:latin typeface="Cambria Math" panose="02040503050406030204" pitchFamily="18" charset="0"/>
                                                </a:rPr>
                                                <m:t>)</m:t>
                                              </m:r>
                                            </m:lim>
                                          </m:limLow>
                                        </m:e>
                                      </m:d>
                                    </m:e>
                                    <m:sup>
                                      <m:r>
                                        <a:rPr lang="pt-BR" b="0" i="1" smtClean="0">
                                          <a:latin typeface="Cambria Math" panose="02040503050406030204" pitchFamily="18" charset="0"/>
                                        </a:rPr>
                                        <m:t>2</m:t>
                                      </m:r>
                                    </m:sup>
                                  </m:sSup>
                                </m:num>
                                <m:den>
                                  <m:r>
                                    <a:rPr lang="pt-BR">
                                      <a:latin typeface="Cambria Math" panose="02040503050406030204" pitchFamily="18" charset="0"/>
                                    </a:rPr>
                                    <m:t>𝜕</m:t>
                                  </m:r>
                                  <m:r>
                                    <a:rPr lang="pt-BR" b="1">
                                      <a:latin typeface="Cambria Math" panose="02040503050406030204" pitchFamily="18" charset="0"/>
                                    </a:rPr>
                                    <m:t>𝒂</m:t>
                                  </m:r>
                                </m:den>
                              </m:f>
                            </m:e>
                          </m:d>
                        </m:e>
                      </m:nary>
                    </m:oMath>
                  </m:oMathPara>
                </a14:m>
                <a:endParaRPr lang="pt-BR" b="1" dirty="0">
                  <a:latin typeface="Cambria Math" panose="02040503050406030204" pitchFamily="18" charset="0"/>
                </a:endParaRPr>
              </a:p>
              <a:p>
                <a:pPr marL="0" indent="0">
                  <a:buNone/>
                </a:pPr>
                <a14:m>
                  <m:oMathPara xmlns:m="http://schemas.openxmlformats.org/officeDocument/2006/math">
                    <m:oMath>
                      <m:r>
                        <a:rPr lang="pt-BR" b="1" smtClean="0">
                          <a:latin typeface="Cambria Math" panose="02040503050406030204" pitchFamily="18" charset="0"/>
                        </a:rPr>
                        <m:t>=</m:t>
                      </m:r>
                      <m:r>
                        <a:rPr lang="pt-BR" b="0" smtClean="0">
                          <a:latin typeface="Cambria Math" panose="02040503050406030204" pitchFamily="18" charset="0"/>
                        </a:rPr>
                        <m:t>−</m:t>
                      </m:r>
                      <m:f>
                        <m:fPr>
                          <m:ctrlPr>
                            <a:rPr lang="pt-BR" b="0" smtClean="0">
                              <a:latin typeface="Cambria Math" panose="02040503050406030204" pitchFamily="18" charset="0"/>
                            </a:rPr>
                          </m:ctrlPr>
                        </m:fPr>
                        <m:num>
                          <m:r>
                            <a:rPr lang="pt-BR" b="0" smtClean="0">
                              <a:latin typeface="Cambria Math" panose="02040503050406030204" pitchFamily="18" charset="0"/>
                            </a:rPr>
                            <m:t>2</m:t>
                          </m:r>
                        </m:num>
                        <m:den>
                          <m:r>
                            <a:rPr lang="pt-BR" smtClean="0">
                              <a:latin typeface="Cambria Math" panose="02040503050406030204" pitchFamily="18" charset="0"/>
                            </a:rPr>
                            <m:t>𝑁</m:t>
                          </m:r>
                        </m:den>
                      </m:f>
                      <m:nary>
                        <m:naryPr>
                          <m:chr m:val="∑"/>
                          <m:ctrlPr>
                            <a:rPr lang="pt-BR" b="0" smtClean="0">
                              <a:latin typeface="Cambria Math" panose="02040503050406030204" pitchFamily="18" charset="0"/>
                            </a:rPr>
                          </m:ctrlPr>
                        </m:naryPr>
                        <m:sub>
                          <m:r>
                            <a:rPr lang="pt-BR" b="0" smtClean="0">
                              <a:latin typeface="Cambria Math" panose="02040503050406030204" pitchFamily="18" charset="0"/>
                            </a:rPr>
                            <m:t>𝑛</m:t>
                          </m:r>
                          <m:r>
                            <a:rPr lang="pt-BR" smtClean="0">
                              <a:latin typeface="Cambria Math" panose="02040503050406030204" pitchFamily="18" charset="0"/>
                            </a:rPr>
                            <m:t>=0</m:t>
                          </m:r>
                        </m:sub>
                        <m:sup>
                          <m:r>
                            <a:rPr lang="pt-BR" smtClean="0">
                              <a:latin typeface="Cambria Math" panose="02040503050406030204" pitchFamily="18" charset="0"/>
                            </a:rPr>
                            <m:t>𝑁</m:t>
                          </m:r>
                          <m:r>
                            <a:rPr lang="pt-BR" smtClean="0">
                              <a:latin typeface="Cambria Math" panose="02040503050406030204" pitchFamily="18" charset="0"/>
                            </a:rPr>
                            <m:t>−1</m:t>
                          </m:r>
                        </m:sup>
                        <m:e>
                          <m:d>
                            <m:dPr>
                              <m:begChr m:val="["/>
                              <m:endChr m:val="]"/>
                              <m:ctrlPr>
                                <a:rPr lang="pt-BR" smtClean="0">
                                  <a:latin typeface="Cambria Math" panose="02040503050406030204" pitchFamily="18" charset="0"/>
                                </a:rPr>
                              </m:ctrlPr>
                            </m:dPr>
                            <m:e>
                              <m:r>
                                <a:rPr lang="pt-BR" smtClean="0">
                                  <a:latin typeface="Cambria Math" panose="02040503050406030204" pitchFamily="18" charset="0"/>
                                </a:rPr>
                                <m:t>𝑦</m:t>
                              </m:r>
                              <m:d>
                                <m:dPr>
                                  <m:ctrlPr>
                                    <a:rPr lang="pt-BR" b="0" smtClean="0">
                                      <a:latin typeface="Cambria Math" panose="02040503050406030204" pitchFamily="18" charset="0"/>
                                    </a:rPr>
                                  </m:ctrlPr>
                                </m:dPr>
                                <m:e>
                                  <m:r>
                                    <a:rPr lang="pt-BR" b="0" smtClean="0">
                                      <a:latin typeface="Cambria Math" panose="02040503050406030204" pitchFamily="18" charset="0"/>
                                    </a:rPr>
                                    <m:t>𝑛</m:t>
                                  </m:r>
                                </m:e>
                              </m:d>
                              <m:r>
                                <a:rPr lang="pt-BR" smtClean="0">
                                  <a:latin typeface="Cambria Math" panose="02040503050406030204" pitchFamily="18" charset="0"/>
                                </a:rPr>
                                <m:t>−</m:t>
                              </m:r>
                              <m:acc>
                                <m:accPr>
                                  <m:chr m:val="̂"/>
                                  <m:ctrlPr>
                                    <a:rPr lang="pt-BR" smtClean="0">
                                      <a:latin typeface="Cambria Math" panose="02040503050406030204" pitchFamily="18" charset="0"/>
                                    </a:rPr>
                                  </m:ctrlPr>
                                </m:accPr>
                                <m:e>
                                  <m:r>
                                    <a:rPr lang="pt-BR" smtClean="0">
                                      <a:latin typeface="Cambria Math" panose="02040503050406030204" pitchFamily="18" charset="0"/>
                                    </a:rPr>
                                    <m:t>𝑦</m:t>
                                  </m:r>
                                </m:e>
                              </m:acc>
                              <m:d>
                                <m:dPr>
                                  <m:ctrlPr>
                                    <a:rPr lang="pt-BR" smtClean="0">
                                      <a:latin typeface="Cambria Math" panose="02040503050406030204" pitchFamily="18" charset="0"/>
                                    </a:rPr>
                                  </m:ctrlPr>
                                </m:dPr>
                                <m:e>
                                  <m:r>
                                    <a:rPr lang="pt-BR" smtClean="0">
                                      <a:latin typeface="Cambria Math" panose="02040503050406030204" pitchFamily="18" charset="0"/>
                                    </a:rPr>
                                    <m:t>𝑛</m:t>
                                  </m:r>
                                </m:e>
                              </m:d>
                            </m:e>
                          </m:d>
                          <m:r>
                            <a:rPr lang="pt-BR" b="1" smtClean="0">
                              <a:latin typeface="Cambria Math" panose="02040503050406030204" pitchFamily="18" charset="0"/>
                            </a:rPr>
                            <m:t>𝒙</m:t>
                          </m:r>
                          <m:d>
                            <m:dPr>
                              <m:ctrlPr>
                                <a:rPr lang="pt-BR" b="0" smtClean="0">
                                  <a:latin typeface="Cambria Math" panose="02040503050406030204" pitchFamily="18" charset="0"/>
                                </a:rPr>
                              </m:ctrlPr>
                            </m:dPr>
                            <m:e>
                              <m:r>
                                <a:rPr lang="pt-BR" b="0" smtClean="0">
                                  <a:latin typeface="Cambria Math" panose="02040503050406030204" pitchFamily="18" charset="0"/>
                                </a:rPr>
                                <m:t>𝑛</m:t>
                              </m:r>
                            </m:e>
                          </m:d>
                        </m:e>
                      </m:nary>
                      <m:r>
                        <a:rPr lang="pt-BR" smtClean="0">
                          <a:latin typeface="Cambria Math" panose="02040503050406030204" pitchFamily="18" charset="0"/>
                        </a:rPr>
                        <m:t>=</m:t>
                      </m:r>
                      <m:sSup>
                        <m:sSupPr>
                          <m:ctrlPr>
                            <a:rPr lang="pt-BR" smtClean="0">
                              <a:latin typeface="Cambria Math" panose="02040503050406030204" pitchFamily="18" charset="0"/>
                            </a:rPr>
                          </m:ctrlPr>
                        </m:sSupPr>
                        <m:e>
                          <m:r>
                            <a:rPr lang="pt-BR" smtClean="0">
                              <a:latin typeface="Cambria Math" panose="02040503050406030204" pitchFamily="18" charset="0"/>
                            </a:rPr>
                            <m:t>−</m:t>
                          </m:r>
                          <m:f>
                            <m:fPr>
                              <m:ctrlPr>
                                <a:rPr lang="pt-BR" b="0" smtClean="0">
                                  <a:latin typeface="Cambria Math" panose="02040503050406030204" pitchFamily="18" charset="0"/>
                                </a:rPr>
                              </m:ctrlPr>
                            </m:fPr>
                            <m:num>
                              <m:r>
                                <a:rPr lang="pt-BR" b="0" smtClean="0">
                                  <a:latin typeface="Cambria Math" panose="02040503050406030204" pitchFamily="18" charset="0"/>
                                </a:rPr>
                                <m:t>2</m:t>
                              </m:r>
                            </m:num>
                            <m:den>
                              <m:r>
                                <a:rPr lang="pt-BR" smtClean="0">
                                  <a:latin typeface="Cambria Math" panose="02040503050406030204" pitchFamily="18" charset="0"/>
                                </a:rPr>
                                <m:t>𝑁</m:t>
                              </m:r>
                            </m:den>
                          </m:f>
                          <m:r>
                            <a:rPr lang="pt-BR" b="1" smtClean="0">
                              <a:latin typeface="Cambria Math" panose="02040503050406030204" pitchFamily="18" charset="0"/>
                            </a:rPr>
                            <m:t>𝑿</m:t>
                          </m:r>
                        </m:e>
                        <m:sup>
                          <m:r>
                            <a:rPr lang="pt-BR" smtClean="0">
                              <a:latin typeface="Cambria Math" panose="02040503050406030204" pitchFamily="18" charset="0"/>
                            </a:rPr>
                            <m:t>𝑇</m:t>
                          </m:r>
                        </m:sup>
                      </m:sSup>
                      <m:d>
                        <m:dPr>
                          <m:ctrlPr>
                            <a:rPr lang="pt-BR" b="1" smtClean="0">
                              <a:latin typeface="Cambria Math" panose="02040503050406030204" pitchFamily="18" charset="0"/>
                            </a:rPr>
                          </m:ctrlPr>
                        </m:dPr>
                        <m:e>
                          <m:r>
                            <a:rPr lang="pt-BR" b="1" smtClean="0">
                              <a:latin typeface="Cambria Math" panose="02040503050406030204" pitchFamily="18" charset="0"/>
                            </a:rPr>
                            <m:t>𝒚</m:t>
                          </m:r>
                          <m:r>
                            <a:rPr lang="pt-BR" smtClean="0">
                              <a:latin typeface="Cambria Math" panose="02040503050406030204" pitchFamily="18" charset="0"/>
                            </a:rPr>
                            <m:t>−</m:t>
                          </m:r>
                          <m:acc>
                            <m:accPr>
                              <m:chr m:val="̂"/>
                              <m:ctrlPr>
                                <a:rPr lang="pt-BR" b="1" smtClean="0">
                                  <a:latin typeface="Cambria Math" panose="02040503050406030204" pitchFamily="18" charset="0"/>
                                </a:rPr>
                              </m:ctrlPr>
                            </m:accPr>
                            <m:e>
                              <m:r>
                                <a:rPr lang="pt-BR" b="1" smtClean="0">
                                  <a:latin typeface="Cambria Math" panose="02040503050406030204" pitchFamily="18" charset="0"/>
                                </a:rPr>
                                <m:t>𝒚</m:t>
                              </m:r>
                            </m:e>
                          </m:acc>
                        </m:e>
                      </m:d>
                      <m:r>
                        <a:rPr lang="pt-BR" b="0" i="0" smtClean="0">
                          <a:latin typeface="Cambria Math" panose="02040503050406030204" pitchFamily="18" charset="0"/>
                        </a:rPr>
                        <m:t>.</m:t>
                      </m:r>
                    </m:oMath>
                  </m:oMathPara>
                </a14:m>
                <a:endParaRPr lang="pt-BR" dirty="0"/>
              </a:p>
              <a:p>
                <a:r>
                  <a:rPr lang="pt-BR" dirty="0"/>
                  <a:t>Usamos um </a:t>
                </a:r>
                <a:r>
                  <a:rPr lang="pt-BR" b="1" dirty="0">
                    <a:solidFill>
                      <a:schemeClr val="accent2"/>
                    </a:solidFill>
                  </a:rPr>
                  <a:t>hiperplano</a:t>
                </a:r>
                <a:r>
                  <a:rPr lang="pt-BR" dirty="0"/>
                  <a:t> para encontrar o vetor gradiente, mas todos os resultados e conclusões </a:t>
                </a:r>
                <a:r>
                  <a:rPr lang="nl-BE" dirty="0"/>
                  <a:t>podem ser diretamente estendidos a polinômios.</a:t>
                </a:r>
              </a:p>
              <a:p>
                <a:r>
                  <a:rPr lang="pt-BR" dirty="0"/>
                  <a:t>Notem que o </a:t>
                </a:r>
                <a:r>
                  <a:rPr lang="pt-BR" b="1" dirty="0">
                    <a:solidFill>
                      <a:srgbClr val="00B050"/>
                    </a:solidFill>
                  </a:rPr>
                  <a:t>vetor</a:t>
                </a:r>
                <a:r>
                  <a:rPr lang="pt-BR" dirty="0"/>
                  <a:t> </a:t>
                </a:r>
                <a:r>
                  <a:rPr lang="pt-BR" b="1" dirty="0">
                    <a:solidFill>
                      <a:srgbClr val="00B050"/>
                    </a:solidFill>
                  </a:rPr>
                  <a:t>gradiente</a:t>
                </a:r>
                <a:r>
                  <a:rPr lang="pt-BR" dirty="0"/>
                  <a:t> é a </a:t>
                </a:r>
                <a:r>
                  <a:rPr lang="pt-BR" b="1" dirty="0">
                    <a:solidFill>
                      <a:srgbClr val="7030A0"/>
                    </a:solidFill>
                  </a:rPr>
                  <a:t>média</a:t>
                </a:r>
                <a:r>
                  <a:rPr lang="pt-BR" b="1" dirty="0">
                    <a:solidFill>
                      <a:srgbClr val="00B050"/>
                    </a:solidFill>
                  </a:rPr>
                  <a:t> dos gradientes individuais </a:t>
                </a:r>
                <a:r>
                  <a:rPr lang="pt-BR" dirty="0"/>
                  <a:t>de todos os exemplos de treinamento.</a:t>
                </a:r>
              </a:p>
            </p:txBody>
          </p:sp>
        </mc:Choice>
        <mc:Fallback xmlns="">
          <p:sp>
            <p:nvSpPr>
              <p:cNvPr id="3" name="Espaço Reservado para Conteúdo 2">
                <a:extLst>
                  <a:ext uri="{FF2B5EF4-FFF2-40B4-BE49-F238E27FC236}">
                    <a16:creationId xmlns:a16="http://schemas.microsoft.com/office/drawing/2014/main" id="{DC5EC678-4C25-1184-B2F1-399C0F236041}"/>
                  </a:ext>
                </a:extLst>
              </p:cNvPr>
              <p:cNvSpPr>
                <a:spLocks noGrp="1" noRot="1" noChangeAspect="1" noMove="1" noResize="1" noEditPoints="1" noAdjustHandles="1" noChangeArrowheads="1" noChangeShapeType="1" noTextEdit="1"/>
              </p:cNvSpPr>
              <p:nvPr>
                <p:ph idx="1"/>
              </p:nvPr>
            </p:nvSpPr>
            <p:spPr>
              <a:xfrm>
                <a:off x="838198" y="1777430"/>
                <a:ext cx="11353801" cy="5080570"/>
              </a:xfrm>
              <a:blipFill>
                <a:blip r:embed="rId3"/>
                <a:stretch>
                  <a:fillRect l="-913" t="-2041"/>
                </a:stretch>
              </a:blipFill>
            </p:spPr>
            <p:txBody>
              <a:bodyPr/>
              <a:lstStyle/>
              <a:p>
                <a:r>
                  <a:rPr lang="en-US">
                    <a:noFill/>
                  </a:rPr>
                  <a:t> </a:t>
                </a:r>
              </a:p>
            </p:txBody>
          </p:sp>
        </mc:Fallback>
      </mc:AlternateContent>
      <p:sp>
        <p:nvSpPr>
          <p:cNvPr id="4" name="CaixaDeTexto 3">
            <a:extLst>
              <a:ext uri="{FF2B5EF4-FFF2-40B4-BE49-F238E27FC236}">
                <a16:creationId xmlns:a16="http://schemas.microsoft.com/office/drawing/2014/main" id="{E2087D00-439A-0E0E-1C8F-E952F9A1797C}"/>
              </a:ext>
            </a:extLst>
          </p:cNvPr>
          <p:cNvSpPr txBox="1"/>
          <p:nvPr/>
        </p:nvSpPr>
        <p:spPr>
          <a:xfrm>
            <a:off x="7897042" y="6581001"/>
            <a:ext cx="4294958" cy="276999"/>
          </a:xfrm>
          <a:prstGeom prst="rect">
            <a:avLst/>
          </a:prstGeom>
          <a:noFill/>
        </p:spPr>
        <p:txBody>
          <a:bodyPr wrap="none" rtlCol="0">
            <a:spAutoFit/>
          </a:bodyPr>
          <a:lstStyle/>
          <a:p>
            <a:r>
              <a:rPr lang="pt-BR" sz="1200" dirty="0"/>
              <a:t>Detalhes sobre como encontrar o vetor gradiente estão no Anexo I</a:t>
            </a:r>
            <a:endParaRPr lang="en-US" sz="1200" dirty="0"/>
          </a:p>
        </p:txBody>
      </p:sp>
    </p:spTree>
    <p:extLst>
      <p:ext uri="{BB962C8B-B14F-4D97-AF65-F5344CB8AC3E}">
        <p14:creationId xmlns:p14="http://schemas.microsoft.com/office/powerpoint/2010/main" val="55843128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86E35-2132-957C-5119-8416C939A543}"/>
              </a:ext>
            </a:extLst>
          </p:cNvPr>
          <p:cNvSpPr>
            <a:spLocks noGrp="1"/>
          </p:cNvSpPr>
          <p:nvPr>
            <p:ph type="title"/>
          </p:nvPr>
        </p:nvSpPr>
        <p:spPr/>
        <p:txBody>
          <a:bodyPr/>
          <a:lstStyle/>
          <a:p>
            <a:r>
              <a:rPr lang="pt-BR" dirty="0"/>
              <a:t>Interpretação do vetor gradiente</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DC5EC678-4C25-1184-B2F1-399C0F236041}"/>
                  </a:ext>
                </a:extLst>
              </p:cNvPr>
              <p:cNvSpPr>
                <a:spLocks noGrp="1"/>
              </p:cNvSpPr>
              <p:nvPr>
                <p:ph idx="1"/>
              </p:nvPr>
            </p:nvSpPr>
            <p:spPr>
              <a:xfrm>
                <a:off x="838198" y="1777430"/>
                <a:ext cx="11353801" cy="5080570"/>
              </a:xfrm>
            </p:spPr>
            <p:txBody>
              <a:bodyPr>
                <a:normAutofit lnSpcReduction="10000"/>
              </a:bodyPr>
              <a:lstStyle/>
              <a:p>
                <a:pPr marL="0" indent="0">
                  <a:buNone/>
                </a:pPr>
                <a14:m>
                  <m:oMathPara xmlns:m="http://schemas.openxmlformats.org/officeDocument/2006/math">
                    <m:oMath>
                      <m:f>
                        <m:fPr>
                          <m:ctrlPr>
                            <a:rPr lang="pt-BR" sz="2600" i="0" noProof="0" smtClean="0">
                              <a:latin typeface="Cambria Math" panose="02040503050406030204" pitchFamily="18" charset="0"/>
                            </a:rPr>
                          </m:ctrlPr>
                        </m:fPr>
                        <m:num>
                          <m:r>
                            <a:rPr lang="pt-BR" sz="2600" i="0" noProof="0" smtClean="0">
                              <a:latin typeface="Cambria Math" panose="02040503050406030204" pitchFamily="18" charset="0"/>
                            </a:rPr>
                            <m:t>𝜕</m:t>
                          </m:r>
                          <m:sSub>
                            <m:sSubPr>
                              <m:ctrlPr>
                                <a:rPr lang="pt-BR" sz="2600" noProof="0" smtClean="0">
                                  <a:latin typeface="Cambria Math" panose="02040503050406030204" pitchFamily="18" charset="0"/>
                                </a:rPr>
                              </m:ctrlPr>
                            </m:sSubPr>
                            <m:e>
                              <m:r>
                                <a:rPr lang="pt-BR" sz="2600" noProof="0" smtClean="0">
                                  <a:latin typeface="Cambria Math" panose="02040503050406030204" pitchFamily="18" charset="0"/>
                                </a:rPr>
                                <m:t>𝐽</m:t>
                              </m:r>
                            </m:e>
                            <m:sub>
                              <m:r>
                                <a:rPr lang="pt-BR" sz="2600" noProof="0" smtClean="0">
                                  <a:latin typeface="Cambria Math" panose="02040503050406030204" pitchFamily="18" charset="0"/>
                                </a:rPr>
                                <m:t>𝑒</m:t>
                              </m:r>
                            </m:sub>
                          </m:sSub>
                          <m:d>
                            <m:dPr>
                              <m:ctrlPr>
                                <a:rPr lang="pt-BR" sz="2600" b="1" noProof="0" smtClean="0">
                                  <a:latin typeface="Cambria Math" panose="02040503050406030204" pitchFamily="18" charset="0"/>
                                </a:rPr>
                              </m:ctrlPr>
                            </m:dPr>
                            <m:e>
                              <m:r>
                                <a:rPr lang="pt-BR" sz="2600" b="1" noProof="0" smtClean="0">
                                  <a:latin typeface="Cambria Math" panose="02040503050406030204" pitchFamily="18" charset="0"/>
                                </a:rPr>
                                <m:t>𝒂</m:t>
                              </m:r>
                            </m:e>
                          </m:d>
                        </m:num>
                        <m:den>
                          <m:r>
                            <a:rPr lang="pt-BR" sz="2600" noProof="0" smtClean="0">
                              <a:latin typeface="Cambria Math" panose="02040503050406030204" pitchFamily="18" charset="0"/>
                            </a:rPr>
                            <m:t>𝜕</m:t>
                          </m:r>
                          <m:r>
                            <a:rPr lang="pt-BR" sz="2600" b="1" noProof="0" smtClean="0">
                              <a:latin typeface="Cambria Math" panose="02040503050406030204" pitchFamily="18" charset="0"/>
                            </a:rPr>
                            <m:t>𝒂</m:t>
                          </m:r>
                        </m:den>
                      </m:f>
                      <m:r>
                        <a:rPr lang="pt-BR" sz="2600" b="1" noProof="0" smtClean="0">
                          <a:latin typeface="Cambria Math" panose="02040503050406030204" pitchFamily="18" charset="0"/>
                        </a:rPr>
                        <m:t>=</m:t>
                      </m:r>
                      <m:r>
                        <a:rPr lang="pt-BR" sz="2600" b="0" noProof="0" smtClean="0">
                          <a:latin typeface="Cambria Math" panose="02040503050406030204" pitchFamily="18" charset="0"/>
                        </a:rPr>
                        <m:t>−</m:t>
                      </m:r>
                      <m:f>
                        <m:fPr>
                          <m:ctrlPr>
                            <a:rPr lang="pt-BR" sz="2600" b="0" noProof="0" smtClean="0">
                              <a:latin typeface="Cambria Math" panose="02040503050406030204" pitchFamily="18" charset="0"/>
                            </a:rPr>
                          </m:ctrlPr>
                        </m:fPr>
                        <m:num>
                          <m:r>
                            <a:rPr lang="pt-BR" sz="2600" b="0" noProof="0" smtClean="0">
                              <a:latin typeface="Cambria Math" panose="02040503050406030204" pitchFamily="18" charset="0"/>
                            </a:rPr>
                            <m:t>2</m:t>
                          </m:r>
                        </m:num>
                        <m:den>
                          <m:r>
                            <a:rPr lang="pt-BR" sz="2600" noProof="0" smtClean="0">
                              <a:latin typeface="Cambria Math" panose="02040503050406030204" pitchFamily="18" charset="0"/>
                            </a:rPr>
                            <m:t>𝑁</m:t>
                          </m:r>
                        </m:den>
                      </m:f>
                      <m:nary>
                        <m:naryPr>
                          <m:chr m:val="∑"/>
                          <m:ctrlPr>
                            <a:rPr lang="pt-BR" sz="2600" b="0" noProof="0" smtClean="0">
                              <a:latin typeface="Cambria Math" panose="02040503050406030204" pitchFamily="18" charset="0"/>
                            </a:rPr>
                          </m:ctrlPr>
                        </m:naryPr>
                        <m:sub>
                          <m:r>
                            <a:rPr lang="pt-BR" sz="2600" b="0" noProof="0" smtClean="0">
                              <a:latin typeface="Cambria Math" panose="02040503050406030204" pitchFamily="18" charset="0"/>
                            </a:rPr>
                            <m:t>𝑛</m:t>
                          </m:r>
                          <m:r>
                            <a:rPr lang="pt-BR" sz="2600" noProof="0" smtClean="0">
                              <a:latin typeface="Cambria Math" panose="02040503050406030204" pitchFamily="18" charset="0"/>
                            </a:rPr>
                            <m:t>=0</m:t>
                          </m:r>
                        </m:sub>
                        <m:sup>
                          <m:r>
                            <a:rPr lang="pt-BR" sz="2600" noProof="0" smtClean="0">
                              <a:latin typeface="Cambria Math" panose="02040503050406030204" pitchFamily="18" charset="0"/>
                            </a:rPr>
                            <m:t>𝑁</m:t>
                          </m:r>
                          <m:r>
                            <a:rPr lang="pt-BR" sz="2600" noProof="0" smtClean="0">
                              <a:latin typeface="Cambria Math" panose="02040503050406030204" pitchFamily="18" charset="0"/>
                            </a:rPr>
                            <m:t>−1</m:t>
                          </m:r>
                        </m:sup>
                        <m:e>
                          <m:d>
                            <m:dPr>
                              <m:begChr m:val="["/>
                              <m:endChr m:val="]"/>
                              <m:ctrlPr>
                                <a:rPr lang="pt-BR" sz="2600" noProof="0" smtClean="0">
                                  <a:latin typeface="Cambria Math" panose="02040503050406030204" pitchFamily="18" charset="0"/>
                                </a:rPr>
                              </m:ctrlPr>
                            </m:dPr>
                            <m:e>
                              <m:r>
                                <a:rPr lang="pt-BR" sz="2600" noProof="0" smtClean="0">
                                  <a:latin typeface="Cambria Math" panose="02040503050406030204" pitchFamily="18" charset="0"/>
                                </a:rPr>
                                <m:t>𝑦</m:t>
                              </m:r>
                              <m:d>
                                <m:dPr>
                                  <m:ctrlPr>
                                    <a:rPr lang="pt-BR" sz="2600" b="0" noProof="0" smtClean="0">
                                      <a:latin typeface="Cambria Math" panose="02040503050406030204" pitchFamily="18" charset="0"/>
                                    </a:rPr>
                                  </m:ctrlPr>
                                </m:dPr>
                                <m:e>
                                  <m:r>
                                    <a:rPr lang="pt-BR" sz="2600" b="0" noProof="0" smtClean="0">
                                      <a:latin typeface="Cambria Math" panose="02040503050406030204" pitchFamily="18" charset="0"/>
                                    </a:rPr>
                                    <m:t>𝑛</m:t>
                                  </m:r>
                                </m:e>
                              </m:d>
                              <m:r>
                                <a:rPr lang="pt-BR" sz="2600" noProof="0" smtClean="0">
                                  <a:latin typeface="Cambria Math" panose="02040503050406030204" pitchFamily="18" charset="0"/>
                                </a:rPr>
                                <m:t>−</m:t>
                              </m:r>
                              <m:acc>
                                <m:accPr>
                                  <m:chr m:val="̂"/>
                                  <m:ctrlPr>
                                    <a:rPr lang="pt-BR" sz="2600" noProof="0" smtClean="0">
                                      <a:latin typeface="Cambria Math" panose="02040503050406030204" pitchFamily="18" charset="0"/>
                                    </a:rPr>
                                  </m:ctrlPr>
                                </m:accPr>
                                <m:e>
                                  <m:r>
                                    <a:rPr lang="pt-BR" sz="2600" noProof="0" smtClean="0">
                                      <a:latin typeface="Cambria Math" panose="02040503050406030204" pitchFamily="18" charset="0"/>
                                    </a:rPr>
                                    <m:t>𝑦</m:t>
                                  </m:r>
                                </m:e>
                              </m:acc>
                              <m:d>
                                <m:dPr>
                                  <m:ctrlPr>
                                    <a:rPr lang="pt-BR" sz="2600" noProof="0" smtClean="0">
                                      <a:latin typeface="Cambria Math" panose="02040503050406030204" pitchFamily="18" charset="0"/>
                                    </a:rPr>
                                  </m:ctrlPr>
                                </m:dPr>
                                <m:e>
                                  <m:r>
                                    <a:rPr lang="pt-BR" sz="2600" noProof="0" smtClean="0">
                                      <a:latin typeface="Cambria Math" panose="02040503050406030204" pitchFamily="18" charset="0"/>
                                    </a:rPr>
                                    <m:t>𝑛</m:t>
                                  </m:r>
                                </m:e>
                              </m:d>
                            </m:e>
                          </m:d>
                          <m:r>
                            <a:rPr lang="pt-BR" sz="2600" b="1" noProof="0" smtClean="0">
                              <a:latin typeface="Cambria Math" panose="02040503050406030204" pitchFamily="18" charset="0"/>
                            </a:rPr>
                            <m:t>𝒙</m:t>
                          </m:r>
                          <m:d>
                            <m:dPr>
                              <m:ctrlPr>
                                <a:rPr lang="pt-BR" sz="2600" b="0" noProof="0" smtClean="0">
                                  <a:latin typeface="Cambria Math" panose="02040503050406030204" pitchFamily="18" charset="0"/>
                                </a:rPr>
                              </m:ctrlPr>
                            </m:dPr>
                            <m:e>
                              <m:r>
                                <a:rPr lang="pt-BR" sz="2600" b="0" noProof="0" smtClean="0">
                                  <a:latin typeface="Cambria Math" panose="02040503050406030204" pitchFamily="18" charset="0"/>
                                </a:rPr>
                                <m:t>𝑛</m:t>
                              </m:r>
                            </m:e>
                          </m:d>
                        </m:e>
                      </m:nary>
                      <m:r>
                        <a:rPr lang="pt-BR" sz="2600" b="0" i="1" noProof="0" smtClean="0">
                          <a:latin typeface="Cambria Math" panose="02040503050406030204" pitchFamily="18" charset="0"/>
                          <a:ea typeface="Cambria Math" panose="02040503050406030204" pitchFamily="18" charset="0"/>
                        </a:rPr>
                        <m:t>≈</m:t>
                      </m:r>
                      <m:sSub>
                        <m:sSubPr>
                          <m:ctrlPr>
                            <a:rPr lang="pt-BR" sz="2600" i="1" noProof="0">
                              <a:latin typeface="Cambria Math" panose="02040503050406030204" pitchFamily="18" charset="0"/>
                            </a:rPr>
                          </m:ctrlPr>
                        </m:sSubPr>
                        <m:e>
                          <m:f>
                            <m:fPr>
                              <m:ctrlPr>
                                <a:rPr lang="pt-BR" sz="2600" noProof="0">
                                  <a:latin typeface="Cambria Math" panose="02040503050406030204" pitchFamily="18" charset="0"/>
                                </a:rPr>
                              </m:ctrlPr>
                            </m:fPr>
                            <m:num>
                              <m:r>
                                <a:rPr lang="pt-BR" sz="2600" noProof="0">
                                  <a:latin typeface="Cambria Math" panose="02040503050406030204" pitchFamily="18" charset="0"/>
                                </a:rPr>
                                <m:t>𝜕</m:t>
                              </m:r>
                              <m:sSub>
                                <m:sSubPr>
                                  <m:ctrlPr>
                                    <a:rPr lang="pt-BR" sz="2600" noProof="0">
                                      <a:latin typeface="Cambria Math" panose="02040503050406030204" pitchFamily="18" charset="0"/>
                                    </a:rPr>
                                  </m:ctrlPr>
                                </m:sSubPr>
                                <m:e>
                                  <m:r>
                                    <a:rPr lang="pt-BR" sz="2600" noProof="0">
                                      <a:latin typeface="Cambria Math" panose="02040503050406030204" pitchFamily="18" charset="0"/>
                                    </a:rPr>
                                    <m:t>𝐽</m:t>
                                  </m:r>
                                </m:e>
                                <m:sub>
                                  <m:r>
                                    <a:rPr lang="pt-BR" sz="2600" noProof="0">
                                      <a:latin typeface="Cambria Math" panose="02040503050406030204" pitchFamily="18" charset="0"/>
                                    </a:rPr>
                                    <m:t>𝑒</m:t>
                                  </m:r>
                                </m:sub>
                              </m:sSub>
                              <m:d>
                                <m:dPr>
                                  <m:ctrlPr>
                                    <a:rPr lang="pt-BR" sz="2600" b="1" noProof="0">
                                      <a:latin typeface="Cambria Math" panose="02040503050406030204" pitchFamily="18" charset="0"/>
                                    </a:rPr>
                                  </m:ctrlPr>
                                </m:dPr>
                                <m:e>
                                  <m:r>
                                    <a:rPr lang="pt-BR" sz="2600" b="1" noProof="0">
                                      <a:latin typeface="Cambria Math" panose="02040503050406030204" pitchFamily="18" charset="0"/>
                                    </a:rPr>
                                    <m:t>𝒂</m:t>
                                  </m:r>
                                </m:e>
                              </m:d>
                            </m:num>
                            <m:den>
                              <m:r>
                                <a:rPr lang="pt-BR" sz="2600" noProof="0">
                                  <a:latin typeface="Cambria Math" panose="02040503050406030204" pitchFamily="18" charset="0"/>
                                </a:rPr>
                                <m:t>𝜕</m:t>
                              </m:r>
                              <m:r>
                                <a:rPr lang="pt-BR" sz="2600" b="1" noProof="0">
                                  <a:latin typeface="Cambria Math" panose="02040503050406030204" pitchFamily="18" charset="0"/>
                                </a:rPr>
                                <m:t>𝒂</m:t>
                              </m:r>
                            </m:den>
                          </m:f>
                        </m:e>
                        <m:sub>
                          <m:r>
                            <m:rPr>
                              <m:sty m:val="p"/>
                            </m:rPr>
                            <a:rPr lang="pt-BR" sz="2600" b="0" i="0" noProof="0" smtClean="0">
                              <a:latin typeface="Cambria Math" panose="02040503050406030204" pitchFamily="18" charset="0"/>
                            </a:rPr>
                            <m:t>verdadeiro</m:t>
                          </m:r>
                        </m:sub>
                      </m:sSub>
                      <m:r>
                        <a:rPr lang="pt-BR" sz="2600" b="0" i="1" noProof="0" smtClean="0">
                          <a:latin typeface="Cambria Math" panose="02040503050406030204" pitchFamily="18" charset="0"/>
                        </a:rPr>
                        <m:t>+</m:t>
                      </m:r>
                      <m:r>
                        <m:rPr>
                          <m:sty m:val="p"/>
                        </m:rPr>
                        <a:rPr lang="pt-BR" sz="2600" b="0" i="0" noProof="0" smtClean="0">
                          <a:latin typeface="Cambria Math" panose="02040503050406030204" pitchFamily="18" charset="0"/>
                        </a:rPr>
                        <m:t>ru</m:t>
                      </m:r>
                      <m:r>
                        <a:rPr lang="pt-BR" sz="2600" b="0" i="0" noProof="0" smtClean="0">
                          <a:latin typeface="Cambria Math" panose="02040503050406030204" pitchFamily="18" charset="0"/>
                        </a:rPr>
                        <m:t>í</m:t>
                      </m:r>
                      <m:r>
                        <m:rPr>
                          <m:sty m:val="p"/>
                        </m:rPr>
                        <a:rPr lang="pt-BR" sz="2600" b="0" i="0" noProof="0" smtClean="0">
                          <a:latin typeface="Cambria Math" panose="02040503050406030204" pitchFamily="18" charset="0"/>
                        </a:rPr>
                        <m:t>do</m:t>
                      </m:r>
                      <m:r>
                        <a:rPr lang="pt-BR" sz="2600" b="0" i="0" noProof="0" smtClean="0">
                          <a:latin typeface="Cambria Math" panose="02040503050406030204" pitchFamily="18" charset="0"/>
                        </a:rPr>
                        <m:t>.</m:t>
                      </m:r>
                    </m:oMath>
                  </m:oMathPara>
                </a14:m>
                <a:endParaRPr lang="pt-BR" sz="2600" noProof="0" dirty="0"/>
              </a:p>
              <a:p>
                <a:r>
                  <a:rPr lang="pt-BR" noProof="0" dirty="0"/>
                  <a:t>Cada </a:t>
                </a:r>
                <a:r>
                  <a:rPr lang="pt-BR" b="1" noProof="0" dirty="0">
                    <a:solidFill>
                      <a:srgbClr val="00B050"/>
                    </a:solidFill>
                  </a:rPr>
                  <a:t>termo do somatório </a:t>
                </a:r>
                <a:r>
                  <a:rPr lang="pt-BR" noProof="0" dirty="0"/>
                  <a:t>representa a </a:t>
                </a:r>
                <a:r>
                  <a:rPr lang="pt-BR" b="1" noProof="0" dirty="0">
                    <a:solidFill>
                      <a:srgbClr val="00B050"/>
                    </a:solidFill>
                  </a:rPr>
                  <a:t>contribuição de uma amostra para o gradiente</a:t>
                </a:r>
                <a:r>
                  <a:rPr lang="pt-BR" noProof="0" dirty="0"/>
                  <a:t>.</a:t>
                </a:r>
              </a:p>
              <a:p>
                <a:r>
                  <a:rPr lang="pt-BR" noProof="0" dirty="0"/>
                  <a:t>No contexto do GD, cada termo indica a </a:t>
                </a:r>
                <a:r>
                  <a:rPr lang="pt-BR" b="1" noProof="0" dirty="0">
                    <a:solidFill>
                      <a:srgbClr val="00B0F0"/>
                    </a:solidFill>
                  </a:rPr>
                  <a:t>direção e a magnitude </a:t>
                </a:r>
                <a:r>
                  <a:rPr lang="pt-BR" b="1" noProof="0" dirty="0">
                    <a:solidFill>
                      <a:schemeClr val="accent2"/>
                    </a:solidFill>
                  </a:rPr>
                  <a:t>da contribuição de uma amostra para a atualização dos pesos</a:t>
                </a:r>
                <a:r>
                  <a:rPr lang="pt-BR" noProof="0" dirty="0"/>
                  <a:t>.</a:t>
                </a:r>
              </a:p>
              <a:p>
                <a:pPr lvl="1">
                  <a:buFont typeface="Wingdings" panose="05000000000000000000" pitchFamily="2" charset="2"/>
                  <a:buChar char="§"/>
                </a:pPr>
                <a:r>
                  <a:rPr lang="pt-BR" noProof="0" dirty="0"/>
                  <a:t>O gradiente é a </a:t>
                </a:r>
                <a:r>
                  <a:rPr lang="pt-BR" b="1" noProof="0" dirty="0">
                    <a:solidFill>
                      <a:srgbClr val="7030A0"/>
                    </a:solidFill>
                  </a:rPr>
                  <a:t>média</a:t>
                </a:r>
                <a:r>
                  <a:rPr lang="pt-BR" noProof="0" dirty="0"/>
                  <a:t> das contribuições de todas as amostras.</a:t>
                </a:r>
                <a:endParaRPr lang="pt-BR" b="1" noProof="0" dirty="0">
                  <a:solidFill>
                    <a:srgbClr val="FF0000"/>
                  </a:solidFill>
                </a:endParaRPr>
              </a:p>
              <a:p>
                <a:r>
                  <a:rPr lang="pt-BR" noProof="0" dirty="0"/>
                  <a:t>Assim, quanto </a:t>
                </a:r>
                <a:r>
                  <a:rPr lang="pt-BR" b="1" noProof="0" dirty="0">
                    <a:solidFill>
                      <a:srgbClr val="7030A0"/>
                    </a:solidFill>
                  </a:rPr>
                  <a:t>menos amostras</a:t>
                </a:r>
                <a:r>
                  <a:rPr lang="pt-BR" noProof="0" dirty="0"/>
                  <a:t>, </a:t>
                </a:r>
                <a:r>
                  <a:rPr lang="pt-BR" b="1" noProof="0" dirty="0">
                    <a:solidFill>
                      <a:srgbClr val="7030A0"/>
                    </a:solidFill>
                  </a:rPr>
                  <a:t>maior a variância </a:t>
                </a:r>
                <a:r>
                  <a:rPr lang="pt-BR" noProof="0" dirty="0"/>
                  <a:t>do </a:t>
                </a:r>
                <a:r>
                  <a:rPr lang="pt-BR" b="1" noProof="0" dirty="0">
                    <a:solidFill>
                      <a:schemeClr val="accent2"/>
                    </a:solidFill>
                  </a:rPr>
                  <a:t>gradiente estimado</a:t>
                </a:r>
                <a:r>
                  <a:rPr lang="pt-BR" noProof="0" dirty="0"/>
                  <a:t>.</a:t>
                </a:r>
              </a:p>
              <a:p>
                <a:r>
                  <a:rPr lang="pt-BR" noProof="0" dirty="0"/>
                  <a:t>É como se tivéssemos o </a:t>
                </a:r>
                <a:r>
                  <a:rPr lang="pt-BR" b="1" noProof="0" dirty="0">
                    <a:solidFill>
                      <a:srgbClr val="92D050"/>
                    </a:solidFill>
                  </a:rPr>
                  <a:t>valor verdadeiro do gradiente mais um ruído</a:t>
                </a:r>
                <a:r>
                  <a:rPr lang="pt-BR" noProof="0" dirty="0"/>
                  <a:t>, que tem variância alta quando </a:t>
                </a:r>
                <a14:m>
                  <m:oMath xmlns:m="http://schemas.openxmlformats.org/officeDocument/2006/math">
                    <m:r>
                      <a:rPr lang="pt-BR" b="0" i="1" noProof="0" smtClean="0">
                        <a:latin typeface="Cambria Math" panose="02040503050406030204" pitchFamily="18" charset="0"/>
                      </a:rPr>
                      <m:t>𝑁</m:t>
                    </m:r>
                  </m:oMath>
                </a14:m>
                <a:r>
                  <a:rPr lang="pt-BR" noProof="0" dirty="0"/>
                  <a:t> é pequeno.</a:t>
                </a:r>
              </a:p>
              <a:p>
                <a:pPr lvl="1">
                  <a:buFont typeface="Wingdings" panose="05000000000000000000" pitchFamily="2" charset="2"/>
                  <a:buChar char="§"/>
                </a:pPr>
                <a:r>
                  <a:rPr lang="pt-BR" dirty="0"/>
                  <a:t>Com poucas amostras, o gradiente estimado pode se afastar do gradiente verdadeiro.</a:t>
                </a:r>
              </a:p>
            </p:txBody>
          </p:sp>
        </mc:Choice>
        <mc:Fallback xmlns="">
          <p:sp>
            <p:nvSpPr>
              <p:cNvPr id="3" name="Espaço Reservado para Conteúdo 2">
                <a:extLst>
                  <a:ext uri="{FF2B5EF4-FFF2-40B4-BE49-F238E27FC236}">
                    <a16:creationId xmlns:a16="http://schemas.microsoft.com/office/drawing/2014/main" xmlns:a14="http://schemas.microsoft.com/office/drawing/2010/main" xmlns="" id="{DC5EC678-4C25-1184-B2F1-399C0F236041}"/>
                  </a:ext>
                </a:extLst>
              </p:cNvPr>
              <p:cNvSpPr>
                <a:spLocks noGrp="1" noRot="1" noChangeAspect="1" noMove="1" noResize="1" noEditPoints="1" noAdjustHandles="1" noChangeArrowheads="1" noChangeShapeType="1" noTextEdit="1"/>
              </p:cNvSpPr>
              <p:nvPr>
                <p:ph idx="1"/>
              </p:nvPr>
            </p:nvSpPr>
            <p:spPr>
              <a:xfrm>
                <a:off x="838198" y="1777430"/>
                <a:ext cx="11353801" cy="5080570"/>
              </a:xfrm>
              <a:blipFill rotWithShape="0">
                <a:blip r:embed="rId3"/>
                <a:stretch>
                  <a:fillRect l="-913" r="-590" b="-1321"/>
                </a:stretch>
              </a:blipFill>
            </p:spPr>
            <p:txBody>
              <a:bodyPr/>
              <a:lstStyle/>
              <a:p>
                <a:r>
                  <a:rPr lang="pt-BR">
                    <a:noFill/>
                  </a:rPr>
                  <a:t> </a:t>
                </a:r>
              </a:p>
            </p:txBody>
          </p:sp>
        </mc:Fallback>
      </mc:AlternateContent>
    </p:spTree>
    <p:extLst>
      <p:ext uri="{BB962C8B-B14F-4D97-AF65-F5344CB8AC3E}">
        <p14:creationId xmlns:p14="http://schemas.microsoft.com/office/powerpoint/2010/main" val="35229699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021E05-ABDD-6B49-2AC1-594A009F1D15}"/>
              </a:ext>
            </a:extLst>
          </p:cNvPr>
          <p:cNvSpPr>
            <a:spLocks noGrp="1"/>
          </p:cNvSpPr>
          <p:nvPr>
            <p:ph type="title"/>
          </p:nvPr>
        </p:nvSpPr>
        <p:spPr/>
        <p:txBody>
          <a:bodyPr/>
          <a:lstStyle/>
          <a:p>
            <a:r>
              <a:rPr lang="pt-BR" dirty="0"/>
              <a:t>Versões do gradiente descendente</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1CB9A1FC-3F15-B216-8074-C6DE6730400A}"/>
                  </a:ext>
                </a:extLst>
              </p:cNvPr>
              <p:cNvSpPr>
                <a:spLocks noGrp="1"/>
              </p:cNvSpPr>
              <p:nvPr>
                <p:ph idx="1"/>
              </p:nvPr>
            </p:nvSpPr>
            <p:spPr>
              <a:xfrm>
                <a:off x="838200" y="1690688"/>
                <a:ext cx="11212286" cy="5167311"/>
              </a:xfrm>
            </p:spPr>
            <p:txBody>
              <a:bodyPr>
                <a:normAutofit/>
              </a:bodyPr>
              <a:lstStyle/>
              <a:p>
                <a:r>
                  <a:rPr lang="pt-BR" dirty="0"/>
                  <a:t>Substituindo o </a:t>
                </a:r>
                <a:r>
                  <a:rPr lang="pt-BR" b="1" dirty="0"/>
                  <a:t>vetor gradiente</a:t>
                </a:r>
                <a:r>
                  <a:rPr lang="pt-BR" dirty="0"/>
                  <a:t> na </a:t>
                </a:r>
                <a:r>
                  <a:rPr lang="pt-BR" b="1" dirty="0"/>
                  <a:t>equação de atualização dos pesos</a:t>
                </a:r>
                <a:r>
                  <a:rPr lang="pt-BR" dirty="0"/>
                  <a:t>, temos</a:t>
                </a:r>
              </a:p>
              <a:p>
                <a:pPr marL="0" indent="0">
                  <a:buNone/>
                </a:pPr>
                <a14:m>
                  <m:oMathPara xmlns:m="http://schemas.openxmlformats.org/officeDocument/2006/math">
                    <m:oMath>
                      <m:r>
                        <a:rPr lang="pt-BR" b="1" i="1" smtClean="0">
                          <a:latin typeface="Cambria Math" panose="02040503050406030204" pitchFamily="18" charset="0"/>
                        </a:rPr>
                        <m:t>𝒂</m:t>
                      </m:r>
                      <m:r>
                        <a:rPr lang="pt-BR" b="1" i="1" smtClean="0">
                          <a:latin typeface="Cambria Math" panose="02040503050406030204" pitchFamily="18" charset="0"/>
                        </a:rPr>
                        <m:t>=</m:t>
                      </m:r>
                      <m:r>
                        <a:rPr lang="pt-BR" b="1" i="1" smtClean="0">
                          <a:latin typeface="Cambria Math" panose="02040503050406030204" pitchFamily="18" charset="0"/>
                        </a:rPr>
                        <m:t>𝒂</m:t>
                      </m:r>
                      <m:r>
                        <a:rPr lang="pt-BR" b="1" i="1" smtClean="0">
                          <a:latin typeface="Cambria Math" panose="02040503050406030204" pitchFamily="18" charset="0"/>
                        </a:rPr>
                        <m:t>−</m:t>
                      </m:r>
                      <m:r>
                        <a:rPr lang="pt-BR" i="1" smtClean="0">
                          <a:latin typeface="Cambria Math" panose="02040503050406030204" pitchFamily="18" charset="0"/>
                          <a:ea typeface="Cambria Math" panose="02040503050406030204" pitchFamily="18" charset="0"/>
                        </a:rPr>
                        <m:t>𝛼</m:t>
                      </m:r>
                      <m:f>
                        <m:fPr>
                          <m:ctrlPr>
                            <a:rPr lang="pt-BR" i="1" smtClean="0">
                              <a:latin typeface="Cambria Math" panose="02040503050406030204" pitchFamily="18" charset="0"/>
                            </a:rPr>
                          </m:ctrlPr>
                        </m:fPr>
                        <m:num>
                          <m:r>
                            <a:rPr lang="pt-BR" i="1" smtClean="0">
                              <a:latin typeface="Cambria Math" panose="02040503050406030204" pitchFamily="18" charset="0"/>
                            </a:rPr>
                            <m:t>𝜕</m:t>
                          </m:r>
                          <m:sSub>
                            <m:sSubPr>
                              <m:ctrlPr>
                                <a:rPr lang="pt-BR" i="1" smtClean="0">
                                  <a:latin typeface="Cambria Math" panose="02040503050406030204" pitchFamily="18" charset="0"/>
                                </a:rPr>
                              </m:ctrlPr>
                            </m:sSubPr>
                            <m:e>
                              <m:r>
                                <a:rPr lang="pt-BR" i="1" smtClean="0">
                                  <a:latin typeface="Cambria Math" panose="02040503050406030204" pitchFamily="18" charset="0"/>
                                </a:rPr>
                                <m:t>𝐽</m:t>
                              </m:r>
                            </m:e>
                            <m:sub>
                              <m:r>
                                <a:rPr lang="pt-BR" i="1" smtClean="0">
                                  <a:latin typeface="Cambria Math" panose="02040503050406030204" pitchFamily="18" charset="0"/>
                                </a:rPr>
                                <m:t>𝑒</m:t>
                              </m:r>
                            </m:sub>
                          </m:sSub>
                          <m:d>
                            <m:dPr>
                              <m:ctrlPr>
                                <a:rPr lang="pt-BR" b="1" i="1" smtClean="0">
                                  <a:latin typeface="Cambria Math" panose="02040503050406030204" pitchFamily="18" charset="0"/>
                                </a:rPr>
                              </m:ctrlPr>
                            </m:dPr>
                            <m:e>
                              <m:r>
                                <a:rPr lang="pt-BR" b="1" i="1" smtClean="0">
                                  <a:latin typeface="Cambria Math" panose="02040503050406030204" pitchFamily="18" charset="0"/>
                                </a:rPr>
                                <m:t>𝒂</m:t>
                              </m:r>
                            </m:e>
                          </m:d>
                        </m:num>
                        <m:den>
                          <m:r>
                            <a:rPr lang="pt-BR" i="1" smtClean="0">
                              <a:latin typeface="Cambria Math" panose="02040503050406030204" pitchFamily="18" charset="0"/>
                            </a:rPr>
                            <m:t>𝜕</m:t>
                          </m:r>
                          <m:r>
                            <a:rPr lang="pt-BR" b="1" i="1" smtClean="0">
                              <a:latin typeface="Cambria Math" panose="02040503050406030204" pitchFamily="18" charset="0"/>
                            </a:rPr>
                            <m:t>𝒂</m:t>
                          </m:r>
                        </m:den>
                      </m:f>
                      <m:r>
                        <a:rPr lang="pt-BR" b="1" i="1" smtClean="0">
                          <a:latin typeface="Cambria Math" panose="02040503050406030204" pitchFamily="18" charset="0"/>
                        </a:rPr>
                        <m:t>=</m:t>
                      </m:r>
                      <m:r>
                        <a:rPr lang="pt-BR" b="1" i="1" smtClean="0">
                          <a:latin typeface="Cambria Math" panose="02040503050406030204" pitchFamily="18" charset="0"/>
                        </a:rPr>
                        <m:t>𝒂</m:t>
                      </m:r>
                      <m:r>
                        <a:rPr lang="pt-BR" b="0" i="1" smtClean="0">
                          <a:latin typeface="Cambria Math" panose="02040503050406030204" pitchFamily="18" charset="0"/>
                        </a:rPr>
                        <m:t>+</m:t>
                      </m:r>
                      <m:r>
                        <a:rPr lang="pt-BR" i="1" smtClean="0">
                          <a:latin typeface="Cambria Math" panose="02040503050406030204" pitchFamily="18" charset="0"/>
                          <a:ea typeface="Cambria Math" panose="02040503050406030204" pitchFamily="18" charset="0"/>
                        </a:rPr>
                        <m:t>𝛼</m:t>
                      </m:r>
                      <m:f>
                        <m:fPr>
                          <m:ctrlPr>
                            <a:rPr lang="pt-BR" b="0" i="1" smtClean="0">
                              <a:latin typeface="Cambria Math" panose="02040503050406030204" pitchFamily="18" charset="0"/>
                            </a:rPr>
                          </m:ctrlPr>
                        </m:fPr>
                        <m:num>
                          <m:r>
                            <a:rPr lang="pt-BR" b="0" i="1" smtClean="0">
                              <a:latin typeface="Cambria Math" panose="02040503050406030204" pitchFamily="18" charset="0"/>
                            </a:rPr>
                            <m:t>2</m:t>
                          </m:r>
                        </m:num>
                        <m:den>
                          <m:r>
                            <a:rPr lang="pt-BR" b="0" i="1" smtClean="0">
                              <a:latin typeface="Cambria Math" panose="02040503050406030204" pitchFamily="18" charset="0"/>
                            </a:rPr>
                            <m:t>𝑀</m:t>
                          </m:r>
                        </m:den>
                      </m:f>
                      <m:nary>
                        <m:naryPr>
                          <m:chr m:val="∑"/>
                          <m:ctrlPr>
                            <a:rPr lang="pt-BR" i="1" smtClean="0">
                              <a:latin typeface="Cambria Math" panose="02040503050406030204" pitchFamily="18" charset="0"/>
                            </a:rPr>
                          </m:ctrlPr>
                        </m:naryPr>
                        <m:sub>
                          <m:r>
                            <a:rPr lang="pt-BR" i="1" smtClean="0">
                              <a:latin typeface="Cambria Math" panose="02040503050406030204" pitchFamily="18" charset="0"/>
                            </a:rPr>
                            <m:t>𝑛</m:t>
                          </m:r>
                          <m:r>
                            <a:rPr lang="pt-BR" i="1" smtClean="0">
                              <a:latin typeface="Cambria Math" panose="02040503050406030204" pitchFamily="18" charset="0"/>
                            </a:rPr>
                            <m:t>=0</m:t>
                          </m:r>
                        </m:sub>
                        <m:sup>
                          <m:r>
                            <a:rPr lang="pt-BR" b="0" i="1" smtClean="0">
                              <a:latin typeface="Cambria Math" panose="02040503050406030204" pitchFamily="18" charset="0"/>
                            </a:rPr>
                            <m:t>𝑀</m:t>
                          </m:r>
                          <m:r>
                            <a:rPr lang="pt-BR" i="1" smtClean="0">
                              <a:latin typeface="Cambria Math" panose="02040503050406030204" pitchFamily="18" charset="0"/>
                            </a:rPr>
                            <m:t>−1</m:t>
                          </m:r>
                        </m:sup>
                        <m:e>
                          <m:d>
                            <m:dPr>
                              <m:begChr m:val="["/>
                              <m:endChr m:val="]"/>
                              <m:ctrlPr>
                                <a:rPr lang="pt-BR" i="1" smtClean="0">
                                  <a:latin typeface="Cambria Math" panose="02040503050406030204" pitchFamily="18" charset="0"/>
                                </a:rPr>
                              </m:ctrlPr>
                            </m:dPr>
                            <m:e>
                              <m:r>
                                <a:rPr lang="pt-BR" i="1" smtClean="0">
                                  <a:latin typeface="Cambria Math" panose="02040503050406030204" pitchFamily="18" charset="0"/>
                                </a:rPr>
                                <m:t>𝑦</m:t>
                              </m:r>
                              <m:d>
                                <m:dPr>
                                  <m:ctrlPr>
                                    <a:rPr lang="pt-BR" i="1" smtClean="0">
                                      <a:latin typeface="Cambria Math" panose="02040503050406030204" pitchFamily="18" charset="0"/>
                                    </a:rPr>
                                  </m:ctrlPr>
                                </m:dPr>
                                <m:e>
                                  <m:r>
                                    <a:rPr lang="pt-BR" i="1" smtClean="0">
                                      <a:latin typeface="Cambria Math" panose="02040503050406030204" pitchFamily="18" charset="0"/>
                                    </a:rPr>
                                    <m:t>𝑛</m:t>
                                  </m:r>
                                </m:e>
                              </m:d>
                              <m:r>
                                <a:rPr lang="pt-BR" i="1" smtClean="0">
                                  <a:latin typeface="Cambria Math" panose="02040503050406030204" pitchFamily="18" charset="0"/>
                                </a:rPr>
                                <m:t>−</m:t>
                              </m:r>
                              <m:acc>
                                <m:accPr>
                                  <m:chr m:val="̂"/>
                                  <m:ctrlPr>
                                    <a:rPr lang="pt-BR" i="1" smtClean="0">
                                      <a:latin typeface="Cambria Math" panose="02040503050406030204" pitchFamily="18" charset="0"/>
                                    </a:rPr>
                                  </m:ctrlPr>
                                </m:accPr>
                                <m:e>
                                  <m:r>
                                    <a:rPr lang="pt-BR" i="1" smtClean="0">
                                      <a:latin typeface="Cambria Math" panose="02040503050406030204" pitchFamily="18" charset="0"/>
                                    </a:rPr>
                                    <m:t>𝑦</m:t>
                                  </m:r>
                                </m:e>
                              </m:acc>
                              <m:d>
                                <m:dPr>
                                  <m:ctrlPr>
                                    <a:rPr lang="pt-BR" i="1" smtClean="0">
                                      <a:latin typeface="Cambria Math" panose="02040503050406030204" pitchFamily="18" charset="0"/>
                                    </a:rPr>
                                  </m:ctrlPr>
                                </m:dPr>
                                <m:e>
                                  <m:r>
                                    <a:rPr lang="pt-BR" i="1" smtClean="0">
                                      <a:latin typeface="Cambria Math" panose="02040503050406030204" pitchFamily="18" charset="0"/>
                                    </a:rPr>
                                    <m:t>𝑛</m:t>
                                  </m:r>
                                </m:e>
                              </m:d>
                            </m:e>
                          </m:d>
                          <m:r>
                            <a:rPr lang="pt-BR" b="1" i="1" smtClean="0">
                              <a:latin typeface="Cambria Math" panose="02040503050406030204" pitchFamily="18" charset="0"/>
                            </a:rPr>
                            <m:t>𝒙</m:t>
                          </m:r>
                          <m:r>
                            <a:rPr lang="pt-BR" i="1" smtClean="0">
                              <a:latin typeface="Cambria Math" panose="02040503050406030204" pitchFamily="18" charset="0"/>
                            </a:rPr>
                            <m:t>(</m:t>
                          </m:r>
                          <m:r>
                            <a:rPr lang="pt-BR" i="1" smtClean="0">
                              <a:latin typeface="Cambria Math" panose="02040503050406030204" pitchFamily="18" charset="0"/>
                            </a:rPr>
                            <m:t>𝑛</m:t>
                          </m:r>
                          <m:r>
                            <a:rPr lang="pt-BR" i="1" smtClean="0">
                              <a:latin typeface="Cambria Math" panose="02040503050406030204" pitchFamily="18" charset="0"/>
                            </a:rPr>
                            <m:t>)</m:t>
                          </m:r>
                        </m:e>
                      </m:nary>
                      <m:r>
                        <a:rPr lang="pt-BR" b="0" smtClean="0">
                          <a:latin typeface="Cambria Math" panose="02040503050406030204" pitchFamily="18" charset="0"/>
                        </a:rPr>
                        <m:t>.</m:t>
                      </m:r>
                    </m:oMath>
                  </m:oMathPara>
                </a14:m>
                <a:endParaRPr lang="pt-BR" dirty="0"/>
              </a:p>
              <a:p>
                <a:r>
                  <a:rPr lang="pt-BR" dirty="0"/>
                  <a:t>Podemos ter </a:t>
                </a:r>
                <a:r>
                  <a:rPr lang="pt-BR" b="1" dirty="0">
                    <a:solidFill>
                      <a:srgbClr val="00B050"/>
                    </a:solidFill>
                  </a:rPr>
                  <a:t>3 versões diferentes, dependendo da </a:t>
                </a:r>
                <a:r>
                  <a:rPr lang="pt-BR" b="1" dirty="0">
                    <a:solidFill>
                      <a:srgbClr val="FF0000"/>
                    </a:solidFill>
                  </a:rPr>
                  <a:t>quantidade de amostras</a:t>
                </a:r>
                <a:r>
                  <a:rPr lang="pt-BR" dirty="0"/>
                  <a:t>, </a:t>
                </a:r>
                <a14:m>
                  <m:oMath xmlns:m="http://schemas.openxmlformats.org/officeDocument/2006/math">
                    <m:r>
                      <a:rPr lang="pt-BR" b="1" smtClean="0">
                        <a:solidFill>
                          <a:srgbClr val="7030A0"/>
                        </a:solidFill>
                        <a:latin typeface="Cambria Math" panose="02040503050406030204" pitchFamily="18" charset="0"/>
                      </a:rPr>
                      <m:t>𝑴</m:t>
                    </m:r>
                  </m:oMath>
                </a14:m>
                <a:r>
                  <a:rPr lang="pt-BR" dirty="0"/>
                  <a:t>, consideradas na média acima:</a:t>
                </a:r>
              </a:p>
              <a:p>
                <a:pPr lvl="1">
                  <a:buFont typeface="Wingdings" panose="05000000000000000000" pitchFamily="2" charset="2"/>
                  <a:buChar char="§"/>
                </a:pPr>
                <a:r>
                  <a:rPr lang="pt-BR" b="1" dirty="0"/>
                  <a:t>Gradiente descendente em batelada (GDB).</a:t>
                </a:r>
              </a:p>
              <a:p>
                <a:pPr lvl="1">
                  <a:buFont typeface="Wingdings" panose="05000000000000000000" pitchFamily="2" charset="2"/>
                  <a:buChar char="§"/>
                </a:pPr>
                <a:r>
                  <a:rPr lang="pt-BR" b="1" dirty="0"/>
                  <a:t>Gradiente descendente estocástico (GDE).</a:t>
                </a:r>
              </a:p>
              <a:p>
                <a:pPr lvl="1">
                  <a:buFont typeface="Wingdings" panose="05000000000000000000" pitchFamily="2" charset="2"/>
                  <a:buChar char="§"/>
                </a:pPr>
                <a:r>
                  <a:rPr lang="nl-BE" b="1" dirty="0"/>
                  <a:t>Gradiente descendente em mini-lotes</a:t>
                </a:r>
                <a:r>
                  <a:rPr lang="pt-BR" b="1" dirty="0"/>
                  <a:t> (GDML).</a:t>
                </a:r>
              </a:p>
              <a:p>
                <a:pPr lvl="1">
                  <a:buFont typeface="Wingdings" panose="05000000000000000000" pitchFamily="2" charset="2"/>
                  <a:buChar char="§"/>
                </a:pPr>
                <a:endParaRPr lang="pt-BR" dirty="0"/>
              </a:p>
              <a:p>
                <a:pPr marL="0" indent="0">
                  <a:buNone/>
                </a:pPr>
                <a:endParaRPr lang="pt-BR" dirty="0"/>
              </a:p>
              <a:p>
                <a:pPr marL="0" indent="0">
                  <a:buNone/>
                </a:pPr>
                <a:endParaRPr lang="pt-BR" dirty="0"/>
              </a:p>
            </p:txBody>
          </p:sp>
        </mc:Choice>
        <mc:Fallback xmlns="">
          <p:sp>
            <p:nvSpPr>
              <p:cNvPr id="3" name="Espaço Reservado para Conteúdo 2">
                <a:extLst>
                  <a:ext uri="{FF2B5EF4-FFF2-40B4-BE49-F238E27FC236}">
                    <a16:creationId xmlns:a16="http://schemas.microsoft.com/office/drawing/2014/main" id="{1CB9A1FC-3F15-B216-8074-C6DE6730400A}"/>
                  </a:ext>
                </a:extLst>
              </p:cNvPr>
              <p:cNvSpPr>
                <a:spLocks noGrp="1" noRot="1" noChangeAspect="1" noMove="1" noResize="1" noEditPoints="1" noAdjustHandles="1" noChangeArrowheads="1" noChangeShapeType="1" noTextEdit="1"/>
              </p:cNvSpPr>
              <p:nvPr>
                <p:ph idx="1"/>
              </p:nvPr>
            </p:nvSpPr>
            <p:spPr>
              <a:xfrm>
                <a:off x="838200" y="1690688"/>
                <a:ext cx="11212286" cy="5167311"/>
              </a:xfrm>
              <a:blipFill>
                <a:blip r:embed="rId3"/>
                <a:stretch>
                  <a:fillRect l="-979" t="-1887"/>
                </a:stretch>
              </a:blipFill>
            </p:spPr>
            <p:txBody>
              <a:bodyPr/>
              <a:lstStyle/>
              <a:p>
                <a:r>
                  <a:rPr lang="en-US">
                    <a:noFill/>
                  </a:rPr>
                  <a:t> </a:t>
                </a:r>
              </a:p>
            </p:txBody>
          </p:sp>
        </mc:Fallback>
      </mc:AlternateContent>
    </p:spTree>
    <p:extLst>
      <p:ext uri="{BB962C8B-B14F-4D97-AF65-F5344CB8AC3E}">
        <p14:creationId xmlns:p14="http://schemas.microsoft.com/office/powerpoint/2010/main" val="9853208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021E05-ABDD-6B49-2AC1-594A009F1D15}"/>
              </a:ext>
            </a:extLst>
          </p:cNvPr>
          <p:cNvSpPr>
            <a:spLocks noGrp="1"/>
          </p:cNvSpPr>
          <p:nvPr>
            <p:ph type="title"/>
          </p:nvPr>
        </p:nvSpPr>
        <p:spPr/>
        <p:txBody>
          <a:bodyPr/>
          <a:lstStyle/>
          <a:p>
            <a:r>
              <a:rPr lang="pt-BR" dirty="0"/>
              <a:t>Gradiente descendente em batelada</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1CB9A1FC-3F15-B216-8074-C6DE6730400A}"/>
                  </a:ext>
                </a:extLst>
              </p:cNvPr>
              <p:cNvSpPr>
                <a:spLocks noGrp="1"/>
              </p:cNvSpPr>
              <p:nvPr>
                <p:ph idx="1"/>
              </p:nvPr>
            </p:nvSpPr>
            <p:spPr>
              <a:xfrm>
                <a:off x="838200" y="1690688"/>
                <a:ext cx="11353800" cy="5167311"/>
              </a:xfrm>
            </p:spPr>
            <p:txBody>
              <a:bodyPr>
                <a:normAutofit/>
              </a:bodyPr>
              <a:lstStyle/>
              <a:p>
                <a:pPr marL="0" indent="0">
                  <a:buNone/>
                </a:pPr>
                <a14:m>
                  <m:oMathPara xmlns:m="http://schemas.openxmlformats.org/officeDocument/2006/math">
                    <m:oMath>
                      <m:r>
                        <a:rPr lang="pt-BR" b="1" i="1" smtClean="0">
                          <a:latin typeface="Cambria Math" panose="02040503050406030204" pitchFamily="18" charset="0"/>
                        </a:rPr>
                        <m:t>𝒂</m:t>
                      </m:r>
                      <m:r>
                        <a:rPr lang="pt-BR" b="1" i="1">
                          <a:latin typeface="Cambria Math" panose="02040503050406030204" pitchFamily="18" charset="0"/>
                        </a:rPr>
                        <m:t>=</m:t>
                      </m:r>
                      <m:r>
                        <a:rPr lang="pt-BR" b="1" i="1">
                          <a:latin typeface="Cambria Math" panose="02040503050406030204" pitchFamily="18" charset="0"/>
                        </a:rPr>
                        <m:t>𝒂</m:t>
                      </m:r>
                      <m:r>
                        <a:rPr lang="pt-BR" b="0" i="1" smtClean="0">
                          <a:latin typeface="Cambria Math" panose="02040503050406030204" pitchFamily="18" charset="0"/>
                        </a:rPr>
                        <m:t>+</m:t>
                      </m:r>
                      <m:r>
                        <a:rPr lang="pt-BR" i="1">
                          <a:latin typeface="Cambria Math" panose="02040503050406030204" pitchFamily="18" charset="0"/>
                          <a:ea typeface="Cambria Math" panose="02040503050406030204" pitchFamily="18" charset="0"/>
                        </a:rPr>
                        <m:t>𝛼</m:t>
                      </m:r>
                      <m:f>
                        <m:fPr>
                          <m:ctrlPr>
                            <a:rPr lang="pt-BR" b="0" i="1" smtClean="0">
                              <a:latin typeface="Cambria Math" panose="02040503050406030204" pitchFamily="18" charset="0"/>
                            </a:rPr>
                          </m:ctrlPr>
                        </m:fPr>
                        <m:num>
                          <m:r>
                            <a:rPr lang="pt-BR" b="0" i="1" smtClean="0">
                              <a:latin typeface="Cambria Math" panose="02040503050406030204" pitchFamily="18" charset="0"/>
                            </a:rPr>
                            <m:t>2</m:t>
                          </m:r>
                        </m:num>
                        <m:den>
                          <m:r>
                            <a:rPr lang="pt-BR" i="1">
                              <a:latin typeface="Cambria Math" panose="02040503050406030204" pitchFamily="18" charset="0"/>
                            </a:rPr>
                            <m:t>𝑁</m:t>
                          </m:r>
                        </m:den>
                      </m:f>
                      <m:nary>
                        <m:naryPr>
                          <m:chr m:val="∑"/>
                          <m:ctrlPr>
                            <a:rPr lang="pt-BR" i="1">
                              <a:latin typeface="Cambria Math" panose="02040503050406030204" pitchFamily="18" charset="0"/>
                            </a:rPr>
                          </m:ctrlPr>
                        </m:naryPr>
                        <m:sub>
                          <m:r>
                            <a:rPr lang="pt-BR" i="1">
                              <a:latin typeface="Cambria Math" panose="02040503050406030204" pitchFamily="18" charset="0"/>
                            </a:rPr>
                            <m:t>𝑛</m:t>
                          </m:r>
                          <m:r>
                            <a:rPr lang="pt-BR" i="1">
                              <a:latin typeface="Cambria Math" panose="02040503050406030204" pitchFamily="18" charset="0"/>
                            </a:rPr>
                            <m:t>=0</m:t>
                          </m:r>
                        </m:sub>
                        <m:sup>
                          <m:r>
                            <a:rPr lang="pt-BR" b="0" i="1" smtClean="0">
                              <a:latin typeface="Cambria Math" panose="02040503050406030204" pitchFamily="18" charset="0"/>
                            </a:rPr>
                            <m:t>𝑁</m:t>
                          </m:r>
                          <m:r>
                            <a:rPr lang="pt-BR" i="1">
                              <a:latin typeface="Cambria Math" panose="02040503050406030204" pitchFamily="18" charset="0"/>
                            </a:rPr>
                            <m:t>−1</m:t>
                          </m:r>
                        </m:sup>
                        <m:e>
                          <m:d>
                            <m:dPr>
                              <m:begChr m:val="["/>
                              <m:endChr m:val="]"/>
                              <m:ctrlPr>
                                <a:rPr lang="pt-BR" i="1">
                                  <a:latin typeface="Cambria Math" panose="02040503050406030204" pitchFamily="18" charset="0"/>
                                </a:rPr>
                              </m:ctrlPr>
                            </m:dPr>
                            <m:e>
                              <m: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m:t>
                              </m:r>
                              <m:acc>
                                <m:accPr>
                                  <m:chr m:val="̂"/>
                                  <m:ctrlPr>
                                    <a:rPr lang="pt-BR" i="1">
                                      <a:latin typeface="Cambria Math" panose="02040503050406030204" pitchFamily="18" charset="0"/>
                                    </a:rPr>
                                  </m:ctrlPr>
                                </m:accPr>
                                <m:e>
                                  <m:r>
                                    <a:rPr lang="pt-BR" i="1">
                                      <a:latin typeface="Cambria Math" panose="02040503050406030204" pitchFamily="18" charset="0"/>
                                    </a:rPr>
                                    <m:t>𝑦</m:t>
                                  </m:r>
                                </m:e>
                              </m:acc>
                              <m:d>
                                <m:dPr>
                                  <m:ctrlPr>
                                    <a:rPr lang="pt-BR" i="1">
                                      <a:latin typeface="Cambria Math" panose="02040503050406030204" pitchFamily="18" charset="0"/>
                                    </a:rPr>
                                  </m:ctrlPr>
                                </m:dPr>
                                <m:e>
                                  <m:r>
                                    <a:rPr lang="pt-BR" i="1">
                                      <a:latin typeface="Cambria Math" panose="02040503050406030204" pitchFamily="18" charset="0"/>
                                    </a:rPr>
                                    <m:t>𝑛</m:t>
                                  </m:r>
                                </m:e>
                              </m:d>
                            </m:e>
                          </m:d>
                          <m:r>
                            <a:rPr lang="pt-BR" b="1" i="1">
                              <a:latin typeface="Cambria Math" panose="02040503050406030204" pitchFamily="18" charset="0"/>
                            </a:rPr>
                            <m:t>𝒙</m:t>
                          </m:r>
                          <m:r>
                            <a:rPr lang="pt-BR" i="1">
                              <a:latin typeface="Cambria Math" panose="02040503050406030204" pitchFamily="18" charset="0"/>
                            </a:rPr>
                            <m:t>(</m:t>
                          </m:r>
                          <m:r>
                            <a:rPr lang="pt-BR" i="1">
                              <a:latin typeface="Cambria Math" panose="02040503050406030204" pitchFamily="18" charset="0"/>
                            </a:rPr>
                            <m:t>𝑛</m:t>
                          </m:r>
                          <m:r>
                            <a:rPr lang="pt-BR" i="1">
                              <a:latin typeface="Cambria Math" panose="02040503050406030204" pitchFamily="18" charset="0"/>
                            </a:rPr>
                            <m:t>)</m:t>
                          </m:r>
                        </m:e>
                      </m:nary>
                      <m:r>
                        <a:rPr lang="pt-BR" b="0" i="0" smtClean="0">
                          <a:latin typeface="Cambria Math" panose="02040503050406030204" pitchFamily="18" charset="0"/>
                        </a:rPr>
                        <m:t>.</m:t>
                      </m:r>
                    </m:oMath>
                  </m:oMathPara>
                </a14:m>
                <a:endParaRPr lang="pt-BR" dirty="0"/>
              </a:p>
              <a:p>
                <a:r>
                  <a:rPr lang="pt-BR" b="0" dirty="0"/>
                  <a:t>Calcula o gradiente </a:t>
                </a:r>
                <a:r>
                  <a:rPr lang="pt-BR" dirty="0"/>
                  <a:t>usando </a:t>
                </a:r>
                <a:r>
                  <a:rPr lang="pt-BR" b="1" dirty="0">
                    <a:solidFill>
                      <a:srgbClr val="00B050"/>
                    </a:solidFill>
                  </a:rPr>
                  <a:t>todas as amostras</a:t>
                </a:r>
                <a:r>
                  <a:rPr lang="pt-BR" b="0" dirty="0"/>
                  <a:t> de treinamento (</a:t>
                </a:r>
                <a14:m>
                  <m:oMath xmlns:m="http://schemas.openxmlformats.org/officeDocument/2006/math">
                    <m:r>
                      <m:rPr>
                        <m:sty m:val="p"/>
                      </m:rPr>
                      <a:rPr lang="pt-BR" b="0" i="0" smtClean="0">
                        <a:latin typeface="Cambria Math" panose="02040503050406030204" pitchFamily="18" charset="0"/>
                      </a:rPr>
                      <m:t>M</m:t>
                    </m:r>
                    <m:r>
                      <a:rPr lang="pt-BR" b="0" i="0" smtClean="0">
                        <a:latin typeface="Cambria Math" panose="02040503050406030204" pitchFamily="18" charset="0"/>
                      </a:rPr>
                      <m:t>=</m:t>
                    </m:r>
                    <m:r>
                      <m:rPr>
                        <m:sty m:val="p"/>
                      </m:rPr>
                      <a:rPr lang="pt-BR" b="0" i="0" smtClean="0">
                        <a:latin typeface="Cambria Math" panose="02040503050406030204" pitchFamily="18" charset="0"/>
                      </a:rPr>
                      <m:t>N</m:t>
                    </m:r>
                  </m:oMath>
                </a14:m>
                <a:r>
                  <a:rPr lang="pt-BR" dirty="0"/>
                  <a:t>), resultando em uma </a:t>
                </a:r>
                <a:r>
                  <a:rPr lang="pt-BR" b="1" dirty="0">
                    <a:solidFill>
                      <a:srgbClr val="00B050"/>
                    </a:solidFill>
                  </a:rPr>
                  <a:t>descida suave e direta</a:t>
                </a:r>
                <a:r>
                  <a:rPr lang="pt-BR" dirty="0"/>
                  <a:t> em direção ao mínimo.</a:t>
                </a:r>
              </a:p>
              <a:p>
                <a:r>
                  <a:rPr lang="pt-BR" b="1" dirty="0">
                    <a:solidFill>
                      <a:srgbClr val="00B050"/>
                    </a:solidFill>
                  </a:rPr>
                  <a:t>Convergência</a:t>
                </a:r>
                <a:r>
                  <a:rPr lang="pt-BR" dirty="0"/>
                  <a:t> para o </a:t>
                </a:r>
                <a:r>
                  <a:rPr lang="pt-BR" b="1" dirty="0">
                    <a:solidFill>
                      <a:srgbClr val="7030A0"/>
                    </a:solidFill>
                  </a:rPr>
                  <a:t>mínimo global </a:t>
                </a:r>
                <a:r>
                  <a:rPr lang="pt-BR" dirty="0"/>
                  <a:t>é </a:t>
                </a:r>
                <a:r>
                  <a:rPr lang="pt-BR" b="1" dirty="0">
                    <a:solidFill>
                      <a:srgbClr val="7030A0"/>
                    </a:solidFill>
                  </a:rPr>
                  <a:t>garantida</a:t>
                </a:r>
                <a:r>
                  <a:rPr lang="pt-BR" dirty="0"/>
                  <a:t> quando a função de erro é </a:t>
                </a:r>
                <a:r>
                  <a:rPr lang="pt-BR" b="1" dirty="0">
                    <a:solidFill>
                      <a:srgbClr val="00B050"/>
                    </a:solidFill>
                  </a:rPr>
                  <a:t>convexa e o passo de aprendizagem não é grande demais</a:t>
                </a:r>
                <a:r>
                  <a:rPr lang="pt-BR" dirty="0"/>
                  <a:t>.</a:t>
                </a:r>
              </a:p>
              <a:p>
                <a:r>
                  <a:rPr lang="pt-BR" dirty="0"/>
                  <a:t>Pode ser </a:t>
                </a:r>
                <a:r>
                  <a:rPr lang="pt-BR" b="1" dirty="0">
                    <a:solidFill>
                      <a:srgbClr val="00B050"/>
                    </a:solidFill>
                  </a:rPr>
                  <a:t>computacionalmente custoso</a:t>
                </a:r>
                <a:r>
                  <a:rPr lang="pt-BR" dirty="0"/>
                  <a:t> dependendo do tamanho do modelo e do conjunto de dados.</a:t>
                </a:r>
              </a:p>
              <a:p>
                <a:pPr lvl="1">
                  <a:buFont typeface="Wingdings" panose="05000000000000000000" pitchFamily="2" charset="2"/>
                  <a:buChar char="§"/>
                </a:pPr>
                <a:r>
                  <a:rPr lang="pt-BR" dirty="0"/>
                  <a:t>Por processar todos os exemplos, é lento com modelos e conjuntos muito grandes, além de consumir muita memória.</a:t>
                </a:r>
              </a:p>
              <a:p>
                <a:r>
                  <a:rPr lang="pt-BR" dirty="0"/>
                  <a:t>Das 3, é a versão que </a:t>
                </a:r>
                <a:r>
                  <a:rPr lang="pt-BR" b="1" dirty="0">
                    <a:solidFill>
                      <a:srgbClr val="00B050"/>
                    </a:solidFill>
                  </a:rPr>
                  <a:t>obtém os melhores resultados</a:t>
                </a:r>
                <a:r>
                  <a:rPr lang="pt-BR" dirty="0"/>
                  <a:t>.</a:t>
                </a:r>
              </a:p>
            </p:txBody>
          </p:sp>
        </mc:Choice>
        <mc:Fallback xmlns="">
          <p:sp>
            <p:nvSpPr>
              <p:cNvPr id="3" name="Espaço Reservado para Conteúdo 2">
                <a:extLst>
                  <a:ext uri="{FF2B5EF4-FFF2-40B4-BE49-F238E27FC236}">
                    <a16:creationId xmlns:a16="http://schemas.microsoft.com/office/drawing/2014/main" xmlns:a14="http://schemas.microsoft.com/office/drawing/2010/main" xmlns="" id="{1CB9A1FC-3F15-B216-8074-C6DE6730400A}"/>
                  </a:ext>
                </a:extLst>
              </p:cNvPr>
              <p:cNvSpPr>
                <a:spLocks noGrp="1" noRot="1" noChangeAspect="1" noMove="1" noResize="1" noEditPoints="1" noAdjustHandles="1" noChangeArrowheads="1" noChangeShapeType="1" noTextEdit="1"/>
              </p:cNvSpPr>
              <p:nvPr>
                <p:ph idx="1"/>
              </p:nvPr>
            </p:nvSpPr>
            <p:spPr>
              <a:xfrm>
                <a:off x="838200" y="1690688"/>
                <a:ext cx="11353800" cy="5167311"/>
              </a:xfrm>
              <a:blipFill rotWithShape="0">
                <a:blip r:embed="rId3"/>
                <a:stretch>
                  <a:fillRect l="-967" r="-591" b="-1887"/>
                </a:stretch>
              </a:blipFill>
            </p:spPr>
            <p:txBody>
              <a:bodyPr/>
              <a:lstStyle/>
              <a:p>
                <a:r>
                  <a:rPr lang="pt-BR">
                    <a:noFill/>
                  </a:rPr>
                  <a:t> </a:t>
                </a:r>
              </a:p>
            </p:txBody>
          </p:sp>
        </mc:Fallback>
      </mc:AlternateContent>
    </p:spTree>
    <p:extLst>
      <p:ext uri="{BB962C8B-B14F-4D97-AF65-F5344CB8AC3E}">
        <p14:creationId xmlns:p14="http://schemas.microsoft.com/office/powerpoint/2010/main" val="55018654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3D925E-2F29-96FA-1E82-8F73086FABF1}"/>
              </a:ext>
            </a:extLst>
          </p:cNvPr>
          <p:cNvSpPr>
            <a:spLocks noGrp="1"/>
          </p:cNvSpPr>
          <p:nvPr>
            <p:ph type="title"/>
          </p:nvPr>
        </p:nvSpPr>
        <p:spPr/>
        <p:txBody>
          <a:bodyPr/>
          <a:lstStyle/>
          <a:p>
            <a:r>
              <a:rPr lang="pt-BR" dirty="0"/>
              <a:t>Gradiente descendente estocástico</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9E7C9F4C-5009-7EC3-F599-AD0E3603A4A3}"/>
                  </a:ext>
                </a:extLst>
              </p:cNvPr>
              <p:cNvSpPr>
                <a:spLocks noGrp="1"/>
              </p:cNvSpPr>
              <p:nvPr>
                <p:ph idx="1"/>
              </p:nvPr>
            </p:nvSpPr>
            <p:spPr>
              <a:xfrm>
                <a:off x="838199" y="1825624"/>
                <a:ext cx="11353801" cy="5032375"/>
              </a:xfrm>
            </p:spPr>
            <p:txBody>
              <a:bodyPr>
                <a:normAutofit lnSpcReduction="10000"/>
              </a:bodyPr>
              <a:lstStyle/>
              <a:p>
                <a:pPr marL="0" indent="0">
                  <a:buNone/>
                </a:pPr>
                <a14:m>
                  <m:oMathPara xmlns:m="http://schemas.openxmlformats.org/officeDocument/2006/math">
                    <m:oMath>
                      <m:r>
                        <a:rPr lang="pt-BR" b="1" i="1" noProof="0" smtClean="0">
                          <a:latin typeface="Cambria Math" panose="02040503050406030204" pitchFamily="18" charset="0"/>
                        </a:rPr>
                        <m:t>𝒂</m:t>
                      </m:r>
                      <m:r>
                        <a:rPr lang="pt-BR" b="1" i="1" noProof="0">
                          <a:latin typeface="Cambria Math" panose="02040503050406030204" pitchFamily="18" charset="0"/>
                        </a:rPr>
                        <m:t>=</m:t>
                      </m:r>
                      <m:r>
                        <a:rPr lang="pt-BR" b="1" i="1" noProof="0">
                          <a:latin typeface="Cambria Math" panose="02040503050406030204" pitchFamily="18" charset="0"/>
                        </a:rPr>
                        <m:t>𝒂</m:t>
                      </m:r>
                      <m:r>
                        <a:rPr lang="pt-BR" b="0" i="1" noProof="0" smtClean="0">
                          <a:latin typeface="Cambria Math" panose="02040503050406030204" pitchFamily="18" charset="0"/>
                        </a:rPr>
                        <m:t>+2</m:t>
                      </m:r>
                      <m:r>
                        <a:rPr lang="pt-BR" i="1" noProof="0">
                          <a:latin typeface="Cambria Math" panose="02040503050406030204" pitchFamily="18" charset="0"/>
                          <a:ea typeface="Cambria Math" panose="02040503050406030204" pitchFamily="18" charset="0"/>
                        </a:rPr>
                        <m:t>𝛼</m:t>
                      </m:r>
                      <m:d>
                        <m:dPr>
                          <m:begChr m:val="["/>
                          <m:endChr m:val="]"/>
                          <m:ctrlPr>
                            <a:rPr lang="pt-BR" i="1" noProof="0">
                              <a:latin typeface="Cambria Math" panose="02040503050406030204" pitchFamily="18" charset="0"/>
                            </a:rPr>
                          </m:ctrlPr>
                        </m:dPr>
                        <m:e>
                          <m:r>
                            <a:rPr lang="pt-BR" i="1" noProof="0">
                              <a:latin typeface="Cambria Math" panose="02040503050406030204" pitchFamily="18" charset="0"/>
                            </a:rPr>
                            <m:t>𝑦</m:t>
                          </m:r>
                          <m:d>
                            <m:dPr>
                              <m:ctrlPr>
                                <a:rPr lang="pt-BR" b="0" i="1" noProof="0" smtClean="0">
                                  <a:latin typeface="Cambria Math" panose="02040503050406030204" pitchFamily="18" charset="0"/>
                                </a:rPr>
                              </m:ctrlPr>
                            </m:dPr>
                            <m:e>
                              <m:sSub>
                                <m:sSubPr>
                                  <m:ctrlPr>
                                    <a:rPr lang="pt-BR" b="0" i="1" noProof="0" smtClean="0">
                                      <a:latin typeface="Cambria Math" panose="02040503050406030204" pitchFamily="18" charset="0"/>
                                    </a:rPr>
                                  </m:ctrlPr>
                                </m:sSubPr>
                                <m:e>
                                  <m:r>
                                    <a:rPr lang="pt-BR" b="0" i="1" noProof="0" smtClean="0">
                                      <a:latin typeface="Cambria Math" panose="02040503050406030204" pitchFamily="18" charset="0"/>
                                    </a:rPr>
                                    <m:t>𝑛</m:t>
                                  </m:r>
                                </m:e>
                                <m:sub>
                                  <m:r>
                                    <m:rPr>
                                      <m:sty m:val="p"/>
                                    </m:rPr>
                                    <a:rPr lang="pt-BR" b="0" i="0" noProof="0" smtClean="0">
                                      <a:latin typeface="Cambria Math" panose="02040503050406030204" pitchFamily="18" charset="0"/>
                                    </a:rPr>
                                    <m:t>random</m:t>
                                  </m:r>
                                </m:sub>
                              </m:sSub>
                            </m:e>
                          </m:d>
                          <m:r>
                            <a:rPr lang="pt-BR" i="1" noProof="0">
                              <a:latin typeface="Cambria Math" panose="02040503050406030204" pitchFamily="18" charset="0"/>
                            </a:rPr>
                            <m:t>−</m:t>
                          </m:r>
                          <m:acc>
                            <m:accPr>
                              <m:chr m:val="̂"/>
                              <m:ctrlPr>
                                <a:rPr lang="pt-BR" i="1" noProof="0">
                                  <a:latin typeface="Cambria Math" panose="02040503050406030204" pitchFamily="18" charset="0"/>
                                </a:rPr>
                              </m:ctrlPr>
                            </m:accPr>
                            <m:e>
                              <m:r>
                                <a:rPr lang="pt-BR" i="1" noProof="0">
                                  <a:latin typeface="Cambria Math" panose="02040503050406030204" pitchFamily="18" charset="0"/>
                                </a:rPr>
                                <m:t>𝑦</m:t>
                              </m:r>
                            </m:e>
                          </m:acc>
                          <m:d>
                            <m:dPr>
                              <m:ctrlPr>
                                <a:rPr lang="pt-BR" i="1" noProof="0">
                                  <a:latin typeface="Cambria Math" panose="02040503050406030204" pitchFamily="18" charset="0"/>
                                </a:rPr>
                              </m:ctrlPr>
                            </m:dPr>
                            <m:e>
                              <m:sSub>
                                <m:sSubPr>
                                  <m:ctrlPr>
                                    <a:rPr lang="pt-BR" i="1" noProof="0">
                                      <a:latin typeface="Cambria Math" panose="02040503050406030204" pitchFamily="18" charset="0"/>
                                    </a:rPr>
                                  </m:ctrlPr>
                                </m:sSubPr>
                                <m:e>
                                  <m:r>
                                    <a:rPr lang="pt-BR" i="1" noProof="0">
                                      <a:latin typeface="Cambria Math" panose="02040503050406030204" pitchFamily="18" charset="0"/>
                                    </a:rPr>
                                    <m:t>𝑛</m:t>
                                  </m:r>
                                </m:e>
                                <m:sub>
                                  <m:r>
                                    <m:rPr>
                                      <m:sty m:val="p"/>
                                    </m:rPr>
                                    <a:rPr lang="pt-BR" noProof="0">
                                      <a:latin typeface="Cambria Math" panose="02040503050406030204" pitchFamily="18" charset="0"/>
                                    </a:rPr>
                                    <m:t>random</m:t>
                                  </m:r>
                                </m:sub>
                              </m:sSub>
                            </m:e>
                          </m:d>
                        </m:e>
                      </m:d>
                      <m:r>
                        <a:rPr lang="pt-BR" b="1" i="1" noProof="0">
                          <a:latin typeface="Cambria Math" panose="02040503050406030204" pitchFamily="18" charset="0"/>
                        </a:rPr>
                        <m:t>𝒙</m:t>
                      </m:r>
                      <m:r>
                        <a:rPr lang="pt-BR" i="1" noProof="0">
                          <a:latin typeface="Cambria Math" panose="02040503050406030204" pitchFamily="18" charset="0"/>
                        </a:rPr>
                        <m:t>(</m:t>
                      </m:r>
                      <m:sSub>
                        <m:sSubPr>
                          <m:ctrlPr>
                            <a:rPr lang="pt-BR" i="1" noProof="0">
                              <a:latin typeface="Cambria Math" panose="02040503050406030204" pitchFamily="18" charset="0"/>
                            </a:rPr>
                          </m:ctrlPr>
                        </m:sSubPr>
                        <m:e>
                          <m:r>
                            <a:rPr lang="pt-BR" i="1" noProof="0">
                              <a:latin typeface="Cambria Math" panose="02040503050406030204" pitchFamily="18" charset="0"/>
                            </a:rPr>
                            <m:t>𝑛</m:t>
                          </m:r>
                        </m:e>
                        <m:sub>
                          <m:r>
                            <m:rPr>
                              <m:sty m:val="p"/>
                            </m:rPr>
                            <a:rPr lang="pt-BR" noProof="0">
                              <a:latin typeface="Cambria Math" panose="02040503050406030204" pitchFamily="18" charset="0"/>
                            </a:rPr>
                            <m:t>random</m:t>
                          </m:r>
                        </m:sub>
                      </m:sSub>
                      <m:r>
                        <a:rPr lang="pt-BR" i="1" noProof="0">
                          <a:latin typeface="Cambria Math" panose="02040503050406030204" pitchFamily="18" charset="0"/>
                        </a:rPr>
                        <m:t>)</m:t>
                      </m:r>
                      <m:r>
                        <a:rPr lang="pt-BR" b="0" i="0" noProof="0" smtClean="0">
                          <a:latin typeface="Cambria Math" panose="02040503050406030204" pitchFamily="18" charset="0"/>
                        </a:rPr>
                        <m:t>.</m:t>
                      </m:r>
                    </m:oMath>
                  </m:oMathPara>
                </a14:m>
                <a:endParaRPr lang="pt-BR" b="0" i="0" noProof="0" dirty="0"/>
              </a:p>
              <a:p>
                <a:pPr marL="0" indent="0">
                  <a:buNone/>
                </a:pPr>
                <a:endParaRPr lang="pt-BR" sz="100" b="0" i="0" noProof="0" dirty="0"/>
              </a:p>
              <a:p>
                <a:r>
                  <a:rPr lang="pt-BR" noProof="0" dirty="0"/>
                  <a:t>Utiliza </a:t>
                </a:r>
                <a:r>
                  <a:rPr lang="pt-BR" b="1" noProof="0" dirty="0">
                    <a:solidFill>
                      <a:srgbClr val="00B050"/>
                    </a:solidFill>
                  </a:rPr>
                  <a:t>apenas uma amostra</a:t>
                </a:r>
                <a:r>
                  <a:rPr lang="pt-BR" noProof="0" dirty="0"/>
                  <a:t> de treinamento (</a:t>
                </a:r>
                <a14:m>
                  <m:oMath xmlns:m="http://schemas.openxmlformats.org/officeDocument/2006/math">
                    <m:r>
                      <m:rPr>
                        <m:sty m:val="p"/>
                      </m:rPr>
                      <a:rPr lang="pt-BR" noProof="0">
                        <a:latin typeface="Cambria Math" panose="02040503050406030204" pitchFamily="18" charset="0"/>
                      </a:rPr>
                      <m:t>M</m:t>
                    </m:r>
                    <m:r>
                      <a:rPr lang="pt-BR" noProof="0">
                        <a:latin typeface="Cambria Math" panose="02040503050406030204" pitchFamily="18" charset="0"/>
                      </a:rPr>
                      <m:t>=1</m:t>
                    </m:r>
                  </m:oMath>
                </a14:m>
                <a:r>
                  <a:rPr lang="pt-BR" noProof="0" dirty="0"/>
                  <a:t>) para calcular uma </a:t>
                </a:r>
                <a:r>
                  <a:rPr lang="pt-BR" b="1" noProof="0" dirty="0">
                    <a:solidFill>
                      <a:srgbClr val="00B050"/>
                    </a:solidFill>
                  </a:rPr>
                  <a:t>estimativa </a:t>
                </a:r>
                <a:r>
                  <a:rPr lang="pt-BR" b="1" noProof="0" dirty="0">
                    <a:solidFill>
                      <a:srgbClr val="7030A0"/>
                    </a:solidFill>
                  </a:rPr>
                  <a:t>estocástica</a:t>
                </a:r>
                <a:r>
                  <a:rPr lang="pt-BR" b="1" noProof="0" dirty="0">
                    <a:solidFill>
                      <a:srgbClr val="00B050"/>
                    </a:solidFill>
                  </a:rPr>
                  <a:t> do gradiente</a:t>
                </a:r>
                <a:r>
                  <a:rPr lang="pt-BR" noProof="0" dirty="0"/>
                  <a:t>.</a:t>
                </a:r>
              </a:p>
              <a:p>
                <a:pPr lvl="1">
                  <a:buFont typeface="Wingdings" panose="05000000000000000000" pitchFamily="2" charset="2"/>
                  <a:buChar char="§"/>
                </a:pPr>
                <a:r>
                  <a:rPr lang="pt-BR" b="1" noProof="0" dirty="0">
                    <a:solidFill>
                      <a:srgbClr val="7030A0"/>
                    </a:solidFill>
                  </a:rPr>
                  <a:t>Estocástica</a:t>
                </a:r>
                <a:r>
                  <a:rPr lang="pt-BR" noProof="0" dirty="0"/>
                  <a:t>: a cada iteração, toma-se uma amostra </a:t>
                </a:r>
                <a:r>
                  <a:rPr lang="pt-BR" b="1" noProof="0" dirty="0">
                    <a:solidFill>
                      <a:srgbClr val="00B050"/>
                    </a:solidFill>
                  </a:rPr>
                  <a:t>aleatória</a:t>
                </a:r>
                <a:r>
                  <a:rPr lang="pt-BR" noProof="0" dirty="0"/>
                  <a:t> do conjunto para atualizar </a:t>
                </a:r>
                <a14:m>
                  <m:oMath xmlns:m="http://schemas.openxmlformats.org/officeDocument/2006/math">
                    <m:r>
                      <a:rPr lang="pt-BR" b="1" i="1" noProof="0">
                        <a:latin typeface="Cambria Math" panose="02040503050406030204" pitchFamily="18" charset="0"/>
                      </a:rPr>
                      <m:t>𝒂</m:t>
                    </m:r>
                  </m:oMath>
                </a14:m>
                <a:r>
                  <a:rPr lang="pt-BR" noProof="0" dirty="0"/>
                  <a:t>.</a:t>
                </a:r>
              </a:p>
              <a:p>
                <a:pPr lvl="1">
                  <a:buFont typeface="Wingdings" panose="05000000000000000000" pitchFamily="2" charset="2"/>
                  <a:buChar char="§"/>
                </a:pPr>
                <a:r>
                  <a:rPr lang="pt-BR" dirty="0"/>
                  <a:t>Por usa apenas uma amostra, a </a:t>
                </a:r>
                <a:r>
                  <a:rPr lang="pt-BR" b="1" dirty="0">
                    <a:solidFill>
                      <a:schemeClr val="accent2"/>
                    </a:solidFill>
                  </a:rPr>
                  <a:t>estimativa do gradiente pode apontar para direções diferentes</a:t>
                </a:r>
                <a:r>
                  <a:rPr lang="pt-BR" dirty="0"/>
                  <a:t> a cada atualização.</a:t>
                </a:r>
                <a:endParaRPr lang="pt-BR" noProof="0" dirty="0"/>
              </a:p>
              <a:p>
                <a:r>
                  <a:rPr lang="pt-BR" noProof="0" dirty="0"/>
                  <a:t>Quando os </a:t>
                </a:r>
                <a:r>
                  <a:rPr lang="pt-BR" b="1" noProof="0" dirty="0">
                    <a:solidFill>
                      <a:srgbClr val="00B050"/>
                    </a:solidFill>
                  </a:rPr>
                  <a:t>d</a:t>
                </a:r>
                <a:r>
                  <a:rPr lang="pt-BR" b="1" noProof="0" dirty="0">
                    <a:solidFill>
                      <a:srgbClr val="00B050"/>
                    </a:solidFill>
                    <a:effectLst/>
                  </a:rPr>
                  <a:t>ados de treinamento estão </a:t>
                </a:r>
                <a:r>
                  <a:rPr lang="pt-BR" b="1" noProof="0" dirty="0">
                    <a:solidFill>
                      <a:schemeClr val="accent2"/>
                    </a:solidFill>
                    <a:effectLst/>
                  </a:rPr>
                  <a:t>contaminados com ruído</a:t>
                </a:r>
                <a:r>
                  <a:rPr lang="pt-BR" b="0" noProof="0" dirty="0">
                    <a:effectLst/>
                  </a:rPr>
                  <a:t>, a</a:t>
                </a:r>
                <a:r>
                  <a:rPr lang="pt-BR" noProof="0" dirty="0"/>
                  <a:t> </a:t>
                </a:r>
                <a:r>
                  <a:rPr lang="pt-BR" b="1" noProof="0" dirty="0">
                    <a:solidFill>
                      <a:srgbClr val="00B050"/>
                    </a:solidFill>
                  </a:rPr>
                  <a:t>estimativa</a:t>
                </a:r>
                <a:r>
                  <a:rPr lang="pt-BR" noProof="0" dirty="0"/>
                  <a:t> do gradiente pode apresentar </a:t>
                </a:r>
                <a:r>
                  <a:rPr lang="pt-BR" b="1" noProof="0" dirty="0">
                    <a:solidFill>
                      <a:srgbClr val="00B050"/>
                    </a:solidFill>
                  </a:rPr>
                  <a:t>maior variância</a:t>
                </a:r>
                <a:r>
                  <a:rPr lang="pt-BR" noProof="0" dirty="0"/>
                  <a:t>, tornando a </a:t>
                </a:r>
                <a:r>
                  <a:rPr lang="pt-BR" b="1" noProof="0" dirty="0">
                    <a:solidFill>
                      <a:srgbClr val="7030A0"/>
                    </a:solidFill>
                  </a:rPr>
                  <a:t>trajetória de otimização mais oscilatória</a:t>
                </a:r>
                <a:r>
                  <a:rPr lang="pt-BR" noProof="0" dirty="0"/>
                  <a:t>.</a:t>
                </a:r>
              </a:p>
              <a:p>
                <a:pPr lvl="1">
                  <a:buFont typeface="Wingdings" panose="05000000000000000000" pitchFamily="2" charset="2"/>
                  <a:buChar char="§"/>
                </a:pPr>
                <a:r>
                  <a:rPr lang="pt-BR" noProof="0" dirty="0"/>
                  <a:t>O ruído faz com que o </a:t>
                </a:r>
                <a:r>
                  <a:rPr lang="pt-BR" b="1" noProof="0" dirty="0">
                    <a:solidFill>
                      <a:srgbClr val="0070C0"/>
                    </a:solidFill>
                  </a:rPr>
                  <a:t>gradiente oscile </a:t>
                </a:r>
                <a:r>
                  <a:rPr lang="pt-BR" noProof="0" dirty="0"/>
                  <a:t>ao redor do ponto de </a:t>
                </a:r>
                <a:r>
                  <a:rPr lang="pt-BR" dirty="0"/>
                  <a:t>mínimo, fazendo com que a </a:t>
                </a:r>
                <a:r>
                  <a:rPr lang="pt-BR" b="1" dirty="0">
                    <a:solidFill>
                      <a:schemeClr val="accent2"/>
                    </a:solidFill>
                  </a:rPr>
                  <a:t>convergência</a:t>
                </a:r>
                <a:r>
                  <a:rPr lang="pt-BR" b="1" dirty="0">
                    <a:solidFill>
                      <a:srgbClr val="00B050"/>
                    </a:solidFill>
                  </a:rPr>
                  <a:t> não seja garantida</a:t>
                </a:r>
                <a:r>
                  <a:rPr lang="pt-BR" noProof="0" dirty="0"/>
                  <a:t>.</a:t>
                </a:r>
              </a:p>
              <a:p>
                <a:r>
                  <a:rPr lang="pt-BR" noProof="0" dirty="0"/>
                  <a:t>Entretanto, é mais </a:t>
                </a:r>
                <a:r>
                  <a:rPr lang="pt-BR" b="1" noProof="0" dirty="0">
                    <a:solidFill>
                      <a:srgbClr val="00B0F0"/>
                    </a:solidFill>
                  </a:rPr>
                  <a:t>rápido e usa menos CPU e memória </a:t>
                </a:r>
                <a:r>
                  <a:rPr lang="pt-BR" noProof="0" dirty="0"/>
                  <a:t>do que o GDB.</a:t>
                </a:r>
              </a:p>
            </p:txBody>
          </p:sp>
        </mc:Choice>
        <mc:Fallback xmlns="">
          <p:sp>
            <p:nvSpPr>
              <p:cNvPr id="3" name="Espaço Reservado para Conteúdo 2">
                <a:extLst>
                  <a:ext uri="{FF2B5EF4-FFF2-40B4-BE49-F238E27FC236}">
                    <a16:creationId xmlns:a16="http://schemas.microsoft.com/office/drawing/2014/main" xmlns:a14="http://schemas.microsoft.com/office/drawing/2010/main" xmlns="" id="{9E7C9F4C-5009-7EC3-F599-AD0E3603A4A3}"/>
                  </a:ext>
                </a:extLst>
              </p:cNvPr>
              <p:cNvSpPr>
                <a:spLocks noGrp="1" noRot="1" noChangeAspect="1" noMove="1" noResize="1" noEditPoints="1" noAdjustHandles="1" noChangeArrowheads="1" noChangeShapeType="1" noTextEdit="1"/>
              </p:cNvSpPr>
              <p:nvPr>
                <p:ph idx="1"/>
              </p:nvPr>
            </p:nvSpPr>
            <p:spPr>
              <a:xfrm>
                <a:off x="838199" y="1825624"/>
                <a:ext cx="11353801" cy="5032375"/>
              </a:xfrm>
              <a:blipFill rotWithShape="0">
                <a:blip r:embed="rId3"/>
                <a:stretch>
                  <a:fillRect l="-913" t="-1574" r="-1235" b="-2785"/>
                </a:stretch>
              </a:blipFill>
            </p:spPr>
            <p:txBody>
              <a:bodyPr/>
              <a:lstStyle/>
              <a:p>
                <a:r>
                  <a:rPr lang="pt-BR">
                    <a:noFill/>
                  </a:rPr>
                  <a:t> </a:t>
                </a:r>
              </a:p>
            </p:txBody>
          </p:sp>
        </mc:Fallback>
      </mc:AlternateContent>
    </p:spTree>
    <p:extLst>
      <p:ext uri="{BB962C8B-B14F-4D97-AF65-F5344CB8AC3E}">
        <p14:creationId xmlns:p14="http://schemas.microsoft.com/office/powerpoint/2010/main" val="260128416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021E05-ABDD-6B49-2AC1-594A009F1D15}"/>
              </a:ext>
            </a:extLst>
          </p:cNvPr>
          <p:cNvSpPr>
            <a:spLocks noGrp="1"/>
          </p:cNvSpPr>
          <p:nvPr>
            <p:ph type="title"/>
          </p:nvPr>
        </p:nvSpPr>
        <p:spPr/>
        <p:txBody>
          <a:bodyPr/>
          <a:lstStyle/>
          <a:p>
            <a:r>
              <a:rPr lang="pt-BR" dirty="0"/>
              <a:t>Gradiente descendente em mini-lotes</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1CB9A1FC-3F15-B216-8074-C6DE6730400A}"/>
                  </a:ext>
                </a:extLst>
              </p:cNvPr>
              <p:cNvSpPr>
                <a:spLocks noGrp="1"/>
              </p:cNvSpPr>
              <p:nvPr>
                <p:ph idx="1"/>
              </p:nvPr>
            </p:nvSpPr>
            <p:spPr>
              <a:xfrm>
                <a:off x="838200" y="1690688"/>
                <a:ext cx="11353800" cy="5167311"/>
              </a:xfrm>
            </p:spPr>
            <p:txBody>
              <a:bodyPr>
                <a:normAutofit/>
              </a:bodyPr>
              <a:lstStyle/>
              <a:p>
                <a:pPr marL="0" indent="0">
                  <a:buNone/>
                </a:pPr>
                <a14:m>
                  <m:oMathPara xmlns:m="http://schemas.openxmlformats.org/officeDocument/2006/math">
                    <m:oMath>
                      <m:r>
                        <a:rPr lang="pt-BR" b="1" i="1" smtClean="0">
                          <a:latin typeface="Cambria Math" panose="02040503050406030204" pitchFamily="18" charset="0"/>
                        </a:rPr>
                        <m:t>𝒂</m:t>
                      </m:r>
                      <m:r>
                        <a:rPr lang="pt-BR" b="1" i="1" smtClean="0">
                          <a:latin typeface="Cambria Math" panose="02040503050406030204" pitchFamily="18" charset="0"/>
                        </a:rPr>
                        <m:t>=</m:t>
                      </m:r>
                      <m:r>
                        <a:rPr lang="pt-BR" b="1" i="1">
                          <a:latin typeface="Cambria Math" panose="02040503050406030204" pitchFamily="18" charset="0"/>
                        </a:rPr>
                        <m:t>𝒂</m:t>
                      </m:r>
                      <m:r>
                        <a:rPr lang="pt-BR" b="0" i="1" smtClean="0">
                          <a:latin typeface="Cambria Math" panose="02040503050406030204" pitchFamily="18" charset="0"/>
                        </a:rPr>
                        <m:t>+</m:t>
                      </m:r>
                      <m:r>
                        <a:rPr lang="pt-BR" i="1">
                          <a:latin typeface="Cambria Math" panose="02040503050406030204" pitchFamily="18" charset="0"/>
                          <a:ea typeface="Cambria Math" panose="02040503050406030204" pitchFamily="18" charset="0"/>
                        </a:rPr>
                        <m:t>𝛼</m:t>
                      </m:r>
                      <m:f>
                        <m:fPr>
                          <m:ctrlPr>
                            <a:rPr lang="pt-BR" b="0" i="1" smtClean="0">
                              <a:latin typeface="Cambria Math" panose="02040503050406030204" pitchFamily="18" charset="0"/>
                            </a:rPr>
                          </m:ctrlPr>
                        </m:fPr>
                        <m:num>
                          <m:r>
                            <a:rPr lang="pt-BR" b="0" i="1" smtClean="0">
                              <a:latin typeface="Cambria Math" panose="02040503050406030204" pitchFamily="18" charset="0"/>
                            </a:rPr>
                            <m:t>2</m:t>
                          </m:r>
                        </m:num>
                        <m:den>
                          <m:r>
                            <a:rPr lang="pt-BR" b="0" i="1" smtClean="0">
                              <a:latin typeface="Cambria Math" panose="02040503050406030204" pitchFamily="18" charset="0"/>
                            </a:rPr>
                            <m:t>𝑀𝐵</m:t>
                          </m:r>
                        </m:den>
                      </m:f>
                      <m:nary>
                        <m:naryPr>
                          <m:chr m:val="∑"/>
                          <m:ctrlPr>
                            <a:rPr lang="pt-BR" i="1">
                              <a:latin typeface="Cambria Math" panose="02040503050406030204" pitchFamily="18" charset="0"/>
                            </a:rPr>
                          </m:ctrlPr>
                        </m:naryPr>
                        <m:sub>
                          <m:r>
                            <a:rPr lang="pt-BR" i="1">
                              <a:latin typeface="Cambria Math" panose="02040503050406030204" pitchFamily="18" charset="0"/>
                            </a:rPr>
                            <m:t>𝑛</m:t>
                          </m:r>
                          <m:r>
                            <a:rPr lang="pt-BR" i="1">
                              <a:latin typeface="Cambria Math" panose="02040503050406030204" pitchFamily="18" charset="0"/>
                            </a:rPr>
                            <m:t>=0</m:t>
                          </m:r>
                        </m:sub>
                        <m:sup>
                          <m:r>
                            <a:rPr lang="pt-BR" b="0" i="1" smtClean="0">
                              <a:latin typeface="Cambria Math" panose="02040503050406030204" pitchFamily="18" charset="0"/>
                            </a:rPr>
                            <m:t>𝑀𝐵</m:t>
                          </m:r>
                          <m:r>
                            <a:rPr lang="pt-BR" i="1">
                              <a:latin typeface="Cambria Math" panose="02040503050406030204" pitchFamily="18" charset="0"/>
                            </a:rPr>
                            <m:t>−1</m:t>
                          </m:r>
                        </m:sup>
                        <m:e>
                          <m:d>
                            <m:dPr>
                              <m:begChr m:val="["/>
                              <m:endChr m:val="]"/>
                              <m:ctrlPr>
                                <a:rPr lang="pt-BR" i="1">
                                  <a:latin typeface="Cambria Math" panose="02040503050406030204" pitchFamily="18" charset="0"/>
                                </a:rPr>
                              </m:ctrlPr>
                            </m:dPr>
                            <m:e>
                              <m: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m:t>
                              </m:r>
                              <m:acc>
                                <m:accPr>
                                  <m:chr m:val="̂"/>
                                  <m:ctrlPr>
                                    <a:rPr lang="pt-BR" i="1">
                                      <a:latin typeface="Cambria Math" panose="02040503050406030204" pitchFamily="18" charset="0"/>
                                    </a:rPr>
                                  </m:ctrlPr>
                                </m:accPr>
                                <m:e>
                                  <m:r>
                                    <a:rPr lang="pt-BR" i="1">
                                      <a:latin typeface="Cambria Math" panose="02040503050406030204" pitchFamily="18" charset="0"/>
                                    </a:rPr>
                                    <m:t>𝑦</m:t>
                                  </m:r>
                                </m:e>
                              </m:acc>
                              <m:d>
                                <m:dPr>
                                  <m:ctrlPr>
                                    <a:rPr lang="pt-BR" i="1">
                                      <a:latin typeface="Cambria Math" panose="02040503050406030204" pitchFamily="18" charset="0"/>
                                    </a:rPr>
                                  </m:ctrlPr>
                                </m:dPr>
                                <m:e>
                                  <m:r>
                                    <a:rPr lang="pt-BR" i="1">
                                      <a:latin typeface="Cambria Math" panose="02040503050406030204" pitchFamily="18" charset="0"/>
                                    </a:rPr>
                                    <m:t>𝑛</m:t>
                                  </m:r>
                                </m:e>
                              </m:d>
                            </m:e>
                          </m:d>
                          <m:r>
                            <a:rPr lang="pt-BR" b="1" i="1">
                              <a:latin typeface="Cambria Math" panose="02040503050406030204" pitchFamily="18" charset="0"/>
                            </a:rPr>
                            <m:t>𝒙</m:t>
                          </m:r>
                          <m:r>
                            <a:rPr lang="pt-BR" i="1">
                              <a:latin typeface="Cambria Math" panose="02040503050406030204" pitchFamily="18" charset="0"/>
                            </a:rPr>
                            <m:t>(</m:t>
                          </m:r>
                          <m:r>
                            <a:rPr lang="pt-BR" i="1">
                              <a:latin typeface="Cambria Math" panose="02040503050406030204" pitchFamily="18" charset="0"/>
                            </a:rPr>
                            <m:t>𝑛</m:t>
                          </m:r>
                          <m:r>
                            <a:rPr lang="pt-BR" i="1">
                              <a:latin typeface="Cambria Math" panose="02040503050406030204" pitchFamily="18" charset="0"/>
                            </a:rPr>
                            <m:t>)</m:t>
                          </m:r>
                        </m:e>
                      </m:nary>
                      <m:r>
                        <a:rPr lang="pt-BR" b="0" i="0" smtClean="0">
                          <a:latin typeface="Cambria Math" panose="02040503050406030204" pitchFamily="18" charset="0"/>
                        </a:rPr>
                        <m:t>.</m:t>
                      </m:r>
                    </m:oMath>
                  </m:oMathPara>
                </a14:m>
                <a:endParaRPr lang="pt-BR" b="0" i="0" dirty="0">
                  <a:latin typeface="Cambria Math" panose="02040503050406030204" pitchFamily="18" charset="0"/>
                </a:endParaRPr>
              </a:p>
              <a:p>
                <a:r>
                  <a:rPr lang="pt-BR" dirty="0"/>
                  <a:t>Utiliza um </a:t>
                </a:r>
                <a:r>
                  <a:rPr lang="pt-BR" b="1" dirty="0">
                    <a:solidFill>
                      <a:srgbClr val="00B050"/>
                    </a:solidFill>
                  </a:rPr>
                  <a:t>subconjunto de amostras</a:t>
                </a:r>
                <a:r>
                  <a:rPr lang="pt-BR" dirty="0"/>
                  <a:t> do conjunto de treinamento (</a:t>
                </a:r>
                <a14:m>
                  <m:oMath xmlns:m="http://schemas.openxmlformats.org/officeDocument/2006/math">
                    <m:r>
                      <a:rPr lang="pt-BR" b="0" i="1" smtClean="0">
                        <a:latin typeface="Cambria Math" panose="02040503050406030204" pitchFamily="18" charset="0"/>
                      </a:rPr>
                      <m:t>𝑀</m:t>
                    </m:r>
                    <m:r>
                      <a:rPr lang="pt-BR" b="0" i="1" smtClean="0">
                        <a:latin typeface="Cambria Math" panose="02040503050406030204" pitchFamily="18" charset="0"/>
                      </a:rPr>
                      <m:t>=</m:t>
                    </m:r>
                    <m:r>
                      <a:rPr lang="pt-BR" b="0" i="1" smtClean="0">
                        <a:latin typeface="Cambria Math" panose="02040503050406030204" pitchFamily="18" charset="0"/>
                      </a:rPr>
                      <m:t>𝑀𝐵</m:t>
                    </m:r>
                  </m:oMath>
                </a14:m>
                <a:r>
                  <a:rPr lang="pt-BR" dirty="0"/>
                  <a:t>), chamado de </a:t>
                </a:r>
                <a:r>
                  <a:rPr lang="pt-BR" i="1" dirty="0"/>
                  <a:t>mini-batch</a:t>
                </a:r>
                <a:r>
                  <a:rPr lang="pt-BR" dirty="0"/>
                  <a:t> </a:t>
                </a:r>
                <a14:m>
                  <m:oMath xmlns:m="http://schemas.openxmlformats.org/officeDocument/2006/math">
                    <m:d>
                      <m:dPr>
                        <m:ctrlPr>
                          <a:rPr lang="pt-BR" i="1">
                            <a:latin typeface="Cambria Math" panose="02040503050406030204" pitchFamily="18" charset="0"/>
                          </a:rPr>
                        </m:ctrlPr>
                      </m:dPr>
                      <m:e>
                        <m:r>
                          <a:rPr lang="pt-BR" i="1">
                            <a:latin typeface="Cambria Math" panose="02040503050406030204" pitchFamily="18" charset="0"/>
                          </a:rPr>
                          <m:t>𝑀𝐵</m:t>
                        </m:r>
                      </m:e>
                    </m:d>
                  </m:oMath>
                </a14:m>
                <a:r>
                  <a:rPr lang="pt-BR" dirty="0"/>
                  <a:t>, para o cálculo do gradiente</a:t>
                </a:r>
                <a:r>
                  <a:rPr lang="nl-BE" dirty="0"/>
                  <a:t>.</a:t>
                </a:r>
              </a:p>
              <a:p>
                <a:r>
                  <a:rPr lang="nl-BE" dirty="0"/>
                  <a:t>Em geral, por usar um </a:t>
                </a:r>
                <a:r>
                  <a:rPr lang="nl-BE" b="1" dirty="0">
                    <a:solidFill>
                      <a:srgbClr val="00B050"/>
                    </a:solidFill>
                  </a:rPr>
                  <a:t>subconjunto</a:t>
                </a:r>
                <a:r>
                  <a:rPr lang="nl-BE" dirty="0"/>
                  <a:t> de amostras, </a:t>
                </a:r>
                <a14:m>
                  <m:oMath xmlns:m="http://schemas.openxmlformats.org/officeDocument/2006/math">
                    <m:r>
                      <a:rPr lang="pt-BR" b="0" i="0" smtClean="0">
                        <a:latin typeface="Cambria Math" panose="02040503050406030204" pitchFamily="18" charset="0"/>
                      </a:rPr>
                      <m:t>1&lt;</m:t>
                    </m:r>
                    <m:r>
                      <a:rPr lang="pt-BR" i="1">
                        <a:latin typeface="Cambria Math" panose="02040503050406030204" pitchFamily="18" charset="0"/>
                      </a:rPr>
                      <m:t>𝑀𝐵</m:t>
                    </m:r>
                    <m:r>
                      <a:rPr lang="pt-BR" b="0" i="0" smtClean="0">
                        <a:latin typeface="Cambria Math" panose="02040503050406030204" pitchFamily="18" charset="0"/>
                      </a:rPr>
                      <m:t>&lt;</m:t>
                    </m:r>
                    <m:r>
                      <a:rPr lang="pt-BR" b="0" i="1" smtClean="0">
                        <a:latin typeface="Cambria Math" panose="02040503050406030204" pitchFamily="18" charset="0"/>
                      </a:rPr>
                      <m:t>𝑁</m:t>
                    </m:r>
                  </m:oMath>
                </a14:m>
                <a:r>
                  <a:rPr lang="pt-BR" dirty="0"/>
                  <a:t>, é mais rápido que o GDB e mais preciso e estável do que o GDE. </a:t>
                </a:r>
              </a:p>
              <a:p>
                <a:r>
                  <a:rPr lang="pt-BR" dirty="0"/>
                  <a:t>Devido a </a:t>
                </a:r>
                <a14:m>
                  <m:oMath xmlns:m="http://schemas.openxmlformats.org/officeDocument/2006/math">
                    <m:r>
                      <a:rPr lang="pt-BR" b="0" i="1" smtClean="0">
                        <a:latin typeface="Cambria Math" panose="02040503050406030204" pitchFamily="18" charset="0"/>
                      </a:rPr>
                      <m:t>𝑀𝐵</m:t>
                    </m:r>
                  </m:oMath>
                </a14:m>
                <a:r>
                  <a:rPr lang="pt-BR" dirty="0"/>
                  <a:t> ser variável, essa versão é vista como uma </a:t>
                </a:r>
                <a:r>
                  <a:rPr lang="pt-BR" b="1" dirty="0">
                    <a:solidFill>
                      <a:srgbClr val="00B050"/>
                    </a:solidFill>
                  </a:rPr>
                  <a:t>generalização</a:t>
                </a:r>
                <a:r>
                  <a:rPr lang="pt-BR" dirty="0"/>
                  <a:t> das duas versões anteriores, pois </a:t>
                </a:r>
                <a14:m>
                  <m:oMath xmlns:m="http://schemas.openxmlformats.org/officeDocument/2006/math">
                    <m:r>
                      <a:rPr lang="pt-BR" i="1">
                        <a:latin typeface="Cambria Math" panose="02040503050406030204" pitchFamily="18" charset="0"/>
                      </a:rPr>
                      <m:t>𝑀𝐵</m:t>
                    </m:r>
                  </m:oMath>
                </a14:m>
                <a:r>
                  <a:rPr lang="pt-BR" dirty="0"/>
                  <a:t> pode ser feito igual a 1 ou </a:t>
                </a:r>
                <a14:m>
                  <m:oMath xmlns:m="http://schemas.openxmlformats.org/officeDocument/2006/math">
                    <m:r>
                      <a:rPr lang="pt-BR" b="0" i="1" smtClean="0">
                        <a:latin typeface="Cambria Math" panose="02040503050406030204" pitchFamily="18" charset="0"/>
                      </a:rPr>
                      <m:t>𝑁</m:t>
                    </m:r>
                  </m:oMath>
                </a14:m>
                <a:r>
                  <a:rPr lang="pt-BR" dirty="0"/>
                  <a:t>.</a:t>
                </a:r>
              </a:p>
              <a:p>
                <a:r>
                  <a:rPr lang="pt-BR" dirty="0"/>
                  <a:t>Por poder ter sua complexidade configurada, é a </a:t>
                </a:r>
                <a:r>
                  <a:rPr lang="pt-BR" b="1" dirty="0">
                    <a:solidFill>
                      <a:srgbClr val="00B050"/>
                    </a:solidFill>
                  </a:rPr>
                  <a:t>versão mais usada no treinamento de redes neurais</a:t>
                </a:r>
                <a:r>
                  <a:rPr lang="pt-BR" dirty="0"/>
                  <a:t>.</a:t>
                </a:r>
              </a:p>
            </p:txBody>
          </p:sp>
        </mc:Choice>
        <mc:Fallback xmlns="">
          <p:sp>
            <p:nvSpPr>
              <p:cNvPr id="3" name="Espaço Reservado para Conteúdo 2">
                <a:extLst>
                  <a:ext uri="{FF2B5EF4-FFF2-40B4-BE49-F238E27FC236}">
                    <a16:creationId xmlns:a16="http://schemas.microsoft.com/office/drawing/2014/main" xmlns:a14="http://schemas.microsoft.com/office/drawing/2010/main" xmlns="" id="{1CB9A1FC-3F15-B216-8074-C6DE6730400A}"/>
                  </a:ext>
                </a:extLst>
              </p:cNvPr>
              <p:cNvSpPr>
                <a:spLocks noGrp="1" noRot="1" noChangeAspect="1" noMove="1" noResize="1" noEditPoints="1" noAdjustHandles="1" noChangeArrowheads="1" noChangeShapeType="1" noTextEdit="1"/>
              </p:cNvSpPr>
              <p:nvPr>
                <p:ph idx="1"/>
              </p:nvPr>
            </p:nvSpPr>
            <p:spPr>
              <a:xfrm>
                <a:off x="838200" y="1690688"/>
                <a:ext cx="11353800" cy="5167311"/>
              </a:xfrm>
              <a:blipFill rotWithShape="0">
                <a:blip r:embed="rId3"/>
                <a:stretch>
                  <a:fillRect l="-967"/>
                </a:stretch>
              </a:blipFill>
            </p:spPr>
            <p:txBody>
              <a:bodyPr/>
              <a:lstStyle/>
              <a:p>
                <a:r>
                  <a:rPr lang="pt-BR">
                    <a:noFill/>
                  </a:rPr>
                  <a:t> </a:t>
                </a:r>
              </a:p>
            </p:txBody>
          </p:sp>
        </mc:Fallback>
      </mc:AlternateContent>
    </p:spTree>
    <p:extLst>
      <p:ext uri="{BB962C8B-B14F-4D97-AF65-F5344CB8AC3E}">
        <p14:creationId xmlns:p14="http://schemas.microsoft.com/office/powerpoint/2010/main" val="291844747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DF75D-E25D-0C86-AB76-F3F339521856}"/>
            </a:ext>
          </a:extLst>
        </p:cNvPr>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148CF2F8-77D4-DB7A-0B9A-22DD9AEC6352}"/>
              </a:ext>
            </a:extLst>
          </p:cNvPr>
          <p:cNvSpPr>
            <a:spLocks noGrp="1"/>
          </p:cNvSpPr>
          <p:nvPr>
            <p:ph idx="1"/>
          </p:nvPr>
        </p:nvSpPr>
        <p:spPr>
          <a:xfrm>
            <a:off x="838200" y="1858433"/>
            <a:ext cx="10515600" cy="3141133"/>
          </a:xfrm>
        </p:spPr>
        <p:txBody>
          <a:bodyPr>
            <a:normAutofit/>
          </a:bodyPr>
          <a:lstStyle/>
          <a:p>
            <a:pPr marL="0" indent="0" algn="ctr">
              <a:buNone/>
            </a:pPr>
            <a:r>
              <a:rPr lang="pt-BR" sz="5400" dirty="0"/>
              <a:t>Já sabemos como encontrar os pesos de um dado polinômio, mas como descobrimos a </a:t>
            </a:r>
            <a:r>
              <a:rPr lang="pt-BR" sz="5400" b="1" dirty="0"/>
              <a:t>complexidade</a:t>
            </a:r>
            <a:r>
              <a:rPr lang="pt-BR" sz="5400" dirty="0"/>
              <a:t> ideal, i.e., o grau do polinômio?</a:t>
            </a:r>
            <a:endParaRPr lang="en-US" sz="5400" dirty="0"/>
          </a:p>
        </p:txBody>
      </p:sp>
    </p:spTree>
    <p:extLst>
      <p:ext uri="{BB962C8B-B14F-4D97-AF65-F5344CB8AC3E}">
        <p14:creationId xmlns:p14="http://schemas.microsoft.com/office/powerpoint/2010/main" val="263210114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1318A-9766-41A3-777E-1776857875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CCA37D-FCD4-93F5-F6BF-33F52FA5108E}"/>
              </a:ext>
            </a:extLst>
          </p:cNvPr>
          <p:cNvSpPr>
            <a:spLocks noGrp="1"/>
          </p:cNvSpPr>
          <p:nvPr>
            <p:ph type="title"/>
          </p:nvPr>
        </p:nvSpPr>
        <p:spPr/>
        <p:txBody>
          <a:bodyPr/>
          <a:lstStyle/>
          <a:p>
            <a:r>
              <a:rPr lang="pt-BR" dirty="0"/>
              <a:t>Validação cruzada</a:t>
            </a:r>
            <a:endParaRPr lang="en-US" dirty="0"/>
          </a:p>
        </p:txBody>
      </p:sp>
      <p:sp>
        <p:nvSpPr>
          <p:cNvPr id="3" name="Content Placeholder 2">
            <a:extLst>
              <a:ext uri="{FF2B5EF4-FFF2-40B4-BE49-F238E27FC236}">
                <a16:creationId xmlns:a16="http://schemas.microsoft.com/office/drawing/2014/main" id="{D3705B0B-B850-E121-FA69-691054FB2744}"/>
              </a:ext>
            </a:extLst>
          </p:cNvPr>
          <p:cNvSpPr>
            <a:spLocks noGrp="1"/>
          </p:cNvSpPr>
          <p:nvPr>
            <p:ph idx="1"/>
          </p:nvPr>
        </p:nvSpPr>
        <p:spPr>
          <a:xfrm>
            <a:off x="838199" y="1825625"/>
            <a:ext cx="11353801" cy="4351338"/>
          </a:xfrm>
        </p:spPr>
        <p:txBody>
          <a:bodyPr/>
          <a:lstStyle/>
          <a:p>
            <a:r>
              <a:rPr lang="pt-BR" dirty="0"/>
              <a:t>Usamos validação cruzada.</a:t>
            </a:r>
          </a:p>
          <a:p>
            <a:r>
              <a:rPr lang="pt-BR" dirty="0"/>
              <a:t>É uma técnica usada para </a:t>
            </a:r>
            <a:r>
              <a:rPr lang="pt-BR" b="1" dirty="0">
                <a:solidFill>
                  <a:srgbClr val="00B0F0"/>
                </a:solidFill>
              </a:rPr>
              <a:t>avaliar</a:t>
            </a:r>
            <a:r>
              <a:rPr lang="pt-BR" dirty="0"/>
              <a:t> </a:t>
            </a:r>
            <a:r>
              <a:rPr lang="pt-BR" b="1" dirty="0">
                <a:solidFill>
                  <a:schemeClr val="accent2"/>
                </a:solidFill>
              </a:rPr>
              <a:t>a capacidade de generalização de um modelo</a:t>
            </a:r>
            <a:r>
              <a:rPr lang="pt-BR" dirty="0"/>
              <a:t>.</a:t>
            </a:r>
          </a:p>
          <a:p>
            <a:r>
              <a:rPr lang="pt-BR" b="1" dirty="0"/>
              <a:t>Objetivo</a:t>
            </a:r>
            <a:r>
              <a:rPr lang="pt-BR" dirty="0"/>
              <a:t>: </a:t>
            </a:r>
            <a:r>
              <a:rPr lang="pt-BR" b="1" dirty="0">
                <a:solidFill>
                  <a:srgbClr val="00B050"/>
                </a:solidFill>
              </a:rPr>
              <a:t>encontrar a complexidade </a:t>
            </a:r>
            <a:r>
              <a:rPr lang="pt-BR" dirty="0"/>
              <a:t>que faça o modelo </a:t>
            </a:r>
            <a:r>
              <a:rPr lang="pt-BR" b="1" dirty="0">
                <a:solidFill>
                  <a:srgbClr val="7030A0"/>
                </a:solidFill>
              </a:rPr>
              <a:t>generalizar da melhor maneira possível</a:t>
            </a:r>
            <a:r>
              <a:rPr lang="pt-BR" dirty="0"/>
              <a:t>.</a:t>
            </a:r>
            <a:endParaRPr lang="en-US" dirty="0"/>
          </a:p>
        </p:txBody>
      </p:sp>
    </p:spTree>
    <p:extLst>
      <p:ext uri="{BB962C8B-B14F-4D97-AF65-F5344CB8AC3E}">
        <p14:creationId xmlns:p14="http://schemas.microsoft.com/office/powerpoint/2010/main" val="295995103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905B2-EF68-9C93-5115-04CD84B5B0D0}"/>
              </a:ext>
            </a:extLst>
          </p:cNvPr>
          <p:cNvSpPr>
            <a:spLocks noGrp="1"/>
          </p:cNvSpPr>
          <p:nvPr>
            <p:ph type="title"/>
          </p:nvPr>
        </p:nvSpPr>
        <p:spPr/>
        <p:txBody>
          <a:bodyPr/>
          <a:lstStyle/>
          <a:p>
            <a:r>
              <a:rPr lang="en-US" i="1" dirty="0"/>
              <a:t>Underfitting</a:t>
            </a:r>
            <a:r>
              <a:rPr lang="en-US" dirty="0"/>
              <a:t> e </a:t>
            </a:r>
            <a:r>
              <a:rPr lang="en-US" i="1" dirty="0"/>
              <a:t>overfitting</a:t>
            </a:r>
            <a:endParaRPr lang="en-US" dirty="0"/>
          </a:p>
        </p:txBody>
      </p:sp>
      <p:sp>
        <p:nvSpPr>
          <p:cNvPr id="3" name="Content Placeholder 2">
            <a:extLst>
              <a:ext uri="{FF2B5EF4-FFF2-40B4-BE49-F238E27FC236}">
                <a16:creationId xmlns:a16="http://schemas.microsoft.com/office/drawing/2014/main" id="{8926E79E-7E8D-D875-50B2-B636DE18FB89}"/>
              </a:ext>
            </a:extLst>
          </p:cNvPr>
          <p:cNvSpPr>
            <a:spLocks noGrp="1"/>
          </p:cNvSpPr>
          <p:nvPr>
            <p:ph idx="1"/>
          </p:nvPr>
        </p:nvSpPr>
        <p:spPr>
          <a:xfrm>
            <a:off x="838200" y="1825624"/>
            <a:ext cx="11353800" cy="5032375"/>
          </a:xfrm>
        </p:spPr>
        <p:txBody>
          <a:bodyPr/>
          <a:lstStyle/>
          <a:p>
            <a:r>
              <a:rPr lang="pt-BR" dirty="0"/>
              <a:t>Antes de entendermos como a validação cruzada funciona, precisamos discutir alguns </a:t>
            </a:r>
            <a:r>
              <a:rPr lang="pt-BR" b="1" dirty="0">
                <a:solidFill>
                  <a:srgbClr val="0070C0"/>
                </a:solidFill>
              </a:rPr>
              <a:t>comportamentos</a:t>
            </a:r>
            <a:r>
              <a:rPr lang="pt-BR" dirty="0"/>
              <a:t> que encontraremos durante a busca pelo melhor modelo.</a:t>
            </a:r>
          </a:p>
          <a:p>
            <a:r>
              <a:rPr lang="pt-BR" dirty="0"/>
              <a:t>Dependendo da </a:t>
            </a:r>
            <a:r>
              <a:rPr lang="pt-BR" b="1" dirty="0">
                <a:solidFill>
                  <a:schemeClr val="accent2"/>
                </a:solidFill>
              </a:rPr>
              <a:t>complexidade</a:t>
            </a:r>
            <a:r>
              <a:rPr lang="pt-BR" dirty="0"/>
              <a:t> (ou graus de liberdade) </a:t>
            </a:r>
            <a:r>
              <a:rPr lang="pt-BR" b="1" dirty="0">
                <a:solidFill>
                  <a:schemeClr val="accent2"/>
                </a:solidFill>
              </a:rPr>
              <a:t>do modelo</a:t>
            </a:r>
            <a:r>
              <a:rPr lang="pt-BR" dirty="0"/>
              <a:t>, no caso da regressão, do grau do polinômio, podemos nos deparar com </a:t>
            </a:r>
            <a:r>
              <a:rPr lang="pt-BR" b="1" dirty="0">
                <a:solidFill>
                  <a:schemeClr val="accent2"/>
                </a:solidFill>
              </a:rPr>
              <a:t>dois comportamentos indesejados</a:t>
            </a:r>
            <a:r>
              <a:rPr lang="pt-BR" dirty="0"/>
              <a:t>:</a:t>
            </a:r>
          </a:p>
          <a:p>
            <a:pPr lvl="1">
              <a:buFont typeface="Wingdings" panose="05000000000000000000" pitchFamily="2" charset="2"/>
              <a:buChar char="§"/>
            </a:pPr>
            <a:r>
              <a:rPr lang="pt-BR" i="1" dirty="0"/>
              <a:t>Underfitting</a:t>
            </a:r>
            <a:r>
              <a:rPr lang="pt-BR" dirty="0"/>
              <a:t> (subajuste)</a:t>
            </a:r>
          </a:p>
          <a:p>
            <a:pPr lvl="1">
              <a:buFont typeface="Wingdings" panose="05000000000000000000" pitchFamily="2" charset="2"/>
              <a:buChar char="§"/>
            </a:pPr>
            <a:r>
              <a:rPr lang="pt-BR" i="1" dirty="0" err="1"/>
              <a:t>Overfitting</a:t>
            </a:r>
            <a:r>
              <a:rPr lang="pt-BR" dirty="0"/>
              <a:t> (sobreajuste)</a:t>
            </a:r>
          </a:p>
        </p:txBody>
      </p:sp>
    </p:spTree>
    <p:extLst>
      <p:ext uri="{BB962C8B-B14F-4D97-AF65-F5344CB8AC3E}">
        <p14:creationId xmlns:p14="http://schemas.microsoft.com/office/powerpoint/2010/main" val="400541624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A366E-1890-0B0C-307E-E44C08256B46}"/>
              </a:ext>
            </a:extLst>
          </p:cNvPr>
          <p:cNvSpPr>
            <a:spLocks noGrp="1"/>
          </p:cNvSpPr>
          <p:nvPr>
            <p:ph type="title"/>
          </p:nvPr>
        </p:nvSpPr>
        <p:spPr/>
        <p:txBody>
          <a:bodyPr/>
          <a:lstStyle/>
          <a:p>
            <a:r>
              <a:rPr lang="en-US" i="1" dirty="0"/>
              <a:t>Overfitting </a:t>
            </a:r>
            <a:r>
              <a:rPr lang="en-US" dirty="0"/>
              <a:t>e</a:t>
            </a:r>
            <a:r>
              <a:rPr lang="en-US" i="1" dirty="0"/>
              <a:t> underfitting</a:t>
            </a:r>
            <a:endParaRPr lang="en-US" dirty="0"/>
          </a:p>
        </p:txBody>
      </p:sp>
      <p:pic>
        <p:nvPicPr>
          <p:cNvPr id="4" name="Picture 2">
            <a:extLst>
              <a:ext uri="{FF2B5EF4-FFF2-40B4-BE49-F238E27FC236}">
                <a16:creationId xmlns:a16="http://schemas.microsoft.com/office/drawing/2014/main" id="{B909593E-E8C3-82E0-8AD7-61CB0B1B3E5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381" t="29526" r="6597" b="2754"/>
          <a:stretch>
            <a:fillRect/>
          </a:stretch>
        </p:blipFill>
        <p:spPr bwMode="auto">
          <a:xfrm>
            <a:off x="306941" y="2211173"/>
            <a:ext cx="7663016" cy="351229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53E6552-0BB2-B87E-2D0B-FB28A9C082C7}"/>
              </a:ext>
            </a:extLst>
          </p:cNvPr>
          <p:cNvSpPr txBox="1"/>
          <p:nvPr/>
        </p:nvSpPr>
        <p:spPr>
          <a:xfrm>
            <a:off x="8272614" y="2413048"/>
            <a:ext cx="3693608" cy="3108543"/>
          </a:xfrm>
          <a:prstGeom prst="rect">
            <a:avLst/>
          </a:prstGeom>
          <a:noFill/>
        </p:spPr>
        <p:txBody>
          <a:bodyPr wrap="square">
            <a:spAutoFit/>
          </a:bodyPr>
          <a:lstStyle/>
          <a:p>
            <a:r>
              <a:rPr lang="pt-BR" sz="2800" b="1" i="1" dirty="0"/>
              <a:t>Underfitting</a:t>
            </a:r>
            <a:r>
              <a:rPr lang="pt-BR" sz="2800" dirty="0"/>
              <a:t>: o modelo é simples demais para a complexidade do problema.</a:t>
            </a:r>
          </a:p>
          <a:p>
            <a:endParaRPr lang="pt-BR" sz="2800" b="1" dirty="0"/>
          </a:p>
          <a:p>
            <a:r>
              <a:rPr lang="pt-BR" sz="2800" b="1" i="1" dirty="0" err="1"/>
              <a:t>Overfitting</a:t>
            </a:r>
            <a:r>
              <a:rPr lang="pt-BR" sz="2800" dirty="0"/>
              <a:t>: o modelo é complexo demais.</a:t>
            </a:r>
            <a:endParaRPr lang="en-US" sz="2800" dirty="0"/>
          </a:p>
        </p:txBody>
      </p:sp>
    </p:spTree>
    <p:extLst>
      <p:ext uri="{BB962C8B-B14F-4D97-AF65-F5344CB8AC3E}">
        <p14:creationId xmlns:p14="http://schemas.microsoft.com/office/powerpoint/2010/main" val="24922928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F3EF5-EAFC-A6A7-0E10-FF771B587B0F}"/>
              </a:ext>
            </a:extLst>
          </p:cNvPr>
          <p:cNvSpPr>
            <a:spLocks noGrp="1"/>
          </p:cNvSpPr>
          <p:nvPr>
            <p:ph type="title"/>
          </p:nvPr>
        </p:nvSpPr>
        <p:spPr/>
        <p:txBody>
          <a:bodyPr/>
          <a:lstStyle/>
          <a:p>
            <a:r>
              <a:rPr lang="en-US" i="1" dirty="0"/>
              <a:t>Overfitting</a:t>
            </a:r>
            <a:endParaRPr lang="en-US" dirty="0"/>
          </a:p>
        </p:txBody>
      </p:sp>
      <p:sp>
        <p:nvSpPr>
          <p:cNvPr id="3" name="Content Placeholder 2">
            <a:extLst>
              <a:ext uri="{FF2B5EF4-FFF2-40B4-BE49-F238E27FC236}">
                <a16:creationId xmlns:a16="http://schemas.microsoft.com/office/drawing/2014/main" id="{98558359-53B1-7971-801A-18F311722EC8}"/>
              </a:ext>
            </a:extLst>
          </p:cNvPr>
          <p:cNvSpPr>
            <a:spLocks noGrp="1"/>
          </p:cNvSpPr>
          <p:nvPr>
            <p:ph idx="1"/>
          </p:nvPr>
        </p:nvSpPr>
        <p:spPr>
          <a:xfrm>
            <a:off x="5481216" y="1825624"/>
            <a:ext cx="6710783" cy="5032375"/>
          </a:xfrm>
        </p:spPr>
        <p:txBody>
          <a:bodyPr>
            <a:normAutofit/>
          </a:bodyPr>
          <a:lstStyle/>
          <a:p>
            <a:r>
              <a:rPr lang="pt-BR" dirty="0"/>
              <a:t>O modelo é tão flexível (i.e., complexo) que ele “</a:t>
            </a:r>
            <a:r>
              <a:rPr lang="pt-BR" b="1" dirty="0"/>
              <a:t>memoriza</a:t>
            </a:r>
            <a:r>
              <a:rPr lang="pt-BR" dirty="0"/>
              <a:t>” o conjunto de treinamento.</a:t>
            </a:r>
          </a:p>
          <a:p>
            <a:r>
              <a:rPr lang="pt-BR" dirty="0"/>
              <a:t>Ele se </a:t>
            </a:r>
            <a:r>
              <a:rPr lang="pt-BR" b="1" dirty="0">
                <a:solidFill>
                  <a:srgbClr val="7030A0"/>
                </a:solidFill>
              </a:rPr>
              <a:t>ajusta ao ruído </a:t>
            </a:r>
            <a:r>
              <a:rPr lang="pt-BR" dirty="0"/>
              <a:t>em vez do </a:t>
            </a:r>
            <a:r>
              <a:rPr lang="pt-BR" b="1" dirty="0">
                <a:solidFill>
                  <a:schemeClr val="accent2"/>
                </a:solidFill>
              </a:rPr>
              <a:t>padrão geral por trás </a:t>
            </a:r>
            <a:r>
              <a:rPr lang="pt-BR" dirty="0"/>
              <a:t>dos dados.</a:t>
            </a:r>
          </a:p>
          <a:p>
            <a:r>
              <a:rPr lang="pt-BR" b="1" dirty="0"/>
              <a:t>Alta variância</a:t>
            </a:r>
            <a:r>
              <a:rPr lang="pt-BR" dirty="0"/>
              <a:t>: o modelo é </a:t>
            </a:r>
            <a:r>
              <a:rPr lang="pt-BR" b="1" dirty="0">
                <a:solidFill>
                  <a:srgbClr val="00B0F0"/>
                </a:solidFill>
              </a:rPr>
              <a:t>extremamente sensível</a:t>
            </a:r>
            <a:r>
              <a:rPr lang="pt-BR" b="1" dirty="0">
                <a:solidFill>
                  <a:srgbClr val="00B050"/>
                </a:solidFill>
              </a:rPr>
              <a:t> ao conjunto de treino</a:t>
            </a:r>
            <a:r>
              <a:rPr lang="pt-BR" dirty="0"/>
              <a:t>.</a:t>
            </a:r>
          </a:p>
          <a:p>
            <a:pPr lvl="1">
              <a:buFont typeface="Wingdings" panose="05000000000000000000" pitchFamily="2" charset="2"/>
              <a:buChar char="§"/>
            </a:pPr>
            <a:r>
              <a:rPr lang="pt-BR" b="1" dirty="0">
                <a:solidFill>
                  <a:srgbClr val="0070C0"/>
                </a:solidFill>
              </a:rPr>
              <a:t>Pequenas mudanças</a:t>
            </a:r>
            <a:r>
              <a:rPr lang="pt-BR" dirty="0"/>
              <a:t> nas amostras de treinamento </a:t>
            </a:r>
            <a:r>
              <a:rPr lang="pt-BR" b="1" dirty="0">
                <a:solidFill>
                  <a:srgbClr val="0070C0"/>
                </a:solidFill>
              </a:rPr>
              <a:t>geram grandes mudanças no modelo</a:t>
            </a:r>
            <a:r>
              <a:rPr lang="pt-BR" dirty="0"/>
              <a:t>, no caso da regressão, da função estimada.</a:t>
            </a:r>
          </a:p>
          <a:p>
            <a:r>
              <a:rPr lang="pt-BR" dirty="0"/>
              <a:t>O modelo </a:t>
            </a:r>
            <a:r>
              <a:rPr lang="pt-BR" b="1" dirty="0">
                <a:solidFill>
                  <a:srgbClr val="00B050"/>
                </a:solidFill>
              </a:rPr>
              <a:t>não generaliza bem</a:t>
            </a:r>
            <a:r>
              <a:rPr lang="pt-BR" dirty="0"/>
              <a:t>.</a:t>
            </a:r>
            <a:endParaRPr lang="en-US" dirty="0"/>
          </a:p>
        </p:txBody>
      </p:sp>
      <p:pic>
        <p:nvPicPr>
          <p:cNvPr id="4" name="Picture 2">
            <a:extLst>
              <a:ext uri="{FF2B5EF4-FFF2-40B4-BE49-F238E27FC236}">
                <a16:creationId xmlns:a16="http://schemas.microsoft.com/office/drawing/2014/main" id="{23F554F9-134B-9317-4597-E080F6732D6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186" y="1690688"/>
            <a:ext cx="3006195" cy="201217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B7D47AAC-0C00-2DEE-110C-096F4CF8493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46964" y="3489952"/>
            <a:ext cx="2238810" cy="33547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599465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742A89-D4FA-4919-1552-72DB66CD934C}"/>
              </a:ext>
            </a:extLst>
          </p:cNvPr>
          <p:cNvSpPr>
            <a:spLocks noGrp="1"/>
          </p:cNvSpPr>
          <p:nvPr>
            <p:ph type="title"/>
          </p:nvPr>
        </p:nvSpPr>
        <p:spPr/>
        <p:txBody>
          <a:bodyPr/>
          <a:lstStyle/>
          <a:p>
            <a:r>
              <a:rPr lang="pt-BR" i="1" dirty="0"/>
              <a:t>Underfitting</a:t>
            </a:r>
          </a:p>
        </p:txBody>
      </p:sp>
      <p:sp>
        <p:nvSpPr>
          <p:cNvPr id="3" name="Espaço Reservado para Conteúdo 2">
            <a:extLst>
              <a:ext uri="{FF2B5EF4-FFF2-40B4-BE49-F238E27FC236}">
                <a16:creationId xmlns:a16="http://schemas.microsoft.com/office/drawing/2014/main" id="{1FDFAB3D-88C4-A40C-1FFE-5BF9FD5EB0EC}"/>
              </a:ext>
            </a:extLst>
          </p:cNvPr>
          <p:cNvSpPr>
            <a:spLocks noGrp="1"/>
          </p:cNvSpPr>
          <p:nvPr>
            <p:ph idx="1"/>
          </p:nvPr>
        </p:nvSpPr>
        <p:spPr>
          <a:xfrm>
            <a:off x="5858359" y="1825624"/>
            <a:ext cx="6218027" cy="5032375"/>
          </a:xfrm>
        </p:spPr>
        <p:txBody>
          <a:bodyPr/>
          <a:lstStyle/>
          <a:p>
            <a:r>
              <a:rPr lang="pt-BR" dirty="0">
                <a:effectLst/>
              </a:rPr>
              <a:t>O modelo é </a:t>
            </a:r>
            <a:r>
              <a:rPr lang="pt-BR" b="1" dirty="0">
                <a:effectLst/>
              </a:rPr>
              <a:t>muito simples </a:t>
            </a:r>
            <a:r>
              <a:rPr lang="pt-BR" dirty="0">
                <a:effectLst/>
              </a:rPr>
              <a:t>(i.e., tem pouca flexibilidade) para </a:t>
            </a:r>
            <a:r>
              <a:rPr lang="pt-BR" b="1" dirty="0">
                <a:effectLst/>
              </a:rPr>
              <a:t>aprender</a:t>
            </a:r>
            <a:r>
              <a:rPr lang="pt-BR" dirty="0">
                <a:effectLst/>
              </a:rPr>
              <a:t>/</a:t>
            </a:r>
            <a:r>
              <a:rPr lang="pt-BR" b="1" dirty="0">
                <a:effectLst/>
              </a:rPr>
              <a:t>capturar o padrão geral </a:t>
            </a:r>
            <a:r>
              <a:rPr lang="pt-BR" dirty="0">
                <a:effectLst/>
              </a:rPr>
              <a:t>por trás dos dados de treinamento.</a:t>
            </a:r>
          </a:p>
          <a:p>
            <a:r>
              <a:rPr lang="pt-BR" b="1" dirty="0"/>
              <a:t>Alto viés</a:t>
            </a:r>
            <a:r>
              <a:rPr lang="pt-BR" dirty="0"/>
              <a:t>: o modelo faz uma </a:t>
            </a:r>
            <a:r>
              <a:rPr lang="pt-BR" b="1" dirty="0">
                <a:solidFill>
                  <a:srgbClr val="00B050"/>
                </a:solidFill>
              </a:rPr>
              <a:t>suposição muito forte sobre a </a:t>
            </a:r>
            <a:r>
              <a:rPr lang="pt-BR" b="1" dirty="0">
                <a:solidFill>
                  <a:srgbClr val="7030A0"/>
                </a:solidFill>
              </a:rPr>
              <a:t>forma</a:t>
            </a:r>
            <a:r>
              <a:rPr lang="pt-BR" b="1" dirty="0">
                <a:solidFill>
                  <a:srgbClr val="00B050"/>
                </a:solidFill>
              </a:rPr>
              <a:t> da função hipótese.</a:t>
            </a:r>
          </a:p>
          <a:p>
            <a:pPr lvl="1">
              <a:buFont typeface="Wingdings" panose="05000000000000000000" pitchFamily="2" charset="2"/>
              <a:buChar char="§"/>
            </a:pPr>
            <a:r>
              <a:rPr lang="pt-BR" dirty="0"/>
              <a:t>Por exemplo, assumir linearidade quando a relação é não linear: usar uma reta para aproximar uma parábola.</a:t>
            </a:r>
          </a:p>
          <a:p>
            <a:r>
              <a:rPr lang="pt-BR" dirty="0"/>
              <a:t>O modelo </a:t>
            </a:r>
            <a:r>
              <a:rPr lang="pt-BR" b="1" dirty="0">
                <a:solidFill>
                  <a:srgbClr val="00B050"/>
                </a:solidFill>
              </a:rPr>
              <a:t>não generaliza bem</a:t>
            </a:r>
            <a:r>
              <a:rPr lang="pt-BR" dirty="0"/>
              <a:t>.</a:t>
            </a:r>
          </a:p>
        </p:txBody>
      </p:sp>
      <p:pic>
        <p:nvPicPr>
          <p:cNvPr id="1028" name="Picture 4" descr="Overfitting vs Underfitting in Neural Network and Comparison of Error rate  with Complexity Graph | by Khush Patel | Towards Data Science">
            <a:extLst>
              <a:ext uri="{FF2B5EF4-FFF2-40B4-BE49-F238E27FC236}">
                <a16:creationId xmlns:a16="http://schemas.microsoft.com/office/drawing/2014/main" id="{7F05446A-F06D-3BEC-420E-6ACCB2C4959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48" t="26610" r="50000" b="4479"/>
          <a:stretch/>
        </p:blipFill>
        <p:spPr bwMode="auto">
          <a:xfrm>
            <a:off x="838200" y="2238704"/>
            <a:ext cx="4484249" cy="3541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07129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5079C6-CB84-CFE9-43C7-0B30FA68EF86}"/>
              </a:ext>
            </a:extLst>
          </p:cNvPr>
          <p:cNvSpPr>
            <a:spLocks noGrp="1"/>
          </p:cNvSpPr>
          <p:nvPr>
            <p:ph type="title"/>
          </p:nvPr>
        </p:nvSpPr>
        <p:spPr/>
        <p:txBody>
          <a:bodyPr/>
          <a:lstStyle/>
          <a:p>
            <a:r>
              <a:rPr lang="pt-BR" i="1" dirty="0"/>
              <a:t>Underfitting</a:t>
            </a:r>
            <a:endParaRPr lang="pt-BR" dirty="0"/>
          </a:p>
        </p:txBody>
      </p:sp>
      <p:grpSp>
        <p:nvGrpSpPr>
          <p:cNvPr id="11" name="Grupo 10"/>
          <p:cNvGrpSpPr/>
          <p:nvPr/>
        </p:nvGrpSpPr>
        <p:grpSpPr>
          <a:xfrm>
            <a:off x="1124066" y="1301491"/>
            <a:ext cx="9001125" cy="3763423"/>
            <a:chOff x="1124066" y="1372931"/>
            <a:chExt cx="9001125" cy="3763423"/>
          </a:xfrm>
        </p:grpSpPr>
        <p:pic>
          <p:nvPicPr>
            <p:cNvPr id="7170" name="Picture 2">
              <a:extLst>
                <a:ext uri="{FF2B5EF4-FFF2-40B4-BE49-F238E27FC236}">
                  <a16:creationId xmlns:a16="http://schemas.microsoft.com/office/drawing/2014/main" id="{1892C83B-01FF-5BDF-4F58-41B311222FA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199" t="18914" r="71063" b="27303"/>
            <a:stretch/>
          </p:blipFill>
          <p:spPr bwMode="auto">
            <a:xfrm>
              <a:off x="2352675" y="1654290"/>
              <a:ext cx="2355748" cy="3482064"/>
            </a:xfrm>
            <a:prstGeom prst="rect">
              <a:avLst/>
            </a:prstGeom>
            <a:noFill/>
            <a:extLst>
              <a:ext uri="{909E8E84-426E-40DD-AFC4-6F175D3DCCD1}">
                <a14:hiddenFill xmlns:a14="http://schemas.microsoft.com/office/drawing/2010/main">
                  <a:solidFill>
                    <a:srgbClr val="FFFFFF"/>
                  </a:solidFill>
                </a14:hiddenFill>
              </a:ext>
            </a:extLst>
          </p:spPr>
        </p:pic>
        <p:sp>
          <p:nvSpPr>
            <p:cNvPr id="4" name="CaixaDeTexto 3">
              <a:extLst>
                <a:ext uri="{FF2B5EF4-FFF2-40B4-BE49-F238E27FC236}">
                  <a16:creationId xmlns:a16="http://schemas.microsoft.com/office/drawing/2014/main" id="{2D4157CD-EC99-C673-5888-FB8C3E89B649}"/>
                </a:ext>
              </a:extLst>
            </p:cNvPr>
            <p:cNvSpPr txBox="1"/>
            <p:nvPr/>
          </p:nvSpPr>
          <p:spPr>
            <a:xfrm>
              <a:off x="2633814" y="1374003"/>
              <a:ext cx="1858297" cy="369332"/>
            </a:xfrm>
            <a:prstGeom prst="rect">
              <a:avLst/>
            </a:prstGeom>
            <a:noFill/>
          </p:spPr>
          <p:txBody>
            <a:bodyPr wrap="square" rtlCol="0">
              <a:spAutoFit/>
            </a:bodyPr>
            <a:lstStyle/>
            <a:p>
              <a:pPr algn="ctr"/>
              <a:r>
                <a:rPr lang="pt-BR" b="1" dirty="0"/>
                <a:t>subajuste</a:t>
              </a:r>
            </a:p>
          </p:txBody>
        </p:sp>
        <p:sp>
          <p:nvSpPr>
            <p:cNvPr id="6" name="CaixaDeTexto 5">
              <a:extLst>
                <a:ext uri="{FF2B5EF4-FFF2-40B4-BE49-F238E27FC236}">
                  <a16:creationId xmlns:a16="http://schemas.microsoft.com/office/drawing/2014/main" id="{AAA323F9-8E5C-2ED7-7474-00EAC3A9B445}"/>
                </a:ext>
              </a:extLst>
            </p:cNvPr>
            <p:cNvSpPr txBox="1"/>
            <p:nvPr/>
          </p:nvSpPr>
          <p:spPr>
            <a:xfrm>
              <a:off x="5040284" y="1372931"/>
              <a:ext cx="2231923" cy="369332"/>
            </a:xfrm>
            <a:prstGeom prst="rect">
              <a:avLst/>
            </a:prstGeom>
            <a:noFill/>
          </p:spPr>
          <p:txBody>
            <a:bodyPr wrap="square" rtlCol="0">
              <a:spAutoFit/>
            </a:bodyPr>
            <a:lstStyle/>
            <a:p>
              <a:pPr algn="ctr"/>
              <a:r>
                <a:rPr lang="pt-BR" b="1" dirty="0"/>
                <a:t>ajuste apropriado</a:t>
              </a:r>
            </a:p>
          </p:txBody>
        </p:sp>
        <p:sp>
          <p:nvSpPr>
            <p:cNvPr id="7" name="CaixaDeTexto 6">
              <a:extLst>
                <a:ext uri="{FF2B5EF4-FFF2-40B4-BE49-F238E27FC236}">
                  <a16:creationId xmlns:a16="http://schemas.microsoft.com/office/drawing/2014/main" id="{42279F6B-8E44-6328-821B-2B13EEE2036B}"/>
                </a:ext>
              </a:extLst>
            </p:cNvPr>
            <p:cNvSpPr txBox="1"/>
            <p:nvPr/>
          </p:nvSpPr>
          <p:spPr>
            <a:xfrm>
              <a:off x="1233450" y="2194489"/>
              <a:ext cx="1238865" cy="369332"/>
            </a:xfrm>
            <a:prstGeom prst="rect">
              <a:avLst/>
            </a:prstGeom>
            <a:noFill/>
          </p:spPr>
          <p:txBody>
            <a:bodyPr wrap="square" rtlCol="0">
              <a:spAutoFit/>
            </a:bodyPr>
            <a:lstStyle/>
            <a:p>
              <a:r>
                <a:rPr lang="pt-BR" b="1" dirty="0"/>
                <a:t>Regressão</a:t>
              </a:r>
            </a:p>
          </p:txBody>
        </p:sp>
        <p:sp>
          <p:nvSpPr>
            <p:cNvPr id="8" name="CaixaDeTexto 7">
              <a:extLst>
                <a:ext uri="{FF2B5EF4-FFF2-40B4-BE49-F238E27FC236}">
                  <a16:creationId xmlns:a16="http://schemas.microsoft.com/office/drawing/2014/main" id="{01E6D656-857C-E1E7-B118-2232A5B3C12A}"/>
                </a:ext>
              </a:extLst>
            </p:cNvPr>
            <p:cNvSpPr txBox="1"/>
            <p:nvPr/>
          </p:nvSpPr>
          <p:spPr>
            <a:xfrm>
              <a:off x="1124066" y="3962590"/>
              <a:ext cx="1457632" cy="369332"/>
            </a:xfrm>
            <a:prstGeom prst="rect">
              <a:avLst/>
            </a:prstGeom>
            <a:noFill/>
          </p:spPr>
          <p:txBody>
            <a:bodyPr wrap="square" rtlCol="0">
              <a:spAutoFit/>
            </a:bodyPr>
            <a:lstStyle/>
            <a:p>
              <a:r>
                <a:rPr lang="pt-BR" b="1" dirty="0"/>
                <a:t>Classificação</a:t>
              </a:r>
            </a:p>
          </p:txBody>
        </p:sp>
        <p:pic>
          <p:nvPicPr>
            <p:cNvPr id="9" name="Picture 2">
              <a:extLst>
                <a:ext uri="{FF2B5EF4-FFF2-40B4-BE49-F238E27FC236}">
                  <a16:creationId xmlns:a16="http://schemas.microsoft.com/office/drawing/2014/main" id="{18114226-93F9-BEA2-8207-47B386FC609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8345" t="19278" r="40638" b="27303"/>
            <a:stretch/>
          </p:blipFill>
          <p:spPr bwMode="auto">
            <a:xfrm>
              <a:off x="4991619" y="1666669"/>
              <a:ext cx="2387600" cy="345846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a:extLst>
                <a:ext uri="{FF2B5EF4-FFF2-40B4-BE49-F238E27FC236}">
                  <a16:creationId xmlns:a16="http://schemas.microsoft.com/office/drawing/2014/main" id="{5DE423C0-8EE4-15A7-2DEA-C42F713C06E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9602" t="20289" r="9128" b="27303"/>
            <a:stretch/>
          </p:blipFill>
          <p:spPr bwMode="auto">
            <a:xfrm>
              <a:off x="7662415" y="1654290"/>
              <a:ext cx="2462776" cy="3458460"/>
            </a:xfrm>
            <a:prstGeom prst="rect">
              <a:avLst/>
            </a:prstGeom>
            <a:noFill/>
            <a:extLst>
              <a:ext uri="{909E8E84-426E-40DD-AFC4-6F175D3DCCD1}">
                <a14:hiddenFill xmlns:a14="http://schemas.microsoft.com/office/drawing/2010/main">
                  <a:solidFill>
                    <a:srgbClr val="FFFFFF"/>
                  </a:solidFill>
                </a14:hiddenFill>
              </a:ext>
            </a:extLst>
          </p:spPr>
        </p:pic>
        <p:sp>
          <p:nvSpPr>
            <p:cNvPr id="5" name="CaixaDeTexto 4">
              <a:extLst>
                <a:ext uri="{FF2B5EF4-FFF2-40B4-BE49-F238E27FC236}">
                  <a16:creationId xmlns:a16="http://schemas.microsoft.com/office/drawing/2014/main" id="{71253339-1DEB-89C1-8C0E-7E916415966F}"/>
                </a:ext>
              </a:extLst>
            </p:cNvPr>
            <p:cNvSpPr txBox="1"/>
            <p:nvPr/>
          </p:nvSpPr>
          <p:spPr>
            <a:xfrm>
              <a:off x="7876686" y="1397816"/>
              <a:ext cx="1858297" cy="369332"/>
            </a:xfrm>
            <a:prstGeom prst="rect">
              <a:avLst/>
            </a:prstGeom>
            <a:noFill/>
          </p:spPr>
          <p:txBody>
            <a:bodyPr wrap="square" rtlCol="0">
              <a:spAutoFit/>
            </a:bodyPr>
            <a:lstStyle/>
            <a:p>
              <a:pPr algn="ctr"/>
              <a:r>
                <a:rPr lang="pt-BR" b="1" dirty="0"/>
                <a:t>sobreajuste</a:t>
              </a:r>
            </a:p>
          </p:txBody>
        </p:sp>
      </p:grpSp>
      <p:sp>
        <p:nvSpPr>
          <p:cNvPr id="3" name="Espaço Reservado para Conteúdo 2">
            <a:extLst>
              <a:ext uri="{FF2B5EF4-FFF2-40B4-BE49-F238E27FC236}">
                <a16:creationId xmlns:a16="http://schemas.microsoft.com/office/drawing/2014/main" id="{00D9AD81-A061-C4A9-2251-C539F0790014}"/>
              </a:ext>
            </a:extLst>
          </p:cNvPr>
          <p:cNvSpPr>
            <a:spLocks noGrp="1"/>
          </p:cNvSpPr>
          <p:nvPr>
            <p:ph idx="1"/>
          </p:nvPr>
        </p:nvSpPr>
        <p:spPr>
          <a:xfrm>
            <a:off x="838200" y="4986338"/>
            <a:ext cx="11353802" cy="1871661"/>
          </a:xfrm>
        </p:spPr>
        <p:txBody>
          <a:bodyPr>
            <a:normAutofit fontScale="92500" lnSpcReduction="20000"/>
          </a:bodyPr>
          <a:lstStyle/>
          <a:p>
            <a:r>
              <a:rPr lang="pt-BR" dirty="0"/>
              <a:t>O modelo </a:t>
            </a:r>
            <a:r>
              <a:rPr lang="pt-BR" b="1" dirty="0"/>
              <a:t>não tem flexibilidade para capturar o padrão</a:t>
            </a:r>
            <a:r>
              <a:rPr lang="pt-BR" dirty="0"/>
              <a:t> </a:t>
            </a:r>
            <a:r>
              <a:rPr lang="pt-BR" b="1" dirty="0"/>
              <a:t>geral</a:t>
            </a:r>
            <a:r>
              <a:rPr lang="pt-BR" dirty="0"/>
              <a:t> presente nos dados de treinamento.</a:t>
            </a:r>
          </a:p>
          <a:p>
            <a:r>
              <a:rPr lang="pt-BR" dirty="0"/>
              <a:t>O modelo apresenta </a:t>
            </a:r>
            <a:r>
              <a:rPr lang="pt-BR" b="1" dirty="0"/>
              <a:t>erros altos nos conjuntos de treinamento, validação e teste</a:t>
            </a:r>
            <a:r>
              <a:rPr lang="pt-BR" dirty="0"/>
              <a:t>.</a:t>
            </a:r>
          </a:p>
          <a:p>
            <a:r>
              <a:rPr lang="pt-BR" dirty="0"/>
              <a:t>Esse padrão de erros indica </a:t>
            </a:r>
            <a:r>
              <a:rPr lang="pt-BR" b="1" dirty="0">
                <a:solidFill>
                  <a:schemeClr val="accent2"/>
                </a:solidFill>
              </a:rPr>
              <a:t>alto viés</a:t>
            </a:r>
            <a:r>
              <a:rPr lang="pt-BR" dirty="0"/>
              <a:t>.</a:t>
            </a:r>
          </a:p>
        </p:txBody>
      </p:sp>
    </p:spTree>
    <p:extLst>
      <p:ext uri="{BB962C8B-B14F-4D97-AF65-F5344CB8AC3E}">
        <p14:creationId xmlns:p14="http://schemas.microsoft.com/office/powerpoint/2010/main" val="51763617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5079C6-CB84-CFE9-43C7-0B30FA68EF86}"/>
              </a:ext>
            </a:extLst>
          </p:cNvPr>
          <p:cNvSpPr>
            <a:spLocks noGrp="1"/>
          </p:cNvSpPr>
          <p:nvPr>
            <p:ph type="title"/>
          </p:nvPr>
        </p:nvSpPr>
        <p:spPr/>
        <p:txBody>
          <a:bodyPr/>
          <a:lstStyle/>
          <a:p>
            <a:r>
              <a:rPr lang="pt-BR" i="1" dirty="0"/>
              <a:t>Underfitting</a:t>
            </a:r>
            <a:endParaRPr lang="pt-BR" dirty="0"/>
          </a:p>
        </p:txBody>
      </p:sp>
      <p:sp>
        <p:nvSpPr>
          <p:cNvPr id="3" name="Espaço Reservado para Conteúdo 2">
            <a:extLst>
              <a:ext uri="{FF2B5EF4-FFF2-40B4-BE49-F238E27FC236}">
                <a16:creationId xmlns:a16="http://schemas.microsoft.com/office/drawing/2014/main" id="{00D9AD81-A061-C4A9-2251-C539F0790014}"/>
              </a:ext>
            </a:extLst>
          </p:cNvPr>
          <p:cNvSpPr>
            <a:spLocks noGrp="1"/>
          </p:cNvSpPr>
          <p:nvPr>
            <p:ph idx="1"/>
          </p:nvPr>
        </p:nvSpPr>
        <p:spPr>
          <a:xfrm>
            <a:off x="838200" y="5406487"/>
            <a:ext cx="11216148" cy="1451511"/>
          </a:xfrm>
        </p:spPr>
        <p:txBody>
          <a:bodyPr>
            <a:normAutofit/>
          </a:bodyPr>
          <a:lstStyle/>
          <a:p>
            <a:r>
              <a:rPr lang="pt-BR" b="1" dirty="0">
                <a:solidFill>
                  <a:srgbClr val="7030A0"/>
                </a:solidFill>
              </a:rPr>
              <a:t>Possíveis causas</a:t>
            </a:r>
            <a:r>
              <a:rPr lang="pt-BR" dirty="0"/>
              <a:t>: modelo </a:t>
            </a:r>
            <a:r>
              <a:rPr lang="pt-BR" b="1" dirty="0"/>
              <a:t>sem complexidade</a:t>
            </a:r>
            <a:r>
              <a:rPr lang="pt-BR" dirty="0"/>
              <a:t>, </a:t>
            </a:r>
            <a:r>
              <a:rPr lang="pt-BR" b="1" dirty="0"/>
              <a:t>poucas épocas de treinamento</a:t>
            </a:r>
            <a:r>
              <a:rPr lang="pt-BR" dirty="0"/>
              <a:t> e </a:t>
            </a:r>
            <a:r>
              <a:rPr lang="pt-BR" b="1" dirty="0"/>
              <a:t>dados de treinamento não representativos </a:t>
            </a:r>
            <a:r>
              <a:rPr lang="pt-BR" dirty="0"/>
              <a:t>(modelo falha em aprender as características relevantes).</a:t>
            </a:r>
          </a:p>
        </p:txBody>
      </p:sp>
      <p:pic>
        <p:nvPicPr>
          <p:cNvPr id="7170" name="Picture 2">
            <a:extLst>
              <a:ext uri="{FF2B5EF4-FFF2-40B4-BE49-F238E27FC236}">
                <a16:creationId xmlns:a16="http://schemas.microsoft.com/office/drawing/2014/main" id="{1892C83B-01FF-5BDF-4F58-41B311222FA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199" t="18914" r="71063" b="27303"/>
          <a:stretch/>
        </p:blipFill>
        <p:spPr bwMode="auto">
          <a:xfrm>
            <a:off x="2352675" y="1654290"/>
            <a:ext cx="2355748" cy="3482064"/>
          </a:xfrm>
          <a:prstGeom prst="rect">
            <a:avLst/>
          </a:prstGeom>
          <a:noFill/>
          <a:extLst>
            <a:ext uri="{909E8E84-426E-40DD-AFC4-6F175D3DCCD1}">
              <a14:hiddenFill xmlns:a14="http://schemas.microsoft.com/office/drawing/2010/main">
                <a:solidFill>
                  <a:srgbClr val="FFFFFF"/>
                </a:solidFill>
              </a14:hiddenFill>
            </a:ext>
          </a:extLst>
        </p:spPr>
      </p:pic>
      <p:sp>
        <p:nvSpPr>
          <p:cNvPr id="4" name="CaixaDeTexto 3">
            <a:extLst>
              <a:ext uri="{FF2B5EF4-FFF2-40B4-BE49-F238E27FC236}">
                <a16:creationId xmlns:a16="http://schemas.microsoft.com/office/drawing/2014/main" id="{2D4157CD-EC99-C673-5888-FB8C3E89B649}"/>
              </a:ext>
            </a:extLst>
          </p:cNvPr>
          <p:cNvSpPr txBox="1"/>
          <p:nvPr/>
        </p:nvSpPr>
        <p:spPr>
          <a:xfrm>
            <a:off x="2633814" y="1374003"/>
            <a:ext cx="1858297" cy="369332"/>
          </a:xfrm>
          <a:prstGeom prst="rect">
            <a:avLst/>
          </a:prstGeom>
          <a:noFill/>
        </p:spPr>
        <p:txBody>
          <a:bodyPr wrap="square" rtlCol="0">
            <a:spAutoFit/>
          </a:bodyPr>
          <a:lstStyle/>
          <a:p>
            <a:pPr algn="ctr"/>
            <a:r>
              <a:rPr lang="pt-BR" b="1" dirty="0" err="1"/>
              <a:t>subajuste</a:t>
            </a:r>
            <a:endParaRPr lang="pt-BR" b="1" dirty="0"/>
          </a:p>
        </p:txBody>
      </p:sp>
      <p:sp>
        <p:nvSpPr>
          <p:cNvPr id="6" name="CaixaDeTexto 5">
            <a:extLst>
              <a:ext uri="{FF2B5EF4-FFF2-40B4-BE49-F238E27FC236}">
                <a16:creationId xmlns:a16="http://schemas.microsoft.com/office/drawing/2014/main" id="{AAA323F9-8E5C-2ED7-7474-00EAC3A9B445}"/>
              </a:ext>
            </a:extLst>
          </p:cNvPr>
          <p:cNvSpPr txBox="1"/>
          <p:nvPr/>
        </p:nvSpPr>
        <p:spPr>
          <a:xfrm>
            <a:off x="5040284" y="1372931"/>
            <a:ext cx="2231923" cy="369332"/>
          </a:xfrm>
          <a:prstGeom prst="rect">
            <a:avLst/>
          </a:prstGeom>
          <a:noFill/>
        </p:spPr>
        <p:txBody>
          <a:bodyPr wrap="square" rtlCol="0">
            <a:spAutoFit/>
          </a:bodyPr>
          <a:lstStyle/>
          <a:p>
            <a:pPr algn="ctr"/>
            <a:r>
              <a:rPr lang="pt-BR" b="1" dirty="0"/>
              <a:t>ajuste apropriado</a:t>
            </a:r>
          </a:p>
        </p:txBody>
      </p:sp>
      <p:sp>
        <p:nvSpPr>
          <p:cNvPr id="7" name="CaixaDeTexto 6">
            <a:extLst>
              <a:ext uri="{FF2B5EF4-FFF2-40B4-BE49-F238E27FC236}">
                <a16:creationId xmlns:a16="http://schemas.microsoft.com/office/drawing/2014/main" id="{42279F6B-8E44-6328-821B-2B13EEE2036B}"/>
              </a:ext>
            </a:extLst>
          </p:cNvPr>
          <p:cNvSpPr txBox="1"/>
          <p:nvPr/>
        </p:nvSpPr>
        <p:spPr>
          <a:xfrm>
            <a:off x="1233450" y="2194489"/>
            <a:ext cx="1238865" cy="369332"/>
          </a:xfrm>
          <a:prstGeom prst="rect">
            <a:avLst/>
          </a:prstGeom>
          <a:noFill/>
        </p:spPr>
        <p:txBody>
          <a:bodyPr wrap="square" rtlCol="0">
            <a:spAutoFit/>
          </a:bodyPr>
          <a:lstStyle/>
          <a:p>
            <a:r>
              <a:rPr lang="pt-BR" b="1" dirty="0"/>
              <a:t>Regressão</a:t>
            </a:r>
          </a:p>
        </p:txBody>
      </p:sp>
      <p:sp>
        <p:nvSpPr>
          <p:cNvPr id="8" name="CaixaDeTexto 7">
            <a:extLst>
              <a:ext uri="{FF2B5EF4-FFF2-40B4-BE49-F238E27FC236}">
                <a16:creationId xmlns:a16="http://schemas.microsoft.com/office/drawing/2014/main" id="{01E6D656-857C-E1E7-B118-2232A5B3C12A}"/>
              </a:ext>
            </a:extLst>
          </p:cNvPr>
          <p:cNvSpPr txBox="1"/>
          <p:nvPr/>
        </p:nvSpPr>
        <p:spPr>
          <a:xfrm>
            <a:off x="1124066" y="3962590"/>
            <a:ext cx="1457632" cy="369332"/>
          </a:xfrm>
          <a:prstGeom prst="rect">
            <a:avLst/>
          </a:prstGeom>
          <a:noFill/>
        </p:spPr>
        <p:txBody>
          <a:bodyPr wrap="square" rtlCol="0">
            <a:spAutoFit/>
          </a:bodyPr>
          <a:lstStyle/>
          <a:p>
            <a:r>
              <a:rPr lang="pt-BR" b="1" dirty="0"/>
              <a:t>Classificação</a:t>
            </a:r>
          </a:p>
        </p:txBody>
      </p:sp>
      <p:pic>
        <p:nvPicPr>
          <p:cNvPr id="9" name="Picture 2">
            <a:extLst>
              <a:ext uri="{FF2B5EF4-FFF2-40B4-BE49-F238E27FC236}">
                <a16:creationId xmlns:a16="http://schemas.microsoft.com/office/drawing/2014/main" id="{18114226-93F9-BEA2-8207-47B386FC609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8345" t="19278" r="40638" b="27303"/>
          <a:stretch/>
        </p:blipFill>
        <p:spPr bwMode="auto">
          <a:xfrm>
            <a:off x="4991619" y="1666669"/>
            <a:ext cx="2387600" cy="345846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a:extLst>
              <a:ext uri="{FF2B5EF4-FFF2-40B4-BE49-F238E27FC236}">
                <a16:creationId xmlns:a16="http://schemas.microsoft.com/office/drawing/2014/main" id="{5DE423C0-8EE4-15A7-2DEA-C42F713C06E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9602" t="20289" r="9128" b="27303"/>
          <a:stretch/>
        </p:blipFill>
        <p:spPr bwMode="auto">
          <a:xfrm>
            <a:off x="7662415" y="1654290"/>
            <a:ext cx="2462776" cy="3458460"/>
          </a:xfrm>
          <a:prstGeom prst="rect">
            <a:avLst/>
          </a:prstGeom>
          <a:noFill/>
          <a:extLst>
            <a:ext uri="{909E8E84-426E-40DD-AFC4-6F175D3DCCD1}">
              <a14:hiddenFill xmlns:a14="http://schemas.microsoft.com/office/drawing/2010/main">
                <a:solidFill>
                  <a:srgbClr val="FFFFFF"/>
                </a:solidFill>
              </a14:hiddenFill>
            </a:ext>
          </a:extLst>
        </p:spPr>
      </p:pic>
      <p:sp>
        <p:nvSpPr>
          <p:cNvPr id="5" name="CaixaDeTexto 4">
            <a:extLst>
              <a:ext uri="{FF2B5EF4-FFF2-40B4-BE49-F238E27FC236}">
                <a16:creationId xmlns:a16="http://schemas.microsoft.com/office/drawing/2014/main" id="{71253339-1DEB-89C1-8C0E-7E916415966F}"/>
              </a:ext>
            </a:extLst>
          </p:cNvPr>
          <p:cNvSpPr txBox="1"/>
          <p:nvPr/>
        </p:nvSpPr>
        <p:spPr>
          <a:xfrm>
            <a:off x="7876686" y="1397816"/>
            <a:ext cx="1858297" cy="369332"/>
          </a:xfrm>
          <a:prstGeom prst="rect">
            <a:avLst/>
          </a:prstGeom>
          <a:noFill/>
        </p:spPr>
        <p:txBody>
          <a:bodyPr wrap="square" rtlCol="0">
            <a:spAutoFit/>
          </a:bodyPr>
          <a:lstStyle/>
          <a:p>
            <a:pPr algn="ctr"/>
            <a:r>
              <a:rPr lang="pt-BR" b="1" dirty="0"/>
              <a:t>sobreajuste</a:t>
            </a:r>
          </a:p>
        </p:txBody>
      </p:sp>
    </p:spTree>
    <p:extLst>
      <p:ext uri="{BB962C8B-B14F-4D97-AF65-F5344CB8AC3E}">
        <p14:creationId xmlns:p14="http://schemas.microsoft.com/office/powerpoint/2010/main" val="319905814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5079C6-CB84-CFE9-43C7-0B30FA68EF86}"/>
              </a:ext>
            </a:extLst>
          </p:cNvPr>
          <p:cNvSpPr>
            <a:spLocks noGrp="1"/>
          </p:cNvSpPr>
          <p:nvPr>
            <p:ph type="title"/>
          </p:nvPr>
        </p:nvSpPr>
        <p:spPr/>
        <p:txBody>
          <a:bodyPr/>
          <a:lstStyle/>
          <a:p>
            <a:r>
              <a:rPr lang="pt-BR" i="1" dirty="0"/>
              <a:t>Underfitting</a:t>
            </a:r>
            <a:endParaRPr lang="pt-BR" dirty="0"/>
          </a:p>
        </p:txBody>
      </p:sp>
      <p:sp>
        <p:nvSpPr>
          <p:cNvPr id="3" name="Espaço Reservado para Conteúdo 2">
            <a:extLst>
              <a:ext uri="{FF2B5EF4-FFF2-40B4-BE49-F238E27FC236}">
                <a16:creationId xmlns:a16="http://schemas.microsoft.com/office/drawing/2014/main" id="{00D9AD81-A061-C4A9-2251-C539F0790014}"/>
              </a:ext>
            </a:extLst>
          </p:cNvPr>
          <p:cNvSpPr>
            <a:spLocks noGrp="1"/>
          </p:cNvSpPr>
          <p:nvPr>
            <p:ph idx="1"/>
          </p:nvPr>
        </p:nvSpPr>
        <p:spPr>
          <a:xfrm>
            <a:off x="838200" y="5209865"/>
            <a:ext cx="11216148" cy="1648134"/>
          </a:xfrm>
        </p:spPr>
        <p:txBody>
          <a:bodyPr>
            <a:normAutofit/>
          </a:bodyPr>
          <a:lstStyle/>
          <a:p>
            <a:r>
              <a:rPr lang="pt-BR" b="1" dirty="0">
                <a:solidFill>
                  <a:srgbClr val="7030A0"/>
                </a:solidFill>
              </a:rPr>
              <a:t>Como mitigar</a:t>
            </a:r>
            <a:r>
              <a:rPr lang="pt-BR" dirty="0"/>
              <a:t>: </a:t>
            </a:r>
            <a:r>
              <a:rPr lang="pt-BR" b="1" dirty="0"/>
              <a:t>aumentar a complexidade </a:t>
            </a:r>
            <a:r>
              <a:rPr lang="pt-BR" dirty="0"/>
              <a:t>do modelo (e.g., grau do polinômio), </a:t>
            </a:r>
            <a:r>
              <a:rPr lang="pt-BR" b="1" dirty="0"/>
              <a:t>ajustar os hiperparâmetros </a:t>
            </a:r>
            <a:r>
              <a:rPr lang="pt-BR" dirty="0"/>
              <a:t>(e.g., passo de aprendizagem), </a:t>
            </a:r>
            <a:r>
              <a:rPr lang="pt-BR" b="1" dirty="0"/>
              <a:t>treinar por mais épocas </a:t>
            </a:r>
            <a:r>
              <a:rPr lang="pt-BR" dirty="0"/>
              <a:t>e </a:t>
            </a:r>
            <a:r>
              <a:rPr lang="pt-BR" b="1" dirty="0"/>
              <a:t>aumentar o conjunto de treinamento</a:t>
            </a:r>
            <a:r>
              <a:rPr lang="pt-BR" dirty="0"/>
              <a:t>, se possível, para deixá-lo mais representativo.</a:t>
            </a:r>
          </a:p>
          <a:p>
            <a:endParaRPr lang="pt-BR" dirty="0"/>
          </a:p>
        </p:txBody>
      </p:sp>
      <p:pic>
        <p:nvPicPr>
          <p:cNvPr id="7170" name="Picture 2">
            <a:extLst>
              <a:ext uri="{FF2B5EF4-FFF2-40B4-BE49-F238E27FC236}">
                <a16:creationId xmlns:a16="http://schemas.microsoft.com/office/drawing/2014/main" id="{1892C83B-01FF-5BDF-4F58-41B311222FA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199" t="18914" r="71063" b="27303"/>
          <a:stretch/>
        </p:blipFill>
        <p:spPr bwMode="auto">
          <a:xfrm>
            <a:off x="2352675" y="1654290"/>
            <a:ext cx="2355748" cy="3482064"/>
          </a:xfrm>
          <a:prstGeom prst="rect">
            <a:avLst/>
          </a:prstGeom>
          <a:noFill/>
          <a:extLst>
            <a:ext uri="{909E8E84-426E-40DD-AFC4-6F175D3DCCD1}">
              <a14:hiddenFill xmlns:a14="http://schemas.microsoft.com/office/drawing/2010/main">
                <a:solidFill>
                  <a:srgbClr val="FFFFFF"/>
                </a:solidFill>
              </a14:hiddenFill>
            </a:ext>
          </a:extLst>
        </p:spPr>
      </p:pic>
      <p:sp>
        <p:nvSpPr>
          <p:cNvPr id="4" name="CaixaDeTexto 3">
            <a:extLst>
              <a:ext uri="{FF2B5EF4-FFF2-40B4-BE49-F238E27FC236}">
                <a16:creationId xmlns:a16="http://schemas.microsoft.com/office/drawing/2014/main" id="{2D4157CD-EC99-C673-5888-FB8C3E89B649}"/>
              </a:ext>
            </a:extLst>
          </p:cNvPr>
          <p:cNvSpPr txBox="1"/>
          <p:nvPr/>
        </p:nvSpPr>
        <p:spPr>
          <a:xfrm>
            <a:off x="2633814" y="1374003"/>
            <a:ext cx="1858297" cy="369332"/>
          </a:xfrm>
          <a:prstGeom prst="rect">
            <a:avLst/>
          </a:prstGeom>
          <a:noFill/>
        </p:spPr>
        <p:txBody>
          <a:bodyPr wrap="square" rtlCol="0">
            <a:spAutoFit/>
          </a:bodyPr>
          <a:lstStyle/>
          <a:p>
            <a:pPr algn="ctr"/>
            <a:r>
              <a:rPr lang="pt-BR" b="1" dirty="0" err="1"/>
              <a:t>subajuste</a:t>
            </a:r>
            <a:endParaRPr lang="pt-BR" b="1" dirty="0"/>
          </a:p>
        </p:txBody>
      </p:sp>
      <p:sp>
        <p:nvSpPr>
          <p:cNvPr id="6" name="CaixaDeTexto 5">
            <a:extLst>
              <a:ext uri="{FF2B5EF4-FFF2-40B4-BE49-F238E27FC236}">
                <a16:creationId xmlns:a16="http://schemas.microsoft.com/office/drawing/2014/main" id="{AAA323F9-8E5C-2ED7-7474-00EAC3A9B445}"/>
              </a:ext>
            </a:extLst>
          </p:cNvPr>
          <p:cNvSpPr txBox="1"/>
          <p:nvPr/>
        </p:nvSpPr>
        <p:spPr>
          <a:xfrm>
            <a:off x="5040284" y="1372931"/>
            <a:ext cx="2231923" cy="369332"/>
          </a:xfrm>
          <a:prstGeom prst="rect">
            <a:avLst/>
          </a:prstGeom>
          <a:noFill/>
        </p:spPr>
        <p:txBody>
          <a:bodyPr wrap="square" rtlCol="0">
            <a:spAutoFit/>
          </a:bodyPr>
          <a:lstStyle/>
          <a:p>
            <a:pPr algn="ctr"/>
            <a:r>
              <a:rPr lang="pt-BR" b="1" dirty="0"/>
              <a:t>ajuste apropriado</a:t>
            </a:r>
          </a:p>
        </p:txBody>
      </p:sp>
      <p:sp>
        <p:nvSpPr>
          <p:cNvPr id="7" name="CaixaDeTexto 6">
            <a:extLst>
              <a:ext uri="{FF2B5EF4-FFF2-40B4-BE49-F238E27FC236}">
                <a16:creationId xmlns:a16="http://schemas.microsoft.com/office/drawing/2014/main" id="{42279F6B-8E44-6328-821B-2B13EEE2036B}"/>
              </a:ext>
            </a:extLst>
          </p:cNvPr>
          <p:cNvSpPr txBox="1"/>
          <p:nvPr/>
        </p:nvSpPr>
        <p:spPr>
          <a:xfrm>
            <a:off x="1233450" y="2194489"/>
            <a:ext cx="1238865" cy="369332"/>
          </a:xfrm>
          <a:prstGeom prst="rect">
            <a:avLst/>
          </a:prstGeom>
          <a:noFill/>
        </p:spPr>
        <p:txBody>
          <a:bodyPr wrap="square" rtlCol="0">
            <a:spAutoFit/>
          </a:bodyPr>
          <a:lstStyle/>
          <a:p>
            <a:r>
              <a:rPr lang="pt-BR" b="1" dirty="0"/>
              <a:t>Regressão</a:t>
            </a:r>
          </a:p>
        </p:txBody>
      </p:sp>
      <p:sp>
        <p:nvSpPr>
          <p:cNvPr id="8" name="CaixaDeTexto 7">
            <a:extLst>
              <a:ext uri="{FF2B5EF4-FFF2-40B4-BE49-F238E27FC236}">
                <a16:creationId xmlns:a16="http://schemas.microsoft.com/office/drawing/2014/main" id="{01E6D656-857C-E1E7-B118-2232A5B3C12A}"/>
              </a:ext>
            </a:extLst>
          </p:cNvPr>
          <p:cNvSpPr txBox="1"/>
          <p:nvPr/>
        </p:nvSpPr>
        <p:spPr>
          <a:xfrm>
            <a:off x="1124066" y="3962590"/>
            <a:ext cx="1457632" cy="369332"/>
          </a:xfrm>
          <a:prstGeom prst="rect">
            <a:avLst/>
          </a:prstGeom>
          <a:noFill/>
        </p:spPr>
        <p:txBody>
          <a:bodyPr wrap="square" rtlCol="0">
            <a:spAutoFit/>
          </a:bodyPr>
          <a:lstStyle/>
          <a:p>
            <a:r>
              <a:rPr lang="pt-BR" b="1" dirty="0"/>
              <a:t>Classificação</a:t>
            </a:r>
          </a:p>
        </p:txBody>
      </p:sp>
      <p:pic>
        <p:nvPicPr>
          <p:cNvPr id="9" name="Picture 2">
            <a:extLst>
              <a:ext uri="{FF2B5EF4-FFF2-40B4-BE49-F238E27FC236}">
                <a16:creationId xmlns:a16="http://schemas.microsoft.com/office/drawing/2014/main" id="{18114226-93F9-BEA2-8207-47B386FC609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8345" t="19278" r="40638" b="27303"/>
          <a:stretch/>
        </p:blipFill>
        <p:spPr bwMode="auto">
          <a:xfrm>
            <a:off x="4991619" y="1666669"/>
            <a:ext cx="2387600" cy="345846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a:extLst>
              <a:ext uri="{FF2B5EF4-FFF2-40B4-BE49-F238E27FC236}">
                <a16:creationId xmlns:a16="http://schemas.microsoft.com/office/drawing/2014/main" id="{5DE423C0-8EE4-15A7-2DEA-C42F713C06E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9602" t="20289" r="9128" b="27303"/>
          <a:stretch/>
        </p:blipFill>
        <p:spPr bwMode="auto">
          <a:xfrm>
            <a:off x="7662415" y="1654290"/>
            <a:ext cx="2462776" cy="3458460"/>
          </a:xfrm>
          <a:prstGeom prst="rect">
            <a:avLst/>
          </a:prstGeom>
          <a:noFill/>
          <a:extLst>
            <a:ext uri="{909E8E84-426E-40DD-AFC4-6F175D3DCCD1}">
              <a14:hiddenFill xmlns:a14="http://schemas.microsoft.com/office/drawing/2010/main">
                <a:solidFill>
                  <a:srgbClr val="FFFFFF"/>
                </a:solidFill>
              </a14:hiddenFill>
            </a:ext>
          </a:extLst>
        </p:spPr>
      </p:pic>
      <p:sp>
        <p:nvSpPr>
          <p:cNvPr id="5" name="CaixaDeTexto 4">
            <a:extLst>
              <a:ext uri="{FF2B5EF4-FFF2-40B4-BE49-F238E27FC236}">
                <a16:creationId xmlns:a16="http://schemas.microsoft.com/office/drawing/2014/main" id="{71253339-1DEB-89C1-8C0E-7E916415966F}"/>
              </a:ext>
            </a:extLst>
          </p:cNvPr>
          <p:cNvSpPr txBox="1"/>
          <p:nvPr/>
        </p:nvSpPr>
        <p:spPr>
          <a:xfrm>
            <a:off x="7876686" y="1397816"/>
            <a:ext cx="1858297" cy="369332"/>
          </a:xfrm>
          <a:prstGeom prst="rect">
            <a:avLst/>
          </a:prstGeom>
          <a:noFill/>
        </p:spPr>
        <p:txBody>
          <a:bodyPr wrap="square" rtlCol="0">
            <a:spAutoFit/>
          </a:bodyPr>
          <a:lstStyle/>
          <a:p>
            <a:pPr algn="ctr"/>
            <a:r>
              <a:rPr lang="pt-BR" b="1" dirty="0"/>
              <a:t>sobreajuste</a:t>
            </a:r>
          </a:p>
        </p:txBody>
      </p:sp>
    </p:spTree>
    <p:extLst>
      <p:ext uri="{BB962C8B-B14F-4D97-AF65-F5344CB8AC3E}">
        <p14:creationId xmlns:p14="http://schemas.microsoft.com/office/powerpoint/2010/main" val="166250550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5079C6-CB84-CFE9-43C7-0B30FA68EF86}"/>
              </a:ext>
            </a:extLst>
          </p:cNvPr>
          <p:cNvSpPr>
            <a:spLocks noGrp="1"/>
          </p:cNvSpPr>
          <p:nvPr>
            <p:ph type="title"/>
          </p:nvPr>
        </p:nvSpPr>
        <p:spPr/>
        <p:txBody>
          <a:bodyPr/>
          <a:lstStyle/>
          <a:p>
            <a:r>
              <a:rPr lang="en-US" i="1" dirty="0"/>
              <a:t>Overfitting</a:t>
            </a:r>
            <a:endParaRPr lang="pt-BR" dirty="0"/>
          </a:p>
        </p:txBody>
      </p:sp>
      <p:sp>
        <p:nvSpPr>
          <p:cNvPr id="3" name="Espaço Reservado para Conteúdo 2">
            <a:extLst>
              <a:ext uri="{FF2B5EF4-FFF2-40B4-BE49-F238E27FC236}">
                <a16:creationId xmlns:a16="http://schemas.microsoft.com/office/drawing/2014/main" id="{00D9AD81-A061-C4A9-2251-C539F0790014}"/>
              </a:ext>
            </a:extLst>
          </p:cNvPr>
          <p:cNvSpPr>
            <a:spLocks noGrp="1"/>
          </p:cNvSpPr>
          <p:nvPr>
            <p:ph idx="1"/>
          </p:nvPr>
        </p:nvSpPr>
        <p:spPr>
          <a:xfrm>
            <a:off x="838200" y="4686301"/>
            <a:ext cx="11353800" cy="2171700"/>
          </a:xfrm>
        </p:spPr>
        <p:txBody>
          <a:bodyPr>
            <a:normAutofit lnSpcReduction="10000"/>
          </a:bodyPr>
          <a:lstStyle/>
          <a:p>
            <a:r>
              <a:rPr lang="pt-BR" dirty="0"/>
              <a:t>O </a:t>
            </a:r>
            <a:r>
              <a:rPr lang="pt-BR" dirty="0">
                <a:effectLst/>
              </a:rPr>
              <a:t>modelo se </a:t>
            </a:r>
            <a:r>
              <a:rPr lang="pt-BR" b="1" dirty="0">
                <a:solidFill>
                  <a:srgbClr val="7030A0"/>
                </a:solidFill>
                <a:effectLst/>
              </a:rPr>
              <a:t>ajusta excessivamente </a:t>
            </a:r>
            <a:r>
              <a:rPr lang="pt-BR" dirty="0">
                <a:effectLst/>
              </a:rPr>
              <a:t>aos dados de </a:t>
            </a:r>
            <a:r>
              <a:rPr lang="pt-BR" b="1" dirty="0">
                <a:solidFill>
                  <a:srgbClr val="7030A0"/>
                </a:solidFill>
                <a:effectLst/>
              </a:rPr>
              <a:t>treinamento</a:t>
            </a:r>
            <a:r>
              <a:rPr lang="pt-BR" dirty="0">
                <a:effectLst/>
              </a:rPr>
              <a:t> e </a:t>
            </a:r>
            <a:r>
              <a:rPr lang="pt-BR" b="1" dirty="0">
                <a:solidFill>
                  <a:srgbClr val="00B050"/>
                </a:solidFill>
                <a:effectLst/>
              </a:rPr>
              <a:t>perde a capacidade de generalizar</a:t>
            </a:r>
            <a:r>
              <a:rPr lang="pt-BR" dirty="0">
                <a:effectLst/>
              </a:rPr>
              <a:t>.</a:t>
            </a:r>
          </a:p>
          <a:p>
            <a:r>
              <a:rPr lang="pt-BR" dirty="0"/>
              <a:t>O modelo apresenta </a:t>
            </a:r>
            <a:r>
              <a:rPr lang="pt-BR" b="1" dirty="0"/>
              <a:t>erro muito baixo</a:t>
            </a:r>
            <a:r>
              <a:rPr lang="pt-BR" dirty="0"/>
              <a:t>, </a:t>
            </a:r>
            <a:r>
              <a:rPr lang="pt-BR" b="1" dirty="0">
                <a:solidFill>
                  <a:srgbClr val="00B0F0"/>
                </a:solidFill>
              </a:rPr>
              <a:t>tendendo a zero</a:t>
            </a:r>
            <a:r>
              <a:rPr lang="pt-BR" dirty="0"/>
              <a:t>, </a:t>
            </a:r>
            <a:r>
              <a:rPr lang="pt-BR" b="1" dirty="0"/>
              <a:t>no conjunto de treinamento</a:t>
            </a:r>
            <a:r>
              <a:rPr lang="pt-BR" dirty="0"/>
              <a:t> e </a:t>
            </a:r>
            <a:r>
              <a:rPr lang="pt-BR" b="1" dirty="0"/>
              <a:t>muito alto nos conjuntos de validação e de teste</a:t>
            </a:r>
            <a:r>
              <a:rPr lang="pt-BR" dirty="0"/>
              <a:t>.</a:t>
            </a:r>
          </a:p>
          <a:p>
            <a:r>
              <a:rPr lang="pt-BR" dirty="0"/>
              <a:t>Esse padrão de erros indica </a:t>
            </a:r>
            <a:r>
              <a:rPr lang="pt-BR" b="1" dirty="0">
                <a:solidFill>
                  <a:schemeClr val="accent2"/>
                </a:solidFill>
              </a:rPr>
              <a:t>alta variância</a:t>
            </a:r>
            <a:r>
              <a:rPr lang="pt-BR" dirty="0"/>
              <a:t>.</a:t>
            </a:r>
          </a:p>
        </p:txBody>
      </p:sp>
      <p:pic>
        <p:nvPicPr>
          <p:cNvPr id="7170" name="Picture 2">
            <a:extLst>
              <a:ext uri="{FF2B5EF4-FFF2-40B4-BE49-F238E27FC236}">
                <a16:creationId xmlns:a16="http://schemas.microsoft.com/office/drawing/2014/main" id="{1892C83B-01FF-5BDF-4F58-41B311222FA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199" t="18914" r="71063" b="27303"/>
          <a:stretch/>
        </p:blipFill>
        <p:spPr bwMode="auto">
          <a:xfrm>
            <a:off x="2352675" y="1654290"/>
            <a:ext cx="1993902" cy="2947214"/>
          </a:xfrm>
          <a:prstGeom prst="rect">
            <a:avLst/>
          </a:prstGeom>
          <a:noFill/>
          <a:extLst>
            <a:ext uri="{909E8E84-426E-40DD-AFC4-6F175D3DCCD1}">
              <a14:hiddenFill xmlns:a14="http://schemas.microsoft.com/office/drawing/2010/main">
                <a:solidFill>
                  <a:srgbClr val="FFFFFF"/>
                </a:solidFill>
              </a14:hiddenFill>
            </a:ext>
          </a:extLst>
        </p:spPr>
      </p:pic>
      <p:sp>
        <p:nvSpPr>
          <p:cNvPr id="4" name="CaixaDeTexto 3">
            <a:extLst>
              <a:ext uri="{FF2B5EF4-FFF2-40B4-BE49-F238E27FC236}">
                <a16:creationId xmlns:a16="http://schemas.microsoft.com/office/drawing/2014/main" id="{2D4157CD-EC99-C673-5888-FB8C3E89B649}"/>
              </a:ext>
            </a:extLst>
          </p:cNvPr>
          <p:cNvSpPr txBox="1"/>
          <p:nvPr/>
        </p:nvSpPr>
        <p:spPr>
          <a:xfrm>
            <a:off x="2633815" y="1374003"/>
            <a:ext cx="1707280" cy="369332"/>
          </a:xfrm>
          <a:prstGeom prst="rect">
            <a:avLst/>
          </a:prstGeom>
          <a:noFill/>
        </p:spPr>
        <p:txBody>
          <a:bodyPr wrap="square" rtlCol="0">
            <a:spAutoFit/>
          </a:bodyPr>
          <a:lstStyle/>
          <a:p>
            <a:pPr algn="ctr"/>
            <a:r>
              <a:rPr lang="pt-BR" b="1" dirty="0" err="1"/>
              <a:t>subajuste</a:t>
            </a:r>
            <a:endParaRPr lang="pt-BR" b="1" dirty="0"/>
          </a:p>
        </p:txBody>
      </p:sp>
      <p:sp>
        <p:nvSpPr>
          <p:cNvPr id="6" name="CaixaDeTexto 5">
            <a:extLst>
              <a:ext uri="{FF2B5EF4-FFF2-40B4-BE49-F238E27FC236}">
                <a16:creationId xmlns:a16="http://schemas.microsoft.com/office/drawing/2014/main" id="{AAA323F9-8E5C-2ED7-7474-00EAC3A9B445}"/>
              </a:ext>
            </a:extLst>
          </p:cNvPr>
          <p:cNvSpPr txBox="1"/>
          <p:nvPr/>
        </p:nvSpPr>
        <p:spPr>
          <a:xfrm>
            <a:off x="4987241" y="1336032"/>
            <a:ext cx="2050543" cy="369332"/>
          </a:xfrm>
          <a:prstGeom prst="rect">
            <a:avLst/>
          </a:prstGeom>
          <a:noFill/>
        </p:spPr>
        <p:txBody>
          <a:bodyPr wrap="square" rtlCol="0">
            <a:spAutoFit/>
          </a:bodyPr>
          <a:lstStyle/>
          <a:p>
            <a:pPr algn="ctr"/>
            <a:r>
              <a:rPr lang="pt-BR" b="1" dirty="0"/>
              <a:t>ajuste apropriado</a:t>
            </a:r>
          </a:p>
        </p:txBody>
      </p:sp>
      <p:sp>
        <p:nvSpPr>
          <p:cNvPr id="7" name="CaixaDeTexto 6">
            <a:extLst>
              <a:ext uri="{FF2B5EF4-FFF2-40B4-BE49-F238E27FC236}">
                <a16:creationId xmlns:a16="http://schemas.microsoft.com/office/drawing/2014/main" id="{42279F6B-8E44-6328-821B-2B13EEE2036B}"/>
              </a:ext>
            </a:extLst>
          </p:cNvPr>
          <p:cNvSpPr txBox="1"/>
          <p:nvPr/>
        </p:nvSpPr>
        <p:spPr>
          <a:xfrm>
            <a:off x="1197524" y="2011635"/>
            <a:ext cx="1247571" cy="369332"/>
          </a:xfrm>
          <a:prstGeom prst="rect">
            <a:avLst/>
          </a:prstGeom>
          <a:noFill/>
        </p:spPr>
        <p:txBody>
          <a:bodyPr wrap="square" rtlCol="0">
            <a:spAutoFit/>
          </a:bodyPr>
          <a:lstStyle/>
          <a:p>
            <a:r>
              <a:rPr lang="pt-BR" b="1" dirty="0"/>
              <a:t>Regressão</a:t>
            </a:r>
          </a:p>
        </p:txBody>
      </p:sp>
      <p:sp>
        <p:nvSpPr>
          <p:cNvPr id="8" name="CaixaDeTexto 7">
            <a:extLst>
              <a:ext uri="{FF2B5EF4-FFF2-40B4-BE49-F238E27FC236}">
                <a16:creationId xmlns:a16="http://schemas.microsoft.com/office/drawing/2014/main" id="{01E6D656-857C-E1E7-B118-2232A5B3C12A}"/>
              </a:ext>
            </a:extLst>
          </p:cNvPr>
          <p:cNvSpPr txBox="1"/>
          <p:nvPr/>
        </p:nvSpPr>
        <p:spPr>
          <a:xfrm>
            <a:off x="949141" y="3668320"/>
            <a:ext cx="1507195" cy="369332"/>
          </a:xfrm>
          <a:prstGeom prst="rect">
            <a:avLst/>
          </a:prstGeom>
          <a:noFill/>
        </p:spPr>
        <p:txBody>
          <a:bodyPr wrap="square" rtlCol="0">
            <a:spAutoFit/>
          </a:bodyPr>
          <a:lstStyle/>
          <a:p>
            <a:r>
              <a:rPr lang="pt-BR" b="1" dirty="0"/>
              <a:t>Classificação</a:t>
            </a:r>
          </a:p>
        </p:txBody>
      </p:sp>
      <p:pic>
        <p:nvPicPr>
          <p:cNvPr id="9" name="Picture 2">
            <a:extLst>
              <a:ext uri="{FF2B5EF4-FFF2-40B4-BE49-F238E27FC236}">
                <a16:creationId xmlns:a16="http://schemas.microsoft.com/office/drawing/2014/main" id="{18114226-93F9-BEA2-8207-47B386FC609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8345" t="19278" r="40638" b="27303"/>
          <a:stretch/>
        </p:blipFill>
        <p:spPr bwMode="auto">
          <a:xfrm>
            <a:off x="4991619" y="1666669"/>
            <a:ext cx="2020860" cy="292723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a:extLst>
              <a:ext uri="{FF2B5EF4-FFF2-40B4-BE49-F238E27FC236}">
                <a16:creationId xmlns:a16="http://schemas.microsoft.com/office/drawing/2014/main" id="{5DE423C0-8EE4-15A7-2DEA-C42F713C06E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9602" t="20289" r="9128" b="27303"/>
          <a:stretch/>
        </p:blipFill>
        <p:spPr bwMode="auto">
          <a:xfrm>
            <a:off x="7662415" y="1654290"/>
            <a:ext cx="2084490" cy="2927235"/>
          </a:xfrm>
          <a:prstGeom prst="rect">
            <a:avLst/>
          </a:prstGeom>
          <a:noFill/>
          <a:extLst>
            <a:ext uri="{909E8E84-426E-40DD-AFC4-6F175D3DCCD1}">
              <a14:hiddenFill xmlns:a14="http://schemas.microsoft.com/office/drawing/2010/main">
                <a:solidFill>
                  <a:srgbClr val="FFFFFF"/>
                </a:solidFill>
              </a14:hiddenFill>
            </a:ext>
          </a:extLst>
        </p:spPr>
      </p:pic>
      <p:sp>
        <p:nvSpPr>
          <p:cNvPr id="5" name="CaixaDeTexto 4">
            <a:extLst>
              <a:ext uri="{FF2B5EF4-FFF2-40B4-BE49-F238E27FC236}">
                <a16:creationId xmlns:a16="http://schemas.microsoft.com/office/drawing/2014/main" id="{71253339-1DEB-89C1-8C0E-7E916415966F}"/>
              </a:ext>
            </a:extLst>
          </p:cNvPr>
          <p:cNvSpPr txBox="1"/>
          <p:nvPr/>
        </p:nvSpPr>
        <p:spPr>
          <a:xfrm>
            <a:off x="7876687" y="1334756"/>
            <a:ext cx="1707280" cy="369332"/>
          </a:xfrm>
          <a:prstGeom prst="rect">
            <a:avLst/>
          </a:prstGeom>
          <a:noFill/>
        </p:spPr>
        <p:txBody>
          <a:bodyPr wrap="square" rtlCol="0">
            <a:spAutoFit/>
          </a:bodyPr>
          <a:lstStyle/>
          <a:p>
            <a:pPr algn="ctr"/>
            <a:r>
              <a:rPr lang="pt-BR" b="1" dirty="0"/>
              <a:t>sobreajuste</a:t>
            </a:r>
          </a:p>
        </p:txBody>
      </p:sp>
    </p:spTree>
    <p:extLst>
      <p:ext uri="{BB962C8B-B14F-4D97-AF65-F5344CB8AC3E}">
        <p14:creationId xmlns:p14="http://schemas.microsoft.com/office/powerpoint/2010/main" val="385459219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5079C6-CB84-CFE9-43C7-0B30FA68EF86}"/>
              </a:ext>
            </a:extLst>
          </p:cNvPr>
          <p:cNvSpPr>
            <a:spLocks noGrp="1"/>
          </p:cNvSpPr>
          <p:nvPr>
            <p:ph type="title"/>
          </p:nvPr>
        </p:nvSpPr>
        <p:spPr/>
        <p:txBody>
          <a:bodyPr/>
          <a:lstStyle/>
          <a:p>
            <a:r>
              <a:rPr lang="en-US" i="1" dirty="0"/>
              <a:t>Overfitting</a:t>
            </a:r>
            <a:endParaRPr lang="pt-BR" dirty="0"/>
          </a:p>
        </p:txBody>
      </p:sp>
      <p:sp>
        <p:nvSpPr>
          <p:cNvPr id="3" name="Espaço Reservado para Conteúdo 2">
            <a:extLst>
              <a:ext uri="{FF2B5EF4-FFF2-40B4-BE49-F238E27FC236}">
                <a16:creationId xmlns:a16="http://schemas.microsoft.com/office/drawing/2014/main" id="{00D9AD81-A061-C4A9-2251-C539F0790014}"/>
              </a:ext>
            </a:extLst>
          </p:cNvPr>
          <p:cNvSpPr>
            <a:spLocks noGrp="1"/>
          </p:cNvSpPr>
          <p:nvPr>
            <p:ph idx="1"/>
          </p:nvPr>
        </p:nvSpPr>
        <p:spPr>
          <a:xfrm>
            <a:off x="838200" y="4922451"/>
            <a:ext cx="11216148" cy="1935549"/>
          </a:xfrm>
        </p:spPr>
        <p:txBody>
          <a:bodyPr>
            <a:normAutofit/>
          </a:bodyPr>
          <a:lstStyle/>
          <a:p>
            <a:r>
              <a:rPr lang="pt-BR" b="1" dirty="0">
                <a:solidFill>
                  <a:srgbClr val="7030A0"/>
                </a:solidFill>
              </a:rPr>
              <a:t>Possíveis causas</a:t>
            </a:r>
            <a:r>
              <a:rPr lang="pt-BR" dirty="0"/>
              <a:t>: </a:t>
            </a:r>
            <a:r>
              <a:rPr lang="pt-BR" b="1" dirty="0"/>
              <a:t>modelo muito complexo</a:t>
            </a:r>
            <a:r>
              <a:rPr lang="pt-BR" dirty="0"/>
              <a:t>, </a:t>
            </a:r>
            <a:r>
              <a:rPr lang="pt-BR" b="1" dirty="0"/>
              <a:t>treinamento excessivo </a:t>
            </a:r>
            <a:r>
              <a:rPr lang="pt-BR" dirty="0"/>
              <a:t>(</a:t>
            </a:r>
            <a:r>
              <a:rPr lang="pt-BR" b="0" dirty="0">
                <a:effectLst/>
              </a:rPr>
              <a:t>leva à memorização dos dados de treinamento)</a:t>
            </a:r>
            <a:r>
              <a:rPr lang="pt-BR" dirty="0"/>
              <a:t>, </a:t>
            </a:r>
            <a:r>
              <a:rPr lang="pt-BR" b="1" dirty="0"/>
              <a:t>f</a:t>
            </a:r>
            <a:r>
              <a:rPr lang="pt-BR" b="1" dirty="0">
                <a:effectLst/>
              </a:rPr>
              <a:t>alta de dados </a:t>
            </a:r>
            <a:r>
              <a:rPr lang="pt-BR" dirty="0">
                <a:effectLst/>
              </a:rPr>
              <a:t>(o modelo tem poucos</a:t>
            </a:r>
            <a:r>
              <a:rPr lang="pt-BR" b="0" dirty="0">
                <a:effectLst/>
              </a:rPr>
              <a:t> exemplos para aprender os padrões gerais).</a:t>
            </a:r>
            <a:endParaRPr lang="pt-BR" dirty="0"/>
          </a:p>
        </p:txBody>
      </p:sp>
      <p:pic>
        <p:nvPicPr>
          <p:cNvPr id="7170" name="Picture 2">
            <a:extLst>
              <a:ext uri="{FF2B5EF4-FFF2-40B4-BE49-F238E27FC236}">
                <a16:creationId xmlns:a16="http://schemas.microsoft.com/office/drawing/2014/main" id="{1892C83B-01FF-5BDF-4F58-41B311222FA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199" t="18914" r="71063" b="27303"/>
          <a:stretch/>
        </p:blipFill>
        <p:spPr bwMode="auto">
          <a:xfrm>
            <a:off x="2352675" y="1654290"/>
            <a:ext cx="1993902" cy="2947214"/>
          </a:xfrm>
          <a:prstGeom prst="rect">
            <a:avLst/>
          </a:prstGeom>
          <a:noFill/>
          <a:extLst>
            <a:ext uri="{909E8E84-426E-40DD-AFC4-6F175D3DCCD1}">
              <a14:hiddenFill xmlns:a14="http://schemas.microsoft.com/office/drawing/2010/main">
                <a:solidFill>
                  <a:srgbClr val="FFFFFF"/>
                </a:solidFill>
              </a14:hiddenFill>
            </a:ext>
          </a:extLst>
        </p:spPr>
      </p:pic>
      <p:sp>
        <p:nvSpPr>
          <p:cNvPr id="4" name="CaixaDeTexto 3">
            <a:extLst>
              <a:ext uri="{FF2B5EF4-FFF2-40B4-BE49-F238E27FC236}">
                <a16:creationId xmlns:a16="http://schemas.microsoft.com/office/drawing/2014/main" id="{2D4157CD-EC99-C673-5888-FB8C3E89B649}"/>
              </a:ext>
            </a:extLst>
          </p:cNvPr>
          <p:cNvSpPr txBox="1"/>
          <p:nvPr/>
        </p:nvSpPr>
        <p:spPr>
          <a:xfrm>
            <a:off x="2633815" y="1374003"/>
            <a:ext cx="1707280" cy="369332"/>
          </a:xfrm>
          <a:prstGeom prst="rect">
            <a:avLst/>
          </a:prstGeom>
          <a:noFill/>
        </p:spPr>
        <p:txBody>
          <a:bodyPr wrap="square" rtlCol="0">
            <a:spAutoFit/>
          </a:bodyPr>
          <a:lstStyle/>
          <a:p>
            <a:pPr algn="ctr"/>
            <a:r>
              <a:rPr lang="pt-BR" b="1" dirty="0" err="1"/>
              <a:t>subajuste</a:t>
            </a:r>
            <a:endParaRPr lang="pt-BR" b="1" dirty="0"/>
          </a:p>
        </p:txBody>
      </p:sp>
      <p:sp>
        <p:nvSpPr>
          <p:cNvPr id="6" name="CaixaDeTexto 5">
            <a:extLst>
              <a:ext uri="{FF2B5EF4-FFF2-40B4-BE49-F238E27FC236}">
                <a16:creationId xmlns:a16="http://schemas.microsoft.com/office/drawing/2014/main" id="{AAA323F9-8E5C-2ED7-7474-00EAC3A9B445}"/>
              </a:ext>
            </a:extLst>
          </p:cNvPr>
          <p:cNvSpPr txBox="1"/>
          <p:nvPr/>
        </p:nvSpPr>
        <p:spPr>
          <a:xfrm>
            <a:off x="5040284" y="1372931"/>
            <a:ext cx="2050543" cy="369332"/>
          </a:xfrm>
          <a:prstGeom prst="rect">
            <a:avLst/>
          </a:prstGeom>
          <a:noFill/>
        </p:spPr>
        <p:txBody>
          <a:bodyPr wrap="square" rtlCol="0">
            <a:spAutoFit/>
          </a:bodyPr>
          <a:lstStyle/>
          <a:p>
            <a:pPr algn="ctr"/>
            <a:r>
              <a:rPr lang="pt-BR" b="1" dirty="0"/>
              <a:t>ajuste apropriado</a:t>
            </a:r>
          </a:p>
        </p:txBody>
      </p:sp>
      <p:sp>
        <p:nvSpPr>
          <p:cNvPr id="7" name="CaixaDeTexto 6">
            <a:extLst>
              <a:ext uri="{FF2B5EF4-FFF2-40B4-BE49-F238E27FC236}">
                <a16:creationId xmlns:a16="http://schemas.microsoft.com/office/drawing/2014/main" id="{42279F6B-8E44-6328-821B-2B13EEE2036B}"/>
              </a:ext>
            </a:extLst>
          </p:cNvPr>
          <p:cNvSpPr txBox="1"/>
          <p:nvPr/>
        </p:nvSpPr>
        <p:spPr>
          <a:xfrm>
            <a:off x="1197524" y="2011635"/>
            <a:ext cx="1247571" cy="369332"/>
          </a:xfrm>
          <a:prstGeom prst="rect">
            <a:avLst/>
          </a:prstGeom>
          <a:noFill/>
        </p:spPr>
        <p:txBody>
          <a:bodyPr wrap="square" rtlCol="0">
            <a:spAutoFit/>
          </a:bodyPr>
          <a:lstStyle/>
          <a:p>
            <a:r>
              <a:rPr lang="pt-BR" b="1" dirty="0"/>
              <a:t>Regressão</a:t>
            </a:r>
          </a:p>
        </p:txBody>
      </p:sp>
      <p:sp>
        <p:nvSpPr>
          <p:cNvPr id="8" name="CaixaDeTexto 7">
            <a:extLst>
              <a:ext uri="{FF2B5EF4-FFF2-40B4-BE49-F238E27FC236}">
                <a16:creationId xmlns:a16="http://schemas.microsoft.com/office/drawing/2014/main" id="{01E6D656-857C-E1E7-B118-2232A5B3C12A}"/>
              </a:ext>
            </a:extLst>
          </p:cNvPr>
          <p:cNvSpPr txBox="1"/>
          <p:nvPr/>
        </p:nvSpPr>
        <p:spPr>
          <a:xfrm>
            <a:off x="949141" y="3668320"/>
            <a:ext cx="1507195" cy="369332"/>
          </a:xfrm>
          <a:prstGeom prst="rect">
            <a:avLst/>
          </a:prstGeom>
          <a:noFill/>
        </p:spPr>
        <p:txBody>
          <a:bodyPr wrap="square" rtlCol="0">
            <a:spAutoFit/>
          </a:bodyPr>
          <a:lstStyle/>
          <a:p>
            <a:r>
              <a:rPr lang="pt-BR" b="1" dirty="0"/>
              <a:t>Classificação</a:t>
            </a:r>
          </a:p>
        </p:txBody>
      </p:sp>
      <p:pic>
        <p:nvPicPr>
          <p:cNvPr id="9" name="Picture 2">
            <a:extLst>
              <a:ext uri="{FF2B5EF4-FFF2-40B4-BE49-F238E27FC236}">
                <a16:creationId xmlns:a16="http://schemas.microsoft.com/office/drawing/2014/main" id="{18114226-93F9-BEA2-8207-47B386FC609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8345" t="19278" r="40638" b="27303"/>
          <a:stretch/>
        </p:blipFill>
        <p:spPr bwMode="auto">
          <a:xfrm>
            <a:off x="4991619" y="1666669"/>
            <a:ext cx="2020860" cy="292723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a:extLst>
              <a:ext uri="{FF2B5EF4-FFF2-40B4-BE49-F238E27FC236}">
                <a16:creationId xmlns:a16="http://schemas.microsoft.com/office/drawing/2014/main" id="{5DE423C0-8EE4-15A7-2DEA-C42F713C06E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9602" t="20289" r="9128" b="27303"/>
          <a:stretch/>
        </p:blipFill>
        <p:spPr bwMode="auto">
          <a:xfrm>
            <a:off x="7662415" y="1654290"/>
            <a:ext cx="2084490" cy="2927235"/>
          </a:xfrm>
          <a:prstGeom prst="rect">
            <a:avLst/>
          </a:prstGeom>
          <a:noFill/>
          <a:extLst>
            <a:ext uri="{909E8E84-426E-40DD-AFC4-6F175D3DCCD1}">
              <a14:hiddenFill xmlns:a14="http://schemas.microsoft.com/office/drawing/2010/main">
                <a:solidFill>
                  <a:srgbClr val="FFFFFF"/>
                </a:solidFill>
              </a14:hiddenFill>
            </a:ext>
          </a:extLst>
        </p:spPr>
      </p:pic>
      <p:sp>
        <p:nvSpPr>
          <p:cNvPr id="5" name="CaixaDeTexto 4">
            <a:extLst>
              <a:ext uri="{FF2B5EF4-FFF2-40B4-BE49-F238E27FC236}">
                <a16:creationId xmlns:a16="http://schemas.microsoft.com/office/drawing/2014/main" id="{71253339-1DEB-89C1-8C0E-7E916415966F}"/>
              </a:ext>
            </a:extLst>
          </p:cNvPr>
          <p:cNvSpPr txBox="1"/>
          <p:nvPr/>
        </p:nvSpPr>
        <p:spPr>
          <a:xfrm>
            <a:off x="7876687" y="1397816"/>
            <a:ext cx="1707280" cy="369332"/>
          </a:xfrm>
          <a:prstGeom prst="rect">
            <a:avLst/>
          </a:prstGeom>
          <a:noFill/>
        </p:spPr>
        <p:txBody>
          <a:bodyPr wrap="square" rtlCol="0">
            <a:spAutoFit/>
          </a:bodyPr>
          <a:lstStyle/>
          <a:p>
            <a:pPr algn="ctr"/>
            <a:r>
              <a:rPr lang="pt-BR" b="1" dirty="0"/>
              <a:t>sobreajuste</a:t>
            </a:r>
          </a:p>
        </p:txBody>
      </p:sp>
    </p:spTree>
    <p:extLst>
      <p:ext uri="{BB962C8B-B14F-4D97-AF65-F5344CB8AC3E}">
        <p14:creationId xmlns:p14="http://schemas.microsoft.com/office/powerpoint/2010/main" val="172555027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5079C6-CB84-CFE9-43C7-0B30FA68EF86}"/>
              </a:ext>
            </a:extLst>
          </p:cNvPr>
          <p:cNvSpPr>
            <a:spLocks noGrp="1"/>
          </p:cNvSpPr>
          <p:nvPr>
            <p:ph type="title"/>
          </p:nvPr>
        </p:nvSpPr>
        <p:spPr/>
        <p:txBody>
          <a:bodyPr/>
          <a:lstStyle/>
          <a:p>
            <a:r>
              <a:rPr lang="en-US" i="1" dirty="0"/>
              <a:t>Overfitting</a:t>
            </a:r>
            <a:endParaRPr lang="pt-BR" dirty="0"/>
          </a:p>
        </p:txBody>
      </p:sp>
      <p:sp>
        <p:nvSpPr>
          <p:cNvPr id="3" name="Espaço Reservado para Conteúdo 2">
            <a:extLst>
              <a:ext uri="{FF2B5EF4-FFF2-40B4-BE49-F238E27FC236}">
                <a16:creationId xmlns:a16="http://schemas.microsoft.com/office/drawing/2014/main" id="{00D9AD81-A061-C4A9-2251-C539F0790014}"/>
              </a:ext>
            </a:extLst>
          </p:cNvPr>
          <p:cNvSpPr>
            <a:spLocks noGrp="1"/>
          </p:cNvSpPr>
          <p:nvPr>
            <p:ph idx="1"/>
          </p:nvPr>
        </p:nvSpPr>
        <p:spPr>
          <a:xfrm>
            <a:off x="838200" y="4867563"/>
            <a:ext cx="11216148" cy="1990437"/>
          </a:xfrm>
        </p:spPr>
        <p:txBody>
          <a:bodyPr>
            <a:normAutofit/>
          </a:bodyPr>
          <a:lstStyle/>
          <a:p>
            <a:r>
              <a:rPr lang="pt-BR" b="1" dirty="0">
                <a:solidFill>
                  <a:srgbClr val="7030A0"/>
                </a:solidFill>
              </a:rPr>
              <a:t>Como mitigar</a:t>
            </a:r>
            <a:r>
              <a:rPr lang="pt-BR" dirty="0"/>
              <a:t>: </a:t>
            </a:r>
            <a:r>
              <a:rPr lang="pt-BR" b="1" dirty="0"/>
              <a:t>aumentar os dados de treinamento</a:t>
            </a:r>
            <a:r>
              <a:rPr lang="pt-BR" dirty="0"/>
              <a:t>, se possível, </a:t>
            </a:r>
            <a:r>
              <a:rPr lang="pt-BR" b="1" dirty="0"/>
              <a:t>r</a:t>
            </a:r>
            <a:r>
              <a:rPr lang="pt-BR" b="1" dirty="0">
                <a:effectLst/>
              </a:rPr>
              <a:t>eduzir a complexidade do modelo</a:t>
            </a:r>
            <a:r>
              <a:rPr lang="pt-BR" b="1" dirty="0"/>
              <a:t> </a:t>
            </a:r>
            <a:r>
              <a:rPr lang="pt-BR" dirty="0"/>
              <a:t>(e.g., </a:t>
            </a:r>
            <a:r>
              <a:rPr lang="pt-BR" b="0" dirty="0">
                <a:effectLst/>
              </a:rPr>
              <a:t>reduzir grau do polinômio), </a:t>
            </a:r>
            <a:r>
              <a:rPr lang="pt-BR" b="1" dirty="0">
                <a:effectLst/>
              </a:rPr>
              <a:t>aplicar técnicas de regularização </a:t>
            </a:r>
            <a:r>
              <a:rPr lang="pt-BR" b="0" dirty="0">
                <a:effectLst/>
              </a:rPr>
              <a:t>(e.g., penalizações L1 ou L2, </a:t>
            </a:r>
            <a:r>
              <a:rPr lang="pt-BR" b="0" i="1" dirty="0" err="1">
                <a:effectLst/>
              </a:rPr>
              <a:t>dropout</a:t>
            </a:r>
            <a:r>
              <a:rPr lang="pt-BR" b="0" dirty="0">
                <a:effectLst/>
              </a:rPr>
              <a:t>, </a:t>
            </a:r>
            <a:r>
              <a:rPr lang="pt-BR" i="1" dirty="0">
                <a:effectLst/>
              </a:rPr>
              <a:t>early-stopping</a:t>
            </a:r>
            <a:r>
              <a:rPr lang="pt-BR" b="0" dirty="0">
                <a:effectLst/>
              </a:rPr>
              <a:t>).</a:t>
            </a:r>
            <a:endParaRPr lang="pt-BR" dirty="0"/>
          </a:p>
        </p:txBody>
      </p:sp>
      <p:pic>
        <p:nvPicPr>
          <p:cNvPr id="7170" name="Picture 2">
            <a:extLst>
              <a:ext uri="{FF2B5EF4-FFF2-40B4-BE49-F238E27FC236}">
                <a16:creationId xmlns:a16="http://schemas.microsoft.com/office/drawing/2014/main" id="{1892C83B-01FF-5BDF-4F58-41B311222FA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199" t="18914" r="71063" b="27303"/>
          <a:stretch/>
        </p:blipFill>
        <p:spPr bwMode="auto">
          <a:xfrm>
            <a:off x="2352675" y="1701915"/>
            <a:ext cx="1993902" cy="2947214"/>
          </a:xfrm>
          <a:prstGeom prst="rect">
            <a:avLst/>
          </a:prstGeom>
          <a:noFill/>
          <a:extLst>
            <a:ext uri="{909E8E84-426E-40DD-AFC4-6F175D3DCCD1}">
              <a14:hiddenFill xmlns:a14="http://schemas.microsoft.com/office/drawing/2010/main">
                <a:solidFill>
                  <a:srgbClr val="FFFFFF"/>
                </a:solidFill>
              </a14:hiddenFill>
            </a:ext>
          </a:extLst>
        </p:spPr>
      </p:pic>
      <p:sp>
        <p:nvSpPr>
          <p:cNvPr id="4" name="CaixaDeTexto 3">
            <a:extLst>
              <a:ext uri="{FF2B5EF4-FFF2-40B4-BE49-F238E27FC236}">
                <a16:creationId xmlns:a16="http://schemas.microsoft.com/office/drawing/2014/main" id="{2D4157CD-EC99-C673-5888-FB8C3E89B649}"/>
              </a:ext>
            </a:extLst>
          </p:cNvPr>
          <p:cNvSpPr txBox="1"/>
          <p:nvPr/>
        </p:nvSpPr>
        <p:spPr>
          <a:xfrm>
            <a:off x="2633815" y="1421628"/>
            <a:ext cx="1707280" cy="369332"/>
          </a:xfrm>
          <a:prstGeom prst="rect">
            <a:avLst/>
          </a:prstGeom>
          <a:noFill/>
        </p:spPr>
        <p:txBody>
          <a:bodyPr wrap="square" rtlCol="0">
            <a:spAutoFit/>
          </a:bodyPr>
          <a:lstStyle/>
          <a:p>
            <a:pPr algn="ctr"/>
            <a:r>
              <a:rPr lang="pt-BR" b="1" dirty="0" err="1"/>
              <a:t>subajuste</a:t>
            </a:r>
            <a:endParaRPr lang="pt-BR" b="1" dirty="0"/>
          </a:p>
        </p:txBody>
      </p:sp>
      <p:sp>
        <p:nvSpPr>
          <p:cNvPr id="6" name="CaixaDeTexto 5">
            <a:extLst>
              <a:ext uri="{FF2B5EF4-FFF2-40B4-BE49-F238E27FC236}">
                <a16:creationId xmlns:a16="http://schemas.microsoft.com/office/drawing/2014/main" id="{AAA323F9-8E5C-2ED7-7474-00EAC3A9B445}"/>
              </a:ext>
            </a:extLst>
          </p:cNvPr>
          <p:cNvSpPr txBox="1"/>
          <p:nvPr/>
        </p:nvSpPr>
        <p:spPr>
          <a:xfrm>
            <a:off x="5040284" y="1420556"/>
            <a:ext cx="2050543" cy="369332"/>
          </a:xfrm>
          <a:prstGeom prst="rect">
            <a:avLst/>
          </a:prstGeom>
          <a:noFill/>
        </p:spPr>
        <p:txBody>
          <a:bodyPr wrap="square" rtlCol="0">
            <a:spAutoFit/>
          </a:bodyPr>
          <a:lstStyle/>
          <a:p>
            <a:pPr algn="ctr"/>
            <a:r>
              <a:rPr lang="pt-BR" b="1" dirty="0"/>
              <a:t>ajuste apropriado</a:t>
            </a:r>
          </a:p>
        </p:txBody>
      </p:sp>
      <p:sp>
        <p:nvSpPr>
          <p:cNvPr id="7" name="CaixaDeTexto 6">
            <a:extLst>
              <a:ext uri="{FF2B5EF4-FFF2-40B4-BE49-F238E27FC236}">
                <a16:creationId xmlns:a16="http://schemas.microsoft.com/office/drawing/2014/main" id="{42279F6B-8E44-6328-821B-2B13EEE2036B}"/>
              </a:ext>
            </a:extLst>
          </p:cNvPr>
          <p:cNvSpPr txBox="1"/>
          <p:nvPr/>
        </p:nvSpPr>
        <p:spPr>
          <a:xfrm>
            <a:off x="1197524" y="2059260"/>
            <a:ext cx="1247571" cy="369332"/>
          </a:xfrm>
          <a:prstGeom prst="rect">
            <a:avLst/>
          </a:prstGeom>
          <a:noFill/>
        </p:spPr>
        <p:txBody>
          <a:bodyPr wrap="square" rtlCol="0">
            <a:spAutoFit/>
          </a:bodyPr>
          <a:lstStyle/>
          <a:p>
            <a:r>
              <a:rPr lang="pt-BR" b="1" dirty="0"/>
              <a:t>Regressão</a:t>
            </a:r>
          </a:p>
        </p:txBody>
      </p:sp>
      <p:sp>
        <p:nvSpPr>
          <p:cNvPr id="8" name="CaixaDeTexto 7">
            <a:extLst>
              <a:ext uri="{FF2B5EF4-FFF2-40B4-BE49-F238E27FC236}">
                <a16:creationId xmlns:a16="http://schemas.microsoft.com/office/drawing/2014/main" id="{01E6D656-857C-E1E7-B118-2232A5B3C12A}"/>
              </a:ext>
            </a:extLst>
          </p:cNvPr>
          <p:cNvSpPr txBox="1"/>
          <p:nvPr/>
        </p:nvSpPr>
        <p:spPr>
          <a:xfrm>
            <a:off x="949141" y="3715945"/>
            <a:ext cx="1507195" cy="369332"/>
          </a:xfrm>
          <a:prstGeom prst="rect">
            <a:avLst/>
          </a:prstGeom>
          <a:noFill/>
        </p:spPr>
        <p:txBody>
          <a:bodyPr wrap="square" rtlCol="0">
            <a:spAutoFit/>
          </a:bodyPr>
          <a:lstStyle/>
          <a:p>
            <a:r>
              <a:rPr lang="pt-BR" b="1" dirty="0"/>
              <a:t>Classificação</a:t>
            </a:r>
          </a:p>
        </p:txBody>
      </p:sp>
      <p:pic>
        <p:nvPicPr>
          <p:cNvPr id="9" name="Picture 2">
            <a:extLst>
              <a:ext uri="{FF2B5EF4-FFF2-40B4-BE49-F238E27FC236}">
                <a16:creationId xmlns:a16="http://schemas.microsoft.com/office/drawing/2014/main" id="{18114226-93F9-BEA2-8207-47B386FC609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8345" t="19278" r="40638" b="27303"/>
          <a:stretch/>
        </p:blipFill>
        <p:spPr bwMode="auto">
          <a:xfrm>
            <a:off x="4991619" y="1714294"/>
            <a:ext cx="2020860" cy="292723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a:extLst>
              <a:ext uri="{FF2B5EF4-FFF2-40B4-BE49-F238E27FC236}">
                <a16:creationId xmlns:a16="http://schemas.microsoft.com/office/drawing/2014/main" id="{5DE423C0-8EE4-15A7-2DEA-C42F713C06E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9602" t="20289" r="9128" b="27303"/>
          <a:stretch/>
        </p:blipFill>
        <p:spPr bwMode="auto">
          <a:xfrm>
            <a:off x="7662415" y="1701915"/>
            <a:ext cx="2084490" cy="2927235"/>
          </a:xfrm>
          <a:prstGeom prst="rect">
            <a:avLst/>
          </a:prstGeom>
          <a:noFill/>
          <a:extLst>
            <a:ext uri="{909E8E84-426E-40DD-AFC4-6F175D3DCCD1}">
              <a14:hiddenFill xmlns:a14="http://schemas.microsoft.com/office/drawing/2010/main">
                <a:solidFill>
                  <a:srgbClr val="FFFFFF"/>
                </a:solidFill>
              </a14:hiddenFill>
            </a:ext>
          </a:extLst>
        </p:spPr>
      </p:pic>
      <p:sp>
        <p:nvSpPr>
          <p:cNvPr id="5" name="CaixaDeTexto 4">
            <a:extLst>
              <a:ext uri="{FF2B5EF4-FFF2-40B4-BE49-F238E27FC236}">
                <a16:creationId xmlns:a16="http://schemas.microsoft.com/office/drawing/2014/main" id="{71253339-1DEB-89C1-8C0E-7E916415966F}"/>
              </a:ext>
            </a:extLst>
          </p:cNvPr>
          <p:cNvSpPr txBox="1"/>
          <p:nvPr/>
        </p:nvSpPr>
        <p:spPr>
          <a:xfrm>
            <a:off x="7876687" y="1445441"/>
            <a:ext cx="1707280" cy="369332"/>
          </a:xfrm>
          <a:prstGeom prst="rect">
            <a:avLst/>
          </a:prstGeom>
          <a:noFill/>
        </p:spPr>
        <p:txBody>
          <a:bodyPr wrap="square" rtlCol="0">
            <a:spAutoFit/>
          </a:bodyPr>
          <a:lstStyle/>
          <a:p>
            <a:pPr algn="ctr"/>
            <a:r>
              <a:rPr lang="pt-BR" b="1" dirty="0"/>
              <a:t>sobreajuste</a:t>
            </a:r>
          </a:p>
        </p:txBody>
      </p:sp>
    </p:spTree>
    <p:extLst>
      <p:ext uri="{BB962C8B-B14F-4D97-AF65-F5344CB8AC3E}">
        <p14:creationId xmlns:p14="http://schemas.microsoft.com/office/powerpoint/2010/main" val="318170098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5079C6-CB84-CFE9-43C7-0B30FA68EF86}"/>
              </a:ext>
            </a:extLst>
          </p:cNvPr>
          <p:cNvSpPr>
            <a:spLocks noGrp="1"/>
          </p:cNvSpPr>
          <p:nvPr>
            <p:ph type="title"/>
          </p:nvPr>
        </p:nvSpPr>
        <p:spPr/>
        <p:txBody>
          <a:bodyPr/>
          <a:lstStyle/>
          <a:p>
            <a:r>
              <a:rPr lang="pt-BR" noProof="0"/>
              <a:t>Ponto de equilíbrio</a:t>
            </a:r>
          </a:p>
        </p:txBody>
      </p:sp>
      <p:sp>
        <p:nvSpPr>
          <p:cNvPr id="3" name="Espaço Reservado para Conteúdo 2">
            <a:extLst>
              <a:ext uri="{FF2B5EF4-FFF2-40B4-BE49-F238E27FC236}">
                <a16:creationId xmlns:a16="http://schemas.microsoft.com/office/drawing/2014/main" id="{00D9AD81-A061-C4A9-2251-C539F0790014}"/>
              </a:ext>
            </a:extLst>
          </p:cNvPr>
          <p:cNvSpPr>
            <a:spLocks noGrp="1"/>
          </p:cNvSpPr>
          <p:nvPr>
            <p:ph idx="1"/>
          </p:nvPr>
        </p:nvSpPr>
        <p:spPr>
          <a:xfrm>
            <a:off x="838200" y="4768645"/>
            <a:ext cx="11353800" cy="2089356"/>
          </a:xfrm>
        </p:spPr>
        <p:txBody>
          <a:bodyPr>
            <a:normAutofit/>
          </a:bodyPr>
          <a:lstStyle/>
          <a:p>
            <a:r>
              <a:rPr lang="pt-BR" dirty="0">
                <a:effectLst/>
              </a:rPr>
              <a:t>Encontrar o </a:t>
            </a:r>
            <a:r>
              <a:rPr lang="pt-BR" b="1" dirty="0">
                <a:solidFill>
                  <a:srgbClr val="00B050"/>
                </a:solidFill>
                <a:effectLst/>
              </a:rPr>
              <a:t>equilíbrio entre a complexidade </a:t>
            </a:r>
            <a:r>
              <a:rPr lang="pt-BR" dirty="0">
                <a:effectLst/>
              </a:rPr>
              <a:t>(ou flexibilidade) do modelo e sua </a:t>
            </a:r>
            <a:r>
              <a:rPr lang="pt-BR" b="1" dirty="0">
                <a:solidFill>
                  <a:srgbClr val="00B050"/>
                </a:solidFill>
                <a:effectLst/>
              </a:rPr>
              <a:t>capacidade de generalização </a:t>
            </a:r>
            <a:r>
              <a:rPr lang="pt-BR" dirty="0">
                <a:effectLst/>
              </a:rPr>
              <a:t>é essencial para um bom desempenho.</a:t>
            </a:r>
          </a:p>
          <a:p>
            <a:r>
              <a:rPr lang="pt-BR" dirty="0"/>
              <a:t>Um modelo que atinge o </a:t>
            </a:r>
            <a:r>
              <a:rPr lang="pt-BR" b="1" dirty="0">
                <a:solidFill>
                  <a:schemeClr val="accent2"/>
                </a:solidFill>
              </a:rPr>
              <a:t>ponto de equilíbrio</a:t>
            </a:r>
            <a:r>
              <a:rPr lang="pt-BR" dirty="0"/>
              <a:t> apresenta</a:t>
            </a:r>
            <a:r>
              <a:rPr lang="pt-BR" b="1" dirty="0">
                <a:solidFill>
                  <a:schemeClr val="accent2"/>
                </a:solidFill>
              </a:rPr>
              <a:t> erros de treinamento, validação e teste pequenos e próximos</a:t>
            </a:r>
            <a:r>
              <a:rPr lang="pt-BR" dirty="0"/>
              <a:t>.</a:t>
            </a:r>
          </a:p>
        </p:txBody>
      </p:sp>
      <p:pic>
        <p:nvPicPr>
          <p:cNvPr id="7170" name="Picture 2">
            <a:extLst>
              <a:ext uri="{FF2B5EF4-FFF2-40B4-BE49-F238E27FC236}">
                <a16:creationId xmlns:a16="http://schemas.microsoft.com/office/drawing/2014/main" id="{1892C83B-01FF-5BDF-4F58-41B311222FA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199" t="18914" r="71063" b="27303"/>
          <a:stretch/>
        </p:blipFill>
        <p:spPr bwMode="auto">
          <a:xfrm>
            <a:off x="2352675" y="1701915"/>
            <a:ext cx="1993902" cy="2947214"/>
          </a:xfrm>
          <a:prstGeom prst="rect">
            <a:avLst/>
          </a:prstGeom>
          <a:noFill/>
          <a:extLst>
            <a:ext uri="{909E8E84-426E-40DD-AFC4-6F175D3DCCD1}">
              <a14:hiddenFill xmlns:a14="http://schemas.microsoft.com/office/drawing/2010/main">
                <a:solidFill>
                  <a:srgbClr val="FFFFFF"/>
                </a:solidFill>
              </a14:hiddenFill>
            </a:ext>
          </a:extLst>
        </p:spPr>
      </p:pic>
      <p:sp>
        <p:nvSpPr>
          <p:cNvPr id="4" name="CaixaDeTexto 3">
            <a:extLst>
              <a:ext uri="{FF2B5EF4-FFF2-40B4-BE49-F238E27FC236}">
                <a16:creationId xmlns:a16="http://schemas.microsoft.com/office/drawing/2014/main" id="{2D4157CD-EC99-C673-5888-FB8C3E89B649}"/>
              </a:ext>
            </a:extLst>
          </p:cNvPr>
          <p:cNvSpPr txBox="1"/>
          <p:nvPr/>
        </p:nvSpPr>
        <p:spPr>
          <a:xfrm>
            <a:off x="2633815" y="1421628"/>
            <a:ext cx="1707280" cy="369332"/>
          </a:xfrm>
          <a:prstGeom prst="rect">
            <a:avLst/>
          </a:prstGeom>
          <a:noFill/>
        </p:spPr>
        <p:txBody>
          <a:bodyPr wrap="square" rtlCol="0">
            <a:spAutoFit/>
          </a:bodyPr>
          <a:lstStyle/>
          <a:p>
            <a:pPr algn="ctr"/>
            <a:r>
              <a:rPr lang="pt-BR" b="1" dirty="0" err="1"/>
              <a:t>subajuste</a:t>
            </a:r>
            <a:endParaRPr lang="pt-BR" b="1" dirty="0"/>
          </a:p>
        </p:txBody>
      </p:sp>
      <p:sp>
        <p:nvSpPr>
          <p:cNvPr id="6" name="CaixaDeTexto 5">
            <a:extLst>
              <a:ext uri="{FF2B5EF4-FFF2-40B4-BE49-F238E27FC236}">
                <a16:creationId xmlns:a16="http://schemas.microsoft.com/office/drawing/2014/main" id="{AAA323F9-8E5C-2ED7-7474-00EAC3A9B445}"/>
              </a:ext>
            </a:extLst>
          </p:cNvPr>
          <p:cNvSpPr txBox="1"/>
          <p:nvPr/>
        </p:nvSpPr>
        <p:spPr>
          <a:xfrm>
            <a:off x="5040284" y="1420556"/>
            <a:ext cx="2050543" cy="369332"/>
          </a:xfrm>
          <a:prstGeom prst="rect">
            <a:avLst/>
          </a:prstGeom>
          <a:noFill/>
        </p:spPr>
        <p:txBody>
          <a:bodyPr wrap="square" rtlCol="0">
            <a:spAutoFit/>
          </a:bodyPr>
          <a:lstStyle/>
          <a:p>
            <a:pPr algn="ctr"/>
            <a:r>
              <a:rPr lang="pt-BR" b="1" dirty="0"/>
              <a:t>ajuste apropriado</a:t>
            </a:r>
          </a:p>
        </p:txBody>
      </p:sp>
      <p:sp>
        <p:nvSpPr>
          <p:cNvPr id="7" name="CaixaDeTexto 6">
            <a:extLst>
              <a:ext uri="{FF2B5EF4-FFF2-40B4-BE49-F238E27FC236}">
                <a16:creationId xmlns:a16="http://schemas.microsoft.com/office/drawing/2014/main" id="{42279F6B-8E44-6328-821B-2B13EEE2036B}"/>
              </a:ext>
            </a:extLst>
          </p:cNvPr>
          <p:cNvSpPr txBox="1"/>
          <p:nvPr/>
        </p:nvSpPr>
        <p:spPr>
          <a:xfrm>
            <a:off x="1197524" y="2059260"/>
            <a:ext cx="1247571" cy="369332"/>
          </a:xfrm>
          <a:prstGeom prst="rect">
            <a:avLst/>
          </a:prstGeom>
          <a:noFill/>
        </p:spPr>
        <p:txBody>
          <a:bodyPr wrap="square" rtlCol="0">
            <a:spAutoFit/>
          </a:bodyPr>
          <a:lstStyle/>
          <a:p>
            <a:r>
              <a:rPr lang="pt-BR" b="1" dirty="0"/>
              <a:t>Regressão</a:t>
            </a:r>
          </a:p>
        </p:txBody>
      </p:sp>
      <p:sp>
        <p:nvSpPr>
          <p:cNvPr id="8" name="CaixaDeTexto 7">
            <a:extLst>
              <a:ext uri="{FF2B5EF4-FFF2-40B4-BE49-F238E27FC236}">
                <a16:creationId xmlns:a16="http://schemas.microsoft.com/office/drawing/2014/main" id="{01E6D656-857C-E1E7-B118-2232A5B3C12A}"/>
              </a:ext>
            </a:extLst>
          </p:cNvPr>
          <p:cNvSpPr txBox="1"/>
          <p:nvPr/>
        </p:nvSpPr>
        <p:spPr>
          <a:xfrm>
            <a:off x="949141" y="3715945"/>
            <a:ext cx="1507195" cy="369332"/>
          </a:xfrm>
          <a:prstGeom prst="rect">
            <a:avLst/>
          </a:prstGeom>
          <a:noFill/>
        </p:spPr>
        <p:txBody>
          <a:bodyPr wrap="square" rtlCol="0">
            <a:spAutoFit/>
          </a:bodyPr>
          <a:lstStyle/>
          <a:p>
            <a:r>
              <a:rPr lang="pt-BR" b="1" dirty="0"/>
              <a:t>Classificação</a:t>
            </a:r>
          </a:p>
        </p:txBody>
      </p:sp>
      <p:pic>
        <p:nvPicPr>
          <p:cNvPr id="9" name="Picture 2">
            <a:extLst>
              <a:ext uri="{FF2B5EF4-FFF2-40B4-BE49-F238E27FC236}">
                <a16:creationId xmlns:a16="http://schemas.microsoft.com/office/drawing/2014/main" id="{18114226-93F9-BEA2-8207-47B386FC609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8345" t="19278" r="40638" b="27303"/>
          <a:stretch/>
        </p:blipFill>
        <p:spPr bwMode="auto">
          <a:xfrm>
            <a:off x="4991619" y="1714294"/>
            <a:ext cx="2020860" cy="292723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a:extLst>
              <a:ext uri="{FF2B5EF4-FFF2-40B4-BE49-F238E27FC236}">
                <a16:creationId xmlns:a16="http://schemas.microsoft.com/office/drawing/2014/main" id="{5DE423C0-8EE4-15A7-2DEA-C42F713C06E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9602" t="20289" r="9128" b="27303"/>
          <a:stretch/>
        </p:blipFill>
        <p:spPr bwMode="auto">
          <a:xfrm>
            <a:off x="7662415" y="1701915"/>
            <a:ext cx="2084490" cy="2927235"/>
          </a:xfrm>
          <a:prstGeom prst="rect">
            <a:avLst/>
          </a:prstGeom>
          <a:noFill/>
          <a:extLst>
            <a:ext uri="{909E8E84-426E-40DD-AFC4-6F175D3DCCD1}">
              <a14:hiddenFill xmlns:a14="http://schemas.microsoft.com/office/drawing/2010/main">
                <a:solidFill>
                  <a:srgbClr val="FFFFFF"/>
                </a:solidFill>
              </a14:hiddenFill>
            </a:ext>
          </a:extLst>
        </p:spPr>
      </p:pic>
      <p:sp>
        <p:nvSpPr>
          <p:cNvPr id="5" name="CaixaDeTexto 4">
            <a:extLst>
              <a:ext uri="{FF2B5EF4-FFF2-40B4-BE49-F238E27FC236}">
                <a16:creationId xmlns:a16="http://schemas.microsoft.com/office/drawing/2014/main" id="{71253339-1DEB-89C1-8C0E-7E916415966F}"/>
              </a:ext>
            </a:extLst>
          </p:cNvPr>
          <p:cNvSpPr txBox="1"/>
          <p:nvPr/>
        </p:nvSpPr>
        <p:spPr>
          <a:xfrm>
            <a:off x="7876687" y="1445441"/>
            <a:ext cx="1707280" cy="369332"/>
          </a:xfrm>
          <a:prstGeom prst="rect">
            <a:avLst/>
          </a:prstGeom>
          <a:noFill/>
        </p:spPr>
        <p:txBody>
          <a:bodyPr wrap="square" rtlCol="0">
            <a:spAutoFit/>
          </a:bodyPr>
          <a:lstStyle/>
          <a:p>
            <a:pPr algn="ctr"/>
            <a:r>
              <a:rPr lang="pt-BR" b="1" dirty="0"/>
              <a:t>sobreajuste</a:t>
            </a:r>
          </a:p>
        </p:txBody>
      </p:sp>
    </p:spTree>
    <p:extLst>
      <p:ext uri="{BB962C8B-B14F-4D97-AF65-F5344CB8AC3E}">
        <p14:creationId xmlns:p14="http://schemas.microsoft.com/office/powerpoint/2010/main" val="419434596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8B2949-AA2A-78BE-831B-67A7AE5AB555}"/>
              </a:ext>
            </a:extLst>
          </p:cNvPr>
          <p:cNvSpPr>
            <a:spLocks noGrp="1"/>
          </p:cNvSpPr>
          <p:nvPr>
            <p:ph type="title"/>
          </p:nvPr>
        </p:nvSpPr>
        <p:spPr/>
        <p:txBody>
          <a:bodyPr/>
          <a:lstStyle/>
          <a:p>
            <a:r>
              <a:rPr lang="pt-BR" dirty="0"/>
              <a:t>Validação cruzada</a:t>
            </a:r>
          </a:p>
        </p:txBody>
      </p:sp>
      <p:sp>
        <p:nvSpPr>
          <p:cNvPr id="3" name="Espaço Reservado para Conteúdo 2">
            <a:extLst>
              <a:ext uri="{FF2B5EF4-FFF2-40B4-BE49-F238E27FC236}">
                <a16:creationId xmlns:a16="http://schemas.microsoft.com/office/drawing/2014/main" id="{945F73D8-097B-0F49-0490-91BBF0A6A45E}"/>
              </a:ext>
            </a:extLst>
          </p:cNvPr>
          <p:cNvSpPr>
            <a:spLocks noGrp="1"/>
          </p:cNvSpPr>
          <p:nvPr>
            <p:ph idx="1"/>
          </p:nvPr>
        </p:nvSpPr>
        <p:spPr>
          <a:xfrm>
            <a:off x="838200" y="1825624"/>
            <a:ext cx="11353800" cy="5032375"/>
          </a:xfrm>
        </p:spPr>
        <p:txBody>
          <a:bodyPr/>
          <a:lstStyle/>
          <a:p>
            <a:r>
              <a:rPr lang="pt-BR" b="0" dirty="0">
                <a:solidFill>
                  <a:srgbClr val="0F0F0F"/>
                </a:solidFill>
                <a:effectLst/>
              </a:rPr>
              <a:t>É uma técnica utilizada para </a:t>
            </a:r>
            <a:r>
              <a:rPr lang="pt-BR" b="1" dirty="0">
                <a:solidFill>
                  <a:srgbClr val="00B050"/>
                </a:solidFill>
                <a:effectLst/>
              </a:rPr>
              <a:t>avaliar </a:t>
            </a:r>
            <a:r>
              <a:rPr lang="pt-BR" b="1" dirty="0">
                <a:solidFill>
                  <a:srgbClr val="00B0F0"/>
                </a:solidFill>
                <a:effectLst/>
              </a:rPr>
              <a:t>quantitativamente</a:t>
            </a:r>
            <a:r>
              <a:rPr lang="pt-BR" b="1" dirty="0">
                <a:solidFill>
                  <a:srgbClr val="00B050"/>
                </a:solidFill>
                <a:effectLst/>
              </a:rPr>
              <a:t> o desempenho</a:t>
            </a:r>
            <a:r>
              <a:rPr lang="pt-BR" b="0" dirty="0">
                <a:solidFill>
                  <a:srgbClr val="0F0F0F"/>
                </a:solidFill>
                <a:effectLst/>
              </a:rPr>
              <a:t> de um </a:t>
            </a:r>
            <a:r>
              <a:rPr lang="pt-BR" b="1" dirty="0">
                <a:solidFill>
                  <a:srgbClr val="7030A0"/>
                </a:solidFill>
                <a:effectLst/>
              </a:rPr>
              <a:t>modelo</a:t>
            </a:r>
            <a:r>
              <a:rPr lang="pt-BR" b="0" dirty="0">
                <a:solidFill>
                  <a:srgbClr val="0F0F0F"/>
                </a:solidFill>
                <a:effectLst/>
              </a:rPr>
              <a:t> e </a:t>
            </a:r>
            <a:r>
              <a:rPr lang="pt-BR" b="1" dirty="0">
                <a:solidFill>
                  <a:srgbClr val="00B050"/>
                </a:solidFill>
                <a:effectLst/>
              </a:rPr>
              <a:t>verificar o quão bem ele generaliza</a:t>
            </a:r>
            <a:r>
              <a:rPr lang="pt-BR" b="0" dirty="0">
                <a:solidFill>
                  <a:srgbClr val="0F0F0F"/>
                </a:solidFill>
                <a:effectLst/>
              </a:rPr>
              <a:t>.</a:t>
            </a:r>
          </a:p>
          <a:p>
            <a:r>
              <a:rPr lang="pt-BR" b="0" dirty="0">
                <a:solidFill>
                  <a:srgbClr val="0F0F0F"/>
                </a:solidFill>
                <a:effectLst/>
              </a:rPr>
              <a:t>Envolve </a:t>
            </a:r>
            <a:r>
              <a:rPr lang="pt-BR" b="1" dirty="0">
                <a:solidFill>
                  <a:srgbClr val="7030A0"/>
                </a:solidFill>
                <a:effectLst/>
              </a:rPr>
              <a:t>dividir o conjunto total de dados em </a:t>
            </a:r>
            <a:r>
              <a:rPr lang="pt-BR" b="1" dirty="0">
                <a:solidFill>
                  <a:schemeClr val="accent2"/>
                </a:solidFill>
                <a:effectLst/>
              </a:rPr>
              <a:t>subconjuntos</a:t>
            </a:r>
            <a:r>
              <a:rPr lang="pt-BR" b="0" dirty="0">
                <a:solidFill>
                  <a:srgbClr val="0F0F0F"/>
                </a:solidFill>
                <a:effectLst/>
              </a:rPr>
              <a:t> e realizar</a:t>
            </a:r>
            <a:r>
              <a:rPr lang="pt-BR" b="1" dirty="0">
                <a:solidFill>
                  <a:srgbClr val="7030A0"/>
                </a:solidFill>
              </a:rPr>
              <a:t> </a:t>
            </a:r>
            <a:r>
              <a:rPr lang="pt-BR" b="1" dirty="0">
                <a:solidFill>
                  <a:srgbClr val="7030A0"/>
                </a:solidFill>
                <a:effectLst/>
              </a:rPr>
              <a:t>rodadas de treinamento e validação </a:t>
            </a:r>
            <a:r>
              <a:rPr lang="pt-BR" b="0" dirty="0">
                <a:solidFill>
                  <a:srgbClr val="0F0F0F"/>
                </a:solidFill>
                <a:effectLst/>
              </a:rPr>
              <a:t>do modelo com </a:t>
            </a:r>
            <a:r>
              <a:rPr lang="pt-BR" b="1" dirty="0">
                <a:solidFill>
                  <a:srgbClr val="00B050"/>
                </a:solidFill>
                <a:effectLst/>
              </a:rPr>
              <a:t>diferentes combinações</a:t>
            </a:r>
            <a:r>
              <a:rPr lang="pt-BR" b="1" dirty="0">
                <a:solidFill>
                  <a:srgbClr val="7030A0"/>
                </a:solidFill>
                <a:effectLst/>
              </a:rPr>
              <a:t> </a:t>
            </a:r>
            <a:r>
              <a:rPr lang="pt-BR" dirty="0">
                <a:effectLst/>
              </a:rPr>
              <a:t>dos subconjuntos</a:t>
            </a:r>
            <a:r>
              <a:rPr lang="pt-BR" dirty="0"/>
              <a:t>.</a:t>
            </a:r>
            <a:endParaRPr lang="pt-BR" dirty="0">
              <a:effectLst/>
            </a:endParaRPr>
          </a:p>
          <a:p>
            <a:r>
              <a:rPr lang="pt-BR" b="0" dirty="0">
                <a:solidFill>
                  <a:srgbClr val="0F0F0F"/>
                </a:solidFill>
                <a:effectLst/>
              </a:rPr>
              <a:t>É uma ferramenta importante para </a:t>
            </a:r>
          </a:p>
          <a:p>
            <a:pPr lvl="1">
              <a:buFont typeface="Wingdings" panose="05000000000000000000" pitchFamily="2" charset="2"/>
              <a:buChar char="§"/>
            </a:pPr>
            <a:r>
              <a:rPr lang="pt-BR" b="1" dirty="0">
                <a:solidFill>
                  <a:srgbClr val="0070C0"/>
                </a:solidFill>
                <a:effectLst/>
              </a:rPr>
              <a:t>comparar e selecionar modelos</a:t>
            </a:r>
            <a:endParaRPr lang="pt-BR" b="0" dirty="0">
              <a:solidFill>
                <a:srgbClr val="0F0F0F"/>
              </a:solidFill>
              <a:effectLst/>
            </a:endParaRPr>
          </a:p>
          <a:p>
            <a:pPr lvl="1">
              <a:buFont typeface="Wingdings" panose="05000000000000000000" pitchFamily="2" charset="2"/>
              <a:buChar char="§"/>
            </a:pPr>
            <a:r>
              <a:rPr lang="pt-BR" dirty="0">
                <a:solidFill>
                  <a:srgbClr val="0F0F0F"/>
                </a:solidFill>
              </a:rPr>
              <a:t>e</a:t>
            </a:r>
            <a:r>
              <a:rPr lang="pt-BR" b="0" dirty="0">
                <a:solidFill>
                  <a:srgbClr val="0F0F0F"/>
                </a:solidFill>
                <a:effectLst/>
              </a:rPr>
              <a:t> para </a:t>
            </a:r>
            <a:r>
              <a:rPr lang="pt-BR" b="1" dirty="0">
                <a:solidFill>
                  <a:schemeClr val="accent2"/>
                </a:solidFill>
                <a:effectLst/>
              </a:rPr>
              <a:t>ajustar hiperparâmetros</a:t>
            </a:r>
            <a:r>
              <a:rPr lang="pt-BR" b="0" dirty="0">
                <a:solidFill>
                  <a:srgbClr val="0F0F0F"/>
                </a:solidFill>
                <a:effectLst/>
              </a:rPr>
              <a:t> como, por exemplo, o </a:t>
            </a:r>
            <a:r>
              <a:rPr lang="pt-BR" b="1" dirty="0">
                <a:solidFill>
                  <a:srgbClr val="0070C0"/>
                </a:solidFill>
                <a:effectLst/>
              </a:rPr>
              <a:t>passo de aprendizagem</a:t>
            </a:r>
            <a:r>
              <a:rPr lang="pt-BR" b="0" dirty="0">
                <a:solidFill>
                  <a:srgbClr val="0F0F0F"/>
                </a:solidFill>
                <a:effectLst/>
              </a:rPr>
              <a:t>, o </a:t>
            </a:r>
            <a:r>
              <a:rPr lang="pt-BR" b="1" dirty="0">
                <a:solidFill>
                  <a:srgbClr val="0070C0"/>
                </a:solidFill>
                <a:effectLst/>
              </a:rPr>
              <a:t>grau do polinômio</a:t>
            </a:r>
            <a:r>
              <a:rPr lang="pt-BR" b="0" dirty="0">
                <a:solidFill>
                  <a:srgbClr val="0F0F0F"/>
                </a:solidFill>
                <a:effectLst/>
              </a:rPr>
              <a:t> da função hipótese, etc.</a:t>
            </a:r>
          </a:p>
        </p:txBody>
      </p:sp>
    </p:spTree>
    <p:extLst>
      <p:ext uri="{BB962C8B-B14F-4D97-AF65-F5344CB8AC3E}">
        <p14:creationId xmlns:p14="http://schemas.microsoft.com/office/powerpoint/2010/main" val="101461400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053A0A-FF84-5176-6AB3-C461B7BCB8CA}"/>
              </a:ext>
            </a:extLst>
          </p:cNvPr>
          <p:cNvSpPr>
            <a:spLocks noGrp="1"/>
          </p:cNvSpPr>
          <p:nvPr>
            <p:ph type="title"/>
          </p:nvPr>
        </p:nvSpPr>
        <p:spPr/>
        <p:txBody>
          <a:bodyPr/>
          <a:lstStyle/>
          <a:p>
            <a:r>
              <a:rPr lang="pt-BR" dirty="0"/>
              <a:t>Validação cruzada</a:t>
            </a:r>
          </a:p>
        </p:txBody>
      </p:sp>
      <p:sp>
        <p:nvSpPr>
          <p:cNvPr id="3" name="Espaço Reservado para Conteúdo 2">
            <a:extLst>
              <a:ext uri="{FF2B5EF4-FFF2-40B4-BE49-F238E27FC236}">
                <a16:creationId xmlns:a16="http://schemas.microsoft.com/office/drawing/2014/main" id="{A191BF4C-9AB1-8D9D-C795-058F9A528591}"/>
              </a:ext>
            </a:extLst>
          </p:cNvPr>
          <p:cNvSpPr>
            <a:spLocks noGrp="1"/>
          </p:cNvSpPr>
          <p:nvPr>
            <p:ph idx="1"/>
          </p:nvPr>
        </p:nvSpPr>
        <p:spPr>
          <a:xfrm>
            <a:off x="838199" y="1825624"/>
            <a:ext cx="11353801" cy="5032375"/>
          </a:xfrm>
        </p:spPr>
        <p:txBody>
          <a:bodyPr>
            <a:normAutofit/>
          </a:bodyPr>
          <a:lstStyle/>
          <a:p>
            <a:r>
              <a:rPr lang="pt-BR" b="1" dirty="0">
                <a:solidFill>
                  <a:srgbClr val="0070C0"/>
                </a:solidFill>
              </a:rPr>
              <a:t>Objetivo</a:t>
            </a:r>
            <a:r>
              <a:rPr lang="pt-BR" dirty="0"/>
              <a:t>: encontrar o </a:t>
            </a:r>
            <a:r>
              <a:rPr lang="pt-BR" b="1" dirty="0">
                <a:solidFill>
                  <a:srgbClr val="0070C0"/>
                </a:solidFill>
              </a:rPr>
              <a:t>ponto de equilíbrio</a:t>
            </a:r>
            <a:r>
              <a:rPr lang="pt-BR" dirty="0"/>
              <a:t> entre a </a:t>
            </a:r>
            <a:r>
              <a:rPr lang="pt-BR" b="1" dirty="0">
                <a:solidFill>
                  <a:srgbClr val="7030A0"/>
                </a:solidFill>
              </a:rPr>
              <a:t>flexibilidade</a:t>
            </a:r>
            <a:r>
              <a:rPr lang="pt-BR" dirty="0"/>
              <a:t> e a </a:t>
            </a:r>
            <a:r>
              <a:rPr lang="pt-BR" b="1" dirty="0">
                <a:solidFill>
                  <a:srgbClr val="7030A0"/>
                </a:solidFill>
              </a:rPr>
              <a:t>capacidade de generalização</a:t>
            </a:r>
            <a:r>
              <a:rPr lang="pt-BR" dirty="0"/>
              <a:t> do modelo.</a:t>
            </a:r>
          </a:p>
          <a:p>
            <a:r>
              <a:rPr lang="pt-BR" dirty="0"/>
              <a:t>A </a:t>
            </a:r>
            <a:r>
              <a:rPr lang="pt-BR" b="1" dirty="0">
                <a:solidFill>
                  <a:srgbClr val="7030A0"/>
                </a:solidFill>
              </a:rPr>
              <a:t>flexibilidade</a:t>
            </a:r>
            <a:r>
              <a:rPr lang="pt-BR" dirty="0"/>
              <a:t> de um modelo é </a:t>
            </a:r>
            <a:r>
              <a:rPr lang="pt-BR" b="1" dirty="0">
                <a:solidFill>
                  <a:srgbClr val="00B050"/>
                </a:solidFill>
              </a:rPr>
              <a:t>estimada</a:t>
            </a:r>
            <a:r>
              <a:rPr lang="pt-BR" dirty="0"/>
              <a:t> através de seu </a:t>
            </a:r>
            <a:r>
              <a:rPr lang="pt-BR" b="1" dirty="0">
                <a:solidFill>
                  <a:srgbClr val="00B050"/>
                </a:solidFill>
              </a:rPr>
              <a:t>erro de treinamento.</a:t>
            </a:r>
            <a:endParaRPr lang="pt-BR" dirty="0"/>
          </a:p>
          <a:p>
            <a:r>
              <a:rPr lang="pt-BR" dirty="0"/>
              <a:t>A </a:t>
            </a:r>
            <a:r>
              <a:rPr lang="pt-BR" b="1" dirty="0">
                <a:solidFill>
                  <a:srgbClr val="7030A0"/>
                </a:solidFill>
              </a:rPr>
              <a:t>capacidade de generalização</a:t>
            </a:r>
            <a:r>
              <a:rPr lang="pt-BR" dirty="0"/>
              <a:t> é </a:t>
            </a:r>
            <a:r>
              <a:rPr lang="pt-BR" b="1" dirty="0">
                <a:solidFill>
                  <a:srgbClr val="00B050"/>
                </a:solidFill>
              </a:rPr>
              <a:t>estimada</a:t>
            </a:r>
            <a:r>
              <a:rPr lang="pt-BR" dirty="0"/>
              <a:t> através de seu </a:t>
            </a:r>
            <a:r>
              <a:rPr lang="pt-BR" b="1" dirty="0">
                <a:solidFill>
                  <a:srgbClr val="00B050"/>
                </a:solidFill>
              </a:rPr>
              <a:t>erro de validação</a:t>
            </a:r>
            <a:r>
              <a:rPr lang="pt-BR" dirty="0"/>
              <a:t> ou de </a:t>
            </a:r>
            <a:r>
              <a:rPr lang="pt-BR" b="1" dirty="0">
                <a:solidFill>
                  <a:srgbClr val="00B050"/>
                </a:solidFill>
              </a:rPr>
              <a:t>teste</a:t>
            </a:r>
            <a:r>
              <a:rPr lang="pt-BR" dirty="0"/>
              <a:t>.</a:t>
            </a:r>
          </a:p>
          <a:p>
            <a:r>
              <a:rPr lang="pt-BR" b="1" dirty="0">
                <a:solidFill>
                  <a:schemeClr val="accent2"/>
                </a:solidFill>
              </a:rPr>
              <a:t>O erro de treinamento</a:t>
            </a:r>
            <a:r>
              <a:rPr lang="pt-BR" dirty="0"/>
              <a:t> é calculado com o conjunto usado para treinar o modelo.</a:t>
            </a:r>
          </a:p>
          <a:p>
            <a:r>
              <a:rPr lang="pt-BR" b="1" dirty="0">
                <a:solidFill>
                  <a:schemeClr val="accent2"/>
                </a:solidFill>
              </a:rPr>
              <a:t>O erro de validação ou teste</a:t>
            </a:r>
            <a:r>
              <a:rPr lang="pt-BR" dirty="0"/>
              <a:t> é calculado com dados inéditos dos conjuntos de validação ou teste.</a:t>
            </a:r>
          </a:p>
        </p:txBody>
      </p:sp>
    </p:spTree>
    <p:extLst>
      <p:ext uri="{BB962C8B-B14F-4D97-AF65-F5344CB8AC3E}">
        <p14:creationId xmlns:p14="http://schemas.microsoft.com/office/powerpoint/2010/main" val="386480043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595774-B841-7E8F-A35A-BAB395D69A08}"/>
              </a:ext>
            </a:extLst>
          </p:cNvPr>
          <p:cNvSpPr>
            <a:spLocks noGrp="1"/>
          </p:cNvSpPr>
          <p:nvPr>
            <p:ph type="title"/>
          </p:nvPr>
        </p:nvSpPr>
        <p:spPr/>
        <p:txBody>
          <a:bodyPr/>
          <a:lstStyle/>
          <a:p>
            <a:r>
              <a:rPr lang="pt-BR" dirty="0"/>
              <a:t>Validação cruzada</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A9594690-2CA5-0A2D-98E4-C4ACDD16B0DC}"/>
                  </a:ext>
                </a:extLst>
              </p:cNvPr>
              <p:cNvSpPr>
                <a:spLocks noGrp="1"/>
              </p:cNvSpPr>
              <p:nvPr>
                <p:ph idx="1"/>
              </p:nvPr>
            </p:nvSpPr>
            <p:spPr>
              <a:xfrm>
                <a:off x="838199" y="1825624"/>
                <a:ext cx="11218683" cy="5032375"/>
              </a:xfrm>
            </p:spPr>
            <p:txBody>
              <a:bodyPr/>
              <a:lstStyle/>
              <a:p>
                <a:r>
                  <a:rPr lang="pt-BR" dirty="0"/>
                  <a:t>No caso onde queremos usar a </a:t>
                </a:r>
                <a:r>
                  <a:rPr lang="pt-BR" b="1" dirty="0">
                    <a:solidFill>
                      <a:srgbClr val="00B050"/>
                    </a:solidFill>
                  </a:rPr>
                  <a:t>validação cruzada</a:t>
                </a:r>
                <a:r>
                  <a:rPr lang="pt-BR" dirty="0"/>
                  <a:t> para </a:t>
                </a:r>
                <a:r>
                  <a:rPr lang="pt-BR" b="1" dirty="0">
                    <a:solidFill>
                      <a:srgbClr val="00B050"/>
                    </a:solidFill>
                  </a:rPr>
                  <a:t>encontrar o grau ideal do polinômio</a:t>
                </a:r>
                <a:r>
                  <a:rPr lang="pt-BR" dirty="0"/>
                  <a:t>, o </a:t>
                </a:r>
                <a:r>
                  <a:rPr lang="pt-BR" b="1" dirty="0">
                    <a:solidFill>
                      <a:srgbClr val="7030A0"/>
                    </a:solidFill>
                  </a:rPr>
                  <a:t>comportamento dos erros de treinamento e validação </a:t>
                </a:r>
                <a:r>
                  <a:rPr lang="pt-BR" dirty="0"/>
                  <a:t>vai nos ajudar a verificar </a:t>
                </a:r>
                <a:r>
                  <a:rPr lang="pt-BR" b="1" dirty="0">
                    <a:solidFill>
                      <a:srgbClr val="0070C0"/>
                    </a:solidFill>
                  </a:rPr>
                  <a:t>quais graus fazem o modelo se ajustar demais</a:t>
                </a:r>
                <a:r>
                  <a:rPr lang="pt-BR" dirty="0"/>
                  <a:t> </a:t>
                </a:r>
                <a:r>
                  <a:rPr lang="pt-BR" b="1" dirty="0">
                    <a:solidFill>
                      <a:srgbClr val="0070C0"/>
                    </a:solidFill>
                  </a:rPr>
                  <a:t>ou insuficientemente </a:t>
                </a:r>
                <a:r>
                  <a:rPr lang="pt-BR" dirty="0"/>
                  <a:t>aos dados de treinamento.</a:t>
                </a:r>
              </a:p>
              <a:p>
                <a:r>
                  <a:rPr lang="pt-BR" dirty="0"/>
                  <a:t>Existem diversas estratégias de validação cruzada, como:</a:t>
                </a:r>
              </a:p>
              <a:p>
                <a:pPr lvl="1">
                  <a:buFont typeface="Wingdings" panose="05000000000000000000" pitchFamily="2" charset="2"/>
                  <a:buChar char="§"/>
                </a:pPr>
                <a:r>
                  <a:rPr lang="pt-BR" i="1" dirty="0" err="1"/>
                  <a:t>holdout</a:t>
                </a:r>
                <a:r>
                  <a:rPr lang="pt-BR" i="1" dirty="0"/>
                  <a:t> </a:t>
                </a:r>
              </a:p>
              <a:p>
                <a:pPr lvl="1">
                  <a:buFont typeface="Wingdings" panose="05000000000000000000" pitchFamily="2" charset="2"/>
                  <a:buChar char="§"/>
                </a:pPr>
                <a14:m>
                  <m:oMath xmlns:m="http://schemas.openxmlformats.org/officeDocument/2006/math">
                    <m:r>
                      <a:rPr lang="pt-BR" i="1">
                        <a:latin typeface="Cambria Math" panose="02040503050406030204" pitchFamily="18" charset="0"/>
                      </a:rPr>
                      <m:t>𝑘</m:t>
                    </m:r>
                  </m:oMath>
                </a14:m>
                <a:r>
                  <a:rPr lang="pt-BR" i="1" dirty="0"/>
                  <a:t>-</a:t>
                </a:r>
                <a:r>
                  <a:rPr lang="pt-BR" i="1" dirty="0" err="1"/>
                  <a:t>fold</a:t>
                </a:r>
                <a:endParaRPr lang="pt-BR" i="1" dirty="0"/>
              </a:p>
              <a:p>
                <a:pPr lvl="1">
                  <a:buFont typeface="Wingdings" panose="05000000000000000000" pitchFamily="2" charset="2"/>
                  <a:buChar char="§"/>
                </a:pPr>
                <a:r>
                  <a:rPr lang="pt-BR" i="1" dirty="0" err="1"/>
                  <a:t>leave</a:t>
                </a:r>
                <a:r>
                  <a:rPr lang="pt-BR" i="1" dirty="0"/>
                  <a:t>-</a:t>
                </a:r>
                <a14:m>
                  <m:oMath xmlns:m="http://schemas.openxmlformats.org/officeDocument/2006/math">
                    <m:r>
                      <a:rPr lang="pt-BR" b="0" i="1" smtClean="0">
                        <a:latin typeface="Cambria Math" panose="02040503050406030204" pitchFamily="18" charset="0"/>
                      </a:rPr>
                      <m:t>𝑝</m:t>
                    </m:r>
                  </m:oMath>
                </a14:m>
                <a:r>
                  <a:rPr lang="pt-BR" i="1" dirty="0"/>
                  <a:t>-out</a:t>
                </a:r>
              </a:p>
              <a:p>
                <a:pPr marL="0" indent="0">
                  <a:buNone/>
                </a:pPr>
                <a:r>
                  <a:rPr lang="pt-BR" dirty="0"/>
                  <a:t>sendo o </a:t>
                </a:r>
                <a14:m>
                  <m:oMath xmlns:m="http://schemas.openxmlformats.org/officeDocument/2006/math">
                    <m:r>
                      <a:rPr lang="pt-BR" i="1">
                        <a:latin typeface="Cambria Math" panose="02040503050406030204" pitchFamily="18" charset="0"/>
                      </a:rPr>
                      <m:t>𝑘</m:t>
                    </m:r>
                  </m:oMath>
                </a14:m>
                <a:r>
                  <a:rPr lang="pt-BR" i="1" dirty="0"/>
                  <a:t>-</a:t>
                </a:r>
                <a:r>
                  <a:rPr lang="pt-BR" i="1" dirty="0" err="1"/>
                  <a:t>fold</a:t>
                </a:r>
                <a:r>
                  <a:rPr lang="pt-BR" dirty="0"/>
                  <a:t> a mais usada e a estratégia que aprenderemos.</a:t>
                </a:r>
              </a:p>
            </p:txBody>
          </p:sp>
        </mc:Choice>
        <mc:Fallback xmlns="">
          <p:sp>
            <p:nvSpPr>
              <p:cNvPr id="3" name="Espaço Reservado para Conteúdo 2">
                <a:extLst>
                  <a:ext uri="{FF2B5EF4-FFF2-40B4-BE49-F238E27FC236}">
                    <a16:creationId xmlns:a16="http://schemas.microsoft.com/office/drawing/2014/main" id="{A9594690-2CA5-0A2D-98E4-C4ACDD16B0DC}"/>
                  </a:ext>
                </a:extLst>
              </p:cNvPr>
              <p:cNvSpPr>
                <a:spLocks noGrp="1" noRot="1" noChangeAspect="1" noMove="1" noResize="1" noEditPoints="1" noAdjustHandles="1" noChangeArrowheads="1" noChangeShapeType="1" noTextEdit="1"/>
              </p:cNvSpPr>
              <p:nvPr>
                <p:ph idx="1"/>
              </p:nvPr>
            </p:nvSpPr>
            <p:spPr>
              <a:xfrm>
                <a:off x="838199" y="1825624"/>
                <a:ext cx="11218683" cy="5032375"/>
              </a:xfrm>
              <a:blipFill>
                <a:blip r:embed="rId3"/>
                <a:stretch>
                  <a:fillRect l="-1086" t="-1937" r="-652"/>
                </a:stretch>
              </a:blipFill>
            </p:spPr>
            <p:txBody>
              <a:bodyPr/>
              <a:lstStyle/>
              <a:p>
                <a:r>
                  <a:rPr lang="en-US">
                    <a:noFill/>
                  </a:rPr>
                  <a:t> </a:t>
                </a:r>
              </a:p>
            </p:txBody>
          </p:sp>
        </mc:Fallback>
      </mc:AlternateContent>
    </p:spTree>
    <p:extLst>
      <p:ext uri="{BB962C8B-B14F-4D97-AF65-F5344CB8AC3E}">
        <p14:creationId xmlns:p14="http://schemas.microsoft.com/office/powerpoint/2010/main" val="105099249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ítulo 1">
                <a:extLst>
                  <a:ext uri="{FF2B5EF4-FFF2-40B4-BE49-F238E27FC236}">
                    <a16:creationId xmlns:a16="http://schemas.microsoft.com/office/drawing/2014/main" id="{C5C2477C-2D2C-D4E3-DD60-2911128E0DD0}"/>
                  </a:ext>
                </a:extLst>
              </p:cNvPr>
              <p:cNvSpPr>
                <a:spLocks noGrp="1"/>
              </p:cNvSpPr>
              <p:nvPr>
                <p:ph type="title"/>
              </p:nvPr>
            </p:nvSpPr>
            <p:spPr/>
            <p:txBody>
              <a:bodyPr/>
              <a:lstStyle/>
              <a:p>
                <a14:m>
                  <m:oMath xmlns:m="http://schemas.openxmlformats.org/officeDocument/2006/math">
                    <m:r>
                      <a:rPr lang="pt-BR" b="0" i="1" smtClean="0">
                        <a:solidFill>
                          <a:srgbClr val="0F0F0F"/>
                        </a:solidFill>
                        <a:effectLst/>
                        <a:latin typeface="Cambria Math" panose="02040503050406030204" pitchFamily="18" charset="0"/>
                      </a:rPr>
                      <m:t>𝑘</m:t>
                    </m:r>
                  </m:oMath>
                </a14:m>
                <a:r>
                  <a:rPr lang="pt-BR" dirty="0"/>
                  <a:t>-</a:t>
                </a:r>
                <a:r>
                  <a:rPr lang="pt-BR" i="1" dirty="0" err="1"/>
                  <a:t>fold</a:t>
                </a:r>
                <a:endParaRPr lang="pt-BR" i="1" dirty="0"/>
              </a:p>
            </p:txBody>
          </p:sp>
        </mc:Choice>
        <mc:Fallback xmlns="">
          <p:sp>
            <p:nvSpPr>
              <p:cNvPr id="2" name="Título 1">
                <a:extLst>
                  <a:ext uri="{FF2B5EF4-FFF2-40B4-BE49-F238E27FC236}">
                    <a16:creationId xmlns:a16="http://schemas.microsoft.com/office/drawing/2014/main" id="{C5C2477C-2D2C-D4E3-DD60-2911128E0DD0}"/>
                  </a:ext>
                </a:extLst>
              </p:cNvPr>
              <p:cNvSpPr>
                <a:spLocks noGrp="1" noRot="1" noChangeAspect="1" noMove="1" noResize="1" noEditPoints="1" noAdjustHandles="1" noChangeArrowheads="1" noChangeShapeType="1" noTextEdit="1"/>
              </p:cNvSpPr>
              <p:nvPr>
                <p:ph type="title"/>
              </p:nvPr>
            </p:nvSpPr>
            <p:spPr>
              <a:blipFill>
                <a:blip r:embed="rId3"/>
                <a:stretch>
                  <a:fillRect/>
                </a:stretch>
              </a:blipFill>
            </p:spPr>
            <p:txBody>
              <a:bodyPr/>
              <a:lstStyle/>
              <a:p>
                <a:r>
                  <a:rPr lang="en-US">
                    <a:noFill/>
                  </a:rPr>
                  <a:t> </a:t>
                </a:r>
              </a:p>
            </p:txBody>
          </p:sp>
        </mc:Fallback>
      </mc:AlternateContent>
      <p:sp>
        <p:nvSpPr>
          <p:cNvPr id="3" name="Espaço Reservado para Conteúdo 2">
            <a:extLst>
              <a:ext uri="{FF2B5EF4-FFF2-40B4-BE49-F238E27FC236}">
                <a16:creationId xmlns:a16="http://schemas.microsoft.com/office/drawing/2014/main" id="{C81D5EE1-D440-6F4D-3F1E-ED8B0B4036BF}"/>
              </a:ext>
            </a:extLst>
          </p:cNvPr>
          <p:cNvSpPr>
            <a:spLocks noGrp="1"/>
          </p:cNvSpPr>
          <p:nvPr>
            <p:ph idx="1"/>
          </p:nvPr>
        </p:nvSpPr>
        <p:spPr>
          <a:xfrm>
            <a:off x="5854700" y="1825624"/>
            <a:ext cx="6337300" cy="5032375"/>
          </a:xfrm>
        </p:spPr>
        <p:txBody>
          <a:bodyPr>
            <a:normAutofit/>
          </a:bodyPr>
          <a:lstStyle/>
          <a:p>
            <a:r>
              <a:rPr lang="pt-BR" dirty="0">
                <a:solidFill>
                  <a:srgbClr val="0F0F0F"/>
                </a:solidFill>
              </a:rPr>
              <a:t>A estratégia consiste em embaralhar (opcional) e </a:t>
            </a:r>
            <a:r>
              <a:rPr lang="pt-BR" b="1" dirty="0">
                <a:solidFill>
                  <a:srgbClr val="00B050"/>
                </a:solidFill>
              </a:rPr>
              <a:t>dividir o </a:t>
            </a:r>
            <a:r>
              <a:rPr lang="pt-BR" b="1" dirty="0">
                <a:solidFill>
                  <a:srgbClr val="00B050"/>
                </a:solidFill>
                <a:effectLst/>
              </a:rPr>
              <a:t>conjunto total de dados em</a:t>
            </a:r>
            <a:r>
              <a:rPr lang="pt-BR" b="0" dirty="0">
                <a:solidFill>
                  <a:srgbClr val="0F0F0F"/>
                </a:solidFill>
                <a:effectLst/>
              </a:rPr>
              <a:t> 𝒌</a:t>
            </a:r>
            <a:r>
              <a:rPr lang="pt-BR" dirty="0">
                <a:solidFill>
                  <a:srgbClr val="0F0F0F"/>
                </a:solidFill>
              </a:rPr>
              <a:t> </a:t>
            </a:r>
            <a:r>
              <a:rPr lang="pt-BR" b="1" dirty="0">
                <a:solidFill>
                  <a:srgbClr val="00B050"/>
                </a:solidFill>
                <a:effectLst/>
              </a:rPr>
              <a:t>partes</a:t>
            </a:r>
            <a:r>
              <a:rPr lang="pt-BR" b="0" dirty="0">
                <a:solidFill>
                  <a:srgbClr val="0F0F0F"/>
                </a:solidFill>
                <a:effectLst/>
              </a:rPr>
              <a:t> (ou </a:t>
            </a:r>
            <a:r>
              <a:rPr lang="pt-BR" b="0" i="1" dirty="0">
                <a:solidFill>
                  <a:srgbClr val="0F0F0F"/>
                </a:solidFill>
                <a:effectLst/>
              </a:rPr>
              <a:t>folds</a:t>
            </a:r>
            <a:r>
              <a:rPr lang="pt-BR" b="0" dirty="0">
                <a:solidFill>
                  <a:srgbClr val="0F0F0F"/>
                </a:solidFill>
                <a:effectLst/>
              </a:rPr>
              <a:t>) </a:t>
            </a:r>
            <a:r>
              <a:rPr lang="pt-BR" b="1" dirty="0">
                <a:solidFill>
                  <a:srgbClr val="00B050"/>
                </a:solidFill>
                <a:effectLst/>
              </a:rPr>
              <a:t>iguais</a:t>
            </a:r>
            <a:r>
              <a:rPr lang="pt-BR" b="0" dirty="0">
                <a:solidFill>
                  <a:srgbClr val="0F0F0F"/>
                </a:solidFill>
                <a:effectLst/>
              </a:rPr>
              <a:t>. </a:t>
            </a:r>
          </a:p>
          <a:p>
            <a:r>
              <a:rPr lang="pt-BR" b="0" dirty="0">
                <a:solidFill>
                  <a:srgbClr val="0F0F0F"/>
                </a:solidFill>
                <a:effectLst/>
              </a:rPr>
              <a:t>O </a:t>
            </a:r>
            <a:r>
              <a:rPr lang="pt-BR" b="1" dirty="0">
                <a:solidFill>
                  <a:srgbClr val="7030A0"/>
                </a:solidFill>
                <a:effectLst/>
              </a:rPr>
              <a:t>modelo é treinado</a:t>
            </a:r>
            <a:r>
              <a:rPr lang="pt-BR" b="0" dirty="0">
                <a:solidFill>
                  <a:srgbClr val="0F0F0F"/>
                </a:solidFill>
                <a:effectLst/>
              </a:rPr>
              <a:t> 𝒌 </a:t>
            </a:r>
            <a:r>
              <a:rPr lang="pt-BR" b="1" dirty="0">
                <a:solidFill>
                  <a:srgbClr val="7030A0"/>
                </a:solidFill>
                <a:effectLst/>
              </a:rPr>
              <a:t>vezes</a:t>
            </a:r>
            <a:r>
              <a:rPr lang="pt-BR" b="0" dirty="0">
                <a:solidFill>
                  <a:srgbClr val="0F0F0F"/>
                </a:solidFill>
                <a:effectLst/>
              </a:rPr>
              <a:t>, cada vez usando 𝒌</a:t>
            </a:r>
            <a:r>
              <a:rPr lang="pt-BR" b="1" dirty="0">
                <a:solidFill>
                  <a:srgbClr val="0F0F0F"/>
                </a:solidFill>
                <a:effectLst/>
              </a:rPr>
              <a:t>-1</a:t>
            </a:r>
            <a:r>
              <a:rPr lang="pt-BR" b="0" dirty="0">
                <a:solidFill>
                  <a:srgbClr val="0F0F0F"/>
                </a:solidFill>
                <a:effectLst/>
              </a:rPr>
              <a:t> partes como conjunto de treinamento e a </a:t>
            </a:r>
            <a:r>
              <a:rPr lang="pt-BR" b="1" dirty="0">
                <a:solidFill>
                  <a:schemeClr val="accent2"/>
                </a:solidFill>
                <a:effectLst/>
              </a:rPr>
              <a:t>parte</a:t>
            </a:r>
            <a:r>
              <a:rPr lang="pt-BR" b="0" dirty="0">
                <a:solidFill>
                  <a:srgbClr val="0F0F0F"/>
                </a:solidFill>
                <a:effectLst/>
              </a:rPr>
              <a:t> restante como conjunto de validação.</a:t>
            </a:r>
          </a:p>
          <a:p>
            <a:r>
              <a:rPr lang="pt-BR" dirty="0">
                <a:solidFill>
                  <a:srgbClr val="0F0F0F"/>
                </a:solidFill>
              </a:rPr>
              <a:t>O </a:t>
            </a:r>
            <a:r>
              <a:rPr lang="pt-BR" b="1" dirty="0">
                <a:solidFill>
                  <a:srgbClr val="0070C0"/>
                </a:solidFill>
              </a:rPr>
              <a:t>EQM para cada conjunto de validação</a:t>
            </a:r>
            <a:r>
              <a:rPr lang="pt-BR" dirty="0">
                <a:solidFill>
                  <a:srgbClr val="0F0F0F"/>
                </a:solidFill>
              </a:rPr>
              <a:t> é calculado </a:t>
            </a:r>
            <a:r>
              <a:rPr lang="pt-BR" b="1" dirty="0">
                <a:solidFill>
                  <a:srgbClr val="0070C0"/>
                </a:solidFill>
              </a:rPr>
              <a:t>ao final de cada treinamento</a:t>
            </a:r>
            <a:r>
              <a:rPr lang="pt-BR" dirty="0">
                <a:solidFill>
                  <a:srgbClr val="0F0F0F"/>
                </a:solidFill>
              </a:rPr>
              <a:t>.</a:t>
            </a:r>
            <a:endParaRPr lang="pt-BR" b="0" dirty="0">
              <a:solidFill>
                <a:srgbClr val="0F0F0F"/>
              </a:solidFill>
              <a:effectLst/>
            </a:endParaRPr>
          </a:p>
        </p:txBody>
      </p:sp>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id="{3926FA82-F16F-7AE7-534B-5F7CB73CCD08}"/>
                  </a:ext>
                </a:extLst>
              </p:cNvPr>
              <p:cNvSpPr txBox="1"/>
              <p:nvPr/>
            </p:nvSpPr>
            <p:spPr>
              <a:xfrm>
                <a:off x="1442175" y="1953195"/>
                <a:ext cx="1360967" cy="584775"/>
              </a:xfrm>
              <a:prstGeom prst="rect">
                <a:avLst/>
              </a:prstGeom>
              <a:noFill/>
            </p:spPr>
            <p:txBody>
              <a:bodyPr wrap="square" rtlCol="0">
                <a:spAutoFit/>
              </a:bodyPr>
              <a:lstStyle/>
              <a:p>
                <a:pPr algn="ctr"/>
                <a14:m>
                  <m:oMath xmlns:m="http://schemas.openxmlformats.org/officeDocument/2006/math">
                    <m:r>
                      <a:rPr lang="pt-BR" sz="3200" b="1" i="1" smtClean="0">
                        <a:latin typeface="Cambria Math" panose="02040503050406030204" pitchFamily="18" charset="0"/>
                      </a:rPr>
                      <m:t>𝒌</m:t>
                    </m:r>
                  </m:oMath>
                </a14:m>
                <a:r>
                  <a:rPr lang="pt-BR" sz="3200" b="1" dirty="0"/>
                  <a:t> = 5</a:t>
                </a:r>
                <a:endParaRPr lang="en-US" sz="3200" b="1" dirty="0"/>
              </a:p>
            </p:txBody>
          </p:sp>
        </mc:Choice>
        <mc:Fallback xmlns="">
          <p:sp>
            <p:nvSpPr>
              <p:cNvPr id="5" name="CaixaDeTexto 4">
                <a:extLst>
                  <a:ext uri="{FF2B5EF4-FFF2-40B4-BE49-F238E27FC236}">
                    <a16:creationId xmlns:a16="http://schemas.microsoft.com/office/drawing/2014/main" id="{3926FA82-F16F-7AE7-534B-5F7CB73CCD08}"/>
                  </a:ext>
                </a:extLst>
              </p:cNvPr>
              <p:cNvSpPr txBox="1">
                <a:spLocks noRot="1" noChangeAspect="1" noMove="1" noResize="1" noEditPoints="1" noAdjustHandles="1" noChangeArrowheads="1" noChangeShapeType="1" noTextEdit="1"/>
              </p:cNvSpPr>
              <p:nvPr/>
            </p:nvSpPr>
            <p:spPr>
              <a:xfrm>
                <a:off x="1442175" y="1953195"/>
                <a:ext cx="1360967" cy="584775"/>
              </a:xfrm>
              <a:prstGeom prst="rect">
                <a:avLst/>
              </a:prstGeom>
              <a:blipFill>
                <a:blip r:embed="rId4"/>
                <a:stretch>
                  <a:fillRect t="-12500" b="-34375"/>
                </a:stretch>
              </a:blipFill>
            </p:spPr>
            <p:txBody>
              <a:bodyPr/>
              <a:lstStyle/>
              <a:p>
                <a:r>
                  <a:rPr lang="pt-BR">
                    <a:noFill/>
                  </a:rPr>
                  <a:t> </a:t>
                </a:r>
              </a:p>
            </p:txBody>
          </p:sp>
        </mc:Fallback>
      </mc:AlternateContent>
      <p:pic>
        <p:nvPicPr>
          <p:cNvPr id="10" name="Imagem 9">
            <a:extLst>
              <a:ext uri="{FF2B5EF4-FFF2-40B4-BE49-F238E27FC236}">
                <a16:creationId xmlns:a16="http://schemas.microsoft.com/office/drawing/2014/main" id="{DEF6A211-DAF7-2C02-45BC-D2089FA5D178}"/>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296" r="1"/>
          <a:stretch/>
        </p:blipFill>
        <p:spPr>
          <a:xfrm>
            <a:off x="139700" y="2545335"/>
            <a:ext cx="5613400" cy="3361882"/>
          </a:xfrm>
          <a:prstGeom prst="rect">
            <a:avLst/>
          </a:prstGeom>
        </p:spPr>
      </p:pic>
    </p:spTree>
    <p:extLst>
      <p:ext uri="{BB962C8B-B14F-4D97-AF65-F5344CB8AC3E}">
        <p14:creationId xmlns:p14="http://schemas.microsoft.com/office/powerpoint/2010/main" val="378252877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ítulo 1">
                <a:extLst>
                  <a:ext uri="{FF2B5EF4-FFF2-40B4-BE49-F238E27FC236}">
                    <a16:creationId xmlns:a16="http://schemas.microsoft.com/office/drawing/2014/main" id="{9FBE2970-3CBA-404B-4074-AEE02EAAB9A6}"/>
                  </a:ext>
                </a:extLst>
              </p:cNvPr>
              <p:cNvSpPr>
                <a:spLocks noGrp="1"/>
              </p:cNvSpPr>
              <p:nvPr>
                <p:ph type="title"/>
              </p:nvPr>
            </p:nvSpPr>
            <p:spPr/>
            <p:txBody>
              <a:bodyPr/>
              <a:lstStyle/>
              <a:p>
                <a14:m>
                  <m:oMath xmlns:m="http://schemas.openxmlformats.org/officeDocument/2006/math">
                    <m:r>
                      <a:rPr lang="pt-BR" b="0" i="1" smtClean="0">
                        <a:solidFill>
                          <a:srgbClr val="0F0F0F"/>
                        </a:solidFill>
                        <a:effectLst/>
                        <a:latin typeface="Cambria Math" panose="02040503050406030204" pitchFamily="18" charset="0"/>
                      </a:rPr>
                      <m:t>𝑘</m:t>
                    </m:r>
                  </m:oMath>
                </a14:m>
                <a:r>
                  <a:rPr lang="pt-BR" dirty="0"/>
                  <a:t>-</a:t>
                </a:r>
                <a:r>
                  <a:rPr lang="pt-BR" i="1" dirty="0" err="1"/>
                  <a:t>fold</a:t>
                </a:r>
                <a:endParaRPr lang="pt-BR" i="1" dirty="0"/>
              </a:p>
            </p:txBody>
          </p:sp>
        </mc:Choice>
        <mc:Fallback xmlns="">
          <p:sp>
            <p:nvSpPr>
              <p:cNvPr id="2" name="Título 1">
                <a:extLst>
                  <a:ext uri="{FF2B5EF4-FFF2-40B4-BE49-F238E27FC236}">
                    <a16:creationId xmlns:a16="http://schemas.microsoft.com/office/drawing/2014/main" id="{9FBE2970-3CBA-404B-4074-AEE02EAAB9A6}"/>
                  </a:ext>
                </a:extLst>
              </p:cNvPr>
              <p:cNvSpPr>
                <a:spLocks noGrp="1" noRot="1" noChangeAspect="1" noMove="1" noResize="1" noEditPoints="1" noAdjustHandles="1" noChangeArrowheads="1" noChangeShapeType="1" noTextEdit="1"/>
              </p:cNvSpPr>
              <p:nvPr>
                <p:ph type="title"/>
              </p:nvPr>
            </p:nvSpPr>
            <p:spPr>
              <a:blipFill>
                <a:blip r:embed="rId3"/>
                <a:stretch>
                  <a:fillRect/>
                </a:stretch>
              </a:blipFill>
            </p:spPr>
            <p:txBody>
              <a:bodyPr/>
              <a:lstStyle/>
              <a:p>
                <a:r>
                  <a:rPr lang="en-US">
                    <a:noFill/>
                  </a:rPr>
                  <a:t> </a:t>
                </a:r>
              </a:p>
            </p:txBody>
          </p:sp>
        </mc:Fallback>
      </mc:AlternateContent>
      <p:sp>
        <p:nvSpPr>
          <p:cNvPr id="3" name="Espaço Reservado para Conteúdo 2">
            <a:extLst>
              <a:ext uri="{FF2B5EF4-FFF2-40B4-BE49-F238E27FC236}">
                <a16:creationId xmlns:a16="http://schemas.microsoft.com/office/drawing/2014/main" id="{F55CE789-94DC-AEE8-1D38-D05D40B0BF3A}"/>
              </a:ext>
            </a:extLst>
          </p:cNvPr>
          <p:cNvSpPr>
            <a:spLocks noGrp="1"/>
          </p:cNvSpPr>
          <p:nvPr>
            <p:ph idx="1"/>
          </p:nvPr>
        </p:nvSpPr>
        <p:spPr>
          <a:xfrm>
            <a:off x="5933440" y="1825624"/>
            <a:ext cx="6258560" cy="5032375"/>
          </a:xfrm>
        </p:spPr>
        <p:txBody>
          <a:bodyPr>
            <a:normAutofit/>
          </a:bodyPr>
          <a:lstStyle/>
          <a:p>
            <a:r>
              <a:rPr lang="pt-BR" b="0" dirty="0">
                <a:solidFill>
                  <a:srgbClr val="0F0F0F"/>
                </a:solidFill>
                <a:effectLst/>
              </a:rPr>
              <a:t>Ao final dos 𝒌 treinamentos, calcula-se a </a:t>
            </a:r>
            <a:r>
              <a:rPr lang="pt-BR" b="1" dirty="0">
                <a:solidFill>
                  <a:srgbClr val="0070C0"/>
                </a:solidFill>
                <a:effectLst/>
              </a:rPr>
              <a:t>média</a:t>
            </a:r>
            <a:r>
              <a:rPr lang="pt-BR" b="0" dirty="0">
                <a:solidFill>
                  <a:srgbClr val="0F0F0F"/>
                </a:solidFill>
                <a:effectLst/>
              </a:rPr>
              <a:t> e o </a:t>
            </a:r>
            <a:r>
              <a:rPr lang="pt-BR" b="1" dirty="0">
                <a:solidFill>
                  <a:srgbClr val="0070C0"/>
                </a:solidFill>
                <a:effectLst/>
              </a:rPr>
              <a:t>desvio padrão</a:t>
            </a:r>
            <a:r>
              <a:rPr lang="pt-BR" b="0" dirty="0">
                <a:solidFill>
                  <a:srgbClr val="0F0F0F"/>
                </a:solidFill>
                <a:effectLst/>
              </a:rPr>
              <a:t> dos 𝒌 </a:t>
            </a:r>
            <a:r>
              <a:rPr lang="pt-BR" b="0" dirty="0" err="1">
                <a:solidFill>
                  <a:srgbClr val="0F0F0F"/>
                </a:solidFill>
                <a:effectLst/>
              </a:rPr>
              <a:t>EQMs</a:t>
            </a:r>
            <a:r>
              <a:rPr lang="pt-BR" b="0" dirty="0">
                <a:solidFill>
                  <a:srgbClr val="0F0F0F"/>
                </a:solidFill>
                <a:effectLst/>
              </a:rPr>
              <a:t> de validação para fornecer uma </a:t>
            </a:r>
            <a:r>
              <a:rPr lang="pt-BR" b="1" dirty="0">
                <a:solidFill>
                  <a:srgbClr val="00B050"/>
                </a:solidFill>
                <a:effectLst/>
              </a:rPr>
              <a:t>avaliação geral do desempenho do modelo</a:t>
            </a:r>
            <a:r>
              <a:rPr lang="pt-BR" b="1" dirty="0">
                <a:solidFill>
                  <a:srgbClr val="00B050"/>
                </a:solidFill>
              </a:rPr>
              <a:t>:</a:t>
            </a:r>
            <a:endParaRPr lang="pt-BR" b="1" dirty="0">
              <a:solidFill>
                <a:srgbClr val="00B050"/>
              </a:solidFill>
              <a:effectLst/>
            </a:endParaRPr>
          </a:p>
          <a:p>
            <a:pPr lvl="1">
              <a:buFont typeface="Wingdings" panose="05000000000000000000" pitchFamily="2" charset="2"/>
              <a:buChar char="§"/>
            </a:pPr>
            <a:r>
              <a:rPr lang="pt-BR" dirty="0"/>
              <a:t>A </a:t>
            </a:r>
            <a:r>
              <a:rPr lang="pt-BR" b="1" dirty="0">
                <a:solidFill>
                  <a:schemeClr val="accent2"/>
                </a:solidFill>
              </a:rPr>
              <a:t>média</a:t>
            </a:r>
            <a:r>
              <a:rPr lang="pt-BR" dirty="0"/>
              <a:t> fornece uma </a:t>
            </a:r>
            <a:r>
              <a:rPr lang="pt-BR" b="1" dirty="0">
                <a:solidFill>
                  <a:schemeClr val="accent2"/>
                </a:solidFill>
              </a:rPr>
              <a:t>estimativa da capacidade de generalização </a:t>
            </a:r>
            <a:r>
              <a:rPr lang="pt-BR" dirty="0"/>
              <a:t>do modelo.</a:t>
            </a:r>
          </a:p>
          <a:p>
            <a:pPr lvl="1">
              <a:buFont typeface="Wingdings" panose="05000000000000000000" pitchFamily="2" charset="2"/>
              <a:buChar char="§"/>
            </a:pPr>
            <a:r>
              <a:rPr lang="pt-BR" dirty="0"/>
              <a:t>O </a:t>
            </a:r>
            <a:r>
              <a:rPr lang="pt-BR" b="1" dirty="0">
                <a:solidFill>
                  <a:srgbClr val="7030A0"/>
                </a:solidFill>
              </a:rPr>
              <a:t>desvio padrão </a:t>
            </a:r>
            <a:r>
              <a:rPr lang="pt-BR" dirty="0"/>
              <a:t>indica a</a:t>
            </a:r>
            <a:br>
              <a:rPr lang="pt-BR" dirty="0"/>
            </a:br>
            <a:r>
              <a:rPr lang="pt-BR" b="1" dirty="0">
                <a:solidFill>
                  <a:srgbClr val="00B0F0"/>
                </a:solidFill>
              </a:rPr>
              <a:t>estabilidade</a:t>
            </a:r>
            <a:r>
              <a:rPr lang="pt-BR" b="1" dirty="0">
                <a:solidFill>
                  <a:srgbClr val="7030A0"/>
                </a:solidFill>
              </a:rPr>
              <a:t> do modelo</a:t>
            </a:r>
            <a:r>
              <a:rPr lang="pt-BR" dirty="0"/>
              <a:t> diante de </a:t>
            </a:r>
            <a:r>
              <a:rPr lang="pt-BR" b="1" dirty="0">
                <a:solidFill>
                  <a:srgbClr val="7030A0"/>
                </a:solidFill>
              </a:rPr>
              <a:t>diferentes subconjuntos </a:t>
            </a:r>
            <a:r>
              <a:rPr lang="pt-BR" dirty="0"/>
              <a:t>de</a:t>
            </a:r>
            <a:br>
              <a:rPr lang="pt-BR" dirty="0"/>
            </a:br>
            <a:r>
              <a:rPr lang="pt-BR" b="1" dirty="0">
                <a:solidFill>
                  <a:srgbClr val="7030A0"/>
                </a:solidFill>
              </a:rPr>
              <a:t>treinamento</a:t>
            </a:r>
            <a:r>
              <a:rPr lang="pt-BR" dirty="0"/>
              <a:t>.</a:t>
            </a:r>
          </a:p>
          <a:p>
            <a:pPr lvl="2">
              <a:buFont typeface="Courier New" panose="02070309020205020404" pitchFamily="49" charset="0"/>
              <a:buChar char="o"/>
            </a:pPr>
            <a:r>
              <a:rPr lang="pt-BR" dirty="0">
                <a:effectLst/>
              </a:rPr>
              <a:t>Um modelo que sempre captura o comportamento geral dos dados de treinamento tem baixa variância.</a:t>
            </a:r>
          </a:p>
        </p:txBody>
      </p:sp>
      <p:pic>
        <p:nvPicPr>
          <p:cNvPr id="4" name="Imagem 3">
            <a:extLst>
              <a:ext uri="{FF2B5EF4-FFF2-40B4-BE49-F238E27FC236}">
                <a16:creationId xmlns:a16="http://schemas.microsoft.com/office/drawing/2014/main" id="{4F49A66D-EE2E-954C-CE06-20034C4D7B7C}"/>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6" r="1"/>
          <a:stretch/>
        </p:blipFill>
        <p:spPr>
          <a:xfrm>
            <a:off x="139700" y="2545335"/>
            <a:ext cx="5613400" cy="3361882"/>
          </a:xfrm>
          <a:prstGeom prst="rect">
            <a:avLst/>
          </a:prstGeom>
        </p:spPr>
      </p:pic>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id="{A35580BE-2693-7A2B-E389-307D19EBC7B1}"/>
                  </a:ext>
                </a:extLst>
              </p:cNvPr>
              <p:cNvSpPr txBox="1"/>
              <p:nvPr/>
            </p:nvSpPr>
            <p:spPr>
              <a:xfrm>
                <a:off x="1442175" y="1953195"/>
                <a:ext cx="1360967" cy="584775"/>
              </a:xfrm>
              <a:prstGeom prst="rect">
                <a:avLst/>
              </a:prstGeom>
              <a:noFill/>
            </p:spPr>
            <p:txBody>
              <a:bodyPr wrap="square" rtlCol="0">
                <a:spAutoFit/>
              </a:bodyPr>
              <a:lstStyle/>
              <a:p>
                <a:pPr algn="ctr"/>
                <a14:m>
                  <m:oMath xmlns:m="http://schemas.openxmlformats.org/officeDocument/2006/math">
                    <m:r>
                      <a:rPr lang="pt-BR" sz="3200" b="1" i="1" smtClean="0">
                        <a:latin typeface="Cambria Math" panose="02040503050406030204" pitchFamily="18" charset="0"/>
                      </a:rPr>
                      <m:t>𝒌</m:t>
                    </m:r>
                  </m:oMath>
                </a14:m>
                <a:r>
                  <a:rPr lang="pt-BR" sz="3200" b="1" dirty="0"/>
                  <a:t> = 5</a:t>
                </a:r>
                <a:endParaRPr lang="en-US" sz="3200" b="1" dirty="0"/>
              </a:p>
            </p:txBody>
          </p:sp>
        </mc:Choice>
        <mc:Fallback xmlns="">
          <p:sp>
            <p:nvSpPr>
              <p:cNvPr id="5" name="CaixaDeTexto 4">
                <a:extLst>
                  <a:ext uri="{FF2B5EF4-FFF2-40B4-BE49-F238E27FC236}">
                    <a16:creationId xmlns:a16="http://schemas.microsoft.com/office/drawing/2014/main" id="{A35580BE-2693-7A2B-E389-307D19EBC7B1}"/>
                  </a:ext>
                </a:extLst>
              </p:cNvPr>
              <p:cNvSpPr txBox="1">
                <a:spLocks noRot="1" noChangeAspect="1" noMove="1" noResize="1" noEditPoints="1" noAdjustHandles="1" noChangeArrowheads="1" noChangeShapeType="1" noTextEdit="1"/>
              </p:cNvSpPr>
              <p:nvPr/>
            </p:nvSpPr>
            <p:spPr>
              <a:xfrm>
                <a:off x="1442175" y="1953195"/>
                <a:ext cx="1360967" cy="584775"/>
              </a:xfrm>
              <a:prstGeom prst="rect">
                <a:avLst/>
              </a:prstGeom>
              <a:blipFill>
                <a:blip r:embed="rId5"/>
                <a:stretch>
                  <a:fillRect t="-12500" b="-34375"/>
                </a:stretch>
              </a:blipFill>
            </p:spPr>
            <p:txBody>
              <a:bodyPr/>
              <a:lstStyle/>
              <a:p>
                <a:r>
                  <a:rPr lang="pt-BR">
                    <a:noFill/>
                  </a:rPr>
                  <a:t> </a:t>
                </a:r>
              </a:p>
            </p:txBody>
          </p:sp>
        </mc:Fallback>
      </mc:AlternateContent>
    </p:spTree>
    <p:extLst>
      <p:ext uri="{BB962C8B-B14F-4D97-AF65-F5344CB8AC3E}">
        <p14:creationId xmlns:p14="http://schemas.microsoft.com/office/powerpoint/2010/main" val="112903567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59768-E199-FC07-1D18-43F5B3FAEA6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ítulo 1">
                <a:extLst>
                  <a:ext uri="{FF2B5EF4-FFF2-40B4-BE49-F238E27FC236}">
                    <a16:creationId xmlns:a16="http://schemas.microsoft.com/office/drawing/2014/main" id="{626500EB-428E-627B-4A36-F1786ED03F75}"/>
                  </a:ext>
                </a:extLst>
              </p:cNvPr>
              <p:cNvSpPr>
                <a:spLocks noGrp="1"/>
              </p:cNvSpPr>
              <p:nvPr>
                <p:ph type="title"/>
              </p:nvPr>
            </p:nvSpPr>
            <p:spPr/>
            <p:txBody>
              <a:bodyPr/>
              <a:lstStyle/>
              <a:p>
                <a14:m>
                  <m:oMath xmlns:m="http://schemas.openxmlformats.org/officeDocument/2006/math">
                    <m:r>
                      <a:rPr lang="pt-BR" b="0" i="1" smtClean="0">
                        <a:solidFill>
                          <a:srgbClr val="0F0F0F"/>
                        </a:solidFill>
                        <a:effectLst/>
                        <a:latin typeface="Cambria Math" panose="02040503050406030204" pitchFamily="18" charset="0"/>
                      </a:rPr>
                      <m:t>𝑘</m:t>
                    </m:r>
                  </m:oMath>
                </a14:m>
                <a:r>
                  <a:rPr lang="pt-BR" dirty="0"/>
                  <a:t>-</a:t>
                </a:r>
                <a:r>
                  <a:rPr lang="pt-BR" i="1" dirty="0" err="1"/>
                  <a:t>fold</a:t>
                </a:r>
                <a:endParaRPr lang="pt-BR" i="1" dirty="0"/>
              </a:p>
            </p:txBody>
          </p:sp>
        </mc:Choice>
        <mc:Fallback xmlns="">
          <p:sp>
            <p:nvSpPr>
              <p:cNvPr id="2" name="Título 1">
                <a:extLst>
                  <a:ext uri="{FF2B5EF4-FFF2-40B4-BE49-F238E27FC236}">
                    <a16:creationId xmlns:a16="http://schemas.microsoft.com/office/drawing/2014/main" id="{626500EB-428E-627B-4A36-F1786ED03F75}"/>
                  </a:ext>
                </a:extLst>
              </p:cNvPr>
              <p:cNvSpPr>
                <a:spLocks noGrp="1" noRot="1" noChangeAspect="1" noMove="1" noResize="1" noEditPoints="1" noAdjustHandles="1" noChangeArrowheads="1" noChangeShapeType="1" noTextEdit="1"/>
              </p:cNvSpPr>
              <p:nvPr>
                <p:ph type="title"/>
              </p:nvPr>
            </p:nvSpPr>
            <p:spPr>
              <a:blipFill>
                <a:blip r:embed="rId3"/>
                <a:stretch>
                  <a:fillRect/>
                </a:stretch>
              </a:blipFill>
            </p:spPr>
            <p:txBody>
              <a:bodyPr/>
              <a:lstStyle/>
              <a:p>
                <a:r>
                  <a:rPr lang="en-US">
                    <a:noFill/>
                  </a:rPr>
                  <a:t> </a:t>
                </a:r>
              </a:p>
            </p:txBody>
          </p:sp>
        </mc:Fallback>
      </mc:AlternateContent>
      <p:sp>
        <p:nvSpPr>
          <p:cNvPr id="3" name="Espaço Reservado para Conteúdo 2">
            <a:extLst>
              <a:ext uri="{FF2B5EF4-FFF2-40B4-BE49-F238E27FC236}">
                <a16:creationId xmlns:a16="http://schemas.microsoft.com/office/drawing/2014/main" id="{538FA78E-37EF-7A80-CAC5-45B94D3B2029}"/>
              </a:ext>
            </a:extLst>
          </p:cNvPr>
          <p:cNvSpPr>
            <a:spLocks noGrp="1"/>
          </p:cNvSpPr>
          <p:nvPr>
            <p:ph idx="1"/>
          </p:nvPr>
        </p:nvSpPr>
        <p:spPr>
          <a:xfrm>
            <a:off x="6096000" y="1825624"/>
            <a:ext cx="6096000" cy="5032375"/>
          </a:xfrm>
        </p:spPr>
        <p:txBody>
          <a:bodyPr>
            <a:normAutofit/>
          </a:bodyPr>
          <a:lstStyle/>
          <a:p>
            <a:r>
              <a:rPr lang="pt-BR" sz="2800" dirty="0"/>
              <a:t>Em geral, utiliza-se </a:t>
            </a:r>
            <a:r>
              <a:rPr lang="pt-BR" b="0" dirty="0">
                <a:solidFill>
                  <a:srgbClr val="0F0F0F"/>
                </a:solidFill>
                <a:effectLst/>
              </a:rPr>
              <a:t>𝒌</a:t>
            </a:r>
            <a:r>
              <a:rPr lang="pt-BR" sz="2800" dirty="0"/>
              <a:t> </a:t>
            </a:r>
            <a:r>
              <a:rPr lang="pt-BR" dirty="0"/>
              <a:t>entre 3 e</a:t>
            </a:r>
            <a:r>
              <a:rPr lang="pt-BR" sz="2800" dirty="0"/>
              <a:t> 10.</a:t>
            </a:r>
          </a:p>
          <a:p>
            <a:r>
              <a:rPr lang="pt-BR" sz="2800" dirty="0"/>
              <a:t>Porém, ele deve ser escolhido de forma que os </a:t>
            </a:r>
            <a:r>
              <a:rPr lang="pt-BR" sz="2800" i="1" dirty="0"/>
              <a:t>folds</a:t>
            </a:r>
            <a:r>
              <a:rPr lang="pt-BR" sz="2800" dirty="0"/>
              <a:t> sejam </a:t>
            </a:r>
            <a:r>
              <a:rPr lang="pt-BR" sz="2800" b="1" dirty="0">
                <a:solidFill>
                  <a:schemeClr val="accent2"/>
                </a:solidFill>
              </a:rPr>
              <a:t>representativos</a:t>
            </a:r>
            <a:r>
              <a:rPr lang="pt-BR" sz="2800" b="1" dirty="0"/>
              <a:t> do padrão presente nos dados.</a:t>
            </a:r>
          </a:p>
          <a:p>
            <a:pPr lvl="1">
              <a:buFont typeface="Wingdings" panose="05000000000000000000" pitchFamily="2" charset="2"/>
              <a:buChar char="§"/>
            </a:pPr>
            <a:r>
              <a:rPr lang="pt-BR" dirty="0">
                <a:solidFill>
                  <a:srgbClr val="0F0F0F"/>
                </a:solidFill>
              </a:rPr>
              <a:t>Caso os </a:t>
            </a:r>
            <a:r>
              <a:rPr lang="pt-BR" i="1" dirty="0">
                <a:solidFill>
                  <a:srgbClr val="0F0F0F"/>
                </a:solidFill>
              </a:rPr>
              <a:t>folds</a:t>
            </a:r>
            <a:r>
              <a:rPr lang="pt-BR" dirty="0">
                <a:solidFill>
                  <a:srgbClr val="0F0F0F"/>
                </a:solidFill>
              </a:rPr>
              <a:t> não sejam representativos, temos o problema conhecido como </a:t>
            </a:r>
            <a:r>
              <a:rPr lang="pt-BR" b="1" dirty="0">
                <a:solidFill>
                  <a:srgbClr val="FF0000"/>
                </a:solidFill>
              </a:rPr>
              <a:t>viés de seleção</a:t>
            </a:r>
            <a:r>
              <a:rPr lang="pt-BR" dirty="0">
                <a:solidFill>
                  <a:srgbClr val="0F0F0F"/>
                </a:solidFill>
              </a:rPr>
              <a:t>.</a:t>
            </a:r>
          </a:p>
          <a:p>
            <a:pPr lvl="1">
              <a:buFont typeface="Wingdings" panose="05000000000000000000" pitchFamily="2" charset="2"/>
              <a:buChar char="§"/>
            </a:pPr>
            <a:r>
              <a:rPr lang="pt-BR" dirty="0">
                <a:solidFill>
                  <a:srgbClr val="0F0F0F"/>
                </a:solidFill>
              </a:rPr>
              <a:t>A capacidade de generalização pode ser impactada negativamente devido a esse problema.</a:t>
            </a:r>
          </a:p>
        </p:txBody>
      </p:sp>
      <p:grpSp>
        <p:nvGrpSpPr>
          <p:cNvPr id="6" name="Agrupar 8">
            <a:extLst>
              <a:ext uri="{FF2B5EF4-FFF2-40B4-BE49-F238E27FC236}">
                <a16:creationId xmlns:a16="http://schemas.microsoft.com/office/drawing/2014/main" id="{72CAD8E9-608C-0619-BA18-804ABB039257}"/>
              </a:ext>
            </a:extLst>
          </p:cNvPr>
          <p:cNvGrpSpPr/>
          <p:nvPr/>
        </p:nvGrpSpPr>
        <p:grpSpPr>
          <a:xfrm>
            <a:off x="425297" y="2187587"/>
            <a:ext cx="4600876" cy="3598860"/>
            <a:chOff x="423511" y="2416929"/>
            <a:chExt cx="4381727" cy="3392554"/>
          </a:xfrm>
        </p:grpSpPr>
        <p:pic>
          <p:nvPicPr>
            <p:cNvPr id="7" name="Picture 2">
              <a:extLst>
                <a:ext uri="{FF2B5EF4-FFF2-40B4-BE49-F238E27FC236}">
                  <a16:creationId xmlns:a16="http://schemas.microsoft.com/office/drawing/2014/main" id="{2997E71A-2934-26D3-0EF6-9BEBB14AC3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3511" y="2416929"/>
              <a:ext cx="4381727" cy="3392554"/>
            </a:xfrm>
            <a:prstGeom prst="rect">
              <a:avLst/>
            </a:prstGeom>
            <a:noFill/>
            <a:extLst>
              <a:ext uri="{909E8E84-426E-40DD-AFC4-6F175D3DCCD1}">
                <a14:hiddenFill xmlns:a14="http://schemas.microsoft.com/office/drawing/2010/main">
                  <a:solidFill>
                    <a:srgbClr val="FFFFFF"/>
                  </a:solidFill>
                </a14:hiddenFill>
              </a:ext>
            </a:extLst>
          </p:spPr>
        </p:pic>
        <p:sp>
          <p:nvSpPr>
            <p:cNvPr id="8" name="Retângulo 4">
              <a:extLst>
                <a:ext uri="{FF2B5EF4-FFF2-40B4-BE49-F238E27FC236}">
                  <a16:creationId xmlns:a16="http://schemas.microsoft.com/office/drawing/2014/main" id="{D78ADD44-4EA9-33F3-5DF6-5C5B279EB083}"/>
                </a:ext>
              </a:extLst>
            </p:cNvPr>
            <p:cNvSpPr/>
            <p:nvPr/>
          </p:nvSpPr>
          <p:spPr>
            <a:xfrm>
              <a:off x="1013460" y="3337560"/>
              <a:ext cx="2743200" cy="196596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tângulo 5">
              <a:extLst>
                <a:ext uri="{FF2B5EF4-FFF2-40B4-BE49-F238E27FC236}">
                  <a16:creationId xmlns:a16="http://schemas.microsoft.com/office/drawing/2014/main" id="{3128F98A-711B-5325-266C-6BB55D57F01F}"/>
                </a:ext>
              </a:extLst>
            </p:cNvPr>
            <p:cNvSpPr/>
            <p:nvPr/>
          </p:nvSpPr>
          <p:spPr>
            <a:xfrm>
              <a:off x="3816351" y="2552700"/>
              <a:ext cx="812800" cy="1682416"/>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CaixaDeTexto 6">
              <a:extLst>
                <a:ext uri="{FF2B5EF4-FFF2-40B4-BE49-F238E27FC236}">
                  <a16:creationId xmlns:a16="http://schemas.microsoft.com/office/drawing/2014/main" id="{7B47E952-9F60-C8B9-4C09-4B671AC49170}"/>
                </a:ext>
              </a:extLst>
            </p:cNvPr>
            <p:cNvSpPr txBox="1"/>
            <p:nvPr/>
          </p:nvSpPr>
          <p:spPr>
            <a:xfrm>
              <a:off x="1819136" y="3360571"/>
              <a:ext cx="1131848" cy="307777"/>
            </a:xfrm>
            <a:prstGeom prst="rect">
              <a:avLst/>
            </a:prstGeom>
            <a:noFill/>
          </p:spPr>
          <p:txBody>
            <a:bodyPr wrap="none" rtlCol="0">
              <a:spAutoFit/>
            </a:bodyPr>
            <a:lstStyle/>
            <a:p>
              <a:r>
                <a:rPr lang="pt-BR" sz="1400" b="1" dirty="0"/>
                <a:t>Treinamento</a:t>
              </a:r>
            </a:p>
          </p:txBody>
        </p:sp>
        <p:sp>
          <p:nvSpPr>
            <p:cNvPr id="11" name="CaixaDeTexto 7">
              <a:extLst>
                <a:ext uri="{FF2B5EF4-FFF2-40B4-BE49-F238E27FC236}">
                  <a16:creationId xmlns:a16="http://schemas.microsoft.com/office/drawing/2014/main" id="{CA0BDFF5-EE38-9E9E-C871-D5EBCF1842E8}"/>
                </a:ext>
              </a:extLst>
            </p:cNvPr>
            <p:cNvSpPr txBox="1"/>
            <p:nvPr/>
          </p:nvSpPr>
          <p:spPr>
            <a:xfrm>
              <a:off x="3791644" y="4235116"/>
              <a:ext cx="901529" cy="307777"/>
            </a:xfrm>
            <a:prstGeom prst="rect">
              <a:avLst/>
            </a:prstGeom>
            <a:noFill/>
          </p:spPr>
          <p:txBody>
            <a:bodyPr wrap="none" rtlCol="0">
              <a:spAutoFit/>
            </a:bodyPr>
            <a:lstStyle/>
            <a:p>
              <a:r>
                <a:rPr lang="pt-BR" sz="1400" b="1" dirty="0"/>
                <a:t>Validação</a:t>
              </a:r>
            </a:p>
          </p:txBody>
        </p:sp>
      </p:grpSp>
    </p:spTree>
    <p:extLst>
      <p:ext uri="{BB962C8B-B14F-4D97-AF65-F5344CB8AC3E}">
        <p14:creationId xmlns:p14="http://schemas.microsoft.com/office/powerpoint/2010/main" val="216426563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51A04E-87C2-A4B1-727E-ACB4C5801459}"/>
              </a:ext>
            </a:extLst>
          </p:cNvPr>
          <p:cNvSpPr>
            <a:spLocks noGrp="1"/>
          </p:cNvSpPr>
          <p:nvPr>
            <p:ph type="title"/>
          </p:nvPr>
        </p:nvSpPr>
        <p:spPr>
          <a:xfrm>
            <a:off x="838200" y="365125"/>
            <a:ext cx="10998200" cy="1325563"/>
          </a:xfrm>
        </p:spPr>
        <p:txBody>
          <a:bodyPr/>
          <a:lstStyle/>
          <a:p>
            <a:r>
              <a:rPr lang="pt-BR" dirty="0"/>
              <a:t>Qual grau escolher quando vários são possíveis?</a:t>
            </a:r>
          </a:p>
        </p:txBody>
      </p:sp>
      <p:sp>
        <p:nvSpPr>
          <p:cNvPr id="3" name="Espaço Reservado para Conteúdo 2">
            <a:extLst>
              <a:ext uri="{FF2B5EF4-FFF2-40B4-BE49-F238E27FC236}">
                <a16:creationId xmlns:a16="http://schemas.microsoft.com/office/drawing/2014/main" id="{139ADDD6-6BAF-0757-3736-516A20794509}"/>
              </a:ext>
            </a:extLst>
          </p:cNvPr>
          <p:cNvSpPr>
            <a:spLocks noGrp="1"/>
          </p:cNvSpPr>
          <p:nvPr>
            <p:ph idx="1"/>
          </p:nvPr>
        </p:nvSpPr>
        <p:spPr>
          <a:xfrm>
            <a:off x="5572462" y="2005846"/>
            <a:ext cx="6619538" cy="4868781"/>
          </a:xfrm>
        </p:spPr>
        <p:txBody>
          <a:bodyPr>
            <a:normAutofit fontScale="92500"/>
          </a:bodyPr>
          <a:lstStyle/>
          <a:p>
            <a:r>
              <a:rPr lang="pt-BR" dirty="0"/>
              <a:t>A figura ao lado apresenta a </a:t>
            </a:r>
            <a:r>
              <a:rPr lang="pt-BR" b="1" dirty="0">
                <a:solidFill>
                  <a:srgbClr val="7030A0"/>
                </a:solidFill>
              </a:rPr>
              <a:t>média do EQM de validação</a:t>
            </a:r>
            <a:r>
              <a:rPr lang="pt-BR" dirty="0"/>
              <a:t> para vários graus de polinômio.</a:t>
            </a:r>
          </a:p>
          <a:p>
            <a:r>
              <a:rPr lang="pt-BR" dirty="0"/>
              <a:t>Após o grau 2, a média do EQM é baixa e praticamente constante.</a:t>
            </a:r>
          </a:p>
          <a:p>
            <a:r>
              <a:rPr lang="pt-BR" dirty="0"/>
              <a:t>Essa situação ocorre quando o número de amostras é muito maior do que a flexibilidade (e.g., o grau) dos modelos.</a:t>
            </a:r>
          </a:p>
          <a:p>
            <a:pPr lvl="1">
              <a:buFont typeface="Wingdings" panose="05000000000000000000" pitchFamily="2" charset="2"/>
              <a:buChar char="§"/>
            </a:pPr>
            <a:r>
              <a:rPr lang="pt-BR" dirty="0"/>
              <a:t>Os modelos não conseguem memorizar todas as amostras.</a:t>
            </a:r>
          </a:p>
          <a:p>
            <a:r>
              <a:rPr lang="pt-BR" b="1" dirty="0">
                <a:solidFill>
                  <a:srgbClr val="00B050"/>
                </a:solidFill>
              </a:rPr>
              <a:t>Qual grau devemos escolher quando o erro é mínimo e praticamente constante para vários graus de polinômio?</a:t>
            </a:r>
          </a:p>
        </p:txBody>
      </p:sp>
      <p:pic>
        <p:nvPicPr>
          <p:cNvPr id="4" name="Picture 2">
            <a:extLst>
              <a:ext uri="{FF2B5EF4-FFF2-40B4-BE49-F238E27FC236}">
                <a16:creationId xmlns:a16="http://schemas.microsoft.com/office/drawing/2014/main" id="{F1523848-867A-3698-482D-51E11972A826}"/>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49470"/>
          <a:stretch/>
        </p:blipFill>
        <p:spPr bwMode="auto">
          <a:xfrm>
            <a:off x="108413" y="2005846"/>
            <a:ext cx="5237628" cy="3807431"/>
          </a:xfrm>
          <a:prstGeom prst="rect">
            <a:avLst/>
          </a:prstGeom>
          <a:noFill/>
          <a:extLst>
            <a:ext uri="{909E8E84-426E-40DD-AFC4-6F175D3DCCD1}">
              <a14:hiddenFill xmlns:a14="http://schemas.microsoft.com/office/drawing/2010/main">
                <a:solidFill>
                  <a:srgbClr val="FFFFFF"/>
                </a:solidFill>
              </a14:hiddenFill>
            </a:ext>
          </a:extLst>
        </p:spPr>
      </p:pic>
      <p:sp>
        <p:nvSpPr>
          <p:cNvPr id="7" name="CaixaDeTexto 6">
            <a:extLst>
              <a:ext uri="{FF2B5EF4-FFF2-40B4-BE49-F238E27FC236}">
                <a16:creationId xmlns:a16="http://schemas.microsoft.com/office/drawing/2014/main" id="{3160817B-5023-F2AE-B878-2F4AD2764249}"/>
              </a:ext>
            </a:extLst>
          </p:cNvPr>
          <p:cNvSpPr txBox="1"/>
          <p:nvPr/>
        </p:nvSpPr>
        <p:spPr>
          <a:xfrm>
            <a:off x="2334266" y="4283220"/>
            <a:ext cx="2083324" cy="738664"/>
          </a:xfrm>
          <a:prstGeom prst="rect">
            <a:avLst/>
          </a:prstGeom>
          <a:noFill/>
        </p:spPr>
        <p:txBody>
          <a:bodyPr wrap="square">
            <a:spAutoFit/>
          </a:bodyPr>
          <a:lstStyle/>
          <a:p>
            <a:pPr algn="ctr"/>
            <a:r>
              <a:rPr lang="pt-BR" sz="1400" b="1" dirty="0">
                <a:solidFill>
                  <a:srgbClr val="7030A0"/>
                </a:solidFill>
              </a:rPr>
              <a:t>Teoricamente, qualquer grau maior ou igual a 2 já seria uma boa escolha.</a:t>
            </a:r>
          </a:p>
        </p:txBody>
      </p:sp>
      <p:sp>
        <p:nvSpPr>
          <p:cNvPr id="5" name="CaixaDeTexto 4"/>
          <p:cNvSpPr txBox="1"/>
          <p:nvPr/>
        </p:nvSpPr>
        <p:spPr>
          <a:xfrm>
            <a:off x="1071562" y="5943769"/>
            <a:ext cx="4274479" cy="646331"/>
          </a:xfrm>
          <a:prstGeom prst="rect">
            <a:avLst/>
          </a:prstGeom>
          <a:noFill/>
        </p:spPr>
        <p:txBody>
          <a:bodyPr wrap="square" rtlCol="0">
            <a:spAutoFit/>
          </a:bodyPr>
          <a:lstStyle/>
          <a:p>
            <a:pPr algn="ctr"/>
            <a:r>
              <a:rPr lang="pt-BR" dirty="0"/>
              <a:t>Média do EQM para modelos com diferentes complexidades</a:t>
            </a:r>
          </a:p>
        </p:txBody>
      </p:sp>
    </p:spTree>
    <p:extLst>
      <p:ext uri="{BB962C8B-B14F-4D97-AF65-F5344CB8AC3E}">
        <p14:creationId xmlns:p14="http://schemas.microsoft.com/office/powerpoint/2010/main" val="234686411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1B1586-529A-A679-60A3-A0D83AC9CEB5}"/>
              </a:ext>
            </a:extLst>
          </p:cNvPr>
          <p:cNvSpPr>
            <a:spLocks noGrp="1"/>
          </p:cNvSpPr>
          <p:nvPr>
            <p:ph type="title"/>
          </p:nvPr>
        </p:nvSpPr>
        <p:spPr>
          <a:xfrm>
            <a:off x="838200" y="365125"/>
            <a:ext cx="10985500" cy="1325563"/>
          </a:xfrm>
        </p:spPr>
        <p:txBody>
          <a:bodyPr/>
          <a:lstStyle/>
          <a:p>
            <a:r>
              <a:rPr lang="pt-BR" dirty="0"/>
              <a:t>Qual grau escolher quando vários são possíveis?</a:t>
            </a:r>
          </a:p>
        </p:txBody>
      </p:sp>
      <p:sp>
        <p:nvSpPr>
          <p:cNvPr id="3" name="Espaço Reservado para Conteúdo 2">
            <a:extLst>
              <a:ext uri="{FF2B5EF4-FFF2-40B4-BE49-F238E27FC236}">
                <a16:creationId xmlns:a16="http://schemas.microsoft.com/office/drawing/2014/main" id="{39A11C6A-E0FA-69E8-0E7C-434857DB5D45}"/>
              </a:ext>
            </a:extLst>
          </p:cNvPr>
          <p:cNvSpPr>
            <a:spLocks noGrp="1"/>
          </p:cNvSpPr>
          <p:nvPr>
            <p:ph idx="1"/>
          </p:nvPr>
        </p:nvSpPr>
        <p:spPr>
          <a:xfrm>
            <a:off x="838200" y="1825624"/>
            <a:ext cx="11353800" cy="5032375"/>
          </a:xfrm>
        </p:spPr>
        <p:txBody>
          <a:bodyPr>
            <a:normAutofit/>
          </a:bodyPr>
          <a:lstStyle/>
          <a:p>
            <a:r>
              <a:rPr lang="pt-BR" noProof="0" dirty="0"/>
              <a:t>A resposta é aplicar o </a:t>
            </a:r>
            <a:r>
              <a:rPr lang="pt-BR" b="1" noProof="0" dirty="0"/>
              <a:t>princípio da navalha de Occam</a:t>
            </a:r>
            <a:r>
              <a:rPr lang="pt-BR" noProof="0" dirty="0"/>
              <a:t>.</a:t>
            </a:r>
          </a:p>
          <a:p>
            <a:r>
              <a:rPr lang="pt-BR" noProof="0" dirty="0"/>
              <a:t>A </a:t>
            </a:r>
            <a:r>
              <a:rPr lang="pt-BR" b="1" noProof="0" dirty="0"/>
              <a:t>navalha de Occam </a:t>
            </a:r>
            <a:r>
              <a:rPr lang="pt-BR" noProof="0" dirty="0"/>
              <a:t>é um princípio lógico que diz que, </a:t>
            </a:r>
            <a:r>
              <a:rPr lang="pt-BR" b="1" noProof="0" dirty="0">
                <a:solidFill>
                  <a:srgbClr val="7030A0"/>
                </a:solidFill>
                <a:effectLst/>
              </a:rPr>
              <a:t>entre várias explicações igualmente plausíveis</a:t>
            </a:r>
            <a:r>
              <a:rPr lang="pt-BR" b="0" noProof="0" dirty="0">
                <a:solidFill>
                  <a:srgbClr val="0F0F0F"/>
                </a:solidFill>
                <a:effectLst/>
              </a:rPr>
              <a:t> para um conjunto de observações, a </a:t>
            </a:r>
            <a:r>
              <a:rPr lang="pt-BR" b="1" noProof="0" dirty="0">
                <a:solidFill>
                  <a:srgbClr val="7030A0"/>
                </a:solidFill>
                <a:effectLst/>
              </a:rPr>
              <a:t>mais simples deve ser preferida</a:t>
            </a:r>
            <a:r>
              <a:rPr lang="pt-BR" b="0" noProof="0" dirty="0">
                <a:solidFill>
                  <a:srgbClr val="0F0F0F"/>
                </a:solidFill>
                <a:effectLst/>
              </a:rPr>
              <a:t>.</a:t>
            </a:r>
            <a:endParaRPr lang="pt-BR" noProof="0" dirty="0"/>
          </a:p>
          <a:p>
            <a:pPr lvl="1">
              <a:buFont typeface="Wingdings" panose="05000000000000000000" pitchFamily="2" charset="2"/>
              <a:buChar char="§"/>
            </a:pPr>
            <a:r>
              <a:rPr lang="pt-BR" noProof="0" dirty="0"/>
              <a:t>Ou seja, deve-se </a:t>
            </a:r>
            <a:r>
              <a:rPr lang="pt-BR" b="1" noProof="0" dirty="0">
                <a:solidFill>
                  <a:srgbClr val="0070C0"/>
                </a:solidFill>
              </a:rPr>
              <a:t>preferir explicações mais simples às mais complexas</a:t>
            </a:r>
            <a:r>
              <a:rPr lang="pt-BR" noProof="0" dirty="0"/>
              <a:t>.</a:t>
            </a:r>
          </a:p>
          <a:p>
            <a:r>
              <a:rPr lang="pt-BR" noProof="0" dirty="0"/>
              <a:t>Portanto, aplicando a </a:t>
            </a:r>
            <a:r>
              <a:rPr lang="pt-BR" b="1" noProof="0" dirty="0"/>
              <a:t>navalha de Occam</a:t>
            </a:r>
            <a:r>
              <a:rPr lang="pt-BR" noProof="0" dirty="0"/>
              <a:t>, escolhemos a </a:t>
            </a:r>
            <a:r>
              <a:rPr lang="pt-BR" b="1" noProof="0" dirty="0">
                <a:solidFill>
                  <a:srgbClr val="002060"/>
                </a:solidFill>
              </a:rPr>
              <a:t>função hipótese polinomial</a:t>
            </a:r>
            <a:r>
              <a:rPr lang="pt-BR" b="1" noProof="0" dirty="0">
                <a:solidFill>
                  <a:srgbClr val="00B050"/>
                </a:solidFill>
              </a:rPr>
              <a:t> com menor grau</a:t>
            </a:r>
            <a:r>
              <a:rPr lang="pt-BR" noProof="0" dirty="0"/>
              <a:t> (i.e., menos complexa), </a:t>
            </a:r>
            <a:r>
              <a:rPr lang="pt-BR" b="1" noProof="0" dirty="0">
                <a:solidFill>
                  <a:srgbClr val="00B050"/>
                </a:solidFill>
              </a:rPr>
              <a:t>mas que ainda se ajusta bem ao comportamento geral dos dados</a:t>
            </a:r>
            <a:r>
              <a:rPr lang="pt-BR" noProof="0" dirty="0"/>
              <a:t>.</a:t>
            </a:r>
          </a:p>
          <a:p>
            <a:pPr lvl="1">
              <a:buFont typeface="Wingdings" panose="05000000000000000000" pitchFamily="2" charset="2"/>
              <a:buChar char="§"/>
            </a:pPr>
            <a:r>
              <a:rPr lang="pt-BR" noProof="0" dirty="0"/>
              <a:t>Ou seja, escolhemos o </a:t>
            </a:r>
            <a:r>
              <a:rPr lang="pt-BR" b="1" noProof="0" dirty="0">
                <a:solidFill>
                  <a:schemeClr val="accent2"/>
                </a:solidFill>
              </a:rPr>
              <a:t>modelo mais simples </a:t>
            </a:r>
            <a:r>
              <a:rPr lang="pt-BR" noProof="0" dirty="0"/>
              <a:t>em termos de quantidade de cálculos, </a:t>
            </a:r>
            <a:r>
              <a:rPr lang="pt-BR" b="1" noProof="0" dirty="0">
                <a:solidFill>
                  <a:schemeClr val="accent2"/>
                </a:solidFill>
              </a:rPr>
              <a:t>mas que possua uma boa capacidade de generalização</a:t>
            </a:r>
            <a:r>
              <a:rPr lang="pt-BR" noProof="0" dirty="0"/>
              <a:t>.</a:t>
            </a:r>
          </a:p>
        </p:txBody>
      </p:sp>
    </p:spTree>
    <p:extLst>
      <p:ext uri="{BB962C8B-B14F-4D97-AF65-F5344CB8AC3E}">
        <p14:creationId xmlns:p14="http://schemas.microsoft.com/office/powerpoint/2010/main" val="245174827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C02EC-13AB-CF60-1E76-D8B929CCB92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D0BB43-38B4-FFCC-014B-32D9C7B82DFB}"/>
              </a:ext>
            </a:extLst>
          </p:cNvPr>
          <p:cNvSpPr>
            <a:spLocks noGrp="1"/>
          </p:cNvSpPr>
          <p:nvPr>
            <p:ph idx="1"/>
          </p:nvPr>
        </p:nvSpPr>
        <p:spPr>
          <a:xfrm>
            <a:off x="838200" y="2554829"/>
            <a:ext cx="10515600" cy="1748341"/>
          </a:xfrm>
        </p:spPr>
        <p:txBody>
          <a:bodyPr/>
          <a:lstStyle/>
          <a:p>
            <a:pPr marL="0" indent="0" algn="ctr">
              <a:buNone/>
            </a:pPr>
            <a:r>
              <a:rPr lang="pt-BR" sz="5400" dirty="0"/>
              <a:t>Outras maneiras de se evitar que um modelo se sobreajuste</a:t>
            </a:r>
            <a:endParaRPr lang="en-US" sz="5400" dirty="0"/>
          </a:p>
        </p:txBody>
      </p:sp>
    </p:spTree>
    <p:extLst>
      <p:ext uri="{BB962C8B-B14F-4D97-AF65-F5344CB8AC3E}">
        <p14:creationId xmlns:p14="http://schemas.microsoft.com/office/powerpoint/2010/main" val="147663280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m 8">
            <a:extLst>
              <a:ext uri="{FF2B5EF4-FFF2-40B4-BE49-F238E27FC236}">
                <a16:creationId xmlns:a16="http://schemas.microsoft.com/office/drawing/2014/main" id="{20AB6FA0-AEEA-DD68-71A9-D05F91264E51}"/>
              </a:ext>
            </a:extLst>
          </p:cNvPr>
          <p:cNvPicPr>
            <a:picLocks noChangeAspect="1"/>
          </p:cNvPicPr>
          <p:nvPr/>
        </p:nvPicPr>
        <p:blipFill>
          <a:blip r:embed="rId3"/>
          <a:stretch>
            <a:fillRect/>
          </a:stretch>
        </p:blipFill>
        <p:spPr>
          <a:xfrm>
            <a:off x="2247921" y="4084320"/>
            <a:ext cx="2071039" cy="2753360"/>
          </a:xfrm>
          <a:prstGeom prst="rect">
            <a:avLst/>
          </a:prstGeom>
        </p:spPr>
      </p:pic>
      <p:sp>
        <p:nvSpPr>
          <p:cNvPr id="2" name="Título 1">
            <a:extLst>
              <a:ext uri="{FF2B5EF4-FFF2-40B4-BE49-F238E27FC236}">
                <a16:creationId xmlns:a16="http://schemas.microsoft.com/office/drawing/2014/main" id="{6766F209-3E3E-0136-4083-293C5897A43D}"/>
              </a:ext>
            </a:extLst>
          </p:cNvPr>
          <p:cNvSpPr>
            <a:spLocks noGrp="1"/>
          </p:cNvSpPr>
          <p:nvPr>
            <p:ph type="title"/>
          </p:nvPr>
        </p:nvSpPr>
        <p:spPr/>
        <p:txBody>
          <a:bodyPr/>
          <a:lstStyle/>
          <a:p>
            <a:r>
              <a:rPr lang="pt-BR" dirty="0"/>
              <a:t>Regularização</a:t>
            </a:r>
          </a:p>
        </p:txBody>
      </p:sp>
      <p:sp>
        <p:nvSpPr>
          <p:cNvPr id="3" name="Espaço Reservado para Conteúdo 2">
            <a:extLst>
              <a:ext uri="{FF2B5EF4-FFF2-40B4-BE49-F238E27FC236}">
                <a16:creationId xmlns:a16="http://schemas.microsoft.com/office/drawing/2014/main" id="{D2294B5F-B438-34E2-4845-29E47EF0DECB}"/>
              </a:ext>
            </a:extLst>
          </p:cNvPr>
          <p:cNvSpPr>
            <a:spLocks noGrp="1"/>
          </p:cNvSpPr>
          <p:nvPr>
            <p:ph idx="1"/>
          </p:nvPr>
        </p:nvSpPr>
        <p:spPr>
          <a:xfrm>
            <a:off x="5549235" y="1825624"/>
            <a:ext cx="6642765" cy="5032375"/>
          </a:xfrm>
        </p:spPr>
        <p:txBody>
          <a:bodyPr>
            <a:normAutofit lnSpcReduction="10000"/>
          </a:bodyPr>
          <a:lstStyle/>
          <a:p>
            <a:r>
              <a:rPr lang="pt-BR" b="0" dirty="0">
                <a:effectLst/>
              </a:rPr>
              <a:t>Envolve a </a:t>
            </a:r>
            <a:r>
              <a:rPr lang="pt-BR" b="1" dirty="0">
                <a:solidFill>
                  <a:srgbClr val="7030A0"/>
                </a:solidFill>
                <a:effectLst/>
              </a:rPr>
              <a:t>adição de um termo de penalização à função de erro </a:t>
            </a:r>
            <a:r>
              <a:rPr lang="pt-BR" b="1" dirty="0">
                <a:solidFill>
                  <a:srgbClr val="00B050"/>
                </a:solidFill>
                <a:effectLst/>
              </a:rPr>
              <a:t>durante o treinamento </a:t>
            </a:r>
            <a:r>
              <a:rPr lang="pt-BR" b="0" dirty="0">
                <a:effectLst/>
              </a:rPr>
              <a:t>do modelo.</a:t>
            </a:r>
          </a:p>
          <a:p>
            <a:r>
              <a:rPr lang="pt-BR" b="1" dirty="0"/>
              <a:t>O</a:t>
            </a:r>
            <a:r>
              <a:rPr lang="pt-BR" b="1" dirty="0">
                <a:effectLst/>
              </a:rPr>
              <a:t>bjetivo</a:t>
            </a:r>
            <a:r>
              <a:rPr lang="pt-BR" b="0" dirty="0">
                <a:effectLst/>
              </a:rPr>
              <a:t>: impor </a:t>
            </a:r>
            <a:r>
              <a:rPr lang="pt-BR" b="1" dirty="0">
                <a:solidFill>
                  <a:srgbClr val="00B050"/>
                </a:solidFill>
                <a:effectLst/>
              </a:rPr>
              <a:t>restrições sobre os possíveis valores dos pesos</a:t>
            </a:r>
            <a:r>
              <a:rPr lang="pt-BR" b="0" dirty="0">
                <a:effectLst/>
              </a:rPr>
              <a:t>.</a:t>
            </a:r>
          </a:p>
          <a:p>
            <a:r>
              <a:rPr lang="pt-BR" dirty="0"/>
              <a:t>A regularização </a:t>
            </a:r>
            <a:r>
              <a:rPr lang="pt-BR" b="1" dirty="0">
                <a:solidFill>
                  <a:srgbClr val="00B050"/>
                </a:solidFill>
              </a:rPr>
              <a:t>reduz a flexibilidade </a:t>
            </a:r>
            <a:r>
              <a:rPr lang="pt-BR" dirty="0"/>
              <a:t>do modelo </a:t>
            </a:r>
            <a:r>
              <a:rPr lang="pt-BR" b="1" dirty="0">
                <a:solidFill>
                  <a:srgbClr val="00B050"/>
                </a:solidFill>
              </a:rPr>
              <a:t>penalizando seus pesos</a:t>
            </a:r>
            <a:r>
              <a:rPr lang="pt-BR" dirty="0"/>
              <a:t>.</a:t>
            </a:r>
          </a:p>
          <a:p>
            <a:pPr lvl="1">
              <a:buFont typeface="Wingdings" panose="05000000000000000000" pitchFamily="2" charset="2"/>
              <a:buChar char="§"/>
            </a:pPr>
            <a:r>
              <a:rPr lang="pt-BR" dirty="0"/>
              <a:t>Modelos que sobreajustam têm </a:t>
            </a:r>
            <a:r>
              <a:rPr lang="pt-BR" b="1" dirty="0">
                <a:solidFill>
                  <a:srgbClr val="00B050"/>
                </a:solidFill>
              </a:rPr>
              <a:t>pesos com valores </a:t>
            </a:r>
            <a:r>
              <a:rPr lang="pt-BR" b="1" dirty="0">
                <a:solidFill>
                  <a:srgbClr val="7030A0"/>
                </a:solidFill>
              </a:rPr>
              <a:t>absolutos</a:t>
            </a:r>
            <a:r>
              <a:rPr lang="pt-BR" b="1" dirty="0">
                <a:solidFill>
                  <a:srgbClr val="00B050"/>
                </a:solidFill>
              </a:rPr>
              <a:t> muito altos</a:t>
            </a:r>
            <a:r>
              <a:rPr lang="pt-BR" dirty="0"/>
              <a:t>.</a:t>
            </a:r>
          </a:p>
          <a:p>
            <a:pPr lvl="1">
              <a:buFont typeface="Wingdings" panose="05000000000000000000" pitchFamily="2" charset="2"/>
              <a:buChar char="§"/>
            </a:pPr>
            <a:r>
              <a:rPr lang="pt-BR" dirty="0"/>
              <a:t>A regularização </a:t>
            </a:r>
            <a:r>
              <a:rPr lang="pt-BR" b="1" dirty="0">
                <a:solidFill>
                  <a:srgbClr val="00B050"/>
                </a:solidFill>
              </a:rPr>
              <a:t>restringe</a:t>
            </a:r>
            <a:r>
              <a:rPr lang="pt-BR" dirty="0"/>
              <a:t> o aumento dos pesos a uma </a:t>
            </a:r>
            <a:r>
              <a:rPr lang="pt-BR" b="1" dirty="0">
                <a:solidFill>
                  <a:srgbClr val="00B050"/>
                </a:solidFill>
              </a:rPr>
              <a:t>região de possíveis valores</a:t>
            </a:r>
            <a:r>
              <a:rPr lang="pt-BR" dirty="0"/>
              <a:t>.</a:t>
            </a:r>
          </a:p>
          <a:p>
            <a:r>
              <a:rPr lang="pt-BR" dirty="0"/>
              <a:t>As</a:t>
            </a:r>
            <a:r>
              <a:rPr lang="pt-BR" b="0" dirty="0">
                <a:effectLst/>
              </a:rPr>
              <a:t> técnicas de regularização mais utilizadas são L1, L2 e </a:t>
            </a:r>
            <a:r>
              <a:rPr lang="pt-BR" b="0" i="1" dirty="0" err="1">
                <a:effectLst/>
              </a:rPr>
              <a:t>elastic</a:t>
            </a:r>
            <a:r>
              <a:rPr lang="pt-BR" b="0" i="1" dirty="0">
                <a:effectLst/>
              </a:rPr>
              <a:t>-net</a:t>
            </a:r>
            <a:r>
              <a:rPr lang="pt-BR" b="0" dirty="0">
                <a:effectLst/>
              </a:rPr>
              <a:t> (anexo IV).</a:t>
            </a:r>
          </a:p>
        </p:txBody>
      </p:sp>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id="{A5D2EFB5-F853-0ECE-6705-DF53B688DBE6}"/>
                  </a:ext>
                </a:extLst>
              </p:cNvPr>
              <p:cNvSpPr txBox="1"/>
              <p:nvPr/>
            </p:nvSpPr>
            <p:spPr>
              <a:xfrm>
                <a:off x="1146518" y="2670430"/>
                <a:ext cx="3803434" cy="1470980"/>
              </a:xfrm>
              <a:prstGeom prst="rect">
                <a:avLst/>
              </a:prstGeom>
              <a:noFill/>
            </p:spPr>
            <p:txBody>
              <a:bodyPr wrap="square">
                <a:spAutoFit/>
              </a:bodyPr>
              <a:lstStyle/>
              <a:p>
                <a:pPr/>
                <a14:m>
                  <m:oMathPara xmlns:m="http://schemas.openxmlformats.org/officeDocument/2006/math">
                    <m:oMath>
                      <m:func>
                        <m:funcPr>
                          <m:ctrlPr>
                            <a:rPr lang="nl-BE" sz="2800" i="1">
                              <a:latin typeface="Cambria Math" panose="02040503050406030204" pitchFamily="18" charset="0"/>
                            </a:rPr>
                          </m:ctrlPr>
                        </m:funcPr>
                        <m:fName>
                          <m:limLow>
                            <m:limLowPr>
                              <m:ctrlPr>
                                <a:rPr lang="nl-BE" sz="2800">
                                  <a:latin typeface="Cambria Math" panose="02040503050406030204" pitchFamily="18" charset="0"/>
                                </a:rPr>
                              </m:ctrlPr>
                            </m:limLowPr>
                            <m:e>
                              <m:r>
                                <m:rPr>
                                  <m:sty m:val="p"/>
                                </m:rPr>
                                <a:rPr lang="nl-BE" sz="2800">
                                  <a:latin typeface="Cambria Math" panose="02040503050406030204" pitchFamily="18" charset="0"/>
                                </a:rPr>
                                <m:t>min</m:t>
                              </m:r>
                            </m:e>
                            <m:lim>
                              <m:r>
                                <a:rPr lang="pt-BR" sz="2800" b="1" i="1" smtClean="0">
                                  <a:latin typeface="Cambria Math" panose="02040503050406030204" pitchFamily="18" charset="0"/>
                                </a:rPr>
                                <m:t>𝒂</m:t>
                              </m:r>
                            </m:lim>
                          </m:limLow>
                        </m:fName>
                        <m:e>
                          <m:sSup>
                            <m:sSupPr>
                              <m:ctrlPr>
                                <a:rPr lang="pt-BR" sz="2800" b="1" i="1">
                                  <a:latin typeface="Cambria Math" panose="02040503050406030204" pitchFamily="18" charset="0"/>
                                </a:rPr>
                              </m:ctrlPr>
                            </m:sSupPr>
                            <m:e>
                              <m:d>
                                <m:dPr>
                                  <m:begChr m:val="‖"/>
                                  <m:endChr m:val="‖"/>
                                  <m:ctrlPr>
                                    <a:rPr lang="pt-BR" sz="2800" b="1" i="1">
                                      <a:latin typeface="Cambria Math" panose="02040503050406030204" pitchFamily="18" charset="0"/>
                                    </a:rPr>
                                  </m:ctrlPr>
                                </m:dPr>
                                <m:e>
                                  <m:r>
                                    <a:rPr lang="pt-BR" sz="2800" b="1" i="1">
                                      <a:latin typeface="Cambria Math" panose="02040503050406030204" pitchFamily="18" charset="0"/>
                                    </a:rPr>
                                    <m:t>𝒚</m:t>
                                  </m:r>
                                  <m:r>
                                    <a:rPr lang="pt-BR" sz="2800" i="1">
                                      <a:latin typeface="Cambria Math" panose="02040503050406030204" pitchFamily="18" charset="0"/>
                                    </a:rPr>
                                    <m:t> −</m:t>
                                  </m:r>
                                  <m:r>
                                    <a:rPr lang="pt-BR" sz="2800" b="1" i="1">
                                      <a:latin typeface="Cambria Math" panose="02040503050406030204" pitchFamily="18" charset="0"/>
                                    </a:rPr>
                                    <m:t>𝒉</m:t>
                                  </m:r>
                                  <m:r>
                                    <a:rPr lang="pt-BR" sz="2800" b="1" i="1">
                                      <a:latin typeface="Cambria Math" panose="02040503050406030204" pitchFamily="18" charset="0"/>
                                    </a:rPr>
                                    <m:t>(</m:t>
                                  </m:r>
                                  <m:r>
                                    <a:rPr lang="pt-BR" sz="2800" b="1" i="1" smtClean="0">
                                      <a:latin typeface="Cambria Math" panose="02040503050406030204" pitchFamily="18" charset="0"/>
                                    </a:rPr>
                                    <m:t>𝒙</m:t>
                                  </m:r>
                                  <m:r>
                                    <a:rPr lang="pt-BR" sz="2800" b="1" i="1">
                                      <a:latin typeface="Cambria Math" panose="02040503050406030204" pitchFamily="18" charset="0"/>
                                    </a:rPr>
                                    <m:t>)</m:t>
                                  </m:r>
                                </m:e>
                              </m:d>
                            </m:e>
                            <m:sup>
                              <m:r>
                                <a:rPr lang="pt-BR" sz="2800" i="1">
                                  <a:latin typeface="Cambria Math" panose="02040503050406030204" pitchFamily="18" charset="0"/>
                                </a:rPr>
                                <m:t>2</m:t>
                              </m:r>
                            </m:sup>
                          </m:sSup>
                        </m:e>
                      </m:func>
                    </m:oMath>
                  </m:oMathPara>
                </a14:m>
                <a:endParaRPr lang="pt-BR" sz="2800" dirty="0"/>
              </a:p>
              <a:p>
                <a:pPr/>
                <a14:m>
                  <m:oMathPara xmlns:m="http://schemas.openxmlformats.org/officeDocument/2006/math">
                    <m:oMath>
                      <m:r>
                        <m:rPr>
                          <m:sty m:val="p"/>
                        </m:rPr>
                        <a:rPr lang="pt-BR" sz="2800" i="1">
                          <a:latin typeface="Cambria Math" panose="02040503050406030204" pitchFamily="18" charset="0"/>
                        </a:rPr>
                        <m:t>s</m:t>
                      </m:r>
                      <m:r>
                        <a:rPr lang="pt-BR" sz="2800" i="1">
                          <a:latin typeface="Cambria Math" panose="02040503050406030204" pitchFamily="18" charset="0"/>
                        </a:rPr>
                        <m:t>.</m:t>
                      </m:r>
                      <m:r>
                        <a:rPr lang="pt-BR" sz="2800" i="1">
                          <a:latin typeface="Cambria Math" panose="02040503050406030204" pitchFamily="18" charset="0"/>
                        </a:rPr>
                        <m:t>𝑎</m:t>
                      </m:r>
                      <m:r>
                        <a:rPr lang="pt-BR" sz="2800" i="1">
                          <a:latin typeface="Cambria Math" panose="02040503050406030204" pitchFamily="18" charset="0"/>
                        </a:rPr>
                        <m:t>.</m:t>
                      </m:r>
                      <m:sSubSup>
                        <m:sSubSupPr>
                          <m:ctrlPr>
                            <a:rPr lang="pt-BR" sz="2800" b="1" i="1" smtClean="0">
                              <a:latin typeface="Cambria Math" panose="02040503050406030204" pitchFamily="18" charset="0"/>
                              <a:ea typeface="Cambria Math" panose="02040503050406030204" pitchFamily="18" charset="0"/>
                            </a:rPr>
                          </m:ctrlPr>
                        </m:sSubSupPr>
                        <m:e>
                          <m:d>
                            <m:dPr>
                              <m:begChr m:val="‖"/>
                              <m:endChr m:val="‖"/>
                              <m:ctrlPr>
                                <a:rPr lang="pt-BR" sz="2800" b="1" i="1" smtClean="0">
                                  <a:latin typeface="Cambria Math" panose="02040503050406030204" pitchFamily="18" charset="0"/>
                                  <a:ea typeface="Cambria Math" panose="02040503050406030204" pitchFamily="18" charset="0"/>
                                </a:rPr>
                              </m:ctrlPr>
                            </m:dPr>
                            <m:e>
                              <m:r>
                                <a:rPr lang="pt-BR" sz="2800" b="1" i="1" smtClean="0">
                                  <a:latin typeface="Cambria Math" panose="02040503050406030204" pitchFamily="18" charset="0"/>
                                  <a:ea typeface="Cambria Math" panose="02040503050406030204" pitchFamily="18" charset="0"/>
                                </a:rPr>
                                <m:t>𝒂</m:t>
                              </m:r>
                            </m:e>
                          </m:d>
                        </m:e>
                        <m:sub>
                          <m:r>
                            <a:rPr lang="pt-BR" sz="2800" i="1">
                              <a:latin typeface="Cambria Math" panose="02040503050406030204" pitchFamily="18" charset="0"/>
                              <a:ea typeface="Cambria Math" panose="02040503050406030204" pitchFamily="18" charset="0"/>
                            </a:rPr>
                            <m:t>2</m:t>
                          </m:r>
                        </m:sub>
                        <m:sup>
                          <m:r>
                            <a:rPr lang="pt-BR" sz="2800" i="1">
                              <a:latin typeface="Cambria Math" panose="02040503050406030204" pitchFamily="18" charset="0"/>
                              <a:ea typeface="Cambria Math" panose="02040503050406030204" pitchFamily="18" charset="0"/>
                            </a:rPr>
                            <m:t>2</m:t>
                          </m:r>
                        </m:sup>
                      </m:sSubSup>
                      <m:r>
                        <a:rPr lang="pt-BR" sz="2800" i="1">
                          <a:latin typeface="Cambria Math" panose="02040503050406030204" pitchFamily="18" charset="0"/>
                          <a:ea typeface="Cambria Math" panose="02040503050406030204" pitchFamily="18" charset="0"/>
                        </a:rPr>
                        <m:t>≤</m:t>
                      </m:r>
                      <m:f>
                        <m:fPr>
                          <m:ctrlPr>
                            <a:rPr lang="pt-BR" sz="2800" b="0" i="1" smtClean="0">
                              <a:latin typeface="Cambria Math" panose="02040503050406030204" pitchFamily="18" charset="0"/>
                              <a:ea typeface="Cambria Math" panose="02040503050406030204" pitchFamily="18" charset="0"/>
                            </a:rPr>
                          </m:ctrlPr>
                        </m:fPr>
                        <m:num>
                          <m:r>
                            <a:rPr lang="pt-BR" sz="2800" b="0" i="1" smtClean="0">
                              <a:latin typeface="Cambria Math" panose="02040503050406030204" pitchFamily="18" charset="0"/>
                              <a:ea typeface="Cambria Math" panose="02040503050406030204" pitchFamily="18" charset="0"/>
                            </a:rPr>
                            <m:t>1</m:t>
                          </m:r>
                        </m:num>
                        <m:den>
                          <m:r>
                            <a:rPr lang="pt-BR" sz="2800" i="1">
                              <a:latin typeface="Cambria Math" panose="02040503050406030204" pitchFamily="18" charset="0"/>
                              <a:ea typeface="Cambria Math" panose="02040503050406030204" pitchFamily="18" charset="0"/>
                            </a:rPr>
                            <m:t>𝜆</m:t>
                          </m:r>
                        </m:den>
                      </m:f>
                      <m:r>
                        <a:rPr lang="pt-BR" sz="2800" b="0" i="1" smtClean="0">
                          <a:latin typeface="Cambria Math" panose="02040503050406030204" pitchFamily="18" charset="0"/>
                          <a:ea typeface="Cambria Math" panose="02040503050406030204" pitchFamily="18" charset="0"/>
                        </a:rPr>
                        <m:t>.</m:t>
                      </m:r>
                    </m:oMath>
                  </m:oMathPara>
                </a14:m>
                <a:endParaRPr lang="pt-BR" sz="2800" dirty="0"/>
              </a:p>
            </p:txBody>
          </p:sp>
        </mc:Choice>
        <mc:Fallback xmlns="">
          <p:sp>
            <p:nvSpPr>
              <p:cNvPr id="5" name="CaixaDeTexto 4">
                <a:extLst>
                  <a:ext uri="{FF2B5EF4-FFF2-40B4-BE49-F238E27FC236}">
                    <a16:creationId xmlns:a16="http://schemas.microsoft.com/office/drawing/2014/main" id="{A5D2EFB5-F853-0ECE-6705-DF53B688DBE6}"/>
                  </a:ext>
                </a:extLst>
              </p:cNvPr>
              <p:cNvSpPr txBox="1">
                <a:spLocks noRot="1" noChangeAspect="1" noMove="1" noResize="1" noEditPoints="1" noAdjustHandles="1" noChangeArrowheads="1" noChangeShapeType="1" noTextEdit="1"/>
              </p:cNvSpPr>
              <p:nvPr/>
            </p:nvSpPr>
            <p:spPr>
              <a:xfrm>
                <a:off x="1146518" y="2670430"/>
                <a:ext cx="3803434" cy="147098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id="{94FA96E5-6E55-D162-F30C-3F9BF88DAB2A}"/>
                  </a:ext>
                </a:extLst>
              </p:cNvPr>
              <p:cNvSpPr txBox="1"/>
              <p:nvPr/>
            </p:nvSpPr>
            <p:spPr>
              <a:xfrm>
                <a:off x="429768" y="1825624"/>
                <a:ext cx="5212478" cy="668260"/>
              </a:xfrm>
              <a:prstGeom prst="rect">
                <a:avLst/>
              </a:prstGeom>
              <a:noFill/>
            </p:spPr>
            <p:txBody>
              <a:bodyPr wrap="square">
                <a:spAutoFit/>
              </a:bodyPr>
              <a:lstStyle/>
              <a:p>
                <a:pPr/>
                <a14:m>
                  <m:oMathPara xmlns:m="http://schemas.openxmlformats.org/officeDocument/2006/math">
                    <m:oMath>
                      <m:func>
                        <m:funcPr>
                          <m:ctrlPr>
                            <a:rPr lang="nl-BE" sz="2800" i="1">
                              <a:latin typeface="Cambria Math" panose="02040503050406030204" pitchFamily="18" charset="0"/>
                            </a:rPr>
                          </m:ctrlPr>
                        </m:funcPr>
                        <m:fName>
                          <m:limLow>
                            <m:limLowPr>
                              <m:ctrlPr>
                                <a:rPr lang="nl-BE" sz="2800">
                                  <a:latin typeface="Cambria Math" panose="02040503050406030204" pitchFamily="18" charset="0"/>
                                </a:rPr>
                              </m:ctrlPr>
                            </m:limLowPr>
                            <m:e>
                              <m:r>
                                <m:rPr>
                                  <m:sty m:val="p"/>
                                </m:rPr>
                                <a:rPr lang="nl-BE" sz="2800">
                                  <a:latin typeface="Cambria Math" panose="02040503050406030204" pitchFamily="18" charset="0"/>
                                </a:rPr>
                                <m:t>min</m:t>
                              </m:r>
                            </m:e>
                            <m:lim>
                              <m:r>
                                <a:rPr lang="pt-BR" sz="2800" b="1" i="1" smtClean="0">
                                  <a:latin typeface="Cambria Math" panose="02040503050406030204" pitchFamily="18" charset="0"/>
                                </a:rPr>
                                <m:t>𝒂</m:t>
                              </m:r>
                              <m:r>
                                <a:rPr lang="pt-BR" sz="2800" b="1" i="1">
                                  <a:latin typeface="Cambria Math" panose="02040503050406030204" pitchFamily="18" charset="0"/>
                                </a:rPr>
                                <m:t> </m:t>
                              </m:r>
                            </m:lim>
                          </m:limLow>
                        </m:fName>
                        <m:e>
                          <m:d>
                            <m:dPr>
                              <m:ctrlPr>
                                <a:rPr lang="pt-BR" sz="2800" b="1" i="1">
                                  <a:latin typeface="Cambria Math" panose="02040503050406030204" pitchFamily="18" charset="0"/>
                                </a:rPr>
                              </m:ctrlPr>
                            </m:dPr>
                            <m:e>
                              <m:sSup>
                                <m:sSupPr>
                                  <m:ctrlPr>
                                    <a:rPr lang="pt-BR" sz="2800" b="1" i="1">
                                      <a:latin typeface="Cambria Math" panose="02040503050406030204" pitchFamily="18" charset="0"/>
                                    </a:rPr>
                                  </m:ctrlPr>
                                </m:sSupPr>
                                <m:e>
                                  <m:d>
                                    <m:dPr>
                                      <m:begChr m:val="‖"/>
                                      <m:endChr m:val="‖"/>
                                      <m:ctrlPr>
                                        <a:rPr lang="pt-BR" sz="2800" b="1" i="1">
                                          <a:latin typeface="Cambria Math" panose="02040503050406030204" pitchFamily="18" charset="0"/>
                                        </a:rPr>
                                      </m:ctrlPr>
                                    </m:dPr>
                                    <m:e>
                                      <m:r>
                                        <a:rPr lang="pt-BR" sz="2800" b="1" i="1">
                                          <a:latin typeface="Cambria Math" panose="02040503050406030204" pitchFamily="18" charset="0"/>
                                        </a:rPr>
                                        <m:t>𝒚</m:t>
                                      </m:r>
                                      <m:r>
                                        <a:rPr lang="pt-BR" sz="2800" i="1">
                                          <a:latin typeface="Cambria Math" panose="02040503050406030204" pitchFamily="18" charset="0"/>
                                        </a:rPr>
                                        <m:t> −</m:t>
                                      </m:r>
                                      <m:r>
                                        <a:rPr lang="pt-BR" sz="2800" b="1" i="1" smtClean="0">
                                          <a:latin typeface="Cambria Math" panose="02040503050406030204" pitchFamily="18" charset="0"/>
                                        </a:rPr>
                                        <m:t>𝒉</m:t>
                                      </m:r>
                                      <m:r>
                                        <a:rPr lang="pt-BR" sz="2800" b="1" i="1" smtClean="0">
                                          <a:latin typeface="Cambria Math" panose="02040503050406030204" pitchFamily="18" charset="0"/>
                                        </a:rPr>
                                        <m:t>(</m:t>
                                      </m:r>
                                      <m:r>
                                        <a:rPr lang="pt-BR" sz="2800" b="1" i="1" smtClean="0">
                                          <a:latin typeface="Cambria Math" panose="02040503050406030204" pitchFamily="18" charset="0"/>
                                        </a:rPr>
                                        <m:t>𝒙</m:t>
                                      </m:r>
                                      <m:r>
                                        <a:rPr lang="pt-BR" sz="2800" b="1" i="1" smtClean="0">
                                          <a:latin typeface="Cambria Math" panose="02040503050406030204" pitchFamily="18" charset="0"/>
                                        </a:rPr>
                                        <m:t>)</m:t>
                                      </m:r>
                                    </m:e>
                                  </m:d>
                                </m:e>
                                <m:sup>
                                  <m:r>
                                    <a:rPr lang="pt-BR" sz="2800" i="1">
                                      <a:latin typeface="Cambria Math" panose="02040503050406030204" pitchFamily="18" charset="0"/>
                                    </a:rPr>
                                    <m:t>2</m:t>
                                  </m:r>
                                </m:sup>
                              </m:sSup>
                              <m:r>
                                <a:rPr lang="pt-BR" sz="2800" i="1">
                                  <a:latin typeface="Cambria Math" panose="02040503050406030204" pitchFamily="18" charset="0"/>
                                </a:rPr>
                                <m:t>+</m:t>
                              </m:r>
                              <m:r>
                                <a:rPr lang="pt-BR" sz="2800" i="1">
                                  <a:latin typeface="Cambria Math" panose="02040503050406030204" pitchFamily="18" charset="0"/>
                                  <a:ea typeface="Cambria Math" panose="02040503050406030204" pitchFamily="18" charset="0"/>
                                </a:rPr>
                                <m:t>𝜆</m:t>
                              </m:r>
                              <m:sSubSup>
                                <m:sSubSupPr>
                                  <m:ctrlPr>
                                    <a:rPr lang="pt-BR" sz="2800" b="1" i="1" smtClean="0">
                                      <a:latin typeface="Cambria Math" panose="02040503050406030204" pitchFamily="18" charset="0"/>
                                      <a:ea typeface="Cambria Math" panose="02040503050406030204" pitchFamily="18" charset="0"/>
                                    </a:rPr>
                                  </m:ctrlPr>
                                </m:sSubSupPr>
                                <m:e>
                                  <m:d>
                                    <m:dPr>
                                      <m:begChr m:val="‖"/>
                                      <m:endChr m:val="‖"/>
                                      <m:ctrlPr>
                                        <a:rPr lang="pt-BR" sz="2800" b="1" i="1" smtClean="0">
                                          <a:latin typeface="Cambria Math" panose="02040503050406030204" pitchFamily="18" charset="0"/>
                                          <a:ea typeface="Cambria Math" panose="02040503050406030204" pitchFamily="18" charset="0"/>
                                        </a:rPr>
                                      </m:ctrlPr>
                                    </m:dPr>
                                    <m:e>
                                      <m:r>
                                        <a:rPr lang="pt-BR" sz="2800" b="1" i="1" smtClean="0">
                                          <a:latin typeface="Cambria Math" panose="02040503050406030204" pitchFamily="18" charset="0"/>
                                          <a:ea typeface="Cambria Math" panose="02040503050406030204" pitchFamily="18" charset="0"/>
                                        </a:rPr>
                                        <m:t>𝒂</m:t>
                                      </m:r>
                                    </m:e>
                                  </m:d>
                                </m:e>
                                <m:sub>
                                  <m:r>
                                    <a:rPr lang="pt-BR" sz="2800" i="1">
                                      <a:latin typeface="Cambria Math" panose="02040503050406030204" pitchFamily="18" charset="0"/>
                                      <a:ea typeface="Cambria Math" panose="02040503050406030204" pitchFamily="18" charset="0"/>
                                    </a:rPr>
                                    <m:t>2</m:t>
                                  </m:r>
                                </m:sub>
                                <m:sup>
                                  <m:r>
                                    <a:rPr lang="pt-BR" sz="2800" i="1">
                                      <a:latin typeface="Cambria Math" panose="02040503050406030204" pitchFamily="18" charset="0"/>
                                      <a:ea typeface="Cambria Math" panose="02040503050406030204" pitchFamily="18" charset="0"/>
                                    </a:rPr>
                                    <m:t>2</m:t>
                                  </m:r>
                                </m:sup>
                              </m:sSubSup>
                            </m:e>
                          </m:d>
                          <m:r>
                            <a:rPr lang="pt-BR" sz="2800" b="1" i="1" smtClean="0">
                              <a:latin typeface="Cambria Math" panose="02040503050406030204" pitchFamily="18" charset="0"/>
                              <a:ea typeface="Cambria Math" panose="02040503050406030204" pitchFamily="18" charset="0"/>
                            </a:rPr>
                            <m:t>,</m:t>
                          </m:r>
                        </m:e>
                      </m:func>
                    </m:oMath>
                  </m:oMathPara>
                </a14:m>
                <a:endParaRPr lang="pt-BR" sz="2800" dirty="0"/>
              </a:p>
            </p:txBody>
          </p:sp>
        </mc:Choice>
        <mc:Fallback xmlns="">
          <p:sp>
            <p:nvSpPr>
              <p:cNvPr id="7" name="CaixaDeTexto 6">
                <a:extLst>
                  <a:ext uri="{FF2B5EF4-FFF2-40B4-BE49-F238E27FC236}">
                    <a16:creationId xmlns:a16="http://schemas.microsoft.com/office/drawing/2014/main" id="{94FA96E5-6E55-D162-F30C-3F9BF88DAB2A}"/>
                  </a:ext>
                </a:extLst>
              </p:cNvPr>
              <p:cNvSpPr txBox="1">
                <a:spLocks noRot="1" noChangeAspect="1" noMove="1" noResize="1" noEditPoints="1" noAdjustHandles="1" noChangeArrowheads="1" noChangeShapeType="1" noTextEdit="1"/>
              </p:cNvSpPr>
              <p:nvPr/>
            </p:nvSpPr>
            <p:spPr>
              <a:xfrm>
                <a:off x="429768" y="1825624"/>
                <a:ext cx="5212478" cy="66826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CaixaDeTexto 12">
                <a:extLst>
                  <a:ext uri="{FF2B5EF4-FFF2-40B4-BE49-F238E27FC236}">
                    <a16:creationId xmlns:a16="http://schemas.microsoft.com/office/drawing/2014/main" id="{819F47D4-12A7-BD7F-55C6-5DB6C2E38871}"/>
                  </a:ext>
                </a:extLst>
              </p:cNvPr>
              <p:cNvSpPr txBox="1"/>
              <p:nvPr/>
            </p:nvSpPr>
            <p:spPr>
              <a:xfrm>
                <a:off x="-33954" y="6573039"/>
                <a:ext cx="6094206" cy="276999"/>
              </a:xfrm>
              <a:prstGeom prst="rect">
                <a:avLst/>
              </a:prstGeom>
              <a:noFill/>
            </p:spPr>
            <p:txBody>
              <a:bodyPr wrap="square">
                <a:spAutoFit/>
              </a:bodyPr>
              <a:lstStyle/>
              <a:p>
                <a:r>
                  <a:rPr lang="pt-BR" sz="1200" b="1" dirty="0">
                    <a:ea typeface="Cambria Math" panose="02040503050406030204" pitchFamily="18" charset="0"/>
                  </a:rPr>
                  <a:t>OBS</a:t>
                </a:r>
                <a:r>
                  <a:rPr lang="pt-BR" sz="1200" dirty="0">
                    <a:ea typeface="Cambria Math" panose="02040503050406030204" pitchFamily="18" charset="0"/>
                  </a:rPr>
                  <a:t>.: </a:t>
                </a:r>
                <a14:m>
                  <m:oMath xmlns:m="http://schemas.openxmlformats.org/officeDocument/2006/math">
                    <m:r>
                      <a:rPr lang="pt-BR" sz="1200" i="1">
                        <a:latin typeface="Cambria Math" panose="02040503050406030204" pitchFamily="18" charset="0"/>
                        <a:ea typeface="Cambria Math" panose="02040503050406030204" pitchFamily="18" charset="0"/>
                      </a:rPr>
                      <m:t>𝜆</m:t>
                    </m:r>
                    <m:r>
                      <a:rPr lang="pt-BR" sz="1200" i="1">
                        <a:latin typeface="Cambria Math" panose="02040503050406030204" pitchFamily="18" charset="0"/>
                        <a:ea typeface="Cambria Math" panose="02040503050406030204" pitchFamily="18" charset="0"/>
                      </a:rPr>
                      <m:t>≥0 </m:t>
                    </m:r>
                  </m:oMath>
                </a14:m>
                <a:r>
                  <a:rPr lang="pt-BR" sz="1200" dirty="0"/>
                  <a:t>é o </a:t>
                </a:r>
                <a:r>
                  <a:rPr lang="pt-BR" sz="1200" b="1" i="1" dirty="0"/>
                  <a:t>fator de regularização.</a:t>
                </a:r>
                <a:endParaRPr lang="pt-BR" sz="1200" dirty="0"/>
              </a:p>
            </p:txBody>
          </p:sp>
        </mc:Choice>
        <mc:Fallback xmlns="">
          <p:sp>
            <p:nvSpPr>
              <p:cNvPr id="13" name="CaixaDeTexto 12">
                <a:extLst>
                  <a:ext uri="{FF2B5EF4-FFF2-40B4-BE49-F238E27FC236}">
                    <a16:creationId xmlns:a16="http://schemas.microsoft.com/office/drawing/2014/main" id="{819F47D4-12A7-BD7F-55C6-5DB6C2E38871}"/>
                  </a:ext>
                </a:extLst>
              </p:cNvPr>
              <p:cNvSpPr txBox="1">
                <a:spLocks noRot="1" noChangeAspect="1" noMove="1" noResize="1" noEditPoints="1" noAdjustHandles="1" noChangeArrowheads="1" noChangeShapeType="1" noTextEdit="1"/>
              </p:cNvSpPr>
              <p:nvPr/>
            </p:nvSpPr>
            <p:spPr>
              <a:xfrm>
                <a:off x="-33954" y="6573039"/>
                <a:ext cx="6094206" cy="276999"/>
              </a:xfrm>
              <a:prstGeom prst="rect">
                <a:avLst/>
              </a:prstGeom>
              <a:blipFill>
                <a:blip r:embed="rId6"/>
                <a:stretch>
                  <a:fillRect b="-15217"/>
                </a:stretch>
              </a:blipFill>
            </p:spPr>
            <p:txBody>
              <a:bodyPr/>
              <a:lstStyle/>
              <a:p>
                <a:r>
                  <a:rPr lang="pt-BR">
                    <a:noFill/>
                  </a:rPr>
                  <a:t> </a:t>
                </a:r>
              </a:p>
            </p:txBody>
          </p:sp>
        </mc:Fallback>
      </mc:AlternateContent>
      <p:sp>
        <p:nvSpPr>
          <p:cNvPr id="6" name="Retângulo 5">
            <a:extLst>
              <a:ext uri="{FF2B5EF4-FFF2-40B4-BE49-F238E27FC236}">
                <a16:creationId xmlns:a16="http://schemas.microsoft.com/office/drawing/2014/main" id="{B1E50C15-796B-7379-D1C6-2808D390DEE1}"/>
              </a:ext>
            </a:extLst>
          </p:cNvPr>
          <p:cNvSpPr/>
          <p:nvPr/>
        </p:nvSpPr>
        <p:spPr>
          <a:xfrm>
            <a:off x="3963368" y="1825624"/>
            <a:ext cx="1072229" cy="59020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Retângulo 7">
            <a:extLst>
              <a:ext uri="{FF2B5EF4-FFF2-40B4-BE49-F238E27FC236}">
                <a16:creationId xmlns:a16="http://schemas.microsoft.com/office/drawing/2014/main" id="{F5FB412B-B269-ECA7-F14E-329AAAC59407}"/>
              </a:ext>
            </a:extLst>
          </p:cNvPr>
          <p:cNvSpPr/>
          <p:nvPr/>
        </p:nvSpPr>
        <p:spPr>
          <a:xfrm>
            <a:off x="1590675" y="1803005"/>
            <a:ext cx="1997390" cy="590203"/>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Chave Direita 9">
            <a:extLst>
              <a:ext uri="{FF2B5EF4-FFF2-40B4-BE49-F238E27FC236}">
                <a16:creationId xmlns:a16="http://schemas.microsoft.com/office/drawing/2014/main" id="{0DBFA6D4-9D17-89FF-09AD-0BB33A989E37}"/>
              </a:ext>
            </a:extLst>
          </p:cNvPr>
          <p:cNvSpPr/>
          <p:nvPr/>
        </p:nvSpPr>
        <p:spPr>
          <a:xfrm rot="5400000">
            <a:off x="2899256" y="421826"/>
            <a:ext cx="281654" cy="440376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11" name="CaixaDeTexto 10">
            <a:extLst>
              <a:ext uri="{FF2B5EF4-FFF2-40B4-BE49-F238E27FC236}">
                <a16:creationId xmlns:a16="http://schemas.microsoft.com/office/drawing/2014/main" id="{213457FF-A7B2-D6E1-9337-CAD908FDDE69}"/>
              </a:ext>
            </a:extLst>
          </p:cNvPr>
          <p:cNvSpPr txBox="1"/>
          <p:nvPr/>
        </p:nvSpPr>
        <p:spPr>
          <a:xfrm>
            <a:off x="2285732" y="1456292"/>
            <a:ext cx="645946" cy="369332"/>
          </a:xfrm>
          <a:prstGeom prst="rect">
            <a:avLst/>
          </a:prstGeom>
          <a:noFill/>
        </p:spPr>
        <p:txBody>
          <a:bodyPr wrap="none" rtlCol="0">
            <a:spAutoFit/>
          </a:bodyPr>
          <a:lstStyle/>
          <a:p>
            <a:r>
              <a:rPr lang="pt-BR" dirty="0"/>
              <a:t>EQM</a:t>
            </a:r>
          </a:p>
        </p:txBody>
      </p:sp>
      <p:sp>
        <p:nvSpPr>
          <p:cNvPr id="12" name="CaixaDeTexto 11">
            <a:extLst>
              <a:ext uri="{FF2B5EF4-FFF2-40B4-BE49-F238E27FC236}">
                <a16:creationId xmlns:a16="http://schemas.microsoft.com/office/drawing/2014/main" id="{4A11FE2E-094D-7109-7D29-CDC23773C411}"/>
              </a:ext>
            </a:extLst>
          </p:cNvPr>
          <p:cNvSpPr txBox="1"/>
          <p:nvPr/>
        </p:nvSpPr>
        <p:spPr>
          <a:xfrm>
            <a:off x="3760167" y="1450727"/>
            <a:ext cx="1546449" cy="369332"/>
          </a:xfrm>
          <a:prstGeom prst="rect">
            <a:avLst/>
          </a:prstGeom>
          <a:noFill/>
        </p:spPr>
        <p:txBody>
          <a:bodyPr wrap="none" rtlCol="0">
            <a:spAutoFit/>
          </a:bodyPr>
          <a:lstStyle/>
          <a:p>
            <a:r>
              <a:rPr lang="pt-BR" dirty="0"/>
              <a:t>Penalização L2</a:t>
            </a:r>
          </a:p>
        </p:txBody>
      </p:sp>
      <p:sp>
        <p:nvSpPr>
          <p:cNvPr id="4" name="CaixaDeTexto 3">
            <a:extLst>
              <a:ext uri="{FF2B5EF4-FFF2-40B4-BE49-F238E27FC236}">
                <a16:creationId xmlns:a16="http://schemas.microsoft.com/office/drawing/2014/main" id="{43959B52-339F-CDCA-CE87-AD5996D76152}"/>
              </a:ext>
            </a:extLst>
          </p:cNvPr>
          <p:cNvSpPr txBox="1"/>
          <p:nvPr/>
        </p:nvSpPr>
        <p:spPr>
          <a:xfrm>
            <a:off x="1437482" y="2400052"/>
            <a:ext cx="3197049" cy="261610"/>
          </a:xfrm>
          <a:prstGeom prst="rect">
            <a:avLst/>
          </a:prstGeom>
          <a:noFill/>
        </p:spPr>
        <p:txBody>
          <a:bodyPr wrap="square" rtlCol="0">
            <a:spAutoFit/>
          </a:bodyPr>
          <a:lstStyle/>
          <a:p>
            <a:pPr algn="ctr"/>
            <a:r>
              <a:rPr lang="pt-BR" sz="1100" dirty="0"/>
              <a:t>Reescrevendo como um problema de minimização</a:t>
            </a:r>
            <a:endParaRPr lang="en-US" sz="1100" dirty="0"/>
          </a:p>
        </p:txBody>
      </p:sp>
    </p:spTree>
    <p:extLst>
      <p:ext uri="{BB962C8B-B14F-4D97-AF65-F5344CB8AC3E}">
        <p14:creationId xmlns:p14="http://schemas.microsoft.com/office/powerpoint/2010/main" val="166834566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66F209-3E3E-0136-4083-293C5897A43D}"/>
              </a:ext>
            </a:extLst>
          </p:cNvPr>
          <p:cNvSpPr>
            <a:spLocks noGrp="1"/>
          </p:cNvSpPr>
          <p:nvPr>
            <p:ph type="title"/>
          </p:nvPr>
        </p:nvSpPr>
        <p:spPr/>
        <p:txBody>
          <a:bodyPr/>
          <a:lstStyle/>
          <a:p>
            <a:r>
              <a:rPr lang="pt-BR" i="1" dirty="0"/>
              <a:t>Early-stopping </a:t>
            </a:r>
            <a:r>
              <a:rPr lang="pt-BR" dirty="0"/>
              <a:t>(parada antecipada)</a:t>
            </a:r>
          </a:p>
        </p:txBody>
      </p:sp>
      <p:sp>
        <p:nvSpPr>
          <p:cNvPr id="3" name="Espaço Reservado para Conteúdo 2">
            <a:extLst>
              <a:ext uri="{FF2B5EF4-FFF2-40B4-BE49-F238E27FC236}">
                <a16:creationId xmlns:a16="http://schemas.microsoft.com/office/drawing/2014/main" id="{D2294B5F-B438-34E2-4845-29E47EF0DECB}"/>
              </a:ext>
            </a:extLst>
          </p:cNvPr>
          <p:cNvSpPr>
            <a:spLocks noGrp="1"/>
          </p:cNvSpPr>
          <p:nvPr>
            <p:ph idx="1"/>
          </p:nvPr>
        </p:nvSpPr>
        <p:spPr>
          <a:xfrm>
            <a:off x="5530312" y="1825624"/>
            <a:ext cx="6661688" cy="5032375"/>
          </a:xfrm>
        </p:spPr>
        <p:txBody>
          <a:bodyPr>
            <a:normAutofit/>
          </a:bodyPr>
          <a:lstStyle/>
          <a:p>
            <a:r>
              <a:rPr lang="pt-BR" dirty="0">
                <a:effectLst/>
              </a:rPr>
              <a:t>É uma técnica de </a:t>
            </a:r>
            <a:r>
              <a:rPr lang="pt-BR" b="1" dirty="0">
                <a:solidFill>
                  <a:srgbClr val="7030A0"/>
                </a:solidFill>
                <a:effectLst/>
              </a:rPr>
              <a:t>regularização temporal</a:t>
            </a:r>
            <a:r>
              <a:rPr lang="pt-BR" dirty="0">
                <a:effectLst/>
              </a:rPr>
              <a:t>.</a:t>
            </a:r>
          </a:p>
          <a:p>
            <a:r>
              <a:rPr lang="pt-BR" b="1" dirty="0">
                <a:solidFill>
                  <a:srgbClr val="00B050"/>
                </a:solidFill>
              </a:rPr>
              <a:t>I</a:t>
            </a:r>
            <a:r>
              <a:rPr lang="pt-BR" b="1" dirty="0">
                <a:solidFill>
                  <a:srgbClr val="00B050"/>
                </a:solidFill>
                <a:effectLst/>
              </a:rPr>
              <a:t>nterrompe o treinamento do modelo assim que o desempenho no conjunto de validação começa a piorar</a:t>
            </a:r>
            <a:r>
              <a:rPr lang="pt-BR" b="0" dirty="0">
                <a:effectLst/>
              </a:rPr>
              <a:t> (início do sobreajuste</a:t>
            </a:r>
            <a:r>
              <a:rPr lang="pt-BR" dirty="0"/>
              <a:t>).</a:t>
            </a:r>
            <a:endParaRPr lang="pt-BR" b="0" dirty="0">
              <a:effectLst/>
            </a:endParaRPr>
          </a:p>
          <a:p>
            <a:pPr lvl="1">
              <a:buFont typeface="Wingdings" panose="05000000000000000000" pitchFamily="2" charset="2"/>
              <a:buChar char="§"/>
            </a:pPr>
            <a:r>
              <a:rPr lang="pt-BR" b="1" dirty="0">
                <a:solidFill>
                  <a:srgbClr val="7030A0"/>
                </a:solidFill>
                <a:effectLst/>
              </a:rPr>
              <a:t>Vantagens</a:t>
            </a:r>
            <a:r>
              <a:rPr lang="pt-BR" b="0" dirty="0">
                <a:effectLst/>
              </a:rPr>
              <a:t>: </a:t>
            </a:r>
            <a:r>
              <a:rPr lang="pt-BR" b="1" dirty="0">
                <a:solidFill>
                  <a:srgbClr val="00B050"/>
                </a:solidFill>
                <a:effectLst/>
              </a:rPr>
              <a:t>economiza</a:t>
            </a:r>
            <a:r>
              <a:rPr lang="pt-BR" b="0" dirty="0">
                <a:effectLst/>
              </a:rPr>
              <a:t> tempo e recursos computacionais.</a:t>
            </a:r>
          </a:p>
          <a:p>
            <a:pPr lvl="1">
              <a:buFont typeface="Wingdings" panose="05000000000000000000" pitchFamily="2" charset="2"/>
              <a:buChar char="§"/>
            </a:pPr>
            <a:r>
              <a:rPr lang="pt-BR" b="1" dirty="0">
                <a:solidFill>
                  <a:srgbClr val="7030A0"/>
                </a:solidFill>
                <a:effectLst/>
              </a:rPr>
              <a:t>Desvantagem</a:t>
            </a:r>
            <a:r>
              <a:rPr lang="pt-BR" b="0" dirty="0">
                <a:solidFill>
                  <a:srgbClr val="1F1F1F"/>
                </a:solidFill>
                <a:effectLst/>
              </a:rPr>
              <a:t>: se o treinamento for interrompido muito cedo, o modelo pode não ter tempo o suficiente para aprender o padrão geral, levando ao </a:t>
            </a:r>
            <a:r>
              <a:rPr lang="pt-BR" b="1" dirty="0">
                <a:solidFill>
                  <a:srgbClr val="FF0000"/>
                </a:solidFill>
                <a:effectLst/>
              </a:rPr>
              <a:t>subajuste</a:t>
            </a:r>
            <a:r>
              <a:rPr lang="pt-BR" b="0" dirty="0">
                <a:solidFill>
                  <a:srgbClr val="1F1F1F"/>
                </a:solidFill>
                <a:effectLst/>
              </a:rPr>
              <a:t>.</a:t>
            </a:r>
          </a:p>
          <a:p>
            <a:pPr lvl="2">
              <a:buFont typeface="Courier New" panose="02070309020205020404" pitchFamily="49" charset="0"/>
              <a:buChar char="o"/>
            </a:pPr>
            <a:r>
              <a:rPr lang="pt-BR" dirty="0">
                <a:solidFill>
                  <a:srgbClr val="1F1F1F"/>
                </a:solidFill>
              </a:rPr>
              <a:t>Cuidado, pois o treinamento pode ser encerrado precocemente devido à oscilação do erro.</a:t>
            </a:r>
            <a:endParaRPr lang="pt-BR" dirty="0">
              <a:effectLst/>
            </a:endParaRPr>
          </a:p>
        </p:txBody>
      </p:sp>
      <p:grpSp>
        <p:nvGrpSpPr>
          <p:cNvPr id="8" name="Agrupar 7">
            <a:extLst>
              <a:ext uri="{FF2B5EF4-FFF2-40B4-BE49-F238E27FC236}">
                <a16:creationId xmlns:a16="http://schemas.microsoft.com/office/drawing/2014/main" id="{E095B930-11D3-84D9-888C-FDD602C69284}"/>
              </a:ext>
            </a:extLst>
          </p:cNvPr>
          <p:cNvGrpSpPr/>
          <p:nvPr/>
        </p:nvGrpSpPr>
        <p:grpSpPr>
          <a:xfrm>
            <a:off x="448916" y="2140058"/>
            <a:ext cx="4817167" cy="3991572"/>
            <a:chOff x="919612" y="1910994"/>
            <a:chExt cx="4817167" cy="3991572"/>
          </a:xfrm>
        </p:grpSpPr>
        <p:pic>
          <p:nvPicPr>
            <p:cNvPr id="10" name="Picture 2">
              <a:extLst>
                <a:ext uri="{FF2B5EF4-FFF2-40B4-BE49-F238E27FC236}">
                  <a16:creationId xmlns:a16="http://schemas.microsoft.com/office/drawing/2014/main" id="{C13C3FCC-7512-6E26-5226-AE3A265362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9612" y="1910994"/>
              <a:ext cx="4817167" cy="3991572"/>
            </a:xfrm>
            <a:prstGeom prst="rect">
              <a:avLst/>
            </a:prstGeom>
            <a:noFill/>
            <a:extLst>
              <a:ext uri="{909E8E84-426E-40DD-AFC4-6F175D3DCCD1}">
                <a14:hiddenFill xmlns:a14="http://schemas.microsoft.com/office/drawing/2010/main">
                  <a:solidFill>
                    <a:srgbClr val="FFFFFF"/>
                  </a:solidFill>
                </a14:hiddenFill>
              </a:ext>
            </a:extLst>
          </p:spPr>
        </p:pic>
        <p:sp>
          <p:nvSpPr>
            <p:cNvPr id="11" name="Elipse 10">
              <a:extLst>
                <a:ext uri="{FF2B5EF4-FFF2-40B4-BE49-F238E27FC236}">
                  <a16:creationId xmlns:a16="http://schemas.microsoft.com/office/drawing/2014/main" id="{77637BC2-E998-542B-ABA7-76B0A7068739}"/>
                </a:ext>
              </a:extLst>
            </p:cNvPr>
            <p:cNvSpPr/>
            <p:nvPr/>
          </p:nvSpPr>
          <p:spPr>
            <a:xfrm>
              <a:off x="1428749" y="4219574"/>
              <a:ext cx="309563" cy="27622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CaixaDeTexto 11">
              <a:extLst>
                <a:ext uri="{FF2B5EF4-FFF2-40B4-BE49-F238E27FC236}">
                  <a16:creationId xmlns:a16="http://schemas.microsoft.com/office/drawing/2014/main" id="{C3112F4A-171F-7B59-2F12-B79F6BE6C432}"/>
                </a:ext>
              </a:extLst>
            </p:cNvPr>
            <p:cNvSpPr txBox="1"/>
            <p:nvPr/>
          </p:nvSpPr>
          <p:spPr>
            <a:xfrm>
              <a:off x="1692978" y="4597833"/>
              <a:ext cx="1142209" cy="276999"/>
            </a:xfrm>
            <a:prstGeom prst="rect">
              <a:avLst/>
            </a:prstGeom>
            <a:noFill/>
          </p:spPr>
          <p:txBody>
            <a:bodyPr wrap="square" rtlCol="0">
              <a:spAutoFit/>
            </a:bodyPr>
            <a:lstStyle/>
            <a:p>
              <a:pPr algn="ctr"/>
              <a:r>
                <a:rPr lang="pt-BR" sz="1200" dirty="0"/>
                <a:t>Early-stopping</a:t>
              </a:r>
            </a:p>
          </p:txBody>
        </p:sp>
        <p:cxnSp>
          <p:nvCxnSpPr>
            <p:cNvPr id="13" name="Conector de Seta Reta 12">
              <a:extLst>
                <a:ext uri="{FF2B5EF4-FFF2-40B4-BE49-F238E27FC236}">
                  <a16:creationId xmlns:a16="http://schemas.microsoft.com/office/drawing/2014/main" id="{1538B9E6-D12D-D423-F402-A8F26F0AC3E7}"/>
                </a:ext>
              </a:extLst>
            </p:cNvPr>
            <p:cNvCxnSpPr>
              <a:stCxn id="11" idx="5"/>
            </p:cNvCxnSpPr>
            <p:nvPr/>
          </p:nvCxnSpPr>
          <p:spPr>
            <a:xfrm>
              <a:off x="1692978" y="4455347"/>
              <a:ext cx="264410" cy="18371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7467948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AB8438-E56E-2412-517C-8456E4CA773C}"/>
              </a:ext>
            </a:extLst>
          </p:cNvPr>
          <p:cNvSpPr>
            <a:spLocks noGrp="1"/>
          </p:cNvSpPr>
          <p:nvPr>
            <p:ph type="title"/>
          </p:nvPr>
        </p:nvSpPr>
        <p:spPr/>
        <p:txBody>
          <a:bodyPr/>
          <a:lstStyle/>
          <a:p>
            <a:r>
              <a:rPr lang="pt-BR" dirty="0"/>
              <a:t>Exemplo</a:t>
            </a:r>
          </a:p>
        </p:txBody>
      </p:sp>
      <p:sp>
        <p:nvSpPr>
          <p:cNvPr id="3" name="Espaço Reservado para Conteúdo 2">
            <a:extLst>
              <a:ext uri="{FF2B5EF4-FFF2-40B4-BE49-F238E27FC236}">
                <a16:creationId xmlns:a16="http://schemas.microsoft.com/office/drawing/2014/main" id="{F7E2B09C-6D56-4C9F-A364-B904CCE2F1A0}"/>
              </a:ext>
            </a:extLst>
          </p:cNvPr>
          <p:cNvSpPr>
            <a:spLocks noGrp="1"/>
          </p:cNvSpPr>
          <p:nvPr>
            <p:ph idx="1"/>
          </p:nvPr>
        </p:nvSpPr>
        <p:spPr/>
        <p:txBody>
          <a:bodyPr/>
          <a:lstStyle/>
          <a:p>
            <a:r>
              <a:rPr lang="pt-BR" dirty="0">
                <a:hlinkClick r:id="rId3"/>
              </a:rPr>
              <a:t>Exemplo: </a:t>
            </a:r>
            <a:r>
              <a:rPr lang="pt-BR" dirty="0" err="1">
                <a:hlinkClick r:id="rId3"/>
              </a:rPr>
              <a:t>regressão.ipynb</a:t>
            </a:r>
            <a:endParaRPr lang="en-US" dirty="0"/>
          </a:p>
        </p:txBody>
      </p:sp>
      <p:grpSp>
        <p:nvGrpSpPr>
          <p:cNvPr id="18" name="Group 17">
            <a:extLst>
              <a:ext uri="{FF2B5EF4-FFF2-40B4-BE49-F238E27FC236}">
                <a16:creationId xmlns:a16="http://schemas.microsoft.com/office/drawing/2014/main" id="{627C64FD-88E0-EC8E-2A34-0D5737B4C854}"/>
              </a:ext>
            </a:extLst>
          </p:cNvPr>
          <p:cNvGrpSpPr/>
          <p:nvPr/>
        </p:nvGrpSpPr>
        <p:grpSpPr>
          <a:xfrm>
            <a:off x="1752685" y="2681262"/>
            <a:ext cx="8371070" cy="2659743"/>
            <a:chOff x="1752685" y="2681262"/>
            <a:chExt cx="8371070" cy="2659743"/>
          </a:xfrm>
        </p:grpSpPr>
        <p:pic>
          <p:nvPicPr>
            <p:cNvPr id="12" name="Picture 4" descr="Project Jupyter | Try Jupyter">
              <a:extLst>
                <a:ext uri="{FF2B5EF4-FFF2-40B4-BE49-F238E27FC236}">
                  <a16:creationId xmlns:a16="http://schemas.microsoft.com/office/drawing/2014/main" id="{FF92EA36-91E7-292B-D7A0-2D4D83A10F9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31027" y="3102450"/>
              <a:ext cx="3461657" cy="181737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8" descr="Google Colaboratory Colab - Guía Completa Español - Marketing Branding">
              <a:extLst>
                <a:ext uri="{FF2B5EF4-FFF2-40B4-BE49-F238E27FC236}">
                  <a16:creationId xmlns:a16="http://schemas.microsoft.com/office/drawing/2014/main" id="{46F1718A-89E6-9E63-E40B-2B19852D6AA0}"/>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5865" r="10641"/>
            <a:stretch/>
          </p:blipFill>
          <p:spPr bwMode="auto">
            <a:xfrm>
              <a:off x="6792684" y="2681262"/>
              <a:ext cx="3331071" cy="265974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0" descr="IT12A01: FUNDAMENTALS OF PYTHON PROGRAMMING (SF) (SYNCHRONOUS E-LEARNING) -  NTUC LearningHub">
              <a:extLst>
                <a:ext uri="{FF2B5EF4-FFF2-40B4-BE49-F238E27FC236}">
                  <a16:creationId xmlns:a16="http://schemas.microsoft.com/office/drawing/2014/main" id="{33F6B1B4-9B79-D634-3E35-33F24609C84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3319" r="20198"/>
            <a:stretch/>
          </p:blipFill>
          <p:spPr bwMode="auto">
            <a:xfrm>
              <a:off x="1752685" y="3176833"/>
              <a:ext cx="1894114" cy="1877924"/>
            </a:xfrm>
            <a:prstGeom prst="rect">
              <a:avLst/>
            </a:prstGeom>
            <a:noFill/>
            <a:extLst>
              <a:ext uri="{909E8E84-426E-40DD-AFC4-6F175D3DCCD1}">
                <a14:hiddenFill xmlns:a14="http://schemas.microsoft.com/office/drawing/2010/main">
                  <a:solidFill>
                    <a:srgbClr val="FFFFFF"/>
                  </a:solidFill>
                </a14:hiddenFill>
              </a:ext>
            </a:extLst>
          </p:spPr>
        </p:pic>
        <p:sp>
          <p:nvSpPr>
            <p:cNvPr id="15" name="Sinal de Adição 7">
              <a:extLst>
                <a:ext uri="{FF2B5EF4-FFF2-40B4-BE49-F238E27FC236}">
                  <a16:creationId xmlns:a16="http://schemas.microsoft.com/office/drawing/2014/main" id="{6959EE6C-DCDB-E78B-5C50-EBD3FF3049E2}"/>
                </a:ext>
              </a:extLst>
            </p:cNvPr>
            <p:cNvSpPr>
              <a:spLocks noChangeAspect="1"/>
            </p:cNvSpPr>
            <p:nvPr/>
          </p:nvSpPr>
          <p:spPr>
            <a:xfrm>
              <a:off x="3646799" y="3545037"/>
              <a:ext cx="468000" cy="468000"/>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Sinal de Adição 10">
              <a:extLst>
                <a:ext uri="{FF2B5EF4-FFF2-40B4-BE49-F238E27FC236}">
                  <a16:creationId xmlns:a16="http://schemas.microsoft.com/office/drawing/2014/main" id="{30A21FDB-ABA6-9FD5-49EF-7762414AEF0C}"/>
                </a:ext>
              </a:extLst>
            </p:cNvPr>
            <p:cNvSpPr>
              <a:spLocks noChangeAspect="1"/>
            </p:cNvSpPr>
            <p:nvPr/>
          </p:nvSpPr>
          <p:spPr>
            <a:xfrm>
              <a:off x="6096043" y="3467980"/>
              <a:ext cx="468000" cy="468000"/>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Tree>
    <p:extLst>
      <p:ext uri="{BB962C8B-B14F-4D97-AF65-F5344CB8AC3E}">
        <p14:creationId xmlns:p14="http://schemas.microsoft.com/office/powerpoint/2010/main" val="290860825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D0BD2-7C00-5A10-8D71-4A32D7A607D2}"/>
              </a:ext>
            </a:extLst>
          </p:cNvPr>
          <p:cNvSpPr>
            <a:spLocks noGrp="1"/>
          </p:cNvSpPr>
          <p:nvPr>
            <p:ph type="title"/>
          </p:nvPr>
        </p:nvSpPr>
        <p:spPr/>
        <p:txBody>
          <a:bodyPr/>
          <a:lstStyle/>
          <a:p>
            <a:r>
              <a:rPr lang="pt-BR" dirty="0"/>
              <a:t>Avisos</a:t>
            </a:r>
            <a:endParaRPr lang="en-US" dirty="0"/>
          </a:p>
        </p:txBody>
      </p:sp>
      <p:sp>
        <p:nvSpPr>
          <p:cNvPr id="3" name="Content Placeholder 2">
            <a:extLst>
              <a:ext uri="{FF2B5EF4-FFF2-40B4-BE49-F238E27FC236}">
                <a16:creationId xmlns:a16="http://schemas.microsoft.com/office/drawing/2014/main" id="{3EFA45DD-DE5E-7F12-4C62-6BFB35041C7C}"/>
              </a:ext>
            </a:extLst>
          </p:cNvPr>
          <p:cNvSpPr>
            <a:spLocks noGrp="1"/>
          </p:cNvSpPr>
          <p:nvPr>
            <p:ph idx="1"/>
          </p:nvPr>
        </p:nvSpPr>
        <p:spPr>
          <a:xfrm>
            <a:off x="838199" y="1825624"/>
            <a:ext cx="11353801" cy="5032375"/>
          </a:xfrm>
        </p:spPr>
        <p:txBody>
          <a:bodyPr>
            <a:normAutofit lnSpcReduction="10000"/>
          </a:bodyPr>
          <a:lstStyle/>
          <a:p>
            <a:r>
              <a:rPr lang="pt-BR" noProof="0" dirty="0"/>
              <a:t>NP1: 28/09/2026 - Sala I-15</a:t>
            </a:r>
          </a:p>
          <a:p>
            <a:r>
              <a:rPr lang="pt-BR" noProof="0" dirty="0"/>
              <a:t>A prova será em papel.</a:t>
            </a:r>
          </a:p>
          <a:p>
            <a:r>
              <a:rPr lang="pt-BR" noProof="0" dirty="0"/>
              <a:t>Ela conterá apenas questões de múltipla escolha (1 item correto por questão).</a:t>
            </a:r>
          </a:p>
          <a:p>
            <a:r>
              <a:rPr lang="pt-BR" noProof="0" dirty="0"/>
              <a:t>Além de questões teóricas, podem haver questões práticas.</a:t>
            </a:r>
          </a:p>
          <a:p>
            <a:r>
              <a:rPr lang="pt-BR" noProof="0" dirty="0"/>
              <a:t>Estudem o material, não só as listas.</a:t>
            </a:r>
          </a:p>
          <a:p>
            <a:r>
              <a:rPr lang="pt-BR" noProof="0" dirty="0"/>
              <a:t>Vocês podem trazer uma folha com anotações escritas à mão, mas só podem usar a parte da FRENTE de uma folha A4. </a:t>
            </a:r>
          </a:p>
          <a:p>
            <a:r>
              <a:rPr lang="pt-BR" b="1" noProof="0" dirty="0">
                <a:solidFill>
                  <a:srgbClr val="7030A0"/>
                </a:solidFill>
              </a:rPr>
              <a:t>Alunos com anotações nos dois lados e que não forem escritas à mão terão a folha descartada.</a:t>
            </a:r>
          </a:p>
          <a:p>
            <a:r>
              <a:rPr lang="pt-BR" noProof="0" dirty="0"/>
              <a:t>Conteúdo: até o que for apresentado na aula do dia 21/09/2026.</a:t>
            </a:r>
          </a:p>
        </p:txBody>
      </p:sp>
    </p:spTree>
    <p:extLst>
      <p:ext uri="{BB962C8B-B14F-4D97-AF65-F5344CB8AC3E}">
        <p14:creationId xmlns:p14="http://schemas.microsoft.com/office/powerpoint/2010/main" val="310610249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9AE95-3E0A-F9BB-A3FD-4C328EF25334}"/>
              </a:ext>
            </a:extLst>
          </p:cNvPr>
          <p:cNvSpPr>
            <a:spLocks noGrp="1"/>
          </p:cNvSpPr>
          <p:nvPr>
            <p:ph type="title"/>
          </p:nvPr>
        </p:nvSpPr>
        <p:spPr/>
        <p:txBody>
          <a:bodyPr/>
          <a:lstStyle/>
          <a:p>
            <a:r>
              <a:rPr lang="pt-BR" dirty="0"/>
              <a:t>Lista de exercícios</a:t>
            </a:r>
            <a:endParaRPr lang="en-US" dirty="0"/>
          </a:p>
        </p:txBody>
      </p:sp>
      <p:sp>
        <p:nvSpPr>
          <p:cNvPr id="3" name="Content Placeholder 2">
            <a:extLst>
              <a:ext uri="{FF2B5EF4-FFF2-40B4-BE49-F238E27FC236}">
                <a16:creationId xmlns:a16="http://schemas.microsoft.com/office/drawing/2014/main" id="{A431927B-FE56-CB25-3ECF-AB5E92A7DC71}"/>
              </a:ext>
            </a:extLst>
          </p:cNvPr>
          <p:cNvSpPr>
            <a:spLocks noGrp="1"/>
          </p:cNvSpPr>
          <p:nvPr>
            <p:ph idx="1"/>
          </p:nvPr>
        </p:nvSpPr>
        <p:spPr/>
        <p:txBody>
          <a:bodyPr/>
          <a:lstStyle/>
          <a:p>
            <a:pPr marL="0" indent="0">
              <a:buNone/>
            </a:pPr>
            <a:r>
              <a:rPr lang="en-US" dirty="0">
                <a:hlinkClick r:id="rId2"/>
              </a:rPr>
              <a:t>Lista #5 - </a:t>
            </a:r>
            <a:r>
              <a:rPr lang="en-US" dirty="0" err="1">
                <a:hlinkClick r:id="rId2"/>
              </a:rPr>
              <a:t>Regressão</a:t>
            </a:r>
            <a:endParaRPr lang="en-US" dirty="0"/>
          </a:p>
        </p:txBody>
      </p:sp>
    </p:spTree>
    <p:extLst>
      <p:ext uri="{BB962C8B-B14F-4D97-AF65-F5344CB8AC3E}">
        <p14:creationId xmlns:p14="http://schemas.microsoft.com/office/powerpoint/2010/main" val="195134518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32666AC8-2E17-4DB4-B0F5-60C640CCFD2E}"/>
              </a:ext>
            </a:extLst>
          </p:cNvPr>
          <p:cNvSpPr txBox="1">
            <a:spLocks/>
          </p:cNvSpPr>
          <p:nvPr/>
        </p:nvSpPr>
        <p:spPr>
          <a:xfrm>
            <a:off x="1431533" y="2720526"/>
            <a:ext cx="9144000" cy="10295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6600" dirty="0"/>
              <a:t>Perguntas?</a:t>
            </a:r>
            <a:endParaRPr lang="pt-BR" sz="6600" b="1" i="1" dirty="0"/>
          </a:p>
        </p:txBody>
      </p:sp>
    </p:spTree>
    <p:extLst>
      <p:ext uri="{BB962C8B-B14F-4D97-AF65-F5344CB8AC3E}">
        <p14:creationId xmlns:p14="http://schemas.microsoft.com/office/powerpoint/2010/main" val="377300566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32666AC8-2E17-4DB4-B0F5-60C640CCFD2E}"/>
              </a:ext>
            </a:extLst>
          </p:cNvPr>
          <p:cNvSpPr txBox="1">
            <a:spLocks/>
          </p:cNvSpPr>
          <p:nvPr/>
        </p:nvSpPr>
        <p:spPr>
          <a:xfrm>
            <a:off x="1431533" y="2720526"/>
            <a:ext cx="9144000" cy="10295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6600" dirty="0"/>
              <a:t>Obrigado!</a:t>
            </a:r>
            <a:endParaRPr lang="pt-BR" sz="6600" b="1" i="1" dirty="0"/>
          </a:p>
        </p:txBody>
      </p:sp>
    </p:spTree>
    <p:extLst>
      <p:ext uri="{BB962C8B-B14F-4D97-AF65-F5344CB8AC3E}">
        <p14:creationId xmlns:p14="http://schemas.microsoft.com/office/powerpoint/2010/main" val="265570461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F20CD40C-581D-767F-12ED-42D2CB7861C4}"/>
              </a:ext>
            </a:extLst>
          </p:cNvPr>
          <p:cNvSpPr>
            <a:spLocks noGrp="1"/>
          </p:cNvSpPr>
          <p:nvPr>
            <p:ph idx="1"/>
          </p:nvPr>
        </p:nvSpPr>
        <p:spPr>
          <a:xfrm>
            <a:off x="838200" y="2379662"/>
            <a:ext cx="10515600" cy="2098675"/>
          </a:xfrm>
        </p:spPr>
        <p:txBody>
          <a:bodyPr>
            <a:normAutofit/>
          </a:bodyPr>
          <a:lstStyle/>
          <a:p>
            <a:pPr marL="0" indent="0" algn="ctr">
              <a:buNone/>
            </a:pPr>
            <a:r>
              <a:rPr lang="pt-BR" sz="6000" dirty="0"/>
              <a:t>Anexo I:</a:t>
            </a:r>
          </a:p>
          <a:p>
            <a:pPr marL="0" indent="0" algn="ctr">
              <a:buNone/>
            </a:pPr>
            <a:r>
              <a:rPr lang="pt-BR" sz="6000" dirty="0"/>
              <a:t>Cálculo do vetor gradiente</a:t>
            </a:r>
          </a:p>
        </p:txBody>
      </p:sp>
    </p:spTree>
    <p:extLst>
      <p:ext uri="{BB962C8B-B14F-4D97-AF65-F5344CB8AC3E}">
        <p14:creationId xmlns:p14="http://schemas.microsoft.com/office/powerpoint/2010/main" val="421094900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86E35-2132-957C-5119-8416C939A543}"/>
              </a:ext>
            </a:extLst>
          </p:cNvPr>
          <p:cNvSpPr>
            <a:spLocks noGrp="1"/>
          </p:cNvSpPr>
          <p:nvPr>
            <p:ph type="title"/>
          </p:nvPr>
        </p:nvSpPr>
        <p:spPr/>
        <p:txBody>
          <a:bodyPr/>
          <a:lstStyle/>
          <a:p>
            <a:r>
              <a:rPr lang="pt-BR" dirty="0"/>
              <a:t>Cálculo do vetor gradiente</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DC5EC678-4C25-1184-B2F1-399C0F236041}"/>
                  </a:ext>
                </a:extLst>
              </p:cNvPr>
              <p:cNvSpPr>
                <a:spLocks noGrp="1"/>
              </p:cNvSpPr>
              <p:nvPr>
                <p:ph idx="1"/>
              </p:nvPr>
            </p:nvSpPr>
            <p:spPr>
              <a:xfrm>
                <a:off x="838199" y="1825624"/>
                <a:ext cx="11146971" cy="5032375"/>
              </a:xfrm>
            </p:spPr>
            <p:txBody>
              <a:bodyPr>
                <a:normAutofit/>
              </a:bodyPr>
              <a:lstStyle/>
              <a:p>
                <a:pPr marL="0" indent="0">
                  <a:buNone/>
                </a:pPr>
                <a:r>
                  <a:rPr lang="pt-BR" dirty="0"/>
                  <a:t>Considerando o hiperplano como a função hipótese</a:t>
                </a:r>
              </a:p>
              <a:p>
                <a:pPr marL="0" indent="0">
                  <a:buNone/>
                </a:pPr>
                <a14:m>
                  <m:oMathPara xmlns:m="http://schemas.openxmlformats.org/officeDocument/2006/math">
                    <m:oMath>
                      <m:acc>
                        <m:accPr>
                          <m:chr m:val="̂"/>
                          <m:ctrlPr>
                            <a:rPr lang="pt-BR" b="0" i="1" smtClean="0">
                              <a:latin typeface="Cambria Math" panose="02040503050406030204" pitchFamily="18" charset="0"/>
                            </a:rPr>
                          </m:ctrlPr>
                        </m:accPr>
                        <m:e>
                          <m:r>
                            <a:rPr lang="pt-BR" b="0" i="1" smtClean="0">
                              <a:latin typeface="Cambria Math" panose="02040503050406030204" pitchFamily="18" charset="0"/>
                            </a:rPr>
                            <m:t>𝑦</m:t>
                          </m:r>
                        </m:e>
                      </m:acc>
                      <m:d>
                        <m:dPr>
                          <m:ctrlPr>
                            <a:rPr lang="pt-BR" b="0" i="1" smtClean="0">
                              <a:latin typeface="Cambria Math" panose="02040503050406030204" pitchFamily="18" charset="0"/>
                            </a:rPr>
                          </m:ctrlPr>
                        </m:dPr>
                        <m:e>
                          <m:r>
                            <a:rPr lang="pt-BR" b="0" i="1" smtClean="0">
                              <a:latin typeface="Cambria Math" panose="02040503050406030204" pitchFamily="18" charset="0"/>
                            </a:rPr>
                            <m:t>𝑛</m:t>
                          </m:r>
                        </m:e>
                      </m:d>
                      <m:r>
                        <a:rPr lang="pt-BR" b="0" i="1" smtClean="0">
                          <a:latin typeface="Cambria Math" panose="02040503050406030204" pitchFamily="18" charset="0"/>
                        </a:rPr>
                        <m:t>=</m:t>
                      </m:r>
                      <m:sSup>
                        <m:sSupPr>
                          <m:ctrlPr>
                            <a:rPr lang="pt-BR" b="1" i="1">
                              <a:latin typeface="Cambria Math" panose="02040503050406030204" pitchFamily="18" charset="0"/>
                            </a:rPr>
                          </m:ctrlPr>
                        </m:sSupPr>
                        <m:e>
                          <m:r>
                            <a:rPr lang="pt-BR" b="1" i="1">
                              <a:latin typeface="Cambria Math" panose="02040503050406030204" pitchFamily="18" charset="0"/>
                            </a:rPr>
                            <m:t>𝒙</m:t>
                          </m:r>
                          <m:d>
                            <m:dPr>
                              <m:ctrlPr>
                                <a:rPr lang="pt-BR" i="1">
                                  <a:latin typeface="Cambria Math" panose="02040503050406030204" pitchFamily="18" charset="0"/>
                                </a:rPr>
                              </m:ctrlPr>
                            </m:dPr>
                            <m:e>
                              <m:r>
                                <a:rPr lang="pt-BR" i="1">
                                  <a:latin typeface="Cambria Math" panose="02040503050406030204" pitchFamily="18" charset="0"/>
                                </a:rPr>
                                <m:t>𝑛</m:t>
                              </m:r>
                            </m:e>
                          </m:d>
                        </m:e>
                        <m:sup>
                          <m:r>
                            <a:rPr lang="pt-BR" i="1">
                              <a:latin typeface="Cambria Math" panose="02040503050406030204" pitchFamily="18" charset="0"/>
                            </a:rPr>
                            <m:t>𝑇</m:t>
                          </m:r>
                        </m:sup>
                      </m:sSup>
                      <m:r>
                        <a:rPr lang="pt-BR" b="1" i="1" smtClean="0">
                          <a:latin typeface="Cambria Math" panose="02040503050406030204" pitchFamily="18" charset="0"/>
                        </a:rPr>
                        <m:t>𝒂</m:t>
                      </m:r>
                      <m:r>
                        <a:rPr lang="pt-BR" b="0" i="1" smtClean="0">
                          <a:latin typeface="Cambria Math" panose="02040503050406030204" pitchFamily="18" charset="0"/>
                        </a:rPr>
                        <m:t>.</m:t>
                      </m:r>
                    </m:oMath>
                  </m:oMathPara>
                </a14:m>
                <a:endParaRPr lang="pt-BR" dirty="0"/>
              </a:p>
              <a:p>
                <a:pPr marL="0" indent="0">
                  <a:buNone/>
                </a:pPr>
                <a:r>
                  <a:rPr lang="pt-BR" dirty="0"/>
                  <a:t>O vetor gradiente é calculado como</a:t>
                </a:r>
              </a:p>
              <a:p>
                <a:pPr marL="0" indent="0">
                  <a:buNone/>
                </a:pPr>
                <a14:m>
                  <m:oMathPara xmlns:m="http://schemas.openxmlformats.org/officeDocument/2006/math">
                    <m:oMath>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num>
                        <m:den>
                          <m:r>
                            <a:rPr lang="pt-BR" i="1">
                              <a:latin typeface="Cambria Math" panose="02040503050406030204" pitchFamily="18" charset="0"/>
                            </a:rPr>
                            <m:t>𝜕</m:t>
                          </m:r>
                          <m:r>
                            <a:rPr lang="pt-BR" b="1" i="1">
                              <a:latin typeface="Cambria Math" panose="02040503050406030204" pitchFamily="18" charset="0"/>
                            </a:rPr>
                            <m:t>𝒂</m:t>
                          </m:r>
                        </m:den>
                      </m:f>
                      <m:r>
                        <a:rPr lang="pt-BR" b="1" i="1" smtClean="0">
                          <a:latin typeface="Cambria Math" panose="02040503050406030204" pitchFamily="18" charset="0"/>
                        </a:rPr>
                        <m:t>=</m:t>
                      </m:r>
                      <m:sSup>
                        <m:sSupPr>
                          <m:ctrlPr>
                            <a:rPr lang="pt-BR" b="1" i="1" smtClean="0">
                              <a:latin typeface="Cambria Math" panose="02040503050406030204" pitchFamily="18" charset="0"/>
                            </a:rPr>
                          </m:ctrlPr>
                        </m:sSupPr>
                        <m:e>
                          <m:d>
                            <m:dPr>
                              <m:begChr m:val="["/>
                              <m:endChr m:val="]"/>
                              <m:ctrlPr>
                                <a:rPr lang="pt-BR" b="1" i="1" smtClean="0">
                                  <a:latin typeface="Cambria Math" panose="02040503050406030204" pitchFamily="18" charset="0"/>
                                </a:rPr>
                              </m:ctrlPr>
                            </m:dPr>
                            <m:e>
                              <m:m>
                                <m:mPr>
                                  <m:mcs>
                                    <m:mc>
                                      <m:mcPr>
                                        <m:count m:val="3"/>
                                        <m:mcJc m:val="center"/>
                                      </m:mcPr>
                                    </m:mc>
                                  </m:mcs>
                                  <m:ctrlPr>
                                    <a:rPr lang="pt-BR" b="1" i="1" smtClean="0">
                                      <a:latin typeface="Cambria Math" panose="02040503050406030204" pitchFamily="18" charset="0"/>
                                    </a:rPr>
                                  </m:ctrlPr>
                                </m:mPr>
                                <m:mr>
                                  <m:e>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num>
                                      <m:den>
                                        <m:r>
                                          <a:rPr lang="pt-BR" i="1">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𝑎</m:t>
                                            </m:r>
                                          </m:e>
                                          <m:sub>
                                            <m:r>
                                              <a:rPr lang="pt-BR" b="0" i="1" smtClean="0">
                                                <a:latin typeface="Cambria Math" panose="02040503050406030204" pitchFamily="18" charset="0"/>
                                              </a:rPr>
                                              <m:t>0</m:t>
                                            </m:r>
                                          </m:sub>
                                        </m:sSub>
                                      </m:den>
                                    </m:f>
                                  </m:e>
                                  <m:e>
                                    <m:r>
                                      <a:rPr lang="pt-BR" b="1" i="1" smtClean="0">
                                        <a:latin typeface="Cambria Math" panose="02040503050406030204" pitchFamily="18" charset="0"/>
                                      </a:rPr>
                                      <m:t>⋯</m:t>
                                    </m:r>
                                  </m:e>
                                  <m:e>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b="0" i="1" smtClean="0">
                                                <a:latin typeface="Cambria Math" panose="02040503050406030204" pitchFamily="18" charset="0"/>
                                              </a:rPr>
                                              <m:t>𝐾</m:t>
                                            </m:r>
                                          </m:sub>
                                        </m:sSub>
                                      </m:den>
                                    </m:f>
                                  </m:e>
                                </m:mr>
                              </m:m>
                            </m:e>
                          </m:d>
                        </m:e>
                        <m:sup>
                          <m:r>
                            <a:rPr lang="pt-BR" b="0" i="1" smtClean="0">
                              <a:latin typeface="Cambria Math" panose="02040503050406030204" pitchFamily="18" charset="0"/>
                            </a:rPr>
                            <m:t>𝑇</m:t>
                          </m:r>
                        </m:sup>
                      </m:sSup>
                      <m:r>
                        <a:rPr lang="pt-BR" b="1" i="1" smtClean="0">
                          <a:latin typeface="Cambria Math" panose="02040503050406030204" pitchFamily="18" charset="0"/>
                        </a:rPr>
                        <m:t>.</m:t>
                      </m:r>
                    </m:oMath>
                  </m:oMathPara>
                </a14:m>
                <a:endParaRPr lang="pt-BR" b="1" i="1" dirty="0">
                  <a:latin typeface="Cambria Math" panose="02040503050406030204" pitchFamily="18" charset="0"/>
                </a:endParaRPr>
              </a:p>
              <a:p>
                <a:pPr marL="0" indent="0">
                  <a:buNone/>
                </a:pPr>
                <a:r>
                  <a:rPr lang="pt-BR" dirty="0"/>
                  <a:t>Assim, o vetor gradiente da função de erro em relação aos pesos é dado por</a:t>
                </a:r>
                <a:endParaRPr lang="pt-BR" b="1" i="1" dirty="0">
                  <a:latin typeface="Cambria Math" panose="02040503050406030204" pitchFamily="18" charset="0"/>
                </a:endParaRPr>
              </a:p>
              <a:p>
                <a:pPr marL="0" indent="0">
                  <a:buNone/>
                </a:pPr>
                <a14:m>
                  <m:oMathPara xmlns:m="http://schemas.openxmlformats.org/officeDocument/2006/math">
                    <m:oMath>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num>
                        <m:den>
                          <m:r>
                            <a:rPr lang="pt-BR" i="1">
                              <a:latin typeface="Cambria Math" panose="02040503050406030204" pitchFamily="18" charset="0"/>
                            </a:rPr>
                            <m:t>𝜕</m:t>
                          </m:r>
                          <m:r>
                            <a:rPr lang="pt-BR" b="1" i="1">
                              <a:latin typeface="Cambria Math" panose="02040503050406030204" pitchFamily="18" charset="0"/>
                            </a:rPr>
                            <m:t>𝒂</m:t>
                          </m:r>
                        </m:den>
                      </m:f>
                      <m:r>
                        <a:rPr lang="pt-BR" b="1" i="1" smtClean="0">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m:t>
                          </m:r>
                        </m:num>
                        <m:den>
                          <m:r>
                            <a:rPr lang="pt-BR" i="1">
                              <a:latin typeface="Cambria Math" panose="02040503050406030204" pitchFamily="18" charset="0"/>
                            </a:rPr>
                            <m:t>𝜕</m:t>
                          </m:r>
                          <m:r>
                            <a:rPr lang="pt-BR" b="1" i="1">
                              <a:latin typeface="Cambria Math" panose="02040503050406030204" pitchFamily="18" charset="0"/>
                            </a:rPr>
                            <m:t>𝒂</m:t>
                          </m:r>
                        </m:den>
                      </m:f>
                      <m:d>
                        <m:dPr>
                          <m:begChr m:val="["/>
                          <m:endChr m:val="]"/>
                          <m:ctrlPr>
                            <a:rPr lang="pt-BR" i="1">
                              <a:latin typeface="Cambria Math" panose="02040503050406030204" pitchFamily="18" charset="0"/>
                            </a:rPr>
                          </m:ctrlPr>
                        </m:dPr>
                        <m:e>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𝑁</m:t>
                              </m:r>
                            </m:den>
                          </m:f>
                          <m:nary>
                            <m:naryPr>
                              <m:chr m:val="∑"/>
                              <m:ctrlPr>
                                <a:rPr lang="pt-BR" b="0" i="1" smtClean="0">
                                  <a:latin typeface="Cambria Math" panose="02040503050406030204" pitchFamily="18" charset="0"/>
                                </a:rPr>
                              </m:ctrlPr>
                            </m:naryPr>
                            <m:sub>
                              <m:r>
                                <m:rPr>
                                  <m:brk m:alnAt="23"/>
                                </m:rPr>
                                <a:rPr lang="pt-BR" b="0" i="1" smtClean="0">
                                  <a:latin typeface="Cambria Math" panose="02040503050406030204" pitchFamily="18" charset="0"/>
                                </a:rPr>
                                <m:t>𝑛</m:t>
                              </m:r>
                              <m:r>
                                <a:rPr lang="pt-BR" b="0" i="1" smtClean="0">
                                  <a:latin typeface="Cambria Math" panose="02040503050406030204" pitchFamily="18" charset="0"/>
                                </a:rPr>
                                <m:t>=0</m:t>
                              </m:r>
                            </m:sub>
                            <m:sup>
                              <m:r>
                                <a:rPr lang="pt-BR" b="0" i="1" smtClean="0">
                                  <a:latin typeface="Cambria Math" panose="02040503050406030204" pitchFamily="18" charset="0"/>
                                </a:rPr>
                                <m:t>𝑁</m:t>
                              </m:r>
                              <m:r>
                                <a:rPr lang="pt-BR" b="0" i="1" smtClean="0">
                                  <a:latin typeface="Cambria Math" panose="02040503050406030204" pitchFamily="18" charset="0"/>
                                </a:rPr>
                                <m:t>−1</m:t>
                              </m:r>
                            </m:sup>
                            <m:e>
                              <m:sSup>
                                <m:sSupPr>
                                  <m:ctrlPr>
                                    <a:rPr lang="pt-BR" b="0" i="1" smtClean="0">
                                      <a:latin typeface="Cambria Math" panose="02040503050406030204" pitchFamily="18" charset="0"/>
                                    </a:rPr>
                                  </m:ctrlPr>
                                </m:sSupPr>
                                <m:e>
                                  <m:d>
                                    <m:dPr>
                                      <m:ctrlPr>
                                        <a:rPr lang="pt-BR" b="0" i="1" smtClean="0">
                                          <a:latin typeface="Cambria Math" panose="02040503050406030204" pitchFamily="18" charset="0"/>
                                        </a:rPr>
                                      </m:ctrlPr>
                                    </m:dPr>
                                    <m:e>
                                      <m:r>
                                        <a:rPr lang="pt-BR" b="0" i="1" smtClean="0">
                                          <a:latin typeface="Cambria Math" panose="02040503050406030204" pitchFamily="18" charset="0"/>
                                        </a:rPr>
                                        <m:t>𝑦</m:t>
                                      </m:r>
                                      <m:d>
                                        <m:dPr>
                                          <m:ctrlPr>
                                            <a:rPr lang="pt-BR" b="0" i="1" smtClean="0">
                                              <a:latin typeface="Cambria Math" panose="02040503050406030204" pitchFamily="18" charset="0"/>
                                            </a:rPr>
                                          </m:ctrlPr>
                                        </m:dPr>
                                        <m:e>
                                          <m:r>
                                            <a:rPr lang="pt-BR" b="0" i="1" smtClean="0">
                                              <a:latin typeface="Cambria Math" panose="02040503050406030204" pitchFamily="18" charset="0"/>
                                            </a:rPr>
                                            <m:t>𝑛</m:t>
                                          </m:r>
                                        </m:e>
                                      </m:d>
                                      <m:r>
                                        <a:rPr lang="pt-BR" b="0" i="1" smtClean="0">
                                          <a:latin typeface="Cambria Math" panose="02040503050406030204" pitchFamily="18" charset="0"/>
                                        </a:rPr>
                                        <m:t>−</m:t>
                                      </m:r>
                                      <m:acc>
                                        <m:accPr>
                                          <m:chr m:val="̂"/>
                                          <m:ctrlPr>
                                            <a:rPr lang="pt-BR" i="1">
                                              <a:latin typeface="Cambria Math" panose="02040503050406030204" pitchFamily="18" charset="0"/>
                                            </a:rPr>
                                          </m:ctrlPr>
                                        </m:accPr>
                                        <m:e>
                                          <m:r>
                                            <a:rPr lang="pt-BR" i="1">
                                              <a:latin typeface="Cambria Math" panose="02040503050406030204" pitchFamily="18" charset="0"/>
                                            </a:rPr>
                                            <m:t>𝑦</m:t>
                                          </m:r>
                                        </m:e>
                                      </m:acc>
                                      <m:d>
                                        <m:dPr>
                                          <m:ctrlPr>
                                            <a:rPr lang="pt-BR" i="1">
                                              <a:latin typeface="Cambria Math" panose="02040503050406030204" pitchFamily="18" charset="0"/>
                                            </a:rPr>
                                          </m:ctrlPr>
                                        </m:dPr>
                                        <m:e>
                                          <m:r>
                                            <a:rPr lang="pt-BR" i="1">
                                              <a:latin typeface="Cambria Math" panose="02040503050406030204" pitchFamily="18" charset="0"/>
                                            </a:rPr>
                                            <m:t>𝑛</m:t>
                                          </m:r>
                                        </m:e>
                                      </m:d>
                                    </m:e>
                                  </m:d>
                                </m:e>
                                <m:sup>
                                  <m:r>
                                    <a:rPr lang="pt-BR" b="0" i="1" smtClean="0">
                                      <a:latin typeface="Cambria Math" panose="02040503050406030204" pitchFamily="18" charset="0"/>
                                    </a:rPr>
                                    <m:t>2</m:t>
                                  </m:r>
                                </m:sup>
                              </m:sSup>
                            </m:e>
                          </m:nary>
                        </m:e>
                      </m:d>
                      <m:r>
                        <a:rPr lang="pt-BR" b="1" i="1" smtClean="0">
                          <a:latin typeface="Cambria Math" panose="02040503050406030204" pitchFamily="18" charset="0"/>
                        </a:rPr>
                        <m:t>.</m:t>
                      </m:r>
                    </m:oMath>
                  </m:oMathPara>
                </a14:m>
                <a:endParaRPr lang="pt-BR" b="1" i="1" dirty="0">
                  <a:latin typeface="Cambria Math" panose="02040503050406030204" pitchFamily="18" charset="0"/>
                </a:endParaRPr>
              </a:p>
            </p:txBody>
          </p:sp>
        </mc:Choice>
        <mc:Fallback xmlns="">
          <p:sp>
            <p:nvSpPr>
              <p:cNvPr id="3" name="Espaço Reservado para Conteúdo 2">
                <a:extLst>
                  <a:ext uri="{FF2B5EF4-FFF2-40B4-BE49-F238E27FC236}">
                    <a16:creationId xmlns:a16="http://schemas.microsoft.com/office/drawing/2014/main" id="{DC5EC678-4C25-1184-B2F1-399C0F236041}"/>
                  </a:ext>
                </a:extLst>
              </p:cNvPr>
              <p:cNvSpPr>
                <a:spLocks noGrp="1" noRot="1" noChangeAspect="1" noMove="1" noResize="1" noEditPoints="1" noAdjustHandles="1" noChangeArrowheads="1" noChangeShapeType="1" noTextEdit="1"/>
              </p:cNvSpPr>
              <p:nvPr>
                <p:ph idx="1"/>
              </p:nvPr>
            </p:nvSpPr>
            <p:spPr>
              <a:xfrm>
                <a:off x="838199" y="1825624"/>
                <a:ext cx="11146971" cy="5032375"/>
              </a:xfrm>
              <a:blipFill>
                <a:blip r:embed="rId2"/>
                <a:stretch>
                  <a:fillRect l="-1093" t="-1937" r="-984"/>
                </a:stretch>
              </a:blipFill>
            </p:spPr>
            <p:txBody>
              <a:bodyPr/>
              <a:lstStyle/>
              <a:p>
                <a:r>
                  <a:rPr lang="en-US">
                    <a:noFill/>
                  </a:rPr>
                  <a:t> </a:t>
                </a:r>
              </a:p>
            </p:txBody>
          </p:sp>
        </mc:Fallback>
      </mc:AlternateContent>
    </p:spTree>
    <p:extLst>
      <p:ext uri="{BB962C8B-B14F-4D97-AF65-F5344CB8AC3E}">
        <p14:creationId xmlns:p14="http://schemas.microsoft.com/office/powerpoint/2010/main" val="176136550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08F244-8587-36D5-74B4-58E14CF70899}"/>
              </a:ext>
            </a:extLst>
          </p:cNvPr>
          <p:cNvSpPr>
            <a:spLocks noGrp="1"/>
          </p:cNvSpPr>
          <p:nvPr>
            <p:ph type="title"/>
          </p:nvPr>
        </p:nvSpPr>
        <p:spPr/>
        <p:txBody>
          <a:bodyPr/>
          <a:lstStyle/>
          <a:p>
            <a:r>
              <a:rPr lang="pt-BR" dirty="0"/>
              <a:t>Cálculo do vetor gradiente</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7CF9ACC0-4818-6B4A-41ED-7792491481CA}"/>
                  </a:ext>
                </a:extLst>
              </p:cNvPr>
              <p:cNvSpPr>
                <a:spLocks noGrp="1"/>
              </p:cNvSpPr>
              <p:nvPr>
                <p:ph idx="1"/>
              </p:nvPr>
            </p:nvSpPr>
            <p:spPr>
              <a:xfrm>
                <a:off x="838200" y="1825624"/>
                <a:ext cx="11079822" cy="5032375"/>
              </a:xfrm>
            </p:spPr>
            <p:txBody>
              <a:bodyPr>
                <a:normAutofit/>
              </a:bodyPr>
              <a:lstStyle/>
              <a:p>
                <a:pPr marL="0" indent="0">
                  <a:buNone/>
                </a:pPr>
                <a:r>
                  <a:rPr lang="pt-BR" dirty="0"/>
                  <a:t>Como a operação de derivada é distributiva, podemos reescrever a equação acima como </a:t>
                </a:r>
              </a:p>
              <a:p>
                <a:pPr marL="0" indent="0">
                  <a:buNone/>
                </a:pPr>
                <a14:m>
                  <m:oMathPara xmlns:m="http://schemas.openxmlformats.org/officeDocument/2006/math">
                    <m:oMath>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num>
                        <m:den>
                          <m:r>
                            <a:rPr lang="pt-BR" i="1">
                              <a:latin typeface="Cambria Math" panose="02040503050406030204" pitchFamily="18" charset="0"/>
                            </a:rPr>
                            <m:t>𝜕</m:t>
                          </m:r>
                          <m:r>
                            <a:rPr lang="pt-BR" b="1" i="1">
                              <a:latin typeface="Cambria Math" panose="02040503050406030204" pitchFamily="18" charset="0"/>
                            </a:rPr>
                            <m:t>𝒂</m:t>
                          </m:r>
                        </m:den>
                      </m:f>
                      <m:r>
                        <a:rPr lang="pt-BR" b="1"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𝑁</m:t>
                          </m:r>
                        </m:den>
                      </m:f>
                      <m:nary>
                        <m:naryPr>
                          <m:chr m:val="∑"/>
                          <m:ctrlPr>
                            <a:rPr lang="pt-BR" i="1">
                              <a:latin typeface="Cambria Math" panose="02040503050406030204" pitchFamily="18" charset="0"/>
                            </a:rPr>
                          </m:ctrlPr>
                        </m:naryPr>
                        <m:sub>
                          <m:r>
                            <m:rPr>
                              <m:brk m:alnAt="23"/>
                            </m:rPr>
                            <a:rPr lang="pt-BR" i="1">
                              <a:latin typeface="Cambria Math" panose="02040503050406030204" pitchFamily="18" charset="0"/>
                            </a:rPr>
                            <m:t>𝑛</m:t>
                          </m:r>
                          <m:r>
                            <a:rPr lang="pt-BR" i="1">
                              <a:latin typeface="Cambria Math" panose="02040503050406030204" pitchFamily="18" charset="0"/>
                            </a:rPr>
                            <m:t>=0</m:t>
                          </m:r>
                        </m:sub>
                        <m:sup>
                          <m:r>
                            <a:rPr lang="pt-BR" i="1">
                              <a:latin typeface="Cambria Math" panose="02040503050406030204" pitchFamily="18" charset="0"/>
                            </a:rPr>
                            <m:t>𝑁</m:t>
                          </m:r>
                          <m:r>
                            <a:rPr lang="pt-BR" i="1">
                              <a:latin typeface="Cambria Math" panose="02040503050406030204" pitchFamily="18" charset="0"/>
                            </a:rPr>
                            <m:t>−1</m:t>
                          </m:r>
                        </m:sup>
                        <m:e>
                          <m:f>
                            <m:fPr>
                              <m:ctrlPr>
                                <a:rPr lang="pt-BR" i="1">
                                  <a:latin typeface="Cambria Math" panose="02040503050406030204" pitchFamily="18" charset="0"/>
                                </a:rPr>
                              </m:ctrlPr>
                            </m:fPr>
                            <m:num>
                              <m:r>
                                <a:rPr lang="pt-BR" i="1">
                                  <a:latin typeface="Cambria Math" panose="02040503050406030204" pitchFamily="18" charset="0"/>
                                </a:rPr>
                                <m:t>𝜕</m:t>
                              </m:r>
                              <m:sSup>
                                <m:sSupPr>
                                  <m:ctrlPr>
                                    <a:rPr lang="pt-BR" i="1">
                                      <a:latin typeface="Cambria Math" panose="02040503050406030204" pitchFamily="18" charset="0"/>
                                    </a:rPr>
                                  </m:ctrlPr>
                                </m:sSupPr>
                                <m:e>
                                  <m:d>
                                    <m:dPr>
                                      <m:ctrlPr>
                                        <a:rPr lang="pt-BR" i="1">
                                          <a:latin typeface="Cambria Math" panose="02040503050406030204" pitchFamily="18" charset="0"/>
                                        </a:rPr>
                                      </m:ctrlPr>
                                    </m:dPr>
                                    <m:e>
                                      <m: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m:t>
                                      </m:r>
                                      <m:acc>
                                        <m:accPr>
                                          <m:chr m:val="̂"/>
                                          <m:ctrlPr>
                                            <a:rPr lang="pt-BR" i="1">
                                              <a:latin typeface="Cambria Math" panose="02040503050406030204" pitchFamily="18" charset="0"/>
                                            </a:rPr>
                                          </m:ctrlPr>
                                        </m:accPr>
                                        <m:e>
                                          <m:r>
                                            <a:rPr lang="pt-BR" i="1">
                                              <a:latin typeface="Cambria Math" panose="02040503050406030204" pitchFamily="18" charset="0"/>
                                            </a:rPr>
                                            <m:t>𝑦</m:t>
                                          </m:r>
                                        </m:e>
                                      </m:acc>
                                      <m:d>
                                        <m:dPr>
                                          <m:ctrlPr>
                                            <a:rPr lang="pt-BR" i="1">
                                              <a:latin typeface="Cambria Math" panose="02040503050406030204" pitchFamily="18" charset="0"/>
                                            </a:rPr>
                                          </m:ctrlPr>
                                        </m:dPr>
                                        <m:e>
                                          <m:r>
                                            <a:rPr lang="pt-BR" i="1">
                                              <a:latin typeface="Cambria Math" panose="02040503050406030204" pitchFamily="18" charset="0"/>
                                            </a:rPr>
                                            <m:t>𝑛</m:t>
                                          </m:r>
                                        </m:e>
                                      </m:d>
                                    </m:e>
                                  </m:d>
                                </m:e>
                                <m:sup>
                                  <m:r>
                                    <a:rPr lang="pt-BR" i="1">
                                      <a:latin typeface="Cambria Math" panose="02040503050406030204" pitchFamily="18" charset="0"/>
                                    </a:rPr>
                                    <m:t>2</m:t>
                                  </m:r>
                                </m:sup>
                              </m:sSup>
                            </m:num>
                            <m:den>
                              <m:r>
                                <a:rPr lang="pt-BR" i="1">
                                  <a:latin typeface="Cambria Math" panose="02040503050406030204" pitchFamily="18" charset="0"/>
                                </a:rPr>
                                <m:t>𝜕</m:t>
                              </m:r>
                              <m:r>
                                <a:rPr lang="pt-BR" b="1" i="1">
                                  <a:latin typeface="Cambria Math" panose="02040503050406030204" pitchFamily="18" charset="0"/>
                                </a:rPr>
                                <m:t>𝒂</m:t>
                              </m:r>
                            </m:den>
                          </m:f>
                        </m:e>
                      </m:nary>
                      <m:r>
                        <a:rPr lang="pt-BR" b="1" i="1" smtClean="0">
                          <a:latin typeface="Cambria Math" panose="02040503050406030204" pitchFamily="18" charset="0"/>
                        </a:rPr>
                        <m:t>.</m:t>
                      </m:r>
                    </m:oMath>
                  </m:oMathPara>
                </a14:m>
                <a:endParaRPr lang="pt-BR" b="1" i="1" dirty="0">
                  <a:latin typeface="Cambria Math" panose="02040503050406030204" pitchFamily="18" charset="0"/>
                </a:endParaRPr>
              </a:p>
              <a:p>
                <a:pPr marL="0" indent="0">
                  <a:buNone/>
                </a:pPr>
                <a:r>
                  <a:rPr lang="pt-BR" sz="2900" dirty="0"/>
                  <a:t>Substituindo a função hipótese na equação acima, temos</a:t>
                </a:r>
              </a:p>
              <a:p>
                <a:pPr marL="0" indent="0">
                  <a:buNone/>
                </a:pPr>
                <a14:m>
                  <m:oMathPara xmlns:m="http://schemas.openxmlformats.org/officeDocument/2006/math">
                    <m:oMath>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num>
                        <m:den>
                          <m:r>
                            <a:rPr lang="pt-BR" i="1">
                              <a:latin typeface="Cambria Math" panose="02040503050406030204" pitchFamily="18" charset="0"/>
                            </a:rPr>
                            <m:t>𝜕</m:t>
                          </m:r>
                          <m:r>
                            <a:rPr lang="pt-BR" b="1" i="1">
                              <a:latin typeface="Cambria Math" panose="02040503050406030204" pitchFamily="18" charset="0"/>
                            </a:rPr>
                            <m:t>𝒂</m:t>
                          </m:r>
                        </m:den>
                      </m:f>
                      <m:r>
                        <a:rPr lang="pt-BR" b="1"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𝑁</m:t>
                          </m:r>
                        </m:den>
                      </m:f>
                      <m:nary>
                        <m:naryPr>
                          <m:chr m:val="∑"/>
                          <m:ctrlPr>
                            <a:rPr lang="pt-BR" i="1">
                              <a:latin typeface="Cambria Math" panose="02040503050406030204" pitchFamily="18" charset="0"/>
                            </a:rPr>
                          </m:ctrlPr>
                        </m:naryPr>
                        <m:sub>
                          <m:r>
                            <m:rPr>
                              <m:brk m:alnAt="23"/>
                            </m:rPr>
                            <a:rPr lang="pt-BR" i="1">
                              <a:latin typeface="Cambria Math" panose="02040503050406030204" pitchFamily="18" charset="0"/>
                            </a:rPr>
                            <m:t>𝑛</m:t>
                          </m:r>
                          <m:r>
                            <a:rPr lang="pt-BR" i="1">
                              <a:latin typeface="Cambria Math" panose="02040503050406030204" pitchFamily="18" charset="0"/>
                            </a:rPr>
                            <m:t>=0</m:t>
                          </m:r>
                        </m:sub>
                        <m:sup>
                          <m:r>
                            <a:rPr lang="pt-BR" i="1">
                              <a:latin typeface="Cambria Math" panose="02040503050406030204" pitchFamily="18" charset="0"/>
                            </a:rPr>
                            <m:t>𝑁</m:t>
                          </m:r>
                          <m:r>
                            <a:rPr lang="pt-BR" i="1">
                              <a:latin typeface="Cambria Math" panose="02040503050406030204" pitchFamily="18" charset="0"/>
                            </a:rPr>
                            <m:t>−1</m:t>
                          </m:r>
                        </m:sup>
                        <m:e>
                          <m:f>
                            <m:fPr>
                              <m:ctrlPr>
                                <a:rPr lang="pt-BR" i="1">
                                  <a:latin typeface="Cambria Math" panose="02040503050406030204" pitchFamily="18" charset="0"/>
                                </a:rPr>
                              </m:ctrlPr>
                            </m:fPr>
                            <m:num>
                              <m:r>
                                <a:rPr lang="pt-BR" i="1">
                                  <a:latin typeface="Cambria Math" panose="02040503050406030204" pitchFamily="18" charset="0"/>
                                </a:rPr>
                                <m:t>𝜕</m:t>
                              </m:r>
                              <m:sSup>
                                <m:sSupPr>
                                  <m:ctrlPr>
                                    <a:rPr lang="pt-BR" i="1">
                                      <a:latin typeface="Cambria Math" panose="02040503050406030204" pitchFamily="18" charset="0"/>
                                    </a:rPr>
                                  </m:ctrlPr>
                                </m:sSupPr>
                                <m:e>
                                  <m:d>
                                    <m:dPr>
                                      <m:ctrlPr>
                                        <a:rPr lang="pt-BR" i="1">
                                          <a:latin typeface="Cambria Math" panose="02040503050406030204" pitchFamily="18" charset="0"/>
                                        </a:rPr>
                                      </m:ctrlPr>
                                    </m:dPr>
                                    <m:e>
                                      <m: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m:t>
                                      </m:r>
                                      <m:sSup>
                                        <m:sSupPr>
                                          <m:ctrlPr>
                                            <a:rPr lang="pt-BR" b="1" i="1">
                                              <a:latin typeface="Cambria Math" panose="02040503050406030204" pitchFamily="18" charset="0"/>
                                            </a:rPr>
                                          </m:ctrlPr>
                                        </m:sSupPr>
                                        <m:e>
                                          <m:r>
                                            <a:rPr lang="pt-BR" b="1" i="1">
                                              <a:latin typeface="Cambria Math" panose="02040503050406030204" pitchFamily="18" charset="0"/>
                                            </a:rPr>
                                            <m:t>𝒂</m:t>
                                          </m:r>
                                        </m:e>
                                        <m:sup>
                                          <m:r>
                                            <a:rPr lang="pt-BR" i="1">
                                              <a:latin typeface="Cambria Math" panose="02040503050406030204" pitchFamily="18" charset="0"/>
                                            </a:rPr>
                                            <m:t>𝑇</m:t>
                                          </m:r>
                                        </m:sup>
                                      </m:sSup>
                                      <m:r>
                                        <a:rPr lang="pt-BR" b="1" i="1">
                                          <a:latin typeface="Cambria Math" panose="02040503050406030204" pitchFamily="18" charset="0"/>
                                        </a:rPr>
                                        <m:t>𝒙</m:t>
                                      </m:r>
                                      <m:d>
                                        <m:dPr>
                                          <m:ctrlPr>
                                            <a:rPr lang="pt-BR" i="1">
                                              <a:latin typeface="Cambria Math" panose="02040503050406030204" pitchFamily="18" charset="0"/>
                                            </a:rPr>
                                          </m:ctrlPr>
                                        </m:dPr>
                                        <m:e>
                                          <m:r>
                                            <a:rPr lang="pt-BR" i="1">
                                              <a:latin typeface="Cambria Math" panose="02040503050406030204" pitchFamily="18" charset="0"/>
                                            </a:rPr>
                                            <m:t>𝑛</m:t>
                                          </m:r>
                                        </m:e>
                                      </m:d>
                                    </m:e>
                                  </m:d>
                                </m:e>
                                <m:sup>
                                  <m:r>
                                    <a:rPr lang="pt-BR" i="1">
                                      <a:latin typeface="Cambria Math" panose="02040503050406030204" pitchFamily="18" charset="0"/>
                                    </a:rPr>
                                    <m:t>2</m:t>
                                  </m:r>
                                </m:sup>
                              </m:sSup>
                            </m:num>
                            <m:den>
                              <m:r>
                                <a:rPr lang="pt-BR" i="1">
                                  <a:latin typeface="Cambria Math" panose="02040503050406030204" pitchFamily="18" charset="0"/>
                                </a:rPr>
                                <m:t>𝜕</m:t>
                              </m:r>
                              <m:r>
                                <a:rPr lang="pt-BR" b="1" i="1">
                                  <a:latin typeface="Cambria Math" panose="02040503050406030204" pitchFamily="18" charset="0"/>
                                </a:rPr>
                                <m:t>𝒂</m:t>
                              </m:r>
                            </m:den>
                          </m:f>
                        </m:e>
                      </m:nary>
                      <m:r>
                        <a:rPr lang="pt-BR" b="1" i="1" smtClean="0">
                          <a:latin typeface="Cambria Math" panose="02040503050406030204" pitchFamily="18" charset="0"/>
                        </a:rPr>
                        <m:t>.</m:t>
                      </m:r>
                    </m:oMath>
                  </m:oMathPara>
                </a14:m>
                <a:endParaRPr lang="pt-BR" b="1" i="1" dirty="0">
                  <a:latin typeface="Cambria Math" panose="02040503050406030204" pitchFamily="18" charset="0"/>
                </a:endParaRPr>
              </a:p>
              <a:p>
                <a:endParaRPr lang="pt-BR" dirty="0"/>
              </a:p>
            </p:txBody>
          </p:sp>
        </mc:Choice>
        <mc:Fallback xmlns="">
          <p:sp>
            <p:nvSpPr>
              <p:cNvPr id="3" name="Espaço Reservado para Conteúdo 2">
                <a:extLst>
                  <a:ext uri="{FF2B5EF4-FFF2-40B4-BE49-F238E27FC236}">
                    <a16:creationId xmlns:a16="http://schemas.microsoft.com/office/drawing/2014/main" id="{7CF9ACC0-4818-6B4A-41ED-7792491481CA}"/>
                  </a:ext>
                </a:extLst>
              </p:cNvPr>
              <p:cNvSpPr>
                <a:spLocks noGrp="1" noRot="1" noChangeAspect="1" noMove="1" noResize="1" noEditPoints="1" noAdjustHandles="1" noChangeArrowheads="1" noChangeShapeType="1" noTextEdit="1"/>
              </p:cNvSpPr>
              <p:nvPr>
                <p:ph idx="1"/>
              </p:nvPr>
            </p:nvSpPr>
            <p:spPr>
              <a:xfrm>
                <a:off x="838200" y="1825624"/>
                <a:ext cx="11079822" cy="5032375"/>
              </a:xfrm>
              <a:blipFill>
                <a:blip r:embed="rId2"/>
                <a:stretch>
                  <a:fillRect l="-1211" t="-1937"/>
                </a:stretch>
              </a:blipFill>
            </p:spPr>
            <p:txBody>
              <a:bodyPr/>
              <a:lstStyle/>
              <a:p>
                <a:r>
                  <a:rPr lang="pt-BR">
                    <a:noFill/>
                  </a:rPr>
                  <a:t> </a:t>
                </a:r>
              </a:p>
            </p:txBody>
          </p:sp>
        </mc:Fallback>
      </mc:AlternateContent>
    </p:spTree>
    <p:extLst>
      <p:ext uri="{BB962C8B-B14F-4D97-AF65-F5344CB8AC3E}">
        <p14:creationId xmlns:p14="http://schemas.microsoft.com/office/powerpoint/2010/main" val="220963964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EABBBB-477C-EF02-B776-2500DDBDA6F8}"/>
              </a:ext>
            </a:extLst>
          </p:cNvPr>
          <p:cNvSpPr>
            <a:spLocks noGrp="1"/>
          </p:cNvSpPr>
          <p:nvPr>
            <p:ph type="title"/>
          </p:nvPr>
        </p:nvSpPr>
        <p:spPr/>
        <p:txBody>
          <a:bodyPr/>
          <a:lstStyle/>
          <a:p>
            <a:r>
              <a:rPr lang="pt-BR" dirty="0"/>
              <a:t>Cálculo do vetor gradiente</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44DE09F2-2B35-83A3-2A1C-AD25FB180510}"/>
                  </a:ext>
                </a:extLst>
              </p:cNvPr>
              <p:cNvSpPr>
                <a:spLocks noGrp="1"/>
              </p:cNvSpPr>
              <p:nvPr>
                <p:ph idx="1"/>
              </p:nvPr>
            </p:nvSpPr>
            <p:spPr/>
            <p:txBody>
              <a:bodyPr/>
              <a:lstStyle/>
              <a:p>
                <a:pPr marL="0" indent="0">
                  <a:buNone/>
                </a:pPr>
                <a:r>
                  <a:rPr lang="pt-BR" dirty="0"/>
                  <a:t>Aplicando a regra da cadeia, reescrevemos a equação anterior como</a:t>
                </a:r>
              </a:p>
              <a:p>
                <a:pPr marL="0" indent="0">
                  <a:buNone/>
                </a:pPr>
                <a14:m>
                  <m:oMathPara xmlns:m="http://schemas.openxmlformats.org/officeDocument/2006/math">
                    <m:oMath>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num>
                        <m:den>
                          <m:r>
                            <a:rPr lang="pt-BR" i="1">
                              <a:latin typeface="Cambria Math" panose="02040503050406030204" pitchFamily="18" charset="0"/>
                            </a:rPr>
                            <m:t>𝜕</m:t>
                          </m:r>
                          <m:r>
                            <a:rPr lang="pt-BR" b="1" i="1">
                              <a:latin typeface="Cambria Math" panose="02040503050406030204" pitchFamily="18" charset="0"/>
                            </a:rPr>
                            <m:t>𝒂</m:t>
                          </m:r>
                        </m:den>
                      </m:f>
                      <m:r>
                        <a:rPr lang="pt-BR" b="1" i="1">
                          <a:latin typeface="Cambria Math" panose="02040503050406030204" pitchFamily="18" charset="0"/>
                        </a:rPr>
                        <m:t>=</m:t>
                      </m:r>
                      <m:r>
                        <a:rPr lang="pt-BR" b="0" i="1" smtClean="0">
                          <a:latin typeface="Cambria Math" panose="02040503050406030204" pitchFamily="18" charset="0"/>
                        </a:rPr>
                        <m:t>−</m:t>
                      </m:r>
                      <m:f>
                        <m:fPr>
                          <m:ctrlPr>
                            <a:rPr lang="pt-BR" b="0" i="1" smtClean="0">
                              <a:latin typeface="Cambria Math" panose="02040503050406030204" pitchFamily="18" charset="0"/>
                            </a:rPr>
                          </m:ctrlPr>
                        </m:fPr>
                        <m:num>
                          <m:r>
                            <a:rPr lang="pt-BR" b="0" i="1" smtClean="0">
                              <a:latin typeface="Cambria Math" panose="02040503050406030204" pitchFamily="18" charset="0"/>
                            </a:rPr>
                            <m:t>2</m:t>
                          </m:r>
                        </m:num>
                        <m:den>
                          <m:r>
                            <a:rPr lang="pt-BR" i="1">
                              <a:latin typeface="Cambria Math" panose="02040503050406030204" pitchFamily="18" charset="0"/>
                            </a:rPr>
                            <m:t>𝑁</m:t>
                          </m:r>
                        </m:den>
                      </m:f>
                      <m:nary>
                        <m:naryPr>
                          <m:chr m:val="∑"/>
                          <m:ctrlPr>
                            <a:rPr lang="pt-BR" i="1">
                              <a:latin typeface="Cambria Math" panose="02040503050406030204" pitchFamily="18" charset="0"/>
                            </a:rPr>
                          </m:ctrlPr>
                        </m:naryPr>
                        <m:sub>
                          <m:r>
                            <m:rPr>
                              <m:brk m:alnAt="23"/>
                            </m:rPr>
                            <a:rPr lang="pt-BR" i="1">
                              <a:latin typeface="Cambria Math" panose="02040503050406030204" pitchFamily="18" charset="0"/>
                            </a:rPr>
                            <m:t>𝑛</m:t>
                          </m:r>
                          <m:r>
                            <a:rPr lang="pt-BR" i="1">
                              <a:latin typeface="Cambria Math" panose="02040503050406030204" pitchFamily="18" charset="0"/>
                            </a:rPr>
                            <m:t>=0</m:t>
                          </m:r>
                        </m:sub>
                        <m:sup>
                          <m:r>
                            <a:rPr lang="pt-BR" i="1">
                              <a:latin typeface="Cambria Math" panose="02040503050406030204" pitchFamily="18" charset="0"/>
                            </a:rPr>
                            <m:t>𝑁</m:t>
                          </m:r>
                          <m:r>
                            <a:rPr lang="pt-BR" i="1">
                              <a:latin typeface="Cambria Math" panose="02040503050406030204" pitchFamily="18" charset="0"/>
                            </a:rPr>
                            <m:t>−1</m:t>
                          </m:r>
                        </m:sup>
                        <m:e>
                          <m:d>
                            <m:dPr>
                              <m:ctrlPr>
                                <a:rPr lang="pt-BR" i="1">
                                  <a:latin typeface="Cambria Math" panose="02040503050406030204" pitchFamily="18" charset="0"/>
                                </a:rPr>
                              </m:ctrlPr>
                            </m:dPr>
                            <m:e>
                              <m: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m:t>
                              </m:r>
                              <m:sSup>
                                <m:sSupPr>
                                  <m:ctrlPr>
                                    <a:rPr lang="pt-BR" b="1" i="1">
                                      <a:latin typeface="Cambria Math" panose="02040503050406030204" pitchFamily="18" charset="0"/>
                                    </a:rPr>
                                  </m:ctrlPr>
                                </m:sSupPr>
                                <m:e>
                                  <m:r>
                                    <a:rPr lang="pt-BR" b="1" i="1">
                                      <a:latin typeface="Cambria Math" panose="02040503050406030204" pitchFamily="18" charset="0"/>
                                    </a:rPr>
                                    <m:t>𝒂</m:t>
                                  </m:r>
                                </m:e>
                                <m:sup>
                                  <m:r>
                                    <a:rPr lang="pt-BR" i="1">
                                      <a:latin typeface="Cambria Math" panose="02040503050406030204" pitchFamily="18" charset="0"/>
                                    </a:rPr>
                                    <m:t>𝑇</m:t>
                                  </m:r>
                                </m:sup>
                              </m:sSup>
                              <m:r>
                                <a:rPr lang="pt-BR" b="1" i="1">
                                  <a:latin typeface="Cambria Math" panose="02040503050406030204" pitchFamily="18" charset="0"/>
                                </a:rPr>
                                <m:t>𝒙</m:t>
                              </m:r>
                              <m:d>
                                <m:dPr>
                                  <m:ctrlPr>
                                    <a:rPr lang="pt-BR" i="1">
                                      <a:latin typeface="Cambria Math" panose="02040503050406030204" pitchFamily="18" charset="0"/>
                                    </a:rPr>
                                  </m:ctrlPr>
                                </m:dPr>
                                <m:e>
                                  <m:r>
                                    <a:rPr lang="pt-BR" i="1">
                                      <a:latin typeface="Cambria Math" panose="02040503050406030204" pitchFamily="18" charset="0"/>
                                    </a:rPr>
                                    <m:t>𝑛</m:t>
                                  </m:r>
                                </m:e>
                              </m:d>
                            </m:e>
                          </m:d>
                          <m:f>
                            <m:fPr>
                              <m:ctrlPr>
                                <a:rPr lang="pt-BR" i="1">
                                  <a:latin typeface="Cambria Math" panose="02040503050406030204" pitchFamily="18" charset="0"/>
                                </a:rPr>
                              </m:ctrlPr>
                            </m:fPr>
                            <m:num>
                              <m:r>
                                <a:rPr lang="pt-BR" i="1">
                                  <a:latin typeface="Cambria Math" panose="02040503050406030204" pitchFamily="18" charset="0"/>
                                </a:rPr>
                                <m:t>𝜕</m:t>
                              </m:r>
                              <m:sSup>
                                <m:sSupPr>
                                  <m:ctrlPr>
                                    <a:rPr lang="pt-BR" b="1" i="1">
                                      <a:latin typeface="Cambria Math" panose="02040503050406030204" pitchFamily="18" charset="0"/>
                                    </a:rPr>
                                  </m:ctrlPr>
                                </m:sSupPr>
                                <m:e>
                                  <m:r>
                                    <a:rPr lang="pt-BR" b="1" i="1">
                                      <a:latin typeface="Cambria Math" panose="02040503050406030204" pitchFamily="18" charset="0"/>
                                    </a:rPr>
                                    <m:t>𝒂</m:t>
                                  </m:r>
                                </m:e>
                                <m:sup>
                                  <m:r>
                                    <a:rPr lang="pt-BR" i="1">
                                      <a:latin typeface="Cambria Math" panose="02040503050406030204" pitchFamily="18" charset="0"/>
                                    </a:rPr>
                                    <m:t>𝑇</m:t>
                                  </m:r>
                                </m:sup>
                              </m:sSup>
                              <m:r>
                                <a:rPr lang="pt-BR" b="1" i="1">
                                  <a:latin typeface="Cambria Math" panose="02040503050406030204" pitchFamily="18" charset="0"/>
                                </a:rPr>
                                <m:t>𝒙</m:t>
                              </m:r>
                              <m:d>
                                <m:dPr>
                                  <m:ctrlPr>
                                    <a:rPr lang="pt-BR" i="1">
                                      <a:latin typeface="Cambria Math" panose="02040503050406030204" pitchFamily="18" charset="0"/>
                                    </a:rPr>
                                  </m:ctrlPr>
                                </m:dPr>
                                <m:e>
                                  <m:r>
                                    <a:rPr lang="pt-BR" i="1">
                                      <a:latin typeface="Cambria Math" panose="02040503050406030204" pitchFamily="18" charset="0"/>
                                    </a:rPr>
                                    <m:t>𝑛</m:t>
                                  </m:r>
                                </m:e>
                              </m:d>
                            </m:num>
                            <m:den>
                              <m:r>
                                <a:rPr lang="pt-BR" i="1">
                                  <a:latin typeface="Cambria Math" panose="02040503050406030204" pitchFamily="18" charset="0"/>
                                </a:rPr>
                                <m:t>𝜕</m:t>
                              </m:r>
                              <m:r>
                                <a:rPr lang="pt-BR" b="1" i="1">
                                  <a:latin typeface="Cambria Math" panose="02040503050406030204" pitchFamily="18" charset="0"/>
                                </a:rPr>
                                <m:t>𝒂</m:t>
                              </m:r>
                            </m:den>
                          </m:f>
                        </m:e>
                      </m:nary>
                      <m:r>
                        <a:rPr lang="pt-BR" b="1" i="1" smtClean="0">
                          <a:latin typeface="Cambria Math" panose="02040503050406030204" pitchFamily="18" charset="0"/>
                        </a:rPr>
                        <m:t>.</m:t>
                      </m:r>
                    </m:oMath>
                  </m:oMathPara>
                </a14:m>
                <a:endParaRPr lang="pt-BR" b="1" i="1" dirty="0">
                  <a:latin typeface="Cambria Math" panose="02040503050406030204" pitchFamily="18" charset="0"/>
                </a:endParaRPr>
              </a:p>
              <a:p>
                <a:pPr marL="0" indent="0">
                  <a:buNone/>
                </a:pPr>
                <a:r>
                  <a:rPr lang="pt-BR" sz="2900" dirty="0"/>
                  <a:t>Sabendo que a derivada de </a:t>
                </a:r>
                <a14:m>
                  <m:oMath xmlns:m="http://schemas.openxmlformats.org/officeDocument/2006/math">
                    <m:f>
                      <m:fPr>
                        <m:ctrlPr>
                          <a:rPr lang="pt-BR" i="1">
                            <a:latin typeface="Cambria Math" panose="02040503050406030204" pitchFamily="18" charset="0"/>
                          </a:rPr>
                        </m:ctrlPr>
                      </m:fPr>
                      <m:num>
                        <m:r>
                          <a:rPr lang="pt-BR" i="1">
                            <a:latin typeface="Cambria Math" panose="02040503050406030204" pitchFamily="18" charset="0"/>
                          </a:rPr>
                          <m:t>𝜕</m:t>
                        </m:r>
                        <m:sSup>
                          <m:sSupPr>
                            <m:ctrlPr>
                              <a:rPr lang="pt-BR" b="1" i="1">
                                <a:latin typeface="Cambria Math" panose="02040503050406030204" pitchFamily="18" charset="0"/>
                              </a:rPr>
                            </m:ctrlPr>
                          </m:sSupPr>
                          <m:e>
                            <m:r>
                              <a:rPr lang="pt-BR" b="1" i="1">
                                <a:latin typeface="Cambria Math" panose="02040503050406030204" pitchFamily="18" charset="0"/>
                              </a:rPr>
                              <m:t>𝒂</m:t>
                            </m:r>
                          </m:e>
                          <m:sup>
                            <m:r>
                              <a:rPr lang="pt-BR" i="1">
                                <a:latin typeface="Cambria Math" panose="02040503050406030204" pitchFamily="18" charset="0"/>
                              </a:rPr>
                              <m:t>𝑇</m:t>
                            </m:r>
                          </m:sup>
                        </m:sSup>
                        <m:r>
                          <a:rPr lang="pt-BR" b="1" i="1">
                            <a:latin typeface="Cambria Math" panose="02040503050406030204" pitchFamily="18" charset="0"/>
                          </a:rPr>
                          <m:t>𝒙</m:t>
                        </m:r>
                        <m:d>
                          <m:dPr>
                            <m:ctrlPr>
                              <a:rPr lang="pt-BR" i="1">
                                <a:latin typeface="Cambria Math" panose="02040503050406030204" pitchFamily="18" charset="0"/>
                              </a:rPr>
                            </m:ctrlPr>
                          </m:dPr>
                          <m:e>
                            <m:r>
                              <a:rPr lang="pt-BR" i="1">
                                <a:latin typeface="Cambria Math" panose="02040503050406030204" pitchFamily="18" charset="0"/>
                              </a:rPr>
                              <m:t>𝑛</m:t>
                            </m:r>
                          </m:e>
                        </m:d>
                      </m:num>
                      <m:den>
                        <m:r>
                          <a:rPr lang="pt-BR" i="1">
                            <a:latin typeface="Cambria Math" panose="02040503050406030204" pitchFamily="18" charset="0"/>
                          </a:rPr>
                          <m:t>𝜕</m:t>
                        </m:r>
                        <m:r>
                          <a:rPr lang="pt-BR" b="1" i="1">
                            <a:latin typeface="Cambria Math" panose="02040503050406030204" pitchFamily="18" charset="0"/>
                          </a:rPr>
                          <m:t>𝒂</m:t>
                        </m:r>
                      </m:den>
                    </m:f>
                  </m:oMath>
                </a14:m>
                <a:r>
                  <a:rPr lang="pt-BR" b="1" i="1" dirty="0">
                    <a:latin typeface="Cambria Math" panose="02040503050406030204" pitchFamily="18" charset="0"/>
                  </a:rPr>
                  <a:t> </a:t>
                </a:r>
                <a:r>
                  <a:rPr lang="pt-BR" sz="2900" dirty="0"/>
                  <a:t>é igual a </a:t>
                </a:r>
                <a14:m>
                  <m:oMath xmlns:m="http://schemas.openxmlformats.org/officeDocument/2006/math">
                    <m:r>
                      <a:rPr lang="pt-BR" b="1" i="1">
                        <a:latin typeface="Cambria Math" panose="02040503050406030204" pitchFamily="18" charset="0"/>
                      </a:rPr>
                      <m:t>𝒙</m:t>
                    </m:r>
                    <m:d>
                      <m:dPr>
                        <m:ctrlPr>
                          <a:rPr lang="pt-BR" i="1">
                            <a:latin typeface="Cambria Math" panose="02040503050406030204" pitchFamily="18" charset="0"/>
                          </a:rPr>
                        </m:ctrlPr>
                      </m:dPr>
                      <m:e>
                        <m:r>
                          <a:rPr lang="pt-BR" i="1">
                            <a:latin typeface="Cambria Math" panose="02040503050406030204" pitchFamily="18" charset="0"/>
                          </a:rPr>
                          <m:t>𝑛</m:t>
                        </m:r>
                      </m:e>
                    </m:d>
                  </m:oMath>
                </a14:m>
                <a:r>
                  <a:rPr lang="pt-BR" dirty="0"/>
                  <a:t>, reescrevemos a equação anterior como</a:t>
                </a:r>
                <a:endParaRPr lang="pt-BR" sz="2900" dirty="0"/>
              </a:p>
              <a:p>
                <a:pPr marL="0" indent="0">
                  <a:buNone/>
                </a:pPr>
                <a14:m>
                  <m:oMathPara xmlns:m="http://schemas.openxmlformats.org/officeDocument/2006/math">
                    <m:oMath>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num>
                        <m:den>
                          <m:r>
                            <a:rPr lang="pt-BR" i="1">
                              <a:latin typeface="Cambria Math" panose="02040503050406030204" pitchFamily="18" charset="0"/>
                            </a:rPr>
                            <m:t>𝜕</m:t>
                          </m:r>
                          <m:r>
                            <a:rPr lang="pt-BR" b="1" i="1">
                              <a:latin typeface="Cambria Math" panose="02040503050406030204" pitchFamily="18" charset="0"/>
                            </a:rPr>
                            <m:t>𝒂</m:t>
                          </m:r>
                        </m:den>
                      </m:f>
                      <m:r>
                        <a:rPr lang="pt-BR" b="1" i="1">
                          <a:latin typeface="Cambria Math" panose="02040503050406030204" pitchFamily="18" charset="0"/>
                        </a:rPr>
                        <m:t>= </m:t>
                      </m:r>
                      <m:r>
                        <a:rPr lang="pt-BR" b="0" i="1" smtClean="0">
                          <a:latin typeface="Cambria Math" panose="02040503050406030204" pitchFamily="18" charset="0"/>
                        </a:rPr>
                        <m:t>−</m:t>
                      </m:r>
                      <m:f>
                        <m:fPr>
                          <m:ctrlPr>
                            <a:rPr lang="pt-BR" b="0" i="1" smtClean="0">
                              <a:latin typeface="Cambria Math" panose="02040503050406030204" pitchFamily="18" charset="0"/>
                            </a:rPr>
                          </m:ctrlPr>
                        </m:fPr>
                        <m:num>
                          <m:r>
                            <a:rPr lang="pt-BR" b="0" i="1" smtClean="0">
                              <a:latin typeface="Cambria Math" panose="02040503050406030204" pitchFamily="18" charset="0"/>
                            </a:rPr>
                            <m:t>2</m:t>
                          </m:r>
                        </m:num>
                        <m:den>
                          <m:r>
                            <a:rPr lang="pt-BR" i="1">
                              <a:latin typeface="Cambria Math" panose="02040503050406030204" pitchFamily="18" charset="0"/>
                            </a:rPr>
                            <m:t>𝑁</m:t>
                          </m:r>
                        </m:den>
                      </m:f>
                      <m:nary>
                        <m:naryPr>
                          <m:chr m:val="∑"/>
                          <m:ctrlPr>
                            <a:rPr lang="pt-BR" b="0" i="1" smtClean="0">
                              <a:latin typeface="Cambria Math" panose="02040503050406030204" pitchFamily="18" charset="0"/>
                            </a:rPr>
                          </m:ctrlPr>
                        </m:naryPr>
                        <m:sub>
                          <m:r>
                            <a:rPr lang="pt-BR" b="0" i="1" smtClean="0">
                              <a:latin typeface="Cambria Math" panose="02040503050406030204" pitchFamily="18" charset="0"/>
                            </a:rPr>
                            <m:t>𝑛</m:t>
                          </m:r>
                          <m:r>
                            <a:rPr lang="pt-BR" i="1">
                              <a:latin typeface="Cambria Math" panose="02040503050406030204" pitchFamily="18" charset="0"/>
                            </a:rPr>
                            <m:t>=0</m:t>
                          </m:r>
                        </m:sub>
                        <m:sup>
                          <m:r>
                            <a:rPr lang="pt-BR" i="1">
                              <a:latin typeface="Cambria Math" panose="02040503050406030204" pitchFamily="18" charset="0"/>
                            </a:rPr>
                            <m:t>𝑁</m:t>
                          </m:r>
                          <m:r>
                            <a:rPr lang="pt-BR" i="1">
                              <a:latin typeface="Cambria Math" panose="02040503050406030204" pitchFamily="18" charset="0"/>
                            </a:rPr>
                            <m:t>−1</m:t>
                          </m:r>
                        </m:sup>
                        <m:e>
                          <m:d>
                            <m:dPr>
                              <m:begChr m:val="["/>
                              <m:endChr m:val="]"/>
                              <m:ctrlPr>
                                <a:rPr lang="pt-BR" i="1">
                                  <a:latin typeface="Cambria Math" panose="02040503050406030204" pitchFamily="18" charset="0"/>
                                </a:rPr>
                              </m:ctrlPr>
                            </m:dPr>
                            <m:e>
                              <m:r>
                                <a:rPr lang="pt-BR" i="1">
                                  <a:latin typeface="Cambria Math" panose="02040503050406030204" pitchFamily="18" charset="0"/>
                                </a:rPr>
                                <m:t>𝑦</m:t>
                              </m:r>
                              <m:d>
                                <m:dPr>
                                  <m:ctrlPr>
                                    <a:rPr lang="pt-BR" b="0" i="1" smtClean="0">
                                      <a:latin typeface="Cambria Math" panose="02040503050406030204" pitchFamily="18" charset="0"/>
                                    </a:rPr>
                                  </m:ctrlPr>
                                </m:dPr>
                                <m:e>
                                  <m:r>
                                    <a:rPr lang="pt-BR" b="0" i="1" smtClean="0">
                                      <a:latin typeface="Cambria Math" panose="02040503050406030204" pitchFamily="18" charset="0"/>
                                    </a:rPr>
                                    <m:t>𝑛</m:t>
                                  </m:r>
                                </m:e>
                              </m:d>
                              <m:r>
                                <a:rPr lang="pt-BR" i="1">
                                  <a:latin typeface="Cambria Math" panose="02040503050406030204" pitchFamily="18" charset="0"/>
                                </a:rPr>
                                <m:t>−</m:t>
                              </m:r>
                              <m:acc>
                                <m:accPr>
                                  <m:chr m:val="̂"/>
                                  <m:ctrlPr>
                                    <a:rPr lang="pt-BR" i="1">
                                      <a:latin typeface="Cambria Math" panose="02040503050406030204" pitchFamily="18" charset="0"/>
                                    </a:rPr>
                                  </m:ctrlPr>
                                </m:accPr>
                                <m:e>
                                  <m:r>
                                    <a:rPr lang="pt-BR" i="1">
                                      <a:latin typeface="Cambria Math" panose="02040503050406030204" pitchFamily="18" charset="0"/>
                                    </a:rPr>
                                    <m:t>𝑦</m:t>
                                  </m:r>
                                </m:e>
                              </m:acc>
                              <m:d>
                                <m:dPr>
                                  <m:ctrlPr>
                                    <a:rPr lang="pt-BR" i="1">
                                      <a:latin typeface="Cambria Math" panose="02040503050406030204" pitchFamily="18" charset="0"/>
                                    </a:rPr>
                                  </m:ctrlPr>
                                </m:dPr>
                                <m:e>
                                  <m:r>
                                    <a:rPr lang="pt-BR" i="1">
                                      <a:latin typeface="Cambria Math" panose="02040503050406030204" pitchFamily="18" charset="0"/>
                                    </a:rPr>
                                    <m:t>𝑛</m:t>
                                  </m:r>
                                </m:e>
                              </m:d>
                            </m:e>
                          </m:d>
                          <m:r>
                            <a:rPr lang="pt-BR" b="1" i="1" smtClean="0">
                              <a:latin typeface="Cambria Math" panose="02040503050406030204" pitchFamily="18" charset="0"/>
                            </a:rPr>
                            <m:t>𝒙</m:t>
                          </m:r>
                          <m:d>
                            <m:dPr>
                              <m:ctrlPr>
                                <a:rPr lang="pt-BR" b="0" i="1" smtClean="0">
                                  <a:latin typeface="Cambria Math" panose="02040503050406030204" pitchFamily="18" charset="0"/>
                                </a:rPr>
                              </m:ctrlPr>
                            </m:dPr>
                            <m:e>
                              <m:r>
                                <a:rPr lang="pt-BR" b="0" i="1" smtClean="0">
                                  <a:latin typeface="Cambria Math" panose="02040503050406030204" pitchFamily="18" charset="0"/>
                                </a:rPr>
                                <m:t>𝑛</m:t>
                              </m:r>
                            </m:e>
                          </m:d>
                        </m:e>
                      </m:nary>
                      <m:r>
                        <a:rPr lang="pt-BR" b="0" i="1" smtClean="0">
                          <a:latin typeface="Cambria Math" panose="02040503050406030204" pitchFamily="18" charset="0"/>
                        </a:rPr>
                        <m:t>.</m:t>
                      </m:r>
                    </m:oMath>
                  </m:oMathPara>
                </a14:m>
                <a:endParaRPr lang="pt-BR" dirty="0"/>
              </a:p>
              <a:p>
                <a:endParaRPr lang="pt-BR" dirty="0"/>
              </a:p>
            </p:txBody>
          </p:sp>
        </mc:Choice>
        <mc:Fallback xmlns="">
          <p:sp>
            <p:nvSpPr>
              <p:cNvPr id="3" name="Espaço Reservado para Conteúdo 2">
                <a:extLst>
                  <a:ext uri="{FF2B5EF4-FFF2-40B4-BE49-F238E27FC236}">
                    <a16:creationId xmlns:a16="http://schemas.microsoft.com/office/drawing/2014/main" id="{44DE09F2-2B35-83A3-2A1C-AD25FB180510}"/>
                  </a:ext>
                </a:extLst>
              </p:cNvPr>
              <p:cNvSpPr>
                <a:spLocks noGrp="1" noRot="1" noChangeAspect="1" noMove="1" noResize="1" noEditPoints="1" noAdjustHandles="1" noChangeArrowheads="1" noChangeShapeType="1" noTextEdit="1"/>
              </p:cNvSpPr>
              <p:nvPr>
                <p:ph idx="1"/>
              </p:nvPr>
            </p:nvSpPr>
            <p:spPr>
              <a:blipFill>
                <a:blip r:embed="rId2"/>
                <a:stretch>
                  <a:fillRect l="-1275" t="-2241"/>
                </a:stretch>
              </a:blipFill>
            </p:spPr>
            <p:txBody>
              <a:bodyPr/>
              <a:lstStyle/>
              <a:p>
                <a:r>
                  <a:rPr lang="pt-BR">
                    <a:noFill/>
                  </a:rPr>
                  <a:t> </a:t>
                </a:r>
              </a:p>
            </p:txBody>
          </p:sp>
        </mc:Fallback>
      </mc:AlternateContent>
    </p:spTree>
    <p:extLst>
      <p:ext uri="{BB962C8B-B14F-4D97-AF65-F5344CB8AC3E}">
        <p14:creationId xmlns:p14="http://schemas.microsoft.com/office/powerpoint/2010/main" val="346660483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EE0937-F834-88AD-E3E6-94886F7D8D32}"/>
              </a:ext>
            </a:extLst>
          </p:cNvPr>
          <p:cNvSpPr>
            <a:spLocks noGrp="1"/>
          </p:cNvSpPr>
          <p:nvPr>
            <p:ph type="title"/>
          </p:nvPr>
        </p:nvSpPr>
        <p:spPr/>
        <p:txBody>
          <a:bodyPr/>
          <a:lstStyle/>
          <a:p>
            <a:r>
              <a:rPr lang="pt-BR" dirty="0"/>
              <a:t>Cálculo do vetor gradiente</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B047B17F-DE79-FCF4-4732-AC53E27E5744}"/>
                  </a:ext>
                </a:extLst>
              </p:cNvPr>
              <p:cNvSpPr>
                <a:spLocks noGrp="1"/>
              </p:cNvSpPr>
              <p:nvPr>
                <p:ph idx="1"/>
              </p:nvPr>
            </p:nvSpPr>
            <p:spPr>
              <a:xfrm>
                <a:off x="838199" y="1825625"/>
                <a:ext cx="11120919" cy="5032375"/>
              </a:xfrm>
            </p:spPr>
            <p:txBody>
              <a:bodyPr/>
              <a:lstStyle/>
              <a:p>
                <a:pPr marL="0" indent="0">
                  <a:buNone/>
                </a:pPr>
                <a:r>
                  <a:rPr lang="pt-BR" dirty="0"/>
                  <a:t>Fazendo</a:t>
                </a:r>
                <a:r>
                  <a:rPr lang="pt-BR" i="1" dirty="0">
                    <a:latin typeface="Cambria Math" panose="02040503050406030204" pitchFamily="18" charset="0"/>
                  </a:rPr>
                  <a:t> </a:t>
                </a:r>
                <a14:m>
                  <m:oMath xmlns:m="http://schemas.openxmlformats.org/officeDocument/2006/math">
                    <m:r>
                      <a:rPr lang="pt-BR" i="1" smtClean="0">
                        <a:latin typeface="Cambria Math" panose="02040503050406030204" pitchFamily="18" charset="0"/>
                      </a:rPr>
                      <m:t>𝑦</m:t>
                    </m:r>
                    <m:d>
                      <m:dPr>
                        <m:ctrlPr>
                          <a:rPr lang="pt-BR" b="0" i="1" smtClean="0">
                            <a:latin typeface="Cambria Math" panose="02040503050406030204" pitchFamily="18" charset="0"/>
                          </a:rPr>
                        </m:ctrlPr>
                      </m:dPr>
                      <m:e>
                        <m:r>
                          <a:rPr lang="pt-BR" b="0" i="1" smtClean="0">
                            <a:latin typeface="Cambria Math" panose="02040503050406030204" pitchFamily="18" charset="0"/>
                          </a:rPr>
                          <m:t>𝑛</m:t>
                        </m:r>
                      </m:e>
                    </m:d>
                    <m:r>
                      <a:rPr lang="pt-BR" i="1">
                        <a:latin typeface="Cambria Math" panose="02040503050406030204" pitchFamily="18" charset="0"/>
                      </a:rPr>
                      <m:t>−</m:t>
                    </m:r>
                    <m:acc>
                      <m:accPr>
                        <m:chr m:val="̂"/>
                        <m:ctrlPr>
                          <a:rPr lang="pt-BR" i="1">
                            <a:latin typeface="Cambria Math" panose="02040503050406030204" pitchFamily="18" charset="0"/>
                          </a:rPr>
                        </m:ctrlPr>
                      </m:accPr>
                      <m:e>
                        <m:r>
                          <a:rPr lang="pt-BR" i="1">
                            <a:latin typeface="Cambria Math" panose="02040503050406030204" pitchFamily="18" charset="0"/>
                          </a:rPr>
                          <m:t>𝑦</m:t>
                        </m:r>
                      </m:e>
                    </m:acc>
                    <m:d>
                      <m:dPr>
                        <m:ctrlPr>
                          <a:rPr lang="pt-BR" i="1">
                            <a:latin typeface="Cambria Math" panose="02040503050406030204" pitchFamily="18" charset="0"/>
                          </a:rPr>
                        </m:ctrlPr>
                      </m:dPr>
                      <m:e>
                        <m:r>
                          <a:rPr lang="pt-BR" i="1">
                            <a:latin typeface="Cambria Math" panose="02040503050406030204" pitchFamily="18" charset="0"/>
                          </a:rPr>
                          <m:t>𝑛</m:t>
                        </m:r>
                      </m:e>
                    </m:d>
                    <m:r>
                      <a:rPr lang="pt-BR" b="0" i="1" smtClean="0">
                        <a:latin typeface="Cambria Math" panose="02040503050406030204" pitchFamily="18" charset="0"/>
                      </a:rPr>
                      <m:t>=</m:t>
                    </m:r>
                    <m:r>
                      <a:rPr lang="pt-BR" b="0" i="1" smtClean="0">
                        <a:latin typeface="Cambria Math" panose="02040503050406030204" pitchFamily="18" charset="0"/>
                      </a:rPr>
                      <m:t>𝑑</m:t>
                    </m:r>
                    <m:r>
                      <a:rPr lang="pt-BR" b="0" i="1" smtClean="0">
                        <a:latin typeface="Cambria Math" panose="02040503050406030204" pitchFamily="18" charset="0"/>
                      </a:rPr>
                      <m:t>(</m:t>
                    </m:r>
                    <m:r>
                      <a:rPr lang="pt-BR" b="0" i="1" smtClean="0">
                        <a:latin typeface="Cambria Math" panose="02040503050406030204" pitchFamily="18" charset="0"/>
                      </a:rPr>
                      <m:t>𝑛</m:t>
                    </m:r>
                    <m:r>
                      <a:rPr lang="pt-BR" b="0" i="1" smtClean="0">
                        <a:latin typeface="Cambria Math" panose="02040503050406030204" pitchFamily="18" charset="0"/>
                      </a:rPr>
                      <m:t>)</m:t>
                    </m:r>
                  </m:oMath>
                </a14:m>
                <a:endParaRPr lang="pt-BR" i="1" dirty="0">
                  <a:latin typeface="Cambria Math" panose="02040503050406030204" pitchFamily="18" charset="0"/>
                </a:endParaRPr>
              </a:p>
              <a:p>
                <a:pPr marL="0" indent="0">
                  <a:buNone/>
                </a:pPr>
                <a14:m>
                  <m:oMathPara xmlns:m="http://schemas.openxmlformats.org/officeDocument/2006/math">
                    <m:oMath>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num>
                        <m:den>
                          <m:r>
                            <a:rPr lang="pt-BR" i="1">
                              <a:latin typeface="Cambria Math" panose="02040503050406030204" pitchFamily="18" charset="0"/>
                            </a:rPr>
                            <m:t>𝜕</m:t>
                          </m:r>
                          <m:r>
                            <a:rPr lang="pt-BR" b="1" i="1">
                              <a:latin typeface="Cambria Math" panose="02040503050406030204" pitchFamily="18" charset="0"/>
                            </a:rPr>
                            <m:t>𝒂</m:t>
                          </m:r>
                        </m:den>
                      </m:f>
                      <m:r>
                        <a:rPr lang="pt-BR" b="1" i="1">
                          <a:latin typeface="Cambria Math" panose="02040503050406030204" pitchFamily="18" charset="0"/>
                        </a:rPr>
                        <m:t>= </m:t>
                      </m:r>
                      <m:r>
                        <a:rPr lang="pt-BR" b="0" i="1" smtClean="0">
                          <a:latin typeface="Cambria Math" panose="02040503050406030204" pitchFamily="18" charset="0"/>
                        </a:rPr>
                        <m:t>−</m:t>
                      </m:r>
                      <m:f>
                        <m:fPr>
                          <m:ctrlPr>
                            <a:rPr lang="pt-BR" b="0" i="1" smtClean="0">
                              <a:latin typeface="Cambria Math" panose="02040503050406030204" pitchFamily="18" charset="0"/>
                            </a:rPr>
                          </m:ctrlPr>
                        </m:fPr>
                        <m:num>
                          <m:r>
                            <a:rPr lang="pt-BR" b="0" i="1" smtClean="0">
                              <a:latin typeface="Cambria Math" panose="02040503050406030204" pitchFamily="18" charset="0"/>
                            </a:rPr>
                            <m:t>2</m:t>
                          </m:r>
                        </m:num>
                        <m:den>
                          <m:r>
                            <a:rPr lang="pt-BR" i="1">
                              <a:latin typeface="Cambria Math" panose="02040503050406030204" pitchFamily="18" charset="0"/>
                            </a:rPr>
                            <m:t>𝑁</m:t>
                          </m:r>
                        </m:den>
                      </m:f>
                      <m:nary>
                        <m:naryPr>
                          <m:chr m:val="∑"/>
                          <m:ctrlPr>
                            <a:rPr lang="pt-BR" b="0" i="1" smtClean="0">
                              <a:latin typeface="Cambria Math" panose="02040503050406030204" pitchFamily="18" charset="0"/>
                            </a:rPr>
                          </m:ctrlPr>
                        </m:naryPr>
                        <m:sub>
                          <m:r>
                            <a:rPr lang="pt-BR" b="0" i="1" smtClean="0">
                              <a:latin typeface="Cambria Math" panose="02040503050406030204" pitchFamily="18" charset="0"/>
                            </a:rPr>
                            <m:t>𝑛</m:t>
                          </m:r>
                          <m:r>
                            <a:rPr lang="pt-BR" i="1">
                              <a:latin typeface="Cambria Math" panose="02040503050406030204" pitchFamily="18" charset="0"/>
                            </a:rPr>
                            <m:t>=0</m:t>
                          </m:r>
                        </m:sub>
                        <m:sup>
                          <m:r>
                            <a:rPr lang="pt-BR" i="1">
                              <a:latin typeface="Cambria Math" panose="02040503050406030204" pitchFamily="18" charset="0"/>
                            </a:rPr>
                            <m:t>𝑁</m:t>
                          </m:r>
                          <m:r>
                            <a:rPr lang="pt-BR" i="1">
                              <a:latin typeface="Cambria Math" panose="02040503050406030204" pitchFamily="18" charset="0"/>
                            </a:rPr>
                            <m:t>−1</m:t>
                          </m:r>
                        </m:sup>
                        <m:e>
                          <m:d>
                            <m:dPr>
                              <m:begChr m:val="["/>
                              <m:endChr m:val="]"/>
                              <m:ctrlPr>
                                <a:rPr lang="pt-BR" i="1">
                                  <a:latin typeface="Cambria Math" panose="02040503050406030204" pitchFamily="18" charset="0"/>
                                </a:rPr>
                              </m:ctrlPr>
                            </m:dPr>
                            <m:e>
                              <m:r>
                                <a:rPr lang="pt-BR" i="1">
                                  <a:latin typeface="Cambria Math" panose="02040503050406030204" pitchFamily="18" charset="0"/>
                                </a:rPr>
                                <m:t>𝑦</m:t>
                              </m:r>
                              <m:d>
                                <m:dPr>
                                  <m:ctrlPr>
                                    <a:rPr lang="pt-BR" b="0" i="1" smtClean="0">
                                      <a:latin typeface="Cambria Math" panose="02040503050406030204" pitchFamily="18" charset="0"/>
                                    </a:rPr>
                                  </m:ctrlPr>
                                </m:dPr>
                                <m:e>
                                  <m:r>
                                    <a:rPr lang="pt-BR" b="0" i="1" smtClean="0">
                                      <a:latin typeface="Cambria Math" panose="02040503050406030204" pitchFamily="18" charset="0"/>
                                    </a:rPr>
                                    <m:t>𝑛</m:t>
                                  </m:r>
                                </m:e>
                              </m:d>
                              <m:r>
                                <a:rPr lang="pt-BR" i="1">
                                  <a:latin typeface="Cambria Math" panose="02040503050406030204" pitchFamily="18" charset="0"/>
                                </a:rPr>
                                <m:t>−</m:t>
                              </m:r>
                              <m:acc>
                                <m:accPr>
                                  <m:chr m:val="̂"/>
                                  <m:ctrlPr>
                                    <a:rPr lang="pt-BR" i="1">
                                      <a:latin typeface="Cambria Math" panose="02040503050406030204" pitchFamily="18" charset="0"/>
                                    </a:rPr>
                                  </m:ctrlPr>
                                </m:accPr>
                                <m:e>
                                  <m:r>
                                    <a:rPr lang="pt-BR" i="1">
                                      <a:latin typeface="Cambria Math" panose="02040503050406030204" pitchFamily="18" charset="0"/>
                                    </a:rPr>
                                    <m:t>𝑦</m:t>
                                  </m:r>
                                </m:e>
                              </m:acc>
                              <m:d>
                                <m:dPr>
                                  <m:ctrlPr>
                                    <a:rPr lang="pt-BR" i="1">
                                      <a:latin typeface="Cambria Math" panose="02040503050406030204" pitchFamily="18" charset="0"/>
                                    </a:rPr>
                                  </m:ctrlPr>
                                </m:dPr>
                                <m:e>
                                  <m:r>
                                    <a:rPr lang="pt-BR" i="1">
                                      <a:latin typeface="Cambria Math" panose="02040503050406030204" pitchFamily="18" charset="0"/>
                                    </a:rPr>
                                    <m:t>𝑛</m:t>
                                  </m:r>
                                </m:e>
                              </m:d>
                            </m:e>
                          </m:d>
                          <m:r>
                            <a:rPr lang="pt-BR" b="1" i="1" smtClean="0">
                              <a:latin typeface="Cambria Math" panose="02040503050406030204" pitchFamily="18" charset="0"/>
                            </a:rPr>
                            <m:t>𝒙</m:t>
                          </m:r>
                          <m:d>
                            <m:dPr>
                              <m:ctrlPr>
                                <a:rPr lang="pt-BR" b="0" i="1" smtClean="0">
                                  <a:latin typeface="Cambria Math" panose="02040503050406030204" pitchFamily="18" charset="0"/>
                                </a:rPr>
                              </m:ctrlPr>
                            </m:dPr>
                            <m:e>
                              <m:r>
                                <a:rPr lang="pt-BR" b="0" i="1" smtClean="0">
                                  <a:latin typeface="Cambria Math" panose="02040503050406030204" pitchFamily="18" charset="0"/>
                                </a:rPr>
                                <m:t>𝑛</m:t>
                              </m:r>
                            </m:e>
                          </m:d>
                        </m:e>
                      </m:nary>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2</m:t>
                          </m:r>
                        </m:num>
                        <m:den>
                          <m:r>
                            <a:rPr lang="pt-BR" i="1">
                              <a:latin typeface="Cambria Math" panose="02040503050406030204" pitchFamily="18" charset="0"/>
                            </a:rPr>
                            <m:t>𝑁</m:t>
                          </m:r>
                        </m:den>
                      </m:f>
                      <m:d>
                        <m:dPr>
                          <m:begChr m:val="{"/>
                          <m:endChr m:val="}"/>
                          <m:ctrlPr>
                            <a:rPr lang="pt-BR" i="1">
                              <a:latin typeface="Cambria Math" panose="02040503050406030204" pitchFamily="18" charset="0"/>
                            </a:rPr>
                          </m:ctrlPr>
                        </m:dPr>
                        <m:e>
                          <m:r>
                            <a:rPr lang="pt-BR" i="1">
                              <a:latin typeface="Cambria Math" panose="02040503050406030204" pitchFamily="18" charset="0"/>
                            </a:rPr>
                            <m:t>𝑑</m:t>
                          </m:r>
                          <m:d>
                            <m:dPr>
                              <m:ctrlPr>
                                <a:rPr lang="pt-BR" i="1">
                                  <a:latin typeface="Cambria Math" panose="02040503050406030204" pitchFamily="18" charset="0"/>
                                </a:rPr>
                              </m:ctrlPr>
                            </m:dPr>
                            <m:e>
                              <m:r>
                                <a:rPr lang="pt-BR" i="1">
                                  <a:latin typeface="Cambria Math" panose="02040503050406030204" pitchFamily="18" charset="0"/>
                                </a:rPr>
                                <m:t>0</m:t>
                              </m:r>
                            </m:e>
                          </m:d>
                          <m:d>
                            <m:dPr>
                              <m:begChr m:val="["/>
                              <m:endChr m:val="]"/>
                              <m:ctrlPr>
                                <a:rPr lang="pt-BR" i="1">
                                  <a:latin typeface="Cambria Math" panose="02040503050406030204" pitchFamily="18" charset="0"/>
                                </a:rPr>
                              </m:ctrlPr>
                            </m:dPr>
                            <m:e>
                              <m:m>
                                <m:mPr>
                                  <m:mcs>
                                    <m:mc>
                                      <m:mcPr>
                                        <m:count m:val="1"/>
                                        <m:mcJc m:val="center"/>
                                      </m:mcPr>
                                    </m:mc>
                                  </m:mcs>
                                  <m:ctrlPr>
                                    <a:rPr lang="pt-BR" i="1">
                                      <a:latin typeface="Cambria Math" panose="02040503050406030204" pitchFamily="18" charset="0"/>
                                    </a:rPr>
                                  </m:ctrlPr>
                                </m:mPr>
                                <m:m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d>
                                      <m:dPr>
                                        <m:ctrlPr>
                                          <a:rPr lang="pt-BR" i="1">
                                            <a:latin typeface="Cambria Math" panose="02040503050406030204" pitchFamily="18" charset="0"/>
                                          </a:rPr>
                                        </m:ctrlPr>
                                      </m:dPr>
                                      <m:e>
                                        <m:r>
                                          <a:rPr lang="pt-BR" i="1">
                                            <a:latin typeface="Cambria Math" panose="02040503050406030204" pitchFamily="18" charset="0"/>
                                          </a:rPr>
                                          <m:t>0</m:t>
                                        </m:r>
                                      </m:e>
                                    </m:d>
                                  </m:e>
                                </m:mr>
                                <m:mr>
                                  <m:e>
                                    <m:r>
                                      <a:rPr lang="pt-BR" i="1" smtClean="0">
                                        <a:latin typeface="Cambria Math" panose="02040503050406030204" pitchFamily="18" charset="0"/>
                                      </a:rPr>
                                      <m:t>⋮</m:t>
                                    </m:r>
                                  </m:e>
                                </m:mr>
                                <m:m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𝐾</m:t>
                                        </m:r>
                                      </m:sub>
                                    </m:sSub>
                                    <m:d>
                                      <m:dPr>
                                        <m:ctrlPr>
                                          <a:rPr lang="pt-BR" i="1">
                                            <a:latin typeface="Cambria Math" panose="02040503050406030204" pitchFamily="18" charset="0"/>
                                          </a:rPr>
                                        </m:ctrlPr>
                                      </m:dPr>
                                      <m:e>
                                        <m:r>
                                          <a:rPr lang="pt-BR" i="1">
                                            <a:latin typeface="Cambria Math" panose="02040503050406030204" pitchFamily="18" charset="0"/>
                                          </a:rPr>
                                          <m:t>0</m:t>
                                        </m:r>
                                      </m:e>
                                    </m:d>
                                  </m:e>
                                </m:mr>
                              </m:m>
                            </m:e>
                          </m:d>
                          <m:r>
                            <a:rPr lang="pt-BR" b="0" i="1" smtClean="0">
                              <a:latin typeface="Cambria Math" panose="02040503050406030204" pitchFamily="18" charset="0"/>
                            </a:rPr>
                            <m:t>+</m:t>
                          </m:r>
                          <m:r>
                            <a:rPr lang="pt-BR" i="1">
                              <a:latin typeface="Cambria Math" panose="02040503050406030204" pitchFamily="18" charset="0"/>
                            </a:rPr>
                            <m:t>𝑑</m:t>
                          </m:r>
                          <m:d>
                            <m:dPr>
                              <m:ctrlPr>
                                <a:rPr lang="pt-BR" b="0" i="1" smtClean="0">
                                  <a:latin typeface="Cambria Math" panose="02040503050406030204" pitchFamily="18" charset="0"/>
                                </a:rPr>
                              </m:ctrlPr>
                            </m:dPr>
                            <m:e>
                              <m:r>
                                <a:rPr lang="pt-BR" b="0" i="1" smtClean="0">
                                  <a:latin typeface="Cambria Math" panose="02040503050406030204" pitchFamily="18" charset="0"/>
                                </a:rPr>
                                <m:t>1</m:t>
                              </m:r>
                            </m:e>
                          </m:d>
                          <m:d>
                            <m:dPr>
                              <m:begChr m:val="["/>
                              <m:endChr m:val="]"/>
                              <m:ctrlPr>
                                <a:rPr lang="pt-BR" i="1">
                                  <a:latin typeface="Cambria Math" panose="02040503050406030204" pitchFamily="18" charset="0"/>
                                </a:rPr>
                              </m:ctrlPr>
                            </m:dPr>
                            <m:e>
                              <m:m>
                                <m:mPr>
                                  <m:mcs>
                                    <m:mc>
                                      <m:mcPr>
                                        <m:count m:val="1"/>
                                        <m:mcJc m:val="center"/>
                                      </m:mcPr>
                                    </m:mc>
                                  </m:mcs>
                                  <m:ctrlPr>
                                    <a:rPr lang="pt-BR" i="1">
                                      <a:latin typeface="Cambria Math" panose="02040503050406030204" pitchFamily="18" charset="0"/>
                                    </a:rPr>
                                  </m:ctrlPr>
                                </m:mPr>
                                <m:m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d>
                                      <m:dPr>
                                        <m:ctrlPr>
                                          <a:rPr lang="pt-BR" b="0" i="1" smtClean="0">
                                            <a:latin typeface="Cambria Math" panose="02040503050406030204" pitchFamily="18" charset="0"/>
                                          </a:rPr>
                                        </m:ctrlPr>
                                      </m:dPr>
                                      <m:e>
                                        <m:r>
                                          <a:rPr lang="pt-BR" b="0" i="1" smtClean="0">
                                            <a:latin typeface="Cambria Math" panose="02040503050406030204" pitchFamily="18" charset="0"/>
                                          </a:rPr>
                                          <m:t>1</m:t>
                                        </m:r>
                                      </m:e>
                                    </m:d>
                                  </m:e>
                                </m:mr>
                                <m:mr>
                                  <m:e>
                                    <m:r>
                                      <a:rPr lang="pt-BR" i="1">
                                        <a:latin typeface="Cambria Math" panose="02040503050406030204" pitchFamily="18" charset="0"/>
                                      </a:rPr>
                                      <m:t>⋮</m:t>
                                    </m:r>
                                  </m:e>
                                </m:mr>
                                <m:m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𝐾</m:t>
                                        </m:r>
                                      </m:sub>
                                    </m:sSub>
                                    <m:d>
                                      <m:dPr>
                                        <m:ctrlPr>
                                          <a:rPr lang="pt-BR" b="0" i="1" smtClean="0">
                                            <a:latin typeface="Cambria Math" panose="02040503050406030204" pitchFamily="18" charset="0"/>
                                          </a:rPr>
                                        </m:ctrlPr>
                                      </m:dPr>
                                      <m:e>
                                        <m:r>
                                          <a:rPr lang="pt-BR" b="0" i="1" smtClean="0">
                                            <a:latin typeface="Cambria Math" panose="02040503050406030204" pitchFamily="18" charset="0"/>
                                          </a:rPr>
                                          <m:t>1</m:t>
                                        </m:r>
                                      </m:e>
                                    </m:d>
                                  </m:e>
                                </m:mr>
                              </m:m>
                            </m:e>
                          </m:d>
                          <m:r>
                            <a:rPr lang="pt-BR" b="0" i="1" smtClean="0">
                              <a:latin typeface="Cambria Math" panose="02040503050406030204" pitchFamily="18" charset="0"/>
                            </a:rPr>
                            <m:t>+⋯+</m:t>
                          </m:r>
                          <m:r>
                            <a:rPr lang="pt-BR" i="1">
                              <a:latin typeface="Cambria Math" panose="02040503050406030204" pitchFamily="18" charset="0"/>
                            </a:rPr>
                            <m:t>𝑑</m:t>
                          </m:r>
                          <m:d>
                            <m:dPr>
                              <m:ctrlPr>
                                <a:rPr lang="pt-BR" b="0" i="1" smtClean="0">
                                  <a:latin typeface="Cambria Math" panose="02040503050406030204" pitchFamily="18" charset="0"/>
                                </a:rPr>
                              </m:ctrlPr>
                            </m:dPr>
                            <m:e>
                              <m:r>
                                <a:rPr lang="pt-BR" b="0" i="1" smtClean="0">
                                  <a:latin typeface="Cambria Math" panose="02040503050406030204" pitchFamily="18" charset="0"/>
                                </a:rPr>
                                <m:t>𝑁</m:t>
                              </m:r>
                              <m:r>
                                <a:rPr lang="pt-BR" b="0" i="1" smtClean="0">
                                  <a:latin typeface="Cambria Math" panose="02040503050406030204" pitchFamily="18" charset="0"/>
                                </a:rPr>
                                <m:t>−1</m:t>
                              </m:r>
                            </m:e>
                          </m:d>
                          <m:d>
                            <m:dPr>
                              <m:begChr m:val="["/>
                              <m:endChr m:val="]"/>
                              <m:ctrlPr>
                                <a:rPr lang="pt-BR" i="1">
                                  <a:latin typeface="Cambria Math" panose="02040503050406030204" pitchFamily="18" charset="0"/>
                                </a:rPr>
                              </m:ctrlPr>
                            </m:dPr>
                            <m:e>
                              <m:m>
                                <m:mPr>
                                  <m:mcs>
                                    <m:mc>
                                      <m:mcPr>
                                        <m:count m:val="1"/>
                                        <m:mcJc m:val="center"/>
                                      </m:mcPr>
                                    </m:mc>
                                  </m:mcs>
                                  <m:ctrlPr>
                                    <a:rPr lang="pt-BR" i="1">
                                      <a:latin typeface="Cambria Math" panose="02040503050406030204" pitchFamily="18" charset="0"/>
                                    </a:rPr>
                                  </m:ctrlPr>
                                </m:mPr>
                                <m:m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d>
                                      <m:dPr>
                                        <m:ctrlPr>
                                          <a:rPr lang="pt-BR" b="0" i="1" smtClean="0">
                                            <a:latin typeface="Cambria Math" panose="02040503050406030204" pitchFamily="18" charset="0"/>
                                          </a:rPr>
                                        </m:ctrlPr>
                                      </m:dPr>
                                      <m:e>
                                        <m:r>
                                          <a:rPr lang="pt-BR" b="0" i="1" smtClean="0">
                                            <a:latin typeface="Cambria Math" panose="02040503050406030204" pitchFamily="18" charset="0"/>
                                          </a:rPr>
                                          <m:t>𝑁</m:t>
                                        </m:r>
                                        <m:r>
                                          <a:rPr lang="pt-BR" b="0" i="1" smtClean="0">
                                            <a:latin typeface="Cambria Math" panose="02040503050406030204" pitchFamily="18" charset="0"/>
                                          </a:rPr>
                                          <m:t>−1</m:t>
                                        </m:r>
                                      </m:e>
                                    </m:d>
                                  </m:e>
                                </m:mr>
                                <m:mr>
                                  <m:e>
                                    <m:r>
                                      <a:rPr lang="pt-BR" i="1">
                                        <a:latin typeface="Cambria Math" panose="02040503050406030204" pitchFamily="18" charset="0"/>
                                      </a:rPr>
                                      <m:t>⋮</m:t>
                                    </m:r>
                                  </m:e>
                                </m:mr>
                                <m:m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𝐾</m:t>
                                        </m:r>
                                      </m:sub>
                                    </m:sSub>
                                    <m:d>
                                      <m:dPr>
                                        <m:ctrlPr>
                                          <a:rPr lang="pt-BR" b="0" i="1" smtClean="0">
                                            <a:latin typeface="Cambria Math" panose="02040503050406030204" pitchFamily="18" charset="0"/>
                                          </a:rPr>
                                        </m:ctrlPr>
                                      </m:dPr>
                                      <m:e>
                                        <m:r>
                                          <a:rPr lang="pt-BR" b="0" i="1" smtClean="0">
                                            <a:latin typeface="Cambria Math" panose="02040503050406030204" pitchFamily="18" charset="0"/>
                                          </a:rPr>
                                          <m:t>𝑁</m:t>
                                        </m:r>
                                        <m:r>
                                          <a:rPr lang="pt-BR" b="0" i="1" smtClean="0">
                                            <a:latin typeface="Cambria Math" panose="02040503050406030204" pitchFamily="18" charset="0"/>
                                          </a:rPr>
                                          <m:t>−1</m:t>
                                        </m:r>
                                      </m:e>
                                    </m:d>
                                  </m:e>
                                </m:mr>
                              </m:m>
                            </m:e>
                          </m:d>
                        </m:e>
                      </m:d>
                      <m:r>
                        <a:rPr lang="pt-BR" b="0" i="1" smtClean="0">
                          <a:latin typeface="Cambria Math" panose="02040503050406030204" pitchFamily="18" charset="0"/>
                        </a:rPr>
                        <m:t>=</m:t>
                      </m:r>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2</m:t>
                          </m:r>
                        </m:num>
                        <m:den>
                          <m:r>
                            <a:rPr lang="pt-BR" i="1">
                              <a:latin typeface="Cambria Math" panose="02040503050406030204" pitchFamily="18" charset="0"/>
                            </a:rPr>
                            <m:t>𝑁</m:t>
                          </m:r>
                        </m:den>
                      </m:f>
                      <m:d>
                        <m:dPr>
                          <m:begChr m:val="{"/>
                          <m:endChr m:val="}"/>
                          <m:ctrlPr>
                            <a:rPr lang="pt-BR" i="1">
                              <a:latin typeface="Cambria Math" panose="02040503050406030204" pitchFamily="18" charset="0"/>
                            </a:rPr>
                          </m:ctrlPr>
                        </m:dPr>
                        <m:e>
                          <m:d>
                            <m:dPr>
                              <m:begChr m:val="["/>
                              <m:endChr m:val="]"/>
                              <m:ctrlPr>
                                <a:rPr lang="pt-BR" i="1">
                                  <a:latin typeface="Cambria Math" panose="02040503050406030204" pitchFamily="18" charset="0"/>
                                </a:rPr>
                              </m:ctrlPr>
                            </m:dPr>
                            <m:e>
                              <m:m>
                                <m:mPr>
                                  <m:mcs>
                                    <m:mc>
                                      <m:mcPr>
                                        <m:count m:val="1"/>
                                        <m:mcJc m:val="center"/>
                                      </m:mcPr>
                                    </m:mc>
                                  </m:mcs>
                                  <m:ctrlPr>
                                    <a:rPr lang="pt-BR" i="1">
                                      <a:latin typeface="Cambria Math" panose="02040503050406030204" pitchFamily="18" charset="0"/>
                                    </a:rPr>
                                  </m:ctrlPr>
                                </m:mPr>
                                <m:mr>
                                  <m:e>
                                    <m:sSub>
                                      <m:sSubPr>
                                        <m:ctrlPr>
                                          <a:rPr lang="pt-BR" i="1">
                                            <a:latin typeface="Cambria Math" panose="02040503050406030204" pitchFamily="18" charset="0"/>
                                          </a:rPr>
                                        </m:ctrlPr>
                                      </m:sSubPr>
                                      <m:e>
                                        <m:r>
                                          <a:rPr lang="pt-BR" i="1">
                                            <a:latin typeface="Cambria Math" panose="02040503050406030204" pitchFamily="18" charset="0"/>
                                          </a:rPr>
                                          <m:t>𝑑</m:t>
                                        </m:r>
                                        <m:d>
                                          <m:dPr>
                                            <m:ctrlPr>
                                              <a:rPr lang="pt-BR" i="1">
                                                <a:latin typeface="Cambria Math" panose="02040503050406030204" pitchFamily="18" charset="0"/>
                                              </a:rPr>
                                            </m:ctrlPr>
                                          </m:dPr>
                                          <m:e>
                                            <m:r>
                                              <a:rPr lang="pt-BR" i="1">
                                                <a:latin typeface="Cambria Math" panose="02040503050406030204" pitchFamily="18" charset="0"/>
                                              </a:rPr>
                                              <m:t>0</m:t>
                                            </m:r>
                                          </m:e>
                                        </m:d>
                                        <m:r>
                                          <a:rPr lang="pt-BR" i="1">
                                            <a:latin typeface="Cambria Math" panose="02040503050406030204" pitchFamily="18" charset="0"/>
                                          </a:rPr>
                                          <m:t>𝑥</m:t>
                                        </m:r>
                                      </m:e>
                                      <m:sub>
                                        <m:r>
                                          <a:rPr lang="pt-BR" i="1">
                                            <a:latin typeface="Cambria Math" panose="02040503050406030204" pitchFamily="18" charset="0"/>
                                          </a:rPr>
                                          <m:t>0</m:t>
                                        </m:r>
                                      </m:sub>
                                    </m:sSub>
                                    <m:d>
                                      <m:dPr>
                                        <m:ctrlPr>
                                          <a:rPr lang="pt-BR" i="1">
                                            <a:latin typeface="Cambria Math" panose="02040503050406030204" pitchFamily="18" charset="0"/>
                                          </a:rPr>
                                        </m:ctrlPr>
                                      </m:dPr>
                                      <m:e>
                                        <m:r>
                                          <a:rPr lang="pt-BR" i="1">
                                            <a:latin typeface="Cambria Math" panose="02040503050406030204" pitchFamily="18" charset="0"/>
                                          </a:rPr>
                                          <m:t>0</m:t>
                                        </m:r>
                                      </m:e>
                                    </m:d>
                                    <m:r>
                                      <a:rPr lang="pt-BR" b="0" i="1" smtClean="0">
                                        <a:latin typeface="Cambria Math" panose="02040503050406030204" pitchFamily="18" charset="0"/>
                                      </a:rPr>
                                      <m:t>+</m:t>
                                    </m:r>
                                    <m:r>
                                      <a:rPr lang="pt-BR" i="1">
                                        <a:latin typeface="Cambria Math" panose="02040503050406030204" pitchFamily="18" charset="0"/>
                                      </a:rPr>
                                      <m:t>𝑑</m:t>
                                    </m:r>
                                    <m:d>
                                      <m:dPr>
                                        <m:ctrlPr>
                                          <a:rPr lang="pt-BR" i="1">
                                            <a:latin typeface="Cambria Math" panose="02040503050406030204" pitchFamily="18" charset="0"/>
                                          </a:rPr>
                                        </m:ctrlPr>
                                      </m:dPr>
                                      <m:e>
                                        <m:r>
                                          <a:rPr lang="pt-BR" i="1">
                                            <a:latin typeface="Cambria Math" panose="02040503050406030204" pitchFamily="18" charset="0"/>
                                          </a:rPr>
                                          <m:t>1</m:t>
                                        </m:r>
                                      </m:e>
                                    </m:d>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d>
                                      <m:dPr>
                                        <m:ctrlPr>
                                          <a:rPr lang="pt-BR" i="1">
                                            <a:latin typeface="Cambria Math" panose="02040503050406030204" pitchFamily="18" charset="0"/>
                                          </a:rPr>
                                        </m:ctrlPr>
                                      </m:dPr>
                                      <m:e>
                                        <m:r>
                                          <a:rPr lang="pt-BR" i="1">
                                            <a:latin typeface="Cambria Math" panose="02040503050406030204" pitchFamily="18" charset="0"/>
                                          </a:rPr>
                                          <m:t>1</m:t>
                                        </m:r>
                                      </m:e>
                                    </m:d>
                                    <m:r>
                                      <a:rPr lang="pt-BR" b="0" i="1" smtClean="0">
                                        <a:latin typeface="Cambria Math" panose="02040503050406030204" pitchFamily="18" charset="0"/>
                                      </a:rPr>
                                      <m:t>+</m:t>
                                    </m:r>
                                    <m:r>
                                      <a:rPr lang="pt-BR" i="1">
                                        <a:latin typeface="Cambria Math" panose="02040503050406030204" pitchFamily="18" charset="0"/>
                                      </a:rPr>
                                      <m:t>⋯+</m:t>
                                    </m:r>
                                    <m:r>
                                      <a:rPr lang="pt-BR" i="1">
                                        <a:latin typeface="Cambria Math" panose="02040503050406030204" pitchFamily="18" charset="0"/>
                                      </a:rPr>
                                      <m:t>𝑑</m:t>
                                    </m:r>
                                    <m:d>
                                      <m:dPr>
                                        <m:ctrlPr>
                                          <a:rPr lang="pt-BR" i="1">
                                            <a:latin typeface="Cambria Math" panose="02040503050406030204" pitchFamily="18" charset="0"/>
                                          </a:rPr>
                                        </m:ctrlPr>
                                      </m:dPr>
                                      <m:e>
                                        <m:r>
                                          <a:rPr lang="pt-BR" i="1">
                                            <a:latin typeface="Cambria Math" panose="02040503050406030204" pitchFamily="18" charset="0"/>
                                          </a:rPr>
                                          <m:t>𝑁</m:t>
                                        </m:r>
                                        <m:r>
                                          <a:rPr lang="pt-BR" i="1">
                                            <a:latin typeface="Cambria Math" panose="02040503050406030204" pitchFamily="18" charset="0"/>
                                          </a:rPr>
                                          <m:t>−1</m:t>
                                        </m:r>
                                      </m:e>
                                    </m:d>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d>
                                      <m:dPr>
                                        <m:ctrlPr>
                                          <a:rPr lang="pt-BR" i="1">
                                            <a:latin typeface="Cambria Math" panose="02040503050406030204" pitchFamily="18" charset="0"/>
                                          </a:rPr>
                                        </m:ctrlPr>
                                      </m:dPr>
                                      <m:e>
                                        <m:r>
                                          <a:rPr lang="pt-BR" i="1">
                                            <a:latin typeface="Cambria Math" panose="02040503050406030204" pitchFamily="18" charset="0"/>
                                          </a:rPr>
                                          <m:t>𝑁</m:t>
                                        </m:r>
                                        <m:r>
                                          <a:rPr lang="pt-BR" i="1">
                                            <a:latin typeface="Cambria Math" panose="02040503050406030204" pitchFamily="18" charset="0"/>
                                          </a:rPr>
                                          <m:t>−1</m:t>
                                        </m:r>
                                      </m:e>
                                    </m:d>
                                  </m:e>
                                </m:mr>
                                <m:mr>
                                  <m:e>
                                    <m:r>
                                      <a:rPr lang="pt-BR" i="1">
                                        <a:latin typeface="Cambria Math" panose="02040503050406030204" pitchFamily="18" charset="0"/>
                                      </a:rPr>
                                      <m:t>⋮</m:t>
                                    </m:r>
                                  </m:e>
                                </m:mr>
                                <m:mr>
                                  <m:e>
                                    <m:sSub>
                                      <m:sSubPr>
                                        <m:ctrlPr>
                                          <a:rPr lang="pt-BR" i="1">
                                            <a:latin typeface="Cambria Math" panose="02040503050406030204" pitchFamily="18" charset="0"/>
                                          </a:rPr>
                                        </m:ctrlPr>
                                      </m:sSubPr>
                                      <m:e>
                                        <m:r>
                                          <a:rPr lang="pt-BR" i="1">
                                            <a:latin typeface="Cambria Math" panose="02040503050406030204" pitchFamily="18" charset="0"/>
                                          </a:rPr>
                                          <m:t>𝑑</m:t>
                                        </m:r>
                                        <m:d>
                                          <m:dPr>
                                            <m:ctrlPr>
                                              <a:rPr lang="pt-BR" i="1">
                                                <a:latin typeface="Cambria Math" panose="02040503050406030204" pitchFamily="18" charset="0"/>
                                              </a:rPr>
                                            </m:ctrlPr>
                                          </m:dPr>
                                          <m:e>
                                            <m:r>
                                              <a:rPr lang="pt-BR" i="1">
                                                <a:latin typeface="Cambria Math" panose="02040503050406030204" pitchFamily="18" charset="0"/>
                                              </a:rPr>
                                              <m:t>0</m:t>
                                            </m:r>
                                          </m:e>
                                        </m:d>
                                        <m:r>
                                          <a:rPr lang="pt-BR" i="1">
                                            <a:latin typeface="Cambria Math" panose="02040503050406030204" pitchFamily="18" charset="0"/>
                                          </a:rPr>
                                          <m:t>𝑥</m:t>
                                        </m:r>
                                      </m:e>
                                      <m:sub>
                                        <m:r>
                                          <a:rPr lang="pt-BR" i="1">
                                            <a:latin typeface="Cambria Math" panose="02040503050406030204" pitchFamily="18" charset="0"/>
                                          </a:rPr>
                                          <m:t>𝐾</m:t>
                                        </m:r>
                                      </m:sub>
                                    </m:sSub>
                                    <m:d>
                                      <m:dPr>
                                        <m:ctrlPr>
                                          <a:rPr lang="pt-BR" i="1">
                                            <a:latin typeface="Cambria Math" panose="02040503050406030204" pitchFamily="18" charset="0"/>
                                          </a:rPr>
                                        </m:ctrlPr>
                                      </m:dPr>
                                      <m:e>
                                        <m:r>
                                          <a:rPr lang="pt-BR" i="1">
                                            <a:latin typeface="Cambria Math" panose="02040503050406030204" pitchFamily="18" charset="0"/>
                                          </a:rPr>
                                          <m:t>0</m:t>
                                        </m:r>
                                      </m:e>
                                    </m:d>
                                    <m:r>
                                      <a:rPr lang="pt-BR" b="0" i="1" smtClean="0">
                                        <a:latin typeface="Cambria Math" panose="02040503050406030204" pitchFamily="18" charset="0"/>
                                      </a:rPr>
                                      <m:t>+</m:t>
                                    </m:r>
                                    <m:r>
                                      <a:rPr lang="pt-BR" i="1">
                                        <a:latin typeface="Cambria Math" panose="02040503050406030204" pitchFamily="18" charset="0"/>
                                      </a:rPr>
                                      <m:t>𝑑</m:t>
                                    </m:r>
                                    <m:d>
                                      <m:dPr>
                                        <m:ctrlPr>
                                          <a:rPr lang="pt-BR" i="1">
                                            <a:latin typeface="Cambria Math" panose="02040503050406030204" pitchFamily="18" charset="0"/>
                                          </a:rPr>
                                        </m:ctrlPr>
                                      </m:dPr>
                                      <m:e>
                                        <m:r>
                                          <a:rPr lang="pt-BR" i="1">
                                            <a:latin typeface="Cambria Math" panose="02040503050406030204" pitchFamily="18" charset="0"/>
                                          </a:rPr>
                                          <m:t>1</m:t>
                                        </m:r>
                                      </m:e>
                                    </m:d>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𝐾</m:t>
                                        </m:r>
                                      </m:sub>
                                    </m:sSub>
                                    <m:d>
                                      <m:dPr>
                                        <m:ctrlPr>
                                          <a:rPr lang="pt-BR" i="1">
                                            <a:latin typeface="Cambria Math" panose="02040503050406030204" pitchFamily="18" charset="0"/>
                                          </a:rPr>
                                        </m:ctrlPr>
                                      </m:dPr>
                                      <m:e>
                                        <m:r>
                                          <a:rPr lang="pt-BR" i="1">
                                            <a:latin typeface="Cambria Math" panose="02040503050406030204" pitchFamily="18" charset="0"/>
                                          </a:rPr>
                                          <m:t>1</m:t>
                                        </m:r>
                                      </m:e>
                                    </m:d>
                                    <m:r>
                                      <a:rPr lang="pt-BR" b="0" i="1" smtClean="0">
                                        <a:latin typeface="Cambria Math" panose="02040503050406030204" pitchFamily="18" charset="0"/>
                                      </a:rPr>
                                      <m:t>+</m:t>
                                    </m:r>
                                    <m:r>
                                      <a:rPr lang="pt-BR" i="1">
                                        <a:latin typeface="Cambria Math" panose="02040503050406030204" pitchFamily="18" charset="0"/>
                                      </a:rPr>
                                      <m:t>⋯+</m:t>
                                    </m:r>
                                    <m:r>
                                      <a:rPr lang="pt-BR" i="1">
                                        <a:latin typeface="Cambria Math" panose="02040503050406030204" pitchFamily="18" charset="0"/>
                                      </a:rPr>
                                      <m:t>𝑑</m:t>
                                    </m:r>
                                    <m:d>
                                      <m:dPr>
                                        <m:ctrlPr>
                                          <a:rPr lang="pt-BR" i="1">
                                            <a:latin typeface="Cambria Math" panose="02040503050406030204" pitchFamily="18" charset="0"/>
                                          </a:rPr>
                                        </m:ctrlPr>
                                      </m:dPr>
                                      <m:e>
                                        <m:r>
                                          <a:rPr lang="pt-BR" i="1">
                                            <a:latin typeface="Cambria Math" panose="02040503050406030204" pitchFamily="18" charset="0"/>
                                          </a:rPr>
                                          <m:t>𝑁</m:t>
                                        </m:r>
                                        <m:r>
                                          <a:rPr lang="pt-BR" i="1">
                                            <a:latin typeface="Cambria Math" panose="02040503050406030204" pitchFamily="18" charset="0"/>
                                          </a:rPr>
                                          <m:t>−1</m:t>
                                        </m:r>
                                      </m:e>
                                    </m:d>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b="0" i="1" smtClean="0">
                                            <a:latin typeface="Cambria Math" panose="02040503050406030204" pitchFamily="18" charset="0"/>
                                          </a:rPr>
                                          <m:t>𝐾</m:t>
                                        </m:r>
                                      </m:sub>
                                    </m:sSub>
                                    <m:d>
                                      <m:dPr>
                                        <m:ctrlPr>
                                          <a:rPr lang="pt-BR" i="1">
                                            <a:latin typeface="Cambria Math" panose="02040503050406030204" pitchFamily="18" charset="0"/>
                                          </a:rPr>
                                        </m:ctrlPr>
                                      </m:dPr>
                                      <m:e>
                                        <m:r>
                                          <a:rPr lang="pt-BR" i="1">
                                            <a:latin typeface="Cambria Math" panose="02040503050406030204" pitchFamily="18" charset="0"/>
                                          </a:rPr>
                                          <m:t>𝑁</m:t>
                                        </m:r>
                                        <m:r>
                                          <a:rPr lang="pt-BR" i="1">
                                            <a:latin typeface="Cambria Math" panose="02040503050406030204" pitchFamily="18" charset="0"/>
                                          </a:rPr>
                                          <m:t>−1</m:t>
                                        </m:r>
                                      </m:e>
                                    </m:d>
                                  </m:e>
                                </m:mr>
                              </m:m>
                            </m:e>
                          </m:d>
                        </m:e>
                      </m:d>
                      <m:r>
                        <a:rPr lang="pt-BR" b="0" i="1" smtClean="0">
                          <a:latin typeface="Cambria Math" panose="02040503050406030204" pitchFamily="18" charset="0"/>
                        </a:rPr>
                        <m:t>.</m:t>
                      </m:r>
                    </m:oMath>
                  </m:oMathPara>
                </a14:m>
                <a:endParaRPr lang="pt-BR" dirty="0"/>
              </a:p>
              <a:p>
                <a:pPr marL="0" indent="0">
                  <a:buNone/>
                </a:pPr>
                <a:r>
                  <a:rPr lang="pt-BR" dirty="0"/>
                  <a:t>Notem que a equação acima é um </a:t>
                </a:r>
                <a:r>
                  <a:rPr lang="pt-BR" b="1" i="1" dirty="0"/>
                  <a:t>vetor coluna </a:t>
                </a:r>
                <a:r>
                  <a:rPr lang="pt-BR" dirty="0"/>
                  <a:t>com dimensão </a:t>
                </a:r>
                <a14:m>
                  <m:oMath xmlns:m="http://schemas.openxmlformats.org/officeDocument/2006/math">
                    <m:r>
                      <a:rPr lang="pt-BR" b="0" i="1" smtClean="0">
                        <a:latin typeface="Cambria Math" panose="02040503050406030204" pitchFamily="18" charset="0"/>
                      </a:rPr>
                      <m:t>𝐾</m:t>
                    </m:r>
                    <m:r>
                      <a:rPr lang="pt-BR" b="0" i="1" smtClean="0">
                        <a:latin typeface="Cambria Math" panose="02040503050406030204" pitchFamily="18" charset="0"/>
                      </a:rPr>
                      <m:t>+1×1</m:t>
                    </m:r>
                  </m:oMath>
                </a14:m>
                <a:r>
                  <a:rPr lang="pt-BR" dirty="0"/>
                  <a:t>.</a:t>
                </a:r>
              </a:p>
            </p:txBody>
          </p:sp>
        </mc:Choice>
        <mc:Fallback xmlns="">
          <p:sp>
            <p:nvSpPr>
              <p:cNvPr id="3" name="Espaço Reservado para Conteúdo 2">
                <a:extLst>
                  <a:ext uri="{FF2B5EF4-FFF2-40B4-BE49-F238E27FC236}">
                    <a16:creationId xmlns:a16="http://schemas.microsoft.com/office/drawing/2014/main" id="{B047B17F-DE79-FCF4-4732-AC53E27E5744}"/>
                  </a:ext>
                </a:extLst>
              </p:cNvPr>
              <p:cNvSpPr>
                <a:spLocks noGrp="1" noRot="1" noChangeAspect="1" noMove="1" noResize="1" noEditPoints="1" noAdjustHandles="1" noChangeArrowheads="1" noChangeShapeType="1" noTextEdit="1"/>
              </p:cNvSpPr>
              <p:nvPr>
                <p:ph idx="1"/>
              </p:nvPr>
            </p:nvSpPr>
            <p:spPr>
              <a:xfrm>
                <a:off x="838199" y="1825625"/>
                <a:ext cx="11120919" cy="5032375"/>
              </a:xfrm>
              <a:blipFill>
                <a:blip r:embed="rId2"/>
                <a:stretch>
                  <a:fillRect l="-1096" t="-1937"/>
                </a:stretch>
              </a:blipFill>
            </p:spPr>
            <p:txBody>
              <a:bodyPr/>
              <a:lstStyle/>
              <a:p>
                <a:r>
                  <a:rPr lang="pt-BR">
                    <a:noFill/>
                  </a:rPr>
                  <a:t> </a:t>
                </a:r>
              </a:p>
            </p:txBody>
          </p:sp>
        </mc:Fallback>
      </mc:AlternateContent>
    </p:spTree>
    <p:extLst>
      <p:ext uri="{BB962C8B-B14F-4D97-AF65-F5344CB8AC3E}">
        <p14:creationId xmlns:p14="http://schemas.microsoft.com/office/powerpoint/2010/main" val="264326479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9B9A54-37B4-8767-0F70-8AFDB27C5E5D}"/>
              </a:ext>
            </a:extLst>
          </p:cNvPr>
          <p:cNvSpPr>
            <a:spLocks noGrp="1"/>
          </p:cNvSpPr>
          <p:nvPr>
            <p:ph type="title"/>
          </p:nvPr>
        </p:nvSpPr>
        <p:spPr/>
        <p:txBody>
          <a:bodyPr/>
          <a:lstStyle/>
          <a:p>
            <a:r>
              <a:rPr lang="pt-BR" dirty="0"/>
              <a:t>Cálculo do vetor gradiente</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7BD817CF-4D8D-9B30-5AB1-25FC1DC3EECD}"/>
                  </a:ext>
                </a:extLst>
              </p:cNvPr>
              <p:cNvSpPr>
                <a:spLocks noGrp="1"/>
              </p:cNvSpPr>
              <p:nvPr>
                <p:ph idx="1"/>
              </p:nvPr>
            </p:nvSpPr>
            <p:spPr>
              <a:xfrm>
                <a:off x="838199" y="1825624"/>
                <a:ext cx="11018179" cy="5032375"/>
              </a:xfrm>
            </p:spPr>
            <p:txBody>
              <a:bodyPr/>
              <a:lstStyle/>
              <a:p>
                <a:pPr marL="0" indent="0">
                  <a:buNone/>
                </a:pPr>
                <a:r>
                  <a:rPr lang="pt-BR" dirty="0"/>
                  <a:t>Podemos reescrever a equação (i.e., vetor) anterior como uma multiplicação matricial</a:t>
                </a:r>
              </a:p>
              <a:p>
                <a:pPr marL="0" indent="0">
                  <a:buNone/>
                </a:pPr>
                <a14:m>
                  <m:oMathPara xmlns:m="http://schemas.openxmlformats.org/officeDocument/2006/math">
                    <m:oMath>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num>
                        <m:den>
                          <m:r>
                            <a:rPr lang="pt-BR" i="1">
                              <a:latin typeface="Cambria Math" panose="02040503050406030204" pitchFamily="18" charset="0"/>
                            </a:rPr>
                            <m:t>𝜕</m:t>
                          </m:r>
                          <m:r>
                            <a:rPr lang="pt-BR" b="1" i="1">
                              <a:latin typeface="Cambria Math" panose="02040503050406030204" pitchFamily="18" charset="0"/>
                            </a:rPr>
                            <m:t>𝒂</m:t>
                          </m:r>
                        </m:den>
                      </m:f>
                      <m:r>
                        <a:rPr lang="pt-BR" b="1" i="1">
                          <a:latin typeface="Cambria Math" panose="02040503050406030204" pitchFamily="18" charset="0"/>
                        </a:rPr>
                        <m:t>=</m:t>
                      </m:r>
                      <m:r>
                        <a:rPr lang="pt-BR">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2</m:t>
                          </m:r>
                        </m:num>
                        <m:den>
                          <m:r>
                            <a:rPr lang="pt-BR" i="1">
                              <a:latin typeface="Cambria Math" panose="02040503050406030204" pitchFamily="18" charset="0"/>
                            </a:rPr>
                            <m:t>𝑁</m:t>
                          </m:r>
                        </m:den>
                      </m:f>
                      <m:d>
                        <m:dPr>
                          <m:begChr m:val="["/>
                          <m:endChr m:val="]"/>
                          <m:ctrlPr>
                            <a:rPr lang="pt-BR" b="1" i="1" smtClean="0">
                              <a:latin typeface="Cambria Math" panose="02040503050406030204" pitchFamily="18" charset="0"/>
                            </a:rPr>
                          </m:ctrlPr>
                        </m:dPr>
                        <m:e>
                          <m:m>
                            <m:mPr>
                              <m:mcs>
                                <m:mc>
                                  <m:mcPr>
                                    <m:count m:val="3"/>
                                    <m:mcJc m:val="center"/>
                                  </m:mcPr>
                                </m:mc>
                              </m:mcs>
                              <m:ctrlPr>
                                <a:rPr lang="pt-BR" b="1" i="1" smtClean="0">
                                  <a:latin typeface="Cambria Math" panose="02040503050406030204" pitchFamily="18" charset="0"/>
                                </a:rPr>
                              </m:ctrlPr>
                            </m:mPr>
                            <m:m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d>
                                  <m:dPr>
                                    <m:ctrlPr>
                                      <a:rPr lang="pt-BR" i="1">
                                        <a:latin typeface="Cambria Math" panose="02040503050406030204" pitchFamily="18" charset="0"/>
                                      </a:rPr>
                                    </m:ctrlPr>
                                  </m:dPr>
                                  <m:e>
                                    <m:r>
                                      <a:rPr lang="pt-BR" i="1">
                                        <a:latin typeface="Cambria Math" panose="02040503050406030204" pitchFamily="18" charset="0"/>
                                      </a:rPr>
                                      <m:t>0</m:t>
                                    </m:r>
                                  </m:e>
                                </m:d>
                              </m:e>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d>
                                  <m:dPr>
                                    <m:ctrlPr>
                                      <a:rPr lang="pt-BR" b="0" i="1" smtClean="0">
                                        <a:latin typeface="Cambria Math" panose="02040503050406030204" pitchFamily="18" charset="0"/>
                                      </a:rPr>
                                    </m:ctrlPr>
                                  </m:dPr>
                                  <m:e>
                                    <m:r>
                                      <a:rPr lang="pt-BR" b="0" i="1" smtClean="0">
                                        <a:latin typeface="Cambria Math" panose="02040503050406030204" pitchFamily="18" charset="0"/>
                                      </a:rPr>
                                      <m:t>1</m:t>
                                    </m:r>
                                  </m:e>
                                </m:d>
                              </m:e>
                              <m:e>
                                <m:m>
                                  <m:mPr>
                                    <m:mcs>
                                      <m:mc>
                                        <m:mcPr>
                                          <m:count m:val="2"/>
                                          <m:mcJc m:val="center"/>
                                        </m:mcPr>
                                      </m:mc>
                                    </m:mcs>
                                    <m:ctrlPr>
                                      <a:rPr lang="pt-BR" b="1" i="1" smtClean="0">
                                        <a:latin typeface="Cambria Math" panose="02040503050406030204" pitchFamily="18" charset="0"/>
                                      </a:rPr>
                                    </m:ctrlPr>
                                  </m:mPr>
                                  <m:mr>
                                    <m:e>
                                      <m:r>
                                        <m:rPr>
                                          <m:brk m:alnAt="7"/>
                                        </m:rPr>
                                        <a:rPr lang="pt-BR" b="1" i="1" smtClean="0">
                                          <a:latin typeface="Cambria Math" panose="02040503050406030204" pitchFamily="18" charset="0"/>
                                        </a:rPr>
                                        <m:t>⋯</m:t>
                                      </m:r>
                                    </m:e>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d>
                                        <m:dPr>
                                          <m:ctrlPr>
                                            <a:rPr lang="pt-BR" b="0" i="1" smtClean="0">
                                              <a:latin typeface="Cambria Math" panose="02040503050406030204" pitchFamily="18" charset="0"/>
                                            </a:rPr>
                                          </m:ctrlPr>
                                        </m:dPr>
                                        <m:e>
                                          <m:r>
                                            <a:rPr lang="pt-BR" b="0" i="1" smtClean="0">
                                              <a:latin typeface="Cambria Math" panose="02040503050406030204" pitchFamily="18" charset="0"/>
                                            </a:rPr>
                                            <m:t>𝑁</m:t>
                                          </m:r>
                                          <m:r>
                                            <a:rPr lang="pt-BR" b="0" i="1" smtClean="0">
                                              <a:latin typeface="Cambria Math" panose="02040503050406030204" pitchFamily="18" charset="0"/>
                                            </a:rPr>
                                            <m:t>−1</m:t>
                                          </m:r>
                                        </m:e>
                                      </m:d>
                                    </m:e>
                                  </m:mr>
                                </m:m>
                              </m:e>
                            </m:mr>
                            <m:mr>
                              <m:e>
                                <m:r>
                                  <a:rPr lang="pt-BR" b="1" i="1" smtClean="0">
                                    <a:latin typeface="Cambria Math" panose="02040503050406030204" pitchFamily="18" charset="0"/>
                                  </a:rPr>
                                  <m:t>⋮</m:t>
                                </m:r>
                              </m:e>
                              <m:e>
                                <m:r>
                                  <a:rPr lang="pt-BR" b="1" i="1">
                                    <a:latin typeface="Cambria Math" panose="02040503050406030204" pitchFamily="18" charset="0"/>
                                  </a:rPr>
                                  <m:t>⋮</m:t>
                                </m:r>
                              </m:e>
                              <m:e>
                                <m:r>
                                  <a:rPr lang="pt-BR" b="1" i="1">
                                    <a:latin typeface="Cambria Math" panose="02040503050406030204" pitchFamily="18" charset="0"/>
                                  </a:rPr>
                                  <m:t>⋮</m:t>
                                </m:r>
                              </m:e>
                            </m:mr>
                            <m:m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b="0" i="1" smtClean="0">
                                        <a:latin typeface="Cambria Math" panose="02040503050406030204" pitchFamily="18" charset="0"/>
                                      </a:rPr>
                                      <m:t>𝐾</m:t>
                                    </m:r>
                                  </m:sub>
                                </m:sSub>
                                <m:d>
                                  <m:dPr>
                                    <m:ctrlPr>
                                      <a:rPr lang="pt-BR" i="1">
                                        <a:latin typeface="Cambria Math" panose="02040503050406030204" pitchFamily="18" charset="0"/>
                                      </a:rPr>
                                    </m:ctrlPr>
                                  </m:dPr>
                                  <m:e>
                                    <m:r>
                                      <a:rPr lang="pt-BR" i="1">
                                        <a:latin typeface="Cambria Math" panose="02040503050406030204" pitchFamily="18" charset="0"/>
                                      </a:rPr>
                                      <m:t>0</m:t>
                                    </m:r>
                                  </m:e>
                                </m:d>
                              </m:e>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b="0" i="1" smtClean="0">
                                        <a:latin typeface="Cambria Math" panose="02040503050406030204" pitchFamily="18" charset="0"/>
                                      </a:rPr>
                                      <m:t>𝐾</m:t>
                                    </m:r>
                                  </m:sub>
                                </m:sSub>
                                <m:d>
                                  <m:dPr>
                                    <m:ctrlPr>
                                      <a:rPr lang="pt-BR" i="1">
                                        <a:latin typeface="Cambria Math" panose="02040503050406030204" pitchFamily="18" charset="0"/>
                                      </a:rPr>
                                    </m:ctrlPr>
                                  </m:dPr>
                                  <m:e>
                                    <m:r>
                                      <a:rPr lang="pt-BR" i="1">
                                        <a:latin typeface="Cambria Math" panose="02040503050406030204" pitchFamily="18" charset="0"/>
                                      </a:rPr>
                                      <m:t>1</m:t>
                                    </m:r>
                                  </m:e>
                                </m:d>
                              </m:e>
                              <m:e>
                                <m:m>
                                  <m:mPr>
                                    <m:mcs>
                                      <m:mc>
                                        <m:mcPr>
                                          <m:count m:val="2"/>
                                          <m:mcJc m:val="center"/>
                                        </m:mcPr>
                                      </m:mc>
                                    </m:mcs>
                                    <m:ctrlPr>
                                      <a:rPr lang="pt-BR" b="1" i="1" smtClean="0">
                                        <a:latin typeface="Cambria Math" panose="02040503050406030204" pitchFamily="18" charset="0"/>
                                      </a:rPr>
                                    </m:ctrlPr>
                                  </m:mPr>
                                  <m:mr>
                                    <m:e>
                                      <m:r>
                                        <m:rPr>
                                          <m:brk m:alnAt="7"/>
                                        </m:rPr>
                                        <a:rPr lang="pt-BR" b="1" i="1" smtClean="0">
                                          <a:latin typeface="Cambria Math" panose="02040503050406030204" pitchFamily="18" charset="0"/>
                                        </a:rPr>
                                        <m:t>⋯</m:t>
                                      </m:r>
                                    </m:e>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b="0" i="1" smtClean="0">
                                              <a:latin typeface="Cambria Math" panose="02040503050406030204" pitchFamily="18" charset="0"/>
                                            </a:rPr>
                                            <m:t>𝐾</m:t>
                                          </m:r>
                                        </m:sub>
                                      </m:sSub>
                                      <m:d>
                                        <m:dPr>
                                          <m:ctrlPr>
                                            <a:rPr lang="pt-BR" i="1">
                                              <a:latin typeface="Cambria Math" panose="02040503050406030204" pitchFamily="18" charset="0"/>
                                            </a:rPr>
                                          </m:ctrlPr>
                                        </m:dPr>
                                        <m:e>
                                          <m:r>
                                            <a:rPr lang="pt-BR" i="1">
                                              <a:latin typeface="Cambria Math" panose="02040503050406030204" pitchFamily="18" charset="0"/>
                                            </a:rPr>
                                            <m:t>𝑁</m:t>
                                          </m:r>
                                          <m:r>
                                            <a:rPr lang="pt-BR" i="1">
                                              <a:latin typeface="Cambria Math" panose="02040503050406030204" pitchFamily="18" charset="0"/>
                                            </a:rPr>
                                            <m:t>−1</m:t>
                                          </m:r>
                                        </m:e>
                                      </m:d>
                                    </m:e>
                                  </m:mr>
                                </m:m>
                              </m:e>
                            </m:mr>
                          </m:m>
                        </m:e>
                      </m:d>
                      <m:d>
                        <m:dPr>
                          <m:begChr m:val="["/>
                          <m:endChr m:val="]"/>
                          <m:ctrlPr>
                            <a:rPr lang="pt-BR" b="1" i="1" smtClean="0">
                              <a:latin typeface="Cambria Math" panose="02040503050406030204" pitchFamily="18" charset="0"/>
                            </a:rPr>
                          </m:ctrlPr>
                        </m:dPr>
                        <m:e>
                          <m:m>
                            <m:mPr>
                              <m:mcs>
                                <m:mc>
                                  <m:mcPr>
                                    <m:count m:val="1"/>
                                    <m:mcJc m:val="center"/>
                                  </m:mcPr>
                                </m:mc>
                              </m:mcs>
                              <m:ctrlPr>
                                <a:rPr lang="pt-BR" b="1" i="1" smtClean="0">
                                  <a:latin typeface="Cambria Math" panose="02040503050406030204" pitchFamily="18" charset="0"/>
                                </a:rPr>
                              </m:ctrlPr>
                            </m:mPr>
                            <m:mr>
                              <m:e>
                                <m:r>
                                  <a:rPr lang="pt-BR" i="1">
                                    <a:latin typeface="Cambria Math" panose="02040503050406030204" pitchFamily="18" charset="0"/>
                                  </a:rPr>
                                  <m:t>𝑑</m:t>
                                </m:r>
                                <m:d>
                                  <m:dPr>
                                    <m:ctrlPr>
                                      <a:rPr lang="pt-BR" i="1">
                                        <a:latin typeface="Cambria Math" panose="02040503050406030204" pitchFamily="18" charset="0"/>
                                      </a:rPr>
                                    </m:ctrlPr>
                                  </m:dPr>
                                  <m:e>
                                    <m:r>
                                      <a:rPr lang="pt-BR" i="1">
                                        <a:latin typeface="Cambria Math" panose="02040503050406030204" pitchFamily="18" charset="0"/>
                                      </a:rPr>
                                      <m:t>0</m:t>
                                    </m:r>
                                  </m:e>
                                </m:d>
                              </m:e>
                            </m:mr>
                            <m:mr>
                              <m:e>
                                <m:r>
                                  <a:rPr lang="pt-BR" i="1">
                                    <a:latin typeface="Cambria Math" panose="02040503050406030204" pitchFamily="18" charset="0"/>
                                  </a:rPr>
                                  <m:t>𝑑</m:t>
                                </m:r>
                                <m:d>
                                  <m:dPr>
                                    <m:ctrlPr>
                                      <a:rPr lang="pt-BR" b="0" i="1" smtClean="0">
                                        <a:latin typeface="Cambria Math" panose="02040503050406030204" pitchFamily="18" charset="0"/>
                                      </a:rPr>
                                    </m:ctrlPr>
                                  </m:dPr>
                                  <m:e>
                                    <m:r>
                                      <a:rPr lang="pt-BR" b="0" i="1" smtClean="0">
                                        <a:latin typeface="Cambria Math" panose="02040503050406030204" pitchFamily="18" charset="0"/>
                                      </a:rPr>
                                      <m:t>1</m:t>
                                    </m:r>
                                  </m:e>
                                </m:d>
                              </m:e>
                            </m:mr>
                            <m:mr>
                              <m:e>
                                <m:m>
                                  <m:mPr>
                                    <m:mcs>
                                      <m:mc>
                                        <m:mcPr>
                                          <m:count m:val="1"/>
                                          <m:mcJc m:val="center"/>
                                        </m:mcPr>
                                      </m:mc>
                                    </m:mcs>
                                    <m:ctrlPr>
                                      <a:rPr lang="pt-BR" b="1" i="1" smtClean="0">
                                        <a:latin typeface="Cambria Math" panose="02040503050406030204" pitchFamily="18" charset="0"/>
                                      </a:rPr>
                                    </m:ctrlPr>
                                  </m:mPr>
                                  <m:mr>
                                    <m:e>
                                      <m:r>
                                        <m:rPr>
                                          <m:brk m:alnAt="7"/>
                                        </m:rPr>
                                        <a:rPr lang="pt-BR" b="1" i="1" smtClean="0">
                                          <a:latin typeface="Cambria Math" panose="02040503050406030204" pitchFamily="18" charset="0"/>
                                        </a:rPr>
                                        <m:t>⋮</m:t>
                                      </m:r>
                                    </m:e>
                                  </m:mr>
                                  <m:mr>
                                    <m:e>
                                      <m:r>
                                        <a:rPr lang="pt-BR" i="1">
                                          <a:latin typeface="Cambria Math" panose="02040503050406030204" pitchFamily="18" charset="0"/>
                                        </a:rPr>
                                        <m:t>𝑑</m:t>
                                      </m:r>
                                      <m:d>
                                        <m:dPr>
                                          <m:ctrlPr>
                                            <a:rPr lang="pt-BR" b="0" i="1" smtClean="0">
                                              <a:latin typeface="Cambria Math" panose="02040503050406030204" pitchFamily="18" charset="0"/>
                                            </a:rPr>
                                          </m:ctrlPr>
                                        </m:dPr>
                                        <m:e>
                                          <m:r>
                                            <a:rPr lang="pt-BR" b="0" i="1" smtClean="0">
                                              <a:latin typeface="Cambria Math" panose="02040503050406030204" pitchFamily="18" charset="0"/>
                                            </a:rPr>
                                            <m:t>𝑁</m:t>
                                          </m:r>
                                          <m:r>
                                            <a:rPr lang="pt-BR" b="0" i="1" smtClean="0">
                                              <a:latin typeface="Cambria Math" panose="02040503050406030204" pitchFamily="18" charset="0"/>
                                            </a:rPr>
                                            <m:t>−1</m:t>
                                          </m:r>
                                        </m:e>
                                      </m:d>
                                    </m:e>
                                  </m:mr>
                                </m:m>
                              </m:e>
                            </m:mr>
                          </m:m>
                        </m:e>
                      </m:d>
                    </m:oMath>
                  </m:oMathPara>
                </a14:m>
                <a:endParaRPr lang="pt-BR" dirty="0"/>
              </a:p>
              <a:p>
                <a:pPr marL="0" indent="0">
                  <a:buNone/>
                </a:pPr>
                <a:r>
                  <a:rPr lang="pt-BR" dirty="0"/>
                  <a:t>Percebam que temos a multiplicação de uma matriz com dimensão </a:t>
                </a:r>
                <a14:m>
                  <m:oMath xmlns:m="http://schemas.openxmlformats.org/officeDocument/2006/math">
                    <m:r>
                      <a:rPr lang="pt-BR" b="0" i="1" smtClean="0">
                        <a:latin typeface="Cambria Math" panose="02040503050406030204" pitchFamily="18" charset="0"/>
                      </a:rPr>
                      <m:t>𝐾</m:t>
                    </m:r>
                    <m:r>
                      <a:rPr lang="pt-BR" b="0" i="1" smtClean="0">
                        <a:latin typeface="Cambria Math" panose="02040503050406030204" pitchFamily="18" charset="0"/>
                      </a:rPr>
                      <m:t>+1×</m:t>
                    </m:r>
                    <m:r>
                      <a:rPr lang="pt-BR" b="0" i="1" smtClean="0">
                        <a:latin typeface="Cambria Math" panose="02040503050406030204" pitchFamily="18" charset="0"/>
                        <a:ea typeface="Cambria Math" panose="02040503050406030204" pitchFamily="18" charset="0"/>
                      </a:rPr>
                      <m:t>𝑁</m:t>
                    </m:r>
                  </m:oMath>
                </a14:m>
                <a:r>
                  <a:rPr lang="pt-BR" dirty="0"/>
                  <a:t> por um vetor coluna de dimensão </a:t>
                </a:r>
                <a14:m>
                  <m:oMath xmlns:m="http://schemas.openxmlformats.org/officeDocument/2006/math">
                    <m:r>
                      <a:rPr lang="pt-BR" b="0" i="1" smtClean="0">
                        <a:latin typeface="Cambria Math" panose="02040503050406030204" pitchFamily="18" charset="0"/>
                      </a:rPr>
                      <m:t>𝑁</m:t>
                    </m:r>
                    <m:r>
                      <a:rPr lang="pt-BR" b="0" i="1" smtClean="0">
                        <a:latin typeface="Cambria Math" panose="02040503050406030204" pitchFamily="18" charset="0"/>
                        <a:ea typeface="Cambria Math" panose="02040503050406030204" pitchFamily="18" charset="0"/>
                      </a:rPr>
                      <m:t>×1</m:t>
                    </m:r>
                  </m:oMath>
                </a14:m>
                <a:r>
                  <a:rPr lang="pt-BR" dirty="0"/>
                  <a:t>.</a:t>
                </a:r>
              </a:p>
              <a:p>
                <a:pPr marL="0" indent="0">
                  <a:buNone/>
                </a:pPr>
                <a:r>
                  <a:rPr lang="pt-BR" dirty="0"/>
                  <a:t>A matriz contém em cada linha todos os valores de </a:t>
                </a:r>
                <a14:m>
                  <m:oMath xmlns:m="http://schemas.openxmlformats.org/officeDocument/2006/math">
                    <m:r>
                      <a:rPr lang="pt-BR" b="0" i="1" smtClean="0">
                        <a:latin typeface="Cambria Math" panose="02040503050406030204" pitchFamily="18" charset="0"/>
                      </a:rPr>
                      <m:t>𝑛</m:t>
                    </m:r>
                    <m:r>
                      <a:rPr lang="pt-BR" b="0" i="1" smtClean="0">
                        <a:latin typeface="Cambria Math" panose="02040503050406030204" pitchFamily="18" charset="0"/>
                      </a:rPr>
                      <m:t>=0</m:t>
                    </m:r>
                  </m:oMath>
                </a14:m>
                <a:r>
                  <a:rPr lang="pt-BR" dirty="0"/>
                  <a:t> a </a:t>
                </a:r>
                <a14:m>
                  <m:oMath xmlns:m="http://schemas.openxmlformats.org/officeDocument/2006/math">
                    <m:r>
                      <a:rPr lang="pt-BR" b="0" i="1" smtClean="0">
                        <a:latin typeface="Cambria Math" panose="02040503050406030204" pitchFamily="18" charset="0"/>
                      </a:rPr>
                      <m:t>𝑛</m:t>
                    </m:r>
                    <m:r>
                      <a:rPr lang="pt-BR" b="0" i="1" smtClean="0">
                        <a:latin typeface="Cambria Math" panose="02040503050406030204" pitchFamily="18" charset="0"/>
                      </a:rPr>
                      <m:t>=</m:t>
                    </m:r>
                    <m:r>
                      <a:rPr lang="pt-BR" b="0" i="1" smtClean="0">
                        <a:latin typeface="Cambria Math" panose="02040503050406030204" pitchFamily="18" charset="0"/>
                      </a:rPr>
                      <m:t>𝑁</m:t>
                    </m:r>
                    <m:r>
                      <a:rPr lang="pt-BR" b="0" i="1" smtClean="0">
                        <a:latin typeface="Cambria Math" panose="02040503050406030204" pitchFamily="18" charset="0"/>
                      </a:rPr>
                      <m:t>−1</m:t>
                    </m:r>
                  </m:oMath>
                </a14:m>
                <a:r>
                  <a:rPr lang="pt-BR" dirty="0"/>
                  <a:t> de um </a:t>
                </a:r>
                <a:r>
                  <a:rPr lang="pt-BR" b="1" i="1" dirty="0"/>
                  <a:t>único</a:t>
                </a:r>
                <a:r>
                  <a:rPr lang="pt-BR" dirty="0"/>
                  <a:t> atributo.</a:t>
                </a:r>
              </a:p>
              <a:p>
                <a:pPr marL="0" indent="0">
                  <a:buNone/>
                </a:pPr>
                <a:r>
                  <a:rPr lang="pt-BR" dirty="0"/>
                  <a:t>O vetor contém em cada linha a diferença </a:t>
                </a:r>
                <a14:m>
                  <m:oMath xmlns:m="http://schemas.openxmlformats.org/officeDocument/2006/math">
                    <m:r>
                      <a:rPr lang="pt-BR" b="0" i="1" smtClean="0">
                        <a:latin typeface="Cambria Math" panose="02040503050406030204" pitchFamily="18" charset="0"/>
                      </a:rPr>
                      <m:t>𝑑</m:t>
                    </m:r>
                    <m:d>
                      <m:dPr>
                        <m:ctrlPr>
                          <a:rPr lang="pt-BR" b="0" i="1" smtClean="0">
                            <a:latin typeface="Cambria Math" panose="02040503050406030204" pitchFamily="18" charset="0"/>
                          </a:rPr>
                        </m:ctrlPr>
                      </m:dPr>
                      <m:e>
                        <m:r>
                          <a:rPr lang="pt-BR" b="0" i="1" smtClean="0">
                            <a:latin typeface="Cambria Math" panose="02040503050406030204" pitchFamily="18" charset="0"/>
                          </a:rPr>
                          <m:t>𝑛</m:t>
                        </m:r>
                      </m:e>
                    </m:d>
                    <m:r>
                      <a:rPr lang="pt-BR" b="0" i="0" smtClean="0">
                        <a:latin typeface="Cambria Math" panose="02040503050406030204" pitchFamily="18" charset="0"/>
                      </a:rPr>
                      <m:t>=</m:t>
                    </m:r>
                    <m:r>
                      <a:rPr lang="pt-BR" i="1" smtClean="0">
                        <a:latin typeface="Cambria Math" panose="02040503050406030204" pitchFamily="18" charset="0"/>
                      </a:rPr>
                      <m:t>𝑦</m:t>
                    </m:r>
                    <m:d>
                      <m:dPr>
                        <m:ctrlPr>
                          <a:rPr lang="pt-BR" b="0" i="1" smtClean="0">
                            <a:latin typeface="Cambria Math" panose="02040503050406030204" pitchFamily="18" charset="0"/>
                          </a:rPr>
                        </m:ctrlPr>
                      </m:dPr>
                      <m:e>
                        <m:r>
                          <a:rPr lang="pt-BR" b="0" i="1" smtClean="0">
                            <a:latin typeface="Cambria Math" panose="02040503050406030204" pitchFamily="18" charset="0"/>
                          </a:rPr>
                          <m:t>𝑛</m:t>
                        </m:r>
                      </m:e>
                    </m:d>
                    <m:r>
                      <a:rPr lang="pt-BR" i="1">
                        <a:latin typeface="Cambria Math" panose="02040503050406030204" pitchFamily="18" charset="0"/>
                      </a:rPr>
                      <m:t>−</m:t>
                    </m:r>
                    <m:acc>
                      <m:accPr>
                        <m:chr m:val="̂"/>
                        <m:ctrlPr>
                          <a:rPr lang="pt-BR" i="1">
                            <a:latin typeface="Cambria Math" panose="02040503050406030204" pitchFamily="18" charset="0"/>
                          </a:rPr>
                        </m:ctrlPr>
                      </m:accPr>
                      <m:e>
                        <m:r>
                          <a:rPr lang="pt-BR" i="1">
                            <a:latin typeface="Cambria Math" panose="02040503050406030204" pitchFamily="18" charset="0"/>
                          </a:rPr>
                          <m:t>𝑦</m:t>
                        </m:r>
                      </m:e>
                    </m:acc>
                    <m:d>
                      <m:dPr>
                        <m:ctrlPr>
                          <a:rPr lang="pt-BR" i="1">
                            <a:latin typeface="Cambria Math" panose="02040503050406030204" pitchFamily="18" charset="0"/>
                          </a:rPr>
                        </m:ctrlPr>
                      </m:dPr>
                      <m:e>
                        <m:r>
                          <a:rPr lang="pt-BR" i="1">
                            <a:latin typeface="Cambria Math" panose="02040503050406030204" pitchFamily="18" charset="0"/>
                          </a:rPr>
                          <m:t>𝑛</m:t>
                        </m:r>
                      </m:e>
                    </m:d>
                  </m:oMath>
                </a14:m>
                <a:r>
                  <a:rPr lang="pt-BR" dirty="0"/>
                  <a:t> para </a:t>
                </a:r>
                <a14:m>
                  <m:oMath xmlns:m="http://schemas.openxmlformats.org/officeDocument/2006/math">
                    <m:r>
                      <a:rPr lang="pt-BR" i="1">
                        <a:latin typeface="Cambria Math" panose="02040503050406030204" pitchFamily="18" charset="0"/>
                      </a:rPr>
                      <m:t>𝑛</m:t>
                    </m:r>
                    <m:r>
                      <a:rPr lang="pt-BR" i="1">
                        <a:latin typeface="Cambria Math" panose="02040503050406030204" pitchFamily="18" charset="0"/>
                      </a:rPr>
                      <m:t>=0</m:t>
                    </m:r>
                  </m:oMath>
                </a14:m>
                <a:r>
                  <a:rPr lang="pt-BR" dirty="0"/>
                  <a:t> até </a:t>
                </a:r>
                <a14:m>
                  <m:oMath xmlns:m="http://schemas.openxmlformats.org/officeDocument/2006/math">
                    <m:r>
                      <a:rPr lang="pt-BR" i="1">
                        <a:latin typeface="Cambria Math" panose="02040503050406030204" pitchFamily="18" charset="0"/>
                      </a:rPr>
                      <m:t>𝑛</m:t>
                    </m:r>
                    <m:r>
                      <a:rPr lang="pt-BR" i="1">
                        <a:latin typeface="Cambria Math" panose="02040503050406030204" pitchFamily="18" charset="0"/>
                      </a:rPr>
                      <m:t>=</m:t>
                    </m:r>
                    <m:r>
                      <a:rPr lang="pt-BR" i="1">
                        <a:latin typeface="Cambria Math" panose="02040503050406030204" pitchFamily="18" charset="0"/>
                      </a:rPr>
                      <m:t>𝑁</m:t>
                    </m:r>
                    <m:r>
                      <a:rPr lang="pt-BR" i="1">
                        <a:latin typeface="Cambria Math" panose="02040503050406030204" pitchFamily="18" charset="0"/>
                      </a:rPr>
                      <m:t>−1</m:t>
                    </m:r>
                  </m:oMath>
                </a14:m>
                <a:r>
                  <a:rPr lang="pt-BR" dirty="0"/>
                  <a:t>.</a:t>
                </a:r>
              </a:p>
            </p:txBody>
          </p:sp>
        </mc:Choice>
        <mc:Fallback xmlns="">
          <p:sp>
            <p:nvSpPr>
              <p:cNvPr id="3" name="Espaço Reservado para Conteúdo 2">
                <a:extLst>
                  <a:ext uri="{FF2B5EF4-FFF2-40B4-BE49-F238E27FC236}">
                    <a16:creationId xmlns:a16="http://schemas.microsoft.com/office/drawing/2014/main" id="{7BD817CF-4D8D-9B30-5AB1-25FC1DC3EECD}"/>
                  </a:ext>
                </a:extLst>
              </p:cNvPr>
              <p:cNvSpPr>
                <a:spLocks noGrp="1" noRot="1" noChangeAspect="1" noMove="1" noResize="1" noEditPoints="1" noAdjustHandles="1" noChangeArrowheads="1" noChangeShapeType="1" noTextEdit="1"/>
              </p:cNvSpPr>
              <p:nvPr>
                <p:ph idx="1"/>
              </p:nvPr>
            </p:nvSpPr>
            <p:spPr>
              <a:xfrm>
                <a:off x="838199" y="1825624"/>
                <a:ext cx="11018179" cy="5032375"/>
              </a:xfrm>
              <a:blipFill>
                <a:blip r:embed="rId2"/>
                <a:stretch>
                  <a:fillRect l="-1106" t="-1937" b="-3269"/>
                </a:stretch>
              </a:blipFill>
            </p:spPr>
            <p:txBody>
              <a:bodyPr/>
              <a:lstStyle/>
              <a:p>
                <a:r>
                  <a:rPr lang="pt-BR">
                    <a:noFill/>
                  </a:rPr>
                  <a:t> </a:t>
                </a:r>
              </a:p>
            </p:txBody>
          </p:sp>
        </mc:Fallback>
      </mc:AlternateContent>
    </p:spTree>
    <p:extLst>
      <p:ext uri="{BB962C8B-B14F-4D97-AF65-F5344CB8AC3E}">
        <p14:creationId xmlns:p14="http://schemas.microsoft.com/office/powerpoint/2010/main" val="189926942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8B7C6E-B23A-A079-E0B3-7110FA21C782}"/>
              </a:ext>
            </a:extLst>
          </p:cNvPr>
          <p:cNvSpPr>
            <a:spLocks noGrp="1"/>
          </p:cNvSpPr>
          <p:nvPr>
            <p:ph type="title"/>
          </p:nvPr>
        </p:nvSpPr>
        <p:spPr/>
        <p:txBody>
          <a:bodyPr/>
          <a:lstStyle/>
          <a:p>
            <a:r>
              <a:rPr lang="pt-BR" dirty="0"/>
              <a:t>Cálculo do vetor gradiente</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61955E10-4B16-2D29-24BC-850FAB262AA9}"/>
                  </a:ext>
                </a:extLst>
              </p:cNvPr>
              <p:cNvSpPr>
                <a:spLocks noGrp="1"/>
              </p:cNvSpPr>
              <p:nvPr>
                <p:ph idx="1"/>
              </p:nvPr>
            </p:nvSpPr>
            <p:spPr>
              <a:xfrm>
                <a:off x="838199" y="1825624"/>
                <a:ext cx="11100371" cy="5032375"/>
              </a:xfrm>
            </p:spPr>
            <p:txBody>
              <a:bodyPr>
                <a:normAutofit/>
              </a:bodyPr>
              <a:lstStyle/>
              <a:p>
                <a:pPr marL="0" indent="0">
                  <a:buNone/>
                </a:pPr>
                <a:r>
                  <a:rPr lang="pt-BR" dirty="0"/>
                  <a:t>Se definirmos uma matriz que contém todos os </a:t>
                </a:r>
                <a14:m>
                  <m:oMath xmlns:m="http://schemas.openxmlformats.org/officeDocument/2006/math">
                    <m:r>
                      <a:rPr lang="pt-BR" i="1">
                        <a:latin typeface="Cambria Math" panose="02040503050406030204" pitchFamily="18" charset="0"/>
                      </a:rPr>
                      <m:t>𝑁</m:t>
                    </m:r>
                    <m:r>
                      <a:rPr lang="pt-BR" i="1">
                        <a:latin typeface="Cambria Math" panose="02040503050406030204" pitchFamily="18" charset="0"/>
                      </a:rPr>
                      <m:t> </m:t>
                    </m:r>
                  </m:oMath>
                </a14:m>
                <a:r>
                  <a:rPr lang="pt-BR" dirty="0"/>
                  <a:t>exemplos de todos os </a:t>
                </a:r>
                <a14:m>
                  <m:oMath xmlns:m="http://schemas.openxmlformats.org/officeDocument/2006/math">
                    <m:r>
                      <a:rPr lang="pt-BR" i="1">
                        <a:latin typeface="Cambria Math" panose="02040503050406030204" pitchFamily="18" charset="0"/>
                        <a:ea typeface="Cambria Math" panose="02040503050406030204" pitchFamily="18" charset="0"/>
                      </a:rPr>
                      <m:t>𝐾</m:t>
                    </m:r>
                    <m:r>
                      <a:rPr lang="pt-BR" b="0" i="1" smtClean="0">
                        <a:latin typeface="Cambria Math" panose="02040503050406030204" pitchFamily="18" charset="0"/>
                        <a:ea typeface="Cambria Math" panose="02040503050406030204" pitchFamily="18" charset="0"/>
                      </a:rPr>
                      <m:t>+1</m:t>
                    </m:r>
                    <m:r>
                      <a:rPr lang="pt-BR" i="1">
                        <a:latin typeface="Cambria Math" panose="02040503050406030204" pitchFamily="18" charset="0"/>
                        <a:ea typeface="Cambria Math" panose="02040503050406030204" pitchFamily="18" charset="0"/>
                      </a:rPr>
                      <m:t> </m:t>
                    </m:r>
                  </m:oMath>
                </a14:m>
                <a:r>
                  <a:rPr lang="pt-BR" dirty="0"/>
                  <a:t>atributos e que tem dimensão </a:t>
                </a:r>
                <a14:m>
                  <m:oMath xmlns:m="http://schemas.openxmlformats.org/officeDocument/2006/math">
                    <m:r>
                      <a:rPr lang="pt-BR" b="0" i="1" smtClean="0">
                        <a:latin typeface="Cambria Math" panose="02040503050406030204" pitchFamily="18" charset="0"/>
                      </a:rPr>
                      <m:t>𝑁</m:t>
                    </m:r>
                    <m:r>
                      <a:rPr lang="pt-BR" b="0"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𝐾</m:t>
                    </m:r>
                    <m:r>
                      <a:rPr lang="pt-BR" b="0" i="1" smtClean="0">
                        <a:latin typeface="Cambria Math" panose="02040503050406030204" pitchFamily="18" charset="0"/>
                        <a:ea typeface="Cambria Math" panose="02040503050406030204" pitchFamily="18" charset="0"/>
                      </a:rPr>
                      <m:t>+1</m:t>
                    </m:r>
                  </m:oMath>
                </a14:m>
                <a:endParaRPr lang="pt-BR" dirty="0"/>
              </a:p>
              <a:p>
                <a:pPr marL="0" indent="0">
                  <a:buNone/>
                </a:pPr>
                <a14:m>
                  <m:oMathPara xmlns:m="http://schemas.openxmlformats.org/officeDocument/2006/math">
                    <m:oMath>
                      <m:r>
                        <a:rPr lang="pt-BR" b="1" i="1" smtClean="0">
                          <a:latin typeface="Cambria Math" panose="02040503050406030204" pitchFamily="18" charset="0"/>
                        </a:rPr>
                        <m:t>𝑿</m:t>
                      </m:r>
                      <m:r>
                        <a:rPr lang="pt-BR" b="1" i="1" smtClean="0">
                          <a:latin typeface="Cambria Math" panose="02040503050406030204" pitchFamily="18" charset="0"/>
                        </a:rPr>
                        <m:t>=</m:t>
                      </m:r>
                      <m:d>
                        <m:dPr>
                          <m:begChr m:val="["/>
                          <m:endChr m:val="]"/>
                          <m:ctrlPr>
                            <a:rPr lang="pt-BR" b="1" i="1" smtClean="0">
                              <a:latin typeface="Cambria Math" panose="02040503050406030204" pitchFamily="18" charset="0"/>
                            </a:rPr>
                          </m:ctrlPr>
                        </m:dPr>
                        <m:e>
                          <m:m>
                            <m:mPr>
                              <m:mcs>
                                <m:mc>
                                  <m:mcPr>
                                    <m:count m:val="3"/>
                                    <m:mcJc m:val="center"/>
                                  </m:mcPr>
                                </m:mc>
                              </m:mcs>
                              <m:ctrlPr>
                                <a:rPr lang="pt-BR" b="1" i="1" smtClean="0">
                                  <a:latin typeface="Cambria Math" panose="02040503050406030204" pitchFamily="18" charset="0"/>
                                </a:rPr>
                              </m:ctrlPr>
                            </m:mPr>
                            <m:m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d>
                                  <m:dPr>
                                    <m:ctrlPr>
                                      <a:rPr lang="pt-BR" i="1">
                                        <a:latin typeface="Cambria Math" panose="02040503050406030204" pitchFamily="18" charset="0"/>
                                      </a:rPr>
                                    </m:ctrlPr>
                                  </m:dPr>
                                  <m:e>
                                    <m:r>
                                      <a:rPr lang="pt-BR" i="1">
                                        <a:latin typeface="Cambria Math" panose="02040503050406030204" pitchFamily="18" charset="0"/>
                                      </a:rPr>
                                      <m:t>0</m:t>
                                    </m:r>
                                  </m:e>
                                </m:d>
                              </m:e>
                              <m:e>
                                <m:r>
                                  <m:rPr>
                                    <m:brk m:alnAt="7"/>
                                  </m:rPr>
                                  <a:rPr lang="pt-BR" b="1" i="1">
                                    <a:latin typeface="Cambria Math" panose="02040503050406030204" pitchFamily="18" charset="0"/>
                                  </a:rPr>
                                  <m:t>⋯</m:t>
                                </m:r>
                              </m:e>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b="0" i="1" smtClean="0">
                                        <a:latin typeface="Cambria Math" panose="02040503050406030204" pitchFamily="18" charset="0"/>
                                      </a:rPr>
                                      <m:t>𝐾</m:t>
                                    </m:r>
                                  </m:sub>
                                </m:sSub>
                                <m:d>
                                  <m:dPr>
                                    <m:ctrlPr>
                                      <a:rPr lang="pt-BR" i="1">
                                        <a:latin typeface="Cambria Math" panose="02040503050406030204" pitchFamily="18" charset="0"/>
                                      </a:rPr>
                                    </m:ctrlPr>
                                  </m:dPr>
                                  <m:e>
                                    <m:r>
                                      <a:rPr lang="pt-BR" i="1">
                                        <a:latin typeface="Cambria Math" panose="02040503050406030204" pitchFamily="18" charset="0"/>
                                      </a:rPr>
                                      <m:t>0</m:t>
                                    </m:r>
                                  </m:e>
                                </m:d>
                              </m:e>
                            </m:mr>
                            <m:m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d>
                                  <m:dPr>
                                    <m:ctrlPr>
                                      <a:rPr lang="pt-BR" i="1">
                                        <a:latin typeface="Cambria Math" panose="02040503050406030204" pitchFamily="18" charset="0"/>
                                      </a:rPr>
                                    </m:ctrlPr>
                                  </m:dPr>
                                  <m:e>
                                    <m:r>
                                      <a:rPr lang="pt-BR" i="1">
                                        <a:latin typeface="Cambria Math" panose="02040503050406030204" pitchFamily="18" charset="0"/>
                                      </a:rPr>
                                      <m:t>1</m:t>
                                    </m:r>
                                  </m:e>
                                </m:d>
                              </m:e>
                              <m:e>
                                <m:r>
                                  <m:rPr>
                                    <m:brk m:alnAt="7"/>
                                  </m:rPr>
                                  <a:rPr lang="pt-BR" b="1" i="1">
                                    <a:latin typeface="Cambria Math" panose="02040503050406030204" pitchFamily="18" charset="0"/>
                                  </a:rPr>
                                  <m:t>⋯</m:t>
                                </m:r>
                              </m:e>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b="0" i="1" smtClean="0">
                                        <a:latin typeface="Cambria Math" panose="02040503050406030204" pitchFamily="18" charset="0"/>
                                      </a:rPr>
                                      <m:t>𝐾</m:t>
                                    </m:r>
                                  </m:sub>
                                </m:sSub>
                                <m:d>
                                  <m:dPr>
                                    <m:ctrlPr>
                                      <a:rPr lang="pt-BR" b="0" i="1" smtClean="0">
                                        <a:latin typeface="Cambria Math" panose="02040503050406030204" pitchFamily="18" charset="0"/>
                                      </a:rPr>
                                    </m:ctrlPr>
                                  </m:dPr>
                                  <m:e>
                                    <m:r>
                                      <a:rPr lang="pt-BR" b="0" i="1" smtClean="0">
                                        <a:latin typeface="Cambria Math" panose="02040503050406030204" pitchFamily="18" charset="0"/>
                                      </a:rPr>
                                      <m:t>1</m:t>
                                    </m:r>
                                  </m:e>
                                </m:d>
                              </m:e>
                            </m:mr>
                            <m:mr>
                              <m:e>
                                <m:m>
                                  <m:mPr>
                                    <m:mcs>
                                      <m:mc>
                                        <m:mcPr>
                                          <m:count m:val="1"/>
                                          <m:mcJc m:val="center"/>
                                        </m:mcPr>
                                      </m:mc>
                                    </m:mcs>
                                    <m:ctrlPr>
                                      <a:rPr lang="pt-BR" b="1" i="1" smtClean="0">
                                        <a:latin typeface="Cambria Math" panose="02040503050406030204" pitchFamily="18" charset="0"/>
                                      </a:rPr>
                                    </m:ctrlPr>
                                  </m:mPr>
                                  <m:mr>
                                    <m:e>
                                      <m:r>
                                        <m:rPr>
                                          <m:brk m:alnAt="7"/>
                                        </m:rPr>
                                        <a:rPr lang="pt-BR" b="1" i="1" smtClean="0">
                                          <a:latin typeface="Cambria Math" panose="02040503050406030204" pitchFamily="18" charset="0"/>
                                        </a:rPr>
                                        <m:t>⋮</m:t>
                                      </m:r>
                                    </m:e>
                                  </m:mr>
                                  <m:m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d>
                                        <m:dPr>
                                          <m:ctrlPr>
                                            <a:rPr lang="pt-BR" i="1">
                                              <a:latin typeface="Cambria Math" panose="02040503050406030204" pitchFamily="18" charset="0"/>
                                            </a:rPr>
                                          </m:ctrlPr>
                                        </m:dPr>
                                        <m:e>
                                          <m:r>
                                            <a:rPr lang="pt-BR" i="1">
                                              <a:latin typeface="Cambria Math" panose="02040503050406030204" pitchFamily="18" charset="0"/>
                                            </a:rPr>
                                            <m:t>𝑁</m:t>
                                          </m:r>
                                          <m:r>
                                            <a:rPr lang="pt-BR" i="1">
                                              <a:latin typeface="Cambria Math" panose="02040503050406030204" pitchFamily="18" charset="0"/>
                                            </a:rPr>
                                            <m:t>−1</m:t>
                                          </m:r>
                                        </m:e>
                                      </m:d>
                                    </m:e>
                                  </m:mr>
                                </m:m>
                              </m:e>
                              <m:e>
                                <m:r>
                                  <m:rPr>
                                    <m:brk m:alnAt="7"/>
                                  </m:rPr>
                                  <a:rPr lang="pt-BR" b="1" i="1">
                                    <a:latin typeface="Cambria Math" panose="02040503050406030204" pitchFamily="18" charset="0"/>
                                  </a:rPr>
                                  <m:t>⋯</m:t>
                                </m:r>
                              </m:e>
                              <m:e>
                                <m:m>
                                  <m:mPr>
                                    <m:mcs>
                                      <m:mc>
                                        <m:mcPr>
                                          <m:count m:val="1"/>
                                          <m:mcJc m:val="center"/>
                                        </m:mcPr>
                                      </m:mc>
                                    </m:mcs>
                                    <m:ctrlPr>
                                      <a:rPr lang="pt-BR" i="1" smtClean="0">
                                        <a:latin typeface="Cambria Math" panose="02040503050406030204" pitchFamily="18" charset="0"/>
                                      </a:rPr>
                                    </m:ctrlPr>
                                  </m:mPr>
                                  <m:mr>
                                    <m:e>
                                      <m:r>
                                        <m:rPr>
                                          <m:brk m:alnAt="7"/>
                                        </m:rPr>
                                        <a:rPr lang="pt-BR" b="1" i="1">
                                          <a:latin typeface="Cambria Math" panose="02040503050406030204" pitchFamily="18" charset="0"/>
                                        </a:rPr>
                                        <m:t>⋮</m:t>
                                      </m:r>
                                    </m:e>
                                  </m:mr>
                                  <m:m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𝐾</m:t>
                                          </m:r>
                                        </m:sub>
                                      </m:sSub>
                                      <m:d>
                                        <m:dPr>
                                          <m:ctrlPr>
                                            <a:rPr lang="pt-BR" i="1">
                                              <a:latin typeface="Cambria Math" panose="02040503050406030204" pitchFamily="18" charset="0"/>
                                            </a:rPr>
                                          </m:ctrlPr>
                                        </m:dPr>
                                        <m:e>
                                          <m:r>
                                            <a:rPr lang="pt-BR" i="1">
                                              <a:latin typeface="Cambria Math" panose="02040503050406030204" pitchFamily="18" charset="0"/>
                                            </a:rPr>
                                            <m:t>𝑁</m:t>
                                          </m:r>
                                          <m:r>
                                            <a:rPr lang="pt-BR" i="1">
                                              <a:latin typeface="Cambria Math" panose="02040503050406030204" pitchFamily="18" charset="0"/>
                                            </a:rPr>
                                            <m:t>−1</m:t>
                                          </m:r>
                                        </m:e>
                                      </m:d>
                                    </m:e>
                                  </m:mr>
                                </m:m>
                              </m:e>
                            </m:mr>
                          </m:m>
                        </m:e>
                      </m:d>
                      <m:r>
                        <a:rPr lang="pt-BR" b="1" i="1" smtClean="0">
                          <a:latin typeface="Cambria Math" panose="02040503050406030204" pitchFamily="18" charset="0"/>
                        </a:rPr>
                        <m:t>,</m:t>
                      </m:r>
                    </m:oMath>
                  </m:oMathPara>
                </a14:m>
                <a:endParaRPr lang="pt-BR" dirty="0"/>
              </a:p>
              <a:p>
                <a:pPr marL="0" indent="0">
                  <a:buNone/>
                </a:pPr>
                <a:r>
                  <a:rPr lang="pt-BR" dirty="0"/>
                  <a:t>e dois vetores coluna com dimensões </a:t>
                </a:r>
                <a14:m>
                  <m:oMath xmlns:m="http://schemas.openxmlformats.org/officeDocument/2006/math">
                    <m:r>
                      <a:rPr lang="pt-BR" b="0" i="1" smtClean="0">
                        <a:latin typeface="Cambria Math" panose="02040503050406030204" pitchFamily="18" charset="0"/>
                      </a:rPr>
                      <m:t>𝑁</m:t>
                    </m:r>
                    <m:r>
                      <a:rPr lang="pt-BR" b="0" i="1" smtClean="0">
                        <a:latin typeface="Cambria Math" panose="02040503050406030204" pitchFamily="18" charset="0"/>
                      </a:rPr>
                      <m:t>×1</m:t>
                    </m:r>
                  </m:oMath>
                </a14:m>
                <a:r>
                  <a:rPr lang="pt-BR" dirty="0"/>
                  <a:t> contendo todos os valores esperados (i.e., rótulos) e todos os valores preditos</a:t>
                </a:r>
              </a:p>
              <a:p>
                <a:pPr marL="0" indent="0" algn="ctr">
                  <a:buNone/>
                </a:pPr>
                <a14:m>
                  <m:oMath xmlns:m="http://schemas.openxmlformats.org/officeDocument/2006/math">
                    <m:r>
                      <a:rPr lang="pt-BR" b="1" i="1" smtClean="0">
                        <a:latin typeface="Cambria Math" panose="02040503050406030204" pitchFamily="18" charset="0"/>
                      </a:rPr>
                      <m:t>𝒚</m:t>
                    </m:r>
                    <m:r>
                      <a:rPr lang="pt-BR" b="0" i="1" smtClean="0">
                        <a:latin typeface="Cambria Math" panose="02040503050406030204" pitchFamily="18" charset="0"/>
                      </a:rPr>
                      <m:t>=</m:t>
                    </m:r>
                    <m:d>
                      <m:dPr>
                        <m:begChr m:val="["/>
                        <m:endChr m:val="]"/>
                        <m:ctrlPr>
                          <a:rPr lang="pt-BR" b="0" i="1" smtClean="0">
                            <a:latin typeface="Cambria Math" panose="02040503050406030204" pitchFamily="18" charset="0"/>
                          </a:rPr>
                        </m:ctrlPr>
                      </m:dPr>
                      <m:e>
                        <m:m>
                          <m:mPr>
                            <m:mcs>
                              <m:mc>
                                <m:mcPr>
                                  <m:count m:val="1"/>
                                  <m:mcJc m:val="center"/>
                                </m:mcPr>
                              </m:mc>
                            </m:mcs>
                            <m:ctrlPr>
                              <a:rPr lang="pt-BR" b="0" i="1" smtClean="0">
                                <a:latin typeface="Cambria Math" panose="02040503050406030204" pitchFamily="18" charset="0"/>
                              </a:rPr>
                            </m:ctrlPr>
                          </m:mPr>
                          <m:mr>
                            <m:e>
                              <m:r>
                                <m:rPr>
                                  <m:brk m:alnAt="7"/>
                                </m:rPr>
                                <a:rPr lang="pt-BR" b="0" i="1" smtClean="0">
                                  <a:latin typeface="Cambria Math" panose="02040503050406030204" pitchFamily="18" charset="0"/>
                                </a:rPr>
                                <m:t>𝑦</m:t>
                              </m:r>
                              <m:r>
                                <a:rPr lang="pt-BR" b="0" i="1" smtClean="0">
                                  <a:latin typeface="Cambria Math" panose="02040503050406030204" pitchFamily="18" charset="0"/>
                                </a:rPr>
                                <m:t>(0)</m:t>
                              </m:r>
                            </m:e>
                          </m:mr>
                          <m:mr>
                            <m:e>
                              <m:r>
                                <a:rPr lang="pt-BR" b="0" i="1" smtClean="0">
                                  <a:latin typeface="Cambria Math" panose="02040503050406030204" pitchFamily="18" charset="0"/>
                                </a:rPr>
                                <m:t>⋮</m:t>
                              </m:r>
                            </m:e>
                          </m:mr>
                          <m:mr>
                            <m:e>
                              <m:r>
                                <a:rPr lang="pt-BR" b="0" i="1" smtClean="0">
                                  <a:latin typeface="Cambria Math" panose="02040503050406030204" pitchFamily="18" charset="0"/>
                                </a:rPr>
                                <m:t>𝑦</m:t>
                              </m:r>
                              <m:r>
                                <a:rPr lang="pt-BR" b="0" i="1" smtClean="0">
                                  <a:latin typeface="Cambria Math" panose="02040503050406030204" pitchFamily="18" charset="0"/>
                                </a:rPr>
                                <m:t>(</m:t>
                              </m:r>
                              <m:r>
                                <a:rPr lang="pt-BR" b="0" i="1" smtClean="0">
                                  <a:latin typeface="Cambria Math" panose="02040503050406030204" pitchFamily="18" charset="0"/>
                                </a:rPr>
                                <m:t>𝑁</m:t>
                              </m:r>
                              <m:r>
                                <a:rPr lang="pt-BR" b="0" i="1" smtClean="0">
                                  <a:latin typeface="Cambria Math" panose="02040503050406030204" pitchFamily="18" charset="0"/>
                                </a:rPr>
                                <m:t>−1)</m:t>
                              </m:r>
                            </m:e>
                          </m:mr>
                        </m:m>
                      </m:e>
                    </m:d>
                  </m:oMath>
                </a14:m>
                <a:r>
                  <a:rPr lang="pt-BR" dirty="0"/>
                  <a:t>         e         </a:t>
                </a:r>
                <a14:m>
                  <m:oMath xmlns:m="http://schemas.openxmlformats.org/officeDocument/2006/math">
                    <m:acc>
                      <m:accPr>
                        <m:chr m:val="̂"/>
                        <m:ctrlPr>
                          <a:rPr lang="pt-BR" b="1" i="1" smtClean="0">
                            <a:latin typeface="Cambria Math" panose="02040503050406030204" pitchFamily="18" charset="0"/>
                          </a:rPr>
                        </m:ctrlPr>
                      </m:accPr>
                      <m:e>
                        <m:r>
                          <a:rPr lang="pt-BR" b="1" i="1" smtClean="0">
                            <a:latin typeface="Cambria Math" panose="02040503050406030204" pitchFamily="18" charset="0"/>
                          </a:rPr>
                          <m:t>𝒚</m:t>
                        </m:r>
                      </m:e>
                    </m:acc>
                    <m:r>
                      <a:rPr lang="pt-BR" b="0" i="1" smtClean="0">
                        <a:latin typeface="Cambria Math" panose="02040503050406030204" pitchFamily="18" charset="0"/>
                      </a:rPr>
                      <m:t>=</m:t>
                    </m:r>
                    <m:d>
                      <m:dPr>
                        <m:begChr m:val="["/>
                        <m:endChr m:val="]"/>
                        <m:ctrlPr>
                          <a:rPr lang="pt-BR" b="0" i="1" smtClean="0">
                            <a:latin typeface="Cambria Math" panose="02040503050406030204" pitchFamily="18" charset="0"/>
                          </a:rPr>
                        </m:ctrlPr>
                      </m:dPr>
                      <m:e>
                        <m:m>
                          <m:mPr>
                            <m:mcs>
                              <m:mc>
                                <m:mcPr>
                                  <m:count m:val="1"/>
                                  <m:mcJc m:val="center"/>
                                </m:mcPr>
                              </m:mc>
                            </m:mcs>
                            <m:ctrlPr>
                              <a:rPr lang="pt-BR" b="0" i="1" smtClean="0">
                                <a:latin typeface="Cambria Math" panose="02040503050406030204" pitchFamily="18" charset="0"/>
                              </a:rPr>
                            </m:ctrlPr>
                          </m:mPr>
                          <m:mr>
                            <m:e>
                              <m:acc>
                                <m:accPr>
                                  <m:chr m:val="̂"/>
                                  <m:ctrlPr>
                                    <a:rPr lang="pt-BR" b="0" i="1" smtClean="0">
                                      <a:latin typeface="Cambria Math" panose="02040503050406030204" pitchFamily="18" charset="0"/>
                                    </a:rPr>
                                  </m:ctrlPr>
                                </m:accPr>
                                <m:e>
                                  <m:r>
                                    <a:rPr lang="pt-BR" b="0" i="1" smtClean="0">
                                      <a:latin typeface="Cambria Math" panose="02040503050406030204" pitchFamily="18" charset="0"/>
                                    </a:rPr>
                                    <m:t>𝑦</m:t>
                                  </m:r>
                                </m:e>
                              </m:acc>
                              <m:r>
                                <a:rPr lang="pt-BR" b="0" i="1" smtClean="0">
                                  <a:latin typeface="Cambria Math" panose="02040503050406030204" pitchFamily="18" charset="0"/>
                                </a:rPr>
                                <m:t>(0)</m:t>
                              </m:r>
                            </m:e>
                          </m:mr>
                          <m:mr>
                            <m:e>
                              <m:r>
                                <a:rPr lang="pt-BR" i="1">
                                  <a:latin typeface="Cambria Math" panose="02040503050406030204" pitchFamily="18" charset="0"/>
                                </a:rPr>
                                <m:t>⋮</m:t>
                              </m:r>
                            </m:e>
                          </m:mr>
                          <m:mr>
                            <m:e>
                              <m:acc>
                                <m:accPr>
                                  <m:chr m:val="̂"/>
                                  <m:ctrlPr>
                                    <a:rPr lang="pt-BR" i="1">
                                      <a:latin typeface="Cambria Math" panose="02040503050406030204" pitchFamily="18" charset="0"/>
                                    </a:rPr>
                                  </m:ctrlPr>
                                </m:accPr>
                                <m:e>
                                  <m:r>
                                    <a:rPr lang="pt-BR" i="1">
                                      <a:latin typeface="Cambria Math" panose="02040503050406030204" pitchFamily="18" charset="0"/>
                                    </a:rPr>
                                    <m:t>𝑦</m:t>
                                  </m:r>
                                </m:e>
                              </m:acc>
                              <m:r>
                                <a:rPr lang="pt-BR" i="1">
                                  <a:latin typeface="Cambria Math" panose="02040503050406030204" pitchFamily="18" charset="0"/>
                                </a:rPr>
                                <m:t>(</m:t>
                              </m:r>
                              <m:r>
                                <a:rPr lang="pt-BR" b="0" i="1" smtClean="0">
                                  <a:latin typeface="Cambria Math" panose="02040503050406030204" pitchFamily="18" charset="0"/>
                                </a:rPr>
                                <m:t>𝑁</m:t>
                              </m:r>
                              <m:r>
                                <a:rPr lang="pt-BR" b="0" i="1" smtClean="0">
                                  <a:latin typeface="Cambria Math" panose="02040503050406030204" pitchFamily="18" charset="0"/>
                                </a:rPr>
                                <m:t>−1)</m:t>
                              </m:r>
                            </m:e>
                          </m:mr>
                        </m:m>
                      </m:e>
                    </m:d>
                  </m:oMath>
                </a14:m>
                <a:endParaRPr lang="pt-BR" dirty="0"/>
              </a:p>
              <a:p>
                <a:pPr marL="0" indent="0">
                  <a:buNone/>
                </a:pPr>
                <a:endParaRPr lang="pt-BR" dirty="0"/>
              </a:p>
            </p:txBody>
          </p:sp>
        </mc:Choice>
        <mc:Fallback xmlns="">
          <p:sp>
            <p:nvSpPr>
              <p:cNvPr id="3" name="Espaço Reservado para Conteúdo 2">
                <a:extLst>
                  <a:ext uri="{FF2B5EF4-FFF2-40B4-BE49-F238E27FC236}">
                    <a16:creationId xmlns:a16="http://schemas.microsoft.com/office/drawing/2014/main" id="{61955E10-4B16-2D29-24BC-850FAB262AA9}"/>
                  </a:ext>
                </a:extLst>
              </p:cNvPr>
              <p:cNvSpPr>
                <a:spLocks noGrp="1" noRot="1" noChangeAspect="1" noMove="1" noResize="1" noEditPoints="1" noAdjustHandles="1" noChangeArrowheads="1" noChangeShapeType="1" noTextEdit="1"/>
              </p:cNvSpPr>
              <p:nvPr>
                <p:ph idx="1"/>
              </p:nvPr>
            </p:nvSpPr>
            <p:spPr>
              <a:xfrm>
                <a:off x="838199" y="1825624"/>
                <a:ext cx="11100371" cy="5032375"/>
              </a:xfrm>
              <a:blipFill>
                <a:blip r:embed="rId2"/>
                <a:stretch>
                  <a:fillRect l="-1098" t="-1937"/>
                </a:stretch>
              </a:blipFill>
            </p:spPr>
            <p:txBody>
              <a:bodyPr/>
              <a:lstStyle/>
              <a:p>
                <a:r>
                  <a:rPr lang="pt-BR">
                    <a:noFill/>
                  </a:rPr>
                  <a:t> </a:t>
                </a:r>
              </a:p>
            </p:txBody>
          </p:sp>
        </mc:Fallback>
      </mc:AlternateContent>
    </p:spTree>
    <p:extLst>
      <p:ext uri="{BB962C8B-B14F-4D97-AF65-F5344CB8AC3E}">
        <p14:creationId xmlns:p14="http://schemas.microsoft.com/office/powerpoint/2010/main" val="220271980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6E48CD-5975-9166-CE39-4E765E641534}"/>
              </a:ext>
            </a:extLst>
          </p:cNvPr>
          <p:cNvSpPr>
            <a:spLocks noGrp="1"/>
          </p:cNvSpPr>
          <p:nvPr>
            <p:ph type="title"/>
          </p:nvPr>
        </p:nvSpPr>
        <p:spPr/>
        <p:txBody>
          <a:bodyPr/>
          <a:lstStyle/>
          <a:p>
            <a:r>
              <a:rPr lang="pt-BR" dirty="0"/>
              <a:t>Cálculo do vetor gradiente</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9B6FE6F4-46A6-5D0C-B281-F2FF9F531349}"/>
                  </a:ext>
                </a:extLst>
              </p:cNvPr>
              <p:cNvSpPr>
                <a:spLocks noGrp="1"/>
              </p:cNvSpPr>
              <p:nvPr>
                <p:ph idx="1"/>
              </p:nvPr>
            </p:nvSpPr>
            <p:spPr>
              <a:xfrm>
                <a:off x="838199" y="1825624"/>
                <a:ext cx="11244209" cy="5032375"/>
              </a:xfrm>
            </p:spPr>
            <p:txBody>
              <a:bodyPr>
                <a:normAutofit lnSpcReduction="10000"/>
              </a:bodyPr>
              <a:lstStyle/>
              <a:p>
                <a:pPr marL="0" indent="0">
                  <a:buNone/>
                </a:pPr>
                <a:r>
                  <a:rPr lang="pt-BR" dirty="0"/>
                  <a:t>Usando a matriz e os vetores definidos no slide anterior, podemos reescrever o vetor gradiente como</a:t>
                </a:r>
              </a:p>
              <a:p>
                <a:pPr marL="0" indent="0">
                  <a:buNone/>
                </a:pPr>
                <a14:m>
                  <m:oMathPara xmlns:m="http://schemas.openxmlformats.org/officeDocument/2006/math">
                    <m:oMath>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num>
                        <m:den>
                          <m:r>
                            <a:rPr lang="pt-BR" i="1">
                              <a:latin typeface="Cambria Math" panose="02040503050406030204" pitchFamily="18" charset="0"/>
                            </a:rPr>
                            <m:t>𝜕</m:t>
                          </m:r>
                          <m:r>
                            <a:rPr lang="pt-BR" b="1" i="1">
                              <a:latin typeface="Cambria Math" panose="02040503050406030204" pitchFamily="18" charset="0"/>
                            </a:rPr>
                            <m:t>𝒂</m:t>
                          </m:r>
                        </m:den>
                      </m:f>
                      <m:r>
                        <a:rPr lang="pt-BR" b="0" i="0" smtClean="0">
                          <a:latin typeface="Cambria Math" panose="02040503050406030204" pitchFamily="18" charset="0"/>
                        </a:rPr>
                        <m:t>=</m:t>
                      </m:r>
                      <m:r>
                        <a:rPr lang="pt-BR">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2</m:t>
                          </m:r>
                        </m:num>
                        <m:den>
                          <m:r>
                            <a:rPr lang="pt-BR" i="1">
                              <a:latin typeface="Cambria Math" panose="02040503050406030204" pitchFamily="18" charset="0"/>
                            </a:rPr>
                            <m:t>𝑁</m:t>
                          </m:r>
                        </m:den>
                      </m:f>
                      <m:d>
                        <m:dPr>
                          <m:begChr m:val="["/>
                          <m:endChr m:val="]"/>
                          <m:ctrlPr>
                            <a:rPr lang="pt-BR" b="1" i="1">
                              <a:latin typeface="Cambria Math" panose="02040503050406030204" pitchFamily="18" charset="0"/>
                            </a:rPr>
                          </m:ctrlPr>
                        </m:dPr>
                        <m:e>
                          <m:m>
                            <m:mPr>
                              <m:mcs>
                                <m:mc>
                                  <m:mcPr>
                                    <m:count m:val="3"/>
                                    <m:mcJc m:val="center"/>
                                  </m:mcPr>
                                </m:mc>
                              </m:mcs>
                              <m:ctrlPr>
                                <a:rPr lang="pt-BR" b="1" i="1">
                                  <a:latin typeface="Cambria Math" panose="02040503050406030204" pitchFamily="18" charset="0"/>
                                </a:rPr>
                              </m:ctrlPr>
                            </m:mPr>
                            <m:m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d>
                                  <m:dPr>
                                    <m:ctrlPr>
                                      <a:rPr lang="pt-BR" i="1">
                                        <a:latin typeface="Cambria Math" panose="02040503050406030204" pitchFamily="18" charset="0"/>
                                      </a:rPr>
                                    </m:ctrlPr>
                                  </m:dPr>
                                  <m:e>
                                    <m:r>
                                      <a:rPr lang="pt-BR" i="1">
                                        <a:latin typeface="Cambria Math" panose="02040503050406030204" pitchFamily="18" charset="0"/>
                                      </a:rPr>
                                      <m:t>0</m:t>
                                    </m:r>
                                  </m:e>
                                </m:d>
                              </m:e>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d>
                                  <m:dPr>
                                    <m:ctrlPr>
                                      <a:rPr lang="pt-BR" i="1">
                                        <a:latin typeface="Cambria Math" panose="02040503050406030204" pitchFamily="18" charset="0"/>
                                      </a:rPr>
                                    </m:ctrlPr>
                                  </m:dPr>
                                  <m:e>
                                    <m:r>
                                      <a:rPr lang="pt-BR" i="1">
                                        <a:latin typeface="Cambria Math" panose="02040503050406030204" pitchFamily="18" charset="0"/>
                                      </a:rPr>
                                      <m:t>1</m:t>
                                    </m:r>
                                  </m:e>
                                </m:d>
                              </m:e>
                              <m:e>
                                <m:m>
                                  <m:mPr>
                                    <m:mcs>
                                      <m:mc>
                                        <m:mcPr>
                                          <m:count m:val="2"/>
                                          <m:mcJc m:val="center"/>
                                        </m:mcPr>
                                      </m:mc>
                                    </m:mcs>
                                    <m:ctrlPr>
                                      <a:rPr lang="pt-BR" b="1" i="1">
                                        <a:latin typeface="Cambria Math" panose="02040503050406030204" pitchFamily="18" charset="0"/>
                                      </a:rPr>
                                    </m:ctrlPr>
                                  </m:mPr>
                                  <m:mr>
                                    <m:e>
                                      <m:r>
                                        <m:rPr>
                                          <m:brk m:alnAt="7"/>
                                        </m:rPr>
                                        <a:rPr lang="pt-BR" b="1" i="1">
                                          <a:latin typeface="Cambria Math" panose="02040503050406030204" pitchFamily="18" charset="0"/>
                                        </a:rPr>
                                        <m:t>⋯</m:t>
                                      </m:r>
                                    </m:e>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d>
                                        <m:dPr>
                                          <m:ctrlPr>
                                            <a:rPr lang="pt-BR" i="1">
                                              <a:latin typeface="Cambria Math" panose="02040503050406030204" pitchFamily="18" charset="0"/>
                                            </a:rPr>
                                          </m:ctrlPr>
                                        </m:dPr>
                                        <m:e>
                                          <m:r>
                                            <a:rPr lang="pt-BR" i="1">
                                              <a:latin typeface="Cambria Math" panose="02040503050406030204" pitchFamily="18" charset="0"/>
                                            </a:rPr>
                                            <m:t>𝑁</m:t>
                                          </m:r>
                                          <m:r>
                                            <a:rPr lang="pt-BR" i="1">
                                              <a:latin typeface="Cambria Math" panose="02040503050406030204" pitchFamily="18" charset="0"/>
                                            </a:rPr>
                                            <m:t>−1</m:t>
                                          </m:r>
                                        </m:e>
                                      </m:d>
                                    </m:e>
                                  </m:mr>
                                </m:m>
                              </m:e>
                            </m:mr>
                            <m:mr>
                              <m:e>
                                <m:r>
                                  <a:rPr lang="pt-BR" b="1" i="1">
                                    <a:latin typeface="Cambria Math" panose="02040503050406030204" pitchFamily="18" charset="0"/>
                                  </a:rPr>
                                  <m:t>⋮</m:t>
                                </m:r>
                              </m:e>
                              <m:e>
                                <m:r>
                                  <a:rPr lang="pt-BR" b="1" i="1">
                                    <a:latin typeface="Cambria Math" panose="02040503050406030204" pitchFamily="18" charset="0"/>
                                  </a:rPr>
                                  <m:t>⋮</m:t>
                                </m:r>
                              </m:e>
                              <m:e>
                                <m:r>
                                  <a:rPr lang="pt-BR" b="1" i="1">
                                    <a:latin typeface="Cambria Math" panose="02040503050406030204" pitchFamily="18" charset="0"/>
                                  </a:rPr>
                                  <m:t>⋮</m:t>
                                </m:r>
                              </m:e>
                            </m:mr>
                            <m:m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𝐾</m:t>
                                    </m:r>
                                  </m:sub>
                                </m:sSub>
                                <m:d>
                                  <m:dPr>
                                    <m:ctrlPr>
                                      <a:rPr lang="pt-BR" i="1">
                                        <a:latin typeface="Cambria Math" panose="02040503050406030204" pitchFamily="18" charset="0"/>
                                      </a:rPr>
                                    </m:ctrlPr>
                                  </m:dPr>
                                  <m:e>
                                    <m:r>
                                      <a:rPr lang="pt-BR" i="1">
                                        <a:latin typeface="Cambria Math" panose="02040503050406030204" pitchFamily="18" charset="0"/>
                                      </a:rPr>
                                      <m:t>0</m:t>
                                    </m:r>
                                  </m:e>
                                </m:d>
                              </m:e>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𝐾</m:t>
                                    </m:r>
                                  </m:sub>
                                </m:sSub>
                                <m:d>
                                  <m:dPr>
                                    <m:ctrlPr>
                                      <a:rPr lang="pt-BR" i="1">
                                        <a:latin typeface="Cambria Math" panose="02040503050406030204" pitchFamily="18" charset="0"/>
                                      </a:rPr>
                                    </m:ctrlPr>
                                  </m:dPr>
                                  <m:e>
                                    <m:r>
                                      <a:rPr lang="pt-BR" i="1">
                                        <a:latin typeface="Cambria Math" panose="02040503050406030204" pitchFamily="18" charset="0"/>
                                      </a:rPr>
                                      <m:t>1</m:t>
                                    </m:r>
                                  </m:e>
                                </m:d>
                              </m:e>
                              <m:e>
                                <m:m>
                                  <m:mPr>
                                    <m:mcs>
                                      <m:mc>
                                        <m:mcPr>
                                          <m:count m:val="2"/>
                                          <m:mcJc m:val="center"/>
                                        </m:mcPr>
                                      </m:mc>
                                    </m:mcs>
                                    <m:ctrlPr>
                                      <a:rPr lang="pt-BR" b="1" i="1">
                                        <a:latin typeface="Cambria Math" panose="02040503050406030204" pitchFamily="18" charset="0"/>
                                      </a:rPr>
                                    </m:ctrlPr>
                                  </m:mPr>
                                  <m:mr>
                                    <m:e>
                                      <m:r>
                                        <m:rPr>
                                          <m:brk m:alnAt="7"/>
                                        </m:rPr>
                                        <a:rPr lang="pt-BR" b="1" i="1">
                                          <a:latin typeface="Cambria Math" panose="02040503050406030204" pitchFamily="18" charset="0"/>
                                        </a:rPr>
                                        <m:t>⋯</m:t>
                                      </m:r>
                                    </m:e>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𝐾</m:t>
                                          </m:r>
                                        </m:sub>
                                      </m:sSub>
                                      <m:d>
                                        <m:dPr>
                                          <m:ctrlPr>
                                            <a:rPr lang="pt-BR" i="1">
                                              <a:latin typeface="Cambria Math" panose="02040503050406030204" pitchFamily="18" charset="0"/>
                                            </a:rPr>
                                          </m:ctrlPr>
                                        </m:dPr>
                                        <m:e>
                                          <m:r>
                                            <a:rPr lang="pt-BR" i="1">
                                              <a:latin typeface="Cambria Math" panose="02040503050406030204" pitchFamily="18" charset="0"/>
                                            </a:rPr>
                                            <m:t>𝑁</m:t>
                                          </m:r>
                                          <m:r>
                                            <a:rPr lang="pt-BR" i="1">
                                              <a:latin typeface="Cambria Math" panose="02040503050406030204" pitchFamily="18" charset="0"/>
                                            </a:rPr>
                                            <m:t>−1</m:t>
                                          </m:r>
                                        </m:e>
                                      </m:d>
                                    </m:e>
                                  </m:mr>
                                </m:m>
                              </m:e>
                            </m:mr>
                          </m:m>
                        </m:e>
                      </m:d>
                      <m:d>
                        <m:dPr>
                          <m:ctrlPr>
                            <a:rPr lang="pt-BR" b="1" i="1">
                              <a:latin typeface="Cambria Math" panose="02040503050406030204" pitchFamily="18" charset="0"/>
                            </a:rPr>
                          </m:ctrlPr>
                        </m:dPr>
                        <m:e>
                          <m:d>
                            <m:dPr>
                              <m:begChr m:val="["/>
                              <m:endChr m:val="]"/>
                              <m:ctrlPr>
                                <a:rPr lang="pt-BR" b="1" i="1">
                                  <a:latin typeface="Cambria Math" panose="02040503050406030204" pitchFamily="18" charset="0"/>
                                </a:rPr>
                              </m:ctrlPr>
                            </m:dPr>
                            <m:e>
                              <m:m>
                                <m:mPr>
                                  <m:mcs>
                                    <m:mc>
                                      <m:mcPr>
                                        <m:count m:val="1"/>
                                        <m:mcJc m:val="center"/>
                                      </m:mcPr>
                                    </m:mc>
                                  </m:mcs>
                                  <m:ctrlPr>
                                    <a:rPr lang="pt-BR" b="1" i="1">
                                      <a:latin typeface="Cambria Math" panose="02040503050406030204" pitchFamily="18" charset="0"/>
                                    </a:rPr>
                                  </m:ctrlPr>
                                </m:mPr>
                                <m:mr>
                                  <m:e>
                                    <m:r>
                                      <m:rPr>
                                        <m:brk m:alnAt="7"/>
                                      </m:rP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0</m:t>
                                        </m:r>
                                      </m:e>
                                    </m:d>
                                  </m:e>
                                </m:mr>
                                <m:mr>
                                  <m:e>
                                    <m: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1</m:t>
                                        </m:r>
                                      </m:e>
                                    </m:d>
                                  </m:e>
                                </m:mr>
                                <m:mr>
                                  <m:e>
                                    <m:m>
                                      <m:mPr>
                                        <m:mcs>
                                          <m:mc>
                                            <m:mcPr>
                                              <m:count m:val="1"/>
                                              <m:mcJc m:val="center"/>
                                            </m:mcPr>
                                          </m:mc>
                                        </m:mcs>
                                        <m:ctrlPr>
                                          <a:rPr lang="pt-BR" b="1" i="1">
                                            <a:latin typeface="Cambria Math" panose="02040503050406030204" pitchFamily="18" charset="0"/>
                                          </a:rPr>
                                        </m:ctrlPr>
                                      </m:mPr>
                                      <m:mr>
                                        <m:e>
                                          <m:r>
                                            <m:rPr>
                                              <m:brk m:alnAt="7"/>
                                            </m:rPr>
                                            <a:rPr lang="pt-BR" b="1" i="1">
                                              <a:latin typeface="Cambria Math" panose="02040503050406030204" pitchFamily="18" charset="0"/>
                                            </a:rPr>
                                            <m:t>⋮</m:t>
                                          </m:r>
                                        </m:e>
                                      </m:mr>
                                      <m:mr>
                                        <m:e>
                                          <m: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𝑁</m:t>
                                              </m:r>
                                              <m:r>
                                                <a:rPr lang="pt-BR" i="1">
                                                  <a:latin typeface="Cambria Math" panose="02040503050406030204" pitchFamily="18" charset="0"/>
                                                </a:rPr>
                                                <m:t>−1</m:t>
                                              </m:r>
                                            </m:e>
                                          </m:d>
                                        </m:e>
                                      </m:mr>
                                    </m:m>
                                  </m:e>
                                </m:mr>
                              </m:m>
                            </m:e>
                          </m:d>
                          <m:r>
                            <a:rPr lang="pt-BR" b="1" i="1" smtClean="0">
                              <a:latin typeface="Cambria Math" panose="02040503050406030204" pitchFamily="18" charset="0"/>
                            </a:rPr>
                            <m:t>−</m:t>
                          </m:r>
                          <m:d>
                            <m:dPr>
                              <m:begChr m:val="["/>
                              <m:endChr m:val="]"/>
                              <m:ctrlPr>
                                <a:rPr lang="pt-BR" b="1" i="1">
                                  <a:latin typeface="Cambria Math" panose="02040503050406030204" pitchFamily="18" charset="0"/>
                                </a:rPr>
                              </m:ctrlPr>
                            </m:dPr>
                            <m:e>
                              <m:m>
                                <m:mPr>
                                  <m:mcs>
                                    <m:mc>
                                      <m:mcPr>
                                        <m:count m:val="1"/>
                                        <m:mcJc m:val="center"/>
                                      </m:mcPr>
                                    </m:mc>
                                  </m:mcs>
                                  <m:ctrlPr>
                                    <a:rPr lang="pt-BR" b="1" i="1">
                                      <a:latin typeface="Cambria Math" panose="02040503050406030204" pitchFamily="18" charset="0"/>
                                    </a:rPr>
                                  </m:ctrlPr>
                                </m:mPr>
                                <m:mr>
                                  <m:e>
                                    <m:acc>
                                      <m:accPr>
                                        <m:chr m:val="̂"/>
                                        <m:ctrlPr>
                                          <a:rPr lang="pt-BR" b="0" i="1" smtClean="0">
                                            <a:latin typeface="Cambria Math" panose="02040503050406030204" pitchFamily="18" charset="0"/>
                                          </a:rPr>
                                        </m:ctrlPr>
                                      </m:accPr>
                                      <m:e>
                                        <m:r>
                                          <a:rPr lang="pt-BR" b="0" i="1" smtClean="0">
                                            <a:latin typeface="Cambria Math" panose="02040503050406030204" pitchFamily="18" charset="0"/>
                                          </a:rPr>
                                          <m:t>𝑦</m:t>
                                        </m:r>
                                      </m:e>
                                    </m:acc>
                                    <m:d>
                                      <m:dPr>
                                        <m:ctrlPr>
                                          <a:rPr lang="pt-BR" i="1">
                                            <a:latin typeface="Cambria Math" panose="02040503050406030204" pitchFamily="18" charset="0"/>
                                          </a:rPr>
                                        </m:ctrlPr>
                                      </m:dPr>
                                      <m:e>
                                        <m:r>
                                          <a:rPr lang="pt-BR" i="1">
                                            <a:latin typeface="Cambria Math" panose="02040503050406030204" pitchFamily="18" charset="0"/>
                                          </a:rPr>
                                          <m:t>0</m:t>
                                        </m:r>
                                      </m:e>
                                    </m:d>
                                  </m:e>
                                </m:mr>
                                <m:mr>
                                  <m:e>
                                    <m:acc>
                                      <m:accPr>
                                        <m:chr m:val="̂"/>
                                        <m:ctrlPr>
                                          <a:rPr lang="pt-BR" i="1">
                                            <a:latin typeface="Cambria Math" panose="02040503050406030204" pitchFamily="18" charset="0"/>
                                          </a:rPr>
                                        </m:ctrlPr>
                                      </m:accPr>
                                      <m:e>
                                        <m:r>
                                          <a:rPr lang="pt-BR" i="1">
                                            <a:latin typeface="Cambria Math" panose="02040503050406030204" pitchFamily="18" charset="0"/>
                                          </a:rPr>
                                          <m:t>𝑦</m:t>
                                        </m:r>
                                      </m:e>
                                    </m:acc>
                                    <m:d>
                                      <m:dPr>
                                        <m:ctrlPr>
                                          <a:rPr lang="pt-BR" i="1">
                                            <a:latin typeface="Cambria Math" panose="02040503050406030204" pitchFamily="18" charset="0"/>
                                          </a:rPr>
                                        </m:ctrlPr>
                                      </m:dPr>
                                      <m:e>
                                        <m:r>
                                          <a:rPr lang="pt-BR" i="1">
                                            <a:latin typeface="Cambria Math" panose="02040503050406030204" pitchFamily="18" charset="0"/>
                                          </a:rPr>
                                          <m:t>1</m:t>
                                        </m:r>
                                      </m:e>
                                    </m:d>
                                  </m:e>
                                </m:mr>
                                <m:mr>
                                  <m:e>
                                    <m:m>
                                      <m:mPr>
                                        <m:mcs>
                                          <m:mc>
                                            <m:mcPr>
                                              <m:count m:val="1"/>
                                              <m:mcJc m:val="center"/>
                                            </m:mcPr>
                                          </m:mc>
                                        </m:mcs>
                                        <m:ctrlPr>
                                          <a:rPr lang="pt-BR" b="1" i="1">
                                            <a:latin typeface="Cambria Math" panose="02040503050406030204" pitchFamily="18" charset="0"/>
                                          </a:rPr>
                                        </m:ctrlPr>
                                      </m:mPr>
                                      <m:mr>
                                        <m:e>
                                          <m:r>
                                            <m:rPr>
                                              <m:brk m:alnAt="7"/>
                                            </m:rPr>
                                            <a:rPr lang="pt-BR" b="1" i="1">
                                              <a:latin typeface="Cambria Math" panose="02040503050406030204" pitchFamily="18" charset="0"/>
                                            </a:rPr>
                                            <m:t>⋮</m:t>
                                          </m:r>
                                        </m:e>
                                      </m:mr>
                                      <m:mr>
                                        <m:e>
                                          <m:acc>
                                            <m:accPr>
                                              <m:chr m:val="̂"/>
                                              <m:ctrlPr>
                                                <a:rPr lang="pt-BR" i="1">
                                                  <a:latin typeface="Cambria Math" panose="02040503050406030204" pitchFamily="18" charset="0"/>
                                                </a:rPr>
                                              </m:ctrlPr>
                                            </m:accPr>
                                            <m:e>
                                              <m:r>
                                                <a:rPr lang="pt-BR" i="1">
                                                  <a:latin typeface="Cambria Math" panose="02040503050406030204" pitchFamily="18" charset="0"/>
                                                </a:rPr>
                                                <m:t>𝑦</m:t>
                                              </m:r>
                                            </m:e>
                                          </m:acc>
                                          <m:d>
                                            <m:dPr>
                                              <m:ctrlPr>
                                                <a:rPr lang="pt-BR" i="1">
                                                  <a:latin typeface="Cambria Math" panose="02040503050406030204" pitchFamily="18" charset="0"/>
                                                </a:rPr>
                                              </m:ctrlPr>
                                            </m:dPr>
                                            <m:e>
                                              <m:r>
                                                <a:rPr lang="pt-BR" i="1">
                                                  <a:latin typeface="Cambria Math" panose="02040503050406030204" pitchFamily="18" charset="0"/>
                                                </a:rPr>
                                                <m:t>𝑁</m:t>
                                              </m:r>
                                              <m:r>
                                                <a:rPr lang="pt-BR" i="1">
                                                  <a:latin typeface="Cambria Math" panose="02040503050406030204" pitchFamily="18" charset="0"/>
                                                </a:rPr>
                                                <m:t>−1</m:t>
                                              </m:r>
                                            </m:e>
                                          </m:d>
                                        </m:e>
                                      </m:mr>
                                    </m:m>
                                  </m:e>
                                </m:mr>
                              </m:m>
                            </m:e>
                          </m:d>
                        </m:e>
                      </m:d>
                    </m:oMath>
                  </m:oMathPara>
                </a14:m>
                <a:endParaRPr lang="pt-BR" b="1" i="1" dirty="0">
                  <a:latin typeface="Cambria Math" panose="02040503050406030204" pitchFamily="18" charset="0"/>
                </a:endParaRPr>
              </a:p>
              <a:p>
                <a:pPr marL="0" indent="0">
                  <a:buNone/>
                </a:pPr>
                <a14:m>
                  <m:oMathPara xmlns:m="http://schemas.openxmlformats.org/officeDocument/2006/math">
                    <m:oMath>
                      <m:r>
                        <a:rPr lang="pt-BR" i="1">
                          <a:latin typeface="Cambria Math" panose="02040503050406030204" pitchFamily="18" charset="0"/>
                        </a:rPr>
                        <m:t>=</m:t>
                      </m:r>
                      <m:sSup>
                        <m:sSupPr>
                          <m:ctrlPr>
                            <a:rPr lang="pt-BR" i="1">
                              <a:latin typeface="Cambria Math" panose="02040503050406030204" pitchFamily="18" charset="0"/>
                            </a:rPr>
                          </m:ctrlPr>
                        </m:sSupPr>
                        <m:e>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2</m:t>
                              </m:r>
                            </m:num>
                            <m:den>
                              <m:r>
                                <a:rPr lang="pt-BR" i="1">
                                  <a:latin typeface="Cambria Math" panose="02040503050406030204" pitchFamily="18" charset="0"/>
                                </a:rPr>
                                <m:t>𝑁</m:t>
                              </m:r>
                            </m:den>
                          </m:f>
                          <m:r>
                            <a:rPr lang="pt-BR" b="1" i="1">
                              <a:latin typeface="Cambria Math" panose="02040503050406030204" pitchFamily="18" charset="0"/>
                            </a:rPr>
                            <m:t>𝑿</m:t>
                          </m:r>
                        </m:e>
                        <m:sup>
                          <m:r>
                            <a:rPr lang="pt-BR" i="1">
                              <a:latin typeface="Cambria Math" panose="02040503050406030204" pitchFamily="18" charset="0"/>
                            </a:rPr>
                            <m:t>𝑇</m:t>
                          </m:r>
                        </m:sup>
                      </m:sSup>
                      <m:d>
                        <m:dPr>
                          <m:ctrlPr>
                            <a:rPr lang="pt-BR" b="1" i="1">
                              <a:latin typeface="Cambria Math" panose="02040503050406030204" pitchFamily="18" charset="0"/>
                            </a:rPr>
                          </m:ctrlPr>
                        </m:dPr>
                        <m:e>
                          <m:r>
                            <a:rPr lang="pt-BR" b="1" i="1">
                              <a:latin typeface="Cambria Math" panose="02040503050406030204" pitchFamily="18" charset="0"/>
                            </a:rPr>
                            <m:t>𝒚</m:t>
                          </m:r>
                          <m:r>
                            <a:rPr lang="pt-BR" i="1">
                              <a:latin typeface="Cambria Math" panose="02040503050406030204" pitchFamily="18" charset="0"/>
                            </a:rPr>
                            <m:t>−</m:t>
                          </m:r>
                          <m:acc>
                            <m:accPr>
                              <m:chr m:val="̂"/>
                              <m:ctrlPr>
                                <a:rPr lang="pt-BR" b="1" i="1">
                                  <a:latin typeface="Cambria Math" panose="02040503050406030204" pitchFamily="18" charset="0"/>
                                </a:rPr>
                              </m:ctrlPr>
                            </m:accPr>
                            <m:e>
                              <m:r>
                                <a:rPr lang="pt-BR" b="1" i="1">
                                  <a:latin typeface="Cambria Math" panose="02040503050406030204" pitchFamily="18" charset="0"/>
                                </a:rPr>
                                <m:t>𝒚</m:t>
                              </m:r>
                            </m:e>
                          </m:acc>
                        </m:e>
                      </m:d>
                    </m:oMath>
                  </m:oMathPara>
                </a14:m>
                <a:endParaRPr lang="pt-BR" dirty="0"/>
              </a:p>
              <a:p>
                <a:pPr marL="0" indent="0">
                  <a:buNone/>
                </a:pPr>
                <a:r>
                  <a:rPr lang="pt-BR" dirty="0"/>
                  <a:t>O resultado da multiplicação matricial acima continua resultando em um</a:t>
                </a:r>
                <a:r>
                  <a:rPr lang="pt-BR" b="1" i="1" dirty="0"/>
                  <a:t> vetor coluna </a:t>
                </a:r>
                <a:r>
                  <a:rPr lang="pt-BR" dirty="0"/>
                  <a:t>com dimensão </a:t>
                </a:r>
                <a14:m>
                  <m:oMath xmlns:m="http://schemas.openxmlformats.org/officeDocument/2006/math">
                    <m:r>
                      <a:rPr lang="pt-BR" b="0" i="1" smtClean="0">
                        <a:latin typeface="Cambria Math" panose="02040503050406030204" pitchFamily="18" charset="0"/>
                      </a:rPr>
                      <m:t>𝐾</m:t>
                    </m:r>
                    <m:r>
                      <a:rPr lang="pt-BR" b="0" i="1" smtClean="0">
                        <a:latin typeface="Cambria Math" panose="02040503050406030204" pitchFamily="18" charset="0"/>
                      </a:rPr>
                      <m:t>+1×1</m:t>
                    </m:r>
                  </m:oMath>
                </a14:m>
                <a:r>
                  <a:rPr lang="pt-BR" dirty="0"/>
                  <a:t>, ou seja, </a:t>
                </a:r>
                <a14:m>
                  <m:oMath xmlns:m="http://schemas.openxmlformats.org/officeDocument/2006/math">
                    <m:d>
                      <m:dPr>
                        <m:ctrlPr>
                          <a:rPr lang="pt-BR" i="1">
                            <a:latin typeface="Cambria Math" panose="02040503050406030204" pitchFamily="18" charset="0"/>
                          </a:rPr>
                        </m:ctrlPr>
                      </m:dPr>
                      <m:e>
                        <m:r>
                          <a:rPr lang="pt-BR" i="1">
                            <a:latin typeface="Cambria Math" panose="02040503050406030204" pitchFamily="18" charset="0"/>
                          </a:rPr>
                          <m:t>𝐾</m:t>
                        </m:r>
                        <m:r>
                          <a:rPr lang="pt-BR" i="1">
                            <a:latin typeface="Cambria Math" panose="02040503050406030204" pitchFamily="18" charset="0"/>
                          </a:rPr>
                          <m:t>+1×</m:t>
                        </m:r>
                        <m:r>
                          <a:rPr lang="pt-BR" i="1">
                            <a:latin typeface="Cambria Math" panose="02040503050406030204" pitchFamily="18" charset="0"/>
                            <a:ea typeface="Cambria Math" panose="02040503050406030204" pitchFamily="18" charset="0"/>
                          </a:rPr>
                          <m:t>𝑁</m:t>
                        </m:r>
                      </m:e>
                    </m:d>
                    <m:r>
                      <a:rPr lang="pt-BR" b="0" i="1" smtClean="0">
                        <a:latin typeface="Cambria Math" panose="02040503050406030204" pitchFamily="18" charset="0"/>
                        <a:ea typeface="Cambria Math" panose="02040503050406030204" pitchFamily="18" charset="0"/>
                      </a:rPr>
                      <m:t>×</m:t>
                    </m:r>
                    <m:d>
                      <m:dPr>
                        <m:ctrlPr>
                          <a:rPr lang="pt-BR" b="0" i="1" smtClean="0">
                            <a:latin typeface="Cambria Math" panose="02040503050406030204" pitchFamily="18" charset="0"/>
                            <a:ea typeface="Cambria Math" panose="02040503050406030204" pitchFamily="18" charset="0"/>
                          </a:rPr>
                        </m:ctrlPr>
                      </m:dPr>
                      <m:e>
                        <m:r>
                          <a:rPr lang="pt-BR" b="0" i="1" smtClean="0">
                            <a:latin typeface="Cambria Math" panose="02040503050406030204" pitchFamily="18" charset="0"/>
                            <a:ea typeface="Cambria Math" panose="02040503050406030204" pitchFamily="18" charset="0"/>
                          </a:rPr>
                          <m:t>𝑁</m:t>
                        </m:r>
                        <m:r>
                          <a:rPr lang="pt-BR" b="0" i="1" smtClean="0">
                            <a:latin typeface="Cambria Math" panose="02040503050406030204" pitchFamily="18" charset="0"/>
                            <a:ea typeface="Cambria Math" panose="02040503050406030204" pitchFamily="18" charset="0"/>
                          </a:rPr>
                          <m:t>×1</m:t>
                        </m:r>
                      </m:e>
                    </m:d>
                    <m:r>
                      <a:rPr lang="pt-BR" b="0" i="0" smtClean="0">
                        <a:latin typeface="Cambria Math" panose="02040503050406030204" pitchFamily="18" charset="0"/>
                        <a:ea typeface="Cambria Math" panose="02040503050406030204" pitchFamily="18" charset="0"/>
                      </a:rPr>
                      <m:t>=</m:t>
                    </m:r>
                    <m:r>
                      <a:rPr lang="pt-BR" i="1">
                        <a:latin typeface="Cambria Math" panose="02040503050406030204" pitchFamily="18" charset="0"/>
                      </a:rPr>
                      <m:t>𝐾</m:t>
                    </m:r>
                    <m:r>
                      <a:rPr lang="pt-BR" i="1">
                        <a:latin typeface="Cambria Math" panose="02040503050406030204" pitchFamily="18" charset="0"/>
                      </a:rPr>
                      <m:t>+1×1</m:t>
                    </m:r>
                  </m:oMath>
                </a14:m>
                <a:r>
                  <a:rPr lang="pt-BR" dirty="0"/>
                  <a:t>.</a:t>
                </a:r>
              </a:p>
            </p:txBody>
          </p:sp>
        </mc:Choice>
        <mc:Fallback xmlns="">
          <p:sp>
            <p:nvSpPr>
              <p:cNvPr id="3" name="Espaço Reservado para Conteúdo 2">
                <a:extLst>
                  <a:ext uri="{FF2B5EF4-FFF2-40B4-BE49-F238E27FC236}">
                    <a16:creationId xmlns:a16="http://schemas.microsoft.com/office/drawing/2014/main" id="{9B6FE6F4-46A6-5D0C-B281-F2FF9F531349}"/>
                  </a:ext>
                </a:extLst>
              </p:cNvPr>
              <p:cNvSpPr>
                <a:spLocks noGrp="1" noRot="1" noChangeAspect="1" noMove="1" noResize="1" noEditPoints="1" noAdjustHandles="1" noChangeArrowheads="1" noChangeShapeType="1" noTextEdit="1"/>
              </p:cNvSpPr>
              <p:nvPr>
                <p:ph idx="1"/>
              </p:nvPr>
            </p:nvSpPr>
            <p:spPr>
              <a:xfrm>
                <a:off x="838199" y="1825624"/>
                <a:ext cx="11244209" cy="5032375"/>
              </a:xfrm>
              <a:blipFill>
                <a:blip r:embed="rId2"/>
                <a:stretch>
                  <a:fillRect l="-1084" t="-2663" b="-969"/>
                </a:stretch>
              </a:blipFill>
            </p:spPr>
            <p:txBody>
              <a:bodyPr/>
              <a:lstStyle/>
              <a:p>
                <a:r>
                  <a:rPr lang="pt-BR">
                    <a:noFill/>
                  </a:rPr>
                  <a:t> </a:t>
                </a:r>
              </a:p>
            </p:txBody>
          </p:sp>
        </mc:Fallback>
      </mc:AlternateContent>
    </p:spTree>
    <p:extLst>
      <p:ext uri="{BB962C8B-B14F-4D97-AF65-F5344CB8AC3E}">
        <p14:creationId xmlns:p14="http://schemas.microsoft.com/office/powerpoint/2010/main" val="46836454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19A506-6095-A71D-6399-41F877CB26C7}"/>
              </a:ext>
            </a:extLst>
          </p:cNvPr>
          <p:cNvSpPr>
            <a:spLocks noGrp="1"/>
          </p:cNvSpPr>
          <p:nvPr>
            <p:ph type="title"/>
          </p:nvPr>
        </p:nvSpPr>
        <p:spPr/>
        <p:txBody>
          <a:bodyPr/>
          <a:lstStyle/>
          <a:p>
            <a:r>
              <a:rPr lang="pt-BR" dirty="0"/>
              <a:t>Equação de atualização dos pesos</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D89A84A6-B9EC-4293-8CA4-DDE6F7AF7C7D}"/>
                  </a:ext>
                </a:extLst>
              </p:cNvPr>
              <p:cNvSpPr>
                <a:spLocks noGrp="1"/>
              </p:cNvSpPr>
              <p:nvPr>
                <p:ph idx="1"/>
              </p:nvPr>
            </p:nvSpPr>
            <p:spPr>
              <a:xfrm>
                <a:off x="838199" y="1825624"/>
                <a:ext cx="11131193" cy="5032375"/>
              </a:xfrm>
            </p:spPr>
            <p:txBody>
              <a:bodyPr/>
              <a:lstStyle/>
              <a:p>
                <a:pPr marL="0" indent="0">
                  <a:buNone/>
                </a:pPr>
                <a:r>
                  <a:rPr lang="pt-BR" dirty="0"/>
                  <a:t>Utilizando o resultado anterior, podemos reescrever a equação de atualização dos pesos como</a:t>
                </a:r>
              </a:p>
              <a:p>
                <a:pPr marL="0" indent="0">
                  <a:buNone/>
                </a:pPr>
                <a14:m>
                  <m:oMathPara xmlns:m="http://schemas.openxmlformats.org/officeDocument/2006/math">
                    <m:oMath>
                      <m:r>
                        <a:rPr lang="pt-BR" b="1" i="1" smtClean="0">
                          <a:latin typeface="Cambria Math" panose="02040503050406030204" pitchFamily="18" charset="0"/>
                        </a:rPr>
                        <m:t>𝒂</m:t>
                      </m:r>
                      <m:r>
                        <a:rPr lang="pt-BR" b="1" i="1" smtClean="0">
                          <a:latin typeface="Cambria Math" panose="02040503050406030204" pitchFamily="18" charset="0"/>
                        </a:rPr>
                        <m:t>=</m:t>
                      </m:r>
                      <m:r>
                        <a:rPr lang="pt-BR" b="1" i="1" smtClean="0">
                          <a:latin typeface="Cambria Math" panose="02040503050406030204" pitchFamily="18" charset="0"/>
                        </a:rPr>
                        <m:t>𝒂</m:t>
                      </m:r>
                      <m:r>
                        <a:rPr lang="pt-BR" b="1" i="1" smtClean="0">
                          <a:latin typeface="Cambria Math" panose="02040503050406030204" pitchFamily="18" charset="0"/>
                        </a:rPr>
                        <m:t>−</m:t>
                      </m:r>
                      <m:r>
                        <a:rPr lang="pt-BR" i="1">
                          <a:latin typeface="Cambria Math" panose="02040503050406030204" pitchFamily="18" charset="0"/>
                          <a:ea typeface="Cambria Math" panose="02040503050406030204" pitchFamily="18" charset="0"/>
                        </a:rPr>
                        <m:t>𝛼</m:t>
                      </m:r>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num>
                        <m:den>
                          <m:r>
                            <a:rPr lang="pt-BR" i="1">
                              <a:latin typeface="Cambria Math" panose="02040503050406030204" pitchFamily="18" charset="0"/>
                            </a:rPr>
                            <m:t>𝜕</m:t>
                          </m:r>
                          <m:r>
                            <a:rPr lang="pt-BR" b="1" i="1">
                              <a:latin typeface="Cambria Math" panose="02040503050406030204" pitchFamily="18" charset="0"/>
                            </a:rPr>
                            <m:t>𝒂</m:t>
                          </m:r>
                        </m:den>
                      </m:f>
                    </m:oMath>
                  </m:oMathPara>
                </a14:m>
                <a:endParaRPr lang="pt-BR" b="1" i="1" dirty="0">
                  <a:latin typeface="Cambria Math" panose="02040503050406030204" pitchFamily="18" charset="0"/>
                </a:endParaRPr>
              </a:p>
              <a:p>
                <a:pPr marL="0" indent="0">
                  <a:buNone/>
                </a:pPr>
                <a14:m>
                  <m:oMathPara xmlns:m="http://schemas.openxmlformats.org/officeDocument/2006/math">
                    <m:oMath>
                      <m:r>
                        <a:rPr lang="pt-BR" b="1" i="1" smtClean="0">
                          <a:latin typeface="Cambria Math" panose="02040503050406030204" pitchFamily="18" charset="0"/>
                        </a:rPr>
                        <m:t>               =</m:t>
                      </m:r>
                      <m:sSup>
                        <m:sSupPr>
                          <m:ctrlPr>
                            <a:rPr lang="pt-BR" b="1" i="1">
                              <a:latin typeface="Cambria Math" panose="02040503050406030204" pitchFamily="18" charset="0"/>
                            </a:rPr>
                          </m:ctrlPr>
                        </m:sSupPr>
                        <m:e>
                          <m:r>
                            <a:rPr lang="pt-BR" b="1" i="1">
                              <a:latin typeface="Cambria Math" panose="02040503050406030204" pitchFamily="18" charset="0"/>
                            </a:rPr>
                            <m:t>𝒂</m:t>
                          </m:r>
                          <m:r>
                            <a:rPr lang="pt-BR" b="0" i="1" smtClean="0">
                              <a:latin typeface="Cambria Math" panose="02040503050406030204" pitchFamily="18" charset="0"/>
                            </a:rPr>
                            <m:t>+</m:t>
                          </m:r>
                          <m:r>
                            <a:rPr lang="pt-BR" i="1">
                              <a:latin typeface="Cambria Math" panose="02040503050406030204" pitchFamily="18" charset="0"/>
                              <a:ea typeface="Cambria Math" panose="02040503050406030204" pitchFamily="18" charset="0"/>
                            </a:rPr>
                            <m:t>𝛼</m:t>
                          </m:r>
                          <m:f>
                            <m:fPr>
                              <m:ctrlPr>
                                <a:rPr lang="pt-BR" i="1">
                                  <a:latin typeface="Cambria Math" panose="02040503050406030204" pitchFamily="18" charset="0"/>
                                </a:rPr>
                              </m:ctrlPr>
                            </m:fPr>
                            <m:num>
                              <m:r>
                                <a:rPr lang="pt-BR" i="1">
                                  <a:latin typeface="Cambria Math" panose="02040503050406030204" pitchFamily="18" charset="0"/>
                                </a:rPr>
                                <m:t>2</m:t>
                              </m:r>
                            </m:num>
                            <m:den>
                              <m:r>
                                <a:rPr lang="pt-BR" i="1">
                                  <a:latin typeface="Cambria Math" panose="02040503050406030204" pitchFamily="18" charset="0"/>
                                </a:rPr>
                                <m:t>𝑁</m:t>
                              </m:r>
                            </m:den>
                          </m:f>
                          <m:r>
                            <a:rPr lang="pt-BR" b="1" i="1">
                              <a:latin typeface="Cambria Math" panose="02040503050406030204" pitchFamily="18" charset="0"/>
                            </a:rPr>
                            <m:t>𝑿</m:t>
                          </m:r>
                        </m:e>
                        <m:sup>
                          <m:r>
                            <a:rPr lang="pt-BR" i="1">
                              <a:latin typeface="Cambria Math" panose="02040503050406030204" pitchFamily="18" charset="0"/>
                            </a:rPr>
                            <m:t>𝑇</m:t>
                          </m:r>
                        </m:sup>
                      </m:sSup>
                      <m:d>
                        <m:dPr>
                          <m:ctrlPr>
                            <a:rPr lang="pt-BR" b="1" i="1">
                              <a:latin typeface="Cambria Math" panose="02040503050406030204" pitchFamily="18" charset="0"/>
                            </a:rPr>
                          </m:ctrlPr>
                        </m:dPr>
                        <m:e>
                          <m:r>
                            <a:rPr lang="pt-BR" b="1" i="1">
                              <a:latin typeface="Cambria Math" panose="02040503050406030204" pitchFamily="18" charset="0"/>
                            </a:rPr>
                            <m:t>𝒚</m:t>
                          </m:r>
                          <m:r>
                            <a:rPr lang="pt-BR" i="1">
                              <a:latin typeface="Cambria Math" panose="02040503050406030204" pitchFamily="18" charset="0"/>
                            </a:rPr>
                            <m:t>−</m:t>
                          </m:r>
                          <m:acc>
                            <m:accPr>
                              <m:chr m:val="̂"/>
                              <m:ctrlPr>
                                <a:rPr lang="pt-BR" b="1" i="1">
                                  <a:latin typeface="Cambria Math" panose="02040503050406030204" pitchFamily="18" charset="0"/>
                                </a:rPr>
                              </m:ctrlPr>
                            </m:accPr>
                            <m:e>
                              <m:r>
                                <a:rPr lang="pt-BR" b="1" i="1">
                                  <a:latin typeface="Cambria Math" panose="02040503050406030204" pitchFamily="18" charset="0"/>
                                </a:rPr>
                                <m:t>𝒚</m:t>
                              </m:r>
                            </m:e>
                          </m:acc>
                        </m:e>
                      </m:d>
                      <m:r>
                        <a:rPr lang="pt-BR" b="1" i="1" smtClean="0">
                          <a:latin typeface="Cambria Math" panose="02040503050406030204" pitchFamily="18" charset="0"/>
                        </a:rPr>
                        <m:t>.</m:t>
                      </m:r>
                    </m:oMath>
                  </m:oMathPara>
                </a14:m>
                <a:endParaRPr lang="pt-BR" dirty="0"/>
              </a:p>
              <a:p>
                <a:pPr marL="0" indent="0">
                  <a:buNone/>
                </a:pPr>
                <a:r>
                  <a:rPr lang="pt-BR" dirty="0"/>
                  <a:t>A soma acima deve resultar em um vetor coluna com dimensão </a:t>
                </a:r>
                <a14:m>
                  <m:oMath xmlns:m="http://schemas.openxmlformats.org/officeDocument/2006/math">
                    <m:r>
                      <a:rPr lang="pt-BR" b="0" i="1" smtClean="0">
                        <a:latin typeface="Cambria Math" panose="02040503050406030204" pitchFamily="18" charset="0"/>
                      </a:rPr>
                      <m:t>𝐾</m:t>
                    </m:r>
                    <m:r>
                      <a:rPr lang="pt-BR" b="0" i="1" smtClean="0">
                        <a:latin typeface="Cambria Math" panose="02040503050406030204" pitchFamily="18" charset="0"/>
                      </a:rPr>
                      <m:t>+1×1</m:t>
                    </m:r>
                  </m:oMath>
                </a14:m>
                <a:r>
                  <a:rPr lang="pt-BR" dirty="0"/>
                  <a:t>, pois esta é a dimensão dos dois vetores sendo somados. </a:t>
                </a:r>
              </a:p>
              <a:p>
                <a:pPr marL="0" indent="0">
                  <a:buNone/>
                </a:pPr>
                <a:r>
                  <a:rPr lang="pt-BR" dirty="0"/>
                  <a:t>Lembrem-se que </a:t>
                </a:r>
                <a14:m>
                  <m:oMath xmlns:m="http://schemas.openxmlformats.org/officeDocument/2006/math">
                    <m:r>
                      <a:rPr lang="pt-BR" i="1">
                        <a:latin typeface="Cambria Math" panose="02040503050406030204" pitchFamily="18" charset="0"/>
                      </a:rPr>
                      <m:t>𝐾</m:t>
                    </m:r>
                    <m:r>
                      <a:rPr lang="pt-BR" i="1">
                        <a:latin typeface="Cambria Math" panose="02040503050406030204" pitchFamily="18" charset="0"/>
                      </a:rPr>
                      <m:t>+1×1</m:t>
                    </m:r>
                  </m:oMath>
                </a14:m>
                <a:r>
                  <a:rPr lang="pt-BR" dirty="0"/>
                  <a:t> é a dimensão do vetor </a:t>
                </a:r>
                <a14:m>
                  <m:oMath xmlns:m="http://schemas.openxmlformats.org/officeDocument/2006/math">
                    <m:r>
                      <a:rPr lang="pt-BR" b="1" i="1">
                        <a:latin typeface="Cambria Math" panose="02040503050406030204" pitchFamily="18" charset="0"/>
                      </a:rPr>
                      <m:t>𝒂</m:t>
                    </m:r>
                  </m:oMath>
                </a14:m>
                <a:r>
                  <a:rPr lang="pt-BR" dirty="0"/>
                  <a:t>, o qual contém todos os pesos do modelo e que </a:t>
                </a:r>
                <a14:m>
                  <m:oMath xmlns:m="http://schemas.openxmlformats.org/officeDocument/2006/math">
                    <m:sSup>
                      <m:sSupPr>
                        <m:ctrlPr>
                          <a:rPr lang="pt-BR" i="1">
                            <a:latin typeface="Cambria Math" panose="02040503050406030204" pitchFamily="18" charset="0"/>
                          </a:rPr>
                        </m:ctrlPr>
                      </m:sSupPr>
                      <m:e>
                        <m:f>
                          <m:fPr>
                            <m:ctrlPr>
                              <a:rPr lang="pt-BR" i="1">
                                <a:latin typeface="Cambria Math" panose="02040503050406030204" pitchFamily="18" charset="0"/>
                              </a:rPr>
                            </m:ctrlPr>
                          </m:fPr>
                          <m:num>
                            <m:r>
                              <a:rPr lang="pt-BR" i="1">
                                <a:latin typeface="Cambria Math" panose="02040503050406030204" pitchFamily="18" charset="0"/>
                              </a:rPr>
                              <m:t>2</m:t>
                            </m:r>
                          </m:num>
                          <m:den>
                            <m:r>
                              <a:rPr lang="pt-BR" i="1">
                                <a:latin typeface="Cambria Math" panose="02040503050406030204" pitchFamily="18" charset="0"/>
                              </a:rPr>
                              <m:t>𝑁</m:t>
                            </m:r>
                          </m:den>
                        </m:f>
                        <m:r>
                          <a:rPr lang="pt-BR" b="1" i="1">
                            <a:latin typeface="Cambria Math" panose="02040503050406030204" pitchFamily="18" charset="0"/>
                          </a:rPr>
                          <m:t>𝑿</m:t>
                        </m:r>
                      </m:e>
                      <m:sup>
                        <m:r>
                          <a:rPr lang="pt-BR" i="1">
                            <a:latin typeface="Cambria Math" panose="02040503050406030204" pitchFamily="18" charset="0"/>
                          </a:rPr>
                          <m:t>𝑇</m:t>
                        </m:r>
                      </m:sup>
                    </m:sSup>
                    <m:d>
                      <m:dPr>
                        <m:ctrlPr>
                          <a:rPr lang="pt-BR" b="1" i="1">
                            <a:latin typeface="Cambria Math" panose="02040503050406030204" pitchFamily="18" charset="0"/>
                          </a:rPr>
                        </m:ctrlPr>
                      </m:dPr>
                      <m:e>
                        <m:r>
                          <a:rPr lang="pt-BR" b="1" i="1">
                            <a:latin typeface="Cambria Math" panose="02040503050406030204" pitchFamily="18" charset="0"/>
                          </a:rPr>
                          <m:t>𝒚</m:t>
                        </m:r>
                        <m:r>
                          <a:rPr lang="pt-BR" i="1">
                            <a:latin typeface="Cambria Math" panose="02040503050406030204" pitchFamily="18" charset="0"/>
                          </a:rPr>
                          <m:t>−</m:t>
                        </m:r>
                        <m:acc>
                          <m:accPr>
                            <m:chr m:val="̂"/>
                            <m:ctrlPr>
                              <a:rPr lang="pt-BR" b="1" i="1">
                                <a:latin typeface="Cambria Math" panose="02040503050406030204" pitchFamily="18" charset="0"/>
                              </a:rPr>
                            </m:ctrlPr>
                          </m:accPr>
                          <m:e>
                            <m:r>
                              <a:rPr lang="pt-BR" b="1" i="1">
                                <a:latin typeface="Cambria Math" panose="02040503050406030204" pitchFamily="18" charset="0"/>
                              </a:rPr>
                              <m:t>𝒚</m:t>
                            </m:r>
                          </m:e>
                        </m:acc>
                      </m:e>
                    </m:d>
                  </m:oMath>
                </a14:m>
                <a:r>
                  <a:rPr lang="pt-BR" dirty="0"/>
                  <a:t> tem dimensão </a:t>
                </a:r>
                <a14:m>
                  <m:oMath xmlns:m="http://schemas.openxmlformats.org/officeDocument/2006/math">
                    <m:r>
                      <a:rPr lang="pt-BR" i="1">
                        <a:latin typeface="Cambria Math" panose="02040503050406030204" pitchFamily="18" charset="0"/>
                      </a:rPr>
                      <m:t>𝐾</m:t>
                    </m:r>
                    <m:r>
                      <a:rPr lang="pt-BR" i="1">
                        <a:latin typeface="Cambria Math" panose="02040503050406030204" pitchFamily="18" charset="0"/>
                      </a:rPr>
                      <m:t>+1×1</m:t>
                    </m:r>
                  </m:oMath>
                </a14:m>
                <a:r>
                  <a:rPr lang="pt-BR" dirty="0"/>
                  <a:t> também.</a:t>
                </a:r>
              </a:p>
            </p:txBody>
          </p:sp>
        </mc:Choice>
        <mc:Fallback xmlns="">
          <p:sp>
            <p:nvSpPr>
              <p:cNvPr id="3" name="Espaço Reservado para Conteúdo 2">
                <a:extLst>
                  <a:ext uri="{FF2B5EF4-FFF2-40B4-BE49-F238E27FC236}">
                    <a16:creationId xmlns:a16="http://schemas.microsoft.com/office/drawing/2014/main" id="{D89A84A6-B9EC-4293-8CA4-DDE6F7AF7C7D}"/>
                  </a:ext>
                </a:extLst>
              </p:cNvPr>
              <p:cNvSpPr>
                <a:spLocks noGrp="1" noRot="1" noChangeAspect="1" noMove="1" noResize="1" noEditPoints="1" noAdjustHandles="1" noChangeArrowheads="1" noChangeShapeType="1" noTextEdit="1"/>
              </p:cNvSpPr>
              <p:nvPr>
                <p:ph idx="1"/>
              </p:nvPr>
            </p:nvSpPr>
            <p:spPr>
              <a:xfrm>
                <a:off x="838199" y="1825624"/>
                <a:ext cx="11131193" cy="5032375"/>
              </a:xfrm>
              <a:blipFill>
                <a:blip r:embed="rId2"/>
                <a:stretch>
                  <a:fillRect l="-1095" t="-1937" r="-548"/>
                </a:stretch>
              </a:blipFill>
            </p:spPr>
            <p:txBody>
              <a:bodyPr/>
              <a:lstStyle/>
              <a:p>
                <a:r>
                  <a:rPr lang="pt-BR">
                    <a:noFill/>
                  </a:rPr>
                  <a:t> </a:t>
                </a:r>
              </a:p>
            </p:txBody>
          </p:sp>
        </mc:Fallback>
      </mc:AlternateContent>
    </p:spTree>
    <p:extLst>
      <p:ext uri="{BB962C8B-B14F-4D97-AF65-F5344CB8AC3E}">
        <p14:creationId xmlns:p14="http://schemas.microsoft.com/office/powerpoint/2010/main" val="213885991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19A506-6095-A71D-6399-41F877CB26C7}"/>
              </a:ext>
            </a:extLst>
          </p:cNvPr>
          <p:cNvSpPr>
            <a:spLocks noGrp="1"/>
          </p:cNvSpPr>
          <p:nvPr>
            <p:ph type="title"/>
          </p:nvPr>
        </p:nvSpPr>
        <p:spPr/>
        <p:txBody>
          <a:bodyPr/>
          <a:lstStyle/>
          <a:p>
            <a:r>
              <a:rPr lang="pt-BR" dirty="0"/>
              <a:t>Equação de atualização dos pesos</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D89A84A6-B9EC-4293-8CA4-DDE6F7AF7C7D}"/>
                  </a:ext>
                </a:extLst>
              </p:cNvPr>
              <p:cNvSpPr>
                <a:spLocks noGrp="1"/>
              </p:cNvSpPr>
              <p:nvPr>
                <p:ph idx="1"/>
              </p:nvPr>
            </p:nvSpPr>
            <p:spPr>
              <a:xfrm>
                <a:off x="838199" y="1825624"/>
                <a:ext cx="11353801" cy="5032375"/>
              </a:xfrm>
            </p:spPr>
            <p:txBody>
              <a:bodyPr>
                <a:normAutofit fontScale="92500"/>
              </a:bodyPr>
              <a:lstStyle/>
              <a:p>
                <a:pPr marL="0" indent="0">
                  <a:buNone/>
                </a:pPr>
                <a:r>
                  <a:rPr lang="pt-BR" dirty="0"/>
                  <a:t>Podemos reescrever a equação de atualização dos pesos como</a:t>
                </a:r>
              </a:p>
              <a:p>
                <a:pPr marL="0" indent="0">
                  <a:buNone/>
                </a:pPr>
                <a14:m>
                  <m:oMathPara xmlns:m="http://schemas.openxmlformats.org/officeDocument/2006/math">
                    <m:oMath>
                      <m:r>
                        <a:rPr lang="pt-BR" b="1" i="1" smtClean="0">
                          <a:latin typeface="Cambria Math" panose="02040503050406030204" pitchFamily="18" charset="0"/>
                        </a:rPr>
                        <m:t>𝒂</m:t>
                      </m:r>
                      <m:r>
                        <a:rPr lang="pt-BR" b="1" i="1" smtClean="0">
                          <a:latin typeface="Cambria Math" panose="02040503050406030204" pitchFamily="18" charset="0"/>
                        </a:rPr>
                        <m:t>=</m:t>
                      </m:r>
                      <m:r>
                        <a:rPr lang="pt-BR" b="1" i="1" smtClean="0">
                          <a:latin typeface="Cambria Math" panose="02040503050406030204" pitchFamily="18" charset="0"/>
                        </a:rPr>
                        <m:t>𝒂</m:t>
                      </m:r>
                      <m:r>
                        <a:rPr lang="pt-BR" b="1" i="1" smtClean="0">
                          <a:latin typeface="Cambria Math" panose="02040503050406030204" pitchFamily="18" charset="0"/>
                        </a:rPr>
                        <m:t>−</m:t>
                      </m:r>
                      <m:r>
                        <a:rPr lang="pt-BR" i="1">
                          <a:latin typeface="Cambria Math" panose="02040503050406030204" pitchFamily="18" charset="0"/>
                          <a:ea typeface="Cambria Math" panose="02040503050406030204" pitchFamily="18" charset="0"/>
                        </a:rPr>
                        <m:t>𝛼</m:t>
                      </m:r>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num>
                        <m:den>
                          <m:r>
                            <a:rPr lang="pt-BR" i="1">
                              <a:latin typeface="Cambria Math" panose="02040503050406030204" pitchFamily="18" charset="0"/>
                            </a:rPr>
                            <m:t>𝜕</m:t>
                          </m:r>
                          <m:r>
                            <a:rPr lang="pt-BR" b="1" i="1">
                              <a:latin typeface="Cambria Math" panose="02040503050406030204" pitchFamily="18" charset="0"/>
                            </a:rPr>
                            <m:t>𝒂</m:t>
                          </m:r>
                        </m:den>
                      </m:f>
                      <m:r>
                        <a:rPr lang="pt-BR" b="1" i="1" smtClean="0">
                          <a:latin typeface="Cambria Math" panose="02040503050406030204" pitchFamily="18" charset="0"/>
                        </a:rPr>
                        <m:t>=</m:t>
                      </m:r>
                      <m:d>
                        <m:dPr>
                          <m:begChr m:val="["/>
                          <m:endChr m:val="]"/>
                          <m:ctrlPr>
                            <a:rPr lang="pt-BR" b="1" i="1" smtClean="0">
                              <a:latin typeface="Cambria Math" panose="02040503050406030204" pitchFamily="18" charset="0"/>
                            </a:rPr>
                          </m:ctrlPr>
                        </m:dPr>
                        <m:e>
                          <m:m>
                            <m:mPr>
                              <m:mcs>
                                <m:mc>
                                  <m:mcPr>
                                    <m:count m:val="1"/>
                                    <m:mcJc m:val="center"/>
                                  </m:mcPr>
                                </m:mc>
                              </m:mcs>
                              <m:ctrlPr>
                                <a:rPr lang="pt-BR" b="1" i="1" smtClean="0">
                                  <a:latin typeface="Cambria Math" panose="02040503050406030204" pitchFamily="18" charset="0"/>
                                </a:rPr>
                              </m:ctrlPr>
                            </m:mPr>
                            <m:mr>
                              <m:e>
                                <m:sSub>
                                  <m:sSubPr>
                                    <m:ctrlPr>
                                      <a:rPr lang="pt-BR" b="0" i="1" smtClean="0">
                                        <a:latin typeface="Cambria Math" panose="02040503050406030204" pitchFamily="18" charset="0"/>
                                      </a:rPr>
                                    </m:ctrlPr>
                                  </m:sSubPr>
                                  <m:e>
                                    <m:r>
                                      <a:rPr lang="pt-BR" b="0" i="1" smtClean="0">
                                        <a:latin typeface="Cambria Math" panose="02040503050406030204" pitchFamily="18" charset="0"/>
                                      </a:rPr>
                                      <m:t>𝑎</m:t>
                                    </m:r>
                                  </m:e>
                                  <m:sub>
                                    <m:r>
                                      <a:rPr lang="pt-BR" b="0" i="1" smtClean="0">
                                        <a:latin typeface="Cambria Math" panose="02040503050406030204" pitchFamily="18" charset="0"/>
                                      </a:rPr>
                                      <m:t>0</m:t>
                                    </m:r>
                                  </m:sub>
                                </m:sSub>
                              </m:e>
                            </m:mr>
                            <m:mr>
                              <m:e>
                                <m:m>
                                  <m:mPr>
                                    <m:mcs>
                                      <m:mc>
                                        <m:mcPr>
                                          <m:count m:val="1"/>
                                          <m:mcJc m:val="center"/>
                                        </m:mcPr>
                                      </m:mc>
                                    </m:mcs>
                                    <m:ctrlPr>
                                      <a:rPr lang="pt-BR" b="1" i="1" smtClean="0">
                                        <a:latin typeface="Cambria Math" panose="02040503050406030204" pitchFamily="18" charset="0"/>
                                      </a:rPr>
                                    </m:ctrlPr>
                                  </m:mPr>
                                  <m:mr>
                                    <m:e>
                                      <m:r>
                                        <m:rPr>
                                          <m:brk m:alnAt="7"/>
                                        </m:rPr>
                                        <a:rPr lang="pt-BR" b="1" i="1" smtClean="0">
                                          <a:latin typeface="Cambria Math" panose="02040503050406030204" pitchFamily="18" charset="0"/>
                                        </a:rPr>
                                        <m:t>⋮</m:t>
                                      </m:r>
                                    </m:e>
                                  </m:mr>
                                  <m:mr>
                                    <m:e>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b="0" i="1" smtClean="0">
                                              <a:latin typeface="Cambria Math" panose="02040503050406030204" pitchFamily="18" charset="0"/>
                                            </a:rPr>
                                            <m:t>𝐾</m:t>
                                          </m:r>
                                        </m:sub>
                                      </m:sSub>
                                    </m:e>
                                  </m:mr>
                                </m:m>
                              </m:e>
                            </m:mr>
                          </m:m>
                        </m:e>
                      </m:d>
                      <m:r>
                        <a:rPr lang="pt-BR" b="1" i="1" smtClean="0">
                          <a:latin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𝛼</m:t>
                      </m:r>
                      <m:d>
                        <m:dPr>
                          <m:begChr m:val="["/>
                          <m:endChr m:val="]"/>
                          <m:ctrlPr>
                            <a:rPr lang="pt-BR" b="0" i="1" smtClean="0">
                              <a:latin typeface="Cambria Math" panose="02040503050406030204" pitchFamily="18" charset="0"/>
                              <a:ea typeface="Cambria Math" panose="02040503050406030204" pitchFamily="18" charset="0"/>
                            </a:rPr>
                          </m:ctrlPr>
                        </m:dPr>
                        <m:e>
                          <m:m>
                            <m:mPr>
                              <m:mcs>
                                <m:mc>
                                  <m:mcPr>
                                    <m:count m:val="1"/>
                                    <m:mcJc m:val="center"/>
                                  </m:mcPr>
                                </m:mc>
                              </m:mcs>
                              <m:ctrlPr>
                                <a:rPr lang="pt-BR" b="0" i="1" smtClean="0">
                                  <a:latin typeface="Cambria Math" panose="02040503050406030204" pitchFamily="18" charset="0"/>
                                  <a:ea typeface="Cambria Math" panose="02040503050406030204" pitchFamily="18" charset="0"/>
                                </a:rPr>
                              </m:ctrlPr>
                            </m:mPr>
                            <m:mr>
                              <m:e>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0</m:t>
                                        </m:r>
                                      </m:sub>
                                    </m:sSub>
                                  </m:den>
                                </m:f>
                              </m:e>
                            </m:mr>
                            <m:mr>
                              <m:e>
                                <m:r>
                                  <a:rPr lang="pt-BR" b="0" i="1" smtClean="0">
                                    <a:latin typeface="Cambria Math" panose="02040503050406030204" pitchFamily="18" charset="0"/>
                                    <a:ea typeface="Cambria Math" panose="02040503050406030204" pitchFamily="18" charset="0"/>
                                  </a:rPr>
                                  <m:t>⋮</m:t>
                                </m:r>
                              </m:e>
                            </m:mr>
                            <m:mr>
                              <m:e>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𝐾</m:t>
                                        </m:r>
                                      </m:sub>
                                    </m:sSub>
                                  </m:den>
                                </m:f>
                              </m:e>
                            </m:mr>
                          </m:m>
                        </m:e>
                      </m:d>
                    </m:oMath>
                  </m:oMathPara>
                </a14:m>
                <a:endParaRPr lang="pt-BR" b="0" i="1" dirty="0">
                  <a:latin typeface="Cambria Math" panose="02040503050406030204" pitchFamily="18" charset="0"/>
                  <a:ea typeface="Cambria Math" panose="02040503050406030204" pitchFamily="18" charset="0"/>
                </a:endParaRPr>
              </a:p>
              <a:p>
                <a:pPr marL="0" indent="0">
                  <a:buNone/>
                </a:pPr>
                <a:r>
                  <a:rPr lang="pt-BR" b="1" dirty="0"/>
                  <a:t> </a:t>
                </a:r>
                <a14:m>
                  <m:oMath xmlns:m="http://schemas.openxmlformats.org/officeDocument/2006/math">
                    <m:r>
                      <a:rPr lang="pt-BR" b="1" i="1" smtClean="0">
                        <a:latin typeface="Cambria Math" panose="02040503050406030204" pitchFamily="18" charset="0"/>
                      </a:rPr>
                      <m:t>=</m:t>
                    </m:r>
                    <m:d>
                      <m:dPr>
                        <m:begChr m:val="["/>
                        <m:endChr m:val="]"/>
                        <m:ctrlPr>
                          <a:rPr lang="pt-BR" b="1" i="1">
                            <a:latin typeface="Cambria Math" panose="02040503050406030204" pitchFamily="18" charset="0"/>
                          </a:rPr>
                        </m:ctrlPr>
                      </m:dPr>
                      <m:e>
                        <m:m>
                          <m:mPr>
                            <m:mcs>
                              <m:mc>
                                <m:mcPr>
                                  <m:count m:val="1"/>
                                  <m:mcJc m:val="center"/>
                                </m:mcPr>
                              </m:mc>
                            </m:mcs>
                            <m:ctrlPr>
                              <a:rPr lang="pt-BR" b="1" i="1">
                                <a:latin typeface="Cambria Math" panose="02040503050406030204" pitchFamily="18" charset="0"/>
                              </a:rPr>
                            </m:ctrlPr>
                          </m:mPr>
                          <m:mr>
                            <m:e>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0</m:t>
                                  </m:r>
                                </m:sub>
                              </m:sSub>
                            </m:e>
                          </m:mr>
                          <m:mr>
                            <m:e>
                              <m:m>
                                <m:mPr>
                                  <m:mcs>
                                    <m:mc>
                                      <m:mcPr>
                                        <m:count m:val="1"/>
                                        <m:mcJc m:val="center"/>
                                      </m:mcPr>
                                    </m:mc>
                                  </m:mcs>
                                  <m:ctrlPr>
                                    <a:rPr lang="pt-BR" b="1" i="1">
                                      <a:latin typeface="Cambria Math" panose="02040503050406030204" pitchFamily="18" charset="0"/>
                                    </a:rPr>
                                  </m:ctrlPr>
                                </m:mPr>
                                <m:mr>
                                  <m:e>
                                    <m:r>
                                      <m:rPr>
                                        <m:brk m:alnAt="7"/>
                                      </m:rPr>
                                      <a:rPr lang="pt-BR" b="1" i="1">
                                        <a:latin typeface="Cambria Math" panose="02040503050406030204" pitchFamily="18" charset="0"/>
                                      </a:rPr>
                                      <m:t>⋮</m:t>
                                    </m:r>
                                  </m:e>
                                </m:mr>
                                <m:mr>
                                  <m:e>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𝐾</m:t>
                                        </m:r>
                                      </m:sub>
                                    </m:sSub>
                                  </m:e>
                                </m:mr>
                              </m:m>
                            </m:e>
                          </m:mr>
                        </m:m>
                      </m:e>
                    </m:d>
                    <m:r>
                      <a:rPr lang="pt-BR" b="0" i="1" smtClean="0">
                        <a:latin typeface="Cambria Math" panose="02040503050406030204" pitchFamily="18" charset="0"/>
                      </a:rPr>
                      <m:t>+</m:t>
                    </m:r>
                    <m:r>
                      <a:rPr lang="pt-BR" i="1">
                        <a:latin typeface="Cambria Math" panose="02040503050406030204" pitchFamily="18" charset="0"/>
                        <a:ea typeface="Cambria Math" panose="02040503050406030204" pitchFamily="18" charset="0"/>
                      </a:rPr>
                      <m:t>𝛼</m:t>
                    </m:r>
                    <m:f>
                      <m:fPr>
                        <m:ctrlPr>
                          <a:rPr lang="pt-BR" i="1">
                            <a:latin typeface="Cambria Math" panose="02040503050406030204" pitchFamily="18" charset="0"/>
                          </a:rPr>
                        </m:ctrlPr>
                      </m:fPr>
                      <m:num>
                        <m:r>
                          <a:rPr lang="pt-BR" i="1">
                            <a:latin typeface="Cambria Math" panose="02040503050406030204" pitchFamily="18" charset="0"/>
                          </a:rPr>
                          <m:t>2</m:t>
                        </m:r>
                      </m:num>
                      <m:den>
                        <m:r>
                          <a:rPr lang="pt-BR" i="1">
                            <a:latin typeface="Cambria Math" panose="02040503050406030204" pitchFamily="18" charset="0"/>
                          </a:rPr>
                          <m:t>𝑁</m:t>
                        </m:r>
                      </m:den>
                    </m:f>
                    <m:d>
                      <m:dPr>
                        <m:begChr m:val="["/>
                        <m:endChr m:val="]"/>
                        <m:ctrlPr>
                          <a:rPr lang="pt-BR" b="1" i="1">
                            <a:latin typeface="Cambria Math" panose="02040503050406030204" pitchFamily="18" charset="0"/>
                          </a:rPr>
                        </m:ctrlPr>
                      </m:dPr>
                      <m:e>
                        <m:m>
                          <m:mPr>
                            <m:mcs>
                              <m:mc>
                                <m:mcPr>
                                  <m:count m:val="3"/>
                                  <m:mcJc m:val="center"/>
                                </m:mcPr>
                              </m:mc>
                            </m:mcs>
                            <m:ctrlPr>
                              <a:rPr lang="pt-BR" b="1" i="1">
                                <a:latin typeface="Cambria Math" panose="02040503050406030204" pitchFamily="18" charset="0"/>
                              </a:rPr>
                            </m:ctrlPr>
                          </m:mPr>
                          <m:m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d>
                                <m:dPr>
                                  <m:ctrlPr>
                                    <a:rPr lang="pt-BR" i="1">
                                      <a:latin typeface="Cambria Math" panose="02040503050406030204" pitchFamily="18" charset="0"/>
                                    </a:rPr>
                                  </m:ctrlPr>
                                </m:dPr>
                                <m:e>
                                  <m:r>
                                    <a:rPr lang="pt-BR" i="1">
                                      <a:latin typeface="Cambria Math" panose="02040503050406030204" pitchFamily="18" charset="0"/>
                                    </a:rPr>
                                    <m:t>0</m:t>
                                  </m:r>
                                </m:e>
                              </m:d>
                            </m:e>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d>
                                <m:dPr>
                                  <m:ctrlPr>
                                    <a:rPr lang="pt-BR" i="1">
                                      <a:latin typeface="Cambria Math" panose="02040503050406030204" pitchFamily="18" charset="0"/>
                                    </a:rPr>
                                  </m:ctrlPr>
                                </m:dPr>
                                <m:e>
                                  <m:r>
                                    <a:rPr lang="pt-BR" i="1">
                                      <a:latin typeface="Cambria Math" panose="02040503050406030204" pitchFamily="18" charset="0"/>
                                    </a:rPr>
                                    <m:t>1</m:t>
                                  </m:r>
                                </m:e>
                              </m:d>
                            </m:e>
                            <m:e>
                              <m:m>
                                <m:mPr>
                                  <m:mcs>
                                    <m:mc>
                                      <m:mcPr>
                                        <m:count m:val="2"/>
                                        <m:mcJc m:val="center"/>
                                      </m:mcPr>
                                    </m:mc>
                                  </m:mcs>
                                  <m:ctrlPr>
                                    <a:rPr lang="pt-BR" b="1" i="1">
                                      <a:latin typeface="Cambria Math" panose="02040503050406030204" pitchFamily="18" charset="0"/>
                                    </a:rPr>
                                  </m:ctrlPr>
                                </m:mPr>
                                <m:mr>
                                  <m:e>
                                    <m:r>
                                      <m:rPr>
                                        <m:brk m:alnAt="7"/>
                                      </m:rPr>
                                      <a:rPr lang="pt-BR" b="1" i="1">
                                        <a:latin typeface="Cambria Math" panose="02040503050406030204" pitchFamily="18" charset="0"/>
                                      </a:rPr>
                                      <m:t>⋯</m:t>
                                    </m:r>
                                  </m:e>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d>
                                      <m:dPr>
                                        <m:ctrlPr>
                                          <a:rPr lang="pt-BR" i="1">
                                            <a:latin typeface="Cambria Math" panose="02040503050406030204" pitchFamily="18" charset="0"/>
                                          </a:rPr>
                                        </m:ctrlPr>
                                      </m:dPr>
                                      <m:e>
                                        <m:r>
                                          <a:rPr lang="pt-BR" i="1">
                                            <a:latin typeface="Cambria Math" panose="02040503050406030204" pitchFamily="18" charset="0"/>
                                          </a:rPr>
                                          <m:t>𝑁</m:t>
                                        </m:r>
                                        <m:r>
                                          <a:rPr lang="pt-BR" i="1">
                                            <a:latin typeface="Cambria Math" panose="02040503050406030204" pitchFamily="18" charset="0"/>
                                          </a:rPr>
                                          <m:t>−1</m:t>
                                        </m:r>
                                      </m:e>
                                    </m:d>
                                  </m:e>
                                </m:mr>
                              </m:m>
                            </m:e>
                          </m:mr>
                          <m:mr>
                            <m:e>
                              <m:r>
                                <a:rPr lang="pt-BR" b="1" i="1">
                                  <a:latin typeface="Cambria Math" panose="02040503050406030204" pitchFamily="18" charset="0"/>
                                </a:rPr>
                                <m:t>⋮</m:t>
                              </m:r>
                            </m:e>
                            <m:e>
                              <m:r>
                                <a:rPr lang="pt-BR" b="1" i="1">
                                  <a:latin typeface="Cambria Math" panose="02040503050406030204" pitchFamily="18" charset="0"/>
                                </a:rPr>
                                <m:t>⋮</m:t>
                              </m:r>
                            </m:e>
                            <m:e>
                              <m:r>
                                <a:rPr lang="pt-BR" b="1" i="1">
                                  <a:latin typeface="Cambria Math" panose="02040503050406030204" pitchFamily="18" charset="0"/>
                                </a:rPr>
                                <m:t>⋮</m:t>
                              </m:r>
                            </m:e>
                          </m:mr>
                          <m:m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𝐾</m:t>
                                  </m:r>
                                </m:sub>
                              </m:sSub>
                              <m:d>
                                <m:dPr>
                                  <m:ctrlPr>
                                    <a:rPr lang="pt-BR" i="1">
                                      <a:latin typeface="Cambria Math" panose="02040503050406030204" pitchFamily="18" charset="0"/>
                                    </a:rPr>
                                  </m:ctrlPr>
                                </m:dPr>
                                <m:e>
                                  <m:r>
                                    <a:rPr lang="pt-BR" i="1">
                                      <a:latin typeface="Cambria Math" panose="02040503050406030204" pitchFamily="18" charset="0"/>
                                    </a:rPr>
                                    <m:t>0</m:t>
                                  </m:r>
                                </m:e>
                              </m:d>
                            </m:e>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𝐾</m:t>
                                  </m:r>
                                </m:sub>
                              </m:sSub>
                              <m:d>
                                <m:dPr>
                                  <m:ctrlPr>
                                    <a:rPr lang="pt-BR" i="1">
                                      <a:latin typeface="Cambria Math" panose="02040503050406030204" pitchFamily="18" charset="0"/>
                                    </a:rPr>
                                  </m:ctrlPr>
                                </m:dPr>
                                <m:e>
                                  <m:r>
                                    <a:rPr lang="pt-BR" i="1">
                                      <a:latin typeface="Cambria Math" panose="02040503050406030204" pitchFamily="18" charset="0"/>
                                    </a:rPr>
                                    <m:t>1</m:t>
                                  </m:r>
                                </m:e>
                              </m:d>
                            </m:e>
                            <m:e>
                              <m:m>
                                <m:mPr>
                                  <m:mcs>
                                    <m:mc>
                                      <m:mcPr>
                                        <m:count m:val="2"/>
                                        <m:mcJc m:val="center"/>
                                      </m:mcPr>
                                    </m:mc>
                                  </m:mcs>
                                  <m:ctrlPr>
                                    <a:rPr lang="pt-BR" b="1" i="1">
                                      <a:latin typeface="Cambria Math" panose="02040503050406030204" pitchFamily="18" charset="0"/>
                                    </a:rPr>
                                  </m:ctrlPr>
                                </m:mPr>
                                <m:mr>
                                  <m:e>
                                    <m:r>
                                      <m:rPr>
                                        <m:brk m:alnAt="7"/>
                                      </m:rPr>
                                      <a:rPr lang="pt-BR" b="1" i="1">
                                        <a:latin typeface="Cambria Math" panose="02040503050406030204" pitchFamily="18" charset="0"/>
                                      </a:rPr>
                                      <m:t>⋯</m:t>
                                    </m:r>
                                  </m:e>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𝐾</m:t>
                                        </m:r>
                                      </m:sub>
                                    </m:sSub>
                                    <m:d>
                                      <m:dPr>
                                        <m:ctrlPr>
                                          <a:rPr lang="pt-BR" i="1">
                                            <a:latin typeface="Cambria Math" panose="02040503050406030204" pitchFamily="18" charset="0"/>
                                          </a:rPr>
                                        </m:ctrlPr>
                                      </m:dPr>
                                      <m:e>
                                        <m:r>
                                          <a:rPr lang="pt-BR" i="1">
                                            <a:latin typeface="Cambria Math" panose="02040503050406030204" pitchFamily="18" charset="0"/>
                                          </a:rPr>
                                          <m:t>𝑁</m:t>
                                        </m:r>
                                        <m:r>
                                          <a:rPr lang="pt-BR" i="1">
                                            <a:latin typeface="Cambria Math" panose="02040503050406030204" pitchFamily="18" charset="0"/>
                                          </a:rPr>
                                          <m:t>−1</m:t>
                                        </m:r>
                                      </m:e>
                                    </m:d>
                                  </m:e>
                                </m:mr>
                              </m:m>
                            </m:e>
                          </m:mr>
                        </m:m>
                      </m:e>
                    </m:d>
                    <m:d>
                      <m:dPr>
                        <m:ctrlPr>
                          <a:rPr lang="pt-BR" b="1" i="1">
                            <a:latin typeface="Cambria Math" panose="02040503050406030204" pitchFamily="18" charset="0"/>
                          </a:rPr>
                        </m:ctrlPr>
                      </m:dPr>
                      <m:e>
                        <m:d>
                          <m:dPr>
                            <m:begChr m:val="["/>
                            <m:endChr m:val="]"/>
                            <m:ctrlPr>
                              <a:rPr lang="pt-BR" b="1" i="1">
                                <a:latin typeface="Cambria Math" panose="02040503050406030204" pitchFamily="18" charset="0"/>
                              </a:rPr>
                            </m:ctrlPr>
                          </m:dPr>
                          <m:e>
                            <m:m>
                              <m:mPr>
                                <m:mcs>
                                  <m:mc>
                                    <m:mcPr>
                                      <m:count m:val="1"/>
                                      <m:mcJc m:val="center"/>
                                    </m:mcPr>
                                  </m:mc>
                                </m:mcs>
                                <m:ctrlPr>
                                  <a:rPr lang="pt-BR" b="1" i="1">
                                    <a:latin typeface="Cambria Math" panose="02040503050406030204" pitchFamily="18" charset="0"/>
                                  </a:rPr>
                                </m:ctrlPr>
                              </m:mPr>
                              <m:mr>
                                <m:e>
                                  <m:r>
                                    <m:rPr>
                                      <m:brk m:alnAt="7"/>
                                    </m:rP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0</m:t>
                                      </m:r>
                                    </m:e>
                                  </m:d>
                                </m:e>
                              </m:mr>
                              <m:mr>
                                <m:e>
                                  <m: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1</m:t>
                                      </m:r>
                                    </m:e>
                                  </m:d>
                                </m:e>
                              </m:mr>
                              <m:mr>
                                <m:e>
                                  <m:m>
                                    <m:mPr>
                                      <m:mcs>
                                        <m:mc>
                                          <m:mcPr>
                                            <m:count m:val="1"/>
                                            <m:mcJc m:val="center"/>
                                          </m:mcPr>
                                        </m:mc>
                                      </m:mcs>
                                      <m:ctrlPr>
                                        <a:rPr lang="pt-BR" b="1" i="1">
                                          <a:latin typeface="Cambria Math" panose="02040503050406030204" pitchFamily="18" charset="0"/>
                                        </a:rPr>
                                      </m:ctrlPr>
                                    </m:mPr>
                                    <m:mr>
                                      <m:e>
                                        <m:r>
                                          <m:rPr>
                                            <m:brk m:alnAt="7"/>
                                          </m:rPr>
                                          <a:rPr lang="pt-BR" b="1" i="1">
                                            <a:latin typeface="Cambria Math" panose="02040503050406030204" pitchFamily="18" charset="0"/>
                                          </a:rPr>
                                          <m:t>⋮</m:t>
                                        </m:r>
                                      </m:e>
                                    </m:mr>
                                    <m:mr>
                                      <m:e>
                                        <m: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𝑁</m:t>
                                            </m:r>
                                            <m:r>
                                              <a:rPr lang="pt-BR" i="1">
                                                <a:latin typeface="Cambria Math" panose="02040503050406030204" pitchFamily="18" charset="0"/>
                                              </a:rPr>
                                              <m:t>−1</m:t>
                                            </m:r>
                                          </m:e>
                                        </m:d>
                                      </m:e>
                                    </m:mr>
                                  </m:m>
                                </m:e>
                              </m:mr>
                            </m:m>
                          </m:e>
                        </m:d>
                        <m:r>
                          <a:rPr lang="pt-BR" b="1" i="1">
                            <a:latin typeface="Cambria Math" panose="02040503050406030204" pitchFamily="18" charset="0"/>
                          </a:rPr>
                          <m:t>−</m:t>
                        </m:r>
                        <m:d>
                          <m:dPr>
                            <m:begChr m:val="["/>
                            <m:endChr m:val="]"/>
                            <m:ctrlPr>
                              <a:rPr lang="pt-BR" b="1" i="1">
                                <a:latin typeface="Cambria Math" panose="02040503050406030204" pitchFamily="18" charset="0"/>
                              </a:rPr>
                            </m:ctrlPr>
                          </m:dPr>
                          <m:e>
                            <m:m>
                              <m:mPr>
                                <m:mcs>
                                  <m:mc>
                                    <m:mcPr>
                                      <m:count m:val="1"/>
                                      <m:mcJc m:val="center"/>
                                    </m:mcPr>
                                  </m:mc>
                                </m:mcs>
                                <m:ctrlPr>
                                  <a:rPr lang="pt-BR" b="1" i="1">
                                    <a:latin typeface="Cambria Math" panose="02040503050406030204" pitchFamily="18" charset="0"/>
                                  </a:rPr>
                                </m:ctrlPr>
                              </m:mPr>
                              <m:mr>
                                <m:e>
                                  <m:acc>
                                    <m:accPr>
                                      <m:chr m:val="̂"/>
                                      <m:ctrlPr>
                                        <a:rPr lang="pt-BR" i="1">
                                          <a:latin typeface="Cambria Math" panose="02040503050406030204" pitchFamily="18" charset="0"/>
                                        </a:rPr>
                                      </m:ctrlPr>
                                    </m:accPr>
                                    <m:e>
                                      <m:r>
                                        <a:rPr lang="pt-BR" i="1">
                                          <a:latin typeface="Cambria Math" panose="02040503050406030204" pitchFamily="18" charset="0"/>
                                        </a:rPr>
                                        <m:t>𝑦</m:t>
                                      </m:r>
                                    </m:e>
                                  </m:acc>
                                  <m:d>
                                    <m:dPr>
                                      <m:ctrlPr>
                                        <a:rPr lang="pt-BR" i="1">
                                          <a:latin typeface="Cambria Math" panose="02040503050406030204" pitchFamily="18" charset="0"/>
                                        </a:rPr>
                                      </m:ctrlPr>
                                    </m:dPr>
                                    <m:e>
                                      <m:r>
                                        <a:rPr lang="pt-BR" i="1">
                                          <a:latin typeface="Cambria Math" panose="02040503050406030204" pitchFamily="18" charset="0"/>
                                        </a:rPr>
                                        <m:t>0</m:t>
                                      </m:r>
                                    </m:e>
                                  </m:d>
                                </m:e>
                              </m:mr>
                              <m:mr>
                                <m:e>
                                  <m:acc>
                                    <m:accPr>
                                      <m:chr m:val="̂"/>
                                      <m:ctrlPr>
                                        <a:rPr lang="pt-BR" i="1">
                                          <a:latin typeface="Cambria Math" panose="02040503050406030204" pitchFamily="18" charset="0"/>
                                        </a:rPr>
                                      </m:ctrlPr>
                                    </m:accPr>
                                    <m:e>
                                      <m:r>
                                        <a:rPr lang="pt-BR" i="1">
                                          <a:latin typeface="Cambria Math" panose="02040503050406030204" pitchFamily="18" charset="0"/>
                                        </a:rPr>
                                        <m:t>𝑦</m:t>
                                      </m:r>
                                    </m:e>
                                  </m:acc>
                                  <m:d>
                                    <m:dPr>
                                      <m:ctrlPr>
                                        <a:rPr lang="pt-BR" i="1">
                                          <a:latin typeface="Cambria Math" panose="02040503050406030204" pitchFamily="18" charset="0"/>
                                        </a:rPr>
                                      </m:ctrlPr>
                                    </m:dPr>
                                    <m:e>
                                      <m:r>
                                        <a:rPr lang="pt-BR" i="1">
                                          <a:latin typeface="Cambria Math" panose="02040503050406030204" pitchFamily="18" charset="0"/>
                                        </a:rPr>
                                        <m:t>1</m:t>
                                      </m:r>
                                    </m:e>
                                  </m:d>
                                </m:e>
                              </m:mr>
                              <m:mr>
                                <m:e>
                                  <m:m>
                                    <m:mPr>
                                      <m:mcs>
                                        <m:mc>
                                          <m:mcPr>
                                            <m:count m:val="1"/>
                                            <m:mcJc m:val="center"/>
                                          </m:mcPr>
                                        </m:mc>
                                      </m:mcs>
                                      <m:ctrlPr>
                                        <a:rPr lang="pt-BR" b="1" i="1">
                                          <a:latin typeface="Cambria Math" panose="02040503050406030204" pitchFamily="18" charset="0"/>
                                        </a:rPr>
                                      </m:ctrlPr>
                                    </m:mPr>
                                    <m:mr>
                                      <m:e>
                                        <m:r>
                                          <m:rPr>
                                            <m:brk m:alnAt="7"/>
                                          </m:rPr>
                                          <a:rPr lang="pt-BR" b="1" i="1">
                                            <a:latin typeface="Cambria Math" panose="02040503050406030204" pitchFamily="18" charset="0"/>
                                          </a:rPr>
                                          <m:t>⋮</m:t>
                                        </m:r>
                                      </m:e>
                                    </m:mr>
                                    <m:mr>
                                      <m:e>
                                        <m:acc>
                                          <m:accPr>
                                            <m:chr m:val="̂"/>
                                            <m:ctrlPr>
                                              <a:rPr lang="pt-BR" i="1">
                                                <a:latin typeface="Cambria Math" panose="02040503050406030204" pitchFamily="18" charset="0"/>
                                              </a:rPr>
                                            </m:ctrlPr>
                                          </m:accPr>
                                          <m:e>
                                            <m:r>
                                              <a:rPr lang="pt-BR" i="1">
                                                <a:latin typeface="Cambria Math" panose="02040503050406030204" pitchFamily="18" charset="0"/>
                                              </a:rPr>
                                              <m:t>𝑦</m:t>
                                            </m:r>
                                          </m:e>
                                        </m:acc>
                                        <m:d>
                                          <m:dPr>
                                            <m:ctrlPr>
                                              <a:rPr lang="pt-BR" i="1">
                                                <a:latin typeface="Cambria Math" panose="02040503050406030204" pitchFamily="18" charset="0"/>
                                              </a:rPr>
                                            </m:ctrlPr>
                                          </m:dPr>
                                          <m:e>
                                            <m:r>
                                              <a:rPr lang="pt-BR" i="1">
                                                <a:latin typeface="Cambria Math" panose="02040503050406030204" pitchFamily="18" charset="0"/>
                                              </a:rPr>
                                              <m:t>𝑁</m:t>
                                            </m:r>
                                            <m:r>
                                              <a:rPr lang="pt-BR" i="1">
                                                <a:latin typeface="Cambria Math" panose="02040503050406030204" pitchFamily="18" charset="0"/>
                                              </a:rPr>
                                              <m:t>−1</m:t>
                                            </m:r>
                                          </m:e>
                                        </m:d>
                                      </m:e>
                                    </m:mr>
                                  </m:m>
                                </m:e>
                              </m:mr>
                            </m:m>
                          </m:e>
                        </m:d>
                      </m:e>
                    </m:d>
                  </m:oMath>
                </a14:m>
                <a:endParaRPr lang="pt-BR" b="1" i="1" dirty="0">
                  <a:latin typeface="Cambria Math" panose="02040503050406030204" pitchFamily="18" charset="0"/>
                </a:endParaRPr>
              </a:p>
              <a:p>
                <a:pPr marL="0" indent="0">
                  <a:buNone/>
                </a:pPr>
                <a14:m>
                  <m:oMathPara xmlns:m="http://schemas.openxmlformats.org/officeDocument/2006/math">
                    <m:oMath>
                      <m:r>
                        <a:rPr lang="pt-BR" b="1" i="1" smtClean="0">
                          <a:latin typeface="Cambria Math" panose="02040503050406030204" pitchFamily="18" charset="0"/>
                        </a:rPr>
                        <m:t>=</m:t>
                      </m:r>
                      <m:d>
                        <m:dPr>
                          <m:begChr m:val="["/>
                          <m:endChr m:val="]"/>
                          <m:ctrlPr>
                            <a:rPr lang="pt-BR" b="1" i="1">
                              <a:latin typeface="Cambria Math" panose="02040503050406030204" pitchFamily="18" charset="0"/>
                            </a:rPr>
                          </m:ctrlPr>
                        </m:dPr>
                        <m:e>
                          <m:m>
                            <m:mPr>
                              <m:mcs>
                                <m:mc>
                                  <m:mcPr>
                                    <m:count m:val="1"/>
                                    <m:mcJc m:val="center"/>
                                  </m:mcPr>
                                </m:mc>
                              </m:mcs>
                              <m:ctrlPr>
                                <a:rPr lang="pt-BR" b="1" i="1">
                                  <a:latin typeface="Cambria Math" panose="02040503050406030204" pitchFamily="18" charset="0"/>
                                </a:rPr>
                              </m:ctrlPr>
                            </m:mPr>
                            <m:mr>
                              <m:e>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0</m:t>
                                    </m:r>
                                  </m:sub>
                                </m:sSub>
                              </m:e>
                            </m:mr>
                            <m:mr>
                              <m:e>
                                <m:m>
                                  <m:mPr>
                                    <m:mcs>
                                      <m:mc>
                                        <m:mcPr>
                                          <m:count m:val="1"/>
                                          <m:mcJc m:val="center"/>
                                        </m:mcPr>
                                      </m:mc>
                                    </m:mcs>
                                    <m:ctrlPr>
                                      <a:rPr lang="pt-BR" b="1" i="1">
                                        <a:latin typeface="Cambria Math" panose="02040503050406030204" pitchFamily="18" charset="0"/>
                                      </a:rPr>
                                    </m:ctrlPr>
                                  </m:mPr>
                                  <m:mr>
                                    <m:e>
                                      <m:r>
                                        <m:rPr>
                                          <m:brk m:alnAt="7"/>
                                        </m:rPr>
                                        <a:rPr lang="pt-BR" b="1" i="1">
                                          <a:latin typeface="Cambria Math" panose="02040503050406030204" pitchFamily="18" charset="0"/>
                                        </a:rPr>
                                        <m:t>⋮</m:t>
                                      </m:r>
                                    </m:e>
                                  </m:mr>
                                  <m:mr>
                                    <m:e>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𝐾</m:t>
                                          </m:r>
                                        </m:sub>
                                      </m:sSub>
                                    </m:e>
                                  </m:mr>
                                </m:m>
                              </m:e>
                            </m:mr>
                          </m:m>
                        </m:e>
                      </m:d>
                      <m:r>
                        <a:rPr lang="pt-BR" b="0" i="1" smtClean="0">
                          <a:latin typeface="Cambria Math" panose="02040503050406030204" pitchFamily="18" charset="0"/>
                        </a:rPr>
                        <m:t>+</m:t>
                      </m:r>
                      <m:r>
                        <a:rPr lang="pt-BR" i="1">
                          <a:latin typeface="Cambria Math" panose="02040503050406030204" pitchFamily="18" charset="0"/>
                          <a:ea typeface="Cambria Math" panose="02040503050406030204" pitchFamily="18" charset="0"/>
                        </a:rPr>
                        <m:t>𝛼</m:t>
                      </m:r>
                      <m:f>
                        <m:fPr>
                          <m:ctrlPr>
                            <a:rPr lang="pt-BR" i="1">
                              <a:latin typeface="Cambria Math" panose="02040503050406030204" pitchFamily="18" charset="0"/>
                            </a:rPr>
                          </m:ctrlPr>
                        </m:fPr>
                        <m:num>
                          <m:r>
                            <a:rPr lang="pt-BR" i="1">
                              <a:latin typeface="Cambria Math" panose="02040503050406030204" pitchFamily="18" charset="0"/>
                            </a:rPr>
                            <m:t>2</m:t>
                          </m:r>
                        </m:num>
                        <m:den>
                          <m:r>
                            <a:rPr lang="pt-BR" i="1">
                              <a:latin typeface="Cambria Math" panose="02040503050406030204" pitchFamily="18" charset="0"/>
                            </a:rPr>
                            <m:t>𝑁</m:t>
                          </m:r>
                        </m:den>
                      </m:f>
                      <m:d>
                        <m:dPr>
                          <m:begChr m:val="{"/>
                          <m:endChr m:val="}"/>
                          <m:ctrlPr>
                            <a:rPr lang="pt-BR" i="1">
                              <a:latin typeface="Cambria Math" panose="02040503050406030204" pitchFamily="18" charset="0"/>
                            </a:rPr>
                          </m:ctrlPr>
                        </m:dPr>
                        <m:e>
                          <m:d>
                            <m:dPr>
                              <m:begChr m:val="["/>
                              <m:endChr m:val="]"/>
                              <m:ctrlPr>
                                <a:rPr lang="pt-BR" i="1">
                                  <a:latin typeface="Cambria Math" panose="02040503050406030204" pitchFamily="18" charset="0"/>
                                </a:rPr>
                              </m:ctrlPr>
                            </m:dPr>
                            <m:e>
                              <m:m>
                                <m:mPr>
                                  <m:mcs>
                                    <m:mc>
                                      <m:mcPr>
                                        <m:count m:val="1"/>
                                        <m:mcJc m:val="center"/>
                                      </m:mcPr>
                                    </m:mc>
                                  </m:mcs>
                                  <m:ctrlPr>
                                    <a:rPr lang="pt-BR" i="1">
                                      <a:latin typeface="Cambria Math" panose="02040503050406030204" pitchFamily="18" charset="0"/>
                                    </a:rPr>
                                  </m:ctrlPr>
                                </m:mPr>
                                <m:mr>
                                  <m:e>
                                    <m:sSub>
                                      <m:sSubPr>
                                        <m:ctrlPr>
                                          <a:rPr lang="pt-BR" i="1">
                                            <a:latin typeface="Cambria Math" panose="02040503050406030204" pitchFamily="18" charset="0"/>
                                          </a:rPr>
                                        </m:ctrlPr>
                                      </m:sSubPr>
                                      <m:e>
                                        <m:r>
                                          <a:rPr lang="pt-BR" i="1">
                                            <a:latin typeface="Cambria Math" panose="02040503050406030204" pitchFamily="18" charset="0"/>
                                          </a:rPr>
                                          <m:t>𝑑</m:t>
                                        </m:r>
                                        <m:d>
                                          <m:dPr>
                                            <m:ctrlPr>
                                              <a:rPr lang="pt-BR" i="1">
                                                <a:latin typeface="Cambria Math" panose="02040503050406030204" pitchFamily="18" charset="0"/>
                                              </a:rPr>
                                            </m:ctrlPr>
                                          </m:dPr>
                                          <m:e>
                                            <m:r>
                                              <a:rPr lang="pt-BR" i="1">
                                                <a:latin typeface="Cambria Math" panose="02040503050406030204" pitchFamily="18" charset="0"/>
                                              </a:rPr>
                                              <m:t>0</m:t>
                                            </m:r>
                                          </m:e>
                                        </m:d>
                                        <m:r>
                                          <a:rPr lang="pt-BR" i="1">
                                            <a:latin typeface="Cambria Math" panose="02040503050406030204" pitchFamily="18" charset="0"/>
                                          </a:rPr>
                                          <m:t>𝑥</m:t>
                                        </m:r>
                                      </m:e>
                                      <m:sub>
                                        <m:r>
                                          <a:rPr lang="pt-BR" i="1">
                                            <a:latin typeface="Cambria Math" panose="02040503050406030204" pitchFamily="18" charset="0"/>
                                          </a:rPr>
                                          <m:t>0</m:t>
                                        </m:r>
                                      </m:sub>
                                    </m:sSub>
                                    <m:d>
                                      <m:dPr>
                                        <m:ctrlPr>
                                          <a:rPr lang="pt-BR" i="1">
                                            <a:latin typeface="Cambria Math" panose="02040503050406030204" pitchFamily="18" charset="0"/>
                                          </a:rPr>
                                        </m:ctrlPr>
                                      </m:dPr>
                                      <m:e>
                                        <m:r>
                                          <a:rPr lang="pt-BR" i="1">
                                            <a:latin typeface="Cambria Math" panose="02040503050406030204" pitchFamily="18" charset="0"/>
                                          </a:rPr>
                                          <m:t>0</m:t>
                                        </m:r>
                                      </m:e>
                                    </m:d>
                                    <m:r>
                                      <a:rPr lang="pt-BR" i="1">
                                        <a:latin typeface="Cambria Math" panose="02040503050406030204" pitchFamily="18" charset="0"/>
                                      </a:rPr>
                                      <m:t>+</m:t>
                                    </m:r>
                                    <m:r>
                                      <a:rPr lang="pt-BR" i="1">
                                        <a:latin typeface="Cambria Math" panose="02040503050406030204" pitchFamily="18" charset="0"/>
                                      </a:rPr>
                                      <m:t>𝑑</m:t>
                                    </m:r>
                                    <m:d>
                                      <m:dPr>
                                        <m:ctrlPr>
                                          <a:rPr lang="pt-BR" i="1">
                                            <a:latin typeface="Cambria Math" panose="02040503050406030204" pitchFamily="18" charset="0"/>
                                          </a:rPr>
                                        </m:ctrlPr>
                                      </m:dPr>
                                      <m:e>
                                        <m:r>
                                          <a:rPr lang="pt-BR" i="1">
                                            <a:latin typeface="Cambria Math" panose="02040503050406030204" pitchFamily="18" charset="0"/>
                                          </a:rPr>
                                          <m:t>1</m:t>
                                        </m:r>
                                      </m:e>
                                    </m:d>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d>
                                      <m:dPr>
                                        <m:ctrlPr>
                                          <a:rPr lang="pt-BR" i="1">
                                            <a:latin typeface="Cambria Math" panose="02040503050406030204" pitchFamily="18" charset="0"/>
                                          </a:rPr>
                                        </m:ctrlPr>
                                      </m:dPr>
                                      <m:e>
                                        <m:r>
                                          <a:rPr lang="pt-BR" i="1">
                                            <a:latin typeface="Cambria Math" panose="02040503050406030204" pitchFamily="18" charset="0"/>
                                          </a:rPr>
                                          <m:t>1</m:t>
                                        </m:r>
                                      </m:e>
                                    </m:d>
                                    <m:r>
                                      <a:rPr lang="pt-BR" i="1">
                                        <a:latin typeface="Cambria Math" panose="02040503050406030204" pitchFamily="18" charset="0"/>
                                      </a:rPr>
                                      <m:t>+⋯+</m:t>
                                    </m:r>
                                    <m:r>
                                      <a:rPr lang="pt-BR" i="1">
                                        <a:latin typeface="Cambria Math" panose="02040503050406030204" pitchFamily="18" charset="0"/>
                                      </a:rPr>
                                      <m:t>𝑑</m:t>
                                    </m:r>
                                    <m:d>
                                      <m:dPr>
                                        <m:ctrlPr>
                                          <a:rPr lang="pt-BR" i="1">
                                            <a:latin typeface="Cambria Math" panose="02040503050406030204" pitchFamily="18" charset="0"/>
                                          </a:rPr>
                                        </m:ctrlPr>
                                      </m:dPr>
                                      <m:e>
                                        <m:r>
                                          <a:rPr lang="pt-BR" i="1">
                                            <a:latin typeface="Cambria Math" panose="02040503050406030204" pitchFamily="18" charset="0"/>
                                          </a:rPr>
                                          <m:t>𝑁</m:t>
                                        </m:r>
                                        <m:r>
                                          <a:rPr lang="pt-BR" i="1">
                                            <a:latin typeface="Cambria Math" panose="02040503050406030204" pitchFamily="18" charset="0"/>
                                          </a:rPr>
                                          <m:t>−1</m:t>
                                        </m:r>
                                      </m:e>
                                    </m:d>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d>
                                      <m:dPr>
                                        <m:ctrlPr>
                                          <a:rPr lang="pt-BR" i="1">
                                            <a:latin typeface="Cambria Math" panose="02040503050406030204" pitchFamily="18" charset="0"/>
                                          </a:rPr>
                                        </m:ctrlPr>
                                      </m:dPr>
                                      <m:e>
                                        <m:r>
                                          <a:rPr lang="pt-BR" i="1">
                                            <a:latin typeface="Cambria Math" panose="02040503050406030204" pitchFamily="18" charset="0"/>
                                          </a:rPr>
                                          <m:t>𝑁</m:t>
                                        </m:r>
                                        <m:r>
                                          <a:rPr lang="pt-BR" i="1">
                                            <a:latin typeface="Cambria Math" panose="02040503050406030204" pitchFamily="18" charset="0"/>
                                          </a:rPr>
                                          <m:t>−1</m:t>
                                        </m:r>
                                      </m:e>
                                    </m:d>
                                  </m:e>
                                </m:mr>
                                <m:mr>
                                  <m:e>
                                    <m:r>
                                      <a:rPr lang="pt-BR" i="1">
                                        <a:latin typeface="Cambria Math" panose="02040503050406030204" pitchFamily="18" charset="0"/>
                                      </a:rPr>
                                      <m:t>⋮</m:t>
                                    </m:r>
                                  </m:e>
                                </m:mr>
                                <m:mr>
                                  <m:e>
                                    <m:sSub>
                                      <m:sSubPr>
                                        <m:ctrlPr>
                                          <a:rPr lang="pt-BR" i="1">
                                            <a:latin typeface="Cambria Math" panose="02040503050406030204" pitchFamily="18" charset="0"/>
                                          </a:rPr>
                                        </m:ctrlPr>
                                      </m:sSubPr>
                                      <m:e>
                                        <m:r>
                                          <a:rPr lang="pt-BR" i="1">
                                            <a:latin typeface="Cambria Math" panose="02040503050406030204" pitchFamily="18" charset="0"/>
                                          </a:rPr>
                                          <m:t>𝑑</m:t>
                                        </m:r>
                                        <m:d>
                                          <m:dPr>
                                            <m:ctrlPr>
                                              <a:rPr lang="pt-BR" i="1">
                                                <a:latin typeface="Cambria Math" panose="02040503050406030204" pitchFamily="18" charset="0"/>
                                              </a:rPr>
                                            </m:ctrlPr>
                                          </m:dPr>
                                          <m:e>
                                            <m:r>
                                              <a:rPr lang="pt-BR" i="1">
                                                <a:latin typeface="Cambria Math" panose="02040503050406030204" pitchFamily="18" charset="0"/>
                                              </a:rPr>
                                              <m:t>0</m:t>
                                            </m:r>
                                          </m:e>
                                        </m:d>
                                        <m:r>
                                          <a:rPr lang="pt-BR" i="1">
                                            <a:latin typeface="Cambria Math" panose="02040503050406030204" pitchFamily="18" charset="0"/>
                                          </a:rPr>
                                          <m:t>𝑥</m:t>
                                        </m:r>
                                      </m:e>
                                      <m:sub>
                                        <m:r>
                                          <a:rPr lang="pt-BR" i="1">
                                            <a:latin typeface="Cambria Math" panose="02040503050406030204" pitchFamily="18" charset="0"/>
                                          </a:rPr>
                                          <m:t>𝐾</m:t>
                                        </m:r>
                                      </m:sub>
                                    </m:sSub>
                                    <m:d>
                                      <m:dPr>
                                        <m:ctrlPr>
                                          <a:rPr lang="pt-BR" i="1">
                                            <a:latin typeface="Cambria Math" panose="02040503050406030204" pitchFamily="18" charset="0"/>
                                          </a:rPr>
                                        </m:ctrlPr>
                                      </m:dPr>
                                      <m:e>
                                        <m:r>
                                          <a:rPr lang="pt-BR" i="1">
                                            <a:latin typeface="Cambria Math" panose="02040503050406030204" pitchFamily="18" charset="0"/>
                                          </a:rPr>
                                          <m:t>0</m:t>
                                        </m:r>
                                      </m:e>
                                    </m:d>
                                    <m:r>
                                      <a:rPr lang="pt-BR" i="1">
                                        <a:latin typeface="Cambria Math" panose="02040503050406030204" pitchFamily="18" charset="0"/>
                                      </a:rPr>
                                      <m:t>+</m:t>
                                    </m:r>
                                    <m:r>
                                      <a:rPr lang="pt-BR" i="1">
                                        <a:latin typeface="Cambria Math" panose="02040503050406030204" pitchFamily="18" charset="0"/>
                                      </a:rPr>
                                      <m:t>𝑑</m:t>
                                    </m:r>
                                    <m:d>
                                      <m:dPr>
                                        <m:ctrlPr>
                                          <a:rPr lang="pt-BR" i="1">
                                            <a:latin typeface="Cambria Math" panose="02040503050406030204" pitchFamily="18" charset="0"/>
                                          </a:rPr>
                                        </m:ctrlPr>
                                      </m:dPr>
                                      <m:e>
                                        <m:r>
                                          <a:rPr lang="pt-BR" i="1">
                                            <a:latin typeface="Cambria Math" panose="02040503050406030204" pitchFamily="18" charset="0"/>
                                          </a:rPr>
                                          <m:t>1</m:t>
                                        </m:r>
                                      </m:e>
                                    </m:d>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𝐾</m:t>
                                        </m:r>
                                      </m:sub>
                                    </m:sSub>
                                    <m:d>
                                      <m:dPr>
                                        <m:ctrlPr>
                                          <a:rPr lang="pt-BR" i="1">
                                            <a:latin typeface="Cambria Math" panose="02040503050406030204" pitchFamily="18" charset="0"/>
                                          </a:rPr>
                                        </m:ctrlPr>
                                      </m:dPr>
                                      <m:e>
                                        <m:r>
                                          <a:rPr lang="pt-BR" i="1">
                                            <a:latin typeface="Cambria Math" panose="02040503050406030204" pitchFamily="18" charset="0"/>
                                          </a:rPr>
                                          <m:t>1</m:t>
                                        </m:r>
                                      </m:e>
                                    </m:d>
                                    <m:r>
                                      <a:rPr lang="pt-BR" i="1">
                                        <a:latin typeface="Cambria Math" panose="02040503050406030204" pitchFamily="18" charset="0"/>
                                      </a:rPr>
                                      <m:t>+⋯+</m:t>
                                    </m:r>
                                    <m:r>
                                      <a:rPr lang="pt-BR" i="1">
                                        <a:latin typeface="Cambria Math" panose="02040503050406030204" pitchFamily="18" charset="0"/>
                                      </a:rPr>
                                      <m:t>𝑑</m:t>
                                    </m:r>
                                    <m:d>
                                      <m:dPr>
                                        <m:ctrlPr>
                                          <a:rPr lang="pt-BR" i="1">
                                            <a:latin typeface="Cambria Math" panose="02040503050406030204" pitchFamily="18" charset="0"/>
                                          </a:rPr>
                                        </m:ctrlPr>
                                      </m:dPr>
                                      <m:e>
                                        <m:r>
                                          <a:rPr lang="pt-BR" i="1">
                                            <a:latin typeface="Cambria Math" panose="02040503050406030204" pitchFamily="18" charset="0"/>
                                          </a:rPr>
                                          <m:t>𝑁</m:t>
                                        </m:r>
                                        <m:r>
                                          <a:rPr lang="pt-BR" i="1">
                                            <a:latin typeface="Cambria Math" panose="02040503050406030204" pitchFamily="18" charset="0"/>
                                          </a:rPr>
                                          <m:t>−1</m:t>
                                        </m:r>
                                      </m:e>
                                    </m:d>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𝐾</m:t>
                                        </m:r>
                                      </m:sub>
                                    </m:sSub>
                                    <m:d>
                                      <m:dPr>
                                        <m:ctrlPr>
                                          <a:rPr lang="pt-BR" i="1">
                                            <a:latin typeface="Cambria Math" panose="02040503050406030204" pitchFamily="18" charset="0"/>
                                          </a:rPr>
                                        </m:ctrlPr>
                                      </m:dPr>
                                      <m:e>
                                        <m:r>
                                          <a:rPr lang="pt-BR" i="1">
                                            <a:latin typeface="Cambria Math" panose="02040503050406030204" pitchFamily="18" charset="0"/>
                                          </a:rPr>
                                          <m:t>𝑁</m:t>
                                        </m:r>
                                        <m:r>
                                          <a:rPr lang="pt-BR" i="1">
                                            <a:latin typeface="Cambria Math" panose="02040503050406030204" pitchFamily="18" charset="0"/>
                                          </a:rPr>
                                          <m:t>−1</m:t>
                                        </m:r>
                                      </m:e>
                                    </m:d>
                                  </m:e>
                                </m:mr>
                              </m:m>
                            </m:e>
                          </m:d>
                        </m:e>
                      </m:d>
                      <m:r>
                        <a:rPr lang="pt-BR" b="0" i="1" smtClean="0">
                          <a:latin typeface="Cambria Math" panose="02040503050406030204" pitchFamily="18" charset="0"/>
                        </a:rPr>
                        <m:t>.</m:t>
                      </m:r>
                    </m:oMath>
                  </m:oMathPara>
                </a14:m>
                <a:endParaRPr lang="pt-BR" dirty="0"/>
              </a:p>
            </p:txBody>
          </p:sp>
        </mc:Choice>
        <mc:Fallback xmlns="">
          <p:sp>
            <p:nvSpPr>
              <p:cNvPr id="3" name="Espaço Reservado para Conteúdo 2">
                <a:extLst>
                  <a:ext uri="{FF2B5EF4-FFF2-40B4-BE49-F238E27FC236}">
                    <a16:creationId xmlns:a16="http://schemas.microsoft.com/office/drawing/2014/main" id="{D89A84A6-B9EC-4293-8CA4-DDE6F7AF7C7D}"/>
                  </a:ext>
                </a:extLst>
              </p:cNvPr>
              <p:cNvSpPr>
                <a:spLocks noGrp="1" noRot="1" noChangeAspect="1" noMove="1" noResize="1" noEditPoints="1" noAdjustHandles="1" noChangeArrowheads="1" noChangeShapeType="1" noTextEdit="1"/>
              </p:cNvSpPr>
              <p:nvPr>
                <p:ph idx="1"/>
              </p:nvPr>
            </p:nvSpPr>
            <p:spPr>
              <a:xfrm>
                <a:off x="838199" y="1825624"/>
                <a:ext cx="11353801" cy="5032375"/>
              </a:xfrm>
              <a:blipFill>
                <a:blip r:embed="rId2"/>
                <a:stretch>
                  <a:fillRect l="-913" t="-1816"/>
                </a:stretch>
              </a:blipFill>
            </p:spPr>
            <p:txBody>
              <a:bodyPr/>
              <a:lstStyle/>
              <a:p>
                <a:r>
                  <a:rPr lang="pt-BR">
                    <a:noFill/>
                  </a:rPr>
                  <a:t> </a:t>
                </a:r>
              </a:p>
            </p:txBody>
          </p:sp>
        </mc:Fallback>
      </mc:AlternateContent>
    </p:spTree>
    <p:extLst>
      <p:ext uri="{BB962C8B-B14F-4D97-AF65-F5344CB8AC3E}">
        <p14:creationId xmlns:p14="http://schemas.microsoft.com/office/powerpoint/2010/main" val="121509415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B6C63-B773-CA4D-EED6-C9AE57EB8B6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FEB56D-6934-E9CB-B61C-9B295607BB0E}"/>
              </a:ext>
            </a:extLst>
          </p:cNvPr>
          <p:cNvSpPr>
            <a:spLocks noGrp="1"/>
          </p:cNvSpPr>
          <p:nvPr>
            <p:ph idx="1"/>
          </p:nvPr>
        </p:nvSpPr>
        <p:spPr>
          <a:xfrm>
            <a:off x="669471" y="2154577"/>
            <a:ext cx="10853057" cy="2548846"/>
          </a:xfrm>
        </p:spPr>
        <p:txBody>
          <a:bodyPr>
            <a:normAutofit/>
          </a:bodyPr>
          <a:lstStyle/>
          <a:p>
            <a:pPr marL="0" indent="0" algn="ctr">
              <a:buNone/>
            </a:pPr>
            <a:r>
              <a:rPr lang="pt-BR" sz="6000" dirty="0"/>
              <a:t>Anexo II: </a:t>
            </a:r>
          </a:p>
          <a:p>
            <a:pPr marL="0" indent="0" algn="ctr">
              <a:buNone/>
            </a:pPr>
            <a:r>
              <a:rPr lang="pt-BR" sz="6000" dirty="0"/>
              <a:t>Matriz de atributos polinomial</a:t>
            </a:r>
            <a:endParaRPr lang="en-US" sz="6000" i="1" dirty="0"/>
          </a:p>
        </p:txBody>
      </p:sp>
    </p:spTree>
    <p:extLst>
      <p:ext uri="{BB962C8B-B14F-4D97-AF65-F5344CB8AC3E}">
        <p14:creationId xmlns:p14="http://schemas.microsoft.com/office/powerpoint/2010/main" val="393136188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FE1700-1035-D231-E381-8EEF54EB3939}"/>
              </a:ext>
            </a:extLst>
          </p:cNvPr>
          <p:cNvSpPr>
            <a:spLocks noGrp="1"/>
          </p:cNvSpPr>
          <p:nvPr>
            <p:ph type="title"/>
          </p:nvPr>
        </p:nvSpPr>
        <p:spPr/>
        <p:txBody>
          <a:bodyPr/>
          <a:lstStyle/>
          <a:p>
            <a:r>
              <a:rPr lang="pt-BR" dirty="0"/>
              <a:t>Regressão polinomial</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F2E5602A-661E-0742-2B1B-2D2F60E5F350}"/>
                  </a:ext>
                </a:extLst>
              </p:cNvPr>
              <p:cNvSpPr>
                <a:spLocks noGrp="1"/>
              </p:cNvSpPr>
              <p:nvPr>
                <p:ph idx="1"/>
              </p:nvPr>
            </p:nvSpPr>
            <p:spPr>
              <a:xfrm>
                <a:off x="838198" y="1825624"/>
                <a:ext cx="11353801" cy="5032375"/>
              </a:xfrm>
            </p:spPr>
            <p:txBody>
              <a:bodyPr>
                <a:normAutofit lnSpcReduction="10000"/>
              </a:bodyPr>
              <a:lstStyle/>
              <a:p>
                <a:r>
                  <a:rPr lang="pt-BR" dirty="0"/>
                  <a:t>Para a seguinte função </a:t>
                </a:r>
                <a:r>
                  <a:rPr lang="pt-BR" b="1" dirty="0">
                    <a:solidFill>
                      <a:srgbClr val="7030A0"/>
                    </a:solidFill>
                  </a:rPr>
                  <a:t>polinomial</a:t>
                </a:r>
                <a:r>
                  <a:rPr lang="pt-BR" dirty="0"/>
                  <a:t> </a:t>
                </a:r>
                <a:r>
                  <a:rPr lang="pt-BR" b="1" dirty="0">
                    <a:solidFill>
                      <a:srgbClr val="7030A0"/>
                    </a:solidFill>
                  </a:rPr>
                  <a:t>de grau </a:t>
                </a:r>
                <a14:m>
                  <m:oMath xmlns:m="http://schemas.openxmlformats.org/officeDocument/2006/math">
                    <m:r>
                      <a:rPr lang="pt-BR" b="1" i="1" smtClean="0">
                        <a:solidFill>
                          <a:srgbClr val="7030A0"/>
                        </a:solidFill>
                        <a:latin typeface="Cambria Math" panose="02040503050406030204" pitchFamily="18" charset="0"/>
                      </a:rPr>
                      <m:t>𝑴</m:t>
                    </m:r>
                  </m:oMath>
                </a14:m>
                <a:r>
                  <a:rPr lang="pt-BR" b="1" dirty="0">
                    <a:solidFill>
                      <a:srgbClr val="7030A0"/>
                    </a:solidFill>
                  </a:rPr>
                  <a:t> em um único atributo</a:t>
                </a:r>
              </a:p>
              <a:p>
                <a:pPr marL="0" indent="0">
                  <a:buNone/>
                </a:pPr>
                <a14:m>
                  <m:oMathPara xmlns:m="http://schemas.openxmlformats.org/officeDocument/2006/math">
                    <m:oMath>
                      <m:r>
                        <a:rPr lang="pt-BR" i="1" smtClean="0">
                          <a:latin typeface="Cambria Math" panose="02040503050406030204" pitchFamily="18" charset="0"/>
                        </a:rPr>
                        <m:t>ℎ</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1</m:t>
                              </m:r>
                            </m:sub>
                          </m:sSub>
                          <m:r>
                            <a:rPr lang="pt-BR" b="0" i="1" smtClean="0">
                              <a:latin typeface="Cambria Math" panose="02040503050406030204" pitchFamily="18" charset="0"/>
                            </a:rPr>
                            <m:t>(</m:t>
                          </m:r>
                          <m:r>
                            <a:rPr lang="pt-BR" b="0" i="1" smtClean="0">
                              <a:latin typeface="Cambria Math" panose="02040503050406030204" pitchFamily="18" charset="0"/>
                            </a:rPr>
                            <m:t>𝑛</m:t>
                          </m:r>
                          <m:r>
                            <a:rPr lang="pt-BR" b="0" i="1" smtClean="0">
                              <a:latin typeface="Cambria Math" panose="02040503050406030204" pitchFamily="18" charset="0"/>
                            </a:rPr>
                            <m:t>)</m:t>
                          </m:r>
                        </m:e>
                      </m:d>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0</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1</m:t>
                          </m:r>
                        </m:sub>
                      </m:sSub>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1</m:t>
                          </m:r>
                        </m:sub>
                      </m:sSub>
                      <m:d>
                        <m:dPr>
                          <m:ctrlPr>
                            <a:rPr lang="pt-BR"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2</m:t>
                          </m:r>
                        </m:sub>
                      </m:sSub>
                      <m:sSup>
                        <m:sSupPr>
                          <m:ctrlPr>
                            <a:rPr lang="pt-BR" i="1">
                              <a:latin typeface="Cambria Math" panose="02040503050406030204" pitchFamily="18" charset="0"/>
                            </a:rPr>
                          </m:ctrlPr>
                        </m:sSupP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1</m:t>
                              </m:r>
                            </m:sub>
                          </m:sSub>
                        </m:e>
                        <m:sup>
                          <m:r>
                            <a:rPr lang="pt-BR" i="1">
                              <a:latin typeface="Cambria Math" panose="02040503050406030204" pitchFamily="18" charset="0"/>
                            </a:rPr>
                            <m:t>2</m:t>
                          </m:r>
                        </m:sup>
                      </m:sSup>
                      <m:d>
                        <m:dPr>
                          <m:ctrlPr>
                            <a:rPr lang="pt-BR"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𝑀</m:t>
                          </m:r>
                        </m:sub>
                      </m:sSub>
                      <m:sSup>
                        <m:sSupPr>
                          <m:ctrlPr>
                            <a:rPr lang="pt-BR" i="1">
                              <a:latin typeface="Cambria Math" panose="02040503050406030204" pitchFamily="18" charset="0"/>
                            </a:rPr>
                          </m:ctrlPr>
                        </m:sSupP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1</m:t>
                              </m:r>
                            </m:sub>
                          </m:sSub>
                        </m:e>
                        <m:sup>
                          <m:r>
                            <a:rPr lang="pt-BR" i="1">
                              <a:latin typeface="Cambria Math" panose="02040503050406030204" pitchFamily="18" charset="0"/>
                            </a:rPr>
                            <m:t>𝑀</m:t>
                          </m:r>
                        </m:sup>
                      </m:sSup>
                      <m:d>
                        <m:dPr>
                          <m:ctrlPr>
                            <a:rPr lang="pt-BR" i="1">
                              <a:latin typeface="Cambria Math" panose="02040503050406030204" pitchFamily="18" charset="0"/>
                            </a:rPr>
                          </m:ctrlPr>
                        </m:dPr>
                        <m:e>
                          <m:r>
                            <a:rPr lang="pt-BR" i="1">
                              <a:latin typeface="Cambria Math" panose="02040503050406030204" pitchFamily="18" charset="0"/>
                            </a:rPr>
                            <m:t>𝑛</m:t>
                          </m:r>
                        </m:e>
                      </m:d>
                      <m:r>
                        <a:rPr lang="pt-BR" b="0" i="0" smtClean="0">
                          <a:latin typeface="Cambria Math" panose="02040503050406030204" pitchFamily="18" charset="0"/>
                        </a:rPr>
                        <m:t>, 0&lt;</m:t>
                      </m:r>
                      <m:r>
                        <a:rPr lang="pt-BR" b="0" i="1" smtClean="0">
                          <a:latin typeface="Cambria Math" panose="02040503050406030204" pitchFamily="18" charset="0"/>
                        </a:rPr>
                        <m:t>𝑛</m:t>
                      </m:r>
                      <m:r>
                        <a:rPr lang="pt-BR" b="0" i="0" smtClean="0">
                          <a:latin typeface="Cambria Math" panose="02040503050406030204" pitchFamily="18" charset="0"/>
                        </a:rPr>
                        <m:t>&lt;</m:t>
                      </m:r>
                      <m:r>
                        <m:rPr>
                          <m:sty m:val="p"/>
                        </m:rPr>
                        <a:rPr lang="pt-BR" b="0" i="0" smtClean="0">
                          <a:latin typeface="Cambria Math" panose="02040503050406030204" pitchFamily="18" charset="0"/>
                        </a:rPr>
                        <m:t>N</m:t>
                      </m:r>
                      <m:r>
                        <a:rPr lang="pt-BR" b="0" i="0" smtClean="0">
                          <a:latin typeface="Cambria Math" panose="02040503050406030204" pitchFamily="18" charset="0"/>
                        </a:rPr>
                        <m:t>−1</m:t>
                      </m:r>
                    </m:oMath>
                  </m:oMathPara>
                </a14:m>
                <a:endParaRPr lang="pt-BR" dirty="0"/>
              </a:p>
              <a:p>
                <a:pPr marL="0" indent="0">
                  <a:buNone/>
                </a:pPr>
                <a:r>
                  <a:rPr lang="pt-BR" dirty="0"/>
                  <a:t>a </a:t>
                </a:r>
                <a:r>
                  <a:rPr lang="pt-BR" b="1" dirty="0">
                    <a:solidFill>
                      <a:srgbClr val="00B050"/>
                    </a:solidFill>
                  </a:rPr>
                  <a:t>matriz de atributos polinomial</a:t>
                </a:r>
                <a:r>
                  <a:rPr lang="pt-BR" dirty="0"/>
                  <a:t>, </a:t>
                </a:r>
                <a14:m>
                  <m:oMath xmlns:m="http://schemas.openxmlformats.org/officeDocument/2006/math">
                    <m:r>
                      <a:rPr lang="pt-BR" b="1" i="1">
                        <a:latin typeface="Cambria Math" panose="02040503050406030204" pitchFamily="18" charset="0"/>
                      </a:rPr>
                      <m:t>𝑿</m:t>
                    </m:r>
                  </m:oMath>
                </a14:m>
                <a:r>
                  <a:rPr lang="pt-BR" dirty="0"/>
                  <a:t>, para todas </a:t>
                </a:r>
                <a14:m>
                  <m:oMath xmlns:m="http://schemas.openxmlformats.org/officeDocument/2006/math">
                    <m:r>
                      <m:rPr>
                        <m:sty m:val="p"/>
                      </m:rPr>
                      <a:rPr lang="pt-BR" b="0" i="0" smtClean="0">
                        <a:latin typeface="Cambria Math" panose="02040503050406030204" pitchFamily="18" charset="0"/>
                      </a:rPr>
                      <m:t>N</m:t>
                    </m:r>
                  </m:oMath>
                </a14:m>
                <a:r>
                  <a:rPr lang="pt-BR" dirty="0"/>
                  <a:t> amostras fica da seguinte forma </a:t>
                </a:r>
              </a:p>
              <a:p>
                <a:pPr marL="0" indent="0">
                  <a:buNone/>
                </a:pPr>
                <a14:m>
                  <m:oMathPara xmlns:m="http://schemas.openxmlformats.org/officeDocument/2006/math">
                    <m:oMath>
                      <m:r>
                        <a:rPr lang="pt-BR" sz="2600" b="1" i="1" smtClean="0">
                          <a:latin typeface="Cambria Math" panose="02040503050406030204" pitchFamily="18" charset="0"/>
                        </a:rPr>
                        <m:t>𝑿</m:t>
                      </m:r>
                      <m:r>
                        <a:rPr lang="pt-BR" sz="2600" b="0" i="1" smtClean="0">
                          <a:latin typeface="Cambria Math" panose="02040503050406030204" pitchFamily="18" charset="0"/>
                        </a:rPr>
                        <m:t>=</m:t>
                      </m:r>
                      <m:d>
                        <m:dPr>
                          <m:begChr m:val="["/>
                          <m:endChr m:val="]"/>
                          <m:ctrlPr>
                            <a:rPr lang="pt-BR" sz="2600" b="1" i="1" smtClean="0">
                              <a:latin typeface="Cambria Math" panose="02040503050406030204" pitchFamily="18" charset="0"/>
                            </a:rPr>
                          </m:ctrlPr>
                        </m:dPr>
                        <m:e>
                          <m:m>
                            <m:mPr>
                              <m:mcs>
                                <m:mc>
                                  <m:mcPr>
                                    <m:count m:val="3"/>
                                    <m:mcJc m:val="center"/>
                                  </m:mcPr>
                                </m:mc>
                              </m:mcs>
                              <m:ctrlPr>
                                <a:rPr lang="pt-BR" sz="2600" b="1" i="1" smtClean="0">
                                  <a:latin typeface="Cambria Math" panose="02040503050406030204" pitchFamily="18" charset="0"/>
                                </a:rPr>
                              </m:ctrlPr>
                            </m:mPr>
                            <m:mr>
                              <m:e>
                                <m:r>
                                  <a:rPr lang="pt-BR" sz="2600" b="0" i="1" smtClean="0">
                                    <a:latin typeface="Cambria Math" panose="02040503050406030204" pitchFamily="18" charset="0"/>
                                  </a:rPr>
                                  <m:t>1</m:t>
                                </m:r>
                              </m:e>
                              <m:e>
                                <m:sSub>
                                  <m:sSubPr>
                                    <m:ctrlPr>
                                      <a:rPr lang="pt-BR" sz="2600" i="1">
                                        <a:latin typeface="Cambria Math" panose="02040503050406030204" pitchFamily="18" charset="0"/>
                                      </a:rPr>
                                    </m:ctrlPr>
                                  </m:sSubPr>
                                  <m:e>
                                    <m:r>
                                      <a:rPr lang="pt-BR" sz="2600" i="1">
                                        <a:latin typeface="Cambria Math" panose="02040503050406030204" pitchFamily="18" charset="0"/>
                                      </a:rPr>
                                      <m:t>𝑥</m:t>
                                    </m:r>
                                  </m:e>
                                  <m:sub>
                                    <m:r>
                                      <a:rPr lang="pt-BR" sz="2600" i="1">
                                        <a:latin typeface="Cambria Math" panose="02040503050406030204" pitchFamily="18" charset="0"/>
                                      </a:rPr>
                                      <m:t>1</m:t>
                                    </m:r>
                                  </m:sub>
                                </m:sSub>
                                <m:d>
                                  <m:dPr>
                                    <m:ctrlPr>
                                      <a:rPr lang="pt-BR" sz="2600" b="0" i="1" smtClean="0">
                                        <a:latin typeface="Cambria Math" panose="02040503050406030204" pitchFamily="18" charset="0"/>
                                      </a:rPr>
                                    </m:ctrlPr>
                                  </m:dPr>
                                  <m:e>
                                    <m:r>
                                      <a:rPr lang="pt-BR" sz="2600" b="0" i="1" smtClean="0">
                                        <a:latin typeface="Cambria Math" panose="02040503050406030204" pitchFamily="18" charset="0"/>
                                      </a:rPr>
                                      <m:t>0</m:t>
                                    </m:r>
                                  </m:e>
                                </m:d>
                              </m:e>
                              <m:e>
                                <m:m>
                                  <m:mPr>
                                    <m:mcs>
                                      <m:mc>
                                        <m:mcPr>
                                          <m:count m:val="2"/>
                                          <m:mcJc m:val="center"/>
                                        </m:mcPr>
                                      </m:mc>
                                    </m:mcs>
                                    <m:ctrlPr>
                                      <a:rPr lang="pt-BR" sz="2600" b="1" i="1" smtClean="0">
                                        <a:latin typeface="Cambria Math" panose="02040503050406030204" pitchFamily="18" charset="0"/>
                                      </a:rPr>
                                    </m:ctrlPr>
                                  </m:mPr>
                                  <m:mr>
                                    <m:e>
                                      <m:sSup>
                                        <m:sSupPr>
                                          <m:ctrlPr>
                                            <a:rPr lang="pt-BR" sz="2600" i="1">
                                              <a:latin typeface="Cambria Math" panose="02040503050406030204" pitchFamily="18" charset="0"/>
                                            </a:rPr>
                                          </m:ctrlPr>
                                        </m:sSupPr>
                                        <m:e>
                                          <m:sSub>
                                            <m:sSubPr>
                                              <m:ctrlPr>
                                                <a:rPr lang="pt-BR" sz="2600" i="1">
                                                  <a:latin typeface="Cambria Math" panose="02040503050406030204" pitchFamily="18" charset="0"/>
                                                </a:rPr>
                                              </m:ctrlPr>
                                            </m:sSubPr>
                                            <m:e>
                                              <m:r>
                                                <a:rPr lang="pt-BR" sz="2600" i="1">
                                                  <a:latin typeface="Cambria Math" panose="02040503050406030204" pitchFamily="18" charset="0"/>
                                                </a:rPr>
                                                <m:t>𝑥</m:t>
                                              </m:r>
                                            </m:e>
                                            <m:sub>
                                              <m:r>
                                                <a:rPr lang="pt-BR" sz="2600" i="1">
                                                  <a:latin typeface="Cambria Math" panose="02040503050406030204" pitchFamily="18" charset="0"/>
                                                </a:rPr>
                                                <m:t>1</m:t>
                                              </m:r>
                                            </m:sub>
                                          </m:sSub>
                                        </m:e>
                                        <m:sup>
                                          <m:r>
                                            <a:rPr lang="pt-BR" sz="2600" i="1">
                                              <a:latin typeface="Cambria Math" panose="02040503050406030204" pitchFamily="18" charset="0"/>
                                            </a:rPr>
                                            <m:t>2</m:t>
                                          </m:r>
                                        </m:sup>
                                      </m:sSup>
                                      <m:d>
                                        <m:dPr>
                                          <m:ctrlPr>
                                            <a:rPr lang="pt-BR" sz="2600" b="0" i="1" smtClean="0">
                                              <a:latin typeface="Cambria Math" panose="02040503050406030204" pitchFamily="18" charset="0"/>
                                            </a:rPr>
                                          </m:ctrlPr>
                                        </m:dPr>
                                        <m:e>
                                          <m:r>
                                            <a:rPr lang="pt-BR" sz="2600" b="0" i="1" smtClean="0">
                                              <a:latin typeface="Cambria Math" panose="02040503050406030204" pitchFamily="18" charset="0"/>
                                            </a:rPr>
                                            <m:t>0</m:t>
                                          </m:r>
                                        </m:e>
                                      </m:d>
                                    </m:e>
                                    <m:e>
                                      <m:m>
                                        <m:mPr>
                                          <m:mcs>
                                            <m:mc>
                                              <m:mcPr>
                                                <m:count m:val="2"/>
                                                <m:mcJc m:val="center"/>
                                              </m:mcPr>
                                            </m:mc>
                                          </m:mcs>
                                          <m:ctrlPr>
                                            <a:rPr lang="pt-BR" sz="2600" b="1" i="1" smtClean="0">
                                              <a:latin typeface="Cambria Math" panose="02040503050406030204" pitchFamily="18" charset="0"/>
                                            </a:rPr>
                                          </m:ctrlPr>
                                        </m:mPr>
                                        <m:mr>
                                          <m:e>
                                            <m:r>
                                              <m:rPr>
                                                <m:brk m:alnAt="7"/>
                                              </m:rPr>
                                              <a:rPr lang="pt-BR" sz="2600" b="1" i="1">
                                                <a:latin typeface="Cambria Math" panose="02040503050406030204" pitchFamily="18" charset="0"/>
                                              </a:rPr>
                                              <m:t>⋯</m:t>
                                            </m:r>
                                          </m:e>
                                          <m:e>
                                            <m:sSup>
                                              <m:sSupPr>
                                                <m:ctrlPr>
                                                  <a:rPr lang="pt-BR" sz="2600" i="1">
                                                    <a:latin typeface="Cambria Math" panose="02040503050406030204" pitchFamily="18" charset="0"/>
                                                  </a:rPr>
                                                </m:ctrlPr>
                                              </m:sSupPr>
                                              <m:e>
                                                <m:sSub>
                                                  <m:sSubPr>
                                                    <m:ctrlPr>
                                                      <a:rPr lang="pt-BR" sz="2600" i="1">
                                                        <a:latin typeface="Cambria Math" panose="02040503050406030204" pitchFamily="18" charset="0"/>
                                                      </a:rPr>
                                                    </m:ctrlPr>
                                                  </m:sSubPr>
                                                  <m:e>
                                                    <m:r>
                                                      <a:rPr lang="pt-BR" sz="2600" i="1">
                                                        <a:latin typeface="Cambria Math" panose="02040503050406030204" pitchFamily="18" charset="0"/>
                                                      </a:rPr>
                                                      <m:t>𝑥</m:t>
                                                    </m:r>
                                                  </m:e>
                                                  <m:sub>
                                                    <m:r>
                                                      <a:rPr lang="pt-BR" sz="2600" i="1">
                                                        <a:latin typeface="Cambria Math" panose="02040503050406030204" pitchFamily="18" charset="0"/>
                                                      </a:rPr>
                                                      <m:t>1</m:t>
                                                    </m:r>
                                                  </m:sub>
                                                </m:sSub>
                                              </m:e>
                                              <m:sup>
                                                <m:r>
                                                  <a:rPr lang="pt-BR" sz="2600" i="1">
                                                    <a:latin typeface="Cambria Math" panose="02040503050406030204" pitchFamily="18" charset="0"/>
                                                  </a:rPr>
                                                  <m:t>𝑀</m:t>
                                                </m:r>
                                              </m:sup>
                                            </m:sSup>
                                            <m:d>
                                              <m:dPr>
                                                <m:ctrlPr>
                                                  <a:rPr lang="pt-BR" sz="2600" b="0" i="1" smtClean="0">
                                                    <a:latin typeface="Cambria Math" panose="02040503050406030204" pitchFamily="18" charset="0"/>
                                                  </a:rPr>
                                                </m:ctrlPr>
                                              </m:dPr>
                                              <m:e>
                                                <m:r>
                                                  <a:rPr lang="pt-BR" sz="2600" b="0" i="1" smtClean="0">
                                                    <a:latin typeface="Cambria Math" panose="02040503050406030204" pitchFamily="18" charset="0"/>
                                                  </a:rPr>
                                                  <m:t>0</m:t>
                                                </m:r>
                                              </m:e>
                                            </m:d>
                                          </m:e>
                                        </m:mr>
                                      </m:m>
                                    </m:e>
                                  </m:mr>
                                </m:m>
                              </m:e>
                            </m:mr>
                            <m:mr>
                              <m:e>
                                <m:r>
                                  <a:rPr lang="pt-BR" sz="2600" b="1" i="1" smtClean="0">
                                    <a:latin typeface="Cambria Math" panose="02040503050406030204" pitchFamily="18" charset="0"/>
                                  </a:rPr>
                                  <m:t>⋮</m:t>
                                </m:r>
                              </m:e>
                              <m:e>
                                <m:r>
                                  <a:rPr lang="pt-BR" sz="2600" b="1" i="1">
                                    <a:latin typeface="Cambria Math" panose="02040503050406030204" pitchFamily="18" charset="0"/>
                                  </a:rPr>
                                  <m:t>⋮</m:t>
                                </m:r>
                              </m:e>
                              <m:e>
                                <m:m>
                                  <m:mPr>
                                    <m:mcs>
                                      <m:mc>
                                        <m:mcPr>
                                          <m:count m:val="3"/>
                                          <m:mcJc m:val="center"/>
                                        </m:mcPr>
                                      </m:mc>
                                    </m:mcs>
                                    <m:ctrlPr>
                                      <a:rPr lang="pt-BR" sz="2600" b="1" i="1" smtClean="0">
                                        <a:latin typeface="Cambria Math" panose="02040503050406030204" pitchFamily="18" charset="0"/>
                                      </a:rPr>
                                    </m:ctrlPr>
                                  </m:mPr>
                                  <m:mr>
                                    <m:e>
                                      <m:r>
                                        <a:rPr lang="pt-BR" sz="2600" b="1" i="1">
                                          <a:latin typeface="Cambria Math" panose="02040503050406030204" pitchFamily="18" charset="0"/>
                                        </a:rPr>
                                        <m:t>⋮</m:t>
                                      </m:r>
                                    </m:e>
                                    <m:e>
                                      <m:r>
                                        <a:rPr lang="pt-BR" sz="2600" b="1" i="1" smtClean="0">
                                          <a:latin typeface="Cambria Math" panose="02040503050406030204" pitchFamily="18" charset="0"/>
                                        </a:rPr>
                                        <m:t>       ⋱        </m:t>
                                      </m:r>
                                    </m:e>
                                    <m:e>
                                      <m:r>
                                        <a:rPr lang="pt-BR" sz="2600" b="1" i="1" smtClean="0">
                                          <a:latin typeface="Cambria Math" panose="02040503050406030204" pitchFamily="18" charset="0"/>
                                        </a:rPr>
                                        <m:t>⋮</m:t>
                                      </m:r>
                                    </m:e>
                                  </m:mr>
                                </m:m>
                              </m:e>
                            </m:mr>
                            <m:mr>
                              <m:e>
                                <m:r>
                                  <a:rPr lang="pt-BR" sz="2600" i="1" smtClean="0">
                                    <a:latin typeface="Cambria Math" panose="02040503050406030204" pitchFamily="18" charset="0"/>
                                  </a:rPr>
                                  <m:t>1</m:t>
                                </m:r>
                              </m:e>
                              <m:e>
                                <m:sSub>
                                  <m:sSubPr>
                                    <m:ctrlPr>
                                      <a:rPr lang="pt-BR" sz="2600" i="1">
                                        <a:latin typeface="Cambria Math" panose="02040503050406030204" pitchFamily="18" charset="0"/>
                                      </a:rPr>
                                    </m:ctrlPr>
                                  </m:sSubPr>
                                  <m:e>
                                    <m:r>
                                      <a:rPr lang="pt-BR" sz="2600" i="1">
                                        <a:latin typeface="Cambria Math" panose="02040503050406030204" pitchFamily="18" charset="0"/>
                                      </a:rPr>
                                      <m:t>𝑥</m:t>
                                    </m:r>
                                  </m:e>
                                  <m:sub>
                                    <m:r>
                                      <a:rPr lang="pt-BR" sz="2600" i="1">
                                        <a:latin typeface="Cambria Math" panose="02040503050406030204" pitchFamily="18" charset="0"/>
                                      </a:rPr>
                                      <m:t>1</m:t>
                                    </m:r>
                                  </m:sub>
                                </m:sSub>
                                <m:d>
                                  <m:dPr>
                                    <m:ctrlPr>
                                      <a:rPr lang="pt-BR" sz="2600" b="0" i="1" smtClean="0">
                                        <a:latin typeface="Cambria Math" panose="02040503050406030204" pitchFamily="18" charset="0"/>
                                      </a:rPr>
                                    </m:ctrlPr>
                                  </m:dPr>
                                  <m:e>
                                    <m:r>
                                      <a:rPr lang="pt-BR" sz="2600" b="0" i="1" smtClean="0">
                                        <a:latin typeface="Cambria Math" panose="02040503050406030204" pitchFamily="18" charset="0"/>
                                      </a:rPr>
                                      <m:t>𝑁</m:t>
                                    </m:r>
                                    <m:r>
                                      <a:rPr lang="pt-BR" sz="2600" b="0" i="1" smtClean="0">
                                        <a:latin typeface="Cambria Math" panose="02040503050406030204" pitchFamily="18" charset="0"/>
                                      </a:rPr>
                                      <m:t>−1</m:t>
                                    </m:r>
                                  </m:e>
                                </m:d>
                              </m:e>
                              <m:e>
                                <m:m>
                                  <m:mPr>
                                    <m:mcs>
                                      <m:mc>
                                        <m:mcPr>
                                          <m:count m:val="2"/>
                                          <m:mcJc m:val="center"/>
                                        </m:mcPr>
                                      </m:mc>
                                    </m:mcs>
                                    <m:ctrlPr>
                                      <a:rPr lang="pt-BR" sz="2600" b="1" i="1" smtClean="0">
                                        <a:latin typeface="Cambria Math" panose="02040503050406030204" pitchFamily="18" charset="0"/>
                                      </a:rPr>
                                    </m:ctrlPr>
                                  </m:mPr>
                                  <m:mr>
                                    <m:e>
                                      <m:sSup>
                                        <m:sSupPr>
                                          <m:ctrlPr>
                                            <a:rPr lang="pt-BR" sz="2600" i="1">
                                              <a:latin typeface="Cambria Math" panose="02040503050406030204" pitchFamily="18" charset="0"/>
                                            </a:rPr>
                                          </m:ctrlPr>
                                        </m:sSupPr>
                                        <m:e>
                                          <m:sSub>
                                            <m:sSubPr>
                                              <m:ctrlPr>
                                                <a:rPr lang="pt-BR" sz="2600" i="1">
                                                  <a:latin typeface="Cambria Math" panose="02040503050406030204" pitchFamily="18" charset="0"/>
                                                </a:rPr>
                                              </m:ctrlPr>
                                            </m:sSubPr>
                                            <m:e>
                                              <m:r>
                                                <a:rPr lang="pt-BR" sz="2600" i="1">
                                                  <a:latin typeface="Cambria Math" panose="02040503050406030204" pitchFamily="18" charset="0"/>
                                                </a:rPr>
                                                <m:t>𝑥</m:t>
                                              </m:r>
                                            </m:e>
                                            <m:sub>
                                              <m:r>
                                                <a:rPr lang="pt-BR" sz="2600" i="1">
                                                  <a:latin typeface="Cambria Math" panose="02040503050406030204" pitchFamily="18" charset="0"/>
                                                </a:rPr>
                                                <m:t>1</m:t>
                                              </m:r>
                                            </m:sub>
                                          </m:sSub>
                                        </m:e>
                                        <m:sup>
                                          <m:r>
                                            <a:rPr lang="pt-BR" sz="2600" i="1">
                                              <a:latin typeface="Cambria Math" panose="02040503050406030204" pitchFamily="18" charset="0"/>
                                            </a:rPr>
                                            <m:t>2</m:t>
                                          </m:r>
                                        </m:sup>
                                      </m:sSup>
                                      <m:d>
                                        <m:dPr>
                                          <m:ctrlPr>
                                            <a:rPr lang="pt-BR" sz="2600" b="0" i="1" smtClean="0">
                                              <a:latin typeface="Cambria Math" panose="02040503050406030204" pitchFamily="18" charset="0"/>
                                            </a:rPr>
                                          </m:ctrlPr>
                                        </m:dPr>
                                        <m:e>
                                          <m:r>
                                            <a:rPr lang="pt-BR" sz="2600" b="0" i="1" smtClean="0">
                                              <a:latin typeface="Cambria Math" panose="02040503050406030204" pitchFamily="18" charset="0"/>
                                            </a:rPr>
                                            <m:t>𝑁</m:t>
                                          </m:r>
                                          <m:r>
                                            <a:rPr lang="pt-BR" sz="2600" b="0" i="1" smtClean="0">
                                              <a:latin typeface="Cambria Math" panose="02040503050406030204" pitchFamily="18" charset="0"/>
                                            </a:rPr>
                                            <m:t>−1</m:t>
                                          </m:r>
                                        </m:e>
                                      </m:d>
                                    </m:e>
                                    <m:e>
                                      <m:m>
                                        <m:mPr>
                                          <m:mcs>
                                            <m:mc>
                                              <m:mcPr>
                                                <m:count m:val="2"/>
                                                <m:mcJc m:val="center"/>
                                              </m:mcPr>
                                            </m:mc>
                                          </m:mcs>
                                          <m:ctrlPr>
                                            <a:rPr lang="pt-BR" sz="2600" b="1" i="1" smtClean="0">
                                              <a:latin typeface="Cambria Math" panose="02040503050406030204" pitchFamily="18" charset="0"/>
                                            </a:rPr>
                                          </m:ctrlPr>
                                        </m:mPr>
                                        <m:mr>
                                          <m:e>
                                            <m:r>
                                              <m:rPr>
                                                <m:brk m:alnAt="7"/>
                                              </m:rPr>
                                              <a:rPr lang="pt-BR" sz="2600" b="1" i="1">
                                                <a:latin typeface="Cambria Math" panose="02040503050406030204" pitchFamily="18" charset="0"/>
                                              </a:rPr>
                                              <m:t>⋯</m:t>
                                            </m:r>
                                          </m:e>
                                          <m:e>
                                            <m:sSup>
                                              <m:sSupPr>
                                                <m:ctrlPr>
                                                  <a:rPr lang="pt-BR" sz="2600" i="1">
                                                    <a:latin typeface="Cambria Math" panose="02040503050406030204" pitchFamily="18" charset="0"/>
                                                  </a:rPr>
                                                </m:ctrlPr>
                                              </m:sSupPr>
                                              <m:e>
                                                <m:sSub>
                                                  <m:sSubPr>
                                                    <m:ctrlPr>
                                                      <a:rPr lang="pt-BR" sz="2600" i="1">
                                                        <a:latin typeface="Cambria Math" panose="02040503050406030204" pitchFamily="18" charset="0"/>
                                                      </a:rPr>
                                                    </m:ctrlPr>
                                                  </m:sSubPr>
                                                  <m:e>
                                                    <m:r>
                                                      <a:rPr lang="pt-BR" sz="2600" i="1">
                                                        <a:latin typeface="Cambria Math" panose="02040503050406030204" pitchFamily="18" charset="0"/>
                                                      </a:rPr>
                                                      <m:t>𝑥</m:t>
                                                    </m:r>
                                                  </m:e>
                                                  <m:sub>
                                                    <m:r>
                                                      <a:rPr lang="pt-BR" sz="2600" i="1">
                                                        <a:latin typeface="Cambria Math" panose="02040503050406030204" pitchFamily="18" charset="0"/>
                                                      </a:rPr>
                                                      <m:t>1</m:t>
                                                    </m:r>
                                                  </m:sub>
                                                </m:sSub>
                                              </m:e>
                                              <m:sup>
                                                <m:r>
                                                  <a:rPr lang="pt-BR" sz="2600" i="1">
                                                    <a:latin typeface="Cambria Math" panose="02040503050406030204" pitchFamily="18" charset="0"/>
                                                  </a:rPr>
                                                  <m:t>𝑀</m:t>
                                                </m:r>
                                              </m:sup>
                                            </m:sSup>
                                            <m:d>
                                              <m:dPr>
                                                <m:ctrlPr>
                                                  <a:rPr lang="pt-BR" sz="2600" b="0" i="1" smtClean="0">
                                                    <a:latin typeface="Cambria Math" panose="02040503050406030204" pitchFamily="18" charset="0"/>
                                                  </a:rPr>
                                                </m:ctrlPr>
                                              </m:dPr>
                                              <m:e>
                                                <m:r>
                                                  <a:rPr lang="pt-BR" sz="2600" b="0" i="1" smtClean="0">
                                                    <a:latin typeface="Cambria Math" panose="02040503050406030204" pitchFamily="18" charset="0"/>
                                                  </a:rPr>
                                                  <m:t>𝑁</m:t>
                                                </m:r>
                                                <m:r>
                                                  <a:rPr lang="pt-BR" sz="2600" b="0" i="1" smtClean="0">
                                                    <a:latin typeface="Cambria Math" panose="02040503050406030204" pitchFamily="18" charset="0"/>
                                                  </a:rPr>
                                                  <m:t>−1</m:t>
                                                </m:r>
                                              </m:e>
                                            </m:d>
                                          </m:e>
                                        </m:mr>
                                      </m:m>
                                    </m:e>
                                  </m:mr>
                                </m:m>
                              </m:e>
                            </m:mr>
                          </m:m>
                        </m:e>
                      </m:d>
                      <m:r>
                        <a:rPr lang="pt-BR" sz="2600" i="1">
                          <a:latin typeface="Cambria Math" panose="02040503050406030204" pitchFamily="18" charset="0"/>
                          <a:ea typeface="Cambria Math" panose="02040503050406030204" pitchFamily="18" charset="0"/>
                        </a:rPr>
                        <m:t>∈</m:t>
                      </m:r>
                      <m:sSup>
                        <m:sSupPr>
                          <m:ctrlPr>
                            <a:rPr lang="pt-BR" sz="2600" i="1">
                              <a:latin typeface="Cambria Math" panose="02040503050406030204" pitchFamily="18" charset="0"/>
                              <a:ea typeface="Cambria Math" panose="02040503050406030204" pitchFamily="18" charset="0"/>
                            </a:rPr>
                          </m:ctrlPr>
                        </m:sSupPr>
                        <m:e>
                          <m:r>
                            <a:rPr lang="pt-BR" sz="2600" i="1">
                              <a:latin typeface="Cambria Math" panose="02040503050406030204" pitchFamily="18" charset="0"/>
                              <a:ea typeface="Cambria Math" panose="02040503050406030204" pitchFamily="18" charset="0"/>
                            </a:rPr>
                            <m:t>ℝ</m:t>
                          </m:r>
                        </m:e>
                        <m:sup>
                          <m:r>
                            <a:rPr lang="pt-BR" sz="2600" i="1">
                              <a:latin typeface="Cambria Math" panose="02040503050406030204" pitchFamily="18" charset="0"/>
                              <a:ea typeface="Cambria Math" panose="02040503050406030204" pitchFamily="18" charset="0"/>
                            </a:rPr>
                            <m:t>𝑁</m:t>
                          </m:r>
                          <m:r>
                            <a:rPr lang="pt-BR" sz="2600" i="1">
                              <a:latin typeface="Cambria Math" panose="02040503050406030204" pitchFamily="18" charset="0"/>
                              <a:ea typeface="Cambria Math" panose="02040503050406030204" pitchFamily="18" charset="0"/>
                            </a:rPr>
                            <m:t>×</m:t>
                          </m:r>
                          <m:r>
                            <a:rPr lang="pt-BR" sz="2600" i="1">
                              <a:latin typeface="Cambria Math" panose="02040503050406030204" pitchFamily="18" charset="0"/>
                              <a:ea typeface="Cambria Math" panose="02040503050406030204" pitchFamily="18" charset="0"/>
                            </a:rPr>
                            <m:t>𝑀</m:t>
                          </m:r>
                          <m:r>
                            <a:rPr lang="pt-BR" sz="2600" i="1">
                              <a:latin typeface="Cambria Math" panose="02040503050406030204" pitchFamily="18" charset="0"/>
                              <a:ea typeface="Cambria Math" panose="02040503050406030204" pitchFamily="18" charset="0"/>
                            </a:rPr>
                            <m:t>+1</m:t>
                          </m:r>
                        </m:sup>
                      </m:sSup>
                      <m:r>
                        <a:rPr lang="pt-BR" sz="2600" b="0" i="0" smtClean="0">
                          <a:latin typeface="Cambria Math" panose="02040503050406030204" pitchFamily="18" charset="0"/>
                          <a:ea typeface="Cambria Math" panose="02040503050406030204" pitchFamily="18" charset="0"/>
                        </a:rPr>
                        <m:t>,</m:t>
                      </m:r>
                    </m:oMath>
                  </m:oMathPara>
                </a14:m>
                <a:endParaRPr lang="pt-BR" sz="2600" dirty="0"/>
              </a:p>
              <a:p>
                <a:pPr marL="0" indent="0">
                  <a:buNone/>
                </a:pPr>
                <a:r>
                  <a:rPr lang="pt-BR" dirty="0"/>
                  <a:t>onde cada coluna contém um atributo do polinômio (original, transformação ou combinação).</a:t>
                </a:r>
              </a:p>
              <a:p>
                <a:r>
                  <a:rPr lang="pt-BR" dirty="0"/>
                  <a:t>A função </a:t>
                </a:r>
                <a:r>
                  <a:rPr lang="en-US" b="1" i="1" dirty="0" err="1"/>
                  <a:t>PolynomialFeatures</a:t>
                </a:r>
                <a:r>
                  <a:rPr lang="en-US" dirty="0"/>
                  <a:t> </a:t>
                </a:r>
                <a:r>
                  <a:rPr lang="pt-BR" dirty="0"/>
                  <a:t>da biblioteca </a:t>
                </a:r>
                <a:r>
                  <a:rPr lang="pt-BR" i="1" dirty="0" err="1"/>
                  <a:t>SciKit-Learn</a:t>
                </a:r>
                <a:r>
                  <a:rPr lang="pt-BR" dirty="0"/>
                  <a:t> cria essas matrizes automaticamente a partir dos atributos originais e do grau do polinômio.</a:t>
                </a:r>
              </a:p>
              <a:p>
                <a:pPr lvl="1">
                  <a:buFont typeface="Wingdings" panose="05000000000000000000" pitchFamily="2" charset="2"/>
                  <a:buChar char="§"/>
                </a:pPr>
                <a:r>
                  <a:rPr lang="pt-BR" dirty="0"/>
                  <a:t>Por padrão, ela cria automaticamente a coluna do atributo de </a:t>
                </a:r>
                <a:r>
                  <a:rPr lang="pt-BR" i="1" dirty="0"/>
                  <a:t>bias</a:t>
                </a:r>
                <a:r>
                  <a:rPr lang="pt-BR" dirty="0"/>
                  <a:t> (valores iguais a 1).</a:t>
                </a:r>
              </a:p>
              <a:p>
                <a:endParaRPr lang="en-US" dirty="0"/>
              </a:p>
              <a:p>
                <a:endParaRPr lang="pt-BR" dirty="0"/>
              </a:p>
            </p:txBody>
          </p:sp>
        </mc:Choice>
        <mc:Fallback xmlns="">
          <p:sp>
            <p:nvSpPr>
              <p:cNvPr id="3" name="Espaço Reservado para Conteúdo 2">
                <a:extLst>
                  <a:ext uri="{FF2B5EF4-FFF2-40B4-BE49-F238E27FC236}">
                    <a16:creationId xmlns:a16="http://schemas.microsoft.com/office/drawing/2014/main" id="{F2E5602A-661E-0742-2B1B-2D2F60E5F350}"/>
                  </a:ext>
                </a:extLst>
              </p:cNvPr>
              <p:cNvSpPr>
                <a:spLocks noGrp="1" noRot="1" noChangeAspect="1" noMove="1" noResize="1" noEditPoints="1" noAdjustHandles="1" noChangeArrowheads="1" noChangeShapeType="1" noTextEdit="1"/>
              </p:cNvSpPr>
              <p:nvPr>
                <p:ph idx="1"/>
              </p:nvPr>
            </p:nvSpPr>
            <p:spPr>
              <a:xfrm>
                <a:off x="838198" y="1825624"/>
                <a:ext cx="11353801" cy="5032375"/>
              </a:xfrm>
              <a:blipFill>
                <a:blip r:embed="rId2"/>
                <a:stretch>
                  <a:fillRect l="-1074" t="-2663" r="-751" b="-2785"/>
                </a:stretch>
              </a:blipFill>
            </p:spPr>
            <p:txBody>
              <a:bodyPr/>
              <a:lstStyle/>
              <a:p>
                <a:r>
                  <a:rPr lang="en-US">
                    <a:noFill/>
                  </a:rPr>
                  <a:t> </a:t>
                </a:r>
              </a:p>
            </p:txBody>
          </p:sp>
        </mc:Fallback>
      </mc:AlternateContent>
    </p:spTree>
    <p:extLst>
      <p:ext uri="{BB962C8B-B14F-4D97-AF65-F5344CB8AC3E}">
        <p14:creationId xmlns:p14="http://schemas.microsoft.com/office/powerpoint/2010/main" val="18255558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004E1-01BA-5756-F8E2-7323DBF9CE3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AB8037-326E-12F8-6CF1-4F38F24E1D5A}"/>
              </a:ext>
            </a:extLst>
          </p:cNvPr>
          <p:cNvSpPr>
            <a:spLocks noGrp="1"/>
          </p:cNvSpPr>
          <p:nvPr>
            <p:ph idx="1"/>
          </p:nvPr>
        </p:nvSpPr>
        <p:spPr>
          <a:xfrm>
            <a:off x="669471" y="2015501"/>
            <a:ext cx="10853057" cy="2826998"/>
          </a:xfrm>
        </p:spPr>
        <p:txBody>
          <a:bodyPr>
            <a:noAutofit/>
          </a:bodyPr>
          <a:lstStyle/>
          <a:p>
            <a:pPr marL="0" indent="0" algn="ctr">
              <a:buNone/>
            </a:pPr>
            <a:r>
              <a:rPr lang="pt-BR" sz="6000" dirty="0"/>
              <a:t>Anexo III: </a:t>
            </a:r>
          </a:p>
          <a:p>
            <a:pPr marL="0" indent="0" algn="ctr">
              <a:buNone/>
            </a:pPr>
            <a:r>
              <a:rPr lang="pt-BR" sz="6000" dirty="0"/>
              <a:t>Efeitos de outliers no treinamento de modelos de ML</a:t>
            </a:r>
            <a:endParaRPr lang="en-US" sz="6000" i="1" dirty="0"/>
          </a:p>
        </p:txBody>
      </p:sp>
    </p:spTree>
    <p:extLst>
      <p:ext uri="{BB962C8B-B14F-4D97-AF65-F5344CB8AC3E}">
        <p14:creationId xmlns:p14="http://schemas.microsoft.com/office/powerpoint/2010/main" val="293061388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A10830-7336-91D1-5499-0862C69FEE02}"/>
              </a:ext>
            </a:extLst>
          </p:cNvPr>
          <p:cNvSpPr>
            <a:spLocks noGrp="1"/>
          </p:cNvSpPr>
          <p:nvPr>
            <p:ph type="title"/>
          </p:nvPr>
        </p:nvSpPr>
        <p:spPr/>
        <p:txBody>
          <a:bodyPr/>
          <a:lstStyle/>
          <a:p>
            <a:r>
              <a:rPr lang="pt-BR" dirty="0"/>
              <a:t>Impacto de </a:t>
            </a:r>
            <a:r>
              <a:rPr lang="pt-BR" i="1" dirty="0"/>
              <a:t>outliers</a:t>
            </a:r>
            <a:r>
              <a:rPr lang="pt-BR" dirty="0"/>
              <a:t> no modelo aprendido</a:t>
            </a:r>
          </a:p>
        </p:txBody>
      </p:sp>
      <p:sp>
        <p:nvSpPr>
          <p:cNvPr id="3" name="Espaço Reservado para Conteúdo 2">
            <a:extLst>
              <a:ext uri="{FF2B5EF4-FFF2-40B4-BE49-F238E27FC236}">
                <a16:creationId xmlns:a16="http://schemas.microsoft.com/office/drawing/2014/main" id="{996BF4C0-7E55-8111-D7D7-035EB9474E11}"/>
              </a:ext>
            </a:extLst>
          </p:cNvPr>
          <p:cNvSpPr>
            <a:spLocks noGrp="1"/>
          </p:cNvSpPr>
          <p:nvPr>
            <p:ph idx="1"/>
          </p:nvPr>
        </p:nvSpPr>
        <p:spPr>
          <a:xfrm>
            <a:off x="5147352" y="1825624"/>
            <a:ext cx="6904235" cy="5032375"/>
          </a:xfrm>
        </p:spPr>
        <p:txBody>
          <a:bodyPr>
            <a:normAutofit/>
          </a:bodyPr>
          <a:lstStyle/>
          <a:p>
            <a:r>
              <a:rPr lang="pt-BR" b="1" i="1" dirty="0">
                <a:solidFill>
                  <a:srgbClr val="7030A0"/>
                </a:solidFill>
              </a:rPr>
              <a:t>Outliers</a:t>
            </a:r>
            <a:r>
              <a:rPr lang="pt-BR" dirty="0"/>
              <a:t> podem levar o modelo a se concentrar demais em </a:t>
            </a:r>
            <a:r>
              <a:rPr lang="pt-BR" b="1" dirty="0"/>
              <a:t>reduzir os erros grandes</a:t>
            </a:r>
            <a:r>
              <a:rPr lang="pt-BR" dirty="0"/>
              <a:t>, em </a:t>
            </a:r>
            <a:r>
              <a:rPr lang="pt-BR" b="1" dirty="0"/>
              <a:t>detrimento de um bom ajuste geral</a:t>
            </a:r>
            <a:r>
              <a:rPr lang="pt-BR" dirty="0"/>
              <a:t>.</a:t>
            </a:r>
          </a:p>
          <a:p>
            <a:r>
              <a:rPr lang="pt-BR" dirty="0"/>
              <a:t>A consequência disso é a</a:t>
            </a:r>
            <a:r>
              <a:rPr lang="pt-BR" b="0" i="0" dirty="0">
                <a:effectLst/>
              </a:rPr>
              <a:t> </a:t>
            </a:r>
            <a:r>
              <a:rPr lang="pt-BR" b="1" dirty="0">
                <a:solidFill>
                  <a:srgbClr val="00B050"/>
                </a:solidFill>
                <a:effectLst/>
              </a:rPr>
              <a:t>distorção do modelo aprendido</a:t>
            </a:r>
            <a:r>
              <a:rPr lang="pt-BR" b="0" i="0" dirty="0">
                <a:effectLst/>
              </a:rPr>
              <a:t>, fazendo com que ele se </a:t>
            </a:r>
            <a:r>
              <a:rPr lang="pt-BR" b="1" i="0" dirty="0">
                <a:solidFill>
                  <a:schemeClr val="accent2"/>
                </a:solidFill>
                <a:effectLst/>
              </a:rPr>
              <a:t>distancie</a:t>
            </a:r>
            <a:r>
              <a:rPr lang="pt-BR" b="0" i="0" dirty="0">
                <a:effectLst/>
              </a:rPr>
              <a:t> de um </a:t>
            </a:r>
            <a:r>
              <a:rPr lang="pt-BR" b="1" i="0" dirty="0">
                <a:solidFill>
                  <a:schemeClr val="accent2"/>
                </a:solidFill>
                <a:effectLst/>
              </a:rPr>
              <a:t>mapeamento que represente o comportamento dos dados típicos</a:t>
            </a:r>
            <a:r>
              <a:rPr lang="pt-BR" b="0" i="0" dirty="0">
                <a:effectLst/>
              </a:rPr>
              <a:t>.</a:t>
            </a:r>
            <a:endParaRPr lang="pt-BR" dirty="0"/>
          </a:p>
        </p:txBody>
      </p:sp>
      <p:grpSp>
        <p:nvGrpSpPr>
          <p:cNvPr id="7" name="Group 6">
            <a:extLst>
              <a:ext uri="{FF2B5EF4-FFF2-40B4-BE49-F238E27FC236}">
                <a16:creationId xmlns:a16="http://schemas.microsoft.com/office/drawing/2014/main" id="{0DB4E377-29F9-3F4A-FEBF-A885B6F2205E}"/>
              </a:ext>
            </a:extLst>
          </p:cNvPr>
          <p:cNvGrpSpPr/>
          <p:nvPr/>
        </p:nvGrpSpPr>
        <p:grpSpPr>
          <a:xfrm>
            <a:off x="762000" y="2537470"/>
            <a:ext cx="4031374" cy="3258156"/>
            <a:chOff x="838200" y="3593384"/>
            <a:chExt cx="4031374" cy="3258156"/>
          </a:xfrm>
        </p:grpSpPr>
        <p:pic>
          <p:nvPicPr>
            <p:cNvPr id="1026" name="Picture 2">
              <a:extLst>
                <a:ext uri="{FF2B5EF4-FFF2-40B4-BE49-F238E27FC236}">
                  <a16:creationId xmlns:a16="http://schemas.microsoft.com/office/drawing/2014/main" id="{7CBC9B34-92E1-B52B-8142-014B6553EA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593384"/>
              <a:ext cx="3753596" cy="2847780"/>
            </a:xfrm>
            <a:prstGeom prst="rect">
              <a:avLst/>
            </a:prstGeom>
            <a:noFill/>
            <a:extLst>
              <a:ext uri="{909E8E84-426E-40DD-AFC4-6F175D3DCCD1}">
                <a14:hiddenFill xmlns:a14="http://schemas.microsoft.com/office/drawing/2010/main">
                  <a:solidFill>
                    <a:srgbClr val="FFFFFF"/>
                  </a:solidFill>
                </a14:hiddenFill>
              </a:ext>
            </a:extLst>
          </p:spPr>
        </p:pic>
        <p:sp>
          <p:nvSpPr>
            <p:cNvPr id="5" name="Elipse 4">
              <a:extLst>
                <a:ext uri="{FF2B5EF4-FFF2-40B4-BE49-F238E27FC236}">
                  <a16:creationId xmlns:a16="http://schemas.microsoft.com/office/drawing/2014/main" id="{939C8695-1AC6-E3B6-703C-D28BBA11C447}"/>
                </a:ext>
              </a:extLst>
            </p:cNvPr>
            <p:cNvSpPr/>
            <p:nvPr/>
          </p:nvSpPr>
          <p:spPr>
            <a:xfrm>
              <a:off x="2412510" y="3593384"/>
              <a:ext cx="410966" cy="321487"/>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6" name="CaixaDeTexto 5">
                  <a:extLst>
                    <a:ext uri="{FF2B5EF4-FFF2-40B4-BE49-F238E27FC236}">
                      <a16:creationId xmlns:a16="http://schemas.microsoft.com/office/drawing/2014/main" id="{97EA9FFC-A8FC-FBFD-695A-DC546F50941B}"/>
                    </a:ext>
                  </a:extLst>
                </p:cNvPr>
                <p:cNvSpPr txBox="1"/>
                <p:nvPr/>
              </p:nvSpPr>
              <p:spPr>
                <a:xfrm>
                  <a:off x="1197419" y="6482208"/>
                  <a:ext cx="3672155" cy="369332"/>
                </a:xfrm>
                <a:prstGeom prst="rect">
                  <a:avLst/>
                </a:prstGeom>
                <a:noFill/>
              </p:spPr>
              <p:txBody>
                <a:bodyPr wrap="square" rtlCol="0">
                  <a:spAutoFit/>
                </a:bodyPr>
                <a:lstStyle/>
                <a:p>
                  <a:r>
                    <a:rPr lang="pt-BR" dirty="0"/>
                    <a:t>Função original: </a:t>
                  </a:r>
                  <a14:m>
                    <m:oMath xmlns:m="http://schemas.openxmlformats.org/officeDocument/2006/math">
                      <m:r>
                        <m:rPr>
                          <m:sty m:val="p"/>
                        </m:rPr>
                        <a:rPr lang="pt-BR" b="0" i="0" smtClean="0">
                          <a:latin typeface="Cambria Math" panose="02040503050406030204" pitchFamily="18" charset="0"/>
                        </a:rPr>
                        <m:t>y</m:t>
                      </m:r>
                      <m:r>
                        <a:rPr lang="pt-BR" b="0" i="0" smtClean="0">
                          <a:latin typeface="Cambria Math" panose="02040503050406030204" pitchFamily="18" charset="0"/>
                        </a:rPr>
                        <m:t>=1+</m:t>
                      </m:r>
                      <m:r>
                        <a:rPr lang="pt-BR" b="0" i="1" smtClean="0">
                          <a:latin typeface="Cambria Math" panose="02040503050406030204" pitchFamily="18" charset="0"/>
                        </a:rPr>
                        <m:t>𝑥</m:t>
                      </m:r>
                      <m:r>
                        <a:rPr lang="pt-BR" b="0" i="1" smtClean="0">
                          <a:latin typeface="Cambria Math" panose="02040503050406030204" pitchFamily="18" charset="0"/>
                        </a:rPr>
                        <m:t>+2</m:t>
                      </m:r>
                      <m:sSup>
                        <m:sSupPr>
                          <m:ctrlPr>
                            <a:rPr lang="pt-BR" b="0" i="1" smtClean="0">
                              <a:latin typeface="Cambria Math" panose="02040503050406030204" pitchFamily="18" charset="0"/>
                            </a:rPr>
                          </m:ctrlPr>
                        </m:sSupPr>
                        <m:e>
                          <m:r>
                            <a:rPr lang="pt-BR" b="0" i="1" smtClean="0">
                              <a:latin typeface="Cambria Math" panose="02040503050406030204" pitchFamily="18" charset="0"/>
                            </a:rPr>
                            <m:t>𝑥</m:t>
                          </m:r>
                        </m:e>
                        <m:sup>
                          <m:r>
                            <a:rPr lang="pt-BR" b="0" i="1" smtClean="0">
                              <a:latin typeface="Cambria Math" panose="02040503050406030204" pitchFamily="18" charset="0"/>
                            </a:rPr>
                            <m:t>2</m:t>
                          </m:r>
                        </m:sup>
                      </m:sSup>
                    </m:oMath>
                  </a14:m>
                  <a:endParaRPr lang="pt-BR" dirty="0"/>
                </a:p>
              </p:txBody>
            </p:sp>
          </mc:Choice>
          <mc:Fallback xmlns="">
            <p:sp>
              <p:nvSpPr>
                <p:cNvPr id="6" name="CaixaDeTexto 5">
                  <a:extLst>
                    <a:ext uri="{FF2B5EF4-FFF2-40B4-BE49-F238E27FC236}">
                      <a16:creationId xmlns:a16="http://schemas.microsoft.com/office/drawing/2014/main" id="{97EA9FFC-A8FC-FBFD-695A-DC546F50941B}"/>
                    </a:ext>
                  </a:extLst>
                </p:cNvPr>
                <p:cNvSpPr txBox="1">
                  <a:spLocks noRot="1" noChangeAspect="1" noMove="1" noResize="1" noEditPoints="1" noAdjustHandles="1" noChangeArrowheads="1" noChangeShapeType="1" noTextEdit="1"/>
                </p:cNvSpPr>
                <p:nvPr/>
              </p:nvSpPr>
              <p:spPr>
                <a:xfrm>
                  <a:off x="1197419" y="6482208"/>
                  <a:ext cx="3672155" cy="369332"/>
                </a:xfrm>
                <a:prstGeom prst="rect">
                  <a:avLst/>
                </a:prstGeom>
                <a:blipFill>
                  <a:blip r:embed="rId4"/>
                  <a:stretch>
                    <a:fillRect l="-1495" t="-8197" b="-24590"/>
                  </a:stretch>
                </a:blipFill>
              </p:spPr>
              <p:txBody>
                <a:bodyPr/>
                <a:lstStyle/>
                <a:p>
                  <a:r>
                    <a:rPr lang="en-US">
                      <a:noFill/>
                    </a:rPr>
                    <a:t> </a:t>
                  </a:r>
                </a:p>
              </p:txBody>
            </p:sp>
          </mc:Fallback>
        </mc:AlternateContent>
      </p:grpSp>
    </p:spTree>
    <p:extLst>
      <p:ext uri="{BB962C8B-B14F-4D97-AF65-F5344CB8AC3E}">
        <p14:creationId xmlns:p14="http://schemas.microsoft.com/office/powerpoint/2010/main" val="216631569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A85BB-15A7-F8BA-99B5-68CD4245988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355097-DAFD-4CD9-99D1-94344DD04521}"/>
              </a:ext>
            </a:extLst>
          </p:cNvPr>
          <p:cNvSpPr>
            <a:spLocks noGrp="1"/>
          </p:cNvSpPr>
          <p:nvPr>
            <p:ph idx="1"/>
          </p:nvPr>
        </p:nvSpPr>
        <p:spPr>
          <a:xfrm>
            <a:off x="669471" y="2154577"/>
            <a:ext cx="10853057" cy="2548846"/>
          </a:xfrm>
        </p:spPr>
        <p:txBody>
          <a:bodyPr>
            <a:normAutofit/>
          </a:bodyPr>
          <a:lstStyle/>
          <a:p>
            <a:pPr marL="0" indent="0" algn="ctr">
              <a:buNone/>
            </a:pPr>
            <a:r>
              <a:rPr lang="pt-BR" sz="6000" dirty="0"/>
              <a:t>Anexo IV: </a:t>
            </a:r>
          </a:p>
          <a:p>
            <a:pPr marL="0" indent="0" algn="ctr">
              <a:buNone/>
            </a:pPr>
            <a:r>
              <a:rPr lang="pt-BR" sz="6000" dirty="0"/>
              <a:t>Regularização</a:t>
            </a:r>
            <a:endParaRPr lang="en-US" sz="6000" i="1" dirty="0"/>
          </a:p>
        </p:txBody>
      </p:sp>
    </p:spTree>
    <p:extLst>
      <p:ext uri="{BB962C8B-B14F-4D97-AF65-F5344CB8AC3E}">
        <p14:creationId xmlns:p14="http://schemas.microsoft.com/office/powerpoint/2010/main" val="92228983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F6013C-2F2F-4945-1B5B-3B467AE43415}"/>
              </a:ext>
            </a:extLst>
          </p:cNvPr>
          <p:cNvSpPr>
            <a:spLocks noGrp="1"/>
          </p:cNvSpPr>
          <p:nvPr>
            <p:ph type="title"/>
          </p:nvPr>
        </p:nvSpPr>
        <p:spPr/>
        <p:txBody>
          <a:bodyPr/>
          <a:lstStyle/>
          <a:p>
            <a:r>
              <a:rPr lang="pt-BR" dirty="0"/>
              <a:t>Regularização: penalizando a complexidade dos modelos</a:t>
            </a:r>
          </a:p>
        </p:txBody>
      </p:sp>
      <p:sp>
        <p:nvSpPr>
          <p:cNvPr id="3" name="Espaço Reservado para Conteúdo 2">
            <a:extLst>
              <a:ext uri="{FF2B5EF4-FFF2-40B4-BE49-F238E27FC236}">
                <a16:creationId xmlns:a16="http://schemas.microsoft.com/office/drawing/2014/main" id="{D73F6863-0CB2-7108-C7EB-DC30EA7D96BA}"/>
              </a:ext>
            </a:extLst>
          </p:cNvPr>
          <p:cNvSpPr>
            <a:spLocks noGrp="1"/>
          </p:cNvSpPr>
          <p:nvPr>
            <p:ph idx="1"/>
          </p:nvPr>
        </p:nvSpPr>
        <p:spPr>
          <a:xfrm>
            <a:off x="838200" y="1825624"/>
            <a:ext cx="11207044" cy="5032375"/>
          </a:xfrm>
        </p:spPr>
        <p:txBody>
          <a:bodyPr>
            <a:normAutofit/>
          </a:bodyPr>
          <a:lstStyle/>
          <a:p>
            <a:r>
              <a:rPr lang="pt-BR" dirty="0"/>
              <a:t>Anteriormente, nós vimos como escolher o melhor modelo de regressão utilizando </a:t>
            </a:r>
            <a:r>
              <a:rPr lang="pt-BR" b="1" i="1" dirty="0"/>
              <a:t>validação cruzada</a:t>
            </a:r>
            <a:r>
              <a:rPr lang="pt-BR" dirty="0"/>
              <a:t>.</a:t>
            </a:r>
          </a:p>
          <a:p>
            <a:pPr lvl="1">
              <a:buFont typeface="Wingdings" panose="05000000000000000000" pitchFamily="2" charset="2"/>
              <a:buChar char="§"/>
            </a:pPr>
            <a:r>
              <a:rPr lang="pt-BR" dirty="0"/>
              <a:t>Escolhemos o modelo </a:t>
            </a:r>
            <a:r>
              <a:rPr lang="pt-BR" b="1" i="1" dirty="0"/>
              <a:t>menos complexo</a:t>
            </a:r>
            <a:r>
              <a:rPr lang="pt-BR" dirty="0"/>
              <a:t>, </a:t>
            </a:r>
            <a:r>
              <a:rPr lang="pt-BR" b="1" i="1" dirty="0"/>
              <a:t>mas que generaliza bem</a:t>
            </a:r>
            <a:r>
              <a:rPr lang="pt-BR" dirty="0"/>
              <a:t>. </a:t>
            </a:r>
          </a:p>
          <a:p>
            <a:r>
              <a:rPr lang="pt-BR" dirty="0"/>
              <a:t>Uma abordagem alternativa é </a:t>
            </a:r>
            <a:r>
              <a:rPr lang="pt-BR" b="1" i="1" dirty="0">
                <a:solidFill>
                  <a:srgbClr val="00B050"/>
                </a:solidFill>
              </a:rPr>
              <a:t>minimizar conjuntamente o erro e a complexidade da função hipótese</a:t>
            </a:r>
            <a:r>
              <a:rPr lang="pt-BR" dirty="0"/>
              <a:t>.</a:t>
            </a:r>
          </a:p>
          <a:p>
            <a:r>
              <a:rPr lang="pt-BR" dirty="0"/>
              <a:t>Essa abordagem combina </a:t>
            </a:r>
            <a:r>
              <a:rPr lang="pt-BR" b="1" i="1" dirty="0"/>
              <a:t>medidas de erro e de complexidade em uma única função de erro</a:t>
            </a:r>
            <a:r>
              <a:rPr lang="pt-BR" dirty="0"/>
              <a:t>, possibilitando que encontremos uma </a:t>
            </a:r>
            <a:r>
              <a:rPr lang="pt-BR" b="1" i="1" dirty="0"/>
              <a:t>função hipótese </a:t>
            </a:r>
            <a:r>
              <a:rPr lang="pt-BR" dirty="0"/>
              <a:t>com</a:t>
            </a:r>
          </a:p>
          <a:p>
            <a:pPr lvl="1">
              <a:buFont typeface="Wingdings" panose="05000000000000000000" pitchFamily="2" charset="2"/>
              <a:buChar char="§"/>
            </a:pPr>
            <a:r>
              <a:rPr lang="pt-BR" dirty="0"/>
              <a:t>a complexidade/flexibilidade ideal,</a:t>
            </a:r>
          </a:p>
          <a:p>
            <a:pPr lvl="1">
              <a:buFont typeface="Wingdings" panose="05000000000000000000" pitchFamily="2" charset="2"/>
              <a:buChar char="§"/>
            </a:pPr>
            <a:r>
              <a:rPr lang="pt-BR" dirty="0"/>
              <a:t>os pesos que minimizam o erro.</a:t>
            </a:r>
          </a:p>
        </p:txBody>
      </p:sp>
    </p:spTree>
    <p:extLst>
      <p:ext uri="{BB962C8B-B14F-4D97-AF65-F5344CB8AC3E}">
        <p14:creationId xmlns:p14="http://schemas.microsoft.com/office/powerpoint/2010/main" val="346834352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F167CF-1401-A125-DC09-88303260028C}"/>
              </a:ext>
            </a:extLst>
          </p:cNvPr>
          <p:cNvSpPr>
            <a:spLocks noGrp="1"/>
          </p:cNvSpPr>
          <p:nvPr>
            <p:ph type="title"/>
          </p:nvPr>
        </p:nvSpPr>
        <p:spPr/>
        <p:txBody>
          <a:bodyPr/>
          <a:lstStyle/>
          <a:p>
            <a:r>
              <a:rPr lang="pt-BR" dirty="0"/>
              <a:t>Regularização: penalizando a complexidade dos modelos</a:t>
            </a:r>
          </a:p>
        </p:txBody>
      </p:sp>
      <p:sp>
        <p:nvSpPr>
          <p:cNvPr id="3" name="Espaço Reservado para Conteúdo 2">
            <a:extLst>
              <a:ext uri="{FF2B5EF4-FFF2-40B4-BE49-F238E27FC236}">
                <a16:creationId xmlns:a16="http://schemas.microsoft.com/office/drawing/2014/main" id="{66C376AB-02FE-A43B-71FC-290EE8AAB94A}"/>
              </a:ext>
            </a:extLst>
          </p:cNvPr>
          <p:cNvSpPr>
            <a:spLocks noGrp="1"/>
          </p:cNvSpPr>
          <p:nvPr>
            <p:ph idx="1"/>
          </p:nvPr>
        </p:nvSpPr>
        <p:spPr>
          <a:xfrm>
            <a:off x="838200" y="1825624"/>
            <a:ext cx="11049000" cy="5032375"/>
          </a:xfrm>
        </p:spPr>
        <p:txBody>
          <a:bodyPr/>
          <a:lstStyle/>
          <a:p>
            <a:r>
              <a:rPr lang="pt-BR" dirty="0"/>
              <a:t>Existem duas técnicas que seguem essa abordagem:</a:t>
            </a:r>
          </a:p>
          <a:p>
            <a:pPr lvl="1">
              <a:buFont typeface="Wingdings" panose="05000000000000000000" pitchFamily="2" charset="2"/>
              <a:buChar char="§"/>
            </a:pPr>
            <a:r>
              <a:rPr lang="pt-BR" b="1" dirty="0"/>
              <a:t>Regularização</a:t>
            </a:r>
            <a:r>
              <a:rPr lang="pt-BR" dirty="0"/>
              <a:t>: </a:t>
            </a:r>
            <a:r>
              <a:rPr lang="pt-BR" b="1" i="1" dirty="0">
                <a:solidFill>
                  <a:srgbClr val="7030A0"/>
                </a:solidFill>
              </a:rPr>
              <a:t>penaliza funções hipótese muito complexas</a:t>
            </a:r>
            <a:r>
              <a:rPr lang="pt-BR" dirty="0"/>
              <a:t>, ou seja, muito flexíveis.</a:t>
            </a:r>
          </a:p>
          <a:p>
            <a:pPr lvl="1">
              <a:buFont typeface="Wingdings" panose="05000000000000000000" pitchFamily="2" charset="2"/>
              <a:buChar char="§"/>
            </a:pPr>
            <a:r>
              <a:rPr lang="pt-BR" b="1" i="1" dirty="0"/>
              <a:t>Early-stopping</a:t>
            </a:r>
            <a:r>
              <a:rPr lang="pt-BR" dirty="0"/>
              <a:t>: encerra o treinamento de </a:t>
            </a:r>
            <a:r>
              <a:rPr lang="pt-BR" b="1" i="1" dirty="0"/>
              <a:t>algoritmos iterativos</a:t>
            </a:r>
            <a:r>
              <a:rPr lang="pt-BR" dirty="0"/>
              <a:t> (e.g., gradiente descendente) quando o erro de validação for o menor possível </a:t>
            </a:r>
          </a:p>
          <a:p>
            <a:pPr lvl="2">
              <a:buFont typeface="Wingdings" panose="05000000000000000000" pitchFamily="2" charset="2"/>
              <a:buChar char="§"/>
            </a:pPr>
            <a:r>
              <a:rPr lang="pt-BR" dirty="0"/>
              <a:t>Chamado de </a:t>
            </a:r>
            <a:r>
              <a:rPr lang="pt-BR" b="1" i="1" dirty="0">
                <a:solidFill>
                  <a:srgbClr val="00B050"/>
                </a:solidFill>
              </a:rPr>
              <a:t>regularização temporal</a:t>
            </a:r>
            <a:r>
              <a:rPr lang="pt-BR" dirty="0"/>
              <a:t>.</a:t>
            </a:r>
          </a:p>
          <a:p>
            <a:r>
              <a:rPr lang="pt-BR" dirty="0"/>
              <a:t>O objetivo das duas técnicas é deixar o modelo </a:t>
            </a:r>
            <a:r>
              <a:rPr lang="pt-BR" b="1" i="1" dirty="0"/>
              <a:t>mais regular </a:t>
            </a:r>
            <a:r>
              <a:rPr lang="pt-BR" dirty="0"/>
              <a:t>(i.e., menos complexo) de tal forma que ele </a:t>
            </a:r>
            <a:r>
              <a:rPr lang="pt-BR" b="1" i="1" dirty="0"/>
              <a:t>não se sobreajuste </a:t>
            </a:r>
            <a:r>
              <a:rPr lang="pt-BR" dirty="0"/>
              <a:t>ao conjunto de treinamento.</a:t>
            </a:r>
          </a:p>
        </p:txBody>
      </p:sp>
    </p:spTree>
    <p:extLst>
      <p:ext uri="{BB962C8B-B14F-4D97-AF65-F5344CB8AC3E}">
        <p14:creationId xmlns:p14="http://schemas.microsoft.com/office/powerpoint/2010/main" val="428055774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F51B8E-2ECF-5C12-C6E1-60E4C73E176B}"/>
              </a:ext>
            </a:extLst>
          </p:cNvPr>
          <p:cNvSpPr>
            <a:spLocks noGrp="1"/>
          </p:cNvSpPr>
          <p:nvPr>
            <p:ph type="title"/>
          </p:nvPr>
        </p:nvSpPr>
        <p:spPr/>
        <p:txBody>
          <a:bodyPr/>
          <a:lstStyle/>
          <a:p>
            <a:r>
              <a:rPr lang="pt-BR" dirty="0"/>
              <a:t>Regularização: penalizando a complexidade dos modelos</a:t>
            </a:r>
          </a:p>
        </p:txBody>
      </p:sp>
      <p:sp>
        <p:nvSpPr>
          <p:cNvPr id="3" name="Espaço Reservado para Conteúdo 2">
            <a:extLst>
              <a:ext uri="{FF2B5EF4-FFF2-40B4-BE49-F238E27FC236}">
                <a16:creationId xmlns:a16="http://schemas.microsoft.com/office/drawing/2014/main" id="{3FBF386A-8096-9BC3-23F3-2B36D8B4267C}"/>
              </a:ext>
            </a:extLst>
          </p:cNvPr>
          <p:cNvSpPr>
            <a:spLocks noGrp="1"/>
          </p:cNvSpPr>
          <p:nvPr>
            <p:ph idx="1"/>
          </p:nvPr>
        </p:nvSpPr>
        <p:spPr>
          <a:xfrm>
            <a:off x="838200" y="1825624"/>
            <a:ext cx="11003844" cy="5032375"/>
          </a:xfrm>
        </p:spPr>
        <p:txBody>
          <a:bodyPr/>
          <a:lstStyle/>
          <a:p>
            <a:r>
              <a:rPr lang="pt-BR" dirty="0"/>
              <a:t>Um claro sinal de um modelo que se </a:t>
            </a:r>
            <a:r>
              <a:rPr lang="pt-BR" b="1" i="1" dirty="0" err="1">
                <a:solidFill>
                  <a:srgbClr val="00B050"/>
                </a:solidFill>
              </a:rPr>
              <a:t>sobreajustou</a:t>
            </a:r>
            <a:r>
              <a:rPr lang="pt-BR" b="1" i="1" dirty="0">
                <a:solidFill>
                  <a:srgbClr val="00B050"/>
                </a:solidFill>
              </a:rPr>
              <a:t> </a:t>
            </a:r>
            <a:r>
              <a:rPr lang="pt-BR" b="1" i="1" dirty="0"/>
              <a:t>aos dados de treinamento</a:t>
            </a:r>
            <a:r>
              <a:rPr lang="pt-BR" dirty="0"/>
              <a:t>, são </a:t>
            </a:r>
            <a:r>
              <a:rPr lang="pt-BR" b="1" i="1" dirty="0">
                <a:solidFill>
                  <a:srgbClr val="7030A0"/>
                </a:solidFill>
              </a:rPr>
              <a:t>pesos com magnitudes extremamente altas</a:t>
            </a:r>
            <a:r>
              <a:rPr lang="pt-BR" dirty="0"/>
              <a:t>.</a:t>
            </a:r>
          </a:p>
          <a:p>
            <a:r>
              <a:rPr lang="pt-BR" dirty="0"/>
              <a:t>Portanto, a ideia por trás da </a:t>
            </a:r>
            <a:r>
              <a:rPr lang="pt-BR" b="1" i="1" dirty="0">
                <a:solidFill>
                  <a:srgbClr val="00B050"/>
                </a:solidFill>
              </a:rPr>
              <a:t>regularização</a:t>
            </a:r>
            <a:r>
              <a:rPr lang="pt-BR" dirty="0"/>
              <a:t> é </a:t>
            </a:r>
            <a:r>
              <a:rPr lang="pt-BR" b="1" i="1" dirty="0">
                <a:solidFill>
                  <a:srgbClr val="00B050"/>
                </a:solidFill>
              </a:rPr>
              <a:t>restringir o aumento da magnitude dos pesos</a:t>
            </a:r>
            <a:r>
              <a:rPr lang="pt-BR" b="1" i="1" dirty="0"/>
              <a:t> </a:t>
            </a:r>
            <a:r>
              <a:rPr lang="pt-BR" dirty="0"/>
              <a:t>de forma a </a:t>
            </a:r>
            <a:r>
              <a:rPr lang="pt-BR" b="1" i="1" dirty="0"/>
              <a:t>reduzir o risco de sobreajuste.</a:t>
            </a:r>
            <a:endParaRPr lang="pt-BR" b="1" i="1" dirty="0">
              <a:solidFill>
                <a:srgbClr val="FF0000"/>
              </a:solidFill>
            </a:endParaRPr>
          </a:p>
          <a:p>
            <a:r>
              <a:rPr lang="pt-BR" dirty="0"/>
              <a:t>Para tanto, incorpora-se ao </a:t>
            </a:r>
            <a:r>
              <a:rPr lang="pt-BR" b="1" i="1" dirty="0">
                <a:solidFill>
                  <a:schemeClr val="accent2"/>
                </a:solidFill>
              </a:rPr>
              <a:t>processo de treinamento</a:t>
            </a:r>
            <a:r>
              <a:rPr lang="pt-BR" dirty="0"/>
              <a:t> </a:t>
            </a:r>
            <a:r>
              <a:rPr lang="pt-BR" b="1" i="1" dirty="0">
                <a:solidFill>
                  <a:srgbClr val="0070C0"/>
                </a:solidFill>
              </a:rPr>
              <a:t>restrições</a:t>
            </a:r>
            <a:r>
              <a:rPr lang="pt-BR" b="1" dirty="0"/>
              <a:t> </a:t>
            </a:r>
            <a:r>
              <a:rPr lang="pt-BR" dirty="0"/>
              <a:t>proporcionais a alguma </a:t>
            </a:r>
            <a:r>
              <a:rPr lang="pt-BR" b="1" i="1" dirty="0"/>
              <a:t>norma</a:t>
            </a:r>
            <a:r>
              <a:rPr lang="pt-BR" dirty="0"/>
              <a:t> do </a:t>
            </a:r>
            <a:r>
              <a:rPr lang="pt-BR" b="1" i="1" dirty="0"/>
              <a:t>vetor de pesos</a:t>
            </a:r>
            <a:r>
              <a:rPr lang="pt-BR" dirty="0"/>
              <a:t>.</a:t>
            </a:r>
          </a:p>
        </p:txBody>
      </p:sp>
    </p:spTree>
    <p:extLst>
      <p:ext uri="{BB962C8B-B14F-4D97-AF65-F5344CB8AC3E}">
        <p14:creationId xmlns:p14="http://schemas.microsoft.com/office/powerpoint/2010/main" val="297589009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3CFBE0-B38B-2A39-D412-E8F3926EAF96}"/>
              </a:ext>
            </a:extLst>
          </p:cNvPr>
          <p:cNvSpPr>
            <a:spLocks noGrp="1"/>
          </p:cNvSpPr>
          <p:nvPr>
            <p:ph type="title"/>
          </p:nvPr>
        </p:nvSpPr>
        <p:spPr/>
        <p:txBody>
          <a:bodyPr/>
          <a:lstStyle/>
          <a:p>
            <a:r>
              <a:rPr lang="pt-BR" dirty="0"/>
              <a:t>Regularização: penalizando a complexidade dos modelos</a:t>
            </a:r>
          </a:p>
        </p:txBody>
      </p:sp>
      <p:sp>
        <p:nvSpPr>
          <p:cNvPr id="3" name="Espaço Reservado para Conteúdo 2">
            <a:extLst>
              <a:ext uri="{FF2B5EF4-FFF2-40B4-BE49-F238E27FC236}">
                <a16:creationId xmlns:a16="http://schemas.microsoft.com/office/drawing/2014/main" id="{6F1FA5A3-0599-AF42-6073-7FA9CB1A286D}"/>
              </a:ext>
            </a:extLst>
          </p:cNvPr>
          <p:cNvSpPr>
            <a:spLocks noGrp="1"/>
          </p:cNvSpPr>
          <p:nvPr>
            <p:ph idx="1"/>
          </p:nvPr>
        </p:nvSpPr>
        <p:spPr>
          <a:xfrm>
            <a:off x="838200" y="1825624"/>
            <a:ext cx="11049000" cy="5032375"/>
          </a:xfrm>
        </p:spPr>
        <p:txBody>
          <a:bodyPr/>
          <a:lstStyle/>
          <a:p>
            <a:r>
              <a:rPr lang="pt-BR" b="1" i="1" dirty="0">
                <a:solidFill>
                  <a:srgbClr val="00B050"/>
                </a:solidFill>
              </a:rPr>
              <a:t>Técnicas de regularização reduzem o risco de sobreajuste </a:t>
            </a:r>
            <a:r>
              <a:rPr lang="pt-BR" dirty="0"/>
              <a:t>do modelo ao conjunto de treinamento, </a:t>
            </a:r>
            <a:r>
              <a:rPr lang="pt-BR" b="1" i="1" dirty="0">
                <a:solidFill>
                  <a:srgbClr val="00B050"/>
                </a:solidFill>
              </a:rPr>
              <a:t>aumentando sua capacidade de generalização</a:t>
            </a:r>
            <a:r>
              <a:rPr lang="pt-BR" dirty="0"/>
              <a:t>.</a:t>
            </a:r>
          </a:p>
          <a:p>
            <a:r>
              <a:rPr lang="pt-BR" dirty="0"/>
              <a:t>Quanto menos graus de liberdade o modelo tiver, mais difícil será para ele se </a:t>
            </a:r>
            <a:r>
              <a:rPr lang="pt-BR" b="1" i="1" dirty="0"/>
              <a:t>sobreajustar</a:t>
            </a:r>
            <a:r>
              <a:rPr lang="pt-BR" dirty="0"/>
              <a:t> aos dados de treinamento.</a:t>
            </a:r>
          </a:p>
          <a:p>
            <a:r>
              <a:rPr lang="pt-BR" dirty="0"/>
              <a:t>A </a:t>
            </a:r>
            <a:r>
              <a:rPr lang="pt-BR" b="1" i="1" dirty="0"/>
              <a:t>regularização</a:t>
            </a:r>
            <a:r>
              <a:rPr lang="pt-BR" dirty="0"/>
              <a:t> força o algoritmo de aprendizado não apenas a capturar o </a:t>
            </a:r>
            <a:r>
              <a:rPr lang="pt-BR" b="1" i="1" dirty="0">
                <a:solidFill>
                  <a:srgbClr val="0070C0"/>
                </a:solidFill>
              </a:rPr>
              <a:t>comportamento geral por trás das amostras</a:t>
            </a:r>
            <a:r>
              <a:rPr lang="pt-BR" dirty="0"/>
              <a:t>, mas também a </a:t>
            </a:r>
            <a:r>
              <a:rPr lang="pt-BR" b="1" i="1" dirty="0"/>
              <a:t>manter os pesos do modelo os menores possíveis</a:t>
            </a:r>
            <a:r>
              <a:rPr lang="pt-BR" dirty="0"/>
              <a:t>.</a:t>
            </a:r>
          </a:p>
        </p:txBody>
      </p:sp>
    </p:spTree>
    <p:extLst>
      <p:ext uri="{BB962C8B-B14F-4D97-AF65-F5344CB8AC3E}">
        <p14:creationId xmlns:p14="http://schemas.microsoft.com/office/powerpoint/2010/main" val="335178610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DECE43-4D45-339A-D91B-F99EC70D817B}"/>
              </a:ext>
            </a:extLst>
          </p:cNvPr>
          <p:cNvSpPr>
            <a:spLocks noGrp="1"/>
          </p:cNvSpPr>
          <p:nvPr>
            <p:ph type="title"/>
          </p:nvPr>
        </p:nvSpPr>
        <p:spPr/>
        <p:txBody>
          <a:bodyPr/>
          <a:lstStyle/>
          <a:p>
            <a:r>
              <a:rPr lang="pt-BR" dirty="0"/>
              <a:t>Regressão Ridge</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A3198D10-DFD8-1382-4B89-DBDDB78C3C16}"/>
                  </a:ext>
                </a:extLst>
              </p:cNvPr>
              <p:cNvSpPr>
                <a:spLocks noGrp="1"/>
              </p:cNvSpPr>
              <p:nvPr>
                <p:ph idx="1"/>
              </p:nvPr>
            </p:nvSpPr>
            <p:spPr>
              <a:xfrm>
                <a:off x="838200" y="1825624"/>
                <a:ext cx="11105444" cy="5032375"/>
              </a:xfrm>
            </p:spPr>
            <p:txBody>
              <a:bodyPr>
                <a:normAutofit lnSpcReduction="10000"/>
              </a:bodyPr>
              <a:lstStyle/>
              <a:p>
                <a:r>
                  <a:rPr lang="pt-BR" dirty="0"/>
                  <a:t>Ao invés de </a:t>
                </a:r>
                <a:r>
                  <a:rPr lang="pt-BR" b="1" i="1" dirty="0">
                    <a:solidFill>
                      <a:schemeClr val="accent5"/>
                    </a:solidFill>
                  </a:rPr>
                  <a:t>minimizarmos</a:t>
                </a:r>
                <a:r>
                  <a:rPr lang="pt-BR" dirty="0"/>
                  <a:t> apenas o </a:t>
                </a:r>
                <a:r>
                  <a:rPr lang="pt-BR" b="1" i="1" dirty="0"/>
                  <a:t>erro quadrático médio</a:t>
                </a:r>
                <a:r>
                  <a:rPr lang="pt-BR" dirty="0"/>
                  <a:t>, como fizemos antes, introduzimos um</a:t>
                </a:r>
                <a:r>
                  <a:rPr lang="pt-BR" b="1" dirty="0"/>
                  <a:t> </a:t>
                </a:r>
                <a:r>
                  <a:rPr lang="pt-BR" b="1" i="1" dirty="0">
                    <a:solidFill>
                      <a:srgbClr val="7030A0"/>
                    </a:solidFill>
                  </a:rPr>
                  <a:t>termo de penalização</a:t>
                </a:r>
                <a:r>
                  <a:rPr lang="pt-BR" b="1" i="1" dirty="0"/>
                  <a:t> (ou regularização) </a:t>
                </a:r>
                <a:r>
                  <a:rPr lang="pt-BR" dirty="0"/>
                  <a:t>proporcional à </a:t>
                </a:r>
                <a:r>
                  <a:rPr lang="pt-BR" b="1" i="1" dirty="0">
                    <a:solidFill>
                      <a:srgbClr val="7030A0"/>
                    </a:solidFill>
                  </a:rPr>
                  <a:t>norma Euclidiana</a:t>
                </a:r>
                <a:r>
                  <a:rPr lang="pt-BR" dirty="0"/>
                  <a:t> (i.e., a norma L2) do vetor de pesos</a:t>
                </a:r>
              </a:p>
              <a:p>
                <a:pPr marL="0" indent="0" algn="ctr">
                  <a:buNone/>
                </a:pPr>
                <a14:m>
                  <m:oMath xmlns:m="http://schemas.openxmlformats.org/officeDocument/2006/math">
                    <m:func>
                      <m:funcPr>
                        <m:ctrlPr>
                          <a:rPr lang="nl-BE" sz="2400" i="1">
                            <a:latin typeface="Cambria Math" panose="02040503050406030204" pitchFamily="18" charset="0"/>
                          </a:rPr>
                        </m:ctrlPr>
                      </m:funcPr>
                      <m:fName>
                        <m:limLow>
                          <m:limLowPr>
                            <m:ctrlPr>
                              <a:rPr lang="nl-BE" sz="2400">
                                <a:latin typeface="Cambria Math" panose="02040503050406030204" pitchFamily="18" charset="0"/>
                              </a:rPr>
                            </m:ctrlPr>
                          </m:limLowPr>
                          <m:e>
                            <m:r>
                              <m:rPr>
                                <m:sty m:val="p"/>
                              </m:rPr>
                              <a:rPr lang="nl-BE" sz="2400">
                                <a:latin typeface="Cambria Math" panose="02040503050406030204" pitchFamily="18" charset="0"/>
                              </a:rPr>
                              <m:t>min</m:t>
                            </m:r>
                          </m:e>
                          <m:lim>
                            <m:r>
                              <a:rPr lang="pt-BR" sz="2400" b="1" i="1">
                                <a:latin typeface="Cambria Math" panose="02040503050406030204" pitchFamily="18" charset="0"/>
                              </a:rPr>
                              <m:t>𝒂</m:t>
                            </m:r>
                            <m:r>
                              <a:rPr lang="pt-BR" sz="2400" b="1" i="1">
                                <a:latin typeface="Cambria Math" panose="02040503050406030204" pitchFamily="18" charset="0"/>
                              </a:rPr>
                              <m:t> ∈ </m:t>
                            </m:r>
                            <m:sSup>
                              <m:sSupPr>
                                <m:ctrlPr>
                                  <a:rPr lang="pt-BR" sz="2400" b="1" i="1">
                                    <a:latin typeface="Cambria Math" panose="02040503050406030204" pitchFamily="18" charset="0"/>
                                    <a:ea typeface="Cambria Math" panose="02040503050406030204" pitchFamily="18" charset="0"/>
                                  </a:rPr>
                                </m:ctrlPr>
                              </m:sSupPr>
                              <m:e>
                                <m:r>
                                  <a:rPr lang="pt-BR" sz="2400" b="1" i="1">
                                    <a:latin typeface="Cambria Math" panose="02040503050406030204" pitchFamily="18" charset="0"/>
                                    <a:ea typeface="Cambria Math" panose="02040503050406030204" pitchFamily="18" charset="0"/>
                                  </a:rPr>
                                  <m:t>ℝ</m:t>
                                </m:r>
                              </m:e>
                              <m:sup>
                                <m:r>
                                  <a:rPr lang="pt-BR" sz="2400" b="0" i="1" smtClean="0">
                                    <a:latin typeface="Cambria Math" panose="02040503050406030204" pitchFamily="18" charset="0"/>
                                  </a:rPr>
                                  <m:t>𝐾</m:t>
                                </m:r>
                                <m:r>
                                  <a:rPr lang="pt-BR" sz="2400" b="0" i="1" smtClean="0">
                                    <a:latin typeface="Cambria Math" panose="02040503050406030204" pitchFamily="18" charset="0"/>
                                  </a:rPr>
                                  <m:t>+1×1</m:t>
                                </m:r>
                              </m:sup>
                            </m:sSup>
                          </m:lim>
                        </m:limLow>
                      </m:fName>
                      <m:e>
                        <m:d>
                          <m:dPr>
                            <m:ctrlPr>
                              <a:rPr lang="pt-BR" sz="2400" b="1" i="1">
                                <a:latin typeface="Cambria Math" panose="02040503050406030204" pitchFamily="18" charset="0"/>
                              </a:rPr>
                            </m:ctrlPr>
                          </m:dPr>
                          <m:e>
                            <m:sSup>
                              <m:sSupPr>
                                <m:ctrlPr>
                                  <a:rPr lang="pt-BR" sz="2400" b="1" i="1">
                                    <a:latin typeface="Cambria Math" panose="02040503050406030204" pitchFamily="18" charset="0"/>
                                  </a:rPr>
                                </m:ctrlPr>
                              </m:sSupPr>
                              <m:e>
                                <m:d>
                                  <m:dPr>
                                    <m:begChr m:val="‖"/>
                                    <m:endChr m:val="‖"/>
                                    <m:ctrlPr>
                                      <a:rPr lang="pt-BR" sz="2400" b="1" i="1">
                                        <a:latin typeface="Cambria Math" panose="02040503050406030204" pitchFamily="18" charset="0"/>
                                      </a:rPr>
                                    </m:ctrlPr>
                                  </m:dPr>
                                  <m:e>
                                    <m:r>
                                      <a:rPr lang="pt-BR" sz="2400" b="1" i="1">
                                        <a:latin typeface="Cambria Math" panose="02040503050406030204" pitchFamily="18" charset="0"/>
                                      </a:rPr>
                                      <m:t>𝒚</m:t>
                                    </m:r>
                                    <m:r>
                                      <a:rPr lang="pt-BR" sz="2400" i="1">
                                        <a:latin typeface="Cambria Math" panose="02040503050406030204" pitchFamily="18" charset="0"/>
                                      </a:rPr>
                                      <m:t> −</m:t>
                                    </m:r>
                                    <m:r>
                                      <a:rPr lang="pt-BR" sz="2400" b="1" i="1" smtClean="0">
                                        <a:latin typeface="Cambria Math" panose="02040503050406030204" pitchFamily="18" charset="0"/>
                                      </a:rPr>
                                      <m:t>𝑿</m:t>
                                    </m:r>
                                    <m:r>
                                      <a:rPr lang="pt-BR" sz="2400" b="1" i="1">
                                        <a:latin typeface="Cambria Math" panose="02040503050406030204" pitchFamily="18" charset="0"/>
                                      </a:rPr>
                                      <m:t>𝒂</m:t>
                                    </m:r>
                                  </m:e>
                                </m:d>
                              </m:e>
                              <m:sup>
                                <m:r>
                                  <a:rPr lang="pt-BR" sz="2400" i="1">
                                    <a:latin typeface="Cambria Math" panose="02040503050406030204" pitchFamily="18" charset="0"/>
                                  </a:rPr>
                                  <m:t>2</m:t>
                                </m:r>
                              </m:sup>
                            </m:sSup>
                            <m:r>
                              <a:rPr lang="pt-BR" sz="2400" i="1">
                                <a:latin typeface="Cambria Math" panose="02040503050406030204" pitchFamily="18" charset="0"/>
                              </a:rPr>
                              <m:t>+</m:t>
                            </m:r>
                            <m:r>
                              <a:rPr lang="pt-BR" sz="2400" i="1">
                                <a:latin typeface="Cambria Math" panose="02040503050406030204" pitchFamily="18" charset="0"/>
                                <a:ea typeface="Cambria Math" panose="02040503050406030204" pitchFamily="18" charset="0"/>
                              </a:rPr>
                              <m:t>𝜆</m:t>
                            </m:r>
                            <m:sSubSup>
                              <m:sSubSupPr>
                                <m:ctrlPr>
                                  <a:rPr lang="pt-BR" sz="2400" b="1" i="1">
                                    <a:latin typeface="Cambria Math" panose="02040503050406030204" pitchFamily="18" charset="0"/>
                                  </a:rPr>
                                </m:ctrlPr>
                              </m:sSubSupPr>
                              <m:e>
                                <m:d>
                                  <m:dPr>
                                    <m:begChr m:val="‖"/>
                                    <m:endChr m:val="‖"/>
                                    <m:ctrlPr>
                                      <a:rPr lang="pt-BR" sz="2400" b="1" i="1">
                                        <a:latin typeface="Cambria Math" panose="02040503050406030204" pitchFamily="18" charset="0"/>
                                      </a:rPr>
                                    </m:ctrlPr>
                                  </m:dPr>
                                  <m:e>
                                    <m:r>
                                      <a:rPr lang="pt-BR" sz="2400" b="1" i="1">
                                        <a:latin typeface="Cambria Math" panose="02040503050406030204" pitchFamily="18" charset="0"/>
                                      </a:rPr>
                                      <m:t>𝒂</m:t>
                                    </m:r>
                                  </m:e>
                                </m:d>
                              </m:e>
                              <m:sub>
                                <m:r>
                                  <a:rPr lang="pt-BR" sz="2400" i="1">
                                    <a:latin typeface="Cambria Math" panose="02040503050406030204" pitchFamily="18" charset="0"/>
                                    <a:ea typeface="Cambria Math" panose="02040503050406030204" pitchFamily="18" charset="0"/>
                                  </a:rPr>
                                  <m:t>2</m:t>
                                </m:r>
                              </m:sub>
                              <m:sup>
                                <m:r>
                                  <a:rPr lang="pt-BR" sz="2400" i="1">
                                    <a:latin typeface="Cambria Math" panose="02040503050406030204" pitchFamily="18" charset="0"/>
                                    <a:ea typeface="Cambria Math" panose="02040503050406030204" pitchFamily="18" charset="0"/>
                                  </a:rPr>
                                  <m:t>2</m:t>
                                </m:r>
                              </m:sup>
                            </m:sSubSup>
                          </m:e>
                        </m:d>
                      </m:e>
                    </m:func>
                  </m:oMath>
                </a14:m>
                <a:r>
                  <a:rPr lang="pt-BR" sz="2400" dirty="0"/>
                  <a:t>,</a:t>
                </a:r>
              </a:p>
              <a:p>
                <a:pPr marL="0" indent="0">
                  <a:buNone/>
                </a:pPr>
                <a:r>
                  <a:rPr lang="pt-BR" dirty="0"/>
                  <a:t>onde </a:t>
                </a:r>
                <a14:m>
                  <m:oMath xmlns:m="http://schemas.openxmlformats.org/officeDocument/2006/math">
                    <m:r>
                      <a:rPr lang="pt-BR" i="1">
                        <a:latin typeface="Cambria Math" panose="02040503050406030204" pitchFamily="18" charset="0"/>
                        <a:ea typeface="Cambria Math" panose="02040503050406030204" pitchFamily="18" charset="0"/>
                      </a:rPr>
                      <m:t>𝜆</m:t>
                    </m:r>
                    <m:r>
                      <a:rPr lang="pt-BR" i="1">
                        <a:latin typeface="Cambria Math" panose="02040503050406030204" pitchFamily="18" charset="0"/>
                        <a:ea typeface="Cambria Math" panose="02040503050406030204" pitchFamily="18" charset="0"/>
                      </a:rPr>
                      <m:t>≥0 </m:t>
                    </m:r>
                  </m:oMath>
                </a14:m>
                <a:r>
                  <a:rPr lang="pt-BR" dirty="0"/>
                  <a:t>é o </a:t>
                </a:r>
                <a:r>
                  <a:rPr lang="pt-BR" b="1" i="1" dirty="0"/>
                  <a:t>fator de regularização</a:t>
                </a:r>
                <a:r>
                  <a:rPr lang="pt-BR" dirty="0"/>
                  <a:t>, </a:t>
                </a:r>
                <a14:m>
                  <m:oMath xmlns:m="http://schemas.openxmlformats.org/officeDocument/2006/math">
                    <m:r>
                      <a:rPr lang="pt-BR" b="1" i="1" smtClean="0">
                        <a:latin typeface="Cambria Math" panose="02040503050406030204" pitchFamily="18" charset="0"/>
                      </a:rPr>
                      <m:t>𝑿</m:t>
                    </m:r>
                    <m:r>
                      <a:rPr lang="el-GR" b="1" i="1">
                        <a:latin typeface="Cambria Math" panose="02040503050406030204" pitchFamily="18" charset="0"/>
                      </a:rPr>
                      <m:t> </m:t>
                    </m:r>
                  </m:oMath>
                </a14:m>
                <a:r>
                  <a:rPr lang="pt-BR" dirty="0"/>
                  <a:t>é a matriz de atributos, </a:t>
                </a:r>
                <a14:m>
                  <m:oMath xmlns:m="http://schemas.openxmlformats.org/officeDocument/2006/math">
                    <m:r>
                      <a:rPr lang="pt-BR" b="1" i="1">
                        <a:latin typeface="Cambria Math" panose="02040503050406030204" pitchFamily="18" charset="0"/>
                      </a:rPr>
                      <m:t>𝒂</m:t>
                    </m:r>
                  </m:oMath>
                </a14:m>
                <a:r>
                  <a:rPr lang="pt-BR" b="1" i="1" dirty="0"/>
                  <a:t> </a:t>
                </a:r>
                <a:r>
                  <a:rPr lang="pt-BR" dirty="0"/>
                  <a:t>é o vetor de pesos e </a:t>
                </a:r>
                <a14:m>
                  <m:oMath xmlns:m="http://schemas.openxmlformats.org/officeDocument/2006/math">
                    <m:sSubSup>
                      <m:sSubSupPr>
                        <m:ctrlPr>
                          <a:rPr lang="pt-BR" b="1" i="1">
                            <a:latin typeface="Cambria Math" panose="02040503050406030204" pitchFamily="18" charset="0"/>
                          </a:rPr>
                        </m:ctrlPr>
                      </m:sSubSupPr>
                      <m:e>
                        <m:d>
                          <m:dPr>
                            <m:begChr m:val="‖"/>
                            <m:endChr m:val="‖"/>
                            <m:ctrlPr>
                              <a:rPr lang="pt-BR" b="1" i="1">
                                <a:latin typeface="Cambria Math" panose="02040503050406030204" pitchFamily="18" charset="0"/>
                              </a:rPr>
                            </m:ctrlPr>
                          </m:dPr>
                          <m:e>
                            <m:r>
                              <a:rPr lang="pt-BR" b="1" i="1">
                                <a:latin typeface="Cambria Math" panose="02040503050406030204" pitchFamily="18" charset="0"/>
                              </a:rPr>
                              <m:t>𝒂</m:t>
                            </m:r>
                          </m:e>
                        </m:d>
                      </m:e>
                      <m:sub>
                        <m:r>
                          <a:rPr lang="pt-BR" i="1">
                            <a:latin typeface="Cambria Math" panose="02040503050406030204" pitchFamily="18" charset="0"/>
                            <a:ea typeface="Cambria Math" panose="02040503050406030204" pitchFamily="18" charset="0"/>
                          </a:rPr>
                          <m:t>2</m:t>
                        </m:r>
                      </m:sub>
                      <m:sup>
                        <m:r>
                          <a:rPr lang="pt-BR" i="1">
                            <a:latin typeface="Cambria Math" panose="02040503050406030204" pitchFamily="18" charset="0"/>
                            <a:ea typeface="Cambria Math" panose="02040503050406030204" pitchFamily="18" charset="0"/>
                          </a:rPr>
                          <m:t>2</m:t>
                        </m:r>
                      </m:sup>
                    </m:sSubSup>
                    <m:r>
                      <a:rPr lang="pt-BR" i="1">
                        <a:latin typeface="Cambria Math" panose="02040503050406030204" pitchFamily="18" charset="0"/>
                        <a:ea typeface="Cambria Math" panose="02040503050406030204" pitchFamily="18" charset="0"/>
                      </a:rPr>
                      <m:t>=</m:t>
                    </m:r>
                    <m:nary>
                      <m:naryPr>
                        <m:chr m:val="∑"/>
                        <m:limLoc m:val="subSup"/>
                        <m:ctrlPr>
                          <a:rPr lang="pt-BR" i="1">
                            <a:latin typeface="Cambria Math" panose="02040503050406030204" pitchFamily="18" charset="0"/>
                            <a:ea typeface="Cambria Math" panose="02040503050406030204" pitchFamily="18" charset="0"/>
                          </a:rPr>
                        </m:ctrlPr>
                      </m:naryPr>
                      <m:sub>
                        <m:r>
                          <m:rPr>
                            <m:brk m:alnAt="25"/>
                          </m:rPr>
                          <a:rPr lang="pt-BR" i="1">
                            <a:latin typeface="Cambria Math" panose="02040503050406030204" pitchFamily="18" charset="0"/>
                            <a:ea typeface="Cambria Math" panose="02040503050406030204" pitchFamily="18" charset="0"/>
                          </a:rPr>
                          <m:t>𝑖</m:t>
                        </m:r>
                        <m:r>
                          <a:rPr lang="pt-BR" i="1">
                            <a:latin typeface="Cambria Math" panose="02040503050406030204" pitchFamily="18" charset="0"/>
                            <a:ea typeface="Cambria Math" panose="02040503050406030204" pitchFamily="18" charset="0"/>
                          </a:rPr>
                          <m:t>=1</m:t>
                        </m:r>
                      </m:sub>
                      <m:sup>
                        <m:r>
                          <a:rPr lang="pt-BR" i="1">
                            <a:latin typeface="Cambria Math" panose="02040503050406030204" pitchFamily="18" charset="0"/>
                            <a:ea typeface="Cambria Math" panose="02040503050406030204" pitchFamily="18" charset="0"/>
                          </a:rPr>
                          <m:t>𝐾</m:t>
                        </m:r>
                      </m:sup>
                      <m:e>
                        <m:sSup>
                          <m:sSupPr>
                            <m:ctrlPr>
                              <a:rPr lang="pt-BR" i="1">
                                <a:latin typeface="Cambria Math" panose="02040503050406030204" pitchFamily="18" charset="0"/>
                                <a:ea typeface="Cambria Math" panose="02040503050406030204" pitchFamily="18" charset="0"/>
                              </a:rPr>
                            </m:ctrlPr>
                          </m:sSupPr>
                          <m:e>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i="1">
                                    <a:latin typeface="Cambria Math" panose="02040503050406030204" pitchFamily="18" charset="0"/>
                                    <a:ea typeface="Cambria Math" panose="02040503050406030204" pitchFamily="18" charset="0"/>
                                  </a:rPr>
                                  <m:t>𝑖</m:t>
                                </m:r>
                              </m:sub>
                            </m:sSub>
                          </m:e>
                          <m:sup>
                            <m:r>
                              <a:rPr lang="pt-BR" i="1">
                                <a:latin typeface="Cambria Math" panose="02040503050406030204" pitchFamily="18" charset="0"/>
                                <a:ea typeface="Cambria Math" panose="02040503050406030204" pitchFamily="18" charset="0"/>
                              </a:rPr>
                              <m:t>2</m:t>
                            </m:r>
                          </m:sup>
                        </m:sSup>
                      </m:e>
                    </m:nary>
                    <m:r>
                      <a:rPr lang="pt-BR" b="1" i="1" smtClean="0">
                        <a:latin typeface="Cambria Math" panose="02040503050406030204" pitchFamily="18" charset="0"/>
                        <a:ea typeface="Cambria Math" panose="02040503050406030204" pitchFamily="18" charset="0"/>
                      </a:rPr>
                      <m:t>.</m:t>
                    </m:r>
                  </m:oMath>
                </a14:m>
                <a:endParaRPr lang="pt-BR" dirty="0"/>
              </a:p>
              <a:p>
                <a:r>
                  <a:rPr lang="pt-BR" sz="2800" dirty="0"/>
                  <a:t>Se </a:t>
                </a:r>
                <a14:m>
                  <m:oMath xmlns:m="http://schemas.openxmlformats.org/officeDocument/2006/math">
                    <m:sSubSup>
                      <m:sSubSupPr>
                        <m:ctrlPr>
                          <a:rPr lang="pt-BR" sz="2800" b="1" i="1">
                            <a:latin typeface="Cambria Math" panose="02040503050406030204" pitchFamily="18" charset="0"/>
                          </a:rPr>
                        </m:ctrlPr>
                      </m:sSubSupPr>
                      <m:e>
                        <m:d>
                          <m:dPr>
                            <m:begChr m:val="‖"/>
                            <m:endChr m:val="‖"/>
                            <m:ctrlPr>
                              <a:rPr lang="pt-BR" sz="2800" b="1" i="1">
                                <a:latin typeface="Cambria Math" panose="02040503050406030204" pitchFamily="18" charset="0"/>
                              </a:rPr>
                            </m:ctrlPr>
                          </m:dPr>
                          <m:e>
                            <m:r>
                              <a:rPr lang="pt-BR" sz="2800" b="1" i="1">
                                <a:latin typeface="Cambria Math" panose="02040503050406030204" pitchFamily="18" charset="0"/>
                              </a:rPr>
                              <m:t>𝒂</m:t>
                            </m:r>
                          </m:e>
                        </m:d>
                      </m:e>
                      <m:sub>
                        <m:r>
                          <a:rPr lang="pt-BR" sz="2800" i="1">
                            <a:latin typeface="Cambria Math" panose="02040503050406030204" pitchFamily="18" charset="0"/>
                            <a:ea typeface="Cambria Math" panose="02040503050406030204" pitchFamily="18" charset="0"/>
                          </a:rPr>
                          <m:t>2</m:t>
                        </m:r>
                      </m:sub>
                      <m:sup>
                        <m:r>
                          <a:rPr lang="pt-BR" sz="2800" i="1">
                            <a:latin typeface="Cambria Math" panose="02040503050406030204" pitchFamily="18" charset="0"/>
                            <a:ea typeface="Cambria Math" panose="02040503050406030204" pitchFamily="18" charset="0"/>
                          </a:rPr>
                          <m:t>2</m:t>
                        </m:r>
                      </m:sup>
                    </m:sSubSup>
                  </m:oMath>
                </a14:m>
                <a:r>
                  <a:rPr lang="pt-BR" sz="2800" dirty="0"/>
                  <a:t> aumenta, </a:t>
                </a:r>
                <a14:m>
                  <m:oMath xmlns:m="http://schemas.openxmlformats.org/officeDocument/2006/math">
                    <m:r>
                      <a:rPr lang="pt-BR" sz="2800" i="1">
                        <a:latin typeface="Cambria Math" panose="02040503050406030204" pitchFamily="18" charset="0"/>
                        <a:ea typeface="Cambria Math" panose="02040503050406030204" pitchFamily="18" charset="0"/>
                      </a:rPr>
                      <m:t>𝜆</m:t>
                    </m:r>
                    <m:r>
                      <a:rPr lang="pt-BR" sz="2800" i="1">
                        <a:latin typeface="Cambria Math" panose="02040503050406030204" pitchFamily="18" charset="0"/>
                        <a:ea typeface="Cambria Math" panose="02040503050406030204" pitchFamily="18" charset="0"/>
                      </a:rPr>
                      <m:t> </m:t>
                    </m:r>
                  </m:oMath>
                </a14:m>
                <a:r>
                  <a:rPr lang="pt-BR" sz="2800" dirty="0"/>
                  <a:t>deve diminuir para que o erro seja minimizado.</a:t>
                </a:r>
                <a:endParaRPr lang="pt-BR" dirty="0"/>
              </a:p>
              <a:p>
                <a:r>
                  <a:rPr lang="pt-BR" b="1" dirty="0"/>
                  <a:t>OBS</a:t>
                </a:r>
                <a:r>
                  <a:rPr lang="pt-BR" dirty="0"/>
                  <a:t>.: O somatório inicia em 1 e não em 0, pois o peso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0</m:t>
                        </m:r>
                      </m:sub>
                    </m:sSub>
                  </m:oMath>
                </a14:m>
                <a:r>
                  <a:rPr lang="pt-BR" dirty="0"/>
                  <a:t> não influencia na </a:t>
                </a:r>
                <a:r>
                  <a:rPr lang="pt-BR" b="1" i="1" dirty="0"/>
                  <a:t>complexidade</a:t>
                </a:r>
                <a:r>
                  <a:rPr lang="pt-BR" dirty="0"/>
                  <a:t> do modelo a qual se deve apenas à ordem do modelo. </a:t>
                </a:r>
              </a:p>
              <a:p>
                <a:pPr lvl="1">
                  <a:buFont typeface="Wingdings" panose="05000000000000000000" pitchFamily="2" charset="2"/>
                  <a:buChar char="§"/>
                </a:pPr>
                <a14:m>
                  <m:oMath xmlns:m="http://schemas.openxmlformats.org/officeDocument/2006/math">
                    <m:sSub>
                      <m:sSubPr>
                        <m:ctrlPr>
                          <a:rPr lang="pt-BR">
                            <a:latin typeface="Cambria Math" panose="02040503050406030204" pitchFamily="18" charset="0"/>
                          </a:rPr>
                        </m:ctrlPr>
                      </m:sSubPr>
                      <m:e>
                        <m:r>
                          <a:rPr lang="pt-BR">
                            <a:latin typeface="Cambria Math" panose="02040503050406030204" pitchFamily="18" charset="0"/>
                          </a:rPr>
                          <m:t>𝑎</m:t>
                        </m:r>
                      </m:e>
                      <m:sub>
                        <m:r>
                          <a:rPr lang="pt-BR">
                            <a:latin typeface="Cambria Math" panose="02040503050406030204" pitchFamily="18" charset="0"/>
                          </a:rPr>
                          <m:t>0</m:t>
                        </m:r>
                      </m:sub>
                    </m:sSub>
                  </m:oMath>
                </a14:m>
                <a:r>
                  <a:rPr lang="pt-BR" dirty="0"/>
                  <a:t> apenas dita o </a:t>
                </a:r>
                <a:r>
                  <a:rPr lang="pt-BR" b="1" i="1" dirty="0"/>
                  <a:t>deslocamento</a:t>
                </a:r>
                <a:r>
                  <a:rPr lang="pt-BR" dirty="0"/>
                  <a:t> em relação ao eixo das ordenadas e não influência na complexidade da </a:t>
                </a:r>
                <a:r>
                  <a:rPr lang="pt-BR" b="1" i="1" dirty="0"/>
                  <a:t>função</a:t>
                </a:r>
                <a:r>
                  <a:rPr lang="pt-BR" dirty="0"/>
                  <a:t> </a:t>
                </a:r>
                <a:r>
                  <a:rPr lang="pt-BR" b="1" i="1" dirty="0"/>
                  <a:t>hipótese</a:t>
                </a:r>
                <a:r>
                  <a:rPr lang="pt-BR" dirty="0"/>
                  <a:t>, pois não é multiplicado por nenhum atributo.</a:t>
                </a:r>
              </a:p>
            </p:txBody>
          </p:sp>
        </mc:Choice>
        <mc:Fallback xmlns="">
          <p:sp>
            <p:nvSpPr>
              <p:cNvPr id="3" name="Espaço Reservado para Conteúdo 2">
                <a:extLst>
                  <a:ext uri="{FF2B5EF4-FFF2-40B4-BE49-F238E27FC236}">
                    <a16:creationId xmlns:a16="http://schemas.microsoft.com/office/drawing/2014/main" id="{A3198D10-DFD8-1382-4B89-DBDDB78C3C16}"/>
                  </a:ext>
                </a:extLst>
              </p:cNvPr>
              <p:cNvSpPr>
                <a:spLocks noGrp="1" noRot="1" noChangeAspect="1" noMove="1" noResize="1" noEditPoints="1" noAdjustHandles="1" noChangeArrowheads="1" noChangeShapeType="1" noTextEdit="1"/>
              </p:cNvSpPr>
              <p:nvPr>
                <p:ph idx="1"/>
              </p:nvPr>
            </p:nvSpPr>
            <p:spPr>
              <a:xfrm>
                <a:off x="838200" y="1825624"/>
                <a:ext cx="11105444" cy="5032375"/>
              </a:xfrm>
              <a:blipFill>
                <a:blip r:embed="rId3"/>
                <a:stretch>
                  <a:fillRect l="-1153" t="-2663" r="-1098"/>
                </a:stretch>
              </a:blipFill>
            </p:spPr>
            <p:txBody>
              <a:bodyPr/>
              <a:lstStyle/>
              <a:p>
                <a:r>
                  <a:rPr lang="pt-BR">
                    <a:noFill/>
                  </a:rPr>
                  <a:t> </a:t>
                </a:r>
              </a:p>
            </p:txBody>
          </p:sp>
        </mc:Fallback>
      </mc:AlternateContent>
      <p:sp>
        <p:nvSpPr>
          <p:cNvPr id="4" name="Rectangle 3">
            <a:extLst>
              <a:ext uri="{FF2B5EF4-FFF2-40B4-BE49-F238E27FC236}">
                <a16:creationId xmlns:a16="http://schemas.microsoft.com/office/drawing/2014/main" id="{BB84C9BF-2349-9A7F-2725-56007DBAE450}"/>
              </a:ext>
            </a:extLst>
          </p:cNvPr>
          <p:cNvSpPr/>
          <p:nvPr/>
        </p:nvSpPr>
        <p:spPr>
          <a:xfrm>
            <a:off x="7434787" y="2921230"/>
            <a:ext cx="862546" cy="48519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50528892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0E46CB-9D16-64FC-BCF2-31C7D4BEF385}"/>
              </a:ext>
            </a:extLst>
          </p:cNvPr>
          <p:cNvSpPr>
            <a:spLocks noGrp="1"/>
          </p:cNvSpPr>
          <p:nvPr>
            <p:ph type="title"/>
          </p:nvPr>
        </p:nvSpPr>
        <p:spPr/>
        <p:txBody>
          <a:bodyPr/>
          <a:lstStyle/>
          <a:p>
            <a:r>
              <a:rPr lang="pt-BR" dirty="0"/>
              <a:t>Regressão Ridge</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BEC1B10B-4576-D3BF-19B0-AF57A0CE50F7}"/>
                  </a:ext>
                </a:extLst>
              </p:cNvPr>
              <p:cNvSpPr>
                <a:spLocks noGrp="1"/>
              </p:cNvSpPr>
              <p:nvPr>
                <p:ph idx="1"/>
              </p:nvPr>
            </p:nvSpPr>
            <p:spPr>
              <a:xfrm>
                <a:off x="838199" y="1825624"/>
                <a:ext cx="11161889" cy="5032375"/>
              </a:xfrm>
            </p:spPr>
            <p:txBody>
              <a:bodyPr>
                <a:normAutofit lnSpcReduction="10000"/>
              </a:bodyPr>
              <a:lstStyle/>
              <a:p>
                <a:r>
                  <a:rPr lang="pt-BR" dirty="0"/>
                  <a:t>Reescrevendo o problema da regularização como um </a:t>
                </a:r>
                <a:r>
                  <a:rPr lang="pt-BR" b="1" i="1" dirty="0"/>
                  <a:t>problema de otimização </a:t>
                </a:r>
                <a:r>
                  <a:rPr lang="pt-BR" b="1" i="1" dirty="0">
                    <a:solidFill>
                      <a:srgbClr val="00B050"/>
                    </a:solidFill>
                  </a:rPr>
                  <a:t>com restrição</a:t>
                </a:r>
                <a:r>
                  <a:rPr lang="pt-BR" dirty="0"/>
                  <a:t>, temos</a:t>
                </a:r>
              </a:p>
              <a:p>
                <a:pPr marL="0" indent="0">
                  <a:buNone/>
                </a:pPr>
                <a14:m>
                  <m:oMathPara xmlns:m="http://schemas.openxmlformats.org/officeDocument/2006/math">
                    <m:oMath>
                      <m:func>
                        <m:funcPr>
                          <m:ctrlPr>
                            <a:rPr lang="nl-BE" i="1">
                              <a:latin typeface="Cambria Math" panose="02040503050406030204" pitchFamily="18" charset="0"/>
                            </a:rPr>
                          </m:ctrlPr>
                        </m:funcPr>
                        <m:fName>
                          <m:limLow>
                            <m:limLowPr>
                              <m:ctrlPr>
                                <a:rPr lang="nl-BE">
                                  <a:latin typeface="Cambria Math" panose="02040503050406030204" pitchFamily="18" charset="0"/>
                                </a:rPr>
                              </m:ctrlPr>
                            </m:limLowPr>
                            <m:e>
                              <m:r>
                                <m:rPr>
                                  <m:sty m:val="p"/>
                                </m:rPr>
                                <a:rPr lang="nl-BE">
                                  <a:latin typeface="Cambria Math" panose="02040503050406030204" pitchFamily="18" charset="0"/>
                                </a:rPr>
                                <m:t>min</m:t>
                              </m:r>
                            </m:e>
                            <m:lim>
                              <m:r>
                                <a:rPr lang="pt-BR" b="1" i="1">
                                  <a:latin typeface="Cambria Math" panose="02040503050406030204" pitchFamily="18" charset="0"/>
                                </a:rPr>
                                <m:t>𝒂</m:t>
                              </m:r>
                              <m:r>
                                <a:rPr lang="pt-BR" b="1" i="1">
                                  <a:latin typeface="Cambria Math" panose="02040503050406030204" pitchFamily="18" charset="0"/>
                                </a:rPr>
                                <m:t> ∈ </m:t>
                              </m:r>
                              <m:sSup>
                                <m:sSupPr>
                                  <m:ctrlPr>
                                    <a:rPr lang="pt-BR" b="1" i="1">
                                      <a:latin typeface="Cambria Math" panose="02040503050406030204" pitchFamily="18" charset="0"/>
                                      <a:ea typeface="Cambria Math" panose="02040503050406030204" pitchFamily="18" charset="0"/>
                                    </a:rPr>
                                  </m:ctrlPr>
                                </m:sSupPr>
                                <m:e>
                                  <m:r>
                                    <a:rPr lang="pt-BR" b="1" i="1">
                                      <a:latin typeface="Cambria Math" panose="02040503050406030204" pitchFamily="18" charset="0"/>
                                      <a:ea typeface="Cambria Math" panose="02040503050406030204" pitchFamily="18" charset="0"/>
                                    </a:rPr>
                                    <m:t>ℝ</m:t>
                                  </m:r>
                                </m:e>
                                <m:sup>
                                  <m:r>
                                    <a:rPr lang="pt-BR" i="1">
                                      <a:latin typeface="Cambria Math" panose="02040503050406030204" pitchFamily="18" charset="0"/>
                                    </a:rPr>
                                    <m:t>𝐾</m:t>
                                  </m:r>
                                  <m:r>
                                    <a:rPr lang="pt-BR" i="1">
                                      <a:latin typeface="Cambria Math" panose="02040503050406030204" pitchFamily="18" charset="0"/>
                                    </a:rPr>
                                    <m:t>+1×1</m:t>
                                  </m:r>
                                </m:sup>
                              </m:sSup>
                            </m:lim>
                          </m:limLow>
                        </m:fName>
                        <m:e>
                          <m:sSup>
                            <m:sSupPr>
                              <m:ctrlPr>
                                <a:rPr lang="pt-BR" b="1" i="1">
                                  <a:latin typeface="Cambria Math" panose="02040503050406030204" pitchFamily="18" charset="0"/>
                                </a:rPr>
                              </m:ctrlPr>
                            </m:sSupPr>
                            <m:e>
                              <m:d>
                                <m:dPr>
                                  <m:begChr m:val="‖"/>
                                  <m:endChr m:val="‖"/>
                                  <m:ctrlPr>
                                    <a:rPr lang="pt-BR" b="1" i="1">
                                      <a:latin typeface="Cambria Math" panose="02040503050406030204" pitchFamily="18" charset="0"/>
                                    </a:rPr>
                                  </m:ctrlPr>
                                </m:dPr>
                                <m:e>
                                  <m:r>
                                    <a:rPr lang="pt-BR" b="1" i="1">
                                      <a:latin typeface="Cambria Math" panose="02040503050406030204" pitchFamily="18" charset="0"/>
                                    </a:rPr>
                                    <m:t>𝒚</m:t>
                                  </m:r>
                                  <m:r>
                                    <a:rPr lang="pt-BR" i="1">
                                      <a:latin typeface="Cambria Math" panose="02040503050406030204" pitchFamily="18" charset="0"/>
                                    </a:rPr>
                                    <m:t> −</m:t>
                                  </m:r>
                                  <m:r>
                                    <a:rPr lang="pt-BR" b="1" i="1" smtClean="0">
                                      <a:latin typeface="Cambria Math" panose="02040503050406030204" pitchFamily="18" charset="0"/>
                                    </a:rPr>
                                    <m:t>𝑿</m:t>
                                  </m:r>
                                  <m:r>
                                    <a:rPr lang="pt-BR" b="1" i="1">
                                      <a:latin typeface="Cambria Math" panose="02040503050406030204" pitchFamily="18" charset="0"/>
                                    </a:rPr>
                                    <m:t>𝒂</m:t>
                                  </m:r>
                                </m:e>
                              </m:d>
                            </m:e>
                            <m:sup>
                              <m:r>
                                <a:rPr lang="pt-BR" i="1">
                                  <a:latin typeface="Cambria Math" panose="02040503050406030204" pitchFamily="18" charset="0"/>
                                </a:rPr>
                                <m:t>2</m:t>
                              </m:r>
                            </m:sup>
                          </m:sSup>
                        </m:e>
                      </m:func>
                    </m:oMath>
                  </m:oMathPara>
                </a14:m>
                <a:endParaRPr lang="pt-BR" dirty="0"/>
              </a:p>
              <a:p>
                <a:pPr marL="0" indent="0">
                  <a:buNone/>
                </a:pPr>
                <a14:m>
                  <m:oMathPara xmlns:m="http://schemas.openxmlformats.org/officeDocument/2006/math">
                    <m:oMath>
                      <m:r>
                        <m:rPr>
                          <m:sty m:val="p"/>
                        </m:rPr>
                        <a:rPr lang="pt-BR" i="1" smtClean="0">
                          <a:latin typeface="Cambria Math" panose="02040503050406030204" pitchFamily="18" charset="0"/>
                        </a:rPr>
                        <m:t>s</m:t>
                      </m:r>
                      <m:r>
                        <a:rPr lang="pt-BR" b="0" i="1" smtClean="0">
                          <a:latin typeface="Cambria Math" panose="02040503050406030204" pitchFamily="18" charset="0"/>
                        </a:rPr>
                        <m:t>.</m:t>
                      </m:r>
                      <m:r>
                        <a:rPr lang="pt-BR" b="0" i="1" smtClean="0">
                          <a:latin typeface="Cambria Math" panose="02040503050406030204" pitchFamily="18" charset="0"/>
                        </a:rPr>
                        <m:t>𝑎</m:t>
                      </m:r>
                      <m:r>
                        <a:rPr lang="pt-BR" b="0" i="1" smtClean="0">
                          <a:latin typeface="Cambria Math" panose="02040503050406030204" pitchFamily="18" charset="0"/>
                        </a:rPr>
                        <m:t>.</m:t>
                      </m:r>
                      <m:sSubSup>
                        <m:sSubSupPr>
                          <m:ctrlPr>
                            <a:rPr lang="pt-BR" b="1" i="1">
                              <a:latin typeface="Cambria Math" panose="02040503050406030204" pitchFamily="18" charset="0"/>
                            </a:rPr>
                          </m:ctrlPr>
                        </m:sSubSupPr>
                        <m:e>
                          <m:d>
                            <m:dPr>
                              <m:begChr m:val="‖"/>
                              <m:endChr m:val="‖"/>
                              <m:ctrlPr>
                                <a:rPr lang="pt-BR" b="1" i="1">
                                  <a:latin typeface="Cambria Math" panose="02040503050406030204" pitchFamily="18" charset="0"/>
                                </a:rPr>
                              </m:ctrlPr>
                            </m:dPr>
                            <m:e>
                              <m:r>
                                <a:rPr lang="pt-BR" b="1" i="1">
                                  <a:latin typeface="Cambria Math" panose="02040503050406030204" pitchFamily="18" charset="0"/>
                                </a:rPr>
                                <m:t>𝒂</m:t>
                              </m:r>
                            </m:e>
                          </m:d>
                        </m:e>
                        <m:sub>
                          <m:r>
                            <a:rPr lang="pt-BR" i="1">
                              <a:latin typeface="Cambria Math" panose="02040503050406030204" pitchFamily="18" charset="0"/>
                              <a:ea typeface="Cambria Math" panose="02040503050406030204" pitchFamily="18" charset="0"/>
                            </a:rPr>
                            <m:t>2</m:t>
                          </m:r>
                        </m:sub>
                        <m:sup>
                          <m:r>
                            <a:rPr lang="pt-BR" i="1">
                              <a:latin typeface="Cambria Math" panose="02040503050406030204" pitchFamily="18" charset="0"/>
                              <a:ea typeface="Cambria Math" panose="02040503050406030204" pitchFamily="18" charset="0"/>
                            </a:rPr>
                            <m:t>2</m:t>
                          </m:r>
                        </m:sup>
                      </m:sSubSup>
                      <m:r>
                        <a:rPr lang="pt-BR"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𝑐</m:t>
                      </m:r>
                      <m:r>
                        <a:rPr lang="pt-BR" b="0" i="1" smtClean="0">
                          <a:latin typeface="Cambria Math" panose="02040503050406030204" pitchFamily="18" charset="0"/>
                          <a:ea typeface="Cambria Math" panose="02040503050406030204" pitchFamily="18" charset="0"/>
                        </a:rPr>
                        <m:t>,</m:t>
                      </m:r>
                    </m:oMath>
                  </m:oMathPara>
                </a14:m>
                <a:endParaRPr lang="pt-BR" dirty="0"/>
              </a:p>
              <a:p>
                <a:pPr marL="0" indent="0">
                  <a:buNone/>
                </a:pPr>
                <a:r>
                  <a:rPr lang="pt-BR" dirty="0"/>
                  <a:t>onde </a:t>
                </a:r>
                <a14:m>
                  <m:oMath xmlns:m="http://schemas.openxmlformats.org/officeDocument/2006/math">
                    <m:r>
                      <a:rPr lang="pt-BR" i="1">
                        <a:latin typeface="Cambria Math" panose="02040503050406030204" pitchFamily="18" charset="0"/>
                        <a:ea typeface="Cambria Math" panose="02040503050406030204" pitchFamily="18" charset="0"/>
                      </a:rPr>
                      <m:t>𝑐</m:t>
                    </m:r>
                  </m:oMath>
                </a14:m>
                <a:r>
                  <a:rPr lang="pt-BR" dirty="0"/>
                  <a:t> restringe a magnitude dos pesos (</a:t>
                </a:r>
                <a:r>
                  <a:rPr lang="pt-BR" b="1" i="1" dirty="0"/>
                  <a:t>raio da região de factibilidade</a:t>
                </a:r>
                <a:r>
                  <a:rPr lang="pt-BR" dirty="0"/>
                  <a:t>) e é inversamente proporcional à </a:t>
                </a:r>
                <a14:m>
                  <m:oMath xmlns:m="http://schemas.openxmlformats.org/officeDocument/2006/math">
                    <m:r>
                      <a:rPr lang="pt-BR" i="1">
                        <a:latin typeface="Cambria Math" panose="02040503050406030204" pitchFamily="18" charset="0"/>
                        <a:ea typeface="Cambria Math" panose="02040503050406030204" pitchFamily="18" charset="0"/>
                      </a:rPr>
                      <m:t>𝜆</m:t>
                    </m:r>
                  </m:oMath>
                </a14:m>
                <a:r>
                  <a:rPr lang="pt-BR" dirty="0"/>
                  <a:t>.</a:t>
                </a:r>
              </a:p>
              <a:p>
                <a:r>
                  <a:rPr lang="pt-BR" dirty="0"/>
                  <a:t>Observem que</a:t>
                </a:r>
              </a:p>
              <a:p>
                <a:pPr lvl="1">
                  <a:buFont typeface="Wingdings" panose="05000000000000000000" pitchFamily="2" charset="2"/>
                  <a:buChar char="§"/>
                </a:pPr>
                <a:r>
                  <a:rPr lang="pt-BR" dirty="0"/>
                  <a:t>Conforme o valor de </a:t>
                </a:r>
                <a14:m>
                  <m:oMath xmlns:m="http://schemas.openxmlformats.org/officeDocument/2006/math">
                    <m:r>
                      <a:rPr lang="pt-BR" i="1">
                        <a:latin typeface="Cambria Math" panose="02040503050406030204" pitchFamily="18" charset="0"/>
                        <a:ea typeface="Cambria Math" panose="02040503050406030204" pitchFamily="18" charset="0"/>
                      </a:rPr>
                      <m:t>𝑐</m:t>
                    </m:r>
                  </m:oMath>
                </a14:m>
                <a:r>
                  <a:rPr lang="pt-BR" dirty="0"/>
                  <a:t> diminui, menor poderá ser a magnitude dos pesos, até que no limite, quando </a:t>
                </a:r>
                <a14:m>
                  <m:oMath xmlns:m="http://schemas.openxmlformats.org/officeDocument/2006/math">
                    <m:r>
                      <a:rPr lang="pt-BR" i="1" smtClean="0">
                        <a:latin typeface="Cambria Math" panose="02040503050406030204" pitchFamily="18" charset="0"/>
                        <a:ea typeface="Cambria Math" panose="02040503050406030204" pitchFamily="18" charset="0"/>
                      </a:rPr>
                      <m:t>𝑐</m:t>
                    </m:r>
                    <m:r>
                      <a:rPr lang="pt-BR" i="1" smtClean="0">
                        <a:latin typeface="Cambria Math" panose="02040503050406030204" pitchFamily="18" charset="0"/>
                        <a:ea typeface="Cambria Math" panose="02040503050406030204" pitchFamily="18" charset="0"/>
                      </a:rPr>
                      <m:t>→0</m:t>
                    </m:r>
                  </m:oMath>
                </a14:m>
                <a:r>
                  <a:rPr lang="pt-BR" dirty="0"/>
                  <a:t>, então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b="0" i="1" smtClean="0">
                            <a:latin typeface="Cambria Math" panose="02040503050406030204" pitchFamily="18" charset="0"/>
                          </a:rPr>
                          <m:t>𝑖</m:t>
                        </m:r>
                      </m:sub>
                    </m:sSub>
                  </m:oMath>
                </a14:m>
                <a:r>
                  <a:rPr lang="pt-BR" dirty="0">
                    <a:ea typeface="Cambria Math" panose="02040503050406030204" pitchFamily="18" charset="0"/>
                  </a:rPr>
                  <a:t> </a:t>
                </a:r>
                <a14:m>
                  <m:oMath xmlns:m="http://schemas.openxmlformats.org/officeDocument/2006/math">
                    <m:r>
                      <a:rPr lang="pt-BR" i="1">
                        <a:latin typeface="Cambria Math" panose="02040503050406030204" pitchFamily="18" charset="0"/>
                        <a:ea typeface="Cambria Math" panose="02040503050406030204" pitchFamily="18" charset="0"/>
                      </a:rPr>
                      <m:t>→0</m:t>
                    </m:r>
                    <m:r>
                      <a:rPr lang="pt-BR" b="0" i="1" smtClean="0">
                        <a:latin typeface="Cambria Math" panose="02040503050406030204" pitchFamily="18" charset="0"/>
                        <a:ea typeface="Cambria Math" panose="02040503050406030204" pitchFamily="18" charset="0"/>
                      </a:rPr>
                      <m:t>, </m:t>
                    </m:r>
                    <m:r>
                      <a:rPr lang="pt-BR"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𝑖</m:t>
                    </m:r>
                  </m:oMath>
                </a14:m>
                <a:r>
                  <a:rPr lang="pt-BR" dirty="0"/>
                  <a:t> .</a:t>
                </a:r>
              </a:p>
              <a:p>
                <a:pPr lvl="1">
                  <a:buFont typeface="Wingdings" panose="05000000000000000000" pitchFamily="2" charset="2"/>
                  <a:buChar char="§"/>
                </a:pPr>
                <a:r>
                  <a:rPr lang="pt-BR" dirty="0"/>
                  <a:t>Por outro lado, conforme </a:t>
                </a:r>
                <a14:m>
                  <m:oMath xmlns:m="http://schemas.openxmlformats.org/officeDocument/2006/math">
                    <m:r>
                      <a:rPr lang="pt-BR" i="1">
                        <a:latin typeface="Cambria Math" panose="02040503050406030204" pitchFamily="18" charset="0"/>
                        <a:ea typeface="Cambria Math" panose="02040503050406030204" pitchFamily="18" charset="0"/>
                      </a:rPr>
                      <m:t>𝑐</m:t>
                    </m:r>
                    <m:r>
                      <a:rPr lang="pt-BR" i="1">
                        <a:latin typeface="Cambria Math" panose="02040503050406030204" pitchFamily="18" charset="0"/>
                        <a:ea typeface="Cambria Math" panose="02040503050406030204" pitchFamily="18" charset="0"/>
                      </a:rPr>
                      <m:t> </m:t>
                    </m:r>
                  </m:oMath>
                </a14:m>
                <a:r>
                  <a:rPr lang="pt-BR" dirty="0"/>
                  <a:t>aumenta, maior poderá ser a magnitude dos pesos, até que no limite, quando </a:t>
                </a:r>
                <a14:m>
                  <m:oMath xmlns:m="http://schemas.openxmlformats.org/officeDocument/2006/math">
                    <m:r>
                      <a:rPr lang="pt-BR" i="1">
                        <a:latin typeface="Cambria Math" panose="02040503050406030204" pitchFamily="18" charset="0"/>
                        <a:ea typeface="Cambria Math" panose="02040503050406030204" pitchFamily="18" charset="0"/>
                      </a:rPr>
                      <m:t>𝑐</m:t>
                    </m:r>
                    <m:r>
                      <a:rPr lang="pt-BR" i="1">
                        <a:latin typeface="Cambria Math" panose="02040503050406030204" pitchFamily="18" charset="0"/>
                        <a:ea typeface="Cambria Math" panose="02040503050406030204" pitchFamily="18" charset="0"/>
                      </a:rPr>
                      <m:t>→∞</m:t>
                    </m:r>
                  </m:oMath>
                </a14:m>
                <a:r>
                  <a:rPr lang="pt-BR" dirty="0"/>
                  <a:t>, então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𝑖</m:t>
                        </m:r>
                      </m:sub>
                    </m:sSub>
                  </m:oMath>
                </a14:m>
                <a:r>
                  <a:rPr lang="pt-BR" dirty="0"/>
                  <a:t> pode assumir qualquer valor.</a:t>
                </a:r>
              </a:p>
              <a:p>
                <a:pPr lvl="1">
                  <a:buFont typeface="Wingdings" panose="05000000000000000000" pitchFamily="2" charset="2"/>
                  <a:buChar char="§"/>
                </a:pPr>
                <a:r>
                  <a:rPr lang="pt-BR" dirty="0"/>
                  <a:t>Portanto, o parâmetro </a:t>
                </a:r>
                <a14:m>
                  <m:oMath xmlns:m="http://schemas.openxmlformats.org/officeDocument/2006/math">
                    <m:r>
                      <a:rPr lang="pt-BR" i="1">
                        <a:latin typeface="Cambria Math" panose="02040503050406030204" pitchFamily="18" charset="0"/>
                        <a:ea typeface="Cambria Math" panose="02040503050406030204" pitchFamily="18" charset="0"/>
                      </a:rPr>
                      <m:t>𝑐</m:t>
                    </m:r>
                    <m:r>
                      <a:rPr lang="pt-BR" i="1">
                        <a:latin typeface="Cambria Math" panose="02040503050406030204" pitchFamily="18" charset="0"/>
                        <a:ea typeface="Cambria Math" panose="02040503050406030204" pitchFamily="18" charset="0"/>
                      </a:rPr>
                      <m:t> </m:t>
                    </m:r>
                  </m:oMath>
                </a14:m>
                <a:r>
                  <a:rPr lang="pt-BR" dirty="0"/>
                  <a:t>(e, consequentemente, </a:t>
                </a:r>
                <a14:m>
                  <m:oMath xmlns:m="http://schemas.openxmlformats.org/officeDocument/2006/math">
                    <m:r>
                      <a:rPr lang="pt-BR" i="1">
                        <a:latin typeface="Cambria Math" panose="02040503050406030204" pitchFamily="18" charset="0"/>
                        <a:ea typeface="Cambria Math" panose="02040503050406030204" pitchFamily="18" charset="0"/>
                      </a:rPr>
                      <m:t>𝜆</m:t>
                    </m:r>
                  </m:oMath>
                </a14:m>
                <a:r>
                  <a:rPr lang="pt-BR" dirty="0"/>
                  <a:t>) </a:t>
                </a:r>
                <a:r>
                  <a:rPr lang="pt-BR" b="1" i="1" dirty="0">
                    <a:solidFill>
                      <a:srgbClr val="00B050"/>
                    </a:solidFill>
                  </a:rPr>
                  <a:t>controla o compromisso entre a redução do erro e a limitação da magnitude dos pesos</a:t>
                </a:r>
                <a:r>
                  <a:rPr lang="pt-BR" dirty="0"/>
                  <a:t>.</a:t>
                </a:r>
              </a:p>
            </p:txBody>
          </p:sp>
        </mc:Choice>
        <mc:Fallback xmlns="">
          <p:sp>
            <p:nvSpPr>
              <p:cNvPr id="3" name="Espaço Reservado para Conteúdo 2">
                <a:extLst>
                  <a:ext uri="{FF2B5EF4-FFF2-40B4-BE49-F238E27FC236}">
                    <a16:creationId xmlns:a16="http://schemas.microsoft.com/office/drawing/2014/main" id="{BEC1B10B-4576-D3BF-19B0-AF57A0CE50F7}"/>
                  </a:ext>
                </a:extLst>
              </p:cNvPr>
              <p:cNvSpPr>
                <a:spLocks noGrp="1" noRot="1" noChangeAspect="1" noMove="1" noResize="1" noEditPoints="1" noAdjustHandles="1" noChangeArrowheads="1" noChangeShapeType="1" noTextEdit="1"/>
              </p:cNvSpPr>
              <p:nvPr>
                <p:ph idx="1"/>
              </p:nvPr>
            </p:nvSpPr>
            <p:spPr>
              <a:xfrm>
                <a:off x="838199" y="1825624"/>
                <a:ext cx="11161889" cy="5032375"/>
              </a:xfrm>
              <a:blipFill>
                <a:blip r:embed="rId3"/>
                <a:stretch>
                  <a:fillRect l="-1092" t="-2663" r="-1419" b="-605"/>
                </a:stretch>
              </a:blipFill>
            </p:spPr>
            <p:txBody>
              <a:bodyPr/>
              <a:lstStyle/>
              <a:p>
                <a:r>
                  <a:rPr lang="pt-BR">
                    <a:noFill/>
                  </a:rPr>
                  <a:t> </a:t>
                </a:r>
              </a:p>
            </p:txBody>
          </p:sp>
        </mc:Fallback>
      </mc:AlternateContent>
    </p:spTree>
    <p:extLst>
      <p:ext uri="{BB962C8B-B14F-4D97-AF65-F5344CB8AC3E}">
        <p14:creationId xmlns:p14="http://schemas.microsoft.com/office/powerpoint/2010/main" val="325354505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25626B-8EF8-3AAD-2E0C-698D34078CB5}"/>
              </a:ext>
            </a:extLst>
          </p:cNvPr>
          <p:cNvSpPr>
            <a:spLocks noGrp="1"/>
          </p:cNvSpPr>
          <p:nvPr>
            <p:ph type="title"/>
          </p:nvPr>
        </p:nvSpPr>
        <p:spPr/>
        <p:txBody>
          <a:bodyPr/>
          <a:lstStyle/>
          <a:p>
            <a:r>
              <a:rPr lang="pt-BR" dirty="0"/>
              <a:t>Regressão Ridge</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25CA03AE-9771-A5F3-3DD5-E1C42035D04B}"/>
                  </a:ext>
                </a:extLst>
              </p:cNvPr>
              <p:cNvSpPr>
                <a:spLocks noGrp="1"/>
              </p:cNvSpPr>
              <p:nvPr>
                <p:ph idx="1"/>
              </p:nvPr>
            </p:nvSpPr>
            <p:spPr>
              <a:xfrm>
                <a:off x="4730045" y="1825624"/>
                <a:ext cx="7303912" cy="5032375"/>
              </a:xfrm>
            </p:spPr>
            <p:txBody>
              <a:bodyPr/>
              <a:lstStyle/>
              <a:p>
                <a:r>
                  <a:rPr lang="pt-BR" sz="2800" b="1" dirty="0">
                    <a:solidFill>
                      <a:schemeClr val="accent2"/>
                    </a:solidFill>
                  </a:rPr>
                  <a:t>Região de factibilidade</a:t>
                </a:r>
                <a:r>
                  <a:rPr lang="pt-BR" sz="2800" dirty="0"/>
                  <a:t>: região com os possíveis valores que os pesos podem assumir. </a:t>
                </a:r>
              </a:p>
              <a:p>
                <a:r>
                  <a:rPr lang="pt-BR" dirty="0"/>
                  <a:t>O parâmetro </a:t>
                </a:r>
                <a14:m>
                  <m:oMath xmlns:m="http://schemas.openxmlformats.org/officeDocument/2006/math">
                    <m:r>
                      <a:rPr lang="pt-BR" b="0" i="1" smtClean="0">
                        <a:latin typeface="Cambria Math" panose="02040503050406030204" pitchFamily="18" charset="0"/>
                        <a:ea typeface="Cambria Math" panose="02040503050406030204" pitchFamily="18" charset="0"/>
                      </a:rPr>
                      <m:t>𝑐</m:t>
                    </m:r>
                  </m:oMath>
                </a14:m>
                <a:r>
                  <a:rPr lang="pt-BR" dirty="0"/>
                  <a:t> dá o raio da região.</a:t>
                </a:r>
                <a:endParaRPr lang="pt-BR" sz="2800" dirty="0"/>
              </a:p>
              <a:p>
                <a:r>
                  <a:rPr lang="pt-BR" sz="2800" dirty="0"/>
                  <a:t>O </a:t>
                </a:r>
                <a:r>
                  <a:rPr lang="pt-BR" sz="2800" b="1" dirty="0">
                    <a:solidFill>
                      <a:srgbClr val="00B050"/>
                    </a:solidFill>
                  </a:rPr>
                  <a:t>raio do círculo </a:t>
                </a:r>
                <a:r>
                  <a:rPr lang="pt-BR" dirty="0"/>
                  <a:t>for</a:t>
                </a:r>
                <a:r>
                  <a:rPr lang="pt-BR" sz="2800" dirty="0"/>
                  <a:t>mando a região de factibilidade</a:t>
                </a:r>
                <a:r>
                  <a:rPr lang="pt-BR" sz="2800" b="1" dirty="0">
                    <a:solidFill>
                      <a:srgbClr val="00B050"/>
                    </a:solidFill>
                  </a:rPr>
                  <a:t> é inversamente proporcional ao fator de regularização, </a:t>
                </a:r>
                <a14:m>
                  <m:oMath xmlns:m="http://schemas.openxmlformats.org/officeDocument/2006/math">
                    <m:r>
                      <a:rPr lang="pt-BR" sz="2800" b="1" i="1">
                        <a:solidFill>
                          <a:srgbClr val="00B050"/>
                        </a:solidFill>
                        <a:latin typeface="Cambria Math" panose="02040503050406030204" pitchFamily="18" charset="0"/>
                        <a:ea typeface="Cambria Math" panose="02040503050406030204" pitchFamily="18" charset="0"/>
                      </a:rPr>
                      <m:t>𝝀</m:t>
                    </m:r>
                  </m:oMath>
                </a14:m>
                <a:r>
                  <a:rPr lang="pt-BR" sz="2800" dirty="0"/>
                  <a:t>.</a:t>
                </a:r>
              </a:p>
              <a:p>
                <a:r>
                  <a:rPr lang="pt-BR" dirty="0"/>
                  <a:t>A equação de </a:t>
                </a:r>
                <a:r>
                  <a:rPr lang="pt-BR" b="1" dirty="0"/>
                  <a:t>erro regularizado</a:t>
                </a:r>
                <a:r>
                  <a:rPr lang="pt-BR" dirty="0"/>
                  <a:t>, </a:t>
                </a:r>
              </a:p>
              <a:p>
                <a:pPr marL="0" indent="0">
                  <a:buNone/>
                </a:pPr>
                <a14:m>
                  <m:oMathPara xmlns:m="http://schemas.openxmlformats.org/officeDocument/2006/math">
                    <m:oMath>
                      <m:sSup>
                        <m:sSupPr>
                          <m:ctrlPr>
                            <a:rPr lang="pt-BR" b="1" i="1">
                              <a:latin typeface="Cambria Math" panose="02040503050406030204" pitchFamily="18" charset="0"/>
                            </a:rPr>
                          </m:ctrlPr>
                        </m:sSupPr>
                        <m:e>
                          <m:d>
                            <m:dPr>
                              <m:begChr m:val="‖"/>
                              <m:endChr m:val="‖"/>
                              <m:ctrlPr>
                                <a:rPr lang="pt-BR" b="1" i="1">
                                  <a:latin typeface="Cambria Math" panose="02040503050406030204" pitchFamily="18" charset="0"/>
                                </a:rPr>
                              </m:ctrlPr>
                            </m:dPr>
                            <m:e>
                              <m:r>
                                <a:rPr lang="pt-BR" b="1" i="1">
                                  <a:latin typeface="Cambria Math" panose="02040503050406030204" pitchFamily="18" charset="0"/>
                                </a:rPr>
                                <m:t>𝒚</m:t>
                              </m:r>
                              <m:r>
                                <a:rPr lang="pt-BR" i="1">
                                  <a:latin typeface="Cambria Math" panose="02040503050406030204" pitchFamily="18" charset="0"/>
                                </a:rPr>
                                <m:t> −</m:t>
                              </m:r>
                              <m:r>
                                <a:rPr lang="pt-BR" b="1" i="1" smtClean="0">
                                  <a:latin typeface="Cambria Math" panose="02040503050406030204" pitchFamily="18" charset="0"/>
                                </a:rPr>
                                <m:t>𝑿</m:t>
                              </m:r>
                              <m:r>
                                <a:rPr lang="pt-BR" b="1" i="1">
                                  <a:latin typeface="Cambria Math" panose="02040503050406030204" pitchFamily="18" charset="0"/>
                                </a:rPr>
                                <m:t>𝒂</m:t>
                              </m:r>
                            </m:e>
                          </m:d>
                        </m:e>
                        <m:sup>
                          <m:r>
                            <a:rPr lang="pt-BR" i="1">
                              <a:latin typeface="Cambria Math" panose="02040503050406030204" pitchFamily="18" charset="0"/>
                            </a:rPr>
                            <m:t>2</m:t>
                          </m:r>
                        </m:sup>
                      </m:sSup>
                      <m:r>
                        <a:rPr lang="pt-BR" i="1">
                          <a:latin typeface="Cambria Math" panose="02040503050406030204" pitchFamily="18" charset="0"/>
                        </a:rPr>
                        <m:t>+</m:t>
                      </m:r>
                      <m:r>
                        <a:rPr lang="pt-BR" i="1">
                          <a:latin typeface="Cambria Math" panose="02040503050406030204" pitchFamily="18" charset="0"/>
                          <a:ea typeface="Cambria Math" panose="02040503050406030204" pitchFamily="18" charset="0"/>
                        </a:rPr>
                        <m:t>𝜆</m:t>
                      </m:r>
                      <m:sSubSup>
                        <m:sSubSupPr>
                          <m:ctrlPr>
                            <a:rPr lang="pt-BR" b="1" i="1">
                              <a:latin typeface="Cambria Math" panose="02040503050406030204" pitchFamily="18" charset="0"/>
                            </a:rPr>
                          </m:ctrlPr>
                        </m:sSubSupPr>
                        <m:e>
                          <m:d>
                            <m:dPr>
                              <m:begChr m:val="‖"/>
                              <m:endChr m:val="‖"/>
                              <m:ctrlPr>
                                <a:rPr lang="pt-BR" b="1" i="1">
                                  <a:latin typeface="Cambria Math" panose="02040503050406030204" pitchFamily="18" charset="0"/>
                                </a:rPr>
                              </m:ctrlPr>
                            </m:dPr>
                            <m:e>
                              <m:r>
                                <a:rPr lang="pt-BR" b="1" i="1">
                                  <a:latin typeface="Cambria Math" panose="02040503050406030204" pitchFamily="18" charset="0"/>
                                </a:rPr>
                                <m:t>𝒂</m:t>
                              </m:r>
                            </m:e>
                          </m:d>
                        </m:e>
                        <m:sub>
                          <m:r>
                            <a:rPr lang="pt-BR" i="1">
                              <a:latin typeface="Cambria Math" panose="02040503050406030204" pitchFamily="18" charset="0"/>
                              <a:ea typeface="Cambria Math" panose="02040503050406030204" pitchFamily="18" charset="0"/>
                            </a:rPr>
                            <m:t>2</m:t>
                          </m:r>
                        </m:sub>
                        <m:sup>
                          <m:r>
                            <a:rPr lang="pt-BR" i="1">
                              <a:latin typeface="Cambria Math" panose="02040503050406030204" pitchFamily="18" charset="0"/>
                              <a:ea typeface="Cambria Math" panose="02040503050406030204" pitchFamily="18" charset="0"/>
                            </a:rPr>
                            <m:t>2</m:t>
                          </m:r>
                        </m:sup>
                      </m:sSubSup>
                      <m:r>
                        <a:rPr lang="pt-BR" b="0" i="0" smtClean="0">
                          <a:latin typeface="Cambria Math" panose="02040503050406030204" pitchFamily="18" charset="0"/>
                          <a:ea typeface="Cambria Math" panose="02040503050406030204" pitchFamily="18" charset="0"/>
                        </a:rPr>
                        <m:t>,</m:t>
                      </m:r>
                    </m:oMath>
                  </m:oMathPara>
                </a14:m>
                <a:endParaRPr lang="pt-BR" dirty="0"/>
              </a:p>
              <a:p>
                <a:pPr marL="0" indent="0">
                  <a:buNone/>
                </a:pPr>
                <a:r>
                  <a:rPr lang="pt-BR" b="1" dirty="0"/>
                  <a:t>continua sendo </a:t>
                </a:r>
                <a:r>
                  <a:rPr lang="pt-BR" b="1" dirty="0">
                    <a:solidFill>
                      <a:schemeClr val="accent5"/>
                    </a:solidFill>
                  </a:rPr>
                  <a:t>quadrática</a:t>
                </a:r>
                <a:r>
                  <a:rPr lang="pt-BR" b="1" dirty="0"/>
                  <a:t> com relação aos pesos</a:t>
                </a:r>
                <a:r>
                  <a:rPr lang="pt-BR" dirty="0"/>
                  <a:t>, e, portanto, a </a:t>
                </a:r>
                <a:r>
                  <a:rPr lang="pt-BR" b="1" dirty="0"/>
                  <a:t>superfície de erro continua sendo </a:t>
                </a:r>
                <a:r>
                  <a:rPr lang="pt-BR" b="1" dirty="0">
                    <a:solidFill>
                      <a:schemeClr val="accent5"/>
                    </a:solidFill>
                  </a:rPr>
                  <a:t>convexa</a:t>
                </a:r>
                <a:r>
                  <a:rPr lang="pt-BR" dirty="0"/>
                  <a:t>.</a:t>
                </a:r>
              </a:p>
            </p:txBody>
          </p:sp>
        </mc:Choice>
        <mc:Fallback xmlns="">
          <p:sp>
            <p:nvSpPr>
              <p:cNvPr id="3" name="Espaço Reservado para Conteúdo 2">
                <a:extLst>
                  <a:ext uri="{FF2B5EF4-FFF2-40B4-BE49-F238E27FC236}">
                    <a16:creationId xmlns:a16="http://schemas.microsoft.com/office/drawing/2014/main" id="{25CA03AE-9771-A5F3-3DD5-E1C42035D04B}"/>
                  </a:ext>
                </a:extLst>
              </p:cNvPr>
              <p:cNvSpPr>
                <a:spLocks noGrp="1" noRot="1" noChangeAspect="1" noMove="1" noResize="1" noEditPoints="1" noAdjustHandles="1" noChangeArrowheads="1" noChangeShapeType="1" noTextEdit="1"/>
              </p:cNvSpPr>
              <p:nvPr>
                <p:ph idx="1"/>
              </p:nvPr>
            </p:nvSpPr>
            <p:spPr>
              <a:xfrm>
                <a:off x="4730045" y="1825624"/>
                <a:ext cx="7303912" cy="5032375"/>
              </a:xfrm>
              <a:blipFill>
                <a:blip r:embed="rId2"/>
                <a:stretch>
                  <a:fillRect l="-1753" t="-1937" r="-1336"/>
                </a:stretch>
              </a:blipFill>
            </p:spPr>
            <p:txBody>
              <a:bodyPr/>
              <a:lstStyle/>
              <a:p>
                <a:r>
                  <a:rPr lang="en-US">
                    <a:noFill/>
                  </a:rPr>
                  <a:t> </a:t>
                </a:r>
              </a:p>
            </p:txBody>
          </p:sp>
        </mc:Fallback>
      </mc:AlternateContent>
      <p:pic>
        <p:nvPicPr>
          <p:cNvPr id="5" name="Picture 2" descr="Introduction to Regularization Methods in Deep Learning | by John Kaller |  unpackAI | Medium">
            <a:extLst>
              <a:ext uri="{FF2B5EF4-FFF2-40B4-BE49-F238E27FC236}">
                <a16:creationId xmlns:a16="http://schemas.microsoft.com/office/drawing/2014/main" id="{2FFDF25D-AEF8-B319-0478-2768A114A21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9624" t="5351" r="3408" b="15226"/>
          <a:stretch/>
        </p:blipFill>
        <p:spPr bwMode="auto">
          <a:xfrm>
            <a:off x="1185347" y="1964266"/>
            <a:ext cx="2991542" cy="38968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799882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8890DE-3A81-FDA6-665B-64763C8B34E6}"/>
              </a:ext>
            </a:extLst>
          </p:cNvPr>
          <p:cNvSpPr>
            <a:spLocks noGrp="1"/>
          </p:cNvSpPr>
          <p:nvPr>
            <p:ph type="title"/>
          </p:nvPr>
        </p:nvSpPr>
        <p:spPr/>
        <p:txBody>
          <a:bodyPr/>
          <a:lstStyle/>
          <a:p>
            <a:r>
              <a:rPr lang="pt-BR" dirty="0"/>
              <a:t>Regressão Ridge</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6FFFFC86-5F95-1E71-9AAF-6DC5CEC3A4F5}"/>
                  </a:ext>
                </a:extLst>
              </p:cNvPr>
              <p:cNvSpPr>
                <a:spLocks noGrp="1"/>
              </p:cNvSpPr>
              <p:nvPr>
                <p:ph idx="1"/>
              </p:nvPr>
            </p:nvSpPr>
            <p:spPr>
              <a:xfrm>
                <a:off x="838199" y="1825624"/>
                <a:ext cx="11184467" cy="5032375"/>
              </a:xfrm>
            </p:spPr>
            <p:txBody>
              <a:bodyPr>
                <a:normAutofit lnSpcReduction="10000"/>
              </a:bodyPr>
              <a:lstStyle/>
              <a:p>
                <a:r>
                  <a:rPr lang="pt-BR" dirty="0"/>
                  <a:t>Assim, podemos encontrar uma solução de </a:t>
                </a:r>
                <a:r>
                  <a:rPr lang="pt-BR" b="1" i="1" dirty="0"/>
                  <a:t>forma fechada </a:t>
                </a:r>
                <a:r>
                  <a:rPr lang="pt-BR" dirty="0"/>
                  <a:t>seguindo o mesmo procedimento que usamos para encontrar a </a:t>
                </a:r>
                <a:r>
                  <a:rPr lang="pt-BR" b="1" i="1" dirty="0"/>
                  <a:t>equação normal</a:t>
                </a:r>
                <a:endParaRPr lang="pt-BR" sz="1200" b="1" i="1" dirty="0">
                  <a:latin typeface="Cambria Math" panose="02040503050406030204" pitchFamily="18" charset="0"/>
                </a:endParaRPr>
              </a:p>
              <a:p>
                <a:pPr marL="0" indent="0" algn="ctr">
                  <a:buNone/>
                </a:pPr>
                <a14:m>
                  <m:oMath xmlns:m="http://schemas.openxmlformats.org/officeDocument/2006/math">
                    <m:r>
                      <a:rPr lang="pt-BR" sz="2200" b="1" i="1">
                        <a:latin typeface="Cambria Math" panose="02040503050406030204" pitchFamily="18" charset="0"/>
                      </a:rPr>
                      <m:t>𝒂</m:t>
                    </m:r>
                    <m:r>
                      <a:rPr lang="pt-BR" sz="2200" b="1" i="1">
                        <a:latin typeface="Cambria Math" panose="02040503050406030204" pitchFamily="18" charset="0"/>
                      </a:rPr>
                      <m:t> =</m:t>
                    </m:r>
                    <m:sSup>
                      <m:sSupPr>
                        <m:ctrlPr>
                          <a:rPr lang="pt-BR" sz="2200" b="1" i="1" smtClean="0">
                            <a:latin typeface="Cambria Math" panose="02040503050406030204" pitchFamily="18" charset="0"/>
                          </a:rPr>
                        </m:ctrlPr>
                      </m:sSupPr>
                      <m:e>
                        <m:d>
                          <m:dPr>
                            <m:ctrlPr>
                              <a:rPr lang="pt-BR" sz="2200" b="1" i="1" smtClean="0">
                                <a:latin typeface="Cambria Math" panose="02040503050406030204" pitchFamily="18" charset="0"/>
                              </a:rPr>
                            </m:ctrlPr>
                          </m:dPr>
                          <m:e>
                            <m:sSup>
                              <m:sSupPr>
                                <m:ctrlPr>
                                  <a:rPr lang="pt-BR" sz="2200" b="1" i="1" smtClean="0">
                                    <a:latin typeface="Cambria Math" panose="02040503050406030204" pitchFamily="18" charset="0"/>
                                  </a:rPr>
                                </m:ctrlPr>
                              </m:sSupPr>
                              <m:e>
                                <m:r>
                                  <a:rPr lang="pt-BR" sz="2200" b="1" i="1" smtClean="0">
                                    <a:latin typeface="Cambria Math" panose="02040503050406030204" pitchFamily="18" charset="0"/>
                                  </a:rPr>
                                  <m:t>𝑿</m:t>
                                </m:r>
                              </m:e>
                              <m:sup>
                                <m:r>
                                  <a:rPr lang="pt-BR" sz="2200" i="1">
                                    <a:latin typeface="Cambria Math" panose="02040503050406030204" pitchFamily="18" charset="0"/>
                                  </a:rPr>
                                  <m:t>𝑇</m:t>
                                </m:r>
                              </m:sup>
                            </m:sSup>
                            <m:r>
                              <a:rPr lang="pt-BR" sz="2200" b="1" i="1" smtClean="0">
                                <a:latin typeface="Cambria Math" panose="02040503050406030204" pitchFamily="18" charset="0"/>
                              </a:rPr>
                              <m:t>𝑿</m:t>
                            </m:r>
                            <m:r>
                              <a:rPr lang="pt-BR" sz="2200" b="1" i="1">
                                <a:latin typeface="Cambria Math" panose="02040503050406030204" pitchFamily="18" charset="0"/>
                              </a:rPr>
                              <m:t>+</m:t>
                            </m:r>
                            <m:r>
                              <a:rPr lang="pt-BR" sz="2200" i="1">
                                <a:latin typeface="Cambria Math" panose="02040503050406030204" pitchFamily="18" charset="0"/>
                                <a:ea typeface="Cambria Math" panose="02040503050406030204" pitchFamily="18" charset="0"/>
                              </a:rPr>
                              <m:t>𝜆</m:t>
                            </m:r>
                            <m:r>
                              <a:rPr lang="pt-BR" sz="2200" b="1" i="1">
                                <a:latin typeface="Cambria Math" panose="02040503050406030204" pitchFamily="18" charset="0"/>
                                <a:ea typeface="Cambria Math" panose="02040503050406030204" pitchFamily="18" charset="0"/>
                              </a:rPr>
                              <m:t>𝑰</m:t>
                            </m:r>
                            <m:r>
                              <a:rPr lang="pt-BR" sz="2200" b="1" i="1">
                                <a:latin typeface="Cambria Math" panose="02040503050406030204" pitchFamily="18" charset="0"/>
                                <a:ea typeface="Cambria Math" panose="02040503050406030204" pitchFamily="18" charset="0"/>
                              </a:rPr>
                              <m:t>′</m:t>
                            </m:r>
                          </m:e>
                        </m:d>
                      </m:e>
                      <m:sup>
                        <m:r>
                          <a:rPr lang="pt-BR" sz="2200" i="1">
                            <a:latin typeface="Cambria Math" panose="02040503050406030204" pitchFamily="18" charset="0"/>
                          </a:rPr>
                          <m:t>−1</m:t>
                        </m:r>
                      </m:sup>
                    </m:sSup>
                    <m:sSup>
                      <m:sSupPr>
                        <m:ctrlPr>
                          <a:rPr lang="pt-BR" sz="2200" i="1">
                            <a:latin typeface="Cambria Math" panose="02040503050406030204" pitchFamily="18" charset="0"/>
                          </a:rPr>
                        </m:ctrlPr>
                      </m:sSupPr>
                      <m:e>
                        <m:r>
                          <a:rPr lang="pt-BR" sz="2200" i="1">
                            <a:latin typeface="Cambria Math" panose="02040503050406030204" pitchFamily="18" charset="0"/>
                          </a:rPr>
                          <m:t> </m:t>
                        </m:r>
                        <m:r>
                          <a:rPr lang="pt-BR" sz="2200" b="1" i="1" smtClean="0">
                            <a:latin typeface="Cambria Math" panose="02040503050406030204" pitchFamily="18" charset="0"/>
                          </a:rPr>
                          <m:t>𝑿</m:t>
                        </m:r>
                      </m:e>
                      <m:sup>
                        <m:r>
                          <a:rPr lang="pt-BR" sz="2200" i="1">
                            <a:latin typeface="Cambria Math" panose="02040503050406030204" pitchFamily="18" charset="0"/>
                          </a:rPr>
                          <m:t>𝑇</m:t>
                        </m:r>
                      </m:sup>
                    </m:sSup>
                    <m:r>
                      <a:rPr lang="pt-BR" sz="2200" b="1" i="1">
                        <a:latin typeface="Cambria Math" panose="02040503050406030204" pitchFamily="18" charset="0"/>
                      </a:rPr>
                      <m:t>𝒚</m:t>
                    </m:r>
                  </m:oMath>
                </a14:m>
                <a:r>
                  <a:rPr lang="pt-BR" sz="2200" dirty="0"/>
                  <a:t>, onde </a:t>
                </a:r>
                <a14:m>
                  <m:oMath xmlns:m="http://schemas.openxmlformats.org/officeDocument/2006/math">
                    <m:sSup>
                      <m:sSupPr>
                        <m:ctrlPr>
                          <a:rPr lang="pt-BR" sz="2200" b="1" i="1">
                            <a:latin typeface="Cambria Math" panose="02040503050406030204" pitchFamily="18" charset="0"/>
                            <a:ea typeface="Cambria Math" panose="02040503050406030204" pitchFamily="18" charset="0"/>
                          </a:rPr>
                        </m:ctrlPr>
                      </m:sSupPr>
                      <m:e>
                        <m:r>
                          <a:rPr lang="pt-BR" sz="2200" b="1" i="1">
                            <a:latin typeface="Cambria Math" panose="02040503050406030204" pitchFamily="18" charset="0"/>
                            <a:ea typeface="Cambria Math" panose="02040503050406030204" pitchFamily="18" charset="0"/>
                          </a:rPr>
                          <m:t>𝑰</m:t>
                        </m:r>
                      </m:e>
                      <m:sup>
                        <m:r>
                          <a:rPr lang="pt-BR" sz="2200" b="1" i="1">
                            <a:latin typeface="Cambria Math" panose="02040503050406030204" pitchFamily="18" charset="0"/>
                            <a:ea typeface="Cambria Math" panose="02040503050406030204" pitchFamily="18" charset="0"/>
                          </a:rPr>
                          <m:t>′</m:t>
                        </m:r>
                      </m:sup>
                    </m:sSup>
                    <m:r>
                      <a:rPr lang="pt-BR" sz="2200" b="1" i="1">
                        <a:latin typeface="Cambria Math" panose="02040503050406030204" pitchFamily="18" charset="0"/>
                        <a:ea typeface="Cambria Math" panose="02040503050406030204" pitchFamily="18" charset="0"/>
                      </a:rPr>
                      <m:t>=</m:t>
                    </m:r>
                    <m:d>
                      <m:dPr>
                        <m:begChr m:val="["/>
                        <m:endChr m:val="]"/>
                        <m:ctrlPr>
                          <a:rPr lang="pt-BR" sz="2200" i="1">
                            <a:latin typeface="Cambria Math" panose="02040503050406030204" pitchFamily="18" charset="0"/>
                            <a:ea typeface="Cambria Math" panose="02040503050406030204" pitchFamily="18" charset="0"/>
                          </a:rPr>
                        </m:ctrlPr>
                      </m:dPr>
                      <m:e>
                        <m:m>
                          <m:mPr>
                            <m:mcs>
                              <m:mc>
                                <m:mcPr>
                                  <m:count m:val="2"/>
                                  <m:mcJc m:val="center"/>
                                </m:mcPr>
                              </m:mc>
                            </m:mcs>
                            <m:ctrlPr>
                              <a:rPr lang="pt-BR" sz="2200" i="1">
                                <a:latin typeface="Cambria Math" panose="02040503050406030204" pitchFamily="18" charset="0"/>
                                <a:ea typeface="Cambria Math" panose="02040503050406030204" pitchFamily="18" charset="0"/>
                              </a:rPr>
                            </m:ctrlPr>
                          </m:mPr>
                          <m:mr>
                            <m:e>
                              <m:m>
                                <m:mPr>
                                  <m:mcs>
                                    <m:mc>
                                      <m:mcPr>
                                        <m:count m:val="2"/>
                                        <m:mcJc m:val="center"/>
                                      </m:mcPr>
                                    </m:mc>
                                  </m:mcs>
                                  <m:ctrlPr>
                                    <a:rPr lang="pt-BR" sz="2200" i="1">
                                      <a:latin typeface="Cambria Math" panose="02040503050406030204" pitchFamily="18" charset="0"/>
                                      <a:ea typeface="Cambria Math" panose="02040503050406030204" pitchFamily="18" charset="0"/>
                                    </a:rPr>
                                  </m:ctrlPr>
                                </m:mPr>
                                <m:mr>
                                  <m:e>
                                    <m:m>
                                      <m:mPr>
                                        <m:mcs>
                                          <m:mc>
                                            <m:mcPr>
                                              <m:count m:val="2"/>
                                              <m:mcJc m:val="center"/>
                                            </m:mcPr>
                                          </m:mc>
                                        </m:mcs>
                                        <m:ctrlPr>
                                          <a:rPr lang="pt-BR" sz="2200" i="1">
                                            <a:latin typeface="Cambria Math" panose="02040503050406030204" pitchFamily="18" charset="0"/>
                                            <a:ea typeface="Cambria Math" panose="02040503050406030204" pitchFamily="18" charset="0"/>
                                          </a:rPr>
                                        </m:ctrlPr>
                                      </m:mPr>
                                      <m:mr>
                                        <m:e>
                                          <m:m>
                                            <m:mPr>
                                              <m:mcs>
                                                <m:mc>
                                                  <m:mcPr>
                                                    <m:count m:val="1"/>
                                                    <m:mcJc m:val="center"/>
                                                  </m:mcPr>
                                                </m:mc>
                                              </m:mcs>
                                              <m:ctrlPr>
                                                <a:rPr lang="pt-BR" sz="2200" i="1">
                                                  <a:latin typeface="Cambria Math" panose="02040503050406030204" pitchFamily="18" charset="0"/>
                                                  <a:ea typeface="Cambria Math" panose="02040503050406030204" pitchFamily="18" charset="0"/>
                                                </a:rPr>
                                              </m:ctrlPr>
                                            </m:mPr>
                                            <m:mr>
                                              <m:e>
                                                <m:m>
                                                  <m:mPr>
                                                    <m:mcs>
                                                      <m:mc>
                                                        <m:mcPr>
                                                          <m:count m:val="1"/>
                                                          <m:mcJc m:val="center"/>
                                                        </m:mcPr>
                                                      </m:mc>
                                                    </m:mcs>
                                                    <m:ctrlPr>
                                                      <a:rPr lang="pt-BR" sz="2200" i="1">
                                                        <a:latin typeface="Cambria Math" panose="02040503050406030204" pitchFamily="18" charset="0"/>
                                                        <a:ea typeface="Cambria Math" panose="02040503050406030204" pitchFamily="18" charset="0"/>
                                                      </a:rPr>
                                                    </m:ctrlPr>
                                                  </m:mPr>
                                                  <m:mr>
                                                    <m:e>
                                                      <m:r>
                                                        <m:rPr>
                                                          <m:brk m:alnAt="7"/>
                                                        </m:rPr>
                                                        <a:rPr lang="pt-BR" sz="2200" i="1">
                                                          <a:latin typeface="Cambria Math" panose="02040503050406030204" pitchFamily="18" charset="0"/>
                                                          <a:ea typeface="Cambria Math" panose="02040503050406030204" pitchFamily="18" charset="0"/>
                                                        </a:rPr>
                                                        <m:t>0</m:t>
                                                      </m:r>
                                                    </m:e>
                                                  </m:mr>
                                                  <m:mr>
                                                    <m:e>
                                                      <m:r>
                                                        <a:rPr lang="pt-BR" sz="2200" i="1">
                                                          <a:latin typeface="Cambria Math" panose="02040503050406030204" pitchFamily="18" charset="0"/>
                                                          <a:ea typeface="Cambria Math" panose="02040503050406030204" pitchFamily="18" charset="0"/>
                                                        </a:rPr>
                                                        <m:t>0</m:t>
                                                      </m:r>
                                                    </m:e>
                                                  </m:mr>
                                                </m:m>
                                              </m:e>
                                            </m:mr>
                                            <m:mr>
                                              <m:e>
                                                <m:r>
                                                  <a:rPr lang="pt-BR" sz="2200" i="1">
                                                    <a:latin typeface="Cambria Math" panose="02040503050406030204" pitchFamily="18" charset="0"/>
                                                    <a:ea typeface="Cambria Math" panose="02040503050406030204" pitchFamily="18" charset="0"/>
                                                  </a:rPr>
                                                  <m:t>⋮</m:t>
                                                </m:r>
                                              </m:e>
                                            </m:mr>
                                            <m:mr>
                                              <m:e>
                                                <m:r>
                                                  <a:rPr lang="pt-BR" sz="2200" i="1">
                                                    <a:latin typeface="Cambria Math" panose="02040503050406030204" pitchFamily="18" charset="0"/>
                                                    <a:ea typeface="Cambria Math" panose="02040503050406030204" pitchFamily="18" charset="0"/>
                                                  </a:rPr>
                                                  <m:t>0</m:t>
                                                </m:r>
                                              </m:e>
                                            </m:mr>
                                          </m:m>
                                        </m:e>
                                        <m:e>
                                          <m:m>
                                            <m:mPr>
                                              <m:mcs>
                                                <m:mc>
                                                  <m:mcPr>
                                                    <m:count m:val="1"/>
                                                    <m:mcJc m:val="center"/>
                                                  </m:mcPr>
                                                </m:mc>
                                              </m:mcs>
                                              <m:ctrlPr>
                                                <a:rPr lang="pt-BR" sz="2200" i="1">
                                                  <a:latin typeface="Cambria Math" panose="02040503050406030204" pitchFamily="18" charset="0"/>
                                                  <a:ea typeface="Cambria Math" panose="02040503050406030204" pitchFamily="18" charset="0"/>
                                                </a:rPr>
                                              </m:ctrlPr>
                                            </m:mPr>
                                            <m:mr>
                                              <m:e>
                                                <m:m>
                                                  <m:mPr>
                                                    <m:mcs>
                                                      <m:mc>
                                                        <m:mcPr>
                                                          <m:count m:val="1"/>
                                                          <m:mcJc m:val="center"/>
                                                        </m:mcPr>
                                                      </m:mc>
                                                    </m:mcs>
                                                    <m:ctrlPr>
                                                      <a:rPr lang="pt-BR" sz="2200" i="1">
                                                        <a:latin typeface="Cambria Math" panose="02040503050406030204" pitchFamily="18" charset="0"/>
                                                        <a:ea typeface="Cambria Math" panose="02040503050406030204" pitchFamily="18" charset="0"/>
                                                      </a:rPr>
                                                    </m:ctrlPr>
                                                  </m:mPr>
                                                  <m:mr>
                                                    <m:e>
                                                      <m:r>
                                                        <m:rPr>
                                                          <m:brk m:alnAt="7"/>
                                                        </m:rPr>
                                                        <a:rPr lang="pt-BR" sz="2200" i="1">
                                                          <a:latin typeface="Cambria Math" panose="02040503050406030204" pitchFamily="18" charset="0"/>
                                                          <a:ea typeface="Cambria Math" panose="02040503050406030204" pitchFamily="18" charset="0"/>
                                                        </a:rPr>
                                                        <m:t>0</m:t>
                                                      </m:r>
                                                    </m:e>
                                                  </m:mr>
                                                  <m:mr>
                                                    <m:e>
                                                      <m:r>
                                                        <a:rPr lang="pt-BR" sz="2200" i="1">
                                                          <a:latin typeface="Cambria Math" panose="02040503050406030204" pitchFamily="18" charset="0"/>
                                                          <a:ea typeface="Cambria Math" panose="02040503050406030204" pitchFamily="18" charset="0"/>
                                                        </a:rPr>
                                                        <m:t>1</m:t>
                                                      </m:r>
                                                    </m:e>
                                                  </m:mr>
                                                </m:m>
                                              </m:e>
                                            </m:mr>
                                            <m:mr>
                                              <m:e>
                                                <m:r>
                                                  <a:rPr lang="pt-BR" sz="2200" i="1">
                                                    <a:latin typeface="Cambria Math" panose="02040503050406030204" pitchFamily="18" charset="0"/>
                                                    <a:ea typeface="Cambria Math" panose="02040503050406030204" pitchFamily="18" charset="0"/>
                                                  </a:rPr>
                                                  <m:t>⋮</m:t>
                                                </m:r>
                                              </m:e>
                                            </m:mr>
                                            <m:mr>
                                              <m:e>
                                                <m:r>
                                                  <a:rPr lang="pt-BR" sz="2200" i="1">
                                                    <a:latin typeface="Cambria Math" panose="02040503050406030204" pitchFamily="18" charset="0"/>
                                                    <a:ea typeface="Cambria Math" panose="02040503050406030204" pitchFamily="18" charset="0"/>
                                                  </a:rPr>
                                                  <m:t>0</m:t>
                                                </m:r>
                                              </m:e>
                                            </m:mr>
                                          </m:m>
                                        </m:e>
                                      </m:mr>
                                    </m:m>
                                  </m:e>
                                  <m:e>
                                    <m:m>
                                      <m:mPr>
                                        <m:mcs>
                                          <m:mc>
                                            <m:mcPr>
                                              <m:count m:val="1"/>
                                              <m:mcJc m:val="center"/>
                                            </m:mcPr>
                                          </m:mc>
                                        </m:mcs>
                                        <m:ctrlPr>
                                          <a:rPr lang="pt-BR" sz="2200" i="1">
                                            <a:latin typeface="Cambria Math" panose="02040503050406030204" pitchFamily="18" charset="0"/>
                                            <a:ea typeface="Cambria Math" panose="02040503050406030204" pitchFamily="18" charset="0"/>
                                          </a:rPr>
                                        </m:ctrlPr>
                                      </m:mPr>
                                      <m:mr>
                                        <m:e>
                                          <m:m>
                                            <m:mPr>
                                              <m:mcs>
                                                <m:mc>
                                                  <m:mcPr>
                                                    <m:count m:val="1"/>
                                                    <m:mcJc m:val="center"/>
                                                  </m:mcPr>
                                                </m:mc>
                                              </m:mcs>
                                              <m:ctrlPr>
                                                <a:rPr lang="pt-BR" sz="2200" i="1">
                                                  <a:latin typeface="Cambria Math" panose="02040503050406030204" pitchFamily="18" charset="0"/>
                                                  <a:ea typeface="Cambria Math" panose="02040503050406030204" pitchFamily="18" charset="0"/>
                                                </a:rPr>
                                              </m:ctrlPr>
                                            </m:mPr>
                                            <m:mr>
                                              <m:e>
                                                <m:r>
                                                  <m:rPr>
                                                    <m:brk m:alnAt="7"/>
                                                  </m:rPr>
                                                  <a:rPr lang="pt-BR" sz="2200" i="1">
                                                    <a:latin typeface="Cambria Math" panose="02040503050406030204" pitchFamily="18" charset="0"/>
                                                    <a:ea typeface="Cambria Math" panose="02040503050406030204" pitchFamily="18" charset="0"/>
                                                  </a:rPr>
                                                  <m:t>…</m:t>
                                                </m:r>
                                              </m:e>
                                            </m:mr>
                                            <m:mr>
                                              <m:e>
                                                <m:r>
                                                  <a:rPr lang="pt-BR" sz="2200" i="1">
                                                    <a:latin typeface="Cambria Math" panose="02040503050406030204" pitchFamily="18" charset="0"/>
                                                    <a:ea typeface="Cambria Math" panose="02040503050406030204" pitchFamily="18" charset="0"/>
                                                  </a:rPr>
                                                  <m:t>⋯</m:t>
                                                </m:r>
                                              </m:e>
                                            </m:mr>
                                          </m:m>
                                        </m:e>
                                      </m:mr>
                                      <m:mr>
                                        <m:e>
                                          <m:r>
                                            <a:rPr lang="pt-BR" sz="2200" i="1">
                                              <a:latin typeface="Cambria Math" panose="02040503050406030204" pitchFamily="18" charset="0"/>
                                              <a:ea typeface="Cambria Math" panose="02040503050406030204" pitchFamily="18" charset="0"/>
                                            </a:rPr>
                                            <m:t>⋱</m:t>
                                          </m:r>
                                        </m:e>
                                      </m:mr>
                                      <m:mr>
                                        <m:e>
                                          <m:r>
                                            <a:rPr lang="pt-BR" sz="2200" i="1">
                                              <a:latin typeface="Cambria Math" panose="02040503050406030204" pitchFamily="18" charset="0"/>
                                              <a:ea typeface="Cambria Math" panose="02040503050406030204" pitchFamily="18" charset="0"/>
                                            </a:rPr>
                                            <m:t>…</m:t>
                                          </m:r>
                                        </m:e>
                                      </m:mr>
                                    </m:m>
                                  </m:e>
                                </m:mr>
                              </m:m>
                            </m:e>
                            <m:e>
                              <m:m>
                                <m:mPr>
                                  <m:mcs>
                                    <m:mc>
                                      <m:mcPr>
                                        <m:count m:val="1"/>
                                        <m:mcJc m:val="center"/>
                                      </m:mcPr>
                                    </m:mc>
                                  </m:mcs>
                                  <m:ctrlPr>
                                    <a:rPr lang="pt-BR" sz="2200" i="1">
                                      <a:latin typeface="Cambria Math" panose="02040503050406030204" pitchFamily="18" charset="0"/>
                                      <a:ea typeface="Cambria Math" panose="02040503050406030204" pitchFamily="18" charset="0"/>
                                    </a:rPr>
                                  </m:ctrlPr>
                                </m:mPr>
                                <m:mr>
                                  <m:e>
                                    <m:m>
                                      <m:mPr>
                                        <m:mcs>
                                          <m:mc>
                                            <m:mcPr>
                                              <m:count m:val="1"/>
                                              <m:mcJc m:val="center"/>
                                            </m:mcPr>
                                          </m:mc>
                                        </m:mcs>
                                        <m:ctrlPr>
                                          <a:rPr lang="pt-BR" sz="2200" i="1">
                                            <a:latin typeface="Cambria Math" panose="02040503050406030204" pitchFamily="18" charset="0"/>
                                            <a:ea typeface="Cambria Math" panose="02040503050406030204" pitchFamily="18" charset="0"/>
                                          </a:rPr>
                                        </m:ctrlPr>
                                      </m:mPr>
                                      <m:mr>
                                        <m:e>
                                          <m:r>
                                            <m:rPr>
                                              <m:brk m:alnAt="7"/>
                                            </m:rPr>
                                            <a:rPr lang="pt-BR" sz="2200" i="1">
                                              <a:latin typeface="Cambria Math" panose="02040503050406030204" pitchFamily="18" charset="0"/>
                                              <a:ea typeface="Cambria Math" panose="02040503050406030204" pitchFamily="18" charset="0"/>
                                            </a:rPr>
                                            <m:t>0</m:t>
                                          </m:r>
                                        </m:e>
                                      </m:mr>
                                      <m:mr>
                                        <m:e>
                                          <m:r>
                                            <a:rPr lang="pt-BR" sz="2200" i="1">
                                              <a:latin typeface="Cambria Math" panose="02040503050406030204" pitchFamily="18" charset="0"/>
                                              <a:ea typeface="Cambria Math" panose="02040503050406030204" pitchFamily="18" charset="0"/>
                                            </a:rPr>
                                            <m:t>0</m:t>
                                          </m:r>
                                        </m:e>
                                      </m:mr>
                                    </m:m>
                                  </m:e>
                                </m:mr>
                                <m:mr>
                                  <m:e>
                                    <m:r>
                                      <a:rPr lang="pt-BR" sz="2200" i="1">
                                        <a:latin typeface="Cambria Math" panose="02040503050406030204" pitchFamily="18" charset="0"/>
                                        <a:ea typeface="Cambria Math" panose="02040503050406030204" pitchFamily="18" charset="0"/>
                                      </a:rPr>
                                      <m:t>⋮</m:t>
                                    </m:r>
                                  </m:e>
                                </m:mr>
                                <m:mr>
                                  <m:e>
                                    <m:r>
                                      <a:rPr lang="pt-BR" sz="2200" i="1">
                                        <a:latin typeface="Cambria Math" panose="02040503050406030204" pitchFamily="18" charset="0"/>
                                        <a:ea typeface="Cambria Math" panose="02040503050406030204" pitchFamily="18" charset="0"/>
                                      </a:rPr>
                                      <m:t>1</m:t>
                                    </m:r>
                                  </m:e>
                                </m:mr>
                              </m:m>
                            </m:e>
                          </m:mr>
                        </m:m>
                      </m:e>
                    </m:d>
                  </m:oMath>
                </a14:m>
                <a:endParaRPr lang="pt-BR" sz="2200" b="1" dirty="0"/>
              </a:p>
              <a:p>
                <a:r>
                  <a:rPr lang="pt-BR" b="1" dirty="0"/>
                  <a:t>Observações</a:t>
                </a:r>
              </a:p>
              <a:p>
                <a:pPr lvl="1">
                  <a:buFont typeface="Wingdings" panose="05000000000000000000" pitchFamily="2" charset="2"/>
                  <a:buChar char="§"/>
                </a:pPr>
                <a:r>
                  <a:rPr lang="pt-BR" dirty="0"/>
                  <a:t>Mesmo que a matriz </a:t>
                </a:r>
                <a14:m>
                  <m:oMath xmlns:m="http://schemas.openxmlformats.org/officeDocument/2006/math">
                    <m:r>
                      <a:rPr lang="pt-BR" b="1" i="1" smtClean="0">
                        <a:latin typeface="Cambria Math" panose="02040503050406030204" pitchFamily="18" charset="0"/>
                      </a:rPr>
                      <m:t>𝑿</m:t>
                    </m:r>
                    <m:r>
                      <a:rPr lang="pt-BR" b="1" i="1">
                        <a:latin typeface="Cambria Math" panose="02040503050406030204" pitchFamily="18" charset="0"/>
                      </a:rPr>
                      <m:t> </m:t>
                    </m:r>
                  </m:oMath>
                </a14:m>
                <a:r>
                  <a:rPr lang="pt-BR" dirty="0"/>
                  <a:t>não tenha </a:t>
                </a:r>
                <a:r>
                  <a:rPr lang="pt-BR" b="1" i="1" dirty="0"/>
                  <a:t>posto completo </a:t>
                </a:r>
                <a:r>
                  <a:rPr lang="pt-BR" dirty="0"/>
                  <a:t>(i.e., matriz singular), a inversa na equação acima sempre existirá devido à adição do termo </a:t>
                </a:r>
                <a14:m>
                  <m:oMath xmlns:m="http://schemas.openxmlformats.org/officeDocument/2006/math">
                    <m:r>
                      <a:rPr lang="pt-BR" i="1">
                        <a:latin typeface="Cambria Math" panose="02040503050406030204" pitchFamily="18" charset="0"/>
                        <a:ea typeface="Cambria Math" panose="02040503050406030204" pitchFamily="18" charset="0"/>
                      </a:rPr>
                      <m:t>𝜆</m:t>
                    </m:r>
                    <m:r>
                      <a:rPr lang="pt-BR" b="1" i="1">
                        <a:latin typeface="Cambria Math" panose="02040503050406030204" pitchFamily="18" charset="0"/>
                        <a:ea typeface="Cambria Math" panose="02040503050406030204" pitchFamily="18" charset="0"/>
                      </a:rPr>
                      <m:t>𝑰</m:t>
                    </m:r>
                    <m:r>
                      <a:rPr lang="pt-BR" b="1" i="1">
                        <a:latin typeface="Cambria Math" panose="02040503050406030204" pitchFamily="18" charset="0"/>
                        <a:ea typeface="Cambria Math" panose="02040503050406030204" pitchFamily="18" charset="0"/>
                      </a:rPr>
                      <m:t>′</m:t>
                    </m:r>
                  </m:oMath>
                </a14:m>
                <a:r>
                  <a:rPr lang="pt-BR" dirty="0"/>
                  <a:t>.</a:t>
                </a:r>
              </a:p>
              <a:p>
                <a:pPr lvl="1">
                  <a:buFont typeface="Wingdings" panose="05000000000000000000" pitchFamily="2" charset="2"/>
                  <a:buChar char="§"/>
                </a:pPr>
                <a:r>
                  <a:rPr lang="pt-BR" dirty="0"/>
                  <a:t>Como a </a:t>
                </a:r>
                <a:r>
                  <a:rPr lang="pt-BR" b="1" i="1" dirty="0"/>
                  <a:t>norma L2 </a:t>
                </a:r>
                <a:r>
                  <a:rPr lang="pt-BR" dirty="0"/>
                  <a:t>é </a:t>
                </a:r>
                <a:r>
                  <a:rPr lang="pt-BR" b="1" i="1" dirty="0">
                    <a:solidFill>
                      <a:schemeClr val="accent5"/>
                    </a:solidFill>
                  </a:rPr>
                  <a:t>diferenciável</a:t>
                </a:r>
                <a:r>
                  <a:rPr lang="pt-BR" dirty="0"/>
                  <a:t>, a regressão </a:t>
                </a:r>
                <a:r>
                  <a:rPr lang="pt-BR" i="1" dirty="0"/>
                  <a:t>Ridge</a:t>
                </a:r>
                <a:r>
                  <a:rPr lang="pt-BR" dirty="0"/>
                  <a:t> também pode ser resolvida iterativamente através do </a:t>
                </a:r>
                <a:r>
                  <a:rPr lang="pt-BR" b="1" i="1" dirty="0">
                    <a:solidFill>
                      <a:schemeClr val="accent5"/>
                    </a:solidFill>
                  </a:rPr>
                  <a:t>algoritmo do gradiente descendente</a:t>
                </a:r>
                <a:r>
                  <a:rPr lang="pt-BR" dirty="0"/>
                  <a:t>.</a:t>
                </a:r>
              </a:p>
              <a:p>
                <a:pPr lvl="1">
                  <a:buFont typeface="Wingdings" panose="05000000000000000000" pitchFamily="2" charset="2"/>
                  <a:buChar char="§"/>
                </a:pPr>
                <a:r>
                  <a:rPr lang="pt-BR" dirty="0"/>
                  <a:t>O </a:t>
                </a:r>
                <a:r>
                  <a:rPr lang="pt-BR" b="1" i="1" dirty="0"/>
                  <a:t>termo de regularização </a:t>
                </a:r>
                <a:r>
                  <a:rPr lang="pt-BR" dirty="0"/>
                  <a:t>deve ser </a:t>
                </a:r>
                <a:r>
                  <a:rPr lang="pt-BR" b="1" i="1" dirty="0"/>
                  <a:t>adicionado apenas à função de erro durante o treinamento</a:t>
                </a:r>
                <a:r>
                  <a:rPr lang="pt-BR" dirty="0"/>
                  <a:t>. Depois que o modelo é treinado, a avaliação de seu desempenho não utiliza a regularização.</a:t>
                </a:r>
              </a:p>
            </p:txBody>
          </p:sp>
        </mc:Choice>
        <mc:Fallback xmlns="">
          <p:sp>
            <p:nvSpPr>
              <p:cNvPr id="3" name="Espaço Reservado para Conteúdo 2">
                <a:extLst>
                  <a:ext uri="{FF2B5EF4-FFF2-40B4-BE49-F238E27FC236}">
                    <a16:creationId xmlns:a16="http://schemas.microsoft.com/office/drawing/2014/main" id="{6FFFFC86-5F95-1E71-9AAF-6DC5CEC3A4F5}"/>
                  </a:ext>
                </a:extLst>
              </p:cNvPr>
              <p:cNvSpPr>
                <a:spLocks noGrp="1" noRot="1" noChangeAspect="1" noMove="1" noResize="1" noEditPoints="1" noAdjustHandles="1" noChangeArrowheads="1" noChangeShapeType="1" noTextEdit="1"/>
              </p:cNvSpPr>
              <p:nvPr>
                <p:ph idx="1"/>
              </p:nvPr>
            </p:nvSpPr>
            <p:spPr>
              <a:xfrm>
                <a:off x="838199" y="1825624"/>
                <a:ext cx="11184467" cy="5032375"/>
              </a:xfrm>
              <a:blipFill>
                <a:blip r:embed="rId2"/>
                <a:stretch>
                  <a:fillRect l="-926" t="-2663" r="-1253"/>
                </a:stretch>
              </a:blipFill>
            </p:spPr>
            <p:txBody>
              <a:bodyPr/>
              <a:lstStyle/>
              <a:p>
                <a:r>
                  <a:rPr lang="pt-BR">
                    <a:noFill/>
                  </a:rPr>
                  <a:t> </a:t>
                </a:r>
              </a:p>
            </p:txBody>
          </p:sp>
        </mc:Fallback>
      </mc:AlternateContent>
      <p:sp>
        <p:nvSpPr>
          <p:cNvPr id="4" name="Retângulo 3">
            <a:extLst>
              <a:ext uri="{FF2B5EF4-FFF2-40B4-BE49-F238E27FC236}">
                <a16:creationId xmlns:a16="http://schemas.microsoft.com/office/drawing/2014/main" id="{50C0C0B3-BE3B-F4DF-36EE-A774B2ACD2D4}"/>
              </a:ext>
            </a:extLst>
          </p:cNvPr>
          <p:cNvSpPr/>
          <p:nvPr/>
        </p:nvSpPr>
        <p:spPr>
          <a:xfrm>
            <a:off x="9461105" y="2791136"/>
            <a:ext cx="2561561" cy="646331"/>
          </a:xfrm>
          <a:prstGeom prst="rect">
            <a:avLst/>
          </a:prstGeom>
        </p:spPr>
        <p:txBody>
          <a:bodyPr wrap="square">
            <a:spAutoFit/>
          </a:bodyPr>
          <a:lstStyle/>
          <a:p>
            <a:pPr algn="ctr"/>
            <a:r>
              <a:rPr lang="pt-BR" sz="1200" b="1" i="1" dirty="0"/>
              <a:t>matriz identidade</a:t>
            </a:r>
            <a:r>
              <a:rPr lang="pt-BR" sz="1200" dirty="0"/>
              <a:t> com o primeiro elemento igual a 0, pois não penalizamos o peso de bias.</a:t>
            </a:r>
          </a:p>
        </p:txBody>
      </p:sp>
      <p:sp>
        <p:nvSpPr>
          <p:cNvPr id="5" name="Rectangle 3">
            <a:extLst>
              <a:ext uri="{FF2B5EF4-FFF2-40B4-BE49-F238E27FC236}">
                <a16:creationId xmlns:a16="http://schemas.microsoft.com/office/drawing/2014/main" id="{B19BB8E6-9F41-4727-5A32-C2313E165C74}"/>
              </a:ext>
            </a:extLst>
          </p:cNvPr>
          <p:cNvSpPr/>
          <p:nvPr/>
        </p:nvSpPr>
        <p:spPr>
          <a:xfrm>
            <a:off x="4980532" y="2964247"/>
            <a:ext cx="404923" cy="28707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Retângulo 5">
            <a:extLst>
              <a:ext uri="{FF2B5EF4-FFF2-40B4-BE49-F238E27FC236}">
                <a16:creationId xmlns:a16="http://schemas.microsoft.com/office/drawing/2014/main" id="{44B21D6E-949E-A019-A2BB-868903138B6B}"/>
              </a:ext>
            </a:extLst>
          </p:cNvPr>
          <p:cNvSpPr/>
          <p:nvPr/>
        </p:nvSpPr>
        <p:spPr>
          <a:xfrm>
            <a:off x="4745665" y="3656504"/>
            <a:ext cx="2700670" cy="276999"/>
          </a:xfrm>
          <a:prstGeom prst="rect">
            <a:avLst/>
          </a:prstGeom>
        </p:spPr>
        <p:txBody>
          <a:bodyPr wrap="square">
            <a:spAutoFit/>
          </a:bodyPr>
          <a:lstStyle/>
          <a:p>
            <a:pPr algn="ctr"/>
            <a:r>
              <a:rPr lang="pt-BR" sz="1200" dirty="0"/>
              <a:t>derivada do termo de regularização</a:t>
            </a:r>
          </a:p>
        </p:txBody>
      </p:sp>
      <p:cxnSp>
        <p:nvCxnSpPr>
          <p:cNvPr id="7" name="Conector de seta reta 13">
            <a:extLst>
              <a:ext uri="{FF2B5EF4-FFF2-40B4-BE49-F238E27FC236}">
                <a16:creationId xmlns:a16="http://schemas.microsoft.com/office/drawing/2014/main" id="{F3E4A288-E08F-3017-FE28-760F2ED99D28}"/>
              </a:ext>
            </a:extLst>
          </p:cNvPr>
          <p:cNvCxnSpPr/>
          <p:nvPr/>
        </p:nvCxnSpPr>
        <p:spPr>
          <a:xfrm>
            <a:off x="5162172" y="3251326"/>
            <a:ext cx="404037" cy="40874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283613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Regressão Ridge com gradiente descendente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199" y="1825624"/>
                <a:ext cx="11219121" cy="5032375"/>
              </a:xfrm>
            </p:spPr>
            <p:txBody>
              <a:bodyPr>
                <a:normAutofit fontScale="85000" lnSpcReduction="20000"/>
              </a:bodyPr>
              <a:lstStyle/>
              <a:p>
                <a:pPr marL="0" indent="0">
                  <a:buNone/>
                </a:pPr>
                <a14:m>
                  <m:oMathPara xmlns:m="http://schemas.openxmlformats.org/officeDocument/2006/math">
                    <m:oMath>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𝑁</m:t>
                          </m:r>
                        </m:den>
                      </m:f>
                      <m:nary>
                        <m:naryPr>
                          <m:chr m:val="∑"/>
                          <m:ctrlPr>
                            <a:rPr lang="pt-BR" i="1">
                              <a:latin typeface="Cambria Math" panose="02040503050406030204" pitchFamily="18" charset="0"/>
                            </a:rPr>
                          </m:ctrlPr>
                        </m:naryPr>
                        <m:sub>
                          <m:r>
                            <m:rPr>
                              <m:brk m:alnAt="23"/>
                            </m:rPr>
                            <a:rPr lang="pt-BR" i="1">
                              <a:latin typeface="Cambria Math" panose="02040503050406030204" pitchFamily="18" charset="0"/>
                            </a:rPr>
                            <m:t>𝑖</m:t>
                          </m:r>
                          <m:r>
                            <a:rPr lang="pt-BR" i="1">
                              <a:latin typeface="Cambria Math" panose="02040503050406030204" pitchFamily="18" charset="0"/>
                            </a:rPr>
                            <m:t>=0</m:t>
                          </m:r>
                        </m:sub>
                        <m:sup>
                          <m:r>
                            <a:rPr lang="pt-BR" i="1">
                              <a:latin typeface="Cambria Math" panose="02040503050406030204" pitchFamily="18" charset="0"/>
                            </a:rPr>
                            <m:t>𝑁</m:t>
                          </m:r>
                          <m:r>
                            <a:rPr lang="pt-BR" i="1">
                              <a:latin typeface="Cambria Math" panose="02040503050406030204" pitchFamily="18" charset="0"/>
                            </a:rPr>
                            <m:t>−1</m:t>
                          </m:r>
                        </m:sup>
                        <m:e>
                          <m:sSup>
                            <m:sSupPr>
                              <m:ctrlPr>
                                <a:rPr lang="pt-BR" i="1" smtClean="0">
                                  <a:latin typeface="Cambria Math" panose="02040503050406030204" pitchFamily="18" charset="0"/>
                                </a:rPr>
                              </m:ctrlPr>
                            </m:sSupPr>
                            <m:e>
                              <m:d>
                                <m:dPr>
                                  <m:ctrlPr>
                                    <a:rPr lang="pt-BR" i="1" smtClean="0">
                                      <a:latin typeface="Cambria Math" panose="02040503050406030204" pitchFamily="18" charset="0"/>
                                    </a:rPr>
                                  </m:ctrlPr>
                                </m:dPr>
                                <m:e>
                                  <m:r>
                                    <a:rPr lang="pt-BR" i="1" smtClean="0">
                                      <a:latin typeface="Cambria Math" panose="02040503050406030204" pitchFamily="18" charset="0"/>
                                    </a:rPr>
                                    <m:t>𝑦</m:t>
                                  </m:r>
                                  <m:r>
                                    <a:rPr lang="pt-BR" b="1" i="1">
                                      <a:latin typeface="Cambria Math" panose="02040503050406030204" pitchFamily="18" charset="0"/>
                                    </a:rPr>
                                    <m:t>(</m:t>
                                  </m:r>
                                  <m:r>
                                    <a:rPr lang="pt-BR" i="1">
                                      <a:latin typeface="Cambria Math" panose="02040503050406030204" pitchFamily="18" charset="0"/>
                                    </a:rPr>
                                    <m:t>𝑖</m:t>
                                  </m:r>
                                  <m:r>
                                    <a:rPr lang="pt-BR" b="1" i="1">
                                      <a:latin typeface="Cambria Math" panose="02040503050406030204" pitchFamily="18" charset="0"/>
                                    </a:rPr>
                                    <m:t>)</m:t>
                                  </m:r>
                                  <m:r>
                                    <a:rPr lang="pt-BR" i="1" dirty="0">
                                      <a:latin typeface="Cambria Math" panose="02040503050406030204" pitchFamily="18" charset="0"/>
                                    </a:rPr>
                                    <m:t>−</m:t>
                                  </m:r>
                                  <m:acc>
                                    <m:accPr>
                                      <m:chr m:val="̂"/>
                                      <m:ctrlPr>
                                        <a:rPr lang="pt-BR" i="1" dirty="0">
                                          <a:latin typeface="Cambria Math" panose="02040503050406030204" pitchFamily="18" charset="0"/>
                                        </a:rPr>
                                      </m:ctrlPr>
                                    </m:accPr>
                                    <m:e>
                                      <m:r>
                                        <a:rPr lang="pt-BR" i="1" dirty="0">
                                          <a:latin typeface="Cambria Math" panose="02040503050406030204" pitchFamily="18" charset="0"/>
                                        </a:rPr>
                                        <m:t>𝑦</m:t>
                                      </m:r>
                                    </m:e>
                                  </m:acc>
                                  <m:r>
                                    <a:rPr lang="pt-BR" i="1">
                                      <a:latin typeface="Cambria Math" panose="02040503050406030204" pitchFamily="18" charset="0"/>
                                    </a:rPr>
                                    <m:t>(</m:t>
                                  </m:r>
                                  <m:r>
                                    <a:rPr lang="pt-BR" i="1">
                                      <a:latin typeface="Cambria Math" panose="02040503050406030204" pitchFamily="18" charset="0"/>
                                    </a:rPr>
                                    <m:t>𝑖</m:t>
                                  </m:r>
                                  <m:r>
                                    <a:rPr lang="pt-BR" i="1">
                                      <a:latin typeface="Cambria Math" panose="02040503050406030204" pitchFamily="18" charset="0"/>
                                    </a:rPr>
                                    <m:t>)</m:t>
                                  </m:r>
                                </m:e>
                              </m:d>
                            </m:e>
                            <m:sup>
                              <m:r>
                                <a:rPr lang="pt-BR" i="1">
                                  <a:latin typeface="Cambria Math" panose="02040503050406030204" pitchFamily="18" charset="0"/>
                                </a:rPr>
                                <m:t>2</m:t>
                              </m:r>
                            </m:sup>
                          </m:sSup>
                        </m:e>
                      </m:nary>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𝑁</m:t>
                          </m:r>
                        </m:den>
                      </m:f>
                      <m:nary>
                        <m:naryPr>
                          <m:chr m:val="∑"/>
                          <m:ctrlPr>
                            <a:rPr lang="pt-BR" i="1">
                              <a:latin typeface="Cambria Math" panose="02040503050406030204" pitchFamily="18" charset="0"/>
                            </a:rPr>
                          </m:ctrlPr>
                        </m:naryPr>
                        <m:sub>
                          <m:r>
                            <m:rPr>
                              <m:brk m:alnAt="23"/>
                            </m:rPr>
                            <a:rPr lang="pt-BR" i="1">
                              <a:latin typeface="Cambria Math" panose="02040503050406030204" pitchFamily="18" charset="0"/>
                            </a:rPr>
                            <m:t>𝑖</m:t>
                          </m:r>
                          <m:r>
                            <a:rPr lang="pt-BR" i="1">
                              <a:latin typeface="Cambria Math" panose="02040503050406030204" pitchFamily="18" charset="0"/>
                            </a:rPr>
                            <m:t>=0</m:t>
                          </m:r>
                        </m:sub>
                        <m:sup>
                          <m:r>
                            <a:rPr lang="pt-BR" i="1">
                              <a:latin typeface="Cambria Math" panose="02040503050406030204" pitchFamily="18" charset="0"/>
                            </a:rPr>
                            <m:t>𝑁</m:t>
                          </m:r>
                          <m:r>
                            <a:rPr lang="pt-BR" i="1">
                              <a:latin typeface="Cambria Math" panose="02040503050406030204" pitchFamily="18" charset="0"/>
                            </a:rPr>
                            <m:t>−1</m:t>
                          </m:r>
                        </m:sup>
                        <m:e>
                          <m:sSup>
                            <m:sSupPr>
                              <m:ctrlPr>
                                <a:rPr lang="pt-BR" i="1">
                                  <a:latin typeface="Cambria Math" panose="02040503050406030204" pitchFamily="18" charset="0"/>
                                </a:rPr>
                              </m:ctrlPr>
                            </m:sSupPr>
                            <m:e>
                              <m:d>
                                <m:dPr>
                                  <m:ctrlPr>
                                    <a:rPr lang="pt-BR" i="1">
                                      <a:latin typeface="Cambria Math" panose="02040503050406030204" pitchFamily="18" charset="0"/>
                                    </a:rPr>
                                  </m:ctrlPr>
                                </m:dPr>
                                <m:e>
                                  <m:r>
                                    <a:rPr lang="pt-BR" i="1">
                                      <a:latin typeface="Cambria Math" panose="02040503050406030204" pitchFamily="18" charset="0"/>
                                    </a:rPr>
                                    <m:t>𝑦</m:t>
                                  </m:r>
                                  <m:r>
                                    <a:rPr lang="pt-BR" b="1" i="1">
                                      <a:latin typeface="Cambria Math" panose="02040503050406030204" pitchFamily="18" charset="0"/>
                                    </a:rPr>
                                    <m:t>(</m:t>
                                  </m:r>
                                  <m:r>
                                    <a:rPr lang="pt-BR" i="1">
                                      <a:latin typeface="Cambria Math" panose="02040503050406030204" pitchFamily="18" charset="0"/>
                                    </a:rPr>
                                    <m:t>𝑖</m:t>
                                  </m:r>
                                  <m:r>
                                    <a:rPr lang="pt-BR" b="1" i="1">
                                      <a:latin typeface="Cambria Math" panose="02040503050406030204" pitchFamily="18" charset="0"/>
                                    </a:rPr>
                                    <m:t>)</m:t>
                                  </m:r>
                                  <m:r>
                                    <a:rPr lang="pt-BR" i="1" dirty="0">
                                      <a:latin typeface="Cambria Math" panose="02040503050406030204" pitchFamily="18" charset="0"/>
                                    </a:rPr>
                                    <m:t>−</m:t>
                                  </m:r>
                                  <m:r>
                                    <a:rPr lang="pt-BR" i="1">
                                      <a:latin typeface="Cambria Math" panose="02040503050406030204" pitchFamily="18" charset="0"/>
                                    </a:rPr>
                                    <m:t>ℎ</m:t>
                                  </m:r>
                                  <m:d>
                                    <m:dPr>
                                      <m:ctrlPr>
                                        <a:rPr lang="pt-BR" b="1" i="1">
                                          <a:latin typeface="Cambria Math" panose="02040503050406030204" pitchFamily="18" charset="0"/>
                                        </a:rPr>
                                      </m:ctrlPr>
                                    </m:dPr>
                                    <m:e>
                                      <m:r>
                                        <a:rPr lang="pt-BR" b="1" i="1">
                                          <a:latin typeface="Cambria Math" panose="02040503050406030204" pitchFamily="18" charset="0"/>
                                        </a:rPr>
                                        <m:t>𝒙</m:t>
                                      </m:r>
                                      <m:r>
                                        <a:rPr lang="pt-BR" b="1" i="1">
                                          <a:latin typeface="Cambria Math" panose="02040503050406030204" pitchFamily="18" charset="0"/>
                                        </a:rPr>
                                        <m:t>(</m:t>
                                      </m:r>
                                      <m:r>
                                        <a:rPr lang="pt-BR" i="1">
                                          <a:latin typeface="Cambria Math" panose="02040503050406030204" pitchFamily="18" charset="0"/>
                                        </a:rPr>
                                        <m:t>𝑖</m:t>
                                      </m:r>
                                      <m:r>
                                        <a:rPr lang="pt-BR" b="1" i="1">
                                          <a:latin typeface="Cambria Math" panose="02040503050406030204" pitchFamily="18" charset="0"/>
                                        </a:rPr>
                                        <m:t>),</m:t>
                                      </m:r>
                                      <m:r>
                                        <a:rPr lang="pt-BR" b="1" i="1">
                                          <a:latin typeface="Cambria Math" panose="02040503050406030204" pitchFamily="18" charset="0"/>
                                        </a:rPr>
                                        <m:t>𝒂</m:t>
                                      </m:r>
                                    </m:e>
                                  </m:d>
                                </m:e>
                              </m:d>
                            </m:e>
                            <m:sup>
                              <m:r>
                                <a:rPr lang="pt-BR" i="1">
                                  <a:latin typeface="Cambria Math" panose="02040503050406030204" pitchFamily="18" charset="0"/>
                                </a:rPr>
                                <m:t>2</m:t>
                              </m:r>
                            </m:sup>
                          </m:sSup>
                        </m:e>
                      </m:nary>
                    </m:oMath>
                  </m:oMathPara>
                </a14:m>
                <a:endParaRPr lang="pt-BR" i="1" dirty="0">
                  <a:latin typeface="Cambria Math" panose="02040503050406030204" pitchFamily="18" charset="0"/>
                </a:endParaRPr>
              </a:p>
              <a:p>
                <a:pPr marL="0" indent="0">
                  <a:buNone/>
                </a:pPr>
                <a14:m>
                  <m:oMathPara xmlns:m="http://schemas.openxmlformats.org/officeDocument/2006/math">
                    <m:oMath>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𝑁</m:t>
                          </m:r>
                        </m:den>
                      </m:f>
                      <m:sSup>
                        <m:sSupPr>
                          <m:ctrlPr>
                            <a:rPr lang="pt-BR" b="1" i="1">
                              <a:latin typeface="Cambria Math" panose="02040503050406030204" pitchFamily="18" charset="0"/>
                            </a:rPr>
                          </m:ctrlPr>
                        </m:sSupPr>
                        <m:e>
                          <m:d>
                            <m:dPr>
                              <m:begChr m:val="‖"/>
                              <m:endChr m:val="‖"/>
                              <m:ctrlPr>
                                <a:rPr lang="pt-BR" b="1" i="1">
                                  <a:latin typeface="Cambria Math" panose="02040503050406030204" pitchFamily="18" charset="0"/>
                                </a:rPr>
                              </m:ctrlPr>
                            </m:dPr>
                            <m:e>
                              <m:r>
                                <a:rPr lang="pt-BR" b="1" i="1">
                                  <a:latin typeface="Cambria Math" panose="02040503050406030204" pitchFamily="18" charset="0"/>
                                </a:rPr>
                                <m:t>𝒚</m:t>
                              </m:r>
                              <m:r>
                                <a:rPr lang="pt-BR" i="1">
                                  <a:latin typeface="Cambria Math" panose="02040503050406030204" pitchFamily="18" charset="0"/>
                                </a:rPr>
                                <m:t> −</m:t>
                              </m:r>
                              <m:r>
                                <a:rPr lang="pt-BR" b="1" i="1" smtClean="0">
                                  <a:latin typeface="Cambria Math" panose="02040503050406030204" pitchFamily="18" charset="0"/>
                                </a:rPr>
                                <m:t>𝑿</m:t>
                              </m:r>
                              <m:r>
                                <a:rPr lang="pt-BR" b="1" i="1">
                                  <a:latin typeface="Cambria Math" panose="02040503050406030204" pitchFamily="18" charset="0"/>
                                </a:rPr>
                                <m:t>𝒂</m:t>
                              </m:r>
                            </m:e>
                          </m:d>
                        </m:e>
                        <m:sup>
                          <m:r>
                            <a:rPr lang="pt-BR" i="1">
                              <a:latin typeface="Cambria Math" panose="02040503050406030204" pitchFamily="18" charset="0"/>
                            </a:rPr>
                            <m:t>2</m:t>
                          </m:r>
                        </m:sup>
                      </m:sSup>
                      <m:r>
                        <a:rPr lang="pt-BR" i="1">
                          <a:latin typeface="Cambria Math" panose="02040503050406030204" pitchFamily="18" charset="0"/>
                        </a:rPr>
                        <m:t>+</m:t>
                      </m:r>
                      <m:r>
                        <a:rPr lang="pt-BR" i="1">
                          <a:latin typeface="Cambria Math" panose="02040503050406030204" pitchFamily="18" charset="0"/>
                          <a:ea typeface="Cambria Math" panose="02040503050406030204" pitchFamily="18" charset="0"/>
                        </a:rPr>
                        <m:t>𝜆</m:t>
                      </m:r>
                      <m:sSubSup>
                        <m:sSubSupPr>
                          <m:ctrlPr>
                            <a:rPr lang="pt-BR" b="1" i="1">
                              <a:latin typeface="Cambria Math" panose="02040503050406030204" pitchFamily="18" charset="0"/>
                            </a:rPr>
                          </m:ctrlPr>
                        </m:sSubSupPr>
                        <m:e>
                          <m:d>
                            <m:dPr>
                              <m:begChr m:val="‖"/>
                              <m:endChr m:val="‖"/>
                              <m:ctrlPr>
                                <a:rPr lang="pt-BR" b="1" i="1">
                                  <a:latin typeface="Cambria Math" panose="02040503050406030204" pitchFamily="18" charset="0"/>
                                </a:rPr>
                              </m:ctrlPr>
                            </m:dPr>
                            <m:e>
                              <m:r>
                                <a:rPr lang="pt-BR" b="1" i="1">
                                  <a:latin typeface="Cambria Math" panose="02040503050406030204" pitchFamily="18" charset="0"/>
                                </a:rPr>
                                <m:t>𝒂</m:t>
                              </m:r>
                            </m:e>
                          </m:d>
                        </m:e>
                        <m:sub>
                          <m:r>
                            <a:rPr lang="pt-BR" i="1">
                              <a:latin typeface="Cambria Math" panose="02040503050406030204" pitchFamily="18" charset="0"/>
                              <a:ea typeface="Cambria Math" panose="02040503050406030204" pitchFamily="18" charset="0"/>
                            </a:rPr>
                            <m:t>2</m:t>
                          </m:r>
                        </m:sub>
                        <m:sup>
                          <m:r>
                            <a:rPr lang="pt-BR" i="1">
                              <a:latin typeface="Cambria Math" panose="02040503050406030204" pitchFamily="18" charset="0"/>
                              <a:ea typeface="Cambria Math" panose="02040503050406030204" pitchFamily="18" charset="0"/>
                            </a:rPr>
                            <m:t>2</m:t>
                          </m:r>
                        </m:sup>
                      </m:sSubSup>
                    </m:oMath>
                  </m:oMathPara>
                </a14:m>
                <a:endParaRPr lang="pt-BR" dirty="0"/>
              </a:p>
              <a:p>
                <a:pPr marL="0" indent="0" algn="ctr">
                  <a:buNone/>
                </a:pPr>
                <a14:m>
                  <m:oMath xmlns:m="http://schemas.openxmlformats.org/officeDocument/2006/math">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𝐽</m:t>
                            </m:r>
                          </m:e>
                          <m:sub>
                            <m:r>
                              <a:rPr lang="pt-BR" i="1">
                                <a:latin typeface="Cambria Math" panose="02040503050406030204" pitchFamily="18" charset="0"/>
                                <a:ea typeface="Cambria Math" panose="02040503050406030204" pitchFamily="18" charset="0"/>
                              </a:rPr>
                              <m:t>𝑒</m:t>
                            </m:r>
                          </m:sub>
                        </m:sSub>
                        <m:d>
                          <m:dPr>
                            <m:ctrlPr>
                              <a:rPr lang="pt-BR" b="1" i="1">
                                <a:latin typeface="Cambria Math" panose="02040503050406030204" pitchFamily="18" charset="0"/>
                                <a:ea typeface="Cambria Math" panose="02040503050406030204" pitchFamily="18" charset="0"/>
                              </a:rPr>
                            </m:ctrlPr>
                          </m:dPr>
                          <m:e>
                            <m:r>
                              <a:rPr lang="pt-BR" b="1" i="1">
                                <a:latin typeface="Cambria Math" panose="02040503050406030204" pitchFamily="18" charset="0"/>
                                <a:ea typeface="Cambria Math" panose="02040503050406030204" pitchFamily="18" charset="0"/>
                              </a:rPr>
                              <m:t>𝒂</m:t>
                            </m:r>
                          </m:e>
                        </m:d>
                      </m:num>
                      <m:den>
                        <m:r>
                          <a:rPr lang="pt-BR"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pt-BR" i="1">
                                <a:latin typeface="Cambria Math" panose="02040503050406030204" pitchFamily="18" charset="0"/>
                              </a:rPr>
                              <m:t>𝑘</m:t>
                            </m:r>
                          </m:sub>
                        </m:sSub>
                      </m:den>
                    </m:f>
                    <m:r>
                      <a:rPr lang="pt-BR" b="0" i="1" smtClean="0">
                        <a:latin typeface="Cambria Math" panose="02040503050406030204" pitchFamily="18" charset="0"/>
                      </a:rPr>
                      <m:t>=</m:t>
                    </m:r>
                    <m:r>
                      <a:rPr lang="pt-BR" i="1">
                        <a:latin typeface="Cambria Math" panose="02040503050406030204" pitchFamily="18" charset="0"/>
                      </a:rPr>
                      <m:t>−</m:t>
                    </m:r>
                    <m:f>
                      <m:fPr>
                        <m:ctrlPr>
                          <a:rPr lang="pt-BR" b="0" i="1" smtClean="0">
                            <a:latin typeface="Cambria Math" panose="02040503050406030204" pitchFamily="18" charset="0"/>
                          </a:rPr>
                        </m:ctrlPr>
                      </m:fPr>
                      <m:num>
                        <m:r>
                          <a:rPr lang="pt-BR" b="0" i="1" smtClean="0">
                            <a:latin typeface="Cambria Math" panose="02040503050406030204" pitchFamily="18" charset="0"/>
                          </a:rPr>
                          <m:t>2</m:t>
                        </m:r>
                      </m:num>
                      <m:den>
                        <m:r>
                          <a:rPr lang="pt-BR" i="1">
                            <a:latin typeface="Cambria Math" panose="02040503050406030204" pitchFamily="18" charset="0"/>
                          </a:rPr>
                          <m:t>𝑁</m:t>
                        </m:r>
                      </m:den>
                    </m:f>
                    <m:nary>
                      <m:naryPr>
                        <m:chr m:val="∑"/>
                        <m:ctrlPr>
                          <a:rPr lang="pt-BR" i="1">
                            <a:latin typeface="Cambria Math" panose="02040503050406030204" pitchFamily="18" charset="0"/>
                          </a:rPr>
                        </m:ctrlPr>
                      </m:naryPr>
                      <m:sub>
                        <m:r>
                          <m:rPr>
                            <m:brk m:alnAt="23"/>
                          </m:rPr>
                          <a:rPr lang="pt-BR" i="1">
                            <a:latin typeface="Cambria Math" panose="02040503050406030204" pitchFamily="18" charset="0"/>
                          </a:rPr>
                          <m:t>𝑖</m:t>
                        </m:r>
                        <m:r>
                          <a:rPr lang="pt-BR" i="1">
                            <a:latin typeface="Cambria Math" panose="02040503050406030204" pitchFamily="18" charset="0"/>
                          </a:rPr>
                          <m:t>=0</m:t>
                        </m:r>
                      </m:sub>
                      <m:sup>
                        <m:r>
                          <a:rPr lang="pt-BR" i="1">
                            <a:latin typeface="Cambria Math" panose="02040503050406030204" pitchFamily="18" charset="0"/>
                          </a:rPr>
                          <m:t>𝑁</m:t>
                        </m:r>
                        <m:r>
                          <a:rPr lang="pt-BR" i="1">
                            <a:latin typeface="Cambria Math" panose="02040503050406030204" pitchFamily="18" charset="0"/>
                          </a:rPr>
                          <m:t>−1</m:t>
                        </m:r>
                      </m:sup>
                      <m:e>
                        <m:d>
                          <m:dPr>
                            <m:begChr m:val="["/>
                            <m:endChr m:val="]"/>
                            <m:ctrlPr>
                              <a:rPr lang="pt-BR" i="1">
                                <a:latin typeface="Cambria Math" panose="02040503050406030204" pitchFamily="18" charset="0"/>
                              </a:rPr>
                            </m:ctrlPr>
                          </m:dPr>
                          <m:e>
                            <m:r>
                              <a:rPr lang="pt-BR" i="1">
                                <a:latin typeface="Cambria Math" panose="02040503050406030204" pitchFamily="18" charset="0"/>
                              </a:rPr>
                              <m:t>𝑦</m:t>
                            </m:r>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𝑖</m:t>
                                </m:r>
                              </m:e>
                            </m:d>
                            <m:r>
                              <a:rPr lang="pt-BR" i="1" dirty="0">
                                <a:latin typeface="Cambria Math" panose="02040503050406030204" pitchFamily="18" charset="0"/>
                              </a:rPr>
                              <m:t>−</m:t>
                            </m:r>
                            <m:acc>
                              <m:accPr>
                                <m:chr m:val="̂"/>
                                <m:ctrlPr>
                                  <a:rPr lang="pt-BR" b="0" i="1" dirty="0" smtClean="0">
                                    <a:latin typeface="Cambria Math" panose="02040503050406030204" pitchFamily="18" charset="0"/>
                                    <a:ea typeface="Cambria Math" panose="02040503050406030204" pitchFamily="18" charset="0"/>
                                  </a:rPr>
                                </m:ctrlPr>
                              </m:accPr>
                              <m:e>
                                <m:r>
                                  <a:rPr lang="pt-BR" b="0" i="1" dirty="0" smtClean="0">
                                    <a:latin typeface="Cambria Math" panose="02040503050406030204" pitchFamily="18" charset="0"/>
                                    <a:ea typeface="Cambria Math" panose="02040503050406030204" pitchFamily="18" charset="0"/>
                                  </a:rPr>
                                  <m:t>𝑦</m:t>
                                </m:r>
                              </m:e>
                            </m:acc>
                            <m:d>
                              <m:dPr>
                                <m:ctrlPr>
                                  <a:rPr lang="pt-BR" b="0" i="1" smtClean="0">
                                    <a:latin typeface="Cambria Math" panose="02040503050406030204" pitchFamily="18" charset="0"/>
                                    <a:ea typeface="Cambria Math" panose="02040503050406030204" pitchFamily="18" charset="0"/>
                                  </a:rPr>
                                </m:ctrlPr>
                              </m:dPr>
                              <m:e>
                                <m:r>
                                  <a:rPr lang="pt-BR" b="0" i="1" smtClean="0">
                                    <a:latin typeface="Cambria Math" panose="02040503050406030204" pitchFamily="18" charset="0"/>
                                    <a:ea typeface="Cambria Math" panose="02040503050406030204" pitchFamily="18" charset="0"/>
                                  </a:rPr>
                                  <m:t>𝑖</m:t>
                                </m:r>
                              </m:e>
                            </m:d>
                          </m:e>
                        </m:d>
                      </m:e>
                    </m:nary>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𝑘</m:t>
                        </m:r>
                      </m:sub>
                    </m:sSub>
                    <m:d>
                      <m:dPr>
                        <m:ctrlPr>
                          <a:rPr lang="pt-BR" i="1">
                            <a:latin typeface="Cambria Math" panose="02040503050406030204" pitchFamily="18" charset="0"/>
                          </a:rPr>
                        </m:ctrlPr>
                      </m:dPr>
                      <m:e>
                        <m:r>
                          <a:rPr lang="pt-BR" i="1">
                            <a:latin typeface="Cambria Math" panose="02040503050406030204" pitchFamily="18" charset="0"/>
                          </a:rPr>
                          <m:t>𝑖</m:t>
                        </m:r>
                      </m:e>
                    </m:d>
                    <m:r>
                      <a:rPr lang="pt-BR" b="0" i="1" smtClean="0">
                        <a:latin typeface="Cambria Math" panose="02040503050406030204" pitchFamily="18" charset="0"/>
                      </a:rPr>
                      <m:t>+2</m:t>
                    </m:r>
                    <m:r>
                      <a:rPr lang="pt-BR" b="0" i="1" smtClean="0">
                        <a:latin typeface="Cambria Math" panose="02040503050406030204" pitchFamily="18" charset="0"/>
                        <a:ea typeface="Cambria Math" panose="02040503050406030204" pitchFamily="18" charset="0"/>
                      </a:rPr>
                      <m:t>𝜆</m:t>
                    </m:r>
                    <m:sSub>
                      <m:sSubPr>
                        <m:ctrlPr>
                          <a:rPr lang="pt-BR" b="0" i="1" smtClean="0">
                            <a:latin typeface="Cambria Math" panose="02040503050406030204" pitchFamily="18" charset="0"/>
                            <a:ea typeface="Cambria Math" panose="02040503050406030204" pitchFamily="18" charset="0"/>
                          </a:rPr>
                        </m:ctrlPr>
                      </m:sSubPr>
                      <m:e>
                        <m:r>
                          <a:rPr lang="pt-BR" b="0" i="1" smtClean="0">
                            <a:latin typeface="Cambria Math" panose="02040503050406030204" pitchFamily="18" charset="0"/>
                            <a:ea typeface="Cambria Math" panose="02040503050406030204" pitchFamily="18" charset="0"/>
                          </a:rPr>
                          <m:t>𝑎</m:t>
                        </m:r>
                      </m:e>
                      <m:sub>
                        <m:r>
                          <a:rPr lang="pt-BR" b="0" i="1" smtClean="0">
                            <a:latin typeface="Cambria Math" panose="02040503050406030204" pitchFamily="18" charset="0"/>
                            <a:ea typeface="Cambria Math" panose="02040503050406030204" pitchFamily="18" charset="0"/>
                          </a:rPr>
                          <m:t>𝑘</m:t>
                        </m:r>
                      </m:sub>
                    </m:sSub>
                  </m:oMath>
                </a14:m>
                <a:r>
                  <a:rPr lang="nl-BE" dirty="0"/>
                  <a:t> ,  </a:t>
                </a:r>
                <a14:m>
                  <m:oMath xmlns:m="http://schemas.openxmlformats.org/officeDocument/2006/math">
                    <m:r>
                      <a:rPr lang="pt-BR" i="1">
                        <a:latin typeface="Cambria Math" panose="02040503050406030204" pitchFamily="18" charset="0"/>
                      </a:rPr>
                      <m:t>𝑘</m:t>
                    </m:r>
                    <m:r>
                      <a:rPr lang="pt-BR" i="1">
                        <a:latin typeface="Cambria Math" panose="02040503050406030204" pitchFamily="18" charset="0"/>
                      </a:rPr>
                      <m:t>=1,...,</m:t>
                    </m:r>
                    <m:r>
                      <a:rPr lang="pt-BR" b="0" i="1" smtClean="0">
                        <a:latin typeface="Cambria Math" panose="02040503050406030204" pitchFamily="18" charset="0"/>
                      </a:rPr>
                      <m:t>𝐾</m:t>
                    </m:r>
                  </m:oMath>
                </a14:m>
                <a:endParaRPr lang="pt-BR" dirty="0"/>
              </a:p>
              <a:p>
                <a:pPr marL="0" indent="0" algn="ctr">
                  <a:buNone/>
                </a:pPr>
                <a14:m>
                  <m:oMath xmlns:m="http://schemas.openxmlformats.org/officeDocument/2006/math">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𝐽</m:t>
                            </m:r>
                          </m:e>
                          <m:sub>
                            <m:r>
                              <a:rPr lang="pt-BR" i="1">
                                <a:latin typeface="Cambria Math" panose="02040503050406030204" pitchFamily="18" charset="0"/>
                                <a:ea typeface="Cambria Math" panose="02040503050406030204" pitchFamily="18" charset="0"/>
                              </a:rPr>
                              <m:t>𝑒</m:t>
                            </m:r>
                          </m:sub>
                        </m:sSub>
                        <m:d>
                          <m:dPr>
                            <m:ctrlPr>
                              <a:rPr lang="pt-BR" b="1" i="1">
                                <a:latin typeface="Cambria Math" panose="02040503050406030204" pitchFamily="18" charset="0"/>
                                <a:ea typeface="Cambria Math" panose="02040503050406030204" pitchFamily="18" charset="0"/>
                              </a:rPr>
                            </m:ctrlPr>
                          </m:dPr>
                          <m:e>
                            <m:r>
                              <a:rPr lang="pt-BR" b="1" i="1">
                                <a:latin typeface="Cambria Math" panose="02040503050406030204" pitchFamily="18" charset="0"/>
                                <a:ea typeface="Cambria Math" panose="02040503050406030204" pitchFamily="18" charset="0"/>
                              </a:rPr>
                              <m:t>𝒂</m:t>
                            </m:r>
                          </m:e>
                        </m:d>
                      </m:num>
                      <m:den>
                        <m:r>
                          <a:rPr lang="pt-BR"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pt-BR" b="0" i="1" smtClean="0">
                                <a:latin typeface="Cambria Math" panose="02040503050406030204" pitchFamily="18" charset="0"/>
                              </a:rPr>
                              <m:t>0</m:t>
                            </m:r>
                          </m:sub>
                        </m:sSub>
                      </m:den>
                    </m:f>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2</m:t>
                        </m:r>
                      </m:num>
                      <m:den>
                        <m:r>
                          <a:rPr lang="pt-BR" i="1">
                            <a:latin typeface="Cambria Math" panose="02040503050406030204" pitchFamily="18" charset="0"/>
                          </a:rPr>
                          <m:t>𝑁</m:t>
                        </m:r>
                      </m:den>
                    </m:f>
                    <m:nary>
                      <m:naryPr>
                        <m:chr m:val="∑"/>
                        <m:ctrlPr>
                          <a:rPr lang="pt-BR" i="1">
                            <a:latin typeface="Cambria Math" panose="02040503050406030204" pitchFamily="18" charset="0"/>
                          </a:rPr>
                        </m:ctrlPr>
                      </m:naryPr>
                      <m:sub>
                        <m:r>
                          <m:rPr>
                            <m:brk m:alnAt="23"/>
                          </m:rPr>
                          <a:rPr lang="pt-BR" i="1">
                            <a:latin typeface="Cambria Math" panose="02040503050406030204" pitchFamily="18" charset="0"/>
                          </a:rPr>
                          <m:t>𝑖</m:t>
                        </m:r>
                        <m:r>
                          <a:rPr lang="pt-BR" i="1">
                            <a:latin typeface="Cambria Math" panose="02040503050406030204" pitchFamily="18" charset="0"/>
                          </a:rPr>
                          <m:t>=0</m:t>
                        </m:r>
                      </m:sub>
                      <m:sup>
                        <m:r>
                          <a:rPr lang="pt-BR" i="1">
                            <a:latin typeface="Cambria Math" panose="02040503050406030204" pitchFamily="18" charset="0"/>
                          </a:rPr>
                          <m:t>𝑁</m:t>
                        </m:r>
                        <m:r>
                          <a:rPr lang="pt-BR" i="1">
                            <a:latin typeface="Cambria Math" panose="02040503050406030204" pitchFamily="18" charset="0"/>
                          </a:rPr>
                          <m:t>−1</m:t>
                        </m:r>
                      </m:sup>
                      <m:e>
                        <m:d>
                          <m:dPr>
                            <m:begChr m:val="["/>
                            <m:endChr m:val="]"/>
                            <m:ctrlPr>
                              <a:rPr lang="pt-BR" i="1">
                                <a:latin typeface="Cambria Math" panose="02040503050406030204" pitchFamily="18" charset="0"/>
                              </a:rPr>
                            </m:ctrlPr>
                          </m:dPr>
                          <m:e>
                            <m:r>
                              <a:rPr lang="pt-BR" i="1">
                                <a:latin typeface="Cambria Math" panose="02040503050406030204" pitchFamily="18" charset="0"/>
                              </a:rPr>
                              <m:t>𝑦</m:t>
                            </m:r>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𝑖</m:t>
                                </m:r>
                              </m:e>
                            </m:d>
                            <m:r>
                              <a:rPr lang="pt-BR" i="1" dirty="0">
                                <a:latin typeface="Cambria Math" panose="02040503050406030204" pitchFamily="18" charset="0"/>
                              </a:rPr>
                              <m:t>−</m:t>
                            </m:r>
                            <m:acc>
                              <m:accPr>
                                <m:chr m:val="̂"/>
                                <m:ctrlPr>
                                  <a:rPr lang="pt-BR" i="1" dirty="0">
                                    <a:latin typeface="Cambria Math" panose="02040503050406030204" pitchFamily="18" charset="0"/>
                                    <a:ea typeface="Cambria Math" panose="02040503050406030204" pitchFamily="18" charset="0"/>
                                  </a:rPr>
                                </m:ctrlPr>
                              </m:accPr>
                              <m:e>
                                <m:r>
                                  <a:rPr lang="pt-BR" i="1" dirty="0">
                                    <a:latin typeface="Cambria Math" panose="02040503050406030204" pitchFamily="18" charset="0"/>
                                    <a:ea typeface="Cambria Math" panose="02040503050406030204" pitchFamily="18" charset="0"/>
                                  </a:rPr>
                                  <m:t>𝑦</m:t>
                                </m:r>
                              </m:e>
                            </m:acc>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𝑖</m:t>
                                </m:r>
                              </m:e>
                            </m:d>
                          </m:e>
                        </m:d>
                      </m:e>
                    </m:nary>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b="0" i="1" smtClean="0">
                            <a:latin typeface="Cambria Math" panose="02040503050406030204" pitchFamily="18" charset="0"/>
                          </a:rPr>
                          <m:t>0</m:t>
                        </m:r>
                      </m:sub>
                    </m:sSub>
                    <m:d>
                      <m:dPr>
                        <m:ctrlPr>
                          <a:rPr lang="pt-BR" i="1">
                            <a:latin typeface="Cambria Math" panose="02040503050406030204" pitchFamily="18" charset="0"/>
                          </a:rPr>
                        </m:ctrlPr>
                      </m:dPr>
                      <m:e>
                        <m:r>
                          <a:rPr lang="pt-BR" i="1">
                            <a:latin typeface="Cambria Math" panose="02040503050406030204" pitchFamily="18" charset="0"/>
                          </a:rPr>
                          <m:t>𝑖</m:t>
                        </m:r>
                      </m:e>
                    </m:d>
                  </m:oMath>
                </a14:m>
                <a:r>
                  <a:rPr lang="nl-BE" dirty="0"/>
                  <a:t> , </a:t>
                </a:r>
                <a:endParaRPr lang="pt-BR" dirty="0"/>
              </a:p>
              <a:p>
                <a:pPr marL="0" indent="0">
                  <a:buNone/>
                </a:pPr>
                <a14:m>
                  <m:oMathPara xmlns:m="http://schemas.openxmlformats.org/officeDocument/2006/math">
                    <m:oMath>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𝐽</m:t>
                              </m:r>
                            </m:e>
                            <m:sub>
                              <m:r>
                                <a:rPr lang="pt-BR" i="1">
                                  <a:latin typeface="Cambria Math" panose="02040503050406030204" pitchFamily="18" charset="0"/>
                                  <a:ea typeface="Cambria Math" panose="02040503050406030204" pitchFamily="18" charset="0"/>
                                </a:rPr>
                                <m:t>𝑒</m:t>
                              </m:r>
                            </m:sub>
                          </m:sSub>
                          <m:d>
                            <m:dPr>
                              <m:ctrlPr>
                                <a:rPr lang="pt-BR" b="1" i="1">
                                  <a:latin typeface="Cambria Math" panose="02040503050406030204" pitchFamily="18" charset="0"/>
                                  <a:ea typeface="Cambria Math" panose="02040503050406030204" pitchFamily="18" charset="0"/>
                                </a:rPr>
                              </m:ctrlPr>
                            </m:dPr>
                            <m:e>
                              <m:r>
                                <a:rPr lang="pt-BR" b="1" i="1">
                                  <a:latin typeface="Cambria Math" panose="02040503050406030204" pitchFamily="18" charset="0"/>
                                  <a:ea typeface="Cambria Math" panose="02040503050406030204" pitchFamily="18" charset="0"/>
                                </a:rPr>
                                <m:t>𝒂</m:t>
                              </m:r>
                            </m:e>
                          </m:d>
                        </m:num>
                        <m:den>
                          <m:r>
                            <a:rPr lang="pt-BR" i="1">
                              <a:latin typeface="Cambria Math" panose="02040503050406030204" pitchFamily="18" charset="0"/>
                              <a:ea typeface="Cambria Math" panose="02040503050406030204" pitchFamily="18" charset="0"/>
                            </a:rPr>
                            <m:t>𝜕</m:t>
                          </m:r>
                          <m:r>
                            <a:rPr lang="pt-BR" b="1" i="1">
                              <a:latin typeface="Cambria Math" panose="02040503050406030204" pitchFamily="18" charset="0"/>
                              <a:ea typeface="Cambria Math" panose="02040503050406030204" pitchFamily="18" charset="0"/>
                            </a:rPr>
                            <m:t>𝒂</m:t>
                          </m:r>
                        </m:den>
                      </m:f>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2</m:t>
                          </m:r>
                        </m:num>
                        <m:den>
                          <m:r>
                            <a:rPr lang="pt-BR" i="1">
                              <a:latin typeface="Cambria Math" panose="02040503050406030204" pitchFamily="18" charset="0"/>
                            </a:rPr>
                            <m:t>𝑁</m:t>
                          </m:r>
                        </m:den>
                      </m:f>
                      <m:sSup>
                        <m:sSupPr>
                          <m:ctrlPr>
                            <a:rPr lang="pt-BR" b="1" i="1" smtClean="0">
                              <a:latin typeface="Cambria Math" panose="02040503050406030204" pitchFamily="18" charset="0"/>
                            </a:rPr>
                          </m:ctrlPr>
                        </m:sSupPr>
                        <m:e>
                          <m:r>
                            <a:rPr lang="pt-BR" b="1" i="1" smtClean="0">
                              <a:latin typeface="Cambria Math" panose="02040503050406030204" pitchFamily="18" charset="0"/>
                            </a:rPr>
                            <m:t>𝑿</m:t>
                          </m:r>
                        </m:e>
                        <m:sup>
                          <m:r>
                            <a:rPr lang="pt-BR" b="0" i="1" smtClean="0">
                              <a:latin typeface="Cambria Math" panose="02040503050406030204" pitchFamily="18" charset="0"/>
                            </a:rPr>
                            <m:t>𝑇</m:t>
                          </m:r>
                        </m:sup>
                      </m:sSup>
                      <m:d>
                        <m:dPr>
                          <m:ctrlPr>
                            <a:rPr lang="pt-BR" b="1" i="1">
                              <a:latin typeface="Cambria Math" panose="02040503050406030204" pitchFamily="18" charset="0"/>
                            </a:rPr>
                          </m:ctrlPr>
                        </m:dPr>
                        <m:e>
                          <m:r>
                            <a:rPr lang="pt-BR" b="1" i="1">
                              <a:latin typeface="Cambria Math" panose="02040503050406030204" pitchFamily="18" charset="0"/>
                            </a:rPr>
                            <m:t>𝒚</m:t>
                          </m:r>
                          <m:r>
                            <a:rPr lang="pt-BR" i="1">
                              <a:latin typeface="Cambria Math" panose="02040503050406030204" pitchFamily="18" charset="0"/>
                            </a:rPr>
                            <m:t> −</m:t>
                          </m:r>
                          <m:r>
                            <a:rPr lang="pt-BR" b="1" i="1" smtClean="0">
                              <a:latin typeface="Cambria Math" panose="02040503050406030204" pitchFamily="18" charset="0"/>
                            </a:rPr>
                            <m:t>𝑿</m:t>
                          </m:r>
                          <m:r>
                            <a:rPr lang="pt-BR" b="1" i="1">
                              <a:latin typeface="Cambria Math" panose="02040503050406030204" pitchFamily="18" charset="0"/>
                            </a:rPr>
                            <m:t>𝒂</m:t>
                          </m:r>
                        </m:e>
                      </m:d>
                      <m:r>
                        <m:rPr>
                          <m:nor/>
                        </m:rPr>
                        <a:rPr lang="pt-BR" b="0" i="0" smtClean="0">
                          <a:latin typeface="Cambria Math" panose="02040503050406030204" pitchFamily="18" charset="0"/>
                        </a:rPr>
                        <m:t>+2</m:t>
                      </m:r>
                      <m:r>
                        <a:rPr lang="pt-BR" i="1">
                          <a:latin typeface="Cambria Math" panose="02040503050406030204" pitchFamily="18" charset="0"/>
                          <a:ea typeface="Cambria Math" panose="02040503050406030204" pitchFamily="18" charset="0"/>
                        </a:rPr>
                        <m:t>𝜆</m:t>
                      </m:r>
                      <m:sSup>
                        <m:sSupPr>
                          <m:ctrlPr>
                            <a:rPr lang="pt-BR" b="1" i="1">
                              <a:latin typeface="Cambria Math" panose="02040503050406030204" pitchFamily="18" charset="0"/>
                              <a:ea typeface="Cambria Math" panose="02040503050406030204" pitchFamily="18" charset="0"/>
                            </a:rPr>
                          </m:ctrlPr>
                        </m:sSupPr>
                        <m:e>
                          <m:r>
                            <a:rPr lang="pt-BR" b="1" i="1">
                              <a:latin typeface="Cambria Math" panose="02040503050406030204" pitchFamily="18" charset="0"/>
                              <a:ea typeface="Cambria Math" panose="02040503050406030204" pitchFamily="18" charset="0"/>
                            </a:rPr>
                            <m:t>𝑰</m:t>
                          </m:r>
                        </m:e>
                        <m:sup>
                          <m:r>
                            <a:rPr lang="pt-BR" b="1" i="1">
                              <a:latin typeface="Cambria Math" panose="02040503050406030204" pitchFamily="18" charset="0"/>
                              <a:ea typeface="Cambria Math" panose="02040503050406030204" pitchFamily="18" charset="0"/>
                            </a:rPr>
                            <m:t>′</m:t>
                          </m:r>
                        </m:sup>
                      </m:sSup>
                      <m:r>
                        <a:rPr lang="pt-BR" b="1" i="1">
                          <a:latin typeface="Cambria Math" panose="02040503050406030204" pitchFamily="18" charset="0"/>
                        </a:rPr>
                        <m:t>𝒂</m:t>
                      </m:r>
                      <m:r>
                        <m:rPr>
                          <m:nor/>
                        </m:rPr>
                        <a:rPr lang="pt-BR" i="0" dirty="0"/>
                        <m:t>,</m:t>
                      </m:r>
                    </m:oMath>
                  </m:oMathPara>
                </a14:m>
                <a:endParaRPr lang="pt-BR" dirty="0"/>
              </a:p>
              <a:p>
                <a:pPr marL="0" indent="0">
                  <a:buNone/>
                </a:pPr>
                <a:r>
                  <a:rPr lang="pt-BR" dirty="0"/>
                  <a:t>onde </a:t>
                </a:r>
                <a14:m>
                  <m:oMath xmlns:m="http://schemas.openxmlformats.org/officeDocument/2006/math">
                    <m:sSup>
                      <m:sSupPr>
                        <m:ctrlPr>
                          <a:rPr lang="pt-BR" b="1" i="1">
                            <a:latin typeface="Cambria Math" panose="02040503050406030204" pitchFamily="18" charset="0"/>
                            <a:ea typeface="Cambria Math" panose="02040503050406030204" pitchFamily="18" charset="0"/>
                          </a:rPr>
                        </m:ctrlPr>
                      </m:sSupPr>
                      <m:e>
                        <m:r>
                          <a:rPr lang="pt-BR" b="1" i="1">
                            <a:latin typeface="Cambria Math" panose="02040503050406030204" pitchFamily="18" charset="0"/>
                            <a:ea typeface="Cambria Math" panose="02040503050406030204" pitchFamily="18" charset="0"/>
                          </a:rPr>
                          <m:t>𝑰</m:t>
                        </m:r>
                      </m:e>
                      <m:sup>
                        <m:r>
                          <a:rPr lang="pt-BR" b="1" i="1">
                            <a:latin typeface="Cambria Math" panose="02040503050406030204" pitchFamily="18" charset="0"/>
                            <a:ea typeface="Cambria Math" panose="02040503050406030204" pitchFamily="18" charset="0"/>
                          </a:rPr>
                          <m:t>′</m:t>
                        </m:r>
                      </m:sup>
                    </m:sSup>
                  </m:oMath>
                </a14:m>
                <a:r>
                  <a:rPr lang="pt-BR" dirty="0"/>
                  <a:t> é uma </a:t>
                </a:r>
                <a:r>
                  <a:rPr lang="pt-BR" b="1" i="1" dirty="0"/>
                  <a:t>matriz identidade</a:t>
                </a:r>
                <a:r>
                  <a:rPr lang="pt-BR" dirty="0"/>
                  <a:t> de tamanho </a:t>
                </a:r>
                <a14:m>
                  <m:oMath xmlns:m="http://schemas.openxmlformats.org/officeDocument/2006/math">
                    <m:r>
                      <a:rPr lang="pt-BR" i="1">
                        <a:latin typeface="Cambria Math" panose="02040503050406030204" pitchFamily="18" charset="0"/>
                      </a:rPr>
                      <m:t>𝐾</m:t>
                    </m:r>
                    <m:r>
                      <a:rPr lang="pt-BR" b="0" i="0" smtClean="0">
                        <a:latin typeface="Cambria Math" panose="02040503050406030204" pitchFamily="18" charset="0"/>
                      </a:rPr>
                      <m:t>+1</m:t>
                    </m:r>
                  </m:oMath>
                </a14:m>
                <a:r>
                  <a:rPr lang="pt-BR" dirty="0"/>
                  <a:t>, onde o primeiro elemento é feito igual a 0, pois não queremos regularizar o peso de bias.</a:t>
                </a:r>
              </a:p>
              <a:p>
                <a:r>
                  <a:rPr lang="pt-BR" dirty="0"/>
                  <a:t>A </a:t>
                </a:r>
                <a:r>
                  <a:rPr lang="pt-BR" b="1" i="1" dirty="0"/>
                  <a:t>equação de atualização dos pesos </a:t>
                </a:r>
                <a:r>
                  <a:rPr lang="pt-BR" dirty="0"/>
                  <a:t>é dada por</a:t>
                </a:r>
              </a:p>
              <a:p>
                <a:pPr marL="0" indent="0" algn="ctr">
                  <a:buNone/>
                </a:pPr>
                <a14:m>
                  <m:oMath xmlns:m="http://schemas.openxmlformats.org/officeDocument/2006/math">
                    <m:r>
                      <a:rPr lang="pt-BR" b="1" i="1">
                        <a:latin typeface="Cambria Math" panose="02040503050406030204" pitchFamily="18" charset="0"/>
                        <a:ea typeface="Cambria Math" panose="02040503050406030204" pitchFamily="18" charset="0"/>
                      </a:rPr>
                      <m:t>𝒂</m:t>
                    </m:r>
                  </m:oMath>
                </a14:m>
                <a:r>
                  <a:rPr lang="pt-BR" dirty="0"/>
                  <a:t> =</a:t>
                </a:r>
                <a:r>
                  <a:rPr lang="pt-BR" b="1" dirty="0">
                    <a:ea typeface="Cambria Math" panose="02040503050406030204" pitchFamily="18" charset="0"/>
                  </a:rPr>
                  <a:t> </a:t>
                </a:r>
                <a14:m>
                  <m:oMath xmlns:m="http://schemas.openxmlformats.org/officeDocument/2006/math">
                    <m:r>
                      <a:rPr lang="pt-BR" b="1" i="1">
                        <a:latin typeface="Cambria Math" panose="02040503050406030204" pitchFamily="18" charset="0"/>
                        <a:ea typeface="Cambria Math" panose="02040503050406030204" pitchFamily="18" charset="0"/>
                      </a:rPr>
                      <m:t>𝒂</m:t>
                    </m:r>
                    <m:r>
                      <a:rPr lang="pt-BR" b="1" i="1" smtClean="0">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2</m:t>
                    </m:r>
                    <m:r>
                      <a:rPr lang="pt-BR" i="1">
                        <a:latin typeface="Cambria Math" panose="02040503050406030204" pitchFamily="18" charset="0"/>
                        <a:ea typeface="Cambria Math" panose="02040503050406030204" pitchFamily="18" charset="0"/>
                      </a:rPr>
                      <m:t>𝛼</m:t>
                    </m:r>
                    <m:d>
                      <m:dPr>
                        <m:begChr m:val="["/>
                        <m:endChr m:val="]"/>
                        <m:ctrlPr>
                          <a:rPr lang="pt-BR" b="0" i="1" smtClean="0">
                            <a:latin typeface="Cambria Math" panose="02040503050406030204" pitchFamily="18" charset="0"/>
                          </a:rPr>
                        </m:ctrlPr>
                      </m:dPr>
                      <m:e>
                        <m:f>
                          <m:fPr>
                            <m:ctrlPr>
                              <a:rPr lang="pt-BR" b="0" i="1" smtClean="0">
                                <a:latin typeface="Cambria Math" panose="02040503050406030204" pitchFamily="18" charset="0"/>
                              </a:rPr>
                            </m:ctrlPr>
                          </m:fPr>
                          <m:num>
                            <m:r>
                              <a:rPr lang="pt-BR" b="0" i="1" smtClean="0">
                                <a:latin typeface="Cambria Math" panose="02040503050406030204" pitchFamily="18" charset="0"/>
                              </a:rPr>
                              <m:t>1</m:t>
                            </m:r>
                          </m:num>
                          <m:den>
                            <m:r>
                              <a:rPr lang="pt-BR" i="1">
                                <a:latin typeface="Cambria Math" panose="02040503050406030204" pitchFamily="18" charset="0"/>
                              </a:rPr>
                              <m:t>𝑁</m:t>
                            </m:r>
                          </m:den>
                        </m:f>
                        <m:sSup>
                          <m:sSupPr>
                            <m:ctrlPr>
                              <a:rPr lang="pt-BR" b="1" i="1" smtClean="0">
                                <a:latin typeface="Cambria Math" panose="02040503050406030204" pitchFamily="18" charset="0"/>
                              </a:rPr>
                            </m:ctrlPr>
                          </m:sSupPr>
                          <m:e>
                            <m:r>
                              <a:rPr lang="pt-BR" b="1" i="1" smtClean="0">
                                <a:latin typeface="Cambria Math" panose="02040503050406030204" pitchFamily="18" charset="0"/>
                              </a:rPr>
                              <m:t>𝑿</m:t>
                            </m:r>
                          </m:e>
                          <m:sup>
                            <m:r>
                              <a:rPr lang="pt-BR" i="1">
                                <a:latin typeface="Cambria Math" panose="02040503050406030204" pitchFamily="18" charset="0"/>
                              </a:rPr>
                              <m:t>𝑇</m:t>
                            </m:r>
                          </m:sup>
                        </m:sSup>
                        <m:d>
                          <m:dPr>
                            <m:ctrlPr>
                              <a:rPr lang="pt-BR" b="1" i="1">
                                <a:latin typeface="Cambria Math" panose="02040503050406030204" pitchFamily="18" charset="0"/>
                              </a:rPr>
                            </m:ctrlPr>
                          </m:dPr>
                          <m:e>
                            <m:r>
                              <a:rPr lang="pt-BR" b="1" i="1">
                                <a:latin typeface="Cambria Math" panose="02040503050406030204" pitchFamily="18" charset="0"/>
                              </a:rPr>
                              <m:t>𝒚</m:t>
                            </m:r>
                            <m:r>
                              <a:rPr lang="pt-BR" i="1">
                                <a:latin typeface="Cambria Math" panose="02040503050406030204" pitchFamily="18" charset="0"/>
                              </a:rPr>
                              <m:t> −</m:t>
                            </m:r>
                            <m:r>
                              <a:rPr lang="pt-BR" b="1" i="1" smtClean="0">
                                <a:latin typeface="Cambria Math" panose="02040503050406030204" pitchFamily="18" charset="0"/>
                              </a:rPr>
                              <m:t>𝑿</m:t>
                            </m:r>
                            <m:r>
                              <a:rPr lang="pt-BR" b="1" i="1">
                                <a:latin typeface="Cambria Math" panose="02040503050406030204" pitchFamily="18" charset="0"/>
                              </a:rPr>
                              <m:t>𝒂</m:t>
                            </m:r>
                          </m:e>
                        </m:d>
                        <m:r>
                          <m:rPr>
                            <m:nor/>
                          </m:rPr>
                          <a:rPr lang="pt-BR" b="0" i="0" smtClean="0">
                            <a:latin typeface="Cambria Math" panose="02040503050406030204" pitchFamily="18" charset="0"/>
                          </a:rPr>
                          <m:t>−</m:t>
                        </m:r>
                        <m:r>
                          <a:rPr lang="pt-BR" i="1">
                            <a:latin typeface="Cambria Math" panose="02040503050406030204" pitchFamily="18" charset="0"/>
                            <a:ea typeface="Cambria Math" panose="02040503050406030204" pitchFamily="18" charset="0"/>
                          </a:rPr>
                          <m:t>𝜆</m:t>
                        </m:r>
                        <m:sSup>
                          <m:sSupPr>
                            <m:ctrlPr>
                              <a:rPr lang="pt-BR" b="1" i="1">
                                <a:latin typeface="Cambria Math" panose="02040503050406030204" pitchFamily="18" charset="0"/>
                                <a:ea typeface="Cambria Math" panose="02040503050406030204" pitchFamily="18" charset="0"/>
                              </a:rPr>
                            </m:ctrlPr>
                          </m:sSupPr>
                          <m:e>
                            <m:r>
                              <a:rPr lang="pt-BR" b="1" i="1">
                                <a:latin typeface="Cambria Math" panose="02040503050406030204" pitchFamily="18" charset="0"/>
                                <a:ea typeface="Cambria Math" panose="02040503050406030204" pitchFamily="18" charset="0"/>
                              </a:rPr>
                              <m:t>𝑰</m:t>
                            </m:r>
                          </m:e>
                          <m:sup>
                            <m:r>
                              <a:rPr lang="pt-BR" b="1" i="1">
                                <a:latin typeface="Cambria Math" panose="02040503050406030204" pitchFamily="18" charset="0"/>
                                <a:ea typeface="Cambria Math" panose="02040503050406030204" pitchFamily="18" charset="0"/>
                              </a:rPr>
                              <m:t>′</m:t>
                            </m:r>
                          </m:sup>
                        </m:sSup>
                        <m:r>
                          <a:rPr lang="pt-BR" b="1" i="1">
                            <a:latin typeface="Cambria Math" panose="02040503050406030204" pitchFamily="18" charset="0"/>
                          </a:rPr>
                          <m:t>𝒂</m:t>
                        </m:r>
                      </m:e>
                    </m:d>
                    <m:r>
                      <m:rPr>
                        <m:nor/>
                      </m:rPr>
                      <a:rPr lang="pt-BR" b="0" i="0" smtClean="0">
                        <a:latin typeface="Cambria Math" panose="02040503050406030204" pitchFamily="18" charset="0"/>
                      </a:rPr>
                      <m:t>.</m:t>
                    </m:r>
                  </m:oMath>
                </a14:m>
                <a:endParaRPr lang="pt-BR"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199" y="1825624"/>
                <a:ext cx="11219121" cy="5032375"/>
              </a:xfrm>
              <a:blipFill>
                <a:blip r:embed="rId3"/>
                <a:stretch>
                  <a:fillRect l="-815"/>
                </a:stretch>
              </a:blipFill>
            </p:spPr>
            <p:txBody>
              <a:bodyPr/>
              <a:lstStyle/>
              <a:p>
                <a:r>
                  <a:rPr lang="pt-BR">
                    <a:noFill/>
                  </a:rPr>
                  <a:t> </a:t>
                </a:r>
              </a:p>
            </p:txBody>
          </p:sp>
        </mc:Fallback>
      </mc:AlternateContent>
      <p:cxnSp>
        <p:nvCxnSpPr>
          <p:cNvPr id="8" name="Straight Arrow Connector 7"/>
          <p:cNvCxnSpPr/>
          <p:nvPr/>
        </p:nvCxnSpPr>
        <p:spPr>
          <a:xfrm flipH="1">
            <a:off x="9067377" y="4213016"/>
            <a:ext cx="769257" cy="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9867345" y="4603517"/>
            <a:ext cx="2189975" cy="461665"/>
          </a:xfrm>
          <a:prstGeom prst="rect">
            <a:avLst/>
          </a:prstGeom>
          <a:noFill/>
        </p:spPr>
        <p:txBody>
          <a:bodyPr wrap="square" rtlCol="0">
            <a:spAutoFit/>
          </a:bodyPr>
          <a:lstStyle/>
          <a:p>
            <a:pPr algn="ctr"/>
            <a:r>
              <a:rPr lang="pt-BR" sz="1200" b="1" dirty="0"/>
              <a:t>Equação geral</a:t>
            </a:r>
            <a:r>
              <a:rPr lang="pt-BR" sz="1200" dirty="0"/>
              <a:t> do vetor gradiente em formato matricial.</a:t>
            </a:r>
          </a:p>
        </p:txBody>
      </p:sp>
      <p:cxnSp>
        <p:nvCxnSpPr>
          <p:cNvPr id="12" name="Straight Arrow Connector 11"/>
          <p:cNvCxnSpPr/>
          <p:nvPr/>
        </p:nvCxnSpPr>
        <p:spPr>
          <a:xfrm flipH="1">
            <a:off x="9067376" y="4834350"/>
            <a:ext cx="769257" cy="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9836633" y="3982183"/>
            <a:ext cx="1857410" cy="461665"/>
          </a:xfrm>
          <a:prstGeom prst="rect">
            <a:avLst/>
          </a:prstGeom>
          <a:noFill/>
        </p:spPr>
        <p:txBody>
          <a:bodyPr wrap="square" rtlCol="0">
            <a:spAutoFit/>
          </a:bodyPr>
          <a:lstStyle/>
          <a:p>
            <a:pPr algn="ctr"/>
            <a:r>
              <a:rPr lang="pt-BR" sz="1200" dirty="0"/>
              <a:t>Gradiente com relação ao peso de bias</a:t>
            </a:r>
          </a:p>
        </p:txBody>
      </p:sp>
      <p:sp>
        <p:nvSpPr>
          <p:cNvPr id="9" name="Rectangle 3"/>
          <p:cNvSpPr/>
          <p:nvPr/>
        </p:nvSpPr>
        <p:spPr>
          <a:xfrm>
            <a:off x="7823200" y="6230681"/>
            <a:ext cx="620889" cy="43455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Retângulo 9"/>
          <p:cNvSpPr/>
          <p:nvPr/>
        </p:nvSpPr>
        <p:spPr>
          <a:xfrm>
            <a:off x="8630281" y="5823091"/>
            <a:ext cx="2412704" cy="276999"/>
          </a:xfrm>
          <a:prstGeom prst="rect">
            <a:avLst/>
          </a:prstGeom>
        </p:spPr>
        <p:txBody>
          <a:bodyPr wrap="square">
            <a:spAutoFit/>
          </a:bodyPr>
          <a:lstStyle/>
          <a:p>
            <a:pPr algn="ctr"/>
            <a:r>
              <a:rPr lang="pt-BR" sz="1200" dirty="0"/>
              <a:t>derivada do termo de regularização</a:t>
            </a:r>
          </a:p>
        </p:txBody>
      </p:sp>
      <p:cxnSp>
        <p:nvCxnSpPr>
          <p:cNvPr id="14" name="Conector de seta reta 13"/>
          <p:cNvCxnSpPr>
            <a:cxnSpLocks/>
            <a:stCxn id="9" idx="0"/>
          </p:cNvCxnSpPr>
          <p:nvPr/>
        </p:nvCxnSpPr>
        <p:spPr>
          <a:xfrm flipV="1">
            <a:off x="8133645" y="6012460"/>
            <a:ext cx="542522" cy="21822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125297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81AB3D-70B2-9F0A-D0FA-EBB5710A350E}"/>
              </a:ext>
            </a:extLst>
          </p:cNvPr>
          <p:cNvSpPr>
            <a:spLocks noGrp="1"/>
          </p:cNvSpPr>
          <p:nvPr>
            <p:ph type="title"/>
          </p:nvPr>
        </p:nvSpPr>
        <p:spPr/>
        <p:txBody>
          <a:bodyPr/>
          <a:lstStyle/>
          <a:p>
            <a:r>
              <a:rPr lang="pt-BR" dirty="0"/>
              <a:t>Regressão LASSO</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B9F4321D-B42D-0104-0880-A4AD4A46194C}"/>
                  </a:ext>
                </a:extLst>
              </p:cNvPr>
              <p:cNvSpPr>
                <a:spLocks noGrp="1"/>
              </p:cNvSpPr>
              <p:nvPr>
                <p:ph idx="1"/>
              </p:nvPr>
            </p:nvSpPr>
            <p:spPr>
              <a:xfrm>
                <a:off x="4436533" y="1825624"/>
                <a:ext cx="7642577" cy="5032375"/>
              </a:xfrm>
            </p:spPr>
            <p:txBody>
              <a:bodyPr>
                <a:normAutofit/>
              </a:bodyPr>
              <a:lstStyle/>
              <a:p>
                <a:r>
                  <a:rPr lang="pt-BR" dirty="0"/>
                  <a:t>A </a:t>
                </a:r>
                <a:r>
                  <a:rPr lang="pt-BR" b="1" i="1" dirty="0"/>
                  <a:t>regressão LASSO </a:t>
                </a:r>
                <a:r>
                  <a:rPr lang="pt-BR" dirty="0"/>
                  <a:t>(do inglês </a:t>
                </a:r>
                <a:r>
                  <a:rPr lang="pt-BR" i="1" dirty="0" err="1"/>
                  <a:t>Least</a:t>
                </a:r>
                <a:r>
                  <a:rPr lang="pt-BR" i="1" dirty="0"/>
                  <a:t> Absolute Shrinkage and Selection Operator</a:t>
                </a:r>
                <a:r>
                  <a:rPr lang="pt-BR" dirty="0"/>
                  <a:t>) adiciona à função de erro um </a:t>
                </a:r>
                <a:r>
                  <a:rPr lang="pt-BR" b="1" i="1" dirty="0"/>
                  <a:t>termo de penalização</a:t>
                </a:r>
                <a:r>
                  <a:rPr lang="pt-BR" dirty="0"/>
                  <a:t> proporcional à </a:t>
                </a:r>
                <a:r>
                  <a:rPr lang="pt-BR" b="1" dirty="0"/>
                  <a:t>norma L1 </a:t>
                </a:r>
                <a:r>
                  <a:rPr lang="pt-BR" dirty="0"/>
                  <a:t>do vetor de pesos.</a:t>
                </a:r>
              </a:p>
              <a:p>
                <a:pPr marL="0" indent="0" algn="ctr">
                  <a:buNone/>
                </a:pPr>
                <a14:m>
                  <m:oMath xmlns:m="http://schemas.openxmlformats.org/officeDocument/2006/math">
                    <m:func>
                      <m:funcPr>
                        <m:ctrlPr>
                          <a:rPr lang="nl-BE" i="1">
                            <a:latin typeface="Cambria Math" panose="02040503050406030204" pitchFamily="18" charset="0"/>
                          </a:rPr>
                        </m:ctrlPr>
                      </m:funcPr>
                      <m:fName>
                        <m:limLow>
                          <m:limLowPr>
                            <m:ctrlPr>
                              <a:rPr lang="nl-BE">
                                <a:latin typeface="Cambria Math" panose="02040503050406030204" pitchFamily="18" charset="0"/>
                              </a:rPr>
                            </m:ctrlPr>
                          </m:limLowPr>
                          <m:e>
                            <m:r>
                              <m:rPr>
                                <m:sty m:val="p"/>
                              </m:rPr>
                              <a:rPr lang="nl-BE">
                                <a:latin typeface="Cambria Math" panose="02040503050406030204" pitchFamily="18" charset="0"/>
                              </a:rPr>
                              <m:t>min</m:t>
                            </m:r>
                          </m:e>
                          <m:lim>
                            <m:r>
                              <a:rPr lang="pt-BR" b="1" i="1">
                                <a:latin typeface="Cambria Math" panose="02040503050406030204" pitchFamily="18" charset="0"/>
                              </a:rPr>
                              <m:t>𝒂</m:t>
                            </m:r>
                            <m:r>
                              <a:rPr lang="pt-BR" b="1" i="1">
                                <a:latin typeface="Cambria Math" panose="02040503050406030204" pitchFamily="18" charset="0"/>
                              </a:rPr>
                              <m:t> ∈ </m:t>
                            </m:r>
                            <m:sSup>
                              <m:sSupPr>
                                <m:ctrlPr>
                                  <a:rPr lang="pt-BR" b="1" i="1">
                                    <a:latin typeface="Cambria Math" panose="02040503050406030204" pitchFamily="18" charset="0"/>
                                    <a:ea typeface="Cambria Math" panose="02040503050406030204" pitchFamily="18" charset="0"/>
                                  </a:rPr>
                                </m:ctrlPr>
                              </m:sSupPr>
                              <m:e>
                                <m:r>
                                  <a:rPr lang="pt-BR" b="1" i="1">
                                    <a:latin typeface="Cambria Math" panose="02040503050406030204" pitchFamily="18" charset="0"/>
                                    <a:ea typeface="Cambria Math" panose="02040503050406030204" pitchFamily="18" charset="0"/>
                                  </a:rPr>
                                  <m:t>ℝ</m:t>
                                </m:r>
                              </m:e>
                              <m:sup>
                                <m:r>
                                  <a:rPr lang="pt-BR" i="1">
                                    <a:latin typeface="Cambria Math" panose="02040503050406030204" pitchFamily="18" charset="0"/>
                                  </a:rPr>
                                  <m:t>𝐾</m:t>
                                </m:r>
                                <m:r>
                                  <a:rPr lang="pt-BR" i="1">
                                    <a:latin typeface="Cambria Math" panose="02040503050406030204" pitchFamily="18" charset="0"/>
                                  </a:rPr>
                                  <m:t>+1×1</m:t>
                                </m:r>
                              </m:sup>
                            </m:sSup>
                            <m:r>
                              <a:rPr lang="pt-BR" b="1" i="1">
                                <a:latin typeface="Cambria Math" panose="02040503050406030204" pitchFamily="18" charset="0"/>
                              </a:rPr>
                              <m:t> </m:t>
                            </m:r>
                          </m:lim>
                        </m:limLow>
                      </m:fName>
                      <m:e>
                        <m:d>
                          <m:dPr>
                            <m:ctrlPr>
                              <a:rPr lang="pt-BR" b="1" i="1">
                                <a:latin typeface="Cambria Math" panose="02040503050406030204" pitchFamily="18" charset="0"/>
                              </a:rPr>
                            </m:ctrlPr>
                          </m:dPr>
                          <m:e>
                            <m:sSup>
                              <m:sSupPr>
                                <m:ctrlPr>
                                  <a:rPr lang="pt-BR" b="1" i="1">
                                    <a:latin typeface="Cambria Math" panose="02040503050406030204" pitchFamily="18" charset="0"/>
                                  </a:rPr>
                                </m:ctrlPr>
                              </m:sSupPr>
                              <m:e>
                                <m:d>
                                  <m:dPr>
                                    <m:begChr m:val="‖"/>
                                    <m:endChr m:val="‖"/>
                                    <m:ctrlPr>
                                      <a:rPr lang="pt-BR" b="1" i="1">
                                        <a:latin typeface="Cambria Math" panose="02040503050406030204" pitchFamily="18" charset="0"/>
                                      </a:rPr>
                                    </m:ctrlPr>
                                  </m:dPr>
                                  <m:e>
                                    <m:r>
                                      <a:rPr lang="pt-BR" b="1" i="1">
                                        <a:latin typeface="Cambria Math" panose="02040503050406030204" pitchFamily="18" charset="0"/>
                                      </a:rPr>
                                      <m:t>𝒚</m:t>
                                    </m:r>
                                    <m:r>
                                      <a:rPr lang="pt-BR" i="1">
                                        <a:latin typeface="Cambria Math" panose="02040503050406030204" pitchFamily="18" charset="0"/>
                                      </a:rPr>
                                      <m:t> −</m:t>
                                    </m:r>
                                    <m:r>
                                      <a:rPr lang="pt-BR" b="1" i="1" smtClean="0">
                                        <a:latin typeface="Cambria Math" panose="02040503050406030204" pitchFamily="18" charset="0"/>
                                      </a:rPr>
                                      <m:t>𝑿</m:t>
                                    </m:r>
                                    <m:r>
                                      <a:rPr lang="pt-BR" b="1" i="1">
                                        <a:latin typeface="Cambria Math" panose="02040503050406030204" pitchFamily="18" charset="0"/>
                                      </a:rPr>
                                      <m:t>𝒂</m:t>
                                    </m:r>
                                  </m:e>
                                </m:d>
                              </m:e>
                              <m:sup>
                                <m:r>
                                  <a:rPr lang="pt-BR" i="1">
                                    <a:latin typeface="Cambria Math" panose="02040503050406030204" pitchFamily="18" charset="0"/>
                                  </a:rPr>
                                  <m:t>2</m:t>
                                </m:r>
                              </m:sup>
                            </m:sSup>
                            <m:r>
                              <a:rPr lang="pt-BR" i="1">
                                <a:latin typeface="Cambria Math" panose="02040503050406030204" pitchFamily="18" charset="0"/>
                              </a:rPr>
                              <m:t>+</m:t>
                            </m:r>
                            <m:r>
                              <a:rPr lang="pt-BR" i="1">
                                <a:latin typeface="Cambria Math" panose="02040503050406030204" pitchFamily="18" charset="0"/>
                                <a:ea typeface="Cambria Math" panose="02040503050406030204" pitchFamily="18" charset="0"/>
                              </a:rPr>
                              <m:t>𝜆</m:t>
                            </m:r>
                            <m:sSub>
                              <m:sSubPr>
                                <m:ctrlPr>
                                  <a:rPr lang="pt-BR" b="1" i="1">
                                    <a:latin typeface="Cambria Math" panose="02040503050406030204" pitchFamily="18" charset="0"/>
                                  </a:rPr>
                                </m:ctrlPr>
                              </m:sSubPr>
                              <m:e>
                                <m:d>
                                  <m:dPr>
                                    <m:begChr m:val="‖"/>
                                    <m:endChr m:val="‖"/>
                                    <m:ctrlPr>
                                      <a:rPr lang="pt-BR" b="1" i="1">
                                        <a:latin typeface="Cambria Math" panose="02040503050406030204" pitchFamily="18" charset="0"/>
                                      </a:rPr>
                                    </m:ctrlPr>
                                  </m:dPr>
                                  <m:e>
                                    <m:r>
                                      <a:rPr lang="pt-BR" b="1" i="1">
                                        <a:latin typeface="Cambria Math" panose="02040503050406030204" pitchFamily="18" charset="0"/>
                                      </a:rPr>
                                      <m:t>𝒂</m:t>
                                    </m:r>
                                  </m:e>
                                </m:d>
                              </m:e>
                              <m:sub>
                                <m:r>
                                  <a:rPr lang="pt-BR" i="1">
                                    <a:latin typeface="Cambria Math" panose="02040503050406030204" pitchFamily="18" charset="0"/>
                                    <a:ea typeface="Cambria Math" panose="02040503050406030204" pitchFamily="18" charset="0"/>
                                  </a:rPr>
                                  <m:t>1</m:t>
                                </m:r>
                              </m:sub>
                            </m:sSub>
                          </m:e>
                        </m:d>
                      </m:e>
                    </m:func>
                  </m:oMath>
                </a14:m>
                <a:r>
                  <a:rPr lang="pt-BR" dirty="0"/>
                  <a:t>,</a:t>
                </a:r>
              </a:p>
              <a:p>
                <a:pPr marL="0" indent="0">
                  <a:buNone/>
                </a:pPr>
                <a:r>
                  <a:rPr lang="pt-BR" dirty="0"/>
                  <a:t>onde </a:t>
                </a:r>
                <a14:m>
                  <m:oMath xmlns:m="http://schemas.openxmlformats.org/officeDocument/2006/math">
                    <m:sSub>
                      <m:sSubPr>
                        <m:ctrlPr>
                          <a:rPr lang="pt-BR" b="1" i="1">
                            <a:latin typeface="Cambria Math" panose="02040503050406030204" pitchFamily="18" charset="0"/>
                          </a:rPr>
                        </m:ctrlPr>
                      </m:sSubPr>
                      <m:e>
                        <m:d>
                          <m:dPr>
                            <m:begChr m:val="‖"/>
                            <m:endChr m:val="‖"/>
                            <m:ctrlPr>
                              <a:rPr lang="pt-BR" b="1" i="1">
                                <a:latin typeface="Cambria Math" panose="02040503050406030204" pitchFamily="18" charset="0"/>
                              </a:rPr>
                            </m:ctrlPr>
                          </m:dPr>
                          <m:e>
                            <m:r>
                              <a:rPr lang="pt-BR" b="1" i="1">
                                <a:latin typeface="Cambria Math" panose="02040503050406030204" pitchFamily="18" charset="0"/>
                              </a:rPr>
                              <m:t>𝒂</m:t>
                            </m:r>
                          </m:e>
                        </m:d>
                      </m:e>
                      <m:sub>
                        <m:r>
                          <a:rPr lang="pt-BR" i="1">
                            <a:latin typeface="Cambria Math" panose="02040503050406030204" pitchFamily="18" charset="0"/>
                            <a:ea typeface="Cambria Math" panose="02040503050406030204" pitchFamily="18" charset="0"/>
                          </a:rPr>
                          <m:t>1</m:t>
                        </m:r>
                      </m:sub>
                    </m:sSub>
                    <m:r>
                      <a:rPr lang="pt-BR" i="1">
                        <a:latin typeface="Cambria Math" panose="02040503050406030204" pitchFamily="18" charset="0"/>
                        <a:ea typeface="Cambria Math" panose="02040503050406030204" pitchFamily="18" charset="0"/>
                      </a:rPr>
                      <m:t>=</m:t>
                    </m:r>
                    <m:nary>
                      <m:naryPr>
                        <m:chr m:val="∑"/>
                        <m:limLoc m:val="subSup"/>
                        <m:ctrlPr>
                          <a:rPr lang="pt-BR" i="1">
                            <a:latin typeface="Cambria Math" panose="02040503050406030204" pitchFamily="18" charset="0"/>
                            <a:ea typeface="Cambria Math" panose="02040503050406030204" pitchFamily="18" charset="0"/>
                          </a:rPr>
                        </m:ctrlPr>
                      </m:naryPr>
                      <m:sub>
                        <m:r>
                          <m:rPr>
                            <m:brk m:alnAt="25"/>
                          </m:rPr>
                          <a:rPr lang="pt-BR" i="1">
                            <a:latin typeface="Cambria Math" panose="02040503050406030204" pitchFamily="18" charset="0"/>
                            <a:ea typeface="Cambria Math" panose="02040503050406030204" pitchFamily="18" charset="0"/>
                          </a:rPr>
                          <m:t>𝑖</m:t>
                        </m:r>
                        <m:r>
                          <a:rPr lang="pt-BR" i="1">
                            <a:latin typeface="Cambria Math" panose="02040503050406030204" pitchFamily="18" charset="0"/>
                            <a:ea typeface="Cambria Math" panose="02040503050406030204" pitchFamily="18" charset="0"/>
                          </a:rPr>
                          <m:t>=1</m:t>
                        </m:r>
                      </m:sub>
                      <m:sup>
                        <m:r>
                          <a:rPr lang="pt-BR" i="1">
                            <a:latin typeface="Cambria Math" panose="02040503050406030204" pitchFamily="18" charset="0"/>
                            <a:ea typeface="Cambria Math" panose="02040503050406030204" pitchFamily="18" charset="0"/>
                          </a:rPr>
                          <m:t>𝐾</m:t>
                        </m:r>
                      </m:sup>
                      <m:e>
                        <m:d>
                          <m:dPr>
                            <m:begChr m:val="|"/>
                            <m:endChr m:val="|"/>
                            <m:ctrlPr>
                              <a:rPr lang="pt-BR" b="0" i="1" smtClean="0">
                                <a:latin typeface="Cambria Math" panose="02040503050406030204" pitchFamily="18" charset="0"/>
                                <a:ea typeface="Cambria Math" panose="02040503050406030204" pitchFamily="18" charset="0"/>
                              </a:rPr>
                            </m:ctrlPr>
                          </m:dPr>
                          <m:e>
                            <m:sSub>
                              <m:sSubPr>
                                <m:ctrlPr>
                                  <a:rPr lang="pt-BR" b="0" i="1" smtClean="0">
                                    <a:latin typeface="Cambria Math" panose="02040503050406030204" pitchFamily="18" charset="0"/>
                                    <a:ea typeface="Cambria Math" panose="02040503050406030204" pitchFamily="18" charset="0"/>
                                  </a:rPr>
                                </m:ctrlPr>
                              </m:sSubPr>
                              <m:e>
                                <m:r>
                                  <a:rPr lang="pt-BR" b="0" i="1" smtClean="0">
                                    <a:latin typeface="Cambria Math" panose="02040503050406030204" pitchFamily="18" charset="0"/>
                                    <a:ea typeface="Cambria Math" panose="02040503050406030204" pitchFamily="18" charset="0"/>
                                  </a:rPr>
                                  <m:t>𝑎</m:t>
                                </m:r>
                              </m:e>
                              <m:sub>
                                <m:r>
                                  <a:rPr lang="pt-BR" b="0" i="1" smtClean="0">
                                    <a:latin typeface="Cambria Math" panose="02040503050406030204" pitchFamily="18" charset="0"/>
                                    <a:ea typeface="Cambria Math" panose="02040503050406030204" pitchFamily="18" charset="0"/>
                                  </a:rPr>
                                  <m:t>𝑖</m:t>
                                </m:r>
                              </m:sub>
                            </m:sSub>
                          </m:e>
                        </m:d>
                      </m:e>
                    </m:nary>
                    <m:r>
                      <a:rPr lang="pt-BR" b="0" i="0">
                        <a:latin typeface="Cambria Math" panose="02040503050406030204" pitchFamily="18" charset="0"/>
                        <a:ea typeface="Cambria Math" panose="02040503050406030204" pitchFamily="18" charset="0"/>
                      </a:rPr>
                      <m:t> </m:t>
                    </m:r>
                    <m:r>
                      <m:rPr>
                        <m:sty m:val="p"/>
                      </m:rPr>
                      <a:rPr lang="pt-BR" b="0" i="0" smtClean="0">
                        <a:latin typeface="Cambria Math" panose="02040503050406030204" pitchFamily="18" charset="0"/>
                        <a:ea typeface="Cambria Math" panose="02040503050406030204" pitchFamily="18" charset="0"/>
                      </a:rPr>
                      <m:t>e</m:t>
                    </m:r>
                  </m:oMath>
                </a14:m>
                <a:r>
                  <a:rPr lang="pt-BR" dirty="0"/>
                  <a:t> </a:t>
                </a:r>
                <a14:m>
                  <m:oMath xmlns:m="http://schemas.openxmlformats.org/officeDocument/2006/math">
                    <m:r>
                      <a:rPr lang="pt-BR" i="1">
                        <a:latin typeface="Cambria Math" panose="02040503050406030204" pitchFamily="18" charset="0"/>
                        <a:ea typeface="Cambria Math" panose="02040503050406030204" pitchFamily="18" charset="0"/>
                      </a:rPr>
                      <m:t>𝜆</m:t>
                    </m:r>
                    <m:r>
                      <a:rPr lang="pt-BR" i="1">
                        <a:latin typeface="Cambria Math" panose="02040503050406030204" pitchFamily="18" charset="0"/>
                        <a:ea typeface="Cambria Math" panose="02040503050406030204" pitchFamily="18" charset="0"/>
                      </a:rPr>
                      <m:t>≥0 </m:t>
                    </m:r>
                  </m:oMath>
                </a14:m>
                <a:r>
                  <a:rPr lang="pt-BR" dirty="0"/>
                  <a:t>é o </a:t>
                </a:r>
                <a:r>
                  <a:rPr lang="pt-BR" b="1" i="1" dirty="0"/>
                  <a:t>fator de regularização</a:t>
                </a:r>
                <a:r>
                  <a:rPr lang="pt-BR" dirty="0"/>
                  <a:t>.</a:t>
                </a:r>
              </a:p>
              <a:p>
                <a:r>
                  <a:rPr lang="pt-BR" sz="2800" dirty="0"/>
                  <a:t>A </a:t>
                </a:r>
                <a:r>
                  <a:rPr lang="pt-BR" sz="2800" b="1" i="1" dirty="0"/>
                  <a:t>região factibilidade </a:t>
                </a:r>
                <a:r>
                  <a:rPr lang="pt-BR" sz="2800" dirty="0"/>
                  <a:t>da norma L1 tem formato de uma diamante (quadrado rotacionado).</a:t>
                </a:r>
              </a:p>
              <a:p>
                <a:endParaRPr lang="pt-BR" dirty="0"/>
              </a:p>
            </p:txBody>
          </p:sp>
        </mc:Choice>
        <mc:Fallback xmlns="">
          <p:sp>
            <p:nvSpPr>
              <p:cNvPr id="3" name="Espaço Reservado para Conteúdo 2">
                <a:extLst>
                  <a:ext uri="{FF2B5EF4-FFF2-40B4-BE49-F238E27FC236}">
                    <a16:creationId xmlns:a16="http://schemas.microsoft.com/office/drawing/2014/main" id="{B9F4321D-B42D-0104-0880-A4AD4A46194C}"/>
                  </a:ext>
                </a:extLst>
              </p:cNvPr>
              <p:cNvSpPr>
                <a:spLocks noGrp="1" noRot="1" noChangeAspect="1" noMove="1" noResize="1" noEditPoints="1" noAdjustHandles="1" noChangeArrowheads="1" noChangeShapeType="1" noTextEdit="1"/>
              </p:cNvSpPr>
              <p:nvPr>
                <p:ph idx="1"/>
              </p:nvPr>
            </p:nvSpPr>
            <p:spPr>
              <a:xfrm>
                <a:off x="4436533" y="1825624"/>
                <a:ext cx="7642577" cy="5032375"/>
              </a:xfrm>
              <a:blipFill>
                <a:blip r:embed="rId3"/>
                <a:stretch>
                  <a:fillRect l="-1676" t="-1937"/>
                </a:stretch>
              </a:blipFill>
            </p:spPr>
            <p:txBody>
              <a:bodyPr/>
              <a:lstStyle/>
              <a:p>
                <a:r>
                  <a:rPr lang="pt-BR">
                    <a:noFill/>
                  </a:rPr>
                  <a:t> </a:t>
                </a:r>
              </a:p>
            </p:txBody>
          </p:sp>
        </mc:Fallback>
      </mc:AlternateContent>
      <p:pic>
        <p:nvPicPr>
          <p:cNvPr id="4" name="Picture 2" descr="Introduction to Regularization Methods in Deep Learning | by John Kaller |  unpackAI | Medium">
            <a:extLst>
              <a:ext uri="{FF2B5EF4-FFF2-40B4-BE49-F238E27FC236}">
                <a16:creationId xmlns:a16="http://schemas.microsoft.com/office/drawing/2014/main" id="{2FFDA4A1-172A-7203-3F93-CE954EA10E0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710" t="5749" r="56564" b="3790"/>
          <a:stretch/>
        </p:blipFill>
        <p:spPr bwMode="auto">
          <a:xfrm>
            <a:off x="982455" y="1825624"/>
            <a:ext cx="2742877" cy="40962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268403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81AB3D-70B2-9F0A-D0FA-EBB5710A350E}"/>
              </a:ext>
            </a:extLst>
          </p:cNvPr>
          <p:cNvSpPr>
            <a:spLocks noGrp="1"/>
          </p:cNvSpPr>
          <p:nvPr>
            <p:ph type="title"/>
          </p:nvPr>
        </p:nvSpPr>
        <p:spPr/>
        <p:txBody>
          <a:bodyPr/>
          <a:lstStyle/>
          <a:p>
            <a:r>
              <a:rPr lang="pt-BR" dirty="0"/>
              <a:t>Regressão LASSO</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B9F4321D-B42D-0104-0880-A4AD4A46194C}"/>
                  </a:ext>
                </a:extLst>
              </p:cNvPr>
              <p:cNvSpPr>
                <a:spLocks noGrp="1"/>
              </p:cNvSpPr>
              <p:nvPr>
                <p:ph idx="1"/>
              </p:nvPr>
            </p:nvSpPr>
            <p:spPr>
              <a:xfrm>
                <a:off x="4967111" y="1825624"/>
                <a:ext cx="7111999" cy="5032375"/>
              </a:xfrm>
            </p:spPr>
            <p:txBody>
              <a:bodyPr>
                <a:normAutofit lnSpcReduction="10000"/>
              </a:bodyPr>
              <a:lstStyle/>
              <a:p>
                <a:r>
                  <a:rPr lang="pt-BR" dirty="0"/>
                  <a:t>Podemos re-escrever o </a:t>
                </a:r>
                <a:r>
                  <a:rPr lang="pt-BR" b="1" i="1" dirty="0"/>
                  <a:t>problema de regularização</a:t>
                </a:r>
                <a:r>
                  <a:rPr lang="pt-BR" dirty="0"/>
                  <a:t> acima como um </a:t>
                </a:r>
                <a:r>
                  <a:rPr lang="pt-BR" b="1" i="1" dirty="0"/>
                  <a:t>problema de otimização com restrição </a:t>
                </a:r>
                <a:r>
                  <a:rPr lang="pt-BR" dirty="0"/>
                  <a:t>da seguinte forma</a:t>
                </a:r>
              </a:p>
              <a:p>
                <a:pPr marL="0" indent="0">
                  <a:buNone/>
                </a:pPr>
                <a14:m>
                  <m:oMathPara xmlns:m="http://schemas.openxmlformats.org/officeDocument/2006/math">
                    <m:oMath>
                      <m:func>
                        <m:funcPr>
                          <m:ctrlPr>
                            <a:rPr lang="nl-BE" i="1">
                              <a:latin typeface="Cambria Math" panose="02040503050406030204" pitchFamily="18" charset="0"/>
                            </a:rPr>
                          </m:ctrlPr>
                        </m:funcPr>
                        <m:fName>
                          <m:limLow>
                            <m:limLowPr>
                              <m:ctrlPr>
                                <a:rPr lang="nl-BE">
                                  <a:latin typeface="Cambria Math" panose="02040503050406030204" pitchFamily="18" charset="0"/>
                                </a:rPr>
                              </m:ctrlPr>
                            </m:limLowPr>
                            <m:e>
                              <m:r>
                                <m:rPr>
                                  <m:sty m:val="p"/>
                                </m:rPr>
                                <a:rPr lang="nl-BE">
                                  <a:latin typeface="Cambria Math" panose="02040503050406030204" pitchFamily="18" charset="0"/>
                                </a:rPr>
                                <m:t>min</m:t>
                              </m:r>
                            </m:e>
                            <m:lim>
                              <m:r>
                                <a:rPr lang="pt-BR" b="1" i="1">
                                  <a:latin typeface="Cambria Math" panose="02040503050406030204" pitchFamily="18" charset="0"/>
                                </a:rPr>
                                <m:t>𝒂</m:t>
                              </m:r>
                              <m:r>
                                <a:rPr lang="pt-BR" b="1" i="1">
                                  <a:latin typeface="Cambria Math" panose="02040503050406030204" pitchFamily="18" charset="0"/>
                                </a:rPr>
                                <m:t> ∈ </m:t>
                              </m:r>
                              <m:sSup>
                                <m:sSupPr>
                                  <m:ctrlPr>
                                    <a:rPr lang="pt-BR" b="1" i="1">
                                      <a:latin typeface="Cambria Math" panose="02040503050406030204" pitchFamily="18" charset="0"/>
                                      <a:ea typeface="Cambria Math" panose="02040503050406030204" pitchFamily="18" charset="0"/>
                                    </a:rPr>
                                  </m:ctrlPr>
                                </m:sSupPr>
                                <m:e>
                                  <m:r>
                                    <a:rPr lang="pt-BR" b="1" i="1">
                                      <a:latin typeface="Cambria Math" panose="02040503050406030204" pitchFamily="18" charset="0"/>
                                      <a:ea typeface="Cambria Math" panose="02040503050406030204" pitchFamily="18" charset="0"/>
                                    </a:rPr>
                                    <m:t>ℝ</m:t>
                                  </m:r>
                                </m:e>
                                <m:sup>
                                  <m:r>
                                    <a:rPr lang="pt-BR" i="1">
                                      <a:latin typeface="Cambria Math" panose="02040503050406030204" pitchFamily="18" charset="0"/>
                                    </a:rPr>
                                    <m:t>𝐾</m:t>
                                  </m:r>
                                  <m:r>
                                    <a:rPr lang="pt-BR" i="1">
                                      <a:latin typeface="Cambria Math" panose="02040503050406030204" pitchFamily="18" charset="0"/>
                                    </a:rPr>
                                    <m:t>+1×1</m:t>
                                  </m:r>
                                </m:sup>
                              </m:sSup>
                            </m:lim>
                          </m:limLow>
                        </m:fName>
                        <m:e>
                          <m:sSup>
                            <m:sSupPr>
                              <m:ctrlPr>
                                <a:rPr lang="pt-BR" b="1" i="1">
                                  <a:latin typeface="Cambria Math" panose="02040503050406030204" pitchFamily="18" charset="0"/>
                                </a:rPr>
                              </m:ctrlPr>
                            </m:sSupPr>
                            <m:e>
                              <m:d>
                                <m:dPr>
                                  <m:begChr m:val="‖"/>
                                  <m:endChr m:val="‖"/>
                                  <m:ctrlPr>
                                    <a:rPr lang="pt-BR" b="1" i="1">
                                      <a:latin typeface="Cambria Math" panose="02040503050406030204" pitchFamily="18" charset="0"/>
                                    </a:rPr>
                                  </m:ctrlPr>
                                </m:dPr>
                                <m:e>
                                  <m:r>
                                    <a:rPr lang="pt-BR" b="1" i="1">
                                      <a:latin typeface="Cambria Math" panose="02040503050406030204" pitchFamily="18" charset="0"/>
                                    </a:rPr>
                                    <m:t>𝒚</m:t>
                                  </m:r>
                                  <m:r>
                                    <a:rPr lang="pt-BR" i="1">
                                      <a:latin typeface="Cambria Math" panose="02040503050406030204" pitchFamily="18" charset="0"/>
                                    </a:rPr>
                                    <m:t> −</m:t>
                                  </m:r>
                                  <m:r>
                                    <a:rPr lang="pt-BR" b="1" i="1" smtClean="0">
                                      <a:latin typeface="Cambria Math" panose="02040503050406030204" pitchFamily="18" charset="0"/>
                                    </a:rPr>
                                    <m:t>𝑿</m:t>
                                  </m:r>
                                  <m:r>
                                    <a:rPr lang="pt-BR" b="1" i="1">
                                      <a:latin typeface="Cambria Math" panose="02040503050406030204" pitchFamily="18" charset="0"/>
                                    </a:rPr>
                                    <m:t>𝒂</m:t>
                                  </m:r>
                                </m:e>
                              </m:d>
                            </m:e>
                            <m:sup>
                              <m:r>
                                <a:rPr lang="pt-BR" i="1">
                                  <a:latin typeface="Cambria Math" panose="02040503050406030204" pitchFamily="18" charset="0"/>
                                </a:rPr>
                                <m:t>2</m:t>
                              </m:r>
                            </m:sup>
                          </m:sSup>
                        </m:e>
                      </m:func>
                    </m:oMath>
                  </m:oMathPara>
                </a14:m>
                <a:endParaRPr lang="pt-BR" dirty="0"/>
              </a:p>
              <a:p>
                <a:pPr marL="0" indent="0">
                  <a:buNone/>
                </a:pPr>
                <a14:m>
                  <m:oMathPara xmlns:m="http://schemas.openxmlformats.org/officeDocument/2006/math">
                    <m:oMath>
                      <m:r>
                        <m:rPr>
                          <m:sty m:val="p"/>
                        </m:rPr>
                        <a:rPr lang="pt-BR" i="1">
                          <a:latin typeface="Cambria Math" panose="02040503050406030204" pitchFamily="18" charset="0"/>
                        </a:rPr>
                        <m:t>s</m:t>
                      </m:r>
                      <m:r>
                        <a:rPr lang="pt-BR" i="1">
                          <a:latin typeface="Cambria Math" panose="02040503050406030204" pitchFamily="18" charset="0"/>
                        </a:rPr>
                        <m:t>.</m:t>
                      </m:r>
                      <m:r>
                        <a:rPr lang="pt-BR" i="1">
                          <a:latin typeface="Cambria Math" panose="02040503050406030204" pitchFamily="18" charset="0"/>
                        </a:rPr>
                        <m:t>𝑎</m:t>
                      </m:r>
                      <m:r>
                        <a:rPr lang="pt-BR" i="1">
                          <a:latin typeface="Cambria Math" panose="02040503050406030204" pitchFamily="18" charset="0"/>
                        </a:rPr>
                        <m:t>.</m:t>
                      </m:r>
                      <m:sSub>
                        <m:sSubPr>
                          <m:ctrlPr>
                            <a:rPr lang="pt-BR" b="1" i="1">
                              <a:latin typeface="Cambria Math" panose="02040503050406030204" pitchFamily="18" charset="0"/>
                            </a:rPr>
                          </m:ctrlPr>
                        </m:sSubPr>
                        <m:e>
                          <m:d>
                            <m:dPr>
                              <m:begChr m:val="‖"/>
                              <m:endChr m:val="‖"/>
                              <m:ctrlPr>
                                <a:rPr lang="pt-BR" b="1" i="1">
                                  <a:latin typeface="Cambria Math" panose="02040503050406030204" pitchFamily="18" charset="0"/>
                                </a:rPr>
                              </m:ctrlPr>
                            </m:dPr>
                            <m:e>
                              <m:r>
                                <a:rPr lang="pt-BR" b="1" i="1">
                                  <a:latin typeface="Cambria Math" panose="02040503050406030204" pitchFamily="18" charset="0"/>
                                </a:rPr>
                                <m:t>𝒂</m:t>
                              </m:r>
                            </m:e>
                          </m:d>
                        </m:e>
                        <m:sub>
                          <m:r>
                            <a:rPr lang="pt-BR" i="1">
                              <a:latin typeface="Cambria Math" panose="02040503050406030204" pitchFamily="18" charset="0"/>
                              <a:ea typeface="Cambria Math" panose="02040503050406030204" pitchFamily="18" charset="0"/>
                            </a:rPr>
                            <m:t>1</m:t>
                          </m:r>
                        </m:sub>
                      </m:sSub>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𝑐</m:t>
                      </m:r>
                      <m:r>
                        <a:rPr lang="pt-BR" i="1">
                          <a:latin typeface="Cambria Math" panose="02040503050406030204" pitchFamily="18" charset="0"/>
                          <a:ea typeface="Cambria Math" panose="02040503050406030204" pitchFamily="18" charset="0"/>
                        </a:rPr>
                        <m:t>,</m:t>
                      </m:r>
                    </m:oMath>
                  </m:oMathPara>
                </a14:m>
                <a:endParaRPr lang="pt-BR" dirty="0"/>
              </a:p>
              <a:p>
                <a:pPr marL="0" indent="0">
                  <a:buNone/>
                </a:pPr>
                <a:r>
                  <a:rPr lang="pt-BR" dirty="0"/>
                  <a:t>onde </a:t>
                </a:r>
                <a14:m>
                  <m:oMath xmlns:m="http://schemas.openxmlformats.org/officeDocument/2006/math">
                    <m:r>
                      <a:rPr lang="pt-BR" i="1">
                        <a:latin typeface="Cambria Math" panose="02040503050406030204" pitchFamily="18" charset="0"/>
                        <a:ea typeface="Cambria Math" panose="02040503050406030204" pitchFamily="18" charset="0"/>
                      </a:rPr>
                      <m:t>𝑐</m:t>
                    </m:r>
                  </m:oMath>
                </a14:m>
                <a:r>
                  <a:rPr lang="pt-BR" dirty="0"/>
                  <a:t> restringe a magnitude dos pesos e é </a:t>
                </a:r>
                <a:r>
                  <a:rPr lang="pt-BR" b="1" i="1" dirty="0"/>
                  <a:t>inversamente proporcional à </a:t>
                </a:r>
                <a14:m>
                  <m:oMath xmlns:m="http://schemas.openxmlformats.org/officeDocument/2006/math">
                    <m:r>
                      <a:rPr lang="pt-BR" b="1" i="1">
                        <a:latin typeface="Cambria Math" panose="02040503050406030204" pitchFamily="18" charset="0"/>
                        <a:ea typeface="Cambria Math" panose="02040503050406030204" pitchFamily="18" charset="0"/>
                      </a:rPr>
                      <m:t>𝝀</m:t>
                    </m:r>
                  </m:oMath>
                </a14:m>
                <a:r>
                  <a:rPr lang="pt-BR" b="1" i="1" dirty="0"/>
                  <a:t>.</a:t>
                </a:r>
              </a:p>
              <a:p>
                <a14:m>
                  <m:oMath xmlns:m="http://schemas.openxmlformats.org/officeDocument/2006/math">
                    <m:r>
                      <a:rPr lang="pt-BR" sz="2800" i="1" smtClean="0">
                        <a:latin typeface="Cambria Math" panose="02040503050406030204" pitchFamily="18" charset="0"/>
                        <a:ea typeface="Cambria Math" panose="02040503050406030204" pitchFamily="18" charset="0"/>
                      </a:rPr>
                      <m:t>𝑐</m:t>
                    </m:r>
                  </m:oMath>
                </a14:m>
                <a:r>
                  <a:rPr lang="pt-BR" sz="2800" dirty="0"/>
                  <a:t> restringe a </a:t>
                </a:r>
                <a:r>
                  <a:rPr lang="pt-BR" sz="2800" b="1" i="1" dirty="0">
                    <a:solidFill>
                      <a:srgbClr val="00B050"/>
                    </a:solidFill>
                  </a:rPr>
                  <a:t>área do quadrado </a:t>
                </a:r>
                <a:r>
                  <a:rPr lang="pt-BR" sz="2800" dirty="0"/>
                  <a:t>e é igual a distância da origem até qualquer um dos vértices.</a:t>
                </a:r>
                <a:endParaRPr lang="pt-BR" b="1" i="1" dirty="0"/>
              </a:p>
              <a:p>
                <a:r>
                  <a:rPr lang="pt-BR" b="1" dirty="0"/>
                  <a:t>OBS</a:t>
                </a:r>
                <a:r>
                  <a:rPr lang="pt-BR" dirty="0"/>
                  <a:t>.: Assim como na regressão de Ridge, </a:t>
                </a:r>
                <a14:m>
                  <m:oMath xmlns:m="http://schemas.openxmlformats.org/officeDocument/2006/math">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b="0" i="1" smtClean="0">
                            <a:latin typeface="Cambria Math" panose="02040503050406030204" pitchFamily="18" charset="0"/>
                            <a:ea typeface="Cambria Math" panose="02040503050406030204" pitchFamily="18" charset="0"/>
                          </a:rPr>
                          <m:t>0</m:t>
                        </m:r>
                      </m:sub>
                    </m:sSub>
                  </m:oMath>
                </a14:m>
                <a:r>
                  <a:rPr lang="pt-BR" dirty="0"/>
                  <a:t> também não faz parte do cálculo da norma.</a:t>
                </a:r>
              </a:p>
            </p:txBody>
          </p:sp>
        </mc:Choice>
        <mc:Fallback xmlns="">
          <p:sp>
            <p:nvSpPr>
              <p:cNvPr id="3" name="Espaço Reservado para Conteúdo 2">
                <a:extLst>
                  <a:ext uri="{FF2B5EF4-FFF2-40B4-BE49-F238E27FC236}">
                    <a16:creationId xmlns:a16="http://schemas.microsoft.com/office/drawing/2014/main" id="{B9F4321D-B42D-0104-0880-A4AD4A46194C}"/>
                  </a:ext>
                </a:extLst>
              </p:cNvPr>
              <p:cNvSpPr>
                <a:spLocks noGrp="1" noRot="1" noChangeAspect="1" noMove="1" noResize="1" noEditPoints="1" noAdjustHandles="1" noChangeArrowheads="1" noChangeShapeType="1" noTextEdit="1"/>
              </p:cNvSpPr>
              <p:nvPr>
                <p:ph idx="1"/>
              </p:nvPr>
            </p:nvSpPr>
            <p:spPr>
              <a:xfrm>
                <a:off x="4967111" y="1825624"/>
                <a:ext cx="7111999" cy="5032375"/>
              </a:xfrm>
              <a:blipFill>
                <a:blip r:embed="rId3"/>
                <a:stretch>
                  <a:fillRect l="-1801" t="-2663"/>
                </a:stretch>
              </a:blipFill>
            </p:spPr>
            <p:txBody>
              <a:bodyPr/>
              <a:lstStyle/>
              <a:p>
                <a:r>
                  <a:rPr lang="pt-BR">
                    <a:noFill/>
                  </a:rPr>
                  <a:t> </a:t>
                </a:r>
              </a:p>
            </p:txBody>
          </p:sp>
        </mc:Fallback>
      </mc:AlternateContent>
      <p:pic>
        <p:nvPicPr>
          <p:cNvPr id="4" name="Picture 2" descr="Introduction to Regularization Methods in Deep Learning | by John Kaller |  unpackAI | Medium">
            <a:extLst>
              <a:ext uri="{FF2B5EF4-FFF2-40B4-BE49-F238E27FC236}">
                <a16:creationId xmlns:a16="http://schemas.microsoft.com/office/drawing/2014/main" id="{02C4FD12-C4FB-7AE0-4D4D-F5879EC9962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710" t="5749" r="56564" b="3790"/>
          <a:stretch/>
        </p:blipFill>
        <p:spPr bwMode="auto">
          <a:xfrm>
            <a:off x="982455" y="1825624"/>
            <a:ext cx="2742877" cy="40962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854383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Regressão LASSO com gradiente descendente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16000" y="1825624"/>
                <a:ext cx="11016342" cy="5032375"/>
              </a:xfrm>
            </p:spPr>
            <p:txBody>
              <a:bodyPr>
                <a:normAutofit fontScale="92500" lnSpcReduction="20000"/>
              </a:bodyPr>
              <a:lstStyle/>
              <a:p>
                <a:pPr marL="0" indent="0">
                  <a:buNone/>
                </a:pPr>
                <a14:m>
                  <m:oMathPara xmlns:m="http://schemas.openxmlformats.org/officeDocument/2006/math">
                    <m:oMath>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𝑁</m:t>
                          </m:r>
                        </m:den>
                      </m:f>
                      <m:sSup>
                        <m:sSupPr>
                          <m:ctrlPr>
                            <a:rPr lang="pt-BR" b="1" i="1">
                              <a:latin typeface="Cambria Math" panose="02040503050406030204" pitchFamily="18" charset="0"/>
                            </a:rPr>
                          </m:ctrlPr>
                        </m:sSupPr>
                        <m:e>
                          <m:d>
                            <m:dPr>
                              <m:begChr m:val="‖"/>
                              <m:endChr m:val="‖"/>
                              <m:ctrlPr>
                                <a:rPr lang="pt-BR" b="1" i="1">
                                  <a:latin typeface="Cambria Math" panose="02040503050406030204" pitchFamily="18" charset="0"/>
                                </a:rPr>
                              </m:ctrlPr>
                            </m:dPr>
                            <m:e>
                              <m:r>
                                <a:rPr lang="pt-BR" b="1" i="1">
                                  <a:latin typeface="Cambria Math" panose="02040503050406030204" pitchFamily="18" charset="0"/>
                                </a:rPr>
                                <m:t>𝒚</m:t>
                              </m:r>
                              <m:r>
                                <a:rPr lang="pt-BR" i="1">
                                  <a:latin typeface="Cambria Math" panose="02040503050406030204" pitchFamily="18" charset="0"/>
                                </a:rPr>
                                <m:t> −</m:t>
                              </m:r>
                              <m:r>
                                <a:rPr lang="pt-BR" b="1" i="1" smtClean="0">
                                  <a:latin typeface="Cambria Math" panose="02040503050406030204" pitchFamily="18" charset="0"/>
                                </a:rPr>
                                <m:t>𝑿</m:t>
                              </m:r>
                              <m:r>
                                <a:rPr lang="pt-BR" b="1" i="1">
                                  <a:latin typeface="Cambria Math" panose="02040503050406030204" pitchFamily="18" charset="0"/>
                                </a:rPr>
                                <m:t>𝒂</m:t>
                              </m:r>
                            </m:e>
                          </m:d>
                        </m:e>
                        <m:sup>
                          <m:r>
                            <a:rPr lang="pt-BR" i="1">
                              <a:latin typeface="Cambria Math" panose="02040503050406030204" pitchFamily="18" charset="0"/>
                            </a:rPr>
                            <m:t>2</m:t>
                          </m:r>
                        </m:sup>
                      </m:sSup>
                      <m:r>
                        <a:rPr lang="pt-BR" i="1">
                          <a:latin typeface="Cambria Math" panose="02040503050406030204" pitchFamily="18" charset="0"/>
                        </a:rPr>
                        <m:t>+</m:t>
                      </m:r>
                      <m:r>
                        <a:rPr lang="pt-BR" i="1">
                          <a:latin typeface="Cambria Math" panose="02040503050406030204" pitchFamily="18" charset="0"/>
                          <a:ea typeface="Cambria Math" panose="02040503050406030204" pitchFamily="18" charset="0"/>
                        </a:rPr>
                        <m:t>𝜆</m:t>
                      </m:r>
                      <m:sSub>
                        <m:sSubPr>
                          <m:ctrlPr>
                            <a:rPr lang="pt-BR" b="1" i="1">
                              <a:latin typeface="Cambria Math" panose="02040503050406030204" pitchFamily="18" charset="0"/>
                            </a:rPr>
                          </m:ctrlPr>
                        </m:sSubPr>
                        <m:e>
                          <m:d>
                            <m:dPr>
                              <m:begChr m:val="‖"/>
                              <m:endChr m:val="‖"/>
                              <m:ctrlPr>
                                <a:rPr lang="pt-BR" b="1" i="1">
                                  <a:latin typeface="Cambria Math" panose="02040503050406030204" pitchFamily="18" charset="0"/>
                                </a:rPr>
                              </m:ctrlPr>
                            </m:dPr>
                            <m:e>
                              <m:r>
                                <a:rPr lang="pt-BR" b="1" i="1">
                                  <a:latin typeface="Cambria Math" panose="02040503050406030204" pitchFamily="18" charset="0"/>
                                </a:rPr>
                                <m:t>𝒂</m:t>
                              </m:r>
                            </m:e>
                          </m:d>
                        </m:e>
                        <m:sub>
                          <m:r>
                            <a:rPr lang="pt-BR" i="1">
                              <a:latin typeface="Cambria Math" panose="02040503050406030204" pitchFamily="18" charset="0"/>
                              <a:ea typeface="Cambria Math" panose="02040503050406030204" pitchFamily="18" charset="0"/>
                            </a:rPr>
                            <m:t>1</m:t>
                          </m:r>
                        </m:sub>
                      </m:sSub>
                      <m:r>
                        <a:rPr lang="pt-BR" i="1">
                          <a:latin typeface="Cambria Math" panose="02040503050406030204" pitchFamily="18" charset="0"/>
                          <a:ea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𝑁</m:t>
                          </m:r>
                        </m:den>
                      </m:f>
                      <m:nary>
                        <m:naryPr>
                          <m:chr m:val="∑"/>
                          <m:ctrlPr>
                            <a:rPr lang="pt-BR" i="1">
                              <a:latin typeface="Cambria Math" panose="02040503050406030204" pitchFamily="18" charset="0"/>
                            </a:rPr>
                          </m:ctrlPr>
                        </m:naryPr>
                        <m:sub>
                          <m:r>
                            <m:rPr>
                              <m:brk m:alnAt="23"/>
                            </m:rPr>
                            <a:rPr lang="pt-BR" i="1">
                              <a:latin typeface="Cambria Math" panose="02040503050406030204" pitchFamily="18" charset="0"/>
                            </a:rPr>
                            <m:t>𝑖</m:t>
                          </m:r>
                          <m:r>
                            <a:rPr lang="pt-BR" i="1">
                              <a:latin typeface="Cambria Math" panose="02040503050406030204" pitchFamily="18" charset="0"/>
                            </a:rPr>
                            <m:t>=0</m:t>
                          </m:r>
                        </m:sub>
                        <m:sup>
                          <m:r>
                            <a:rPr lang="pt-BR" i="1">
                              <a:latin typeface="Cambria Math" panose="02040503050406030204" pitchFamily="18" charset="0"/>
                            </a:rPr>
                            <m:t>𝑁</m:t>
                          </m:r>
                          <m:r>
                            <a:rPr lang="pt-BR" i="1">
                              <a:latin typeface="Cambria Math" panose="02040503050406030204" pitchFamily="18" charset="0"/>
                            </a:rPr>
                            <m:t>−1</m:t>
                          </m:r>
                        </m:sup>
                        <m:e>
                          <m:sSup>
                            <m:sSupPr>
                              <m:ctrlPr>
                                <a:rPr lang="pt-BR" i="1">
                                  <a:latin typeface="Cambria Math" panose="02040503050406030204" pitchFamily="18" charset="0"/>
                                </a:rPr>
                              </m:ctrlPr>
                            </m:sSupPr>
                            <m:e>
                              <m:d>
                                <m:dPr>
                                  <m:ctrlPr>
                                    <a:rPr lang="pt-BR" i="1">
                                      <a:latin typeface="Cambria Math" panose="02040503050406030204" pitchFamily="18" charset="0"/>
                                    </a:rPr>
                                  </m:ctrlPr>
                                </m:dPr>
                                <m:e>
                                  <m:r>
                                    <a:rPr lang="pt-BR" i="1">
                                      <a:latin typeface="Cambria Math" panose="02040503050406030204" pitchFamily="18" charset="0"/>
                                    </a:rPr>
                                    <m:t>𝑦</m:t>
                                  </m:r>
                                  <m:r>
                                    <a:rPr lang="pt-BR" i="1">
                                      <a:latin typeface="Cambria Math" panose="02040503050406030204" pitchFamily="18" charset="0"/>
                                    </a:rPr>
                                    <m:t>(</m:t>
                                  </m:r>
                                  <m:r>
                                    <a:rPr lang="pt-BR" i="1">
                                      <a:latin typeface="Cambria Math" panose="02040503050406030204" pitchFamily="18" charset="0"/>
                                    </a:rPr>
                                    <m:t>𝑖</m:t>
                                  </m:r>
                                  <m:r>
                                    <a:rPr lang="pt-BR" i="1">
                                      <a:latin typeface="Cambria Math" panose="02040503050406030204" pitchFamily="18" charset="0"/>
                                    </a:rPr>
                                    <m:t>)−</m:t>
                                  </m:r>
                                  <m:acc>
                                    <m:accPr>
                                      <m:chr m:val="̂"/>
                                      <m:ctrlPr>
                                        <a:rPr lang="pt-BR" i="1" dirty="0">
                                          <a:latin typeface="Cambria Math" panose="02040503050406030204" pitchFamily="18" charset="0"/>
                                        </a:rPr>
                                      </m:ctrlPr>
                                    </m:accPr>
                                    <m:e>
                                      <m:r>
                                        <a:rPr lang="pt-BR" i="1" dirty="0">
                                          <a:latin typeface="Cambria Math" panose="02040503050406030204" pitchFamily="18" charset="0"/>
                                        </a:rPr>
                                        <m:t>𝑦</m:t>
                                      </m:r>
                                    </m:e>
                                  </m:acc>
                                  <m:r>
                                    <a:rPr lang="pt-BR" i="1">
                                      <a:latin typeface="Cambria Math" panose="02040503050406030204" pitchFamily="18" charset="0"/>
                                    </a:rPr>
                                    <m:t>(</m:t>
                                  </m:r>
                                  <m:r>
                                    <a:rPr lang="pt-BR" i="1">
                                      <a:latin typeface="Cambria Math" panose="02040503050406030204" pitchFamily="18" charset="0"/>
                                    </a:rPr>
                                    <m:t>𝑖</m:t>
                                  </m:r>
                                  <m:r>
                                    <a:rPr lang="pt-BR" i="1">
                                      <a:latin typeface="Cambria Math" panose="02040503050406030204" pitchFamily="18" charset="0"/>
                                    </a:rPr>
                                    <m:t>)</m:t>
                                  </m:r>
                                </m:e>
                              </m:d>
                            </m:e>
                            <m:sup>
                              <m:r>
                                <a:rPr lang="pt-BR" i="1">
                                  <a:latin typeface="Cambria Math" panose="02040503050406030204" pitchFamily="18" charset="0"/>
                                </a:rPr>
                                <m:t>2</m:t>
                              </m:r>
                            </m:sup>
                          </m:sSup>
                          <m:r>
                            <a:rPr lang="pt-BR" i="1">
                              <a:latin typeface="Cambria Math" panose="02040503050406030204" pitchFamily="18" charset="0"/>
                            </a:rPr>
                            <m:t>+ </m:t>
                          </m:r>
                        </m:e>
                      </m:nary>
                      <m:r>
                        <a:rPr lang="pt-BR" i="1">
                          <a:latin typeface="Cambria Math" panose="02040503050406030204" pitchFamily="18" charset="0"/>
                          <a:ea typeface="Cambria Math" panose="02040503050406030204" pitchFamily="18" charset="0"/>
                        </a:rPr>
                        <m:t>𝜆</m:t>
                      </m:r>
                      <m:nary>
                        <m:naryPr>
                          <m:chr m:val="∑"/>
                          <m:limLoc m:val="subSup"/>
                          <m:ctrlPr>
                            <a:rPr lang="pt-BR" i="1">
                              <a:latin typeface="Cambria Math" panose="02040503050406030204" pitchFamily="18" charset="0"/>
                              <a:ea typeface="Cambria Math" panose="02040503050406030204" pitchFamily="18" charset="0"/>
                            </a:rPr>
                          </m:ctrlPr>
                        </m:naryPr>
                        <m:sub>
                          <m:r>
                            <m:rPr>
                              <m:brk m:alnAt="1"/>
                            </m:rPr>
                            <a:rPr lang="pt-BR" i="1">
                              <a:latin typeface="Cambria Math" panose="02040503050406030204" pitchFamily="18" charset="0"/>
                              <a:ea typeface="Cambria Math" panose="02040503050406030204" pitchFamily="18" charset="0"/>
                            </a:rPr>
                            <m:t>𝑘</m:t>
                          </m:r>
                          <m:r>
                            <a:rPr lang="pt-BR" i="1">
                              <a:latin typeface="Cambria Math" panose="02040503050406030204" pitchFamily="18" charset="0"/>
                              <a:ea typeface="Cambria Math" panose="02040503050406030204" pitchFamily="18" charset="0"/>
                            </a:rPr>
                            <m:t>=1</m:t>
                          </m:r>
                        </m:sub>
                        <m:sup>
                          <m:r>
                            <a:rPr lang="pt-BR" i="1">
                              <a:latin typeface="Cambria Math" panose="02040503050406030204" pitchFamily="18" charset="0"/>
                              <a:ea typeface="Cambria Math" panose="02040503050406030204" pitchFamily="18" charset="0"/>
                            </a:rPr>
                            <m:t>𝐾</m:t>
                          </m:r>
                        </m:sup>
                        <m:e>
                          <m:d>
                            <m:dPr>
                              <m:begChr m:val="|"/>
                              <m:endChr m:val="|"/>
                              <m:ctrlPr>
                                <a:rPr lang="pt-BR" i="1">
                                  <a:latin typeface="Cambria Math" panose="02040503050406030204" pitchFamily="18" charset="0"/>
                                  <a:ea typeface="Cambria Math" panose="02040503050406030204" pitchFamily="18" charset="0"/>
                                </a:rPr>
                              </m:ctrlPr>
                            </m:dPr>
                            <m:e>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i="1">
                                      <a:latin typeface="Cambria Math" panose="02040503050406030204" pitchFamily="18" charset="0"/>
                                      <a:ea typeface="Cambria Math" panose="02040503050406030204" pitchFamily="18" charset="0"/>
                                    </a:rPr>
                                    <m:t>𝑘</m:t>
                                  </m:r>
                                </m:sub>
                              </m:sSub>
                            </m:e>
                          </m:d>
                        </m:e>
                      </m:nary>
                    </m:oMath>
                  </m:oMathPara>
                </a14:m>
                <a:endParaRPr lang="pt-BR" i="1" dirty="0">
                  <a:latin typeface="Cambria Math" panose="02040503050406030204" pitchFamily="18" charset="0"/>
                </a:endParaRPr>
              </a:p>
              <a:p>
                <a:pPr marL="0" indent="0" algn="ctr">
                  <a:buNone/>
                </a:pPr>
                <a14:m>
                  <m:oMath xmlns:m="http://schemas.openxmlformats.org/officeDocument/2006/math">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𝐽</m:t>
                            </m:r>
                          </m:e>
                          <m:sub>
                            <m:r>
                              <a:rPr lang="pt-BR" i="1">
                                <a:latin typeface="Cambria Math" panose="02040503050406030204" pitchFamily="18" charset="0"/>
                                <a:ea typeface="Cambria Math" panose="02040503050406030204" pitchFamily="18" charset="0"/>
                              </a:rPr>
                              <m:t>𝑒</m:t>
                            </m:r>
                          </m:sub>
                        </m:sSub>
                        <m:d>
                          <m:dPr>
                            <m:ctrlPr>
                              <a:rPr lang="pt-BR" b="1" i="1">
                                <a:latin typeface="Cambria Math" panose="02040503050406030204" pitchFamily="18" charset="0"/>
                                <a:ea typeface="Cambria Math" panose="02040503050406030204" pitchFamily="18" charset="0"/>
                              </a:rPr>
                            </m:ctrlPr>
                          </m:dPr>
                          <m:e>
                            <m:r>
                              <a:rPr lang="pt-BR" b="1" i="1">
                                <a:latin typeface="Cambria Math" panose="02040503050406030204" pitchFamily="18" charset="0"/>
                                <a:ea typeface="Cambria Math" panose="02040503050406030204" pitchFamily="18" charset="0"/>
                              </a:rPr>
                              <m:t>𝒂</m:t>
                            </m:r>
                          </m:e>
                        </m:d>
                      </m:num>
                      <m:den>
                        <m:r>
                          <a:rPr lang="pt-BR"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pt-BR" i="1">
                                <a:latin typeface="Cambria Math" panose="02040503050406030204" pitchFamily="18" charset="0"/>
                              </a:rPr>
                              <m:t>𝑘</m:t>
                            </m:r>
                          </m:sub>
                        </m:sSub>
                      </m:den>
                    </m:f>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2</m:t>
                        </m:r>
                      </m:num>
                      <m:den>
                        <m:r>
                          <a:rPr lang="pt-BR" i="1">
                            <a:latin typeface="Cambria Math" panose="02040503050406030204" pitchFamily="18" charset="0"/>
                          </a:rPr>
                          <m:t>𝑁</m:t>
                        </m:r>
                      </m:den>
                    </m:f>
                    <m:nary>
                      <m:naryPr>
                        <m:chr m:val="∑"/>
                        <m:ctrlPr>
                          <a:rPr lang="pt-BR" i="1">
                            <a:latin typeface="Cambria Math" panose="02040503050406030204" pitchFamily="18" charset="0"/>
                          </a:rPr>
                        </m:ctrlPr>
                      </m:naryPr>
                      <m:sub>
                        <m:r>
                          <m:rPr>
                            <m:brk m:alnAt="23"/>
                          </m:rPr>
                          <a:rPr lang="pt-BR" i="1">
                            <a:latin typeface="Cambria Math" panose="02040503050406030204" pitchFamily="18" charset="0"/>
                          </a:rPr>
                          <m:t>𝑖</m:t>
                        </m:r>
                        <m:r>
                          <a:rPr lang="pt-BR" i="1">
                            <a:latin typeface="Cambria Math" panose="02040503050406030204" pitchFamily="18" charset="0"/>
                          </a:rPr>
                          <m:t>=0</m:t>
                        </m:r>
                      </m:sub>
                      <m:sup>
                        <m:r>
                          <a:rPr lang="pt-BR" i="1">
                            <a:latin typeface="Cambria Math" panose="02040503050406030204" pitchFamily="18" charset="0"/>
                          </a:rPr>
                          <m:t>𝑁</m:t>
                        </m:r>
                        <m:r>
                          <a:rPr lang="pt-BR" i="1">
                            <a:latin typeface="Cambria Math" panose="02040503050406030204" pitchFamily="18" charset="0"/>
                          </a:rPr>
                          <m:t>−1</m:t>
                        </m:r>
                      </m:sup>
                      <m:e>
                        <m:d>
                          <m:dPr>
                            <m:begChr m:val="["/>
                            <m:endChr m:val="]"/>
                            <m:ctrlPr>
                              <a:rPr lang="pt-BR" i="1">
                                <a:latin typeface="Cambria Math" panose="02040503050406030204" pitchFamily="18" charset="0"/>
                              </a:rPr>
                            </m:ctrlPr>
                          </m:dPr>
                          <m:e>
                            <m:r>
                              <a:rPr lang="pt-BR" i="1">
                                <a:latin typeface="Cambria Math" panose="02040503050406030204" pitchFamily="18" charset="0"/>
                              </a:rPr>
                              <m:t>𝑦</m:t>
                            </m:r>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𝑖</m:t>
                                </m:r>
                              </m:e>
                            </m:d>
                            <m:r>
                              <a:rPr lang="pt-BR" i="1" dirty="0">
                                <a:latin typeface="Cambria Math" panose="02040503050406030204" pitchFamily="18" charset="0"/>
                              </a:rPr>
                              <m:t>−</m:t>
                            </m:r>
                            <m:acc>
                              <m:accPr>
                                <m:chr m:val="̂"/>
                                <m:ctrlPr>
                                  <a:rPr lang="pt-BR" i="1" dirty="0">
                                    <a:latin typeface="Cambria Math" panose="02040503050406030204" pitchFamily="18" charset="0"/>
                                    <a:ea typeface="Cambria Math" panose="02040503050406030204" pitchFamily="18" charset="0"/>
                                  </a:rPr>
                                </m:ctrlPr>
                              </m:accPr>
                              <m:e>
                                <m:r>
                                  <a:rPr lang="pt-BR" i="1" dirty="0">
                                    <a:latin typeface="Cambria Math" panose="02040503050406030204" pitchFamily="18" charset="0"/>
                                    <a:ea typeface="Cambria Math" panose="02040503050406030204" pitchFamily="18" charset="0"/>
                                  </a:rPr>
                                  <m:t>𝑦</m:t>
                                </m:r>
                              </m:e>
                            </m:acc>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𝑖</m:t>
                                </m:r>
                              </m:e>
                            </m:d>
                          </m:e>
                        </m:d>
                      </m:e>
                    </m:nary>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𝑘</m:t>
                        </m:r>
                      </m:sub>
                    </m:sSub>
                    <m:d>
                      <m:dPr>
                        <m:ctrlPr>
                          <a:rPr lang="pt-BR" i="1">
                            <a:latin typeface="Cambria Math" panose="02040503050406030204" pitchFamily="18" charset="0"/>
                          </a:rPr>
                        </m:ctrlPr>
                      </m:dPr>
                      <m:e>
                        <m:r>
                          <a:rPr lang="pt-BR" i="1">
                            <a:latin typeface="Cambria Math" panose="02040503050406030204" pitchFamily="18" charset="0"/>
                          </a:rPr>
                          <m:t>𝑖</m:t>
                        </m:r>
                      </m:e>
                    </m:d>
                    <m:r>
                      <a:rPr lang="pt-BR" i="1">
                        <a:latin typeface="Cambria Math" panose="02040503050406030204" pitchFamily="18" charset="0"/>
                      </a:rPr>
                      <m:t>+</m:t>
                    </m:r>
                    <m:r>
                      <a:rPr lang="pt-BR" i="1">
                        <a:latin typeface="Cambria Math" panose="02040503050406030204" pitchFamily="18" charset="0"/>
                        <a:ea typeface="Cambria Math" panose="02040503050406030204" pitchFamily="18" charset="0"/>
                      </a:rPr>
                      <m:t>𝜆</m:t>
                    </m:r>
                    <m:r>
                      <a:rPr lang="pt-BR" i="1">
                        <a:latin typeface="Cambria Math" panose="02040503050406030204" pitchFamily="18" charset="0"/>
                        <a:ea typeface="Cambria Math" panose="02040503050406030204" pitchFamily="18" charset="0"/>
                      </a:rPr>
                      <m:t> </m:t>
                    </m:r>
                    <m:sSub>
                      <m:sSubPr>
                        <m:ctrlPr>
                          <a:rPr lang="pt-BR">
                            <a:latin typeface="Cambria Math" panose="02040503050406030204" pitchFamily="18" charset="0"/>
                            <a:ea typeface="Cambria Math" panose="02040503050406030204" pitchFamily="18" charset="0"/>
                          </a:rPr>
                        </m:ctrlPr>
                      </m:sSubPr>
                      <m:e>
                        <m:r>
                          <m:rPr>
                            <m:sty m:val="p"/>
                          </m:rPr>
                          <a:rPr lang="pt-BR">
                            <a:latin typeface="Cambria Math" panose="02040503050406030204" pitchFamily="18" charset="0"/>
                            <a:ea typeface="Cambria Math" panose="02040503050406030204" pitchFamily="18" charset="0"/>
                          </a:rPr>
                          <m:t>sign</m:t>
                        </m:r>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𝑎</m:t>
                        </m:r>
                      </m:e>
                      <m:sub>
                        <m:r>
                          <a:rPr lang="pt-BR" i="1">
                            <a:latin typeface="Cambria Math" panose="02040503050406030204" pitchFamily="18" charset="0"/>
                            <a:ea typeface="Cambria Math" panose="02040503050406030204" pitchFamily="18" charset="0"/>
                          </a:rPr>
                          <m:t>𝑘</m:t>
                        </m:r>
                      </m:sub>
                    </m:sSub>
                  </m:oMath>
                </a14:m>
                <a:r>
                  <a:rPr lang="nl-BE" dirty="0"/>
                  <a:t>) ,  </a:t>
                </a:r>
                <a14:m>
                  <m:oMath xmlns:m="http://schemas.openxmlformats.org/officeDocument/2006/math">
                    <m:r>
                      <a:rPr lang="pt-BR" i="1">
                        <a:latin typeface="Cambria Math" panose="02040503050406030204" pitchFamily="18" charset="0"/>
                      </a:rPr>
                      <m:t>𝑘</m:t>
                    </m:r>
                    <m:r>
                      <a:rPr lang="pt-BR" i="1">
                        <a:latin typeface="Cambria Math" panose="02040503050406030204" pitchFamily="18" charset="0"/>
                      </a:rPr>
                      <m:t>=1,...,</m:t>
                    </m:r>
                    <m:r>
                      <a:rPr lang="pt-BR" i="1">
                        <a:latin typeface="Cambria Math" panose="02040503050406030204" pitchFamily="18" charset="0"/>
                      </a:rPr>
                      <m:t>𝐾</m:t>
                    </m:r>
                  </m:oMath>
                </a14:m>
                <a:endParaRPr lang="pt-BR" dirty="0"/>
              </a:p>
              <a:p>
                <a:pPr marL="0" indent="0" algn="ctr">
                  <a:buNone/>
                </a:pPr>
                <a14:m>
                  <m:oMath xmlns:m="http://schemas.openxmlformats.org/officeDocument/2006/math">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𝐽</m:t>
                            </m:r>
                          </m:e>
                          <m:sub>
                            <m:r>
                              <a:rPr lang="pt-BR" i="1">
                                <a:latin typeface="Cambria Math" panose="02040503050406030204" pitchFamily="18" charset="0"/>
                                <a:ea typeface="Cambria Math" panose="02040503050406030204" pitchFamily="18" charset="0"/>
                              </a:rPr>
                              <m:t>𝑒</m:t>
                            </m:r>
                          </m:sub>
                        </m:sSub>
                        <m:d>
                          <m:dPr>
                            <m:ctrlPr>
                              <a:rPr lang="pt-BR" b="1" i="1">
                                <a:latin typeface="Cambria Math" panose="02040503050406030204" pitchFamily="18" charset="0"/>
                                <a:ea typeface="Cambria Math" panose="02040503050406030204" pitchFamily="18" charset="0"/>
                              </a:rPr>
                            </m:ctrlPr>
                          </m:dPr>
                          <m:e>
                            <m:r>
                              <a:rPr lang="pt-BR" b="1" i="1">
                                <a:latin typeface="Cambria Math" panose="02040503050406030204" pitchFamily="18" charset="0"/>
                                <a:ea typeface="Cambria Math" panose="02040503050406030204" pitchFamily="18" charset="0"/>
                              </a:rPr>
                              <m:t>𝒂</m:t>
                            </m:r>
                          </m:e>
                        </m:d>
                      </m:num>
                      <m:den>
                        <m:r>
                          <a:rPr lang="pt-BR"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pt-BR" i="1">
                                <a:latin typeface="Cambria Math" panose="02040503050406030204" pitchFamily="18" charset="0"/>
                              </a:rPr>
                              <m:t>0</m:t>
                            </m:r>
                          </m:sub>
                        </m:sSub>
                      </m:den>
                    </m:f>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2</m:t>
                        </m:r>
                      </m:num>
                      <m:den>
                        <m:r>
                          <a:rPr lang="pt-BR" i="1">
                            <a:latin typeface="Cambria Math" panose="02040503050406030204" pitchFamily="18" charset="0"/>
                          </a:rPr>
                          <m:t>𝑁</m:t>
                        </m:r>
                      </m:den>
                    </m:f>
                    <m:nary>
                      <m:naryPr>
                        <m:chr m:val="∑"/>
                        <m:ctrlPr>
                          <a:rPr lang="pt-BR" i="1">
                            <a:latin typeface="Cambria Math" panose="02040503050406030204" pitchFamily="18" charset="0"/>
                          </a:rPr>
                        </m:ctrlPr>
                      </m:naryPr>
                      <m:sub>
                        <m:r>
                          <m:rPr>
                            <m:brk m:alnAt="23"/>
                          </m:rPr>
                          <a:rPr lang="pt-BR" i="1">
                            <a:latin typeface="Cambria Math" panose="02040503050406030204" pitchFamily="18" charset="0"/>
                          </a:rPr>
                          <m:t>𝑖</m:t>
                        </m:r>
                        <m:r>
                          <a:rPr lang="pt-BR" i="1">
                            <a:latin typeface="Cambria Math" panose="02040503050406030204" pitchFamily="18" charset="0"/>
                          </a:rPr>
                          <m:t>=0</m:t>
                        </m:r>
                      </m:sub>
                      <m:sup>
                        <m:r>
                          <a:rPr lang="pt-BR" i="1">
                            <a:latin typeface="Cambria Math" panose="02040503050406030204" pitchFamily="18" charset="0"/>
                          </a:rPr>
                          <m:t>𝑁</m:t>
                        </m:r>
                        <m:r>
                          <a:rPr lang="pt-BR" i="1">
                            <a:latin typeface="Cambria Math" panose="02040503050406030204" pitchFamily="18" charset="0"/>
                          </a:rPr>
                          <m:t>−1</m:t>
                        </m:r>
                      </m:sup>
                      <m:e>
                        <m:d>
                          <m:dPr>
                            <m:begChr m:val="["/>
                            <m:endChr m:val="]"/>
                            <m:ctrlPr>
                              <a:rPr lang="pt-BR" i="1">
                                <a:latin typeface="Cambria Math" panose="02040503050406030204" pitchFamily="18" charset="0"/>
                              </a:rPr>
                            </m:ctrlPr>
                          </m:dPr>
                          <m:e>
                            <m:r>
                              <a:rPr lang="pt-BR" i="1">
                                <a:latin typeface="Cambria Math" panose="02040503050406030204" pitchFamily="18" charset="0"/>
                              </a:rPr>
                              <m:t>𝑦</m:t>
                            </m:r>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𝑖</m:t>
                                </m:r>
                              </m:e>
                            </m:d>
                            <m:r>
                              <a:rPr lang="pt-BR" i="1" dirty="0">
                                <a:latin typeface="Cambria Math" panose="02040503050406030204" pitchFamily="18" charset="0"/>
                              </a:rPr>
                              <m:t>−</m:t>
                            </m:r>
                            <m:acc>
                              <m:accPr>
                                <m:chr m:val="̂"/>
                                <m:ctrlPr>
                                  <a:rPr lang="pt-BR" i="1" dirty="0">
                                    <a:latin typeface="Cambria Math" panose="02040503050406030204" pitchFamily="18" charset="0"/>
                                    <a:ea typeface="Cambria Math" panose="02040503050406030204" pitchFamily="18" charset="0"/>
                                  </a:rPr>
                                </m:ctrlPr>
                              </m:accPr>
                              <m:e>
                                <m:r>
                                  <a:rPr lang="pt-BR" i="1" dirty="0">
                                    <a:latin typeface="Cambria Math" panose="02040503050406030204" pitchFamily="18" charset="0"/>
                                    <a:ea typeface="Cambria Math" panose="02040503050406030204" pitchFamily="18" charset="0"/>
                                  </a:rPr>
                                  <m:t>𝑦</m:t>
                                </m:r>
                              </m:e>
                            </m:acc>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𝑖</m:t>
                                </m:r>
                              </m:e>
                            </m:d>
                          </m:e>
                        </m:d>
                      </m:e>
                    </m:nary>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d>
                      <m:dPr>
                        <m:ctrlPr>
                          <a:rPr lang="pt-BR" i="1">
                            <a:latin typeface="Cambria Math" panose="02040503050406030204" pitchFamily="18" charset="0"/>
                          </a:rPr>
                        </m:ctrlPr>
                      </m:dPr>
                      <m:e>
                        <m:r>
                          <a:rPr lang="pt-BR" i="1">
                            <a:latin typeface="Cambria Math" panose="02040503050406030204" pitchFamily="18" charset="0"/>
                          </a:rPr>
                          <m:t>𝑖</m:t>
                        </m:r>
                      </m:e>
                    </m:d>
                  </m:oMath>
                </a14:m>
                <a:r>
                  <a:rPr lang="nl-BE" dirty="0"/>
                  <a:t> , </a:t>
                </a:r>
                <a:endParaRPr lang="pt-BR" dirty="0"/>
              </a:p>
              <a:p>
                <a:pPr marL="0" indent="0">
                  <a:buNone/>
                </a:pPr>
                <a14:m>
                  <m:oMathPara xmlns:m="http://schemas.openxmlformats.org/officeDocument/2006/math">
                    <m:oMath>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𝐽</m:t>
                              </m:r>
                            </m:e>
                            <m:sub>
                              <m:r>
                                <a:rPr lang="pt-BR" i="1">
                                  <a:latin typeface="Cambria Math" panose="02040503050406030204" pitchFamily="18" charset="0"/>
                                  <a:ea typeface="Cambria Math" panose="02040503050406030204" pitchFamily="18" charset="0"/>
                                </a:rPr>
                                <m:t>𝑒</m:t>
                              </m:r>
                            </m:sub>
                          </m:sSub>
                          <m:d>
                            <m:dPr>
                              <m:ctrlPr>
                                <a:rPr lang="pt-BR" b="1" i="1">
                                  <a:latin typeface="Cambria Math" panose="02040503050406030204" pitchFamily="18" charset="0"/>
                                  <a:ea typeface="Cambria Math" panose="02040503050406030204" pitchFamily="18" charset="0"/>
                                </a:rPr>
                              </m:ctrlPr>
                            </m:dPr>
                            <m:e>
                              <m:r>
                                <a:rPr lang="pt-BR" b="1" i="1">
                                  <a:latin typeface="Cambria Math" panose="02040503050406030204" pitchFamily="18" charset="0"/>
                                  <a:ea typeface="Cambria Math" panose="02040503050406030204" pitchFamily="18" charset="0"/>
                                </a:rPr>
                                <m:t>𝒂</m:t>
                              </m:r>
                            </m:e>
                          </m:d>
                        </m:num>
                        <m:den>
                          <m:r>
                            <a:rPr lang="pt-BR" i="1">
                              <a:latin typeface="Cambria Math" panose="02040503050406030204" pitchFamily="18" charset="0"/>
                              <a:ea typeface="Cambria Math" panose="02040503050406030204" pitchFamily="18" charset="0"/>
                            </a:rPr>
                            <m:t>𝜕</m:t>
                          </m:r>
                          <m:r>
                            <a:rPr lang="pt-BR" b="1" i="1">
                              <a:latin typeface="Cambria Math" panose="02040503050406030204" pitchFamily="18" charset="0"/>
                              <a:ea typeface="Cambria Math" panose="02040503050406030204" pitchFamily="18" charset="0"/>
                            </a:rPr>
                            <m:t>𝒂</m:t>
                          </m:r>
                        </m:den>
                      </m:f>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2</m:t>
                          </m:r>
                        </m:num>
                        <m:den>
                          <m:r>
                            <a:rPr lang="pt-BR" i="1">
                              <a:latin typeface="Cambria Math" panose="02040503050406030204" pitchFamily="18" charset="0"/>
                            </a:rPr>
                            <m:t>𝑁</m:t>
                          </m:r>
                        </m:den>
                      </m:f>
                      <m:sSup>
                        <m:sSupPr>
                          <m:ctrlPr>
                            <a:rPr lang="pt-BR" b="1" i="1" smtClean="0">
                              <a:latin typeface="Cambria Math" panose="02040503050406030204" pitchFamily="18" charset="0"/>
                            </a:rPr>
                          </m:ctrlPr>
                        </m:sSupPr>
                        <m:e>
                          <m:r>
                            <a:rPr lang="pt-BR" b="1" i="1" smtClean="0">
                              <a:latin typeface="Cambria Math" panose="02040503050406030204" pitchFamily="18" charset="0"/>
                            </a:rPr>
                            <m:t>𝑿</m:t>
                          </m:r>
                        </m:e>
                        <m:sup>
                          <m:r>
                            <a:rPr lang="pt-BR" i="1">
                              <a:latin typeface="Cambria Math" panose="02040503050406030204" pitchFamily="18" charset="0"/>
                            </a:rPr>
                            <m:t>𝑇</m:t>
                          </m:r>
                        </m:sup>
                      </m:sSup>
                      <m:d>
                        <m:dPr>
                          <m:ctrlPr>
                            <a:rPr lang="pt-BR" b="1" i="1">
                              <a:latin typeface="Cambria Math" panose="02040503050406030204" pitchFamily="18" charset="0"/>
                            </a:rPr>
                          </m:ctrlPr>
                        </m:dPr>
                        <m:e>
                          <m:r>
                            <a:rPr lang="pt-BR" b="1" i="1">
                              <a:latin typeface="Cambria Math" panose="02040503050406030204" pitchFamily="18" charset="0"/>
                            </a:rPr>
                            <m:t>𝒚</m:t>
                          </m:r>
                          <m:r>
                            <a:rPr lang="pt-BR" i="1">
                              <a:latin typeface="Cambria Math" panose="02040503050406030204" pitchFamily="18" charset="0"/>
                            </a:rPr>
                            <m:t> −</m:t>
                          </m:r>
                          <m:r>
                            <a:rPr lang="pt-BR" b="1" i="1" smtClean="0">
                              <a:latin typeface="Cambria Math" panose="02040503050406030204" pitchFamily="18" charset="0"/>
                            </a:rPr>
                            <m:t>𝑿</m:t>
                          </m:r>
                          <m:r>
                            <a:rPr lang="pt-BR" b="1" i="1">
                              <a:latin typeface="Cambria Math" panose="02040503050406030204" pitchFamily="18" charset="0"/>
                            </a:rPr>
                            <m:t>𝒂</m:t>
                          </m:r>
                        </m:e>
                      </m:d>
                      <m:r>
                        <m:rPr>
                          <m:nor/>
                        </m:rPr>
                        <a:rPr lang="pt-BR" i="0">
                          <a:latin typeface="Cambria Math" panose="02040503050406030204" pitchFamily="18" charset="0"/>
                        </a:rPr>
                        <m:t> +</m:t>
                      </m:r>
                      <m:r>
                        <a:rPr lang="pt-BR" i="1">
                          <a:latin typeface="Cambria Math" panose="02040503050406030204" pitchFamily="18" charset="0"/>
                        </a:rPr>
                        <m:t> </m:t>
                      </m:r>
                      <m:r>
                        <a:rPr lang="pt-BR" i="1">
                          <a:latin typeface="Cambria Math" panose="02040503050406030204" pitchFamily="18" charset="0"/>
                          <a:ea typeface="Cambria Math" panose="02040503050406030204" pitchFamily="18" charset="0"/>
                        </a:rPr>
                        <m:t>𝜆</m:t>
                      </m:r>
                      <m:sSup>
                        <m:sSupPr>
                          <m:ctrlPr>
                            <a:rPr lang="pt-BR" b="1" i="1">
                              <a:latin typeface="Cambria Math" panose="02040503050406030204" pitchFamily="18" charset="0"/>
                              <a:ea typeface="Cambria Math" panose="02040503050406030204" pitchFamily="18" charset="0"/>
                            </a:rPr>
                          </m:ctrlPr>
                        </m:sSupPr>
                        <m:e>
                          <m:r>
                            <a:rPr lang="pt-BR" b="1" i="1">
                              <a:latin typeface="Cambria Math" panose="02040503050406030204" pitchFamily="18" charset="0"/>
                              <a:ea typeface="Cambria Math" panose="02040503050406030204" pitchFamily="18" charset="0"/>
                            </a:rPr>
                            <m:t>𝑰</m:t>
                          </m:r>
                        </m:e>
                        <m:sup>
                          <m:r>
                            <a:rPr lang="pt-BR" b="1" i="1">
                              <a:latin typeface="Cambria Math" panose="02040503050406030204" pitchFamily="18" charset="0"/>
                              <a:ea typeface="Cambria Math" panose="02040503050406030204" pitchFamily="18" charset="0"/>
                            </a:rPr>
                            <m:t>′</m:t>
                          </m:r>
                        </m:sup>
                      </m:sSup>
                      <m:r>
                        <m:rPr>
                          <m:sty m:val="p"/>
                        </m:rPr>
                        <a:rPr lang="pt-BR">
                          <a:latin typeface="Cambria Math" panose="02040503050406030204" pitchFamily="18" charset="0"/>
                          <a:ea typeface="Cambria Math" panose="02040503050406030204" pitchFamily="18" charset="0"/>
                        </a:rPr>
                        <m:t>sign</m:t>
                      </m:r>
                      <m:r>
                        <a:rPr lang="pt-BR" b="1" i="1">
                          <a:latin typeface="Cambria Math" panose="02040503050406030204" pitchFamily="18" charset="0"/>
                          <a:ea typeface="Cambria Math" panose="02040503050406030204" pitchFamily="18" charset="0"/>
                        </a:rPr>
                        <m:t>(</m:t>
                      </m:r>
                      <m:r>
                        <a:rPr lang="pt-BR" b="1" i="1">
                          <a:latin typeface="Cambria Math" panose="02040503050406030204" pitchFamily="18" charset="0"/>
                        </a:rPr>
                        <m:t>𝒂</m:t>
                      </m:r>
                      <m:r>
                        <m:rPr>
                          <m:nor/>
                        </m:rPr>
                        <a:rPr lang="pt-BR" i="0">
                          <a:latin typeface="Cambria Math" panose="02040503050406030204" pitchFamily="18" charset="0"/>
                        </a:rPr>
                        <m:t>)</m:t>
                      </m:r>
                      <m:r>
                        <m:rPr>
                          <m:nor/>
                        </m:rPr>
                        <a:rPr lang="pt-BR" i="0" dirty="0"/>
                        <m:t>, </m:t>
                      </m:r>
                    </m:oMath>
                  </m:oMathPara>
                </a14:m>
                <a:endParaRPr lang="pt-BR" dirty="0"/>
              </a:p>
              <a:p>
                <a:pPr marL="0" indent="0">
                  <a:buNone/>
                </a:pPr>
                <a:r>
                  <a:rPr lang="pt-BR" dirty="0"/>
                  <a:t>onde </a:t>
                </a:r>
                <a14:m>
                  <m:oMath xmlns:m="http://schemas.openxmlformats.org/officeDocument/2006/math">
                    <m:sSup>
                      <m:sSupPr>
                        <m:ctrlPr>
                          <a:rPr lang="pt-BR" b="1" i="1">
                            <a:latin typeface="Cambria Math" panose="02040503050406030204" pitchFamily="18" charset="0"/>
                            <a:ea typeface="Cambria Math" panose="02040503050406030204" pitchFamily="18" charset="0"/>
                          </a:rPr>
                        </m:ctrlPr>
                      </m:sSupPr>
                      <m:e>
                        <m:r>
                          <a:rPr lang="pt-BR" b="1" i="1">
                            <a:latin typeface="Cambria Math" panose="02040503050406030204" pitchFamily="18" charset="0"/>
                            <a:ea typeface="Cambria Math" panose="02040503050406030204" pitchFamily="18" charset="0"/>
                          </a:rPr>
                          <m:t>𝑰</m:t>
                        </m:r>
                      </m:e>
                      <m:sup>
                        <m:r>
                          <a:rPr lang="pt-BR" b="1" i="1">
                            <a:latin typeface="Cambria Math" panose="02040503050406030204" pitchFamily="18" charset="0"/>
                            <a:ea typeface="Cambria Math" panose="02040503050406030204" pitchFamily="18" charset="0"/>
                          </a:rPr>
                          <m:t>′</m:t>
                        </m:r>
                      </m:sup>
                    </m:sSup>
                  </m:oMath>
                </a14:m>
                <a:r>
                  <a:rPr lang="pt-BR" dirty="0"/>
                  <a:t> é uma </a:t>
                </a:r>
                <a:r>
                  <a:rPr lang="pt-BR" b="1" i="1" dirty="0"/>
                  <a:t>matriz identidade</a:t>
                </a:r>
                <a:r>
                  <a:rPr lang="pt-BR" dirty="0"/>
                  <a:t> de tamanho </a:t>
                </a:r>
                <a14:m>
                  <m:oMath xmlns:m="http://schemas.openxmlformats.org/officeDocument/2006/math">
                    <m:r>
                      <a:rPr lang="pt-BR" i="1">
                        <a:latin typeface="Cambria Math" panose="02040503050406030204" pitchFamily="18" charset="0"/>
                      </a:rPr>
                      <m:t>𝐾</m:t>
                    </m:r>
                    <m:r>
                      <a:rPr lang="pt-BR">
                        <a:latin typeface="Cambria Math" panose="02040503050406030204" pitchFamily="18" charset="0"/>
                      </a:rPr>
                      <m:t>+1</m:t>
                    </m:r>
                  </m:oMath>
                </a14:m>
                <a:r>
                  <a:rPr lang="pt-BR" dirty="0"/>
                  <a:t>, onde o primeiro elemento é feito igual a 0 e </a:t>
                </a:r>
                <a:r>
                  <a:rPr lang="pt-BR" i="1" dirty="0"/>
                  <a:t>a </a:t>
                </a:r>
                <a:r>
                  <a:rPr lang="pt-BR" b="1" i="1" dirty="0"/>
                  <a:t>função sign </a:t>
                </a:r>
                <a:r>
                  <a:rPr lang="pt-BR" dirty="0"/>
                  <a:t>ou </a:t>
                </a:r>
                <a:r>
                  <a:rPr lang="pt-BR" b="1" i="1" dirty="0"/>
                  <a:t>signum</a:t>
                </a:r>
                <a:r>
                  <a:rPr lang="pt-BR" dirty="0"/>
                  <a:t> é uma função matemática ímpar que extrai o sinal de um número real.</a:t>
                </a:r>
              </a:p>
              <a:p>
                <a:r>
                  <a:rPr lang="pt-BR" dirty="0"/>
                  <a:t>A </a:t>
                </a:r>
                <a:r>
                  <a:rPr lang="pt-BR" b="1" i="1" dirty="0"/>
                  <a:t>equação de atualização dos pesos </a:t>
                </a:r>
                <a:r>
                  <a:rPr lang="pt-BR" dirty="0"/>
                  <a:t>é dada por</a:t>
                </a:r>
              </a:p>
              <a:p>
                <a:pPr marL="0" indent="0" algn="ctr">
                  <a:buNone/>
                </a:pPr>
                <a14:m>
                  <m:oMath xmlns:m="http://schemas.openxmlformats.org/officeDocument/2006/math">
                    <m:r>
                      <a:rPr lang="pt-BR" b="1" i="1">
                        <a:latin typeface="Cambria Math" panose="02040503050406030204" pitchFamily="18" charset="0"/>
                        <a:ea typeface="Cambria Math" panose="02040503050406030204" pitchFamily="18" charset="0"/>
                      </a:rPr>
                      <m:t>𝒂</m:t>
                    </m:r>
                  </m:oMath>
                </a14:m>
                <a:r>
                  <a:rPr lang="pt-BR" dirty="0"/>
                  <a:t> =</a:t>
                </a:r>
                <a:r>
                  <a:rPr lang="pt-BR" b="1" dirty="0">
                    <a:ea typeface="Cambria Math" panose="02040503050406030204" pitchFamily="18" charset="0"/>
                  </a:rPr>
                  <a:t> </a:t>
                </a:r>
                <a14:m>
                  <m:oMath xmlns:m="http://schemas.openxmlformats.org/officeDocument/2006/math">
                    <m:r>
                      <a:rPr lang="pt-BR" b="1" i="1">
                        <a:latin typeface="Cambria Math" panose="02040503050406030204" pitchFamily="18" charset="0"/>
                        <a:ea typeface="Cambria Math" panose="02040503050406030204" pitchFamily="18" charset="0"/>
                      </a:rPr>
                      <m:t>𝒂</m:t>
                    </m:r>
                    <m:r>
                      <a:rPr lang="pt-BR" b="1" i="1">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𝛼</m:t>
                    </m:r>
                    <m:d>
                      <m:dPr>
                        <m:begChr m:val="["/>
                        <m:endChr m:val="]"/>
                        <m:ctrlPr>
                          <a:rPr lang="pt-BR" i="1">
                            <a:latin typeface="Cambria Math" panose="02040503050406030204" pitchFamily="18" charset="0"/>
                          </a:rPr>
                        </m:ctrlPr>
                      </m:dPr>
                      <m:e>
                        <m:f>
                          <m:fPr>
                            <m:ctrlPr>
                              <a:rPr lang="pt-BR" i="1">
                                <a:latin typeface="Cambria Math" panose="02040503050406030204" pitchFamily="18" charset="0"/>
                              </a:rPr>
                            </m:ctrlPr>
                          </m:fPr>
                          <m:num>
                            <m:r>
                              <a:rPr lang="pt-BR" i="1">
                                <a:latin typeface="Cambria Math" panose="02040503050406030204" pitchFamily="18" charset="0"/>
                              </a:rPr>
                              <m:t>2</m:t>
                            </m:r>
                          </m:num>
                          <m:den>
                            <m:r>
                              <a:rPr lang="pt-BR" i="1">
                                <a:latin typeface="Cambria Math" panose="02040503050406030204" pitchFamily="18" charset="0"/>
                              </a:rPr>
                              <m:t>𝑁</m:t>
                            </m:r>
                          </m:den>
                        </m:f>
                        <m:sSup>
                          <m:sSupPr>
                            <m:ctrlPr>
                              <a:rPr lang="pt-BR" b="1" i="1" smtClean="0">
                                <a:latin typeface="Cambria Math" panose="02040503050406030204" pitchFamily="18" charset="0"/>
                              </a:rPr>
                            </m:ctrlPr>
                          </m:sSupPr>
                          <m:e>
                            <m:r>
                              <a:rPr lang="pt-BR" b="1" i="1" smtClean="0">
                                <a:latin typeface="Cambria Math" panose="02040503050406030204" pitchFamily="18" charset="0"/>
                              </a:rPr>
                              <m:t>𝑿</m:t>
                            </m:r>
                          </m:e>
                          <m:sup>
                            <m:r>
                              <a:rPr lang="pt-BR" i="1">
                                <a:latin typeface="Cambria Math" panose="02040503050406030204" pitchFamily="18" charset="0"/>
                              </a:rPr>
                              <m:t>𝑇</m:t>
                            </m:r>
                          </m:sup>
                        </m:sSup>
                        <m:d>
                          <m:dPr>
                            <m:ctrlPr>
                              <a:rPr lang="pt-BR" b="1" i="1">
                                <a:latin typeface="Cambria Math" panose="02040503050406030204" pitchFamily="18" charset="0"/>
                              </a:rPr>
                            </m:ctrlPr>
                          </m:dPr>
                          <m:e>
                            <m:r>
                              <a:rPr lang="pt-BR" b="1" i="1">
                                <a:latin typeface="Cambria Math" panose="02040503050406030204" pitchFamily="18" charset="0"/>
                              </a:rPr>
                              <m:t>𝒚</m:t>
                            </m:r>
                            <m:r>
                              <a:rPr lang="pt-BR" i="1">
                                <a:latin typeface="Cambria Math" panose="02040503050406030204" pitchFamily="18" charset="0"/>
                              </a:rPr>
                              <m:t> −</m:t>
                            </m:r>
                            <m:r>
                              <a:rPr lang="pt-BR" b="1" i="1" smtClean="0">
                                <a:latin typeface="Cambria Math" panose="02040503050406030204" pitchFamily="18" charset="0"/>
                              </a:rPr>
                              <m:t>𝑿</m:t>
                            </m:r>
                            <m:r>
                              <a:rPr lang="pt-BR" b="1" i="1">
                                <a:latin typeface="Cambria Math" panose="02040503050406030204" pitchFamily="18" charset="0"/>
                              </a:rPr>
                              <m:t>𝒂</m:t>
                            </m:r>
                          </m:e>
                        </m:d>
                        <m:r>
                          <m:rPr>
                            <m:nor/>
                          </m:rPr>
                          <a:rPr lang="pt-BR" i="0">
                            <a:latin typeface="Cambria Math" panose="02040503050406030204" pitchFamily="18" charset="0"/>
                          </a:rPr>
                          <m:t>−</m:t>
                        </m:r>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𝜆</m:t>
                            </m:r>
                          </m:num>
                          <m:den>
                            <m:r>
                              <a:rPr lang="pt-BR" i="1">
                                <a:latin typeface="Cambria Math" panose="02040503050406030204" pitchFamily="18" charset="0"/>
                              </a:rPr>
                              <m:t>2</m:t>
                            </m:r>
                          </m:den>
                        </m:f>
                        <m:sSup>
                          <m:sSupPr>
                            <m:ctrlPr>
                              <a:rPr lang="pt-BR" b="1" i="1">
                                <a:latin typeface="Cambria Math" panose="02040503050406030204" pitchFamily="18" charset="0"/>
                                <a:ea typeface="Cambria Math" panose="02040503050406030204" pitchFamily="18" charset="0"/>
                              </a:rPr>
                            </m:ctrlPr>
                          </m:sSupPr>
                          <m:e>
                            <m:r>
                              <a:rPr lang="pt-BR" b="1" i="1">
                                <a:latin typeface="Cambria Math" panose="02040503050406030204" pitchFamily="18" charset="0"/>
                                <a:ea typeface="Cambria Math" panose="02040503050406030204" pitchFamily="18" charset="0"/>
                              </a:rPr>
                              <m:t>𝑰</m:t>
                            </m:r>
                          </m:e>
                          <m:sup>
                            <m:r>
                              <a:rPr lang="pt-BR" b="1" i="1">
                                <a:latin typeface="Cambria Math" panose="02040503050406030204" pitchFamily="18" charset="0"/>
                                <a:ea typeface="Cambria Math" panose="02040503050406030204" pitchFamily="18" charset="0"/>
                              </a:rPr>
                              <m:t>′</m:t>
                            </m:r>
                          </m:sup>
                        </m:sSup>
                        <m:r>
                          <m:rPr>
                            <m:sty m:val="p"/>
                          </m:rPr>
                          <a:rPr lang="pt-BR">
                            <a:latin typeface="Cambria Math" panose="02040503050406030204" pitchFamily="18" charset="0"/>
                            <a:ea typeface="Cambria Math" panose="02040503050406030204" pitchFamily="18" charset="0"/>
                          </a:rPr>
                          <m:t>sign</m:t>
                        </m:r>
                        <m:r>
                          <a:rPr lang="pt-BR" b="1" i="1">
                            <a:latin typeface="Cambria Math" panose="02040503050406030204" pitchFamily="18" charset="0"/>
                            <a:ea typeface="Cambria Math" panose="02040503050406030204" pitchFamily="18" charset="0"/>
                          </a:rPr>
                          <m:t>(</m:t>
                        </m:r>
                        <m:r>
                          <a:rPr lang="pt-BR" b="1" i="1">
                            <a:latin typeface="Cambria Math" panose="02040503050406030204" pitchFamily="18" charset="0"/>
                          </a:rPr>
                          <m:t>𝒂</m:t>
                        </m:r>
                        <m:r>
                          <m:rPr>
                            <m:nor/>
                          </m:rPr>
                          <a:rPr lang="pt-BR" i="0">
                            <a:latin typeface="Cambria Math" panose="02040503050406030204" pitchFamily="18" charset="0"/>
                          </a:rPr>
                          <m:t>)</m:t>
                        </m:r>
                      </m:e>
                    </m:d>
                    <m:r>
                      <m:rPr>
                        <m:nor/>
                      </m:rPr>
                      <a:rPr lang="pt-BR" i="0">
                        <a:latin typeface="Cambria Math" panose="02040503050406030204" pitchFamily="18" charset="0"/>
                      </a:rPr>
                      <m:t>.</m:t>
                    </m:r>
                  </m:oMath>
                </a14:m>
                <a:endParaRPr lang="pt-BR"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16000" y="1825624"/>
                <a:ext cx="11016342" cy="5032375"/>
              </a:xfrm>
              <a:blipFill>
                <a:blip r:embed="rId3"/>
                <a:stretch>
                  <a:fillRect l="-996" r="-277"/>
                </a:stretch>
              </a:blipFill>
            </p:spPr>
            <p:txBody>
              <a:bodyPr/>
              <a:lstStyle/>
              <a:p>
                <a:r>
                  <a:rPr lang="pt-BR">
                    <a:noFill/>
                  </a:rPr>
                  <a:t> </a:t>
                </a:r>
              </a:p>
            </p:txBody>
          </p:sp>
        </mc:Fallback>
      </mc:AlternateContent>
      <p:pic>
        <p:nvPicPr>
          <p:cNvPr id="4" name="Picture 2" descr="https://upload.wikimedia.org/wikipedia/commons/thumb/4/4f/Signum_function.svg/300px-Signum_function.svg.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8970" y="3106604"/>
            <a:ext cx="1545373" cy="124145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147471" y="2528664"/>
            <a:ext cx="1376146" cy="307777"/>
          </a:xfrm>
          <a:prstGeom prst="rect">
            <a:avLst/>
          </a:prstGeom>
        </p:spPr>
        <p:txBody>
          <a:bodyPr wrap="none">
            <a:spAutoFit/>
          </a:bodyPr>
          <a:lstStyle/>
          <a:p>
            <a:r>
              <a:rPr lang="pt-BR" sz="1400" dirty="0">
                <a:solidFill>
                  <a:srgbClr val="202122"/>
                </a:solidFill>
              </a:rPr>
              <a:t>indeterminação </a:t>
            </a:r>
            <a:endParaRPr lang="pt-BR" sz="1400" dirty="0"/>
          </a:p>
        </p:txBody>
      </p:sp>
      <p:cxnSp>
        <p:nvCxnSpPr>
          <p:cNvPr id="6" name="Straight Arrow Connector 5"/>
          <p:cNvCxnSpPr>
            <a:stCxn id="5" idx="2"/>
          </p:cNvCxnSpPr>
          <p:nvPr/>
        </p:nvCxnSpPr>
        <p:spPr>
          <a:xfrm>
            <a:off x="835544" y="2836441"/>
            <a:ext cx="246519" cy="7673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Rectangle 10"/>
              <p:cNvSpPr/>
              <p:nvPr/>
            </p:nvSpPr>
            <p:spPr>
              <a:xfrm>
                <a:off x="114282" y="4348054"/>
                <a:ext cx="2533963" cy="457882"/>
              </a:xfrm>
              <a:prstGeom prst="rect">
                <a:avLst/>
              </a:prstGeom>
            </p:spPr>
            <p:txBody>
              <a:bodyPr wrap="none">
                <a:spAutoFit/>
              </a:bodyPr>
              <a:lstStyle/>
              <a:p>
                <a14:m>
                  <m:oMath xmlns:m="http://schemas.openxmlformats.org/officeDocument/2006/math">
                    <m:f>
                      <m:fPr>
                        <m:ctrlPr>
                          <a:rPr lang="pt-BR" sz="1600" i="1" dirty="0" smtClean="0">
                            <a:solidFill>
                              <a:srgbClr val="202122"/>
                            </a:solidFill>
                            <a:latin typeface="Cambria Math" panose="02040503050406030204" pitchFamily="18" charset="0"/>
                          </a:rPr>
                        </m:ctrlPr>
                      </m:fPr>
                      <m:num>
                        <m:r>
                          <a:rPr lang="pt-BR" sz="1600" i="1" dirty="0" smtClean="0">
                            <a:solidFill>
                              <a:srgbClr val="202122"/>
                            </a:solidFill>
                            <a:latin typeface="Cambria Math" panose="02040503050406030204" pitchFamily="18" charset="0"/>
                          </a:rPr>
                          <m:t>𝜕</m:t>
                        </m:r>
                        <m:d>
                          <m:dPr>
                            <m:begChr m:val="|"/>
                            <m:endChr m:val="|"/>
                            <m:ctrlPr>
                              <a:rPr lang="pt-BR" sz="1600" b="0" i="1" dirty="0" smtClean="0">
                                <a:solidFill>
                                  <a:srgbClr val="202122"/>
                                </a:solidFill>
                                <a:latin typeface="Cambria Math" panose="02040503050406030204" pitchFamily="18" charset="0"/>
                              </a:rPr>
                            </m:ctrlPr>
                          </m:dPr>
                          <m:e>
                            <m:r>
                              <a:rPr lang="pt-BR" sz="1600" b="0" i="1" dirty="0" smtClean="0">
                                <a:solidFill>
                                  <a:srgbClr val="202122"/>
                                </a:solidFill>
                                <a:latin typeface="Cambria Math" panose="02040503050406030204" pitchFamily="18" charset="0"/>
                              </a:rPr>
                              <m:t>𝑥</m:t>
                            </m:r>
                          </m:e>
                        </m:d>
                      </m:num>
                      <m:den>
                        <m:r>
                          <a:rPr lang="pt-BR" sz="1600" i="1" dirty="0" smtClean="0">
                            <a:solidFill>
                              <a:srgbClr val="202122"/>
                            </a:solidFill>
                            <a:latin typeface="Cambria Math" panose="02040503050406030204" pitchFamily="18" charset="0"/>
                          </a:rPr>
                          <m:t>𝜕</m:t>
                        </m:r>
                        <m:r>
                          <a:rPr lang="pt-BR" sz="1600" i="1" dirty="0" smtClean="0">
                            <a:solidFill>
                              <a:srgbClr val="202122"/>
                            </a:solidFill>
                            <a:latin typeface="Cambria Math" panose="02040503050406030204" pitchFamily="18" charset="0"/>
                          </a:rPr>
                          <m:t>𝑥</m:t>
                        </m:r>
                      </m:den>
                    </m:f>
                    <m:r>
                      <a:rPr lang="pt-BR" sz="1600" b="0" i="1" dirty="0" smtClean="0">
                        <a:solidFill>
                          <a:srgbClr val="202122"/>
                        </a:solidFill>
                        <a:latin typeface="Cambria Math" panose="02040503050406030204" pitchFamily="18" charset="0"/>
                      </a:rPr>
                      <m:t>=</m:t>
                    </m:r>
                    <m:r>
                      <m:rPr>
                        <m:sty m:val="p"/>
                      </m:rPr>
                      <a:rPr lang="pt-BR" sz="1600" b="0" i="0" dirty="0" smtClean="0">
                        <a:solidFill>
                          <a:srgbClr val="202122"/>
                        </a:solidFill>
                        <a:latin typeface="Cambria Math" panose="02040503050406030204" pitchFamily="18" charset="0"/>
                      </a:rPr>
                      <m:t>sign</m:t>
                    </m:r>
                    <m:d>
                      <m:dPr>
                        <m:ctrlPr>
                          <a:rPr lang="pt-BR" sz="1600" b="0" i="1" dirty="0" smtClean="0">
                            <a:solidFill>
                              <a:srgbClr val="202122"/>
                            </a:solidFill>
                            <a:latin typeface="Cambria Math" panose="02040503050406030204" pitchFamily="18" charset="0"/>
                          </a:rPr>
                        </m:ctrlPr>
                      </m:dPr>
                      <m:e>
                        <m:r>
                          <a:rPr lang="pt-BR" sz="1600" b="0" i="1" dirty="0" smtClean="0">
                            <a:solidFill>
                              <a:srgbClr val="202122"/>
                            </a:solidFill>
                            <a:latin typeface="Cambria Math" panose="02040503050406030204" pitchFamily="18" charset="0"/>
                          </a:rPr>
                          <m:t>𝑥</m:t>
                        </m:r>
                      </m:e>
                    </m:d>
                    <m:r>
                      <a:rPr lang="pt-BR" sz="1600" b="0" i="0" dirty="0" smtClean="0">
                        <a:solidFill>
                          <a:srgbClr val="202122"/>
                        </a:solidFill>
                        <a:latin typeface="Cambria Math" panose="02040503050406030204" pitchFamily="18" charset="0"/>
                      </a:rPr>
                      <m:t>, </m:t>
                    </m:r>
                    <m:r>
                      <m:rPr>
                        <m:sty m:val="p"/>
                      </m:rPr>
                      <a:rPr lang="pt-BR" sz="1600" b="0" i="0" dirty="0" smtClean="0">
                        <a:solidFill>
                          <a:srgbClr val="202122"/>
                        </a:solidFill>
                        <a:latin typeface="Cambria Math" panose="02040503050406030204" pitchFamily="18" charset="0"/>
                      </a:rPr>
                      <m:t>para</m:t>
                    </m:r>
                    <m:r>
                      <a:rPr lang="pt-BR" sz="1600" b="0" i="0" dirty="0" smtClean="0">
                        <a:solidFill>
                          <a:srgbClr val="202122"/>
                        </a:solidFill>
                        <a:latin typeface="Cambria Math" panose="02040503050406030204" pitchFamily="18" charset="0"/>
                      </a:rPr>
                      <m:t> </m:t>
                    </m:r>
                    <m:r>
                      <a:rPr lang="pt-BR" sz="1600" b="0" i="1" dirty="0" smtClean="0">
                        <a:solidFill>
                          <a:srgbClr val="202122"/>
                        </a:solidFill>
                        <a:latin typeface="Cambria Math" panose="02040503050406030204" pitchFamily="18" charset="0"/>
                      </a:rPr>
                      <m:t>𝑥</m:t>
                    </m:r>
                    <m:r>
                      <a:rPr lang="pt-BR" sz="1600" b="0" i="0" dirty="0" smtClean="0">
                        <a:solidFill>
                          <a:srgbClr val="202122"/>
                        </a:solidFill>
                        <a:latin typeface="Cambria Math" panose="02040503050406030204" pitchFamily="18" charset="0"/>
                      </a:rPr>
                      <m:t> </m:t>
                    </m:r>
                    <m:r>
                      <a:rPr lang="pt-BR" sz="1600" b="0" i="1" dirty="0" smtClean="0">
                        <a:solidFill>
                          <a:srgbClr val="202122"/>
                        </a:solidFill>
                        <a:latin typeface="Cambria Math" panose="02040503050406030204" pitchFamily="18" charset="0"/>
                        <a:ea typeface="Cambria Math" panose="02040503050406030204" pitchFamily="18" charset="0"/>
                      </a:rPr>
                      <m:t>≠0.</m:t>
                    </m:r>
                  </m:oMath>
                </a14:m>
                <a:r>
                  <a:rPr lang="pt-BR" sz="1600" dirty="0"/>
                  <a:t> </a:t>
                </a:r>
              </a:p>
            </p:txBody>
          </p:sp>
        </mc:Choice>
        <mc:Fallback xmlns="">
          <p:sp>
            <p:nvSpPr>
              <p:cNvPr id="11" name="Rectangle 10"/>
              <p:cNvSpPr>
                <a:spLocks noRot="1" noChangeAspect="1" noMove="1" noResize="1" noEditPoints="1" noAdjustHandles="1" noChangeArrowheads="1" noChangeShapeType="1" noTextEdit="1"/>
              </p:cNvSpPr>
              <p:nvPr/>
            </p:nvSpPr>
            <p:spPr>
              <a:xfrm>
                <a:off x="114282" y="4348054"/>
                <a:ext cx="2533963" cy="457882"/>
              </a:xfrm>
              <a:prstGeom prst="rect">
                <a:avLst/>
              </a:prstGeom>
              <a:blipFill rotWithShape="0">
                <a:blip r:embed="rId5"/>
                <a:stretch>
                  <a:fillRect b="-1333"/>
                </a:stretch>
              </a:blipFill>
            </p:spPr>
            <p:txBody>
              <a:bodyPr/>
              <a:lstStyle/>
              <a:p>
                <a:r>
                  <a:rPr lang="pt-BR">
                    <a:noFill/>
                  </a:rPr>
                  <a:t> </a:t>
                </a:r>
              </a:p>
            </p:txBody>
          </p:sp>
        </mc:Fallback>
      </mc:AlternateContent>
      <p:sp>
        <p:nvSpPr>
          <p:cNvPr id="13" name="TextBox 12"/>
          <p:cNvSpPr txBox="1"/>
          <p:nvPr/>
        </p:nvSpPr>
        <p:spPr>
          <a:xfrm>
            <a:off x="9613313" y="5619690"/>
            <a:ext cx="2024060" cy="461665"/>
          </a:xfrm>
          <a:prstGeom prst="rect">
            <a:avLst/>
          </a:prstGeom>
          <a:noFill/>
        </p:spPr>
        <p:txBody>
          <a:bodyPr wrap="square" rtlCol="0">
            <a:spAutoFit/>
          </a:bodyPr>
          <a:lstStyle/>
          <a:p>
            <a:pPr algn="ctr"/>
            <a:r>
              <a:rPr lang="pt-BR" sz="1200" dirty="0"/>
              <a:t>Implementações práticas consideram que sign(0) = 0.</a:t>
            </a:r>
          </a:p>
        </p:txBody>
      </p:sp>
      <p:cxnSp>
        <p:nvCxnSpPr>
          <p:cNvPr id="14" name="Straight Arrow Connector 13"/>
          <p:cNvCxnSpPr/>
          <p:nvPr/>
        </p:nvCxnSpPr>
        <p:spPr>
          <a:xfrm flipH="1">
            <a:off x="8580474" y="5866594"/>
            <a:ext cx="1176340" cy="32316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7"/>
          <p:cNvCxnSpPr/>
          <p:nvPr/>
        </p:nvCxnSpPr>
        <p:spPr>
          <a:xfrm flipH="1">
            <a:off x="9218428" y="3692021"/>
            <a:ext cx="956506" cy="6127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0"/>
          <p:cNvSpPr txBox="1"/>
          <p:nvPr/>
        </p:nvSpPr>
        <p:spPr>
          <a:xfrm>
            <a:off x="10205645" y="4082522"/>
            <a:ext cx="1793192" cy="646331"/>
          </a:xfrm>
          <a:prstGeom prst="rect">
            <a:avLst/>
          </a:prstGeom>
          <a:noFill/>
        </p:spPr>
        <p:txBody>
          <a:bodyPr wrap="square" rtlCol="0">
            <a:spAutoFit/>
          </a:bodyPr>
          <a:lstStyle/>
          <a:p>
            <a:pPr algn="ctr"/>
            <a:r>
              <a:rPr lang="pt-BR" sz="1200" b="1" dirty="0"/>
              <a:t>Equação geral</a:t>
            </a:r>
            <a:r>
              <a:rPr lang="pt-BR" sz="1200" dirty="0"/>
              <a:t> do vetor gradiente em formato matricial.</a:t>
            </a:r>
          </a:p>
        </p:txBody>
      </p:sp>
      <p:cxnSp>
        <p:nvCxnSpPr>
          <p:cNvPr id="17" name="Straight Arrow Connector 11"/>
          <p:cNvCxnSpPr/>
          <p:nvPr/>
        </p:nvCxnSpPr>
        <p:spPr>
          <a:xfrm flipH="1">
            <a:off x="9377916" y="4313355"/>
            <a:ext cx="797017" cy="12042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2"/>
          <p:cNvSpPr txBox="1"/>
          <p:nvPr/>
        </p:nvSpPr>
        <p:spPr>
          <a:xfrm>
            <a:off x="10174932" y="3461188"/>
            <a:ext cx="1605942" cy="461665"/>
          </a:xfrm>
          <a:prstGeom prst="rect">
            <a:avLst/>
          </a:prstGeom>
          <a:noFill/>
        </p:spPr>
        <p:txBody>
          <a:bodyPr wrap="square" rtlCol="0">
            <a:spAutoFit/>
          </a:bodyPr>
          <a:lstStyle/>
          <a:p>
            <a:pPr algn="ctr"/>
            <a:r>
              <a:rPr lang="pt-BR" sz="1200" dirty="0"/>
              <a:t>Gradiente com relação ao peso de bias</a:t>
            </a:r>
          </a:p>
        </p:txBody>
      </p:sp>
    </p:spTree>
    <p:extLst>
      <p:ext uri="{BB962C8B-B14F-4D97-AF65-F5344CB8AC3E}">
        <p14:creationId xmlns:p14="http://schemas.microsoft.com/office/powerpoint/2010/main" val="396620089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194103"/>
            <a:ext cx="11219821" cy="729157"/>
          </a:xfrm>
        </p:spPr>
        <p:txBody>
          <a:bodyPr vert="horz" lIns="91440" tIns="45720" rIns="91440" bIns="45720" rtlCol="0" anchor="ctr">
            <a:normAutofit fontScale="90000"/>
          </a:bodyPr>
          <a:lstStyle/>
          <a:p>
            <a:r>
              <a:rPr lang="pt-BR" dirty="0"/>
              <a:t>Por que a regressão LASSO produz modelos esparsos?</a:t>
            </a:r>
          </a:p>
        </p:txBody>
      </p:sp>
      <mc:AlternateContent xmlns:mc="http://schemas.openxmlformats.org/markup-compatibility/2006" xmlns:a14="http://schemas.microsoft.com/office/drawing/2010/main">
        <mc:Choice Requires="a14">
          <p:sp>
            <p:nvSpPr>
              <p:cNvPr id="8" name="Content Placeholder 2"/>
              <p:cNvSpPr>
                <a:spLocks noGrp="1"/>
              </p:cNvSpPr>
              <p:nvPr>
                <p:ph idx="1"/>
              </p:nvPr>
            </p:nvSpPr>
            <p:spPr>
              <a:xfrm>
                <a:off x="465512" y="3755788"/>
                <a:ext cx="11592509" cy="3102212"/>
              </a:xfrm>
            </p:spPr>
            <p:txBody>
              <a:bodyPr>
                <a:normAutofit fontScale="85000" lnSpcReduction="20000"/>
              </a:bodyPr>
              <a:lstStyle/>
              <a:p>
                <a:pPr>
                  <a:buFont typeface="Wingdings" panose="05000000000000000000" pitchFamily="2" charset="2"/>
                  <a:buChar char="§"/>
                </a:pPr>
                <a:r>
                  <a:rPr lang="pt-BR" dirty="0"/>
                  <a:t>A figura mostra as </a:t>
                </a:r>
                <a:r>
                  <a:rPr lang="pt-BR" b="1" i="1" dirty="0"/>
                  <a:t>curvas de nível </a:t>
                </a:r>
                <a:r>
                  <a:rPr lang="pt-BR" dirty="0"/>
                  <a:t>da </a:t>
                </a:r>
                <a:r>
                  <a:rPr lang="pt-BR" b="1" i="1" dirty="0"/>
                  <a:t>função de erro </a:t>
                </a:r>
                <a:r>
                  <a:rPr lang="pt-BR" dirty="0"/>
                  <a:t>de um problema de regressão linear com dois pesos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1</m:t>
                        </m:r>
                      </m:sub>
                    </m:sSub>
                  </m:oMath>
                </a14:m>
                <a:r>
                  <a:rPr lang="pt-BR" dirty="0"/>
                  <a:t> e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2</m:t>
                        </m:r>
                      </m:sub>
                    </m:sSub>
                  </m:oMath>
                </a14:m>
                <a:r>
                  <a:rPr lang="pt-BR" dirty="0"/>
                  <a:t>) e as regiões do </a:t>
                </a:r>
                <a:r>
                  <a:rPr lang="pt-BR" b="1" i="1" dirty="0"/>
                  <a:t>espaço de hipóteses </a:t>
                </a:r>
                <a:r>
                  <a:rPr lang="pt-BR" dirty="0"/>
                  <a:t>onde as restrições L1 e L2 são válidas.</a:t>
                </a:r>
              </a:p>
              <a:p>
                <a:pPr>
                  <a:buFont typeface="Wingdings" panose="05000000000000000000" pitchFamily="2" charset="2"/>
                  <a:buChar char="§"/>
                </a:pPr>
                <a:r>
                  <a:rPr lang="pt-BR" dirty="0"/>
                  <a:t>A solução para ambos os métodos corresponde ao ponto, dentro da </a:t>
                </a:r>
                <a:r>
                  <a:rPr lang="pt-BR" b="1" i="1" dirty="0"/>
                  <a:t>região de factibilidade</a:t>
                </a:r>
                <a:r>
                  <a:rPr lang="pt-BR" dirty="0"/>
                  <a:t> </a:t>
                </a:r>
                <a:r>
                  <a:rPr lang="pt-BR" b="1" i="1" dirty="0"/>
                  <a:t>mais próximo do ponto de mínimo </a:t>
                </a:r>
                <a:r>
                  <a:rPr lang="pt-BR" dirty="0"/>
                  <a:t>da função de erro.</a:t>
                </a:r>
              </a:p>
              <a:p>
                <a:pPr>
                  <a:buFont typeface="Wingdings" panose="05000000000000000000" pitchFamily="2" charset="2"/>
                  <a:buChar char="§"/>
                </a:pPr>
                <a:r>
                  <a:rPr lang="pt-BR" dirty="0"/>
                  <a:t>É fácil ver que para uma posição arbitrária do mínimo, será comum que um </a:t>
                </a:r>
                <a:r>
                  <a:rPr lang="pt-BR" b="1" i="1" dirty="0"/>
                  <a:t>vértice </a:t>
                </a:r>
                <a:r>
                  <a:rPr lang="pt-BR" dirty="0"/>
                  <a:t>(ou cantos) do quadrado seja o ponto mais próximo do ponto de mínimo da função de erro.</a:t>
                </a:r>
              </a:p>
              <a:p>
                <a:pPr>
                  <a:buFont typeface="Wingdings" panose="05000000000000000000" pitchFamily="2" charset="2"/>
                  <a:buChar char="§"/>
                </a:pPr>
                <a:r>
                  <a:rPr lang="pt-BR" dirty="0"/>
                  <a:t>Os </a:t>
                </a:r>
                <a:r>
                  <a:rPr lang="pt-BR" b="1" i="1" dirty="0"/>
                  <a:t>vértices </a:t>
                </a:r>
                <a:r>
                  <a:rPr lang="pt-BR" dirty="0"/>
                  <a:t>na </a:t>
                </a:r>
                <a:r>
                  <a:rPr lang="pt-BR" b="1" i="1" dirty="0"/>
                  <a:t>região de factibilidade </a:t>
                </a:r>
                <a:r>
                  <a:rPr lang="pt-BR" dirty="0"/>
                  <a:t>da restrição L1 aumentam as chances de alguns pesos assumirem o valor zero, pois são eles que possuem valor igual a zero em alguma das dimensões (i.e., pesos).</a:t>
                </a:r>
              </a:p>
            </p:txBody>
          </p:sp>
        </mc:Choice>
        <mc:Fallback xmlns="">
          <p:sp>
            <p:nvSpPr>
              <p:cNvPr id="8" name="Content Placeholder 2"/>
              <p:cNvSpPr>
                <a:spLocks noGrp="1" noRot="1" noChangeAspect="1" noMove="1" noResize="1" noEditPoints="1" noAdjustHandles="1" noChangeArrowheads="1" noChangeShapeType="1" noTextEdit="1"/>
              </p:cNvSpPr>
              <p:nvPr>
                <p:ph idx="1"/>
              </p:nvPr>
            </p:nvSpPr>
            <p:spPr>
              <a:xfrm>
                <a:off x="465512" y="3755788"/>
                <a:ext cx="11592509" cy="3102212"/>
              </a:xfrm>
              <a:blipFill rotWithShape="0">
                <a:blip r:embed="rId3"/>
                <a:stretch>
                  <a:fillRect l="-683" t="-4519" r="-1262" b="-2750"/>
                </a:stretch>
              </a:blipFill>
            </p:spPr>
            <p:txBody>
              <a:bodyPr/>
              <a:lstStyle/>
              <a:p>
                <a:r>
                  <a:rPr lang="pt-BR">
                    <a:noFill/>
                  </a:rPr>
                  <a:t> </a:t>
                </a:r>
              </a:p>
            </p:txBody>
          </p:sp>
        </mc:Fallback>
      </mc:AlternateContent>
      <p:sp>
        <p:nvSpPr>
          <p:cNvPr id="3" name="TextBox 2"/>
          <p:cNvSpPr txBox="1"/>
          <p:nvPr/>
        </p:nvSpPr>
        <p:spPr>
          <a:xfrm>
            <a:off x="5050209" y="1034947"/>
            <a:ext cx="861646" cy="369332"/>
          </a:xfrm>
          <a:prstGeom prst="rect">
            <a:avLst/>
          </a:prstGeom>
          <a:noFill/>
        </p:spPr>
        <p:txBody>
          <a:bodyPr wrap="square" rtlCol="0">
            <a:spAutoFit/>
          </a:bodyPr>
          <a:lstStyle/>
          <a:p>
            <a:r>
              <a:rPr lang="pt-BR" dirty="0"/>
              <a:t>LASSO</a:t>
            </a:r>
          </a:p>
        </p:txBody>
      </p:sp>
      <p:sp>
        <p:nvSpPr>
          <p:cNvPr id="9" name="TextBox 8"/>
          <p:cNvSpPr txBox="1"/>
          <p:nvPr/>
        </p:nvSpPr>
        <p:spPr>
          <a:xfrm>
            <a:off x="8077936" y="1034947"/>
            <a:ext cx="861646" cy="369332"/>
          </a:xfrm>
          <a:prstGeom prst="rect">
            <a:avLst/>
          </a:prstGeom>
          <a:noFill/>
        </p:spPr>
        <p:txBody>
          <a:bodyPr wrap="square" rtlCol="0">
            <a:spAutoFit/>
          </a:bodyPr>
          <a:lstStyle/>
          <a:p>
            <a:r>
              <a:rPr lang="pt-BR" dirty="0"/>
              <a:t>Ridge</a:t>
            </a:r>
          </a:p>
        </p:txBody>
      </p:sp>
      <mc:AlternateContent xmlns:mc="http://schemas.openxmlformats.org/markup-compatibility/2006" xmlns:a14="http://schemas.microsoft.com/office/drawing/2010/main">
        <mc:Choice Requires="a14">
          <p:sp>
            <p:nvSpPr>
              <p:cNvPr id="4" name="TextBox 3"/>
              <p:cNvSpPr txBox="1"/>
              <p:nvPr/>
            </p:nvSpPr>
            <p:spPr>
              <a:xfrm>
                <a:off x="116115" y="1154932"/>
                <a:ext cx="3077028" cy="2308324"/>
              </a:xfrm>
              <a:prstGeom prst="rect">
                <a:avLst/>
              </a:prstGeom>
              <a:noFill/>
            </p:spPr>
            <p:txBody>
              <a:bodyPr wrap="square" rtlCol="0">
                <a:spAutoFit/>
              </a:bodyPr>
              <a:lstStyle/>
              <a:p>
                <a:pPr marL="285750" indent="-285750">
                  <a:buFont typeface="Arial" panose="020B0604020202020204" pitchFamily="34" charset="0"/>
                  <a:buChar char="•"/>
                </a:pPr>
                <a:r>
                  <a:rPr lang="pt-BR" dirty="0"/>
                  <a:t>O quadrado azul representa o conjunto de pontos </a:t>
                </a:r>
                <a14:m>
                  <m:oMath xmlns:m="http://schemas.openxmlformats.org/officeDocument/2006/math">
                    <m:r>
                      <a:rPr lang="pt-BR" b="1" i="1" smtClean="0">
                        <a:latin typeface="Cambria Math" panose="02040503050406030204" pitchFamily="18" charset="0"/>
                      </a:rPr>
                      <m:t>𝒂</m:t>
                    </m:r>
                  </m:oMath>
                </a14:m>
                <a:r>
                  <a:rPr lang="pt-BR" dirty="0"/>
                  <a:t> no espaço de pesos bidimensional que tenham norma L1 menor do que </a:t>
                </a:r>
                <a14:m>
                  <m:oMath xmlns:m="http://schemas.openxmlformats.org/officeDocument/2006/math">
                    <m:r>
                      <a:rPr lang="pt-BR" i="1">
                        <a:latin typeface="Cambria Math" panose="02040503050406030204" pitchFamily="18" charset="0"/>
                      </a:rPr>
                      <m:t>𝑐</m:t>
                    </m:r>
                  </m:oMath>
                </a14:m>
                <a:r>
                  <a:rPr lang="pt-BR" dirty="0"/>
                  <a:t>. </a:t>
                </a:r>
              </a:p>
              <a:p>
                <a:pPr marL="285750" indent="-285750">
                  <a:buFont typeface="Arial" panose="020B0604020202020204" pitchFamily="34" charset="0"/>
                  <a:buChar char="•"/>
                </a:pPr>
                <a:r>
                  <a:rPr lang="pt-BR" dirty="0"/>
                  <a:t>A solução deve estar dentro do quadrado, o mais próximo do mínimo.</a:t>
                </a:r>
              </a:p>
            </p:txBody>
          </p:sp>
        </mc:Choice>
        <mc:Fallback xmlns="">
          <p:sp>
            <p:nvSpPr>
              <p:cNvPr id="4" name="TextBox 3"/>
              <p:cNvSpPr txBox="1">
                <a:spLocks noRot="1" noChangeAspect="1" noMove="1" noResize="1" noEditPoints="1" noAdjustHandles="1" noChangeArrowheads="1" noChangeShapeType="1" noTextEdit="1"/>
              </p:cNvSpPr>
              <p:nvPr/>
            </p:nvSpPr>
            <p:spPr>
              <a:xfrm>
                <a:off x="116115" y="1154932"/>
                <a:ext cx="3077028" cy="2308324"/>
              </a:xfrm>
              <a:prstGeom prst="rect">
                <a:avLst/>
              </a:prstGeom>
              <a:blipFill rotWithShape="0">
                <a:blip r:embed="rId4"/>
                <a:stretch>
                  <a:fillRect l="-1188" t="-1319" r="-2772" b="-316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8881508" y="1151188"/>
                <a:ext cx="3248539" cy="2308324"/>
              </a:xfrm>
              <a:prstGeom prst="rect">
                <a:avLst/>
              </a:prstGeom>
              <a:noFill/>
            </p:spPr>
            <p:txBody>
              <a:bodyPr wrap="square" rtlCol="0">
                <a:spAutoFit/>
              </a:bodyPr>
              <a:lstStyle/>
              <a:p>
                <a:pPr marL="285750" indent="-285750">
                  <a:buFont typeface="Arial" panose="020B0604020202020204" pitchFamily="34" charset="0"/>
                  <a:buChar char="•"/>
                </a:pPr>
                <a:r>
                  <a:rPr lang="pt-BR" dirty="0"/>
                  <a:t>O círculo azul representa o conjunto de pontos </a:t>
                </a:r>
                <a14:m>
                  <m:oMath xmlns:m="http://schemas.openxmlformats.org/officeDocument/2006/math">
                    <m:r>
                      <a:rPr lang="pt-BR" b="1" i="1" smtClean="0">
                        <a:latin typeface="Cambria Math" panose="02040503050406030204" pitchFamily="18" charset="0"/>
                      </a:rPr>
                      <m:t>𝒂</m:t>
                    </m:r>
                  </m:oMath>
                </a14:m>
                <a:r>
                  <a:rPr lang="pt-BR" dirty="0"/>
                  <a:t> no espaço de pesos bidimensional que tenham norma L2 menor do que </a:t>
                </a:r>
                <a14:m>
                  <m:oMath xmlns:m="http://schemas.openxmlformats.org/officeDocument/2006/math">
                    <m:r>
                      <a:rPr lang="pt-BR" b="0" i="1" smtClean="0">
                        <a:latin typeface="Cambria Math" panose="02040503050406030204" pitchFamily="18" charset="0"/>
                      </a:rPr>
                      <m:t>𝑐</m:t>
                    </m:r>
                  </m:oMath>
                </a14:m>
                <a:r>
                  <a:rPr lang="pt-BR" dirty="0"/>
                  <a:t>. </a:t>
                </a:r>
              </a:p>
              <a:p>
                <a:pPr marL="285750" indent="-285750">
                  <a:buFont typeface="Arial" panose="020B0604020202020204" pitchFamily="34" charset="0"/>
                  <a:buChar char="•"/>
                </a:pPr>
                <a:r>
                  <a:rPr lang="pt-BR" dirty="0"/>
                  <a:t>A solução deve estar dentro do círculo, o mais próximo do mínimo.</a:t>
                </a:r>
              </a:p>
            </p:txBody>
          </p:sp>
        </mc:Choice>
        <mc:Fallback xmlns="">
          <p:sp>
            <p:nvSpPr>
              <p:cNvPr id="10" name="TextBox 9"/>
              <p:cNvSpPr txBox="1">
                <a:spLocks noRot="1" noChangeAspect="1" noMove="1" noResize="1" noEditPoints="1" noAdjustHandles="1" noChangeArrowheads="1" noChangeShapeType="1" noTextEdit="1"/>
              </p:cNvSpPr>
              <p:nvPr/>
            </p:nvSpPr>
            <p:spPr>
              <a:xfrm>
                <a:off x="8881508" y="1151188"/>
                <a:ext cx="3248539" cy="2308324"/>
              </a:xfrm>
              <a:prstGeom prst="rect">
                <a:avLst/>
              </a:prstGeom>
              <a:blipFill rotWithShape="0">
                <a:blip r:embed="rId5"/>
                <a:stretch>
                  <a:fillRect l="-1313" t="-1583" r="-1689" b="-3166"/>
                </a:stretch>
              </a:blipFill>
            </p:spPr>
            <p:txBody>
              <a:bodyPr/>
              <a:lstStyle/>
              <a:p>
                <a:r>
                  <a:rPr lang="en-US">
                    <a:noFill/>
                  </a:rPr>
                  <a:t> </a:t>
                </a:r>
              </a:p>
            </p:txBody>
          </p:sp>
        </mc:Fallback>
      </mc:AlternateContent>
      <p:pic>
        <p:nvPicPr>
          <p:cNvPr id="11" name="Picture 10"/>
          <p:cNvPicPr>
            <a:picLocks noChangeAspect="1"/>
          </p:cNvPicPr>
          <p:nvPr/>
        </p:nvPicPr>
        <p:blipFill rotWithShape="1">
          <a:blip r:embed="rId6">
            <a:extLst>
              <a:ext uri="{28A0092B-C50C-407E-A947-70E740481C1C}">
                <a14:useLocalDpi xmlns:a14="http://schemas.microsoft.com/office/drawing/2010/main" val="0"/>
              </a:ext>
            </a:extLst>
          </a:blip>
          <a:srcRect l="2653" t="3125" r="3605"/>
          <a:stretch/>
        </p:blipFill>
        <p:spPr>
          <a:xfrm>
            <a:off x="6055763" y="1050242"/>
            <a:ext cx="2681837" cy="2443936"/>
          </a:xfrm>
          <a:prstGeom prst="rect">
            <a:avLst/>
          </a:prstGeom>
        </p:spPr>
      </p:pic>
      <p:pic>
        <p:nvPicPr>
          <p:cNvPr id="6" name="Picture 5"/>
          <p:cNvPicPr>
            <a:picLocks noChangeAspect="1"/>
          </p:cNvPicPr>
          <p:nvPr/>
        </p:nvPicPr>
        <p:blipFill rotWithShape="1">
          <a:blip r:embed="rId7">
            <a:extLst>
              <a:ext uri="{28A0092B-C50C-407E-A947-70E740481C1C}">
                <a14:useLocalDpi xmlns:a14="http://schemas.microsoft.com/office/drawing/2010/main" val="0"/>
              </a:ext>
            </a:extLst>
          </a:blip>
          <a:srcRect l="2696" t="3219" r="2945" b="1"/>
          <a:stretch/>
        </p:blipFill>
        <p:spPr>
          <a:xfrm>
            <a:off x="3074800" y="1112186"/>
            <a:ext cx="2693378" cy="2386329"/>
          </a:xfrm>
          <a:prstGeom prst="rect">
            <a:avLst/>
          </a:prstGeom>
        </p:spPr>
      </p:pic>
      <p:sp>
        <p:nvSpPr>
          <p:cNvPr id="5" name="CaixaDeTexto 4"/>
          <p:cNvSpPr txBox="1"/>
          <p:nvPr/>
        </p:nvSpPr>
        <p:spPr>
          <a:xfrm>
            <a:off x="5466303" y="1597933"/>
            <a:ext cx="914400" cy="523220"/>
          </a:xfrm>
          <a:prstGeom prst="rect">
            <a:avLst/>
          </a:prstGeom>
          <a:noFill/>
        </p:spPr>
        <p:txBody>
          <a:bodyPr wrap="square" rtlCol="0">
            <a:spAutoFit/>
          </a:bodyPr>
          <a:lstStyle/>
          <a:p>
            <a:pPr algn="ctr"/>
            <a:r>
              <a:rPr lang="pt-BR" sz="1400" dirty="0"/>
              <a:t>pontos de mínimo</a:t>
            </a:r>
            <a:endParaRPr lang="en-US" sz="1400" dirty="0"/>
          </a:p>
        </p:txBody>
      </p:sp>
      <p:cxnSp>
        <p:nvCxnSpPr>
          <p:cNvPr id="12" name="Conector de seta reta 11"/>
          <p:cNvCxnSpPr>
            <a:stCxn id="5" idx="3"/>
          </p:cNvCxnSpPr>
          <p:nvPr/>
        </p:nvCxnSpPr>
        <p:spPr>
          <a:xfrm>
            <a:off x="6380703" y="1859543"/>
            <a:ext cx="834013" cy="14007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ector de seta reta 14"/>
          <p:cNvCxnSpPr>
            <a:stCxn id="5" idx="1"/>
          </p:cNvCxnSpPr>
          <p:nvPr/>
        </p:nvCxnSpPr>
        <p:spPr>
          <a:xfrm flipH="1">
            <a:off x="4471517" y="1859543"/>
            <a:ext cx="994786" cy="18027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441696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66F209-3E3E-0136-4083-293C5897A43D}"/>
              </a:ext>
            </a:extLst>
          </p:cNvPr>
          <p:cNvSpPr>
            <a:spLocks noGrp="1"/>
          </p:cNvSpPr>
          <p:nvPr>
            <p:ph type="title"/>
          </p:nvPr>
        </p:nvSpPr>
        <p:spPr/>
        <p:txBody>
          <a:bodyPr/>
          <a:lstStyle/>
          <a:p>
            <a:r>
              <a:rPr lang="pt-BR" dirty="0"/>
              <a:t>Penalização L1</a:t>
            </a:r>
          </a:p>
        </p:txBody>
      </p:sp>
      <p:sp>
        <p:nvSpPr>
          <p:cNvPr id="3" name="Espaço Reservado para Conteúdo 2">
            <a:extLst>
              <a:ext uri="{FF2B5EF4-FFF2-40B4-BE49-F238E27FC236}">
                <a16:creationId xmlns:a16="http://schemas.microsoft.com/office/drawing/2014/main" id="{D2294B5F-B438-34E2-4845-29E47EF0DECB}"/>
              </a:ext>
            </a:extLst>
          </p:cNvPr>
          <p:cNvSpPr>
            <a:spLocks noGrp="1"/>
          </p:cNvSpPr>
          <p:nvPr>
            <p:ph idx="1"/>
          </p:nvPr>
        </p:nvSpPr>
        <p:spPr>
          <a:xfrm>
            <a:off x="5690794" y="1825624"/>
            <a:ext cx="6501206" cy="5032375"/>
          </a:xfrm>
        </p:spPr>
        <p:txBody>
          <a:bodyPr>
            <a:normAutofit/>
          </a:bodyPr>
          <a:lstStyle/>
          <a:p>
            <a:r>
              <a:rPr lang="pt-BR" dirty="0"/>
              <a:t>A restrição L1 forma uma </a:t>
            </a:r>
            <a:r>
              <a:rPr lang="pt-BR" b="1" dirty="0">
                <a:solidFill>
                  <a:schemeClr val="accent2"/>
                </a:solidFill>
              </a:rPr>
              <a:t>região de factibilidade</a:t>
            </a:r>
            <a:r>
              <a:rPr lang="pt-BR" dirty="0"/>
              <a:t> com “quinas” (losango). </a:t>
            </a:r>
          </a:p>
          <a:p>
            <a:r>
              <a:rPr lang="pt-BR" dirty="0"/>
              <a:t>A solução ótima tende a cair nessas quinas, onde </a:t>
            </a:r>
            <a:r>
              <a:rPr lang="pt-BR" b="1" dirty="0"/>
              <a:t>alguns pesos são zerados</a:t>
            </a:r>
            <a:r>
              <a:rPr lang="pt-BR" dirty="0"/>
              <a:t>.</a:t>
            </a:r>
          </a:p>
          <a:p>
            <a:pPr lvl="1">
              <a:buFont typeface="Wingdings" panose="05000000000000000000" pitchFamily="2" charset="2"/>
              <a:buChar char="§"/>
            </a:pPr>
            <a:r>
              <a:rPr lang="pt-BR" dirty="0"/>
              <a:t>Atributos com </a:t>
            </a:r>
            <a:r>
              <a:rPr lang="pt-BR" b="1" dirty="0">
                <a:solidFill>
                  <a:srgbClr val="7030A0"/>
                </a:solidFill>
              </a:rPr>
              <a:t>pouca contribuição para o modelo</a:t>
            </a:r>
            <a:r>
              <a:rPr lang="pt-BR" dirty="0"/>
              <a:t> tem seus </a:t>
            </a:r>
            <a:r>
              <a:rPr lang="pt-BR" b="1" dirty="0">
                <a:solidFill>
                  <a:srgbClr val="7030A0"/>
                </a:solidFill>
              </a:rPr>
              <a:t>pesos zerados</a:t>
            </a:r>
            <a:r>
              <a:rPr lang="pt-BR" dirty="0"/>
              <a:t>.</a:t>
            </a:r>
          </a:p>
          <a:p>
            <a:r>
              <a:rPr lang="pt-BR" dirty="0"/>
              <a:t>Isso resulta em </a:t>
            </a:r>
          </a:p>
          <a:p>
            <a:pPr lvl="1">
              <a:buFont typeface="Wingdings" panose="05000000000000000000" pitchFamily="2" charset="2"/>
              <a:buChar char="§"/>
            </a:pPr>
            <a:r>
              <a:rPr lang="pt-BR" b="1" dirty="0">
                <a:solidFill>
                  <a:srgbClr val="7030A0"/>
                </a:solidFill>
              </a:rPr>
              <a:t>seleção automática de variáveis</a:t>
            </a:r>
          </a:p>
          <a:p>
            <a:pPr lvl="1">
              <a:buFont typeface="Wingdings" panose="05000000000000000000" pitchFamily="2" charset="2"/>
              <a:buChar char="§"/>
            </a:pPr>
            <a:r>
              <a:rPr lang="pt-BR" dirty="0"/>
              <a:t>um </a:t>
            </a:r>
            <a:r>
              <a:rPr lang="pt-BR" b="1" dirty="0">
                <a:solidFill>
                  <a:schemeClr val="accent1"/>
                </a:solidFill>
              </a:rPr>
              <a:t>modelo mais simples </a:t>
            </a:r>
            <a:r>
              <a:rPr lang="pt-BR" dirty="0"/>
              <a:t>(não </a:t>
            </a:r>
            <a:r>
              <a:rPr lang="pt-BR" dirty="0" err="1"/>
              <a:t>sobreajusta</a:t>
            </a:r>
            <a:r>
              <a:rPr lang="pt-BR" dirty="0"/>
              <a:t>)</a:t>
            </a:r>
          </a:p>
          <a:p>
            <a:pPr lvl="1">
              <a:buFont typeface="Wingdings" panose="05000000000000000000" pitchFamily="2" charset="2"/>
              <a:buChar char="§"/>
            </a:pPr>
            <a:r>
              <a:rPr lang="pt-BR" dirty="0"/>
              <a:t>e </a:t>
            </a:r>
            <a:r>
              <a:rPr lang="pt-BR" b="1" dirty="0">
                <a:solidFill>
                  <a:srgbClr val="00B050"/>
                </a:solidFill>
              </a:rPr>
              <a:t>interpretável</a:t>
            </a:r>
            <a:r>
              <a:rPr lang="pt-BR" dirty="0"/>
              <a:t> </a:t>
            </a:r>
          </a:p>
          <a:p>
            <a:pPr lvl="2">
              <a:buFont typeface="Courier New" panose="02070309020205020404" pitchFamily="49" charset="0"/>
              <a:buChar char="o"/>
            </a:pPr>
            <a:r>
              <a:rPr lang="en-US" dirty="0" err="1"/>
              <a:t>Identificamos</a:t>
            </a:r>
            <a:r>
              <a:rPr lang="en-US" dirty="0"/>
              <a:t> </a:t>
            </a:r>
            <a:r>
              <a:rPr lang="en-US" dirty="0" err="1"/>
              <a:t>quais</a:t>
            </a:r>
            <a:r>
              <a:rPr lang="en-US" dirty="0"/>
              <a:t> </a:t>
            </a:r>
            <a:r>
              <a:rPr lang="en-US" b="1" dirty="0" err="1">
                <a:solidFill>
                  <a:srgbClr val="00B050"/>
                </a:solidFill>
              </a:rPr>
              <a:t>atributos</a:t>
            </a:r>
            <a:r>
              <a:rPr lang="en-US" dirty="0"/>
              <a:t> </a:t>
            </a:r>
            <a:r>
              <a:rPr lang="en-US" dirty="0" err="1"/>
              <a:t>realmente</a:t>
            </a:r>
            <a:r>
              <a:rPr lang="en-US" dirty="0"/>
              <a:t> </a:t>
            </a:r>
            <a:r>
              <a:rPr lang="en-US" b="1" dirty="0" err="1">
                <a:solidFill>
                  <a:srgbClr val="00B050"/>
                </a:solidFill>
              </a:rPr>
              <a:t>importam</a:t>
            </a:r>
            <a:r>
              <a:rPr lang="en-US" dirty="0"/>
              <a:t>.</a:t>
            </a:r>
            <a:endParaRPr lang="pt-BR" dirty="0"/>
          </a:p>
        </p:txBody>
      </p:sp>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id="{A5D2EFB5-F853-0ECE-6705-DF53B688DBE6}"/>
                  </a:ext>
                </a:extLst>
              </p:cNvPr>
              <p:cNvSpPr txBox="1"/>
              <p:nvPr/>
            </p:nvSpPr>
            <p:spPr>
              <a:xfrm>
                <a:off x="1298918" y="2680590"/>
                <a:ext cx="3803434" cy="1470980"/>
              </a:xfrm>
              <a:prstGeom prst="rect">
                <a:avLst/>
              </a:prstGeom>
              <a:noFill/>
            </p:spPr>
            <p:txBody>
              <a:bodyPr wrap="square">
                <a:spAutoFit/>
              </a:bodyPr>
              <a:lstStyle/>
              <a:p>
                <a:pPr/>
                <a14:m>
                  <m:oMathPara xmlns:m="http://schemas.openxmlformats.org/officeDocument/2006/math">
                    <m:oMath>
                      <m:func>
                        <m:funcPr>
                          <m:ctrlPr>
                            <a:rPr lang="nl-BE" sz="2800" i="1">
                              <a:latin typeface="Cambria Math" panose="02040503050406030204" pitchFamily="18" charset="0"/>
                            </a:rPr>
                          </m:ctrlPr>
                        </m:funcPr>
                        <m:fName>
                          <m:limLow>
                            <m:limLowPr>
                              <m:ctrlPr>
                                <a:rPr lang="nl-BE" sz="2800">
                                  <a:latin typeface="Cambria Math" panose="02040503050406030204" pitchFamily="18" charset="0"/>
                                </a:rPr>
                              </m:ctrlPr>
                            </m:limLowPr>
                            <m:e>
                              <m:r>
                                <m:rPr>
                                  <m:sty m:val="p"/>
                                </m:rPr>
                                <a:rPr lang="nl-BE" sz="2800">
                                  <a:latin typeface="Cambria Math" panose="02040503050406030204" pitchFamily="18" charset="0"/>
                                </a:rPr>
                                <m:t>min</m:t>
                              </m:r>
                            </m:e>
                            <m:lim>
                              <m:r>
                                <a:rPr lang="pt-BR" sz="2800" b="1" i="1" smtClean="0">
                                  <a:latin typeface="Cambria Math" panose="02040503050406030204" pitchFamily="18" charset="0"/>
                                </a:rPr>
                                <m:t>𝒂</m:t>
                              </m:r>
                            </m:lim>
                          </m:limLow>
                        </m:fName>
                        <m:e>
                          <m:sSub>
                            <m:sSubPr>
                              <m:ctrlPr>
                                <a:rPr lang="pt-BR" sz="2800" i="1">
                                  <a:latin typeface="Cambria Math" panose="02040503050406030204" pitchFamily="18" charset="0"/>
                                </a:rPr>
                              </m:ctrlPr>
                            </m:sSubPr>
                            <m:e>
                              <m:r>
                                <a:rPr lang="pt-BR" sz="2800" i="1">
                                  <a:latin typeface="Cambria Math" panose="02040503050406030204" pitchFamily="18" charset="0"/>
                                </a:rPr>
                                <m:t>𝐽</m:t>
                              </m:r>
                            </m:e>
                            <m:sub>
                              <m:r>
                                <a:rPr lang="pt-BR" sz="2800" i="1">
                                  <a:latin typeface="Cambria Math" panose="02040503050406030204" pitchFamily="18" charset="0"/>
                                </a:rPr>
                                <m:t>𝑒</m:t>
                              </m:r>
                            </m:sub>
                          </m:sSub>
                          <m:d>
                            <m:dPr>
                              <m:ctrlPr>
                                <a:rPr lang="pt-BR" sz="2800" b="1" i="1">
                                  <a:latin typeface="Cambria Math" panose="02040503050406030204" pitchFamily="18" charset="0"/>
                                </a:rPr>
                              </m:ctrlPr>
                            </m:dPr>
                            <m:e>
                              <m:r>
                                <a:rPr lang="pt-BR" sz="2800" b="1" i="1">
                                  <a:latin typeface="Cambria Math" panose="02040503050406030204" pitchFamily="18" charset="0"/>
                                </a:rPr>
                                <m:t>𝒂</m:t>
                              </m:r>
                            </m:e>
                          </m:d>
                        </m:e>
                      </m:func>
                    </m:oMath>
                  </m:oMathPara>
                </a14:m>
                <a:endParaRPr lang="pt-BR" sz="2800" dirty="0"/>
              </a:p>
              <a:p>
                <a:pPr/>
                <a14:m>
                  <m:oMathPara xmlns:m="http://schemas.openxmlformats.org/officeDocument/2006/math">
                    <m:oMath>
                      <m:r>
                        <m:rPr>
                          <m:sty m:val="p"/>
                        </m:rPr>
                        <a:rPr lang="pt-BR" sz="2800" i="1">
                          <a:latin typeface="Cambria Math" panose="02040503050406030204" pitchFamily="18" charset="0"/>
                        </a:rPr>
                        <m:t>s</m:t>
                      </m:r>
                      <m:r>
                        <a:rPr lang="pt-BR" sz="2800" i="1">
                          <a:latin typeface="Cambria Math" panose="02040503050406030204" pitchFamily="18" charset="0"/>
                        </a:rPr>
                        <m:t>.</m:t>
                      </m:r>
                      <m:r>
                        <a:rPr lang="pt-BR" sz="2800" i="1">
                          <a:latin typeface="Cambria Math" panose="02040503050406030204" pitchFamily="18" charset="0"/>
                        </a:rPr>
                        <m:t>𝑎</m:t>
                      </m:r>
                      <m:r>
                        <a:rPr lang="pt-BR" sz="2800" i="1">
                          <a:latin typeface="Cambria Math" panose="02040503050406030204" pitchFamily="18" charset="0"/>
                        </a:rPr>
                        <m:t>.</m:t>
                      </m:r>
                      <m:sSub>
                        <m:sSubPr>
                          <m:ctrlPr>
                            <a:rPr lang="pt-BR" sz="2800" b="1" i="1">
                              <a:latin typeface="Cambria Math" panose="02040503050406030204" pitchFamily="18" charset="0"/>
                            </a:rPr>
                          </m:ctrlPr>
                        </m:sSubPr>
                        <m:e>
                          <m:d>
                            <m:dPr>
                              <m:begChr m:val="‖"/>
                              <m:endChr m:val="‖"/>
                              <m:ctrlPr>
                                <a:rPr lang="pt-BR" sz="2800" b="1" i="1">
                                  <a:latin typeface="Cambria Math" panose="02040503050406030204" pitchFamily="18" charset="0"/>
                                </a:rPr>
                              </m:ctrlPr>
                            </m:dPr>
                            <m:e>
                              <m:r>
                                <a:rPr lang="pt-BR" sz="2800" b="1" i="1">
                                  <a:latin typeface="Cambria Math" panose="02040503050406030204" pitchFamily="18" charset="0"/>
                                </a:rPr>
                                <m:t>𝒂</m:t>
                              </m:r>
                            </m:e>
                          </m:d>
                        </m:e>
                        <m:sub>
                          <m:r>
                            <a:rPr lang="pt-BR" sz="2800" i="1">
                              <a:latin typeface="Cambria Math" panose="02040503050406030204" pitchFamily="18" charset="0"/>
                              <a:ea typeface="Cambria Math" panose="02040503050406030204" pitchFamily="18" charset="0"/>
                            </a:rPr>
                            <m:t>1</m:t>
                          </m:r>
                        </m:sub>
                      </m:sSub>
                      <m:r>
                        <a:rPr lang="pt-BR" sz="2800" i="1">
                          <a:latin typeface="Cambria Math" panose="02040503050406030204" pitchFamily="18" charset="0"/>
                          <a:ea typeface="Cambria Math" panose="02040503050406030204" pitchFamily="18" charset="0"/>
                        </a:rPr>
                        <m:t>≤</m:t>
                      </m:r>
                      <m:f>
                        <m:fPr>
                          <m:ctrlPr>
                            <a:rPr lang="pt-BR" sz="2800" b="0" i="1" smtClean="0">
                              <a:latin typeface="Cambria Math" panose="02040503050406030204" pitchFamily="18" charset="0"/>
                              <a:ea typeface="Cambria Math" panose="02040503050406030204" pitchFamily="18" charset="0"/>
                            </a:rPr>
                          </m:ctrlPr>
                        </m:fPr>
                        <m:num>
                          <m:r>
                            <a:rPr lang="pt-BR" sz="2800" b="0" i="1" smtClean="0">
                              <a:latin typeface="Cambria Math" panose="02040503050406030204" pitchFamily="18" charset="0"/>
                              <a:ea typeface="Cambria Math" panose="02040503050406030204" pitchFamily="18" charset="0"/>
                            </a:rPr>
                            <m:t>1</m:t>
                          </m:r>
                        </m:num>
                        <m:den>
                          <m:r>
                            <a:rPr lang="pt-BR" sz="2800" i="1">
                              <a:latin typeface="Cambria Math" panose="02040503050406030204" pitchFamily="18" charset="0"/>
                              <a:ea typeface="Cambria Math" panose="02040503050406030204" pitchFamily="18" charset="0"/>
                            </a:rPr>
                            <m:t>𝜆</m:t>
                          </m:r>
                        </m:den>
                      </m:f>
                      <m:r>
                        <a:rPr lang="pt-BR" sz="2800" b="0" i="1" smtClean="0">
                          <a:latin typeface="Cambria Math" panose="02040503050406030204" pitchFamily="18" charset="0"/>
                          <a:ea typeface="Cambria Math" panose="02040503050406030204" pitchFamily="18" charset="0"/>
                        </a:rPr>
                        <m:t>.</m:t>
                      </m:r>
                    </m:oMath>
                  </m:oMathPara>
                </a14:m>
                <a:endParaRPr lang="pt-BR" sz="2800" dirty="0"/>
              </a:p>
            </p:txBody>
          </p:sp>
        </mc:Choice>
        <mc:Fallback xmlns="">
          <p:sp>
            <p:nvSpPr>
              <p:cNvPr id="5" name="CaixaDeTexto 4">
                <a:extLst>
                  <a:ext uri="{FF2B5EF4-FFF2-40B4-BE49-F238E27FC236}">
                    <a16:creationId xmlns:a16="http://schemas.microsoft.com/office/drawing/2014/main" id="{A5D2EFB5-F853-0ECE-6705-DF53B688DBE6}"/>
                  </a:ext>
                </a:extLst>
              </p:cNvPr>
              <p:cNvSpPr txBox="1">
                <a:spLocks noRot="1" noChangeAspect="1" noMove="1" noResize="1" noEditPoints="1" noAdjustHandles="1" noChangeArrowheads="1" noChangeShapeType="1" noTextEdit="1"/>
              </p:cNvSpPr>
              <p:nvPr/>
            </p:nvSpPr>
            <p:spPr>
              <a:xfrm>
                <a:off x="1298918" y="2680590"/>
                <a:ext cx="3803434" cy="147098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id="{94FA96E5-6E55-D162-F30C-3F9BF88DAB2A}"/>
                  </a:ext>
                </a:extLst>
              </p:cNvPr>
              <p:cNvSpPr txBox="1"/>
              <p:nvPr/>
            </p:nvSpPr>
            <p:spPr>
              <a:xfrm>
                <a:off x="429768" y="1825624"/>
                <a:ext cx="5212478" cy="652999"/>
              </a:xfrm>
              <a:prstGeom prst="rect">
                <a:avLst/>
              </a:prstGeom>
              <a:noFill/>
            </p:spPr>
            <p:txBody>
              <a:bodyPr wrap="square">
                <a:spAutoFit/>
              </a:bodyPr>
              <a:lstStyle/>
              <a:p>
                <a:pPr/>
                <a14:m>
                  <m:oMathPara xmlns:m="http://schemas.openxmlformats.org/officeDocument/2006/math">
                    <m:oMath>
                      <m:func>
                        <m:funcPr>
                          <m:ctrlPr>
                            <a:rPr lang="nl-BE" sz="2800" i="1">
                              <a:latin typeface="Cambria Math" panose="02040503050406030204" pitchFamily="18" charset="0"/>
                            </a:rPr>
                          </m:ctrlPr>
                        </m:funcPr>
                        <m:fName>
                          <m:limLow>
                            <m:limLowPr>
                              <m:ctrlPr>
                                <a:rPr lang="nl-BE" sz="2800">
                                  <a:latin typeface="Cambria Math" panose="02040503050406030204" pitchFamily="18" charset="0"/>
                                </a:rPr>
                              </m:ctrlPr>
                            </m:limLowPr>
                            <m:e>
                              <m:r>
                                <m:rPr>
                                  <m:sty m:val="p"/>
                                </m:rPr>
                                <a:rPr lang="nl-BE" sz="2800">
                                  <a:latin typeface="Cambria Math" panose="02040503050406030204" pitchFamily="18" charset="0"/>
                                </a:rPr>
                                <m:t>min</m:t>
                              </m:r>
                            </m:e>
                            <m:lim>
                              <m:r>
                                <a:rPr lang="pt-BR" sz="2800" b="1" i="1" smtClean="0">
                                  <a:latin typeface="Cambria Math" panose="02040503050406030204" pitchFamily="18" charset="0"/>
                                </a:rPr>
                                <m:t>𝒂</m:t>
                              </m:r>
                              <m:r>
                                <a:rPr lang="pt-BR" sz="2800" b="1" i="1">
                                  <a:latin typeface="Cambria Math" panose="02040503050406030204" pitchFamily="18" charset="0"/>
                                </a:rPr>
                                <m:t> </m:t>
                              </m:r>
                            </m:lim>
                          </m:limLow>
                        </m:fName>
                        <m:e>
                          <m:d>
                            <m:dPr>
                              <m:ctrlPr>
                                <a:rPr lang="pt-BR" sz="2800" b="1" i="1" smtClean="0">
                                  <a:latin typeface="Cambria Math" panose="02040503050406030204" pitchFamily="18" charset="0"/>
                                </a:rPr>
                              </m:ctrlPr>
                            </m:dPr>
                            <m:e>
                              <m:r>
                                <a:rPr lang="pt-BR" sz="2800" b="1" i="1" smtClean="0">
                                  <a:latin typeface="Cambria Math" panose="02040503050406030204" pitchFamily="18" charset="0"/>
                                </a:rPr>
                                <m:t> </m:t>
                              </m:r>
                              <m:sSub>
                                <m:sSubPr>
                                  <m:ctrlPr>
                                    <a:rPr lang="pt-BR" sz="2800" i="1">
                                      <a:latin typeface="Cambria Math" panose="02040503050406030204" pitchFamily="18" charset="0"/>
                                    </a:rPr>
                                  </m:ctrlPr>
                                </m:sSubPr>
                                <m:e>
                                  <m:r>
                                    <a:rPr lang="pt-BR" sz="2800" i="1">
                                      <a:latin typeface="Cambria Math" panose="02040503050406030204" pitchFamily="18" charset="0"/>
                                    </a:rPr>
                                    <m:t>𝐽</m:t>
                                  </m:r>
                                </m:e>
                                <m:sub>
                                  <m:r>
                                    <a:rPr lang="pt-BR" sz="2800" i="1">
                                      <a:latin typeface="Cambria Math" panose="02040503050406030204" pitchFamily="18" charset="0"/>
                                    </a:rPr>
                                    <m:t>𝑒</m:t>
                                  </m:r>
                                </m:sub>
                              </m:sSub>
                              <m:d>
                                <m:dPr>
                                  <m:ctrlPr>
                                    <a:rPr lang="pt-BR" sz="2800" b="1" i="1">
                                      <a:latin typeface="Cambria Math" panose="02040503050406030204" pitchFamily="18" charset="0"/>
                                    </a:rPr>
                                  </m:ctrlPr>
                                </m:dPr>
                                <m:e>
                                  <m:r>
                                    <a:rPr lang="pt-BR" sz="2800" b="1" i="1">
                                      <a:latin typeface="Cambria Math" panose="02040503050406030204" pitchFamily="18" charset="0"/>
                                    </a:rPr>
                                    <m:t>𝒂</m:t>
                                  </m:r>
                                </m:e>
                              </m:d>
                              <m:r>
                                <a:rPr lang="pt-BR" sz="2800" i="1">
                                  <a:latin typeface="Cambria Math" panose="02040503050406030204" pitchFamily="18" charset="0"/>
                                </a:rPr>
                                <m:t>+</m:t>
                              </m:r>
                              <m:r>
                                <a:rPr lang="pt-BR" sz="2800" i="1">
                                  <a:latin typeface="Cambria Math" panose="02040503050406030204" pitchFamily="18" charset="0"/>
                                  <a:ea typeface="Cambria Math" panose="02040503050406030204" pitchFamily="18" charset="0"/>
                                </a:rPr>
                                <m:t>𝜆</m:t>
                              </m:r>
                              <m:sSub>
                                <m:sSubPr>
                                  <m:ctrlPr>
                                    <a:rPr lang="pt-BR" sz="2800" b="1" i="1">
                                      <a:latin typeface="Cambria Math" panose="02040503050406030204" pitchFamily="18" charset="0"/>
                                    </a:rPr>
                                  </m:ctrlPr>
                                </m:sSubPr>
                                <m:e>
                                  <m:d>
                                    <m:dPr>
                                      <m:begChr m:val="‖"/>
                                      <m:endChr m:val="‖"/>
                                      <m:ctrlPr>
                                        <a:rPr lang="pt-BR" sz="2800" b="1" i="1">
                                          <a:latin typeface="Cambria Math" panose="02040503050406030204" pitchFamily="18" charset="0"/>
                                        </a:rPr>
                                      </m:ctrlPr>
                                    </m:dPr>
                                    <m:e>
                                      <m:r>
                                        <a:rPr lang="pt-BR" sz="2800" b="1" i="1">
                                          <a:latin typeface="Cambria Math" panose="02040503050406030204" pitchFamily="18" charset="0"/>
                                        </a:rPr>
                                        <m:t>𝒂</m:t>
                                      </m:r>
                                    </m:e>
                                  </m:d>
                                </m:e>
                                <m:sub>
                                  <m:r>
                                    <a:rPr lang="pt-BR" sz="2800" i="1">
                                      <a:latin typeface="Cambria Math" panose="02040503050406030204" pitchFamily="18" charset="0"/>
                                      <a:ea typeface="Cambria Math" panose="02040503050406030204" pitchFamily="18" charset="0"/>
                                    </a:rPr>
                                    <m:t>1</m:t>
                                  </m:r>
                                </m:sub>
                              </m:sSub>
                            </m:e>
                          </m:d>
                          <m:r>
                            <a:rPr lang="pt-BR" sz="2800" b="1" i="1" smtClean="0">
                              <a:latin typeface="Cambria Math" panose="02040503050406030204" pitchFamily="18" charset="0"/>
                              <a:ea typeface="Cambria Math" panose="02040503050406030204" pitchFamily="18" charset="0"/>
                            </a:rPr>
                            <m:t>,</m:t>
                          </m:r>
                        </m:e>
                      </m:func>
                    </m:oMath>
                  </m:oMathPara>
                </a14:m>
                <a:endParaRPr lang="pt-BR" sz="2800" dirty="0"/>
              </a:p>
            </p:txBody>
          </p:sp>
        </mc:Choice>
        <mc:Fallback xmlns="">
          <p:sp>
            <p:nvSpPr>
              <p:cNvPr id="7" name="CaixaDeTexto 6">
                <a:extLst>
                  <a:ext uri="{FF2B5EF4-FFF2-40B4-BE49-F238E27FC236}">
                    <a16:creationId xmlns:a16="http://schemas.microsoft.com/office/drawing/2014/main" id="{94FA96E5-6E55-D162-F30C-3F9BF88DAB2A}"/>
                  </a:ext>
                </a:extLst>
              </p:cNvPr>
              <p:cNvSpPr txBox="1">
                <a:spLocks noRot="1" noChangeAspect="1" noMove="1" noResize="1" noEditPoints="1" noAdjustHandles="1" noChangeArrowheads="1" noChangeShapeType="1" noTextEdit="1"/>
              </p:cNvSpPr>
              <p:nvPr/>
            </p:nvSpPr>
            <p:spPr>
              <a:xfrm>
                <a:off x="429768" y="1825624"/>
                <a:ext cx="5212478" cy="65299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CaixaDeTexto 12">
                <a:extLst>
                  <a:ext uri="{FF2B5EF4-FFF2-40B4-BE49-F238E27FC236}">
                    <a16:creationId xmlns:a16="http://schemas.microsoft.com/office/drawing/2014/main" id="{819F47D4-12A7-BD7F-55C6-5DB6C2E38871}"/>
                  </a:ext>
                </a:extLst>
              </p:cNvPr>
              <p:cNvSpPr txBox="1"/>
              <p:nvPr/>
            </p:nvSpPr>
            <p:spPr>
              <a:xfrm>
                <a:off x="-33954" y="6573039"/>
                <a:ext cx="6094206" cy="276999"/>
              </a:xfrm>
              <a:prstGeom prst="rect">
                <a:avLst/>
              </a:prstGeom>
              <a:noFill/>
            </p:spPr>
            <p:txBody>
              <a:bodyPr wrap="square">
                <a:spAutoFit/>
              </a:bodyPr>
              <a:lstStyle/>
              <a:p>
                <a:r>
                  <a:rPr lang="pt-BR" sz="1200" b="1" dirty="0">
                    <a:ea typeface="Cambria Math" panose="02040503050406030204" pitchFamily="18" charset="0"/>
                  </a:rPr>
                  <a:t>OBS</a:t>
                </a:r>
                <a:r>
                  <a:rPr lang="pt-BR" sz="1200" dirty="0">
                    <a:ea typeface="Cambria Math" panose="02040503050406030204" pitchFamily="18" charset="0"/>
                  </a:rPr>
                  <a:t>.: </a:t>
                </a:r>
                <a14:m>
                  <m:oMath xmlns:m="http://schemas.openxmlformats.org/officeDocument/2006/math">
                    <m:r>
                      <a:rPr lang="pt-BR" sz="1200" i="1">
                        <a:latin typeface="Cambria Math" panose="02040503050406030204" pitchFamily="18" charset="0"/>
                        <a:ea typeface="Cambria Math" panose="02040503050406030204" pitchFamily="18" charset="0"/>
                      </a:rPr>
                      <m:t>𝜆</m:t>
                    </m:r>
                    <m:r>
                      <a:rPr lang="pt-BR" sz="1200" i="1">
                        <a:latin typeface="Cambria Math" panose="02040503050406030204" pitchFamily="18" charset="0"/>
                        <a:ea typeface="Cambria Math" panose="02040503050406030204" pitchFamily="18" charset="0"/>
                      </a:rPr>
                      <m:t>≥0 </m:t>
                    </m:r>
                  </m:oMath>
                </a14:m>
                <a:r>
                  <a:rPr lang="pt-BR" sz="1200" dirty="0"/>
                  <a:t>é o </a:t>
                </a:r>
                <a:r>
                  <a:rPr lang="pt-BR" sz="1200" b="1" dirty="0"/>
                  <a:t>fator de regularização que restringe a área do losango</a:t>
                </a:r>
                <a:r>
                  <a:rPr lang="pt-BR" sz="1200" b="1" i="1" dirty="0"/>
                  <a:t>.</a:t>
                </a:r>
                <a:endParaRPr lang="pt-BR" sz="1200" dirty="0"/>
              </a:p>
            </p:txBody>
          </p:sp>
        </mc:Choice>
        <mc:Fallback xmlns="">
          <p:sp>
            <p:nvSpPr>
              <p:cNvPr id="13" name="CaixaDeTexto 12">
                <a:extLst>
                  <a:ext uri="{FF2B5EF4-FFF2-40B4-BE49-F238E27FC236}">
                    <a16:creationId xmlns:a16="http://schemas.microsoft.com/office/drawing/2014/main" id="{819F47D4-12A7-BD7F-55C6-5DB6C2E38871}"/>
                  </a:ext>
                </a:extLst>
              </p:cNvPr>
              <p:cNvSpPr txBox="1">
                <a:spLocks noRot="1" noChangeAspect="1" noMove="1" noResize="1" noEditPoints="1" noAdjustHandles="1" noChangeArrowheads="1" noChangeShapeType="1" noTextEdit="1"/>
              </p:cNvSpPr>
              <p:nvPr/>
            </p:nvSpPr>
            <p:spPr>
              <a:xfrm>
                <a:off x="-33954" y="6573039"/>
                <a:ext cx="6094206" cy="276999"/>
              </a:xfrm>
              <a:prstGeom prst="rect">
                <a:avLst/>
              </a:prstGeom>
              <a:blipFill>
                <a:blip r:embed="rId5"/>
                <a:stretch>
                  <a:fillRect b="-15217"/>
                </a:stretch>
              </a:blipFill>
            </p:spPr>
            <p:txBody>
              <a:bodyPr/>
              <a:lstStyle/>
              <a:p>
                <a:r>
                  <a:rPr lang="en-US">
                    <a:noFill/>
                  </a:rPr>
                  <a:t> </a:t>
                </a:r>
              </a:p>
            </p:txBody>
          </p:sp>
        </mc:Fallback>
      </mc:AlternateContent>
      <p:sp>
        <p:nvSpPr>
          <p:cNvPr id="6" name="Retângulo 5">
            <a:extLst>
              <a:ext uri="{FF2B5EF4-FFF2-40B4-BE49-F238E27FC236}">
                <a16:creationId xmlns:a16="http://schemas.microsoft.com/office/drawing/2014/main" id="{B1E50C15-796B-7379-D1C6-2808D390DEE1}"/>
              </a:ext>
            </a:extLst>
          </p:cNvPr>
          <p:cNvSpPr/>
          <p:nvPr/>
        </p:nvSpPr>
        <p:spPr>
          <a:xfrm>
            <a:off x="3429480" y="1796749"/>
            <a:ext cx="995333" cy="59020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Retângulo 7">
            <a:extLst>
              <a:ext uri="{FF2B5EF4-FFF2-40B4-BE49-F238E27FC236}">
                <a16:creationId xmlns:a16="http://schemas.microsoft.com/office/drawing/2014/main" id="{F5FB412B-B269-ECA7-F14E-329AAAC59407}"/>
              </a:ext>
            </a:extLst>
          </p:cNvPr>
          <p:cNvSpPr/>
          <p:nvPr/>
        </p:nvSpPr>
        <p:spPr>
          <a:xfrm>
            <a:off x="2181010" y="1793380"/>
            <a:ext cx="854013" cy="590203"/>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Chave Direita 9">
            <a:extLst>
              <a:ext uri="{FF2B5EF4-FFF2-40B4-BE49-F238E27FC236}">
                <a16:creationId xmlns:a16="http://schemas.microsoft.com/office/drawing/2014/main" id="{0DBFA6D4-9D17-89FF-09AD-0BB33A989E37}"/>
              </a:ext>
            </a:extLst>
          </p:cNvPr>
          <p:cNvSpPr/>
          <p:nvPr/>
        </p:nvSpPr>
        <p:spPr>
          <a:xfrm rot="5400000">
            <a:off x="2899940" y="990996"/>
            <a:ext cx="281654" cy="320446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11" name="CaixaDeTexto 10">
            <a:extLst>
              <a:ext uri="{FF2B5EF4-FFF2-40B4-BE49-F238E27FC236}">
                <a16:creationId xmlns:a16="http://schemas.microsoft.com/office/drawing/2014/main" id="{213457FF-A7B2-D6E1-9337-CAD908FDDE69}"/>
              </a:ext>
            </a:extLst>
          </p:cNvPr>
          <p:cNvSpPr txBox="1"/>
          <p:nvPr/>
        </p:nvSpPr>
        <p:spPr>
          <a:xfrm>
            <a:off x="1778826" y="1464451"/>
            <a:ext cx="1583447" cy="338554"/>
          </a:xfrm>
          <a:prstGeom prst="rect">
            <a:avLst/>
          </a:prstGeom>
          <a:noFill/>
        </p:spPr>
        <p:txBody>
          <a:bodyPr wrap="none" rtlCol="0">
            <a:spAutoFit/>
          </a:bodyPr>
          <a:lstStyle/>
          <a:p>
            <a:r>
              <a:rPr lang="pt-BR" sz="1600" dirty="0"/>
              <a:t>Entropia cruzada</a:t>
            </a:r>
          </a:p>
        </p:txBody>
      </p:sp>
      <p:sp>
        <p:nvSpPr>
          <p:cNvPr id="12" name="CaixaDeTexto 11">
            <a:extLst>
              <a:ext uri="{FF2B5EF4-FFF2-40B4-BE49-F238E27FC236}">
                <a16:creationId xmlns:a16="http://schemas.microsoft.com/office/drawing/2014/main" id="{4A11FE2E-094D-7109-7D29-CDC23773C411}"/>
              </a:ext>
            </a:extLst>
          </p:cNvPr>
          <p:cNvSpPr txBox="1"/>
          <p:nvPr/>
        </p:nvSpPr>
        <p:spPr>
          <a:xfrm>
            <a:off x="3250889" y="1464451"/>
            <a:ext cx="1392112" cy="338554"/>
          </a:xfrm>
          <a:prstGeom prst="rect">
            <a:avLst/>
          </a:prstGeom>
          <a:noFill/>
        </p:spPr>
        <p:txBody>
          <a:bodyPr wrap="none" rtlCol="0">
            <a:spAutoFit/>
          </a:bodyPr>
          <a:lstStyle/>
          <a:p>
            <a:r>
              <a:rPr lang="pt-BR" sz="1600" dirty="0"/>
              <a:t>Penalização L1</a:t>
            </a:r>
          </a:p>
        </p:txBody>
      </p:sp>
      <p:pic>
        <p:nvPicPr>
          <p:cNvPr id="14" name="Picture 13">
            <a:extLst>
              <a:ext uri="{FF2B5EF4-FFF2-40B4-BE49-F238E27FC236}">
                <a16:creationId xmlns:a16="http://schemas.microsoft.com/office/drawing/2014/main" id="{481BBFF1-CC61-26D5-450C-5F573F8A4D3B}"/>
              </a:ext>
            </a:extLst>
          </p:cNvPr>
          <p:cNvPicPr>
            <a:picLocks noChangeAspect="1"/>
          </p:cNvPicPr>
          <p:nvPr/>
        </p:nvPicPr>
        <p:blipFill>
          <a:blip r:embed="rId6" cstate="print">
            <a:extLst>
              <a:ext uri="{28A0092B-C50C-407E-A947-70E740481C1C}">
                <a14:useLocalDpi xmlns:a14="http://schemas.microsoft.com/office/drawing/2010/main" val="0"/>
              </a:ext>
            </a:extLst>
          </a:blip>
          <a:srcRect t="5324" b="10736"/>
          <a:stretch>
            <a:fillRect/>
          </a:stretch>
        </p:blipFill>
        <p:spPr>
          <a:xfrm>
            <a:off x="1876926" y="4075412"/>
            <a:ext cx="2008498" cy="2528872"/>
          </a:xfrm>
          <a:prstGeom prst="rect">
            <a:avLst/>
          </a:prstGeom>
        </p:spPr>
      </p:pic>
    </p:spTree>
    <p:extLst>
      <p:ext uri="{BB962C8B-B14F-4D97-AF65-F5344CB8AC3E}">
        <p14:creationId xmlns:p14="http://schemas.microsoft.com/office/powerpoint/2010/main" val="224809982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Limitações</a:t>
            </a:r>
          </a:p>
        </p:txBody>
      </p:sp>
      <p:sp>
        <p:nvSpPr>
          <p:cNvPr id="3" name="Espaço Reservado para Conteúdo 2"/>
          <p:cNvSpPr>
            <a:spLocks noGrp="1"/>
          </p:cNvSpPr>
          <p:nvPr>
            <p:ph idx="1"/>
          </p:nvPr>
        </p:nvSpPr>
        <p:spPr>
          <a:xfrm>
            <a:off x="838200" y="1825624"/>
            <a:ext cx="11165958" cy="5032375"/>
          </a:xfrm>
        </p:spPr>
        <p:txBody>
          <a:bodyPr>
            <a:normAutofit fontScale="92500" lnSpcReduction="10000"/>
          </a:bodyPr>
          <a:lstStyle/>
          <a:p>
            <a:r>
              <a:rPr lang="pt-BR" dirty="0"/>
              <a:t>Por não fazer </a:t>
            </a:r>
            <a:r>
              <a:rPr lang="pt-BR" b="1" dirty="0"/>
              <a:t>seleção de atributos</a:t>
            </a:r>
            <a:r>
              <a:rPr lang="pt-BR" dirty="0"/>
              <a:t>, a regressão Ridge resulta em um modelo:</a:t>
            </a:r>
          </a:p>
          <a:p>
            <a:pPr lvl="1">
              <a:buFont typeface="Wingdings" panose="05000000000000000000" pitchFamily="2" charset="2"/>
              <a:buChar char="§"/>
            </a:pPr>
            <a:r>
              <a:rPr lang="pt-BR" b="1" dirty="0"/>
              <a:t>Com baixa </a:t>
            </a:r>
            <a:r>
              <a:rPr lang="pt-BR" b="1" dirty="0" err="1"/>
              <a:t>interpretabilidade</a:t>
            </a:r>
            <a:r>
              <a:rPr lang="pt-BR" dirty="0"/>
              <a:t>: não se consegue determinar quais atributos são e não são importantes para a predição.</a:t>
            </a:r>
          </a:p>
          <a:p>
            <a:pPr lvl="1">
              <a:buFont typeface="Wingdings" panose="05000000000000000000" pitchFamily="2" charset="2"/>
              <a:buChar char="§"/>
            </a:pPr>
            <a:r>
              <a:rPr lang="pt-BR" b="1" dirty="0"/>
              <a:t>Complexo</a:t>
            </a:r>
            <a:r>
              <a:rPr lang="pt-BR" dirty="0"/>
              <a:t>: por </a:t>
            </a:r>
            <a:r>
              <a:rPr lang="pt-BR" b="1" dirty="0"/>
              <a:t>manter todos os pesos no modelo, necessita de uma maior quantidade de cálculos</a:t>
            </a:r>
            <a:r>
              <a:rPr lang="pt-BR" dirty="0"/>
              <a:t> para realizar predições, se tornando computacionalmente intensiva quando se lida com um grande número de atributos.</a:t>
            </a:r>
          </a:p>
          <a:p>
            <a:r>
              <a:rPr lang="pt-BR" dirty="0"/>
              <a:t>A regressão LASSO:</a:t>
            </a:r>
          </a:p>
          <a:p>
            <a:pPr lvl="1">
              <a:buFont typeface="Wingdings" panose="05000000000000000000" pitchFamily="2" charset="2"/>
              <a:buChar char="§"/>
            </a:pPr>
            <a:r>
              <a:rPr lang="pt-BR" b="1" dirty="0"/>
              <a:t>Pode não selecionar o melhor atributo quando há forte correlação positiva</a:t>
            </a:r>
            <a:r>
              <a:rPr lang="pt-BR" dirty="0"/>
              <a:t> entre dois ou mais atributos.  </a:t>
            </a:r>
          </a:p>
          <a:p>
            <a:pPr lvl="1">
              <a:buFont typeface="Wingdings" panose="05000000000000000000" pitchFamily="2" charset="2"/>
              <a:buChar char="§"/>
            </a:pPr>
            <a:r>
              <a:rPr lang="pt-BR" dirty="0"/>
              <a:t>Se o </a:t>
            </a:r>
            <a:r>
              <a:rPr lang="pt-BR" b="1" dirty="0"/>
              <a:t>fator de regularização não for ideal</a:t>
            </a:r>
            <a:r>
              <a:rPr lang="pt-BR" dirty="0"/>
              <a:t>, pode levar a um </a:t>
            </a:r>
            <a:r>
              <a:rPr lang="pt-BR" b="1" dirty="0"/>
              <a:t>modelo muito simples </a:t>
            </a:r>
            <a:r>
              <a:rPr lang="pt-BR" dirty="0"/>
              <a:t>que não inclui todas os atributos importantes (devido à seleção de atributos).</a:t>
            </a:r>
          </a:p>
          <a:p>
            <a:pPr lvl="1">
              <a:buFont typeface="Wingdings" panose="05000000000000000000" pitchFamily="2" charset="2"/>
              <a:buChar char="§"/>
            </a:pPr>
            <a:r>
              <a:rPr lang="pt-BR" b="1" dirty="0"/>
              <a:t>Numericamente instável </a:t>
            </a:r>
            <a:r>
              <a:rPr lang="pt-BR" dirty="0"/>
              <a:t>para valores pequenos do </a:t>
            </a:r>
            <a:r>
              <a:rPr lang="pt-BR" b="1" dirty="0"/>
              <a:t>fator de regularização, principalmente para casos subdeterminados, i.e., </a:t>
            </a:r>
            <a:r>
              <a:rPr lang="pt-BR" b="1" i="1" dirty="0"/>
              <a:t>K &gt; N.</a:t>
            </a:r>
            <a:endParaRPr lang="pt-BR" dirty="0"/>
          </a:p>
          <a:p>
            <a:r>
              <a:rPr lang="pt-BR" dirty="0"/>
              <a:t>Nesses casos, a regressão </a:t>
            </a:r>
            <a:r>
              <a:rPr lang="pt-BR" i="1" dirty="0" err="1"/>
              <a:t>Elastic</a:t>
            </a:r>
            <a:r>
              <a:rPr lang="pt-BR" i="1" dirty="0"/>
              <a:t>-Net</a:t>
            </a:r>
            <a:r>
              <a:rPr lang="pt-BR" dirty="0"/>
              <a:t> é mais indicada, pois minimiza as limitações das duas regressões.</a:t>
            </a:r>
          </a:p>
        </p:txBody>
      </p:sp>
    </p:spTree>
    <p:extLst>
      <p:ext uri="{BB962C8B-B14F-4D97-AF65-F5344CB8AC3E}">
        <p14:creationId xmlns:p14="http://schemas.microsoft.com/office/powerpoint/2010/main" val="420189625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55931"/>
            <a:ext cx="10515600" cy="810532"/>
          </a:xfrm>
        </p:spPr>
        <p:txBody>
          <a:bodyPr/>
          <a:lstStyle/>
          <a:p>
            <a:r>
              <a:rPr lang="pt-BR" i="1" dirty="0" err="1"/>
              <a:t>Elastic</a:t>
            </a:r>
            <a:r>
              <a:rPr lang="pt-BR" i="1" dirty="0"/>
              <a:t>-Net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2330214"/>
                <a:ext cx="11197167" cy="4527786"/>
              </a:xfrm>
            </p:spPr>
            <p:txBody>
              <a:bodyPr>
                <a:normAutofit fontScale="92500" lnSpcReduction="20000"/>
              </a:bodyPr>
              <a:lstStyle/>
              <a:p>
                <a:r>
                  <a:rPr lang="pt-BR" b="1" i="1" dirty="0"/>
                  <a:t>Elastic-net</a:t>
                </a:r>
                <a:r>
                  <a:rPr lang="pt-BR" dirty="0"/>
                  <a:t> é uma regularização que combina as regressões Ridge e LASSO de forma a </a:t>
                </a:r>
                <a:r>
                  <a:rPr lang="pt-BR" b="1" dirty="0"/>
                  <a:t>resolver as limitações de ambas</a:t>
                </a:r>
                <a:r>
                  <a:rPr lang="pt-BR" dirty="0"/>
                  <a:t>.</a:t>
                </a:r>
              </a:p>
              <a:p>
                <a:r>
                  <a:rPr lang="pt-BR" dirty="0"/>
                  <a:t>Realiza </a:t>
                </a:r>
                <a:r>
                  <a:rPr lang="pt-BR" b="1" dirty="0"/>
                  <a:t>seleção automática de atributos</a:t>
                </a:r>
                <a:r>
                  <a:rPr lang="pt-BR" dirty="0"/>
                  <a:t> e </a:t>
                </a:r>
                <a:r>
                  <a:rPr lang="pt-BR" b="1" dirty="0"/>
                  <a:t>regularização</a:t>
                </a:r>
                <a:r>
                  <a:rPr lang="pt-BR" dirty="0"/>
                  <a:t> simultaneamente.</a:t>
                </a:r>
              </a:p>
              <a:p>
                <a:r>
                  <a:rPr lang="pt-BR" dirty="0"/>
                  <a:t>Nada mais é do que uma </a:t>
                </a:r>
                <a:r>
                  <a:rPr lang="pt-BR" b="1" dirty="0"/>
                  <a:t>combinação linear </a:t>
                </a:r>
                <a:r>
                  <a:rPr lang="pt-BR" dirty="0"/>
                  <a:t>entre as penalizações baseadas nas normas L1 e L2 do vetor de pesos.</a:t>
                </a:r>
              </a:p>
              <a:p>
                <a:pPr marL="0" indent="0" algn="ctr">
                  <a:buNone/>
                </a:pPr>
                <a14:m>
                  <m:oMath xmlns:m="http://schemas.openxmlformats.org/officeDocument/2006/math">
                    <m:func>
                      <m:funcPr>
                        <m:ctrlPr>
                          <a:rPr lang="nl-BE" i="1">
                            <a:latin typeface="Cambria Math" panose="02040503050406030204" pitchFamily="18" charset="0"/>
                          </a:rPr>
                        </m:ctrlPr>
                      </m:funcPr>
                      <m:fName>
                        <m:limLow>
                          <m:limLowPr>
                            <m:ctrlPr>
                              <a:rPr lang="nl-BE">
                                <a:latin typeface="Cambria Math" panose="02040503050406030204" pitchFamily="18" charset="0"/>
                              </a:rPr>
                            </m:ctrlPr>
                          </m:limLowPr>
                          <m:e>
                            <m:r>
                              <m:rPr>
                                <m:sty m:val="p"/>
                              </m:rPr>
                              <a:rPr lang="nl-BE">
                                <a:latin typeface="Cambria Math" panose="02040503050406030204" pitchFamily="18" charset="0"/>
                              </a:rPr>
                              <m:t>min</m:t>
                            </m:r>
                          </m:e>
                          <m:lim>
                            <m:r>
                              <a:rPr lang="pt-BR" b="1" i="1">
                                <a:latin typeface="Cambria Math" panose="02040503050406030204" pitchFamily="18" charset="0"/>
                              </a:rPr>
                              <m:t>𝒂</m:t>
                            </m:r>
                            <m:r>
                              <a:rPr lang="pt-BR" b="1" i="1" smtClean="0">
                                <a:latin typeface="Cambria Math" panose="02040503050406030204" pitchFamily="18" charset="0"/>
                              </a:rPr>
                              <m:t> </m:t>
                            </m:r>
                            <m:r>
                              <a:rPr lang="pt-BR" b="1" i="1">
                                <a:latin typeface="Cambria Math" panose="02040503050406030204" pitchFamily="18" charset="0"/>
                              </a:rPr>
                              <m:t>∈ </m:t>
                            </m:r>
                            <m:sSup>
                              <m:sSupPr>
                                <m:ctrlPr>
                                  <a:rPr lang="pt-BR" b="1" i="1">
                                    <a:latin typeface="Cambria Math" panose="02040503050406030204" pitchFamily="18" charset="0"/>
                                    <a:ea typeface="Cambria Math" panose="02040503050406030204" pitchFamily="18" charset="0"/>
                                  </a:rPr>
                                </m:ctrlPr>
                              </m:sSupPr>
                              <m:e>
                                <m:r>
                                  <a:rPr lang="pt-BR" b="1" i="1">
                                    <a:latin typeface="Cambria Math" panose="02040503050406030204" pitchFamily="18" charset="0"/>
                                    <a:ea typeface="Cambria Math" panose="02040503050406030204" pitchFamily="18" charset="0"/>
                                  </a:rPr>
                                  <m:t>ℝ</m:t>
                                </m:r>
                              </m:e>
                              <m:sup>
                                <m:r>
                                  <a:rPr lang="pt-BR" i="1">
                                    <a:latin typeface="Cambria Math" panose="02040503050406030204" pitchFamily="18" charset="0"/>
                                  </a:rPr>
                                  <m:t>𝐾</m:t>
                                </m:r>
                                <m:r>
                                  <a:rPr lang="pt-BR" i="1">
                                    <a:latin typeface="Cambria Math" panose="02040503050406030204" pitchFamily="18" charset="0"/>
                                  </a:rPr>
                                  <m:t>+1×1</m:t>
                                </m:r>
                              </m:sup>
                            </m:sSup>
                          </m:lim>
                        </m:limLow>
                      </m:fName>
                      <m:e>
                        <m:d>
                          <m:dPr>
                            <m:ctrlPr>
                              <a:rPr lang="pt-BR" b="1" i="1">
                                <a:latin typeface="Cambria Math" panose="02040503050406030204" pitchFamily="18" charset="0"/>
                              </a:rPr>
                            </m:ctrlPr>
                          </m:dPr>
                          <m:e>
                            <m:sSup>
                              <m:sSupPr>
                                <m:ctrlPr>
                                  <a:rPr lang="pt-BR" b="1" i="1">
                                    <a:latin typeface="Cambria Math" panose="02040503050406030204" pitchFamily="18" charset="0"/>
                                  </a:rPr>
                                </m:ctrlPr>
                              </m:sSupPr>
                              <m:e>
                                <m:d>
                                  <m:dPr>
                                    <m:begChr m:val="‖"/>
                                    <m:endChr m:val="‖"/>
                                    <m:ctrlPr>
                                      <a:rPr lang="pt-BR" b="1" i="1">
                                        <a:latin typeface="Cambria Math" panose="02040503050406030204" pitchFamily="18" charset="0"/>
                                      </a:rPr>
                                    </m:ctrlPr>
                                  </m:dPr>
                                  <m:e>
                                    <m:r>
                                      <a:rPr lang="pt-BR" b="1" i="1">
                                        <a:latin typeface="Cambria Math" panose="02040503050406030204" pitchFamily="18" charset="0"/>
                                      </a:rPr>
                                      <m:t>𝒚</m:t>
                                    </m:r>
                                    <m:r>
                                      <a:rPr lang="pt-BR" i="1">
                                        <a:latin typeface="Cambria Math" panose="02040503050406030204" pitchFamily="18" charset="0"/>
                                      </a:rPr>
                                      <m:t> −</m:t>
                                    </m:r>
                                    <m:r>
                                      <a:rPr lang="el-GR" b="1" i="1">
                                        <a:latin typeface="Cambria Math" panose="02040503050406030204" pitchFamily="18" charset="0"/>
                                      </a:rPr>
                                      <m:t>𝜱</m:t>
                                    </m:r>
                                    <m:r>
                                      <a:rPr lang="pt-BR" b="1" i="1">
                                        <a:latin typeface="Cambria Math" panose="02040503050406030204" pitchFamily="18" charset="0"/>
                                      </a:rPr>
                                      <m:t>𝒂</m:t>
                                    </m:r>
                                  </m:e>
                                </m:d>
                              </m:e>
                              <m:sup>
                                <m:r>
                                  <a:rPr lang="pt-BR" i="1">
                                    <a:latin typeface="Cambria Math" panose="02040503050406030204" pitchFamily="18" charset="0"/>
                                  </a:rPr>
                                  <m:t>2</m:t>
                                </m:r>
                              </m:sup>
                            </m:sSup>
                            <m:r>
                              <a:rPr lang="pt-BR" i="1">
                                <a:latin typeface="Cambria Math" panose="02040503050406030204" pitchFamily="18" charset="0"/>
                              </a:rPr>
                              <m:t>+</m:t>
                            </m:r>
                            <m:r>
                              <a:rPr lang="pt-BR" i="1">
                                <a:latin typeface="Cambria Math" panose="02040503050406030204" pitchFamily="18" charset="0"/>
                                <a:ea typeface="Cambria Math" panose="02040503050406030204" pitchFamily="18" charset="0"/>
                              </a:rPr>
                              <m:t>𝜆</m:t>
                            </m:r>
                            <m:r>
                              <a:rPr lang="pt-BR" i="1">
                                <a:latin typeface="Cambria Math" panose="02040503050406030204" pitchFamily="18" charset="0"/>
                                <a:ea typeface="Cambria Math" panose="02040503050406030204" pitchFamily="18" charset="0"/>
                              </a:rPr>
                              <m:t> </m:t>
                            </m:r>
                            <m:d>
                              <m:dPr>
                                <m:begChr m:val="["/>
                                <m:endChr m:val="]"/>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𝜅</m:t>
                                </m:r>
                                <m:sSub>
                                  <m:sSubPr>
                                    <m:ctrlPr>
                                      <a:rPr lang="pt-BR" b="1" i="1">
                                        <a:latin typeface="Cambria Math" panose="02040503050406030204" pitchFamily="18" charset="0"/>
                                      </a:rPr>
                                    </m:ctrlPr>
                                  </m:sSubPr>
                                  <m:e>
                                    <m:d>
                                      <m:dPr>
                                        <m:begChr m:val="‖"/>
                                        <m:endChr m:val="‖"/>
                                        <m:ctrlPr>
                                          <a:rPr lang="pt-BR" b="1" i="1">
                                            <a:latin typeface="Cambria Math" panose="02040503050406030204" pitchFamily="18" charset="0"/>
                                          </a:rPr>
                                        </m:ctrlPr>
                                      </m:dPr>
                                      <m:e>
                                        <m:r>
                                          <a:rPr lang="pt-BR" b="1" i="1">
                                            <a:latin typeface="Cambria Math" panose="02040503050406030204" pitchFamily="18" charset="0"/>
                                          </a:rPr>
                                          <m:t>𝒂</m:t>
                                        </m:r>
                                      </m:e>
                                    </m:d>
                                  </m:e>
                                  <m:sub>
                                    <m:r>
                                      <a:rPr lang="pt-BR" i="1">
                                        <a:latin typeface="Cambria Math" panose="02040503050406030204" pitchFamily="18" charset="0"/>
                                        <a:ea typeface="Cambria Math" panose="02040503050406030204" pitchFamily="18" charset="0"/>
                                      </a:rPr>
                                      <m:t>1</m:t>
                                    </m:r>
                                  </m:sub>
                                </m:sSub>
                                <m:r>
                                  <a:rPr lang="pt-BR" i="1">
                                    <a:latin typeface="Cambria Math" panose="02040503050406030204" pitchFamily="18" charset="0"/>
                                    <a:ea typeface="Cambria Math" panose="02040503050406030204" pitchFamily="18" charset="0"/>
                                  </a:rPr>
                                  <m:t>+(1−</m:t>
                                </m:r>
                                <m:r>
                                  <a:rPr lang="pt-BR" i="1">
                                    <a:latin typeface="Cambria Math" panose="02040503050406030204" pitchFamily="18" charset="0"/>
                                    <a:ea typeface="Cambria Math" panose="02040503050406030204" pitchFamily="18" charset="0"/>
                                  </a:rPr>
                                  <m:t>𝜅</m:t>
                                </m:r>
                                <m:r>
                                  <a:rPr lang="pt-BR" i="1">
                                    <a:latin typeface="Cambria Math" panose="02040503050406030204" pitchFamily="18" charset="0"/>
                                    <a:ea typeface="Cambria Math" panose="02040503050406030204" pitchFamily="18" charset="0"/>
                                  </a:rPr>
                                  <m:t>)</m:t>
                                </m:r>
                                <m:sSubSup>
                                  <m:sSubSupPr>
                                    <m:ctrlPr>
                                      <a:rPr lang="pt-BR" b="1" i="1">
                                        <a:latin typeface="Cambria Math" panose="02040503050406030204" pitchFamily="18" charset="0"/>
                                      </a:rPr>
                                    </m:ctrlPr>
                                  </m:sSubSupPr>
                                  <m:e>
                                    <m:d>
                                      <m:dPr>
                                        <m:begChr m:val="‖"/>
                                        <m:endChr m:val="‖"/>
                                        <m:ctrlPr>
                                          <a:rPr lang="pt-BR" b="1" i="1">
                                            <a:latin typeface="Cambria Math" panose="02040503050406030204" pitchFamily="18" charset="0"/>
                                          </a:rPr>
                                        </m:ctrlPr>
                                      </m:dPr>
                                      <m:e>
                                        <m:r>
                                          <a:rPr lang="pt-BR" b="1" i="1">
                                            <a:latin typeface="Cambria Math" panose="02040503050406030204" pitchFamily="18" charset="0"/>
                                          </a:rPr>
                                          <m:t>𝒂</m:t>
                                        </m:r>
                                      </m:e>
                                    </m:d>
                                  </m:e>
                                  <m:sub>
                                    <m:r>
                                      <a:rPr lang="pt-BR" i="1">
                                        <a:latin typeface="Cambria Math" panose="02040503050406030204" pitchFamily="18" charset="0"/>
                                        <a:ea typeface="Cambria Math" panose="02040503050406030204" pitchFamily="18" charset="0"/>
                                      </a:rPr>
                                      <m:t>2</m:t>
                                    </m:r>
                                  </m:sub>
                                  <m:sup>
                                    <m:r>
                                      <a:rPr lang="pt-BR" i="1">
                                        <a:latin typeface="Cambria Math" panose="02040503050406030204" pitchFamily="18" charset="0"/>
                                        <a:ea typeface="Cambria Math" panose="02040503050406030204" pitchFamily="18" charset="0"/>
                                      </a:rPr>
                                      <m:t>2</m:t>
                                    </m:r>
                                  </m:sup>
                                </m:sSubSup>
                              </m:e>
                            </m:d>
                          </m:e>
                        </m:d>
                      </m:e>
                    </m:func>
                  </m:oMath>
                </a14:m>
                <a:r>
                  <a:rPr lang="pt-BR" dirty="0"/>
                  <a:t>,</a:t>
                </a:r>
              </a:p>
              <a:p>
                <a:pPr marL="0" indent="0">
                  <a:buNone/>
                </a:pPr>
                <a:r>
                  <a:rPr lang="pt-BR" dirty="0"/>
                  <a:t>onde </a:t>
                </a:r>
                <a14:m>
                  <m:oMath xmlns:m="http://schemas.openxmlformats.org/officeDocument/2006/math">
                    <m:r>
                      <a:rPr lang="pt-BR" i="1">
                        <a:latin typeface="Cambria Math" panose="02040503050406030204" pitchFamily="18" charset="0"/>
                        <a:ea typeface="Cambria Math" panose="02040503050406030204" pitchFamily="18" charset="0"/>
                      </a:rPr>
                      <m:t>𝜅</m:t>
                    </m:r>
                    <m:r>
                      <a:rPr lang="pt-BR" i="1">
                        <a:latin typeface="Cambria Math" panose="02040503050406030204" pitchFamily="18" charset="0"/>
                        <a:ea typeface="Cambria Math" panose="02040503050406030204" pitchFamily="18" charset="0"/>
                      </a:rPr>
                      <m:t> </m:t>
                    </m:r>
                    <m:r>
                      <a:rPr lang="pt-BR" i="1">
                        <a:latin typeface="Cambria Math" panose="02040503050406030204" pitchFamily="18" charset="0"/>
                        <a:ea typeface="Cambria Math" panose="02040503050406030204" pitchFamily="18" charset="0"/>
                      </a:rPr>
                      <m:t>𝜖</m:t>
                    </m:r>
                    <m:r>
                      <a:rPr lang="pt-BR" i="1">
                        <a:latin typeface="Cambria Math" panose="02040503050406030204" pitchFamily="18" charset="0"/>
                        <a:ea typeface="Cambria Math" panose="02040503050406030204" pitchFamily="18" charset="0"/>
                      </a:rPr>
                      <m:t> [0, 1]</m:t>
                    </m:r>
                  </m:oMath>
                </a14:m>
                <a:r>
                  <a:rPr lang="pt-BR" dirty="0"/>
                  <a:t> é o </a:t>
                </a:r>
                <a:r>
                  <a:rPr lang="pt-BR" b="1" dirty="0"/>
                  <a:t>fator de elasticidade </a:t>
                </a:r>
                <a:r>
                  <a:rPr lang="pt-BR" dirty="0"/>
                  <a:t>entre as duas normas, ou seja, estabelece uma </a:t>
                </a:r>
                <a:r>
                  <a:rPr lang="pt-BR" b="1" dirty="0"/>
                  <a:t>relação de compromisso entre as duas normas</a:t>
                </a:r>
                <a:r>
                  <a:rPr lang="pt-BR" dirty="0"/>
                  <a:t>.</a:t>
                </a:r>
              </a:p>
              <a:p>
                <a:r>
                  <a:rPr lang="pt-BR" dirty="0"/>
                  <a:t>Quando </a:t>
                </a:r>
                <a14:m>
                  <m:oMath xmlns:m="http://schemas.openxmlformats.org/officeDocument/2006/math">
                    <m:r>
                      <a:rPr lang="pt-BR" i="1">
                        <a:latin typeface="Cambria Math" panose="02040503050406030204" pitchFamily="18" charset="0"/>
                        <a:ea typeface="Cambria Math" panose="02040503050406030204" pitchFamily="18" charset="0"/>
                      </a:rPr>
                      <m:t>𝜅</m:t>
                    </m:r>
                  </m:oMath>
                </a14:m>
                <a:r>
                  <a:rPr lang="pt-BR" dirty="0"/>
                  <a:t> = 0, é equivalente à regressão Ridge, e quando </a:t>
                </a:r>
                <a14:m>
                  <m:oMath xmlns:m="http://schemas.openxmlformats.org/officeDocument/2006/math">
                    <m:r>
                      <a:rPr lang="pt-BR" i="1">
                        <a:latin typeface="Cambria Math" panose="02040503050406030204" pitchFamily="18" charset="0"/>
                        <a:ea typeface="Cambria Math" panose="02040503050406030204" pitchFamily="18" charset="0"/>
                      </a:rPr>
                      <m:t>𝜅</m:t>
                    </m:r>
                  </m:oMath>
                </a14:m>
                <a:r>
                  <a:rPr lang="pt-BR" dirty="0"/>
                  <a:t> = 1, ela é equivalente a regressão LASSO.</a:t>
                </a:r>
              </a:p>
              <a:p>
                <a:r>
                  <a:rPr lang="pt-BR" dirty="0"/>
                  <a:t>A seleção dos hiperparâmetros </a:t>
                </a:r>
                <a14:m>
                  <m:oMath xmlns:m="http://schemas.openxmlformats.org/officeDocument/2006/math">
                    <m:r>
                      <a:rPr lang="pt-BR" i="1">
                        <a:latin typeface="Cambria Math" panose="02040503050406030204" pitchFamily="18" charset="0"/>
                        <a:ea typeface="Cambria Math" panose="02040503050406030204" pitchFamily="18" charset="0"/>
                      </a:rPr>
                      <m:t>𝜅</m:t>
                    </m:r>
                    <m:r>
                      <a:rPr lang="pt-BR" i="1">
                        <a:latin typeface="Cambria Math" panose="02040503050406030204" pitchFamily="18" charset="0"/>
                        <a:ea typeface="Cambria Math" panose="02040503050406030204" pitchFamily="18" charset="0"/>
                      </a:rPr>
                      <m:t> </m:t>
                    </m:r>
                  </m:oMath>
                </a14:m>
                <a:r>
                  <a:rPr lang="pt-BR" dirty="0"/>
                  <a:t>e </a:t>
                </a:r>
                <a14:m>
                  <m:oMath xmlns:m="http://schemas.openxmlformats.org/officeDocument/2006/math">
                    <m:r>
                      <a:rPr lang="pt-BR" i="1">
                        <a:latin typeface="Cambria Math" panose="02040503050406030204" pitchFamily="18" charset="0"/>
                        <a:ea typeface="Cambria Math" panose="02040503050406030204" pitchFamily="18" charset="0"/>
                      </a:rPr>
                      <m:t>𝜆</m:t>
                    </m:r>
                    <m:r>
                      <a:rPr lang="pt-BR" i="1">
                        <a:latin typeface="Cambria Math" panose="02040503050406030204" pitchFamily="18" charset="0"/>
                        <a:ea typeface="Cambria Math" panose="02040503050406030204" pitchFamily="18" charset="0"/>
                      </a:rPr>
                      <m:t> </m:t>
                    </m:r>
                  </m:oMath>
                </a14:m>
                <a:r>
                  <a:rPr lang="pt-BR" dirty="0"/>
                  <a:t>pode ser feita por meio de </a:t>
                </a:r>
                <a:r>
                  <a:rPr lang="pt-BR" b="1" dirty="0"/>
                  <a:t>validação cruzada</a:t>
                </a:r>
                <a:r>
                  <a:rPr lang="pt-BR"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2330214"/>
                <a:ext cx="11197167" cy="4527786"/>
              </a:xfrm>
              <a:blipFill>
                <a:blip r:embed="rId3"/>
                <a:stretch>
                  <a:fillRect l="-980" t="-3365" r="-1471"/>
                </a:stretch>
              </a:blipFill>
            </p:spPr>
            <p:txBody>
              <a:bodyPr/>
              <a:lstStyle/>
              <a:p>
                <a:r>
                  <a:rPr lang="en-US">
                    <a:noFill/>
                  </a:rPr>
                  <a:t> </a:t>
                </a:r>
              </a:p>
            </p:txBody>
          </p:sp>
        </mc:Fallback>
      </mc:AlternateContent>
      <p:pic>
        <p:nvPicPr>
          <p:cNvPr id="1026" name="Picture 2" descr="https://miro.medium.com/max/761/1*nrWncnoJ4V_BkzEf1pd4MA.png"/>
          <p:cNvPicPr>
            <a:picLocks noChangeAspect="1" noChangeArrowheads="1"/>
          </p:cNvPicPr>
          <p:nvPr/>
        </p:nvPicPr>
        <p:blipFill rotWithShape="1">
          <a:blip r:embed="rId4">
            <a:extLst>
              <a:ext uri="{28A0092B-C50C-407E-A947-70E740481C1C}">
                <a14:useLocalDpi xmlns:a14="http://schemas.microsoft.com/office/drawing/2010/main" val="0"/>
              </a:ext>
            </a:extLst>
          </a:blip>
          <a:srcRect l="2859" t="10764" r="2427" b="3407"/>
          <a:stretch/>
        </p:blipFill>
        <p:spPr bwMode="auto">
          <a:xfrm>
            <a:off x="3993765" y="122613"/>
            <a:ext cx="5276215" cy="208594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Rectangle 4"/>
              <p:cNvSpPr/>
              <p:nvPr/>
            </p:nvSpPr>
            <p:spPr>
              <a:xfrm>
                <a:off x="9269980" y="597075"/>
                <a:ext cx="2765387" cy="830997"/>
              </a:xfrm>
              <a:prstGeom prst="rect">
                <a:avLst/>
              </a:prstGeom>
            </p:spPr>
            <p:txBody>
              <a:bodyPr wrap="square">
                <a:spAutoFit/>
              </a:bodyPr>
              <a:lstStyle/>
              <a:p>
                <a:r>
                  <a:rPr lang="pt-BR" sz="1600" dirty="0">
                    <a:ea typeface="Cambria Math" panose="02040503050406030204" pitchFamily="18" charset="0"/>
                  </a:rPr>
                  <a:t>O hiperparâmetro </a:t>
                </a:r>
                <a14:m>
                  <m:oMath xmlns:m="http://schemas.openxmlformats.org/officeDocument/2006/math">
                    <m:r>
                      <a:rPr lang="pt-BR" sz="1600" i="1">
                        <a:latin typeface="Cambria Math" panose="02040503050406030204" pitchFamily="18" charset="0"/>
                        <a:ea typeface="Cambria Math" panose="02040503050406030204" pitchFamily="18" charset="0"/>
                      </a:rPr>
                      <m:t>𝜅</m:t>
                    </m:r>
                  </m:oMath>
                </a14:m>
                <a:r>
                  <a:rPr lang="pt-BR" sz="1600" dirty="0"/>
                  <a:t> dita a relação de compromisso entre as duas regularizações.</a:t>
                </a:r>
              </a:p>
            </p:txBody>
          </p:sp>
        </mc:Choice>
        <mc:Fallback xmlns="">
          <p:sp>
            <p:nvSpPr>
              <p:cNvPr id="5" name="Rectangle 4"/>
              <p:cNvSpPr>
                <a:spLocks noRot="1" noChangeAspect="1" noMove="1" noResize="1" noEditPoints="1" noAdjustHandles="1" noChangeArrowheads="1" noChangeShapeType="1" noTextEdit="1"/>
              </p:cNvSpPr>
              <p:nvPr/>
            </p:nvSpPr>
            <p:spPr>
              <a:xfrm>
                <a:off x="9269980" y="597075"/>
                <a:ext cx="2765387" cy="830997"/>
              </a:xfrm>
              <a:prstGeom prst="rect">
                <a:avLst/>
              </a:prstGeom>
              <a:blipFill rotWithShape="0">
                <a:blip r:embed="rId5"/>
                <a:stretch>
                  <a:fillRect l="-1325" t="-2206" b="-8824"/>
                </a:stretch>
              </a:blipFill>
            </p:spPr>
            <p:txBody>
              <a:bodyPr/>
              <a:lstStyle/>
              <a:p>
                <a:r>
                  <a:rPr lang="pt-BR">
                    <a:noFill/>
                  </a:rPr>
                  <a:t> </a:t>
                </a:r>
              </a:p>
            </p:txBody>
          </p:sp>
        </mc:Fallback>
      </mc:AlternateContent>
    </p:spTree>
    <p:extLst>
      <p:ext uri="{BB962C8B-B14F-4D97-AF65-F5344CB8AC3E}">
        <p14:creationId xmlns:p14="http://schemas.microsoft.com/office/powerpoint/2010/main" val="120408615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9013"/>
            <a:ext cx="10515600" cy="737961"/>
          </a:xfrm>
        </p:spPr>
        <p:txBody>
          <a:bodyPr/>
          <a:lstStyle/>
          <a:p>
            <a:r>
              <a:rPr lang="pt-BR" dirty="0"/>
              <a:t>Quando utilizar cada tipo de regressão?</a:t>
            </a:r>
          </a:p>
        </p:txBody>
      </p:sp>
      <p:sp>
        <p:nvSpPr>
          <p:cNvPr id="3" name="Content Placeholder 2"/>
          <p:cNvSpPr>
            <a:spLocks noGrp="1"/>
          </p:cNvSpPr>
          <p:nvPr>
            <p:ph idx="1"/>
          </p:nvPr>
        </p:nvSpPr>
        <p:spPr>
          <a:xfrm>
            <a:off x="838199" y="1286933"/>
            <a:ext cx="11132128" cy="5571067"/>
          </a:xfrm>
        </p:spPr>
        <p:txBody>
          <a:bodyPr>
            <a:normAutofit/>
          </a:bodyPr>
          <a:lstStyle/>
          <a:p>
            <a:r>
              <a:rPr lang="pt-BR" b="1" dirty="0"/>
              <a:t>Regressão Ridge</a:t>
            </a:r>
            <a:r>
              <a:rPr lang="pt-BR" dirty="0"/>
              <a:t>: é um bom começo. No entanto, se você suspeitar que apenas alguns atributos são realmente úteis, você deve preferir LASSO ou Elastic-Net.</a:t>
            </a:r>
          </a:p>
          <a:p>
            <a:r>
              <a:rPr lang="pt-BR" b="1" dirty="0"/>
              <a:t>Regressão LASSO</a:t>
            </a:r>
            <a:r>
              <a:rPr lang="pt-BR" dirty="0"/>
              <a:t>: boa para </a:t>
            </a:r>
            <a:r>
              <a:rPr lang="pt-BR" b="1" i="1" dirty="0"/>
              <a:t>seleção automática de atributos</a:t>
            </a:r>
            <a:r>
              <a:rPr lang="pt-BR" dirty="0"/>
              <a:t>. </a:t>
            </a:r>
          </a:p>
          <a:p>
            <a:pPr lvl="1">
              <a:buFont typeface="Wingdings" panose="05000000000000000000" pitchFamily="2" charset="2"/>
              <a:buChar char="§"/>
            </a:pPr>
            <a:r>
              <a:rPr lang="pt-BR" dirty="0"/>
              <a:t>No entanto, pode se comportar erraticamente se o </a:t>
            </a:r>
            <a:r>
              <a:rPr lang="pt-BR" b="1" dirty="0"/>
              <a:t>número de atributos, K, for maior que o número de exemplos de treinamento, N</a:t>
            </a:r>
            <a:r>
              <a:rPr lang="pt-BR" dirty="0"/>
              <a:t>. Nesse caso, ele </a:t>
            </a:r>
            <a:r>
              <a:rPr lang="pt-BR" b="1" dirty="0"/>
              <a:t>encontra no máximo N pesos diferentes de zero</a:t>
            </a:r>
            <a:r>
              <a:rPr lang="pt-BR" dirty="0"/>
              <a:t>, mesmo que os K atributos sejam relevantes.</a:t>
            </a:r>
          </a:p>
          <a:p>
            <a:pPr lvl="1">
              <a:buFont typeface="Wingdings" panose="05000000000000000000" pitchFamily="2" charset="2"/>
              <a:buChar char="§"/>
            </a:pPr>
            <a:r>
              <a:rPr lang="pt-BR" dirty="0"/>
              <a:t>Se houverem </a:t>
            </a:r>
            <a:r>
              <a:rPr lang="pt-BR" b="1" dirty="0"/>
              <a:t>atributos fortemente correlacionados entre si</a:t>
            </a:r>
            <a:r>
              <a:rPr lang="pt-BR" dirty="0"/>
              <a:t>, ela </a:t>
            </a:r>
            <a:r>
              <a:rPr lang="pt-BR" b="1" dirty="0"/>
              <a:t>seleciona um deles aleatoriamente e ignora os demais</a:t>
            </a:r>
            <a:r>
              <a:rPr lang="pt-BR" dirty="0"/>
              <a:t>, o que não é bom para a interpretação do modelo.</a:t>
            </a:r>
          </a:p>
          <a:p>
            <a:pPr lvl="1">
              <a:buFont typeface="Wingdings" panose="05000000000000000000" pitchFamily="2" charset="2"/>
              <a:buChar char="§"/>
            </a:pPr>
            <a:r>
              <a:rPr lang="pt-BR" dirty="0"/>
              <a:t>Nestes casos, deve-se usar a regressão </a:t>
            </a:r>
            <a:r>
              <a:rPr lang="pt-BR" i="1" dirty="0" err="1"/>
              <a:t>Elastic</a:t>
            </a:r>
            <a:r>
              <a:rPr lang="pt-BR" i="1" dirty="0"/>
              <a:t>-Net</a:t>
            </a:r>
            <a:r>
              <a:rPr lang="pt-BR" dirty="0"/>
              <a:t>.</a:t>
            </a:r>
          </a:p>
        </p:txBody>
      </p:sp>
    </p:spTree>
    <p:extLst>
      <p:ext uri="{BB962C8B-B14F-4D97-AF65-F5344CB8AC3E}">
        <p14:creationId xmlns:p14="http://schemas.microsoft.com/office/powerpoint/2010/main" val="82685464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2AA62-FC8F-1D16-E88D-8C3ADD4382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691348-0647-8E31-A338-714CD525620E}"/>
              </a:ext>
            </a:extLst>
          </p:cNvPr>
          <p:cNvSpPr>
            <a:spLocks noGrp="1"/>
          </p:cNvSpPr>
          <p:nvPr>
            <p:ph type="title"/>
          </p:nvPr>
        </p:nvSpPr>
        <p:spPr>
          <a:xfrm>
            <a:off x="838200" y="249013"/>
            <a:ext cx="10515600" cy="737961"/>
          </a:xfrm>
        </p:spPr>
        <p:txBody>
          <a:bodyPr/>
          <a:lstStyle/>
          <a:p>
            <a:r>
              <a:rPr lang="pt-BR" dirty="0"/>
              <a:t>Quando utilizar cada tipo de regressão?</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D87EA34-8ECE-4144-1EEE-338463F0EF97}"/>
                  </a:ext>
                </a:extLst>
              </p:cNvPr>
              <p:cNvSpPr>
                <a:spLocks noGrp="1"/>
              </p:cNvSpPr>
              <p:nvPr>
                <p:ph idx="1"/>
              </p:nvPr>
            </p:nvSpPr>
            <p:spPr>
              <a:xfrm>
                <a:off x="838199" y="1286933"/>
                <a:ext cx="11132128" cy="5571067"/>
              </a:xfrm>
            </p:spPr>
            <p:txBody>
              <a:bodyPr>
                <a:normAutofit/>
              </a:bodyPr>
              <a:lstStyle/>
              <a:p>
                <a:r>
                  <a:rPr lang="pt-BR" b="1" dirty="0"/>
                  <a:t>Regressão </a:t>
                </a:r>
                <a:r>
                  <a:rPr lang="pt-BR" b="1" i="1" dirty="0" err="1"/>
                  <a:t>Elastic</a:t>
                </a:r>
                <a:r>
                  <a:rPr lang="pt-BR" b="1" i="1" dirty="0"/>
                  <a:t>-Net</a:t>
                </a:r>
                <a:r>
                  <a:rPr lang="pt-BR" dirty="0"/>
                  <a:t>: é mais versátil que as anteriores, pois o fator de elasticidade, </a:t>
                </a:r>
                <a14:m>
                  <m:oMath xmlns:m="http://schemas.openxmlformats.org/officeDocument/2006/math">
                    <m:r>
                      <a:rPr lang="pt-BR" i="1">
                        <a:latin typeface="Cambria Math" panose="02040503050406030204" pitchFamily="18" charset="0"/>
                        <a:ea typeface="Cambria Math" panose="02040503050406030204" pitchFamily="18" charset="0"/>
                      </a:rPr>
                      <m:t>𝜅</m:t>
                    </m:r>
                  </m:oMath>
                </a14:m>
                <a:r>
                  <a:rPr lang="pt-BR" dirty="0"/>
                  <a:t>, pode ser ajustado de forma a encontrar uma relação de compromisso entre as normas L1 e L2. </a:t>
                </a:r>
              </a:p>
              <a:p>
                <a:pPr lvl="1">
                  <a:buFont typeface="Wingdings" panose="05000000000000000000" pitchFamily="2" charset="2"/>
                  <a:buChar char="§"/>
                </a:pPr>
                <a:r>
                  <a:rPr lang="pt-BR" dirty="0"/>
                  <a:t>Quando há vários atributos correlacionados entre si, a regressão LASSO provavelmente escolherá um deles aleatoriamente, enquanto o Elastic-Net provavelmente </a:t>
                </a:r>
                <a:r>
                  <a:rPr lang="pt-BR" b="1" i="1" dirty="0"/>
                  <a:t>escolherá todos</a:t>
                </a:r>
                <a:r>
                  <a:rPr lang="pt-BR" dirty="0"/>
                  <a:t>, facilitando a </a:t>
                </a:r>
                <a:r>
                  <a:rPr lang="pt-BR" b="1" i="1" dirty="0"/>
                  <a:t>interpretação do modelo</a:t>
                </a:r>
                <a:r>
                  <a:rPr lang="pt-BR" dirty="0"/>
                  <a:t>.</a:t>
                </a:r>
              </a:p>
              <a:p>
                <a:pPr lvl="1">
                  <a:buFont typeface="Wingdings" panose="05000000000000000000" pitchFamily="2" charset="2"/>
                  <a:buChar char="§"/>
                </a:pPr>
                <a:r>
                  <a:rPr lang="pt-BR" dirty="0"/>
                  <a:t>Uma proporção de 50% (i.e., </a:t>
                </a:r>
                <a14:m>
                  <m:oMath xmlns:m="http://schemas.openxmlformats.org/officeDocument/2006/math">
                    <m:r>
                      <a:rPr lang="pt-BR" i="1">
                        <a:latin typeface="Cambria Math" panose="02040503050406030204" pitchFamily="18" charset="0"/>
                        <a:ea typeface="Cambria Math" panose="02040503050406030204" pitchFamily="18" charset="0"/>
                      </a:rPr>
                      <m:t>𝜅</m:t>
                    </m:r>
                    <m:r>
                      <a:rPr lang="pt-BR" b="0" i="1" smtClean="0">
                        <a:latin typeface="Cambria Math" panose="02040503050406030204" pitchFamily="18" charset="0"/>
                        <a:ea typeface="Cambria Math" panose="02040503050406030204" pitchFamily="18" charset="0"/>
                      </a:rPr>
                      <m:t>=0.5</m:t>
                    </m:r>
                  </m:oMath>
                </a14:m>
                <a:r>
                  <a:rPr lang="pt-BR" dirty="0"/>
                  <a:t>) entre as penalizações L1 e L2 é uma boa escolha inicial para esse parâmetro.</a:t>
                </a:r>
              </a:p>
            </p:txBody>
          </p:sp>
        </mc:Choice>
        <mc:Fallback xmlns="">
          <p:sp>
            <p:nvSpPr>
              <p:cNvPr id="3" name="Content Placeholder 2">
                <a:extLst>
                  <a:ext uri="{FF2B5EF4-FFF2-40B4-BE49-F238E27FC236}">
                    <a16:creationId xmlns:a16="http://schemas.microsoft.com/office/drawing/2014/main" xmlns="" xmlns:a14="http://schemas.microsoft.com/office/drawing/2010/main" id="{9D87EA34-8ECE-4144-1EEE-338463F0EF97}"/>
                  </a:ext>
                </a:extLst>
              </p:cNvPr>
              <p:cNvSpPr>
                <a:spLocks noGrp="1" noRot="1" noChangeAspect="1" noMove="1" noResize="1" noEditPoints="1" noAdjustHandles="1" noChangeArrowheads="1" noChangeShapeType="1" noTextEdit="1"/>
              </p:cNvSpPr>
              <p:nvPr>
                <p:ph idx="1"/>
              </p:nvPr>
            </p:nvSpPr>
            <p:spPr>
              <a:xfrm>
                <a:off x="838199" y="1286933"/>
                <a:ext cx="11132128" cy="5571067"/>
              </a:xfrm>
              <a:blipFill rotWithShape="0">
                <a:blip r:embed="rId3"/>
                <a:stretch>
                  <a:fillRect l="-930" t="-1751"/>
                </a:stretch>
              </a:blipFill>
            </p:spPr>
            <p:txBody>
              <a:bodyPr/>
              <a:lstStyle/>
              <a:p>
                <a:r>
                  <a:rPr lang="pt-BR">
                    <a:noFill/>
                  </a:rPr>
                  <a:t> </a:t>
                </a:r>
              </a:p>
            </p:txBody>
          </p:sp>
        </mc:Fallback>
      </mc:AlternateContent>
    </p:spTree>
    <p:extLst>
      <p:ext uri="{BB962C8B-B14F-4D97-AF65-F5344CB8AC3E}">
        <p14:creationId xmlns:p14="http://schemas.microsoft.com/office/powerpoint/2010/main" val="360398584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i="1" dirty="0">
                <a:ea typeface="+mj-lt"/>
                <a:cs typeface="+mj-lt"/>
              </a:rPr>
              <a:t>Early-stopping</a:t>
            </a:r>
            <a:r>
              <a:rPr lang="pt-BR" dirty="0">
                <a:ea typeface="+mj-lt"/>
                <a:cs typeface="+mj-lt"/>
              </a:rPr>
              <a:t>: parada antecipada</a:t>
            </a:r>
            <a:endParaRPr lang="pt-BR" dirty="0"/>
          </a:p>
        </p:txBody>
      </p:sp>
      <p:sp>
        <p:nvSpPr>
          <p:cNvPr id="3" name="Content Placeholder 2"/>
          <p:cNvSpPr>
            <a:spLocks noGrp="1"/>
          </p:cNvSpPr>
          <p:nvPr>
            <p:ph idx="1"/>
          </p:nvPr>
        </p:nvSpPr>
        <p:spPr>
          <a:xfrm>
            <a:off x="5457824" y="1825624"/>
            <a:ext cx="6734175" cy="5032375"/>
          </a:xfrm>
        </p:spPr>
        <p:txBody>
          <a:bodyPr>
            <a:normAutofit/>
          </a:bodyPr>
          <a:lstStyle/>
          <a:p>
            <a:r>
              <a:rPr lang="pt-BR" dirty="0">
                <a:ea typeface="+mn-lt"/>
                <a:cs typeface="+mn-lt"/>
              </a:rPr>
              <a:t>O algoritmo do </a:t>
            </a:r>
            <a:r>
              <a:rPr lang="pt-BR" b="1" i="1" dirty="0">
                <a:ea typeface="+mn-lt"/>
                <a:cs typeface="+mn-lt"/>
              </a:rPr>
              <a:t>gradiente descendente</a:t>
            </a:r>
            <a:r>
              <a:rPr lang="pt-BR" dirty="0">
                <a:ea typeface="+mn-lt"/>
                <a:cs typeface="+mn-lt"/>
              </a:rPr>
              <a:t> tende a aprender modelos cada vez mais </a:t>
            </a:r>
            <a:r>
              <a:rPr lang="pt-BR" b="1" i="1" dirty="0">
                <a:ea typeface="+mn-lt"/>
                <a:cs typeface="+mn-lt"/>
              </a:rPr>
              <a:t>complexos</a:t>
            </a:r>
            <a:r>
              <a:rPr lang="pt-BR" dirty="0">
                <a:ea typeface="+mn-lt"/>
                <a:cs typeface="+mn-lt"/>
              </a:rPr>
              <a:t> à medida que o número de épocas aumenta.</a:t>
            </a:r>
          </a:p>
          <a:p>
            <a:pPr lvl="1">
              <a:buFont typeface="Wingdings" panose="05000000000000000000" pitchFamily="2" charset="2"/>
              <a:buChar char="§"/>
            </a:pPr>
            <a:r>
              <a:rPr lang="pt-BR" dirty="0">
                <a:ea typeface="+mn-lt"/>
                <a:cs typeface="+mn-lt"/>
              </a:rPr>
              <a:t>Ou seja, ele se </a:t>
            </a:r>
            <a:r>
              <a:rPr lang="pt-BR" b="1" i="1" dirty="0">
                <a:ea typeface="+mn-lt"/>
                <a:cs typeface="+mn-lt"/>
              </a:rPr>
              <a:t>sobreajusta</a:t>
            </a:r>
            <a:r>
              <a:rPr lang="pt-BR" dirty="0">
                <a:ea typeface="+mn-lt"/>
                <a:cs typeface="+mn-lt"/>
              </a:rPr>
              <a:t> ao conjunto de treinamento ao longo do tempo. </a:t>
            </a:r>
            <a:endParaRPr lang="pt-BR" dirty="0"/>
          </a:p>
          <a:p>
            <a:r>
              <a:rPr lang="pt-BR" dirty="0"/>
              <a:t>Uma forma de se </a:t>
            </a:r>
            <a:r>
              <a:rPr lang="pt-BR" b="1" i="1" dirty="0"/>
              <a:t>regularizar</a:t>
            </a:r>
            <a:r>
              <a:rPr lang="pt-BR" dirty="0"/>
              <a:t> algoritmos de </a:t>
            </a:r>
            <a:r>
              <a:rPr lang="pt-BR" b="1" i="1" dirty="0"/>
              <a:t>aprendizado iterativo</a:t>
            </a:r>
            <a:r>
              <a:rPr lang="pt-BR" dirty="0"/>
              <a:t>, como o </a:t>
            </a:r>
            <a:r>
              <a:rPr lang="pt-BR" b="1" i="1" dirty="0"/>
              <a:t>gradiente descendente</a:t>
            </a:r>
            <a:r>
              <a:rPr lang="pt-BR" dirty="0"/>
              <a:t>, é interromper seu treinamento assim que o </a:t>
            </a:r>
            <a:r>
              <a:rPr lang="pt-BR" b="1" i="1" dirty="0"/>
              <a:t>erro de validação </a:t>
            </a:r>
            <a:r>
              <a:rPr lang="pt-BR" dirty="0"/>
              <a:t>comece a crescer sistematicamente.</a:t>
            </a:r>
          </a:p>
        </p:txBody>
      </p:sp>
      <p:pic>
        <p:nvPicPr>
          <p:cNvPr id="4" name="Picture 4" descr="Early Stopping in Practice: an example with Keras and TensorFlow 2.0 | by  B. Chen | Towards Data Scienc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2179" y="2628116"/>
            <a:ext cx="4108870" cy="26082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022431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418AF-3036-F161-1FF9-6A27441E99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639BFA-229B-7127-1F96-31668420945A}"/>
              </a:ext>
            </a:extLst>
          </p:cNvPr>
          <p:cNvSpPr>
            <a:spLocks noGrp="1"/>
          </p:cNvSpPr>
          <p:nvPr>
            <p:ph type="title"/>
          </p:nvPr>
        </p:nvSpPr>
        <p:spPr/>
        <p:txBody>
          <a:bodyPr/>
          <a:lstStyle/>
          <a:p>
            <a:r>
              <a:rPr lang="pt-BR" i="1" dirty="0">
                <a:ea typeface="+mj-lt"/>
                <a:cs typeface="+mj-lt"/>
              </a:rPr>
              <a:t>Early-stopping</a:t>
            </a:r>
            <a:r>
              <a:rPr lang="pt-BR" dirty="0">
                <a:ea typeface="+mj-lt"/>
                <a:cs typeface="+mj-lt"/>
              </a:rPr>
              <a:t>: parada antecipada</a:t>
            </a:r>
            <a:endParaRPr lang="pt-BR" dirty="0"/>
          </a:p>
        </p:txBody>
      </p:sp>
      <p:sp>
        <p:nvSpPr>
          <p:cNvPr id="3" name="Content Placeholder 2">
            <a:extLst>
              <a:ext uri="{FF2B5EF4-FFF2-40B4-BE49-F238E27FC236}">
                <a16:creationId xmlns:a16="http://schemas.microsoft.com/office/drawing/2014/main" id="{EFAA1ABA-7ACE-DB23-CF74-348BF290443B}"/>
              </a:ext>
            </a:extLst>
          </p:cNvPr>
          <p:cNvSpPr>
            <a:spLocks noGrp="1"/>
          </p:cNvSpPr>
          <p:nvPr>
            <p:ph idx="1"/>
          </p:nvPr>
        </p:nvSpPr>
        <p:spPr>
          <a:xfrm>
            <a:off x="5524500" y="1825624"/>
            <a:ext cx="6667500" cy="5032375"/>
          </a:xfrm>
        </p:spPr>
        <p:txBody>
          <a:bodyPr>
            <a:normAutofit lnSpcReduction="10000"/>
          </a:bodyPr>
          <a:lstStyle/>
          <a:p>
            <a:r>
              <a:rPr lang="pt-BR" dirty="0"/>
              <a:t>Essa abordagem é chamada de </a:t>
            </a:r>
            <a:r>
              <a:rPr lang="pt-BR" b="1" i="1" dirty="0"/>
              <a:t>early-stopping </a:t>
            </a:r>
            <a:r>
              <a:rPr lang="pt-BR" dirty="0"/>
              <a:t>e pode </a:t>
            </a:r>
            <a:r>
              <a:rPr lang="pt-BR" dirty="0">
                <a:cs typeface="Calibri"/>
              </a:rPr>
              <a:t>ser vista como uma </a:t>
            </a:r>
            <a:r>
              <a:rPr lang="pt-BR" b="1" i="1" dirty="0">
                <a:cs typeface="Calibri"/>
              </a:rPr>
              <a:t>regularização temporal</a:t>
            </a:r>
            <a:r>
              <a:rPr lang="pt-BR" dirty="0">
                <a:cs typeface="Calibri"/>
              </a:rPr>
              <a:t>.</a:t>
            </a:r>
            <a:endParaRPr lang="pt-BR" dirty="0"/>
          </a:p>
          <a:p>
            <a:r>
              <a:rPr lang="pt-BR" dirty="0"/>
              <a:t>Assim como as outras abordagens, ela tem o objetivo de evitar o </a:t>
            </a:r>
            <a:r>
              <a:rPr lang="pt-BR" b="1" i="1" dirty="0"/>
              <a:t>sobreajuste</a:t>
            </a:r>
            <a:r>
              <a:rPr lang="pt-BR" dirty="0"/>
              <a:t> de um modelo.</a:t>
            </a:r>
            <a:endParaRPr lang="pt-BR" dirty="0">
              <a:cs typeface="Calibri"/>
            </a:endParaRPr>
          </a:p>
          <a:p>
            <a:r>
              <a:rPr lang="pt-BR" dirty="0">
                <a:ea typeface="+mn-lt"/>
                <a:cs typeface="+mn-lt"/>
              </a:rPr>
              <a:t>Ao se </a:t>
            </a:r>
            <a:r>
              <a:rPr lang="pt-BR" b="1" i="1" dirty="0">
                <a:ea typeface="+mn-lt"/>
                <a:cs typeface="+mn-lt"/>
              </a:rPr>
              <a:t>regularizar no tempo</a:t>
            </a:r>
            <a:r>
              <a:rPr lang="pt-BR" dirty="0">
                <a:ea typeface="+mn-lt"/>
                <a:cs typeface="+mn-lt"/>
              </a:rPr>
              <a:t>, a complexidade do modelo pode ser controlada, melhorando sua </a:t>
            </a:r>
            <a:r>
              <a:rPr lang="pt-BR" b="1" i="1" dirty="0">
                <a:ea typeface="+mn-lt"/>
                <a:cs typeface="+mn-lt"/>
              </a:rPr>
              <a:t>generalização</a:t>
            </a:r>
            <a:r>
              <a:rPr lang="pt-BR" dirty="0">
                <a:ea typeface="+mn-lt"/>
                <a:cs typeface="+mn-lt"/>
              </a:rPr>
              <a:t>.</a:t>
            </a:r>
          </a:p>
          <a:p>
            <a:r>
              <a:rPr lang="pt-BR" dirty="0">
                <a:ea typeface="+mn-lt"/>
                <a:cs typeface="+mn-lt"/>
              </a:rPr>
              <a:t>Mas como saber quando interromper o treinamento? </a:t>
            </a:r>
          </a:p>
          <a:p>
            <a:pPr lvl="1">
              <a:buFont typeface="Wingdings" panose="05000000000000000000" pitchFamily="2" charset="2"/>
              <a:buChar char="§"/>
            </a:pPr>
            <a:r>
              <a:rPr lang="pt-BR" dirty="0">
                <a:ea typeface="+mn-lt"/>
                <a:cs typeface="+mn-lt"/>
              </a:rPr>
              <a:t>Ou seja, qual é o critério de parada?</a:t>
            </a:r>
          </a:p>
        </p:txBody>
      </p:sp>
      <p:pic>
        <p:nvPicPr>
          <p:cNvPr id="4" name="Picture 4" descr="Early Stopping in Practice: an example with Keras and TensorFlow 2.0 | by  B. Chen | Towards Data Science">
            <a:extLst>
              <a:ext uri="{FF2B5EF4-FFF2-40B4-BE49-F238E27FC236}">
                <a16:creationId xmlns:a16="http://schemas.microsoft.com/office/drawing/2014/main" id="{30DEB1CD-B16E-369D-76E1-708BFBBC782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9073" y="2782912"/>
            <a:ext cx="4318940" cy="27415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608871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27E34-0D58-4F7C-A44C-874904CC31AB}"/>
              </a:ext>
            </a:extLst>
          </p:cNvPr>
          <p:cNvSpPr>
            <a:spLocks noGrp="1"/>
          </p:cNvSpPr>
          <p:nvPr>
            <p:ph type="title"/>
          </p:nvPr>
        </p:nvSpPr>
        <p:spPr/>
        <p:txBody>
          <a:bodyPr/>
          <a:lstStyle/>
          <a:p>
            <a:r>
              <a:rPr lang="pt-BR" i="1" dirty="0">
                <a:ea typeface="+mj-lt"/>
                <a:cs typeface="+mj-lt"/>
              </a:rPr>
              <a:t>Early-</a:t>
            </a:r>
            <a:r>
              <a:rPr lang="pt-BR" i="1" dirty="0" err="1">
                <a:ea typeface="+mj-lt"/>
                <a:cs typeface="+mj-lt"/>
              </a:rPr>
              <a:t>stopping</a:t>
            </a:r>
            <a:r>
              <a:rPr lang="pt-BR" dirty="0">
                <a:ea typeface="+mj-lt"/>
                <a:cs typeface="+mj-lt"/>
              </a:rPr>
              <a:t>: </a:t>
            </a:r>
            <a:r>
              <a:rPr lang="pt-BR" dirty="0">
                <a:ea typeface="+mn-lt"/>
                <a:cs typeface="+mn-lt"/>
              </a:rPr>
              <a:t>critério de parada</a:t>
            </a:r>
            <a:endParaRPr lang="en-US" dirty="0" err="1">
              <a:ea typeface="+mj-lt"/>
              <a:cs typeface="+mj-lt"/>
            </a:endParaRPr>
          </a:p>
        </p:txBody>
      </p:sp>
      <p:sp>
        <p:nvSpPr>
          <p:cNvPr id="3" name="Content Placeholder 2">
            <a:extLst>
              <a:ext uri="{FF2B5EF4-FFF2-40B4-BE49-F238E27FC236}">
                <a16:creationId xmlns:a16="http://schemas.microsoft.com/office/drawing/2014/main" id="{96005A71-5862-4C74-B1AF-2AAB990B557F}"/>
              </a:ext>
            </a:extLst>
          </p:cNvPr>
          <p:cNvSpPr>
            <a:spLocks noGrp="1"/>
          </p:cNvSpPr>
          <p:nvPr>
            <p:ph idx="1"/>
          </p:nvPr>
        </p:nvSpPr>
        <p:spPr>
          <a:xfrm>
            <a:off x="838200" y="1825624"/>
            <a:ext cx="11123428" cy="5032376"/>
          </a:xfrm>
        </p:spPr>
        <p:txBody>
          <a:bodyPr vert="horz" lIns="91440" tIns="45720" rIns="91440" bIns="45720" rtlCol="0" anchor="t">
            <a:normAutofit/>
          </a:bodyPr>
          <a:lstStyle/>
          <a:p>
            <a:r>
              <a:rPr lang="pt-BR" dirty="0">
                <a:ea typeface="+mn-lt"/>
                <a:cs typeface="+mn-lt"/>
              </a:rPr>
              <a:t>Existem duas estratégias para se definir o critério de parada:</a:t>
            </a:r>
            <a:endParaRPr lang="en-US" dirty="0">
              <a:ea typeface="+mn-lt"/>
              <a:cs typeface="+mn-lt"/>
            </a:endParaRPr>
          </a:p>
          <a:p>
            <a:pPr lvl="1">
              <a:buFont typeface="Wingdings" panose="05000000000000000000" pitchFamily="2" charset="2"/>
              <a:buChar char="§"/>
            </a:pPr>
            <a:r>
              <a:rPr lang="pt-BR" sz="2800" dirty="0">
                <a:ea typeface="+mn-lt"/>
                <a:cs typeface="+mn-lt"/>
              </a:rPr>
              <a:t>Interromper o treinamento quando o valor do </a:t>
            </a:r>
            <a:r>
              <a:rPr lang="pt-BR" sz="2800" b="1" dirty="0">
                <a:solidFill>
                  <a:srgbClr val="00B050"/>
                </a:solidFill>
                <a:ea typeface="+mn-lt"/>
                <a:cs typeface="+mn-lt"/>
              </a:rPr>
              <a:t>erro de validação </a:t>
            </a:r>
            <a:r>
              <a:rPr lang="pt-BR" sz="2800" dirty="0">
                <a:ea typeface="+mn-lt"/>
                <a:cs typeface="+mn-lt"/>
              </a:rPr>
              <a:t>aumentar por </a:t>
            </a:r>
            <a:r>
              <a:rPr lang="pt-BR" sz="2800" b="1" dirty="0">
                <a:ea typeface="+mn-lt"/>
                <a:cs typeface="+mn-lt"/>
              </a:rPr>
              <a:t>P</a:t>
            </a:r>
            <a:r>
              <a:rPr lang="pt-BR" sz="2800" dirty="0">
                <a:ea typeface="+mn-lt"/>
                <a:cs typeface="+mn-lt"/>
              </a:rPr>
              <a:t> épocas sucessivas, sendo o parâmetro </a:t>
            </a:r>
            <a:r>
              <a:rPr lang="pt-BR" sz="2800" b="1" dirty="0">
                <a:ea typeface="+mn-lt"/>
                <a:cs typeface="+mn-lt"/>
              </a:rPr>
              <a:t>P</a:t>
            </a:r>
            <a:r>
              <a:rPr lang="pt-BR" sz="2800" dirty="0">
                <a:ea typeface="+mn-lt"/>
                <a:cs typeface="+mn-lt"/>
              </a:rPr>
              <a:t> chamado de </a:t>
            </a:r>
            <a:r>
              <a:rPr lang="pt-BR" sz="2800" b="1" dirty="0">
                <a:ea typeface="+mn-lt"/>
                <a:cs typeface="+mn-lt"/>
              </a:rPr>
              <a:t>paciência</a:t>
            </a:r>
            <a:r>
              <a:rPr lang="pt-BR" sz="2800" dirty="0">
                <a:ea typeface="+mn-lt"/>
                <a:cs typeface="+mn-lt"/>
              </a:rPr>
              <a:t>.</a:t>
            </a:r>
          </a:p>
          <a:p>
            <a:pPr lvl="2">
              <a:buFont typeface="Courier New" panose="02070309020205020404" pitchFamily="49" charset="0"/>
              <a:buChar char="o"/>
            </a:pPr>
            <a:r>
              <a:rPr lang="pt-BR" sz="2400" b="1" dirty="0">
                <a:ea typeface="+mn-lt"/>
                <a:cs typeface="+mn-lt"/>
              </a:rPr>
              <a:t>Problema</a:t>
            </a:r>
            <a:r>
              <a:rPr lang="pt-BR" sz="2400" dirty="0">
                <a:ea typeface="+mn-lt"/>
                <a:cs typeface="+mn-lt"/>
              </a:rPr>
              <a:t>: como o erro de validação pode oscilar bastante (e.g., SGD) e apresentar um comportamento pouco previsível, nem sempre é fácil se desenvolver detectores automáticos de mínimos e encerrar o treinamento.</a:t>
            </a:r>
          </a:p>
          <a:p>
            <a:pPr lvl="1">
              <a:buFont typeface="Wingdings" panose="05000000000000000000" pitchFamily="2" charset="2"/>
              <a:buChar char="§"/>
            </a:pPr>
            <a:r>
              <a:rPr lang="pt-BR" sz="2800" dirty="0">
                <a:ea typeface="+mn-lt"/>
                <a:cs typeface="+mn-lt"/>
              </a:rPr>
              <a:t>Outra estratégia é permitir que o treinamento prossiga por um determinado número de épocas, mas sempre armazenando os pesos associados ao </a:t>
            </a:r>
            <a:r>
              <a:rPr lang="pt-BR" sz="2800" b="1" dirty="0">
                <a:ea typeface="+mn-lt"/>
                <a:cs typeface="+mn-lt"/>
              </a:rPr>
              <a:t>menor erro de validação</a:t>
            </a:r>
            <a:r>
              <a:rPr lang="pt-BR" sz="2800" dirty="0">
                <a:ea typeface="+mn-lt"/>
                <a:cs typeface="+mn-lt"/>
              </a:rPr>
              <a:t>. Ao final do treinamento, os </a:t>
            </a:r>
            <a:r>
              <a:rPr lang="pt-BR" sz="2800" b="1" dirty="0">
                <a:ea typeface="+mn-lt"/>
                <a:cs typeface="+mn-lt"/>
              </a:rPr>
              <a:t>pesos associados ao menor erro de validação são considerados </a:t>
            </a:r>
            <a:r>
              <a:rPr lang="pt-BR" sz="2800" dirty="0">
                <a:ea typeface="+mn-lt"/>
                <a:cs typeface="+mn-lt"/>
              </a:rPr>
              <a:t>para realizar predições com o modelo.</a:t>
            </a:r>
          </a:p>
        </p:txBody>
      </p:sp>
    </p:spTree>
    <p:extLst>
      <p:ext uri="{BB962C8B-B14F-4D97-AF65-F5344CB8AC3E}">
        <p14:creationId xmlns:p14="http://schemas.microsoft.com/office/powerpoint/2010/main" val="241447964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227053"/>
            <a:ext cx="10515600" cy="898361"/>
          </a:xfrm>
        </p:spPr>
        <p:txBody>
          <a:bodyPr>
            <a:normAutofit/>
          </a:bodyPr>
          <a:lstStyle/>
          <a:p>
            <a:r>
              <a:rPr lang="pt-BR" i="1" dirty="0"/>
              <a:t>Early-stopping</a:t>
            </a:r>
          </a:p>
        </p:txBody>
      </p:sp>
      <mc:AlternateContent xmlns:mc="http://schemas.openxmlformats.org/markup-compatibility/2006" xmlns:a14="http://schemas.microsoft.com/office/drawing/2010/main">
        <mc:Choice Requires="a14">
          <p:sp>
            <p:nvSpPr>
              <p:cNvPr id="6" name="Content Placeholder 2"/>
              <p:cNvSpPr>
                <a:spLocks noGrp="1"/>
              </p:cNvSpPr>
              <p:nvPr>
                <p:ph idx="1"/>
              </p:nvPr>
            </p:nvSpPr>
            <p:spPr>
              <a:xfrm>
                <a:off x="5524500" y="1343392"/>
                <a:ext cx="6667499" cy="5514608"/>
              </a:xfrm>
            </p:spPr>
            <p:txBody>
              <a:bodyPr>
                <a:normAutofit/>
              </a:bodyPr>
              <a:lstStyle/>
              <a:p>
                <a:r>
                  <a:rPr lang="pt-BR" dirty="0"/>
                  <a:t>A figura mostra os erros de treinamento e validação de um modelo de regressão polinomial com grau igual a 90 treinado usando-se o GDE com apenas 70 amostras.</a:t>
                </a:r>
              </a:p>
              <a:p>
                <a:r>
                  <a:rPr lang="pt-BR" dirty="0"/>
                  <a:t>A função observável é dada por</a:t>
                </a:r>
              </a:p>
              <a:p>
                <a:pPr marL="0" indent="0">
                  <a:buNone/>
                </a:pPr>
                <a14:m>
                  <m:oMathPara xmlns:m="http://schemas.openxmlformats.org/officeDocument/2006/math">
                    <m:oMath>
                      <m:sSub>
                        <m:sSubPr>
                          <m:ctrlPr>
                            <a:rPr lang="pt-BR" i="1">
                              <a:latin typeface="Cambria Math" panose="02040503050406030204" pitchFamily="18" charset="0"/>
                            </a:rPr>
                          </m:ctrlPr>
                        </m:sSubPr>
                        <m:e>
                          <m:r>
                            <a:rPr lang="pt-BR" i="1">
                              <a:latin typeface="Cambria Math" panose="02040503050406030204" pitchFamily="18" charset="0"/>
                            </a:rPr>
                            <m:t>𝑦</m:t>
                          </m:r>
                        </m:e>
                        <m:sub>
                          <m:r>
                            <m:rPr>
                              <m:sty m:val="p"/>
                            </m:rPr>
                            <a:rPr lang="pt-BR">
                              <a:latin typeface="Cambria Math" panose="02040503050406030204" pitchFamily="18" charset="0"/>
                            </a:rPr>
                            <m:t>noisy</m:t>
                          </m:r>
                        </m:sub>
                      </m:sSub>
                      <m:r>
                        <a:rPr lang="pt-BR" i="1">
                          <a:latin typeface="Cambria Math" panose="02040503050406030204" pitchFamily="18" charset="0"/>
                        </a:rPr>
                        <m:t>=2+</m:t>
                      </m:r>
                      <m:r>
                        <a:rPr lang="pt-BR" i="1">
                          <a:latin typeface="Cambria Math" panose="02040503050406030204" pitchFamily="18" charset="0"/>
                        </a:rPr>
                        <m:t>𝑥</m:t>
                      </m:r>
                      <m:r>
                        <a:rPr lang="pt-BR" i="1">
                          <a:latin typeface="Cambria Math" panose="02040503050406030204" pitchFamily="18" charset="0"/>
                        </a:rPr>
                        <m:t>+0.5</m:t>
                      </m:r>
                      <m:sSup>
                        <m:sSupPr>
                          <m:ctrlPr>
                            <a:rPr lang="pt-BR" i="1">
                              <a:latin typeface="Cambria Math" panose="02040503050406030204" pitchFamily="18" charset="0"/>
                            </a:rPr>
                          </m:ctrlPr>
                        </m:sSupPr>
                        <m:e>
                          <m:r>
                            <a:rPr lang="pt-BR" i="1">
                              <a:latin typeface="Cambria Math" panose="02040503050406030204" pitchFamily="18" charset="0"/>
                            </a:rPr>
                            <m:t>𝑥</m:t>
                          </m:r>
                        </m:e>
                        <m:sup>
                          <m:r>
                            <a:rPr lang="pt-BR" i="1">
                              <a:latin typeface="Cambria Math" panose="02040503050406030204" pitchFamily="18" charset="0"/>
                            </a:rPr>
                            <m:t>2</m:t>
                          </m:r>
                        </m:sup>
                      </m:sSup>
                      <m:r>
                        <a:rPr lang="pt-BR" i="1">
                          <a:latin typeface="Cambria Math" panose="02040503050406030204" pitchFamily="18" charset="0"/>
                        </a:rPr>
                        <m:t>+</m:t>
                      </m:r>
                      <m:r>
                        <a:rPr lang="pt-BR" i="1">
                          <a:latin typeface="Cambria Math" panose="02040503050406030204" pitchFamily="18" charset="0"/>
                        </a:rPr>
                        <m:t>𝑤</m:t>
                      </m:r>
                      <m:r>
                        <a:rPr lang="pt-BR" i="1">
                          <a:latin typeface="Cambria Math" panose="02040503050406030204" pitchFamily="18" charset="0"/>
                        </a:rPr>
                        <m:t>, </m:t>
                      </m:r>
                    </m:oMath>
                  </m:oMathPara>
                </a14:m>
                <a:endParaRPr lang="pt-BR" i="1" dirty="0">
                  <a:latin typeface="Cambria Math" panose="02040503050406030204" pitchFamily="18" charset="0"/>
                </a:endParaRPr>
              </a:p>
              <a:p>
                <a:pPr marL="0" indent="0">
                  <a:buNone/>
                </a:pPr>
                <a:r>
                  <a:rPr lang="pt-BR" dirty="0"/>
                  <a:t>onde </a:t>
                </a:r>
                <a14:m>
                  <m:oMath xmlns:m="http://schemas.openxmlformats.org/officeDocument/2006/math">
                    <m:r>
                      <a:rPr lang="pt-BR" i="1">
                        <a:latin typeface="Cambria Math" panose="02040503050406030204" pitchFamily="18" charset="0"/>
                      </a:rPr>
                      <m:t>𝑥</m:t>
                    </m:r>
                    <m:r>
                      <a:rPr lang="pt-BR" i="1">
                        <a:latin typeface="Cambria Math" panose="02040503050406030204" pitchFamily="18" charset="0"/>
                      </a:rPr>
                      <m:t> ~ </m:t>
                    </m:r>
                    <m:r>
                      <a:rPr lang="pt-BR" i="1">
                        <a:latin typeface="Cambria Math" panose="02040503050406030204" pitchFamily="18" charset="0"/>
                      </a:rPr>
                      <m:t>𝑈</m:t>
                    </m:r>
                    <m:d>
                      <m:dPr>
                        <m:ctrlPr>
                          <a:rPr lang="pt-BR" i="1">
                            <a:latin typeface="Cambria Math" panose="02040503050406030204" pitchFamily="18" charset="0"/>
                          </a:rPr>
                        </m:ctrlPr>
                      </m:dPr>
                      <m:e>
                        <m:r>
                          <a:rPr lang="pt-BR" i="1">
                            <a:latin typeface="Cambria Math" panose="02040503050406030204" pitchFamily="18" charset="0"/>
                          </a:rPr>
                          <m:t>−3,3</m:t>
                        </m:r>
                      </m:e>
                    </m:d>
                  </m:oMath>
                </a14:m>
                <a:r>
                  <a:rPr lang="pt-BR" dirty="0"/>
                  <a:t> e </a:t>
                </a:r>
                <a14:m>
                  <m:oMath xmlns:m="http://schemas.openxmlformats.org/officeDocument/2006/math">
                    <m:r>
                      <a:rPr lang="pt-BR" i="1">
                        <a:latin typeface="Cambria Math" panose="02040503050406030204" pitchFamily="18" charset="0"/>
                      </a:rPr>
                      <m:t>𝑤</m:t>
                    </m:r>
                    <m:r>
                      <a:rPr lang="pt-BR" i="1">
                        <a:latin typeface="Cambria Math" panose="02040503050406030204" pitchFamily="18" charset="0"/>
                      </a:rPr>
                      <m:t> ~ </m:t>
                    </m:r>
                    <m:r>
                      <a:rPr lang="pt-BR" i="1">
                        <a:latin typeface="Cambria Math" panose="02040503050406030204" pitchFamily="18" charset="0"/>
                        <a:ea typeface="Cambria Math" panose="02040503050406030204" pitchFamily="18" charset="0"/>
                      </a:rPr>
                      <m:t>𝑁</m:t>
                    </m:r>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0,1</m:t>
                        </m:r>
                      </m:e>
                    </m:d>
                  </m:oMath>
                </a14:m>
                <a:r>
                  <a:rPr lang="pt-BR" dirty="0"/>
                  <a:t>.</a:t>
                </a:r>
              </a:p>
              <a:p>
                <a:r>
                  <a:rPr lang="pt-BR" dirty="0"/>
                  <a:t>A </a:t>
                </a:r>
                <a:r>
                  <a:rPr lang="pt-BR" b="1" dirty="0"/>
                  <a:t>ordem do modelo é muito maior do que a ordem da função verdadeira </a:t>
                </a:r>
                <a:r>
                  <a:rPr lang="pt-BR" dirty="0"/>
                  <a:t>(alta flexibilidade), além de ser maior do que o número de amostras de treinamento (sobreajuste).</a:t>
                </a:r>
              </a:p>
            </p:txBody>
          </p:sp>
        </mc:Choice>
        <mc:Fallback xmlns="">
          <p:sp>
            <p:nvSpPr>
              <p:cNvPr id="6" name="Content Placeholder 2"/>
              <p:cNvSpPr>
                <a:spLocks noGrp="1" noRot="1" noChangeAspect="1" noMove="1" noResize="1" noEditPoints="1" noAdjustHandles="1" noChangeArrowheads="1" noChangeShapeType="1" noTextEdit="1"/>
              </p:cNvSpPr>
              <p:nvPr>
                <p:ph idx="1"/>
              </p:nvPr>
            </p:nvSpPr>
            <p:spPr>
              <a:xfrm>
                <a:off x="5524500" y="1343392"/>
                <a:ext cx="6667499" cy="5514608"/>
              </a:xfrm>
              <a:blipFill>
                <a:blip r:embed="rId3"/>
                <a:stretch>
                  <a:fillRect l="-1828" t="-1768" r="-2377"/>
                </a:stretch>
              </a:blipFill>
            </p:spPr>
            <p:txBody>
              <a:bodyPr/>
              <a:lstStyle/>
              <a:p>
                <a:r>
                  <a:rPr lang="en-US">
                    <a:noFill/>
                  </a:rPr>
                  <a:t> </a:t>
                </a:r>
              </a:p>
            </p:txBody>
          </p:sp>
        </mc:Fallback>
      </mc:AlternateContent>
      <p:pic>
        <p:nvPicPr>
          <p:cNvPr id="4" name="Picture 3"/>
          <p:cNvPicPr>
            <a:picLocks noChangeAspect="1"/>
          </p:cNvPicPr>
          <p:nvPr/>
        </p:nvPicPr>
        <p:blipFill rotWithShape="1">
          <a:blip r:embed="rId4" cstate="print">
            <a:extLst>
              <a:ext uri="{28A0092B-C50C-407E-A947-70E740481C1C}">
                <a14:useLocalDpi xmlns:a14="http://schemas.microsoft.com/office/drawing/2010/main" val="0"/>
              </a:ext>
            </a:extLst>
          </a:blip>
          <a:srcRect l="1814" t="10842" r="9071"/>
          <a:stretch/>
        </p:blipFill>
        <p:spPr>
          <a:xfrm>
            <a:off x="1204786" y="1343392"/>
            <a:ext cx="3660735" cy="2441657"/>
          </a:xfrm>
          <a:prstGeom prst="rect">
            <a:avLst/>
          </a:prstGeom>
        </p:spPr>
      </p:pic>
      <p:pic>
        <p:nvPicPr>
          <p:cNvPr id="7" name="Picture 6"/>
          <p:cNvPicPr>
            <a:picLocks noChangeAspect="1"/>
          </p:cNvPicPr>
          <p:nvPr/>
        </p:nvPicPr>
        <p:blipFill rotWithShape="1">
          <a:blip r:embed="rId5" cstate="print">
            <a:extLst>
              <a:ext uri="{28A0092B-C50C-407E-A947-70E740481C1C}">
                <a14:useLocalDpi xmlns:a14="http://schemas.microsoft.com/office/drawing/2010/main" val="0"/>
              </a:ext>
            </a:extLst>
          </a:blip>
          <a:srcRect l="3854" t="9822" r="9410"/>
          <a:stretch/>
        </p:blipFill>
        <p:spPr>
          <a:xfrm>
            <a:off x="1205490" y="4214429"/>
            <a:ext cx="3665347" cy="2540590"/>
          </a:xfrm>
          <a:prstGeom prst="rect">
            <a:avLst/>
          </a:prstGeom>
        </p:spPr>
      </p:pic>
      <p:sp>
        <p:nvSpPr>
          <p:cNvPr id="8" name="Retângulo 7"/>
          <p:cNvSpPr/>
          <p:nvPr/>
        </p:nvSpPr>
        <p:spPr>
          <a:xfrm>
            <a:off x="8055934" y="3429000"/>
            <a:ext cx="2116766" cy="44132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aixaDeTexto 4"/>
          <p:cNvSpPr txBox="1"/>
          <p:nvPr/>
        </p:nvSpPr>
        <p:spPr>
          <a:xfrm>
            <a:off x="10497878" y="3823697"/>
            <a:ext cx="1379797" cy="276999"/>
          </a:xfrm>
          <a:prstGeom prst="rect">
            <a:avLst/>
          </a:prstGeom>
          <a:noFill/>
        </p:spPr>
        <p:txBody>
          <a:bodyPr wrap="square" rtlCol="0">
            <a:spAutoFit/>
          </a:bodyPr>
          <a:lstStyle/>
          <a:p>
            <a:r>
              <a:rPr lang="pt-BR" sz="1200" dirty="0"/>
              <a:t>Função verdadeira</a:t>
            </a:r>
          </a:p>
        </p:txBody>
      </p:sp>
      <p:cxnSp>
        <p:nvCxnSpPr>
          <p:cNvPr id="10" name="Conector angulado 9"/>
          <p:cNvCxnSpPr>
            <a:cxnSpLocks/>
            <a:stCxn id="8" idx="2"/>
            <a:endCxn id="5" idx="1"/>
          </p:cNvCxnSpPr>
          <p:nvPr/>
        </p:nvCxnSpPr>
        <p:spPr>
          <a:xfrm rot="16200000" flipH="1">
            <a:off x="9760159" y="3224477"/>
            <a:ext cx="91877" cy="1383561"/>
          </a:xfrm>
          <a:prstGeom prst="bent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421641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F4080-29F1-FBEF-FCCD-15BCE9A0FC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ADB576-C5F6-2436-521C-8978099483B0}"/>
              </a:ext>
            </a:extLst>
          </p:cNvPr>
          <p:cNvSpPr>
            <a:spLocks noGrp="1"/>
          </p:cNvSpPr>
          <p:nvPr>
            <p:ph type="title"/>
          </p:nvPr>
        </p:nvSpPr>
        <p:spPr>
          <a:xfrm>
            <a:off x="838199" y="227053"/>
            <a:ext cx="10515600" cy="898361"/>
          </a:xfrm>
        </p:spPr>
        <p:txBody>
          <a:bodyPr>
            <a:normAutofit/>
          </a:bodyPr>
          <a:lstStyle/>
          <a:p>
            <a:r>
              <a:rPr lang="pt-BR" i="1" dirty="0"/>
              <a:t>Early-stopping</a:t>
            </a:r>
          </a:p>
        </p:txBody>
      </p:sp>
      <p:sp>
        <p:nvSpPr>
          <p:cNvPr id="6" name="Content Placeholder 2">
            <a:extLst>
              <a:ext uri="{FF2B5EF4-FFF2-40B4-BE49-F238E27FC236}">
                <a16:creationId xmlns:a16="http://schemas.microsoft.com/office/drawing/2014/main" id="{544AA3A2-679B-3AA1-CC10-28280789EE1D}"/>
              </a:ext>
            </a:extLst>
          </p:cNvPr>
          <p:cNvSpPr>
            <a:spLocks noGrp="1"/>
          </p:cNvSpPr>
          <p:nvPr>
            <p:ph idx="1"/>
          </p:nvPr>
        </p:nvSpPr>
        <p:spPr>
          <a:xfrm>
            <a:off x="5172075" y="1343392"/>
            <a:ext cx="7019924" cy="5514608"/>
          </a:xfrm>
        </p:spPr>
        <p:txBody>
          <a:bodyPr>
            <a:normAutofit/>
          </a:bodyPr>
          <a:lstStyle/>
          <a:p>
            <a:r>
              <a:rPr lang="pt-BR" dirty="0"/>
              <a:t>À medida que as épocas passam, o algoritmo aprende e seu erro de treinamento diminui, juntamente com o erro de validação. </a:t>
            </a:r>
          </a:p>
          <a:p>
            <a:r>
              <a:rPr lang="pt-BR" dirty="0"/>
              <a:t>No entanto, após aproximadamente 100 épocas, o erro de validação para de diminuir e começa a crescer.</a:t>
            </a:r>
          </a:p>
          <a:p>
            <a:r>
              <a:rPr lang="pt-BR" dirty="0"/>
              <a:t>Isso indica que o modelo começou a </a:t>
            </a:r>
            <a:r>
              <a:rPr lang="pt-BR" b="1" i="1" dirty="0"/>
              <a:t>sobreajustar</a:t>
            </a:r>
            <a:r>
              <a:rPr lang="pt-BR" dirty="0"/>
              <a:t> aos dados de treinamento. </a:t>
            </a:r>
          </a:p>
          <a:p>
            <a:r>
              <a:rPr lang="pt-BR" dirty="0"/>
              <a:t>Com a parada antecipada, usa-se os pesos que resultaram no menor erro de validação ao longo de todo o treinamento, garantindo que o modelo apresente uma boa </a:t>
            </a:r>
            <a:r>
              <a:rPr lang="pt-BR" b="1" i="1" dirty="0"/>
              <a:t>generalização</a:t>
            </a:r>
            <a:r>
              <a:rPr lang="pt-BR" dirty="0"/>
              <a:t>.</a:t>
            </a:r>
          </a:p>
        </p:txBody>
      </p:sp>
      <p:pic>
        <p:nvPicPr>
          <p:cNvPr id="4" name="Picture 3">
            <a:extLst>
              <a:ext uri="{FF2B5EF4-FFF2-40B4-BE49-F238E27FC236}">
                <a16:creationId xmlns:a16="http://schemas.microsoft.com/office/drawing/2014/main" id="{BC513528-9446-C8AA-A136-1A46C8D2F35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814" t="10842" r="9071"/>
          <a:stretch/>
        </p:blipFill>
        <p:spPr>
          <a:xfrm>
            <a:off x="838199" y="1343392"/>
            <a:ext cx="3660735" cy="2441657"/>
          </a:xfrm>
          <a:prstGeom prst="rect">
            <a:avLst/>
          </a:prstGeom>
        </p:spPr>
      </p:pic>
      <p:pic>
        <p:nvPicPr>
          <p:cNvPr id="7" name="Picture 6">
            <a:extLst>
              <a:ext uri="{FF2B5EF4-FFF2-40B4-BE49-F238E27FC236}">
                <a16:creationId xmlns:a16="http://schemas.microsoft.com/office/drawing/2014/main" id="{3C1D437B-A83C-554E-D000-BDD101D00790}"/>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854" t="9822" r="9410"/>
          <a:stretch/>
        </p:blipFill>
        <p:spPr>
          <a:xfrm>
            <a:off x="838903" y="4214429"/>
            <a:ext cx="3665347" cy="2540590"/>
          </a:xfrm>
          <a:prstGeom prst="rect">
            <a:avLst/>
          </a:prstGeom>
        </p:spPr>
      </p:pic>
    </p:spTree>
    <p:extLst>
      <p:ext uri="{BB962C8B-B14F-4D97-AF65-F5344CB8AC3E}">
        <p14:creationId xmlns:p14="http://schemas.microsoft.com/office/powerpoint/2010/main" val="287535121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F2E4D-5252-BAFC-FDEA-EC63D0F036E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86DC0D-9E2B-7FB9-63FD-D89617EA6769}"/>
              </a:ext>
            </a:extLst>
          </p:cNvPr>
          <p:cNvSpPr>
            <a:spLocks noGrp="1"/>
          </p:cNvSpPr>
          <p:nvPr>
            <p:ph idx="1"/>
          </p:nvPr>
        </p:nvSpPr>
        <p:spPr>
          <a:xfrm>
            <a:off x="669471" y="2974433"/>
            <a:ext cx="10853057" cy="909134"/>
          </a:xfrm>
        </p:spPr>
        <p:txBody>
          <a:bodyPr>
            <a:normAutofit/>
          </a:bodyPr>
          <a:lstStyle/>
          <a:p>
            <a:pPr marL="0" indent="0" algn="ctr">
              <a:buNone/>
            </a:pPr>
            <a:r>
              <a:rPr lang="pt-BR" sz="5400" dirty="0"/>
              <a:t>Figuras</a:t>
            </a:r>
          </a:p>
        </p:txBody>
      </p:sp>
    </p:spTree>
    <p:extLst>
      <p:ext uri="{BB962C8B-B14F-4D97-AF65-F5344CB8AC3E}">
        <p14:creationId xmlns:p14="http://schemas.microsoft.com/office/powerpoint/2010/main" val="587432369"/>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3EE36ACD-F81E-F7DC-2A1C-9DB6CB10168C}"/>
              </a:ext>
            </a:extLst>
          </p:cNvPr>
          <p:cNvGrpSpPr/>
          <p:nvPr/>
        </p:nvGrpSpPr>
        <p:grpSpPr>
          <a:xfrm>
            <a:off x="2885285" y="1182134"/>
            <a:ext cx="5640437" cy="4262159"/>
            <a:chOff x="5482823" y="644806"/>
            <a:chExt cx="5640437" cy="4262159"/>
          </a:xfrm>
        </p:grpSpPr>
        <p:cxnSp>
          <p:nvCxnSpPr>
            <p:cNvPr id="5" name="Straight Arrow Connector 4">
              <a:extLst>
                <a:ext uri="{FF2B5EF4-FFF2-40B4-BE49-F238E27FC236}">
                  <a16:creationId xmlns:a16="http://schemas.microsoft.com/office/drawing/2014/main" id="{D9958E20-A01A-5E92-6A88-E1D920ABF1F7}"/>
                </a:ext>
              </a:extLst>
            </p:cNvPr>
            <p:cNvCxnSpPr/>
            <p:nvPr/>
          </p:nvCxnSpPr>
          <p:spPr>
            <a:xfrm>
              <a:off x="6854791" y="3502818"/>
              <a:ext cx="501018" cy="886734"/>
            </a:xfrm>
            <a:prstGeom prst="straightConnector1">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50C1E081-2372-A949-DDA6-03B8790C462F}"/>
                </a:ext>
              </a:extLst>
            </p:cNvPr>
            <p:cNvCxnSpPr/>
            <p:nvPr/>
          </p:nvCxnSpPr>
          <p:spPr>
            <a:xfrm flipH="1">
              <a:off x="9054972" y="3513655"/>
              <a:ext cx="413575" cy="797704"/>
            </a:xfrm>
            <a:prstGeom prst="straightConnector1">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675DDFED-9018-08B2-9F0A-8827A7AB810D}"/>
                </a:ext>
              </a:extLst>
            </p:cNvPr>
            <p:cNvGrpSpPr/>
            <p:nvPr/>
          </p:nvGrpSpPr>
          <p:grpSpPr>
            <a:xfrm rot="10800000">
              <a:off x="6769100" y="644806"/>
              <a:ext cx="2806700" cy="4067687"/>
              <a:chOff x="5943600" y="2032000"/>
              <a:chExt cx="2806700" cy="4067687"/>
            </a:xfrm>
          </p:grpSpPr>
          <p:sp>
            <p:nvSpPr>
              <p:cNvPr id="19" name="Oval 18">
                <a:extLst>
                  <a:ext uri="{FF2B5EF4-FFF2-40B4-BE49-F238E27FC236}">
                    <a16:creationId xmlns:a16="http://schemas.microsoft.com/office/drawing/2014/main" id="{4B77E867-BEE8-B776-807C-83D9CB19DC30}"/>
                  </a:ext>
                </a:extLst>
              </p:cNvPr>
              <p:cNvSpPr/>
              <p:nvPr/>
            </p:nvSpPr>
            <p:spPr>
              <a:xfrm>
                <a:off x="6012753" y="2032000"/>
                <a:ext cx="2661347" cy="3911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0" name="Rectangle 19">
                <a:extLst>
                  <a:ext uri="{FF2B5EF4-FFF2-40B4-BE49-F238E27FC236}">
                    <a16:creationId xmlns:a16="http://schemas.microsoft.com/office/drawing/2014/main" id="{072466AA-6003-8E40-CDAF-9CAE3A542D9D}"/>
                  </a:ext>
                </a:extLst>
              </p:cNvPr>
              <p:cNvSpPr/>
              <p:nvPr/>
            </p:nvSpPr>
            <p:spPr>
              <a:xfrm>
                <a:off x="5943600" y="3415504"/>
                <a:ext cx="2806700" cy="268418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grpSp>
        <p:sp>
          <p:nvSpPr>
            <p:cNvPr id="8" name="Flowchart: Connector 7">
              <a:extLst>
                <a:ext uri="{FF2B5EF4-FFF2-40B4-BE49-F238E27FC236}">
                  <a16:creationId xmlns:a16="http://schemas.microsoft.com/office/drawing/2014/main" id="{EC2ADF97-4143-28AB-F1EF-A4E3E9DE915D}"/>
                </a:ext>
              </a:extLst>
            </p:cNvPr>
            <p:cNvSpPr/>
            <p:nvPr/>
          </p:nvSpPr>
          <p:spPr>
            <a:xfrm>
              <a:off x="7062438" y="3876205"/>
              <a:ext cx="85725" cy="101516"/>
            </a:xfrm>
            <a:prstGeom prst="flowChartConnector">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9" name="Flowchart: Connector 8">
              <a:extLst>
                <a:ext uri="{FF2B5EF4-FFF2-40B4-BE49-F238E27FC236}">
                  <a16:creationId xmlns:a16="http://schemas.microsoft.com/office/drawing/2014/main" id="{CE026B1A-65C6-20B0-B60B-83652C2C51E3}"/>
                </a:ext>
              </a:extLst>
            </p:cNvPr>
            <p:cNvSpPr/>
            <p:nvPr/>
          </p:nvSpPr>
          <p:spPr>
            <a:xfrm>
              <a:off x="9236075" y="3812747"/>
              <a:ext cx="85725" cy="101516"/>
            </a:xfrm>
            <a:prstGeom prst="flowChartConnector">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cxnSp>
          <p:nvCxnSpPr>
            <p:cNvPr id="10" name="Straight Arrow Connector 9">
              <a:extLst>
                <a:ext uri="{FF2B5EF4-FFF2-40B4-BE49-F238E27FC236}">
                  <a16:creationId xmlns:a16="http://schemas.microsoft.com/office/drawing/2014/main" id="{BC74AAD6-04C9-8200-AF91-D2BF489CA1D6}"/>
                </a:ext>
              </a:extLst>
            </p:cNvPr>
            <p:cNvCxnSpPr/>
            <p:nvPr/>
          </p:nvCxnSpPr>
          <p:spPr>
            <a:xfrm>
              <a:off x="7756525" y="4724681"/>
              <a:ext cx="866775" cy="0"/>
            </a:xfrm>
            <a:prstGeom prst="straightConnector1">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Flowchart: Connector 10">
              <a:extLst>
                <a:ext uri="{FF2B5EF4-FFF2-40B4-BE49-F238E27FC236}">
                  <a16:creationId xmlns:a16="http://schemas.microsoft.com/office/drawing/2014/main" id="{8DE6C7FC-8473-52F4-B42C-541FF701E16E}"/>
                </a:ext>
              </a:extLst>
            </p:cNvPr>
            <p:cNvSpPr/>
            <p:nvPr/>
          </p:nvSpPr>
          <p:spPr>
            <a:xfrm>
              <a:off x="8115300" y="4669997"/>
              <a:ext cx="85725" cy="101516"/>
            </a:xfrm>
            <a:prstGeom prst="flowChartConnector">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cxnSp>
          <p:nvCxnSpPr>
            <p:cNvPr id="12" name="Straight Arrow Connector 11">
              <a:extLst>
                <a:ext uri="{FF2B5EF4-FFF2-40B4-BE49-F238E27FC236}">
                  <a16:creationId xmlns:a16="http://schemas.microsoft.com/office/drawing/2014/main" id="{B8FF3A42-50A6-8204-2D2E-24B8D034F93D}"/>
                </a:ext>
              </a:extLst>
            </p:cNvPr>
            <p:cNvCxnSpPr/>
            <p:nvPr/>
          </p:nvCxnSpPr>
          <p:spPr>
            <a:xfrm>
              <a:off x="5632450" y="2705797"/>
              <a:ext cx="0" cy="2016000"/>
            </a:xfrm>
            <a:prstGeom prst="straightConnector1">
              <a:avLst/>
            </a:prstGeom>
            <a:ln w="127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B070BF5-62AD-D506-5468-CACA6BE994F9}"/>
                </a:ext>
              </a:extLst>
            </p:cNvPr>
            <p:cNvCxnSpPr/>
            <p:nvPr/>
          </p:nvCxnSpPr>
          <p:spPr>
            <a:xfrm flipH="1">
              <a:off x="5632168" y="4722299"/>
              <a:ext cx="4572000" cy="0"/>
            </a:xfrm>
            <a:prstGeom prst="straightConnector1">
              <a:avLst/>
            </a:prstGeom>
            <a:ln w="127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B7426872-438A-A1A8-60E6-42CD16F1B102}"/>
                    </a:ext>
                  </a:extLst>
                </p:cNvPr>
                <p:cNvSpPr/>
                <p:nvPr/>
              </p:nvSpPr>
              <p:spPr>
                <a:xfrm>
                  <a:off x="5612617" y="2534819"/>
                  <a:ext cx="2275303" cy="369332"/>
                </a:xfrm>
                <a:prstGeom prst="rect">
                  <a:avLst/>
                </a:prstGeom>
              </p:spPr>
              <p:txBody>
                <a:bodyPr wrap="none">
                  <a:spAutoFit/>
                </a:bodyPr>
                <a:lstStyle/>
                <a:p>
                  <a:pPr/>
                  <a14:m>
                    <m:oMathPara xmlns:m="http://schemas.openxmlformats.org/officeDocument/2006/math">
                      <m:oMath>
                        <m:r>
                          <m:rPr>
                            <m:nor/>
                          </m:rPr>
                          <a:rPr lang="pt-BR" i="0" dirty="0"/>
                          <m:t>Função de erro, </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r>
                          <a:rPr lang="pt-BR" i="1">
                            <a:latin typeface="Cambria Math" panose="02040503050406030204" pitchFamily="18" charset="0"/>
                          </a:rPr>
                          <m:t>(</m:t>
                        </m:r>
                        <m:r>
                          <a:rPr lang="pt-BR" i="1">
                            <a:latin typeface="Cambria Math" panose="02040503050406030204" pitchFamily="18" charset="0"/>
                          </a:rPr>
                          <m:t>𝑎</m:t>
                        </m:r>
                        <m:r>
                          <a:rPr lang="pt-BR" i="1">
                            <a:latin typeface="Cambria Math" panose="02040503050406030204" pitchFamily="18" charset="0"/>
                          </a:rPr>
                          <m:t>)</m:t>
                        </m:r>
                      </m:oMath>
                    </m:oMathPara>
                  </a14:m>
                  <a:endParaRPr lang="pt-BR" dirty="0"/>
                </a:p>
              </p:txBody>
            </p:sp>
          </mc:Choice>
          <mc:Fallback xmlns="">
            <p:sp>
              <p:nvSpPr>
                <p:cNvPr id="14" name="Rectangle 13">
                  <a:extLst>
                    <a:ext uri="{FF2B5EF4-FFF2-40B4-BE49-F238E27FC236}">
                      <a16:creationId xmlns:a16="http://schemas.microsoft.com/office/drawing/2014/main" id="{B7426872-438A-A1A8-60E6-42CD16F1B102}"/>
                    </a:ext>
                  </a:extLst>
                </p:cNvPr>
                <p:cNvSpPr>
                  <a:spLocks noRot="1" noChangeAspect="1" noMove="1" noResize="1" noEditPoints="1" noAdjustHandles="1" noChangeArrowheads="1" noChangeShapeType="1" noTextEdit="1"/>
                </p:cNvSpPr>
                <p:nvPr/>
              </p:nvSpPr>
              <p:spPr>
                <a:xfrm>
                  <a:off x="5612617" y="2534819"/>
                  <a:ext cx="2275303" cy="369332"/>
                </a:xfrm>
                <a:prstGeom prst="rect">
                  <a:avLst/>
                </a:prstGeom>
                <a:blipFill>
                  <a:blip r:embed="rId2"/>
                  <a:stretch>
                    <a:fillRect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E9EAEB81-7E73-FA1B-4C33-84308AC98FE3}"/>
                    </a:ext>
                  </a:extLst>
                </p:cNvPr>
                <p:cNvSpPr/>
                <p:nvPr/>
              </p:nvSpPr>
              <p:spPr>
                <a:xfrm>
                  <a:off x="10139894" y="4537633"/>
                  <a:ext cx="371448" cy="369332"/>
                </a:xfrm>
                <a:prstGeom prst="rect">
                  <a:avLst/>
                </a:prstGeom>
              </p:spPr>
              <p:txBody>
                <a:bodyPr wrap="none">
                  <a:spAutoFit/>
                </a:bodyPr>
                <a:lstStyle/>
                <a:p>
                  <a:pPr/>
                  <a14:m>
                    <m:oMathPara xmlns:m="http://schemas.openxmlformats.org/officeDocument/2006/math">
                      <m:oMath>
                        <m:r>
                          <a:rPr lang="pt-BR" b="0" i="1" smtClean="0">
                            <a:latin typeface="Cambria Math" panose="02040503050406030204" pitchFamily="18" charset="0"/>
                          </a:rPr>
                          <m:t>𝑎</m:t>
                        </m:r>
                      </m:oMath>
                    </m:oMathPara>
                  </a14:m>
                  <a:endParaRPr lang="nl-BE" dirty="0"/>
                </a:p>
              </p:txBody>
            </p:sp>
          </mc:Choice>
          <mc:Fallback xmlns="">
            <p:sp>
              <p:nvSpPr>
                <p:cNvPr id="15" name="Rectangle 14">
                  <a:extLst>
                    <a:ext uri="{FF2B5EF4-FFF2-40B4-BE49-F238E27FC236}">
                      <a16:creationId xmlns:a16="http://schemas.microsoft.com/office/drawing/2014/main" id="{E9EAEB81-7E73-FA1B-4C33-84308AC98FE3}"/>
                    </a:ext>
                  </a:extLst>
                </p:cNvPr>
                <p:cNvSpPr>
                  <a:spLocks noRot="1" noChangeAspect="1" noMove="1" noResize="1" noEditPoints="1" noAdjustHandles="1" noChangeArrowheads="1" noChangeShapeType="1" noTextEdit="1"/>
                </p:cNvSpPr>
                <p:nvPr/>
              </p:nvSpPr>
              <p:spPr>
                <a:xfrm>
                  <a:off x="10139894" y="4537633"/>
                  <a:ext cx="371448"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E21FCC7-E5B4-04E9-2153-93CD4B5FCB2E}"/>
                    </a:ext>
                  </a:extLst>
                </p:cNvPr>
                <p:cNvSpPr txBox="1"/>
                <p:nvPr/>
              </p:nvSpPr>
              <p:spPr>
                <a:xfrm>
                  <a:off x="5482823" y="3543300"/>
                  <a:ext cx="1717458" cy="954107"/>
                </a:xfrm>
                <a:prstGeom prst="rect">
                  <a:avLst/>
                </a:prstGeom>
                <a:noFill/>
              </p:spPr>
              <p:txBody>
                <a:bodyPr wrap="square" rtlCol="0">
                  <a:spAutoFit/>
                </a:bodyPr>
                <a:lstStyle/>
                <a:p>
                  <a:pPr algn="ctr"/>
                  <a14:m>
                    <m:oMathPara xmlns:m="http://schemas.openxmlformats.org/officeDocument/2006/math">
                      <m:oMath>
                        <m:r>
                          <a:rPr lang="pt-BR" sz="1400" i="1">
                            <a:latin typeface="Cambria Math" panose="02040503050406030204" pitchFamily="18" charset="0"/>
                            <a:ea typeface="Cambria Math" panose="02040503050406030204" pitchFamily="18" charset="0"/>
                          </a:rPr>
                          <m:t>−</m:t>
                        </m:r>
                        <m:r>
                          <a:rPr lang="pt-BR" sz="1400" i="1">
                            <a:latin typeface="Cambria Math" panose="02040503050406030204" pitchFamily="18" charset="0"/>
                            <a:ea typeface="Cambria Math" panose="02040503050406030204" pitchFamily="18" charset="0"/>
                          </a:rPr>
                          <m:t>𝛻</m:t>
                        </m:r>
                        <m:sSub>
                          <m:sSubPr>
                            <m:ctrlPr>
                              <a:rPr lang="pt-BR" sz="1400" i="1">
                                <a:latin typeface="Cambria Math" panose="02040503050406030204" pitchFamily="18" charset="0"/>
                              </a:rPr>
                            </m:ctrlPr>
                          </m:sSubPr>
                          <m:e>
                            <m:r>
                              <a:rPr lang="pt-BR" sz="1400" i="1">
                                <a:latin typeface="Cambria Math" panose="02040503050406030204" pitchFamily="18" charset="0"/>
                              </a:rPr>
                              <m:t>𝐽</m:t>
                            </m:r>
                          </m:e>
                          <m:sub>
                            <m:r>
                              <a:rPr lang="pt-BR" sz="1400" i="1">
                                <a:latin typeface="Cambria Math" panose="02040503050406030204" pitchFamily="18" charset="0"/>
                              </a:rPr>
                              <m:t>𝑒</m:t>
                            </m:r>
                          </m:sub>
                        </m:sSub>
                        <m:r>
                          <a:rPr lang="pt-BR" sz="1400" i="1">
                            <a:latin typeface="Cambria Math" panose="02040503050406030204" pitchFamily="18" charset="0"/>
                            <a:ea typeface="Cambria Math" panose="02040503050406030204" pitchFamily="18" charset="0"/>
                          </a:rPr>
                          <m:t>&lt;0</m:t>
                        </m:r>
                      </m:oMath>
                    </m:oMathPara>
                  </a14:m>
                  <a:endParaRPr lang="en-US" sz="1400" dirty="0"/>
                </a:p>
                <a:p>
                  <a:pPr algn="ctr"/>
                  <a:r>
                    <a:rPr lang="en-US" sz="1400" dirty="0" err="1"/>
                    <a:t>gradiente</a:t>
                  </a:r>
                  <a:r>
                    <a:rPr lang="en-US" sz="1400" dirty="0"/>
                    <a:t> </a:t>
                  </a:r>
                  <a:r>
                    <a:rPr lang="en-US" sz="1400" dirty="0" err="1"/>
                    <a:t>negativo</a:t>
                  </a:r>
                  <a:endParaRPr lang="en-US" sz="1400" dirty="0"/>
                </a:p>
                <a:p>
                  <a:pPr algn="ctr"/>
                  <a:r>
                    <a:rPr lang="en-US" sz="1400" dirty="0"/>
                    <a:t>=</a:t>
                  </a:r>
                </a:p>
                <a:p>
                  <a:pPr algn="ctr"/>
                  <a:r>
                    <a:rPr lang="en-US" sz="1400" dirty="0" err="1"/>
                    <a:t>siga</a:t>
                  </a:r>
                  <a:r>
                    <a:rPr lang="en-US" sz="1400" dirty="0"/>
                    <a:t> </a:t>
                  </a:r>
                  <a:r>
                    <a:rPr lang="en-US" sz="1400" dirty="0" err="1"/>
                    <a:t>em</a:t>
                  </a:r>
                  <a:r>
                    <a:rPr lang="en-US" sz="1400" dirty="0"/>
                    <a:t> </a:t>
                  </a:r>
                  <a:r>
                    <a:rPr lang="en-US" sz="1400" dirty="0" err="1"/>
                    <a:t>frente</a:t>
                  </a:r>
                  <a:endParaRPr lang="en-US" sz="1400" dirty="0"/>
                </a:p>
              </p:txBody>
            </p:sp>
          </mc:Choice>
          <mc:Fallback xmlns="">
            <p:sp>
              <p:nvSpPr>
                <p:cNvPr id="16" name="TextBox 15">
                  <a:extLst>
                    <a:ext uri="{FF2B5EF4-FFF2-40B4-BE49-F238E27FC236}">
                      <a16:creationId xmlns:a16="http://schemas.microsoft.com/office/drawing/2014/main" id="{3E21FCC7-E5B4-04E9-2153-93CD4B5FCB2E}"/>
                    </a:ext>
                  </a:extLst>
                </p:cNvPr>
                <p:cNvSpPr txBox="1">
                  <a:spLocks noRot="1" noChangeAspect="1" noMove="1" noResize="1" noEditPoints="1" noAdjustHandles="1" noChangeArrowheads="1" noChangeShapeType="1" noTextEdit="1"/>
                </p:cNvSpPr>
                <p:nvPr/>
              </p:nvSpPr>
              <p:spPr>
                <a:xfrm>
                  <a:off x="5482823" y="3543300"/>
                  <a:ext cx="1717458" cy="954107"/>
                </a:xfrm>
                <a:prstGeom prst="rect">
                  <a:avLst/>
                </a:prstGeom>
                <a:blipFill>
                  <a:blip r:embed="rId4"/>
                  <a:stretch>
                    <a:fillRect b="-57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1EA152FF-D4D9-1EB1-1A88-575849B0A937}"/>
                    </a:ext>
                  </a:extLst>
                </p:cNvPr>
                <p:cNvSpPr txBox="1"/>
                <p:nvPr/>
              </p:nvSpPr>
              <p:spPr>
                <a:xfrm>
                  <a:off x="9121947" y="3485076"/>
                  <a:ext cx="2001313" cy="954107"/>
                </a:xfrm>
                <a:prstGeom prst="rect">
                  <a:avLst/>
                </a:prstGeom>
                <a:noFill/>
              </p:spPr>
              <p:txBody>
                <a:bodyPr wrap="square" rtlCol="0">
                  <a:spAutoFit/>
                </a:bodyPr>
                <a:lstStyle/>
                <a:p>
                  <a:pPr algn="ctr"/>
                  <a14:m>
                    <m:oMathPara xmlns:m="http://schemas.openxmlformats.org/officeDocument/2006/math">
                      <m:oMath>
                        <m:r>
                          <a:rPr lang="pt-BR" sz="1400" i="1" smtClean="0">
                            <a:latin typeface="Cambria Math" panose="02040503050406030204" pitchFamily="18" charset="0"/>
                            <a:ea typeface="Cambria Math" panose="02040503050406030204" pitchFamily="18" charset="0"/>
                          </a:rPr>
                          <m:t>−</m:t>
                        </m:r>
                        <m:r>
                          <a:rPr lang="pt-BR" sz="1400" i="1" smtClean="0">
                            <a:latin typeface="Cambria Math" panose="02040503050406030204" pitchFamily="18" charset="0"/>
                            <a:ea typeface="Cambria Math" panose="02040503050406030204" pitchFamily="18" charset="0"/>
                          </a:rPr>
                          <m:t>𝛻</m:t>
                        </m:r>
                        <m:sSub>
                          <m:sSubPr>
                            <m:ctrlPr>
                              <a:rPr lang="pt-BR" sz="1400" i="1">
                                <a:latin typeface="Cambria Math" panose="02040503050406030204" pitchFamily="18" charset="0"/>
                              </a:rPr>
                            </m:ctrlPr>
                          </m:sSubPr>
                          <m:e>
                            <m:r>
                              <a:rPr lang="pt-BR" sz="1400" i="1">
                                <a:latin typeface="Cambria Math" panose="02040503050406030204" pitchFamily="18" charset="0"/>
                              </a:rPr>
                              <m:t>𝐽</m:t>
                            </m:r>
                          </m:e>
                          <m:sub>
                            <m:r>
                              <a:rPr lang="pt-BR" sz="1400" i="1">
                                <a:latin typeface="Cambria Math" panose="02040503050406030204" pitchFamily="18" charset="0"/>
                              </a:rPr>
                              <m:t>𝑒</m:t>
                            </m:r>
                          </m:sub>
                        </m:sSub>
                        <m:r>
                          <a:rPr lang="pt-BR" sz="1400" i="1" smtClean="0">
                            <a:latin typeface="Cambria Math" panose="02040503050406030204" pitchFamily="18" charset="0"/>
                            <a:ea typeface="Cambria Math" panose="02040503050406030204" pitchFamily="18" charset="0"/>
                          </a:rPr>
                          <m:t>&gt;0</m:t>
                        </m:r>
                      </m:oMath>
                    </m:oMathPara>
                  </a14:m>
                  <a:endParaRPr lang="en-US" sz="1400" dirty="0"/>
                </a:p>
                <a:p>
                  <a:pPr algn="ctr"/>
                  <a:r>
                    <a:rPr lang="en-US" sz="1400" dirty="0" err="1"/>
                    <a:t>gradiente</a:t>
                  </a:r>
                  <a:r>
                    <a:rPr lang="en-US" sz="1400" dirty="0"/>
                    <a:t> </a:t>
                  </a:r>
                  <a:r>
                    <a:rPr lang="en-US" sz="1400" dirty="0" err="1"/>
                    <a:t>positivo</a:t>
                  </a:r>
                  <a:endParaRPr lang="en-US" sz="1400" dirty="0"/>
                </a:p>
                <a:p>
                  <a:pPr algn="ctr"/>
                  <a:r>
                    <a:rPr lang="en-US" sz="1400" dirty="0"/>
                    <a:t>=</a:t>
                  </a:r>
                </a:p>
                <a:p>
                  <a:pPr algn="ctr"/>
                  <a:r>
                    <a:rPr lang="en-US" sz="1400" dirty="0" err="1"/>
                    <a:t>siga</a:t>
                  </a:r>
                  <a:r>
                    <a:rPr lang="en-US" sz="1400" dirty="0"/>
                    <a:t> </a:t>
                  </a:r>
                  <a:r>
                    <a:rPr lang="en-US" sz="1400" dirty="0" err="1"/>
                    <a:t>na</a:t>
                  </a:r>
                  <a:r>
                    <a:rPr lang="en-US" sz="1400" dirty="0"/>
                    <a:t> </a:t>
                  </a:r>
                  <a:r>
                    <a:rPr lang="en-US" sz="1400" dirty="0" err="1"/>
                    <a:t>direção</a:t>
                  </a:r>
                  <a:r>
                    <a:rPr lang="en-US" sz="1400" dirty="0"/>
                    <a:t> </a:t>
                  </a:r>
                  <a:r>
                    <a:rPr lang="en-US" sz="1400" dirty="0" err="1"/>
                    <a:t>contrária</a:t>
                  </a:r>
                  <a:endParaRPr lang="nl-BE" sz="1400" dirty="0"/>
                </a:p>
              </p:txBody>
            </p:sp>
          </mc:Choice>
          <mc:Fallback xmlns="">
            <p:sp>
              <p:nvSpPr>
                <p:cNvPr id="17" name="TextBox 16">
                  <a:extLst>
                    <a:ext uri="{FF2B5EF4-FFF2-40B4-BE49-F238E27FC236}">
                      <a16:creationId xmlns:a16="http://schemas.microsoft.com/office/drawing/2014/main" id="{1EA152FF-D4D9-1EB1-1A88-575849B0A937}"/>
                    </a:ext>
                  </a:extLst>
                </p:cNvPr>
                <p:cNvSpPr txBox="1">
                  <a:spLocks noRot="1" noChangeAspect="1" noMove="1" noResize="1" noEditPoints="1" noAdjustHandles="1" noChangeArrowheads="1" noChangeShapeType="1" noTextEdit="1"/>
                </p:cNvSpPr>
                <p:nvPr/>
              </p:nvSpPr>
              <p:spPr>
                <a:xfrm>
                  <a:off x="9121947" y="3485076"/>
                  <a:ext cx="2001313" cy="954107"/>
                </a:xfrm>
                <a:prstGeom prst="rect">
                  <a:avLst/>
                </a:prstGeom>
                <a:blipFill>
                  <a:blip r:embed="rId5"/>
                  <a:stretch>
                    <a:fillRect b="-57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82C31653-D89F-D786-6FAD-B127BD8B3943}"/>
                    </a:ext>
                  </a:extLst>
                </p:cNvPr>
                <p:cNvSpPr txBox="1"/>
                <p:nvPr/>
              </p:nvSpPr>
              <p:spPr>
                <a:xfrm>
                  <a:off x="7488495" y="3655746"/>
                  <a:ext cx="1300446" cy="954107"/>
                </a:xfrm>
                <a:prstGeom prst="rect">
                  <a:avLst/>
                </a:prstGeom>
                <a:noFill/>
              </p:spPr>
              <p:txBody>
                <a:bodyPr wrap="square" rtlCol="0">
                  <a:spAutoFit/>
                </a:bodyPr>
                <a:lstStyle/>
                <a:p>
                  <a:pPr algn="ctr"/>
                  <a14:m>
                    <m:oMathPara xmlns:m="http://schemas.openxmlformats.org/officeDocument/2006/math">
                      <m:oMath>
                        <m:r>
                          <a:rPr lang="pt-BR" sz="1400" i="1">
                            <a:latin typeface="Cambria Math" panose="02040503050406030204" pitchFamily="18" charset="0"/>
                            <a:ea typeface="Cambria Math" panose="02040503050406030204" pitchFamily="18" charset="0"/>
                          </a:rPr>
                          <m:t>−</m:t>
                        </m:r>
                        <m:r>
                          <a:rPr lang="pt-BR" sz="1400" i="1">
                            <a:latin typeface="Cambria Math" panose="02040503050406030204" pitchFamily="18" charset="0"/>
                            <a:ea typeface="Cambria Math" panose="02040503050406030204" pitchFamily="18" charset="0"/>
                          </a:rPr>
                          <m:t>𝛻</m:t>
                        </m:r>
                        <m:sSub>
                          <m:sSubPr>
                            <m:ctrlPr>
                              <a:rPr lang="pt-BR" sz="1400" i="1">
                                <a:latin typeface="Cambria Math" panose="02040503050406030204" pitchFamily="18" charset="0"/>
                              </a:rPr>
                            </m:ctrlPr>
                          </m:sSubPr>
                          <m:e>
                            <m:r>
                              <a:rPr lang="pt-BR" sz="1400" i="1">
                                <a:latin typeface="Cambria Math" panose="02040503050406030204" pitchFamily="18" charset="0"/>
                              </a:rPr>
                              <m:t>𝐽</m:t>
                            </m:r>
                          </m:e>
                          <m:sub>
                            <m:r>
                              <a:rPr lang="pt-BR" sz="1400" i="1">
                                <a:latin typeface="Cambria Math" panose="02040503050406030204" pitchFamily="18" charset="0"/>
                              </a:rPr>
                              <m:t>𝑒</m:t>
                            </m:r>
                          </m:sub>
                        </m:sSub>
                        <m:r>
                          <a:rPr lang="pt-BR" sz="1400" i="1">
                            <a:latin typeface="Cambria Math" panose="02040503050406030204" pitchFamily="18" charset="0"/>
                            <a:ea typeface="Cambria Math" panose="02040503050406030204" pitchFamily="18" charset="0"/>
                          </a:rPr>
                          <m:t>=0</m:t>
                        </m:r>
                      </m:oMath>
                    </m:oMathPara>
                  </a14:m>
                  <a:endParaRPr lang="en-US" sz="1400" dirty="0"/>
                </a:p>
                <a:p>
                  <a:pPr algn="ctr"/>
                  <a:r>
                    <a:rPr lang="en-US" sz="1400" dirty="0" err="1"/>
                    <a:t>gradiente</a:t>
                  </a:r>
                  <a:r>
                    <a:rPr lang="en-US" sz="1400" dirty="0"/>
                    <a:t> </a:t>
                  </a:r>
                  <a:r>
                    <a:rPr lang="en-US" sz="1400" dirty="0" err="1"/>
                    <a:t>nulo</a:t>
                  </a:r>
                  <a:endParaRPr lang="en-US" sz="1400" dirty="0"/>
                </a:p>
                <a:p>
                  <a:pPr algn="ctr"/>
                  <a:r>
                    <a:rPr lang="en-US" sz="1400" dirty="0"/>
                    <a:t>= </a:t>
                  </a:r>
                </a:p>
                <a:p>
                  <a:pPr algn="ctr"/>
                  <a:r>
                    <a:rPr lang="en-US" sz="1400" dirty="0" err="1"/>
                    <a:t>mínimo</a:t>
                  </a:r>
                  <a:endParaRPr lang="nl-BE" sz="1400" dirty="0"/>
                </a:p>
              </p:txBody>
            </p:sp>
          </mc:Choice>
          <mc:Fallback xmlns="">
            <p:sp>
              <p:nvSpPr>
                <p:cNvPr id="18" name="TextBox 17">
                  <a:extLst>
                    <a:ext uri="{FF2B5EF4-FFF2-40B4-BE49-F238E27FC236}">
                      <a16:creationId xmlns:a16="http://schemas.microsoft.com/office/drawing/2014/main" id="{82C31653-D89F-D786-6FAD-B127BD8B3943}"/>
                    </a:ext>
                  </a:extLst>
                </p:cNvPr>
                <p:cNvSpPr txBox="1">
                  <a:spLocks noRot="1" noChangeAspect="1" noMove="1" noResize="1" noEditPoints="1" noAdjustHandles="1" noChangeArrowheads="1" noChangeShapeType="1" noTextEdit="1"/>
                </p:cNvSpPr>
                <p:nvPr/>
              </p:nvSpPr>
              <p:spPr>
                <a:xfrm>
                  <a:off x="7488495" y="3655746"/>
                  <a:ext cx="1300446" cy="954107"/>
                </a:xfrm>
                <a:prstGeom prst="rect">
                  <a:avLst/>
                </a:prstGeom>
                <a:blipFill>
                  <a:blip r:embed="rId6"/>
                  <a:stretch>
                    <a:fillRect b="-5769"/>
                  </a:stretch>
                </a:blipFill>
              </p:spPr>
              <p:txBody>
                <a:bodyPr/>
                <a:lstStyle/>
                <a:p>
                  <a:r>
                    <a:rPr lang="en-US">
                      <a:noFill/>
                    </a:rPr>
                    <a:t> </a:t>
                  </a:r>
                </a:p>
              </p:txBody>
            </p:sp>
          </mc:Fallback>
        </mc:AlternateContent>
      </p:grpSp>
    </p:spTree>
    <p:extLst>
      <p:ext uri="{BB962C8B-B14F-4D97-AF65-F5344CB8AC3E}">
        <p14:creationId xmlns:p14="http://schemas.microsoft.com/office/powerpoint/2010/main" val="1959863482"/>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10116</TotalTime>
  <Words>22625</Words>
  <Application>Microsoft Office PowerPoint</Application>
  <PresentationFormat>Widescreen</PresentationFormat>
  <Paragraphs>1565</Paragraphs>
  <Slides>127</Slides>
  <Notes>83</Notes>
  <HiddenSlides>0</HiddenSlides>
  <MMClips>0</MMClips>
  <ScaleCrop>false</ScaleCrop>
  <HeadingPairs>
    <vt:vector size="6" baseType="variant">
      <vt:variant>
        <vt:lpstr>Fontes usadas</vt:lpstr>
      </vt:variant>
      <vt:variant>
        <vt:i4>7</vt:i4>
      </vt:variant>
      <vt:variant>
        <vt:lpstr>Tema</vt:lpstr>
      </vt:variant>
      <vt:variant>
        <vt:i4>1</vt:i4>
      </vt:variant>
      <vt:variant>
        <vt:lpstr>Títulos de slides</vt:lpstr>
      </vt:variant>
      <vt:variant>
        <vt:i4>127</vt:i4>
      </vt:variant>
    </vt:vector>
  </HeadingPairs>
  <TitlesOfParts>
    <vt:vector size="135" baseType="lpstr">
      <vt:lpstr>Arial</vt:lpstr>
      <vt:lpstr>Calibri</vt:lpstr>
      <vt:lpstr>Calibri Light</vt:lpstr>
      <vt:lpstr>Cambria Math</vt:lpstr>
      <vt:lpstr>Courier New</vt:lpstr>
      <vt:lpstr>Söhne</vt:lpstr>
      <vt:lpstr>Wingdings</vt:lpstr>
      <vt:lpstr>Tema do Office</vt:lpstr>
      <vt:lpstr>C24 – Inteligência Artificial: Regressão</vt:lpstr>
      <vt:lpstr>Regressão</vt:lpstr>
      <vt:lpstr>Motivação</vt:lpstr>
      <vt:lpstr>Motivação</vt:lpstr>
      <vt:lpstr>Apresentação do PowerPoint</vt:lpstr>
      <vt:lpstr>Apresentação do PowerPoint</vt:lpstr>
      <vt:lpstr>Regressão linear</vt:lpstr>
      <vt:lpstr>Qual o objetivo da regressão linear?</vt:lpstr>
      <vt:lpstr>Função hipótese</vt:lpstr>
      <vt:lpstr>Por que linear?</vt:lpstr>
      <vt:lpstr>Por que polinômios?</vt:lpstr>
      <vt:lpstr>Por que polinômios?</vt:lpstr>
      <vt:lpstr>Apresentação do PowerPoint</vt:lpstr>
      <vt:lpstr>A flexibilidade dos polinômios</vt:lpstr>
      <vt:lpstr>Apresentação do PowerPoint</vt:lpstr>
      <vt:lpstr>Objetivo da regressão linear</vt:lpstr>
      <vt:lpstr>Apresentação do PowerPoint</vt:lpstr>
      <vt:lpstr>Função de erro</vt:lpstr>
      <vt:lpstr>Minimização da função de erro</vt:lpstr>
      <vt:lpstr>Como encontrar os pesos ótimos?</vt:lpstr>
      <vt:lpstr>Comparativo das abordagens</vt:lpstr>
      <vt:lpstr>Apresentação do PowerPoint</vt:lpstr>
      <vt:lpstr>Apresentação do PowerPoint</vt:lpstr>
      <vt:lpstr>Superfície de erro</vt:lpstr>
      <vt:lpstr>Superfície de erro</vt:lpstr>
      <vt:lpstr>Superfície de erro</vt:lpstr>
      <vt:lpstr>Apresentação do PowerPoint</vt:lpstr>
      <vt:lpstr>Gradiente descendente</vt:lpstr>
      <vt:lpstr>Gradiente descendente</vt:lpstr>
      <vt:lpstr>Gradiente descendente</vt:lpstr>
      <vt:lpstr>Apresentação do PowerPoint</vt:lpstr>
      <vt:lpstr>Vetor gradiente</vt:lpstr>
      <vt:lpstr>Vetor gradiente</vt:lpstr>
      <vt:lpstr>Vetor gradiente</vt:lpstr>
      <vt:lpstr>Vetor gradiente</vt:lpstr>
      <vt:lpstr>Qual a distância até o mínimo?</vt:lpstr>
      <vt:lpstr>Passo de aprendizagem</vt:lpstr>
      <vt:lpstr>Passo de aprendizagem</vt:lpstr>
      <vt:lpstr>Passo de aprendizagem</vt:lpstr>
      <vt:lpstr>Passo de aprendizagem</vt:lpstr>
      <vt:lpstr>Passo de aprendizagem</vt:lpstr>
      <vt:lpstr>Otimização iterativa</vt:lpstr>
      <vt:lpstr>Otimização iterativa</vt:lpstr>
      <vt:lpstr>Tamanho do passo de aprendizagem</vt:lpstr>
      <vt:lpstr>Tamanho do passo de aprendizagem</vt:lpstr>
      <vt:lpstr>Tamanho do passo de aprendizagem</vt:lpstr>
      <vt:lpstr>Tamanho do passo de aprendizagem</vt:lpstr>
      <vt:lpstr>Tamanho do passo de aprendizagem</vt:lpstr>
      <vt:lpstr>Tamanho do passo de aprendizagem</vt:lpstr>
      <vt:lpstr>Qual o tamanho de passo de aprendizagem usar?</vt:lpstr>
      <vt:lpstr>Pseudocódigo do gradiente descendente</vt:lpstr>
      <vt:lpstr>Versões do gradiente descendente</vt:lpstr>
      <vt:lpstr>Vetor gradiente</vt:lpstr>
      <vt:lpstr>Interpretação do vetor gradiente</vt:lpstr>
      <vt:lpstr>Versões do gradiente descendente</vt:lpstr>
      <vt:lpstr>Gradiente descendente em batelada</vt:lpstr>
      <vt:lpstr>Gradiente descendente estocástico</vt:lpstr>
      <vt:lpstr>Gradiente descendente em mini-lotes</vt:lpstr>
      <vt:lpstr>Apresentação do PowerPoint</vt:lpstr>
      <vt:lpstr>Validação cruzada</vt:lpstr>
      <vt:lpstr>Underfitting e overfitting</vt:lpstr>
      <vt:lpstr>Overfitting e underfitting</vt:lpstr>
      <vt:lpstr>Overfitting</vt:lpstr>
      <vt:lpstr>Underfitting</vt:lpstr>
      <vt:lpstr>Underfitting</vt:lpstr>
      <vt:lpstr>Underfitting</vt:lpstr>
      <vt:lpstr>Underfitting</vt:lpstr>
      <vt:lpstr>Overfitting</vt:lpstr>
      <vt:lpstr>Overfitting</vt:lpstr>
      <vt:lpstr>Overfitting</vt:lpstr>
      <vt:lpstr>Ponto de equilíbrio</vt:lpstr>
      <vt:lpstr>Validação cruzada</vt:lpstr>
      <vt:lpstr>Validação cruzada</vt:lpstr>
      <vt:lpstr>Validação cruzada</vt:lpstr>
      <vt:lpstr>k-fold</vt:lpstr>
      <vt:lpstr>k-fold</vt:lpstr>
      <vt:lpstr>k-fold</vt:lpstr>
      <vt:lpstr>Qual grau escolher quando vários são possíveis?</vt:lpstr>
      <vt:lpstr>Qual grau escolher quando vários são possíveis?</vt:lpstr>
      <vt:lpstr>Apresentação do PowerPoint</vt:lpstr>
      <vt:lpstr>Regularização</vt:lpstr>
      <vt:lpstr>Early-stopping (parada antecipada)</vt:lpstr>
      <vt:lpstr>Exemplo</vt:lpstr>
      <vt:lpstr>Avisos</vt:lpstr>
      <vt:lpstr>Lista de exercícios</vt:lpstr>
      <vt:lpstr>Apresentação do PowerPoint</vt:lpstr>
      <vt:lpstr>Apresentação do PowerPoint</vt:lpstr>
      <vt:lpstr>Apresentação do PowerPoint</vt:lpstr>
      <vt:lpstr>Cálculo do vetor gradiente</vt:lpstr>
      <vt:lpstr>Cálculo do vetor gradiente</vt:lpstr>
      <vt:lpstr>Cálculo do vetor gradiente</vt:lpstr>
      <vt:lpstr>Cálculo do vetor gradiente</vt:lpstr>
      <vt:lpstr>Cálculo do vetor gradiente</vt:lpstr>
      <vt:lpstr>Cálculo do vetor gradiente</vt:lpstr>
      <vt:lpstr>Cálculo do vetor gradiente</vt:lpstr>
      <vt:lpstr>Equação de atualização dos pesos</vt:lpstr>
      <vt:lpstr>Equação de atualização dos pesos</vt:lpstr>
      <vt:lpstr>Apresentação do PowerPoint</vt:lpstr>
      <vt:lpstr>Regressão polinomial</vt:lpstr>
      <vt:lpstr>Apresentação do PowerPoint</vt:lpstr>
      <vt:lpstr>Impacto de outliers no modelo aprendido</vt:lpstr>
      <vt:lpstr>Apresentação do PowerPoint</vt:lpstr>
      <vt:lpstr>Regularização: penalizando a complexidade dos modelos</vt:lpstr>
      <vt:lpstr>Regularização: penalizando a complexidade dos modelos</vt:lpstr>
      <vt:lpstr>Regularização: penalizando a complexidade dos modelos</vt:lpstr>
      <vt:lpstr>Regularização: penalizando a complexidade dos modelos</vt:lpstr>
      <vt:lpstr>Regressão Ridge</vt:lpstr>
      <vt:lpstr>Regressão Ridge</vt:lpstr>
      <vt:lpstr>Regressão Ridge</vt:lpstr>
      <vt:lpstr>Regressão Ridge</vt:lpstr>
      <vt:lpstr>Regressão Ridge com gradiente descendente</vt:lpstr>
      <vt:lpstr>Regressão LASSO</vt:lpstr>
      <vt:lpstr>Regressão LASSO</vt:lpstr>
      <vt:lpstr>Regressão LASSO com gradiente descendente</vt:lpstr>
      <vt:lpstr>Por que a regressão LASSO produz modelos esparsos?</vt:lpstr>
      <vt:lpstr>Penalização L1</vt:lpstr>
      <vt:lpstr>Limitações</vt:lpstr>
      <vt:lpstr>Elastic-Net</vt:lpstr>
      <vt:lpstr>Quando utilizar cada tipo de regressão?</vt:lpstr>
      <vt:lpstr>Quando utilizar cada tipo de regressão?</vt:lpstr>
      <vt:lpstr>Early-stopping: parada antecipada</vt:lpstr>
      <vt:lpstr>Early-stopping: parada antecipada</vt:lpstr>
      <vt:lpstr>Early-stopping: critério de parada</vt:lpstr>
      <vt:lpstr>Early-stopping</vt:lpstr>
      <vt:lpstr>Early-stopping</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TP555 - Inteligência Artificial e Machine Learning</dc:title>
  <dc:creator>Felipe Augusto Pereira de Figueiredo</dc:creator>
  <cp:lastModifiedBy>Felipe Augusto Pereira de Figueiredo</cp:lastModifiedBy>
  <cp:revision>2315</cp:revision>
  <dcterms:created xsi:type="dcterms:W3CDTF">2020-01-20T13:50:05Z</dcterms:created>
  <dcterms:modified xsi:type="dcterms:W3CDTF">2026-09-22T01:05:04Z</dcterms:modified>
</cp:coreProperties>
</file>