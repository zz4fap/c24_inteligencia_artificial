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3"/>
  </p:notesMasterIdLst>
  <p:handoutMasterIdLst>
    <p:handoutMasterId r:id="rId94"/>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550" r:id="rId14"/>
    <p:sldId id="522" r:id="rId15"/>
    <p:sldId id="523" r:id="rId16"/>
    <p:sldId id="524" r:id="rId17"/>
    <p:sldId id="481" r:id="rId18"/>
    <p:sldId id="525" r:id="rId19"/>
    <p:sldId id="526" r:id="rId20"/>
    <p:sldId id="527" r:id="rId21"/>
    <p:sldId id="547" r:id="rId22"/>
    <p:sldId id="528" r:id="rId23"/>
    <p:sldId id="529" r:id="rId24"/>
    <p:sldId id="541" r:id="rId25"/>
    <p:sldId id="532" r:id="rId26"/>
    <p:sldId id="533" r:id="rId27"/>
    <p:sldId id="435" r:id="rId28"/>
    <p:sldId id="448" r:id="rId29"/>
    <p:sldId id="536" r:id="rId30"/>
    <p:sldId id="411" r:id="rId31"/>
    <p:sldId id="432" r:id="rId32"/>
    <p:sldId id="415" r:id="rId33"/>
    <p:sldId id="412" r:id="rId34"/>
    <p:sldId id="413" r:id="rId35"/>
    <p:sldId id="450" r:id="rId36"/>
    <p:sldId id="434" r:id="rId37"/>
    <p:sldId id="414" r:id="rId38"/>
    <p:sldId id="572" r:id="rId39"/>
    <p:sldId id="416" r:id="rId40"/>
    <p:sldId id="451" r:id="rId41"/>
    <p:sldId id="417" r:id="rId42"/>
    <p:sldId id="419" r:id="rId43"/>
    <p:sldId id="425" r:id="rId44"/>
    <p:sldId id="537" r:id="rId45"/>
    <p:sldId id="418" r:id="rId46"/>
    <p:sldId id="539" r:id="rId47"/>
    <p:sldId id="542" r:id="rId48"/>
    <p:sldId id="423" r:id="rId49"/>
    <p:sldId id="424" r:id="rId50"/>
    <p:sldId id="429" r:id="rId51"/>
    <p:sldId id="540" r:id="rId52"/>
    <p:sldId id="431" r:id="rId53"/>
    <p:sldId id="546" r:id="rId54"/>
    <p:sldId id="554" r:id="rId55"/>
    <p:sldId id="555" r:id="rId56"/>
    <p:sldId id="549" r:id="rId57"/>
    <p:sldId id="461" r:id="rId58"/>
    <p:sldId id="557" r:id="rId59"/>
    <p:sldId id="558" r:id="rId60"/>
    <p:sldId id="559" r:id="rId61"/>
    <p:sldId id="560" r:id="rId62"/>
    <p:sldId id="561" r:id="rId63"/>
    <p:sldId id="562" r:id="rId64"/>
    <p:sldId id="563" r:id="rId65"/>
    <p:sldId id="543" r:id="rId66"/>
    <p:sldId id="437" r:id="rId67"/>
    <p:sldId id="436" r:id="rId68"/>
    <p:sldId id="443" r:id="rId69"/>
    <p:sldId id="444" r:id="rId70"/>
    <p:sldId id="565" r:id="rId71"/>
    <p:sldId id="567" r:id="rId72"/>
    <p:sldId id="568" r:id="rId73"/>
    <p:sldId id="420" r:id="rId74"/>
    <p:sldId id="421" r:id="rId75"/>
    <p:sldId id="338" r:id="rId76"/>
    <p:sldId id="573" r:id="rId77"/>
    <p:sldId id="370" r:id="rId78"/>
    <p:sldId id="293" r:id="rId79"/>
    <p:sldId id="306" r:id="rId80"/>
    <p:sldId id="446" r:id="rId81"/>
    <p:sldId id="438" r:id="rId82"/>
    <p:sldId id="440" r:id="rId83"/>
    <p:sldId id="441" r:id="rId84"/>
    <p:sldId id="551" r:id="rId85"/>
    <p:sldId id="442" r:id="rId86"/>
    <p:sldId id="552" r:id="rId87"/>
    <p:sldId id="553" r:id="rId88"/>
    <p:sldId id="445" r:id="rId89"/>
    <p:sldId id="447" r:id="rId90"/>
    <p:sldId id="452" r:id="rId91"/>
    <p:sldId id="569" r:id="rId92"/>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92010" autoAdjust="0"/>
  </p:normalViewPr>
  <p:slideViewPr>
    <p:cSldViewPr snapToGrid="0">
      <p:cViewPr varScale="1">
        <p:scale>
          <a:sx n="102" d="100"/>
          <a:sy n="102" d="100"/>
        </p:scale>
        <p:origin x="1176" y="9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handoutMaster" Target="handoutMasters/handoutMaster1.xml"/><Relationship Id="rId9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notesMaster" Target="notesMasters/notesMaster1.xml"/><Relationship Id="rId98"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17/03/2026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17/03/2026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5CC10E0-E8FB-599D-848C-D0CE71AD542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65</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66</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67</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68</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69</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70</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74</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75</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91</a:t>
            </a:fld>
            <a:endParaRPr lang="pt-BR"/>
          </a:p>
        </p:txBody>
      </p:sp>
    </p:spTree>
    <p:extLst>
      <p:ext uri="{BB962C8B-B14F-4D97-AF65-F5344CB8AC3E}">
        <p14:creationId xmlns:p14="http://schemas.microsoft.com/office/powerpoint/2010/main" val="33005868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4.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0.png"/><Relationship Id="rId7" Type="http://schemas.openxmlformats.org/officeDocument/2006/relationships/image" Target="../media/image180.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5.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7" Type="http://schemas.openxmlformats.org/officeDocument/2006/relationships/image" Target="../media/image18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6.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7.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3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3.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4.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4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5.gif"/><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4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2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31.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42.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51.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48.jpeg"/></Relationships>
</file>

<file path=ppt/slides/_rels/slide57.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41.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62.png"/></Relationships>
</file>

<file path=ppt/slides/_rels/slide69.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54.png"/></Relationships>
</file>

<file path=ppt/slides/_rels/slide70.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54.png"/></Relationships>
</file>

<file path=ppt/slides/_rels/slide7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jpeg"/><Relationship Id="rId4" Type="http://schemas.openxmlformats.org/officeDocument/2006/relationships/image" Target="../media/image5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47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6671733" y="1825624"/>
                <a:ext cx="5429956"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6671733" y="1825624"/>
                <a:ext cx="5429956" cy="5032375"/>
              </a:xfrm>
              <a:blipFill>
                <a:blip r:embed="rId2"/>
                <a:stretch>
                  <a:fillRect l="-2020" t="-1937" r="-2469"/>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h</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h</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604C70A9-5604-48B8-C1FC-E69BD106F6F8}"/>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7C92ECFF-8C74-0006-B612-C44FCE82BA49}"/>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4F6A078B-ED02-6903-FC50-3B0373C5269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A75FE43F-1DC3-56A6-8984-4280EEE4EE5F}"/>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5E04C334-72DA-A023-DA1F-4BE6228FECE8}"/>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5D0DFD15-A711-302B-5F84-B005B26599F0}"/>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h</m:t>
                    </m:r>
                    <m:d>
                      <m:dPr>
                        <m:ctrlPr>
                          <a:rPr lang="pt-BR"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7030A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smtClean="0">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55"/>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892511" y="1825624"/>
                <a:ext cx="7212402"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92511" y="1825624"/>
                <a:ext cx="7212402" cy="5032375"/>
              </a:xfrm>
              <a:blipFill>
                <a:blip r:embed="rId3"/>
                <a:stretch>
                  <a:fillRect l="-1522" t="-1937" r="-2029"/>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 com um ponto de inflexão,</a:t>
            </a:r>
          </a:p>
          <a:p>
            <a:r>
              <a:rPr lang="pt-BR" dirty="0"/>
              <a:t>Grau 3: curva com até dois pontos de inflexão</a:t>
            </a:r>
          </a:p>
          <a:p>
            <a:r>
              <a:rPr lang="pt-BR" dirty="0"/>
              <a:t>Graus maiores: curvas </a:t>
            </a:r>
            <a:r>
              <a:rPr lang="pt-BR" b="1" dirty="0">
                <a:solidFill>
                  <a:srgbClr val="7030A0"/>
                </a:solidFill>
              </a:rPr>
              <a:t>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r>
              <a:rPr lang="pt-BR" i="1" dirty="0"/>
              <a:t>.</a:t>
            </a:r>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t>minimizam a distância (</a:t>
                </a:r>
                <a:r>
                  <a:rPr lang="pt-BR" b="1" dirty="0">
                    <a:solidFill>
                      <a:srgbClr val="7030A0"/>
                    </a:solidFill>
                  </a:rPr>
                  <a:t>i.e., o 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0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3"/>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207692" r="-92512" b="-81230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207692" r="-262" b="-812308"/>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168302" r="-262" b="-6415"/>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da função de erro.</a:t>
                </a:r>
              </a:p>
              <a:p>
                <a:r>
                  <a:rPr lang="pt-BR" dirty="0"/>
                  <a:t>Ela mostra o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b="-339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 y="6488667"/>
            <a:ext cx="5599522" cy="307777"/>
          </a:xfrm>
          <a:prstGeom prst="rect">
            <a:avLst/>
          </a:prstGeom>
          <a:noFill/>
        </p:spPr>
        <p:txBody>
          <a:bodyPr wrap="square" rtlCol="0">
            <a:spAutoFit/>
          </a:bodyPr>
          <a:lstStyle/>
          <a:p>
            <a:r>
              <a:rPr lang="pt-BR" sz="1400" b="1" dirty="0"/>
              <a:t>OBS</a:t>
            </a:r>
            <a:r>
              <a:rPr lang="pt-BR" sz="1400" dirty="0"/>
              <a:t>.: Superfície de erro para um 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vetor de </a:t>
                </a:r>
                <a:r>
                  <a:rPr lang="pt-BR" b="1" dirty="0"/>
                  <a:t>pesos ótimos,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ParaPr>
                      <m:jc m:val="centerGroup"/>
                    </m:oMathParaPr>
                    <m:oMath xmlns:m="http://schemas.openxmlformats.org/officeDocument/2006/math">
                      <m:sSup>
                        <m:sSupPr>
                          <m:ctrlPr>
                            <a:rPr lang="pt-BR" sz="2400" i="1">
                              <a:latin typeface="Cambria Math" panose="02040503050406030204" pitchFamily="18" charset="0"/>
                            </a:rPr>
                          </m:ctrlPr>
                        </m:sSupPr>
                        <m:e>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a:latin typeface="Cambria Math" panose="02040503050406030204" pitchFamily="18" charset="0"/>
                                </a:rPr>
                                <m:t>𝑿𝒂</m:t>
                              </m:r>
                            </m:e>
                          </m:d>
                        </m:e>
                        <m:sup>
                          <m:r>
                            <a:rPr lang="pt-BR" sz="24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i="1">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dirty="0"/>
                          <m:t>− </m:t>
                        </m:r>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limLow>
                          <m:limLowPr>
                            <m:ctrlPr>
                              <a:rPr lang="nl-BE" sz="2400" i="1" dirty="0" smtClean="0">
                                <a:latin typeface="Cambria Math" panose="02040503050406030204" pitchFamily="18" charset="0"/>
                              </a:rPr>
                            </m:ctrlPr>
                          </m:limLowPr>
                          <m:e>
                            <m:groupChr>
                              <m:groupChrPr>
                                <m:chr m:val="⏟"/>
                                <m:ctrlPr>
                                  <a:rPr lang="nl-BE" sz="2400" i="1" dirty="0" smtClean="0">
                                    <a:latin typeface="Cambria Math" panose="02040503050406030204" pitchFamily="18" charset="0"/>
                                  </a:rPr>
                                </m:ctrlPr>
                              </m:groupChrPr>
                              <m:e>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i="1">
                                    <a:latin typeface="Cambria Math" panose="02040503050406030204" pitchFamily="18" charset="0"/>
                                  </a:rPr>
                                </m:ctrlPr>
                              </m:sSupPr>
                              <m:e>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sempre terá o formato de uma</a:t>
                </a:r>
                <a:r>
                  <a:rPr lang="pt-BR" dirty="0"/>
                  <a:t> </a:t>
                </a:r>
                <a:r>
                  <a:rPr lang="pt-BR" b="1" dirty="0">
                    <a:solidFill>
                      <a:schemeClr val="accent2"/>
                    </a:solidFill>
                  </a:rPr>
                  <a:t>parábola</a:t>
                </a:r>
                <a:r>
                  <a:rPr lang="pt-BR" b="1" dirty="0"/>
                  <a:t> (ou tigela)</a:t>
                </a:r>
                <a:r>
                  <a:rPr lang="pt-BR" dirty="0"/>
                  <a:t>.</a:t>
                </a:r>
              </a:p>
              <a:p>
                <a:r>
                  <a:rPr lang="pt-BR" dirty="0"/>
                  <a:t>Além disso, devido ao termo quadrático ser positivo, ela terá a </a:t>
                </a:r>
                <a:r>
                  <a:rPr lang="pt-BR" b="1" dirty="0">
                    <a:solidFill>
                      <a:srgbClr val="7030A0"/>
                    </a:solidFill>
                  </a:rPr>
                  <a:t>concavidade sempre voltada para cima</a:t>
                </a:r>
                <a:r>
                  <a:rPr lang="pt-BR" b="1" dirty="0"/>
                  <a:t>.</a:t>
                </a:r>
              </a:p>
            </p:txBody>
          </p:sp>
        </mc:Choice>
        <mc:Fallback xmlns="">
          <p:sp>
            <p:nvSpPr>
              <p:cNvPr id="3" name="Content Placeholder 2">
                <a:extLst>
                  <a:ext uri="{FF2B5EF4-FFF2-40B4-BE49-F238E27FC236}">
                    <a16:creationId xmlns:a16="http://schemas.microsoft.com/office/drawing/2014/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a:blip r:embed="rId3"/>
                <a:stretch>
                  <a:fillRect l="-1810" t="-1937" r="-1897" b="-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id="{2E75DE34-0603-3089-D41E-8F16B6BD358C}"/>
              </a:ext>
            </a:extLst>
          </p:cNvPr>
          <p:cNvSpPr/>
          <p:nvPr/>
        </p:nvSpPr>
        <p:spPr>
          <a:xfrm>
            <a:off x="9889255" y="3902697"/>
            <a:ext cx="1158957" cy="35302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748868"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solidFill>
                      <a:schemeClr val="accent2"/>
                    </a:solidFill>
                  </a:rPr>
                  <a:t>um único </a:t>
                </a:r>
                <a:r>
                  <a:rPr lang="pt-BR" b="1" dirty="0"/>
                  <a:t>ponto mais baixo</a:t>
                </a:r>
                <a:r>
                  <a:rPr lang="pt-BR" dirty="0"/>
                  <a:t> (chamado de </a:t>
                </a:r>
                <a:r>
                  <a:rPr lang="pt-BR" b="1" dirty="0">
                    <a:solidFill>
                      <a:srgbClr val="7030A0"/>
                    </a:solidFill>
                  </a:rPr>
                  <a:t>mínimo global</a:t>
                </a:r>
                <a:r>
                  <a:rPr lang="pt-BR" dirty="0"/>
                  <a:t>).</a:t>
                </a:r>
              </a:p>
              <a:p>
                <a:pPr lvl="1">
                  <a:buFont typeface="Wingdings" panose="05000000000000000000" pitchFamily="2" charset="2"/>
                  <a:buChar char="§"/>
                </a:pPr>
                <a:r>
                  <a:rPr lang="pt-BR" dirty="0"/>
                  <a:t>Portanto, basta </a:t>
                </a:r>
                <a:r>
                  <a:rPr lang="pt-BR" b="1" dirty="0">
                    <a:solidFill>
                      <a:schemeClr val="accent1"/>
                    </a:solidFill>
                  </a:rPr>
                  <a:t>seguirmos ladeira abaixo</a:t>
                </a:r>
                <a:r>
                  <a:rPr lang="pt-BR" dirty="0"/>
                  <a:t> </a:t>
                </a:r>
                <a:r>
                  <a:rPr lang="pt-BR" b="1" dirty="0">
                    <a:solidFill>
                      <a:srgbClr val="00B050"/>
                    </a:solidFill>
                  </a:rPr>
                  <a:t>a partir de qualquer ponto</a:t>
                </a:r>
                <a:r>
                  <a:rPr lang="pt-BR" dirty="0"/>
                  <a:t> que encontraremos a melhor solução possível,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Em geral, o </a:t>
                </a:r>
                <a:r>
                  <a:rPr lang="pt-BR" b="1" dirty="0">
                    <a:solidFill>
                      <a:srgbClr val="7030A0"/>
                    </a:solidFill>
                  </a:rPr>
                  <a:t>erro mínimo</a:t>
                </a:r>
                <a:r>
                  <a:rPr lang="pt-BR" dirty="0"/>
                  <a:t> nunca será igual a 0 devido aos dados estarem corrompidos por algum tipo de ruído.</a:t>
                </a:r>
              </a:p>
              <a:p>
                <a:pPr lvl="1">
                  <a:buFont typeface="Wingdings" panose="05000000000000000000" pitchFamily="2" charset="2"/>
                  <a:buChar char="§"/>
                </a:pPr>
                <a:endParaRPr lang="pt-BR"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723"/>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id="{937BDBF2-CD1E-BFE4-16C2-CB92C782157B}"/>
              </a:ext>
            </a:extLst>
          </p:cNvPr>
          <p:cNvSpPr txBox="1"/>
          <p:nvPr/>
        </p:nvSpPr>
        <p:spPr>
          <a:xfrm>
            <a:off x="0" y="6488667"/>
            <a:ext cx="6561983" cy="307777"/>
          </a:xfrm>
          <a:prstGeom prst="rect">
            <a:avLst/>
          </a:prstGeom>
          <a:noFill/>
        </p:spPr>
        <p:txBody>
          <a:bodyPr wrap="square" rtlCol="0">
            <a:spAutoFit/>
          </a:bodyPr>
          <a:lstStyle/>
          <a:p>
            <a:r>
              <a:rPr lang="pt-BR" sz="1400" b="1" dirty="0"/>
              <a:t>OBS</a:t>
            </a:r>
            <a:r>
              <a:rPr lang="pt-BR" sz="1400" dirty="0"/>
              <a:t>.: Superfície de erro para um 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39662" y="1825624"/>
                <a:ext cx="6307793" cy="5032375"/>
              </a:xfrm>
            </p:spPr>
            <p:txBody>
              <a:bodyPr/>
              <a:lstStyle/>
              <a:p>
                <a:r>
                  <a:rPr lang="pt-BR" dirty="0"/>
                  <a:t>O </a:t>
                </a:r>
                <a:r>
                  <a:rPr lang="pt-BR" b="1" dirty="0">
                    <a:solidFill>
                      <a:schemeClr val="accent2"/>
                    </a:solidFill>
                  </a:rPr>
                  <a:t>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t>pesos (i.e., em pontos) aleatórios</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307793" cy="5032375"/>
              </a:xfrm>
              <a:blipFill>
                <a:blip r:embed="rId2"/>
                <a:stretch>
                  <a:fillRect l="-1741" t="-1937" r="-290"/>
                </a:stretch>
              </a:blipFill>
            </p:spPr>
            <p:txBody>
              <a:bodyPr/>
              <a:lstStyle/>
              <a:p>
                <a:r>
                  <a:rPr lang="en-US">
                    <a:noFill/>
                  </a:rPr>
                  <a:t> </a:t>
                </a:r>
              </a:p>
            </p:txBody>
          </p:sp>
        </mc:Fallback>
      </mc:AlternateContent>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em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sempre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r="-875"/>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ele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absoluto </a:t>
            </a:r>
            <a:r>
              <a:rPr lang="pt-BR" dirty="0">
                <a:solidFill>
                  <a:schemeClr val="tx1"/>
                </a:solidFill>
                <a:effectLst/>
              </a:rPr>
              <a:t>do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valor igual a 0 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dirty="0">
                    <a:solidFill>
                      <a:srgbClr val="00B050"/>
                    </a:solidFill>
                  </a:rPr>
                  <a:t>encontrar o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93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4"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podemos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para darmos naquela direção.</a:t>
                </a:r>
              </a:p>
              <a:p>
                <a:r>
                  <a:rPr lang="pt-BR" dirty="0"/>
                  <a:t>O tamanho do passo é definido por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chamado de </a:t>
                </a:r>
                <a:r>
                  <a:rPr lang="pt-BR" b="1" dirty="0">
                    <a:solidFill>
                      <a:schemeClr val="accent1"/>
                    </a:solidFill>
                  </a:rPr>
                  <a:t>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4" cy="5032376"/>
              </a:xfrm>
              <a:blipFill>
                <a:blip r:embed="rId3"/>
                <a:stretch>
                  <a:fillRect l="-1768" t="-1937" r="-589"/>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A equação abaixo é chamada de </a:t>
                </a:r>
                <a:r>
                  <a:rPr lang="pt-BR" b="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1">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1" dirty="0">
                              <a:latin typeface="Cambria Math" panose="02040503050406030204" pitchFamily="18" charset="0"/>
                            </a:rPr>
                          </m:ctrlPr>
                        </m:fPr>
                        <m:num>
                          <m:r>
                            <a:rPr lang="pt-BR" i="0" dirty="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r>
                            <a:rPr lang="pt-BR"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r>
                            <a:rPr lang="pt-BR" smtClean="0">
                              <a:latin typeface="Cambria Math" panose="02040503050406030204" pitchFamily="18" charset="0"/>
                            </a:rPr>
                            <m:t>)</m:t>
                          </m:r>
                        </m:num>
                        <m:den>
                          <m:r>
                            <a:rPr lang="pt-BR" dirty="0" smtClean="0">
                              <a:latin typeface="Cambria Math" panose="02040503050406030204" pitchFamily="18" charset="0"/>
                            </a:rPr>
                            <m:t>𝜕</m:t>
                          </m:r>
                          <m:r>
                            <a:rPr lang="pt-BR" dirty="0" smtClean="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id="{01C22BBB-35EB-E308-FDB7-BCA9B063B091}"/>
              </a:ext>
            </a:extLst>
          </p:cNvPr>
          <p:cNvSpPr txBox="1"/>
          <p:nvPr/>
        </p:nvSpPr>
        <p:spPr>
          <a:xfrm>
            <a:off x="7496701" y="5797549"/>
            <a:ext cx="2898196" cy="276999"/>
          </a:xfrm>
          <a:prstGeom prst="rect">
            <a:avLst/>
          </a:prstGeom>
          <a:noFill/>
        </p:spPr>
        <p:txBody>
          <a:bodyPr wrap="square" rtlCol="0">
            <a:spAutoFit/>
          </a:bodyPr>
          <a:lstStyle/>
          <a:p>
            <a:r>
              <a:rPr lang="pt-BR" sz="1200" dirty="0"/>
              <a:t>sentido aposto ao apontado pelo gradiente</a:t>
            </a:r>
          </a:p>
        </p:txBody>
      </p:sp>
      <p:cxnSp>
        <p:nvCxnSpPr>
          <p:cNvPr id="16" name="Conector de Seta Reta 49">
            <a:extLst>
              <a:ext uri="{FF2B5EF4-FFF2-40B4-BE49-F238E27FC236}">
                <a16:creationId xmlns:a16="http://schemas.microsoft.com/office/drawing/2014/main" id="{A6DFF2D4-9482-CE1A-10F2-E2E0D4FD3158}"/>
              </a:ext>
            </a:extLst>
          </p:cNvPr>
          <p:cNvCxnSpPr>
            <a:cxnSpLocks/>
          </p:cNvCxnSpPr>
          <p:nvPr/>
        </p:nvCxnSpPr>
        <p:spPr>
          <a:xfrm flipH="1">
            <a:off x="8945799" y="5052767"/>
            <a:ext cx="132213" cy="77303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r>
              <a:rPr lang="pt-BR" dirty="0"/>
              <a:t>Portanto, dada a </a:t>
            </a:r>
            <a:r>
              <a:rPr lang="pt-BR" b="1" dirty="0">
                <a:solidFill>
                  <a:srgbClr val="00B050"/>
                </a:solidFill>
              </a:rPr>
              <a:t>direção do gradiente e um passo de aprendizagem</a:t>
            </a:r>
            <a:r>
              <a:rPr lang="pt-BR" dirty="0"/>
              <a:t>, agora podemos caminhar </a:t>
            </a:r>
            <a:r>
              <a:rPr lang="pt-BR" b="1" dirty="0">
                <a:solidFill>
                  <a:srgbClr val="00B050"/>
                </a:solidFill>
              </a:rPr>
              <a:t>iterativamente </a:t>
            </a:r>
            <a:r>
              <a:rPr lang="pt-BR" dirty="0"/>
              <a:t>em direção ao ponto de mínimo.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id="{C9EC55E5-C8A8-27F2-D000-5CBB479BF656}"/>
              </a:ext>
            </a:extLst>
          </p:cNvPr>
          <p:cNvSpPr>
            <a:spLocks noGrp="1"/>
          </p:cNvSpPr>
          <p:nvPr>
            <p:ph idx="1"/>
          </p:nvPr>
        </p:nvSpPr>
        <p:spPr>
          <a:xfrm>
            <a:off x="5684362" y="1825624"/>
            <a:ext cx="6410228" cy="5032375"/>
          </a:xfrm>
        </p:spPr>
        <p:txBody>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encerra-se 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a16="http://schemas.microsoft.com/office/drawing/2014/main" id="{75B195AC-8D57-E609-4AEB-9B162275450D}"/>
                  </a:ext>
                </a:extLst>
              </p:cNvPr>
              <p:cNvSpPr txBox="1"/>
              <p:nvPr/>
            </p:nvSpPr>
            <p:spPr>
              <a:xfrm>
                <a:off x="987241" y="1980762"/>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87241" y="1980762"/>
                <a:ext cx="3981143" cy="67858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id="{B98B5F86-3939-B850-99BF-BD516A3DCB1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se mova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1796"/>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78500" cy="5032376"/>
          </a:xfrm>
        </p:spPr>
        <p:txBody>
          <a:bodyPr>
            <a:normAutofit/>
          </a:bodyPr>
          <a:lstStyle/>
          <a:p>
            <a:r>
              <a:rPr lang="pt-BR" b="0" dirty="0">
                <a:effectLst/>
              </a:rPr>
              <a:t>O valor do passo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 </a:t>
            </a:r>
          </a:p>
          <a:p>
            <a:r>
              <a:rPr lang="pt-BR" b="0" dirty="0">
                <a:effectLst/>
              </a:rPr>
              <a:t>O passo de aprendizagem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função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4996107" y="1825624"/>
            <a:ext cx="7195894" cy="5032376"/>
          </a:xfrm>
        </p:spPr>
        <p:txBody>
          <a:bodyPr>
            <a:normAutofit/>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a:t>
            </a:r>
          </a:p>
        </p:txBody>
      </p:sp>
      <p:grpSp>
        <p:nvGrpSpPr>
          <p:cNvPr id="4" name="Group 3">
            <a:extLst>
              <a:ext uri="{FF2B5EF4-FFF2-40B4-BE49-F238E27FC236}">
                <a16:creationId xmlns:a16="http://schemas.microsoft.com/office/drawing/2014/main"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240443" y="2306392"/>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306392"/>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b="1" dirty="0"/>
                  <a:t>OBS</a:t>
                </a:r>
                <a:r>
                  <a:rPr lang="pt-BR" dirty="0"/>
                  <a:t>.: Notem que o </a:t>
                </a:r>
                <a:r>
                  <a:rPr lang="pt-BR" b="1" dirty="0">
                    <a:solidFill>
                      <a:srgbClr val="00B050"/>
                    </a:solidFill>
                  </a:rPr>
                  <a:t>gradiente</a:t>
                </a:r>
                <a:r>
                  <a:rPr lang="pt-BR" dirty="0"/>
                  <a:t> é a </a:t>
                </a:r>
                <a:r>
                  <a:rPr lang="pt-BR" b="1" dirty="0">
                    <a:solidFill>
                      <a:srgbClr val="00B050"/>
                    </a:solidFill>
                  </a:rPr>
                  <a:t>média dos gradientes </a:t>
                </a:r>
                <a:r>
                  <a:rPr lang="pt-BR" dirty="0"/>
                  <a:t>de todos os exemplos de treinamento.</a:t>
                </a:r>
              </a:p>
              <a:p>
                <a:r>
                  <a:rPr lang="pt-BR" dirty="0"/>
                  <a:t>Usamos um hiperplano para encontrado o gradiente, mas todos os resultados e conclusões </a:t>
                </a:r>
                <a:r>
                  <a:rPr lang="nl-BE" dirty="0"/>
                  <a:t>podem ser diretamente estendidos a polinômios.</a:t>
                </a:r>
                <a:endParaRPr lang="pt-BR" dirty="0"/>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00B05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em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uma amostra</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Atualiza os pesos a cada exemplo processado, gerando uma trajetória oscilatória que flutua ao redor do mínimo devido à estimativa ruidosa do gradiente.</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219" b="-1574"/>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amostras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complexidade ideal, i.e., o grau deste polinômio?</a:t>
            </a:r>
            <a:endParaRPr lang="en-US" sz="5400" dirty="0"/>
          </a:p>
        </p:txBody>
      </p:sp>
    </p:spTree>
    <p:extLst>
      <p:ext uri="{BB962C8B-B14F-4D97-AF65-F5344CB8AC3E}">
        <p14:creationId xmlns:p14="http://schemas.microsoft.com/office/powerpoint/2010/main" val="395084870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105444" cy="5032375"/>
          </a:xfrm>
        </p:spPr>
        <p:txBody>
          <a:bodyPr/>
          <a:lstStyle/>
          <a:p>
            <a:r>
              <a:rPr lang="pt-BR" dirty="0"/>
              <a:t>Antes de falarmos sobre a validação cruzada, que é a forma mais usada para de encontrar o melhor modelo, precisamos discutir sobre alguns comportamentos que vamos encontrar durante essa busca.</a:t>
            </a:r>
          </a:p>
          <a:p>
            <a:r>
              <a:rPr lang="pt-BR" dirty="0"/>
              <a:t>Dependendo da complexidade (ou graus de liberdade) do modelo, no caso da regressão, do grau do polinômio, podemos nos deparar com dois comportamentos indesejados:</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9" y="1825624"/>
            <a:ext cx="6449924" cy="5032375"/>
          </a:xfrm>
        </p:spPr>
        <p:txBody>
          <a:bodyPr/>
          <a:lstStyle/>
          <a:p>
            <a:r>
              <a:rPr lang="pt-BR" dirty="0"/>
              <a:t>O modelo é tão flexível (i.e., complexo) que “</a:t>
            </a:r>
            <a:r>
              <a:rPr lang="pt-BR" b="1" dirty="0"/>
              <a:t>memoriza</a:t>
            </a:r>
            <a:r>
              <a:rPr lang="pt-BR" dirty="0"/>
              <a:t>” o conjunto de treinamento.</a:t>
            </a:r>
          </a:p>
          <a:p>
            <a:r>
              <a:rPr lang="pt-BR" dirty="0"/>
              <a:t>Ele se ajusta ao ruído em vez do padrão geral por trás dos dados.</a:t>
            </a:r>
          </a:p>
          <a:p>
            <a:r>
              <a:rPr lang="pt-BR" b="1" dirty="0"/>
              <a:t>Alta variância</a:t>
            </a:r>
            <a:r>
              <a:rPr lang="pt-BR" dirty="0"/>
              <a:t>: o modelo é extremamente sensível ao conjunto de treino.</a:t>
            </a:r>
          </a:p>
          <a:p>
            <a:pPr lvl="1">
              <a:buFont typeface="Wingdings" panose="05000000000000000000" pitchFamily="2" charset="2"/>
              <a:buChar char="§"/>
            </a:pPr>
            <a:r>
              <a:rPr lang="pt-BR" dirty="0"/>
              <a:t>Pequenas mudanças nas amostras de treinamento geram grandes mudanças no modelo, no caso da regressão, da função estimada.</a:t>
            </a:r>
          </a:p>
          <a:p>
            <a:r>
              <a:rPr lang="pt-BR" dirty="0"/>
              <a:t>O modelo não generaliza bem.</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aprender/capturar o padrão geral por trás dos dados de treinamento.</a:t>
            </a:r>
          </a:p>
          <a:p>
            <a:r>
              <a:rPr lang="pt-BR" b="1" dirty="0"/>
              <a:t>Alto viés</a:t>
            </a:r>
            <a:r>
              <a:rPr lang="pt-BR" dirty="0"/>
              <a:t>: faz suposições muito fortes sobre a forma da função (e.g., assumir linearidade quando a relação é curva).</a:t>
            </a:r>
          </a:p>
          <a:p>
            <a:r>
              <a:rPr lang="pt-BR" dirty="0"/>
              <a:t>O modelo não generaliza bem.</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090852"/>
            <a:ext cx="11216148" cy="1767147"/>
          </a:xfrm>
        </p:spPr>
        <p:txBody>
          <a:bodyPr>
            <a:normAutofit lnSpcReduction="10000"/>
          </a:bodyPr>
          <a:lstStyle/>
          <a:p>
            <a:r>
              <a:rPr lang="pt-BR" dirty="0"/>
              <a:t>O modelo </a:t>
            </a:r>
            <a:r>
              <a:rPr lang="pt-BR" b="1" dirty="0"/>
              <a:t>não é capaz de capturar os padrões</a:t>
            </a:r>
            <a:r>
              <a:rPr lang="pt-BR" dirty="0"/>
              <a:t> presentes nos dados de treinamento.</a:t>
            </a:r>
          </a:p>
          <a:p>
            <a:r>
              <a:rPr lang="pt-BR" dirty="0"/>
              <a:t>O modelo apresenta </a:t>
            </a:r>
            <a:r>
              <a:rPr lang="pt-BR" b="1" dirty="0"/>
              <a:t>erros altos nos conjunto de treinamento e validação</a:t>
            </a:r>
            <a:r>
              <a:rPr lang="pt-BR" dirty="0"/>
              <a:t>.</a:t>
            </a:r>
          </a:p>
          <a:p>
            <a:r>
              <a:rPr lang="pt-BR" dirty="0"/>
              <a:t>Esse padrão indica alto viés.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5176361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dirty="0"/>
              <a:t>Algumas causas: modelo </a:t>
            </a:r>
            <a:r>
              <a:rPr lang="pt-BR" b="1" dirty="0"/>
              <a:t>sem complexidade</a:t>
            </a:r>
            <a:r>
              <a:rPr lang="pt-BR" dirty="0"/>
              <a:t>, </a:t>
            </a:r>
            <a:r>
              <a:rPr lang="pt-BR" b="1" dirty="0"/>
              <a:t>poucas épocas de treinamento</a:t>
            </a:r>
            <a:r>
              <a:rPr lang="pt-BR" dirty="0"/>
              <a:t> e </a:t>
            </a:r>
            <a:r>
              <a:rPr lang="pt-BR" b="1" dirty="0"/>
              <a:t>falta de dados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dirty="0"/>
              <a:t>Como mitigar: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lnSpcReduction="10000"/>
          </a:bodyPr>
          <a:lstStyle/>
          <a:p>
            <a:r>
              <a:rPr lang="pt-BR" dirty="0"/>
              <a:t>O </a:t>
            </a:r>
            <a:r>
              <a:rPr lang="pt-BR" dirty="0">
                <a:effectLst/>
              </a:rPr>
              <a:t>modelo se ajusta excessivamente aos dados de treinamento e perde a capacidade de generalizar para dados inéditos.</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alta variância.</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dirty="0"/>
              <a:t>Algumas causas: </a:t>
            </a:r>
            <a:r>
              <a:rPr lang="pt-BR" b="1" dirty="0"/>
              <a:t>modelo muito complexo </a:t>
            </a:r>
            <a:r>
              <a:rPr lang="pt-BR" dirty="0"/>
              <a:t>em relação à quantidade de dados,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dirty="0"/>
              <a:t>Como mitigar: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 </a:t>
            </a:r>
            <a:r>
              <a:rPr lang="en-US" dirty="0"/>
              <a:t>e</a:t>
            </a:r>
            <a:r>
              <a:rPr lang="en-US" i="1" dirty="0"/>
              <a:t> 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216148"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Ou seja, devemos encontrar um </a:t>
            </a:r>
            <a:r>
              <a:rPr lang="pt-BR" b="1" dirty="0">
                <a:solidFill>
                  <a:srgbClr val="00B050"/>
                </a:solidFill>
                <a:effectLst/>
              </a:rPr>
              <a:t>equilíbrio entre </a:t>
            </a:r>
            <a:r>
              <a:rPr lang="pt-BR" dirty="0">
                <a:effectLst/>
              </a:rPr>
              <a:t>um </a:t>
            </a:r>
            <a:r>
              <a:rPr lang="pt-BR" b="1" dirty="0">
                <a:solidFill>
                  <a:srgbClr val="00B050"/>
                </a:solidFill>
                <a:effectLst/>
              </a:rPr>
              <a:t>modelo muito simples </a:t>
            </a:r>
            <a:r>
              <a:rPr lang="pt-BR" dirty="0">
                <a:effectLst/>
              </a:rPr>
              <a:t>(</a:t>
            </a:r>
            <a:r>
              <a:rPr lang="pt-BR" dirty="0" err="1">
                <a:effectLst/>
              </a:rPr>
              <a:t>subajuste</a:t>
            </a:r>
            <a:r>
              <a:rPr lang="pt-BR" dirty="0">
                <a:effectLst/>
              </a:rPr>
              <a:t>) e um </a:t>
            </a:r>
            <a:r>
              <a:rPr lang="pt-BR" b="1" dirty="0">
                <a:solidFill>
                  <a:srgbClr val="00B050"/>
                </a:solidFill>
                <a:effectLst/>
              </a:rPr>
              <a:t>modelo muito complexo </a:t>
            </a:r>
            <a:r>
              <a:rPr lang="pt-BR" dirty="0">
                <a:effectLst/>
              </a:rPr>
              <a:t>(sobreajuste).</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937956" y="1825624"/>
            <a:ext cx="6254044"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média fornece uma estimativa da capacidade de generalização do</a:t>
            </a:r>
            <a:br>
              <a:rPr lang="pt-BR" dirty="0"/>
            </a:br>
            <a:r>
              <a:rPr lang="pt-BR" dirty="0"/>
              <a:t>modelo em dados inéditos.</a:t>
            </a:r>
          </a:p>
          <a:p>
            <a:pPr lvl="1">
              <a:buFont typeface="Wingdings" panose="05000000000000000000" pitchFamily="2" charset="2"/>
              <a:buChar char="§"/>
            </a:pPr>
            <a:r>
              <a:rPr lang="pt-BR" dirty="0"/>
              <a:t>O desvio padrão indica a</a:t>
            </a:r>
            <a:br>
              <a:rPr lang="pt-BR" dirty="0"/>
            </a:br>
            <a:r>
              <a:rPr lang="pt-BR" dirty="0"/>
              <a:t>estabilidade do modelo diante de diferentes subconjuntos de</a:t>
            </a:r>
            <a:br>
              <a:rPr lang="pt-BR" dirty="0"/>
            </a:br>
            <a:r>
              <a:rPr lang="pt-BR" dirty="0"/>
              <a:t>treinamento.</a:t>
            </a:r>
            <a:endParaRPr lang="pt-BR" b="1" dirty="0">
              <a:solidFill>
                <a:srgbClr val="00B050"/>
              </a:solidFill>
              <a:effectLst/>
            </a:endParaRP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5956300" cy="5032375"/>
          </a:xfrm>
        </p:spPr>
        <p:txBody>
          <a:bodyPr>
            <a:normAutofit/>
          </a:bodyPr>
          <a:lstStyle/>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id="{0E04963A-77E5-6FCB-B4EC-DE7DB68E6157}"/>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BA8092F3-11FA-DB4A-4D61-8C2EAB8F811F}"/>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21642656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479838" cy="4868781"/>
          </a:xfrm>
        </p:spPr>
        <p:txBody>
          <a:bodyPr>
            <a:normAutofit/>
          </a:bodyPr>
          <a:lstStyle/>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(i.e., grau) do modelo.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Tree>
    <p:extLst>
      <p:ext uri="{BB962C8B-B14F-4D97-AF65-F5344CB8AC3E}">
        <p14:creationId xmlns:p14="http://schemas.microsoft.com/office/powerpoint/2010/main" val="23468641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2649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sugere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id="{3EFA45DD-DE5E-7F12-4C62-6BFB35041C7C}"/>
              </a:ext>
            </a:extLst>
          </p:cNvPr>
          <p:cNvSpPr>
            <a:spLocks noGrp="1"/>
          </p:cNvSpPr>
          <p:nvPr>
            <p:ph idx="1"/>
          </p:nvPr>
        </p:nvSpPr>
        <p:spPr>
          <a:xfrm>
            <a:off x="838199" y="1825624"/>
            <a:ext cx="11162123" cy="5032375"/>
          </a:xfrm>
        </p:spPr>
        <p:txBody>
          <a:bodyPr/>
          <a:lstStyle/>
          <a:p>
            <a:r>
              <a:rPr lang="pt-BR" dirty="0"/>
              <a:t>NP1: 13/04/2026</a:t>
            </a:r>
            <a:endParaRPr lang="en-US" dirty="0"/>
          </a:p>
          <a:p>
            <a:r>
              <a:rPr lang="en-US" dirty="0"/>
              <a:t>10 </a:t>
            </a:r>
            <a:r>
              <a:rPr lang="en-US" dirty="0" err="1"/>
              <a:t>questões</a:t>
            </a:r>
            <a:r>
              <a:rPr lang="en-US" dirty="0"/>
              <a:t> de </a:t>
            </a:r>
            <a:r>
              <a:rPr lang="en-US" dirty="0" err="1"/>
              <a:t>múltipla</a:t>
            </a:r>
            <a:r>
              <a:rPr lang="en-US" dirty="0"/>
              <a:t> </a:t>
            </a:r>
            <a:r>
              <a:rPr lang="en-US" dirty="0" err="1"/>
              <a:t>escolha</a:t>
            </a:r>
            <a:r>
              <a:rPr lang="en-US" dirty="0"/>
              <a:t>.</a:t>
            </a:r>
          </a:p>
          <a:p>
            <a:r>
              <a:rPr lang="en-US" dirty="0" err="1"/>
              <a:t>Conteúdo</a:t>
            </a:r>
            <a:r>
              <a:rPr lang="en-US" dirty="0"/>
              <a:t>: </a:t>
            </a:r>
            <a:r>
              <a:rPr lang="en-US" dirty="0" err="1"/>
              <a:t>até</a:t>
            </a:r>
            <a:r>
              <a:rPr lang="en-US" dirty="0"/>
              <a:t> o </a:t>
            </a:r>
            <a:r>
              <a:rPr lang="en-US" dirty="0" err="1"/>
              <a:t>que</a:t>
            </a:r>
            <a:r>
              <a:rPr lang="en-US" dirty="0"/>
              <a:t> for </a:t>
            </a:r>
            <a:r>
              <a:rPr lang="en-US" dirty="0" err="1"/>
              <a:t>apresentado</a:t>
            </a:r>
            <a:r>
              <a:rPr lang="en-US" dirty="0"/>
              <a:t> </a:t>
            </a:r>
            <a:r>
              <a:rPr lang="en-US" dirty="0" err="1"/>
              <a:t>na</a:t>
            </a:r>
            <a:r>
              <a:rPr lang="en-US" dirty="0"/>
              <a:t> aula do </a:t>
            </a:r>
            <a:r>
              <a:rPr lang="en-US" dirty="0" err="1"/>
              <a:t>dia</a:t>
            </a:r>
            <a:r>
              <a:rPr lang="en-US" dirty="0"/>
              <a:t> 06/04/2026.</a:t>
            </a:r>
          </a:p>
        </p:txBody>
      </p:sp>
    </p:spTree>
    <p:extLst>
      <p:ext uri="{BB962C8B-B14F-4D97-AF65-F5344CB8AC3E}">
        <p14:creationId xmlns:p14="http://schemas.microsoft.com/office/powerpoint/2010/main" val="31061024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154577"/>
            <a:ext cx="10853057" cy="2548846"/>
          </a:xfrm>
        </p:spPr>
        <p:txBody>
          <a:bodyPr>
            <a:normAutofit/>
          </a:bodyPr>
          <a:lstStyle/>
          <a:p>
            <a:pPr marL="0" indent="0" algn="ctr">
              <a:buNone/>
            </a:pPr>
            <a:r>
              <a:rPr lang="pt-BR" sz="5400" dirty="0"/>
              <a:t>Anexo VI: </a:t>
            </a:r>
          </a:p>
          <a:p>
            <a:pPr marL="0" indent="0" algn="ctr">
              <a:buNone/>
            </a:pPr>
            <a:r>
              <a:rPr lang="pt-BR" sz="5400" dirty="0"/>
              <a:t>Efeitos de outliers no treinamento de modelos de ML</a:t>
            </a:r>
            <a:endParaRPr lang="en-US" sz="5400" i="1" dirty="0"/>
          </a:p>
        </p:txBody>
      </p:sp>
    </p:spTree>
    <p:extLst>
      <p:ext uri="{BB962C8B-B14F-4D97-AF65-F5344CB8AC3E}">
        <p14:creationId xmlns:p14="http://schemas.microsoft.com/office/powerpoint/2010/main" val="293061388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dirty="0">
                <a:solidFill>
                  <a:srgbClr val="7030A0"/>
                </a:solidFill>
              </a:rPr>
              <a:t>Outliers</a:t>
            </a:r>
            <a:r>
              <a:rPr lang="pt-BR" dirty="0"/>
              <a:t> podem levar o modelo a se concentrar demais em reduzir os erros grandes, em detrimento de um bom ajuste geral.</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m:t>
                      </m:r>
                      <m:r>
                        <a:rPr lang="pt-BR" b="0" i="1"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9001</TotalTime>
  <Words>13183</Words>
  <Application>Microsoft Office PowerPoint</Application>
  <PresentationFormat>Widescreen</PresentationFormat>
  <Paragraphs>958</Paragraphs>
  <Slides>91</Slides>
  <Notes>51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91</vt:i4>
      </vt:variant>
    </vt:vector>
  </HeadingPairs>
  <TitlesOfParts>
    <vt:vector size="99"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PowerPoint Presentation</vt:lpstr>
      <vt:lpstr>PowerPoint Presentation</vt:lpstr>
      <vt:lpstr>Regressão linear</vt:lpstr>
      <vt:lpstr>Qual o objetivo da regressão linear?</vt:lpstr>
      <vt:lpstr>Função hipótese</vt:lpstr>
      <vt:lpstr>Por que linear?</vt:lpstr>
      <vt:lpstr>Por que polinômios?</vt:lpstr>
      <vt:lpstr>Por que polinômios?</vt:lpstr>
      <vt:lpstr>A flexibilidade dos polinômios</vt:lpstr>
      <vt:lpstr>PowerPoint Presentation</vt:lpstr>
      <vt:lpstr>Objetivo da regressão linear</vt:lpstr>
      <vt:lpstr>PowerPoint Presentation</vt:lpstr>
      <vt:lpstr>Função de erro</vt:lpstr>
      <vt:lpstr>Minimização da função de erro</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Gradiente descendente</vt:lpstr>
      <vt:lpstr>Gradiente descendente</vt:lpstr>
      <vt:lpstr>Gradiente descendente</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Overfitting e underfitting</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Inferência</vt:lpstr>
      <vt:lpstr>Generalização</vt:lpstr>
      <vt:lpstr>Exemplo</vt:lpstr>
      <vt:lpstr>Avisos</vt:lpstr>
      <vt:lpstr>Lista de exercícios</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PowerPoint Presentation</vt:lpstr>
      <vt:lpstr>Impacto de outliers no modelo aprendido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2039</cp:revision>
  <dcterms:created xsi:type="dcterms:W3CDTF">2020-01-20T13:50:05Z</dcterms:created>
  <dcterms:modified xsi:type="dcterms:W3CDTF">2026-03-17T09:05:30Z</dcterms:modified>
</cp:coreProperties>
</file>