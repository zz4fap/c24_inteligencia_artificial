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8"/>
  </p:notesMasterIdLst>
  <p:handoutMasterIdLst>
    <p:handoutMasterId r:id="rId99"/>
  </p:handoutMasterIdLst>
  <p:sldIdLst>
    <p:sldId id="256" r:id="rId2"/>
    <p:sldId id="347" r:id="rId3"/>
    <p:sldId id="296" r:id="rId4"/>
    <p:sldId id="463" r:id="rId5"/>
    <p:sldId id="517" r:id="rId6"/>
    <p:sldId id="518" r:id="rId7"/>
    <p:sldId id="464" r:id="rId8"/>
    <p:sldId id="470" r:id="rId9"/>
    <p:sldId id="471" r:id="rId10"/>
    <p:sldId id="472" r:id="rId11"/>
    <p:sldId id="465" r:id="rId12"/>
    <p:sldId id="520" r:id="rId13"/>
    <p:sldId id="550" r:id="rId14"/>
    <p:sldId id="522" r:id="rId15"/>
    <p:sldId id="523" r:id="rId16"/>
    <p:sldId id="524" r:id="rId17"/>
    <p:sldId id="481" r:id="rId18"/>
    <p:sldId id="525" r:id="rId19"/>
    <p:sldId id="320" r:id="rId20"/>
    <p:sldId id="526" r:id="rId21"/>
    <p:sldId id="527" r:id="rId22"/>
    <p:sldId id="547" r:id="rId23"/>
    <p:sldId id="528" r:id="rId24"/>
    <p:sldId id="529" r:id="rId25"/>
    <p:sldId id="541" r:id="rId26"/>
    <p:sldId id="532" r:id="rId27"/>
    <p:sldId id="564" r:id="rId28"/>
    <p:sldId id="533" r:id="rId29"/>
    <p:sldId id="435" r:id="rId30"/>
    <p:sldId id="448" r:id="rId31"/>
    <p:sldId id="536" r:id="rId32"/>
    <p:sldId id="407" r:id="rId33"/>
    <p:sldId id="449" r:id="rId34"/>
    <p:sldId id="409" r:id="rId35"/>
    <p:sldId id="410" r:id="rId36"/>
    <p:sldId id="433" r:id="rId37"/>
    <p:sldId id="411" r:id="rId38"/>
    <p:sldId id="432" r:id="rId39"/>
    <p:sldId id="415" r:id="rId40"/>
    <p:sldId id="412" r:id="rId41"/>
    <p:sldId id="413" r:id="rId42"/>
    <p:sldId id="450" r:id="rId43"/>
    <p:sldId id="434" r:id="rId44"/>
    <p:sldId id="414" r:id="rId45"/>
    <p:sldId id="416" r:id="rId46"/>
    <p:sldId id="451" r:id="rId47"/>
    <p:sldId id="417" r:id="rId48"/>
    <p:sldId id="419" r:id="rId49"/>
    <p:sldId id="425" r:id="rId50"/>
    <p:sldId id="537" r:id="rId51"/>
    <p:sldId id="418" r:id="rId52"/>
    <p:sldId id="539" r:id="rId53"/>
    <p:sldId id="542" r:id="rId54"/>
    <p:sldId id="423" r:id="rId55"/>
    <p:sldId id="424" r:id="rId56"/>
    <p:sldId id="429" r:id="rId57"/>
    <p:sldId id="540" r:id="rId58"/>
    <p:sldId id="431" r:id="rId59"/>
    <p:sldId id="546" r:id="rId60"/>
    <p:sldId id="554" r:id="rId61"/>
    <p:sldId id="555" r:id="rId62"/>
    <p:sldId id="549" r:id="rId63"/>
    <p:sldId id="461" r:id="rId64"/>
    <p:sldId id="557" r:id="rId65"/>
    <p:sldId id="558" r:id="rId66"/>
    <p:sldId id="559" r:id="rId67"/>
    <p:sldId id="560" r:id="rId68"/>
    <p:sldId id="561" r:id="rId69"/>
    <p:sldId id="562" r:id="rId70"/>
    <p:sldId id="563" r:id="rId71"/>
    <p:sldId id="543" r:id="rId72"/>
    <p:sldId id="437" r:id="rId73"/>
    <p:sldId id="436" r:id="rId74"/>
    <p:sldId id="443" r:id="rId75"/>
    <p:sldId id="444" r:id="rId76"/>
    <p:sldId id="565" r:id="rId77"/>
    <p:sldId id="567" r:id="rId78"/>
    <p:sldId id="568" r:id="rId79"/>
    <p:sldId id="420" r:id="rId80"/>
    <p:sldId id="421" r:id="rId81"/>
    <p:sldId id="338" r:id="rId82"/>
    <p:sldId id="370" r:id="rId83"/>
    <p:sldId id="293" r:id="rId84"/>
    <p:sldId id="306" r:id="rId85"/>
    <p:sldId id="446" r:id="rId86"/>
    <p:sldId id="438" r:id="rId87"/>
    <p:sldId id="440" r:id="rId88"/>
    <p:sldId id="441" r:id="rId89"/>
    <p:sldId id="551" r:id="rId90"/>
    <p:sldId id="442" r:id="rId91"/>
    <p:sldId id="552" r:id="rId92"/>
    <p:sldId id="553" r:id="rId93"/>
    <p:sldId id="445" r:id="rId94"/>
    <p:sldId id="447" r:id="rId95"/>
    <p:sldId id="452" r:id="rId96"/>
    <p:sldId id="569" r:id="rId9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handoutMaster" Target="handoutMasters/handoutMaster1.xml"/><Relationship Id="rId10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presProps" Target="presProps.xml"/><Relationship Id="rId105"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11/03/2026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11/03/2026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19</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78</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11/03/2026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7" Type="http://schemas.openxmlformats.org/officeDocument/2006/relationships/image" Target="../media/image34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30.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9.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40.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3.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4.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5.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5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1.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gif"/><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63.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62.png"/></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7.png"/></Relationships>
</file>

<file path=ppt/slides/_rels/slide77.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jpeg"/><Relationship Id="rId4" Type="http://schemas.openxmlformats.org/officeDocument/2006/relationships/image" Target="../media/image49.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4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As saídas esperadas (rótulos) são conhecidas.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 </a:t>
                </a:r>
                <a:r>
                  <a:rPr lang="pt-BR" dirty="0"/>
                  <a:t>(i.e., conjunto infinito de valores).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i="1" dirty="0" err="1">
                    <a:solidFill>
                      <a:srgbClr val="00B050"/>
                    </a:solidFill>
                  </a:rPr>
                  <a:t>aproxima</a:t>
                </a:r>
                <a:r>
                  <a:rPr lang="en-US" dirty="0"/>
                  <a:t> o </a:t>
                </a:r>
                <a:r>
                  <a:rPr lang="en-US" dirty="0" err="1"/>
                  <a:t>comportamento</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r="-1111"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48D3A820-D198-F9AB-C6B3-3F78DA6684D0}"/>
                  </a:ext>
                </a:extLst>
              </p:cNvPr>
              <p:cNvSpPr txBox="1"/>
              <p:nvPr/>
            </p:nvSpPr>
            <p:spPr>
              <a:xfrm>
                <a:off x="4531924" y="3429000"/>
                <a:ext cx="1766066" cy="923330"/>
              </a:xfrm>
              <a:prstGeom prst="rect">
                <a:avLst/>
              </a:prstGeom>
              <a:noFill/>
            </p:spPr>
            <p:txBody>
              <a:bodyPr wrap="square" rtlCol="0">
                <a:spAutoFit/>
              </a:bodyPr>
              <a:lstStyle/>
              <a:p>
                <a:pPr algn="ctr"/>
                <a14:m>
                  <m:oMath xmlns:m="http://schemas.openxmlformats.org/officeDocument/2006/math">
                    <m:r>
                      <a:rPr lang="pt-BR" i="1" smtClean="0">
                        <a:latin typeface="Cambria Math" panose="02040503050406030204" pitchFamily="18" charset="0"/>
                      </a:rPr>
                      <m:t>𝑓</m:t>
                    </m:r>
                    <m:r>
                      <a:rPr lang="pt-BR" i="1" smtClean="0">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pt-BR" dirty="0"/>
                  <a:t>captura o </a:t>
                </a:r>
                <a:r>
                  <a:rPr lang="pt-BR" b="1" i="1" dirty="0">
                    <a:solidFill>
                      <a:schemeClr val="accent2"/>
                    </a:solidFill>
                  </a:rPr>
                  <a:t>comportamento geral</a:t>
                </a:r>
                <a:r>
                  <a:rPr lang="pt-BR" dirty="0"/>
                  <a:t> dos dados.</a:t>
                </a:r>
              </a:p>
            </p:txBody>
          </p:sp>
        </mc:Choice>
        <mc:Fallback xmlns="">
          <p:sp>
            <p:nvSpPr>
              <p:cNvPr id="8" name="CaixaDeTexto 5">
                <a:extLst>
                  <a:ext uri="{FF2B5EF4-FFF2-40B4-BE49-F238E27FC236}">
                    <a16:creationId xmlns:a16="http://schemas.microsoft.com/office/drawing/2014/main" id="{48D3A820-D198-F9AB-C6B3-3F78DA6684D0}"/>
                  </a:ext>
                </a:extLst>
              </p:cNvPr>
              <p:cNvSpPr txBox="1">
                <a:spLocks noRot="1" noChangeAspect="1" noMove="1" noResize="1" noEditPoints="1" noAdjustHandles="1" noChangeArrowheads="1" noChangeShapeType="1" noTextEdit="1"/>
              </p:cNvSpPr>
              <p:nvPr/>
            </p:nvSpPr>
            <p:spPr>
              <a:xfrm>
                <a:off x="4531924" y="3429000"/>
                <a:ext cx="1766066" cy="923330"/>
              </a:xfrm>
              <a:prstGeom prst="rect">
                <a:avLst/>
              </a:prstGeom>
              <a:blipFill>
                <a:blip r:embed="rId5"/>
                <a:stretch>
                  <a:fillRect l="-2069" t="-3974" r="-3793" b="-9272"/>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 de erro</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Modelos não lineares, como redes neurais, apresentam superfícies de erro totalmente irregulares, com</a:t>
            </a:r>
          </a:p>
          <a:p>
            <a:pPr lvl="1">
              <a:buFont typeface="Wingdings" panose="05000000000000000000" pitchFamily="2" charset="2"/>
              <a:buChar char="§"/>
            </a:pPr>
            <a:r>
              <a:rPr lang="pt-BR" dirty="0"/>
              <a:t>Pontos de sela: a função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 Platôs: região plana com erro alto.</a:t>
            </a:r>
          </a:p>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t>Lista #5 -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8763</TotalTime>
  <Words>13797</Words>
  <Application>Microsoft Office PowerPoint</Application>
  <PresentationFormat>Widescreen</PresentationFormat>
  <Paragraphs>1020</Paragraphs>
  <Slides>96</Slides>
  <Notes>54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96</vt:i4>
      </vt:variant>
    </vt:vector>
  </HeadingPairs>
  <TitlesOfParts>
    <vt:vector size="105"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Impacto de outliers no modelo aprendido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1952</cp:revision>
  <dcterms:created xsi:type="dcterms:W3CDTF">2020-01-20T13:50:05Z</dcterms:created>
  <dcterms:modified xsi:type="dcterms:W3CDTF">2026-03-11T17:46:30Z</dcterms:modified>
</cp:coreProperties>
</file>