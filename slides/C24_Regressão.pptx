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7"/>
  </p:notesMasterIdLst>
  <p:handoutMasterIdLst>
    <p:handoutMasterId r:id="rId98"/>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566" r:id="rId34"/>
    <p:sldId id="412" r:id="rId35"/>
    <p:sldId id="413" r:id="rId36"/>
    <p:sldId id="450" r:id="rId37"/>
    <p:sldId id="434" r:id="rId38"/>
    <p:sldId id="414" r:id="rId39"/>
    <p:sldId id="572" r:id="rId40"/>
    <p:sldId id="416" r:id="rId41"/>
    <p:sldId id="451" r:id="rId42"/>
    <p:sldId id="417" r:id="rId43"/>
    <p:sldId id="419" r:id="rId44"/>
    <p:sldId id="425" r:id="rId45"/>
    <p:sldId id="537" r:id="rId46"/>
    <p:sldId id="418" r:id="rId47"/>
    <p:sldId id="539" r:id="rId48"/>
    <p:sldId id="542" r:id="rId49"/>
    <p:sldId id="423" r:id="rId50"/>
    <p:sldId id="580" r:id="rId51"/>
    <p:sldId id="424" r:id="rId52"/>
    <p:sldId id="429" r:id="rId53"/>
    <p:sldId id="540" r:id="rId54"/>
    <p:sldId id="431" r:id="rId55"/>
    <p:sldId id="546" r:id="rId56"/>
    <p:sldId id="554" r:id="rId57"/>
    <p:sldId id="555" r:id="rId58"/>
    <p:sldId id="549" r:id="rId59"/>
    <p:sldId id="461" r:id="rId60"/>
    <p:sldId id="557" r:id="rId61"/>
    <p:sldId id="558" r:id="rId62"/>
    <p:sldId id="559" r:id="rId63"/>
    <p:sldId id="560" r:id="rId64"/>
    <p:sldId id="561" r:id="rId65"/>
    <p:sldId id="562" r:id="rId66"/>
    <p:sldId id="563" r:id="rId67"/>
    <p:sldId id="543" r:id="rId68"/>
    <p:sldId id="437" r:id="rId69"/>
    <p:sldId id="436" r:id="rId70"/>
    <p:sldId id="443" r:id="rId71"/>
    <p:sldId id="444" r:id="rId72"/>
    <p:sldId id="565" r:id="rId73"/>
    <p:sldId id="567" r:id="rId74"/>
    <p:sldId id="568" r:id="rId75"/>
    <p:sldId id="420" r:id="rId76"/>
    <p:sldId id="421" r:id="rId77"/>
    <p:sldId id="338" r:id="rId78"/>
    <p:sldId id="573" r:id="rId79"/>
    <p:sldId id="370" r:id="rId80"/>
    <p:sldId id="293" r:id="rId81"/>
    <p:sldId id="306" r:id="rId82"/>
    <p:sldId id="446" r:id="rId83"/>
    <p:sldId id="438" r:id="rId84"/>
    <p:sldId id="440" r:id="rId85"/>
    <p:sldId id="441" r:id="rId86"/>
    <p:sldId id="551" r:id="rId87"/>
    <p:sldId id="442" r:id="rId88"/>
    <p:sldId id="552" r:id="rId89"/>
    <p:sldId id="553" r:id="rId90"/>
    <p:sldId id="445" r:id="rId91"/>
    <p:sldId id="447" r:id="rId92"/>
    <p:sldId id="452" r:id="rId93"/>
    <p:sldId id="569" r:id="rId94"/>
    <p:sldId id="579" r:id="rId95"/>
    <p:sldId id="577" r:id="rId9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2255" autoAdjust="0"/>
  </p:normalViewPr>
  <p:slideViewPr>
    <p:cSldViewPr snapToGrid="0">
      <p:cViewPr varScale="1">
        <p:scale>
          <a:sx n="82" d="100"/>
          <a:sy n="82" d="100"/>
        </p:scale>
        <p:origin x="1938"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10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handoutMaster" Target="handoutMasters/handoutMaster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23/03/2026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23/03/2026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67</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93</a:t>
            </a:fld>
            <a:endParaRPr lang="pt-BR"/>
          </a:p>
        </p:txBody>
      </p:sp>
    </p:spTree>
    <p:extLst>
      <p:ext uri="{BB962C8B-B14F-4D97-AF65-F5344CB8AC3E}">
        <p14:creationId xmlns:p14="http://schemas.microsoft.com/office/powerpoint/2010/main" val="3300586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00.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4.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5.gi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2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4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5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56.jpeg"/></Relationships>
</file>

<file path=ppt/slides/_rels/slide59.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62.png"/></Relationships>
</file>

<file path=ppt/slides/_rels/slide7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9.png"/></Relationships>
</file>

<file path=ppt/slides/_rels/slide7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9.png"/></Relationships>
</file>

<file path=ppt/slides/_rels/slide7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64.jpeg"/><Relationship Id="rId4" Type="http://schemas.openxmlformats.org/officeDocument/2006/relationships/image" Target="../media/image6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7030A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 y="6488667"/>
            <a:ext cx="5599522" cy="307777"/>
          </a:xfrm>
          <a:prstGeom prst="rect">
            <a:avLst/>
          </a:prstGeom>
          <a:noFill/>
        </p:spPr>
        <p:txBody>
          <a:bodyPr wrap="square" rtlCol="0">
            <a:spAutoFit/>
          </a:bodyPr>
          <a:lstStyle/>
          <a:p>
            <a:r>
              <a:rPr lang="pt-BR" sz="1400" b="1" dirty="0"/>
              <a:t>OBS</a:t>
            </a:r>
            <a:r>
              <a:rPr lang="pt-BR" sz="1400" dirty="0"/>
              <a:t>.: Superfície de erro para um 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i="1">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dirty="0"/>
                          <m:t>− </m:t>
                        </m:r>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limLow>
                          <m:limLowPr>
                            <m:ctrlPr>
                              <a:rPr lang="nl-BE" sz="2400" i="1" dirty="0" smtClean="0">
                                <a:latin typeface="Cambria Math" panose="02040503050406030204" pitchFamily="18" charset="0"/>
                              </a:rPr>
                            </m:ctrlPr>
                          </m:limLowPr>
                          <m:e>
                            <m:groupChr>
                              <m:groupChrPr>
                                <m:chr m:val="⏟"/>
                                <m:ctrlPr>
                                  <a:rPr lang="nl-BE" sz="2400" i="1" dirty="0" smtClean="0">
                                    <a:latin typeface="Cambria Math" panose="02040503050406030204" pitchFamily="18" charset="0"/>
                                  </a:rPr>
                                </m:ctrlPr>
                              </m:groupChrPr>
                              <m:e>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r="-189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solidFill>
                      <a:schemeClr val="accent2"/>
                    </a:solidFill>
                  </a:rPr>
                  <a:t>um único </a:t>
                </a:r>
                <a:r>
                  <a:rPr lang="pt-BR" b="1" dirty="0"/>
                  <a:t>ponto mais baixo</a:t>
                </a:r>
                <a:r>
                  <a:rPr lang="pt-BR" dirty="0"/>
                  <a:t> (chamado de </a:t>
                </a:r>
                <a:r>
                  <a:rPr lang="pt-BR" b="1" dirty="0">
                    <a:solidFill>
                      <a:srgbClr val="7030A0"/>
                    </a:solidFill>
                  </a:rPr>
                  <a:t>mínimo global</a:t>
                </a:r>
                <a:r>
                  <a:rPr lang="pt-BR" dirty="0"/>
                  <a:t>).</a:t>
                </a:r>
              </a:p>
              <a:p>
                <a:pPr lvl="1">
                  <a:buFont typeface="Wingdings" panose="05000000000000000000" pitchFamily="2" charset="2"/>
                  <a:buChar char="§"/>
                </a:pPr>
                <a:r>
                  <a:rPr lang="pt-BR" dirty="0"/>
                  <a:t>Portanto, basta </a:t>
                </a:r>
                <a:r>
                  <a:rPr lang="pt-BR" b="1" dirty="0">
                    <a:solidFill>
                      <a:schemeClr val="accent1"/>
                    </a:solidFill>
                  </a:rPr>
                  <a:t>seguirmos ladeira abaixo</a:t>
                </a:r>
                <a:r>
                  <a:rPr lang="pt-BR" dirty="0"/>
                  <a:t> </a:t>
                </a:r>
                <a:r>
                  <a:rPr lang="pt-BR" b="1" dirty="0">
                    <a:solidFill>
                      <a:srgbClr val="00B050"/>
                    </a:solidFill>
                  </a:rPr>
                  <a:t>a partir de qualquer ponto</a:t>
                </a:r>
                <a:r>
                  <a:rPr lang="pt-BR" dirty="0"/>
                  <a:t> que encontraremos a melhor solução possível,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Em geral, o </a:t>
                </a:r>
                <a:r>
                  <a:rPr lang="pt-BR" b="1" dirty="0">
                    <a:solidFill>
                      <a:srgbClr val="7030A0"/>
                    </a:solidFill>
                  </a:rPr>
                  <a:t>erro mínimo</a:t>
                </a:r>
                <a:r>
                  <a:rPr lang="pt-BR" dirty="0"/>
                  <a:t> nunca será igual a 0 devido aos dados estarem corrompidos por algum tipo de ruído.</a:t>
                </a:r>
              </a:p>
              <a:p>
                <a:pPr lvl="1">
                  <a:buFont typeface="Wingdings" panose="05000000000000000000" pitchFamily="2" charset="2"/>
                  <a:buChar char="§"/>
                </a:pPr>
                <a:endParaRPr lang="pt-BR"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723"/>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307777"/>
          </a:xfrm>
          <a:prstGeom prst="rect">
            <a:avLst/>
          </a:prstGeom>
          <a:noFill/>
        </p:spPr>
        <p:txBody>
          <a:bodyPr wrap="square" rtlCol="0">
            <a:spAutoFit/>
          </a:bodyPr>
          <a:lstStyle/>
          <a:p>
            <a:r>
              <a:rPr lang="pt-BR" sz="1400" b="1" dirty="0"/>
              <a:t>OBS</a:t>
            </a:r>
            <a:r>
              <a:rPr lang="pt-BR" sz="1400" dirty="0"/>
              <a:t>.: Superfície de erro para um 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em pontos) 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em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ele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valor igual a 0 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dirty="0">
                    <a:solidFill>
                      <a:srgbClr val="00B050"/>
                    </a:solidFill>
                  </a:rPr>
                  <a:t>encontrar o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93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 direção e a taxa de crescimento.</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4"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4" cy="5032376"/>
              </a:xfrm>
              <a:blipFill>
                <a:blip r:embed="rId3"/>
                <a:stretch>
                  <a:fillRect l="-1768" t="-1937" r="-589"/>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a:latin typeface="Cambria Math" panose="02040503050406030204" pitchFamily="18" charset="0"/>
                            </a:rPr>
                          </m:ctrlPr>
                        </m:fPr>
                        <m:num>
                          <m:r>
                            <a:rPr lang="pt-BR" i="0" dirty="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5052767"/>
            <a:ext cx="132213" cy="7730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r>
              <a:rPr lang="pt-BR" dirty="0"/>
              <a:t>Portanto, dada a </a:t>
            </a:r>
            <a:r>
              <a:rPr lang="pt-BR" b="1" dirty="0">
                <a:solidFill>
                  <a:srgbClr val="00B050"/>
                </a:solidFill>
              </a:rPr>
              <a:t>direção do gradiente e um passo de aprendizagem</a:t>
            </a:r>
            <a:r>
              <a:rPr lang="pt-BR" dirty="0"/>
              <a:t>, agora podemos caminhar </a:t>
            </a:r>
            <a:r>
              <a:rPr lang="pt-BR" b="1" dirty="0">
                <a:solidFill>
                  <a:srgbClr val="00B050"/>
                </a:solidFill>
              </a:rPr>
              <a:t>iterativamente </a:t>
            </a:r>
            <a:r>
              <a:rPr lang="pt-BR" dirty="0"/>
              <a:t>em direção ao ponto de mínimo.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87241" y="1980762"/>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87241" y="1980762"/>
                <a:ext cx="3981143" cy="67858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1796"/>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78500" cy="5032376"/>
          </a:xfrm>
        </p:spPr>
        <p:txBody>
          <a:bodyPr>
            <a:normAutofit/>
          </a:bodyPr>
          <a:lstStyle/>
          <a:p>
            <a:r>
              <a:rPr lang="pt-BR" b="0" dirty="0">
                <a:effectLst/>
              </a:rPr>
              <a:t>O valor do passo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 </a:t>
            </a:r>
          </a:p>
          <a:p>
            <a:r>
              <a:rPr lang="pt-BR" b="0" dirty="0">
                <a:effectLst/>
              </a:rPr>
              <a:t>O passo de aprendizagem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996107" y="1825624"/>
            <a:ext cx="7195894"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306392"/>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306392"/>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smtClean="0">
                                  <a:latin typeface="Cambria Math" panose="02040503050406030204" pitchFamily="18" charset="0"/>
                                </a:rPr>
                              </m:ctrlPr>
                            </m:dPr>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i="1">
                                          <a:latin typeface="Cambria Math" panose="02040503050406030204" pitchFamily="18" charset="0"/>
                                        </a:rPr>
                                      </m:ctrlPr>
                                    </m:dPr>
                                    <m:e>
                                      <m:r>
                                        <a:rPr lang="pt-BR">
                                          <a:latin typeface="Cambria Math" panose="02040503050406030204" pitchFamily="18" charset="0"/>
                                        </a:rPr>
                                        <m:t>𝑦</m:t>
                                      </m:r>
                                      <m:d>
                                        <m:dPr>
                                          <m:ctrlPr>
                                            <a:rPr lang="pt-BR" i="1">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i="1">
                                              <a:latin typeface="Cambria Math" panose="02040503050406030204" pitchFamily="18" charset="0"/>
                                            </a:rPr>
                                          </m:ctrlPr>
                                        </m:accPr>
                                        <m:e>
                                          <m:r>
                                            <a:rPr lang="pt-BR">
                                              <a:latin typeface="Cambria Math" panose="02040503050406030204" pitchFamily="18" charset="0"/>
                                            </a:rPr>
                                            <m:t>𝑦</m:t>
                                          </m:r>
                                        </m:e>
                                      </m:acc>
                                      <m:d>
                                        <m:dPr>
                                          <m:ctrlPr>
                                            <a:rPr lang="pt-BR" i="1">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00B050"/>
                    </a:solidFill>
                  </a:rPr>
                  <a:t>média dos gradientes </a:t>
                </a:r>
                <a:r>
                  <a:rPr lang="pt-BR" dirty="0"/>
                  <a:t>de todos os exemplos de treinamento.</a:t>
                </a:r>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pt-BR">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Observem que existem dois termos, o </a:t>
                </a:r>
                <a:r>
                  <a:rPr lang="pt-BR" b="1" dirty="0">
                    <a:solidFill>
                      <a:srgbClr val="7030A0"/>
                    </a:solidFill>
                  </a:rPr>
                  <a:t>quanto o modelo errou </a:t>
                </a:r>
                <a:r>
                  <a:rPr lang="pt-BR" dirty="0"/>
                  <a:t>e </a:t>
                </a:r>
                <a:r>
                  <a:rPr lang="pt-BR" b="1" dirty="0">
                    <a:solidFill>
                      <a:srgbClr val="7030A0"/>
                    </a:solidFill>
                  </a:rPr>
                  <a:t>como cada vetor de atributos contribuiu para esse erro</a:t>
                </a:r>
                <a:r>
                  <a:rPr lang="pt-BR" dirty="0"/>
                  <a:t>.</a:t>
                </a:r>
              </a:p>
              <a:p>
                <a:r>
                  <a:rPr lang="pt-BR" dirty="0"/>
                  <a:t>Podemos entender, no contexto do GD, como sendo o </a:t>
                </a:r>
                <a:r>
                  <a:rPr lang="pt-BR" b="1" dirty="0">
                    <a:solidFill>
                      <a:schemeClr val="accent2"/>
                    </a:solidFill>
                  </a:rPr>
                  <a:t>quanto cada  amostra atualiza os pesos</a:t>
                </a:r>
                <a:r>
                  <a:rPr lang="pt-BR" dirty="0"/>
                  <a:t>.</a:t>
                </a:r>
              </a:p>
              <a:p>
                <a:pPr lvl="1">
                  <a:buFont typeface="Wingdings" panose="05000000000000000000" pitchFamily="2" charset="2"/>
                  <a:buChar char="§"/>
                </a:pPr>
                <a:r>
                  <a:rPr lang="pt-BR" dirty="0"/>
                  <a:t>É a média das forças de correção vindas de todas as amostras.</a:t>
                </a:r>
              </a:p>
              <a:p>
                <a:endParaRPr lang="pt-BR" dirty="0"/>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913" r="-1342"/>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deste polinômio?</a:t>
            </a:r>
            <a:endParaRPr lang="en-US" sz="5400" dirty="0"/>
          </a:p>
        </p:txBody>
      </p:sp>
    </p:spTree>
    <p:extLst>
      <p:ext uri="{BB962C8B-B14F-4D97-AF65-F5344CB8AC3E}">
        <p14:creationId xmlns:p14="http://schemas.microsoft.com/office/powerpoint/2010/main" val="39508487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479838" cy="4868781"/>
          </a:xfrm>
        </p:spPr>
        <p:txBody>
          <a:bodyPr>
            <a:normAutofit/>
          </a:bodyPr>
          <a:lstStyle/>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(i.e.,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162123"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154577"/>
            <a:ext cx="10853057" cy="2548846"/>
          </a:xfrm>
        </p:spPr>
        <p:txBody>
          <a:bodyPr>
            <a:normAutofit/>
          </a:bodyPr>
          <a:lstStyle/>
          <a:p>
            <a:pPr marL="0" indent="0" algn="ctr">
              <a:buNone/>
            </a:pPr>
            <a:r>
              <a:rPr lang="pt-BR" sz="5400" dirty="0"/>
              <a:t>Anexo VI: </a:t>
            </a:r>
          </a:p>
          <a:p>
            <a:pPr marL="0" indent="0" algn="ctr">
              <a:buNone/>
            </a:pPr>
            <a:r>
              <a:rPr lang="pt-BR" sz="5400" dirty="0"/>
              <a:t>Efeitos de outliers no treinamento de modelos de ML</a:t>
            </a:r>
            <a:endParaRPr lang="en-US" sz="5400" i="1" dirty="0"/>
          </a:p>
        </p:txBody>
      </p:sp>
    </p:spTree>
    <p:extLst>
      <p:ext uri="{BB962C8B-B14F-4D97-AF65-F5344CB8AC3E}">
        <p14:creationId xmlns:p14="http://schemas.microsoft.com/office/powerpoint/2010/main" val="29306138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dirty="0">
                <a:solidFill>
                  <a:srgbClr val="7030A0"/>
                </a:solidFill>
              </a:rPr>
              <a:t>Outliers</a:t>
            </a:r>
            <a:r>
              <a:rPr lang="pt-BR" dirty="0"/>
              <a:t> podem levar o modelo a se concentrar demais em reduzir os erros grandes, em detrimento de um bom ajuste geral.</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pt-BR" dirty="0"/>
                          <m:t>Fun</m:t>
                        </m:r>
                        <m:r>
                          <m:rPr>
                            <m:nor/>
                          </m:rPr>
                          <a:rPr lang="pt-BR" dirty="0"/>
                          <m:t>çã</m:t>
                        </m:r>
                        <m:r>
                          <m:rPr>
                            <m:nor/>
                          </m:rPr>
                          <a:rPr lang="pt-BR" dirty="0"/>
                          <m:t>o</m:t>
                        </m:r>
                        <m:r>
                          <m:rPr>
                            <m:nor/>
                          </m:rPr>
                          <a:rPr lang="pt-BR" dirty="0"/>
                          <m:t> </m:t>
                        </m:r>
                        <m:r>
                          <m:rPr>
                            <m:nor/>
                          </m:rPr>
                          <a:rPr lang="pt-BR" dirty="0"/>
                          <m:t>de</m:t>
                        </m:r>
                        <m:r>
                          <m:rPr>
                            <m:nor/>
                          </m:rPr>
                          <a:rPr lang="pt-BR" dirty="0"/>
                          <m:t> </m:t>
                        </m:r>
                        <m:r>
                          <m:rPr>
                            <m:nor/>
                          </m:rPr>
                          <a:rPr lang="pt-BR" dirty="0"/>
                          <m:t>erro</m:t>
                        </m:r>
                        <m:r>
                          <m:rPr>
                            <m:nor/>
                          </m:rPr>
                          <a:rPr lang="pt-BR"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9034</TotalTime>
  <Words>13526</Words>
  <Application>Microsoft Office PowerPoint</Application>
  <PresentationFormat>Widescreen</PresentationFormat>
  <Paragraphs>993</Paragraphs>
  <Slides>95</Slides>
  <Notes>53</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95</vt:i4>
      </vt:variant>
    </vt:vector>
  </HeadingPairs>
  <TitlesOfParts>
    <vt:vector size="103"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Impacto de outliers no modelo aprendido</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2051</cp:revision>
  <dcterms:created xsi:type="dcterms:W3CDTF">2020-01-20T13:50:05Z</dcterms:created>
  <dcterms:modified xsi:type="dcterms:W3CDTF">2026-03-23T15:03:54Z</dcterms:modified>
</cp:coreProperties>
</file>