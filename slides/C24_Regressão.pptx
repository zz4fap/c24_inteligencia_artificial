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handoutMasterIdLst>
    <p:handoutMasterId r:id="rId30"/>
  </p:handoutMasterIdLst>
  <p:sldIdLst>
    <p:sldId id="256" r:id="rId2"/>
    <p:sldId id="296" r:id="rId3"/>
    <p:sldId id="463" r:id="rId4"/>
    <p:sldId id="517" r:id="rId5"/>
    <p:sldId id="518" r:id="rId6"/>
    <p:sldId id="464" r:id="rId7"/>
    <p:sldId id="470" r:id="rId8"/>
    <p:sldId id="471" r:id="rId9"/>
    <p:sldId id="472" r:id="rId10"/>
    <p:sldId id="465" r:id="rId11"/>
    <p:sldId id="520" r:id="rId12"/>
    <p:sldId id="522" r:id="rId13"/>
    <p:sldId id="523" r:id="rId14"/>
    <p:sldId id="524" r:id="rId15"/>
    <p:sldId id="481" r:id="rId16"/>
    <p:sldId id="525" r:id="rId17"/>
    <p:sldId id="320" r:id="rId18"/>
    <p:sldId id="526" r:id="rId19"/>
    <p:sldId id="527" r:id="rId20"/>
    <p:sldId id="528" r:id="rId21"/>
    <p:sldId id="521" r:id="rId22"/>
    <p:sldId id="529" r:id="rId23"/>
    <p:sldId id="532" r:id="rId24"/>
    <p:sldId id="533" r:id="rId25"/>
    <p:sldId id="531" r:id="rId26"/>
    <p:sldId id="293" r:id="rId27"/>
    <p:sldId id="306" r:id="rId28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92857" autoAdjust="0"/>
  </p:normalViewPr>
  <p:slideViewPr>
    <p:cSldViewPr snapToGrid="0">
      <p:cViewPr varScale="1">
        <p:scale>
          <a:sx n="68" d="100"/>
          <a:sy n="68" d="100"/>
        </p:scale>
        <p:origin x="978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35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12/02/2026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world.wolfram.com/WeierstrassApproximationTheorem.html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30213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Exemplos de aplicações</a:t>
            </a:r>
            <a:r>
              <a:rPr lang="pt-BR" baseline="0" dirty="0"/>
              <a:t> de regressão linear:</a:t>
            </a: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Modelos para predição do preço de casas.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Modelos para predição do salário de um empregado baseado em sua 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r>
              <a:rPr lang="pt-BR" b="1" dirty="0"/>
              <a:t>📊 1. Previsão de vendas em negócios</a:t>
            </a:r>
          </a:p>
          <a:p>
            <a:r>
              <a:rPr lang="pt-BR" dirty="0"/>
              <a:t>Empresas analisam dados históricos de vendas, publicidade, sazonalidade e indicadores econômicos para </a:t>
            </a:r>
            <a:r>
              <a:rPr lang="pt-BR" b="1" dirty="0"/>
              <a:t>prever vendas futuras</a:t>
            </a:r>
            <a:r>
              <a:rPr lang="pt-BR" dirty="0"/>
              <a:t>. Isso ajuda no planejamento de estoque, orçamento e campanhas de marketing.</a:t>
            </a:r>
          </a:p>
          <a:p>
            <a:endParaRPr lang="en-US" dirty="0"/>
          </a:p>
          <a:p>
            <a:r>
              <a:rPr lang="pt-BR" b="1" dirty="0"/>
              <a:t>🏠 2. Estimativa de preços de imóveis</a:t>
            </a:r>
          </a:p>
          <a:p>
            <a:r>
              <a:rPr lang="pt-BR" dirty="0"/>
              <a:t>Corretores e analistas usam regressão para </a:t>
            </a:r>
            <a:r>
              <a:rPr lang="pt-BR" b="1" dirty="0"/>
              <a:t>estimar o preço de uma casa</a:t>
            </a:r>
            <a:r>
              <a:rPr lang="pt-BR" dirty="0"/>
              <a:t> com base em características como área, número de quartos, localização e proximidade de escolas.</a:t>
            </a:r>
          </a:p>
          <a:p>
            <a:endParaRPr lang="en-US" dirty="0"/>
          </a:p>
          <a:p>
            <a:r>
              <a:rPr lang="pt-BR" b="1" dirty="0"/>
              <a:t>💳 4. Avaliação de risco de crédito</a:t>
            </a:r>
          </a:p>
          <a:p>
            <a:r>
              <a:rPr lang="pt-BR" dirty="0"/>
              <a:t>Bancos e instituições financeiras aplicam regressão para </a:t>
            </a:r>
            <a:r>
              <a:rPr lang="pt-BR" b="1" dirty="0"/>
              <a:t>predizer probabilidade de inadimplência</a:t>
            </a:r>
            <a:r>
              <a:rPr lang="pt-BR" dirty="0"/>
              <a:t> de clientes, analisando renda, histórico de crédito, emprego, etc., orientando decisões de empréstimos.</a:t>
            </a:r>
          </a:p>
          <a:p>
            <a:endParaRPr lang="en-US" dirty="0"/>
          </a:p>
          <a:p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10098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insight</a:t>
            </a:r>
            <a:r>
              <a:rPr lang="pt-BR" dirty="0"/>
              <a:t>: percepção; intuição; compreensão.</a:t>
            </a:r>
          </a:p>
          <a:p>
            <a:endParaRPr lang="pt-BR" dirty="0"/>
          </a:p>
          <a:p>
            <a:r>
              <a:rPr lang="pt-BR" dirty="0"/>
              <a:t>O termo "regressão" foi cunhado por Francis </a:t>
            </a:r>
            <a:r>
              <a:rPr lang="pt-BR" dirty="0" err="1"/>
              <a:t>Galton</a:t>
            </a:r>
            <a:r>
              <a:rPr lang="pt-BR" dirty="0"/>
              <a:t> no século 19 para descrever um fenômeno biológico. O fenômeno foi que as alturas dos descendentes de ancestrais altos tendem a </a:t>
            </a:r>
            <a:r>
              <a:rPr lang="pt-BR" b="1" i="1" dirty="0"/>
              <a:t>regredir</a:t>
            </a:r>
            <a:r>
              <a:rPr lang="pt-BR" dirty="0"/>
              <a:t> para a média (um fenômeno também é conhecido como </a:t>
            </a:r>
            <a:r>
              <a:rPr lang="pt-BR" b="1" dirty="0"/>
              <a:t>regressão à média</a:t>
            </a:r>
            <a:r>
              <a:rPr lang="pt-BR" dirty="0"/>
              <a:t>).</a:t>
            </a:r>
          </a:p>
          <a:p>
            <a:endParaRPr lang="pt-BR" dirty="0"/>
          </a:p>
          <a:p>
            <a:r>
              <a:rPr lang="pt-BR" dirty="0"/>
              <a:t>Os algoritmos de aprendizado de máquina são descritos como o aprendizado de uma função,</a:t>
            </a:r>
            <a:r>
              <a:rPr lang="pt-BR" baseline="0" dirty="0"/>
              <a:t> </a:t>
            </a:r>
            <a:r>
              <a:rPr lang="pt-BR" i="1" baseline="0" dirty="0"/>
              <a:t>h</a:t>
            </a:r>
            <a:r>
              <a:rPr lang="pt-BR" dirty="0"/>
              <a:t>, que melhor mapeie as variáveis de entrada x em uma variável de saída y: y = </a:t>
            </a:r>
            <a:r>
              <a:rPr lang="pt-BR" i="1" dirty="0"/>
              <a:t>h</a:t>
            </a:r>
            <a:r>
              <a:rPr lang="pt-BR" dirty="0"/>
              <a:t>(x)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28666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insight</a:t>
            </a:r>
            <a:r>
              <a:rPr lang="pt-BR" dirty="0"/>
              <a:t>: percepção; intuição; compreensão.</a:t>
            </a:r>
          </a:p>
          <a:p>
            <a:endParaRPr lang="pt-BR" dirty="0"/>
          </a:p>
          <a:p>
            <a:r>
              <a:rPr lang="pt-BR" dirty="0"/>
              <a:t>O termo "regressão" foi cunhado por Francis </a:t>
            </a:r>
            <a:r>
              <a:rPr lang="pt-BR" dirty="0" err="1"/>
              <a:t>Galton</a:t>
            </a:r>
            <a:r>
              <a:rPr lang="pt-BR" dirty="0"/>
              <a:t> no século 19 para descrever um fenômeno biológico. O fenômeno foi que as alturas dos descendentes de ancestrais altos tendem a </a:t>
            </a:r>
            <a:r>
              <a:rPr lang="pt-BR" b="1" i="1" dirty="0"/>
              <a:t>regredir</a:t>
            </a:r>
            <a:r>
              <a:rPr lang="pt-BR" dirty="0"/>
              <a:t> para a média (um fenômeno também é conhecido como </a:t>
            </a:r>
            <a:r>
              <a:rPr lang="pt-BR" b="1" dirty="0"/>
              <a:t>regressão à média</a:t>
            </a:r>
            <a:r>
              <a:rPr lang="pt-BR" dirty="0"/>
              <a:t>).</a:t>
            </a:r>
          </a:p>
          <a:p>
            <a:endParaRPr lang="pt-BR" dirty="0"/>
          </a:p>
          <a:p>
            <a:r>
              <a:rPr lang="pt-BR" dirty="0"/>
              <a:t>Os algoritmos de aprendizado de máquina são descritos como o aprendizado de uma função,</a:t>
            </a:r>
            <a:r>
              <a:rPr lang="pt-BR" baseline="0" dirty="0"/>
              <a:t> </a:t>
            </a:r>
            <a:r>
              <a:rPr lang="pt-BR" i="1" baseline="0" dirty="0"/>
              <a:t>h</a:t>
            </a:r>
            <a:r>
              <a:rPr lang="pt-BR" dirty="0"/>
              <a:t>, que melhor mapeie as variáveis de entrada x em uma variável de saída y: y = </a:t>
            </a:r>
            <a:r>
              <a:rPr lang="pt-BR" i="1" dirty="0"/>
              <a:t>h</a:t>
            </a:r>
            <a:r>
              <a:rPr lang="pt-BR" dirty="0"/>
              <a:t>(x)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335404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ornece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maneira de aproximar funções complexas e não polinomiais por meio de polinômios simples.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approximation theorem assures us that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polynomial approximation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can get arbitrarily close to any continuous function as the polynomial order is increased.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Referências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[1] https://ccrma.stanford.edu/~jos/st/Weierstrass_Approximation_Theorem.html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https://people.bath.ac.uk/mw2319/ma30252/sec-approx.html</a:t>
            </a:r>
            <a:endParaRPr lang="pt-BR" dirty="0"/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37087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aproximar uma função senoidal usando um polinômio, o método mais comum e elegante é 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Série de Taylor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(especificamente a Série de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Maclaurin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quando centrada em zero).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fórmula para o seno é: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$$\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(x)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approx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x -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{x^3}{3!} +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{x^5}{5!} -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{x^7}{7!} +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dots</a:t>
            </a:r>
            <a:r>
              <a:rPr lang="pt-BR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$$</a:t>
            </a:r>
          </a:p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58079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Percebam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é função do vetor de pesos, pois variando os valores dos pesos, ficamos mais próximos ou distantes da função hipótese que minimiza o erro.</a:t>
                </a:r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Percebam que </a:t>
                </a:r>
                <a:r>
                  <a:rPr lang="pt-BR" i="0">
                    <a:latin typeface="Cambria Math" panose="02040503050406030204" pitchFamily="18" charset="0"/>
                  </a:rPr>
                  <a:t>𝐽_𝑒 (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i="0">
                    <a:latin typeface="Cambria Math" panose="02040503050406030204" pitchFamily="18" charset="0"/>
                  </a:rPr>
                  <a:t>)</a:t>
                </a:r>
                <a:r>
                  <a:rPr lang="pt-BR" dirty="0"/>
                  <a:t> é função do vetor de pesos, pois variando os valores dos pesos, ficamos mais próximos ou distantes da função hipótese que minimiza o erro.</a:t>
                </a:r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895993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86609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0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0.png"/><Relationship Id="rId5" Type="http://schemas.openxmlformats.org/officeDocument/2006/relationships/image" Target="../media/image14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0.png"/><Relationship Id="rId4" Type="http://schemas.openxmlformats.org/officeDocument/2006/relationships/image" Target="../media/image4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0.png"/><Relationship Id="rId5" Type="http://schemas.openxmlformats.org/officeDocument/2006/relationships/image" Target="../media/image560.png"/><Relationship Id="rId4" Type="http://schemas.openxmlformats.org/officeDocument/2006/relationships/image" Target="../media/image55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0.png"/><Relationship Id="rId5" Type="http://schemas.openxmlformats.org/officeDocument/2006/relationships/image" Target="../media/image560.png"/><Relationship Id="rId4" Type="http://schemas.openxmlformats.org/officeDocument/2006/relationships/image" Target="../media/image550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Regressão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520" y="2921704"/>
            <a:ext cx="2224946" cy="148165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4109" y="2920986"/>
            <a:ext cx="1965031" cy="147377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9597" y="2929582"/>
            <a:ext cx="2620040" cy="1473773"/>
          </a:xfrm>
          <a:prstGeom prst="rect">
            <a:avLst/>
          </a:prstGeom>
        </p:spPr>
      </p:pic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627847" y="1654206"/>
            <a:ext cx="10515600" cy="1073439"/>
          </a:xfrm>
        </p:spPr>
        <p:txBody>
          <a:bodyPr>
            <a:normAutofit/>
          </a:bodyPr>
          <a:lstStyle/>
          <a:p>
            <a:r>
              <a:rPr lang="pt-BR" b="1" dirty="0"/>
              <a:t>Exemplo 1</a:t>
            </a:r>
            <a:r>
              <a:rPr lang="pt-BR" dirty="0"/>
              <a:t>: Estimar o preço de casas.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/>
              <p:cNvSpPr txBox="1">
                <a:spLocks/>
              </p:cNvSpPr>
              <p:nvPr/>
            </p:nvSpPr>
            <p:spPr>
              <a:xfrm>
                <a:off x="734291" y="5122567"/>
                <a:ext cx="11185960" cy="173543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dirty="0"/>
                  <a:t>Podemos usar </a:t>
                </a:r>
                <a:r>
                  <a:rPr lang="pt-BR" b="1" i="1" dirty="0"/>
                  <a:t>regressão</a:t>
                </a:r>
                <a:r>
                  <a:rPr lang="pt-BR" dirty="0"/>
                  <a:t> para encontrar uma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relação matemática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entre o n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pt-BR" dirty="0"/>
                  <a:t> de quartos, n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 </m:t>
                    </m:r>
                  </m:oMath>
                </a14:m>
                <a:r>
                  <a:rPr lang="pt-BR" dirty="0"/>
                  <a:t>de vagas na garagem, se tem piscina, localização, área, etc. de uma casa e seu valor.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Objetivo</a:t>
                </a:r>
                <a:r>
                  <a:rPr lang="pt-BR" dirty="0"/>
                  <a:t>: agilizar o processo de avaliação de propriedades.</a:t>
                </a:r>
              </a:p>
            </p:txBody>
          </p:sp>
        </mc:Choice>
        <mc:Fallback xmlns="">
          <p:sp>
            <p:nvSpPr>
              <p:cNvPr id="10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91" y="5122567"/>
                <a:ext cx="11185960" cy="1735434"/>
              </a:xfrm>
              <a:prstGeom prst="rect">
                <a:avLst/>
              </a:prstGeom>
              <a:blipFill>
                <a:blip r:embed="rId6"/>
                <a:stretch>
                  <a:fillRect l="-981" t="-7719" r="-1035" b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/>
          <p:cNvSpPr txBox="1"/>
          <p:nvPr/>
        </p:nvSpPr>
        <p:spPr>
          <a:xfrm>
            <a:off x="1555520" y="4556041"/>
            <a:ext cx="2224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R$ 1.000.000,00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4109" y="4567526"/>
            <a:ext cx="2003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R$ 200.000,00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147" y="4517680"/>
            <a:ext cx="2620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>
                <a:solidFill>
                  <a:srgbClr val="FF0000"/>
                </a:solidFill>
              </a:rPr>
              <a:t>???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260591" y="2308362"/>
                <a:ext cx="2923229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600" dirty="0"/>
                  <a:t>5 quartos, 3 vagas na garagem, 1 piscina, cond. de luxo, 500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sz="16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0591" y="2308362"/>
                <a:ext cx="2923229" cy="590354"/>
              </a:xfrm>
              <a:prstGeom prst="rect">
                <a:avLst/>
              </a:prstGeom>
              <a:blipFill>
                <a:blip r:embed="rId7"/>
                <a:stretch>
                  <a:fillRect l="-418" t="-3093" r="-1879" b="-12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4694503" y="2316101"/>
                <a:ext cx="2804242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nl-BE"/>
                </a:defPPr>
                <a:lvl1pPr algn="ctr">
                  <a:defRPr sz="1600"/>
                </a:lvl1pPr>
              </a:lstStyle>
              <a:p>
                <a:r>
                  <a:rPr lang="pt-BR" dirty="0"/>
                  <a:t>1 quarto, sem vaga na garagem, bairro afastado, 70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4503" y="2316101"/>
                <a:ext cx="2804242" cy="590354"/>
              </a:xfrm>
              <a:prstGeom prst="rect">
                <a:avLst/>
              </a:prstGeom>
              <a:blipFill>
                <a:blip r:embed="rId8"/>
                <a:stretch>
                  <a:fillRect l="-870" t="-3093" r="-3043" b="-12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8207147" y="2361659"/>
                <a:ext cx="262249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nl-BE"/>
                </a:defPPr>
                <a:lvl1pPr algn="ctr">
                  <a:defRPr sz="1600"/>
                </a:lvl1pPr>
              </a:lstStyle>
              <a:p>
                <a:r>
                  <a:rPr lang="pt-BR" dirty="0"/>
                  <a:t>2 quartos, 1 vaga na garagem, centro, 200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7147" y="2361659"/>
                <a:ext cx="2622490" cy="590354"/>
              </a:xfrm>
              <a:prstGeom prst="rect">
                <a:avLst/>
              </a:prstGeom>
              <a:blipFill>
                <a:blip r:embed="rId9"/>
                <a:stretch>
                  <a:fillRect t="-3093" b="-12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802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627847" y="1654207"/>
            <a:ext cx="10515600" cy="604252"/>
          </a:xfrm>
        </p:spPr>
        <p:txBody>
          <a:bodyPr>
            <a:normAutofit/>
          </a:bodyPr>
          <a:lstStyle/>
          <a:p>
            <a:r>
              <a:rPr lang="pt-BR" b="1" dirty="0"/>
              <a:t>Exemplo 2</a:t>
            </a:r>
            <a:r>
              <a:rPr lang="pt-BR" dirty="0"/>
              <a:t>: Estimar as vendas de picolés.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/>
              <p:cNvSpPr txBox="1">
                <a:spLocks/>
              </p:cNvSpPr>
              <p:nvPr/>
            </p:nvSpPr>
            <p:spPr>
              <a:xfrm>
                <a:off x="734290" y="5532439"/>
                <a:ext cx="11230027" cy="13255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dirty="0"/>
                  <a:t>Podemos usar regressão para encontrar um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mapeamento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entre a temperatura média de um dia e a quantidade de picolés vendidos.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Objetivo</a:t>
                </a:r>
                <a:r>
                  <a:rPr lang="pt-BR" dirty="0"/>
                  <a:t>: reduzir o desperdício e aumentar os lucros.</a:t>
                </a:r>
              </a:p>
            </p:txBody>
          </p:sp>
        </mc:Choice>
        <mc:Fallback xmlns="">
          <p:sp>
            <p:nvSpPr>
              <p:cNvPr id="10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90" y="5532439"/>
                <a:ext cx="11230027" cy="1325562"/>
              </a:xfrm>
              <a:prstGeom prst="rect">
                <a:avLst/>
              </a:prstGeom>
              <a:blipFill>
                <a:blip r:embed="rId3"/>
                <a:stretch>
                  <a:fillRect l="-977" t="-10599" b="-78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D3B9ED84-5245-7889-8D8D-F74C85EB5B6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762" t="9838" r="8646"/>
          <a:stretch/>
        </p:blipFill>
        <p:spPr>
          <a:xfrm>
            <a:off x="3811838" y="2364559"/>
            <a:ext cx="3800818" cy="2934238"/>
          </a:xfrm>
          <a:prstGeom prst="rect">
            <a:avLst/>
          </a:prstGeom>
        </p:spPr>
      </p:pic>
      <p:pic>
        <p:nvPicPr>
          <p:cNvPr id="15" name="Picture 2" descr="Picolé Electron – Sorvete Itália">
            <a:extLst>
              <a:ext uri="{FF2B5EF4-FFF2-40B4-BE49-F238E27FC236}">
                <a16:creationId xmlns:a16="http://schemas.microsoft.com/office/drawing/2014/main" xmlns="" id="{673E1C42-10C3-AF6F-1FF0-110BD135CF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6446" y="3547541"/>
            <a:ext cx="1075397" cy="1075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67771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36C16A22-1E29-D959-69D9-364EB3DA76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93975"/>
            <a:ext cx="10515600" cy="16700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i="1" dirty="0"/>
              <a:t>Como podemos resolver esses problemas de estimação?</a:t>
            </a:r>
          </a:p>
        </p:txBody>
      </p:sp>
    </p:spTree>
    <p:extLst>
      <p:ext uri="{BB962C8B-B14F-4D97-AF65-F5344CB8AC3E}">
        <p14:creationId xmlns:p14="http://schemas.microsoft.com/office/powerpoint/2010/main" val="383076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Machine Learning : 'Regression' - Day 3">
            <a:extLst>
              <a:ext uri="{FF2B5EF4-FFF2-40B4-BE49-F238E27FC236}">
                <a16:creationId xmlns:a16="http://schemas.microsoft.com/office/drawing/2014/main" xmlns="" id="{8C5B78AE-E842-ED4F-93D3-10BD115003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089" y="1589917"/>
            <a:ext cx="6332081" cy="4051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F8207647-D845-CF7E-6030-46E4389E11DD}"/>
              </a:ext>
            </a:extLst>
          </p:cNvPr>
          <p:cNvSpPr txBox="1"/>
          <p:nvPr/>
        </p:nvSpPr>
        <p:spPr>
          <a:xfrm>
            <a:off x="7304313" y="2798019"/>
            <a:ext cx="432163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pt-BR" sz="4800" dirty="0"/>
              <a:t>Usando regressão linear!</a:t>
            </a:r>
            <a:endParaRPr lang="en-US" sz="4800" dirty="0"/>
          </a:p>
        </p:txBody>
      </p:sp>
    </p:spTree>
    <p:extLst>
      <p:ext uri="{BB962C8B-B14F-4D97-AF65-F5344CB8AC3E}">
        <p14:creationId xmlns:p14="http://schemas.microsoft.com/office/powerpoint/2010/main" val="6954726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E06FD5B-6F51-847E-A4A8-1A8128322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linear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6F0953-075A-79EF-554F-4E05524F1D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2501" y="1825624"/>
            <a:ext cx="6533004" cy="5032375"/>
          </a:xfrm>
        </p:spPr>
        <p:txBody>
          <a:bodyPr>
            <a:normAutofit/>
          </a:bodyPr>
          <a:lstStyle/>
          <a:p>
            <a:r>
              <a:rPr lang="pt-BR" dirty="0"/>
              <a:t>É um dos algoritmos mais simples, antigos e usados de aprendizado de máquina.</a:t>
            </a:r>
          </a:p>
          <a:p>
            <a:r>
              <a:rPr lang="pt-BR" dirty="0"/>
              <a:t>Nos dará </a:t>
            </a:r>
            <a:r>
              <a:rPr lang="pt-BR" b="1" i="1" dirty="0"/>
              <a:t>intuições</a:t>
            </a:r>
            <a:r>
              <a:rPr lang="pt-BR" dirty="0"/>
              <a:t> importantes para o </a:t>
            </a:r>
            <a:r>
              <a:rPr lang="pt-BR" b="1" i="1" dirty="0"/>
              <a:t>entendimento</a:t>
            </a:r>
            <a:r>
              <a:rPr lang="pt-BR" dirty="0"/>
              <a:t> de </a:t>
            </a:r>
            <a:r>
              <a:rPr lang="pt-BR" b="1" i="1" dirty="0"/>
              <a:t>algoritmos mais complexos</a:t>
            </a:r>
            <a:r>
              <a:rPr lang="pt-BR" dirty="0"/>
              <a:t>, como </a:t>
            </a:r>
            <a:r>
              <a:rPr lang="pt-BR" b="1" i="1" dirty="0"/>
              <a:t>classificadores</a:t>
            </a:r>
            <a:r>
              <a:rPr lang="pt-BR" dirty="0"/>
              <a:t> e </a:t>
            </a:r>
            <a:r>
              <a:rPr lang="pt-BR" b="1" i="1" dirty="0"/>
              <a:t>redes neurais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CAA6EE23-CD07-9149-8335-18879B84AB15}"/>
              </a:ext>
            </a:extLst>
          </p:cNvPr>
          <p:cNvGrpSpPr/>
          <p:nvPr/>
        </p:nvGrpSpPr>
        <p:grpSpPr>
          <a:xfrm>
            <a:off x="313057" y="2511846"/>
            <a:ext cx="4622500" cy="3152391"/>
            <a:chOff x="313057" y="2511846"/>
            <a:chExt cx="4622500" cy="3152391"/>
          </a:xfrm>
        </p:grpSpPr>
        <p:grpSp>
          <p:nvGrpSpPr>
            <p:cNvPr id="7" name="Agrupar 8">
              <a:extLst>
                <a:ext uri="{FF2B5EF4-FFF2-40B4-BE49-F238E27FC236}">
                  <a16:creationId xmlns:a16="http://schemas.microsoft.com/office/drawing/2014/main" xmlns="" id="{CF20AF4F-BFBD-21EC-07E1-41C0B2191505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11" name="Imagem 4">
                <a:extLst>
                  <a:ext uri="{FF2B5EF4-FFF2-40B4-BE49-F238E27FC236}">
                    <a16:creationId xmlns:a16="http://schemas.microsoft.com/office/drawing/2014/main" xmlns="" id="{4D31E461-1A6A-29D1-2297-DFBFD51CB0D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CaixaDeTexto 5">
                    <a:extLst>
                      <a:ext uri="{FF2B5EF4-FFF2-40B4-BE49-F238E27FC236}">
                        <a16:creationId xmlns:a16="http://schemas.microsoft.com/office/drawing/2014/main" xmlns="" id="{E01136AD-4899-EC9B-8DFF-D35176FFB912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Conector de Seta Reta 7">
                <a:extLst>
                  <a:ext uri="{FF2B5EF4-FFF2-40B4-BE49-F238E27FC236}">
                    <a16:creationId xmlns:a16="http://schemas.microsoft.com/office/drawing/2014/main" xmlns="" id="{E6A4E71A-8296-6E9B-6F53-58CD005C17C6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3">
                  <a:extLst>
                    <a:ext uri="{FF2B5EF4-FFF2-40B4-BE49-F238E27FC236}">
                      <a16:creationId xmlns:a16="http://schemas.microsoft.com/office/drawing/2014/main" xmlns="" id="{9E8479D2-8EC0-0456-F706-2969C0BC1122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" name="CaixaDeTexto 3">
                  <a:extLst>
                    <a:ext uri="{FF2B5EF4-FFF2-40B4-BE49-F238E27FC236}">
                      <a16:creationId xmlns:a16="http://schemas.microsoft.com/office/drawing/2014/main" id="{B6371B7D-BB1A-D7F3-A54B-3E89596BFE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690124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E06FD5B-6F51-847E-A4A8-1A8128322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o objetivo da regressão linear?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B76F0953-075A-79EF-554F-4E05524F1D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55771" y="1825624"/>
                <a:ext cx="6729733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Objetivo</a:t>
                </a:r>
                <a:r>
                  <a:rPr lang="pt-BR" dirty="0"/>
                  <a:t>: encontrar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</a:t>
                </a:r>
                <a:r>
                  <a:rPr lang="pt-BR" b="1" dirty="0">
                    <a:solidFill>
                      <a:srgbClr val="00B050"/>
                    </a:solidFill>
                  </a:rPr>
                  <a:t>mapeie</a:t>
                </a:r>
                <a:r>
                  <a:rPr lang="pt-BR" dirty="0"/>
                  <a:t> os </a:t>
                </a:r>
                <a:r>
                  <a:rPr lang="pt-BR" b="1" dirty="0">
                    <a:solidFill>
                      <a:srgbClr val="7030A0"/>
                    </a:solidFill>
                  </a:rPr>
                  <a:t>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em uma variável de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de tal forma 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se ajuste aos dados coletados de </a:t>
                </a:r>
                <a:r>
                  <a:rPr lang="pt-BR" b="1" dirty="0">
                    <a:solidFill>
                      <a:srgbClr val="00B050"/>
                    </a:solidFill>
                  </a:rPr>
                  <a:t>forma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ótima</a:t>
                </a:r>
                <a:r>
                  <a:rPr lang="pt-BR" dirty="0"/>
                  <a:t>.</a:t>
                </a:r>
              </a:p>
              <a:p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Ótimo no sentido da </a:t>
                </a:r>
                <a:r>
                  <a:rPr lang="pt-BR" b="1" dirty="0">
                    <a:solidFill>
                      <a:srgbClr val="00B050"/>
                    </a:solidFill>
                    <a:effectLst/>
                  </a:rPr>
                  <a:t>minimização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 </a:t>
                </a:r>
                <a:r>
                  <a:rPr lang="pt-BR" b="1" dirty="0">
                    <a:solidFill>
                      <a:srgbClr val="00B050"/>
                    </a:solidFill>
                    <a:effectLst/>
                  </a:rPr>
                  <a:t>da diferença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 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entre as predições feitas por </a:t>
                </a:r>
                <a14:m>
                  <m:oMath xmlns:m="http://schemas.openxmlformats.org/officeDocument/2006/math">
                    <m:r>
                      <a:rPr lang="pt-B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(i.e., os valores de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), e os </a:t>
                </a:r>
                <a:r>
                  <a:rPr lang="pt-BR" b="1" i="0" dirty="0">
                    <a:solidFill>
                      <a:srgbClr val="7030A0"/>
                    </a:solidFill>
                    <a:effectLst/>
                  </a:rPr>
                  <a:t>rótulos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(i.e., os </a:t>
                </a:r>
                <a:r>
                  <a:rPr lang="pt-BR" dirty="0"/>
                  <a:t>valores esperados de saída, </a:t>
                </a:r>
                <a14:m>
                  <m:oMath xmlns:m="http://schemas.openxmlformats.org/officeDocument/2006/math">
                    <m:r>
                      <a:rPr lang="pt-BR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76F0953-075A-79EF-554F-4E05524F1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55771" y="1825624"/>
                <a:ext cx="6729733" cy="5032375"/>
              </a:xfrm>
              <a:blipFill>
                <a:blip r:embed="rId3"/>
                <a:stretch>
                  <a:fillRect l="-1630" t="-1937" r="-27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xmlns="" id="{0B11DDB3-BDC9-57EF-0BC8-921A1B6B8D9B}"/>
              </a:ext>
            </a:extLst>
          </p:cNvPr>
          <p:cNvGrpSpPr/>
          <p:nvPr/>
        </p:nvGrpSpPr>
        <p:grpSpPr>
          <a:xfrm>
            <a:off x="313057" y="2511846"/>
            <a:ext cx="4622500" cy="3152391"/>
            <a:chOff x="313057" y="2511846"/>
            <a:chExt cx="4622500" cy="3152391"/>
          </a:xfrm>
        </p:grpSpPr>
        <p:grpSp>
          <p:nvGrpSpPr>
            <p:cNvPr id="9" name="Agrupar 8">
              <a:extLst>
                <a:ext uri="{FF2B5EF4-FFF2-40B4-BE49-F238E27FC236}">
                  <a16:creationId xmlns:a16="http://schemas.microsoft.com/office/drawing/2014/main" xmlns="" id="{7184A45B-D6CC-54CD-EE0B-7CE85A9D94D5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5" name="Imagem 4">
                <a:extLst>
                  <a:ext uri="{FF2B5EF4-FFF2-40B4-BE49-F238E27FC236}">
                    <a16:creationId xmlns:a16="http://schemas.microsoft.com/office/drawing/2014/main" xmlns="" id="{AF1170FE-5534-DC43-8150-E2919F18F24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xmlns="" id="{10491C75-CC2B-4E6F-00D1-D7BCDA1CAC51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" name="Conector de Seta Reta 7">
                <a:extLst>
                  <a:ext uri="{FF2B5EF4-FFF2-40B4-BE49-F238E27FC236}">
                    <a16:creationId xmlns:a16="http://schemas.microsoft.com/office/drawing/2014/main" xmlns="" id="{29596D1D-F48C-73D6-3778-6E52A3153EFC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CaixaDeTexto 3">
                  <a:extLst>
                    <a:ext uri="{FF2B5EF4-FFF2-40B4-BE49-F238E27FC236}">
                      <a16:creationId xmlns:a16="http://schemas.microsoft.com/office/drawing/2014/main" xmlns="" id="{B6371B7D-BB1A-D7F3-A54B-3E89596BFE8C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" name="CaixaDeTexto 3">
                  <a:extLst>
                    <a:ext uri="{FF2B5EF4-FFF2-40B4-BE49-F238E27FC236}">
                      <a16:creationId xmlns:a16="http://schemas.microsoft.com/office/drawing/2014/main" id="{B6371B7D-BB1A-D7F3-A54B-3E89596BFE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805872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C106918-4928-8D8F-109D-FE4154A6A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é o paradigma de aprendizado?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5873D4D9-70C9-4892-D3C8-28B1750BC2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41485" y="1825624"/>
                <a:ext cx="6477918" cy="5032375"/>
              </a:xfrm>
            </p:spPr>
            <p:txBody>
              <a:bodyPr/>
              <a:lstStyle/>
              <a:p>
                <a:r>
                  <a:rPr lang="pt-BR" dirty="0"/>
                  <a:t>Dado que possuímos um </a:t>
                </a:r>
                <a:r>
                  <a:rPr lang="pt-BR" b="1" dirty="0"/>
                  <a:t>conjunto</a:t>
                </a:r>
                <a:r>
                  <a:rPr lang="pt-BR" dirty="0"/>
                  <a:t> de valores de entrada,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(os </a:t>
                </a:r>
                <a:r>
                  <a:rPr lang="pt-BR" b="1" dirty="0"/>
                  <a:t>atributos</a:t>
                </a:r>
                <a:r>
                  <a:rPr lang="pt-BR" dirty="0"/>
                  <a:t>), e os seus respectivos valores esperados de saída,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(os </a:t>
                </a:r>
                <a:r>
                  <a:rPr lang="pt-BR" b="1" dirty="0"/>
                  <a:t>rótulos</a:t>
                </a:r>
                <a:r>
                  <a:rPr lang="pt-BR" dirty="0"/>
                  <a:t>), </a:t>
                </a:r>
                <a:r>
                  <a:rPr lang="pt-BR" b="1" dirty="0">
                    <a:solidFill>
                      <a:srgbClr val="00B0F0"/>
                    </a:solidFill>
                  </a:rPr>
                  <a:t>que tipo de aprendizado é realizado pela regressão linear?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873D4D9-70C9-4892-D3C8-28B1750BC2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41485" y="1825624"/>
                <a:ext cx="6477918" cy="5032375"/>
              </a:xfrm>
              <a:blipFill>
                <a:blip r:embed="rId2"/>
                <a:stretch>
                  <a:fillRect l="-169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xmlns="" id="{1235B076-2510-BA54-045E-9FDA19549589}"/>
              </a:ext>
            </a:extLst>
          </p:cNvPr>
          <p:cNvGrpSpPr/>
          <p:nvPr/>
        </p:nvGrpSpPr>
        <p:grpSpPr>
          <a:xfrm>
            <a:off x="313057" y="2511846"/>
            <a:ext cx="4622500" cy="3152391"/>
            <a:chOff x="313057" y="2511846"/>
            <a:chExt cx="4622500" cy="3152391"/>
          </a:xfrm>
        </p:grpSpPr>
        <p:grpSp>
          <p:nvGrpSpPr>
            <p:cNvPr id="8" name="Agrupar 8">
              <a:extLst>
                <a:ext uri="{FF2B5EF4-FFF2-40B4-BE49-F238E27FC236}">
                  <a16:creationId xmlns:a16="http://schemas.microsoft.com/office/drawing/2014/main" xmlns="" id="{6BA6F8C4-313D-7B7A-8A78-327F3069654F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10" name="Imagem 4">
                <a:extLst>
                  <a:ext uri="{FF2B5EF4-FFF2-40B4-BE49-F238E27FC236}">
                    <a16:creationId xmlns:a16="http://schemas.microsoft.com/office/drawing/2014/main" xmlns="" id="{2FDB8C03-A236-C2AB-BA26-35BCEB12554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CaixaDeTexto 5">
                    <a:extLst>
                      <a:ext uri="{FF2B5EF4-FFF2-40B4-BE49-F238E27FC236}">
                        <a16:creationId xmlns:a16="http://schemas.microsoft.com/office/drawing/2014/main" xmlns="" id="{D1A24C38-EFA6-2F8B-5C0C-9C486DD9AA95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Conector de Seta Reta 7">
                <a:extLst>
                  <a:ext uri="{FF2B5EF4-FFF2-40B4-BE49-F238E27FC236}">
                    <a16:creationId xmlns:a16="http://schemas.microsoft.com/office/drawing/2014/main" xmlns="" id="{57EE6B8B-A053-340A-CAEE-30CFEBD53D7E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xmlns="" id="{84693792-F9CA-4DDE-7B29-0D00BA687EFA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84693792-F9CA-4DDE-7B29-0D00BA687E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65644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C106918-4928-8D8F-109D-FE4154A6A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é o paradigma de aprendizado?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77D13973-0CC4-804D-B65C-ACF1497CA131}"/>
              </a:ext>
            </a:extLst>
          </p:cNvPr>
          <p:cNvSpPr txBox="1"/>
          <p:nvPr/>
        </p:nvSpPr>
        <p:spPr>
          <a:xfrm>
            <a:off x="6543036" y="3032554"/>
            <a:ext cx="398345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pt-BR" sz="4400" b="1" dirty="0">
                <a:solidFill>
                  <a:srgbClr val="00B050"/>
                </a:solidFill>
              </a:rPr>
              <a:t>Aprendizado supervisionado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74FA83DA-1176-B494-DF6D-26AABD487B72}"/>
              </a:ext>
            </a:extLst>
          </p:cNvPr>
          <p:cNvGrpSpPr/>
          <p:nvPr/>
        </p:nvGrpSpPr>
        <p:grpSpPr>
          <a:xfrm>
            <a:off x="606971" y="2326789"/>
            <a:ext cx="4622500" cy="3152391"/>
            <a:chOff x="313057" y="2511846"/>
            <a:chExt cx="4622500" cy="3152391"/>
          </a:xfrm>
        </p:grpSpPr>
        <p:grpSp>
          <p:nvGrpSpPr>
            <p:cNvPr id="8" name="Agrupar 8">
              <a:extLst>
                <a:ext uri="{FF2B5EF4-FFF2-40B4-BE49-F238E27FC236}">
                  <a16:creationId xmlns:a16="http://schemas.microsoft.com/office/drawing/2014/main" xmlns="" id="{3601490F-BA92-2E2F-4176-8548977CDC6B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10" name="Imagem 4">
                <a:extLst>
                  <a:ext uri="{FF2B5EF4-FFF2-40B4-BE49-F238E27FC236}">
                    <a16:creationId xmlns:a16="http://schemas.microsoft.com/office/drawing/2014/main" xmlns="" id="{5C8759EA-A495-1092-5721-C2D5BB96978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CaixaDeTexto 5">
                    <a:extLst>
                      <a:ext uri="{FF2B5EF4-FFF2-40B4-BE49-F238E27FC236}">
                        <a16:creationId xmlns:a16="http://schemas.microsoft.com/office/drawing/2014/main" xmlns="" id="{3DC28E94-1E78-E96F-81AC-6660B1EAE0DB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Conector de Seta Reta 7">
                <a:extLst>
                  <a:ext uri="{FF2B5EF4-FFF2-40B4-BE49-F238E27FC236}">
                    <a16:creationId xmlns:a16="http://schemas.microsoft.com/office/drawing/2014/main" xmlns="" id="{18708C14-B461-C0FC-A091-97D0B01047D3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xmlns="" id="{CD48A18A-A494-29A6-49E8-BAE3B1ECBF7E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CD48A18A-A494-29A6-49E8-BAE3B1ECBF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200687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3645331-4B2E-BB50-BF81-FDF8C639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linear?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7745B10-6162-30F7-6050-58C45B7818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532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Porque a saída da </a:t>
                </a:r>
                <a:r>
                  <a:rPr lang="pt-BR" b="1" i="1" dirty="0"/>
                  <a:t>função aproximadora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é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modelada</a:t>
                </a:r>
                <a:r>
                  <a:rPr lang="pt-BR" dirty="0"/>
                  <a:t> como sendo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combinação linear dos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7030A0"/>
                    </a:solidFill>
                  </a:rPr>
                  <a:t>em relação aos pesos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geral, usamos </a:t>
                </a:r>
                <a:r>
                  <a:rPr lang="pt-BR" b="1" dirty="0">
                    <a:solidFill>
                      <a:srgbClr val="7030A0"/>
                    </a:solidFill>
                  </a:rPr>
                  <a:t>polinômios</a:t>
                </a:r>
                <a:r>
                  <a:rPr lang="pt-BR" dirty="0"/>
                  <a:t> para modelar essa relação.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=1+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i="1" dirty="0"/>
                  <a:t> </a:t>
                </a:r>
                <a:r>
                  <a:rPr lang="pt-BR" dirty="0"/>
                  <a:t>(</a:t>
                </a:r>
                <a:r>
                  <a:rPr lang="en-US" dirty="0" err="1"/>
                  <a:t>polinômio</a:t>
                </a:r>
                <a:r>
                  <a:rPr lang="en-US" dirty="0"/>
                  <a:t> de </a:t>
                </a:r>
                <a:r>
                  <a:rPr lang="en-US" dirty="0" err="1"/>
                  <a:t>grau</a:t>
                </a:r>
                <a:r>
                  <a:rPr lang="en-US" dirty="0"/>
                  <a:t> 2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dirty="0" err="1"/>
                  <a:t>variável</a:t>
                </a:r>
                <a:r>
                  <a:rPr lang="en-US" dirty="0"/>
                  <a:t>).</a:t>
                </a:r>
                <a:endParaRPr lang="pt-BR" i="1" dirty="0"/>
              </a:p>
              <a:p>
                <a:r>
                  <a:rPr lang="pt-BR" dirty="0"/>
                  <a:t>Pois segundo o teorema da aproximação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Stone-</a:t>
                </a:r>
                <a:r>
                  <a:rPr lang="pt-BR" b="1" i="1" dirty="0" err="1">
                    <a:solidFill>
                      <a:srgbClr val="00B050"/>
                    </a:solidFill>
                  </a:rPr>
                  <a:t>Weierstrass</a:t>
                </a:r>
                <a:r>
                  <a:rPr lang="pt-BR" dirty="0"/>
                  <a:t> “</a:t>
                </a:r>
                <a:r>
                  <a:rPr lang="pt-BR" i="1" dirty="0"/>
                  <a:t>qualquer função contínua no intervalo fechado [a, b] pode ser uniformemente aproximada por um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polinômio</a:t>
                </a:r>
                <a:r>
                  <a:rPr lang="pt-BR" i="1" dirty="0"/>
                  <a:t>”.</a:t>
                </a:r>
              </a:p>
              <a:p>
                <a:r>
                  <a:rPr lang="pt-BR" dirty="0"/>
                  <a:t>Portanto, polinômios podem modelar qualquer tipo de mapeamento  (lineares ou não lineares) entre os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i="1" dirty="0"/>
                  <a:t> </a:t>
                </a:r>
                <a:r>
                  <a:rPr lang="pt-BR" dirty="0"/>
                  <a:t>bastando apenas </a:t>
                </a:r>
                <a:r>
                  <a:rPr lang="pt-BR" b="1" dirty="0">
                    <a:solidFill>
                      <a:srgbClr val="7030A0"/>
                    </a:solidFill>
                  </a:rPr>
                  <a:t>encontrar os pesos e o grau (ou ordem) ideal</a:t>
                </a:r>
                <a:r>
                  <a:rPr lang="pt-BR" dirty="0">
                    <a:solidFill>
                      <a:srgbClr val="7030A0"/>
                    </a:solidFill>
                  </a:rPr>
                  <a:t>.</a:t>
                </a:r>
              </a:p>
              <a:p>
                <a:endParaRPr lang="pt-BR" i="1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7745B10-6162-30F7-6050-58C45B7818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5325" cy="5032375"/>
              </a:xfrm>
              <a:blipFill>
                <a:blip r:embed="rId3"/>
                <a:stretch>
                  <a:fillRect l="-984" t="-1937" r="-1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2877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050803C-34C9-CCF4-6673-47CCCF2C7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7B6B386-02B2-D964-73F3-196F9F79B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linear?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C482631-ECEA-B4D7-2D72-82A636953A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91742" y="1825624"/>
                <a:ext cx="741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Podemos modelar um </a:t>
                </a:r>
                <a:r>
                  <a:rPr lang="pt-BR" b="1" dirty="0"/>
                  <a:t>mapeamento linear</a:t>
                </a:r>
                <a:r>
                  <a:rPr lang="pt-BR" dirty="0"/>
                  <a:t> com a equação de uma reta:</a:t>
                </a:r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Podemos ter um </a:t>
                </a:r>
                <a:r>
                  <a:rPr lang="pt-BR" b="1" dirty="0"/>
                  <a:t>mapeamento não-linear</a:t>
                </a:r>
                <a:r>
                  <a:rPr lang="pt-BR" dirty="0"/>
                  <a:t> com uma equação que aproxima uma </a:t>
                </a:r>
                <a:r>
                  <a:rPr lang="pt-BR" dirty="0" err="1"/>
                  <a:t>senoide</a:t>
                </a:r>
                <a:r>
                  <a:rPr lang="pt-BR" dirty="0"/>
                  <a:t>:</a:t>
                </a:r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7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sub>
                    </m:sSub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Também podemos ter mapeamentos lineares e não lineares </a:t>
                </a:r>
                <a:r>
                  <a:rPr lang="pt-BR" b="1" dirty="0"/>
                  <a:t>com dois ou mais atributos</a:t>
                </a:r>
                <a:r>
                  <a:rPr lang="pt-BR" dirty="0"/>
                  <a:t>.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marL="457200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C482631-ECEA-B4D7-2D72-82A636953A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91742" y="1825624"/>
                <a:ext cx="7413171" cy="5032375"/>
              </a:xfrm>
              <a:blipFill>
                <a:blip r:embed="rId3"/>
                <a:stretch>
                  <a:fillRect l="-1480" t="-1937" r="-1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>
            <a:extLst>
              <a:ext uri="{FF2B5EF4-FFF2-40B4-BE49-F238E27FC236}">
                <a16:creationId xmlns:a16="http://schemas.microsoft.com/office/drawing/2014/main" xmlns="" id="{12007748-1241-43BA-BCB2-C3CEA1054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915" y="1690688"/>
            <a:ext cx="3456316" cy="2517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xmlns="" id="{D0BE679B-48AF-4331-B659-21FE08DC20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915" y="4275212"/>
            <a:ext cx="3456316" cy="2517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94253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791E141-9BEA-1A7F-F3BE-B2EC1675E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636E6F2-3CD7-063A-5B72-5FF656E61D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93975"/>
            <a:ext cx="10515600" cy="16700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Como encontramos os pesos e o melhor grau?</a:t>
            </a:r>
          </a:p>
        </p:txBody>
      </p:sp>
    </p:spTree>
    <p:extLst>
      <p:ext uri="{BB962C8B-B14F-4D97-AF65-F5344CB8AC3E}">
        <p14:creationId xmlns:p14="http://schemas.microsoft.com/office/powerpoint/2010/main" val="28197979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88D1460-F0A9-8CC3-99B3-716DC4544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Objetivo da regressão linear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A8F1D988-6925-C286-BA9F-B4A4851E2F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5785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enquanto, vamos assumir que já conhecemos o melhor grau do polinômio.</a:t>
                </a:r>
              </a:p>
              <a:p>
                <a:r>
                  <a:rPr lang="pt-BR" dirty="0"/>
                  <a:t>Como temos as entradas (i.e., atributos) e as saídas esperadas (i.e., rótulos), o </a:t>
                </a:r>
                <a:r>
                  <a:rPr lang="pt-BR" b="1" dirty="0"/>
                  <a:t>objetivo</a:t>
                </a:r>
                <a:r>
                  <a:rPr lang="pt-BR" dirty="0"/>
                  <a:t> passa a ser encontrar os </a:t>
                </a:r>
                <a:r>
                  <a:rPr lang="pt-BR" b="1" dirty="0"/>
                  <a:t>pesos ótimos</a:t>
                </a:r>
                <a:r>
                  <a:rPr lang="pt-BR" dirty="0"/>
                  <a:t> que </a:t>
                </a:r>
                <a:r>
                  <a:rPr lang="pt-BR" b="1" dirty="0"/>
                  <a:t>minimizam a distância (i.e., </a:t>
                </a:r>
                <a:r>
                  <a:rPr lang="pt-BR" b="1" dirty="0">
                    <a:solidFill>
                      <a:srgbClr val="7030A0"/>
                    </a:solidFill>
                  </a:rPr>
                  <a:t>erro</a:t>
                </a:r>
                <a:r>
                  <a:rPr lang="pt-BR" b="1" dirty="0"/>
                  <a:t>) entre predição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dirty="0"/>
                  <a:t> (i.e., saída do modelo) </a:t>
                </a:r>
                <a:r>
                  <a:rPr lang="pt-BR" b="1" dirty="0"/>
                  <a:t>e os rótulos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Escrevendo como um problema de otimização, temos que o objetivo é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Encontrar o </a:t>
                </a:r>
                <a:r>
                  <a:rPr lang="pt-BR" b="1" dirty="0">
                    <a:solidFill>
                      <a:srgbClr val="0070C0"/>
                    </a:solidFill>
                  </a:rPr>
                  <a:t>vetor de pesos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[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]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, que minimize o </a:t>
                </a:r>
                <a:r>
                  <a:rPr lang="pt-BR" b="1" dirty="0"/>
                  <a:t>erro</a:t>
                </a:r>
                <a:r>
                  <a:rPr lang="pt-BR" dirty="0"/>
                  <a:t>, dado por uma </a:t>
                </a:r>
                <a:r>
                  <a:rPr lang="pt-BR" b="1" dirty="0"/>
                  <a:t>função de erro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entre a aproximação,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dirty="0"/>
                  <a:t>, e o valor esperado,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para todos </a:t>
                </a:r>
                <a:r>
                  <a:rPr lang="pt-BR" b="1" dirty="0">
                    <a:solidFill>
                      <a:srgbClr val="0070C0"/>
                    </a:solidFill>
                  </a:rPr>
                  <a:t>os exemplos do conjunto de treinamento</a:t>
                </a:r>
                <a:r>
                  <a:rPr lang="pt-BR" dirty="0"/>
                  <a:t>.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F1D988-6925-C286-BA9F-B4A4851E2F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57857" cy="5032375"/>
              </a:xfrm>
              <a:blipFill>
                <a:blip r:embed="rId2"/>
                <a:stretch>
                  <a:fillRect l="-928" t="-1937" r="-15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xmlns="" id="{A6B354F9-74E2-2FAD-DDBA-5FD514A114CE}"/>
                  </a:ext>
                </a:extLst>
              </p:cNvPr>
              <p:cNvSpPr txBox="1"/>
              <p:nvPr/>
            </p:nvSpPr>
            <p:spPr>
              <a:xfrm>
                <a:off x="9753600" y="6550223"/>
                <a:ext cx="243840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400" b="1" dirty="0">
                    <a:ea typeface="Cambria Math" panose="02040503050406030204" pitchFamily="18" charset="0"/>
                  </a:rPr>
                  <a:t>OBS</a:t>
                </a:r>
                <a:r>
                  <a:rPr lang="pt-BR" sz="1400" dirty="0">
                    <a:ea typeface="Cambria Math" panose="02040503050406030204" pitchFamily="18" charset="0"/>
                  </a:rPr>
                  <a:t>.: </a:t>
                </a:r>
                <a14:m>
                  <m:oMath xmlns:m="http://schemas.openxmlformats.org/officeDocument/2006/math">
                    <m:r>
                      <a:rPr lang="pt-BR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sz="1400" dirty="0"/>
                  <a:t> é o número de pesos.</a:t>
                </a:r>
                <a:endParaRPr lang="en-US" sz="1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B354F9-74E2-2FAD-DDBA-5FD514A114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3600" y="6550223"/>
                <a:ext cx="2438400" cy="307777"/>
              </a:xfrm>
              <a:prstGeom prst="rect">
                <a:avLst/>
              </a:prstGeom>
              <a:blipFill>
                <a:blip r:embed="rId3"/>
                <a:stretch>
                  <a:fillRect l="-750"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781428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CAA1FF2-610F-29DC-A1C0-06044CE6D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EB786D8-DC7C-3952-8523-439D463A8F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593975"/>
            <a:ext cx="10853057" cy="222839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Para treinarmos o modelo, precisamos de uma função de erro</a:t>
            </a:r>
          </a:p>
        </p:txBody>
      </p:sp>
    </p:spTree>
    <p:extLst>
      <p:ext uri="{BB962C8B-B14F-4D97-AF65-F5344CB8AC3E}">
        <p14:creationId xmlns:p14="http://schemas.microsoft.com/office/powerpoint/2010/main" val="32089916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22F9E6F-04DB-ABA7-5277-8F56D03FB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843752C2-61B6-8E7E-17CE-7C009ECA9D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Existem várias possibilidades para a </a:t>
                </a:r>
                <a:r>
                  <a:rPr lang="pt-BR" b="1" dirty="0"/>
                  <a:t>função de erro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Porém, em problemas de regressão, é comum utilizar-se o </a:t>
                </a:r>
                <a:r>
                  <a:rPr lang="pt-BR" b="1" dirty="0">
                    <a:solidFill>
                      <a:srgbClr val="00B050"/>
                    </a:solidFill>
                  </a:rPr>
                  <a:t>erro quadrático médio (EQM)</a:t>
                </a:r>
                <a:endParaRPr lang="pt-BR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den>
                              </m:f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 −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𝑿𝒂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forma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matricial</m:t>
                          </m:r>
                        </m:lim>
                      </m:limLow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é o número total de exemplos (ou amostras),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 o número do exemplo,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(0)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…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−1)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]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é um </a:t>
                </a:r>
                <a:r>
                  <a:rPr lang="pt-BR" b="1" dirty="0">
                    <a:solidFill>
                      <a:srgbClr val="0070C0"/>
                    </a:solidFill>
                  </a:rPr>
                  <a:t>vetor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 </a:t>
                </a:r>
                <a:r>
                  <a:rPr lang="pt-BR" dirty="0"/>
                  <a:t>contendo todos 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valores esperados 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(0)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…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−1)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]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pt-BR" b="1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 é uma </a:t>
                </a:r>
                <a:r>
                  <a:rPr lang="pt-BR" b="1" dirty="0">
                    <a:solidFill>
                      <a:srgbClr val="0070C0"/>
                    </a:solidFill>
                  </a:rPr>
                  <a:t>matriz</a:t>
                </a:r>
                <a:r>
                  <a:rPr lang="pt-BR" dirty="0"/>
                  <a:t> contendo todos os vetores de atributo.</a:t>
                </a:r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00B050"/>
                    </a:solidFill>
                  </a:rPr>
                  <a:t>EQM</a:t>
                </a:r>
                <a:r>
                  <a:rPr lang="pt-BR" dirty="0"/>
                  <a:t> nada mais é do que a </a:t>
                </a:r>
                <a:r>
                  <a:rPr lang="pt-BR" b="1" dirty="0">
                    <a:solidFill>
                      <a:srgbClr val="00B050"/>
                    </a:solidFill>
                  </a:rPr>
                  <a:t>média aritmética do quadrado dos erros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43752C2-61B6-8E7E-17CE-7C009ECA9D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1128" t="-1937" r="-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DA1B5748-659A-1A33-A0BB-36FDFC0D922B}"/>
              </a:ext>
            </a:extLst>
          </p:cNvPr>
          <p:cNvSpPr txBox="1"/>
          <p:nvPr/>
        </p:nvSpPr>
        <p:spPr>
          <a:xfrm>
            <a:off x="10424847" y="2782669"/>
            <a:ext cx="16474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Erro entre a saída esperada e a saída da função hipótese.</a:t>
            </a:r>
          </a:p>
        </p:txBody>
      </p:sp>
      <p:cxnSp>
        <p:nvCxnSpPr>
          <p:cNvPr id="5" name="Straight Arrow Connector 5">
            <a:extLst>
              <a:ext uri="{FF2B5EF4-FFF2-40B4-BE49-F238E27FC236}">
                <a16:creationId xmlns:a16="http://schemas.microsoft.com/office/drawing/2014/main" xmlns="" id="{533A37AF-2E19-6028-AE93-9CF06895589A}"/>
              </a:ext>
            </a:extLst>
          </p:cNvPr>
          <p:cNvCxnSpPr>
            <a:cxnSpLocks/>
          </p:cNvCxnSpPr>
          <p:nvPr/>
        </p:nvCxnSpPr>
        <p:spPr>
          <a:xfrm flipH="1">
            <a:off x="8675914" y="2967726"/>
            <a:ext cx="1839686" cy="64633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3349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AC4E842-F6C8-EE87-0AA0-9BEFA4B97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Minimização da função de erro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A581B72-317A-3CC1-4214-6CBD69B4A6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57857" cy="5032375"/>
              </a:xfrm>
            </p:spPr>
            <p:txBody>
              <a:bodyPr/>
              <a:lstStyle/>
              <a:p>
                <a:r>
                  <a:rPr lang="pt-BR" dirty="0"/>
                  <a:t>Então, para encontrarmos o </a:t>
                </a:r>
                <a:r>
                  <a:rPr lang="pt-BR" b="1" dirty="0"/>
                  <a:t>vetor de pesos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, devemos </a:t>
                </a:r>
                <a:r>
                  <a:rPr lang="pt-BR" b="1" dirty="0">
                    <a:solidFill>
                      <a:srgbClr val="00B050"/>
                    </a:solidFill>
                  </a:rPr>
                  <a:t>minimizar a função de erro</a:t>
                </a:r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den>
                              </m:f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−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𝑿𝒂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func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 ser constante, o termo 1/𝑁 não influencia na minimização e, portanto, pode ser omitido na equação acima.</a:t>
                </a:r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 algn="ctr">
                  <a:buNone/>
                </a:pPr>
                <a:r>
                  <a:rPr lang="pt-BR" sz="4400" i="1" dirty="0"/>
                  <a:t>Como encontramos os pesos que minimizam a função de erro?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581B72-317A-3CC1-4214-6CBD69B4A6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57857" cy="5032375"/>
              </a:xfrm>
              <a:blipFill>
                <a:blip r:embed="rId2"/>
                <a:stretch>
                  <a:fillRect l="-928" t="-1937" r="-15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17568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C5DC745-C86C-4971-B0AF-00EE88E91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52231"/>
          </a:xfrm>
        </p:spPr>
        <p:txBody>
          <a:bodyPr/>
          <a:lstStyle/>
          <a:p>
            <a:r>
              <a:rPr lang="pt-BR" dirty="0"/>
              <a:t>Resumo do problema da regressão linear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F130550-3E6D-44FC-BB82-8D97663749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6371" y="1551214"/>
            <a:ext cx="5698145" cy="5306785"/>
          </a:xfrm>
        </p:spPr>
        <p:txBody>
          <a:bodyPr>
            <a:normAutofit/>
          </a:bodyPr>
          <a:lstStyle/>
          <a:p>
            <a:r>
              <a:rPr lang="pt-BR" dirty="0"/>
              <a:t>Portanto, resumindo, nosso objetivo é </a:t>
            </a:r>
            <a:r>
              <a:rPr lang="pt-BR" b="1" dirty="0">
                <a:solidFill>
                  <a:srgbClr val="00B050"/>
                </a:solidFill>
              </a:rPr>
              <a:t>treinar</a:t>
            </a:r>
            <a:r>
              <a:rPr lang="pt-BR" dirty="0"/>
              <a:t> um </a:t>
            </a:r>
            <a:r>
              <a:rPr lang="pt-BR" b="1" dirty="0">
                <a:solidFill>
                  <a:srgbClr val="00B050"/>
                </a:solidFill>
              </a:rPr>
              <a:t>modelo</a:t>
            </a:r>
            <a:r>
              <a:rPr lang="pt-BR" dirty="0"/>
              <a:t>, a partir de um </a:t>
            </a:r>
            <a:r>
              <a:rPr lang="pt-BR" b="1" dirty="0">
                <a:solidFill>
                  <a:srgbClr val="00B050"/>
                </a:solidFill>
              </a:rPr>
              <a:t>conjunto de treinamento</a:t>
            </a:r>
            <a:r>
              <a:rPr lang="pt-BR" dirty="0"/>
              <a:t>, que </a:t>
            </a:r>
            <a:r>
              <a:rPr lang="pt-BR" b="1" dirty="0">
                <a:solidFill>
                  <a:srgbClr val="00B050"/>
                </a:solidFill>
              </a:rPr>
              <a:t>minimize o erro de aproximação</a:t>
            </a:r>
            <a:r>
              <a:rPr lang="pt-BR" dirty="0"/>
              <a:t>.</a:t>
            </a:r>
          </a:p>
          <a:p>
            <a:r>
              <a:rPr lang="pt-BR" dirty="0"/>
              <a:t>Assim, para </a:t>
            </a:r>
            <a:r>
              <a:rPr lang="pt-BR" b="1" dirty="0">
                <a:solidFill>
                  <a:srgbClr val="00B050"/>
                </a:solidFill>
              </a:rPr>
              <a:t>treinar</a:t>
            </a:r>
            <a:r>
              <a:rPr lang="pt-BR" dirty="0"/>
              <a:t> o modelo, precisamos encontrar </a:t>
            </a:r>
            <a:r>
              <a:rPr lang="pt-BR" b="1" dirty="0">
                <a:solidFill>
                  <a:srgbClr val="7030A0"/>
                </a:solidFill>
              </a:rPr>
              <a:t>maneiras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de </a:t>
            </a:r>
            <a:r>
              <a:rPr lang="pt-BR" b="1" dirty="0">
                <a:solidFill>
                  <a:schemeClr val="accent2"/>
                </a:solidFill>
              </a:rPr>
              <a:t>ajustar seus pesos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de forma que o erro seja minimizado.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DF988A4E-4866-35AF-BF8F-8DD7FA3EE9A8}"/>
              </a:ext>
            </a:extLst>
          </p:cNvPr>
          <p:cNvGrpSpPr/>
          <p:nvPr/>
        </p:nvGrpSpPr>
        <p:grpSpPr>
          <a:xfrm>
            <a:off x="936690" y="1871206"/>
            <a:ext cx="4908940" cy="3623775"/>
            <a:chOff x="342900" y="1658935"/>
            <a:chExt cx="4908940" cy="3623775"/>
          </a:xfrm>
        </p:grpSpPr>
        <p:grpSp>
          <p:nvGrpSpPr>
            <p:cNvPr id="7" name="Agrupar 6">
              <a:extLst>
                <a:ext uri="{FF2B5EF4-FFF2-40B4-BE49-F238E27FC236}">
                  <a16:creationId xmlns:a16="http://schemas.microsoft.com/office/drawing/2014/main" xmlns="" id="{A9CFBE1F-E739-ECB1-A43E-891E3E546A8C}"/>
                </a:ext>
              </a:extLst>
            </p:cNvPr>
            <p:cNvGrpSpPr/>
            <p:nvPr/>
          </p:nvGrpSpPr>
          <p:grpSpPr>
            <a:xfrm>
              <a:off x="342900" y="2251139"/>
              <a:ext cx="4908940" cy="3031571"/>
              <a:chOff x="157187" y="2378075"/>
              <a:chExt cx="4908940" cy="3031571"/>
            </a:xfrm>
          </p:grpSpPr>
          <p:sp>
            <p:nvSpPr>
              <p:cNvPr id="20" name="Retângulo 19">
                <a:extLst>
                  <a:ext uri="{FF2B5EF4-FFF2-40B4-BE49-F238E27FC236}">
                    <a16:creationId xmlns:a16="http://schemas.microsoft.com/office/drawing/2014/main" xmlns="" id="{C94DB9DA-6651-67B4-2FCB-6138D2059179}"/>
                  </a:ext>
                </a:extLst>
              </p:cNvPr>
              <p:cNvSpPr/>
              <p:nvPr/>
            </p:nvSpPr>
            <p:spPr>
              <a:xfrm>
                <a:off x="425788" y="3029858"/>
                <a:ext cx="463575" cy="1935842"/>
              </a:xfrm>
              <a:prstGeom prst="rect">
                <a:avLst/>
              </a:prstGeom>
              <a:solidFill>
                <a:schemeClr val="accent1">
                  <a:alpha val="41000"/>
                </a:schemeClr>
              </a:solidFill>
              <a:ln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8" name="Rectangle 12">
                <a:extLst>
                  <a:ext uri="{FF2B5EF4-FFF2-40B4-BE49-F238E27FC236}">
                    <a16:creationId xmlns:a16="http://schemas.microsoft.com/office/drawing/2014/main" xmlns="" id="{5707A7FC-2643-5BF6-4ADB-DCD3B83DF68F}"/>
                  </a:ext>
                </a:extLst>
              </p:cNvPr>
              <p:cNvSpPr/>
              <p:nvPr/>
            </p:nvSpPr>
            <p:spPr>
              <a:xfrm>
                <a:off x="1361788" y="3029857"/>
                <a:ext cx="1216819" cy="84908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Modelo de ML</a:t>
                </a:r>
                <a:br>
                  <a:rPr lang="pt-BR" dirty="0">
                    <a:solidFill>
                      <a:schemeClr val="tx1"/>
                    </a:solidFill>
                  </a:rPr>
                </a:br>
                <a:r>
                  <a:rPr lang="pt-BR" sz="1200" dirty="0">
                    <a:solidFill>
                      <a:schemeClr val="tx1"/>
                    </a:solidFill>
                  </a:rPr>
                  <a:t>(e.g., polinômio)</a:t>
                </a:r>
                <a:endParaRPr lang="pt-BR" sz="16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" name="Straight Arrow Connector 14">
                <a:extLst>
                  <a:ext uri="{FF2B5EF4-FFF2-40B4-BE49-F238E27FC236}">
                    <a16:creationId xmlns:a16="http://schemas.microsoft.com/office/drawing/2014/main" xmlns="" id="{71024B44-4FCA-AB48-FD6A-BC22BAF1FE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3787" y="3471233"/>
                <a:ext cx="468000" cy="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Arrow Connector 14">
                <a:extLst>
                  <a:ext uri="{FF2B5EF4-FFF2-40B4-BE49-F238E27FC236}">
                    <a16:creationId xmlns:a16="http://schemas.microsoft.com/office/drawing/2014/main" xmlns="" id="{AFAD5EB5-BD73-1AA8-2DE8-86B253D42465}"/>
                  </a:ext>
                </a:extLst>
              </p:cNvPr>
              <p:cNvCxnSpPr>
                <a:cxnSpLocks/>
                <a:stCxn id="8" idx="3"/>
                <a:endCxn id="12" idx="1"/>
              </p:cNvCxnSpPr>
              <p:nvPr/>
            </p:nvCxnSpPr>
            <p:spPr>
              <a:xfrm>
                <a:off x="2578607" y="3454400"/>
                <a:ext cx="840366" cy="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Rectangle 12">
                <a:extLst>
                  <a:ext uri="{FF2B5EF4-FFF2-40B4-BE49-F238E27FC236}">
                    <a16:creationId xmlns:a16="http://schemas.microsoft.com/office/drawing/2014/main" xmlns="" id="{70B31B89-FB10-2FE0-309F-D08BB4008A71}"/>
                  </a:ext>
                </a:extLst>
              </p:cNvPr>
              <p:cNvSpPr/>
              <p:nvPr/>
            </p:nvSpPr>
            <p:spPr>
              <a:xfrm>
                <a:off x="3418973" y="3029857"/>
                <a:ext cx="1216818" cy="84908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Função de erro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CaixaDeTexto 12">
                    <a:extLst>
                      <a:ext uri="{FF2B5EF4-FFF2-40B4-BE49-F238E27FC236}">
                        <a16:creationId xmlns:a16="http://schemas.microsoft.com/office/drawing/2014/main" xmlns="" id="{37A5E096-7B54-8ADE-2BF6-C2E99C2CDB1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36587" y="3162012"/>
                    <a:ext cx="467999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pt-BR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oMath>
                      </m:oMathPara>
                    </a14:m>
                    <a:endParaRPr lang="pt-BR" sz="2400" b="1" dirty="0"/>
                  </a:p>
                </p:txBody>
              </p:sp>
            </mc:Choice>
            <mc:Fallback xmlns="">
              <p:sp>
                <p:nvSpPr>
                  <p:cNvPr id="13" name="CaixaDeTexto 12">
                    <a:extLst>
                      <a:ext uri="{FF2B5EF4-FFF2-40B4-BE49-F238E27FC236}">
                        <a16:creationId xmlns:a16="http://schemas.microsoft.com/office/drawing/2014/main" id="{37A5E096-7B54-8ADE-2BF6-C2E99C2CDB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36587" y="3162012"/>
                    <a:ext cx="467999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CaixaDeTexto 13">
                    <a:extLst>
                      <a:ext uri="{FF2B5EF4-FFF2-40B4-BE49-F238E27FC236}">
                        <a16:creationId xmlns:a16="http://schemas.microsoft.com/office/drawing/2014/main" xmlns="" id="{6AFC799D-58CB-E1E2-0D69-3033A3F2056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25788" y="4367212"/>
                    <a:ext cx="467999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pt-BR" sz="24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oMath>
                      </m:oMathPara>
                    </a14:m>
                    <a:endParaRPr lang="pt-BR" sz="2400" b="1" i="1" dirty="0"/>
                  </a:p>
                </p:txBody>
              </p:sp>
            </mc:Choice>
            <mc:Fallback xmlns="">
              <p:sp>
                <p:nvSpPr>
                  <p:cNvPr id="14" name="CaixaDeTexto 13">
                    <a:extLst>
                      <a:ext uri="{FF2B5EF4-FFF2-40B4-BE49-F238E27FC236}">
                        <a16:creationId xmlns:a16="http://schemas.microsoft.com/office/drawing/2014/main" id="{6AFC799D-58CB-E1E2-0D69-3033A3F205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25788" y="4367212"/>
                    <a:ext cx="467999" cy="46166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12000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CaixaDeTexto 14">
                    <a:extLst>
                      <a:ext uri="{FF2B5EF4-FFF2-40B4-BE49-F238E27FC236}">
                        <a16:creationId xmlns:a16="http://schemas.microsoft.com/office/drawing/2014/main" xmlns="" id="{50292170-E093-D561-BEDB-71584050F29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578604" y="2978956"/>
                    <a:ext cx="801039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oMath>
                      </m:oMathPara>
                    </a14:m>
                    <a:endParaRPr lang="pt-BR" sz="2400" dirty="0"/>
                  </a:p>
                </p:txBody>
              </p:sp>
            </mc:Choice>
            <mc:Fallback xmlns="">
              <p:sp>
                <p:nvSpPr>
                  <p:cNvPr id="15" name="CaixaDeTexto 14">
                    <a:extLst>
                      <a:ext uri="{FF2B5EF4-FFF2-40B4-BE49-F238E27FC236}">
                        <a16:creationId xmlns:a16="http://schemas.microsoft.com/office/drawing/2014/main" id="{50292170-E093-D561-BEDB-71584050F29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578604" y="2978956"/>
                    <a:ext cx="801039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3947" r="-21970" b="-1052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6" name="Conector: Angulado 15">
                <a:extLst>
                  <a:ext uri="{FF2B5EF4-FFF2-40B4-BE49-F238E27FC236}">
                    <a16:creationId xmlns:a16="http://schemas.microsoft.com/office/drawing/2014/main" xmlns="" id="{B009E62F-DEAF-CE49-8684-D2F3889690CD}"/>
                  </a:ext>
                </a:extLst>
              </p:cNvPr>
              <p:cNvCxnSpPr>
                <a:cxnSpLocks/>
                <a:stCxn id="14" idx="1"/>
                <a:endCxn id="12" idx="2"/>
              </p:cNvCxnSpPr>
              <p:nvPr/>
            </p:nvCxnSpPr>
            <p:spPr>
              <a:xfrm flipV="1">
                <a:off x="893787" y="3878943"/>
                <a:ext cx="3133595" cy="71910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Conector: Angulado 16">
                <a:extLst>
                  <a:ext uri="{FF2B5EF4-FFF2-40B4-BE49-F238E27FC236}">
                    <a16:creationId xmlns:a16="http://schemas.microsoft.com/office/drawing/2014/main" xmlns="" id="{F90DC347-B7E4-3023-60C7-1C8283B3C88E}"/>
                  </a:ext>
                </a:extLst>
              </p:cNvPr>
              <p:cNvCxnSpPr>
                <a:cxnSpLocks/>
                <a:stCxn id="12" idx="3"/>
              </p:cNvCxnSpPr>
              <p:nvPr/>
            </p:nvCxnSpPr>
            <p:spPr>
              <a:xfrm flipH="1" flipV="1">
                <a:off x="2662503" y="2378075"/>
                <a:ext cx="1973288" cy="1076325"/>
              </a:xfrm>
              <a:prstGeom prst="bentConnector3">
                <a:avLst>
                  <a:gd name="adj1" fmla="val -11585"/>
                </a:avLst>
              </a:prstGeom>
              <a:ln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ector reto 17">
                <a:extLst>
                  <a:ext uri="{FF2B5EF4-FFF2-40B4-BE49-F238E27FC236}">
                    <a16:creationId xmlns:a16="http://schemas.microsoft.com/office/drawing/2014/main" xmlns="" id="{29EF8501-71B8-2FB0-7ED2-028287A0A5BB}"/>
                  </a:ext>
                </a:extLst>
              </p:cNvPr>
              <p:cNvCxnSpPr/>
              <p:nvPr/>
            </p:nvCxnSpPr>
            <p:spPr>
              <a:xfrm flipH="1">
                <a:off x="1450107" y="2378075"/>
                <a:ext cx="1212396" cy="1743075"/>
              </a:xfrm>
              <a:prstGeom prst="line">
                <a:avLst/>
              </a:prstGeom>
              <a:ln>
                <a:prstDash val="dash"/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xmlns="" id="{2B889678-B98C-9E1D-C61A-60F719853781}"/>
                  </a:ext>
                </a:extLst>
              </p:cNvPr>
              <p:cNvSpPr txBox="1"/>
              <p:nvPr/>
            </p:nvSpPr>
            <p:spPr>
              <a:xfrm>
                <a:off x="841698" y="4084657"/>
                <a:ext cx="132183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Ajuste dos pesos do modelo</a:t>
                </a:r>
              </a:p>
            </p:txBody>
          </p:sp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xmlns="" id="{D4DEEE4B-BFB7-7180-B620-019C107089CA}"/>
                  </a:ext>
                </a:extLst>
              </p:cNvPr>
              <p:cNvSpPr txBox="1"/>
              <p:nvPr/>
            </p:nvSpPr>
            <p:spPr>
              <a:xfrm>
                <a:off x="157187" y="4947981"/>
                <a:ext cx="10474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Conjunto de treinamento</a:t>
                </a:r>
              </a:p>
            </p:txBody>
          </p:sp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xmlns="" id="{CB35AE44-A8A6-55E4-AF7C-6D1B1C22FD76}"/>
                  </a:ext>
                </a:extLst>
              </p:cNvPr>
              <p:cNvSpPr txBox="1"/>
              <p:nvPr/>
            </p:nvSpPr>
            <p:spPr>
              <a:xfrm>
                <a:off x="2578607" y="3490140"/>
                <a:ext cx="840365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predição</a:t>
                </a:r>
              </a:p>
            </p:txBody>
          </p:sp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xmlns="" id="{253F27F5-AE53-A49B-F8E5-AF810876A343}"/>
                  </a:ext>
                </a:extLst>
              </p:cNvPr>
              <p:cNvSpPr txBox="1"/>
              <p:nvPr/>
            </p:nvSpPr>
            <p:spPr>
              <a:xfrm>
                <a:off x="4611210" y="3440621"/>
                <a:ext cx="454917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erro</a:t>
                </a:r>
              </a:p>
            </p:txBody>
          </p:sp>
        </p:grp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xmlns="" id="{C18E8975-8592-CC3B-612B-6E6728CAA35F}"/>
                </a:ext>
              </a:extLst>
            </p:cNvPr>
            <p:cNvSpPr txBox="1"/>
            <p:nvPr/>
          </p:nvSpPr>
          <p:spPr>
            <a:xfrm>
              <a:off x="2848216" y="1658935"/>
              <a:ext cx="2209559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b="1" i="1" dirty="0">
                  <a:solidFill>
                    <a:schemeClr val="accent2"/>
                  </a:solidFill>
                </a:rPr>
                <a:t>Indicação para onde deve-se caminhar </a:t>
              </a:r>
              <a:r>
                <a:rPr lang="pt-BR" sz="1100" dirty="0"/>
                <a:t>no espaço de hipóteses para que o erro seja minimizado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59138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27CA9BC-BDB8-0017-DAF6-E2CF307E3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encontrar os pesos ótimos?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DE0FC8F8-ADC7-A068-C2BC-465BFAC99D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90514" cy="5032375"/>
              </a:xfrm>
            </p:spPr>
            <p:txBody>
              <a:bodyPr/>
              <a:lstStyle/>
              <a:p>
                <a:r>
                  <a:rPr lang="pt-BR" dirty="0"/>
                  <a:t>Existem dois caminhos principais para se encontrar o </a:t>
                </a:r>
                <a:r>
                  <a:rPr lang="pt-BR" b="1" dirty="0">
                    <a:solidFill>
                      <a:srgbClr val="00B050"/>
                    </a:solidFill>
                  </a:rPr>
                  <a:t>conjunto de pesos ótimo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b="1" dirty="0" err="1"/>
                  <a:t>Equação</a:t>
                </a:r>
                <a:r>
                  <a:rPr lang="en-US" b="1" dirty="0"/>
                  <a:t> normal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conhecido</a:t>
                </a:r>
                <a:r>
                  <a:rPr lang="en-US" dirty="0"/>
                  <a:t> </a:t>
                </a:r>
                <a:r>
                  <a:rPr lang="en-US" dirty="0" err="1"/>
                  <a:t>como</a:t>
                </a:r>
                <a:r>
                  <a:rPr lang="en-US" dirty="0"/>
                  <a:t> </a:t>
                </a:r>
                <a:r>
                  <a:rPr lang="en-US" dirty="0" err="1"/>
                  <a:t>método</a:t>
                </a:r>
                <a:r>
                  <a:rPr lang="en-US" dirty="0"/>
                  <a:t> dos </a:t>
                </a:r>
                <a:r>
                  <a:rPr lang="en-US" dirty="0" err="1"/>
                  <a:t>mínimos</a:t>
                </a:r>
                <a:r>
                  <a:rPr lang="en-US" dirty="0"/>
                  <a:t> </a:t>
                </a:r>
                <a:r>
                  <a:rPr lang="en-US" dirty="0" err="1"/>
                  <a:t>quadrados</a:t>
                </a:r>
                <a:r>
                  <a:rPr lang="en-US" dirty="0"/>
                  <a:t> </a:t>
                </a:r>
                <a:r>
                  <a:rPr lang="en-US" dirty="0" err="1"/>
                  <a:t>ordinários</a:t>
                </a:r>
                <a:r>
                  <a:rPr lang="en-US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en-US" dirty="0"/>
                  <a:t>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dirty="0" err="1"/>
                  <a:t>solução</a:t>
                </a:r>
                <a:r>
                  <a:rPr lang="en-US" dirty="0"/>
                  <a:t> </a:t>
                </a:r>
                <a:r>
                  <a:rPr lang="en-US" dirty="0" err="1"/>
                  <a:t>analítica</a:t>
                </a:r>
                <a:r>
                  <a:rPr lang="en-US" dirty="0"/>
                  <a:t>.</a:t>
                </a:r>
                <a:endParaRPr lang="pt-BR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É uma abordagem puramente algébrica, resultando em uma equação fechada.</a:t>
                </a:r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opt</m:t>
                          </m:r>
                        </m:sub>
                      </m:sSub>
                      <m:r>
                        <a:rPr lang="pt-BR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</m:e>
                          </m:d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pt-BR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Encontra a solução ótima de uma única vez.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b="1" dirty="0" err="1"/>
                  <a:t>Gradiente</a:t>
                </a:r>
                <a:r>
                  <a:rPr lang="en-US" b="1" dirty="0"/>
                  <a:t> </a:t>
                </a:r>
                <a:r>
                  <a:rPr lang="en-US" b="1" dirty="0" err="1"/>
                  <a:t>descendente</a:t>
                </a:r>
                <a:endParaRPr lang="en-US" b="1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en-US" dirty="0"/>
                  <a:t>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dirty="0" err="1"/>
                  <a:t>otimização</a:t>
                </a:r>
                <a:r>
                  <a:rPr lang="en-US" dirty="0"/>
                  <a:t> </a:t>
                </a:r>
                <a:r>
                  <a:rPr lang="en-US" dirty="0" err="1"/>
                  <a:t>iterativa</a:t>
                </a:r>
                <a:r>
                  <a:rPr lang="en-US" dirty="0"/>
                  <a:t>.</a:t>
                </a:r>
                <a:endParaRPr lang="pt-BR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O modelo aprende os pesos "passo a passo".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Pode não encontrar a solução ótima, devido a vários fatores (e.g., passo de aprendizagem, sobreajuste/subajuste, número de iterações, etc.)</a:t>
                </a:r>
              </a:p>
              <a:p>
                <a:pPr marL="914400" lvl="2" indent="0">
                  <a:buNone/>
                </a:pPr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0FC8F8-ADC7-A068-C2BC-465BFAC99D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90514" cy="5032375"/>
              </a:xfrm>
              <a:blipFill>
                <a:blip r:embed="rId2"/>
                <a:stretch>
                  <a:fillRect l="-98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61373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D8226F9-1BF6-0C19-88C6-7B4563BEB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Comparativo das abordagens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xmlns="" id="{9F89DE01-7C6C-8A47-35FC-16E58BA14EA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122598902"/>
                  </p:ext>
                </p:extLst>
              </p:nvPr>
            </p:nvGraphicFramePr>
            <p:xfrm>
              <a:off x="241041" y="1690688"/>
              <a:ext cx="11709918" cy="4297680"/>
            </p:xfrm>
            <a:graphic>
              <a:graphicData uri="http://schemas.openxmlformats.org/drawingml/2006/table">
                <a:tbl>
                  <a:tblPr/>
                  <a:tblGrid>
                    <a:gridCol w="2008663">
                      <a:extLst>
                        <a:ext uri="{9D8B030D-6E8A-4147-A177-3AD203B41FA5}">
                          <a16:colId xmlns:a16="http://schemas.microsoft.com/office/drawing/2014/main" xmlns="" val="2676689337"/>
                        </a:ext>
                      </a:extLst>
                    </a:gridCol>
                    <a:gridCol w="4742847">
                      <a:extLst>
                        <a:ext uri="{9D8B030D-6E8A-4147-A177-3AD203B41FA5}">
                          <a16:colId xmlns:a16="http://schemas.microsoft.com/office/drawing/2014/main" xmlns="" val="921422884"/>
                        </a:ext>
                      </a:extLst>
                    </a:gridCol>
                    <a:gridCol w="4958408">
                      <a:extLst>
                        <a:ext uri="{9D8B030D-6E8A-4147-A177-3AD203B41FA5}">
                          <a16:colId xmlns:a16="http://schemas.microsoft.com/office/drawing/2014/main" xmlns="" val="4252031962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Característica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Gradiente descendente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Equação normal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190408308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Tipo</a:t>
                          </a:r>
                          <a:endParaRPr lang="pt-BR" sz="2000" noProof="0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Algorítmico/Iterativo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Analítico/Direto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208541506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Complexidade</a:t>
                          </a:r>
                          <a:endParaRPr lang="pt-BR" sz="2000" noProof="0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2000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000" b="0" i="1" noProof="0" smtClean="0">
                                        <a:latin typeface="Cambria Math" panose="02040503050406030204" pitchFamily="18" charset="0"/>
                                      </a:rPr>
                                      <m:t>𝑂</m:t>
                                    </m:r>
                                    <m:r>
                                      <a:rPr lang="pt-BR" sz="2000" b="0" i="1" noProof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sz="2000" b="0" i="1" noProof="0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  <m:sSup>
                                      <m:sSupPr>
                                        <m:ctrlPr>
                                          <a:rPr lang="pt-BR" sz="2000" b="0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000" b="0" i="1" noProof="0" smtClean="0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e>
                                      <m:sup>
                                        <m:r>
                                          <a:rPr lang="pt-BR" sz="2000" b="0" i="1" noProof="0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pt-BR" sz="2000" b="0" i="1" noProof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sz="2000" b="0" i="1" noProof="0" smtClean="0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2000" noProof="0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2000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000" b="0" i="1" noProof="0" smtClean="0">
                                        <a:latin typeface="Cambria Math" panose="02040503050406030204" pitchFamily="18" charset="0"/>
                                      </a:rPr>
                                      <m:t>𝑂</m:t>
                                    </m:r>
                                    <m:d>
                                      <m:dPr>
                                        <m:ctrlPr>
                                          <a:rPr lang="pt-BR" sz="2000" b="0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p>
                                          <m:sSupPr>
                                            <m:ctrlPr>
                                              <a:rPr lang="pt-BR" sz="2000" b="0" i="1" noProof="0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pt-BR" sz="2000" b="0" i="1" noProof="0" smtClean="0">
                                                <a:latin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</m:e>
                                          <m:sup>
                                            <m:r>
                                              <a:rPr lang="pt-BR" sz="2000" b="0" i="1" noProof="0" smtClean="0">
                                                <a:latin typeface="Cambria Math" panose="02040503050406030204" pitchFamily="18" charset="0"/>
                                              </a:rPr>
                                              <m:t>3</m:t>
                                            </m:r>
                                          </m:sup>
                                        </m:sSup>
                                      </m:e>
                                    </m:d>
                                  </m:e>
                                  <m:sup>
                                    <m:r>
                                      <a:rPr lang="pt-BR" sz="2000" b="0" i="1" noProof="0" smtClean="0">
                                        <a:latin typeface="Cambria Math" panose="02040503050406030204" pitchFamily="18" charset="0"/>
                                      </a:rPr>
                                      <m:t>∗∗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2000" noProof="0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358538524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Escalabilidade</a:t>
                          </a:r>
                          <a:endParaRPr lang="pt-BR" sz="2000" noProof="0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Alta (lida bem com milhões de dados)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Baixa (lenta para muitas variáveis)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3293643069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Parâmetros</a:t>
                          </a:r>
                          <a:endParaRPr lang="pt-BR" sz="2000" noProof="0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Exige ajuste de </a:t>
                          </a:r>
                          <a14:m>
                            <m:oMath xmlns:m="http://schemas.openxmlformats.org/officeDocument/2006/math">
                              <m:r>
                                <a:rPr lang="pt-BR" sz="200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pt-BR" sz="2000" noProof="0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Nenhum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287432988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Uso principal</a:t>
                          </a:r>
                          <a:endParaRPr lang="pt-BR" sz="2000" noProof="0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Regressão linear e logística/Redes neurais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Estatística clássica/</a:t>
                          </a:r>
                          <a:r>
                            <a:rPr lang="pt-BR" sz="2000" i="1" noProof="0" dirty="0" err="1">
                              <a:latin typeface="+mn-lt"/>
                            </a:rPr>
                            <a:t>Datasets</a:t>
                          </a:r>
                          <a:r>
                            <a:rPr lang="pt-BR" sz="2000" noProof="0" dirty="0">
                              <a:latin typeface="+mn-lt"/>
                            </a:rPr>
                            <a:t> pequenos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1234521875"/>
                      </a:ext>
                    </a:extLst>
                  </a:tr>
                  <a:tr h="3928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Observações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342900" indent="-342900" algn="l">
                            <a:buFont typeface="Arial" panose="020B0604020202020204" pitchFamily="34" charset="0"/>
                            <a:buChar char="•"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Pode exigir muitas iterações para convergir.</a:t>
                          </a:r>
                        </a:p>
                        <a:p>
                          <a:pPr marL="342900" indent="-342900" algn="l">
                            <a:buFont typeface="Arial" panose="020B0604020202020204" pitchFamily="34" charset="0"/>
                            <a:buChar char="•"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A função de erro deve ser </a:t>
                          </a:r>
                          <a:r>
                            <a:rPr lang="pt-BR" sz="2000" noProof="0" dirty="0" err="1" smtClean="0">
                              <a:latin typeface="+mn-lt"/>
                            </a:rPr>
                            <a:t>diferenciável</a:t>
                          </a:r>
                          <a:r>
                            <a:rPr lang="pt-BR" sz="2000" noProof="0" dirty="0" smtClean="0">
                              <a:latin typeface="+mn-lt"/>
                            </a:rPr>
                            <a:t>.</a:t>
                          </a:r>
                        </a:p>
                        <a:p>
                          <a:pPr marL="342900" indent="-342900" algn="l">
                            <a:buFont typeface="Arial" panose="020B0604020202020204" pitchFamily="34" charset="0"/>
                            <a:buChar char="•"/>
                          </a:pPr>
                          <a:r>
                            <a:rPr lang="pt-BR" sz="2000" b="0" i="0" noProof="0" dirty="0" smtClean="0">
                              <a:solidFill>
                                <a:schemeClr val="tx1"/>
                              </a:solidFill>
                              <a:latin typeface="+mn-lt"/>
                            </a:rPr>
                            <a:t>C</a:t>
                          </a:r>
                          <a:r>
                            <a:rPr lang="pt-BR" sz="2000" b="0" i="0" dirty="0" err="1" smtClean="0">
                              <a:solidFill>
                                <a:schemeClr val="tx1"/>
                              </a:solidFill>
                            </a:rPr>
                            <a:t>omplexidade</a:t>
                          </a:r>
                          <a:r>
                            <a:rPr lang="pt-BR" sz="2000" b="0" i="0" dirty="0" smtClean="0">
                              <a:solidFill>
                                <a:schemeClr val="tx1"/>
                              </a:solidFill>
                            </a:rPr>
                            <a:t> computacional ajustável</a:t>
                          </a:r>
                          <a:r>
                            <a:rPr lang="pt-BR" sz="2000" b="0" i="0" baseline="0" dirty="0" smtClean="0">
                              <a:solidFill>
                                <a:schemeClr val="tx1"/>
                              </a:solidFill>
                            </a:rPr>
                            <a:t> à </a:t>
                          </a:r>
                          <a:r>
                            <a:rPr lang="pt-BR" sz="2000" b="0" i="0" noProof="0" dirty="0" smtClean="0">
                              <a:solidFill>
                                <a:schemeClr val="tx1"/>
                              </a:solidFill>
                              <a:latin typeface="+mn-lt"/>
                            </a:rPr>
                            <a:t>quantidade </a:t>
                          </a:r>
                          <a:r>
                            <a:rPr lang="pt-BR" sz="2000" b="0" i="0" noProof="0" dirty="0">
                              <a:solidFill>
                                <a:schemeClr val="tx1"/>
                              </a:solidFill>
                              <a:latin typeface="+mn-lt"/>
                            </a:rPr>
                            <a:t>de memória </a:t>
                          </a:r>
                          <a:r>
                            <a:rPr lang="pt-BR" sz="2000" b="0" i="0" noProof="0" dirty="0" smtClean="0">
                              <a:solidFill>
                                <a:schemeClr val="tx1"/>
                              </a:solidFill>
                              <a:latin typeface="+mn-lt"/>
                            </a:rPr>
                            <a:t>e recursos disponíveis.</a:t>
                          </a:r>
                          <a:endParaRPr lang="pt-BR" sz="2000" b="0" i="0" noProof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342900" indent="-342900" algn="l">
                            <a:buFont typeface="Arial" panose="020B0604020202020204" pitchFamily="34" charset="0"/>
                            <a:buChar char="•"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Não encontra solução para modelos puramente não lineares (e.g., redes neurais).</a:t>
                          </a:r>
                        </a:p>
                        <a:p>
                          <a:pPr marL="342900" indent="-342900" algn="l">
                            <a:buFont typeface="Arial" panose="020B0604020202020204" pitchFamily="34" charset="0"/>
                            <a:buChar char="•"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Consome</a:t>
                          </a:r>
                          <a:r>
                            <a:rPr lang="pt-BR" sz="2000" baseline="0" noProof="0" dirty="0">
                              <a:latin typeface="+mn-lt"/>
                            </a:rPr>
                            <a:t> muita memória s</a:t>
                          </a:r>
                          <a:r>
                            <a:rPr lang="pt-BR" sz="2000" noProof="0" dirty="0">
                              <a:latin typeface="+mn-lt"/>
                            </a:rPr>
                            <a:t>e </a:t>
                          </a:r>
                          <a14:m>
                            <m:oMath xmlns:m="http://schemas.openxmlformats.org/officeDocument/2006/math">
                              <m:r>
                                <a:rPr lang="pt-BR" sz="2000" b="0" i="1" noProof="0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r>
                            <a:rPr lang="pt-BR" sz="2000" noProof="0" dirty="0">
                              <a:latin typeface="+mn-lt"/>
                            </a:rPr>
                            <a:t> e </a:t>
                          </a:r>
                          <a14:m>
                            <m:oMath xmlns:m="http://schemas.openxmlformats.org/officeDocument/2006/math">
                              <m:r>
                                <a:rPr lang="pt-BR" sz="2000" b="0" i="1" noProof="0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r>
                            <a:rPr lang="pt-BR" sz="2000" noProof="0" dirty="0">
                              <a:latin typeface="+mn-lt"/>
                            </a:rPr>
                            <a:t> são muito</a:t>
                          </a:r>
                          <a:r>
                            <a:rPr lang="pt-BR" sz="2000" baseline="0" noProof="0" dirty="0">
                              <a:latin typeface="+mn-lt"/>
                            </a:rPr>
                            <a:t> grandes.</a:t>
                          </a:r>
                          <a:endParaRPr lang="pt-BR" sz="2000" noProof="0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207040033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F89DE01-7C6C-8A47-35FC-16E58BA14EA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122598902"/>
                  </p:ext>
                </p:extLst>
              </p:nvPr>
            </p:nvGraphicFramePr>
            <p:xfrm>
              <a:off x="241041" y="1690688"/>
              <a:ext cx="11709918" cy="4297680"/>
            </p:xfrm>
            <a:graphic>
              <a:graphicData uri="http://schemas.openxmlformats.org/drawingml/2006/table">
                <a:tbl>
                  <a:tblPr/>
                  <a:tblGrid>
                    <a:gridCol w="2008663">
                      <a:extLst>
                        <a:ext uri="{9D8B030D-6E8A-4147-A177-3AD203B41FA5}">
                          <a16:colId xmlns:a16="http://schemas.microsoft.com/office/drawing/2014/main" xmlns:a14="http://schemas.microsoft.com/office/drawing/2010/main" xmlns="" val="2676689337"/>
                        </a:ext>
                      </a:extLst>
                    </a:gridCol>
                    <a:gridCol w="4742847">
                      <a:extLst>
                        <a:ext uri="{9D8B030D-6E8A-4147-A177-3AD203B41FA5}">
                          <a16:colId xmlns:a16="http://schemas.microsoft.com/office/drawing/2014/main" xmlns:a14="http://schemas.microsoft.com/office/drawing/2010/main" xmlns="" val="921422884"/>
                        </a:ext>
                      </a:extLst>
                    </a:gridCol>
                    <a:gridCol w="4958408">
                      <a:extLst>
                        <a:ext uri="{9D8B030D-6E8A-4147-A177-3AD203B41FA5}">
                          <a16:colId xmlns:a16="http://schemas.microsoft.com/office/drawing/2014/main" xmlns:a14="http://schemas.microsoft.com/office/drawing/2010/main" xmlns="" val="4252031962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Característica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Gradiente descendente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Equação normal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xmlns:a14="http://schemas.microsoft.com/office/drawing/2010/main" xmlns="" val="1904083088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Tipo</a:t>
                          </a:r>
                          <a:endParaRPr lang="pt-BR" sz="2000" noProof="0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Algorítmico/Iterativo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Analítico/Direto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xmlns:a14="http://schemas.microsoft.com/office/drawing/2010/main" xmlns="" val="2085415063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Complexidade</a:t>
                          </a:r>
                          <a:endParaRPr lang="pt-BR" sz="2000" noProof="0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42545" t="-207692" r="-104884" b="-8123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136241" t="-207692" r="-246" b="-81230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xmlns:a14="http://schemas.microsoft.com/office/drawing/2010/main" xmlns="" val="3585385241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Escalabilidade</a:t>
                          </a:r>
                          <a:endParaRPr lang="pt-BR" sz="2000" noProof="0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Alta (lida bem com milhões de dados)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Baixa (lenta para muitas variáveis)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xmlns:a14="http://schemas.microsoft.com/office/drawing/2010/main" xmlns="" val="3293643069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Parâmetros</a:t>
                          </a:r>
                          <a:endParaRPr lang="pt-BR" sz="2000" noProof="0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42545" t="-407692" r="-104884" b="-6123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Nenhum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xmlns:a14="http://schemas.microsoft.com/office/drawing/2010/main" xmlns="" val="2874329883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Uso principal</a:t>
                          </a:r>
                          <a:endParaRPr lang="pt-BR" sz="2000" noProof="0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Regressão linear e logística/Redes neurais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Estatística clássica/</a:t>
                          </a:r>
                          <a:r>
                            <a:rPr lang="pt-BR" sz="2000" i="1" noProof="0" dirty="0" err="1">
                              <a:latin typeface="+mn-lt"/>
                            </a:rPr>
                            <a:t>Datasets</a:t>
                          </a:r>
                          <a:r>
                            <a:rPr lang="pt-BR" sz="2000" noProof="0" dirty="0">
                              <a:latin typeface="+mn-lt"/>
                            </a:rPr>
                            <a:t> pequenos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xmlns:a14="http://schemas.microsoft.com/office/drawing/2010/main" xmlns="" val="1234521875"/>
                      </a:ext>
                    </a:extLst>
                  </a:tr>
                  <a:tr h="192024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Observações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342900" indent="-342900" algn="l">
                            <a:buFont typeface="Arial" panose="020B0604020202020204" pitchFamily="34" charset="0"/>
                            <a:buChar char="•"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Pode exigir muitas iterações para convergir.</a:t>
                          </a:r>
                        </a:p>
                        <a:p>
                          <a:pPr marL="342900" indent="-342900" algn="l">
                            <a:buFont typeface="Arial" panose="020B0604020202020204" pitchFamily="34" charset="0"/>
                            <a:buChar char="•"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A função de erro deve ser </a:t>
                          </a:r>
                          <a:r>
                            <a:rPr lang="pt-BR" sz="2000" noProof="0" dirty="0" err="1" smtClean="0">
                              <a:latin typeface="+mn-lt"/>
                            </a:rPr>
                            <a:t>diferenciável</a:t>
                          </a:r>
                          <a:r>
                            <a:rPr lang="pt-BR" sz="2000" noProof="0" dirty="0" smtClean="0">
                              <a:latin typeface="+mn-lt"/>
                            </a:rPr>
                            <a:t>.</a:t>
                          </a:r>
                        </a:p>
                        <a:p>
                          <a:pPr marL="342900" indent="-342900" algn="l">
                            <a:buFont typeface="Arial" panose="020B0604020202020204" pitchFamily="34" charset="0"/>
                            <a:buChar char="•"/>
                          </a:pPr>
                          <a:r>
                            <a:rPr lang="pt-BR" sz="2000" b="0" i="0" noProof="0" dirty="0" smtClean="0">
                              <a:solidFill>
                                <a:schemeClr val="tx1"/>
                              </a:solidFill>
                              <a:latin typeface="+mn-lt"/>
                            </a:rPr>
                            <a:t>C</a:t>
                          </a:r>
                          <a:r>
                            <a:rPr lang="pt-BR" sz="2000" b="0" i="0" dirty="0" err="1" smtClean="0">
                              <a:solidFill>
                                <a:schemeClr val="tx1"/>
                              </a:solidFill>
                            </a:rPr>
                            <a:t>omplexidade</a:t>
                          </a:r>
                          <a:r>
                            <a:rPr lang="pt-BR" sz="2000" b="0" i="0" dirty="0" smtClean="0">
                              <a:solidFill>
                                <a:schemeClr val="tx1"/>
                              </a:solidFill>
                            </a:rPr>
                            <a:t> computacional ajustável</a:t>
                          </a:r>
                          <a:r>
                            <a:rPr lang="pt-BR" sz="2000" b="0" i="0" baseline="0" dirty="0" smtClean="0">
                              <a:solidFill>
                                <a:schemeClr val="tx1"/>
                              </a:solidFill>
                            </a:rPr>
                            <a:t> à </a:t>
                          </a:r>
                          <a:r>
                            <a:rPr lang="pt-BR" sz="2000" b="0" i="0" noProof="0" dirty="0" smtClean="0">
                              <a:solidFill>
                                <a:schemeClr val="tx1"/>
                              </a:solidFill>
                              <a:latin typeface="+mn-lt"/>
                            </a:rPr>
                            <a:t>quantidade </a:t>
                          </a:r>
                          <a:r>
                            <a:rPr lang="pt-BR" sz="2000" b="0" i="0" noProof="0" dirty="0">
                              <a:solidFill>
                                <a:schemeClr val="tx1"/>
                              </a:solidFill>
                              <a:latin typeface="+mn-lt"/>
                            </a:rPr>
                            <a:t>de memória </a:t>
                          </a:r>
                          <a:r>
                            <a:rPr lang="pt-BR" sz="2000" b="0" i="0" noProof="0" dirty="0" smtClean="0">
                              <a:solidFill>
                                <a:schemeClr val="tx1"/>
                              </a:solidFill>
                              <a:latin typeface="+mn-lt"/>
                            </a:rPr>
                            <a:t>e recursos disponíveis.</a:t>
                          </a:r>
                          <a:endParaRPr lang="pt-BR" sz="2000" b="0" i="0" noProof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136241" t="-125714" r="-246" b="-53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xmlns:a14="http://schemas.microsoft.com/office/drawing/2010/main" xmlns="" val="207040033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xmlns="" id="{B6ADA1D5-0763-3EF2-0C26-C666D2EF6C89}"/>
                  </a:ext>
                </a:extLst>
              </p:cNvPr>
              <p:cNvSpPr txBox="1"/>
              <p:nvPr/>
            </p:nvSpPr>
            <p:spPr>
              <a:xfrm>
                <a:off x="241041" y="5988368"/>
                <a:ext cx="6096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400" noProof="0" dirty="0"/>
                  <a:t>* </a:t>
                </a:r>
                <a14:m>
                  <m:oMath xmlns:m="http://schemas.openxmlformats.org/officeDocument/2006/math">
                    <m:r>
                      <a:rPr lang="pt-BR" sz="14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pt-BR" sz="1400" dirty="0"/>
                  <a:t> é o número de iterações</a:t>
                </a:r>
                <a:endParaRPr lang="pt-BR" sz="1400" noProof="0" dirty="0"/>
              </a:p>
              <a:p>
                <a:r>
                  <a:rPr lang="pt-BR" sz="1400" dirty="0"/>
                  <a:t>** </a:t>
                </a:r>
                <a:r>
                  <a:rPr lang="pt-BR" sz="1400" noProof="0" dirty="0"/>
                  <a:t>Complexidade para o cálculo da inversa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400" i="1" noProof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400" b="0" i="1" noProof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pt-BR" sz="1400" b="0" i="1" noProof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sz="1400" b="0" i="1" noProof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1400" noProof="0" dirty="0"/>
                  <a:t> 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B6ADA1D5-0763-3EF2-0C26-C666D2EF6C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041" y="5988368"/>
                <a:ext cx="6096000" cy="523220"/>
              </a:xfrm>
              <a:prstGeom prst="rect">
                <a:avLst/>
              </a:prstGeom>
              <a:blipFill rotWithShape="0">
                <a:blip r:embed="rId3"/>
                <a:stretch>
                  <a:fillRect l="-300" t="-1163" b="-1279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63805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9FA39D5-1A7D-603C-1F90-C3C1D9D9D7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9220"/>
            <a:ext cx="10515600" cy="3259559"/>
          </a:xfrm>
        </p:spPr>
        <p:txBody>
          <a:bodyPr/>
          <a:lstStyle/>
          <a:p>
            <a:pPr marL="0" indent="0" algn="ctr">
              <a:buNone/>
            </a:pPr>
            <a:r>
              <a:rPr lang="pt-BR" sz="5400" i="1" dirty="0"/>
              <a:t>Como o gradiente descendente é a abordagem mais usada </a:t>
            </a:r>
            <a:r>
              <a:rPr lang="pt-BR" sz="5400" i="1" dirty="0" smtClean="0"/>
              <a:t>com grande parte </a:t>
            </a:r>
            <a:r>
              <a:rPr lang="pt-BR" sz="5400" i="1" dirty="0"/>
              <a:t>dos algoritmos de ML, vamos focar no seu aprendizado.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31950105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ED0B404-F3ED-8087-A024-C72B793DE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6D4684C-15AE-EBFA-CC52-BE2B106242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4800" b="1" dirty="0">
                <a:solidFill>
                  <a:srgbClr val="FF0000"/>
                </a:solidFill>
              </a:rPr>
              <a:t>PAREI AQUI!!!!!!!!!!!</a:t>
            </a:r>
            <a:endParaRPr lang="en-US" sz="4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61256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DB225A9-57A2-5D4C-C592-FC96B4AB2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 de erro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84E2E11B-9833-18C1-2157-693893D8C11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01994" y="1825624"/>
                <a:ext cx="679000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Antes de discutirmos como o gradiente </a:t>
                </a:r>
                <a:r>
                  <a:rPr lang="pt-BR" dirty="0" smtClean="0"/>
                  <a:t>descendente </a:t>
                </a:r>
                <a:r>
                  <a:rPr lang="pt-BR" dirty="0"/>
                  <a:t>funciona, precisamos entender o que é a </a:t>
                </a:r>
                <a:r>
                  <a:rPr lang="pt-BR" b="1" dirty="0"/>
                  <a:t>superfície de erro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Ela é </a:t>
                </a:r>
                <a:r>
                  <a:rPr lang="pt-BR" dirty="0"/>
                  <a:t>uma representação geométrica de quão "errado" o nosso modelo está </a:t>
                </a:r>
                <a:r>
                  <a:rPr lang="pt-BR" b="1" dirty="0"/>
                  <a:t>para cada combinação possível de </a:t>
                </a:r>
                <a:r>
                  <a:rPr lang="pt-BR" b="1" dirty="0" smtClean="0"/>
                  <a:t>pesos</a:t>
                </a:r>
                <a:r>
                  <a:rPr lang="pt-BR" dirty="0" smtClean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 −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𝑿𝒂</m:t>
                              </m:r>
                            </m:e>
                          </m:d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pt-BR" dirty="0" smtClean="0"/>
              </a:p>
              <a:p>
                <a:r>
                  <a:rPr lang="pt-BR" dirty="0" smtClean="0"/>
                  <a:t>Quando </a:t>
                </a:r>
                <a:r>
                  <a:rPr lang="pt-BR" dirty="0"/>
                  <a:t>usamos a função </a:t>
                </a:r>
                <a:r>
                  <a:rPr lang="pt-BR" dirty="0" smtClean="0"/>
                  <a:t>do EQM, a </a:t>
                </a:r>
                <a:r>
                  <a:rPr lang="pt-BR" dirty="0"/>
                  <a:t>superfície resultante tem </a:t>
                </a:r>
                <a:r>
                  <a:rPr lang="pt-BR" dirty="0" smtClean="0"/>
                  <a:t>sempre o </a:t>
                </a:r>
                <a:r>
                  <a:rPr lang="pt-BR" dirty="0"/>
                  <a:t>formato de uma </a:t>
                </a:r>
                <a:r>
                  <a:rPr lang="pt-BR" b="1" dirty="0"/>
                  <a:t>tigela</a:t>
                </a:r>
                <a:r>
                  <a:rPr lang="pt-BR" dirty="0"/>
                  <a:t> </a:t>
                </a:r>
                <a:r>
                  <a:rPr lang="pt-BR" dirty="0" smtClean="0"/>
                  <a:t>(i.e., é uma </a:t>
                </a:r>
                <a:r>
                  <a:rPr lang="pt-BR" dirty="0"/>
                  <a:t>superfície convexa</a:t>
                </a:r>
                <a:r>
                  <a:rPr lang="pt-BR" dirty="0" smtClean="0"/>
                  <a:t>).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84E2E11B-9833-18C1-2157-693893D8C1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01994" y="1825624"/>
                <a:ext cx="6790006" cy="5032375"/>
              </a:xfrm>
              <a:blipFill rotWithShape="0">
                <a:blip r:embed="rId2"/>
                <a:stretch>
                  <a:fillRect l="-1616" t="-1937" r="-1795" b="-8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A426D12A-684D-3903-6005-F2BFA77FCF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365" y="1825624"/>
            <a:ext cx="4288193" cy="4257008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1045449" y="6217568"/>
            <a:ext cx="3412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Função hipótese com um atributo.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565492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DB225A9-57A2-5D4C-C592-FC96B4AB2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 de erro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4E2E11B-9833-18C1-2157-693893D8C1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5722" y="1825624"/>
            <a:ext cx="6639951" cy="5032375"/>
          </a:xfrm>
        </p:spPr>
        <p:txBody>
          <a:bodyPr>
            <a:normAutofit/>
          </a:bodyPr>
          <a:lstStyle/>
          <a:p>
            <a:r>
              <a:rPr lang="pt-BR" dirty="0" smtClean="0"/>
              <a:t>O </a:t>
            </a:r>
            <a:r>
              <a:rPr lang="pt-BR" dirty="0"/>
              <a:t>que isso significa na prática?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Existe apenas </a:t>
            </a:r>
            <a:r>
              <a:rPr lang="pt-BR" b="1" dirty="0"/>
              <a:t>um único ponto mais baixo</a:t>
            </a:r>
            <a:r>
              <a:rPr lang="pt-BR" dirty="0"/>
              <a:t> (o </a:t>
            </a:r>
            <a:r>
              <a:rPr lang="pt-BR" dirty="0" smtClean="0"/>
              <a:t>mínimo global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Portanto, não </a:t>
            </a:r>
            <a:r>
              <a:rPr lang="pt-BR" dirty="0"/>
              <a:t>importa onde </a:t>
            </a:r>
            <a:r>
              <a:rPr lang="pt-BR" dirty="0" smtClean="0"/>
              <a:t>valores iniciais são inicializados, o gradiente descendente </a:t>
            </a:r>
            <a:r>
              <a:rPr lang="pt-BR" b="1" dirty="0" smtClean="0"/>
              <a:t>sempre</a:t>
            </a:r>
            <a:r>
              <a:rPr lang="pt-BR" dirty="0" smtClean="0"/>
              <a:t> </a:t>
            </a:r>
            <a:r>
              <a:rPr lang="pt-BR" dirty="0"/>
              <a:t>chegará à melhor solução possível</a:t>
            </a:r>
            <a:r>
              <a:rPr lang="pt-BR" dirty="0" smtClean="0"/>
              <a:t>.</a:t>
            </a:r>
            <a:endParaRPr lang="pt-BR" dirty="0"/>
          </a:p>
        </p:txBody>
      </p:sp>
      <p:grpSp>
        <p:nvGrpSpPr>
          <p:cNvPr id="4" name="Agrupar 4">
            <a:extLst>
              <a:ext uri="{FF2B5EF4-FFF2-40B4-BE49-F238E27FC236}">
                <a16:creationId xmlns:a16="http://schemas.microsoft.com/office/drawing/2014/main" xmlns="" id="{84412B71-A2C7-E89B-BE04-C2E70AB63FB6}"/>
              </a:ext>
            </a:extLst>
          </p:cNvPr>
          <p:cNvGrpSpPr/>
          <p:nvPr/>
        </p:nvGrpSpPr>
        <p:grpSpPr>
          <a:xfrm>
            <a:off x="500575" y="1825624"/>
            <a:ext cx="4381189" cy="4083507"/>
            <a:chOff x="55618" y="2251324"/>
            <a:chExt cx="4381189" cy="4083507"/>
          </a:xfrm>
        </p:grpSpPr>
        <p:grpSp>
          <p:nvGrpSpPr>
            <p:cNvPr id="5" name="Agrupar 5">
              <a:extLst>
                <a:ext uri="{FF2B5EF4-FFF2-40B4-BE49-F238E27FC236}">
                  <a16:creationId xmlns:a16="http://schemas.microsoft.com/office/drawing/2014/main" xmlns="" id="{FB0DCC50-E74B-B0C7-FD19-2CD268B79A24}"/>
                </a:ext>
              </a:extLst>
            </p:cNvPr>
            <p:cNvGrpSpPr/>
            <p:nvPr/>
          </p:nvGrpSpPr>
          <p:grpSpPr>
            <a:xfrm>
              <a:off x="55618" y="2251324"/>
              <a:ext cx="4381189" cy="4083507"/>
              <a:chOff x="930667" y="1938641"/>
              <a:chExt cx="4381189" cy="4083507"/>
            </a:xfrm>
          </p:grpSpPr>
          <p:grpSp>
            <p:nvGrpSpPr>
              <p:cNvPr id="8" name="Agrupar 8">
                <a:extLst>
                  <a:ext uri="{FF2B5EF4-FFF2-40B4-BE49-F238E27FC236}">
                    <a16:creationId xmlns:a16="http://schemas.microsoft.com/office/drawing/2014/main" xmlns="" id="{7FD92229-0631-3DCD-1FF9-A49AE18B66EF}"/>
                  </a:ext>
                </a:extLst>
              </p:cNvPr>
              <p:cNvGrpSpPr/>
              <p:nvPr/>
            </p:nvGrpSpPr>
            <p:grpSpPr>
              <a:xfrm>
                <a:off x="930667" y="1938641"/>
                <a:ext cx="4381189" cy="4083507"/>
                <a:chOff x="447782" y="1825625"/>
                <a:chExt cx="4381189" cy="4083507"/>
              </a:xfrm>
            </p:grpSpPr>
            <p:grpSp>
              <p:nvGrpSpPr>
                <p:cNvPr id="18" name="Agrupar 44">
                  <a:extLst>
                    <a:ext uri="{FF2B5EF4-FFF2-40B4-BE49-F238E27FC236}">
                      <a16:creationId xmlns:a16="http://schemas.microsoft.com/office/drawing/2014/main" xmlns="" id="{9E0EE296-BA0A-9E88-428D-23EFF31F9CDD}"/>
                    </a:ext>
                  </a:extLst>
                </p:cNvPr>
                <p:cNvGrpSpPr/>
                <p:nvPr/>
              </p:nvGrpSpPr>
              <p:grpSpPr>
                <a:xfrm>
                  <a:off x="447782" y="1825625"/>
                  <a:ext cx="4381189" cy="3859236"/>
                  <a:chOff x="1592492" y="1393380"/>
                  <a:chExt cx="3155387" cy="2846768"/>
                </a:xfrm>
              </p:grpSpPr>
              <p:pic>
                <p:nvPicPr>
                  <p:cNvPr id="27" name="Picture 2" descr="Visualization for Function Optimization in Python -  MachineLearningMastery.com">
                    <a:extLst>
                      <a:ext uri="{FF2B5EF4-FFF2-40B4-BE49-F238E27FC236}">
                        <a16:creationId xmlns:a16="http://schemas.microsoft.com/office/drawing/2014/main" xmlns="" id="{44D88D47-5822-C7A4-E1B5-0AF53981D02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25468" t="17228" r="16217" b="10711"/>
                  <a:stretch/>
                </p:blipFill>
                <p:spPr bwMode="auto">
                  <a:xfrm>
                    <a:off x="1592492" y="1393380"/>
                    <a:ext cx="3069081" cy="2844369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" name="CaixaDeTexto 27">
                        <a:extLst>
                          <a:ext uri="{FF2B5EF4-FFF2-40B4-BE49-F238E27FC236}">
                            <a16:creationId xmlns:a16="http://schemas.microsoft.com/office/drawing/2014/main" xmlns="" id="{D3302DEB-0BAF-20B2-A12B-7E3667CD882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025506" y="3945007"/>
                        <a:ext cx="547099" cy="29514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sz="2000" dirty="0"/>
                      </a:p>
                    </p:txBody>
                  </p:sp>
                </mc:Choice>
                <mc:Fallback xmlns="">
                  <p:sp>
                    <p:nvSpPr>
                      <p:cNvPr id="27" name="CaixaDeTexto 26">
                        <a:extLst>
                          <a:ext uri="{FF2B5EF4-FFF2-40B4-BE49-F238E27FC236}">
                            <a16:creationId xmlns:a16="http://schemas.microsoft.com/office/drawing/2014/main" id="{00D42F04-97F1-C0EA-6B00-D0BD117CDEF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025506" y="3945007"/>
                        <a:ext cx="547099" cy="295141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9" name="CaixaDeTexto 28">
                        <a:extLst>
                          <a:ext uri="{FF2B5EF4-FFF2-40B4-BE49-F238E27FC236}">
                            <a16:creationId xmlns:a16="http://schemas.microsoft.com/office/drawing/2014/main" xmlns="" id="{0264388D-BD42-DE8D-1EDA-911DD626CE2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99817" y="3575675"/>
                        <a:ext cx="423809" cy="29514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sz="2000" dirty="0"/>
                      </a:p>
                    </p:txBody>
                  </p:sp>
                </mc:Choice>
                <mc:Fallback xmlns="">
                  <p:sp>
                    <p:nvSpPr>
                      <p:cNvPr id="29" name="CaixaDeTexto 28">
                        <a:extLst>
                          <a:ext uri="{FF2B5EF4-FFF2-40B4-BE49-F238E27FC236}">
                            <a16:creationId xmlns:a16="http://schemas.microsoft.com/office/drawing/2014/main" id="{1FCA9EDF-24EB-6DAA-4AB3-9E76EE2FB34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099817" y="3575675"/>
                        <a:ext cx="423809" cy="295141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0" name="CaixaDeTexto 29">
                        <a:extLst>
                          <a:ext uri="{FF2B5EF4-FFF2-40B4-BE49-F238E27FC236}">
                            <a16:creationId xmlns:a16="http://schemas.microsoft.com/office/drawing/2014/main" xmlns="" id="{585BAA01-510A-C118-CA93-5A46D3C329C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190506" y="1542308"/>
                        <a:ext cx="557373" cy="272438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800" b="1" i="0" smtClean="0">
                                  <a:latin typeface="Cambria Math" panose="02040503050406030204" pitchFamily="18" charset="0"/>
                                </a:rPr>
                                <m:t>𝐄𝐐𝐌</m:t>
                              </m:r>
                            </m:oMath>
                          </m:oMathPara>
                        </a14:m>
                        <a:endParaRPr lang="pt-BR" b="1" dirty="0"/>
                      </a:p>
                    </p:txBody>
                  </p:sp>
                </mc:Choice>
                <mc:Fallback xmlns="">
                  <p:sp>
                    <p:nvSpPr>
                      <p:cNvPr id="41" name="CaixaDeTexto 40">
                        <a:extLst>
                          <a:ext uri="{FF2B5EF4-FFF2-40B4-BE49-F238E27FC236}">
                            <a16:creationId xmlns:a16="http://schemas.microsoft.com/office/drawing/2014/main" id="{B86ACC41-6A24-7A4D-DE0B-040FA766A60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190506" y="1542308"/>
                        <a:ext cx="557373" cy="272438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b="-983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19" name="Elipse 18">
                  <a:extLst>
                    <a:ext uri="{FF2B5EF4-FFF2-40B4-BE49-F238E27FC236}">
                      <a16:creationId xmlns:a16="http://schemas.microsoft.com/office/drawing/2014/main" xmlns="" id="{048570E9-84B4-263B-42B4-31A2588FB83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548001" y="3424885"/>
                  <a:ext cx="72000" cy="72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20" name="Conector reto 19">
                  <a:extLst>
                    <a:ext uri="{FF2B5EF4-FFF2-40B4-BE49-F238E27FC236}">
                      <a16:creationId xmlns:a16="http://schemas.microsoft.com/office/drawing/2014/main" xmlns="" id="{F03C6EA3-09F9-5AF4-2C93-055E20E87D18}"/>
                    </a:ext>
                  </a:extLst>
                </p:cNvPr>
                <p:cNvCxnSpPr>
                  <a:cxnSpLocks/>
                  <a:endCxn id="19" idx="4"/>
                </p:cNvCxnSpPr>
                <p:nvPr/>
              </p:nvCxnSpPr>
              <p:spPr>
                <a:xfrm flipH="1" flipV="1">
                  <a:off x="1584001" y="3496885"/>
                  <a:ext cx="11005" cy="46486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Conector reto 20">
                  <a:extLst>
                    <a:ext uri="{FF2B5EF4-FFF2-40B4-BE49-F238E27FC236}">
                      <a16:creationId xmlns:a16="http://schemas.microsoft.com/office/drawing/2014/main" xmlns="" id="{09BF1C12-E6A9-0B8A-A4BE-A0CDC64BF5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644775" y="4469673"/>
                  <a:ext cx="931863" cy="27854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Conector reto 21">
                  <a:extLst>
                    <a:ext uri="{FF2B5EF4-FFF2-40B4-BE49-F238E27FC236}">
                      <a16:creationId xmlns:a16="http://schemas.microsoft.com/office/drawing/2014/main" xmlns="" id="{BAD148F8-88A1-9983-64AC-7DC9A33D00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57476" y="4155281"/>
                  <a:ext cx="737530" cy="628784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Conector reto 22">
                  <a:extLst>
                    <a:ext uri="{FF2B5EF4-FFF2-40B4-BE49-F238E27FC236}">
                      <a16:creationId xmlns:a16="http://schemas.microsoft.com/office/drawing/2014/main" xmlns="" id="{C07E394D-50B1-689C-6846-C8A7447896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600660" y="4144018"/>
                  <a:ext cx="73266" cy="329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Conector reto 23">
                  <a:extLst>
                    <a:ext uri="{FF2B5EF4-FFF2-40B4-BE49-F238E27FC236}">
                      <a16:creationId xmlns:a16="http://schemas.microsoft.com/office/drawing/2014/main" xmlns="" id="{A506799A-6B61-E22B-5542-D0125466F8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02149" y="4110038"/>
                  <a:ext cx="0" cy="4091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Conector de Seta Reta 51">
                  <a:extLst>
                    <a:ext uri="{FF2B5EF4-FFF2-40B4-BE49-F238E27FC236}">
                      <a16:creationId xmlns:a16="http://schemas.microsoft.com/office/drawing/2014/main" xmlns="" id="{4C86C60D-83E6-EFF1-0757-FBEE2440C7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406947" y="4469673"/>
                  <a:ext cx="623733" cy="1211936"/>
                </a:xfrm>
                <a:prstGeom prst="straightConnector1">
                  <a:avLst/>
                </a:prstGeom>
                <a:ln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6" name="CaixaDeTexto 25">
                  <a:extLst>
                    <a:ext uri="{FF2B5EF4-FFF2-40B4-BE49-F238E27FC236}">
                      <a16:creationId xmlns:a16="http://schemas.microsoft.com/office/drawing/2014/main" xmlns="" id="{FB4BC05E-298F-2552-BE8C-2BBFA977ECA2}"/>
                    </a:ext>
                  </a:extLst>
                </p:cNvPr>
                <p:cNvSpPr txBox="1"/>
                <p:nvPr/>
              </p:nvSpPr>
              <p:spPr>
                <a:xfrm>
                  <a:off x="2426116" y="5601355"/>
                  <a:ext cx="148359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400" b="1" dirty="0">
                      <a:solidFill>
                        <a:srgbClr val="00B0F0"/>
                      </a:solidFill>
                    </a:rPr>
                    <a:t>ponto de mínimo</a:t>
                  </a:r>
                </a:p>
              </p:txBody>
            </p:sp>
          </p:grpSp>
          <p:sp>
            <p:nvSpPr>
              <p:cNvPr id="9" name="Elipse 8">
                <a:extLst>
                  <a:ext uri="{FF2B5EF4-FFF2-40B4-BE49-F238E27FC236}">
                    <a16:creationId xmlns:a16="http://schemas.microsoft.com/office/drawing/2014/main" xmlns="" id="{35F2A8C3-8F29-6C0D-DEBF-574DE751D83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99351" y="3779808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10" name="Elipse 9">
                <a:extLst>
                  <a:ext uri="{FF2B5EF4-FFF2-40B4-BE49-F238E27FC236}">
                    <a16:creationId xmlns:a16="http://schemas.microsoft.com/office/drawing/2014/main" xmlns="" id="{D1D65435-8067-43D7-8B85-B58B5FE78F2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192811" y="3941684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11" name="Elipse 10">
                <a:extLst>
                  <a:ext uri="{FF2B5EF4-FFF2-40B4-BE49-F238E27FC236}">
                    <a16:creationId xmlns:a16="http://schemas.microsoft.com/office/drawing/2014/main" xmlns="" id="{CE6F24E9-AEC3-E8E8-ACE1-5AB643448FD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316384" y="4063903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12" name="Elipse 11">
                <a:extLst>
                  <a:ext uri="{FF2B5EF4-FFF2-40B4-BE49-F238E27FC236}">
                    <a16:creationId xmlns:a16="http://schemas.microsoft.com/office/drawing/2014/main" xmlns="" id="{8FACFAF7-7CF9-2A68-6DC3-73E2F744A7A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90467" y="4126542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cxnSp>
            <p:nvCxnSpPr>
              <p:cNvPr id="13" name="Conector: Curvo 13">
                <a:extLst>
                  <a:ext uri="{FF2B5EF4-FFF2-40B4-BE49-F238E27FC236}">
                    <a16:creationId xmlns:a16="http://schemas.microsoft.com/office/drawing/2014/main" xmlns="" id="{23FC64BF-9399-8DED-CE7B-6F37E3B76D0A}"/>
                  </a:ext>
                </a:extLst>
              </p:cNvPr>
              <p:cNvCxnSpPr>
                <a:cxnSpLocks/>
                <a:stCxn id="19" idx="0"/>
                <a:endCxn id="9" idx="0"/>
              </p:cNvCxnSpPr>
              <p:nvPr/>
            </p:nvCxnSpPr>
            <p:spPr>
              <a:xfrm rot="16200000" flipH="1">
                <a:off x="1980164" y="3624622"/>
                <a:ext cx="241907" cy="68465"/>
              </a:xfrm>
              <a:prstGeom prst="curvedConnector3">
                <a:avLst>
                  <a:gd name="adj1" fmla="val -29531"/>
                </a:avLst>
              </a:prstGeom>
              <a:ln>
                <a:solidFill>
                  <a:srgbClr val="FF0000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Conector: Curvo 14">
                <a:extLst>
                  <a:ext uri="{FF2B5EF4-FFF2-40B4-BE49-F238E27FC236}">
                    <a16:creationId xmlns:a16="http://schemas.microsoft.com/office/drawing/2014/main" xmlns="" id="{6CFC6E21-F686-D9AD-1678-277756D9D6E1}"/>
                  </a:ext>
                </a:extLst>
              </p:cNvPr>
              <p:cNvCxnSpPr>
                <a:cxnSpLocks/>
                <a:stCxn id="9" idx="0"/>
                <a:endCxn id="10" idx="0"/>
              </p:cNvCxnSpPr>
              <p:nvPr/>
            </p:nvCxnSpPr>
            <p:spPr>
              <a:xfrm rot="16200000" flipH="1">
                <a:off x="2101143" y="3814016"/>
                <a:ext cx="161876" cy="93460"/>
              </a:xfrm>
              <a:prstGeom prst="curvedConnector3">
                <a:avLst>
                  <a:gd name="adj1" fmla="val -85320"/>
                </a:avLst>
              </a:prstGeom>
              <a:ln>
                <a:solidFill>
                  <a:srgbClr val="FF0000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Conector: Curvo 15">
                <a:extLst>
                  <a:ext uri="{FF2B5EF4-FFF2-40B4-BE49-F238E27FC236}">
                    <a16:creationId xmlns:a16="http://schemas.microsoft.com/office/drawing/2014/main" xmlns="" id="{EA4C6F73-7F27-70C2-998B-E17C2EF4CE32}"/>
                  </a:ext>
                </a:extLst>
              </p:cNvPr>
              <p:cNvCxnSpPr>
                <a:cxnSpLocks/>
                <a:stCxn id="10" idx="0"/>
                <a:endCxn id="11" idx="0"/>
              </p:cNvCxnSpPr>
              <p:nvPr/>
            </p:nvCxnSpPr>
            <p:spPr>
              <a:xfrm rot="16200000" flipH="1">
                <a:off x="2229487" y="3941007"/>
                <a:ext cx="122219" cy="123573"/>
              </a:xfrm>
              <a:prstGeom prst="curvedConnector3">
                <a:avLst>
                  <a:gd name="adj1" fmla="val -120798"/>
                </a:avLst>
              </a:prstGeom>
              <a:ln>
                <a:solidFill>
                  <a:srgbClr val="FF0000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Conector: Curvo 16">
                <a:extLst>
                  <a:ext uri="{FF2B5EF4-FFF2-40B4-BE49-F238E27FC236}">
                    <a16:creationId xmlns:a16="http://schemas.microsoft.com/office/drawing/2014/main" xmlns="" id="{A4A39634-3F5F-74B0-1F5F-3C4537D68CCD}"/>
                  </a:ext>
                </a:extLst>
              </p:cNvPr>
              <p:cNvCxnSpPr>
                <a:cxnSpLocks/>
                <a:stCxn id="11" idx="0"/>
                <a:endCxn id="12" idx="0"/>
              </p:cNvCxnSpPr>
              <p:nvPr/>
            </p:nvCxnSpPr>
            <p:spPr>
              <a:xfrm rot="16200000" flipH="1">
                <a:off x="2408105" y="4008181"/>
                <a:ext cx="62639" cy="174083"/>
              </a:xfrm>
              <a:prstGeom prst="curvedConnector3">
                <a:avLst>
                  <a:gd name="adj1" fmla="val -235697"/>
                </a:avLst>
              </a:prstGeom>
              <a:ln>
                <a:solidFill>
                  <a:srgbClr val="FF0000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xmlns="" id="{204AE0DB-6550-BA4B-42F4-3D291466092E}"/>
                  </a:ext>
                </a:extLst>
              </p:cNvPr>
              <p:cNvSpPr txBox="1"/>
              <p:nvPr/>
            </p:nvSpPr>
            <p:spPr>
              <a:xfrm>
                <a:off x="2085034" y="3336761"/>
                <a:ext cx="1753377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200" dirty="0"/>
                  <a:t>iterações</a:t>
                </a:r>
              </a:p>
            </p:txBody>
          </p:sp>
        </p:grpSp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xmlns="" id="{17F23E77-B76E-73C8-AB63-BA858F6FEDAE}"/>
                </a:ext>
              </a:extLst>
            </p:cNvPr>
            <p:cNvSpPr txBox="1"/>
            <p:nvPr/>
          </p:nvSpPr>
          <p:spPr>
            <a:xfrm>
              <a:off x="261646" y="2536599"/>
              <a:ext cx="7375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inicial</a:t>
              </a:r>
            </a:p>
          </p:txBody>
        </p:sp>
        <p:cxnSp>
          <p:nvCxnSpPr>
            <p:cNvPr id="7" name="Conector de Seta Reta 7">
              <a:extLst>
                <a:ext uri="{FF2B5EF4-FFF2-40B4-BE49-F238E27FC236}">
                  <a16:creationId xmlns:a16="http://schemas.microsoft.com/office/drawing/2014/main" xmlns="" id="{E63CF6F2-828D-404E-FB76-EDD94F5EE7C4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>
              <a:off x="630412" y="2998264"/>
              <a:ext cx="525425" cy="85232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CaixaDeTexto 30"/>
          <p:cNvSpPr txBox="1"/>
          <p:nvPr/>
        </p:nvSpPr>
        <p:spPr>
          <a:xfrm>
            <a:off x="740658" y="6188984"/>
            <a:ext cx="3581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Função hipótese com dois atributos.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121007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Gradiente descendente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739663" y="1825624"/>
            <a:ext cx="6246010" cy="5032375"/>
          </a:xfrm>
        </p:spPr>
        <p:txBody>
          <a:bodyPr/>
          <a:lstStyle/>
          <a:p>
            <a:r>
              <a:rPr lang="pt-BR" dirty="0" smtClean="0"/>
              <a:t>Procura </a:t>
            </a:r>
            <a:r>
              <a:rPr lang="pt-BR" dirty="0"/>
              <a:t>de forma iterativa o ponto mais baixo da superfície de erro, </a:t>
            </a:r>
            <a:r>
              <a:rPr lang="pt-BR" dirty="0" smtClean="0"/>
              <a:t>i.e., </a:t>
            </a:r>
            <a:r>
              <a:rPr lang="pt-BR" dirty="0"/>
              <a:t>o ponto que nos dá os pesos ótimos</a:t>
            </a:r>
            <a:r>
              <a:rPr lang="pt-BR" dirty="0" smtClean="0"/>
              <a:t>.</a:t>
            </a:r>
          </a:p>
          <a:p>
            <a:r>
              <a:rPr lang="pt-BR" dirty="0" smtClean="0"/>
              <a:t>É inicializado com </a:t>
            </a:r>
            <a:r>
              <a:rPr lang="pt-BR" b="1" dirty="0" smtClean="0"/>
              <a:t>pesos (i.e., em pontos) aleatórios</a:t>
            </a:r>
            <a:r>
              <a:rPr lang="pt-BR" dirty="0" smtClean="0"/>
              <a:t>.</a:t>
            </a:r>
            <a:endParaRPr lang="pt-BR" dirty="0"/>
          </a:p>
          <a:p>
            <a:r>
              <a:rPr lang="pt-BR" dirty="0"/>
              <a:t>E, a cada iteração, </a:t>
            </a:r>
            <a:r>
              <a:rPr lang="pt-BR" dirty="0" smtClean="0"/>
              <a:t>ele </a:t>
            </a:r>
            <a:r>
              <a:rPr lang="pt-BR" b="1" dirty="0" smtClean="0"/>
              <a:t>refina</a:t>
            </a:r>
            <a:r>
              <a:rPr lang="pt-BR" dirty="0" smtClean="0"/>
              <a:t> </a:t>
            </a:r>
            <a:r>
              <a:rPr lang="pt-BR" dirty="0"/>
              <a:t>os valores dos pesos, ficando mais e mais próximos do ponto de mínimo</a:t>
            </a:r>
            <a:r>
              <a:rPr lang="pt-BR" dirty="0" smtClean="0"/>
              <a:t>.</a:t>
            </a:r>
            <a:endParaRPr lang="pt-BR" dirty="0"/>
          </a:p>
        </p:txBody>
      </p:sp>
      <p:grpSp>
        <p:nvGrpSpPr>
          <p:cNvPr id="4" name="Agrupar 4">
            <a:extLst>
              <a:ext uri="{FF2B5EF4-FFF2-40B4-BE49-F238E27FC236}">
                <a16:creationId xmlns:a16="http://schemas.microsoft.com/office/drawing/2014/main" xmlns="" id="{84412B71-A2C7-E89B-BE04-C2E70AB63FB6}"/>
              </a:ext>
            </a:extLst>
          </p:cNvPr>
          <p:cNvGrpSpPr/>
          <p:nvPr/>
        </p:nvGrpSpPr>
        <p:grpSpPr>
          <a:xfrm>
            <a:off x="838200" y="1994437"/>
            <a:ext cx="4381189" cy="4083507"/>
            <a:chOff x="55618" y="2251324"/>
            <a:chExt cx="4381189" cy="4083507"/>
          </a:xfrm>
        </p:grpSpPr>
        <p:grpSp>
          <p:nvGrpSpPr>
            <p:cNvPr id="5" name="Agrupar 5">
              <a:extLst>
                <a:ext uri="{FF2B5EF4-FFF2-40B4-BE49-F238E27FC236}">
                  <a16:creationId xmlns:a16="http://schemas.microsoft.com/office/drawing/2014/main" xmlns="" id="{FB0DCC50-E74B-B0C7-FD19-2CD268B79A24}"/>
                </a:ext>
              </a:extLst>
            </p:cNvPr>
            <p:cNvGrpSpPr/>
            <p:nvPr/>
          </p:nvGrpSpPr>
          <p:grpSpPr>
            <a:xfrm>
              <a:off x="55618" y="2251324"/>
              <a:ext cx="4381189" cy="4083507"/>
              <a:chOff x="930667" y="1938641"/>
              <a:chExt cx="4381189" cy="4083507"/>
            </a:xfrm>
          </p:grpSpPr>
          <p:grpSp>
            <p:nvGrpSpPr>
              <p:cNvPr id="8" name="Agrupar 8">
                <a:extLst>
                  <a:ext uri="{FF2B5EF4-FFF2-40B4-BE49-F238E27FC236}">
                    <a16:creationId xmlns:a16="http://schemas.microsoft.com/office/drawing/2014/main" xmlns="" id="{7FD92229-0631-3DCD-1FF9-A49AE18B66EF}"/>
                  </a:ext>
                </a:extLst>
              </p:cNvPr>
              <p:cNvGrpSpPr/>
              <p:nvPr/>
            </p:nvGrpSpPr>
            <p:grpSpPr>
              <a:xfrm>
                <a:off x="930667" y="1938641"/>
                <a:ext cx="4381189" cy="4083507"/>
                <a:chOff x="447782" y="1825625"/>
                <a:chExt cx="4381189" cy="4083507"/>
              </a:xfrm>
            </p:grpSpPr>
            <p:grpSp>
              <p:nvGrpSpPr>
                <p:cNvPr id="18" name="Agrupar 44">
                  <a:extLst>
                    <a:ext uri="{FF2B5EF4-FFF2-40B4-BE49-F238E27FC236}">
                      <a16:creationId xmlns:a16="http://schemas.microsoft.com/office/drawing/2014/main" xmlns="" id="{9E0EE296-BA0A-9E88-428D-23EFF31F9CDD}"/>
                    </a:ext>
                  </a:extLst>
                </p:cNvPr>
                <p:cNvGrpSpPr/>
                <p:nvPr/>
              </p:nvGrpSpPr>
              <p:grpSpPr>
                <a:xfrm>
                  <a:off x="447782" y="1825625"/>
                  <a:ext cx="4381189" cy="3859236"/>
                  <a:chOff x="1592492" y="1393380"/>
                  <a:chExt cx="3155387" cy="2846768"/>
                </a:xfrm>
              </p:grpSpPr>
              <p:pic>
                <p:nvPicPr>
                  <p:cNvPr id="27" name="Picture 2" descr="Visualization for Function Optimization in Python -  MachineLearningMastery.com">
                    <a:extLst>
                      <a:ext uri="{FF2B5EF4-FFF2-40B4-BE49-F238E27FC236}">
                        <a16:creationId xmlns:a16="http://schemas.microsoft.com/office/drawing/2014/main" xmlns="" id="{44D88D47-5822-C7A4-E1B5-0AF53981D02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25468" t="17228" r="16217" b="10711"/>
                  <a:stretch/>
                </p:blipFill>
                <p:spPr bwMode="auto">
                  <a:xfrm>
                    <a:off x="1592492" y="1393380"/>
                    <a:ext cx="3069081" cy="2844369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" name="CaixaDeTexto 27">
                        <a:extLst>
                          <a:ext uri="{FF2B5EF4-FFF2-40B4-BE49-F238E27FC236}">
                            <a16:creationId xmlns:a16="http://schemas.microsoft.com/office/drawing/2014/main" xmlns="" id="{D3302DEB-0BAF-20B2-A12B-7E3667CD882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025506" y="3945007"/>
                        <a:ext cx="547099" cy="29514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sz="2000" dirty="0"/>
                      </a:p>
                    </p:txBody>
                  </p:sp>
                </mc:Choice>
                <mc:Fallback xmlns="">
                  <p:sp>
                    <p:nvSpPr>
                      <p:cNvPr id="27" name="CaixaDeTexto 26">
                        <a:extLst>
                          <a:ext uri="{FF2B5EF4-FFF2-40B4-BE49-F238E27FC236}">
                            <a16:creationId xmlns:a16="http://schemas.microsoft.com/office/drawing/2014/main" id="{00D42F04-97F1-C0EA-6B00-D0BD117CDEF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025506" y="3945007"/>
                        <a:ext cx="547099" cy="295141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9" name="CaixaDeTexto 28">
                        <a:extLst>
                          <a:ext uri="{FF2B5EF4-FFF2-40B4-BE49-F238E27FC236}">
                            <a16:creationId xmlns:a16="http://schemas.microsoft.com/office/drawing/2014/main" xmlns="" id="{0264388D-BD42-DE8D-1EDA-911DD626CE2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99817" y="3575675"/>
                        <a:ext cx="423809" cy="29514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sz="2000" dirty="0"/>
                      </a:p>
                    </p:txBody>
                  </p:sp>
                </mc:Choice>
                <mc:Fallback xmlns="">
                  <p:sp>
                    <p:nvSpPr>
                      <p:cNvPr id="29" name="CaixaDeTexto 28">
                        <a:extLst>
                          <a:ext uri="{FF2B5EF4-FFF2-40B4-BE49-F238E27FC236}">
                            <a16:creationId xmlns:a16="http://schemas.microsoft.com/office/drawing/2014/main" id="{1FCA9EDF-24EB-6DAA-4AB3-9E76EE2FB34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099817" y="3575675"/>
                        <a:ext cx="423809" cy="295141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0" name="CaixaDeTexto 29">
                        <a:extLst>
                          <a:ext uri="{FF2B5EF4-FFF2-40B4-BE49-F238E27FC236}">
                            <a16:creationId xmlns:a16="http://schemas.microsoft.com/office/drawing/2014/main" xmlns="" id="{585BAA01-510A-C118-CA93-5A46D3C329C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190506" y="1542308"/>
                        <a:ext cx="557373" cy="272438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800" b="1" i="0" smtClean="0">
                                  <a:latin typeface="Cambria Math" panose="02040503050406030204" pitchFamily="18" charset="0"/>
                                </a:rPr>
                                <m:t>𝐄𝐐𝐌</m:t>
                              </m:r>
                            </m:oMath>
                          </m:oMathPara>
                        </a14:m>
                        <a:endParaRPr lang="pt-BR" b="1" dirty="0"/>
                      </a:p>
                    </p:txBody>
                  </p:sp>
                </mc:Choice>
                <mc:Fallback xmlns="">
                  <p:sp>
                    <p:nvSpPr>
                      <p:cNvPr id="41" name="CaixaDeTexto 40">
                        <a:extLst>
                          <a:ext uri="{FF2B5EF4-FFF2-40B4-BE49-F238E27FC236}">
                            <a16:creationId xmlns:a16="http://schemas.microsoft.com/office/drawing/2014/main" id="{B86ACC41-6A24-7A4D-DE0B-040FA766A60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190506" y="1542308"/>
                        <a:ext cx="557373" cy="272438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b="-983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19" name="Elipse 18">
                  <a:extLst>
                    <a:ext uri="{FF2B5EF4-FFF2-40B4-BE49-F238E27FC236}">
                      <a16:creationId xmlns:a16="http://schemas.microsoft.com/office/drawing/2014/main" xmlns="" id="{048570E9-84B4-263B-42B4-31A2588FB83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548001" y="3424885"/>
                  <a:ext cx="72000" cy="72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20" name="Conector reto 19">
                  <a:extLst>
                    <a:ext uri="{FF2B5EF4-FFF2-40B4-BE49-F238E27FC236}">
                      <a16:creationId xmlns:a16="http://schemas.microsoft.com/office/drawing/2014/main" xmlns="" id="{F03C6EA3-09F9-5AF4-2C93-055E20E87D18}"/>
                    </a:ext>
                  </a:extLst>
                </p:cNvPr>
                <p:cNvCxnSpPr>
                  <a:cxnSpLocks/>
                  <a:endCxn id="19" idx="4"/>
                </p:cNvCxnSpPr>
                <p:nvPr/>
              </p:nvCxnSpPr>
              <p:spPr>
                <a:xfrm flipH="1" flipV="1">
                  <a:off x="1584001" y="3496885"/>
                  <a:ext cx="11005" cy="46486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Conector reto 20">
                  <a:extLst>
                    <a:ext uri="{FF2B5EF4-FFF2-40B4-BE49-F238E27FC236}">
                      <a16:creationId xmlns:a16="http://schemas.microsoft.com/office/drawing/2014/main" xmlns="" id="{09BF1C12-E6A9-0B8A-A4BE-A0CDC64BF5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644775" y="4469673"/>
                  <a:ext cx="931863" cy="27854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Conector reto 21">
                  <a:extLst>
                    <a:ext uri="{FF2B5EF4-FFF2-40B4-BE49-F238E27FC236}">
                      <a16:creationId xmlns:a16="http://schemas.microsoft.com/office/drawing/2014/main" xmlns="" id="{BAD148F8-88A1-9983-64AC-7DC9A33D00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57476" y="4155281"/>
                  <a:ext cx="737530" cy="628784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Conector reto 22">
                  <a:extLst>
                    <a:ext uri="{FF2B5EF4-FFF2-40B4-BE49-F238E27FC236}">
                      <a16:creationId xmlns:a16="http://schemas.microsoft.com/office/drawing/2014/main" xmlns="" id="{C07E394D-50B1-689C-6846-C8A7447896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600660" y="4144018"/>
                  <a:ext cx="73266" cy="329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Conector reto 23">
                  <a:extLst>
                    <a:ext uri="{FF2B5EF4-FFF2-40B4-BE49-F238E27FC236}">
                      <a16:creationId xmlns:a16="http://schemas.microsoft.com/office/drawing/2014/main" xmlns="" id="{A506799A-6B61-E22B-5542-D0125466F8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02149" y="4110038"/>
                  <a:ext cx="0" cy="4091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Conector de Seta Reta 51">
                  <a:extLst>
                    <a:ext uri="{FF2B5EF4-FFF2-40B4-BE49-F238E27FC236}">
                      <a16:creationId xmlns:a16="http://schemas.microsoft.com/office/drawing/2014/main" xmlns="" id="{4C86C60D-83E6-EFF1-0757-FBEE2440C7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406947" y="4469673"/>
                  <a:ext cx="623733" cy="1211936"/>
                </a:xfrm>
                <a:prstGeom prst="straightConnector1">
                  <a:avLst/>
                </a:prstGeom>
                <a:ln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6" name="CaixaDeTexto 25">
                  <a:extLst>
                    <a:ext uri="{FF2B5EF4-FFF2-40B4-BE49-F238E27FC236}">
                      <a16:creationId xmlns:a16="http://schemas.microsoft.com/office/drawing/2014/main" xmlns="" id="{FB4BC05E-298F-2552-BE8C-2BBFA977ECA2}"/>
                    </a:ext>
                  </a:extLst>
                </p:cNvPr>
                <p:cNvSpPr txBox="1"/>
                <p:nvPr/>
              </p:nvSpPr>
              <p:spPr>
                <a:xfrm>
                  <a:off x="2426116" y="5601355"/>
                  <a:ext cx="148359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400" b="1" dirty="0">
                      <a:solidFill>
                        <a:srgbClr val="00B0F0"/>
                      </a:solidFill>
                    </a:rPr>
                    <a:t>ponto de mínimo</a:t>
                  </a:r>
                </a:p>
              </p:txBody>
            </p:sp>
          </p:grpSp>
          <p:sp>
            <p:nvSpPr>
              <p:cNvPr id="9" name="Elipse 8">
                <a:extLst>
                  <a:ext uri="{FF2B5EF4-FFF2-40B4-BE49-F238E27FC236}">
                    <a16:creationId xmlns:a16="http://schemas.microsoft.com/office/drawing/2014/main" xmlns="" id="{35F2A8C3-8F29-6C0D-DEBF-574DE751D83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99351" y="3779808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10" name="Elipse 9">
                <a:extLst>
                  <a:ext uri="{FF2B5EF4-FFF2-40B4-BE49-F238E27FC236}">
                    <a16:creationId xmlns:a16="http://schemas.microsoft.com/office/drawing/2014/main" xmlns="" id="{D1D65435-8067-43D7-8B85-B58B5FE78F2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192811" y="3941684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11" name="Elipse 10">
                <a:extLst>
                  <a:ext uri="{FF2B5EF4-FFF2-40B4-BE49-F238E27FC236}">
                    <a16:creationId xmlns:a16="http://schemas.microsoft.com/office/drawing/2014/main" xmlns="" id="{CE6F24E9-AEC3-E8E8-ACE1-5AB643448FD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316384" y="4063903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12" name="Elipse 11">
                <a:extLst>
                  <a:ext uri="{FF2B5EF4-FFF2-40B4-BE49-F238E27FC236}">
                    <a16:creationId xmlns:a16="http://schemas.microsoft.com/office/drawing/2014/main" xmlns="" id="{8FACFAF7-7CF9-2A68-6DC3-73E2F744A7A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90467" y="4126542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cxnSp>
            <p:nvCxnSpPr>
              <p:cNvPr id="13" name="Conector: Curvo 13">
                <a:extLst>
                  <a:ext uri="{FF2B5EF4-FFF2-40B4-BE49-F238E27FC236}">
                    <a16:creationId xmlns:a16="http://schemas.microsoft.com/office/drawing/2014/main" xmlns="" id="{23FC64BF-9399-8DED-CE7B-6F37E3B76D0A}"/>
                  </a:ext>
                </a:extLst>
              </p:cNvPr>
              <p:cNvCxnSpPr>
                <a:cxnSpLocks/>
                <a:stCxn id="19" idx="0"/>
                <a:endCxn id="9" idx="0"/>
              </p:cNvCxnSpPr>
              <p:nvPr/>
            </p:nvCxnSpPr>
            <p:spPr>
              <a:xfrm rot="16200000" flipH="1">
                <a:off x="1980164" y="3624622"/>
                <a:ext cx="241907" cy="68465"/>
              </a:xfrm>
              <a:prstGeom prst="curvedConnector3">
                <a:avLst>
                  <a:gd name="adj1" fmla="val -29531"/>
                </a:avLst>
              </a:prstGeom>
              <a:ln>
                <a:solidFill>
                  <a:srgbClr val="FF0000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Conector: Curvo 14">
                <a:extLst>
                  <a:ext uri="{FF2B5EF4-FFF2-40B4-BE49-F238E27FC236}">
                    <a16:creationId xmlns:a16="http://schemas.microsoft.com/office/drawing/2014/main" xmlns="" id="{6CFC6E21-F686-D9AD-1678-277756D9D6E1}"/>
                  </a:ext>
                </a:extLst>
              </p:cNvPr>
              <p:cNvCxnSpPr>
                <a:cxnSpLocks/>
                <a:stCxn id="9" idx="0"/>
                <a:endCxn id="10" idx="0"/>
              </p:cNvCxnSpPr>
              <p:nvPr/>
            </p:nvCxnSpPr>
            <p:spPr>
              <a:xfrm rot="16200000" flipH="1">
                <a:off x="2101143" y="3814016"/>
                <a:ext cx="161876" cy="93460"/>
              </a:xfrm>
              <a:prstGeom prst="curvedConnector3">
                <a:avLst>
                  <a:gd name="adj1" fmla="val -85320"/>
                </a:avLst>
              </a:prstGeom>
              <a:ln>
                <a:solidFill>
                  <a:srgbClr val="FF0000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Conector: Curvo 15">
                <a:extLst>
                  <a:ext uri="{FF2B5EF4-FFF2-40B4-BE49-F238E27FC236}">
                    <a16:creationId xmlns:a16="http://schemas.microsoft.com/office/drawing/2014/main" xmlns="" id="{EA4C6F73-7F27-70C2-998B-E17C2EF4CE32}"/>
                  </a:ext>
                </a:extLst>
              </p:cNvPr>
              <p:cNvCxnSpPr>
                <a:cxnSpLocks/>
                <a:stCxn id="10" idx="0"/>
                <a:endCxn id="11" idx="0"/>
              </p:cNvCxnSpPr>
              <p:nvPr/>
            </p:nvCxnSpPr>
            <p:spPr>
              <a:xfrm rot="16200000" flipH="1">
                <a:off x="2229487" y="3941007"/>
                <a:ext cx="122219" cy="123573"/>
              </a:xfrm>
              <a:prstGeom prst="curvedConnector3">
                <a:avLst>
                  <a:gd name="adj1" fmla="val -120798"/>
                </a:avLst>
              </a:prstGeom>
              <a:ln>
                <a:solidFill>
                  <a:srgbClr val="FF0000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Conector: Curvo 16">
                <a:extLst>
                  <a:ext uri="{FF2B5EF4-FFF2-40B4-BE49-F238E27FC236}">
                    <a16:creationId xmlns:a16="http://schemas.microsoft.com/office/drawing/2014/main" xmlns="" id="{A4A39634-3F5F-74B0-1F5F-3C4537D68CCD}"/>
                  </a:ext>
                </a:extLst>
              </p:cNvPr>
              <p:cNvCxnSpPr>
                <a:cxnSpLocks/>
                <a:stCxn id="11" idx="0"/>
                <a:endCxn id="12" idx="0"/>
              </p:cNvCxnSpPr>
              <p:nvPr/>
            </p:nvCxnSpPr>
            <p:spPr>
              <a:xfrm rot="16200000" flipH="1">
                <a:off x="2408105" y="4008181"/>
                <a:ext cx="62639" cy="174083"/>
              </a:xfrm>
              <a:prstGeom prst="curvedConnector3">
                <a:avLst>
                  <a:gd name="adj1" fmla="val -235697"/>
                </a:avLst>
              </a:prstGeom>
              <a:ln>
                <a:solidFill>
                  <a:srgbClr val="FF0000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xmlns="" id="{204AE0DB-6550-BA4B-42F4-3D291466092E}"/>
                  </a:ext>
                </a:extLst>
              </p:cNvPr>
              <p:cNvSpPr txBox="1"/>
              <p:nvPr/>
            </p:nvSpPr>
            <p:spPr>
              <a:xfrm>
                <a:off x="2085034" y="3336761"/>
                <a:ext cx="1753377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200" dirty="0"/>
                  <a:t>iterações</a:t>
                </a:r>
              </a:p>
            </p:txBody>
          </p:sp>
        </p:grpSp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xmlns="" id="{17F23E77-B76E-73C8-AB63-BA858F6FEDAE}"/>
                </a:ext>
              </a:extLst>
            </p:cNvPr>
            <p:cNvSpPr txBox="1"/>
            <p:nvPr/>
          </p:nvSpPr>
          <p:spPr>
            <a:xfrm>
              <a:off x="261646" y="2536599"/>
              <a:ext cx="7375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inicial</a:t>
              </a:r>
            </a:p>
          </p:txBody>
        </p:sp>
        <p:cxnSp>
          <p:nvCxnSpPr>
            <p:cNvPr id="7" name="Conector de Seta Reta 7">
              <a:extLst>
                <a:ext uri="{FF2B5EF4-FFF2-40B4-BE49-F238E27FC236}">
                  <a16:creationId xmlns:a16="http://schemas.microsoft.com/office/drawing/2014/main" xmlns="" id="{E63CF6F2-828D-404E-FB76-EDD94F5EE7C4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>
              <a:off x="630412" y="2998264"/>
              <a:ext cx="525425" cy="85232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24761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3862A92-55C2-431E-3FAA-7DC08A0AC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Validação cruzada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4A91331-8D79-4209-9910-250A54A6D3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Validação cruzada para encontrar grau dos polinômios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01855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8308</TotalTime>
  <Words>1364</Words>
  <Application>Microsoft Office PowerPoint</Application>
  <PresentationFormat>Widescreen</PresentationFormat>
  <Paragraphs>202</Paragraphs>
  <Slides>27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27</vt:i4>
      </vt:variant>
    </vt:vector>
  </HeadingPairs>
  <TitlesOfParts>
    <vt:vector size="34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Regressão</vt:lpstr>
      <vt:lpstr>Motivação</vt:lpstr>
      <vt:lpstr>Motivação</vt:lpstr>
      <vt:lpstr>Apresentação do PowerPoint</vt:lpstr>
      <vt:lpstr>Apresentação do PowerPoint</vt:lpstr>
      <vt:lpstr>Regressão linear</vt:lpstr>
      <vt:lpstr>Qual o objetivo da regressão linear?</vt:lpstr>
      <vt:lpstr>Qual é o paradigma de aprendizado?</vt:lpstr>
      <vt:lpstr>Qual é o paradigma de aprendizado?</vt:lpstr>
      <vt:lpstr>Por que linear?</vt:lpstr>
      <vt:lpstr>Por que linear?</vt:lpstr>
      <vt:lpstr>Apresentação do PowerPoint</vt:lpstr>
      <vt:lpstr>Objetivo da regressão linear</vt:lpstr>
      <vt:lpstr>Apresentação do PowerPoint</vt:lpstr>
      <vt:lpstr>Função de erro</vt:lpstr>
      <vt:lpstr>Minimização da função de erro</vt:lpstr>
      <vt:lpstr>Resumo do problema da regressão linear</vt:lpstr>
      <vt:lpstr>Como encontrar os pesos ótimos?</vt:lpstr>
      <vt:lpstr>Comparativo das abordagens</vt:lpstr>
      <vt:lpstr>Apresentação do PowerPoint</vt:lpstr>
      <vt:lpstr>Apresentação do PowerPoint</vt:lpstr>
      <vt:lpstr>Superfície de erro</vt:lpstr>
      <vt:lpstr>Superfície de erro</vt:lpstr>
      <vt:lpstr>Gradiente descendente</vt:lpstr>
      <vt:lpstr>Validação cruzada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1821</cp:revision>
  <dcterms:created xsi:type="dcterms:W3CDTF">2020-01-20T13:50:05Z</dcterms:created>
  <dcterms:modified xsi:type="dcterms:W3CDTF">2026-02-13T01:34:33Z</dcterms:modified>
</cp:coreProperties>
</file>