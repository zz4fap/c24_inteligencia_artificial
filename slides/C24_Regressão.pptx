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2"/>
  </p:notesMasterIdLst>
  <p:handoutMasterIdLst>
    <p:handoutMasterId r:id="rId93"/>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412" r:id="rId34"/>
    <p:sldId id="413" r:id="rId35"/>
    <p:sldId id="450" r:id="rId36"/>
    <p:sldId id="434" r:id="rId37"/>
    <p:sldId id="414" r:id="rId38"/>
    <p:sldId id="572" r:id="rId39"/>
    <p:sldId id="416" r:id="rId40"/>
    <p:sldId id="451" r:id="rId41"/>
    <p:sldId id="417" r:id="rId42"/>
    <p:sldId id="419" r:id="rId43"/>
    <p:sldId id="425" r:id="rId44"/>
    <p:sldId id="537" r:id="rId45"/>
    <p:sldId id="418" r:id="rId46"/>
    <p:sldId id="539" r:id="rId47"/>
    <p:sldId id="542" r:id="rId48"/>
    <p:sldId id="423" r:id="rId49"/>
    <p:sldId id="424" r:id="rId50"/>
    <p:sldId id="429" r:id="rId51"/>
    <p:sldId id="540" r:id="rId52"/>
    <p:sldId id="431" r:id="rId53"/>
    <p:sldId id="546" r:id="rId54"/>
    <p:sldId id="554" r:id="rId55"/>
    <p:sldId id="555" r:id="rId56"/>
    <p:sldId id="549" r:id="rId57"/>
    <p:sldId id="461" r:id="rId58"/>
    <p:sldId id="557" r:id="rId59"/>
    <p:sldId id="558" r:id="rId60"/>
    <p:sldId id="559" r:id="rId61"/>
    <p:sldId id="560" r:id="rId62"/>
    <p:sldId id="561" r:id="rId63"/>
    <p:sldId id="562" r:id="rId64"/>
    <p:sldId id="563" r:id="rId65"/>
    <p:sldId id="543" r:id="rId66"/>
    <p:sldId id="437" r:id="rId67"/>
    <p:sldId id="436" r:id="rId68"/>
    <p:sldId id="443" r:id="rId69"/>
    <p:sldId id="444" r:id="rId70"/>
    <p:sldId id="565" r:id="rId71"/>
    <p:sldId id="567" r:id="rId72"/>
    <p:sldId id="568" r:id="rId73"/>
    <p:sldId id="420" r:id="rId74"/>
    <p:sldId id="421" r:id="rId75"/>
    <p:sldId id="338" r:id="rId76"/>
    <p:sldId id="370" r:id="rId77"/>
    <p:sldId id="293" r:id="rId78"/>
    <p:sldId id="306" r:id="rId79"/>
    <p:sldId id="446" r:id="rId80"/>
    <p:sldId id="438" r:id="rId81"/>
    <p:sldId id="440" r:id="rId82"/>
    <p:sldId id="441" r:id="rId83"/>
    <p:sldId id="551" r:id="rId84"/>
    <p:sldId id="442" r:id="rId85"/>
    <p:sldId id="552" r:id="rId86"/>
    <p:sldId id="553" r:id="rId87"/>
    <p:sldId id="445" r:id="rId88"/>
    <p:sldId id="447" r:id="rId89"/>
    <p:sldId id="452" r:id="rId90"/>
    <p:sldId id="569" r:id="rId9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2010" autoAdjust="0"/>
  </p:normalViewPr>
  <p:slideViewPr>
    <p:cSldViewPr snapToGrid="0">
      <p:cViewPr varScale="1">
        <p:scale>
          <a:sx n="102" d="100"/>
          <a:sy n="102" d="100"/>
        </p:scale>
        <p:origin x="1176"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presProps" Target="presProps.xml"/><Relationship Id="rId9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handoutMaster" Target="handoutMasters/handoutMaster1.xml"/><Relationship Id="rId98"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65</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66</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67</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330058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4.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png"/><Relationship Id="rId7" Type="http://schemas.openxmlformats.org/officeDocument/2006/relationships/image" Target="../media/image18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7.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3.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gif"/><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2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5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55.jpeg"/></Relationships>
</file>

<file path=ppt/slides/_rels/slide57.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62.png"/></Relationships>
</file>

<file path=ppt/slides/_rels/slide69.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8.png"/></Relationships>
</file>

<file path=ppt/slides/_rels/slide70.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58.png"/></Relationships>
</file>

<file path=ppt/slides/_rels/slide7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62.jpeg"/><Relationship Id="rId4" Type="http://schemas.openxmlformats.org/officeDocument/2006/relationships/image" Target="../media/image61.png"/></Relationships>
</file>

<file path=ppt/slides/_rels/slide76.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4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a:latin typeface="Cambria Math" panose="02040503050406030204" pitchFamily="18" charset="0"/>
                            </a:rPr>
                          </m:ctrlPr>
                        </m:fPr>
                        <m:num>
                          <m:r>
                            <a:rPr lang="pt-BR" i="0" dirty="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5052767"/>
            <a:ext cx="132213" cy="7730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r>
              <a:rPr lang="pt-BR" dirty="0"/>
              <a:t>Portanto, dada a </a:t>
            </a:r>
            <a:r>
              <a:rPr lang="pt-BR" b="1" dirty="0">
                <a:solidFill>
                  <a:srgbClr val="00B050"/>
                </a:solidFill>
              </a:rPr>
              <a:t>direção do gradiente e um passo de aprendizagem</a:t>
            </a:r>
            <a:r>
              <a:rPr lang="pt-BR" dirty="0"/>
              <a:t>, agora podemos caminhar </a:t>
            </a:r>
            <a:r>
              <a:rPr lang="pt-BR" b="1" dirty="0">
                <a:solidFill>
                  <a:srgbClr val="00B050"/>
                </a:solidFill>
              </a:rPr>
              <a:t>iterativamente </a:t>
            </a:r>
            <a:r>
              <a:rPr lang="pt-BR" dirty="0"/>
              <a:t>em direção ao ponto de mínimo.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mc:Choice xmlns:a14="http://schemas.microsoft.com/office/drawing/2010/main" Requires="a14">
          <p:sp>
            <p:nvSpPr>
              <p:cNvPr id="4" name="CaixaDeTexto 49">
                <a:extLst>
                  <a:ext uri="{FF2B5EF4-FFF2-40B4-BE49-F238E27FC236}">
                    <a16:creationId xmlns:a16="http://schemas.microsoft.com/office/drawing/2014/main" id="{75B195AC-8D57-E609-4AEB-9B162275450D}"/>
                  </a:ext>
                </a:extLst>
              </p:cNvPr>
              <p:cNvSpPr txBox="1"/>
              <p:nvPr/>
            </p:nvSpPr>
            <p:spPr>
              <a:xfrm>
                <a:off x="987241" y="1980762"/>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87241" y="1980762"/>
                <a:ext cx="3981143"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1796"/>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78500" cy="5032376"/>
          </a:xfrm>
        </p:spPr>
        <p:txBody>
          <a:bodyPr>
            <a:normAutofit/>
          </a:bodyPr>
          <a:lstStyle/>
          <a:p>
            <a:r>
              <a:rPr lang="pt-BR" b="0" dirty="0">
                <a:effectLst/>
              </a:rPr>
              <a:t>O valor do passo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 </a:t>
            </a:r>
          </a:p>
          <a:p>
            <a:r>
              <a:rPr lang="pt-BR" b="0" dirty="0">
                <a:effectLst/>
              </a:rPr>
              <a:t>O passo de aprendizagem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mc:Choice xmlns:a14="http://schemas.microsoft.com/office/drawing/2010/main"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a:t>
                </a:r>
                <a:r>
                  <a:rPr lang="pt-BR" b="1" dirty="0">
                    <a:solidFill>
                      <a:srgbClr val="00B050"/>
                    </a:solidFill>
                  </a:rPr>
                  <a:t>gradiente</a:t>
                </a:r>
                <a:r>
                  <a:rPr lang="pt-BR" dirty="0"/>
                  <a:t> é a </a:t>
                </a:r>
                <a:r>
                  <a:rPr lang="pt-BR" b="1" dirty="0">
                    <a:solidFill>
                      <a:srgbClr val="00B050"/>
                    </a:solidFill>
                  </a:rPr>
                  <a:t>média dos gradientes </a:t>
                </a:r>
                <a:r>
                  <a:rPr lang="pt-BR" dirty="0"/>
                  <a:t>de todos os exemplos de treinamento.</a:t>
                </a:r>
              </a:p>
              <a:p>
                <a:r>
                  <a:rPr lang="pt-BR" dirty="0"/>
                  <a:t>Usamos um hiperplano para encontrado o gradiente, mas todos os resultados e conclusões </a:t>
                </a:r>
                <a:r>
                  <a:rPr lang="nl-BE" dirty="0"/>
                  <a:t>podem ser diretamente estendidos a polinômios.</a:t>
                </a:r>
                <a:endParaRPr lang="pt-BR" dirty="0"/>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deste polinômio?</a:t>
            </a:r>
            <a:endParaRPr lang="en-US" sz="5400" dirty="0"/>
          </a:p>
        </p:txBody>
      </p:sp>
    </p:spTree>
    <p:extLst>
      <p:ext uri="{BB962C8B-B14F-4D97-AF65-F5344CB8AC3E}">
        <p14:creationId xmlns:p14="http://schemas.microsoft.com/office/powerpoint/2010/main" val="39508487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154577"/>
            <a:ext cx="10853057" cy="2548846"/>
          </a:xfrm>
        </p:spPr>
        <p:txBody>
          <a:bodyPr>
            <a:normAutofit/>
          </a:bodyPr>
          <a:lstStyle/>
          <a:p>
            <a:pPr marL="0" indent="0" algn="ctr">
              <a:buNone/>
            </a:pPr>
            <a:r>
              <a:rPr lang="pt-BR" sz="5400" dirty="0"/>
              <a:t>Anexo VI: </a:t>
            </a:r>
          </a:p>
          <a:p>
            <a:pPr marL="0" indent="0" algn="ctr">
              <a:buNone/>
            </a:pPr>
            <a:r>
              <a:rPr lang="pt-BR" sz="5400" dirty="0"/>
              <a:t>Efeitos de outliers no treinamento de modelos de ML</a:t>
            </a:r>
            <a:endParaRPr lang="en-US" sz="5400" i="1" dirty="0"/>
          </a:p>
        </p:txBody>
      </p:sp>
    </p:spTree>
    <p:extLst>
      <p:ext uri="{BB962C8B-B14F-4D97-AF65-F5344CB8AC3E}">
        <p14:creationId xmlns:p14="http://schemas.microsoft.com/office/powerpoint/2010/main" val="293061388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8998</TotalTime>
  <Words>13160</Words>
  <Application>Microsoft Office PowerPoint</Application>
  <PresentationFormat>Widescreen</PresentationFormat>
  <Paragraphs>954</Paragraphs>
  <Slides>90</Slides>
  <Notes>51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90</vt:i4>
      </vt:variant>
    </vt:vector>
  </HeadingPairs>
  <TitlesOfParts>
    <vt:vector size="98"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Função hipótese</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Impacto de outliers no modelo aprendido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2038</cp:revision>
  <dcterms:created xsi:type="dcterms:W3CDTF">2020-01-20T13:50:05Z</dcterms:created>
  <dcterms:modified xsi:type="dcterms:W3CDTF">2026-03-16T20:10:54Z</dcterms:modified>
</cp:coreProperties>
</file>