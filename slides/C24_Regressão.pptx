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94"/>
  </p:notesMasterIdLst>
  <p:handoutMasterIdLst>
    <p:handoutMasterId r:id="rId95"/>
  </p:handoutMasterIdLst>
  <p:sldIdLst>
    <p:sldId id="256" r:id="rId2"/>
    <p:sldId id="347" r:id="rId3"/>
    <p:sldId id="296" r:id="rId4"/>
    <p:sldId id="463" r:id="rId5"/>
    <p:sldId id="517" r:id="rId6"/>
    <p:sldId id="518" r:id="rId7"/>
    <p:sldId id="464" r:id="rId8"/>
    <p:sldId id="470" r:id="rId9"/>
    <p:sldId id="471" r:id="rId10"/>
    <p:sldId id="472" r:id="rId11"/>
    <p:sldId id="465" r:id="rId12"/>
    <p:sldId id="520" r:id="rId13"/>
    <p:sldId id="550" r:id="rId14"/>
    <p:sldId id="522" r:id="rId15"/>
    <p:sldId id="523" r:id="rId16"/>
    <p:sldId id="524" r:id="rId17"/>
    <p:sldId id="481" r:id="rId18"/>
    <p:sldId id="525" r:id="rId19"/>
    <p:sldId id="320" r:id="rId20"/>
    <p:sldId id="526" r:id="rId21"/>
    <p:sldId id="527" r:id="rId22"/>
    <p:sldId id="547" r:id="rId23"/>
    <p:sldId id="528" r:id="rId24"/>
    <p:sldId id="529" r:id="rId25"/>
    <p:sldId id="541" r:id="rId26"/>
    <p:sldId id="532" r:id="rId27"/>
    <p:sldId id="564" r:id="rId28"/>
    <p:sldId id="533" r:id="rId29"/>
    <p:sldId id="435" r:id="rId30"/>
    <p:sldId id="448" r:id="rId31"/>
    <p:sldId id="536" r:id="rId32"/>
    <p:sldId id="407" r:id="rId33"/>
    <p:sldId id="449" r:id="rId34"/>
    <p:sldId id="409" r:id="rId35"/>
    <p:sldId id="410" r:id="rId36"/>
    <p:sldId id="433" r:id="rId37"/>
    <p:sldId id="411" r:id="rId38"/>
    <p:sldId id="432" r:id="rId39"/>
    <p:sldId id="415" r:id="rId40"/>
    <p:sldId id="412" r:id="rId41"/>
    <p:sldId id="413" r:id="rId42"/>
    <p:sldId id="450" r:id="rId43"/>
    <p:sldId id="434" r:id="rId44"/>
    <p:sldId id="414" r:id="rId45"/>
    <p:sldId id="416" r:id="rId46"/>
    <p:sldId id="451" r:id="rId47"/>
    <p:sldId id="417" r:id="rId48"/>
    <p:sldId id="419" r:id="rId49"/>
    <p:sldId id="425" r:id="rId50"/>
    <p:sldId id="537" r:id="rId51"/>
    <p:sldId id="418" r:id="rId52"/>
    <p:sldId id="539" r:id="rId53"/>
    <p:sldId id="542" r:id="rId54"/>
    <p:sldId id="423" r:id="rId55"/>
    <p:sldId id="424" r:id="rId56"/>
    <p:sldId id="429" r:id="rId57"/>
    <p:sldId id="540" r:id="rId58"/>
    <p:sldId id="431" r:id="rId59"/>
    <p:sldId id="546" r:id="rId60"/>
    <p:sldId id="554" r:id="rId61"/>
    <p:sldId id="555" r:id="rId62"/>
    <p:sldId id="549" r:id="rId63"/>
    <p:sldId id="461" r:id="rId64"/>
    <p:sldId id="557" r:id="rId65"/>
    <p:sldId id="558" r:id="rId66"/>
    <p:sldId id="559" r:id="rId67"/>
    <p:sldId id="560" r:id="rId68"/>
    <p:sldId id="561" r:id="rId69"/>
    <p:sldId id="562" r:id="rId70"/>
    <p:sldId id="563" r:id="rId71"/>
    <p:sldId id="543" r:id="rId72"/>
    <p:sldId id="437" r:id="rId73"/>
    <p:sldId id="436" r:id="rId74"/>
    <p:sldId id="443" r:id="rId75"/>
    <p:sldId id="444" r:id="rId76"/>
    <p:sldId id="565" r:id="rId77"/>
    <p:sldId id="420" r:id="rId78"/>
    <p:sldId id="421" r:id="rId79"/>
    <p:sldId id="338" r:id="rId80"/>
    <p:sldId id="370" r:id="rId81"/>
    <p:sldId id="293" r:id="rId82"/>
    <p:sldId id="306" r:id="rId83"/>
    <p:sldId id="446" r:id="rId84"/>
    <p:sldId id="438" r:id="rId85"/>
    <p:sldId id="440" r:id="rId86"/>
    <p:sldId id="441" r:id="rId87"/>
    <p:sldId id="551" r:id="rId88"/>
    <p:sldId id="442" r:id="rId89"/>
    <p:sldId id="552" r:id="rId90"/>
    <p:sldId id="553" r:id="rId91"/>
    <p:sldId id="445" r:id="rId92"/>
    <p:sldId id="447" r:id="rId93"/>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078" autoAdjust="0"/>
    <p:restoredTop sz="77240" autoAdjust="0"/>
  </p:normalViewPr>
  <p:slideViewPr>
    <p:cSldViewPr snapToGrid="0">
      <p:cViewPr varScale="1">
        <p:scale>
          <a:sx n="85" d="100"/>
          <a:sy n="85" d="100"/>
        </p:scale>
        <p:origin x="1818" y="90"/>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handoutMaster" Target="handoutMasters/handoutMaster1.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notesMaster" Target="notesMasters/notesMaster1.xml"/><Relationship Id="rId99" Type="http://schemas.openxmlformats.org/officeDocument/2006/relationships/tableStyles" Target="tableStyles.xml"/><Relationship Id="rId101"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viewProps" Target="view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microsoft.com/office/2016/11/relationships/changesInfo" Target="changesInfos/changesInfo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theme" Target="theme/theme1.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18/02/2026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18/02/2026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mathworld.wolfram.com/WeierstrassApproximationTheorem.html" TargetMode="External"/><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3" Type="http://schemas.openxmlformats.org/officeDocument/2006/relationships/hyperlink" Target="https://www.kaggle.com/code/imoore/intro-to-exploratory-data-analysis-eda-in-python" TargetMode="External"/><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3</a:t>
            </a:fld>
            <a:endParaRPr lang="nl-BE"/>
          </a:p>
        </p:txBody>
      </p:sp>
    </p:spTree>
    <p:extLst>
      <p:ext uri="{BB962C8B-B14F-4D97-AF65-F5344CB8AC3E}">
        <p14:creationId xmlns:p14="http://schemas.microsoft.com/office/powerpoint/2010/main" val="28330213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Exemplos de aplicações</a:t>
            </a:r>
            <a:r>
              <a:rPr lang="pt-BR" baseline="0" dirty="0"/>
              <a:t> de regressão linear:</a:t>
            </a:r>
            <a:endParaRPr lang="pt-BR" dirty="0"/>
          </a:p>
          <a:p>
            <a:pPr marL="171450" indent="-171450">
              <a:buFont typeface="Arial" panose="020B0604020202020204" pitchFamily="34" charset="0"/>
              <a:buChar char="•"/>
            </a:pPr>
            <a:r>
              <a:rPr lang="pt-BR" dirty="0"/>
              <a:t>Modelos para predição do preço de casas.</a:t>
            </a:r>
          </a:p>
          <a:p>
            <a:pPr marL="171450" indent="-171450">
              <a:buFont typeface="Arial" panose="020B0604020202020204" pitchFamily="34" charset="0"/>
              <a:buChar char="•"/>
            </a:pPr>
            <a:r>
              <a:rPr lang="pt-BR" dirty="0"/>
              <a:t>Modelos para predição do salário de um empregado baseado em sua idade.</a:t>
            </a:r>
          </a:p>
          <a:p>
            <a:pPr marL="171450" indent="-171450">
              <a:buFont typeface="Arial" panose="020B0604020202020204" pitchFamily="34" charset="0"/>
              <a:buChar char="•"/>
            </a:pPr>
            <a:endParaRPr lang="pt-BR" dirty="0"/>
          </a:p>
          <a:p>
            <a:r>
              <a:rPr lang="pt-BR" b="1" dirty="0"/>
              <a:t>📊 1. Previsão de vendas em negócios</a:t>
            </a:r>
          </a:p>
          <a:p>
            <a:r>
              <a:rPr lang="pt-BR" dirty="0"/>
              <a:t>Empresas analisam dados históricos de vendas, publicidade, sazonalidade e indicadores econômicos para </a:t>
            </a:r>
            <a:r>
              <a:rPr lang="pt-BR" b="1" dirty="0"/>
              <a:t>prever vendas futuras</a:t>
            </a:r>
            <a:r>
              <a:rPr lang="pt-BR" dirty="0"/>
              <a:t>. Isso ajuda no planejamento de estoque, orçamento e campanhas de marketing.</a:t>
            </a:r>
          </a:p>
          <a:p>
            <a:endParaRPr lang="en-US" dirty="0"/>
          </a:p>
          <a:p>
            <a:r>
              <a:rPr lang="pt-BR" b="1" dirty="0"/>
              <a:t>🏠 2. Estimativa de preços de imóveis</a:t>
            </a:r>
          </a:p>
          <a:p>
            <a:r>
              <a:rPr lang="pt-BR" dirty="0"/>
              <a:t>Corretores e analistas usam regressão para </a:t>
            </a:r>
            <a:r>
              <a:rPr lang="pt-BR" b="1" dirty="0"/>
              <a:t>estimar o preço de uma casa</a:t>
            </a:r>
            <a:r>
              <a:rPr lang="pt-BR" dirty="0"/>
              <a:t> com base em características como área, número de quartos, localização e proximidade de escolas.</a:t>
            </a:r>
          </a:p>
          <a:p>
            <a:endParaRPr lang="en-US" dirty="0"/>
          </a:p>
          <a:p>
            <a:r>
              <a:rPr lang="pt-BR" b="1" dirty="0"/>
              <a:t>💳 4. Avaliação de risco de crédito</a:t>
            </a:r>
          </a:p>
          <a:p>
            <a:r>
              <a:rPr lang="pt-BR" dirty="0"/>
              <a:t>Bancos e instituições financeiras aplicam regressão para </a:t>
            </a:r>
            <a:r>
              <a:rPr lang="pt-BR" b="1" dirty="0"/>
              <a:t>predizer probabilidade de inadimplência</a:t>
            </a:r>
            <a:r>
              <a:rPr lang="pt-BR" dirty="0"/>
              <a:t> de clientes, analisando renda, histórico de crédito, emprego, etc., orientando decisões de empréstimos.</a:t>
            </a:r>
          </a:p>
          <a:p>
            <a:endParaRPr lang="en-US" dirty="0"/>
          </a:p>
          <a:p>
            <a:endParaRPr lang="en-US" dirty="0"/>
          </a:p>
          <a:p>
            <a:pPr marL="171450" indent="-171450">
              <a:buFont typeface="Arial" panose="020B0604020202020204" pitchFamily="34" charset="0"/>
              <a:buChar char="•"/>
            </a:pPr>
            <a:endParaRPr lang="pt-BR" dirty="0"/>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4</a:t>
            </a:fld>
            <a:endParaRPr lang="nl-BE"/>
          </a:p>
        </p:txBody>
      </p:sp>
    </p:spTree>
    <p:extLst>
      <p:ext uri="{BB962C8B-B14F-4D97-AF65-F5344CB8AC3E}">
        <p14:creationId xmlns:p14="http://schemas.microsoft.com/office/powerpoint/2010/main" val="44100982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a:t>
            </a:fld>
            <a:endParaRPr lang="nl-BE"/>
          </a:p>
        </p:txBody>
      </p:sp>
    </p:spTree>
    <p:extLst>
      <p:ext uri="{BB962C8B-B14F-4D97-AF65-F5344CB8AC3E}">
        <p14:creationId xmlns:p14="http://schemas.microsoft.com/office/powerpoint/2010/main" val="12286664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8</a:t>
            </a:fld>
            <a:endParaRPr lang="nl-BE"/>
          </a:p>
        </p:txBody>
      </p:sp>
    </p:spTree>
    <p:extLst>
      <p:ext uri="{BB962C8B-B14F-4D97-AF65-F5344CB8AC3E}">
        <p14:creationId xmlns:p14="http://schemas.microsoft.com/office/powerpoint/2010/main" val="2933540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O </a:t>
            </a:r>
            <a:r>
              <a:rPr lang="en-US" sz="1200" b="0" i="0" kern="1200" dirty="0" err="1">
                <a:solidFill>
                  <a:schemeClr val="tx1"/>
                </a:solidFill>
                <a:effectLst/>
                <a:latin typeface="+mn-lt"/>
                <a:ea typeface="+mn-ea"/>
                <a:cs typeface="+mn-cs"/>
              </a:rPr>
              <a:t>teorema</a:t>
            </a:r>
            <a:r>
              <a:rPr lang="en-US" sz="1200" b="0" i="0" kern="1200" baseline="0" dirty="0">
                <a:solidFill>
                  <a:schemeClr val="tx1"/>
                </a:solidFill>
                <a:effectLst/>
                <a:latin typeface="+mn-lt"/>
                <a:ea typeface="+mn-ea"/>
                <a:cs typeface="+mn-cs"/>
              </a:rPr>
              <a:t> f</a:t>
            </a:r>
            <a:r>
              <a:rPr lang="pt-BR" sz="1200" b="0" i="0" kern="1200" dirty="0" err="1">
                <a:solidFill>
                  <a:schemeClr val="tx1"/>
                </a:solidFill>
                <a:effectLst/>
                <a:latin typeface="+mn-lt"/>
                <a:ea typeface="+mn-ea"/>
                <a:cs typeface="+mn-cs"/>
              </a:rPr>
              <a:t>ornece</a:t>
            </a:r>
            <a:r>
              <a:rPr lang="pt-BR" sz="1200" b="0" i="0" kern="1200" dirty="0">
                <a:solidFill>
                  <a:schemeClr val="tx1"/>
                </a:solidFill>
                <a:effectLst/>
                <a:latin typeface="+mn-lt"/>
                <a:ea typeface="+mn-ea"/>
                <a:cs typeface="+mn-cs"/>
              </a:rPr>
              <a:t> uma maneira de aproximar funções complexas e não polinomiais por meio de polinômios simples.</a:t>
            </a: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a:t>
            </a:r>
            <a:r>
              <a:rPr lang="en-US" sz="1200" b="0" i="0" kern="1200" dirty="0" err="1">
                <a:solidFill>
                  <a:schemeClr val="tx1"/>
                </a:solidFill>
                <a:effectLst/>
                <a:latin typeface="+mn-lt"/>
                <a:ea typeface="+mn-ea"/>
                <a:cs typeface="+mn-cs"/>
              </a:rPr>
              <a:t>Weierstrass</a:t>
            </a:r>
            <a:r>
              <a:rPr lang="en-US" sz="1200" b="0" i="0" kern="1200" dirty="0">
                <a:solidFill>
                  <a:schemeClr val="tx1"/>
                </a:solidFill>
                <a:effectLst/>
                <a:latin typeface="+mn-lt"/>
                <a:ea typeface="+mn-ea"/>
                <a:cs typeface="+mn-cs"/>
              </a:rPr>
              <a:t> approximation theorem assures us that </a:t>
            </a:r>
            <a:r>
              <a:rPr lang="en-US" sz="1200" b="0" i="0" u="none" strike="noStrike" kern="1200" dirty="0">
                <a:solidFill>
                  <a:schemeClr val="tx1"/>
                </a:solidFill>
                <a:effectLst/>
                <a:latin typeface="+mn-lt"/>
                <a:ea typeface="+mn-ea"/>
                <a:cs typeface="+mn-cs"/>
                <a:hlinkClick r:id="rId3"/>
              </a:rPr>
              <a:t>polynomial approximation</a:t>
            </a:r>
            <a:r>
              <a:rPr lang="en-US" sz="1200" b="0" i="0" kern="1200" dirty="0">
                <a:solidFill>
                  <a:schemeClr val="tx1"/>
                </a:solidFill>
                <a:effectLst/>
                <a:latin typeface="+mn-lt"/>
                <a:ea typeface="+mn-ea"/>
                <a:cs typeface="+mn-cs"/>
              </a:rPr>
              <a:t> can get arbitrarily close to any continuous function as the polynomial order is increased.</a:t>
            </a:r>
          </a:p>
          <a:p>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err="1">
                <a:solidFill>
                  <a:schemeClr val="tx1"/>
                </a:solidFill>
                <a:effectLst/>
                <a:latin typeface="+mn-lt"/>
                <a:ea typeface="+mn-ea"/>
                <a:cs typeface="+mn-cs"/>
              </a:rPr>
              <a:t>Referências</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[1] https://ccrma.stanford.edu/~jos/st/Weierstrass_Approximation_Theorem.html</a:t>
            </a:r>
          </a:p>
          <a:p>
            <a:r>
              <a:rPr lang="en-US" sz="1200" b="0" i="0" kern="1200" dirty="0">
                <a:solidFill>
                  <a:schemeClr val="tx1"/>
                </a:solidFill>
                <a:effectLst/>
                <a:latin typeface="+mn-lt"/>
                <a:ea typeface="+mn-ea"/>
                <a:cs typeface="+mn-cs"/>
              </a:rPr>
              <a:t>[2] https://people.bath.ac.uk/mw2319/ma30252/sec-approx.html</a:t>
            </a:r>
            <a:endParaRPr lang="pt-BR" dirty="0"/>
          </a:p>
          <a:p>
            <a:endParaRPr lang="pt-BR"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76370874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kern="1200" dirty="0">
                <a:solidFill>
                  <a:schemeClr val="tx1"/>
                </a:solidFill>
                <a:effectLst/>
                <a:latin typeface="+mn-lt"/>
                <a:ea typeface="+mn-ea"/>
                <a:cs typeface="+mn-cs"/>
              </a:rPr>
              <a:t>Para aproximar uma função senoidal usando um polinômio, o método mais comum e elegante é a </a:t>
            </a:r>
            <a:r>
              <a:rPr lang="pt-BR" sz="1200" b="1" kern="1200" dirty="0">
                <a:solidFill>
                  <a:schemeClr val="tx1"/>
                </a:solidFill>
                <a:effectLst/>
                <a:latin typeface="+mn-lt"/>
                <a:ea typeface="+mn-ea"/>
                <a:cs typeface="+mn-cs"/>
              </a:rPr>
              <a:t>Série de Taylor</a:t>
            </a:r>
            <a:r>
              <a:rPr lang="pt-BR" sz="1200" kern="1200" dirty="0">
                <a:solidFill>
                  <a:schemeClr val="tx1"/>
                </a:solidFill>
                <a:effectLst/>
                <a:latin typeface="+mn-lt"/>
                <a:ea typeface="+mn-ea"/>
                <a:cs typeface="+mn-cs"/>
              </a:rPr>
              <a:t> (especificamente a Série de </a:t>
            </a:r>
            <a:r>
              <a:rPr lang="pt-BR" sz="1200" kern="1200" dirty="0" err="1">
                <a:solidFill>
                  <a:schemeClr val="tx1"/>
                </a:solidFill>
                <a:effectLst/>
                <a:latin typeface="+mn-lt"/>
                <a:ea typeface="+mn-ea"/>
                <a:cs typeface="+mn-cs"/>
              </a:rPr>
              <a:t>Maclaurin</a:t>
            </a:r>
            <a:r>
              <a:rPr lang="pt-BR" sz="1200" kern="1200" dirty="0">
                <a:solidFill>
                  <a:schemeClr val="tx1"/>
                </a:solidFill>
                <a:effectLst/>
                <a:latin typeface="+mn-lt"/>
                <a:ea typeface="+mn-ea"/>
                <a:cs typeface="+mn-cs"/>
              </a:rPr>
              <a:t>, quando centrada em zero).</a:t>
            </a:r>
          </a:p>
          <a:p>
            <a:r>
              <a:rPr lang="pt-BR" sz="1200" kern="1200" dirty="0">
                <a:solidFill>
                  <a:schemeClr val="tx1"/>
                </a:solidFill>
                <a:effectLst/>
                <a:latin typeface="+mn-lt"/>
                <a:ea typeface="+mn-ea"/>
                <a:cs typeface="+mn-cs"/>
              </a:rPr>
              <a:t>A fórmula para o seno é:</a:t>
            </a:r>
          </a:p>
          <a:p>
            <a:r>
              <a:rPr lang="pt-BR" sz="1200" kern="1200" dirty="0">
                <a:solidFill>
                  <a:schemeClr val="tx1"/>
                </a:solidFill>
                <a:effectLst/>
                <a:latin typeface="+mn-lt"/>
                <a:ea typeface="+mn-ea"/>
                <a:cs typeface="+mn-cs"/>
              </a:rPr>
              <a:t>$$\</a:t>
            </a:r>
            <a:r>
              <a:rPr lang="pt-BR" sz="1200" kern="1200" dirty="0" err="1">
                <a:solidFill>
                  <a:schemeClr val="tx1"/>
                </a:solidFill>
                <a:effectLst/>
                <a:latin typeface="+mn-lt"/>
                <a:ea typeface="+mn-ea"/>
                <a:cs typeface="+mn-cs"/>
              </a:rPr>
              <a:t>sin</a:t>
            </a:r>
            <a:r>
              <a:rPr lang="pt-BR" sz="1200" kern="1200" dirty="0">
                <a:solidFill>
                  <a:schemeClr val="tx1"/>
                </a:solidFill>
                <a:effectLst/>
                <a:latin typeface="+mn-lt"/>
                <a:ea typeface="+mn-ea"/>
                <a:cs typeface="+mn-cs"/>
              </a:rPr>
              <a:t>(x) \</a:t>
            </a:r>
            <a:r>
              <a:rPr lang="pt-BR" sz="1200" kern="1200" dirty="0" err="1">
                <a:solidFill>
                  <a:schemeClr val="tx1"/>
                </a:solidFill>
                <a:effectLst/>
                <a:latin typeface="+mn-lt"/>
                <a:ea typeface="+mn-ea"/>
                <a:cs typeface="+mn-cs"/>
              </a:rPr>
              <a:t>approx</a:t>
            </a:r>
            <a:r>
              <a:rPr lang="pt-BR" sz="1200" kern="1200" dirty="0">
                <a:solidFill>
                  <a:schemeClr val="tx1"/>
                </a:solidFill>
                <a:effectLst/>
                <a:latin typeface="+mn-lt"/>
                <a:ea typeface="+mn-ea"/>
                <a:cs typeface="+mn-cs"/>
              </a:rPr>
              <a:t> x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{x^3}{3!}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{x^5}{5!}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{x^7}{7!} + \</a:t>
            </a:r>
            <a:r>
              <a:rPr lang="pt-BR" sz="1200" kern="1200" dirty="0" err="1">
                <a:solidFill>
                  <a:schemeClr val="tx1"/>
                </a:solidFill>
                <a:effectLst/>
                <a:latin typeface="+mn-lt"/>
                <a:ea typeface="+mn-ea"/>
                <a:cs typeface="+mn-cs"/>
              </a:rPr>
              <a:t>dots</a:t>
            </a:r>
            <a:r>
              <a:rPr lang="pt-BR" sz="1200" kern="1200">
                <a:solidFill>
                  <a:schemeClr val="tx1"/>
                </a:solidFill>
                <a:effectLst/>
                <a:latin typeface="+mn-lt"/>
                <a:ea typeface="+mn-ea"/>
                <a:cs typeface="+mn-cs"/>
              </a:rPr>
              <a:t>$$</a:t>
            </a:r>
          </a:p>
          <a:p>
            <a:endParaRPr lang="pt-B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280580796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dirty="0"/>
                  <a:t>Percebam que </a:t>
                </a:r>
                <a14:m>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b="1" i="1">
                        <a:latin typeface="Cambria Math" panose="02040503050406030204" pitchFamily="18" charset="0"/>
                      </a:rPr>
                      <m:t>𝒂</m:t>
                    </m:r>
                    <m:r>
                      <a:rPr lang="pt-BR" i="1">
                        <a:latin typeface="Cambria Math" panose="02040503050406030204" pitchFamily="18" charset="0"/>
                      </a:rPr>
                      <m:t>)</m:t>
                    </m:r>
                  </m:oMath>
                </a14:m>
                <a:r>
                  <a:rPr lang="pt-BR" dirty="0"/>
                  <a:t> é função do vetor de pesos, pois variando os valores dos pesos, ficamos mais próximos ou distantes da função hipótese que minimiza o erro.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nl-BE" dirty="0"/>
                  <a:t>onde </a:t>
                </a:r>
                <a14:m>
                  <m:oMath xmlns:m="http://schemas.openxmlformats.org/officeDocument/2006/math">
                    <m:r>
                      <a:rPr lang="pt-BR" b="1" i="1" smtClean="0">
                        <a:latin typeface="Cambria Math" panose="02040503050406030204" pitchFamily="18" charset="0"/>
                      </a:rPr>
                      <m:t>𝑿</m:t>
                    </m:r>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sup>
                    </m:sSup>
                  </m:oMath>
                </a14:m>
                <a:r>
                  <a:rPr lang="nl-BE" dirty="0"/>
                  <a:t>é uma matriz </a:t>
                </a:r>
                <a14:m>
                  <m:oMath xmlns:m="http://schemas.openxmlformats.org/officeDocument/2006/math">
                    <m:r>
                      <a:rPr lang="pt-BR" b="0" i="1" smtClean="0">
                        <a:latin typeface="Cambria Math" panose="02040503050406030204" pitchFamily="18" charset="0"/>
                      </a:rPr>
                      <m:t>(</m:t>
                    </m:r>
                    <m:r>
                      <a:rPr lang="pt-BR" b="0" i="1" dirty="0" smtClean="0">
                        <a:latin typeface="Cambria Math" panose="02040503050406030204" pitchFamily="18" charset="0"/>
                      </a:rPr>
                      <m:t>𝑁</m:t>
                    </m:r>
                    <m:r>
                      <a:rPr lang="pt-BR" b="0" i="1" dirty="0" smtClean="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𝐾</m:t>
                    </m:r>
                    <m:r>
                      <a:rPr lang="pt-BR" b="0" i="1" dirty="0" smtClean="0">
                        <a:latin typeface="Cambria Math" panose="02040503050406030204" pitchFamily="18" charset="0"/>
                        <a:ea typeface="Cambria Math" panose="02040503050406030204" pitchFamily="18" charset="0"/>
                      </a:rPr>
                      <m:t>+1)</m:t>
                    </m:r>
                  </m:oMath>
                </a14:m>
                <a:r>
                  <a:rPr lang="nl-BE" dirty="0"/>
                  <a:t> com todos os atributos para os </a:t>
                </a:r>
                <a14:m>
                  <m:oMath xmlns:m="http://schemas.openxmlformats.org/officeDocument/2006/math">
                    <m:r>
                      <a:rPr lang="pt-BR" i="1">
                        <a:latin typeface="Cambria Math" panose="02040503050406030204" pitchFamily="18" charset="0"/>
                      </a:rPr>
                      <m:t>𝑁</m:t>
                    </m:r>
                  </m:oMath>
                </a14:m>
                <a:r>
                  <a:rPr lang="nl-BE" dirty="0"/>
                  <a:t> instantes de tempo considerados (i.e., </a:t>
                </a:r>
                <a14:m>
                  <m:oMath xmlns:m="http://schemas.openxmlformats.org/officeDocument/2006/math">
                    <m:r>
                      <a:rPr lang="pt-BR" i="1">
                        <a:latin typeface="Cambria Math" panose="02040503050406030204" pitchFamily="18" charset="0"/>
                      </a:rPr>
                      <m:t>𝑁</m:t>
                    </m:r>
                    <m:r>
                      <a:rPr lang="pt-BR" i="1">
                        <a:latin typeface="Cambria Math" panose="02040503050406030204" pitchFamily="18" charset="0"/>
                      </a:rPr>
                      <m:t> </m:t>
                    </m:r>
                  </m:oMath>
                </a14:m>
                <a:r>
                  <a:rPr lang="nl-BE" dirty="0"/>
                  <a:t>é o </a:t>
                </a:r>
                <a:r>
                  <a:rPr lang="nl-BE" b="1" i="1" dirty="0"/>
                  <a:t>número de exemplos coletados</a:t>
                </a:r>
                <a:r>
                  <a:rPr lang="nl-BE" dirty="0"/>
                  <a:t>) e </a:t>
                </a:r>
                <a14:m>
                  <m:oMath xmlns:m="http://schemas.openxmlformats.org/officeDocument/2006/math">
                    <m:r>
                      <a:rPr lang="pt-BR" b="1" i="1">
                        <a:latin typeface="Cambria Math" panose="02040503050406030204" pitchFamily="18" charset="0"/>
                      </a:rPr>
                      <m:t>𝒚</m:t>
                    </m:r>
                  </m:oMath>
                </a14:m>
                <a:r>
                  <a:rPr lang="nl-BE" dirty="0"/>
                  <a:t> e </a:t>
                </a:r>
                <a14:m>
                  <m:oMath xmlns:m="http://schemas.openxmlformats.org/officeDocument/2006/math">
                    <m:acc>
                      <m:accPr>
                        <m:chr m:val="̂"/>
                        <m:ctrlPr>
                          <a:rPr lang="pt-BR" i="1">
                            <a:latin typeface="Cambria Math" panose="02040503050406030204" pitchFamily="18" charset="0"/>
                          </a:rPr>
                        </m:ctrlPr>
                      </m:accPr>
                      <m:e>
                        <m:r>
                          <a:rPr lang="pt-BR" b="1" i="1">
                            <a:latin typeface="Cambria Math" panose="02040503050406030204" pitchFamily="18" charset="0"/>
                          </a:rPr>
                          <m:t>𝒚</m:t>
                        </m:r>
                      </m:e>
                    </m:acc>
                  </m:oMath>
                </a14:m>
                <a:r>
                  <a:rPr lang="nl-BE" dirty="0"/>
                  <a:t> são vetores coluna </a:t>
                </a:r>
                <a14:m>
                  <m:oMath xmlns:m="http://schemas.openxmlformats.org/officeDocument/2006/math">
                    <m:r>
                      <a:rPr lang="pt-BR" i="1">
                        <a:latin typeface="Cambria Math" panose="02040503050406030204" pitchFamily="18" charset="0"/>
                      </a:rPr>
                      <m:t>(</m:t>
                    </m:r>
                    <m:r>
                      <a:rPr lang="pt-BR" i="1" dirty="0">
                        <a:latin typeface="Cambria Math" panose="02040503050406030204" pitchFamily="18" charset="0"/>
                      </a:rPr>
                      <m:t>𝑁</m:t>
                    </m:r>
                    <m:r>
                      <a:rPr lang="pt-BR" i="1" dirty="0">
                        <a:latin typeface="Cambria Math" panose="02040503050406030204" pitchFamily="18" charset="0"/>
                        <a:ea typeface="Cambria Math" panose="02040503050406030204" pitchFamily="18" charset="0"/>
                      </a:rPr>
                      <m:t>×1)</m:t>
                    </m:r>
                  </m:oMath>
                </a14:m>
                <a:r>
                  <a:rPr lang="nl-BE" dirty="0"/>
                  <a:t> com todos os valores esperados e de saída da função hipótese para os </a:t>
                </a:r>
                <a14:m>
                  <m:oMath xmlns:m="http://schemas.openxmlformats.org/officeDocument/2006/math">
                    <m:r>
                      <a:rPr lang="pt-BR" i="1">
                        <a:latin typeface="Cambria Math" panose="02040503050406030204" pitchFamily="18" charset="0"/>
                      </a:rPr>
                      <m:t>𝑁</m:t>
                    </m:r>
                  </m:oMath>
                </a14:m>
                <a:r>
                  <a:rPr lang="nl-BE" dirty="0"/>
                  <a:t> instantes de tempo considerados, respectivamente.</a:t>
                </a:r>
              </a:p>
              <a:p>
                <a:endParaRPr lang="pt-BR" dirty="0"/>
              </a:p>
            </p:txBody>
          </p:sp>
        </mc:Choice>
        <mc:Fallback xmlns="">
          <p:sp>
            <p:nvSpPr>
              <p:cNvPr id="3" name="Espaço Reservado para Anotações 2"/>
              <p:cNvSpPr>
                <a:spLocks noGrp="1"/>
              </p:cNvSpPr>
              <p:nvPr>
                <p:ph type="body" idx="1"/>
              </p:nvPr>
            </p:nvSpPr>
            <p:spPr/>
            <p:txBody>
              <a:bodyPr/>
              <a:lstStyle/>
              <a:p>
                <a:r>
                  <a:rPr lang="pt-BR" dirty="0"/>
                  <a:t>Percebam que </a:t>
                </a: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a:t>
                </a:r>
                <a:r>
                  <a:rPr lang="pt-BR" dirty="0"/>
                  <a:t> é função do vetor de pesos, pois variando os valores dos pesos, ficamos mais próximos ou distantes da função hipótese que minimiza o erro.</a:t>
                </a:r>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17</a:t>
            </a:fld>
            <a:endParaRPr lang="nl-BE"/>
          </a:p>
        </p:txBody>
      </p:sp>
    </p:spTree>
    <p:extLst>
      <p:ext uri="{BB962C8B-B14F-4D97-AF65-F5344CB8AC3E}">
        <p14:creationId xmlns:p14="http://schemas.microsoft.com/office/powerpoint/2010/main" val="428959932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baseline="0" dirty="0"/>
          </a:p>
        </p:txBody>
      </p:sp>
      <p:sp>
        <p:nvSpPr>
          <p:cNvPr id="4" name="Slide Number Placeholder 3"/>
          <p:cNvSpPr>
            <a:spLocks noGrp="1"/>
          </p:cNvSpPr>
          <p:nvPr>
            <p:ph type="sldNum" sz="quarter" idx="10"/>
          </p:nvPr>
        </p:nvSpPr>
        <p:spPr/>
        <p:txBody>
          <a:bodyPr/>
          <a:lstStyle/>
          <a:p>
            <a:fld id="{DA8B99DF-01BC-492A-8CEF-4FD88D18DD9D}" type="slidenum">
              <a:rPr lang="nl-BE" smtClean="0"/>
              <a:t>19</a:t>
            </a:fld>
            <a:endParaRPr lang="nl-BE"/>
          </a:p>
        </p:txBody>
      </p:sp>
    </p:spTree>
    <p:extLst>
      <p:ext uri="{BB962C8B-B14F-4D97-AF65-F5344CB8AC3E}">
        <p14:creationId xmlns:p14="http://schemas.microsoft.com/office/powerpoint/2010/main" val="28186609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21</a:t>
            </a:fld>
            <a:endParaRPr lang="pt-BR"/>
          </a:p>
        </p:txBody>
      </p:sp>
    </p:spTree>
    <p:extLst>
      <p:ext uri="{BB962C8B-B14F-4D97-AF65-F5344CB8AC3E}">
        <p14:creationId xmlns:p14="http://schemas.microsoft.com/office/powerpoint/2010/main" val="239278333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pt-BR" dirty="0"/>
                  <a:t>Se expandirmos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oMath>
                </a14:m>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14:m>
                  <m:oMath xmlns:m="http://schemas.openxmlformats.org/officeDocument/2006/math">
                    <m:r>
                      <a:rPr lang="pt-BR" b="1" i="1">
                        <a:latin typeface="Cambria Math" panose="02040503050406030204" pitchFamily="18" charset="0"/>
                      </a:rPr>
                      <m:t>𝒂</m:t>
                    </m:r>
                    <m:r>
                      <a:rPr lang="en-US">
                        <a:latin typeface="Cambria Math" panose="02040503050406030204" pitchFamily="18" charset="0"/>
                      </a:rPr>
                      <m:t>.</m:t>
                    </m:r>
                  </m:oMath>
                </a14:m>
                <a:endParaRPr lang="en-US" i="1" dirty="0"/>
              </a:p>
              <a:p>
                <a:pPr marL="0" indent="0" algn="ctr">
                  <a:buNone/>
                </a:pP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b="1" i="1">
                        <a:latin typeface="Cambria Math" panose="02040503050406030204" pitchFamily="18" charset="0"/>
                      </a:rPr>
                      <m:t>=</m:t>
                    </m:r>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ctrlPr>
                          <a:rPr lang="pt-BR" i="1" smtClean="0">
                            <a:latin typeface="Cambria Math" panose="02040503050406030204" pitchFamily="18" charset="0"/>
                          </a:rPr>
                        </m:ctrlPr>
                      </m:d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pt-BR" b="1" i="1" dirty="0">
                                <a:latin typeface="Cambria Math" panose="02040503050406030204" pitchFamily="18" charset="0"/>
                              </a:rPr>
                            </m:ctrlPr>
                          </m:sSup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a:rPr lang="pt-BR" b="1" i="1">
                                <a:latin typeface="Cambria Math" panose="02040503050406030204" pitchFamily="18" charset="0"/>
                              </a:rPr>
                              <m:t>𝑿</m:t>
                            </m:r>
                            <m:r>
                              <a:rPr lang="pt-BR" b="1" i="1" dirty="0">
                                <a:latin typeface="Cambria Math" panose="02040503050406030204" pitchFamily="18" charset="0"/>
                              </a:rPr>
                              <m:t>𝒂</m:t>
                            </m:r>
                          </m:e>
                          <m:sup>
                            <m:r>
                              <a:rPr lang="pt-BR" i="1" dirty="0">
                                <a:latin typeface="Cambria Math" panose="02040503050406030204" pitchFamily="18" charset="0"/>
                              </a:rPr>
                              <m:t>𝑇</m:t>
                            </m:r>
                          </m:sup>
                        </m:sSup>
                        <m:r>
                          <m:rPr>
                            <m:nor/>
                          </m:rPr>
                          <a:rPr lang="nl-BE" dirty="0"/>
                          <m:t>−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𝑿𝒂</m:t>
                        </m:r>
                      </m:e>
                    </m:d>
                  </m:oMath>
                </a14:m>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14:m>
                  <m:oMath xmlns:m="http://schemas.openxmlformats.org/officeDocument/2006/math">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𝑿𝒂</m:t>
                            </m:r>
                          </m:e>
                        </m:d>
                      </m:e>
                      <m:sup>
                        <m:r>
                          <a:rPr lang="pt-BR" i="1">
                            <a:latin typeface="Cambria Math" panose="02040503050406030204" pitchFamily="18" charset="0"/>
                          </a:rPr>
                          <m:t>2</m:t>
                        </m:r>
                      </m:sup>
                    </m:sSup>
                    <m:r>
                      <a:rPr lang="pt-BR" b="0" i="0" smtClean="0">
                        <a:latin typeface="Cambria Math" panose="02040503050406030204" pitchFamily="18" charset="0"/>
                      </a:rPr>
                      <m:t>≥0</m:t>
                    </m:r>
                    <m:r>
                      <a:rPr lang="pt-BR">
                        <a:latin typeface="Cambria Math" panose="02040503050406030204" pitchFamily="18" charset="0"/>
                      </a:rPr>
                      <m:t>.</m:t>
                    </m:r>
                  </m:oMath>
                </a14:m>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Choice>
        <mc:Fallback xmlns="">
          <p:sp>
            <p:nvSpPr>
              <p:cNvPr id="3" name="Notes Placeholder 2"/>
              <p:cNvSpPr>
                <a:spLocks noGrp="1"/>
              </p:cNvSpPr>
              <p:nvPr>
                <p:ph type="body" idx="1"/>
              </p:nvPr>
            </p:nvSpPr>
            <p:spPr/>
            <p:txBody>
              <a:bodyPr/>
              <a:lstStyle/>
              <a:p>
                <a:r>
                  <a:rPr lang="pt-BR" dirty="0"/>
                  <a:t>Se expandirmos </a:t>
                </a:r>
                <a:r>
                  <a:rPr lang="pt-BR" i="0">
                    <a:latin typeface="Cambria Math" panose="02040503050406030204" pitchFamily="18" charset="0"/>
                  </a:rPr>
                  <a:t>𝐽_𝑒 (</a:t>
                </a:r>
                <a:r>
                  <a:rPr lang="pt-BR" b="1" i="0">
                    <a:latin typeface="Cambria Math" panose="02040503050406030204" pitchFamily="18" charset="0"/>
                  </a:rPr>
                  <a:t>𝒂)</a:t>
                </a:r>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r>
                  <a:rPr lang="pt-BR" b="1" i="0">
                    <a:latin typeface="Cambria Math" panose="02040503050406030204" pitchFamily="18" charset="0"/>
                  </a:rPr>
                  <a:t>𝒂</a:t>
                </a:r>
                <a:r>
                  <a:rPr lang="en-US" i="0">
                    <a:latin typeface="Cambria Math" panose="02040503050406030204" pitchFamily="18" charset="0"/>
                  </a:rPr>
                  <a:t>.</a:t>
                </a:r>
                <a:endParaRPr lang="en-US" i="1" dirty="0"/>
              </a:p>
              <a:p>
                <a:pPr marL="0" indent="0" algn="ctr">
                  <a:buNone/>
                </a:pP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〖1/𝑁 ‖</a:t>
                </a:r>
                <a:r>
                  <a:rPr lang="pt-BR" b="1" i="0">
                    <a:latin typeface="Cambria Math" panose="02040503050406030204" pitchFamily="18" charset="0"/>
                  </a:rPr>
                  <a:t>𝒚</a:t>
                </a:r>
                <a:r>
                  <a:rPr lang="pt-BR" i="0">
                    <a:latin typeface="Cambria Math" panose="02040503050406030204" pitchFamily="18" charset="0"/>
                  </a:rPr>
                  <a:t> −</a:t>
                </a:r>
                <a:r>
                  <a:rPr lang="pt-BR" b="1" i="0">
                    <a:latin typeface="Cambria Math" panose="02040503050406030204" pitchFamily="18" charset="0"/>
                  </a:rPr>
                  <a:t>𝑿𝒂‖〗^</a:t>
                </a:r>
                <a:r>
                  <a:rPr lang="pt-BR" i="0">
                    <a:latin typeface="Cambria Math" panose="02040503050406030204" pitchFamily="18" charset="0"/>
                  </a:rPr>
                  <a:t>2=1/𝑁 (</a:t>
                </a:r>
                <a:r>
                  <a:rPr lang="pt-BR" b="1" i="0" dirty="0">
                    <a:latin typeface="Cambria Math" panose="02040503050406030204" pitchFamily="18" charset="0"/>
                  </a:rPr>
                  <a:t>𝒚^</a:t>
                </a:r>
                <a:r>
                  <a:rPr lang="pt-BR" i="0" dirty="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pt-BR" b="1" i="0" dirty="0">
                    <a:latin typeface="Cambria Math" panose="02040503050406030204" pitchFamily="18" charset="0"/>
                  </a:rPr>
                  <a:t>" 〖𝒚^</a:t>
                </a:r>
                <a:r>
                  <a:rPr lang="pt-BR" i="0" dirty="0">
                    <a:latin typeface="Cambria Math" panose="02040503050406030204" pitchFamily="18" charset="0"/>
                  </a:rPr>
                  <a:t>𝑇</a:t>
                </a:r>
                <a:r>
                  <a:rPr lang="pt-BR" b="1" i="0">
                    <a:latin typeface="Cambria Math" panose="02040503050406030204" pitchFamily="18" charset="0"/>
                  </a:rPr>
                  <a:t> 𝑿</a:t>
                </a:r>
                <a:r>
                  <a:rPr lang="pt-BR" b="1" i="0" dirty="0">
                    <a:latin typeface="Cambria Math" panose="02040503050406030204" pitchFamily="18" charset="0"/>
                  </a:rPr>
                  <a:t>𝒂〗^</a:t>
                </a:r>
                <a:r>
                  <a:rPr lang="pt-BR" i="0" dirty="0">
                    <a:latin typeface="Cambria Math" panose="02040503050406030204" pitchFamily="18" charset="0"/>
                  </a:rPr>
                  <a:t>𝑇</a:t>
                </a:r>
                <a:r>
                  <a:rPr lang="nl-BE" i="0" dirty="0">
                    <a:latin typeface="Cambria Math" panose="02040503050406030204" pitchFamily="18" charset="0"/>
                  </a:rPr>
                  <a:t> "</a:t>
                </a:r>
                <a:r>
                  <a:rPr lang="nl-BE" i="0" dirty="0"/>
                  <a:t>−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a:latin typeface="Cambria Math" panose="02040503050406030204" pitchFamily="18" charset="0"/>
                  </a:rPr>
                  <a:t> 𝑿𝒂)</a:t>
                </a:r>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r>
                  <a:rPr lang="pt-BR" i="0">
                    <a:latin typeface="Cambria Math" panose="02040503050406030204" pitchFamily="18" charset="0"/>
                  </a:rPr>
                  <a:t>‖</a:t>
                </a:r>
                <a:r>
                  <a:rPr lang="pt-BR" b="1" i="0">
                    <a:latin typeface="Cambria Math" panose="02040503050406030204" pitchFamily="18" charset="0"/>
                  </a:rPr>
                  <a:t>𝑿𝒂‖^</a:t>
                </a:r>
                <a:r>
                  <a:rPr lang="pt-BR" i="0">
                    <a:latin typeface="Cambria Math" panose="02040503050406030204" pitchFamily="18" charset="0"/>
                  </a:rPr>
                  <a:t>2</a:t>
                </a:r>
                <a:r>
                  <a:rPr lang="pt-BR" b="0" i="0">
                    <a:latin typeface="Cambria Math" panose="02040503050406030204" pitchFamily="18" charset="0"/>
                  </a:rPr>
                  <a:t>≥0</a:t>
                </a:r>
                <a:r>
                  <a:rPr lang="pt-BR" i="0">
                    <a:latin typeface="Cambria Math" panose="02040503050406030204" pitchFamily="18" charset="0"/>
                  </a:rPr>
                  <a:t>.</a:t>
                </a:r>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Fallback>
      </mc:AlternateContent>
      <p:sp>
        <p:nvSpPr>
          <p:cNvPr id="4" name="Slide Number Placeholder 3"/>
          <p:cNvSpPr>
            <a:spLocks noGrp="1"/>
          </p:cNvSpPr>
          <p:nvPr>
            <p:ph type="sldNum" sz="quarter" idx="5"/>
          </p:nvPr>
        </p:nvSpPr>
        <p:spPr/>
        <p:txBody>
          <a:bodyPr/>
          <a:lstStyle/>
          <a:p>
            <a:fld id="{6FC8D850-966F-45A6-8DE7-15B891E7D40D}" type="slidenum">
              <a:rPr lang="pt-BR" smtClean="0"/>
              <a:t>24</a:t>
            </a:fld>
            <a:endParaRPr lang="pt-BR"/>
          </a:p>
        </p:txBody>
      </p:sp>
    </p:spTree>
    <p:extLst>
      <p:ext uri="{BB962C8B-B14F-4D97-AF65-F5344CB8AC3E}">
        <p14:creationId xmlns:p14="http://schemas.microsoft.com/office/powerpoint/2010/main" val="233382990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5A1E8E-C676-D391-F3AB-06DA1E751B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E31795-1D92-213A-9CDF-25BD6D59EAA3}"/>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B9D8ED50-39A7-01E8-5FC1-85AC9E30A765}"/>
                  </a:ext>
                </a:extLst>
              </p:cNvPr>
              <p:cNvSpPr>
                <a:spLocks noGrp="1"/>
              </p:cNvSpPr>
              <p:nvPr>
                <p:ph type="body" idx="1"/>
              </p:nvPr>
            </p:nvSpPr>
            <p:spPr/>
            <p:txBody>
              <a:bodyPr/>
              <a:lstStyle/>
              <a:p>
                <a:r>
                  <a:rPr lang="pt-BR" dirty="0"/>
                  <a:t>Se expandirmos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oMath>
                </a14:m>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14:m>
                  <m:oMath xmlns:m="http://schemas.openxmlformats.org/officeDocument/2006/math">
                    <m:r>
                      <a:rPr lang="pt-BR" b="1" i="1">
                        <a:latin typeface="Cambria Math" panose="02040503050406030204" pitchFamily="18" charset="0"/>
                      </a:rPr>
                      <m:t>𝒂</m:t>
                    </m:r>
                    <m:r>
                      <a:rPr lang="en-US">
                        <a:latin typeface="Cambria Math" panose="02040503050406030204" pitchFamily="18" charset="0"/>
                      </a:rPr>
                      <m:t>.</m:t>
                    </m:r>
                  </m:oMath>
                </a14:m>
                <a:endParaRPr lang="en-US" i="1" dirty="0"/>
              </a:p>
              <a:p>
                <a:pPr marL="0" indent="0" algn="ctr">
                  <a:buNone/>
                </a:pP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b="1" i="1">
                        <a:latin typeface="Cambria Math" panose="02040503050406030204" pitchFamily="18" charset="0"/>
                      </a:rPr>
                      <m:t>=</m:t>
                    </m:r>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ctrlPr>
                          <a:rPr lang="pt-BR" i="1" smtClean="0">
                            <a:latin typeface="Cambria Math" panose="02040503050406030204" pitchFamily="18" charset="0"/>
                          </a:rPr>
                        </m:ctrlPr>
                      </m:d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pt-BR" b="1" i="1" dirty="0">
                                <a:latin typeface="Cambria Math" panose="02040503050406030204" pitchFamily="18" charset="0"/>
                              </a:rPr>
                            </m:ctrlPr>
                          </m:sSup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a:rPr lang="pt-BR" b="1" i="1">
                                <a:latin typeface="Cambria Math" panose="02040503050406030204" pitchFamily="18" charset="0"/>
                              </a:rPr>
                              <m:t>𝑿</m:t>
                            </m:r>
                            <m:r>
                              <a:rPr lang="pt-BR" b="1" i="1" dirty="0">
                                <a:latin typeface="Cambria Math" panose="02040503050406030204" pitchFamily="18" charset="0"/>
                              </a:rPr>
                              <m:t>𝒂</m:t>
                            </m:r>
                          </m:e>
                          <m:sup>
                            <m:r>
                              <a:rPr lang="pt-BR" i="1" dirty="0">
                                <a:latin typeface="Cambria Math" panose="02040503050406030204" pitchFamily="18" charset="0"/>
                              </a:rPr>
                              <m:t>𝑇</m:t>
                            </m:r>
                          </m:sup>
                        </m:sSup>
                        <m:r>
                          <m:rPr>
                            <m:nor/>
                          </m:rPr>
                          <a:rPr lang="nl-BE" dirty="0"/>
                          <m:t>−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𝑿𝒂</m:t>
                        </m:r>
                      </m:e>
                    </m:d>
                  </m:oMath>
                </a14:m>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14:m>
                  <m:oMath xmlns:m="http://schemas.openxmlformats.org/officeDocument/2006/math">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𝑿𝒂</m:t>
                            </m:r>
                          </m:e>
                        </m:d>
                      </m:e>
                      <m:sup>
                        <m:r>
                          <a:rPr lang="pt-BR" i="1">
                            <a:latin typeface="Cambria Math" panose="02040503050406030204" pitchFamily="18" charset="0"/>
                          </a:rPr>
                          <m:t>2</m:t>
                        </m:r>
                      </m:sup>
                    </m:sSup>
                    <m:r>
                      <a:rPr lang="pt-BR" b="0" i="0" smtClean="0">
                        <a:latin typeface="Cambria Math" panose="02040503050406030204" pitchFamily="18" charset="0"/>
                      </a:rPr>
                      <m:t>≥0</m:t>
                    </m:r>
                    <m:r>
                      <a:rPr lang="pt-BR">
                        <a:latin typeface="Cambria Math" panose="02040503050406030204" pitchFamily="18" charset="0"/>
                      </a:rPr>
                      <m:t>.</m:t>
                    </m:r>
                  </m:oMath>
                </a14:m>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Choice>
        <mc:Fallback xmlns="">
          <p:sp>
            <p:nvSpPr>
              <p:cNvPr id="3" name="Notes Placeholder 2">
                <a:extLst>
                  <a:ext uri="{FF2B5EF4-FFF2-40B4-BE49-F238E27FC236}">
                    <a16:creationId xmlns:a16="http://schemas.microsoft.com/office/drawing/2014/main" id="{B9D8ED50-39A7-01E8-5FC1-85AC9E30A765}"/>
                  </a:ext>
                </a:extLst>
              </p:cNvPr>
              <p:cNvSpPr>
                <a:spLocks noGrp="1"/>
              </p:cNvSpPr>
              <p:nvPr>
                <p:ph type="body" idx="1"/>
              </p:nvPr>
            </p:nvSpPr>
            <p:spPr/>
            <p:txBody>
              <a:bodyPr/>
              <a:lstStyle/>
              <a:p>
                <a:r>
                  <a:rPr lang="pt-BR" dirty="0"/>
                  <a:t>Se expandirmos </a:t>
                </a:r>
                <a:r>
                  <a:rPr lang="pt-BR" i="0">
                    <a:latin typeface="Cambria Math" panose="02040503050406030204" pitchFamily="18" charset="0"/>
                  </a:rPr>
                  <a:t>𝐽_𝑒 (</a:t>
                </a:r>
                <a:r>
                  <a:rPr lang="pt-BR" b="1" i="0">
                    <a:latin typeface="Cambria Math" panose="02040503050406030204" pitchFamily="18" charset="0"/>
                  </a:rPr>
                  <a:t>𝒂)</a:t>
                </a:r>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r>
                  <a:rPr lang="pt-BR" b="1" i="0">
                    <a:latin typeface="Cambria Math" panose="02040503050406030204" pitchFamily="18" charset="0"/>
                  </a:rPr>
                  <a:t>𝒂</a:t>
                </a:r>
                <a:r>
                  <a:rPr lang="en-US" i="0">
                    <a:latin typeface="Cambria Math" panose="02040503050406030204" pitchFamily="18" charset="0"/>
                  </a:rPr>
                  <a:t>.</a:t>
                </a:r>
                <a:endParaRPr lang="en-US" i="1" dirty="0"/>
              </a:p>
              <a:p>
                <a:pPr marL="0" indent="0" algn="ctr">
                  <a:buNone/>
                </a:pP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〖1/𝑁 ‖</a:t>
                </a:r>
                <a:r>
                  <a:rPr lang="pt-BR" b="1" i="0">
                    <a:latin typeface="Cambria Math" panose="02040503050406030204" pitchFamily="18" charset="0"/>
                  </a:rPr>
                  <a:t>𝒚</a:t>
                </a:r>
                <a:r>
                  <a:rPr lang="pt-BR" i="0">
                    <a:latin typeface="Cambria Math" panose="02040503050406030204" pitchFamily="18" charset="0"/>
                  </a:rPr>
                  <a:t> −</a:t>
                </a:r>
                <a:r>
                  <a:rPr lang="pt-BR" b="1" i="0">
                    <a:latin typeface="Cambria Math" panose="02040503050406030204" pitchFamily="18" charset="0"/>
                  </a:rPr>
                  <a:t>𝑿𝒂‖〗^</a:t>
                </a:r>
                <a:r>
                  <a:rPr lang="pt-BR" i="0">
                    <a:latin typeface="Cambria Math" panose="02040503050406030204" pitchFamily="18" charset="0"/>
                  </a:rPr>
                  <a:t>2=1/𝑁 (</a:t>
                </a:r>
                <a:r>
                  <a:rPr lang="pt-BR" b="1" i="0" dirty="0">
                    <a:latin typeface="Cambria Math" panose="02040503050406030204" pitchFamily="18" charset="0"/>
                  </a:rPr>
                  <a:t>𝒚^</a:t>
                </a:r>
                <a:r>
                  <a:rPr lang="pt-BR" i="0" dirty="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pt-BR" b="1" i="0" dirty="0">
                    <a:latin typeface="Cambria Math" panose="02040503050406030204" pitchFamily="18" charset="0"/>
                  </a:rPr>
                  <a:t>" 〖𝒚^</a:t>
                </a:r>
                <a:r>
                  <a:rPr lang="pt-BR" i="0" dirty="0">
                    <a:latin typeface="Cambria Math" panose="02040503050406030204" pitchFamily="18" charset="0"/>
                  </a:rPr>
                  <a:t>𝑇</a:t>
                </a:r>
                <a:r>
                  <a:rPr lang="pt-BR" b="1" i="0">
                    <a:latin typeface="Cambria Math" panose="02040503050406030204" pitchFamily="18" charset="0"/>
                  </a:rPr>
                  <a:t> 𝑿</a:t>
                </a:r>
                <a:r>
                  <a:rPr lang="pt-BR" b="1" i="0" dirty="0">
                    <a:latin typeface="Cambria Math" panose="02040503050406030204" pitchFamily="18" charset="0"/>
                  </a:rPr>
                  <a:t>𝒂〗^</a:t>
                </a:r>
                <a:r>
                  <a:rPr lang="pt-BR" i="0" dirty="0">
                    <a:latin typeface="Cambria Math" panose="02040503050406030204" pitchFamily="18" charset="0"/>
                  </a:rPr>
                  <a:t>𝑇</a:t>
                </a:r>
                <a:r>
                  <a:rPr lang="nl-BE" i="0" dirty="0">
                    <a:latin typeface="Cambria Math" panose="02040503050406030204" pitchFamily="18" charset="0"/>
                  </a:rPr>
                  <a:t> "</a:t>
                </a:r>
                <a:r>
                  <a:rPr lang="nl-BE" i="0" dirty="0"/>
                  <a:t>−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a:latin typeface="Cambria Math" panose="02040503050406030204" pitchFamily="18" charset="0"/>
                  </a:rPr>
                  <a:t> 𝑿𝒂)</a:t>
                </a:r>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r>
                  <a:rPr lang="pt-BR" i="0">
                    <a:latin typeface="Cambria Math" panose="02040503050406030204" pitchFamily="18" charset="0"/>
                  </a:rPr>
                  <a:t>‖</a:t>
                </a:r>
                <a:r>
                  <a:rPr lang="pt-BR" b="1" i="0">
                    <a:latin typeface="Cambria Math" panose="02040503050406030204" pitchFamily="18" charset="0"/>
                  </a:rPr>
                  <a:t>𝑿𝒂‖^</a:t>
                </a:r>
                <a:r>
                  <a:rPr lang="pt-BR" i="0">
                    <a:latin typeface="Cambria Math" panose="02040503050406030204" pitchFamily="18" charset="0"/>
                  </a:rPr>
                  <a:t>2</a:t>
                </a:r>
                <a:r>
                  <a:rPr lang="pt-BR" b="0" i="0">
                    <a:latin typeface="Cambria Math" panose="02040503050406030204" pitchFamily="18" charset="0"/>
                  </a:rPr>
                  <a:t>≥0</a:t>
                </a:r>
                <a:r>
                  <a:rPr lang="pt-BR" i="0">
                    <a:latin typeface="Cambria Math" panose="02040503050406030204" pitchFamily="18" charset="0"/>
                  </a:rPr>
                  <a:t>.</a:t>
                </a:r>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Fallback>
      </mc:AlternateContent>
      <p:sp>
        <p:nvSpPr>
          <p:cNvPr id="4" name="Slide Number Placeholder 3">
            <a:extLst>
              <a:ext uri="{FF2B5EF4-FFF2-40B4-BE49-F238E27FC236}">
                <a16:creationId xmlns:a16="http://schemas.microsoft.com/office/drawing/2014/main" id="{1D522910-F4DB-7000-BEE7-C3B059C09549}"/>
              </a:ext>
            </a:extLst>
          </p:cNvPr>
          <p:cNvSpPr>
            <a:spLocks noGrp="1"/>
          </p:cNvSpPr>
          <p:nvPr>
            <p:ph type="sldNum" sz="quarter" idx="5"/>
          </p:nvPr>
        </p:nvSpPr>
        <p:spPr/>
        <p:txBody>
          <a:bodyPr/>
          <a:lstStyle/>
          <a:p>
            <a:fld id="{6FC8D850-966F-45A6-8DE7-15B891E7D40D}" type="slidenum">
              <a:rPr lang="pt-BR" smtClean="0"/>
              <a:t>25</a:t>
            </a:fld>
            <a:endParaRPr lang="pt-BR"/>
          </a:p>
        </p:txBody>
      </p:sp>
    </p:spTree>
    <p:extLst>
      <p:ext uri="{BB962C8B-B14F-4D97-AF65-F5344CB8AC3E}">
        <p14:creationId xmlns:p14="http://schemas.microsoft.com/office/powerpoint/2010/main" val="238140057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Convergência lenta</a:t>
            </a:r>
          </a:p>
          <a:p>
            <a:r>
              <a:rPr lang="pt-BR" dirty="0"/>
              <a:t>Regiões mal condicionadas, ravinas e platôs fazem com que:</a:t>
            </a:r>
          </a:p>
          <a:p>
            <a:r>
              <a:rPr lang="pt-BR" dirty="0"/>
              <a:t>o gradiente aponte em direções pouco úteis</a:t>
            </a:r>
          </a:p>
          <a:p>
            <a:r>
              <a:rPr lang="pt-BR" dirty="0"/>
              <a:t>o passo de atualização oscile</a:t>
            </a:r>
          </a:p>
          <a:p>
            <a:r>
              <a:rPr lang="pt-BR" dirty="0"/>
              <a:t>o treinamento leve muitas épocas</a:t>
            </a:r>
          </a:p>
          <a:p>
            <a:r>
              <a:rPr lang="pt-BR" dirty="0"/>
              <a:t>Isso explica por que redes profundas podem demorar a convergir sem técnicas como normalização, momentum ou Adam.</a:t>
            </a:r>
          </a:p>
          <a:p>
            <a:endParaRPr lang="pt-BR" b="1" dirty="0"/>
          </a:p>
          <a:p>
            <a:r>
              <a:rPr lang="pt-BR" b="1" dirty="0"/>
              <a:t>Instabilidade no treinamento</a:t>
            </a:r>
          </a:p>
          <a:p>
            <a:r>
              <a:rPr lang="pt-BR" dirty="0"/>
              <a:t>Penhascos e gradientes explosivos podem gerar:</a:t>
            </a:r>
          </a:p>
          <a:p>
            <a:r>
              <a:rPr lang="pt-BR" dirty="0"/>
              <a:t>saltos grandes nos pesos</a:t>
            </a:r>
          </a:p>
          <a:p>
            <a:r>
              <a:rPr lang="pt-BR" dirty="0"/>
              <a:t>divergência do erro</a:t>
            </a:r>
          </a:p>
          <a:p>
            <a:r>
              <a:rPr lang="pt-BR" dirty="0" err="1"/>
              <a:t>NaNs</a:t>
            </a:r>
            <a:r>
              <a:rPr lang="pt-BR" dirty="0"/>
              <a:t> ou overflow numérico</a:t>
            </a:r>
          </a:p>
          <a:p>
            <a:r>
              <a:rPr lang="pt-BR" dirty="0"/>
              <a:t>Por isso usam-se:</a:t>
            </a:r>
          </a:p>
          <a:p>
            <a:r>
              <a:rPr lang="pt-BR" dirty="0" err="1"/>
              <a:t>gradient</a:t>
            </a:r>
            <a:r>
              <a:rPr lang="pt-BR" dirty="0"/>
              <a:t> clipping</a:t>
            </a:r>
          </a:p>
          <a:p>
            <a:r>
              <a:rPr lang="pt-BR" dirty="0"/>
              <a:t>normalização</a:t>
            </a:r>
          </a:p>
          <a:p>
            <a:r>
              <a:rPr lang="pt-BR" dirty="0"/>
              <a:t>inicializações cuidadosas</a:t>
            </a:r>
            <a:endParaRPr lang="pt-BR" b="1" dirty="0"/>
          </a:p>
          <a:p>
            <a:endParaRPr lang="pt-BR" b="1" dirty="0"/>
          </a:p>
          <a:p>
            <a:r>
              <a:rPr lang="pt-BR" b="1" dirty="0"/>
              <a:t>Sensibilidade à inicialização</a:t>
            </a:r>
          </a:p>
          <a:p>
            <a:r>
              <a:rPr lang="pt-BR" dirty="0"/>
              <a:t>Devido às múltiplas bacias de atração e simetrias:</a:t>
            </a:r>
          </a:p>
          <a:p>
            <a:r>
              <a:rPr lang="pt-BR" dirty="0"/>
              <a:t>diferentes inicializações levam a soluções diferentes</a:t>
            </a:r>
          </a:p>
          <a:p>
            <a:r>
              <a:rPr lang="pt-BR" dirty="0"/>
              <a:t>o desempenho final pode variar</a:t>
            </a:r>
          </a:p>
          <a:p>
            <a:r>
              <a:rPr lang="pt-BR" dirty="0"/>
              <a:t>a reprodutibilidade diminui</a:t>
            </a:r>
          </a:p>
          <a:p>
            <a:endParaRPr lang="pt-BR" dirty="0"/>
          </a:p>
          <a:p>
            <a:r>
              <a:rPr lang="pt-BR" dirty="0"/>
              <a:t>Não garantimos um ótimo global — em redes neurais profundas isso é impraticável.</a:t>
            </a:r>
            <a:br>
              <a:rPr lang="pt-BR" dirty="0"/>
            </a:br>
            <a:r>
              <a:rPr lang="pt-BR" dirty="0"/>
              <a:t>Em vez disso, buscamos </a:t>
            </a:r>
            <a:r>
              <a:rPr lang="pt-BR" b="1" dirty="0"/>
              <a:t>boas soluções empiricamente estáveis</a:t>
            </a:r>
            <a:r>
              <a:rPr lang="pt-BR" dirty="0"/>
              <a:t> usando um conjunto de estratégias:</a:t>
            </a:r>
          </a:p>
          <a:p>
            <a:r>
              <a:rPr lang="pt-BR" b="1" dirty="0"/>
              <a:t>Inicialização adequada</a:t>
            </a:r>
            <a:r>
              <a:rPr lang="pt-BR" dirty="0"/>
              <a:t> dos pesos</a:t>
            </a:r>
          </a:p>
          <a:p>
            <a:r>
              <a:rPr lang="pt-BR" b="1" dirty="0"/>
              <a:t>Normalizações</a:t>
            </a:r>
            <a:r>
              <a:rPr lang="pt-BR" dirty="0"/>
              <a:t> (ex.: batch/</a:t>
            </a:r>
            <a:r>
              <a:rPr lang="pt-BR" dirty="0" err="1"/>
              <a:t>layer</a:t>
            </a:r>
            <a:r>
              <a:rPr lang="pt-BR" dirty="0"/>
              <a:t> </a:t>
            </a:r>
            <a:r>
              <a:rPr lang="pt-BR" dirty="0" err="1"/>
              <a:t>norm</a:t>
            </a:r>
            <a:r>
              <a:rPr lang="pt-BR" dirty="0"/>
              <a:t>) para suavizar a superfície</a:t>
            </a:r>
          </a:p>
          <a:p>
            <a:r>
              <a:rPr lang="pt-BR" b="1" dirty="0" err="1"/>
              <a:t>Otimizadores</a:t>
            </a:r>
            <a:r>
              <a:rPr lang="pt-BR" b="1" dirty="0"/>
              <a:t> robustos</a:t>
            </a:r>
            <a:r>
              <a:rPr lang="pt-BR" dirty="0"/>
              <a:t> (SGD com momentum, Adam etc.)</a:t>
            </a:r>
          </a:p>
          <a:p>
            <a:r>
              <a:rPr lang="pt-BR" b="1" dirty="0"/>
              <a:t>Ruído estocástico</a:t>
            </a:r>
            <a:r>
              <a:rPr lang="pt-BR" dirty="0"/>
              <a:t> dos </a:t>
            </a:r>
            <a:r>
              <a:rPr lang="pt-BR" dirty="0" err="1"/>
              <a:t>minibatches</a:t>
            </a:r>
            <a:r>
              <a:rPr lang="pt-BR" dirty="0"/>
              <a:t> para escapar de regiões ruins</a:t>
            </a:r>
          </a:p>
          <a:p>
            <a:r>
              <a:rPr lang="pt-BR" b="1" dirty="0"/>
              <a:t>Regularização</a:t>
            </a:r>
            <a:r>
              <a:rPr lang="pt-BR" dirty="0"/>
              <a:t> para favorecer mínimos planos</a:t>
            </a:r>
          </a:p>
          <a:p>
            <a:r>
              <a:rPr lang="pt-BR" b="1" dirty="0"/>
              <a:t>Validação</a:t>
            </a:r>
            <a:r>
              <a:rPr lang="pt-BR" dirty="0"/>
              <a:t> para escolher o melhor modelo treinado</a:t>
            </a:r>
          </a:p>
          <a:p>
            <a:r>
              <a:rPr lang="pt-BR" dirty="0"/>
              <a:t>Em resumo:</a:t>
            </a:r>
            <a:br>
              <a:rPr lang="pt-BR" dirty="0"/>
            </a:br>
            <a:r>
              <a:rPr lang="pt-BR" dirty="0"/>
              <a:t>👉 não garantimos o melhor mínimo, mas usamos técnicas que tornam </a:t>
            </a:r>
            <a:r>
              <a:rPr lang="pt-BR" b="1" dirty="0"/>
              <a:t>muito provável encontrar um mínimo que generaliza bem</a:t>
            </a:r>
            <a:r>
              <a:rPr lang="pt-BR" dirty="0"/>
              <a:t>.</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27</a:t>
            </a:fld>
            <a:endParaRPr lang="pt-BR"/>
          </a:p>
        </p:txBody>
      </p:sp>
    </p:spTree>
    <p:extLst>
      <p:ext uri="{BB962C8B-B14F-4D97-AF65-F5344CB8AC3E}">
        <p14:creationId xmlns:p14="http://schemas.microsoft.com/office/powerpoint/2010/main" val="217510253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 partir de um ponto inicial (i.e., uma suposição aleatória de pesos), o algoritmo extrai a informação de direção do ponto de mínimo a partir da função de erro e a usa para atualizar o ponto (i.e., otimizar a suposição atual) </a:t>
            </a:r>
          </a:p>
          <a:p>
            <a:r>
              <a:rPr lang="pt-BR" dirty="0"/>
              <a:t>Em geral, o novo ponto (i.e., conjunto de pesos) resulta em um erro menor do que o anterior.</a:t>
            </a:r>
          </a:p>
          <a:p>
            <a:r>
              <a:rPr lang="pt-BR" dirty="0"/>
              <a:t>Esse processo é repetido a partir do ponto corrente até que o erro seja minimizado.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partir de um ponto inicial (i.e., conjunto de pesos aleatórios), a cada iteração (i.e., suposição) do algoritmo, tem-se, em geral, um conjunto de pesos que resulta em um erro menor do que o anterior.</a:t>
            </a:r>
          </a:p>
          <a:p>
            <a:endParaRPr lang="pt-BR" dirty="0"/>
          </a:p>
          <a:p>
            <a:endParaRPr lang="pt-BR" dirty="0"/>
          </a:p>
          <a:p>
            <a:endParaRPr lang="pt-BR" dirty="0"/>
          </a:p>
          <a:p>
            <a:endParaRPr lang="pt-BR" dirty="0"/>
          </a:p>
          <a:p>
            <a:r>
              <a:rPr lang="pt-BR" dirty="0"/>
              <a:t>(i.e., conjunto de pesos aleatórios), a cada iteração (i.e., suposição) do algoritmo, tem-se, em geral, um conjunto de pesos que resulta em um erro menor do que o anterior.</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30</a:t>
            </a:fld>
            <a:endParaRPr lang="pt-BR"/>
          </a:p>
        </p:txBody>
      </p:sp>
    </p:spTree>
    <p:extLst>
      <p:ext uri="{BB962C8B-B14F-4D97-AF65-F5344CB8AC3E}">
        <p14:creationId xmlns:p14="http://schemas.microsoft.com/office/powerpoint/2010/main" val="251929686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DD620E-90FB-2B50-6817-51C6AF070C7B}"/>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7A9F2521-CA80-4D00-7E67-903A71BE5715}"/>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0F88BC34-693D-9AE1-039B-E45CD9A4450D}"/>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p>
          <a:p>
            <a:endParaRPr lang="pt-BR" b="0" i="0" dirty="0">
              <a:solidFill>
                <a:srgbClr val="374151"/>
              </a:solidFill>
              <a:effectLst/>
              <a:latin typeface="Söhne"/>
            </a:endParaRPr>
          </a:p>
          <a:p>
            <a:r>
              <a:rPr lang="pt-BR" b="0" i="0" dirty="0">
                <a:solidFill>
                  <a:srgbClr val="EEF0FF"/>
                </a:solidFill>
                <a:effectLst/>
                <a:latin typeface="Google Sans"/>
              </a:rPr>
              <a:t>O vértice da parábola é o ponto em que o gráfico de uma função do 2º grau muda de sentido. É também o ponto de máximo ou mínimo da parábola. </a:t>
            </a:r>
            <a:endParaRPr lang="pt-BR" dirty="0"/>
          </a:p>
        </p:txBody>
      </p:sp>
      <p:sp>
        <p:nvSpPr>
          <p:cNvPr id="4" name="Espaço Reservado para Número de Slide 3">
            <a:extLst>
              <a:ext uri="{FF2B5EF4-FFF2-40B4-BE49-F238E27FC236}">
                <a16:creationId xmlns:a16="http://schemas.microsoft.com/office/drawing/2014/main" id="{564B5010-A526-F1A7-081A-837B0A1AAEC5}"/>
              </a:ext>
            </a:extLst>
          </p:cNvPr>
          <p:cNvSpPr>
            <a:spLocks noGrp="1"/>
          </p:cNvSpPr>
          <p:nvPr>
            <p:ph type="sldNum" sz="quarter" idx="5"/>
          </p:nvPr>
        </p:nvSpPr>
        <p:spPr/>
        <p:txBody>
          <a:bodyPr/>
          <a:lstStyle/>
          <a:p>
            <a:fld id="{6FC8D850-966F-45A6-8DE7-15B891E7D40D}" type="slidenum">
              <a:rPr lang="pt-BR" smtClean="0"/>
              <a:t>33</a:t>
            </a:fld>
            <a:endParaRPr lang="pt-BR"/>
          </a:p>
        </p:txBody>
      </p:sp>
    </p:spTree>
    <p:extLst>
      <p:ext uri="{BB962C8B-B14F-4D97-AF65-F5344CB8AC3E}">
        <p14:creationId xmlns:p14="http://schemas.microsoft.com/office/powerpoint/2010/main" val="169650554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34</a:t>
            </a:fld>
            <a:endParaRPr lang="pt-BR"/>
          </a:p>
        </p:txBody>
      </p:sp>
    </p:spTree>
    <p:extLst>
      <p:ext uri="{BB962C8B-B14F-4D97-AF65-F5344CB8AC3E}">
        <p14:creationId xmlns:p14="http://schemas.microsoft.com/office/powerpoint/2010/main" val="83627188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35</a:t>
            </a:fld>
            <a:endParaRPr lang="pt-BR"/>
          </a:p>
        </p:txBody>
      </p:sp>
    </p:spTree>
    <p:extLst>
      <p:ext uri="{BB962C8B-B14F-4D97-AF65-F5344CB8AC3E}">
        <p14:creationId xmlns:p14="http://schemas.microsoft.com/office/powerpoint/2010/main" val="181839180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37</a:t>
            </a:fld>
            <a:endParaRPr lang="pt-BR"/>
          </a:p>
        </p:txBody>
      </p:sp>
    </p:spTree>
    <p:extLst>
      <p:ext uri="{BB962C8B-B14F-4D97-AF65-F5344CB8AC3E}">
        <p14:creationId xmlns:p14="http://schemas.microsoft.com/office/powerpoint/2010/main" val="394095044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38</a:t>
            </a:fld>
            <a:endParaRPr lang="pt-BR"/>
          </a:p>
        </p:txBody>
      </p:sp>
    </p:spTree>
    <p:extLst>
      <p:ext uri="{BB962C8B-B14F-4D97-AF65-F5344CB8AC3E}">
        <p14:creationId xmlns:p14="http://schemas.microsoft.com/office/powerpoint/2010/main" val="361698287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39</a:t>
            </a:fld>
            <a:endParaRPr lang="pt-BR"/>
          </a:p>
        </p:txBody>
      </p:sp>
    </p:spTree>
    <p:extLst>
      <p:ext uri="{BB962C8B-B14F-4D97-AF65-F5344CB8AC3E}">
        <p14:creationId xmlns:p14="http://schemas.microsoft.com/office/powerpoint/2010/main" val="83617145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40</a:t>
            </a:fld>
            <a:endParaRPr lang="pt-BR"/>
          </a:p>
        </p:txBody>
      </p:sp>
    </p:spTree>
    <p:extLst>
      <p:ext uri="{BB962C8B-B14F-4D97-AF65-F5344CB8AC3E}">
        <p14:creationId xmlns:p14="http://schemas.microsoft.com/office/powerpoint/2010/main" val="57085645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41</a:t>
            </a:fld>
            <a:endParaRPr lang="pt-BR"/>
          </a:p>
        </p:txBody>
      </p:sp>
    </p:spTree>
    <p:extLst>
      <p:ext uri="{BB962C8B-B14F-4D97-AF65-F5344CB8AC3E}">
        <p14:creationId xmlns:p14="http://schemas.microsoft.com/office/powerpoint/2010/main" val="306568221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D0DDA-D6FC-212D-DF46-3DB759E65CD4}"/>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DAF18AB7-E93B-53DF-E1B4-3107CF6AFB54}"/>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6397914C-3CE3-A910-EC3C-4BB194E3690A}"/>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id="{83D151E3-4C62-E24A-79DA-5EC35DC9EB00}"/>
              </a:ext>
            </a:extLst>
          </p:cNvPr>
          <p:cNvSpPr>
            <a:spLocks noGrp="1"/>
          </p:cNvSpPr>
          <p:nvPr>
            <p:ph type="sldNum" sz="quarter" idx="5"/>
          </p:nvPr>
        </p:nvSpPr>
        <p:spPr/>
        <p:txBody>
          <a:bodyPr/>
          <a:lstStyle/>
          <a:p>
            <a:fld id="{6FC8D850-966F-45A6-8DE7-15B891E7D40D}" type="slidenum">
              <a:rPr lang="pt-BR" smtClean="0"/>
              <a:t>42</a:t>
            </a:fld>
            <a:endParaRPr lang="pt-BR"/>
          </a:p>
        </p:txBody>
      </p:sp>
    </p:spTree>
    <p:extLst>
      <p:ext uri="{BB962C8B-B14F-4D97-AF65-F5344CB8AC3E}">
        <p14:creationId xmlns:p14="http://schemas.microsoft.com/office/powerpoint/2010/main" val="246018864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43</a:t>
            </a:fld>
            <a:endParaRPr lang="pt-BR"/>
          </a:p>
        </p:txBody>
      </p:sp>
    </p:spTree>
    <p:extLst>
      <p:ext uri="{BB962C8B-B14F-4D97-AF65-F5344CB8AC3E}">
        <p14:creationId xmlns:p14="http://schemas.microsoft.com/office/powerpoint/2010/main" val="13083676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44</a:t>
            </a:fld>
            <a:endParaRPr lang="pt-BR"/>
          </a:p>
        </p:txBody>
      </p:sp>
    </p:spTree>
    <p:extLst>
      <p:ext uri="{BB962C8B-B14F-4D97-AF65-F5344CB8AC3E}">
        <p14:creationId xmlns:p14="http://schemas.microsoft.com/office/powerpoint/2010/main" val="89811918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45</a:t>
            </a:fld>
            <a:endParaRPr lang="pt-BR"/>
          </a:p>
        </p:txBody>
      </p:sp>
    </p:spTree>
    <p:extLst>
      <p:ext uri="{BB962C8B-B14F-4D97-AF65-F5344CB8AC3E}">
        <p14:creationId xmlns:p14="http://schemas.microsoft.com/office/powerpoint/2010/main" val="246754109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AF0959-2FA8-F75E-F8E3-1AC15E305C2B}"/>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BB974647-2308-D5CF-6296-CD0D0A521FC5}"/>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81BE00D6-0F4A-5F4C-EC10-F544EB1F0EB2}"/>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id="{A52A8DF8-274A-95C2-39D7-F58EA26DEE5B}"/>
              </a:ext>
            </a:extLst>
          </p:cNvPr>
          <p:cNvSpPr>
            <a:spLocks noGrp="1"/>
          </p:cNvSpPr>
          <p:nvPr>
            <p:ph type="sldNum" sz="quarter" idx="5"/>
          </p:nvPr>
        </p:nvSpPr>
        <p:spPr/>
        <p:txBody>
          <a:bodyPr/>
          <a:lstStyle/>
          <a:p>
            <a:fld id="{6FC8D850-966F-45A6-8DE7-15B891E7D40D}" type="slidenum">
              <a:rPr lang="pt-BR" smtClean="0"/>
              <a:t>46</a:t>
            </a:fld>
            <a:endParaRPr lang="pt-BR"/>
          </a:p>
        </p:txBody>
      </p:sp>
    </p:spTree>
    <p:extLst>
      <p:ext uri="{BB962C8B-B14F-4D97-AF65-F5344CB8AC3E}">
        <p14:creationId xmlns:p14="http://schemas.microsoft.com/office/powerpoint/2010/main" val="206125252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47</a:t>
            </a:fld>
            <a:endParaRPr lang="pt-BR"/>
          </a:p>
        </p:txBody>
      </p:sp>
    </p:spTree>
    <p:extLst>
      <p:ext uri="{BB962C8B-B14F-4D97-AF65-F5344CB8AC3E}">
        <p14:creationId xmlns:p14="http://schemas.microsoft.com/office/powerpoint/2010/main" val="345781345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48</a:t>
            </a:fld>
            <a:endParaRPr lang="pt-BR"/>
          </a:p>
        </p:txBody>
      </p:sp>
    </p:spTree>
    <p:extLst>
      <p:ext uri="{BB962C8B-B14F-4D97-AF65-F5344CB8AC3E}">
        <p14:creationId xmlns:p14="http://schemas.microsoft.com/office/powerpoint/2010/main" val="228868069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49</a:t>
            </a:fld>
            <a:endParaRPr lang="pt-BR"/>
          </a:p>
        </p:txBody>
      </p:sp>
    </p:spTree>
    <p:extLst>
      <p:ext uri="{BB962C8B-B14F-4D97-AF65-F5344CB8AC3E}">
        <p14:creationId xmlns:p14="http://schemas.microsoft.com/office/powerpoint/2010/main" val="414289294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50</a:t>
            </a:fld>
            <a:endParaRPr lang="pt-BR"/>
          </a:p>
        </p:txBody>
      </p:sp>
    </p:spTree>
    <p:extLst>
      <p:ext uri="{BB962C8B-B14F-4D97-AF65-F5344CB8AC3E}">
        <p14:creationId xmlns:p14="http://schemas.microsoft.com/office/powerpoint/2010/main" val="240511606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É importante escolher uma boa taxa de aprendizado ou podemos oscilar para sempre. Ou, de fato, uma técnica avançada é ajustar a taxa de aprendizado em tempo real. Pode ser bom tê-lo maior quando estivermos mais acima na curva e reduzi-lo gradualmente passo a passo para que possamos chegar ao fundo mais rapidamente.</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51</a:t>
            </a:fld>
            <a:endParaRPr lang="pt-BR"/>
          </a:p>
        </p:txBody>
      </p:sp>
    </p:spTree>
    <p:extLst>
      <p:ext uri="{BB962C8B-B14F-4D97-AF65-F5344CB8AC3E}">
        <p14:creationId xmlns:p14="http://schemas.microsoft.com/office/powerpoint/2010/main" val="319912031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55</a:t>
            </a:fld>
            <a:endParaRPr lang="pt-BR"/>
          </a:p>
        </p:txBody>
      </p:sp>
    </p:spTree>
    <p:extLst>
      <p:ext uri="{BB962C8B-B14F-4D97-AF65-F5344CB8AC3E}">
        <p14:creationId xmlns:p14="http://schemas.microsoft.com/office/powerpoint/2010/main" val="141762758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Gradiente Descendente em Batelada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possui as seguintes características:</a:t>
            </a:r>
          </a:p>
          <a:p>
            <a:pPr algn="l"/>
            <a:endParaRPr lang="pt-BR" b="0" i="0" dirty="0">
              <a:solidFill>
                <a:srgbClr val="374151"/>
              </a:solidFill>
              <a:effectLst/>
              <a:latin typeface="Söhne"/>
            </a:endParaRPr>
          </a:p>
          <a:p>
            <a:pPr algn="l"/>
            <a:r>
              <a:rPr lang="pt-BR" b="0" i="0" dirty="0">
                <a:solidFill>
                  <a:srgbClr val="374151"/>
                </a:solidFill>
                <a:effectLst/>
                <a:latin typeface="Söhne"/>
              </a:rPr>
              <a:t>1. **Utilização de Todo o Conjunto de Dados:** No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a atualização dos pesos do modelo é calculada considerando o gradiente da função de perda em relação a todos os exemplos do conjunto de treinamento. Isso significa que o gradiente é calculado usando todas as amostras disponíveis.</a:t>
            </a:r>
          </a:p>
          <a:p>
            <a:pPr algn="l"/>
            <a:endParaRPr lang="pt-BR" b="0" i="0" dirty="0">
              <a:solidFill>
                <a:srgbClr val="374151"/>
              </a:solidFill>
              <a:effectLst/>
              <a:latin typeface="Söhne"/>
            </a:endParaRPr>
          </a:p>
          <a:p>
            <a:pPr algn="l"/>
            <a:r>
              <a:rPr lang="pt-BR" b="0" i="0" dirty="0">
                <a:solidFill>
                  <a:srgbClr val="374151"/>
                </a:solidFill>
                <a:effectLst/>
                <a:latin typeface="Söhne"/>
              </a:rPr>
              <a:t>2. **Precisão e Estabilidade:** O uso de todo o conjunto de dados para calcular o gradiente proporciona uma direção de atualização mais precisa e estável para os pesos do modelo. Isso tende a resultar em convergência mais direta em direção a um mínimo local ou global da função de perda.</a:t>
            </a:r>
          </a:p>
          <a:p>
            <a:pPr algn="l"/>
            <a:endParaRPr lang="pt-BR" b="0" i="0" dirty="0">
              <a:solidFill>
                <a:srgbClr val="374151"/>
              </a:solidFill>
              <a:effectLst/>
              <a:latin typeface="Söhne"/>
            </a:endParaRPr>
          </a:p>
          <a:p>
            <a:pPr algn="l"/>
            <a:r>
              <a:rPr lang="pt-BR" b="0" i="0" dirty="0">
                <a:solidFill>
                  <a:srgbClr val="374151"/>
                </a:solidFill>
                <a:effectLst/>
                <a:latin typeface="Söhne"/>
              </a:rPr>
              <a:t>3. **Convergência Mais Lenta em Grandes Conjuntos de Dados:** Embora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ofereça uma direção precisa para a otimização, ele pode ser computacionalmente caro e demorado para conjuntos de dados grandes, pois requer o cálculo de gradientes para todas as amostras em cada iteração.</a:t>
            </a:r>
          </a:p>
          <a:p>
            <a:pPr algn="l"/>
            <a:endParaRPr lang="pt-BR" b="0" i="0" dirty="0">
              <a:solidFill>
                <a:srgbClr val="374151"/>
              </a:solidFill>
              <a:effectLst/>
              <a:latin typeface="Söhne"/>
            </a:endParaRPr>
          </a:p>
          <a:p>
            <a:pPr algn="l"/>
            <a:r>
              <a:rPr lang="pt-BR" b="0" i="0" dirty="0">
                <a:solidFill>
                  <a:srgbClr val="374151"/>
                </a:solidFill>
                <a:effectLst/>
                <a:latin typeface="Söhne"/>
              </a:rPr>
              <a:t>4. **Menos Sensível a Ruídos:** O uso de todo o conjunto de dados ajuda a suavizar as flutuações e o ruído que podem ocorrer nas estimativas do gradiente em abordagens estocásticas. Isso pode resultar em uma trajetória de otimização mais suave.</a:t>
            </a:r>
          </a:p>
          <a:p>
            <a:pPr algn="l"/>
            <a:endParaRPr lang="pt-BR" b="0" i="0" dirty="0">
              <a:solidFill>
                <a:srgbClr val="374151"/>
              </a:solidFill>
              <a:effectLst/>
              <a:latin typeface="Söhne"/>
            </a:endParaRPr>
          </a:p>
          <a:p>
            <a:pPr algn="l"/>
            <a:r>
              <a:rPr lang="pt-BR" b="0" i="0" dirty="0">
                <a:solidFill>
                  <a:srgbClr val="374151"/>
                </a:solidFill>
                <a:effectLst/>
                <a:latin typeface="Söhne"/>
              </a:rPr>
              <a:t>5. **Requer Mais Memória:** O cálculo do gradiente usando todo o conjunto de dados exige o armazenamento temporário dos gradientes parciais de todas as amostras de treinamento. Isso pode consumir mais memória, especialmente em conjuntos de dados grandes.</a:t>
            </a:r>
          </a:p>
          <a:p>
            <a:pPr algn="l"/>
            <a:endParaRPr lang="pt-BR" b="0" i="0" dirty="0">
              <a:solidFill>
                <a:srgbClr val="374151"/>
              </a:solidFill>
              <a:effectLst/>
              <a:latin typeface="Söhne"/>
            </a:endParaRPr>
          </a:p>
          <a:p>
            <a:pPr algn="l"/>
            <a:r>
              <a:rPr lang="pt-BR" b="0" i="0" dirty="0">
                <a:solidFill>
                  <a:srgbClr val="374151"/>
                </a:solidFill>
                <a:effectLst/>
                <a:latin typeface="Söhne"/>
              </a:rPr>
              <a:t>6. **Atualizações Infrequentes:** Como o gradiente é calculado para o conjunto completo de dados, as atualizações dos pesos ocorrem em intervalos menos frequentes em comparação com abordagens estocásticas, onde as atualizações são feitas para cada amostra individualmente.</a:t>
            </a:r>
          </a:p>
          <a:p>
            <a:pPr algn="l"/>
            <a:endParaRPr lang="pt-BR" b="0" i="0" dirty="0">
              <a:solidFill>
                <a:srgbClr val="374151"/>
              </a:solidFill>
              <a:effectLst/>
              <a:latin typeface="Söhne"/>
            </a:endParaRPr>
          </a:p>
          <a:p>
            <a:pPr algn="l"/>
            <a:r>
              <a:rPr lang="pt-BR" b="0" i="0" dirty="0">
                <a:solidFill>
                  <a:srgbClr val="374151"/>
                </a:solidFill>
                <a:effectLst/>
                <a:latin typeface="Söhne"/>
              </a:rPr>
              <a:t>7. **Menos Suscetível a Minimização em Mínimos Locais:** Devido à precisão das atualizações de peso e ao uso de informações globais do conjunto de dados,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é menos propenso a ficar preso em mínimos locais da função de perda.</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é apropriado quando o conjunto de dados é relativamente pequeno o suficiente para caber na memória e quando a precisão e estabilidade das atualizações dos pesos são prioritárias. No entanto, ele pode ser mais lento em comparação com abordagens estocásticas, especialmente em conjuntos de dados grandes.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56</a:t>
            </a:fld>
            <a:endParaRPr lang="pt-BR"/>
          </a:p>
        </p:txBody>
      </p:sp>
    </p:spTree>
    <p:extLst>
      <p:ext uri="{BB962C8B-B14F-4D97-AF65-F5344CB8AC3E}">
        <p14:creationId xmlns:p14="http://schemas.microsoft.com/office/powerpoint/2010/main" val="204087211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57</a:t>
            </a:fld>
            <a:endParaRPr lang="pt-BR"/>
          </a:p>
        </p:txBody>
      </p:sp>
    </p:spTree>
    <p:extLst>
      <p:ext uri="{BB962C8B-B14F-4D97-AF65-F5344CB8AC3E}">
        <p14:creationId xmlns:p14="http://schemas.microsoft.com/office/powerpoint/2010/main" val="364577357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58</a:t>
            </a:fld>
            <a:endParaRPr lang="pt-BR"/>
          </a:p>
        </p:txBody>
      </p:sp>
    </p:spTree>
    <p:extLst>
      <p:ext uri="{BB962C8B-B14F-4D97-AF65-F5344CB8AC3E}">
        <p14:creationId xmlns:p14="http://schemas.microsoft.com/office/powerpoint/2010/main" val="331312384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que significa </a:t>
            </a:r>
            <a:r>
              <a:rPr lang="pt-BR" b="1" dirty="0"/>
              <a:t>alta variância</a:t>
            </a:r>
            <a:r>
              <a:rPr lang="pt-BR" dirty="0"/>
              <a:t>?</a:t>
            </a:r>
          </a:p>
          <a:p>
            <a:r>
              <a:rPr lang="pt-BR" dirty="0"/>
              <a:t>Variância mede o quanto o modelo muda quando treinado com pequenas variações nos dados.</a:t>
            </a:r>
          </a:p>
          <a:p>
            <a:r>
              <a:rPr lang="pt-BR" dirty="0"/>
              <a:t>Um modelo com alta variância é extremamente sensível ao conjunto de treino.</a:t>
            </a:r>
          </a:p>
          <a:p>
            <a:r>
              <a:rPr lang="pt-BR" dirty="0"/>
              <a:t>Pequenas mudanças na amostra geram grandes mudanças na função estimada.</a:t>
            </a:r>
          </a:p>
          <a:p>
            <a:r>
              <a:rPr lang="pt-BR" dirty="0"/>
              <a:t>Ele aprende não apenas o padrão real, mas também o ruído específico daquele conjunto de dados.</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62</a:t>
            </a:fld>
            <a:endParaRPr lang="pt-BR"/>
          </a:p>
        </p:txBody>
      </p:sp>
    </p:spTree>
    <p:extLst>
      <p:ext uri="{BB962C8B-B14F-4D97-AF65-F5344CB8AC3E}">
        <p14:creationId xmlns:p14="http://schemas.microsoft.com/office/powerpoint/2010/main" val="298970467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subajuste (underfitting) é um problema que ocorre quando um modelo de rede neural não é capaz de capturar adequadamente os padrões e relações presentes nos dados de treinamento. Isso resulta em um modelo que não consegue se adaptar aos dados de forma suficientemente precisa, levando a um desempenho insatisfatório tanto nos dados de treinamento quanto nos dados de validação/teste. Em outras palavras, o modelo é muito simplificado para representar a complexidade dos dados.</a:t>
            </a:r>
          </a:p>
          <a:p>
            <a:pPr algn="l"/>
            <a:r>
              <a:rPr lang="pt-BR" b="0" i="0" dirty="0">
                <a:solidFill>
                  <a:srgbClr val="374151"/>
                </a:solidFill>
                <a:effectLst/>
                <a:latin typeface="Söhne"/>
              </a:rPr>
              <a:t>Características do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Desempenho Baixo:</a:t>
            </a:r>
            <a:r>
              <a:rPr lang="pt-BR" b="0" i="0" dirty="0">
                <a:solidFill>
                  <a:srgbClr val="374151"/>
                </a:solidFill>
                <a:effectLst/>
                <a:latin typeface="Söhne"/>
              </a:rPr>
              <a:t> O modelo terá uma baixa precisão e desempenho geral, tanto nos dados de treinamento quanto nos dados de validação/teste.</a:t>
            </a:r>
          </a:p>
          <a:p>
            <a:pPr algn="l">
              <a:buFont typeface="+mj-lt"/>
              <a:buAutoNum type="arabicPeriod"/>
            </a:pPr>
            <a:r>
              <a:rPr lang="pt-BR" b="1" i="0" dirty="0">
                <a:solidFill>
                  <a:srgbClr val="374151"/>
                </a:solidFill>
                <a:effectLst/>
                <a:latin typeface="Söhne"/>
              </a:rPr>
              <a:t>Erro de Treinamento Elevado:</a:t>
            </a:r>
            <a:r>
              <a:rPr lang="pt-BR" b="0" i="0" dirty="0">
                <a:solidFill>
                  <a:srgbClr val="374151"/>
                </a:solidFill>
                <a:effectLst/>
                <a:latin typeface="Söhne"/>
              </a:rPr>
              <a:t> O erro de treinamento será relativamente alto, indicando que o modelo não consegue ajustar os dados de treinamento com precisão.</a:t>
            </a:r>
          </a:p>
          <a:p>
            <a:pPr algn="l">
              <a:buFont typeface="+mj-lt"/>
              <a:buAutoNum type="arabicPeriod"/>
            </a:pPr>
            <a:r>
              <a:rPr lang="pt-BR" b="1" i="0" dirty="0">
                <a:solidFill>
                  <a:srgbClr val="374151"/>
                </a:solidFill>
                <a:effectLst/>
                <a:latin typeface="Söhne"/>
              </a:rPr>
              <a:t>Baixa Complexidade:</a:t>
            </a:r>
            <a:r>
              <a:rPr lang="pt-BR" b="0" i="0" dirty="0">
                <a:solidFill>
                  <a:srgbClr val="374151"/>
                </a:solidFill>
                <a:effectLst/>
                <a:latin typeface="Söhne"/>
              </a:rPr>
              <a:t> Modelos </a:t>
            </a:r>
            <a:r>
              <a:rPr lang="pt-BR" b="0" i="0" dirty="0" err="1">
                <a:solidFill>
                  <a:srgbClr val="374151"/>
                </a:solidFill>
                <a:effectLst/>
                <a:latin typeface="Söhne"/>
              </a:rPr>
              <a:t>subajustados</a:t>
            </a:r>
            <a:r>
              <a:rPr lang="pt-BR" b="0" i="0" dirty="0">
                <a:solidFill>
                  <a:srgbClr val="374151"/>
                </a:solidFill>
                <a:effectLst/>
                <a:latin typeface="Söhne"/>
              </a:rPr>
              <a:t> costumam ser muito simples, com poucos parâmetros ou camadas, o que os torna incapazes de representar as nuances complexas dos dados.</a:t>
            </a:r>
          </a:p>
          <a:p>
            <a:pPr algn="l">
              <a:buFont typeface="+mj-lt"/>
              <a:buAutoNum type="arabicPeriod"/>
            </a:pPr>
            <a:r>
              <a:rPr lang="pt-BR" b="1" i="0" dirty="0">
                <a:solidFill>
                  <a:srgbClr val="374151"/>
                </a:solidFill>
                <a:effectLst/>
                <a:latin typeface="Söhne"/>
              </a:rPr>
              <a:t>Incapacidade de Generalização:</a:t>
            </a:r>
            <a:r>
              <a:rPr lang="pt-BR" b="0" i="0" dirty="0">
                <a:solidFill>
                  <a:srgbClr val="374151"/>
                </a:solidFill>
                <a:effectLst/>
                <a:latin typeface="Söhne"/>
              </a:rPr>
              <a:t> Como o modelo não consegue capturar os padrões nos dados, ele terá dificuldade em generalizar para novos dados que não foram vistos durante o treinamento.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64</a:t>
            </a:fld>
            <a:endParaRPr lang="pt-BR"/>
          </a:p>
        </p:txBody>
      </p:sp>
    </p:spTree>
    <p:extLst>
      <p:ext uri="{BB962C8B-B14F-4D97-AF65-F5344CB8AC3E}">
        <p14:creationId xmlns:p14="http://schemas.microsoft.com/office/powerpoint/2010/main" val="326650956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Causas do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Modelo Muito Simples:</a:t>
            </a:r>
            <a:r>
              <a:rPr lang="pt-BR" b="0" i="0" dirty="0">
                <a:solidFill>
                  <a:srgbClr val="374151"/>
                </a:solidFill>
                <a:effectLst/>
                <a:latin typeface="Söhne"/>
              </a:rPr>
              <a:t> Se o modelo for muito básico em relação à complexidade dos dados, ele não terá capacidade para se ajustar adequadamente.</a:t>
            </a:r>
          </a:p>
          <a:p>
            <a:pPr algn="l">
              <a:buFont typeface="+mj-lt"/>
              <a:buAutoNum type="arabicPeriod"/>
            </a:pPr>
            <a:r>
              <a:rPr lang="pt-BR" b="1" i="0" dirty="0">
                <a:solidFill>
                  <a:srgbClr val="374151"/>
                </a:solidFill>
                <a:effectLst/>
                <a:latin typeface="Söhne"/>
              </a:rPr>
              <a:t>Dificuldade de Representação:</a:t>
            </a:r>
            <a:r>
              <a:rPr lang="pt-BR" b="0" i="0" dirty="0">
                <a:solidFill>
                  <a:srgbClr val="374151"/>
                </a:solidFill>
                <a:effectLst/>
                <a:latin typeface="Söhne"/>
              </a:rPr>
              <a:t> Algumas redes neurais podem não ter camadas ou neurônios suficientes para representar a complexidade dos dados.</a:t>
            </a:r>
          </a:p>
          <a:p>
            <a:pPr algn="l">
              <a:buFont typeface="+mj-lt"/>
              <a:buAutoNum type="arabicPeriod"/>
            </a:pPr>
            <a:r>
              <a:rPr lang="pt-BR" b="1" i="0" dirty="0">
                <a:solidFill>
                  <a:srgbClr val="374151"/>
                </a:solidFill>
                <a:effectLst/>
                <a:latin typeface="Söhne"/>
              </a:rPr>
              <a:t>Poucas Épocas de Treinamento:</a:t>
            </a:r>
            <a:r>
              <a:rPr lang="pt-BR" b="0" i="0" dirty="0">
                <a:solidFill>
                  <a:srgbClr val="374151"/>
                </a:solidFill>
                <a:effectLst/>
                <a:latin typeface="Söhne"/>
              </a:rPr>
              <a:t> Um treinamento insuficiente pode resultar em </a:t>
            </a:r>
            <a:r>
              <a:rPr lang="pt-BR" b="0" i="0" dirty="0" err="1">
                <a:solidFill>
                  <a:srgbClr val="374151"/>
                </a:solidFill>
                <a:effectLst/>
                <a:latin typeface="Söhne"/>
              </a:rPr>
              <a:t>subajuste</a:t>
            </a:r>
            <a:r>
              <a:rPr lang="pt-BR" b="0" i="0" dirty="0">
                <a:solidFill>
                  <a:srgbClr val="374151"/>
                </a:solidFill>
                <a:effectLst/>
                <a:latin typeface="Söhne"/>
              </a:rPr>
              <a:t>, pois o modelo não teve oportunidade de aprender os padrões nos dados.</a:t>
            </a:r>
          </a:p>
          <a:p>
            <a:pPr algn="l">
              <a:buFont typeface="+mj-lt"/>
              <a:buAutoNum type="arabicPeriod"/>
            </a:pPr>
            <a:r>
              <a:rPr lang="pt-BR" b="1" i="0" dirty="0">
                <a:solidFill>
                  <a:srgbClr val="374151"/>
                </a:solidFill>
                <a:effectLst/>
                <a:latin typeface="Söhne"/>
              </a:rPr>
              <a:t>Falta de Dados:</a:t>
            </a:r>
            <a:r>
              <a:rPr lang="pt-BR" b="0" i="0" dirty="0">
                <a:solidFill>
                  <a:srgbClr val="374151"/>
                </a:solidFill>
                <a:effectLst/>
                <a:latin typeface="Söhne"/>
              </a:rPr>
              <a:t> Quando há poucos dados de treinamento disponíveis, o modelo pode não ser capaz de aprender com eficácia as características relevantes.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65</a:t>
            </a:fld>
            <a:endParaRPr lang="pt-BR"/>
          </a:p>
        </p:txBody>
      </p:sp>
    </p:spTree>
    <p:extLst>
      <p:ext uri="{BB962C8B-B14F-4D97-AF65-F5344CB8AC3E}">
        <p14:creationId xmlns:p14="http://schemas.microsoft.com/office/powerpoint/2010/main" val="254345765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Como lidar com 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Aumentar a Complexidade do Modelo:</a:t>
            </a:r>
            <a:r>
              <a:rPr lang="pt-BR" b="0" i="0" dirty="0">
                <a:solidFill>
                  <a:srgbClr val="374151"/>
                </a:solidFill>
                <a:effectLst/>
                <a:latin typeface="Söhne"/>
              </a:rPr>
              <a:t> Adicionar mais camadas ou neurônios ao modelo pode ajudar a aumentar sua capacidade de representação.</a:t>
            </a:r>
          </a:p>
          <a:p>
            <a:pPr algn="l">
              <a:buFont typeface="+mj-lt"/>
              <a:buAutoNum type="arabicPeriod"/>
            </a:pPr>
            <a:r>
              <a:rPr lang="pt-BR" b="1" i="0" dirty="0">
                <a:solidFill>
                  <a:srgbClr val="374151"/>
                </a:solidFill>
                <a:effectLst/>
                <a:latin typeface="Söhne"/>
              </a:rPr>
              <a:t>Treinar por Mais Épocas:</a:t>
            </a:r>
            <a:r>
              <a:rPr lang="pt-BR" b="0" i="0" dirty="0">
                <a:solidFill>
                  <a:srgbClr val="374151"/>
                </a:solidFill>
                <a:effectLst/>
                <a:latin typeface="Söhne"/>
              </a:rPr>
              <a:t> Treinar o modelo por mais épocas pode permitir que ele se ajuste melhor aos dados. No entanto, é importante monitorar o desempenho nos dados de validação para evitar </a:t>
            </a:r>
            <a:r>
              <a:rPr lang="pt-BR" b="0" i="0" dirty="0" err="1">
                <a:solidFill>
                  <a:srgbClr val="374151"/>
                </a:solidFill>
                <a:effectLst/>
                <a:latin typeface="Söhne"/>
              </a:rPr>
              <a:t>overfitting</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Aumentar os Dados de Treinamento:</a:t>
            </a:r>
            <a:r>
              <a:rPr lang="pt-BR" b="0" i="0" dirty="0">
                <a:solidFill>
                  <a:srgbClr val="374151"/>
                </a:solidFill>
                <a:effectLst/>
                <a:latin typeface="Söhne"/>
              </a:rPr>
              <a:t> Se possível, coletar mais dados de treinamento pode ajudar o modelo a capturar melhor os padrões.</a:t>
            </a:r>
          </a:p>
          <a:p>
            <a:pPr algn="l">
              <a:buFont typeface="+mj-lt"/>
              <a:buAutoNum type="arabicPeriod"/>
            </a:pPr>
            <a:r>
              <a:rPr lang="pt-BR" b="1" i="0" dirty="0">
                <a:solidFill>
                  <a:srgbClr val="374151"/>
                </a:solidFill>
                <a:effectLst/>
                <a:latin typeface="Söhne"/>
              </a:rPr>
              <a:t>Regularização:</a:t>
            </a:r>
            <a:r>
              <a:rPr lang="pt-BR" b="0" i="0" dirty="0">
                <a:solidFill>
                  <a:srgbClr val="374151"/>
                </a:solidFill>
                <a:effectLst/>
                <a:latin typeface="Söhne"/>
              </a:rPr>
              <a:t>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e L2 </a:t>
            </a:r>
            <a:r>
              <a:rPr lang="pt-BR" b="0" i="0" dirty="0" err="1">
                <a:solidFill>
                  <a:srgbClr val="374151"/>
                </a:solidFill>
                <a:effectLst/>
                <a:latin typeface="Söhne"/>
              </a:rPr>
              <a:t>regularization</a:t>
            </a:r>
            <a:r>
              <a:rPr lang="pt-BR" b="0" i="0" dirty="0">
                <a:solidFill>
                  <a:srgbClr val="374151"/>
                </a:solidFill>
                <a:effectLst/>
                <a:latin typeface="Söhne"/>
              </a:rPr>
              <a:t>, podem ajudar a evitar o </a:t>
            </a:r>
            <a:r>
              <a:rPr lang="pt-BR" b="0" i="0" dirty="0" err="1">
                <a:solidFill>
                  <a:srgbClr val="374151"/>
                </a:solidFill>
                <a:effectLst/>
                <a:latin typeface="Söhne"/>
              </a:rPr>
              <a:t>subajuste</a:t>
            </a:r>
            <a:r>
              <a:rPr lang="pt-BR" b="0" i="0" dirty="0">
                <a:solidFill>
                  <a:srgbClr val="374151"/>
                </a:solidFill>
                <a:effectLst/>
                <a:latin typeface="Söhne"/>
              </a:rPr>
              <a:t> controlando a complexidade do modelo.</a:t>
            </a:r>
          </a:p>
          <a:p>
            <a:pPr algn="l">
              <a:buFont typeface="+mj-lt"/>
              <a:buAutoNum type="arabicPeriod"/>
            </a:pPr>
            <a:r>
              <a:rPr lang="pt-BR" b="1" i="0" dirty="0">
                <a:solidFill>
                  <a:srgbClr val="374151"/>
                </a:solidFill>
                <a:effectLst/>
                <a:latin typeface="Söhne"/>
              </a:rPr>
              <a:t>Ajustar Hiperparâmetros:</a:t>
            </a:r>
            <a:r>
              <a:rPr lang="pt-BR" b="0" i="0" dirty="0">
                <a:solidFill>
                  <a:srgbClr val="374151"/>
                </a:solidFill>
                <a:effectLst/>
                <a:latin typeface="Söhne"/>
              </a:rPr>
              <a:t> Experimentar com diferentes hiperparâmetros, como taxa de aprendizado e tamanho do lote, pode ajudar a melhorar o desempenho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66</a:t>
            </a:fld>
            <a:endParaRPr lang="pt-BR"/>
          </a:p>
        </p:txBody>
      </p:sp>
    </p:spTree>
    <p:extLst>
      <p:ext uri="{BB962C8B-B14F-4D97-AF65-F5344CB8AC3E}">
        <p14:creationId xmlns:p14="http://schemas.microsoft.com/office/powerpoint/2010/main" val="3561914135"/>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sobreajuste (</a:t>
            </a:r>
            <a:r>
              <a:rPr lang="pt-BR" b="0" i="0" dirty="0" err="1">
                <a:solidFill>
                  <a:srgbClr val="374151"/>
                </a:solidFill>
                <a:effectLst/>
                <a:latin typeface="Söhne"/>
              </a:rPr>
              <a:t>overfitting</a:t>
            </a:r>
            <a:r>
              <a:rPr lang="pt-BR" b="0" i="0" dirty="0">
                <a:solidFill>
                  <a:srgbClr val="374151"/>
                </a:solidFill>
                <a:effectLst/>
                <a:latin typeface="Söhne"/>
              </a:rPr>
              <a:t>) é um problema comum em redes neurais e em outros modelos de aprendizado de máquina, onde o modelo se ajusta excessivamente aos dados de treinamento e acaba perdendo a capacidade de generalizar para novos dados que não foram vistos durante o treinamento. Em outras palavras, o modelo memoriza os dados de treinamento em vez de aprender padrões gerais.</a:t>
            </a:r>
          </a:p>
          <a:p>
            <a:pPr algn="l"/>
            <a:r>
              <a:rPr lang="pt-BR" b="0" i="0" dirty="0">
                <a:solidFill>
                  <a:srgbClr val="374151"/>
                </a:solidFill>
                <a:effectLst/>
                <a:latin typeface="Söhne"/>
              </a:rPr>
              <a:t>Características do sobreajuste:</a:t>
            </a:r>
          </a:p>
          <a:p>
            <a:pPr algn="l">
              <a:buFont typeface="+mj-lt"/>
              <a:buAutoNum type="arabicPeriod"/>
            </a:pPr>
            <a:r>
              <a:rPr lang="pt-BR" b="1" i="0" dirty="0">
                <a:solidFill>
                  <a:srgbClr val="374151"/>
                </a:solidFill>
                <a:effectLst/>
                <a:latin typeface="Söhne"/>
              </a:rPr>
              <a:t>Desempenho Excelente nos Dados de Treinamento:</a:t>
            </a:r>
            <a:r>
              <a:rPr lang="pt-BR" b="0" i="0" dirty="0">
                <a:solidFill>
                  <a:srgbClr val="374151"/>
                </a:solidFill>
                <a:effectLst/>
                <a:latin typeface="Söhne"/>
              </a:rPr>
              <a:t> O modelo terá um desempenho muito bom nos dados de treinamento, com um erro de treinamento muito baixo.</a:t>
            </a:r>
          </a:p>
          <a:p>
            <a:pPr algn="l">
              <a:buFont typeface="+mj-lt"/>
              <a:buAutoNum type="arabicPeriod"/>
            </a:pPr>
            <a:r>
              <a:rPr lang="pt-BR" b="1" i="0" dirty="0">
                <a:solidFill>
                  <a:srgbClr val="374151"/>
                </a:solidFill>
                <a:effectLst/>
                <a:latin typeface="Söhne"/>
              </a:rPr>
              <a:t>Desempenho Inferior nos Dados de Validação/Teste:</a:t>
            </a:r>
            <a:r>
              <a:rPr lang="pt-BR" b="0" i="0" dirty="0">
                <a:solidFill>
                  <a:srgbClr val="374151"/>
                </a:solidFill>
                <a:effectLst/>
                <a:latin typeface="Söhne"/>
              </a:rPr>
              <a:t> No entanto, o desempenho nos dados de validação ou teste será significativamente pior, com um erro de validação/teste mais alto do que o erro de treinamento.</a:t>
            </a:r>
          </a:p>
          <a:p>
            <a:pPr algn="l">
              <a:buFont typeface="+mj-lt"/>
              <a:buAutoNum type="arabicPeriod"/>
            </a:pPr>
            <a:r>
              <a:rPr lang="pt-BR" b="1" i="0" dirty="0">
                <a:solidFill>
                  <a:srgbClr val="374151"/>
                </a:solidFill>
                <a:effectLst/>
                <a:latin typeface="Söhne"/>
              </a:rPr>
              <a:t>Modelo Complexo:</a:t>
            </a:r>
            <a:r>
              <a:rPr lang="pt-BR" b="0" i="0" dirty="0">
                <a:solidFill>
                  <a:srgbClr val="374151"/>
                </a:solidFill>
                <a:effectLst/>
                <a:latin typeface="Söhne"/>
              </a:rPr>
              <a:t> Modelos </a:t>
            </a:r>
            <a:r>
              <a:rPr lang="pt-BR" b="0" i="0" dirty="0" err="1">
                <a:solidFill>
                  <a:srgbClr val="374151"/>
                </a:solidFill>
                <a:effectLst/>
                <a:latin typeface="Söhne"/>
              </a:rPr>
              <a:t>sobreajustados</a:t>
            </a:r>
            <a:r>
              <a:rPr lang="pt-BR" b="0" i="0" dirty="0">
                <a:solidFill>
                  <a:srgbClr val="374151"/>
                </a:solidFill>
                <a:effectLst/>
                <a:latin typeface="Söhne"/>
              </a:rPr>
              <a:t> tendem a ser muito complexos, com muitos parâmetros e camadas.</a:t>
            </a:r>
          </a:p>
          <a:p>
            <a:pPr algn="l">
              <a:buFont typeface="+mj-lt"/>
              <a:buAutoNum type="arabicPeriod"/>
            </a:pPr>
            <a:r>
              <a:rPr lang="pt-BR" b="1" i="0" dirty="0">
                <a:solidFill>
                  <a:srgbClr val="374151"/>
                </a:solidFill>
                <a:effectLst/>
                <a:latin typeface="Söhne"/>
              </a:rPr>
              <a:t>Sensibilidade a Ruídos:</a:t>
            </a:r>
            <a:r>
              <a:rPr lang="pt-BR" b="0" i="0" dirty="0">
                <a:solidFill>
                  <a:srgbClr val="374151"/>
                </a:solidFill>
                <a:effectLst/>
                <a:latin typeface="Söhne"/>
              </a:rPr>
              <a:t> O modelo pode se tornar sensível a pequenas variações nos dados de treinamento, incluindo ruídos.</a:t>
            </a:r>
          </a:p>
          <a:p>
            <a:pPr algn="l">
              <a:buFont typeface="+mj-lt"/>
              <a:buAutoNum type="arabicPeriod"/>
            </a:pPr>
            <a:r>
              <a:rPr lang="pt-BR" b="1" i="0" dirty="0">
                <a:solidFill>
                  <a:srgbClr val="374151"/>
                </a:solidFill>
                <a:effectLst/>
                <a:latin typeface="Söhne"/>
              </a:rPr>
              <a:t>Padronização Anormal:</a:t>
            </a:r>
            <a:r>
              <a:rPr lang="pt-BR" b="0" i="0" dirty="0">
                <a:solidFill>
                  <a:srgbClr val="374151"/>
                </a:solidFill>
                <a:effectLst/>
                <a:latin typeface="Söhne"/>
              </a:rPr>
              <a:t> O modelo pode aprender padrões que são específicos dos dados de treinamento, mas não são generalizáveis.</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67</a:t>
            </a:fld>
            <a:endParaRPr lang="pt-BR"/>
          </a:p>
        </p:txBody>
      </p:sp>
    </p:spTree>
    <p:extLst>
      <p:ext uri="{BB962C8B-B14F-4D97-AF65-F5344CB8AC3E}">
        <p14:creationId xmlns:p14="http://schemas.microsoft.com/office/powerpoint/2010/main" val="310161094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Causas do sobreajuste:</a:t>
            </a:r>
          </a:p>
          <a:p>
            <a:pPr algn="l">
              <a:buFont typeface="+mj-lt"/>
              <a:buAutoNum type="arabicPeriod"/>
            </a:pPr>
            <a:r>
              <a:rPr lang="pt-BR" b="1" i="0" dirty="0">
                <a:solidFill>
                  <a:srgbClr val="374151"/>
                </a:solidFill>
                <a:effectLst/>
                <a:latin typeface="Söhne"/>
              </a:rPr>
              <a:t>Modelo Muito Complexo:</a:t>
            </a:r>
            <a:r>
              <a:rPr lang="pt-BR" b="0" i="0" dirty="0">
                <a:solidFill>
                  <a:srgbClr val="374151"/>
                </a:solidFill>
                <a:effectLst/>
                <a:latin typeface="Söhne"/>
              </a:rPr>
              <a:t> Se o modelo for muito complexo em relação à quantidade de dados disponíveis, ele pode aprender a representar o ruído nos dados de treinamento.</a:t>
            </a:r>
          </a:p>
          <a:p>
            <a:pPr algn="l">
              <a:buFont typeface="+mj-lt"/>
              <a:buAutoNum type="arabicPeriod"/>
            </a:pPr>
            <a:r>
              <a:rPr lang="pt-BR" b="1" i="0" dirty="0">
                <a:solidFill>
                  <a:srgbClr val="374151"/>
                </a:solidFill>
                <a:effectLst/>
                <a:latin typeface="Söhne"/>
              </a:rPr>
              <a:t>Treinamento Excessivo:</a:t>
            </a:r>
            <a:r>
              <a:rPr lang="pt-BR" b="0" i="0" dirty="0">
                <a:solidFill>
                  <a:srgbClr val="374151"/>
                </a:solidFill>
                <a:effectLst/>
                <a:latin typeface="Söhne"/>
              </a:rPr>
              <a:t> Treinar o modelo por muitas épocas ou permitir que ele veja os mesmos dados várias vezes pode levar ao memorização dos dados de treinamento.</a:t>
            </a:r>
          </a:p>
          <a:p>
            <a:pPr algn="l">
              <a:buFont typeface="+mj-lt"/>
              <a:buAutoNum type="arabicPeriod"/>
            </a:pPr>
            <a:r>
              <a:rPr lang="pt-BR" b="1" i="0" dirty="0">
                <a:solidFill>
                  <a:srgbClr val="374151"/>
                </a:solidFill>
                <a:effectLst/>
                <a:latin typeface="Söhne"/>
              </a:rPr>
              <a:t>Falta de Dados:</a:t>
            </a:r>
            <a:r>
              <a:rPr lang="pt-BR" b="0" i="0" dirty="0">
                <a:solidFill>
                  <a:srgbClr val="374151"/>
                </a:solidFill>
                <a:effectLst/>
                <a:latin typeface="Söhne"/>
              </a:rPr>
              <a:t> Quando há poucos dados de treinamento disponíveis, o modelo pode ser mais propenso a sobreajuste, pois tem menos exemplos para aprender padrões gerais.</a:t>
            </a:r>
          </a:p>
          <a:p>
            <a:pPr algn="l">
              <a:buFont typeface="+mj-lt"/>
              <a:buAutoNum type="arabicPeriod"/>
            </a:pPr>
            <a:r>
              <a:rPr lang="pt-BR" b="1" i="0" dirty="0">
                <a:solidFill>
                  <a:srgbClr val="374151"/>
                </a:solidFill>
                <a:effectLst/>
                <a:latin typeface="Söhne"/>
              </a:rPr>
              <a:t>Ausência de Regularização:</a:t>
            </a:r>
            <a:r>
              <a:rPr lang="pt-BR" b="0" i="0" dirty="0">
                <a:solidFill>
                  <a:srgbClr val="374151"/>
                </a:solidFill>
                <a:effectLst/>
                <a:latin typeface="Söhne"/>
              </a:rPr>
              <a:t> A falta de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L2 </a:t>
            </a:r>
            <a:r>
              <a:rPr lang="pt-BR" b="0" i="0" dirty="0" err="1">
                <a:solidFill>
                  <a:srgbClr val="374151"/>
                </a:solidFill>
                <a:effectLst/>
                <a:latin typeface="Söhne"/>
              </a:rPr>
              <a:t>regularization</a:t>
            </a:r>
            <a:r>
              <a:rPr lang="pt-BR" b="0" i="0" dirty="0">
                <a:solidFill>
                  <a:srgbClr val="374151"/>
                </a:solidFill>
                <a:effectLst/>
                <a:latin typeface="Söhne"/>
              </a:rPr>
              <a:t> ou data </a:t>
            </a:r>
            <a:r>
              <a:rPr lang="pt-BR" b="0" i="0" dirty="0" err="1">
                <a:solidFill>
                  <a:srgbClr val="374151"/>
                </a:solidFill>
                <a:effectLst/>
                <a:latin typeface="Söhne"/>
              </a:rPr>
              <a:t>augmentation</a:t>
            </a:r>
            <a:r>
              <a:rPr lang="pt-BR" b="0" i="0" dirty="0">
                <a:solidFill>
                  <a:srgbClr val="374151"/>
                </a:solidFill>
                <a:effectLst/>
                <a:latin typeface="Söhne"/>
              </a:rPr>
              <a:t>, pode permitir que o modelo se ajuste excessivamente aos dados.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68</a:t>
            </a:fld>
            <a:endParaRPr lang="pt-BR"/>
          </a:p>
        </p:txBody>
      </p:sp>
    </p:spTree>
    <p:extLst>
      <p:ext uri="{BB962C8B-B14F-4D97-AF65-F5344CB8AC3E}">
        <p14:creationId xmlns:p14="http://schemas.microsoft.com/office/powerpoint/2010/main" val="312838055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Como lidar com o sobreajuste:</a:t>
            </a:r>
          </a:p>
          <a:p>
            <a:pPr algn="l">
              <a:buFont typeface="+mj-lt"/>
              <a:buAutoNum type="arabicPeriod"/>
            </a:pPr>
            <a:r>
              <a:rPr lang="pt-BR" b="1" i="0" dirty="0">
                <a:solidFill>
                  <a:srgbClr val="374151"/>
                </a:solidFill>
                <a:effectLst/>
                <a:latin typeface="Söhne"/>
              </a:rPr>
              <a:t>Regularização:</a:t>
            </a:r>
            <a:r>
              <a:rPr lang="pt-BR" b="0" i="0" dirty="0">
                <a:solidFill>
                  <a:srgbClr val="374151"/>
                </a:solidFill>
                <a:effectLst/>
                <a:latin typeface="Söhne"/>
              </a:rPr>
              <a:t> Utilizar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(desativação aleatória de neurônios durante o treinamento), L2 </a:t>
            </a:r>
            <a:r>
              <a:rPr lang="pt-BR" b="0" i="0" dirty="0" err="1">
                <a:solidFill>
                  <a:srgbClr val="374151"/>
                </a:solidFill>
                <a:effectLst/>
                <a:latin typeface="Söhne"/>
              </a:rPr>
              <a:t>regularization</a:t>
            </a:r>
            <a:r>
              <a:rPr lang="pt-BR" b="0" i="0" dirty="0">
                <a:solidFill>
                  <a:srgbClr val="374151"/>
                </a:solidFill>
                <a:effectLst/>
                <a:latin typeface="Söhne"/>
              </a:rPr>
              <a:t> (penalização dos valores dos parâmetros) e Batch </a:t>
            </a:r>
            <a:r>
              <a:rPr lang="pt-BR" b="0" i="0" dirty="0" err="1">
                <a:solidFill>
                  <a:srgbClr val="374151"/>
                </a:solidFill>
                <a:effectLst/>
                <a:latin typeface="Söhne"/>
              </a:rPr>
              <a:t>Normalization</a:t>
            </a:r>
            <a:r>
              <a:rPr lang="pt-BR" b="0" i="0" dirty="0">
                <a:solidFill>
                  <a:srgbClr val="374151"/>
                </a:solidFill>
                <a:effectLst/>
                <a:latin typeface="Söhne"/>
              </a:rPr>
              <a:t>, pode ajudar a controlar a complexidade do modelo.</a:t>
            </a:r>
          </a:p>
          <a:p>
            <a:pPr algn="l">
              <a:buFont typeface="+mj-lt"/>
              <a:buAutoNum type="arabicPeriod"/>
            </a:pPr>
            <a:r>
              <a:rPr lang="pt-BR" b="1" i="0" dirty="0">
                <a:solidFill>
                  <a:srgbClr val="374151"/>
                </a:solidFill>
                <a:effectLst/>
                <a:latin typeface="Söhne"/>
              </a:rPr>
              <a:t>Aumentar os Dados de Treinamento:</a:t>
            </a:r>
            <a:r>
              <a:rPr lang="pt-BR" b="0" i="0" dirty="0">
                <a:solidFill>
                  <a:srgbClr val="374151"/>
                </a:solidFill>
                <a:effectLst/>
                <a:latin typeface="Söhne"/>
              </a:rPr>
              <a:t> Coletar mais dados de treinamento pode reduzir o risco de sobreajuste, pois o modelo terá mais exemplos para aprender padrões.</a:t>
            </a:r>
          </a:p>
          <a:p>
            <a:pPr algn="l">
              <a:buFont typeface="+mj-lt"/>
              <a:buAutoNum type="arabicPeriod"/>
            </a:pPr>
            <a:r>
              <a:rPr lang="pt-BR" b="1" i="0" dirty="0">
                <a:solidFill>
                  <a:srgbClr val="374151"/>
                </a:solidFill>
                <a:effectLst/>
                <a:latin typeface="Söhne"/>
              </a:rPr>
              <a:t>Validação Cruzada:</a:t>
            </a:r>
            <a:r>
              <a:rPr lang="pt-BR" b="0" i="0" dirty="0">
                <a:solidFill>
                  <a:srgbClr val="374151"/>
                </a:solidFill>
                <a:effectLst/>
                <a:latin typeface="Söhne"/>
              </a:rPr>
              <a:t> Utilizar validação cruzada pode ajudar a avaliar o desempenho do modelo em diferentes conjuntos de dados e identificar quando ele está </a:t>
            </a:r>
            <a:r>
              <a:rPr lang="pt-BR" b="0" i="0" dirty="0" err="1">
                <a:solidFill>
                  <a:srgbClr val="374151"/>
                </a:solidFill>
                <a:effectLst/>
                <a:latin typeface="Söhne"/>
              </a:rPr>
              <a:t>sobreajustando</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Monitoramento do Desempenho:</a:t>
            </a:r>
            <a:r>
              <a:rPr lang="pt-BR" b="0" i="0" dirty="0">
                <a:solidFill>
                  <a:srgbClr val="374151"/>
                </a:solidFill>
                <a:effectLst/>
                <a:latin typeface="Söhne"/>
              </a:rPr>
              <a:t> Acompanhar o desempenho do modelo nos dados de treinamento e de validação/teste pode ajudar a identificar quando o sobreajuste está ocorrendo.</a:t>
            </a:r>
          </a:p>
          <a:p>
            <a:pPr algn="l">
              <a:buFont typeface="+mj-lt"/>
              <a:buAutoNum type="arabicPeriod"/>
            </a:pPr>
            <a:r>
              <a:rPr lang="pt-BR" b="1" i="0" dirty="0">
                <a:solidFill>
                  <a:srgbClr val="374151"/>
                </a:solidFill>
                <a:effectLst/>
                <a:latin typeface="Söhne"/>
              </a:rPr>
              <a:t>Simplificar o Modelo:</a:t>
            </a:r>
            <a:r>
              <a:rPr lang="pt-BR" b="0" i="0" dirty="0">
                <a:solidFill>
                  <a:srgbClr val="374151"/>
                </a:solidFill>
                <a:effectLst/>
                <a:latin typeface="Söhne"/>
              </a:rPr>
              <a:t> Reduzir a complexidade do modelo, removendo camadas ou neurônios, pode ajudar a prevenir o sobreajuste.</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69</a:t>
            </a:fld>
            <a:endParaRPr lang="pt-BR"/>
          </a:p>
        </p:txBody>
      </p:sp>
    </p:spTree>
    <p:extLst>
      <p:ext uri="{BB962C8B-B14F-4D97-AF65-F5344CB8AC3E}">
        <p14:creationId xmlns:p14="http://schemas.microsoft.com/office/powerpoint/2010/main" val="114939456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70</a:t>
            </a:fld>
            <a:endParaRPr lang="pt-BR"/>
          </a:p>
        </p:txBody>
      </p:sp>
    </p:spTree>
    <p:extLst>
      <p:ext uri="{BB962C8B-B14F-4D97-AF65-F5344CB8AC3E}">
        <p14:creationId xmlns:p14="http://schemas.microsoft.com/office/powerpoint/2010/main" val="366717638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71</a:t>
            </a:fld>
            <a:endParaRPr lang="nl-BE"/>
          </a:p>
        </p:txBody>
      </p:sp>
    </p:spTree>
    <p:extLst>
      <p:ext uri="{BB962C8B-B14F-4D97-AF65-F5344CB8AC3E}">
        <p14:creationId xmlns:p14="http://schemas.microsoft.com/office/powerpoint/2010/main" val="363495505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72</a:t>
            </a:fld>
            <a:endParaRPr lang="nl-BE"/>
          </a:p>
        </p:txBody>
      </p:sp>
    </p:spTree>
    <p:extLst>
      <p:ext uri="{BB962C8B-B14F-4D97-AF65-F5344CB8AC3E}">
        <p14:creationId xmlns:p14="http://schemas.microsoft.com/office/powerpoint/2010/main" val="3853473919"/>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73</a:t>
            </a:fld>
            <a:endParaRPr lang="nl-BE"/>
          </a:p>
        </p:txBody>
      </p:sp>
    </p:spTree>
    <p:extLst>
      <p:ext uri="{BB962C8B-B14F-4D97-AF65-F5344CB8AC3E}">
        <p14:creationId xmlns:p14="http://schemas.microsoft.com/office/powerpoint/2010/main" val="294755529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74</a:t>
            </a:fld>
            <a:endParaRPr lang="nl-BE"/>
          </a:p>
        </p:txBody>
      </p:sp>
    </p:spTree>
    <p:extLst>
      <p:ext uri="{BB962C8B-B14F-4D97-AF65-F5344CB8AC3E}">
        <p14:creationId xmlns:p14="http://schemas.microsoft.com/office/powerpoint/2010/main" val="57196959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75</a:t>
            </a:fld>
            <a:endParaRPr lang="nl-BE"/>
          </a:p>
        </p:txBody>
      </p:sp>
    </p:spTree>
    <p:extLst>
      <p:ext uri="{BB962C8B-B14F-4D97-AF65-F5344CB8AC3E}">
        <p14:creationId xmlns:p14="http://schemas.microsoft.com/office/powerpoint/2010/main" val="309223393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AF8D4E-93FF-2CEE-F304-EFF1ECCB4CCF}"/>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B8C5B482-0D08-D7C1-40A0-E159FB91CD13}"/>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6387FC07-F080-71AF-E508-D23EB2EF72A4}"/>
              </a:ext>
            </a:extLst>
          </p:cNvPr>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a:extLst>
              <a:ext uri="{FF2B5EF4-FFF2-40B4-BE49-F238E27FC236}">
                <a16:creationId xmlns:a16="http://schemas.microsoft.com/office/drawing/2014/main" id="{F4876685-75FD-D2D5-B8B2-395812A47E16}"/>
              </a:ext>
            </a:extLst>
          </p:cNvPr>
          <p:cNvSpPr>
            <a:spLocks noGrp="1"/>
          </p:cNvSpPr>
          <p:nvPr>
            <p:ph type="sldNum" sz="quarter" idx="5"/>
          </p:nvPr>
        </p:nvSpPr>
        <p:spPr/>
        <p:txBody>
          <a:bodyPr/>
          <a:lstStyle/>
          <a:p>
            <a:fld id="{DA8B99DF-01BC-492A-8CEF-4FD88D18DD9D}" type="slidenum">
              <a:rPr lang="nl-BE" smtClean="0"/>
              <a:t>76</a:t>
            </a:fld>
            <a:endParaRPr lang="nl-BE"/>
          </a:p>
        </p:txBody>
      </p:sp>
    </p:spTree>
    <p:extLst>
      <p:ext uri="{BB962C8B-B14F-4D97-AF65-F5344CB8AC3E}">
        <p14:creationId xmlns:p14="http://schemas.microsoft.com/office/powerpoint/2010/main" val="335043353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No contexto de aprendizado de máquina, a generalização refere-se à capacidade de um modelo treinado em um conjunto de dados específico de realizar predições precisas e acuradas em dados que nunca foram vistos durante o processo de treinamento.</a:t>
            </a:r>
          </a:p>
          <a:p>
            <a:pPr algn="l"/>
            <a:endParaRPr lang="pt-BR" b="0" i="0" dirty="0">
              <a:solidFill>
                <a:srgbClr val="374151"/>
              </a:solidFill>
              <a:effectLst/>
              <a:latin typeface="Söhne"/>
            </a:endParaRPr>
          </a:p>
          <a:p>
            <a:pPr algn="l"/>
            <a:r>
              <a:rPr lang="pt-BR" b="0" i="0" dirty="0">
                <a:solidFill>
                  <a:srgbClr val="374151"/>
                </a:solidFill>
                <a:effectLst/>
                <a:latin typeface="Söhne"/>
              </a:rPr>
              <a:t>Quando um modelo é treinado em um conjunto de dados, ele busca aprender padrões e regras que governam os relacionamentos entre as entradas e as saídas desse conjunto. A generalização ocorre quando o modelo consegue aplicar esse conhecimento aprendido para fazer predições em novos dados que não foram usados durante o treinamento. Em outras palavras, um modelo generalizado é capaz de "generalizar" o conhecimento adquirido com o conjunto de treinamento para realizar previsões precisas em situações desconhecidas.</a:t>
            </a:r>
          </a:p>
          <a:p>
            <a:pPr algn="l"/>
            <a:endParaRPr lang="pt-BR" b="0" i="0" dirty="0">
              <a:solidFill>
                <a:srgbClr val="374151"/>
              </a:solidFill>
              <a:effectLst/>
              <a:latin typeface="Söhne"/>
            </a:endParaRPr>
          </a:p>
          <a:p>
            <a:pPr algn="l"/>
            <a:r>
              <a:rPr lang="pt-BR" b="0" i="0" dirty="0">
                <a:solidFill>
                  <a:srgbClr val="374151"/>
                </a:solidFill>
                <a:effectLst/>
                <a:latin typeface="Söhne"/>
              </a:rPr>
              <a:t>A generalização é um aspecto crítico do aprendizado de máquina, pois o objetivo é que o modelo seja capaz de lidar efetivamente com dados do mundo real, que podem ser diferentes ou conter variações em relação ao conjunto de treinamento. Um modelo que generaliza bem evita problemas de </a:t>
            </a:r>
            <a:r>
              <a:rPr lang="pt-BR" b="0" i="0" dirty="0" err="1">
                <a:solidFill>
                  <a:srgbClr val="374151"/>
                </a:solidFill>
                <a:effectLst/>
                <a:latin typeface="Söhne"/>
              </a:rPr>
              <a:t>superajuste</a:t>
            </a:r>
            <a:r>
              <a:rPr lang="pt-BR" b="0" i="0" dirty="0">
                <a:solidFill>
                  <a:srgbClr val="374151"/>
                </a:solidFill>
                <a:effectLst/>
                <a:latin typeface="Söhne"/>
              </a:rPr>
              <a:t> (</a:t>
            </a:r>
            <a:r>
              <a:rPr lang="pt-BR" b="0" i="0" dirty="0" err="1">
                <a:solidFill>
                  <a:srgbClr val="374151"/>
                </a:solidFill>
                <a:effectLst/>
                <a:latin typeface="Söhne"/>
              </a:rPr>
              <a:t>overfitting</a:t>
            </a:r>
            <a:r>
              <a:rPr lang="pt-BR" b="0" i="0" dirty="0">
                <a:solidFill>
                  <a:srgbClr val="374151"/>
                </a:solidFill>
                <a:effectLst/>
                <a:latin typeface="Söhne"/>
              </a:rPr>
              <a:t>), onde ele se torna muito específico para o conjunto de treinamento e tem um desempenho inferior em novos dados, ou problemas de </a:t>
            </a:r>
            <a:r>
              <a:rPr lang="pt-BR" b="0" i="0" dirty="0" err="1">
                <a:solidFill>
                  <a:srgbClr val="374151"/>
                </a:solidFill>
                <a:effectLst/>
                <a:latin typeface="Söhne"/>
              </a:rPr>
              <a:t>subajuste</a:t>
            </a:r>
            <a:r>
              <a:rPr lang="pt-BR" b="0" i="0" dirty="0">
                <a:solidFill>
                  <a:srgbClr val="374151"/>
                </a:solidFill>
                <a:effectLst/>
                <a:latin typeface="Söhne"/>
              </a:rPr>
              <a:t> (</a:t>
            </a:r>
            <a:r>
              <a:rPr lang="pt-BR" b="0" i="0" dirty="0" err="1">
                <a:solidFill>
                  <a:srgbClr val="374151"/>
                </a:solidFill>
                <a:effectLst/>
                <a:latin typeface="Söhne"/>
              </a:rPr>
              <a:t>underfitting</a:t>
            </a:r>
            <a:r>
              <a:rPr lang="pt-BR" b="0" i="0" dirty="0">
                <a:solidFill>
                  <a:srgbClr val="374151"/>
                </a:solidFill>
                <a:effectLst/>
                <a:latin typeface="Söhne"/>
              </a:rPr>
              <a:t>), onde ele não captura adequadamente os padrões do conjunto de treinamento e também não tem um desempenho satisfatório em novos dados.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78</a:t>
            </a:fld>
            <a:endParaRPr lang="pt-BR"/>
          </a:p>
        </p:txBody>
      </p:sp>
    </p:spTree>
    <p:extLst>
      <p:ext uri="{BB962C8B-B14F-4D97-AF65-F5344CB8AC3E}">
        <p14:creationId xmlns:p14="http://schemas.microsoft.com/office/powerpoint/2010/main" val="182963238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sz="1200" kern="1200" dirty="0">
                <a:solidFill>
                  <a:schemeClr val="tx1"/>
                </a:solidFill>
                <a:latin typeface="+mn-lt"/>
                <a:ea typeface="+mn-ea"/>
                <a:cs typeface="+mn-cs"/>
                <a:hlinkClick r:id="rId3">
                  <a:extLst>
                    <a:ext uri="{A12FA001-AC4F-418D-AE19-62706E023703}">
                      <ahyp:hlinkClr xmlns:ahyp="http://schemas.microsoft.com/office/drawing/2018/hyperlinkcolor" val="tx"/>
                    </a:ext>
                  </a:extLst>
                </a:hlinkClick>
              </a:rPr>
              <a:t>Referencias</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79</a:t>
            </a:fld>
            <a:endParaRPr lang="pt-BR"/>
          </a:p>
        </p:txBody>
      </p:sp>
    </p:spTree>
    <p:extLst>
      <p:ext uri="{BB962C8B-B14F-4D97-AF65-F5344CB8AC3E}">
        <p14:creationId xmlns:p14="http://schemas.microsoft.com/office/powerpoint/2010/main" val="17741442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18/02/2026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18/02/2026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18/02/2026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18/02/2026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18/02/2026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18/02/2026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18/02/2026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18/02/2026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18/02/2026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18/02/2026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18/02/2026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18/02/2026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7.png"/><Relationship Id="rId7" Type="http://schemas.openxmlformats.org/officeDocument/2006/relationships/image" Target="../media/image72.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63.png"/><Relationship Id="rId5" Type="http://schemas.openxmlformats.org/officeDocument/2006/relationships/image" Target="../media/image9.png"/><Relationship Id="rId4" Type="http://schemas.openxmlformats.org/officeDocument/2006/relationships/image" Target="../media/image8.png"/><Relationship Id="rId9" Type="http://schemas.openxmlformats.org/officeDocument/2006/relationships/image" Target="../media/image91.png"/></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7.png"/><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s>
</file>

<file path=ppt/slides/_rels/slide1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170.png"/><Relationship Id="rId5" Type="http://schemas.openxmlformats.org/officeDocument/2006/relationships/image" Target="../media/image140.png"/></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image" Target="../media/image20.png"/></Relationships>
</file>

<file path=ppt/slides/_rels/slide13.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400.png"/><Relationship Id="rId4" Type="http://schemas.openxmlformats.org/officeDocument/2006/relationships/image" Target="../media/image41.png"/></Relationships>
</file>

<file path=ppt/slides/_rels/slide20.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22.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2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7" Type="http://schemas.openxmlformats.org/officeDocument/2006/relationships/image" Target="../media/image33.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32.png"/><Relationship Id="rId5" Type="http://schemas.openxmlformats.org/officeDocument/2006/relationships/image" Target="../media/image560.png"/><Relationship Id="rId4" Type="http://schemas.openxmlformats.org/officeDocument/2006/relationships/image" Target="../media/image550.png"/></Relationships>
</file>

<file path=ppt/slides/_rels/slide27.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7" Type="http://schemas.openxmlformats.org/officeDocument/2006/relationships/image" Target="../media/image340.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660.png"/><Relationship Id="rId5" Type="http://schemas.openxmlformats.org/officeDocument/2006/relationships/image" Target="../media/image560.png"/><Relationship Id="rId4" Type="http://schemas.openxmlformats.org/officeDocument/2006/relationships/image" Target="../media/image550.png"/></Relationships>
</file>

<file path=ppt/slides/_rels/slide29.xml.rels><?xml version="1.0" encoding="UTF-8" standalone="yes"?>
<Relationships xmlns="http://schemas.openxmlformats.org/package/2006/relationships"><Relationship Id="rId3" Type="http://schemas.openxmlformats.org/officeDocument/2006/relationships/image" Target="../media/image5500.png"/><Relationship Id="rId7" Type="http://schemas.openxmlformats.org/officeDocument/2006/relationships/image" Target="../media/image580.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35.png"/><Relationship Id="rId5" Type="http://schemas.openxmlformats.org/officeDocument/2006/relationships/image" Target="../media/image570.png"/><Relationship Id="rId4" Type="http://schemas.openxmlformats.org/officeDocument/2006/relationships/image" Target="../media/image5600.png"/></Relationships>
</file>

<file path=ppt/slides/_rels/slide30.xml.rels><?xml version="1.0" encoding="UTF-8" standalone="yes"?>
<Relationships xmlns="http://schemas.openxmlformats.org/package/2006/relationships"><Relationship Id="rId8" Type="http://schemas.openxmlformats.org/officeDocument/2006/relationships/image" Target="../media/image580.png"/><Relationship Id="rId3" Type="http://schemas.openxmlformats.org/officeDocument/2006/relationships/image" Target="../media/image31.png"/><Relationship Id="rId7" Type="http://schemas.openxmlformats.org/officeDocument/2006/relationships/image" Target="../media/image35.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570.png"/><Relationship Id="rId5" Type="http://schemas.openxmlformats.org/officeDocument/2006/relationships/image" Target="../media/image5600.png"/><Relationship Id="rId4" Type="http://schemas.openxmlformats.org/officeDocument/2006/relationships/image" Target="../media/image550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50.png"/><Relationship Id="rId1" Type="http://schemas.openxmlformats.org/officeDocument/2006/relationships/slideLayout" Target="../slideLayouts/slideLayout2.xml"/><Relationship Id="rId5" Type="http://schemas.openxmlformats.org/officeDocument/2006/relationships/image" Target="../media/image71.png"/><Relationship Id="rId4" Type="http://schemas.openxmlformats.org/officeDocument/2006/relationships/image" Target="../media/image61.png"/></Relationships>
</file>

<file path=ppt/slides/_rels/slide33.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71.png"/><Relationship Id="rId4" Type="http://schemas.openxmlformats.org/officeDocument/2006/relationships/image" Target="../media/image90.png"/></Relationships>
</file>

<file path=ppt/slides/_rels/slide34.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71.png"/></Relationships>
</file>

<file path=ppt/slides/_rels/slide35.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70.png"/><Relationship Id="rId4" Type="http://schemas.openxmlformats.org/officeDocument/2006/relationships/image" Target="../media/image6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40.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70.png"/><Relationship Id="rId4" Type="http://schemas.openxmlformats.org/officeDocument/2006/relationships/image" Target="../media/image60.png"/></Relationships>
</file>

<file path=ppt/slides/_rels/slide41.xml.rels><?xml version="1.0" encoding="UTF-8" standalone="yes"?>
<Relationships xmlns="http://schemas.openxmlformats.org/package/2006/relationships"><Relationship Id="rId8" Type="http://schemas.openxmlformats.org/officeDocument/2006/relationships/image" Target="../media/image190.png"/><Relationship Id="rId7" Type="http://schemas.openxmlformats.org/officeDocument/2006/relationships/image" Target="../media/image180.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 Id="rId9" Type="http://schemas.openxmlformats.org/officeDocument/2006/relationships/image" Target="../media/image200.png"/></Relationships>
</file>

<file path=ppt/slides/_rels/slide42.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36.png"/><Relationship Id="rId7" Type="http://schemas.openxmlformats.org/officeDocument/2006/relationships/image" Target="../media/image180.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43.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141.png"/><Relationship Id="rId7" Type="http://schemas.openxmlformats.org/officeDocument/2006/relationships/image" Target="../media/image180.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 Id="rId9" Type="http://schemas.openxmlformats.org/officeDocument/2006/relationships/image" Target="../media/image200.png"/></Relationships>
</file>

<file path=ppt/slides/_rels/slide44.xml.rels><?xml version="1.0" encoding="UTF-8" standalone="yes"?>
<Relationships xmlns="http://schemas.openxmlformats.org/package/2006/relationships"><Relationship Id="rId8" Type="http://schemas.openxmlformats.org/officeDocument/2006/relationships/image" Target="../media/image220.png"/><Relationship Id="rId3" Type="http://schemas.openxmlformats.org/officeDocument/2006/relationships/image" Target="../media/image150.png"/><Relationship Id="rId7" Type="http://schemas.openxmlformats.org/officeDocument/2006/relationships/image" Target="../media/image210.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180.png"/><Relationship Id="rId5" Type="http://schemas.openxmlformats.org/officeDocument/2006/relationships/image" Target="../media/image171.png"/><Relationship Id="rId10" Type="http://schemas.openxmlformats.org/officeDocument/2006/relationships/image" Target="../media/image240.png"/><Relationship Id="rId4" Type="http://schemas.openxmlformats.org/officeDocument/2006/relationships/image" Target="../media/image160.png"/><Relationship Id="rId9" Type="http://schemas.openxmlformats.org/officeDocument/2006/relationships/image" Target="../media/image230.png"/></Relationships>
</file>

<file path=ppt/slides/_rels/slide45.xml.rels><?xml version="1.0" encoding="UTF-8" standalone="yes"?>
<Relationships xmlns="http://schemas.openxmlformats.org/package/2006/relationships"><Relationship Id="rId3" Type="http://schemas.openxmlformats.org/officeDocument/2006/relationships/image" Target="../media/image250.pn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47.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28.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8.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9.xml.rels><?xml version="1.0" encoding="UTF-8" standalone="yes"?>
<Relationships xmlns="http://schemas.openxmlformats.org/package/2006/relationships"><Relationship Id="rId3" Type="http://schemas.openxmlformats.org/officeDocument/2006/relationships/image" Target="../media/image261.png"/><Relationship Id="rId2" Type="http://schemas.openxmlformats.org/officeDocument/2006/relationships/notesSlide" Target="../notesSlides/notesSlide30.xml"/><Relationship Id="rId1" Type="http://schemas.openxmlformats.org/officeDocument/2006/relationships/slideLayout" Target="../slideLayouts/slideLayout2.xml"/><Relationship Id="rId5" Type="http://schemas.openxmlformats.org/officeDocument/2006/relationships/image" Target="../media/image281.png"/><Relationship Id="rId4" Type="http://schemas.openxmlformats.org/officeDocument/2006/relationships/image" Target="../media/image271.png"/></Relationships>
</file>

<file path=ppt/slides/_rels/slide50.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51.xml.rels><?xml version="1.0" encoding="UTF-8" standalone="yes"?>
<Relationships xmlns="http://schemas.openxmlformats.org/package/2006/relationships"><Relationship Id="rId3" Type="http://schemas.openxmlformats.org/officeDocument/2006/relationships/image" Target="../media/image260.png"/><Relationship Id="rId2" Type="http://schemas.openxmlformats.org/officeDocument/2006/relationships/notesSlide" Target="../notesSlides/notesSlide32.xml"/><Relationship Id="rId1" Type="http://schemas.openxmlformats.org/officeDocument/2006/relationships/slideLayout" Target="../slideLayouts/slideLayout2.xml"/><Relationship Id="rId5" Type="http://schemas.openxmlformats.org/officeDocument/2006/relationships/image" Target="../media/image280.png"/><Relationship Id="rId4" Type="http://schemas.openxmlformats.org/officeDocument/2006/relationships/image" Target="../media/image270.png"/></Relationships>
</file>

<file path=ppt/slides/_rels/slide5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5.gif"/><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36.jpe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37.jpe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38.jpeg"/></Relationships>
</file>

<file path=ppt/slides/_rels/slide63.xml.rels><?xml version="1.0" encoding="UTF-8" standalone="yes"?>
<Relationships xmlns="http://schemas.openxmlformats.org/package/2006/relationships"><Relationship Id="rId2" Type="http://schemas.openxmlformats.org/officeDocument/2006/relationships/image" Target="../media/image39.jpe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441.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48.xml"/><Relationship Id="rId1" Type="http://schemas.openxmlformats.org/officeDocument/2006/relationships/slideLayout" Target="../slideLayouts/slideLayout2.xml"/><Relationship Id="rId5" Type="http://schemas.openxmlformats.org/officeDocument/2006/relationships/image" Target="../media/image47.png"/><Relationship Id="rId4" Type="http://schemas.openxmlformats.org/officeDocument/2006/relationships/image" Target="../media/image62.png"/></Relationships>
</file>

<file path=ppt/slides/_rels/slide75.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49.xml"/><Relationship Id="rId1" Type="http://schemas.openxmlformats.org/officeDocument/2006/relationships/slideLayout" Target="../slideLayouts/slideLayout2.xml"/><Relationship Id="rId5" Type="http://schemas.openxmlformats.org/officeDocument/2006/relationships/image" Target="../media/image62.png"/><Relationship Id="rId4" Type="http://schemas.openxmlformats.org/officeDocument/2006/relationships/image" Target="../media/image47.png"/></Relationships>
</file>

<file path=ppt/slides/_rels/slide76.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50.xml"/><Relationship Id="rId1" Type="http://schemas.openxmlformats.org/officeDocument/2006/relationships/slideLayout" Target="../slideLayouts/slideLayout2.xml"/><Relationship Id="rId5" Type="http://schemas.openxmlformats.org/officeDocument/2006/relationships/image" Target="../media/image62.png"/><Relationship Id="rId4" Type="http://schemas.openxmlformats.org/officeDocument/2006/relationships/image" Target="../media/image47.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regress&#227;o.ipynb" TargetMode="External"/><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image" Target="../media/image51.png"/><Relationship Id="rId5" Type="http://schemas.openxmlformats.org/officeDocument/2006/relationships/image" Target="../media/image49.jpeg"/><Relationship Id="rId4" Type="http://schemas.openxmlformats.org/officeDocument/2006/relationships/image" Target="../media/image48.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image" Target="../media/image410.png"/><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image" Target="../media/image420.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430.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440.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450.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image" Target="../media/image460.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470.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image" Target="../media/image480.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image" Target="../media/image490.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Regressão</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Regressão</a:t>
            </a:r>
            <a:endParaRPr lang="en-US" dirty="0"/>
          </a:p>
        </p:txBody>
      </p:sp>
      <mc:AlternateContent xmlns:mc="http://schemas.openxmlformats.org/markup-compatibility/2006">
        <mc:Choice xmlns:a14="http://schemas.microsoft.com/office/drawing/2010/main" Requires="a14">
          <p:sp>
            <p:nvSpPr>
              <p:cNvPr id="3" name="Espaço Reservado para Conteúdo 2"/>
              <p:cNvSpPr>
                <a:spLocks noGrp="1"/>
              </p:cNvSpPr>
              <p:nvPr>
                <p:ph idx="1"/>
              </p:nvPr>
            </p:nvSpPr>
            <p:spPr>
              <a:xfrm>
                <a:off x="6671733" y="1825624"/>
                <a:ext cx="5429956" cy="5032375"/>
              </a:xfrm>
            </p:spPr>
            <p:txBody>
              <a:bodyPr/>
              <a:lstStyle/>
              <a:p>
                <a:r>
                  <a:rPr lang="pt-BR" dirty="0"/>
                  <a:t>Tarefa (ou problema) de </a:t>
                </a:r>
                <a:r>
                  <a:rPr lang="pt-BR" b="1" dirty="0">
                    <a:solidFill>
                      <a:schemeClr val="accent2"/>
                    </a:solidFill>
                  </a:rPr>
                  <a:t>aprendizado supervisionado</a:t>
                </a:r>
                <a:r>
                  <a:rPr lang="pt-BR" dirty="0"/>
                  <a:t>.</a:t>
                </a:r>
              </a:p>
              <a:p>
                <a:pPr lvl="1">
                  <a:buFont typeface="Wingdings" panose="05000000000000000000" pitchFamily="2" charset="2"/>
                  <a:buChar char="§"/>
                </a:pPr>
                <a:r>
                  <a:rPr lang="pt-BR" dirty="0"/>
                  <a:t>As saídas esperadas (rótulos) são conhecidas.</a:t>
                </a:r>
              </a:p>
              <a:p>
                <a:r>
                  <a:rPr lang="pt-BR" dirty="0"/>
                  <a:t>Envolve encontrar uma função, </a:t>
                </a:r>
                <a14:m>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r>
                      <a:rPr lang="pt-BR" b="1" i="1" smtClean="0">
                        <a:latin typeface="Cambria Math" panose="02040503050406030204" pitchFamily="18" charset="0"/>
                      </a:rPr>
                      <m:t>𝒙</m:t>
                    </m:r>
                    <m:r>
                      <a:rPr lang="pt-BR" i="1" smtClean="0">
                        <a:latin typeface="Cambria Math" panose="02040503050406030204" pitchFamily="18" charset="0"/>
                      </a:rPr>
                      <m:t>)</m:t>
                    </m:r>
                  </m:oMath>
                </a14:m>
                <a:r>
                  <a:rPr lang="pt-BR" dirty="0"/>
                  <a:t>, que </a:t>
                </a:r>
                <a:r>
                  <a:rPr lang="pt-BR" b="1" dirty="0">
                    <a:solidFill>
                      <a:srgbClr val="7030A0"/>
                    </a:solidFill>
                  </a:rPr>
                  <a:t>mapeie</a:t>
                </a:r>
                <a:r>
                  <a:rPr lang="pt-BR" dirty="0"/>
                  <a:t> os atributos em </a:t>
                </a:r>
                <a:r>
                  <a:rPr lang="pt-BR" b="1" dirty="0">
                    <a:solidFill>
                      <a:schemeClr val="accent2"/>
                    </a:solidFill>
                  </a:rPr>
                  <a:t>valores reais </a:t>
                </a:r>
                <a:r>
                  <a:rPr lang="pt-BR" dirty="0"/>
                  <a:t>(i.e., conjunto infinito de valores).</a:t>
                </a:r>
                <a:endParaRPr lang="en-US" dirty="0"/>
              </a:p>
            </p:txBody>
          </p:sp>
        </mc:Choice>
        <mc:Fallback>
          <p:sp>
            <p:nvSpPr>
              <p:cNvPr id="3" name="Espaço Reservado para Conteúdo 2"/>
              <p:cNvSpPr>
                <a:spLocks noGrp="1" noRot="1" noChangeAspect="1" noMove="1" noResize="1" noEditPoints="1" noAdjustHandles="1" noChangeArrowheads="1" noChangeShapeType="1" noTextEdit="1"/>
              </p:cNvSpPr>
              <p:nvPr>
                <p:ph idx="1"/>
              </p:nvPr>
            </p:nvSpPr>
            <p:spPr>
              <a:xfrm>
                <a:off x="6671733" y="1825624"/>
                <a:ext cx="5429956" cy="5032375"/>
              </a:xfrm>
              <a:blipFill>
                <a:blip r:embed="rId2"/>
                <a:stretch>
                  <a:fillRect l="-2020" t="-1937" r="-1010"/>
                </a:stretch>
              </a:blipFill>
            </p:spPr>
            <p:txBody>
              <a:bodyPr/>
              <a:lstStyle/>
              <a:p>
                <a:r>
                  <a:rPr lang="en-US">
                    <a:noFill/>
                  </a:rPr>
                  <a:t> </a:t>
                </a:r>
              </a:p>
            </p:txBody>
          </p:sp>
        </mc:Fallback>
      </mc:AlternateContent>
      <p:pic>
        <p:nvPicPr>
          <p:cNvPr id="5" name="Picture 2" descr="https://miro.medium.com/max/1276/1*4sixxtuD8unWceZ-yp9TgQ.jpeg"/>
          <p:cNvPicPr>
            <a:picLocks noChangeAspect="1" noChangeArrowheads="1"/>
          </p:cNvPicPr>
          <p:nvPr/>
        </p:nvPicPr>
        <p:blipFill rotWithShape="1">
          <a:blip r:embed="rId3">
            <a:extLst>
              <a:ext uri="{28A0092B-C50C-407E-A947-70E740481C1C}">
                <a14:useLocalDpi xmlns:a14="http://schemas.microsoft.com/office/drawing/2010/main" val="0"/>
              </a:ext>
            </a:extLst>
          </a:blip>
          <a:srcRect l="53147" t="33424" r="5087" b="12524"/>
          <a:stretch/>
        </p:blipFill>
        <p:spPr bwMode="auto">
          <a:xfrm>
            <a:off x="1062922" y="2002572"/>
            <a:ext cx="3469002" cy="3370633"/>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mc:Choice xmlns:a14="http://schemas.microsoft.com/office/drawing/2010/main" Requires="a14">
          <p:sp>
            <p:nvSpPr>
              <p:cNvPr id="4" name="CaixaDeTexto 3"/>
              <p:cNvSpPr txBox="1"/>
              <p:nvPr/>
            </p:nvSpPr>
            <p:spPr>
              <a:xfrm>
                <a:off x="806201" y="5361923"/>
                <a:ext cx="3840479" cy="646331"/>
              </a:xfrm>
              <a:prstGeom prst="rect">
                <a:avLst/>
              </a:prstGeom>
              <a:noFill/>
            </p:spPr>
            <p:txBody>
              <a:bodyPr wrap="square" rtlCol="0">
                <a:spAutoFit/>
              </a:bodyPr>
              <a:lstStyle/>
              <a:p>
                <a:pPr algn="ctr"/>
                <a14:m>
                  <m:oMath xmlns:m="http://schemas.openxmlformats.org/officeDocument/2006/math">
                    <m:r>
                      <a:rPr lang="pt-BR" i="1">
                        <a:latin typeface="Cambria Math" panose="02040503050406030204" pitchFamily="18" charset="0"/>
                      </a:rPr>
                      <m:t>𝑓</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oMath>
                </a14:m>
                <a:r>
                  <a:rPr lang="en-US" dirty="0"/>
                  <a:t> </a:t>
                </a:r>
                <a:r>
                  <a:rPr lang="en-US" b="1" i="1" dirty="0" err="1">
                    <a:solidFill>
                      <a:srgbClr val="00B050"/>
                    </a:solidFill>
                  </a:rPr>
                  <a:t>aproxima</a:t>
                </a:r>
                <a:r>
                  <a:rPr lang="en-US" dirty="0"/>
                  <a:t> o </a:t>
                </a:r>
                <a:r>
                  <a:rPr lang="en-US" dirty="0" err="1"/>
                  <a:t>comportamento</a:t>
                </a:r>
                <a:r>
                  <a:rPr lang="en-US" dirty="0"/>
                  <a:t> dos dados.</a:t>
                </a:r>
              </a:p>
            </p:txBody>
          </p:sp>
        </mc:Choice>
        <mc:Fallback>
          <p:sp>
            <p:nvSpPr>
              <p:cNvPr id="4" name="CaixaDeTexto 3"/>
              <p:cNvSpPr txBox="1">
                <a:spLocks noRot="1" noChangeAspect="1" noMove="1" noResize="1" noEditPoints="1" noAdjustHandles="1" noChangeArrowheads="1" noChangeShapeType="1" noTextEdit="1"/>
              </p:cNvSpPr>
              <p:nvPr/>
            </p:nvSpPr>
            <p:spPr>
              <a:xfrm>
                <a:off x="806201" y="5361923"/>
                <a:ext cx="3840479" cy="646331"/>
              </a:xfrm>
              <a:prstGeom prst="rect">
                <a:avLst/>
              </a:prstGeom>
              <a:blipFill>
                <a:blip r:embed="rId4"/>
                <a:stretch>
                  <a:fillRect t="-5660" r="-1111" b="-14151"/>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 name="CaixaDeTexto 5">
                <a:extLst>
                  <a:ext uri="{FF2B5EF4-FFF2-40B4-BE49-F238E27FC236}">
                    <a16:creationId xmlns:a16="http://schemas.microsoft.com/office/drawing/2014/main" id="{48D3A820-D198-F9AB-C6B3-3F78DA6684D0}"/>
                  </a:ext>
                </a:extLst>
              </p:cNvPr>
              <p:cNvSpPr txBox="1"/>
              <p:nvPr/>
            </p:nvSpPr>
            <p:spPr>
              <a:xfrm>
                <a:off x="4531924" y="3429000"/>
                <a:ext cx="1766066" cy="923330"/>
              </a:xfrm>
              <a:prstGeom prst="rect">
                <a:avLst/>
              </a:prstGeom>
              <a:noFill/>
            </p:spPr>
            <p:txBody>
              <a:bodyPr wrap="square" rtlCol="0">
                <a:spAutoFit/>
              </a:bodyPr>
              <a:lstStyle/>
              <a:p>
                <a:pPr algn="ctr"/>
                <a14:m>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oMath>
                </a14:m>
                <a:r>
                  <a:rPr lang="en-US" dirty="0"/>
                  <a:t> </a:t>
                </a:r>
                <a:r>
                  <a:rPr lang="pt-BR" dirty="0"/>
                  <a:t>captura o </a:t>
                </a:r>
                <a:r>
                  <a:rPr lang="pt-BR" b="1" i="1" dirty="0">
                    <a:solidFill>
                      <a:schemeClr val="accent2"/>
                    </a:solidFill>
                  </a:rPr>
                  <a:t>comportamento geral</a:t>
                </a:r>
                <a:r>
                  <a:rPr lang="pt-BR" dirty="0"/>
                  <a:t> dos dados.</a:t>
                </a:r>
              </a:p>
            </p:txBody>
          </p:sp>
        </mc:Choice>
        <mc:Fallback>
          <p:sp>
            <p:nvSpPr>
              <p:cNvPr id="8" name="CaixaDeTexto 5">
                <a:extLst>
                  <a:ext uri="{FF2B5EF4-FFF2-40B4-BE49-F238E27FC236}">
                    <a16:creationId xmlns:a16="http://schemas.microsoft.com/office/drawing/2014/main" id="{48D3A820-D198-F9AB-C6B3-3F78DA6684D0}"/>
                  </a:ext>
                </a:extLst>
              </p:cNvPr>
              <p:cNvSpPr txBox="1">
                <a:spLocks noRot="1" noChangeAspect="1" noMove="1" noResize="1" noEditPoints="1" noAdjustHandles="1" noChangeArrowheads="1" noChangeShapeType="1" noTextEdit="1"/>
              </p:cNvSpPr>
              <p:nvPr/>
            </p:nvSpPr>
            <p:spPr>
              <a:xfrm>
                <a:off x="4531924" y="3429000"/>
                <a:ext cx="1766066" cy="923330"/>
              </a:xfrm>
              <a:prstGeom prst="rect">
                <a:avLst/>
              </a:prstGeom>
              <a:blipFill>
                <a:blip r:embed="rId5"/>
                <a:stretch>
                  <a:fillRect l="-2069" t="-3974" r="-3793" b="-9272"/>
                </a:stretch>
              </a:blipFill>
            </p:spPr>
            <p:txBody>
              <a:bodyPr/>
              <a:lstStyle/>
              <a:p>
                <a:r>
                  <a:rPr lang="en-US">
                    <a:noFill/>
                  </a:rPr>
                  <a:t> </a:t>
                </a:r>
              </a:p>
            </p:txBody>
          </p:sp>
        </mc:Fallback>
      </mc:AlternateContent>
    </p:spTree>
    <p:extLst>
      <p:ext uri="{BB962C8B-B14F-4D97-AF65-F5344CB8AC3E}">
        <p14:creationId xmlns:p14="http://schemas.microsoft.com/office/powerpoint/2010/main" val="327047491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Motivação</a:t>
            </a:r>
          </a:p>
        </p:txBody>
      </p:sp>
      <p:pic>
        <p:nvPicPr>
          <p:cNvPr id="6" name="Picture 5"/>
          <p:cNvPicPr>
            <a:picLocks noChangeAspect="1"/>
          </p:cNvPicPr>
          <p:nvPr/>
        </p:nvPicPr>
        <p:blipFill>
          <a:blip r:embed="rId3"/>
          <a:stretch>
            <a:fillRect/>
          </a:stretch>
        </p:blipFill>
        <p:spPr>
          <a:xfrm>
            <a:off x="1555520" y="2921704"/>
            <a:ext cx="2224946" cy="1481651"/>
          </a:xfrm>
          <a:prstGeom prst="rect">
            <a:avLst/>
          </a:prstGeom>
        </p:spPr>
      </p:pic>
      <p:pic>
        <p:nvPicPr>
          <p:cNvPr id="7" name="Picture 6"/>
          <p:cNvPicPr>
            <a:picLocks noChangeAspect="1"/>
          </p:cNvPicPr>
          <p:nvPr/>
        </p:nvPicPr>
        <p:blipFill>
          <a:blip r:embed="rId4"/>
          <a:stretch>
            <a:fillRect/>
          </a:stretch>
        </p:blipFill>
        <p:spPr>
          <a:xfrm>
            <a:off x="5114109" y="2920986"/>
            <a:ext cx="1965031" cy="1473773"/>
          </a:xfrm>
          <a:prstGeom prst="rect">
            <a:avLst/>
          </a:prstGeom>
        </p:spPr>
      </p:pic>
      <p:pic>
        <p:nvPicPr>
          <p:cNvPr id="8" name="Picture 7"/>
          <p:cNvPicPr>
            <a:picLocks noChangeAspect="1"/>
          </p:cNvPicPr>
          <p:nvPr/>
        </p:nvPicPr>
        <p:blipFill>
          <a:blip r:embed="rId5"/>
          <a:stretch>
            <a:fillRect/>
          </a:stretch>
        </p:blipFill>
        <p:spPr>
          <a:xfrm>
            <a:off x="8209597" y="2929582"/>
            <a:ext cx="2620040" cy="1473773"/>
          </a:xfrm>
          <a:prstGeom prst="rect">
            <a:avLst/>
          </a:prstGeom>
        </p:spPr>
      </p:pic>
      <p:sp>
        <p:nvSpPr>
          <p:cNvPr id="9" name="Content Placeholder 2"/>
          <p:cNvSpPr>
            <a:spLocks noGrp="1"/>
          </p:cNvSpPr>
          <p:nvPr>
            <p:ph idx="1"/>
          </p:nvPr>
        </p:nvSpPr>
        <p:spPr>
          <a:xfrm>
            <a:off x="627847" y="1654206"/>
            <a:ext cx="10515600" cy="1073439"/>
          </a:xfrm>
        </p:spPr>
        <p:txBody>
          <a:bodyPr>
            <a:normAutofit/>
          </a:bodyPr>
          <a:lstStyle/>
          <a:p>
            <a:r>
              <a:rPr lang="pt-BR" b="1" dirty="0"/>
              <a:t>Exemplo 1</a:t>
            </a:r>
            <a:r>
              <a:rPr lang="pt-BR" dirty="0"/>
              <a:t>: Estimar o preço de casas.</a:t>
            </a:r>
          </a:p>
        </p:txBody>
      </p:sp>
      <mc:AlternateContent xmlns:mc="http://schemas.openxmlformats.org/markup-compatibility/2006" xmlns:a14="http://schemas.microsoft.com/office/drawing/2010/main">
        <mc:Choice Requires="a14">
          <p:sp>
            <p:nvSpPr>
              <p:cNvPr id="10" name="Content Placeholder 2"/>
              <p:cNvSpPr txBox="1">
                <a:spLocks/>
              </p:cNvSpPr>
              <p:nvPr/>
            </p:nvSpPr>
            <p:spPr>
              <a:xfrm>
                <a:off x="734291" y="5122567"/>
                <a:ext cx="11185960" cy="1735434"/>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t-BR" dirty="0"/>
                  <a:t>Podemos usar </a:t>
                </a:r>
                <a:r>
                  <a:rPr lang="pt-BR" b="1" i="1" dirty="0"/>
                  <a:t>regressão</a:t>
                </a:r>
                <a:r>
                  <a:rPr lang="pt-BR" dirty="0"/>
                  <a:t> para encontrar uma </a:t>
                </a:r>
                <a:r>
                  <a:rPr lang="pt-BR" b="1" i="1" dirty="0">
                    <a:solidFill>
                      <a:srgbClr val="0070C0"/>
                    </a:solidFill>
                  </a:rPr>
                  <a:t>relação matemática</a:t>
                </a:r>
                <a:r>
                  <a:rPr lang="pt-BR" dirty="0"/>
                  <a:t>, </a:t>
                </a:r>
                <a14:m>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entre o n</a:t>
                </a:r>
                <a14:m>
                  <m:oMath xmlns:m="http://schemas.openxmlformats.org/officeDocument/2006/math">
                    <m:r>
                      <a:rPr lang="pt-BR" i="1">
                        <a:latin typeface="Cambria Math" panose="02040503050406030204" pitchFamily="18" charset="0"/>
                        <a:ea typeface="Cambria Math" panose="02040503050406030204" pitchFamily="18" charset="0"/>
                      </a:rPr>
                      <m:t>°</m:t>
                    </m:r>
                  </m:oMath>
                </a14:m>
                <a:r>
                  <a:rPr lang="pt-BR" dirty="0"/>
                  <a:t> de quartos, n</a:t>
                </a:r>
                <a14:m>
                  <m:oMath xmlns:m="http://schemas.openxmlformats.org/officeDocument/2006/math">
                    <m:r>
                      <a:rPr lang="pt-BR" i="1">
                        <a:latin typeface="Cambria Math" panose="02040503050406030204" pitchFamily="18" charset="0"/>
                        <a:ea typeface="Cambria Math" panose="02040503050406030204" pitchFamily="18" charset="0"/>
                      </a:rPr>
                      <m:t>° </m:t>
                    </m:r>
                  </m:oMath>
                </a14:m>
                <a:r>
                  <a:rPr lang="pt-BR" dirty="0"/>
                  <a:t>de vagas na garagem, se tem piscina, localização, área, etc. de uma casa e seu valor.</a:t>
                </a:r>
              </a:p>
              <a:p>
                <a:r>
                  <a:rPr lang="pt-BR" b="1" dirty="0">
                    <a:solidFill>
                      <a:srgbClr val="00B050"/>
                    </a:solidFill>
                  </a:rPr>
                  <a:t>Objetivo</a:t>
                </a:r>
                <a:r>
                  <a:rPr lang="pt-BR" dirty="0"/>
                  <a:t>: agilizar o processo de avaliação de propriedades.</a:t>
                </a:r>
              </a:p>
            </p:txBody>
          </p:sp>
        </mc:Choice>
        <mc:Fallback xmlns="">
          <p:sp>
            <p:nvSpPr>
              <p:cNvPr id="10" name="Content Placeholder 2"/>
              <p:cNvSpPr txBox="1">
                <a:spLocks noRot="1" noChangeAspect="1" noMove="1" noResize="1" noEditPoints="1" noAdjustHandles="1" noChangeArrowheads="1" noChangeShapeType="1" noTextEdit="1"/>
              </p:cNvSpPr>
              <p:nvPr/>
            </p:nvSpPr>
            <p:spPr>
              <a:xfrm>
                <a:off x="734291" y="5122567"/>
                <a:ext cx="11185960" cy="1735434"/>
              </a:xfrm>
              <a:prstGeom prst="rect">
                <a:avLst/>
              </a:prstGeom>
              <a:blipFill>
                <a:blip r:embed="rId6"/>
                <a:stretch>
                  <a:fillRect l="-981" t="-7719" r="-1035" b="-1754"/>
                </a:stretch>
              </a:blipFill>
            </p:spPr>
            <p:txBody>
              <a:bodyPr/>
              <a:lstStyle/>
              <a:p>
                <a:r>
                  <a:rPr lang="en-US">
                    <a:noFill/>
                  </a:rPr>
                  <a:t> </a:t>
                </a:r>
              </a:p>
            </p:txBody>
          </p:sp>
        </mc:Fallback>
      </mc:AlternateContent>
      <p:sp>
        <p:nvSpPr>
          <p:cNvPr id="3" name="TextBox 2"/>
          <p:cNvSpPr txBox="1"/>
          <p:nvPr/>
        </p:nvSpPr>
        <p:spPr>
          <a:xfrm>
            <a:off x="1555520" y="4556041"/>
            <a:ext cx="2224946" cy="369332"/>
          </a:xfrm>
          <a:prstGeom prst="rect">
            <a:avLst/>
          </a:prstGeom>
          <a:noFill/>
        </p:spPr>
        <p:txBody>
          <a:bodyPr wrap="square" rtlCol="0">
            <a:spAutoFit/>
          </a:bodyPr>
          <a:lstStyle/>
          <a:p>
            <a:pPr algn="ctr"/>
            <a:r>
              <a:rPr lang="pt-BR" dirty="0"/>
              <a:t>R$ 1.000.000,00</a:t>
            </a:r>
          </a:p>
        </p:txBody>
      </p:sp>
      <p:sp>
        <p:nvSpPr>
          <p:cNvPr id="11" name="TextBox 10"/>
          <p:cNvSpPr txBox="1"/>
          <p:nvPr/>
        </p:nvSpPr>
        <p:spPr>
          <a:xfrm>
            <a:off x="5114109" y="4567526"/>
            <a:ext cx="2003045" cy="369332"/>
          </a:xfrm>
          <a:prstGeom prst="rect">
            <a:avLst/>
          </a:prstGeom>
          <a:noFill/>
        </p:spPr>
        <p:txBody>
          <a:bodyPr wrap="square" rtlCol="0">
            <a:spAutoFit/>
          </a:bodyPr>
          <a:lstStyle/>
          <a:p>
            <a:pPr algn="ctr"/>
            <a:r>
              <a:rPr lang="pt-BR" dirty="0"/>
              <a:t>R$ 200.000,00</a:t>
            </a:r>
          </a:p>
        </p:txBody>
      </p:sp>
      <p:sp>
        <p:nvSpPr>
          <p:cNvPr id="12" name="TextBox 11"/>
          <p:cNvSpPr txBox="1"/>
          <p:nvPr/>
        </p:nvSpPr>
        <p:spPr>
          <a:xfrm>
            <a:off x="8207147" y="4517680"/>
            <a:ext cx="2620041" cy="461665"/>
          </a:xfrm>
          <a:prstGeom prst="rect">
            <a:avLst/>
          </a:prstGeom>
          <a:noFill/>
        </p:spPr>
        <p:txBody>
          <a:bodyPr wrap="square" rtlCol="0">
            <a:spAutoFit/>
          </a:bodyPr>
          <a:lstStyle/>
          <a:p>
            <a:pPr algn="ctr"/>
            <a:r>
              <a:rPr lang="pt-BR" sz="2400" b="1" dirty="0">
                <a:solidFill>
                  <a:srgbClr val="FF0000"/>
                </a:solidFill>
              </a:rPr>
              <a:t>???</a:t>
            </a:r>
          </a:p>
        </p:txBody>
      </p:sp>
      <mc:AlternateContent xmlns:mc="http://schemas.openxmlformats.org/markup-compatibility/2006" xmlns:a14="http://schemas.microsoft.com/office/drawing/2010/main">
        <mc:Choice Requires="a14">
          <p:sp>
            <p:nvSpPr>
              <p:cNvPr id="4" name="TextBox 3"/>
              <p:cNvSpPr txBox="1"/>
              <p:nvPr/>
            </p:nvSpPr>
            <p:spPr>
              <a:xfrm>
                <a:off x="1260591" y="2308362"/>
                <a:ext cx="2923229" cy="590354"/>
              </a:xfrm>
              <a:prstGeom prst="rect">
                <a:avLst/>
              </a:prstGeom>
              <a:noFill/>
            </p:spPr>
            <p:txBody>
              <a:bodyPr wrap="square" rtlCol="0">
                <a:spAutoFit/>
              </a:bodyPr>
              <a:lstStyle/>
              <a:p>
                <a:pPr algn="ctr"/>
                <a:r>
                  <a:rPr lang="pt-BR" sz="1600" dirty="0"/>
                  <a:t>5 quartos, 3 vagas na garagem, 1 piscina, cond. de luxo, 500 </a:t>
                </a:r>
                <a14:m>
                  <m:oMath xmlns:m="http://schemas.openxmlformats.org/officeDocument/2006/math">
                    <m:sSup>
                      <m:sSupPr>
                        <m:ctrlPr>
                          <a:rPr lang="pt-BR" sz="1600" i="1" smtClean="0">
                            <a:latin typeface="Cambria Math" panose="02040503050406030204" pitchFamily="18" charset="0"/>
                          </a:rPr>
                        </m:ctrlPr>
                      </m:sSupPr>
                      <m:e>
                        <m:r>
                          <a:rPr lang="pt-BR" sz="1600" b="0" i="1" smtClean="0">
                            <a:latin typeface="Cambria Math" panose="02040503050406030204" pitchFamily="18" charset="0"/>
                          </a:rPr>
                          <m:t>𝑚</m:t>
                        </m:r>
                      </m:e>
                      <m:sup>
                        <m:r>
                          <a:rPr lang="pt-BR" sz="1600" b="0" i="1" smtClean="0">
                            <a:latin typeface="Cambria Math" panose="02040503050406030204" pitchFamily="18" charset="0"/>
                          </a:rPr>
                          <m:t>2</m:t>
                        </m:r>
                      </m:sup>
                    </m:sSup>
                  </m:oMath>
                </a14:m>
                <a:endParaRPr lang="pt-BR" sz="1600" dirty="0"/>
              </a:p>
            </p:txBody>
          </p:sp>
        </mc:Choice>
        <mc:Fallback xmlns="">
          <p:sp>
            <p:nvSpPr>
              <p:cNvPr id="4" name="TextBox 3"/>
              <p:cNvSpPr txBox="1">
                <a:spLocks noRot="1" noChangeAspect="1" noMove="1" noResize="1" noEditPoints="1" noAdjustHandles="1" noChangeArrowheads="1" noChangeShapeType="1" noTextEdit="1"/>
              </p:cNvSpPr>
              <p:nvPr/>
            </p:nvSpPr>
            <p:spPr>
              <a:xfrm>
                <a:off x="1260591" y="2308362"/>
                <a:ext cx="2923229" cy="590354"/>
              </a:xfrm>
              <a:prstGeom prst="rect">
                <a:avLst/>
              </a:prstGeom>
              <a:blipFill>
                <a:blip r:embed="rId7"/>
                <a:stretch>
                  <a:fillRect l="-418" t="-3093" r="-1879" b="-1237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TextBox 12"/>
              <p:cNvSpPr txBox="1"/>
              <p:nvPr/>
            </p:nvSpPr>
            <p:spPr>
              <a:xfrm>
                <a:off x="4694503" y="2316101"/>
                <a:ext cx="2804242" cy="590354"/>
              </a:xfrm>
              <a:prstGeom prst="rect">
                <a:avLst/>
              </a:prstGeom>
              <a:noFill/>
            </p:spPr>
            <p:txBody>
              <a:bodyPr wrap="square" rtlCol="0">
                <a:spAutoFit/>
              </a:bodyPr>
              <a:lstStyle>
                <a:defPPr>
                  <a:defRPr lang="nl-BE"/>
                </a:defPPr>
                <a:lvl1pPr algn="ctr">
                  <a:defRPr sz="1600"/>
                </a:lvl1pPr>
              </a:lstStyle>
              <a:p>
                <a:r>
                  <a:rPr lang="pt-BR" dirty="0"/>
                  <a:t>1 quarto, sem vaga na garagem, bairro afastado, 70 </a:t>
                </a:r>
                <a14:m>
                  <m:oMath xmlns:m="http://schemas.openxmlformats.org/officeDocument/2006/math">
                    <m:sSup>
                      <m:sSupPr>
                        <m:ctrlPr>
                          <a:rPr lang="pt-BR" i="1">
                            <a:latin typeface="Cambria Math" panose="02040503050406030204" pitchFamily="18" charset="0"/>
                          </a:rPr>
                        </m:ctrlPr>
                      </m:sSupPr>
                      <m:e>
                        <m:r>
                          <a:rPr lang="pt-BR">
                            <a:latin typeface="Cambria Math" panose="02040503050406030204" pitchFamily="18" charset="0"/>
                          </a:rPr>
                          <m:t>𝑚</m:t>
                        </m:r>
                      </m:e>
                      <m:sup>
                        <m:r>
                          <a:rPr lang="pt-BR">
                            <a:latin typeface="Cambria Math" panose="02040503050406030204" pitchFamily="18" charset="0"/>
                          </a:rPr>
                          <m:t>2</m:t>
                        </m:r>
                      </m:sup>
                    </m:sSup>
                  </m:oMath>
                </a14:m>
                <a:endParaRPr lang="pt-BR" dirty="0"/>
              </a:p>
            </p:txBody>
          </p:sp>
        </mc:Choice>
        <mc:Fallback xmlns="">
          <p:sp>
            <p:nvSpPr>
              <p:cNvPr id="13" name="TextBox 12"/>
              <p:cNvSpPr txBox="1">
                <a:spLocks noRot="1" noChangeAspect="1" noMove="1" noResize="1" noEditPoints="1" noAdjustHandles="1" noChangeArrowheads="1" noChangeShapeType="1" noTextEdit="1"/>
              </p:cNvSpPr>
              <p:nvPr/>
            </p:nvSpPr>
            <p:spPr>
              <a:xfrm>
                <a:off x="4694503" y="2316101"/>
                <a:ext cx="2804242" cy="590354"/>
              </a:xfrm>
              <a:prstGeom prst="rect">
                <a:avLst/>
              </a:prstGeom>
              <a:blipFill>
                <a:blip r:embed="rId8"/>
                <a:stretch>
                  <a:fillRect l="-870" t="-3093" r="-3043" b="-1237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TextBox 13"/>
              <p:cNvSpPr txBox="1"/>
              <p:nvPr/>
            </p:nvSpPr>
            <p:spPr>
              <a:xfrm>
                <a:off x="8207147" y="2361659"/>
                <a:ext cx="2622490" cy="590354"/>
              </a:xfrm>
              <a:prstGeom prst="rect">
                <a:avLst/>
              </a:prstGeom>
              <a:noFill/>
            </p:spPr>
            <p:txBody>
              <a:bodyPr wrap="square" rtlCol="0">
                <a:spAutoFit/>
              </a:bodyPr>
              <a:lstStyle>
                <a:defPPr>
                  <a:defRPr lang="nl-BE"/>
                </a:defPPr>
                <a:lvl1pPr algn="ctr">
                  <a:defRPr sz="1600"/>
                </a:lvl1pPr>
              </a:lstStyle>
              <a:p>
                <a:r>
                  <a:rPr lang="pt-BR" dirty="0"/>
                  <a:t>2 quartos, 1 vaga na garagem, centro, 200 </a:t>
                </a:r>
                <a14:m>
                  <m:oMath xmlns:m="http://schemas.openxmlformats.org/officeDocument/2006/math">
                    <m:sSup>
                      <m:sSupPr>
                        <m:ctrlPr>
                          <a:rPr lang="pt-BR" i="1">
                            <a:latin typeface="Cambria Math" panose="02040503050406030204" pitchFamily="18" charset="0"/>
                          </a:rPr>
                        </m:ctrlPr>
                      </m:sSupPr>
                      <m:e>
                        <m:r>
                          <a:rPr lang="pt-BR">
                            <a:latin typeface="Cambria Math" panose="02040503050406030204" pitchFamily="18" charset="0"/>
                          </a:rPr>
                          <m:t>𝑚</m:t>
                        </m:r>
                      </m:e>
                      <m:sup>
                        <m:r>
                          <a:rPr lang="pt-BR">
                            <a:latin typeface="Cambria Math" panose="02040503050406030204" pitchFamily="18" charset="0"/>
                          </a:rPr>
                          <m:t>2</m:t>
                        </m:r>
                      </m:sup>
                    </m:sSup>
                  </m:oMath>
                </a14:m>
                <a:endParaRPr lang="pt-BR" dirty="0"/>
              </a:p>
            </p:txBody>
          </p:sp>
        </mc:Choice>
        <mc:Fallback xmlns="">
          <p:sp>
            <p:nvSpPr>
              <p:cNvPr id="14" name="TextBox 13"/>
              <p:cNvSpPr txBox="1">
                <a:spLocks noRot="1" noChangeAspect="1" noMove="1" noResize="1" noEditPoints="1" noAdjustHandles="1" noChangeArrowheads="1" noChangeShapeType="1" noTextEdit="1"/>
              </p:cNvSpPr>
              <p:nvPr/>
            </p:nvSpPr>
            <p:spPr>
              <a:xfrm>
                <a:off x="8207147" y="2361659"/>
                <a:ext cx="2622490" cy="590354"/>
              </a:xfrm>
              <a:prstGeom prst="rect">
                <a:avLst/>
              </a:prstGeom>
              <a:blipFill>
                <a:blip r:embed="rId9"/>
                <a:stretch>
                  <a:fillRect t="-3093" b="-12371"/>
                </a:stretch>
              </a:blipFill>
            </p:spPr>
            <p:txBody>
              <a:bodyPr/>
              <a:lstStyle/>
              <a:p>
                <a:r>
                  <a:rPr lang="pt-BR">
                    <a:noFill/>
                  </a:rPr>
                  <a:t> </a:t>
                </a:r>
              </a:p>
            </p:txBody>
          </p:sp>
        </mc:Fallback>
      </mc:AlternateContent>
    </p:spTree>
    <p:extLst>
      <p:ext uri="{BB962C8B-B14F-4D97-AF65-F5344CB8AC3E}">
        <p14:creationId xmlns:p14="http://schemas.microsoft.com/office/powerpoint/2010/main" val="30180249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Motivação</a:t>
            </a:r>
          </a:p>
        </p:txBody>
      </p:sp>
      <p:sp>
        <p:nvSpPr>
          <p:cNvPr id="9" name="Content Placeholder 2"/>
          <p:cNvSpPr>
            <a:spLocks noGrp="1"/>
          </p:cNvSpPr>
          <p:nvPr>
            <p:ph idx="1"/>
          </p:nvPr>
        </p:nvSpPr>
        <p:spPr>
          <a:xfrm>
            <a:off x="627847" y="1654207"/>
            <a:ext cx="10515600" cy="604252"/>
          </a:xfrm>
        </p:spPr>
        <p:txBody>
          <a:bodyPr>
            <a:normAutofit/>
          </a:bodyPr>
          <a:lstStyle/>
          <a:p>
            <a:r>
              <a:rPr lang="pt-BR" b="1" dirty="0"/>
              <a:t>Exemplo 2</a:t>
            </a:r>
            <a:r>
              <a:rPr lang="pt-BR" dirty="0"/>
              <a:t>: Estimar as vendas de picolés.</a:t>
            </a:r>
          </a:p>
        </p:txBody>
      </p:sp>
      <mc:AlternateContent xmlns:mc="http://schemas.openxmlformats.org/markup-compatibility/2006" xmlns:a14="http://schemas.microsoft.com/office/drawing/2010/main">
        <mc:Choice Requires="a14">
          <p:sp>
            <p:nvSpPr>
              <p:cNvPr id="10" name="Content Placeholder 2"/>
              <p:cNvSpPr txBox="1">
                <a:spLocks/>
              </p:cNvSpPr>
              <p:nvPr/>
            </p:nvSpPr>
            <p:spPr>
              <a:xfrm>
                <a:off x="734290" y="5532439"/>
                <a:ext cx="11230027" cy="1325562"/>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t-BR" dirty="0"/>
                  <a:t>Podemos usar regressão para encontrar um </a:t>
                </a:r>
                <a:r>
                  <a:rPr lang="pt-BR" b="1" i="1" dirty="0">
                    <a:solidFill>
                      <a:srgbClr val="0070C0"/>
                    </a:solidFill>
                  </a:rPr>
                  <a:t>mapeamento</a:t>
                </a:r>
                <a:r>
                  <a:rPr lang="pt-BR" dirty="0"/>
                  <a:t>, </a:t>
                </a:r>
                <a14:m>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entre a temperatura média de um dia e a quantidade de picolés vendidos.</a:t>
                </a:r>
              </a:p>
              <a:p>
                <a:r>
                  <a:rPr lang="pt-BR" b="1" dirty="0">
                    <a:solidFill>
                      <a:srgbClr val="00B050"/>
                    </a:solidFill>
                  </a:rPr>
                  <a:t>Objetivo</a:t>
                </a:r>
                <a:r>
                  <a:rPr lang="pt-BR" dirty="0"/>
                  <a:t>: reduzir o desperdício e aumentar os lucros.</a:t>
                </a:r>
              </a:p>
            </p:txBody>
          </p:sp>
        </mc:Choice>
        <mc:Fallback xmlns="">
          <p:sp>
            <p:nvSpPr>
              <p:cNvPr id="10" name="Content Placeholder 2"/>
              <p:cNvSpPr txBox="1">
                <a:spLocks noRot="1" noChangeAspect="1" noMove="1" noResize="1" noEditPoints="1" noAdjustHandles="1" noChangeArrowheads="1" noChangeShapeType="1" noTextEdit="1"/>
              </p:cNvSpPr>
              <p:nvPr/>
            </p:nvSpPr>
            <p:spPr>
              <a:xfrm>
                <a:off x="734290" y="5532439"/>
                <a:ext cx="11230027" cy="1325562"/>
              </a:xfrm>
              <a:prstGeom prst="rect">
                <a:avLst/>
              </a:prstGeom>
              <a:blipFill>
                <a:blip r:embed="rId3"/>
                <a:stretch>
                  <a:fillRect l="-977" t="-10599" b="-7834"/>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id="{D3B9ED84-5245-7889-8D8D-F74C85EB5B65}"/>
              </a:ext>
            </a:extLst>
          </p:cNvPr>
          <p:cNvPicPr>
            <a:picLocks noChangeAspect="1"/>
          </p:cNvPicPr>
          <p:nvPr/>
        </p:nvPicPr>
        <p:blipFill rotWithShape="1">
          <a:blip r:embed="rId4"/>
          <a:srcRect l="3762" t="9838" r="8646"/>
          <a:stretch/>
        </p:blipFill>
        <p:spPr>
          <a:xfrm>
            <a:off x="3811838" y="2364559"/>
            <a:ext cx="3800818" cy="2934238"/>
          </a:xfrm>
          <a:prstGeom prst="rect">
            <a:avLst/>
          </a:prstGeom>
        </p:spPr>
      </p:pic>
      <p:pic>
        <p:nvPicPr>
          <p:cNvPr id="15" name="Picture 2" descr="Picolé Electron – Sorvete Itália">
            <a:extLst>
              <a:ext uri="{FF2B5EF4-FFF2-40B4-BE49-F238E27FC236}">
                <a16:creationId xmlns:a16="http://schemas.microsoft.com/office/drawing/2014/main" id="{673E1C42-10C3-AF6F-1FF0-110BD135CF87}"/>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326446" y="3547541"/>
            <a:ext cx="1075397" cy="10753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0677710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36C16A22-1E29-D959-69D9-364EB3DA7640}"/>
              </a:ext>
            </a:extLst>
          </p:cNvPr>
          <p:cNvSpPr>
            <a:spLocks noGrp="1"/>
          </p:cNvSpPr>
          <p:nvPr>
            <p:ph idx="1"/>
          </p:nvPr>
        </p:nvSpPr>
        <p:spPr>
          <a:xfrm>
            <a:off x="838200" y="2593975"/>
            <a:ext cx="10515600" cy="1670050"/>
          </a:xfrm>
        </p:spPr>
        <p:txBody>
          <a:bodyPr>
            <a:normAutofit/>
          </a:bodyPr>
          <a:lstStyle/>
          <a:p>
            <a:pPr marL="0" indent="0" algn="ctr">
              <a:buNone/>
            </a:pPr>
            <a:r>
              <a:rPr lang="pt-BR" sz="4800" i="1" dirty="0"/>
              <a:t>Como podemos resolver esses problemas de estimação?</a:t>
            </a:r>
          </a:p>
        </p:txBody>
      </p:sp>
    </p:spTree>
    <p:extLst>
      <p:ext uri="{BB962C8B-B14F-4D97-AF65-F5344CB8AC3E}">
        <p14:creationId xmlns:p14="http://schemas.microsoft.com/office/powerpoint/2010/main" val="3830765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Machine Learning : 'Regression' - Day 3">
            <a:extLst>
              <a:ext uri="{FF2B5EF4-FFF2-40B4-BE49-F238E27FC236}">
                <a16:creationId xmlns:a16="http://schemas.microsoft.com/office/drawing/2014/main" id="{8C5B78AE-E842-ED4F-93D3-10BD1150033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0089" y="1589917"/>
            <a:ext cx="6332081" cy="405198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F8207647-D845-CF7E-6030-46E4389E11DD}"/>
              </a:ext>
            </a:extLst>
          </p:cNvPr>
          <p:cNvSpPr txBox="1"/>
          <p:nvPr/>
        </p:nvSpPr>
        <p:spPr>
          <a:xfrm>
            <a:off x="7304313" y="2798019"/>
            <a:ext cx="4321630" cy="1569660"/>
          </a:xfrm>
          <a:prstGeom prst="rect">
            <a:avLst/>
          </a:prstGeom>
          <a:noFill/>
        </p:spPr>
        <p:txBody>
          <a:bodyPr wrap="square">
            <a:spAutoFit/>
          </a:bodyPr>
          <a:lstStyle/>
          <a:p>
            <a:pPr marL="0" indent="0" algn="ctr">
              <a:buNone/>
            </a:pPr>
            <a:r>
              <a:rPr lang="pt-BR" sz="4800" dirty="0"/>
              <a:t>Usando regressão linear!</a:t>
            </a:r>
            <a:endParaRPr lang="en-US" sz="4800" dirty="0"/>
          </a:p>
        </p:txBody>
      </p:sp>
    </p:spTree>
    <p:extLst>
      <p:ext uri="{BB962C8B-B14F-4D97-AF65-F5344CB8AC3E}">
        <p14:creationId xmlns:p14="http://schemas.microsoft.com/office/powerpoint/2010/main" val="69547260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E06FD5B-6F51-847E-A4A8-1A8128322F68}"/>
              </a:ext>
            </a:extLst>
          </p:cNvPr>
          <p:cNvSpPr>
            <a:spLocks noGrp="1"/>
          </p:cNvSpPr>
          <p:nvPr>
            <p:ph type="title"/>
          </p:nvPr>
        </p:nvSpPr>
        <p:spPr/>
        <p:txBody>
          <a:bodyPr/>
          <a:lstStyle/>
          <a:p>
            <a:r>
              <a:rPr lang="pt-BR" dirty="0"/>
              <a:t>Regressão linear</a:t>
            </a:r>
          </a:p>
        </p:txBody>
      </p:sp>
      <p:sp>
        <p:nvSpPr>
          <p:cNvPr id="3" name="Espaço Reservado para Conteúdo 2">
            <a:extLst>
              <a:ext uri="{FF2B5EF4-FFF2-40B4-BE49-F238E27FC236}">
                <a16:creationId xmlns:a16="http://schemas.microsoft.com/office/drawing/2014/main" id="{B76F0953-075A-79EF-554F-4E05524F1DC5}"/>
              </a:ext>
            </a:extLst>
          </p:cNvPr>
          <p:cNvSpPr>
            <a:spLocks noGrp="1"/>
          </p:cNvSpPr>
          <p:nvPr>
            <p:ph idx="1"/>
          </p:nvPr>
        </p:nvSpPr>
        <p:spPr>
          <a:xfrm>
            <a:off x="5552501" y="1825624"/>
            <a:ext cx="6533004" cy="5032375"/>
          </a:xfrm>
        </p:spPr>
        <p:txBody>
          <a:bodyPr>
            <a:normAutofit/>
          </a:bodyPr>
          <a:lstStyle/>
          <a:p>
            <a:r>
              <a:rPr lang="pt-BR" dirty="0"/>
              <a:t>É um dos algoritmos mais simples, antigos e usados de aprendizado de máquina.</a:t>
            </a:r>
          </a:p>
          <a:p>
            <a:r>
              <a:rPr lang="pt-BR" dirty="0"/>
              <a:t>Nos dará </a:t>
            </a:r>
            <a:r>
              <a:rPr lang="pt-BR" b="1" i="1" dirty="0"/>
              <a:t>intuições</a:t>
            </a:r>
            <a:r>
              <a:rPr lang="pt-BR" dirty="0"/>
              <a:t> importantes para o </a:t>
            </a:r>
            <a:r>
              <a:rPr lang="pt-BR" b="1" i="1" dirty="0"/>
              <a:t>entendimento</a:t>
            </a:r>
            <a:r>
              <a:rPr lang="pt-BR" dirty="0"/>
              <a:t> de </a:t>
            </a:r>
            <a:r>
              <a:rPr lang="pt-BR" b="1" i="1" dirty="0"/>
              <a:t>algoritmos mais complexos</a:t>
            </a:r>
            <a:r>
              <a:rPr lang="pt-BR" dirty="0"/>
              <a:t>, como </a:t>
            </a:r>
            <a:r>
              <a:rPr lang="pt-BR" b="1" i="1" dirty="0"/>
              <a:t>classificadores</a:t>
            </a:r>
            <a:r>
              <a:rPr lang="pt-BR" dirty="0"/>
              <a:t> e </a:t>
            </a:r>
            <a:r>
              <a:rPr lang="pt-BR" b="1" i="1" dirty="0"/>
              <a:t>redes neurais</a:t>
            </a:r>
            <a:r>
              <a:rPr lang="pt-BR" dirty="0"/>
              <a:t>.</a:t>
            </a:r>
          </a:p>
        </p:txBody>
      </p:sp>
      <p:grpSp>
        <p:nvGrpSpPr>
          <p:cNvPr id="4" name="Group 3">
            <a:extLst>
              <a:ext uri="{FF2B5EF4-FFF2-40B4-BE49-F238E27FC236}">
                <a16:creationId xmlns:a16="http://schemas.microsoft.com/office/drawing/2014/main" id="{CAA6EE23-CD07-9149-8335-18879B84AB15}"/>
              </a:ext>
            </a:extLst>
          </p:cNvPr>
          <p:cNvGrpSpPr/>
          <p:nvPr/>
        </p:nvGrpSpPr>
        <p:grpSpPr>
          <a:xfrm>
            <a:off x="313057" y="2511846"/>
            <a:ext cx="4622500" cy="3152391"/>
            <a:chOff x="313057" y="2511846"/>
            <a:chExt cx="4622500" cy="3152391"/>
          </a:xfrm>
        </p:grpSpPr>
        <p:grpSp>
          <p:nvGrpSpPr>
            <p:cNvPr id="7" name="Agrupar 8">
              <a:extLst>
                <a:ext uri="{FF2B5EF4-FFF2-40B4-BE49-F238E27FC236}">
                  <a16:creationId xmlns:a16="http://schemas.microsoft.com/office/drawing/2014/main" id="{CF20AF4F-BFBD-21EC-07E1-41C0B2191505}"/>
                </a:ext>
              </a:extLst>
            </p:cNvPr>
            <p:cNvGrpSpPr/>
            <p:nvPr/>
          </p:nvGrpSpPr>
          <p:grpSpPr>
            <a:xfrm>
              <a:off x="313057" y="2511846"/>
              <a:ext cx="4622500" cy="3152391"/>
              <a:chOff x="379861" y="2379643"/>
              <a:chExt cx="4622500" cy="3152391"/>
            </a:xfrm>
          </p:grpSpPr>
          <p:pic>
            <p:nvPicPr>
              <p:cNvPr id="11" name="Imagem 4">
                <a:extLst>
                  <a:ext uri="{FF2B5EF4-FFF2-40B4-BE49-F238E27FC236}">
                    <a16:creationId xmlns:a16="http://schemas.microsoft.com/office/drawing/2014/main" id="{4D31E461-1A6A-29D1-2297-DFBFD51CB0D8}"/>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2" name="CaixaDeTexto 5">
                    <a:extLst>
                      <a:ext uri="{FF2B5EF4-FFF2-40B4-BE49-F238E27FC236}">
                        <a16:creationId xmlns:a16="http://schemas.microsoft.com/office/drawing/2014/main" id="{E01136AD-4899-EC9B-8DFF-D35176FFB912}"/>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3" name="Conector de Seta Reta 7">
                <a:extLst>
                  <a:ext uri="{FF2B5EF4-FFF2-40B4-BE49-F238E27FC236}">
                    <a16:creationId xmlns:a16="http://schemas.microsoft.com/office/drawing/2014/main" id="{E6A4E71A-8296-6E9B-6F53-58CD005C17C6}"/>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0" name="CaixaDeTexto 3">
                  <a:extLst>
                    <a:ext uri="{FF2B5EF4-FFF2-40B4-BE49-F238E27FC236}">
                      <a16:creationId xmlns:a16="http://schemas.microsoft.com/office/drawing/2014/main" id="{9E8479D2-8EC0-0456-F706-2969C0BC1122}"/>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4" name="CaixaDeTexto 3">
                  <a:extLst>
                    <a:ext uri="{FF2B5EF4-FFF2-40B4-BE49-F238E27FC236}">
                      <a16:creationId xmlns:a16="http://schemas.microsoft.com/office/drawing/2014/main" id="{B6371B7D-BB1A-D7F3-A54B-3E89596BFE8C}"/>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34690124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E06FD5B-6F51-847E-A4A8-1A8128322F68}"/>
              </a:ext>
            </a:extLst>
          </p:cNvPr>
          <p:cNvSpPr>
            <a:spLocks noGrp="1"/>
          </p:cNvSpPr>
          <p:nvPr>
            <p:ph type="title"/>
          </p:nvPr>
        </p:nvSpPr>
        <p:spPr/>
        <p:txBody>
          <a:bodyPr/>
          <a:lstStyle/>
          <a:p>
            <a:r>
              <a:rPr lang="pt-BR" dirty="0"/>
              <a:t>Qual o objetivo da regressão linear?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76F0953-075A-79EF-554F-4E05524F1DC5}"/>
                  </a:ext>
                </a:extLst>
              </p:cNvPr>
              <p:cNvSpPr>
                <a:spLocks noGrp="1"/>
              </p:cNvSpPr>
              <p:nvPr>
                <p:ph idx="1"/>
              </p:nvPr>
            </p:nvSpPr>
            <p:spPr>
              <a:xfrm>
                <a:off x="5355771" y="1825624"/>
                <a:ext cx="6729733" cy="5032375"/>
              </a:xfrm>
            </p:spPr>
            <p:txBody>
              <a:bodyPr>
                <a:normAutofit/>
              </a:bodyPr>
              <a:lstStyle/>
              <a:p>
                <a:r>
                  <a:rPr lang="pt-BR" b="1" dirty="0"/>
                  <a:t>Objetivo</a:t>
                </a:r>
                <a:r>
                  <a:rPr lang="pt-BR" dirty="0"/>
                  <a:t>: encontrar uma função, </a:t>
                </a:r>
                <a14:m>
                  <m:oMath xmlns:m="http://schemas.openxmlformats.org/officeDocument/2006/math">
                    <m:r>
                      <a:rPr lang="pt-BR" b="0" i="1" smtClean="0">
                        <a:latin typeface="Cambria Math" panose="02040503050406030204" pitchFamily="18" charset="0"/>
                      </a:rPr>
                      <m:t>h</m:t>
                    </m:r>
                    <m:d>
                      <m:dPr>
                        <m:ctrlPr>
                          <a:rPr lang="pt-BR" b="0" i="1" smtClean="0">
                            <a:latin typeface="Cambria Math" panose="02040503050406030204" pitchFamily="18" charset="0"/>
                          </a:rPr>
                        </m:ctrlPr>
                      </m:dPr>
                      <m:e>
                        <m:r>
                          <a:rPr lang="pt-BR" b="1" i="1">
                            <a:latin typeface="Cambria Math" panose="02040503050406030204" pitchFamily="18" charset="0"/>
                          </a:rPr>
                          <m:t>𝒙</m:t>
                        </m:r>
                      </m:e>
                    </m:d>
                  </m:oMath>
                </a14:m>
                <a:r>
                  <a:rPr lang="pt-BR" dirty="0"/>
                  <a:t>, que </a:t>
                </a:r>
                <a:r>
                  <a:rPr lang="pt-BR" b="1" dirty="0">
                    <a:solidFill>
                      <a:srgbClr val="00B050"/>
                    </a:solidFill>
                  </a:rPr>
                  <a:t>mapeie</a:t>
                </a:r>
                <a:r>
                  <a:rPr lang="pt-BR" dirty="0"/>
                  <a:t> os </a:t>
                </a:r>
                <a:r>
                  <a:rPr lang="pt-BR" b="1" dirty="0">
                    <a:solidFill>
                      <a:srgbClr val="7030A0"/>
                    </a:solidFill>
                  </a:rPr>
                  <a:t>atributos</a:t>
                </a:r>
                <a:r>
                  <a:rPr lang="pt-BR" dirty="0"/>
                  <a:t>, </a:t>
                </a:r>
                <a14:m>
                  <m:oMath xmlns:m="http://schemas.openxmlformats.org/officeDocument/2006/math">
                    <m:r>
                      <a:rPr lang="pt-BR" b="1" i="1" smtClean="0">
                        <a:latin typeface="Cambria Math" panose="02040503050406030204" pitchFamily="18" charset="0"/>
                      </a:rPr>
                      <m:t>𝒙</m:t>
                    </m:r>
                  </m:oMath>
                </a14:m>
                <a:r>
                  <a:rPr lang="pt-BR" dirty="0"/>
                  <a:t>, em uma variável de saída </a:t>
                </a:r>
                <a14:m>
                  <m:oMath xmlns:m="http://schemas.openxmlformats.org/officeDocument/2006/math">
                    <m:acc>
                      <m:accPr>
                        <m:chr m:val="̂"/>
                        <m:ctrlPr>
                          <a:rPr lang="pt-BR" i="1">
                            <a:latin typeface="Cambria Math" panose="02040503050406030204" pitchFamily="18" charset="0"/>
                            <a:ea typeface="Cambria Math" panose="02040503050406030204" pitchFamily="18" charset="0"/>
                          </a:rPr>
                        </m:ctrlPr>
                      </m:accPr>
                      <m:e>
                        <m:r>
                          <a:rPr lang="pt-BR" i="1">
                            <a:latin typeface="Cambria Math" panose="02040503050406030204" pitchFamily="18" charset="0"/>
                            <a:ea typeface="Cambria Math" panose="02040503050406030204" pitchFamily="18" charset="0"/>
                          </a:rPr>
                          <m:t>𝑦</m:t>
                        </m:r>
                      </m:e>
                    </m:acc>
                    <m:r>
                      <a:rPr lang="pt-BR" b="0" i="1" smtClean="0">
                        <a:latin typeface="Cambria Math" panose="02040503050406030204" pitchFamily="18" charset="0"/>
                      </a:rPr>
                      <m:t>=</m:t>
                    </m:r>
                    <m:r>
                      <a:rPr lang="pt-BR" b="0" i="1" smtClean="0">
                        <a:latin typeface="Cambria Math" panose="02040503050406030204" pitchFamily="18" charset="0"/>
                      </a:rPr>
                      <m:t>h</m:t>
                    </m:r>
                    <m:d>
                      <m:dPr>
                        <m:ctrlPr>
                          <a:rPr lang="pt-BR" b="0" i="1" smtClean="0">
                            <a:latin typeface="Cambria Math" panose="02040503050406030204" pitchFamily="18" charset="0"/>
                          </a:rPr>
                        </m:ctrlPr>
                      </m:dPr>
                      <m:e>
                        <m:r>
                          <a:rPr lang="pt-BR" b="1" i="1" smtClean="0">
                            <a:latin typeface="Cambria Math" panose="02040503050406030204" pitchFamily="18" charset="0"/>
                          </a:rPr>
                          <m:t>𝒙</m:t>
                        </m:r>
                      </m:e>
                    </m:d>
                  </m:oMath>
                </a14:m>
                <a:r>
                  <a:rPr lang="pt-BR" dirty="0"/>
                  <a:t>, de tal forma que </a:t>
                </a:r>
                <a14:m>
                  <m:oMath xmlns:m="http://schemas.openxmlformats.org/officeDocument/2006/math">
                    <m:r>
                      <a:rPr lang="pt-BR" i="1">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se ajuste aos dados coletados de </a:t>
                </a:r>
                <a:r>
                  <a:rPr lang="pt-BR" b="1" dirty="0">
                    <a:solidFill>
                      <a:srgbClr val="00B050"/>
                    </a:solidFill>
                  </a:rPr>
                  <a:t>forma</a:t>
                </a:r>
                <a:r>
                  <a:rPr lang="pt-BR" b="1" i="1" dirty="0">
                    <a:solidFill>
                      <a:srgbClr val="00B050"/>
                    </a:solidFill>
                  </a:rPr>
                  <a:t> </a:t>
                </a:r>
                <a:r>
                  <a:rPr lang="pt-BR" b="1" dirty="0">
                    <a:solidFill>
                      <a:srgbClr val="00B050"/>
                    </a:solidFill>
                  </a:rPr>
                  <a:t>ótima</a:t>
                </a:r>
                <a:r>
                  <a:rPr lang="pt-BR" dirty="0"/>
                  <a:t>.</a:t>
                </a:r>
              </a:p>
              <a:p>
                <a:r>
                  <a:rPr lang="pt-BR" b="0" i="0" dirty="0">
                    <a:solidFill>
                      <a:schemeClr val="tx1"/>
                    </a:solidFill>
                    <a:effectLst/>
                  </a:rPr>
                  <a:t>Ótimo no sentido da </a:t>
                </a:r>
                <a:r>
                  <a:rPr lang="pt-BR" b="1" dirty="0">
                    <a:solidFill>
                      <a:srgbClr val="00B050"/>
                    </a:solidFill>
                    <a:effectLst/>
                  </a:rPr>
                  <a:t>minimização</a:t>
                </a:r>
                <a:r>
                  <a:rPr lang="pt-BR" b="1" i="1" dirty="0">
                    <a:solidFill>
                      <a:srgbClr val="00B050"/>
                    </a:solidFill>
                    <a:effectLst/>
                  </a:rPr>
                  <a:t> </a:t>
                </a:r>
                <a:r>
                  <a:rPr lang="pt-BR" b="1" dirty="0">
                    <a:solidFill>
                      <a:srgbClr val="00B050"/>
                    </a:solidFill>
                    <a:effectLst/>
                  </a:rPr>
                  <a:t>da diferença</a:t>
                </a:r>
                <a:r>
                  <a:rPr lang="pt-BR" b="1" i="1" dirty="0">
                    <a:solidFill>
                      <a:srgbClr val="00B050"/>
                    </a:solidFill>
                    <a:effectLst/>
                  </a:rPr>
                  <a:t> </a:t>
                </a:r>
                <a:r>
                  <a:rPr lang="pt-BR" b="0" i="0" dirty="0">
                    <a:solidFill>
                      <a:schemeClr val="tx1"/>
                    </a:solidFill>
                    <a:effectLst/>
                  </a:rPr>
                  <a:t>entre as predições feitas por </a:t>
                </a:r>
                <a14:m>
                  <m:oMath xmlns:m="http://schemas.openxmlformats.org/officeDocument/2006/math">
                    <m:r>
                      <a:rPr lang="pt-BR"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r>
                      <a:rPr lang="pt-BR" b="1" i="1" smtClean="0">
                        <a:solidFill>
                          <a:schemeClr val="tx1"/>
                        </a:solidFill>
                        <a:latin typeface="Cambria Math" panose="02040503050406030204" pitchFamily="18" charset="0"/>
                      </a:rPr>
                      <m:t>𝒙</m:t>
                    </m:r>
                    <m:r>
                      <a:rPr lang="pt-BR" b="0" i="1" smtClean="0">
                        <a:solidFill>
                          <a:schemeClr val="tx1"/>
                        </a:solidFill>
                        <a:latin typeface="Cambria Math" panose="02040503050406030204" pitchFamily="18" charset="0"/>
                      </a:rPr>
                      <m:t>)</m:t>
                    </m:r>
                  </m:oMath>
                </a14:m>
                <a:r>
                  <a:rPr lang="pt-BR" b="0" i="0" dirty="0">
                    <a:solidFill>
                      <a:schemeClr val="tx1"/>
                    </a:solidFill>
                    <a:effectLst/>
                  </a:rPr>
                  <a:t>, (i.e., os valores de </a:t>
                </a:r>
                <a14:m>
                  <m:oMath xmlns:m="http://schemas.openxmlformats.org/officeDocument/2006/math">
                    <m:acc>
                      <m:accPr>
                        <m:chr m:val="̂"/>
                        <m:ctrlPr>
                          <a:rPr lang="pt-BR" i="1">
                            <a:latin typeface="Cambria Math" panose="02040503050406030204" pitchFamily="18" charset="0"/>
                            <a:ea typeface="Cambria Math" panose="02040503050406030204" pitchFamily="18" charset="0"/>
                          </a:rPr>
                        </m:ctrlPr>
                      </m:accPr>
                      <m:e>
                        <m:r>
                          <a:rPr lang="pt-BR" i="1">
                            <a:latin typeface="Cambria Math" panose="02040503050406030204" pitchFamily="18" charset="0"/>
                            <a:ea typeface="Cambria Math" panose="02040503050406030204" pitchFamily="18" charset="0"/>
                          </a:rPr>
                          <m:t>𝑦</m:t>
                        </m:r>
                      </m:e>
                    </m:acc>
                  </m:oMath>
                </a14:m>
                <a:r>
                  <a:rPr lang="pt-BR" b="0" i="0" dirty="0">
                    <a:solidFill>
                      <a:schemeClr val="tx1"/>
                    </a:solidFill>
                    <a:effectLst/>
                  </a:rPr>
                  <a:t>), e os </a:t>
                </a:r>
                <a:r>
                  <a:rPr lang="pt-BR" b="1" i="0" dirty="0">
                    <a:solidFill>
                      <a:srgbClr val="7030A0"/>
                    </a:solidFill>
                    <a:effectLst/>
                  </a:rPr>
                  <a:t>rótulos</a:t>
                </a:r>
                <a:r>
                  <a:rPr lang="pt-BR" b="0" i="0" dirty="0">
                    <a:solidFill>
                      <a:schemeClr val="tx1"/>
                    </a:solidFill>
                    <a:effectLst/>
                  </a:rPr>
                  <a:t>, (i.e., os </a:t>
                </a:r>
                <a:r>
                  <a:rPr lang="pt-BR" dirty="0"/>
                  <a:t>valores esperados de saída, </a:t>
                </a:r>
                <a14:m>
                  <m:oMath xmlns:m="http://schemas.openxmlformats.org/officeDocument/2006/math">
                    <m:r>
                      <a:rPr lang="pt-BR" b="0" i="1" smtClean="0">
                        <a:solidFill>
                          <a:schemeClr val="tx1"/>
                        </a:solidFill>
                        <a:effectLst/>
                        <a:latin typeface="Cambria Math" panose="02040503050406030204" pitchFamily="18" charset="0"/>
                      </a:rPr>
                      <m:t>𝑦</m:t>
                    </m:r>
                  </m:oMath>
                </a14:m>
                <a:r>
                  <a:rPr lang="pt-BR" b="0" i="0" dirty="0">
                    <a:solidFill>
                      <a:schemeClr val="tx1"/>
                    </a:solidFill>
                    <a:effectLst/>
                  </a:rPr>
                  <a:t>.</a:t>
                </a:r>
              </a:p>
            </p:txBody>
          </p:sp>
        </mc:Choice>
        <mc:Fallback xmlns="">
          <p:sp>
            <p:nvSpPr>
              <p:cNvPr id="3" name="Espaço Reservado para Conteúdo 2">
                <a:extLst>
                  <a:ext uri="{FF2B5EF4-FFF2-40B4-BE49-F238E27FC236}">
                    <a16:creationId xmlns:a16="http://schemas.microsoft.com/office/drawing/2014/main" id="{B76F0953-075A-79EF-554F-4E05524F1DC5}"/>
                  </a:ext>
                </a:extLst>
              </p:cNvPr>
              <p:cNvSpPr>
                <a:spLocks noGrp="1" noRot="1" noChangeAspect="1" noMove="1" noResize="1" noEditPoints="1" noAdjustHandles="1" noChangeArrowheads="1" noChangeShapeType="1" noTextEdit="1"/>
              </p:cNvSpPr>
              <p:nvPr>
                <p:ph idx="1"/>
              </p:nvPr>
            </p:nvSpPr>
            <p:spPr>
              <a:xfrm>
                <a:off x="5355771" y="1825624"/>
                <a:ext cx="6729733" cy="5032375"/>
              </a:xfrm>
              <a:blipFill>
                <a:blip r:embed="rId3"/>
                <a:stretch>
                  <a:fillRect l="-1630" t="-1937" r="-2717"/>
                </a:stretch>
              </a:blipFill>
            </p:spPr>
            <p:txBody>
              <a:bodyPr/>
              <a:lstStyle/>
              <a:p>
                <a:r>
                  <a:rPr lang="en-US">
                    <a:noFill/>
                  </a:rPr>
                  <a:t> </a:t>
                </a:r>
              </a:p>
            </p:txBody>
          </p:sp>
        </mc:Fallback>
      </mc:AlternateContent>
      <p:grpSp>
        <p:nvGrpSpPr>
          <p:cNvPr id="7" name="Group 6">
            <a:extLst>
              <a:ext uri="{FF2B5EF4-FFF2-40B4-BE49-F238E27FC236}">
                <a16:creationId xmlns:a16="http://schemas.microsoft.com/office/drawing/2014/main" id="{0B11DDB3-BDC9-57EF-0BC8-921A1B6B8D9B}"/>
              </a:ext>
            </a:extLst>
          </p:cNvPr>
          <p:cNvGrpSpPr/>
          <p:nvPr/>
        </p:nvGrpSpPr>
        <p:grpSpPr>
          <a:xfrm>
            <a:off x="313057" y="2511846"/>
            <a:ext cx="4622500" cy="3152391"/>
            <a:chOff x="313057" y="2511846"/>
            <a:chExt cx="4622500" cy="3152391"/>
          </a:xfrm>
        </p:grpSpPr>
        <p:grpSp>
          <p:nvGrpSpPr>
            <p:cNvPr id="9" name="Agrupar 8">
              <a:extLst>
                <a:ext uri="{FF2B5EF4-FFF2-40B4-BE49-F238E27FC236}">
                  <a16:creationId xmlns:a16="http://schemas.microsoft.com/office/drawing/2014/main" id="{7184A45B-D6CC-54CD-EE0B-7CE85A9D94D5}"/>
                </a:ext>
              </a:extLst>
            </p:cNvPr>
            <p:cNvGrpSpPr/>
            <p:nvPr/>
          </p:nvGrpSpPr>
          <p:grpSpPr>
            <a:xfrm>
              <a:off x="313057" y="2511846"/>
              <a:ext cx="4622500" cy="3152391"/>
              <a:chOff x="379861" y="2379643"/>
              <a:chExt cx="4622500" cy="3152391"/>
            </a:xfrm>
          </p:grpSpPr>
          <p:pic>
            <p:nvPicPr>
              <p:cNvPr id="5" name="Imagem 4">
                <a:extLst>
                  <a:ext uri="{FF2B5EF4-FFF2-40B4-BE49-F238E27FC236}">
                    <a16:creationId xmlns:a16="http://schemas.microsoft.com/office/drawing/2014/main" id="{AF1170FE-5534-DC43-8150-E2919F18F249}"/>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0491C75-CC2B-4E6F-00D1-D7BCDA1CAC51}"/>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8" name="Conector de Seta Reta 7">
                <a:extLst>
                  <a:ext uri="{FF2B5EF4-FFF2-40B4-BE49-F238E27FC236}">
                    <a16:creationId xmlns:a16="http://schemas.microsoft.com/office/drawing/2014/main" id="{29596D1D-F48C-73D6-3778-6E52A3153EFC}"/>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B6371B7D-BB1A-D7F3-A54B-3E89596BFE8C}"/>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4" name="CaixaDeTexto 3">
                  <a:extLst>
                    <a:ext uri="{FF2B5EF4-FFF2-40B4-BE49-F238E27FC236}">
                      <a16:creationId xmlns:a16="http://schemas.microsoft.com/office/drawing/2014/main" id="{B6371B7D-BB1A-D7F3-A54B-3E89596BFE8C}"/>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41805872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C106918-4928-8D8F-109D-FE4154A6ACEE}"/>
              </a:ext>
            </a:extLst>
          </p:cNvPr>
          <p:cNvSpPr>
            <a:spLocks noGrp="1"/>
          </p:cNvSpPr>
          <p:nvPr>
            <p:ph type="title"/>
          </p:nvPr>
        </p:nvSpPr>
        <p:spPr/>
        <p:txBody>
          <a:bodyPr/>
          <a:lstStyle/>
          <a:p>
            <a:r>
              <a:rPr lang="pt-BR" dirty="0"/>
              <a:t>Qual é o paradigma de aprendizado?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5873D4D9-70C9-4892-D3C8-28B1750BC291}"/>
                  </a:ext>
                </a:extLst>
              </p:cNvPr>
              <p:cNvSpPr>
                <a:spLocks noGrp="1"/>
              </p:cNvSpPr>
              <p:nvPr>
                <p:ph idx="1"/>
              </p:nvPr>
            </p:nvSpPr>
            <p:spPr>
              <a:xfrm>
                <a:off x="5541485" y="1825624"/>
                <a:ext cx="6477918" cy="5032375"/>
              </a:xfrm>
            </p:spPr>
            <p:txBody>
              <a:bodyPr/>
              <a:lstStyle/>
              <a:p>
                <a:r>
                  <a:rPr lang="pt-BR" dirty="0"/>
                  <a:t>Dado que possuímos um </a:t>
                </a:r>
                <a:r>
                  <a:rPr lang="pt-BR" b="1" dirty="0"/>
                  <a:t>conjunto</a:t>
                </a:r>
                <a:r>
                  <a:rPr lang="pt-BR" dirty="0"/>
                  <a:t> de valores de entrada, </a:t>
                </a:r>
                <a14:m>
                  <m:oMath xmlns:m="http://schemas.openxmlformats.org/officeDocument/2006/math">
                    <m:r>
                      <a:rPr lang="pt-BR" b="1" i="1" smtClean="0">
                        <a:latin typeface="Cambria Math" panose="02040503050406030204" pitchFamily="18" charset="0"/>
                      </a:rPr>
                      <m:t>𝒙</m:t>
                    </m:r>
                  </m:oMath>
                </a14:m>
                <a:r>
                  <a:rPr lang="pt-BR" dirty="0"/>
                  <a:t> (os </a:t>
                </a:r>
                <a:r>
                  <a:rPr lang="pt-BR" b="1" dirty="0"/>
                  <a:t>atributos</a:t>
                </a:r>
                <a:r>
                  <a:rPr lang="pt-BR" dirty="0"/>
                  <a:t>), e os seus respectivos valores esperados de saída, </a:t>
                </a:r>
                <a14:m>
                  <m:oMath xmlns:m="http://schemas.openxmlformats.org/officeDocument/2006/math">
                    <m:r>
                      <a:rPr lang="pt-BR" b="0" i="1" smtClean="0">
                        <a:latin typeface="Cambria Math" panose="02040503050406030204" pitchFamily="18" charset="0"/>
                      </a:rPr>
                      <m:t>𝑦</m:t>
                    </m:r>
                  </m:oMath>
                </a14:m>
                <a:r>
                  <a:rPr lang="pt-BR" dirty="0"/>
                  <a:t> (os </a:t>
                </a:r>
                <a:r>
                  <a:rPr lang="pt-BR" b="1" dirty="0"/>
                  <a:t>rótulos</a:t>
                </a:r>
                <a:r>
                  <a:rPr lang="pt-BR" dirty="0"/>
                  <a:t>), </a:t>
                </a:r>
                <a:r>
                  <a:rPr lang="pt-BR" b="1" dirty="0">
                    <a:solidFill>
                      <a:srgbClr val="00B0F0"/>
                    </a:solidFill>
                  </a:rPr>
                  <a:t>que tipo de aprendizado é realizado pela regressão linear?</a:t>
                </a:r>
              </a:p>
            </p:txBody>
          </p:sp>
        </mc:Choice>
        <mc:Fallback xmlns="">
          <p:sp>
            <p:nvSpPr>
              <p:cNvPr id="3" name="Espaço Reservado para Conteúdo 2">
                <a:extLst>
                  <a:ext uri="{FF2B5EF4-FFF2-40B4-BE49-F238E27FC236}">
                    <a16:creationId xmlns:a16="http://schemas.microsoft.com/office/drawing/2014/main" id="{5873D4D9-70C9-4892-D3C8-28B1750BC291}"/>
                  </a:ext>
                </a:extLst>
              </p:cNvPr>
              <p:cNvSpPr>
                <a:spLocks noGrp="1" noRot="1" noChangeAspect="1" noMove="1" noResize="1" noEditPoints="1" noAdjustHandles="1" noChangeArrowheads="1" noChangeShapeType="1" noTextEdit="1"/>
              </p:cNvSpPr>
              <p:nvPr>
                <p:ph idx="1"/>
              </p:nvPr>
            </p:nvSpPr>
            <p:spPr>
              <a:xfrm>
                <a:off x="5541485" y="1825624"/>
                <a:ext cx="6477918" cy="5032375"/>
              </a:xfrm>
              <a:blipFill>
                <a:blip r:embed="rId2"/>
                <a:stretch>
                  <a:fillRect l="-1693" t="-1937"/>
                </a:stretch>
              </a:blipFill>
            </p:spPr>
            <p:txBody>
              <a:bodyPr/>
              <a:lstStyle/>
              <a:p>
                <a:r>
                  <a:rPr lang="en-US">
                    <a:noFill/>
                  </a:rPr>
                  <a:t> </a:t>
                </a:r>
              </a:p>
            </p:txBody>
          </p:sp>
        </mc:Fallback>
      </mc:AlternateContent>
      <p:grpSp>
        <p:nvGrpSpPr>
          <p:cNvPr id="5" name="Group 4">
            <a:extLst>
              <a:ext uri="{FF2B5EF4-FFF2-40B4-BE49-F238E27FC236}">
                <a16:creationId xmlns:a16="http://schemas.microsoft.com/office/drawing/2014/main" id="{1235B076-2510-BA54-045E-9FDA19549589}"/>
              </a:ext>
            </a:extLst>
          </p:cNvPr>
          <p:cNvGrpSpPr/>
          <p:nvPr/>
        </p:nvGrpSpPr>
        <p:grpSpPr>
          <a:xfrm>
            <a:off x="313057" y="2511846"/>
            <a:ext cx="4622500" cy="3152391"/>
            <a:chOff x="313057" y="2511846"/>
            <a:chExt cx="4622500" cy="3152391"/>
          </a:xfrm>
        </p:grpSpPr>
        <p:grpSp>
          <p:nvGrpSpPr>
            <p:cNvPr id="8" name="Agrupar 8">
              <a:extLst>
                <a:ext uri="{FF2B5EF4-FFF2-40B4-BE49-F238E27FC236}">
                  <a16:creationId xmlns:a16="http://schemas.microsoft.com/office/drawing/2014/main" id="{6BA6F8C4-313D-7B7A-8A78-327F3069654F}"/>
                </a:ext>
              </a:extLst>
            </p:cNvPr>
            <p:cNvGrpSpPr/>
            <p:nvPr/>
          </p:nvGrpSpPr>
          <p:grpSpPr>
            <a:xfrm>
              <a:off x="313057" y="2511846"/>
              <a:ext cx="4622500" cy="3152391"/>
              <a:chOff x="379861" y="2379643"/>
              <a:chExt cx="4622500" cy="3152391"/>
            </a:xfrm>
          </p:grpSpPr>
          <p:pic>
            <p:nvPicPr>
              <p:cNvPr id="10" name="Imagem 4">
                <a:extLst>
                  <a:ext uri="{FF2B5EF4-FFF2-40B4-BE49-F238E27FC236}">
                    <a16:creationId xmlns:a16="http://schemas.microsoft.com/office/drawing/2014/main" id="{2FDB8C03-A236-C2AB-BA26-35BCEB125546}"/>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1" name="CaixaDeTexto 5">
                    <a:extLst>
                      <a:ext uri="{FF2B5EF4-FFF2-40B4-BE49-F238E27FC236}">
                        <a16:creationId xmlns:a16="http://schemas.microsoft.com/office/drawing/2014/main" id="{D1A24C38-EFA6-2F8B-5C0C-9C486DD9AA95}"/>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2" name="Conector de Seta Reta 7">
                <a:extLst>
                  <a:ext uri="{FF2B5EF4-FFF2-40B4-BE49-F238E27FC236}">
                    <a16:creationId xmlns:a16="http://schemas.microsoft.com/office/drawing/2014/main" id="{57EE6B8B-A053-340A-CAEE-30CFEBD53D7E}"/>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9" name="CaixaDeTexto 3">
                  <a:extLst>
                    <a:ext uri="{FF2B5EF4-FFF2-40B4-BE49-F238E27FC236}">
                      <a16:creationId xmlns:a16="http://schemas.microsoft.com/office/drawing/2014/main" id="{84693792-F9CA-4DDE-7B29-0D00BA687EFA}"/>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9" name="CaixaDeTexto 3">
                  <a:extLst>
                    <a:ext uri="{FF2B5EF4-FFF2-40B4-BE49-F238E27FC236}">
                      <a16:creationId xmlns:a16="http://schemas.microsoft.com/office/drawing/2014/main" id="{84693792-F9CA-4DDE-7B29-0D00BA687EFA}"/>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32656444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C106918-4928-8D8F-109D-FE4154A6ACEE}"/>
              </a:ext>
            </a:extLst>
          </p:cNvPr>
          <p:cNvSpPr>
            <a:spLocks noGrp="1"/>
          </p:cNvSpPr>
          <p:nvPr>
            <p:ph type="title"/>
          </p:nvPr>
        </p:nvSpPr>
        <p:spPr/>
        <p:txBody>
          <a:bodyPr/>
          <a:lstStyle/>
          <a:p>
            <a:r>
              <a:rPr lang="pt-BR" dirty="0"/>
              <a:t>Qual é o paradigma de aprendizado?</a:t>
            </a:r>
          </a:p>
        </p:txBody>
      </p:sp>
      <p:sp>
        <p:nvSpPr>
          <p:cNvPr id="5" name="CaixaDeTexto 4">
            <a:extLst>
              <a:ext uri="{FF2B5EF4-FFF2-40B4-BE49-F238E27FC236}">
                <a16:creationId xmlns:a16="http://schemas.microsoft.com/office/drawing/2014/main" id="{77D13973-0CC4-804D-B65C-ACF1497CA131}"/>
              </a:ext>
            </a:extLst>
          </p:cNvPr>
          <p:cNvSpPr txBox="1"/>
          <p:nvPr/>
        </p:nvSpPr>
        <p:spPr>
          <a:xfrm>
            <a:off x="6543036" y="3032554"/>
            <a:ext cx="3983450" cy="1446550"/>
          </a:xfrm>
          <a:prstGeom prst="rect">
            <a:avLst/>
          </a:prstGeom>
          <a:noFill/>
        </p:spPr>
        <p:txBody>
          <a:bodyPr wrap="square">
            <a:spAutoFit/>
          </a:bodyPr>
          <a:lstStyle/>
          <a:p>
            <a:pPr marL="0" indent="0" algn="ctr">
              <a:buNone/>
            </a:pPr>
            <a:r>
              <a:rPr lang="pt-BR" sz="4400" b="1" dirty="0">
                <a:solidFill>
                  <a:srgbClr val="00B050"/>
                </a:solidFill>
              </a:rPr>
              <a:t>Aprendizado supervisionado</a:t>
            </a:r>
          </a:p>
        </p:txBody>
      </p:sp>
      <p:grpSp>
        <p:nvGrpSpPr>
          <p:cNvPr id="4" name="Group 3">
            <a:extLst>
              <a:ext uri="{FF2B5EF4-FFF2-40B4-BE49-F238E27FC236}">
                <a16:creationId xmlns:a16="http://schemas.microsoft.com/office/drawing/2014/main" id="{74FA83DA-1176-B494-DF6D-26AABD487B72}"/>
              </a:ext>
            </a:extLst>
          </p:cNvPr>
          <p:cNvGrpSpPr/>
          <p:nvPr/>
        </p:nvGrpSpPr>
        <p:grpSpPr>
          <a:xfrm>
            <a:off x="606971" y="2326789"/>
            <a:ext cx="4622500" cy="3152391"/>
            <a:chOff x="313057" y="2511846"/>
            <a:chExt cx="4622500" cy="3152391"/>
          </a:xfrm>
        </p:grpSpPr>
        <p:grpSp>
          <p:nvGrpSpPr>
            <p:cNvPr id="8" name="Agrupar 8">
              <a:extLst>
                <a:ext uri="{FF2B5EF4-FFF2-40B4-BE49-F238E27FC236}">
                  <a16:creationId xmlns:a16="http://schemas.microsoft.com/office/drawing/2014/main" id="{3601490F-BA92-2E2F-4176-8548977CDC6B}"/>
                </a:ext>
              </a:extLst>
            </p:cNvPr>
            <p:cNvGrpSpPr/>
            <p:nvPr/>
          </p:nvGrpSpPr>
          <p:grpSpPr>
            <a:xfrm>
              <a:off x="313057" y="2511846"/>
              <a:ext cx="4622500" cy="3152391"/>
              <a:chOff x="379861" y="2379643"/>
              <a:chExt cx="4622500" cy="3152391"/>
            </a:xfrm>
          </p:grpSpPr>
          <p:pic>
            <p:nvPicPr>
              <p:cNvPr id="10" name="Imagem 4">
                <a:extLst>
                  <a:ext uri="{FF2B5EF4-FFF2-40B4-BE49-F238E27FC236}">
                    <a16:creationId xmlns:a16="http://schemas.microsoft.com/office/drawing/2014/main" id="{5C8759EA-A495-1092-5721-C2D5BB969782}"/>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1" name="CaixaDeTexto 5">
                    <a:extLst>
                      <a:ext uri="{FF2B5EF4-FFF2-40B4-BE49-F238E27FC236}">
                        <a16:creationId xmlns:a16="http://schemas.microsoft.com/office/drawing/2014/main" id="{3DC28E94-1E78-E96F-81AC-6660B1EAE0DB}"/>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2" name="Conector de Seta Reta 7">
                <a:extLst>
                  <a:ext uri="{FF2B5EF4-FFF2-40B4-BE49-F238E27FC236}">
                    <a16:creationId xmlns:a16="http://schemas.microsoft.com/office/drawing/2014/main" id="{18708C14-B461-C0FC-A091-97D0B01047D3}"/>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9" name="CaixaDeTexto 3">
                  <a:extLst>
                    <a:ext uri="{FF2B5EF4-FFF2-40B4-BE49-F238E27FC236}">
                      <a16:creationId xmlns:a16="http://schemas.microsoft.com/office/drawing/2014/main" id="{CD48A18A-A494-29A6-49E8-BAE3B1ECBF7E}"/>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9" name="CaixaDeTexto 3">
                  <a:extLst>
                    <a:ext uri="{FF2B5EF4-FFF2-40B4-BE49-F238E27FC236}">
                      <a16:creationId xmlns:a16="http://schemas.microsoft.com/office/drawing/2014/main" id="{CD48A18A-A494-29A6-49E8-BAE3B1ECBF7E}"/>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8000"/>
                  </a:stretch>
                </a:blipFill>
              </p:spPr>
              <p:txBody>
                <a:bodyPr/>
                <a:lstStyle/>
                <a:p>
                  <a:r>
                    <a:rPr lang="en-US">
                      <a:noFill/>
                    </a:rPr>
                    <a:t> </a:t>
                  </a:r>
                </a:p>
              </p:txBody>
            </p:sp>
          </mc:Fallback>
        </mc:AlternateContent>
      </p:grpSp>
    </p:spTree>
    <p:extLst>
      <p:ext uri="{BB962C8B-B14F-4D97-AF65-F5344CB8AC3E}">
        <p14:creationId xmlns:p14="http://schemas.microsoft.com/office/powerpoint/2010/main" val="172006878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3645331-4B2E-BB50-BF81-FDF8C639EED5}"/>
              </a:ext>
            </a:extLst>
          </p:cNvPr>
          <p:cNvSpPr>
            <a:spLocks noGrp="1"/>
          </p:cNvSpPr>
          <p:nvPr>
            <p:ph type="title"/>
          </p:nvPr>
        </p:nvSpPr>
        <p:spPr/>
        <p:txBody>
          <a:bodyPr/>
          <a:lstStyle/>
          <a:p>
            <a:r>
              <a:rPr lang="pt-BR" dirty="0"/>
              <a:t>Por que linear?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7745B10-6162-30F7-6050-58C45B781852}"/>
                  </a:ext>
                </a:extLst>
              </p:cNvPr>
              <p:cNvSpPr>
                <a:spLocks noGrp="1"/>
              </p:cNvSpPr>
              <p:nvPr>
                <p:ph idx="1"/>
              </p:nvPr>
            </p:nvSpPr>
            <p:spPr>
              <a:xfrm>
                <a:off x="838200" y="1825624"/>
                <a:ext cx="11155325" cy="5032375"/>
              </a:xfrm>
            </p:spPr>
            <p:txBody>
              <a:bodyPr>
                <a:normAutofit/>
              </a:bodyPr>
              <a:lstStyle/>
              <a:p>
                <a:r>
                  <a:rPr lang="pt-BR" dirty="0"/>
                  <a:t>Porque a saída da </a:t>
                </a:r>
                <a:r>
                  <a:rPr lang="pt-BR" b="1" i="1" dirty="0"/>
                  <a:t>função aproximadora</a:t>
                </a:r>
                <a:r>
                  <a:rPr lang="pt-BR" dirty="0"/>
                  <a:t>, </a:t>
                </a:r>
                <a14:m>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𝒙</m:t>
                        </m:r>
                      </m:e>
                    </m:d>
                  </m:oMath>
                </a14:m>
                <a:r>
                  <a:rPr lang="pt-BR" dirty="0"/>
                  <a:t>, é </a:t>
                </a:r>
                <a:r>
                  <a:rPr lang="pt-BR" b="1" i="1" dirty="0">
                    <a:solidFill>
                      <a:srgbClr val="FF0000"/>
                    </a:solidFill>
                  </a:rPr>
                  <a:t>modelada</a:t>
                </a:r>
                <a:r>
                  <a:rPr lang="pt-BR" dirty="0"/>
                  <a:t> como sendo uma </a:t>
                </a:r>
                <a:r>
                  <a:rPr lang="pt-BR" b="1" i="1" dirty="0">
                    <a:solidFill>
                      <a:srgbClr val="00B050"/>
                    </a:solidFill>
                  </a:rPr>
                  <a:t>combinação linear dos atributos</a:t>
                </a:r>
                <a:r>
                  <a:rPr lang="pt-BR" dirty="0"/>
                  <a:t>, </a:t>
                </a:r>
                <a14:m>
                  <m:oMath xmlns:m="http://schemas.openxmlformats.org/officeDocument/2006/math">
                    <m:r>
                      <a:rPr lang="pt-BR" b="1" i="1">
                        <a:latin typeface="Cambria Math" panose="02040503050406030204" pitchFamily="18" charset="0"/>
                      </a:rPr>
                      <m:t>𝒙</m:t>
                    </m:r>
                  </m:oMath>
                </a14:m>
                <a:r>
                  <a:rPr lang="pt-BR" dirty="0"/>
                  <a:t>, </a:t>
                </a:r>
                <a:r>
                  <a:rPr lang="pt-BR" b="1" dirty="0">
                    <a:solidFill>
                      <a:srgbClr val="7030A0"/>
                    </a:solidFill>
                  </a:rPr>
                  <a:t>em relação aos pesos</a:t>
                </a:r>
                <a:r>
                  <a:rPr lang="pt-BR" dirty="0"/>
                  <a:t>.</a:t>
                </a:r>
              </a:p>
              <a:p>
                <a:r>
                  <a:rPr lang="pt-BR" dirty="0"/>
                  <a:t>Em geral, usamos </a:t>
                </a:r>
                <a:r>
                  <a:rPr lang="pt-BR" b="1" dirty="0">
                    <a:solidFill>
                      <a:srgbClr val="7030A0"/>
                    </a:solidFill>
                  </a:rPr>
                  <a:t>polinômios</a:t>
                </a:r>
                <a:r>
                  <a:rPr lang="pt-BR" dirty="0"/>
                  <a:t> para modelar essa relação.</a:t>
                </a: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i="1">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0" i="1" smtClean="0">
                        <a:latin typeface="Cambria Math" panose="02040503050406030204" pitchFamily="18" charset="0"/>
                        <a:ea typeface="Cambria Math" panose="02040503050406030204" pitchFamily="18" charset="0"/>
                      </a:rPr>
                      <m:t>=1+</m:t>
                    </m:r>
                    <m:r>
                      <a:rPr lang="pt-BR" b="0" i="1" smtClean="0">
                        <a:latin typeface="Cambria Math" panose="02040503050406030204" pitchFamily="18" charset="0"/>
                        <a:ea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+2</m:t>
                    </m:r>
                    <m:sSup>
                      <m:sSupPr>
                        <m:ctrlPr>
                          <a:rPr lang="pt-BR" i="1" smtClean="0">
                            <a:latin typeface="Cambria Math" panose="02040503050406030204" pitchFamily="18" charset="0"/>
                            <a:ea typeface="Cambria Math" panose="02040503050406030204" pitchFamily="18" charset="0"/>
                          </a:rPr>
                        </m:ctrlPr>
                      </m:sSupPr>
                      <m:e>
                        <m:r>
                          <a:rPr lang="pt-BR" b="0" i="1" smtClean="0">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2</m:t>
                        </m:r>
                      </m:sup>
                    </m:sSup>
                  </m:oMath>
                </a14:m>
                <a:r>
                  <a:rPr lang="pt-BR" i="1" dirty="0"/>
                  <a:t> </a:t>
                </a:r>
                <a:r>
                  <a:rPr lang="pt-BR" dirty="0"/>
                  <a:t>(</a:t>
                </a:r>
                <a:r>
                  <a:rPr lang="en-US" dirty="0" err="1"/>
                  <a:t>polinômio</a:t>
                </a:r>
                <a:r>
                  <a:rPr lang="en-US" dirty="0"/>
                  <a:t> de </a:t>
                </a:r>
                <a:r>
                  <a:rPr lang="en-US" dirty="0" err="1"/>
                  <a:t>grau</a:t>
                </a:r>
                <a:r>
                  <a:rPr lang="en-US" dirty="0"/>
                  <a:t> 2 </a:t>
                </a:r>
                <a:r>
                  <a:rPr lang="en-US" dirty="0" err="1"/>
                  <a:t>em</a:t>
                </a:r>
                <a:r>
                  <a:rPr lang="en-US" dirty="0"/>
                  <a:t> </a:t>
                </a:r>
                <a:r>
                  <a:rPr lang="en-US" dirty="0" err="1"/>
                  <a:t>uma</a:t>
                </a:r>
                <a:r>
                  <a:rPr lang="en-US" dirty="0"/>
                  <a:t> </a:t>
                </a:r>
                <a:r>
                  <a:rPr lang="en-US" dirty="0" err="1"/>
                  <a:t>variável</a:t>
                </a:r>
                <a:r>
                  <a:rPr lang="en-US" dirty="0"/>
                  <a:t>).</a:t>
                </a:r>
                <a:endParaRPr lang="pt-BR" i="1" dirty="0"/>
              </a:p>
              <a:p>
                <a:r>
                  <a:rPr lang="pt-BR" dirty="0"/>
                  <a:t>Pois segundo o teorema da aproximação de </a:t>
                </a:r>
                <a:r>
                  <a:rPr lang="pt-BR" b="1" i="1" dirty="0">
                    <a:solidFill>
                      <a:srgbClr val="00B050"/>
                    </a:solidFill>
                  </a:rPr>
                  <a:t>Stone-</a:t>
                </a:r>
                <a:r>
                  <a:rPr lang="pt-BR" b="1" i="1" dirty="0" err="1">
                    <a:solidFill>
                      <a:srgbClr val="00B050"/>
                    </a:solidFill>
                  </a:rPr>
                  <a:t>Weierstrass</a:t>
                </a:r>
                <a:r>
                  <a:rPr lang="pt-BR" dirty="0"/>
                  <a:t> “</a:t>
                </a:r>
                <a:r>
                  <a:rPr lang="pt-BR" i="1" dirty="0"/>
                  <a:t>qualquer função contínua no intervalo fechado [a, b] pode ser uniformemente aproximada por um </a:t>
                </a:r>
                <a:r>
                  <a:rPr lang="pt-BR" b="1" i="1" dirty="0">
                    <a:solidFill>
                      <a:schemeClr val="accent2"/>
                    </a:solidFill>
                  </a:rPr>
                  <a:t>polinômio</a:t>
                </a:r>
                <a:r>
                  <a:rPr lang="pt-BR" i="1" dirty="0"/>
                  <a:t>”.</a:t>
                </a:r>
              </a:p>
              <a:p>
                <a:r>
                  <a:rPr lang="pt-BR" dirty="0"/>
                  <a:t>Portanto, polinômios podem modelar qualquer tipo de mapeamento  (lineares ou não lineares) entre os atributos, </a:t>
                </a:r>
                <a14:m>
                  <m:oMath xmlns:m="http://schemas.openxmlformats.org/officeDocument/2006/math">
                    <m:r>
                      <a:rPr lang="pt-BR" b="1" i="1">
                        <a:latin typeface="Cambria Math" panose="02040503050406030204" pitchFamily="18" charset="0"/>
                      </a:rPr>
                      <m:t>𝒙</m:t>
                    </m:r>
                  </m:oMath>
                </a14:m>
                <a:r>
                  <a:rPr lang="pt-BR" dirty="0"/>
                  <a:t>, e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0" smtClean="0">
                        <a:latin typeface="Cambria Math" panose="02040503050406030204" pitchFamily="18" charset="0"/>
                      </a:rPr>
                      <m:t>,</m:t>
                    </m:r>
                  </m:oMath>
                </a14:m>
                <a:r>
                  <a:rPr lang="pt-BR" i="1" dirty="0"/>
                  <a:t> </a:t>
                </a:r>
                <a:r>
                  <a:rPr lang="pt-BR" dirty="0"/>
                  <a:t>bastando apenas </a:t>
                </a:r>
                <a:r>
                  <a:rPr lang="pt-BR" b="1" dirty="0">
                    <a:solidFill>
                      <a:srgbClr val="7030A0"/>
                    </a:solidFill>
                  </a:rPr>
                  <a:t>encontrar os pesos e o grau (ou ordem) ideal</a:t>
                </a:r>
                <a:r>
                  <a:rPr lang="pt-BR" dirty="0">
                    <a:solidFill>
                      <a:srgbClr val="7030A0"/>
                    </a:solidFill>
                  </a:rPr>
                  <a:t>.</a:t>
                </a:r>
              </a:p>
              <a:p>
                <a:endParaRPr lang="pt-BR" i="1" dirty="0"/>
              </a:p>
            </p:txBody>
          </p:sp>
        </mc:Choice>
        <mc:Fallback xmlns="">
          <p:sp>
            <p:nvSpPr>
              <p:cNvPr id="3" name="Espaço Reservado para Conteúdo 2">
                <a:extLst>
                  <a:ext uri="{FF2B5EF4-FFF2-40B4-BE49-F238E27FC236}">
                    <a16:creationId xmlns:a16="http://schemas.microsoft.com/office/drawing/2014/main" id="{67745B10-6162-30F7-6050-58C45B781852}"/>
                  </a:ext>
                </a:extLst>
              </p:cNvPr>
              <p:cNvSpPr>
                <a:spLocks noGrp="1" noRot="1" noChangeAspect="1" noMove="1" noResize="1" noEditPoints="1" noAdjustHandles="1" noChangeArrowheads="1" noChangeShapeType="1" noTextEdit="1"/>
              </p:cNvSpPr>
              <p:nvPr>
                <p:ph idx="1"/>
              </p:nvPr>
            </p:nvSpPr>
            <p:spPr>
              <a:xfrm>
                <a:off x="838200" y="1825624"/>
                <a:ext cx="11155325" cy="5032375"/>
              </a:xfrm>
              <a:blipFill>
                <a:blip r:embed="rId3"/>
                <a:stretch>
                  <a:fillRect l="-984" t="-1937" r="-164"/>
                </a:stretch>
              </a:blipFill>
            </p:spPr>
            <p:txBody>
              <a:bodyPr/>
              <a:lstStyle/>
              <a:p>
                <a:r>
                  <a:rPr lang="en-US">
                    <a:noFill/>
                  </a:rPr>
                  <a:t> </a:t>
                </a:r>
              </a:p>
            </p:txBody>
          </p:sp>
        </mc:Fallback>
      </mc:AlternateContent>
    </p:spTree>
    <p:extLst>
      <p:ext uri="{BB962C8B-B14F-4D97-AF65-F5344CB8AC3E}">
        <p14:creationId xmlns:p14="http://schemas.microsoft.com/office/powerpoint/2010/main" val="398287733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50803C-34C9-CCF4-6673-47CCCF2C74A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7B6B386-02B2-D964-73F3-196F9F79BAF2}"/>
              </a:ext>
            </a:extLst>
          </p:cNvPr>
          <p:cNvSpPr>
            <a:spLocks noGrp="1"/>
          </p:cNvSpPr>
          <p:nvPr>
            <p:ph type="title"/>
          </p:nvPr>
        </p:nvSpPr>
        <p:spPr/>
        <p:txBody>
          <a:bodyPr/>
          <a:lstStyle/>
          <a:p>
            <a:r>
              <a:rPr lang="pt-BR" dirty="0"/>
              <a:t>Por que linear?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C482631-ECEA-B4D7-2D72-82A636953ACA}"/>
                  </a:ext>
                </a:extLst>
              </p:cNvPr>
              <p:cNvSpPr>
                <a:spLocks noGrp="1"/>
              </p:cNvSpPr>
              <p:nvPr>
                <p:ph idx="1"/>
              </p:nvPr>
            </p:nvSpPr>
            <p:spPr>
              <a:xfrm>
                <a:off x="4691742" y="1825624"/>
                <a:ext cx="7413171" cy="5032375"/>
              </a:xfrm>
            </p:spPr>
            <p:txBody>
              <a:bodyPr>
                <a:normAutofit/>
              </a:bodyPr>
              <a:lstStyle/>
              <a:p>
                <a:r>
                  <a:rPr lang="pt-BR" dirty="0"/>
                  <a:t>Podemos modelar um </a:t>
                </a:r>
                <a:r>
                  <a:rPr lang="pt-BR" b="1" dirty="0"/>
                  <a:t>mapeamento linear</a:t>
                </a:r>
                <a:r>
                  <a:rPr lang="pt-BR" dirty="0"/>
                  <a:t> com a equação de uma reta:</a:t>
                </a:r>
              </a:p>
              <a:p>
                <a:pPr marL="457200" lvl="1" indent="0" algn="ctr">
                  <a:buNone/>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smtClean="0">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1" i="1">
                        <a:latin typeface="Cambria Math" panose="02040503050406030204" pitchFamily="18" charset="0"/>
                        <a:ea typeface="Cambria Math" panose="02040503050406030204" pitchFamily="18" charset="0"/>
                      </a:rPr>
                      <m:t>=</m:t>
                    </m:r>
                    <m:r>
                      <a:rPr lang="pt-BR" b="1" i="1" smtClean="0">
                        <a:latin typeface="Cambria Math" panose="02040503050406030204" pitchFamily="18" charset="0"/>
                        <a:ea typeface="Cambria Math" panose="02040503050406030204" pitchFamily="18" charset="0"/>
                      </a:rPr>
                      <m:t> </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oMath>
                </a14:m>
                <a:r>
                  <a:rPr lang="pt-BR" dirty="0"/>
                  <a:t> +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oMath>
                </a14:m>
                <a:r>
                  <a:rPr lang="pt-BR" dirty="0"/>
                  <a:t>.</a:t>
                </a:r>
              </a:p>
              <a:p>
                <a:r>
                  <a:rPr lang="pt-BR" dirty="0"/>
                  <a:t>Podemos ter um </a:t>
                </a:r>
                <a:r>
                  <a:rPr lang="pt-BR" b="1" dirty="0"/>
                  <a:t>mapeamento não-linear</a:t>
                </a:r>
                <a:r>
                  <a:rPr lang="pt-BR" dirty="0"/>
                  <a:t> com uma equação que aproxima uma </a:t>
                </a:r>
                <a:r>
                  <a:rPr lang="pt-BR" dirty="0" err="1"/>
                  <a:t>senoide</a:t>
                </a:r>
                <a:r>
                  <a:rPr lang="pt-BR" dirty="0"/>
                  <a:t>:</a:t>
                </a:r>
              </a:p>
              <a:p>
                <a:pPr marL="457200" lvl="1" indent="0" algn="ctr">
                  <a:buNone/>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1"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i="1">
                            <a:latin typeface="Cambria Math" panose="02040503050406030204" pitchFamily="18" charset="0"/>
                            <a:ea typeface="Cambria Math" panose="02040503050406030204" pitchFamily="18" charset="0"/>
                          </a:rPr>
                          <m:t>3</m:t>
                        </m:r>
                      </m:sup>
                    </m:sSup>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3</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5</m:t>
                        </m:r>
                      </m:sup>
                    </m:sSup>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4</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7</m:t>
                        </m:r>
                      </m:sup>
                    </m:sSup>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5</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9</m:t>
                        </m:r>
                      </m:sup>
                    </m:sSup>
                  </m:oMath>
                </a14:m>
                <a:r>
                  <a:rPr lang="pt-BR" dirty="0"/>
                  <a:t>.</a:t>
                </a:r>
              </a:p>
              <a:p>
                <a:r>
                  <a:rPr lang="pt-BR" dirty="0"/>
                  <a:t>Também podemos ter mapeamentos lineares e não lineares </a:t>
                </a:r>
                <a:r>
                  <a:rPr lang="pt-BR" b="1" dirty="0"/>
                  <a:t>com dois ou mais atributos</a:t>
                </a:r>
                <a:r>
                  <a:rPr lang="pt-BR" dirty="0"/>
                  <a:t>.</a:t>
                </a:r>
                <a:endParaRPr lang="pt-BR" i="1" dirty="0">
                  <a:latin typeface="Cambria Math" panose="02040503050406030204" pitchFamily="18" charset="0"/>
                </a:endParaRPr>
              </a:p>
              <a:p>
                <a:pPr marL="457200" lvl="1" indent="0" algn="ctr">
                  <a:buNone/>
                </a:pPr>
                <a14:m>
                  <m:oMathPara xmlns:m="http://schemas.openxmlformats.org/officeDocument/2006/math">
                    <m:oMathParaPr>
                      <m:jc m:val="centerGroup"/>
                    </m:oMathParaPr>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a:latin typeface="Cambria Math" panose="02040503050406030204" pitchFamily="18" charset="0"/>
                              <a:ea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b="1"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e>
                      </m:d>
                      <m:sSub>
                        <m:sSubPr>
                          <m:ctrlPr>
                            <a:rPr lang="pt-BR" i="1" smtClean="0">
                              <a:latin typeface="Cambria Math" panose="02040503050406030204" pitchFamily="18" charset="0"/>
                            </a:rPr>
                          </m:ctrlPr>
                        </m:sSubPr>
                        <m:e>
                          <m:r>
                            <a:rPr lang="pt-BR" i="1">
                              <a:latin typeface="Cambria Math" panose="02040503050406030204" pitchFamily="18" charset="0"/>
                            </a:rPr>
                            <m:t>=</m:t>
                          </m:r>
                          <m:r>
                            <a:rPr lang="pt-BR" i="1">
                              <a:latin typeface="Cambria Math" panose="02040503050406030204" pitchFamily="18" charset="0"/>
                            </a:rPr>
                            <m:t>𝑎</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2</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3</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4</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5</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3</m:t>
                          </m:r>
                        </m:sup>
                      </m:sSup>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6</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e>
                        <m:sup>
                          <m:r>
                            <a:rPr lang="pt-BR" i="1">
                              <a:latin typeface="Cambria Math" panose="02040503050406030204" pitchFamily="18" charset="0"/>
                            </a:rPr>
                            <m:t>2</m:t>
                          </m:r>
                        </m:sup>
                      </m:sSup>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9C482631-ECEA-B4D7-2D72-82A636953ACA}"/>
                  </a:ext>
                </a:extLst>
              </p:cNvPr>
              <p:cNvSpPr>
                <a:spLocks noGrp="1" noRot="1" noChangeAspect="1" noMove="1" noResize="1" noEditPoints="1" noAdjustHandles="1" noChangeArrowheads="1" noChangeShapeType="1" noTextEdit="1"/>
              </p:cNvSpPr>
              <p:nvPr>
                <p:ph idx="1"/>
              </p:nvPr>
            </p:nvSpPr>
            <p:spPr>
              <a:xfrm>
                <a:off x="4691742" y="1825624"/>
                <a:ext cx="7413171" cy="5032375"/>
              </a:xfrm>
              <a:blipFill>
                <a:blip r:embed="rId3"/>
                <a:stretch>
                  <a:fillRect l="-1480" t="-1937" r="-1151"/>
                </a:stretch>
              </a:blipFill>
            </p:spPr>
            <p:txBody>
              <a:bodyPr/>
              <a:lstStyle/>
              <a:p>
                <a:r>
                  <a:rPr lang="en-US">
                    <a:noFill/>
                  </a:rPr>
                  <a:t> </a:t>
                </a:r>
              </a:p>
            </p:txBody>
          </p:sp>
        </mc:Fallback>
      </mc:AlternateContent>
      <p:pic>
        <p:nvPicPr>
          <p:cNvPr id="1028" name="Picture 4">
            <a:extLst>
              <a:ext uri="{FF2B5EF4-FFF2-40B4-BE49-F238E27FC236}">
                <a16:creationId xmlns:a16="http://schemas.microsoft.com/office/drawing/2014/main" id="{12007748-1241-43BA-BCB2-C3CEA1054E9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74915" y="1690688"/>
            <a:ext cx="3456316" cy="2517923"/>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a:extLst>
              <a:ext uri="{FF2B5EF4-FFF2-40B4-BE49-F238E27FC236}">
                <a16:creationId xmlns:a16="http://schemas.microsoft.com/office/drawing/2014/main" id="{D0BE679B-48AF-4331-B659-21FE08DC204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74915" y="4275212"/>
            <a:ext cx="3456316" cy="25179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094253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F7C531-24F5-3DB0-B7A7-5DB19DFC73D8}"/>
              </a:ext>
            </a:extLst>
          </p:cNvPr>
          <p:cNvSpPr>
            <a:spLocks noGrp="1"/>
          </p:cNvSpPr>
          <p:nvPr>
            <p:ph type="title"/>
          </p:nvPr>
        </p:nvSpPr>
        <p:spPr/>
        <p:txBody>
          <a:bodyPr/>
          <a:lstStyle/>
          <a:p>
            <a:r>
              <a:rPr lang="pt-BR" dirty="0"/>
              <a:t>A flexibilidade dos polinômios</a:t>
            </a:r>
            <a:endParaRPr lang="en-US" dirty="0"/>
          </a:p>
        </p:txBody>
      </p:sp>
      <p:sp>
        <p:nvSpPr>
          <p:cNvPr id="3" name="Content Placeholder 2">
            <a:extLst>
              <a:ext uri="{FF2B5EF4-FFF2-40B4-BE49-F238E27FC236}">
                <a16:creationId xmlns:a16="http://schemas.microsoft.com/office/drawing/2014/main" id="{FBA4BB4A-BD28-6356-3136-572E90FF542A}"/>
              </a:ext>
            </a:extLst>
          </p:cNvPr>
          <p:cNvSpPr>
            <a:spLocks noGrp="1"/>
          </p:cNvSpPr>
          <p:nvPr>
            <p:ph idx="1"/>
          </p:nvPr>
        </p:nvSpPr>
        <p:spPr>
          <a:xfrm>
            <a:off x="5520267" y="1825624"/>
            <a:ext cx="6479821" cy="5032375"/>
          </a:xfrm>
        </p:spPr>
        <p:txBody>
          <a:bodyPr>
            <a:normAutofit lnSpcReduction="10000"/>
          </a:bodyPr>
          <a:lstStyle/>
          <a:p>
            <a:r>
              <a:rPr lang="pt-BR" dirty="0"/>
              <a:t>Grau 1: linha reta</a:t>
            </a:r>
          </a:p>
          <a:p>
            <a:r>
              <a:rPr lang="pt-BR" dirty="0"/>
              <a:t>Grau 2: parábola</a:t>
            </a:r>
          </a:p>
          <a:p>
            <a:r>
              <a:rPr lang="pt-BR" dirty="0"/>
              <a:t>Grau 3: curva com até dois pontos de inflexão</a:t>
            </a:r>
          </a:p>
          <a:p>
            <a:r>
              <a:rPr lang="pt-BR" dirty="0"/>
              <a:t>Graus maiores: curvas cada vez mais flexíveis</a:t>
            </a:r>
          </a:p>
          <a:p>
            <a:r>
              <a:rPr lang="pt-BR" b="1" dirty="0"/>
              <a:t>Observações</a:t>
            </a:r>
            <a:r>
              <a:rPr lang="pt-BR" dirty="0"/>
              <a:t>:</a:t>
            </a:r>
          </a:p>
          <a:p>
            <a:pPr lvl="1">
              <a:buFont typeface="Wingdings" panose="05000000000000000000" pitchFamily="2" charset="2"/>
              <a:buChar char="§"/>
            </a:pPr>
            <a:r>
              <a:rPr lang="pt-BR" dirty="0"/>
              <a:t>Maior grau ≠ melhor modelo</a:t>
            </a:r>
          </a:p>
          <a:p>
            <a:pPr lvl="1">
              <a:buFont typeface="Wingdings" panose="05000000000000000000" pitchFamily="2" charset="2"/>
              <a:buChar char="§"/>
            </a:pPr>
            <a:r>
              <a:rPr lang="pt-BR" dirty="0"/>
              <a:t>Flexibilidade excessiva pode levar ao </a:t>
            </a:r>
            <a:r>
              <a:rPr lang="pt-BR" i="1" dirty="0" err="1"/>
              <a:t>overfitting</a:t>
            </a:r>
            <a:endParaRPr lang="pt-BR" i="1" dirty="0"/>
          </a:p>
          <a:p>
            <a:pPr lvl="1">
              <a:buFont typeface="Wingdings" panose="05000000000000000000" pitchFamily="2" charset="2"/>
              <a:buChar char="§"/>
            </a:pPr>
            <a:r>
              <a:rPr lang="pt-BR" dirty="0"/>
              <a:t>Por outro lado, flexibilidade de menos pode levar ao </a:t>
            </a:r>
            <a:r>
              <a:rPr lang="pt-BR" i="1" dirty="0"/>
              <a:t>underfitting</a:t>
            </a:r>
            <a:r>
              <a:rPr lang="pt-BR" dirty="0"/>
              <a:t>.</a:t>
            </a:r>
          </a:p>
        </p:txBody>
      </p:sp>
      <p:pic>
        <p:nvPicPr>
          <p:cNvPr id="1026" name="Picture 2">
            <a:extLst>
              <a:ext uri="{FF2B5EF4-FFF2-40B4-BE49-F238E27FC236}">
                <a16:creationId xmlns:a16="http://schemas.microsoft.com/office/drawing/2014/main" id="{D7A0260E-AE81-A92B-4535-15046E14C60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28656" y="2269068"/>
            <a:ext cx="4454331" cy="34330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1450062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91E141-9BEA-1A7F-F3BE-B2EC1675E232}"/>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7636E6F2-3CD7-063A-5B72-5FF656E61DA5}"/>
              </a:ext>
            </a:extLst>
          </p:cNvPr>
          <p:cNvSpPr>
            <a:spLocks noGrp="1"/>
          </p:cNvSpPr>
          <p:nvPr>
            <p:ph idx="1"/>
          </p:nvPr>
        </p:nvSpPr>
        <p:spPr>
          <a:xfrm>
            <a:off x="838200" y="2593975"/>
            <a:ext cx="10515600" cy="1670050"/>
          </a:xfrm>
        </p:spPr>
        <p:txBody>
          <a:bodyPr>
            <a:normAutofit/>
          </a:bodyPr>
          <a:lstStyle/>
          <a:p>
            <a:pPr marL="0" indent="0" algn="ctr">
              <a:buNone/>
            </a:pPr>
            <a:r>
              <a:rPr lang="pt-BR" sz="5400" i="1" dirty="0"/>
              <a:t>Como encontramos os pesos e o melhor grau?</a:t>
            </a:r>
          </a:p>
        </p:txBody>
      </p:sp>
    </p:spTree>
    <p:extLst>
      <p:ext uri="{BB962C8B-B14F-4D97-AF65-F5344CB8AC3E}">
        <p14:creationId xmlns:p14="http://schemas.microsoft.com/office/powerpoint/2010/main" val="281979794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8D1460-F0A9-8CC3-99B3-716DC4544139}"/>
              </a:ext>
            </a:extLst>
          </p:cNvPr>
          <p:cNvSpPr>
            <a:spLocks noGrp="1"/>
          </p:cNvSpPr>
          <p:nvPr>
            <p:ph type="title"/>
          </p:nvPr>
        </p:nvSpPr>
        <p:spPr/>
        <p:txBody>
          <a:bodyPr/>
          <a:lstStyle/>
          <a:p>
            <a:r>
              <a:rPr lang="pt-BR" dirty="0"/>
              <a:t>Objetivo da regressão linear</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8F1D988-6925-C286-BA9F-B4A4851E2FFB}"/>
                  </a:ext>
                </a:extLst>
              </p:cNvPr>
              <p:cNvSpPr>
                <a:spLocks noGrp="1"/>
              </p:cNvSpPr>
              <p:nvPr>
                <p:ph idx="1"/>
              </p:nvPr>
            </p:nvSpPr>
            <p:spPr>
              <a:xfrm>
                <a:off x="838199" y="1825624"/>
                <a:ext cx="11157857" cy="5032375"/>
              </a:xfrm>
            </p:spPr>
            <p:txBody>
              <a:bodyPr>
                <a:normAutofit/>
              </a:bodyPr>
              <a:lstStyle/>
              <a:p>
                <a:r>
                  <a:rPr lang="pt-BR" dirty="0"/>
                  <a:t>Por enquanto, vamos assumir que já conhecemos o melhor grau do polinômio.</a:t>
                </a:r>
              </a:p>
              <a:p>
                <a:r>
                  <a:rPr lang="pt-BR" dirty="0"/>
                  <a:t>Como temos as entradas (i.e., atributos) e as saídas esperadas (i.e., rótulos), o </a:t>
                </a:r>
                <a:r>
                  <a:rPr lang="pt-BR" b="1" dirty="0"/>
                  <a:t>objetivo</a:t>
                </a:r>
                <a:r>
                  <a:rPr lang="pt-BR" dirty="0"/>
                  <a:t> passa a ser encontrar os </a:t>
                </a:r>
                <a:r>
                  <a:rPr lang="pt-BR" b="1" dirty="0"/>
                  <a:t>pesos ótimos</a:t>
                </a:r>
                <a:r>
                  <a:rPr lang="pt-BR" dirty="0"/>
                  <a:t> que </a:t>
                </a:r>
                <a:r>
                  <a:rPr lang="pt-BR" b="1" dirty="0"/>
                  <a:t>minimizam a distância (i.e., </a:t>
                </a:r>
                <a:r>
                  <a:rPr lang="pt-BR" b="1" dirty="0">
                    <a:solidFill>
                      <a:srgbClr val="7030A0"/>
                    </a:solidFill>
                  </a:rPr>
                  <a:t>erro</a:t>
                </a:r>
                <a:r>
                  <a:rPr lang="pt-BR" b="1" dirty="0"/>
                  <a:t>) entre predição</a:t>
                </a:r>
                <a:r>
                  <a:rPr lang="pt-BR" dirty="0"/>
                  <a:t>,</a:t>
                </a:r>
                <a:r>
                  <a:rPr lang="pt-BR" b="1" dirty="0"/>
                  <a:t>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oMath>
                </a14:m>
                <a:r>
                  <a:rPr lang="pt-BR" dirty="0"/>
                  <a:t> (i.e., saída do modelo) </a:t>
                </a:r>
                <a:r>
                  <a:rPr lang="pt-BR" b="1" dirty="0"/>
                  <a:t>e os rótulos</a:t>
                </a:r>
                <a:r>
                  <a:rPr lang="pt-BR" dirty="0"/>
                  <a:t>, </a:t>
                </a:r>
                <a14:m>
                  <m:oMath xmlns:m="http://schemas.openxmlformats.org/officeDocument/2006/math">
                    <m:r>
                      <a:rPr lang="pt-BR" b="0" i="1" smtClean="0">
                        <a:latin typeface="Cambria Math" panose="02040503050406030204" pitchFamily="18" charset="0"/>
                      </a:rPr>
                      <m:t>𝑦</m:t>
                    </m:r>
                  </m:oMath>
                </a14:m>
                <a:r>
                  <a:rPr lang="pt-BR" dirty="0"/>
                  <a:t>.</a:t>
                </a:r>
              </a:p>
              <a:p>
                <a:r>
                  <a:rPr lang="pt-BR" dirty="0"/>
                  <a:t>Escrevendo como um problema de otimização, temos que o objetivo é</a:t>
                </a:r>
              </a:p>
              <a:p>
                <a:pPr lvl="1">
                  <a:buFont typeface="Wingdings" panose="05000000000000000000" pitchFamily="2" charset="2"/>
                  <a:buChar char="§"/>
                </a:pPr>
                <a:r>
                  <a:rPr lang="pt-BR" dirty="0"/>
                  <a:t>Encontrar o </a:t>
                </a:r>
                <a:r>
                  <a:rPr lang="pt-BR" b="1" dirty="0">
                    <a:solidFill>
                      <a:srgbClr val="0070C0"/>
                    </a:solidFill>
                  </a:rPr>
                  <a:t>vetor de pesos</a:t>
                </a:r>
                <a:r>
                  <a:rPr lang="pt-BR" dirty="0"/>
                  <a:t>, </a:t>
                </a:r>
                <a14:m>
                  <m:oMath xmlns:m="http://schemas.openxmlformats.org/officeDocument/2006/math">
                    <m:r>
                      <a:rPr lang="pt-BR" b="1" i="1">
                        <a:latin typeface="Cambria Math" panose="02040503050406030204" pitchFamily="18" charset="0"/>
                      </a:rPr>
                      <m:t>𝒂</m:t>
                    </m:r>
                    <m:r>
                      <a:rPr lang="pt-BR" b="1" i="1" smtClean="0">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1"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𝐾</m:t>
                            </m:r>
                          </m:sub>
                        </m:sSub>
                        <m:r>
                          <a:rPr lang="pt-BR" b="1" i="1">
                            <a:latin typeface="Cambria Math" panose="02040503050406030204" pitchFamily="18" charset="0"/>
                          </a:rPr>
                          <m:t>]</m:t>
                        </m:r>
                      </m:e>
                      <m:sup>
                        <m:r>
                          <a:rPr lang="pt-BR" i="1">
                            <a:latin typeface="Cambria Math" panose="02040503050406030204" pitchFamily="18" charset="0"/>
                          </a:rPr>
                          <m:t>𝑇</m:t>
                        </m:r>
                      </m:sup>
                    </m:sSup>
                    <m:r>
                      <a:rPr lang="pt-BR" b="1" i="1">
                        <a:latin typeface="Cambria Math" panose="02040503050406030204" pitchFamily="18" charset="0"/>
                        <a:ea typeface="Cambria Math" panose="02040503050406030204" pitchFamily="18" charset="0"/>
                      </a:rPr>
                      <m:t>∈</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 </m:t>
                        </m:r>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×1</m:t>
                        </m:r>
                      </m:sup>
                    </m:sSup>
                  </m:oMath>
                </a14:m>
                <a:r>
                  <a:rPr lang="pt-BR" dirty="0"/>
                  <a:t>, que minimize o </a:t>
                </a:r>
                <a:r>
                  <a:rPr lang="pt-BR" b="1" dirty="0"/>
                  <a:t>erro</a:t>
                </a:r>
                <a:r>
                  <a:rPr lang="pt-BR" dirty="0"/>
                  <a:t>, dado por uma </a:t>
                </a:r>
                <a:r>
                  <a:rPr lang="pt-BR" b="1" dirty="0"/>
                  <a:t>função de erro</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oMath>
                </a14:m>
                <a:r>
                  <a:rPr lang="pt-BR" dirty="0"/>
                  <a:t>, entre a aproximação,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oMath>
                </a14:m>
                <a:r>
                  <a:rPr lang="pt-BR" dirty="0"/>
                  <a:t>, e o valor esperado, </a:t>
                </a:r>
                <a14:m>
                  <m:oMath xmlns:m="http://schemas.openxmlformats.org/officeDocument/2006/math">
                    <m:r>
                      <a:rPr lang="pt-BR" i="1">
                        <a:latin typeface="Cambria Math" panose="02040503050406030204" pitchFamily="18" charset="0"/>
                      </a:rPr>
                      <m:t>𝑦</m:t>
                    </m:r>
                  </m:oMath>
                </a14:m>
                <a:r>
                  <a:rPr lang="pt-BR" dirty="0"/>
                  <a:t>, </a:t>
                </a:r>
                <a:r>
                  <a:rPr lang="pt-BR" b="1" dirty="0">
                    <a:solidFill>
                      <a:srgbClr val="00B050"/>
                    </a:solidFill>
                  </a:rPr>
                  <a:t>para todos </a:t>
                </a:r>
                <a:r>
                  <a:rPr lang="pt-BR" b="1" dirty="0">
                    <a:solidFill>
                      <a:srgbClr val="0070C0"/>
                    </a:solidFill>
                  </a:rPr>
                  <a:t>os exemplos do conjunto de treinamento</a:t>
                </a:r>
                <a:r>
                  <a:rPr lang="pt-BR" dirty="0"/>
                  <a:t>.</a:t>
                </a:r>
              </a:p>
              <a:p>
                <a:pPr marL="0" indent="0" algn="ctr">
                  <a:buNone/>
                </a:pPr>
                <a14:m>
                  <m:oMath xmlns:m="http://schemas.openxmlformats.org/officeDocument/2006/math">
                    <m:func>
                      <m:funcPr>
                        <m:ctrlPr>
                          <a:rPr lang="pt-BR" i="1">
                            <a:latin typeface="Cambria Math" panose="02040503050406030204" pitchFamily="18" charset="0"/>
                          </a:rPr>
                        </m:ctrlPr>
                      </m:funcPr>
                      <m:fName>
                        <m:limLow>
                          <m:limLowPr>
                            <m:ctrlPr>
                              <a:rPr lang="pt-BR" i="1">
                                <a:latin typeface="Cambria Math" panose="02040503050406030204" pitchFamily="18" charset="0"/>
                              </a:rPr>
                            </m:ctrlPr>
                          </m:limLowPr>
                          <m:e>
                            <m:r>
                              <m:rPr>
                                <m:sty m:val="p"/>
                              </m:rPr>
                              <a:rPr lang="pt-BR">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m:t>
                            </m:r>
                          </m:lim>
                        </m:limLow>
                      </m:fName>
                      <m:e>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b="1" i="1">
                            <a:latin typeface="Cambria Math" panose="02040503050406030204" pitchFamily="18" charset="0"/>
                          </a:rPr>
                          <m:t>𝒂</m:t>
                        </m:r>
                        <m:r>
                          <a:rPr lang="pt-BR" i="1">
                            <a:latin typeface="Cambria Math" panose="02040503050406030204" pitchFamily="18" charset="0"/>
                          </a:rPr>
                          <m:t>)</m:t>
                        </m:r>
                      </m:e>
                    </m:func>
                  </m:oMath>
                </a14:m>
                <a:r>
                  <a:rPr lang="pt-BR" dirty="0"/>
                  <a:t>.</a:t>
                </a:r>
              </a:p>
            </p:txBody>
          </p:sp>
        </mc:Choice>
        <mc:Fallback xmlns="">
          <p:sp>
            <p:nvSpPr>
              <p:cNvPr id="3" name="Content Placeholder 2">
                <a:extLst>
                  <a:ext uri="{FF2B5EF4-FFF2-40B4-BE49-F238E27FC236}">
                    <a16:creationId xmlns:a16="http://schemas.microsoft.com/office/drawing/2014/main" id="{A8F1D988-6925-C286-BA9F-B4A4851E2FFB}"/>
                  </a:ext>
                </a:extLst>
              </p:cNvPr>
              <p:cNvSpPr>
                <a:spLocks noGrp="1" noRot="1" noChangeAspect="1" noMove="1" noResize="1" noEditPoints="1" noAdjustHandles="1" noChangeArrowheads="1" noChangeShapeType="1" noTextEdit="1"/>
              </p:cNvSpPr>
              <p:nvPr>
                <p:ph idx="1"/>
              </p:nvPr>
            </p:nvSpPr>
            <p:spPr>
              <a:xfrm>
                <a:off x="838199" y="1825624"/>
                <a:ext cx="11157857" cy="5032375"/>
              </a:xfrm>
              <a:blipFill>
                <a:blip r:embed="rId2"/>
                <a:stretch>
                  <a:fillRect l="-928" t="-1937" r="-158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A6B354F9-74E2-2FAD-DDBA-5FD514A114CE}"/>
                  </a:ext>
                </a:extLst>
              </p:cNvPr>
              <p:cNvSpPr txBox="1"/>
              <p:nvPr/>
            </p:nvSpPr>
            <p:spPr>
              <a:xfrm>
                <a:off x="9753600" y="6550223"/>
                <a:ext cx="2438400" cy="307777"/>
              </a:xfrm>
              <a:prstGeom prst="rect">
                <a:avLst/>
              </a:prstGeom>
              <a:noFill/>
            </p:spPr>
            <p:txBody>
              <a:bodyPr wrap="square">
                <a:spAutoFit/>
              </a:bodyPr>
              <a:lstStyle/>
              <a:p>
                <a:r>
                  <a:rPr lang="pt-BR" sz="1400" b="1" dirty="0">
                    <a:ea typeface="Cambria Math" panose="02040503050406030204" pitchFamily="18" charset="0"/>
                  </a:rPr>
                  <a:t>OBS</a:t>
                </a:r>
                <a:r>
                  <a:rPr lang="pt-BR" sz="1400" dirty="0">
                    <a:ea typeface="Cambria Math" panose="02040503050406030204" pitchFamily="18" charset="0"/>
                  </a:rPr>
                  <a:t>.: </a:t>
                </a:r>
                <a14:m>
                  <m:oMath xmlns:m="http://schemas.openxmlformats.org/officeDocument/2006/math">
                    <m:r>
                      <a:rPr lang="pt-BR" sz="1400" i="1" smtClean="0">
                        <a:latin typeface="Cambria Math" panose="02040503050406030204" pitchFamily="18" charset="0"/>
                        <a:ea typeface="Cambria Math" panose="02040503050406030204" pitchFamily="18" charset="0"/>
                      </a:rPr>
                      <m:t>𝐾</m:t>
                    </m:r>
                  </m:oMath>
                </a14:m>
                <a:r>
                  <a:rPr lang="pt-BR" sz="1400" dirty="0"/>
                  <a:t> é o número de pesos.</a:t>
                </a:r>
                <a:endParaRPr lang="en-US" sz="1400" dirty="0"/>
              </a:p>
            </p:txBody>
          </p:sp>
        </mc:Choice>
        <mc:Fallback xmlns="">
          <p:sp>
            <p:nvSpPr>
              <p:cNvPr id="5" name="TextBox 4">
                <a:extLst>
                  <a:ext uri="{FF2B5EF4-FFF2-40B4-BE49-F238E27FC236}">
                    <a16:creationId xmlns:a16="http://schemas.microsoft.com/office/drawing/2014/main" id="{A6B354F9-74E2-2FAD-DDBA-5FD514A114CE}"/>
                  </a:ext>
                </a:extLst>
              </p:cNvPr>
              <p:cNvSpPr txBox="1">
                <a:spLocks noRot="1" noChangeAspect="1" noMove="1" noResize="1" noEditPoints="1" noAdjustHandles="1" noChangeArrowheads="1" noChangeShapeType="1" noTextEdit="1"/>
              </p:cNvSpPr>
              <p:nvPr/>
            </p:nvSpPr>
            <p:spPr>
              <a:xfrm>
                <a:off x="9753600" y="6550223"/>
                <a:ext cx="2438400" cy="307777"/>
              </a:xfrm>
              <a:prstGeom prst="rect">
                <a:avLst/>
              </a:prstGeom>
              <a:blipFill>
                <a:blip r:embed="rId3"/>
                <a:stretch>
                  <a:fillRect l="-750" t="-4000" b="-20000"/>
                </a:stretch>
              </a:blipFill>
            </p:spPr>
            <p:txBody>
              <a:bodyPr/>
              <a:lstStyle/>
              <a:p>
                <a:r>
                  <a:rPr lang="en-US">
                    <a:noFill/>
                  </a:rPr>
                  <a:t> </a:t>
                </a:r>
              </a:p>
            </p:txBody>
          </p:sp>
        </mc:Fallback>
      </mc:AlternateContent>
    </p:spTree>
    <p:extLst>
      <p:ext uri="{BB962C8B-B14F-4D97-AF65-F5344CB8AC3E}">
        <p14:creationId xmlns:p14="http://schemas.microsoft.com/office/powerpoint/2010/main" val="67814284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AA1FF2-610F-29DC-A1C0-06044CE6D752}"/>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BEB786D8-DC7C-3952-8523-439D463A8F44}"/>
              </a:ext>
            </a:extLst>
          </p:cNvPr>
          <p:cNvSpPr>
            <a:spLocks noGrp="1"/>
          </p:cNvSpPr>
          <p:nvPr>
            <p:ph idx="1"/>
          </p:nvPr>
        </p:nvSpPr>
        <p:spPr>
          <a:xfrm>
            <a:off x="838199" y="2593975"/>
            <a:ext cx="10853057" cy="2228396"/>
          </a:xfrm>
        </p:spPr>
        <p:txBody>
          <a:bodyPr>
            <a:normAutofit/>
          </a:bodyPr>
          <a:lstStyle/>
          <a:p>
            <a:pPr marL="0" indent="0" algn="ctr">
              <a:buNone/>
            </a:pPr>
            <a:r>
              <a:rPr lang="pt-BR" sz="5400" i="1" dirty="0"/>
              <a:t>Para treinarmos o modelo, precisamos de uma função de erro</a:t>
            </a:r>
          </a:p>
        </p:txBody>
      </p:sp>
    </p:spTree>
    <p:extLst>
      <p:ext uri="{BB962C8B-B14F-4D97-AF65-F5344CB8AC3E}">
        <p14:creationId xmlns:p14="http://schemas.microsoft.com/office/powerpoint/2010/main" val="32089916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22F9E6F-04DB-ABA7-5277-8F56D03FB979}"/>
              </a:ext>
            </a:extLst>
          </p:cNvPr>
          <p:cNvSpPr>
            <a:spLocks noGrp="1"/>
          </p:cNvSpPr>
          <p:nvPr>
            <p:ph type="title"/>
          </p:nvPr>
        </p:nvSpPr>
        <p:spPr/>
        <p:txBody>
          <a:bodyPr/>
          <a:lstStyle/>
          <a:p>
            <a:r>
              <a:rPr lang="pt-BR" dirty="0"/>
              <a:t>Função de erro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843752C2-61B6-8E7E-17CE-7C009ECA9D67}"/>
                  </a:ext>
                </a:extLst>
              </p:cNvPr>
              <p:cNvSpPr>
                <a:spLocks noGrp="1"/>
              </p:cNvSpPr>
              <p:nvPr>
                <p:ph idx="1"/>
              </p:nvPr>
            </p:nvSpPr>
            <p:spPr>
              <a:xfrm>
                <a:off x="838200" y="1825624"/>
                <a:ext cx="11353800" cy="5032375"/>
              </a:xfrm>
            </p:spPr>
            <p:txBody>
              <a:bodyPr>
                <a:normAutofit/>
              </a:bodyPr>
              <a:lstStyle/>
              <a:p>
                <a:r>
                  <a:rPr lang="pt-BR" dirty="0"/>
                  <a:t>Existem várias possibilidades para a </a:t>
                </a:r>
                <a:r>
                  <a:rPr lang="pt-BR" b="1" dirty="0"/>
                  <a:t>função de erro</a:t>
                </a:r>
                <a:r>
                  <a:rPr lang="pt-BR" dirty="0"/>
                  <a:t>. Porém, em problemas de regressão, é comum utilizar-se o </a:t>
                </a:r>
                <a:r>
                  <a:rPr lang="pt-BR" b="1" dirty="0">
                    <a:solidFill>
                      <a:srgbClr val="00B050"/>
                    </a:solidFill>
                  </a:rPr>
                  <a:t>erro quadrático médio (EQM)</a:t>
                </a:r>
                <a:endParaRPr lang="pt-BR" dirty="0"/>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d>
                                <m:dPr>
                                  <m:ctrlPr>
                                    <a:rPr lang="pt-BR" i="1" smtClean="0">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acc>
                                    <m:accPr>
                                      <m:chr m:val="̂"/>
                                      <m:ctrlPr>
                                        <a:rPr lang="pt-BR" i="1" dirty="0" smtClean="0">
                                          <a:latin typeface="Cambria Math" panose="02040503050406030204" pitchFamily="18" charset="0"/>
                                        </a:rPr>
                                      </m:ctrlPr>
                                    </m:accPr>
                                    <m:e>
                                      <m:r>
                                        <a:rPr lang="pt-BR" b="0" i="1" dirty="0" smtClean="0">
                                          <a:latin typeface="Cambria Math" panose="02040503050406030204" pitchFamily="18" charset="0"/>
                                        </a:rPr>
                                        <m:t>𝑦</m:t>
                                      </m:r>
                                    </m:e>
                                  </m:acc>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e>
                              </m:d>
                            </m:e>
                            <m:sup>
                              <m:r>
                                <a:rPr lang="pt-BR" i="1">
                                  <a:latin typeface="Cambria Math" panose="02040503050406030204" pitchFamily="18" charset="0"/>
                                </a:rPr>
                                <m:t>2</m:t>
                              </m:r>
                            </m:sup>
                          </m:sSup>
                        </m:e>
                      </m:nary>
                      <m:r>
                        <a:rPr lang="pt-BR" b="0" i="1" smtClean="0">
                          <a:latin typeface="Cambria Math" panose="02040503050406030204" pitchFamily="18" charset="0"/>
                        </a:rPr>
                        <m:t>=</m:t>
                      </m:r>
                      <m:limLow>
                        <m:limLowPr>
                          <m:ctrlPr>
                            <a:rPr lang="pt-BR" b="0" i="1" smtClean="0">
                              <a:latin typeface="Cambria Math" panose="02040503050406030204" pitchFamily="18" charset="0"/>
                            </a:rPr>
                          </m:ctrlPr>
                        </m:limLowPr>
                        <m:e>
                          <m:groupChr>
                            <m:groupChrPr>
                              <m:chr m:val="⏟"/>
                              <m:ctrlPr>
                                <a:rPr lang="pt-BR" b="0" i="1" smtClean="0">
                                  <a:latin typeface="Cambria Math" panose="02040503050406030204" pitchFamily="18" charset="0"/>
                                </a:rPr>
                              </m:ctrlPr>
                            </m:groupChr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i="1">
                                      <a:latin typeface="Cambria Math" panose="02040503050406030204" pitchFamily="18" charset="0"/>
                                    </a:rPr>
                                  </m:ctrlPr>
                                </m:sSupPr>
                                <m:e>
                                  <m:d>
                                    <m:dPr>
                                      <m:begChr m:val="‖"/>
                                      <m:endChr m:val="‖"/>
                                      <m:ctrlPr>
                                        <a:rPr lang="pt-BR" i="1" smtClean="0">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limLow>
                                        <m:limLowPr>
                                          <m:ctrlPr>
                                            <a:rPr lang="pt-BR" i="1" smtClean="0">
                                              <a:latin typeface="Cambria Math" panose="02040503050406030204" pitchFamily="18" charset="0"/>
                                            </a:rPr>
                                          </m:ctrlPr>
                                        </m:limLowPr>
                                        <m:e>
                                          <m:groupChr>
                                            <m:groupChrPr>
                                              <m:chr m:val="⏟"/>
                                              <m:ctrlPr>
                                                <a:rPr lang="pt-BR" i="1" smtClean="0">
                                                  <a:latin typeface="Cambria Math" panose="02040503050406030204" pitchFamily="18" charset="0"/>
                                                </a:rPr>
                                              </m:ctrlPr>
                                            </m:groupChrPr>
                                            <m:e>
                                              <m:r>
                                                <a:rPr lang="pt-BR" b="1" i="1">
                                                  <a:latin typeface="Cambria Math" panose="02040503050406030204" pitchFamily="18" charset="0"/>
                                                </a:rPr>
                                                <m:t>𝑿𝒂</m:t>
                                              </m:r>
                                            </m:e>
                                          </m:groupChr>
                                        </m:e>
                                        <m:lim>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lim>
                                      </m:limLow>
                                    </m:e>
                                  </m:d>
                                </m:e>
                                <m:sup>
                                  <m:r>
                                    <a:rPr lang="pt-BR" i="1">
                                      <a:latin typeface="Cambria Math" panose="02040503050406030204" pitchFamily="18" charset="0"/>
                                    </a:rPr>
                                    <m:t>2</m:t>
                                  </m:r>
                                </m:sup>
                              </m:sSup>
                            </m:e>
                          </m:groupChr>
                        </m:e>
                        <m:lim>
                          <m:r>
                            <m:rPr>
                              <m:sty m:val="p"/>
                            </m:rPr>
                            <a:rPr lang="pt-BR" b="0" i="0" smtClean="0">
                              <a:latin typeface="Cambria Math" panose="02040503050406030204" pitchFamily="18" charset="0"/>
                            </a:rPr>
                            <m:t>forma</m:t>
                          </m:r>
                          <m:r>
                            <a:rPr lang="pt-BR" b="0" i="0" smtClean="0">
                              <a:latin typeface="Cambria Math" panose="02040503050406030204" pitchFamily="18" charset="0"/>
                            </a:rPr>
                            <m:t> </m:t>
                          </m:r>
                          <m:r>
                            <m:rPr>
                              <m:sty m:val="p"/>
                            </m:rPr>
                            <a:rPr lang="pt-BR" b="0" i="0" smtClean="0">
                              <a:latin typeface="Cambria Math" panose="02040503050406030204" pitchFamily="18" charset="0"/>
                            </a:rPr>
                            <m:t>matricial</m:t>
                          </m:r>
                        </m:lim>
                      </m:limLow>
                      <m:r>
                        <a:rPr lang="pt-BR" b="0" i="0" smtClean="0">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smtClean="0">
                        <a:latin typeface="Cambria Math" panose="02040503050406030204" pitchFamily="18" charset="0"/>
                      </a:rPr>
                      <m:t>𝑁</m:t>
                    </m:r>
                  </m:oMath>
                </a14:m>
                <a:r>
                  <a:rPr lang="pt-BR" dirty="0"/>
                  <a:t> é o número total de amostras, </a:t>
                </a:r>
                <a14:m>
                  <m:oMath xmlns:m="http://schemas.openxmlformats.org/officeDocument/2006/math">
                    <m:r>
                      <a:rPr lang="pt-BR" b="0" i="1" smtClean="0">
                        <a:latin typeface="Cambria Math" panose="02040503050406030204" pitchFamily="18" charset="0"/>
                      </a:rPr>
                      <m:t>𝑛</m:t>
                    </m:r>
                  </m:oMath>
                </a14:m>
                <a:r>
                  <a:rPr lang="pt-BR" dirty="0"/>
                  <a:t> é o número da amostra, </a:t>
                </a:r>
                <a14:m>
                  <m:oMath xmlns:m="http://schemas.openxmlformats.org/officeDocument/2006/math">
                    <m:r>
                      <a:rPr lang="pt-BR" b="1" i="1">
                        <a:latin typeface="Cambria Math" panose="02040503050406030204" pitchFamily="18" charset="0"/>
                      </a:rPr>
                      <m:t>𝒚</m:t>
                    </m:r>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r>
                          <a:rPr lang="pt-BR" b="1" i="1">
                            <a:latin typeface="Cambria Math" panose="02040503050406030204" pitchFamily="18" charset="0"/>
                          </a:rPr>
                          <m:t>]</m:t>
                        </m:r>
                      </m:e>
                      <m:sup>
                        <m:r>
                          <a:rPr lang="pt-BR" i="1">
                            <a:latin typeface="Cambria Math" panose="02040503050406030204" pitchFamily="18" charset="0"/>
                          </a:rPr>
                          <m:t>𝑇</m:t>
                        </m:r>
                      </m:sup>
                    </m:sSup>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×1</m:t>
                        </m:r>
                      </m:sup>
                    </m:sSup>
                  </m:oMath>
                </a14:m>
                <a:r>
                  <a:rPr lang="pt-BR" dirty="0"/>
                  <a:t> e </a:t>
                </a:r>
                <a14:m>
                  <m:oMath xmlns:m="http://schemas.openxmlformats.org/officeDocument/2006/math">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r>
                          <a:rPr lang="pt-BR" b="1" i="1">
                            <a:latin typeface="Cambria Math" panose="02040503050406030204" pitchFamily="18" charset="0"/>
                          </a:rPr>
                          <m:t>]</m:t>
                        </m:r>
                      </m:e>
                      <m:sup>
                        <m:r>
                          <a:rPr lang="pt-BR" i="1">
                            <a:latin typeface="Cambria Math" panose="02040503050406030204" pitchFamily="18" charset="0"/>
                          </a:rPr>
                          <m:t>𝑇</m:t>
                        </m:r>
                      </m:sup>
                    </m:sSup>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×1</m:t>
                        </m:r>
                      </m:sup>
                    </m:sSup>
                  </m:oMath>
                </a14:m>
                <a:r>
                  <a:rPr lang="pt-BR" dirty="0"/>
                  <a:t> são </a:t>
                </a:r>
                <a:r>
                  <a:rPr lang="pt-BR" b="1" dirty="0">
                    <a:solidFill>
                      <a:srgbClr val="0070C0"/>
                    </a:solidFill>
                  </a:rPr>
                  <a:t>vetores</a:t>
                </a:r>
                <a:r>
                  <a:rPr lang="pt-BR" b="1" i="1" dirty="0">
                    <a:solidFill>
                      <a:srgbClr val="0070C0"/>
                    </a:solidFill>
                  </a:rPr>
                  <a:t> </a:t>
                </a:r>
                <a:r>
                  <a:rPr lang="pt-BR" dirty="0"/>
                  <a:t>contendo todos os </a:t>
                </a:r>
                <a14:m>
                  <m:oMath xmlns:m="http://schemas.openxmlformats.org/officeDocument/2006/math">
                    <m:r>
                      <a:rPr lang="pt-BR" i="1">
                        <a:latin typeface="Cambria Math" panose="02040503050406030204" pitchFamily="18" charset="0"/>
                      </a:rPr>
                      <m:t>𝑁</m:t>
                    </m:r>
                  </m:oMath>
                </a14:m>
                <a:r>
                  <a:rPr lang="pt-BR" dirty="0"/>
                  <a:t> valores esperados e de predições, respectivamente e </a:t>
                </a:r>
                <a14:m>
                  <m:oMath xmlns:m="http://schemas.openxmlformats.org/officeDocument/2006/math">
                    <m:r>
                      <a:rPr lang="pt-BR" b="1" i="1">
                        <a:latin typeface="Cambria Math" panose="02040503050406030204" pitchFamily="18" charset="0"/>
                      </a:rPr>
                      <m:t>𝑿</m:t>
                    </m:r>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r>
                          <a:rPr lang="pt-BR" b="1" i="1">
                            <a:latin typeface="Cambria Math" panose="02040503050406030204" pitchFamily="18" charset="0"/>
                          </a:rPr>
                          <m:t>]</m:t>
                        </m:r>
                      </m:e>
                      <m:sup>
                        <m:r>
                          <a:rPr lang="pt-BR" i="1">
                            <a:latin typeface="Cambria Math" panose="02040503050406030204" pitchFamily="18" charset="0"/>
                          </a:rPr>
                          <m:t>𝑇</m:t>
                        </m:r>
                      </m:sup>
                    </m:sSup>
                  </m:oMath>
                </a14:m>
                <a:r>
                  <a:rPr lang="pt-BR" b="1" dirty="0">
                    <a:ea typeface="Cambria Math" panose="02040503050406030204" pitchFamily="18" charset="0"/>
                  </a:rPr>
                  <a:t> </a:t>
                </a:r>
                <a14:m>
                  <m:oMath xmlns:m="http://schemas.openxmlformats.org/officeDocument/2006/math">
                    <m:sSup>
                      <m:sSupPr>
                        <m:ctrlPr>
                          <a:rPr lang="pt-BR" i="1">
                            <a:latin typeface="Cambria Math" panose="02040503050406030204" pitchFamily="18" charset="0"/>
                            <a:ea typeface="Cambria Math" panose="02040503050406030204" pitchFamily="18" charset="0"/>
                          </a:rPr>
                        </m:ctrlPr>
                      </m:sSupPr>
                      <m:e>
                        <m:r>
                          <a:rPr lang="pt-BR" b="0" i="1">
                            <a:latin typeface="Cambria Math" panose="02040503050406030204" pitchFamily="18" charset="0"/>
                            <a:ea typeface="Cambria Math" panose="02040503050406030204" pitchFamily="18" charset="0"/>
                          </a:rPr>
                          <m:t>∈</m:t>
                        </m:r>
                        <m:r>
                          <a:rPr lang="pt-BR" b="0" i="1">
                            <a:latin typeface="Cambria Math" panose="02040503050406030204" pitchFamily="18" charset="0"/>
                            <a:ea typeface="Cambria Math" panose="02040503050406030204" pitchFamily="18" charset="0"/>
                          </a:rPr>
                          <m:t>ℝ</m:t>
                        </m:r>
                      </m:e>
                      <m:sup>
                        <m:r>
                          <a:rPr lang="pt-BR" b="0" i="1">
                            <a:latin typeface="Cambria Math" panose="02040503050406030204" pitchFamily="18" charset="0"/>
                            <a:ea typeface="Cambria Math" panose="02040503050406030204" pitchFamily="18" charset="0"/>
                          </a:rPr>
                          <m:t>𝑁</m:t>
                        </m:r>
                        <m:r>
                          <a:rPr lang="pt-BR" b="0"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sup>
                    </m:sSup>
                  </m:oMath>
                </a14:m>
                <a:r>
                  <a:rPr lang="pt-BR" dirty="0"/>
                  <a:t> é uma </a:t>
                </a:r>
                <a:r>
                  <a:rPr lang="pt-BR" b="1" dirty="0">
                    <a:solidFill>
                      <a:srgbClr val="0070C0"/>
                    </a:solidFill>
                  </a:rPr>
                  <a:t>matriz</a:t>
                </a:r>
                <a:r>
                  <a:rPr lang="pt-BR" dirty="0"/>
                  <a:t> contendo todos os </a:t>
                </a:r>
                <a14:m>
                  <m:oMath xmlns:m="http://schemas.openxmlformats.org/officeDocument/2006/math">
                    <m:r>
                      <a:rPr lang="pt-BR" i="1">
                        <a:latin typeface="Cambria Math" panose="02040503050406030204" pitchFamily="18" charset="0"/>
                      </a:rPr>
                      <m:t>𝑁</m:t>
                    </m:r>
                  </m:oMath>
                </a14:m>
                <a:r>
                  <a:rPr lang="pt-BR" dirty="0"/>
                  <a:t> vetores de atributo.</a:t>
                </a:r>
              </a:p>
              <a:p>
                <a:r>
                  <a:rPr lang="pt-BR" dirty="0"/>
                  <a:t>O </a:t>
                </a:r>
                <a:r>
                  <a:rPr lang="pt-BR" b="1" dirty="0">
                    <a:solidFill>
                      <a:srgbClr val="00B050"/>
                    </a:solidFill>
                  </a:rPr>
                  <a:t>EQM</a:t>
                </a:r>
                <a:r>
                  <a:rPr lang="pt-BR" dirty="0"/>
                  <a:t> nada mais é do que a </a:t>
                </a:r>
                <a:r>
                  <a:rPr lang="pt-BR" b="1" dirty="0">
                    <a:solidFill>
                      <a:srgbClr val="00B050"/>
                    </a:solidFill>
                  </a:rPr>
                  <a:t>média aritmética do quadrado dos erros</a:t>
                </a:r>
                <a:r>
                  <a:rPr lang="pt-BR" dirty="0"/>
                  <a:t>.</a:t>
                </a:r>
              </a:p>
            </p:txBody>
          </p:sp>
        </mc:Choice>
        <mc:Fallback xmlns="">
          <p:sp>
            <p:nvSpPr>
              <p:cNvPr id="3" name="Espaço Reservado para Conteúdo 2">
                <a:extLst>
                  <a:ext uri="{FF2B5EF4-FFF2-40B4-BE49-F238E27FC236}">
                    <a16:creationId xmlns:a16="http://schemas.microsoft.com/office/drawing/2014/main" id="{843752C2-61B6-8E7E-17CE-7C009ECA9D67}"/>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1128" t="-1937"/>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id="{DA1B5748-659A-1A33-A0BB-36FDFC0D922B}"/>
              </a:ext>
            </a:extLst>
          </p:cNvPr>
          <p:cNvSpPr txBox="1"/>
          <p:nvPr/>
        </p:nvSpPr>
        <p:spPr>
          <a:xfrm>
            <a:off x="10424847" y="2782669"/>
            <a:ext cx="1647409" cy="646331"/>
          </a:xfrm>
          <a:prstGeom prst="rect">
            <a:avLst/>
          </a:prstGeom>
          <a:noFill/>
        </p:spPr>
        <p:txBody>
          <a:bodyPr wrap="square" rtlCol="0">
            <a:spAutoFit/>
          </a:bodyPr>
          <a:lstStyle/>
          <a:p>
            <a:pPr algn="ctr"/>
            <a:r>
              <a:rPr lang="pt-BR" sz="1200" dirty="0"/>
              <a:t>Erro entre a saída esperada e a saída da função hipótese.</a:t>
            </a:r>
          </a:p>
        </p:txBody>
      </p:sp>
      <p:cxnSp>
        <p:nvCxnSpPr>
          <p:cNvPr id="5" name="Straight Arrow Connector 5">
            <a:extLst>
              <a:ext uri="{FF2B5EF4-FFF2-40B4-BE49-F238E27FC236}">
                <a16:creationId xmlns:a16="http://schemas.microsoft.com/office/drawing/2014/main" id="{533A37AF-2E19-6028-AE93-9CF06895589A}"/>
              </a:ext>
            </a:extLst>
          </p:cNvPr>
          <p:cNvCxnSpPr>
            <a:cxnSpLocks/>
          </p:cNvCxnSpPr>
          <p:nvPr/>
        </p:nvCxnSpPr>
        <p:spPr>
          <a:xfrm flipH="1">
            <a:off x="8675914" y="2967726"/>
            <a:ext cx="1839686" cy="64633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33499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C4E842-F6C8-EE87-0AA0-9BEFA4B974FB}"/>
              </a:ext>
            </a:extLst>
          </p:cNvPr>
          <p:cNvSpPr>
            <a:spLocks noGrp="1"/>
          </p:cNvSpPr>
          <p:nvPr>
            <p:ph type="title"/>
          </p:nvPr>
        </p:nvSpPr>
        <p:spPr/>
        <p:txBody>
          <a:bodyPr/>
          <a:lstStyle/>
          <a:p>
            <a:r>
              <a:rPr lang="pt-BR" dirty="0"/>
              <a:t>Minimização da função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A581B72-317A-3CC1-4214-6CBD69B4A604}"/>
                  </a:ext>
                </a:extLst>
              </p:cNvPr>
              <p:cNvSpPr>
                <a:spLocks noGrp="1"/>
              </p:cNvSpPr>
              <p:nvPr>
                <p:ph idx="1"/>
              </p:nvPr>
            </p:nvSpPr>
            <p:spPr>
              <a:xfrm>
                <a:off x="838199" y="1825624"/>
                <a:ext cx="11157857" cy="5032375"/>
              </a:xfrm>
            </p:spPr>
            <p:txBody>
              <a:bodyPr/>
              <a:lstStyle/>
              <a:p>
                <a:r>
                  <a:rPr lang="pt-BR" dirty="0"/>
                  <a:t>Então, para encontrarmos o </a:t>
                </a:r>
                <a:r>
                  <a:rPr lang="pt-BR" b="1" dirty="0"/>
                  <a:t>vetor de pesos</a:t>
                </a:r>
                <a:r>
                  <a:rPr lang="pt-BR" dirty="0"/>
                  <a:t>, </a:t>
                </a:r>
                <a14:m>
                  <m:oMath xmlns:m="http://schemas.openxmlformats.org/officeDocument/2006/math">
                    <m:r>
                      <a:rPr lang="pt-BR" b="1" i="1">
                        <a:latin typeface="Cambria Math" panose="02040503050406030204" pitchFamily="18" charset="0"/>
                      </a:rPr>
                      <m:t>𝒂</m:t>
                    </m:r>
                  </m:oMath>
                </a14:m>
                <a:r>
                  <a:rPr lang="pt-BR" dirty="0"/>
                  <a:t>, devemos </a:t>
                </a:r>
                <a:r>
                  <a:rPr lang="pt-BR" b="1" dirty="0">
                    <a:solidFill>
                      <a:srgbClr val="00B050"/>
                    </a:solidFill>
                  </a:rPr>
                  <a:t>minimizar a função de erro</a:t>
                </a:r>
                <a:endParaRPr lang="pt-BR" dirty="0"/>
              </a:p>
              <a:p>
                <a:pPr marL="0" indent="0">
                  <a:buNone/>
                </a:pPr>
                <a14:m>
                  <m:oMathPara xmlns:m="http://schemas.openxmlformats.org/officeDocument/2006/math">
                    <m:oMathParaPr>
                      <m:jc m:val="centerGroup"/>
                    </m:oMathParaPr>
                    <m:oMath xmlns:m="http://schemas.openxmlformats.org/officeDocument/2006/math">
                      <m:func>
                        <m:funcPr>
                          <m:ctrlPr>
                            <a:rPr lang="nl-BE" i="1">
                              <a:latin typeface="Cambria Math" panose="02040503050406030204" pitchFamily="18" charset="0"/>
                            </a:rPr>
                          </m:ctrlPr>
                        </m:funcPr>
                        <m:fName>
                          <m:limLow>
                            <m:limLowPr>
                              <m:ctrlPr>
                                <a:rPr lang="nl-BE" i="1">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m:t>
                              </m:r>
                            </m:lim>
                          </m:limLow>
                        </m:fName>
                        <m:e>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limLow>
                                    <m:limLowPr>
                                      <m:ctrlPr>
                                        <a:rPr lang="pt-BR" i="1">
                                          <a:latin typeface="Cambria Math" panose="02040503050406030204" pitchFamily="18" charset="0"/>
                                        </a:rPr>
                                      </m:ctrlPr>
                                    </m:limLowPr>
                                    <m:e>
                                      <m:groupChr>
                                        <m:groupChrPr>
                                          <m:chr m:val="⏟"/>
                                          <m:ctrlPr>
                                            <a:rPr lang="pt-BR" i="1">
                                              <a:latin typeface="Cambria Math" panose="02040503050406030204" pitchFamily="18" charset="0"/>
                                            </a:rPr>
                                          </m:ctrlPr>
                                        </m:groupChrPr>
                                        <m:e>
                                          <m:r>
                                            <a:rPr lang="pt-BR" b="1" i="1">
                                              <a:latin typeface="Cambria Math" panose="02040503050406030204" pitchFamily="18" charset="0"/>
                                            </a:rPr>
                                            <m:t>𝑿𝒂</m:t>
                                          </m:r>
                                        </m:e>
                                      </m:groupChr>
                                    </m:e>
                                    <m:lim>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lim>
                                  </m:limLow>
                                </m:e>
                              </m:d>
                            </m:e>
                            <m:sup>
                              <m:r>
                                <a:rPr lang="pt-BR" i="1">
                                  <a:latin typeface="Cambria Math" panose="02040503050406030204" pitchFamily="18" charset="0"/>
                                </a:rPr>
                                <m:t>2</m:t>
                              </m:r>
                            </m:sup>
                          </m:sSup>
                        </m:e>
                      </m:func>
                      <m:r>
                        <a:rPr lang="pt-BR" b="0" i="0" smtClean="0">
                          <a:latin typeface="Cambria Math" panose="02040503050406030204" pitchFamily="18" charset="0"/>
                        </a:rPr>
                        <m:t>.</m:t>
                      </m:r>
                    </m:oMath>
                  </m:oMathPara>
                </a14:m>
                <a:endParaRPr lang="pt-BR" dirty="0"/>
              </a:p>
              <a:p>
                <a:r>
                  <a:rPr lang="pt-BR" dirty="0"/>
                  <a:t>Por ser constante, o termo 1/𝑁 não influencia na minimização e, portanto, pode ser omitido na equação acima.</a:t>
                </a:r>
              </a:p>
              <a:p>
                <a:pPr marL="0" indent="0">
                  <a:buNone/>
                </a:pPr>
                <a:endParaRPr lang="pt-BR" dirty="0"/>
              </a:p>
              <a:p>
                <a:pPr marL="0" indent="0" algn="ctr">
                  <a:buNone/>
                </a:pPr>
                <a:r>
                  <a:rPr lang="pt-BR" sz="4400" i="1" dirty="0"/>
                  <a:t>Como encontramos os pesos que minimizam a função de erro?</a:t>
                </a:r>
              </a:p>
              <a:p>
                <a:endParaRPr lang="en-US" dirty="0"/>
              </a:p>
            </p:txBody>
          </p:sp>
        </mc:Choice>
        <mc:Fallback xmlns="">
          <p:sp>
            <p:nvSpPr>
              <p:cNvPr id="3" name="Content Placeholder 2">
                <a:extLst>
                  <a:ext uri="{FF2B5EF4-FFF2-40B4-BE49-F238E27FC236}">
                    <a16:creationId xmlns:a16="http://schemas.microsoft.com/office/drawing/2014/main" id="{7A581B72-317A-3CC1-4214-6CBD69B4A604}"/>
                  </a:ext>
                </a:extLst>
              </p:cNvPr>
              <p:cNvSpPr>
                <a:spLocks noGrp="1" noRot="1" noChangeAspect="1" noMove="1" noResize="1" noEditPoints="1" noAdjustHandles="1" noChangeArrowheads="1" noChangeShapeType="1" noTextEdit="1"/>
              </p:cNvSpPr>
              <p:nvPr>
                <p:ph idx="1"/>
              </p:nvPr>
            </p:nvSpPr>
            <p:spPr>
              <a:xfrm>
                <a:off x="838199" y="1825624"/>
                <a:ext cx="11157857" cy="5032375"/>
              </a:xfrm>
              <a:blipFill>
                <a:blip r:embed="rId2"/>
                <a:stretch>
                  <a:fillRect l="-928" t="-1937" r="-1584"/>
                </a:stretch>
              </a:blipFill>
            </p:spPr>
            <p:txBody>
              <a:bodyPr/>
              <a:lstStyle/>
              <a:p>
                <a:r>
                  <a:rPr lang="en-US">
                    <a:noFill/>
                  </a:rPr>
                  <a:t> </a:t>
                </a:r>
              </a:p>
            </p:txBody>
          </p:sp>
        </mc:Fallback>
      </mc:AlternateContent>
    </p:spTree>
    <p:extLst>
      <p:ext uri="{BB962C8B-B14F-4D97-AF65-F5344CB8AC3E}">
        <p14:creationId xmlns:p14="http://schemas.microsoft.com/office/powerpoint/2010/main" val="201175689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5DC745-C86C-4971-B0AF-00EE88E914C9}"/>
              </a:ext>
            </a:extLst>
          </p:cNvPr>
          <p:cNvSpPr>
            <a:spLocks noGrp="1"/>
          </p:cNvSpPr>
          <p:nvPr>
            <p:ph type="title"/>
          </p:nvPr>
        </p:nvSpPr>
        <p:spPr>
          <a:xfrm>
            <a:off x="838200" y="365125"/>
            <a:ext cx="10515600" cy="952231"/>
          </a:xfrm>
        </p:spPr>
        <p:txBody>
          <a:bodyPr/>
          <a:lstStyle/>
          <a:p>
            <a:r>
              <a:rPr lang="pt-BR" dirty="0"/>
              <a:t>Resumo do problema da regressão linear</a:t>
            </a:r>
          </a:p>
        </p:txBody>
      </p:sp>
      <p:sp>
        <p:nvSpPr>
          <p:cNvPr id="3" name="Content Placeholder 2">
            <a:extLst>
              <a:ext uri="{FF2B5EF4-FFF2-40B4-BE49-F238E27FC236}">
                <a16:creationId xmlns:a16="http://schemas.microsoft.com/office/drawing/2014/main" id="{AF130550-3E6D-44FC-BB82-8D9766374925}"/>
              </a:ext>
            </a:extLst>
          </p:cNvPr>
          <p:cNvSpPr>
            <a:spLocks noGrp="1"/>
          </p:cNvSpPr>
          <p:nvPr>
            <p:ph idx="1"/>
          </p:nvPr>
        </p:nvSpPr>
        <p:spPr>
          <a:xfrm>
            <a:off x="6346371" y="1551214"/>
            <a:ext cx="5698145" cy="5306785"/>
          </a:xfrm>
        </p:spPr>
        <p:txBody>
          <a:bodyPr>
            <a:normAutofit/>
          </a:bodyPr>
          <a:lstStyle/>
          <a:p>
            <a:r>
              <a:rPr lang="pt-BR" dirty="0"/>
              <a:t>Portanto, resumindo, nosso objetivo é </a:t>
            </a:r>
            <a:r>
              <a:rPr lang="pt-BR" b="1" dirty="0">
                <a:solidFill>
                  <a:srgbClr val="00B050"/>
                </a:solidFill>
              </a:rPr>
              <a:t>treinar</a:t>
            </a:r>
            <a:r>
              <a:rPr lang="pt-BR" dirty="0"/>
              <a:t> um </a:t>
            </a:r>
            <a:r>
              <a:rPr lang="pt-BR" b="1" dirty="0">
                <a:solidFill>
                  <a:srgbClr val="00B050"/>
                </a:solidFill>
              </a:rPr>
              <a:t>modelo</a:t>
            </a:r>
            <a:r>
              <a:rPr lang="pt-BR" dirty="0"/>
              <a:t>, a partir de um </a:t>
            </a:r>
            <a:r>
              <a:rPr lang="pt-BR" b="1" dirty="0">
                <a:solidFill>
                  <a:srgbClr val="00B050"/>
                </a:solidFill>
              </a:rPr>
              <a:t>conjunto de treinamento</a:t>
            </a:r>
            <a:r>
              <a:rPr lang="pt-BR" dirty="0"/>
              <a:t>, que </a:t>
            </a:r>
            <a:r>
              <a:rPr lang="pt-BR" b="1" dirty="0">
                <a:solidFill>
                  <a:srgbClr val="00B050"/>
                </a:solidFill>
              </a:rPr>
              <a:t>minimize o erro de aproximação</a:t>
            </a:r>
            <a:r>
              <a:rPr lang="pt-BR" dirty="0"/>
              <a:t>.</a:t>
            </a:r>
          </a:p>
          <a:p>
            <a:r>
              <a:rPr lang="pt-BR" dirty="0"/>
              <a:t>Assim, para </a:t>
            </a:r>
            <a:r>
              <a:rPr lang="pt-BR" b="1" dirty="0">
                <a:solidFill>
                  <a:srgbClr val="00B050"/>
                </a:solidFill>
              </a:rPr>
              <a:t>treinar</a:t>
            </a:r>
            <a:r>
              <a:rPr lang="pt-BR" dirty="0"/>
              <a:t> o modelo, precisamos encontrar </a:t>
            </a:r>
            <a:r>
              <a:rPr lang="pt-BR" b="1" dirty="0">
                <a:solidFill>
                  <a:srgbClr val="7030A0"/>
                </a:solidFill>
              </a:rPr>
              <a:t>maneiras</a:t>
            </a:r>
            <a:r>
              <a:rPr lang="pt-BR" b="1" dirty="0">
                <a:solidFill>
                  <a:srgbClr val="00B050"/>
                </a:solidFill>
              </a:rPr>
              <a:t> </a:t>
            </a:r>
            <a:r>
              <a:rPr lang="pt-BR" dirty="0"/>
              <a:t>de </a:t>
            </a:r>
            <a:r>
              <a:rPr lang="pt-BR" b="1" dirty="0">
                <a:solidFill>
                  <a:schemeClr val="accent2"/>
                </a:solidFill>
              </a:rPr>
              <a:t>ajustar seus pesos</a:t>
            </a:r>
            <a:r>
              <a:rPr lang="pt-BR" b="1" dirty="0">
                <a:solidFill>
                  <a:srgbClr val="00B050"/>
                </a:solidFill>
              </a:rPr>
              <a:t> </a:t>
            </a:r>
            <a:r>
              <a:rPr lang="pt-BR" dirty="0"/>
              <a:t>de forma que o erro seja minimizado.</a:t>
            </a:r>
          </a:p>
        </p:txBody>
      </p:sp>
      <p:grpSp>
        <p:nvGrpSpPr>
          <p:cNvPr id="4" name="Group 3">
            <a:extLst>
              <a:ext uri="{FF2B5EF4-FFF2-40B4-BE49-F238E27FC236}">
                <a16:creationId xmlns:a16="http://schemas.microsoft.com/office/drawing/2014/main" id="{DF988A4E-4866-35AF-BF8F-8DD7FA3EE9A8}"/>
              </a:ext>
            </a:extLst>
          </p:cNvPr>
          <p:cNvGrpSpPr/>
          <p:nvPr/>
        </p:nvGrpSpPr>
        <p:grpSpPr>
          <a:xfrm>
            <a:off x="936690" y="1871206"/>
            <a:ext cx="4908940" cy="3623775"/>
            <a:chOff x="342900" y="1658935"/>
            <a:chExt cx="4908940" cy="3623775"/>
          </a:xfrm>
        </p:grpSpPr>
        <p:grpSp>
          <p:nvGrpSpPr>
            <p:cNvPr id="7" name="Agrupar 6">
              <a:extLst>
                <a:ext uri="{FF2B5EF4-FFF2-40B4-BE49-F238E27FC236}">
                  <a16:creationId xmlns:a16="http://schemas.microsoft.com/office/drawing/2014/main" id="{A9CFBE1F-E739-ECB1-A43E-891E3E546A8C}"/>
                </a:ext>
              </a:extLst>
            </p:cNvPr>
            <p:cNvGrpSpPr/>
            <p:nvPr/>
          </p:nvGrpSpPr>
          <p:grpSpPr>
            <a:xfrm>
              <a:off x="342900" y="2251139"/>
              <a:ext cx="4908940" cy="3031571"/>
              <a:chOff x="157187" y="2378075"/>
              <a:chExt cx="4908940" cy="3031571"/>
            </a:xfrm>
          </p:grpSpPr>
          <p:sp>
            <p:nvSpPr>
              <p:cNvPr id="20" name="Retângulo 19">
                <a:extLst>
                  <a:ext uri="{FF2B5EF4-FFF2-40B4-BE49-F238E27FC236}">
                    <a16:creationId xmlns:a16="http://schemas.microsoft.com/office/drawing/2014/main" id="{C94DB9DA-6651-67B4-2FCB-6138D2059179}"/>
                  </a:ext>
                </a:extLst>
              </p:cNvPr>
              <p:cNvSpPr/>
              <p:nvPr/>
            </p:nvSpPr>
            <p:spPr>
              <a:xfrm>
                <a:off x="425788" y="3029858"/>
                <a:ext cx="463575" cy="1935842"/>
              </a:xfrm>
              <a:prstGeom prst="rect">
                <a:avLst/>
              </a:prstGeom>
              <a:solidFill>
                <a:schemeClr val="accent1">
                  <a:alpha val="41000"/>
                </a:schemeClr>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Rectangle 12">
                <a:extLst>
                  <a:ext uri="{FF2B5EF4-FFF2-40B4-BE49-F238E27FC236}">
                    <a16:creationId xmlns:a16="http://schemas.microsoft.com/office/drawing/2014/main" id="{5707A7FC-2643-5BF6-4ADB-DCD3B83DF68F}"/>
                  </a:ext>
                </a:extLst>
              </p:cNvPr>
              <p:cNvSpPr/>
              <p:nvPr/>
            </p:nvSpPr>
            <p:spPr>
              <a:xfrm>
                <a:off x="1361788" y="3029857"/>
                <a:ext cx="1216819"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Modelo de ML</a:t>
                </a:r>
                <a:br>
                  <a:rPr lang="pt-BR" dirty="0">
                    <a:solidFill>
                      <a:schemeClr val="tx1"/>
                    </a:solidFill>
                  </a:rPr>
                </a:br>
                <a:r>
                  <a:rPr lang="pt-BR" sz="1200" dirty="0">
                    <a:solidFill>
                      <a:schemeClr val="tx1"/>
                    </a:solidFill>
                  </a:rPr>
                  <a:t>(e.g., polinômio)</a:t>
                </a:r>
                <a:endParaRPr lang="pt-BR" sz="1600" dirty="0">
                  <a:solidFill>
                    <a:schemeClr val="tx1"/>
                  </a:solidFill>
                </a:endParaRPr>
              </a:p>
            </p:txBody>
          </p:sp>
          <p:cxnSp>
            <p:nvCxnSpPr>
              <p:cNvPr id="10" name="Straight Arrow Connector 14">
                <a:extLst>
                  <a:ext uri="{FF2B5EF4-FFF2-40B4-BE49-F238E27FC236}">
                    <a16:creationId xmlns:a16="http://schemas.microsoft.com/office/drawing/2014/main" id="{71024B44-4FCA-AB48-FD6A-BC22BAF1FE30}"/>
                  </a:ext>
                </a:extLst>
              </p:cNvPr>
              <p:cNvCxnSpPr>
                <a:cxnSpLocks/>
              </p:cNvCxnSpPr>
              <p:nvPr/>
            </p:nvCxnSpPr>
            <p:spPr>
              <a:xfrm>
                <a:off x="893787" y="3471233"/>
                <a:ext cx="46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4">
                <a:extLst>
                  <a:ext uri="{FF2B5EF4-FFF2-40B4-BE49-F238E27FC236}">
                    <a16:creationId xmlns:a16="http://schemas.microsoft.com/office/drawing/2014/main" id="{AFAD5EB5-BD73-1AA8-2DE8-86B253D42465}"/>
                  </a:ext>
                </a:extLst>
              </p:cNvPr>
              <p:cNvCxnSpPr>
                <a:cxnSpLocks/>
                <a:stCxn id="8" idx="3"/>
                <a:endCxn id="12" idx="1"/>
              </p:cNvCxnSpPr>
              <p:nvPr/>
            </p:nvCxnSpPr>
            <p:spPr>
              <a:xfrm>
                <a:off x="2578607" y="3454400"/>
                <a:ext cx="840366"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2" name="Rectangle 12">
                <a:extLst>
                  <a:ext uri="{FF2B5EF4-FFF2-40B4-BE49-F238E27FC236}">
                    <a16:creationId xmlns:a16="http://schemas.microsoft.com/office/drawing/2014/main" id="{70B31B89-FB10-2FE0-309F-D08BB4008A71}"/>
                  </a:ext>
                </a:extLst>
              </p:cNvPr>
              <p:cNvSpPr/>
              <p:nvPr/>
            </p:nvSpPr>
            <p:spPr>
              <a:xfrm>
                <a:off x="3418973" y="3029857"/>
                <a:ext cx="1216818"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Função de erro</a:t>
                </a:r>
              </a:p>
            </p:txBody>
          </p:sp>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37A5E096-7B54-8ADE-2BF6-C2E99C2CDB16}"/>
                      </a:ext>
                    </a:extLst>
                  </p:cNvPr>
                  <p:cNvSpPr txBox="1"/>
                  <p:nvPr/>
                </p:nvSpPr>
                <p:spPr>
                  <a:xfrm flipH="1">
                    <a:off x="436587" y="3162012"/>
                    <a:ext cx="467999" cy="461665"/>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r>
                            <a:rPr lang="pt-BR" sz="2400" b="1" i="1" smtClean="0">
                              <a:latin typeface="Cambria Math" panose="02040503050406030204" pitchFamily="18" charset="0"/>
                            </a:rPr>
                            <m:t>𝑿</m:t>
                          </m:r>
                        </m:oMath>
                      </m:oMathPara>
                    </a14:m>
                    <a:endParaRPr lang="pt-BR" sz="2400" b="1" dirty="0"/>
                  </a:p>
                </p:txBody>
              </p:sp>
            </mc:Choice>
            <mc:Fallback xmlns="">
              <p:sp>
                <p:nvSpPr>
                  <p:cNvPr id="13" name="CaixaDeTexto 12">
                    <a:extLst>
                      <a:ext uri="{FF2B5EF4-FFF2-40B4-BE49-F238E27FC236}">
                        <a16:creationId xmlns:a16="http://schemas.microsoft.com/office/drawing/2014/main" id="{37A5E096-7B54-8ADE-2BF6-C2E99C2CDB16}"/>
                      </a:ext>
                    </a:extLst>
                  </p:cNvPr>
                  <p:cNvSpPr txBox="1">
                    <a:spLocks noRot="1" noChangeAspect="1" noMove="1" noResize="1" noEditPoints="1" noAdjustHandles="1" noChangeArrowheads="1" noChangeShapeType="1" noTextEdit="1"/>
                  </p:cNvSpPr>
                  <p:nvPr/>
                </p:nvSpPr>
                <p:spPr>
                  <a:xfrm flipH="1">
                    <a:off x="436587" y="3162012"/>
                    <a:ext cx="467999" cy="461665"/>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6AFC799D-58CB-E1E2-0D69-3033A3F20565}"/>
                      </a:ext>
                    </a:extLst>
                  </p:cNvPr>
                  <p:cNvSpPr txBox="1"/>
                  <p:nvPr/>
                </p:nvSpPr>
                <p:spPr>
                  <a:xfrm flipH="1">
                    <a:off x="425788" y="4367212"/>
                    <a:ext cx="467999" cy="461665"/>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r>
                            <a:rPr lang="pt-BR" sz="2400" b="1" i="1" smtClean="0">
                              <a:latin typeface="Cambria Math" panose="02040503050406030204" pitchFamily="18" charset="0"/>
                            </a:rPr>
                            <m:t>𝒚</m:t>
                          </m:r>
                        </m:oMath>
                      </m:oMathPara>
                    </a14:m>
                    <a:endParaRPr lang="pt-BR" sz="2400" b="1" i="1" dirty="0"/>
                  </a:p>
                </p:txBody>
              </p:sp>
            </mc:Choice>
            <mc:Fallback xmlns="">
              <p:sp>
                <p:nvSpPr>
                  <p:cNvPr id="14" name="CaixaDeTexto 13">
                    <a:extLst>
                      <a:ext uri="{FF2B5EF4-FFF2-40B4-BE49-F238E27FC236}">
                        <a16:creationId xmlns:a16="http://schemas.microsoft.com/office/drawing/2014/main" id="{6AFC799D-58CB-E1E2-0D69-3033A3F20565}"/>
                      </a:ext>
                    </a:extLst>
                  </p:cNvPr>
                  <p:cNvSpPr txBox="1">
                    <a:spLocks noRot="1" noChangeAspect="1" noMove="1" noResize="1" noEditPoints="1" noAdjustHandles="1" noChangeArrowheads="1" noChangeShapeType="1" noTextEdit="1"/>
                  </p:cNvSpPr>
                  <p:nvPr/>
                </p:nvSpPr>
                <p:spPr>
                  <a:xfrm flipH="1">
                    <a:off x="425788" y="4367212"/>
                    <a:ext cx="467999" cy="461665"/>
                  </a:xfrm>
                  <a:prstGeom prst="rect">
                    <a:avLst/>
                  </a:prstGeom>
                  <a:blipFill>
                    <a:blip r:embed="rId4"/>
                    <a:stretch>
                      <a:fillRect b="-1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id="{50292170-E093-D561-BEDB-71584050F297}"/>
                      </a:ext>
                    </a:extLst>
                  </p:cNvPr>
                  <p:cNvSpPr txBox="1"/>
                  <p:nvPr/>
                </p:nvSpPr>
                <p:spPr>
                  <a:xfrm flipH="1">
                    <a:off x="2578604" y="2978956"/>
                    <a:ext cx="801039" cy="461665"/>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acc>
                            <m:accPr>
                              <m:chr m:val="̂"/>
                              <m:ctrlPr>
                                <a:rPr lang="pt-BR" sz="2400" b="0" i="1" smtClean="0">
                                  <a:latin typeface="Cambria Math" panose="02040503050406030204" pitchFamily="18" charset="0"/>
                                </a:rPr>
                              </m:ctrlPr>
                            </m:accPr>
                            <m:e>
                              <m:r>
                                <a:rPr lang="pt-BR" sz="2400" b="0" i="1" smtClean="0">
                                  <a:latin typeface="Cambria Math" panose="02040503050406030204" pitchFamily="18" charset="0"/>
                                </a:rPr>
                                <m:t>𝑦</m:t>
                              </m:r>
                            </m:e>
                          </m:acc>
                        </m:oMath>
                      </m:oMathPara>
                    </a14:m>
                    <a:endParaRPr lang="pt-BR" sz="2400" dirty="0"/>
                  </a:p>
                </p:txBody>
              </p:sp>
            </mc:Choice>
            <mc:Fallback xmlns="">
              <p:sp>
                <p:nvSpPr>
                  <p:cNvPr id="15" name="CaixaDeTexto 14">
                    <a:extLst>
                      <a:ext uri="{FF2B5EF4-FFF2-40B4-BE49-F238E27FC236}">
                        <a16:creationId xmlns:a16="http://schemas.microsoft.com/office/drawing/2014/main" id="{50292170-E093-D561-BEDB-71584050F297}"/>
                      </a:ext>
                    </a:extLst>
                  </p:cNvPr>
                  <p:cNvSpPr txBox="1">
                    <a:spLocks noRot="1" noChangeAspect="1" noMove="1" noResize="1" noEditPoints="1" noAdjustHandles="1" noChangeArrowheads="1" noChangeShapeType="1" noTextEdit="1"/>
                  </p:cNvSpPr>
                  <p:nvPr/>
                </p:nvSpPr>
                <p:spPr>
                  <a:xfrm flipH="1">
                    <a:off x="2578604" y="2978956"/>
                    <a:ext cx="801039" cy="461665"/>
                  </a:xfrm>
                  <a:prstGeom prst="rect">
                    <a:avLst/>
                  </a:prstGeom>
                  <a:blipFill>
                    <a:blip r:embed="rId6"/>
                    <a:stretch>
                      <a:fillRect t="-3947" r="-21970" b="-10526"/>
                    </a:stretch>
                  </a:blipFill>
                </p:spPr>
                <p:txBody>
                  <a:bodyPr/>
                  <a:lstStyle/>
                  <a:p>
                    <a:r>
                      <a:rPr lang="pt-BR">
                        <a:noFill/>
                      </a:rPr>
                      <a:t> </a:t>
                    </a:r>
                  </a:p>
                </p:txBody>
              </p:sp>
            </mc:Fallback>
          </mc:AlternateContent>
          <p:cxnSp>
            <p:nvCxnSpPr>
              <p:cNvPr id="16" name="Conector: Angulado 15">
                <a:extLst>
                  <a:ext uri="{FF2B5EF4-FFF2-40B4-BE49-F238E27FC236}">
                    <a16:creationId xmlns:a16="http://schemas.microsoft.com/office/drawing/2014/main" id="{B009E62F-DEAF-CE49-8684-D2F3889690CD}"/>
                  </a:ext>
                </a:extLst>
              </p:cNvPr>
              <p:cNvCxnSpPr>
                <a:cxnSpLocks/>
                <a:stCxn id="14" idx="1"/>
                <a:endCxn id="12" idx="2"/>
              </p:cNvCxnSpPr>
              <p:nvPr/>
            </p:nvCxnSpPr>
            <p:spPr>
              <a:xfrm flipV="1">
                <a:off x="893787" y="3878943"/>
                <a:ext cx="3133595" cy="719102"/>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Angulado 16">
                <a:extLst>
                  <a:ext uri="{FF2B5EF4-FFF2-40B4-BE49-F238E27FC236}">
                    <a16:creationId xmlns:a16="http://schemas.microsoft.com/office/drawing/2014/main" id="{F90DC347-B7E4-3023-60C7-1C8283B3C88E}"/>
                  </a:ext>
                </a:extLst>
              </p:cNvPr>
              <p:cNvCxnSpPr>
                <a:cxnSpLocks/>
                <a:stCxn id="12" idx="3"/>
              </p:cNvCxnSpPr>
              <p:nvPr/>
            </p:nvCxnSpPr>
            <p:spPr>
              <a:xfrm flipH="1" flipV="1">
                <a:off x="2662503" y="2378075"/>
                <a:ext cx="1973288" cy="1076325"/>
              </a:xfrm>
              <a:prstGeom prst="bentConnector3">
                <a:avLst>
                  <a:gd name="adj1" fmla="val -11585"/>
                </a:avLst>
              </a:prstGeom>
              <a:ln>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 name="Conector reto 17">
                <a:extLst>
                  <a:ext uri="{FF2B5EF4-FFF2-40B4-BE49-F238E27FC236}">
                    <a16:creationId xmlns:a16="http://schemas.microsoft.com/office/drawing/2014/main" id="{29EF8501-71B8-2FB0-7ED2-028287A0A5BB}"/>
                  </a:ext>
                </a:extLst>
              </p:cNvPr>
              <p:cNvCxnSpPr/>
              <p:nvPr/>
            </p:nvCxnSpPr>
            <p:spPr>
              <a:xfrm flipH="1">
                <a:off x="1450107" y="2378075"/>
                <a:ext cx="1212396" cy="1743075"/>
              </a:xfrm>
              <a:prstGeom prst="line">
                <a:avLst/>
              </a:prstGeom>
              <a:ln>
                <a:prstDash val="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9" name="CaixaDeTexto 18">
                <a:extLst>
                  <a:ext uri="{FF2B5EF4-FFF2-40B4-BE49-F238E27FC236}">
                    <a16:creationId xmlns:a16="http://schemas.microsoft.com/office/drawing/2014/main" id="{2B889678-B98C-9E1D-C61A-60F719853781}"/>
                  </a:ext>
                </a:extLst>
              </p:cNvPr>
              <p:cNvSpPr txBox="1"/>
              <p:nvPr/>
            </p:nvSpPr>
            <p:spPr>
              <a:xfrm>
                <a:off x="841698" y="4084657"/>
                <a:ext cx="1321837" cy="461665"/>
              </a:xfrm>
              <a:prstGeom prst="rect">
                <a:avLst/>
              </a:prstGeom>
              <a:noFill/>
            </p:spPr>
            <p:txBody>
              <a:bodyPr wrap="square" rtlCol="0">
                <a:spAutoFit/>
              </a:bodyPr>
              <a:lstStyle/>
              <a:p>
                <a:pPr algn="ctr"/>
                <a:r>
                  <a:rPr lang="pt-BR" sz="1200" dirty="0"/>
                  <a:t>Ajuste dos pesos do modelo</a:t>
                </a:r>
              </a:p>
            </p:txBody>
          </p:sp>
          <p:sp>
            <p:nvSpPr>
              <p:cNvPr id="21" name="CaixaDeTexto 20">
                <a:extLst>
                  <a:ext uri="{FF2B5EF4-FFF2-40B4-BE49-F238E27FC236}">
                    <a16:creationId xmlns:a16="http://schemas.microsoft.com/office/drawing/2014/main" id="{D4DEEE4B-BFB7-7180-B620-019C107089CA}"/>
                  </a:ext>
                </a:extLst>
              </p:cNvPr>
              <p:cNvSpPr txBox="1"/>
              <p:nvPr/>
            </p:nvSpPr>
            <p:spPr>
              <a:xfrm>
                <a:off x="157187" y="4947981"/>
                <a:ext cx="1047413" cy="461665"/>
              </a:xfrm>
              <a:prstGeom prst="rect">
                <a:avLst/>
              </a:prstGeom>
              <a:noFill/>
            </p:spPr>
            <p:txBody>
              <a:bodyPr wrap="square" rtlCol="0">
                <a:spAutoFit/>
              </a:bodyPr>
              <a:lstStyle/>
              <a:p>
                <a:pPr algn="ctr"/>
                <a:r>
                  <a:rPr lang="pt-BR" sz="1200" dirty="0"/>
                  <a:t>Conjunto de treinamento</a:t>
                </a:r>
              </a:p>
            </p:txBody>
          </p:sp>
          <p:sp>
            <p:nvSpPr>
              <p:cNvPr id="22" name="CaixaDeTexto 21">
                <a:extLst>
                  <a:ext uri="{FF2B5EF4-FFF2-40B4-BE49-F238E27FC236}">
                    <a16:creationId xmlns:a16="http://schemas.microsoft.com/office/drawing/2014/main" id="{CB35AE44-A8A6-55E4-AF7C-6D1B1C22FD76}"/>
                  </a:ext>
                </a:extLst>
              </p:cNvPr>
              <p:cNvSpPr txBox="1"/>
              <p:nvPr/>
            </p:nvSpPr>
            <p:spPr>
              <a:xfrm>
                <a:off x="2578607" y="3490140"/>
                <a:ext cx="840365" cy="276999"/>
              </a:xfrm>
              <a:prstGeom prst="rect">
                <a:avLst/>
              </a:prstGeom>
              <a:noFill/>
            </p:spPr>
            <p:txBody>
              <a:bodyPr wrap="square" rtlCol="0">
                <a:spAutoFit/>
              </a:bodyPr>
              <a:lstStyle/>
              <a:p>
                <a:pPr algn="ctr"/>
                <a:r>
                  <a:rPr lang="pt-BR" sz="1200" dirty="0"/>
                  <a:t>predição</a:t>
                </a:r>
              </a:p>
            </p:txBody>
          </p:sp>
          <p:sp>
            <p:nvSpPr>
              <p:cNvPr id="23" name="CaixaDeTexto 22">
                <a:extLst>
                  <a:ext uri="{FF2B5EF4-FFF2-40B4-BE49-F238E27FC236}">
                    <a16:creationId xmlns:a16="http://schemas.microsoft.com/office/drawing/2014/main" id="{253F27F5-AE53-A49B-F8E5-AF810876A343}"/>
                  </a:ext>
                </a:extLst>
              </p:cNvPr>
              <p:cNvSpPr txBox="1"/>
              <p:nvPr/>
            </p:nvSpPr>
            <p:spPr>
              <a:xfrm>
                <a:off x="4611210" y="3440621"/>
                <a:ext cx="454917" cy="276999"/>
              </a:xfrm>
              <a:prstGeom prst="rect">
                <a:avLst/>
              </a:prstGeom>
              <a:noFill/>
            </p:spPr>
            <p:txBody>
              <a:bodyPr wrap="square" rtlCol="0">
                <a:spAutoFit/>
              </a:bodyPr>
              <a:lstStyle/>
              <a:p>
                <a:pPr algn="ctr"/>
                <a:r>
                  <a:rPr lang="pt-BR" sz="1200" dirty="0"/>
                  <a:t>erro</a:t>
                </a:r>
              </a:p>
            </p:txBody>
          </p:sp>
        </p:grpSp>
        <p:sp>
          <p:nvSpPr>
            <p:cNvPr id="5" name="CaixaDeTexto 4">
              <a:extLst>
                <a:ext uri="{FF2B5EF4-FFF2-40B4-BE49-F238E27FC236}">
                  <a16:creationId xmlns:a16="http://schemas.microsoft.com/office/drawing/2014/main" id="{C18E8975-8592-CC3B-612B-6E6728CAA35F}"/>
                </a:ext>
              </a:extLst>
            </p:cNvPr>
            <p:cNvSpPr txBox="1"/>
            <p:nvPr/>
          </p:nvSpPr>
          <p:spPr>
            <a:xfrm>
              <a:off x="2848216" y="1658935"/>
              <a:ext cx="2209559" cy="600164"/>
            </a:xfrm>
            <a:prstGeom prst="rect">
              <a:avLst/>
            </a:prstGeom>
            <a:noFill/>
          </p:spPr>
          <p:txBody>
            <a:bodyPr wrap="square" rtlCol="0">
              <a:spAutoFit/>
            </a:bodyPr>
            <a:lstStyle/>
            <a:p>
              <a:pPr algn="ctr"/>
              <a:r>
                <a:rPr lang="pt-BR" sz="1100" b="1" i="1" dirty="0">
                  <a:solidFill>
                    <a:schemeClr val="accent2"/>
                  </a:solidFill>
                </a:rPr>
                <a:t>Indicação para onde deve-se caminhar </a:t>
              </a:r>
              <a:r>
                <a:rPr lang="pt-BR" sz="1100" dirty="0"/>
                <a:t>no espaço de hipóteses para que o erro seja minimizado</a:t>
              </a:r>
            </a:p>
          </p:txBody>
        </p:sp>
      </p:grpSp>
    </p:spTree>
    <p:extLst>
      <p:ext uri="{BB962C8B-B14F-4D97-AF65-F5344CB8AC3E}">
        <p14:creationId xmlns:p14="http://schemas.microsoft.com/office/powerpoint/2010/main" val="168591389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7CA9BC-BDB8-0017-DAF6-E2CF307E39E9}"/>
              </a:ext>
            </a:extLst>
          </p:cNvPr>
          <p:cNvSpPr>
            <a:spLocks noGrp="1"/>
          </p:cNvSpPr>
          <p:nvPr>
            <p:ph type="title"/>
          </p:nvPr>
        </p:nvSpPr>
        <p:spPr/>
        <p:txBody>
          <a:bodyPr/>
          <a:lstStyle/>
          <a:p>
            <a:r>
              <a:rPr lang="pt-BR" dirty="0"/>
              <a:t>Como encontrar os pesos ótimos?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E0FC8F8-ADC7-A068-C2BC-465BFAC99DC0}"/>
                  </a:ext>
                </a:extLst>
              </p:cNvPr>
              <p:cNvSpPr>
                <a:spLocks noGrp="1"/>
              </p:cNvSpPr>
              <p:nvPr>
                <p:ph idx="1"/>
              </p:nvPr>
            </p:nvSpPr>
            <p:spPr>
              <a:xfrm>
                <a:off x="838200" y="1825624"/>
                <a:ext cx="11190514" cy="5032375"/>
              </a:xfrm>
            </p:spPr>
            <p:txBody>
              <a:bodyPr/>
              <a:lstStyle/>
              <a:p>
                <a:r>
                  <a:rPr lang="pt-BR" dirty="0"/>
                  <a:t>Existem dois caminhos principais para se encontrar o </a:t>
                </a:r>
                <a:r>
                  <a:rPr lang="pt-BR" b="1" dirty="0">
                    <a:solidFill>
                      <a:srgbClr val="00B050"/>
                    </a:solidFill>
                  </a:rPr>
                  <a:t>conjunto de pesos ótimo</a:t>
                </a:r>
                <a:endParaRPr lang="pt-BR" dirty="0"/>
              </a:p>
              <a:p>
                <a:pPr lvl="1">
                  <a:buFont typeface="Wingdings" panose="05000000000000000000" pitchFamily="2" charset="2"/>
                  <a:buChar char="§"/>
                </a:pPr>
                <a:r>
                  <a:rPr lang="en-US" b="1" dirty="0" err="1"/>
                  <a:t>Equação</a:t>
                </a:r>
                <a:r>
                  <a:rPr lang="en-US" b="1" dirty="0"/>
                  <a:t> normal</a:t>
                </a:r>
              </a:p>
              <a:p>
                <a:pPr lvl="2">
                  <a:buFont typeface="Courier New" panose="02070309020205020404" pitchFamily="49" charset="0"/>
                  <a:buChar char="o"/>
                </a:pPr>
                <a:r>
                  <a:rPr lang="en-US" dirty="0" err="1"/>
                  <a:t>Também</a:t>
                </a:r>
                <a:r>
                  <a:rPr lang="en-US" dirty="0"/>
                  <a:t> </a:t>
                </a:r>
                <a:r>
                  <a:rPr lang="en-US" dirty="0" err="1"/>
                  <a:t>conhecido</a:t>
                </a:r>
                <a:r>
                  <a:rPr lang="en-US" dirty="0"/>
                  <a:t> </a:t>
                </a:r>
                <a:r>
                  <a:rPr lang="en-US" dirty="0" err="1"/>
                  <a:t>como</a:t>
                </a:r>
                <a:r>
                  <a:rPr lang="en-US" dirty="0"/>
                  <a:t> </a:t>
                </a:r>
                <a:r>
                  <a:rPr lang="en-US" dirty="0" err="1"/>
                  <a:t>método</a:t>
                </a:r>
                <a:r>
                  <a:rPr lang="en-US" dirty="0"/>
                  <a:t> dos </a:t>
                </a:r>
                <a:r>
                  <a:rPr lang="en-US" dirty="0" err="1"/>
                  <a:t>mínimos</a:t>
                </a:r>
                <a:r>
                  <a:rPr lang="en-US" dirty="0"/>
                  <a:t> </a:t>
                </a:r>
                <a:r>
                  <a:rPr lang="en-US" dirty="0" err="1"/>
                  <a:t>quadrados</a:t>
                </a:r>
                <a:r>
                  <a:rPr lang="en-US" dirty="0"/>
                  <a:t> </a:t>
                </a:r>
                <a:r>
                  <a:rPr lang="en-US" dirty="0" err="1"/>
                  <a:t>ordinários</a:t>
                </a:r>
                <a:r>
                  <a:rPr lang="en-US" dirty="0"/>
                  <a:t>.</a:t>
                </a:r>
              </a:p>
              <a:p>
                <a:pPr lvl="2">
                  <a:buFont typeface="Courier New" panose="02070309020205020404" pitchFamily="49" charset="0"/>
                  <a:buChar char="o"/>
                </a:pPr>
                <a:r>
                  <a:rPr lang="en-US" dirty="0"/>
                  <a:t>É </a:t>
                </a:r>
                <a:r>
                  <a:rPr lang="en-US" dirty="0" err="1"/>
                  <a:t>uma</a:t>
                </a:r>
                <a:r>
                  <a:rPr lang="en-US" dirty="0"/>
                  <a:t> </a:t>
                </a:r>
                <a:r>
                  <a:rPr lang="en-US" dirty="0" err="1"/>
                  <a:t>solução</a:t>
                </a:r>
                <a:r>
                  <a:rPr lang="en-US" dirty="0"/>
                  <a:t> </a:t>
                </a:r>
                <a:r>
                  <a:rPr lang="en-US" dirty="0" err="1"/>
                  <a:t>analítica</a:t>
                </a:r>
                <a:r>
                  <a:rPr lang="en-US" dirty="0"/>
                  <a:t>.</a:t>
                </a:r>
                <a:endParaRPr lang="pt-BR" dirty="0"/>
              </a:p>
              <a:p>
                <a:pPr lvl="2">
                  <a:buFont typeface="Courier New" panose="02070309020205020404" pitchFamily="49" charset="0"/>
                  <a:buChar char="o"/>
                </a:pPr>
                <a:r>
                  <a:rPr lang="pt-BR" dirty="0"/>
                  <a:t>É uma abordagem puramente algébrica, resultando em uma equação fechada.</a:t>
                </a:r>
              </a:p>
              <a:p>
                <a:pPr marL="914400" lvl="2" indent="0">
                  <a:buNone/>
                </a:pP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m:rPr>
                              <m:sty m:val="p"/>
                            </m:rPr>
                            <a:rPr lang="pt-BR">
                              <a:latin typeface="Cambria Math" panose="02040503050406030204" pitchFamily="18" charset="0"/>
                            </a:rPr>
                            <m:t>opt</m:t>
                          </m:r>
                        </m:sub>
                      </m:sSub>
                      <m:r>
                        <a:rPr lang="pt-BR" b="1" i="1">
                          <a:latin typeface="Cambria Math" panose="02040503050406030204" pitchFamily="18" charset="0"/>
                        </a:rPr>
                        <m:t> </m:t>
                      </m:r>
                      <m:r>
                        <a:rPr lang="pt-BR">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sSup>
                                <m:sSupPr>
                                  <m:ctrlPr>
                                    <a:rPr lang="pt-BR"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m:t>
                              </m:r>
                            </m:e>
                          </m:d>
                        </m:e>
                        <m:sup>
                          <m:r>
                            <a:rPr lang="pt-BR" i="1">
                              <a:latin typeface="Cambria Math" panose="02040503050406030204" pitchFamily="18" charset="0"/>
                            </a:rPr>
                            <m:t>−1</m:t>
                          </m:r>
                        </m:sup>
                      </m:sSup>
                      <m:sSup>
                        <m:sSupPr>
                          <m:ctrlPr>
                            <a:rPr lang="pt-BR" i="1">
                              <a:latin typeface="Cambria Math" panose="02040503050406030204" pitchFamily="18" charset="0"/>
                            </a:rPr>
                          </m:ctrlPr>
                        </m:sSupPr>
                        <m:e>
                          <m:r>
                            <a:rPr lang="pt-BR" i="1">
                              <a:latin typeface="Cambria Math" panose="02040503050406030204" pitchFamily="18" charset="0"/>
                            </a:rPr>
                            <m:t> </m:t>
                          </m:r>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𝒚</m:t>
                      </m:r>
                    </m:oMath>
                  </m:oMathPara>
                </a14:m>
                <a:endParaRPr lang="pt-BR" dirty="0"/>
              </a:p>
              <a:p>
                <a:pPr lvl="2">
                  <a:buFont typeface="Courier New" panose="02070309020205020404" pitchFamily="49" charset="0"/>
                  <a:buChar char="o"/>
                </a:pPr>
                <a:r>
                  <a:rPr lang="pt-BR" dirty="0"/>
                  <a:t>Encontra a solução ótima de uma única vez.</a:t>
                </a:r>
              </a:p>
              <a:p>
                <a:pPr lvl="1">
                  <a:buFont typeface="Wingdings" panose="05000000000000000000" pitchFamily="2" charset="2"/>
                  <a:buChar char="§"/>
                </a:pPr>
                <a:r>
                  <a:rPr lang="en-US" b="1" dirty="0" err="1"/>
                  <a:t>Gradiente</a:t>
                </a:r>
                <a:r>
                  <a:rPr lang="en-US" b="1" dirty="0"/>
                  <a:t> </a:t>
                </a:r>
                <a:r>
                  <a:rPr lang="en-US" b="1" dirty="0" err="1"/>
                  <a:t>descendente</a:t>
                </a:r>
                <a:endParaRPr lang="en-US" b="1" dirty="0"/>
              </a:p>
              <a:p>
                <a:pPr lvl="2">
                  <a:buFont typeface="Courier New" panose="02070309020205020404" pitchFamily="49" charset="0"/>
                  <a:buChar char="o"/>
                </a:pPr>
                <a:r>
                  <a:rPr lang="en-US" dirty="0"/>
                  <a:t>É </a:t>
                </a:r>
                <a:r>
                  <a:rPr lang="en-US" dirty="0" err="1"/>
                  <a:t>uma</a:t>
                </a:r>
                <a:r>
                  <a:rPr lang="en-US" dirty="0"/>
                  <a:t> </a:t>
                </a:r>
                <a:r>
                  <a:rPr lang="en-US" dirty="0" err="1"/>
                  <a:t>otimização</a:t>
                </a:r>
                <a:r>
                  <a:rPr lang="en-US" dirty="0"/>
                  <a:t> </a:t>
                </a:r>
                <a:r>
                  <a:rPr lang="en-US" dirty="0" err="1"/>
                  <a:t>iterativa</a:t>
                </a:r>
                <a:r>
                  <a:rPr lang="en-US" dirty="0"/>
                  <a:t>.</a:t>
                </a:r>
                <a:endParaRPr lang="pt-BR" dirty="0"/>
              </a:p>
              <a:p>
                <a:pPr lvl="2">
                  <a:buFont typeface="Courier New" panose="02070309020205020404" pitchFamily="49" charset="0"/>
                  <a:buChar char="o"/>
                </a:pPr>
                <a:r>
                  <a:rPr lang="pt-BR" dirty="0"/>
                  <a:t>O modelo aprende os pesos "passo a passo".</a:t>
                </a:r>
              </a:p>
              <a:p>
                <a:pPr lvl="2">
                  <a:buFont typeface="Courier New" panose="02070309020205020404" pitchFamily="49" charset="0"/>
                  <a:buChar char="o"/>
                </a:pPr>
                <a:r>
                  <a:rPr lang="pt-BR" dirty="0"/>
                  <a:t>Pode não encontrar a solução ótima, devido a vários fatores (e.g., passo de aprendizagem, sobreajuste/subajuste, número de iterações, etc.)</a:t>
                </a:r>
              </a:p>
              <a:p>
                <a:pPr marL="914400" lvl="2" indent="0">
                  <a:buNone/>
                </a:pPr>
                <a:endParaRPr lang="en-US" b="1" dirty="0"/>
              </a:p>
            </p:txBody>
          </p:sp>
        </mc:Choice>
        <mc:Fallback xmlns="">
          <p:sp>
            <p:nvSpPr>
              <p:cNvPr id="3" name="Content Placeholder 2">
                <a:extLst>
                  <a:ext uri="{FF2B5EF4-FFF2-40B4-BE49-F238E27FC236}">
                    <a16:creationId xmlns:a16="http://schemas.microsoft.com/office/drawing/2014/main" id="{DE0FC8F8-ADC7-A068-C2BC-465BFAC99DC0}"/>
                  </a:ext>
                </a:extLst>
              </p:cNvPr>
              <p:cNvSpPr>
                <a:spLocks noGrp="1" noRot="1" noChangeAspect="1" noMove="1" noResize="1" noEditPoints="1" noAdjustHandles="1" noChangeArrowheads="1" noChangeShapeType="1" noTextEdit="1"/>
              </p:cNvSpPr>
              <p:nvPr>
                <p:ph idx="1"/>
              </p:nvPr>
            </p:nvSpPr>
            <p:spPr>
              <a:xfrm>
                <a:off x="838200" y="1825624"/>
                <a:ext cx="11190514" cy="5032375"/>
              </a:xfrm>
              <a:blipFill>
                <a:blip r:embed="rId2"/>
                <a:stretch>
                  <a:fillRect l="-981" t="-1937"/>
                </a:stretch>
              </a:blipFill>
            </p:spPr>
            <p:txBody>
              <a:bodyPr/>
              <a:lstStyle/>
              <a:p>
                <a:r>
                  <a:rPr lang="en-US">
                    <a:noFill/>
                  </a:rPr>
                  <a:t> </a:t>
                </a:r>
              </a:p>
            </p:txBody>
          </p:sp>
        </mc:Fallback>
      </mc:AlternateContent>
    </p:spTree>
    <p:extLst>
      <p:ext uri="{BB962C8B-B14F-4D97-AF65-F5344CB8AC3E}">
        <p14:creationId xmlns:p14="http://schemas.microsoft.com/office/powerpoint/2010/main" val="330613731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8226F9-1BF6-0C19-88C6-7B4563BEBDBC}"/>
              </a:ext>
            </a:extLst>
          </p:cNvPr>
          <p:cNvSpPr>
            <a:spLocks noGrp="1"/>
          </p:cNvSpPr>
          <p:nvPr>
            <p:ph type="title"/>
          </p:nvPr>
        </p:nvSpPr>
        <p:spPr/>
        <p:txBody>
          <a:bodyPr/>
          <a:lstStyle/>
          <a:p>
            <a:r>
              <a:rPr lang="pt-BR" noProof="0" dirty="0"/>
              <a:t>Comparativo das abordagens</a:t>
            </a:r>
          </a:p>
        </p:txBody>
      </p:sp>
      <mc:AlternateContent xmlns:mc="http://schemas.openxmlformats.org/markup-compatibility/2006" xmlns:a14="http://schemas.microsoft.com/office/drawing/2010/main">
        <mc:Choice Requires="a14">
          <p:graphicFrame>
            <p:nvGraphicFramePr>
              <p:cNvPr id="4" name="Content Placeholder 3">
                <a:extLst>
                  <a:ext uri="{FF2B5EF4-FFF2-40B4-BE49-F238E27FC236}">
                    <a16:creationId xmlns:a16="http://schemas.microsoft.com/office/drawing/2014/main" id="{9F89DE01-7C6C-8A47-35FC-16E58BA14EAA}"/>
                  </a:ext>
                </a:extLst>
              </p:cNvPr>
              <p:cNvGraphicFramePr>
                <a:graphicFrameLocks noGrp="1"/>
              </p:cNvGraphicFramePr>
              <p:nvPr>
                <p:ph idx="1"/>
                <p:extLst>
                  <p:ext uri="{D42A27DB-BD31-4B8C-83A1-F6EECF244321}">
                    <p14:modId xmlns:p14="http://schemas.microsoft.com/office/powerpoint/2010/main" val="2684467241"/>
                  </p:ext>
                </p:extLst>
              </p:nvPr>
            </p:nvGraphicFramePr>
            <p:xfrm>
              <a:off x="241041" y="1690688"/>
              <a:ext cx="11709918" cy="4602480"/>
            </p:xfrm>
            <a:graphic>
              <a:graphicData uri="http://schemas.openxmlformats.org/drawingml/2006/table">
                <a:tbl>
                  <a:tblPr/>
                  <a:tblGrid>
                    <a:gridCol w="2008663">
                      <a:extLst>
                        <a:ext uri="{9D8B030D-6E8A-4147-A177-3AD203B41FA5}">
                          <a16:colId xmlns:a16="http://schemas.microsoft.com/office/drawing/2014/main" val="2676689337"/>
                        </a:ext>
                      </a:extLst>
                    </a:gridCol>
                    <a:gridCol w="4742847">
                      <a:extLst>
                        <a:ext uri="{9D8B030D-6E8A-4147-A177-3AD203B41FA5}">
                          <a16:colId xmlns:a16="http://schemas.microsoft.com/office/drawing/2014/main" val="921422884"/>
                        </a:ext>
                      </a:extLst>
                    </a:gridCol>
                    <a:gridCol w="4958408">
                      <a:extLst>
                        <a:ext uri="{9D8B030D-6E8A-4147-A177-3AD203B41FA5}">
                          <a16:colId xmlns:a16="http://schemas.microsoft.com/office/drawing/2014/main" val="4252031962"/>
                        </a:ext>
                      </a:extLst>
                    </a:gridCol>
                  </a:tblGrid>
                  <a:tr h="0">
                    <a:tc>
                      <a:txBody>
                        <a:bodyPr/>
                        <a:lstStyle/>
                        <a:p>
                          <a:pPr algn="ctr">
                            <a:buNone/>
                          </a:pPr>
                          <a:r>
                            <a:rPr lang="pt-BR" sz="2000" b="1" noProof="0" dirty="0">
                              <a:latin typeface="+mn-lt"/>
                            </a:rPr>
                            <a:t>Característica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Gradiente descendente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Equação normal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04083088"/>
                      </a:ext>
                    </a:extLst>
                  </a:tr>
                  <a:tr h="0">
                    <a:tc>
                      <a:txBody>
                        <a:bodyPr/>
                        <a:lstStyle/>
                        <a:p>
                          <a:pPr algn="ctr">
                            <a:buNone/>
                          </a:pPr>
                          <a:r>
                            <a:rPr lang="pt-BR" sz="2000" b="1" noProof="0" dirty="0">
                              <a:latin typeface="+mn-lt"/>
                            </a:rPr>
                            <a:t>Tipo</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Algorítmico/Iterativo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Analítico/Direto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5415063"/>
                      </a:ext>
                    </a:extLst>
                  </a:tr>
                  <a:tr h="0">
                    <a:tc>
                      <a:txBody>
                        <a:bodyPr/>
                        <a:lstStyle/>
                        <a:p>
                          <a:pPr algn="ctr">
                            <a:buNone/>
                          </a:pPr>
                          <a:r>
                            <a:rPr lang="pt-BR" sz="2000" b="1" noProof="0" dirty="0">
                              <a:latin typeface="+mn-lt"/>
                            </a:rPr>
                            <a:t>Complexidade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14:m>
                            <m:oMathPara xmlns:m="http://schemas.openxmlformats.org/officeDocument/2006/math">
                              <m:oMathParaPr>
                                <m:jc m:val="centerGroup"/>
                              </m:oMathParaPr>
                              <m:oMath xmlns:m="http://schemas.openxmlformats.org/officeDocument/2006/math">
                                <m:sSup>
                                  <m:sSupPr>
                                    <m:ctrlPr>
                                      <a:rPr lang="pt-BR" sz="2000" i="1" noProof="0" smtClean="0">
                                        <a:latin typeface="Cambria Math" panose="02040503050406030204" pitchFamily="18" charset="0"/>
                                      </a:rPr>
                                    </m:ctrlPr>
                                  </m:sSupPr>
                                  <m:e>
                                    <m:r>
                                      <a:rPr lang="pt-BR" sz="2000" b="0" i="1" noProof="0" smtClean="0">
                                        <a:latin typeface="Cambria Math" panose="02040503050406030204" pitchFamily="18" charset="0"/>
                                      </a:rPr>
                                      <m:t>𝑂</m:t>
                                    </m:r>
                                    <m:r>
                                      <a:rPr lang="pt-BR" sz="2000" b="0" i="1" noProof="0" smtClean="0">
                                        <a:latin typeface="Cambria Math" panose="02040503050406030204" pitchFamily="18" charset="0"/>
                                      </a:rPr>
                                      <m:t>(</m:t>
                                    </m:r>
                                    <m:r>
                                      <a:rPr lang="pt-BR" sz="2000" b="0" i="1" noProof="0" smtClean="0">
                                        <a:latin typeface="Cambria Math" panose="02040503050406030204" pitchFamily="18" charset="0"/>
                                      </a:rPr>
                                      <m:t>𝐼</m:t>
                                    </m:r>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𝐾</m:t>
                                        </m:r>
                                      </m:e>
                                      <m:sup>
                                        <m:r>
                                          <a:rPr lang="pt-BR" sz="2000" b="0" i="1" noProof="0" smtClean="0">
                                            <a:latin typeface="Cambria Math" panose="02040503050406030204" pitchFamily="18" charset="0"/>
                                          </a:rPr>
                                          <m:t>2</m:t>
                                        </m:r>
                                      </m:sup>
                                    </m:sSup>
                                    <m:r>
                                      <a:rPr lang="pt-BR" sz="2000" b="0" i="1" noProof="0" smtClean="0">
                                        <a:latin typeface="Cambria Math" panose="02040503050406030204" pitchFamily="18" charset="0"/>
                                      </a:rPr>
                                      <m:t>)</m:t>
                                    </m:r>
                                  </m:e>
                                  <m:sup>
                                    <m:r>
                                      <a:rPr lang="pt-BR" sz="2000" b="0" i="1" noProof="0" smtClean="0">
                                        <a:latin typeface="Cambria Math" panose="02040503050406030204" pitchFamily="18" charset="0"/>
                                      </a:rPr>
                                      <m:t>∗</m:t>
                                    </m:r>
                                  </m:sup>
                                </m:sSup>
                              </m:oMath>
                            </m:oMathPara>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14:m>
                            <m:oMathPara xmlns:m="http://schemas.openxmlformats.org/officeDocument/2006/math">
                              <m:oMathParaPr>
                                <m:jc m:val="centerGroup"/>
                              </m:oMathParaPr>
                              <m:oMath xmlns:m="http://schemas.openxmlformats.org/officeDocument/2006/math">
                                <m:sSup>
                                  <m:sSupPr>
                                    <m:ctrlPr>
                                      <a:rPr lang="pt-BR" sz="2000" i="1" noProof="0" smtClean="0">
                                        <a:latin typeface="Cambria Math" panose="02040503050406030204" pitchFamily="18" charset="0"/>
                                      </a:rPr>
                                    </m:ctrlPr>
                                  </m:sSupPr>
                                  <m:e>
                                    <m:r>
                                      <a:rPr lang="pt-BR" sz="2000" b="0" i="1" noProof="0" smtClean="0">
                                        <a:latin typeface="Cambria Math" panose="02040503050406030204" pitchFamily="18" charset="0"/>
                                      </a:rPr>
                                      <m:t>𝑂</m:t>
                                    </m:r>
                                    <m:d>
                                      <m:dPr>
                                        <m:ctrlPr>
                                          <a:rPr lang="pt-BR" sz="2000" b="0" i="1" noProof="0" smtClean="0">
                                            <a:latin typeface="Cambria Math" panose="02040503050406030204" pitchFamily="18" charset="0"/>
                                          </a:rPr>
                                        </m:ctrlPr>
                                      </m:dPr>
                                      <m:e>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𝐾</m:t>
                                            </m:r>
                                          </m:e>
                                          <m:sup>
                                            <m:r>
                                              <a:rPr lang="pt-BR" sz="2000" b="0" i="1" noProof="0" smtClean="0">
                                                <a:latin typeface="Cambria Math" panose="02040503050406030204" pitchFamily="18" charset="0"/>
                                              </a:rPr>
                                              <m:t>3</m:t>
                                            </m:r>
                                          </m:sup>
                                        </m:sSup>
                                      </m:e>
                                    </m:d>
                                  </m:e>
                                  <m:sup>
                                    <m:r>
                                      <a:rPr lang="pt-BR" sz="2000" b="0" i="1" noProof="0" smtClean="0">
                                        <a:latin typeface="Cambria Math" panose="02040503050406030204" pitchFamily="18" charset="0"/>
                                      </a:rPr>
                                      <m:t>∗∗</m:t>
                                    </m:r>
                                  </m:sup>
                                </m:sSup>
                              </m:oMath>
                            </m:oMathPara>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85385241"/>
                      </a:ext>
                    </a:extLst>
                  </a:tr>
                  <a:tr h="0">
                    <a:tc>
                      <a:txBody>
                        <a:bodyPr/>
                        <a:lstStyle/>
                        <a:p>
                          <a:pPr algn="ctr">
                            <a:buNone/>
                          </a:pPr>
                          <a:r>
                            <a:rPr lang="pt-BR" sz="2000" b="1" noProof="0" dirty="0">
                              <a:latin typeface="+mn-lt"/>
                            </a:rPr>
                            <a:t>Escalabilidade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Alta (lida bem com milhões de dados)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Baixa (lenta para muitas variáveis)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3643069"/>
                      </a:ext>
                    </a:extLst>
                  </a:tr>
                  <a:tr h="0">
                    <a:tc>
                      <a:txBody>
                        <a:bodyPr/>
                        <a:lstStyle/>
                        <a:p>
                          <a:pPr algn="ctr">
                            <a:buNone/>
                          </a:pPr>
                          <a:r>
                            <a:rPr lang="pt-BR" sz="2000" b="1" noProof="0" dirty="0">
                              <a:latin typeface="+mn-lt"/>
                            </a:rPr>
                            <a:t>Parâmetros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Exige ajuste de </a:t>
                          </a:r>
                          <a14:m>
                            <m:oMath xmlns:m="http://schemas.openxmlformats.org/officeDocument/2006/math">
                              <m:r>
                                <a:rPr lang="pt-BR" sz="2000" i="1" noProof="0" smtClean="0">
                                  <a:latin typeface="Cambria Math" panose="02040503050406030204" pitchFamily="18" charset="0"/>
                                  <a:ea typeface="Cambria Math" panose="02040503050406030204" pitchFamily="18" charset="0"/>
                                </a:rPr>
                                <m:t>𝛼</m:t>
                              </m:r>
                            </m:oMath>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Nenhum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74329883"/>
                      </a:ext>
                    </a:extLst>
                  </a:tr>
                  <a:tr h="0">
                    <a:tc>
                      <a:txBody>
                        <a:bodyPr/>
                        <a:lstStyle/>
                        <a:p>
                          <a:pPr algn="ctr">
                            <a:buNone/>
                          </a:pPr>
                          <a:r>
                            <a:rPr lang="pt-BR" sz="2000" b="1" noProof="0" dirty="0">
                              <a:latin typeface="+mn-lt"/>
                            </a:rPr>
                            <a:t>Uso principal</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Regressão linear e logística/Redes neurais/SVM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Estatística clássica/</a:t>
                          </a:r>
                          <a:r>
                            <a:rPr lang="pt-BR" sz="2000" i="1" noProof="0" dirty="0" err="1">
                              <a:latin typeface="+mn-lt"/>
                            </a:rPr>
                            <a:t>Datasets</a:t>
                          </a:r>
                          <a:r>
                            <a:rPr lang="pt-BR" sz="2000" noProof="0" dirty="0">
                              <a:latin typeface="+mn-lt"/>
                            </a:rPr>
                            <a:t> pequenos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34521875"/>
                      </a:ext>
                    </a:extLst>
                  </a:tr>
                  <a:tr h="392816">
                    <a:tc>
                      <a:txBody>
                        <a:bodyPr/>
                        <a:lstStyle/>
                        <a:p>
                          <a:pPr algn="ctr">
                            <a:buNone/>
                          </a:pPr>
                          <a:r>
                            <a:rPr lang="pt-BR" sz="2000" b="1" noProof="0" dirty="0">
                              <a:latin typeface="+mn-lt"/>
                            </a:rPr>
                            <a:t>Observações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Pode exigir muitas iterações para convergir.</a:t>
                          </a:r>
                        </a:p>
                        <a:p>
                          <a:pPr marL="342900" indent="-342900" algn="l">
                            <a:buFont typeface="Arial" panose="020B0604020202020204" pitchFamily="34" charset="0"/>
                            <a:buChar char="•"/>
                          </a:pPr>
                          <a:r>
                            <a:rPr lang="pt-BR" sz="2000" noProof="0" dirty="0">
                              <a:latin typeface="+mn-lt"/>
                            </a:rPr>
                            <a:t>A função de erro deve ser </a:t>
                          </a:r>
                          <a:r>
                            <a:rPr lang="pt-BR" sz="2000" noProof="0" dirty="0" err="1">
                              <a:latin typeface="+mn-lt"/>
                            </a:rPr>
                            <a:t>diferenciável</a:t>
                          </a:r>
                          <a:r>
                            <a:rPr lang="pt-BR" sz="2000" noProof="0" dirty="0">
                              <a:latin typeface="+mn-lt"/>
                            </a:rPr>
                            <a:t>.</a:t>
                          </a:r>
                        </a:p>
                        <a:p>
                          <a:pPr marL="342900" indent="-342900" algn="l">
                            <a:buFont typeface="Arial" panose="020B0604020202020204" pitchFamily="34" charset="0"/>
                            <a:buChar char="•"/>
                          </a:pPr>
                          <a:r>
                            <a:rPr lang="pt-BR" sz="2000" b="0" i="0" noProof="0" dirty="0">
                              <a:solidFill>
                                <a:schemeClr val="tx1"/>
                              </a:solidFill>
                              <a:latin typeface="+mn-lt"/>
                            </a:rPr>
                            <a:t>C</a:t>
                          </a:r>
                          <a:r>
                            <a:rPr lang="pt-BR" sz="2000" b="0" i="0" dirty="0" err="1">
                              <a:solidFill>
                                <a:schemeClr val="tx1"/>
                              </a:solidFill>
                            </a:rPr>
                            <a:t>omplexidade</a:t>
                          </a:r>
                          <a:r>
                            <a:rPr lang="pt-BR" sz="2000" b="0" i="0" dirty="0">
                              <a:solidFill>
                                <a:schemeClr val="tx1"/>
                              </a:solidFill>
                            </a:rPr>
                            <a:t> computacional ajustável</a:t>
                          </a:r>
                          <a:r>
                            <a:rPr lang="pt-BR" sz="2000" b="0" i="0" baseline="0" dirty="0">
                              <a:solidFill>
                                <a:schemeClr val="tx1"/>
                              </a:solidFill>
                            </a:rPr>
                            <a:t> à </a:t>
                          </a:r>
                          <a:r>
                            <a:rPr lang="pt-BR" sz="2000" b="0" i="0" noProof="0" dirty="0">
                              <a:solidFill>
                                <a:schemeClr val="tx1"/>
                              </a:solidFill>
                              <a:latin typeface="+mn-lt"/>
                            </a:rPr>
                            <a:t>quantidade de memória e recursos disponíveis.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Não encontra solução para modelos puramente não lineares (e.g., redes neurais).</a:t>
                          </a:r>
                        </a:p>
                        <a:p>
                          <a:pPr marL="342900" indent="-342900" algn="l">
                            <a:buFont typeface="Arial" panose="020B0604020202020204" pitchFamily="34" charset="0"/>
                            <a:buChar char="•"/>
                          </a:pPr>
                          <a:r>
                            <a:rPr lang="pt-BR" sz="2000" noProof="0" dirty="0">
                              <a:latin typeface="+mn-lt"/>
                            </a:rPr>
                            <a:t>Consome</a:t>
                          </a:r>
                          <a:r>
                            <a:rPr lang="pt-BR" sz="2000" baseline="0" noProof="0" dirty="0">
                              <a:latin typeface="+mn-lt"/>
                            </a:rPr>
                            <a:t> muita memória s</a:t>
                          </a:r>
                          <a:r>
                            <a:rPr lang="pt-BR" sz="2000" noProof="0" dirty="0">
                              <a:latin typeface="+mn-lt"/>
                            </a:rPr>
                            <a:t>e </a:t>
                          </a:r>
                          <a14:m>
                            <m:oMath xmlns:m="http://schemas.openxmlformats.org/officeDocument/2006/math">
                              <m:r>
                                <a:rPr lang="pt-BR" sz="2000" b="0" i="1" noProof="0" smtClean="0">
                                  <a:latin typeface="Cambria Math" panose="02040503050406030204" pitchFamily="18" charset="0"/>
                                </a:rPr>
                                <m:t>𝐾</m:t>
                              </m:r>
                            </m:oMath>
                          </a14:m>
                          <a:r>
                            <a:rPr lang="pt-BR" sz="2000" noProof="0" dirty="0">
                              <a:latin typeface="+mn-lt"/>
                            </a:rPr>
                            <a:t> e </a:t>
                          </a:r>
                          <a14:m>
                            <m:oMath xmlns:m="http://schemas.openxmlformats.org/officeDocument/2006/math">
                              <m:r>
                                <a:rPr lang="pt-BR" sz="2000" b="0" i="1" noProof="0" smtClean="0">
                                  <a:latin typeface="Cambria Math" panose="02040503050406030204" pitchFamily="18" charset="0"/>
                                </a:rPr>
                                <m:t>𝑁</m:t>
                              </m:r>
                            </m:oMath>
                          </a14:m>
                          <a:r>
                            <a:rPr lang="pt-BR" sz="2000" noProof="0" dirty="0">
                              <a:latin typeface="+mn-lt"/>
                            </a:rPr>
                            <a:t> são muito</a:t>
                          </a:r>
                          <a:r>
                            <a:rPr lang="pt-BR" sz="2000" baseline="0" noProof="0" dirty="0">
                              <a:latin typeface="+mn-lt"/>
                            </a:rPr>
                            <a:t> grandes.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70400338"/>
                      </a:ext>
                    </a:extLst>
                  </a:tr>
                </a:tbl>
              </a:graphicData>
            </a:graphic>
          </p:graphicFrame>
        </mc:Choice>
        <mc:Fallback xmlns="">
          <p:graphicFrame>
            <p:nvGraphicFramePr>
              <p:cNvPr id="4" name="Content Placeholder 3">
                <a:extLst>
                  <a:ext uri="{FF2B5EF4-FFF2-40B4-BE49-F238E27FC236}">
                    <a16:creationId xmlns:a16="http://schemas.microsoft.com/office/drawing/2014/main" id="{9F89DE01-7C6C-8A47-35FC-16E58BA14EAA}"/>
                  </a:ext>
                </a:extLst>
              </p:cNvPr>
              <p:cNvGraphicFramePr>
                <a:graphicFrameLocks noGrp="1"/>
              </p:cNvGraphicFramePr>
              <p:nvPr>
                <p:ph idx="1"/>
                <p:extLst>
                  <p:ext uri="{D42A27DB-BD31-4B8C-83A1-F6EECF244321}">
                    <p14:modId xmlns:p14="http://schemas.microsoft.com/office/powerpoint/2010/main" val="2684467241"/>
                  </p:ext>
                </p:extLst>
              </p:nvPr>
            </p:nvGraphicFramePr>
            <p:xfrm>
              <a:off x="241041" y="1690688"/>
              <a:ext cx="11709918" cy="4602480"/>
            </p:xfrm>
            <a:graphic>
              <a:graphicData uri="http://schemas.openxmlformats.org/drawingml/2006/table">
                <a:tbl>
                  <a:tblPr/>
                  <a:tblGrid>
                    <a:gridCol w="2008663">
                      <a:extLst>
                        <a:ext uri="{9D8B030D-6E8A-4147-A177-3AD203B41FA5}">
                          <a16:colId xmlns:a16="http://schemas.microsoft.com/office/drawing/2014/main" val="2676689337"/>
                        </a:ext>
                      </a:extLst>
                    </a:gridCol>
                    <a:gridCol w="4742847">
                      <a:extLst>
                        <a:ext uri="{9D8B030D-6E8A-4147-A177-3AD203B41FA5}">
                          <a16:colId xmlns:a16="http://schemas.microsoft.com/office/drawing/2014/main" val="921422884"/>
                        </a:ext>
                      </a:extLst>
                    </a:gridCol>
                    <a:gridCol w="4958408">
                      <a:extLst>
                        <a:ext uri="{9D8B030D-6E8A-4147-A177-3AD203B41FA5}">
                          <a16:colId xmlns:a16="http://schemas.microsoft.com/office/drawing/2014/main" val="4252031962"/>
                        </a:ext>
                      </a:extLst>
                    </a:gridCol>
                  </a:tblGrid>
                  <a:tr h="396240">
                    <a:tc>
                      <a:txBody>
                        <a:bodyPr/>
                        <a:lstStyle/>
                        <a:p>
                          <a:pPr algn="ctr">
                            <a:buNone/>
                          </a:pPr>
                          <a:r>
                            <a:rPr lang="pt-BR" sz="2000" b="1" noProof="0" dirty="0">
                              <a:latin typeface="+mn-lt"/>
                            </a:rPr>
                            <a:t>Característica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Gradiente descendente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Equação normal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04083088"/>
                      </a:ext>
                    </a:extLst>
                  </a:tr>
                  <a:tr h="396240">
                    <a:tc>
                      <a:txBody>
                        <a:bodyPr/>
                        <a:lstStyle/>
                        <a:p>
                          <a:pPr algn="ctr">
                            <a:buNone/>
                          </a:pPr>
                          <a:r>
                            <a:rPr lang="pt-BR" sz="2000" b="1" noProof="0" dirty="0">
                              <a:latin typeface="+mn-lt"/>
                            </a:rPr>
                            <a:t>Tipo</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Algorítmico/Iterativo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Analítico/Direto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5415063"/>
                      </a:ext>
                    </a:extLst>
                  </a:tr>
                  <a:tr h="396240">
                    <a:tc>
                      <a:txBody>
                        <a:bodyPr/>
                        <a:lstStyle/>
                        <a:p>
                          <a:pPr algn="ctr">
                            <a:buNone/>
                          </a:pPr>
                          <a:r>
                            <a:rPr lang="pt-BR" sz="2000" b="1" noProof="0" dirty="0">
                              <a:latin typeface="+mn-lt"/>
                            </a:rPr>
                            <a:t>Complexidade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42545" t="-207692" r="-104884" b="-889231"/>
                          </a:stretch>
                        </a:blip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36241" t="-207692" r="-246" b="-889231"/>
                          </a:stretch>
                        </a:blipFill>
                      </a:tcPr>
                    </a:tc>
                    <a:extLst>
                      <a:ext uri="{0D108BD9-81ED-4DB2-BD59-A6C34878D82A}">
                        <a16:rowId xmlns:a16="http://schemas.microsoft.com/office/drawing/2014/main" val="3585385241"/>
                      </a:ext>
                    </a:extLst>
                  </a:tr>
                  <a:tr h="396240">
                    <a:tc>
                      <a:txBody>
                        <a:bodyPr/>
                        <a:lstStyle/>
                        <a:p>
                          <a:pPr algn="ctr">
                            <a:buNone/>
                          </a:pPr>
                          <a:r>
                            <a:rPr lang="pt-BR" sz="2000" b="1" noProof="0" dirty="0">
                              <a:latin typeface="+mn-lt"/>
                            </a:rPr>
                            <a:t>Escalabilidade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Alta (lida bem com milhões de dados)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Baixa (lenta para muitas variáveis)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3643069"/>
                      </a:ext>
                    </a:extLst>
                  </a:tr>
                  <a:tr h="396240">
                    <a:tc>
                      <a:txBody>
                        <a:bodyPr/>
                        <a:lstStyle/>
                        <a:p>
                          <a:pPr algn="ctr">
                            <a:buNone/>
                          </a:pPr>
                          <a:r>
                            <a:rPr lang="pt-BR" sz="2000" b="1" noProof="0" dirty="0">
                              <a:latin typeface="+mn-lt"/>
                            </a:rPr>
                            <a:t>Parâmetros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42545" t="-407692" r="-104884" b="-689231"/>
                          </a:stretch>
                        </a:blipFill>
                      </a:tcPr>
                    </a:tc>
                    <a:tc>
                      <a:txBody>
                        <a:bodyPr/>
                        <a:lstStyle/>
                        <a:p>
                          <a:pPr algn="ctr">
                            <a:buNone/>
                          </a:pPr>
                          <a:r>
                            <a:rPr lang="pt-BR" sz="2000" noProof="0" dirty="0">
                              <a:latin typeface="+mn-lt"/>
                            </a:rPr>
                            <a:t>Nenhum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74329883"/>
                      </a:ext>
                    </a:extLst>
                  </a:tr>
                  <a:tr h="701040">
                    <a:tc>
                      <a:txBody>
                        <a:bodyPr/>
                        <a:lstStyle/>
                        <a:p>
                          <a:pPr algn="ctr">
                            <a:buNone/>
                          </a:pPr>
                          <a:r>
                            <a:rPr lang="pt-BR" sz="2000" b="1" noProof="0" dirty="0">
                              <a:latin typeface="+mn-lt"/>
                            </a:rPr>
                            <a:t>Uso principal</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Regressão linear e logística/Redes neurais/SVM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Estatística clássica/</a:t>
                          </a:r>
                          <a:r>
                            <a:rPr lang="pt-BR" sz="2000" i="1" noProof="0" dirty="0" err="1">
                              <a:latin typeface="+mn-lt"/>
                            </a:rPr>
                            <a:t>Datasets</a:t>
                          </a:r>
                          <a:r>
                            <a:rPr lang="pt-BR" sz="2000" noProof="0" dirty="0">
                              <a:latin typeface="+mn-lt"/>
                            </a:rPr>
                            <a:t> pequenos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34521875"/>
                      </a:ext>
                    </a:extLst>
                  </a:tr>
                  <a:tr h="1920240">
                    <a:tc>
                      <a:txBody>
                        <a:bodyPr/>
                        <a:lstStyle/>
                        <a:p>
                          <a:pPr algn="ctr">
                            <a:buNone/>
                          </a:pPr>
                          <a:r>
                            <a:rPr lang="pt-BR" sz="2000" b="1" noProof="0" dirty="0">
                              <a:latin typeface="+mn-lt"/>
                            </a:rPr>
                            <a:t>Observações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Pode exigir muitas iterações para convergir.</a:t>
                          </a:r>
                        </a:p>
                        <a:p>
                          <a:pPr marL="342900" indent="-342900" algn="l">
                            <a:buFont typeface="Arial" panose="020B0604020202020204" pitchFamily="34" charset="0"/>
                            <a:buChar char="•"/>
                          </a:pPr>
                          <a:r>
                            <a:rPr lang="pt-BR" sz="2000" noProof="0" dirty="0">
                              <a:latin typeface="+mn-lt"/>
                            </a:rPr>
                            <a:t>A função de erro deve ser </a:t>
                          </a:r>
                          <a:r>
                            <a:rPr lang="pt-BR" sz="2000" noProof="0" dirty="0" err="1">
                              <a:latin typeface="+mn-lt"/>
                            </a:rPr>
                            <a:t>diferenciável</a:t>
                          </a:r>
                          <a:r>
                            <a:rPr lang="pt-BR" sz="2000" noProof="0" dirty="0">
                              <a:latin typeface="+mn-lt"/>
                            </a:rPr>
                            <a:t>.</a:t>
                          </a:r>
                        </a:p>
                        <a:p>
                          <a:pPr marL="342900" indent="-342900" algn="l">
                            <a:buFont typeface="Arial" panose="020B0604020202020204" pitchFamily="34" charset="0"/>
                            <a:buChar char="•"/>
                          </a:pPr>
                          <a:r>
                            <a:rPr lang="pt-BR" sz="2000" b="0" i="0" noProof="0" dirty="0">
                              <a:solidFill>
                                <a:schemeClr val="tx1"/>
                              </a:solidFill>
                              <a:latin typeface="+mn-lt"/>
                            </a:rPr>
                            <a:t>C</a:t>
                          </a:r>
                          <a:r>
                            <a:rPr lang="pt-BR" sz="2000" b="0" i="0" dirty="0" err="1">
                              <a:solidFill>
                                <a:schemeClr val="tx1"/>
                              </a:solidFill>
                            </a:rPr>
                            <a:t>omplexidade</a:t>
                          </a:r>
                          <a:r>
                            <a:rPr lang="pt-BR" sz="2000" b="0" i="0" dirty="0">
                              <a:solidFill>
                                <a:schemeClr val="tx1"/>
                              </a:solidFill>
                            </a:rPr>
                            <a:t> computacional ajustável</a:t>
                          </a:r>
                          <a:r>
                            <a:rPr lang="pt-BR" sz="2000" b="0" i="0" baseline="0" dirty="0">
                              <a:solidFill>
                                <a:schemeClr val="tx1"/>
                              </a:solidFill>
                            </a:rPr>
                            <a:t> à </a:t>
                          </a:r>
                          <a:r>
                            <a:rPr lang="pt-BR" sz="2000" b="0" i="0" noProof="0" dirty="0">
                              <a:solidFill>
                                <a:schemeClr val="tx1"/>
                              </a:solidFill>
                              <a:latin typeface="+mn-lt"/>
                            </a:rPr>
                            <a:t>quantidade de memória e recursos disponíveis.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36241" t="-141587" r="-246" b="-5397"/>
                          </a:stretch>
                        </a:blipFill>
                      </a:tcPr>
                    </a:tc>
                    <a:extLst>
                      <a:ext uri="{0D108BD9-81ED-4DB2-BD59-A6C34878D82A}">
                        <a16:rowId xmlns:a16="http://schemas.microsoft.com/office/drawing/2014/main" val="2070400338"/>
                      </a:ext>
                    </a:extLst>
                  </a:tr>
                </a:tbl>
              </a:graphicData>
            </a:graphic>
          </p:graphicFrame>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B6ADA1D5-0763-3EF2-0C26-C666D2EF6C89}"/>
                  </a:ext>
                </a:extLst>
              </p:cNvPr>
              <p:cNvSpPr txBox="1"/>
              <p:nvPr/>
            </p:nvSpPr>
            <p:spPr>
              <a:xfrm>
                <a:off x="241041" y="6231265"/>
                <a:ext cx="6096000" cy="523220"/>
              </a:xfrm>
              <a:prstGeom prst="rect">
                <a:avLst/>
              </a:prstGeom>
              <a:noFill/>
            </p:spPr>
            <p:txBody>
              <a:bodyPr wrap="square">
                <a:spAutoFit/>
              </a:bodyPr>
              <a:lstStyle/>
              <a:p>
                <a:r>
                  <a:rPr lang="pt-BR" sz="1400" noProof="0" dirty="0"/>
                  <a:t>* </a:t>
                </a:r>
                <a14:m>
                  <m:oMath xmlns:m="http://schemas.openxmlformats.org/officeDocument/2006/math">
                    <m:r>
                      <a:rPr lang="pt-BR" sz="1400" i="1">
                        <a:latin typeface="Cambria Math" panose="02040503050406030204" pitchFamily="18" charset="0"/>
                      </a:rPr>
                      <m:t>𝐼</m:t>
                    </m:r>
                  </m:oMath>
                </a14:m>
                <a:r>
                  <a:rPr lang="pt-BR" sz="1400" dirty="0"/>
                  <a:t> é o número de iterações</a:t>
                </a:r>
                <a:endParaRPr lang="pt-BR" sz="1400" noProof="0" dirty="0"/>
              </a:p>
              <a:p>
                <a:r>
                  <a:rPr lang="pt-BR" sz="1400" dirty="0"/>
                  <a:t>** </a:t>
                </a:r>
                <a:r>
                  <a:rPr lang="pt-BR" sz="1400" noProof="0" dirty="0"/>
                  <a:t>Complexidade para o cálculo da inversa de </a:t>
                </a:r>
                <a14:m>
                  <m:oMath xmlns:m="http://schemas.openxmlformats.org/officeDocument/2006/math">
                    <m:sSup>
                      <m:sSupPr>
                        <m:ctrlPr>
                          <a:rPr lang="pt-BR" sz="1400" i="1" noProof="0">
                            <a:latin typeface="Cambria Math" panose="02040503050406030204" pitchFamily="18" charset="0"/>
                          </a:rPr>
                        </m:ctrlPr>
                      </m:sSupPr>
                      <m:e>
                        <m:r>
                          <a:rPr lang="pt-BR" sz="1400" b="0" i="1" noProof="0">
                            <a:latin typeface="Cambria Math" panose="02040503050406030204" pitchFamily="18" charset="0"/>
                          </a:rPr>
                          <m:t>𝑋</m:t>
                        </m:r>
                      </m:e>
                      <m:sup>
                        <m:r>
                          <a:rPr lang="pt-BR" sz="1400" b="0" i="1" noProof="0">
                            <a:latin typeface="Cambria Math" panose="02040503050406030204" pitchFamily="18" charset="0"/>
                          </a:rPr>
                          <m:t>𝑇</m:t>
                        </m:r>
                      </m:sup>
                    </m:sSup>
                    <m:r>
                      <a:rPr lang="pt-BR" sz="1400" b="0" i="1" noProof="0">
                        <a:latin typeface="Cambria Math" panose="02040503050406030204" pitchFamily="18" charset="0"/>
                      </a:rPr>
                      <m:t>𝑋</m:t>
                    </m:r>
                  </m:oMath>
                </a14:m>
                <a:r>
                  <a:rPr lang="pt-BR" sz="1400" noProof="0" dirty="0"/>
                  <a:t> </a:t>
                </a:r>
              </a:p>
            </p:txBody>
          </p:sp>
        </mc:Choice>
        <mc:Fallback xmlns="">
          <p:sp>
            <p:nvSpPr>
              <p:cNvPr id="7" name="TextBox 6">
                <a:extLst>
                  <a:ext uri="{FF2B5EF4-FFF2-40B4-BE49-F238E27FC236}">
                    <a16:creationId xmlns:a16="http://schemas.microsoft.com/office/drawing/2014/main" id="{B6ADA1D5-0763-3EF2-0C26-C666D2EF6C89}"/>
                  </a:ext>
                </a:extLst>
              </p:cNvPr>
              <p:cNvSpPr txBox="1">
                <a:spLocks noRot="1" noChangeAspect="1" noMove="1" noResize="1" noEditPoints="1" noAdjustHandles="1" noChangeArrowheads="1" noChangeShapeType="1" noTextEdit="1"/>
              </p:cNvSpPr>
              <p:nvPr/>
            </p:nvSpPr>
            <p:spPr>
              <a:xfrm>
                <a:off x="241041" y="6231265"/>
                <a:ext cx="6096000" cy="523220"/>
              </a:xfrm>
              <a:prstGeom prst="rect">
                <a:avLst/>
              </a:prstGeom>
              <a:blipFill>
                <a:blip r:embed="rId4"/>
                <a:stretch>
                  <a:fillRect l="-300" t="-2326" b="-12791"/>
                </a:stretch>
              </a:blipFill>
            </p:spPr>
            <p:txBody>
              <a:bodyPr/>
              <a:lstStyle/>
              <a:p>
                <a:r>
                  <a:rPr lang="en-US">
                    <a:noFill/>
                  </a:rPr>
                  <a:t> </a:t>
                </a:r>
              </a:p>
            </p:txBody>
          </p:sp>
        </mc:Fallback>
      </mc:AlternateContent>
    </p:spTree>
    <p:extLst>
      <p:ext uri="{BB962C8B-B14F-4D97-AF65-F5344CB8AC3E}">
        <p14:creationId xmlns:p14="http://schemas.microsoft.com/office/powerpoint/2010/main" val="84638053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Batch, Mini Batch &amp; Stochastic Gradient Descent">
            <a:extLst>
              <a:ext uri="{FF2B5EF4-FFF2-40B4-BE49-F238E27FC236}">
                <a16:creationId xmlns:a16="http://schemas.microsoft.com/office/drawing/2014/main" id="{DBA910F3-1DC5-8F92-5616-7DABD0430AC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62755" y="978248"/>
            <a:ext cx="5715530" cy="506342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DF5B4230-F901-54A0-181D-6A33FF47ECB5}"/>
              </a:ext>
            </a:extLst>
          </p:cNvPr>
          <p:cNvSpPr txBox="1"/>
          <p:nvPr/>
        </p:nvSpPr>
        <p:spPr>
          <a:xfrm>
            <a:off x="7303912" y="2274838"/>
            <a:ext cx="4391376" cy="2308324"/>
          </a:xfrm>
          <a:prstGeom prst="rect">
            <a:avLst/>
          </a:prstGeom>
          <a:noFill/>
        </p:spPr>
        <p:txBody>
          <a:bodyPr wrap="square" rtlCol="0">
            <a:spAutoFit/>
          </a:bodyPr>
          <a:lstStyle/>
          <a:p>
            <a:pPr algn="ctr"/>
            <a:r>
              <a:rPr lang="pt-BR" sz="3600" dirty="0"/>
              <a:t>O gradiente descendente está por trás dos algoritmos mais populares de ML.</a:t>
            </a:r>
            <a:endParaRPr lang="en-US" sz="3600" dirty="0"/>
          </a:p>
        </p:txBody>
      </p:sp>
    </p:spTree>
    <p:extLst>
      <p:ext uri="{BB962C8B-B14F-4D97-AF65-F5344CB8AC3E}">
        <p14:creationId xmlns:p14="http://schemas.microsoft.com/office/powerpoint/2010/main" val="318106949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9FA39D5-1A7D-603C-1F90-C3C1D9D9D79C}"/>
              </a:ext>
            </a:extLst>
          </p:cNvPr>
          <p:cNvSpPr>
            <a:spLocks noGrp="1"/>
          </p:cNvSpPr>
          <p:nvPr>
            <p:ph idx="1"/>
          </p:nvPr>
        </p:nvSpPr>
        <p:spPr>
          <a:xfrm>
            <a:off x="838200" y="1799220"/>
            <a:ext cx="10515600" cy="3259559"/>
          </a:xfrm>
        </p:spPr>
        <p:txBody>
          <a:bodyPr/>
          <a:lstStyle/>
          <a:p>
            <a:pPr marL="0" indent="0" algn="ctr">
              <a:buNone/>
            </a:pPr>
            <a:r>
              <a:rPr lang="pt-BR" sz="5400" i="1" dirty="0"/>
              <a:t>Como o gradiente descendente é a abordagem mais usada com grande parte dos algoritmos de ML, vamos focar no seu aprendizado.</a:t>
            </a:r>
            <a:endParaRPr lang="en-US" sz="5400" i="1" dirty="0"/>
          </a:p>
        </p:txBody>
      </p:sp>
    </p:spTree>
    <p:extLst>
      <p:ext uri="{BB962C8B-B14F-4D97-AF65-F5344CB8AC3E}">
        <p14:creationId xmlns:p14="http://schemas.microsoft.com/office/powerpoint/2010/main" val="319501055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B225A9-57A2-5D4C-C592-FC96B4AB25F3}"/>
              </a:ext>
            </a:extLst>
          </p:cNvPr>
          <p:cNvSpPr>
            <a:spLocks noGrp="1"/>
          </p:cNvSpPr>
          <p:nvPr>
            <p:ph type="title"/>
          </p:nvPr>
        </p:nvSpPr>
        <p:spPr/>
        <p:txBody>
          <a:bodyPr/>
          <a:lstStyle/>
          <a:p>
            <a:r>
              <a:rPr lang="pt-BR" dirty="0"/>
              <a:t>Superfície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4E2E11B-9833-18C1-2157-693893D8C114}"/>
                  </a:ext>
                </a:extLst>
              </p:cNvPr>
              <p:cNvSpPr>
                <a:spLocks noGrp="1"/>
              </p:cNvSpPr>
              <p:nvPr>
                <p:ph idx="1"/>
              </p:nvPr>
            </p:nvSpPr>
            <p:spPr>
              <a:xfrm>
                <a:off x="5294489" y="1825624"/>
                <a:ext cx="6897511" cy="5032375"/>
              </a:xfrm>
            </p:spPr>
            <p:txBody>
              <a:bodyPr>
                <a:normAutofit/>
              </a:bodyPr>
              <a:lstStyle/>
              <a:p>
                <a:r>
                  <a:rPr lang="pt-BR" dirty="0"/>
                  <a:t>Antes de discutirmos como o gradiente descendente funciona, precisamos entender o que é a </a:t>
                </a:r>
                <a:r>
                  <a:rPr lang="pt-BR" b="1" dirty="0"/>
                  <a:t>superfície de erro</a:t>
                </a:r>
                <a:r>
                  <a:rPr lang="pt-BR" dirty="0"/>
                  <a:t>.</a:t>
                </a:r>
              </a:p>
              <a:p>
                <a:r>
                  <a:rPr lang="pt-BR" dirty="0"/>
                  <a:t>Ela é uma representação geométrica de quão "errado" o nosso modelo está </a:t>
                </a:r>
                <a:r>
                  <a:rPr lang="pt-BR" b="1" dirty="0"/>
                  <a:t>para cada combinação possível de pesos</a:t>
                </a:r>
                <a:endParaRPr lang="pt-BR" dirty="0"/>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a:latin typeface="Cambria Math" panose="02040503050406030204" pitchFamily="18" charset="0"/>
                                </a:rPr>
                                <m:t>𝑿𝒂</m:t>
                              </m:r>
                            </m:e>
                          </m:d>
                        </m:e>
                        <m:sup>
                          <m:r>
                            <a:rPr lang="pt-BR" i="1">
                              <a:latin typeface="Cambria Math" panose="02040503050406030204" pitchFamily="18" charset="0"/>
                            </a:rPr>
                            <m:t>2</m:t>
                          </m:r>
                        </m:sup>
                      </m:sSup>
                    </m:oMath>
                  </m:oMathPara>
                </a14:m>
                <a:endParaRPr lang="pt-BR" dirty="0"/>
              </a:p>
              <a:p>
                <a:r>
                  <a:rPr lang="pt-BR" dirty="0"/>
                  <a:t>A plotamos variando os pesos e anotando os respectivos erros.</a:t>
                </a:r>
              </a:p>
            </p:txBody>
          </p:sp>
        </mc:Choice>
        <mc:Fallback xmlns="">
          <p:sp>
            <p:nvSpPr>
              <p:cNvPr id="3" name="Content Placeholder 2">
                <a:extLst>
                  <a:ext uri="{FF2B5EF4-FFF2-40B4-BE49-F238E27FC236}">
                    <a16:creationId xmlns:a16="http://schemas.microsoft.com/office/drawing/2014/main" id="{84E2E11B-9833-18C1-2157-693893D8C114}"/>
                  </a:ext>
                </a:extLst>
              </p:cNvPr>
              <p:cNvSpPr>
                <a:spLocks noGrp="1" noRot="1" noChangeAspect="1" noMove="1" noResize="1" noEditPoints="1" noAdjustHandles="1" noChangeArrowheads="1" noChangeShapeType="1" noTextEdit="1"/>
              </p:cNvSpPr>
              <p:nvPr>
                <p:ph idx="1"/>
              </p:nvPr>
            </p:nvSpPr>
            <p:spPr>
              <a:xfrm>
                <a:off x="5294489" y="1825624"/>
                <a:ext cx="6897511" cy="5032375"/>
              </a:xfrm>
              <a:blipFill>
                <a:blip r:embed="rId3"/>
                <a:stretch>
                  <a:fillRect l="-1592" t="-1937" r="-2299"/>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A426D12A-684D-3903-6005-F2BFA77FCF2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7365" y="1825624"/>
            <a:ext cx="4288193" cy="4257008"/>
          </a:xfrm>
          <a:prstGeom prst="rect">
            <a:avLst/>
          </a:prstGeom>
        </p:spPr>
      </p:pic>
      <p:sp>
        <p:nvSpPr>
          <p:cNvPr id="5" name="CaixaDeTexto 4"/>
          <p:cNvSpPr txBox="1"/>
          <p:nvPr/>
        </p:nvSpPr>
        <p:spPr>
          <a:xfrm>
            <a:off x="1045449" y="6217568"/>
            <a:ext cx="3412024" cy="369332"/>
          </a:xfrm>
          <a:prstGeom prst="rect">
            <a:avLst/>
          </a:prstGeom>
          <a:noFill/>
        </p:spPr>
        <p:txBody>
          <a:bodyPr wrap="none" rtlCol="0">
            <a:spAutoFit/>
          </a:bodyPr>
          <a:lstStyle/>
          <a:p>
            <a:r>
              <a:rPr lang="pt-BR" dirty="0"/>
              <a:t>Função hipótese com um atributo.</a:t>
            </a:r>
          </a:p>
        </p:txBody>
      </p:sp>
    </p:spTree>
    <p:extLst>
      <p:ext uri="{BB962C8B-B14F-4D97-AF65-F5344CB8AC3E}">
        <p14:creationId xmlns:p14="http://schemas.microsoft.com/office/powerpoint/2010/main" val="295654928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EFCE54-F995-CA0C-6DE1-FC9E520BD8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049ABA-9D79-2DC4-D0DD-14B8C59177C0}"/>
              </a:ext>
            </a:extLst>
          </p:cNvPr>
          <p:cNvSpPr>
            <a:spLocks noGrp="1"/>
          </p:cNvSpPr>
          <p:nvPr>
            <p:ph type="title"/>
          </p:nvPr>
        </p:nvSpPr>
        <p:spPr/>
        <p:txBody>
          <a:bodyPr/>
          <a:lstStyle/>
          <a:p>
            <a:r>
              <a:rPr lang="pt-BR" dirty="0"/>
              <a:t>Superfície de erro</a:t>
            </a:r>
            <a:endParaRPr lang="en-US" dirty="0"/>
          </a:p>
        </p:txBody>
      </p:sp>
      <p:sp>
        <p:nvSpPr>
          <p:cNvPr id="3" name="Content Placeholder 2">
            <a:extLst>
              <a:ext uri="{FF2B5EF4-FFF2-40B4-BE49-F238E27FC236}">
                <a16:creationId xmlns:a16="http://schemas.microsoft.com/office/drawing/2014/main" id="{E4459D3A-818A-5DAE-535B-3F207C128390}"/>
              </a:ext>
            </a:extLst>
          </p:cNvPr>
          <p:cNvSpPr>
            <a:spLocks noGrp="1"/>
          </p:cNvSpPr>
          <p:nvPr>
            <p:ph idx="1"/>
          </p:nvPr>
        </p:nvSpPr>
        <p:spPr>
          <a:xfrm>
            <a:off x="5305778" y="1825624"/>
            <a:ext cx="6762044" cy="5032375"/>
          </a:xfrm>
        </p:spPr>
        <p:txBody>
          <a:bodyPr>
            <a:normAutofit/>
          </a:bodyPr>
          <a:lstStyle/>
          <a:p>
            <a:r>
              <a:rPr lang="pt-BR" dirty="0"/>
              <a:t>O ponto mais baixo nos dá os valores dos </a:t>
            </a:r>
            <a:r>
              <a:rPr lang="pt-BR" b="1" dirty="0"/>
              <a:t>pesos que minimizam a função de erro</a:t>
            </a:r>
            <a:r>
              <a:rPr lang="pt-BR" dirty="0"/>
              <a:t>.</a:t>
            </a:r>
          </a:p>
          <a:p>
            <a:r>
              <a:rPr lang="pt-BR" dirty="0"/>
              <a:t>Quando usamos a função do EQM, por ela ter uma </a:t>
            </a:r>
            <a:r>
              <a:rPr lang="pt-BR" b="1" dirty="0"/>
              <a:t>forma quadrática</a:t>
            </a:r>
            <a:r>
              <a:rPr lang="pt-BR" dirty="0"/>
              <a:t>, a superfície resultante </a:t>
            </a:r>
            <a:r>
              <a:rPr lang="pt-BR" b="1" dirty="0"/>
              <a:t>terá sempre o formato de uma tigela.</a:t>
            </a:r>
            <a:endParaRPr lang="pt-BR" dirty="0"/>
          </a:p>
          <a:p>
            <a:r>
              <a:rPr lang="pt-BR" dirty="0"/>
              <a:t>Ou seja, ela tem o formato de uma </a:t>
            </a:r>
            <a:r>
              <a:rPr lang="pt-BR" b="1" dirty="0"/>
              <a:t>parábola</a:t>
            </a:r>
            <a:r>
              <a:rPr lang="pt-BR" dirty="0"/>
              <a:t>.</a:t>
            </a:r>
          </a:p>
          <a:p>
            <a:r>
              <a:rPr lang="pt-BR" dirty="0"/>
              <a:t>Além disso, devido ao termo quadrático ser positivo, ela terá a </a:t>
            </a:r>
            <a:r>
              <a:rPr lang="pt-BR" b="1" dirty="0"/>
              <a:t>concavidade sempre voltada para cima.</a:t>
            </a:r>
            <a:endParaRPr lang="pt-BR" dirty="0"/>
          </a:p>
        </p:txBody>
      </p:sp>
      <p:pic>
        <p:nvPicPr>
          <p:cNvPr id="4" name="Imagem 3">
            <a:extLst>
              <a:ext uri="{FF2B5EF4-FFF2-40B4-BE49-F238E27FC236}">
                <a16:creationId xmlns:a16="http://schemas.microsoft.com/office/drawing/2014/main" id="{C9D697DF-5B23-D1C0-486E-B97AA1B4792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7365" y="1825624"/>
            <a:ext cx="4288193" cy="4257008"/>
          </a:xfrm>
          <a:prstGeom prst="rect">
            <a:avLst/>
          </a:prstGeom>
        </p:spPr>
      </p:pic>
      <p:sp>
        <p:nvSpPr>
          <p:cNvPr id="5" name="CaixaDeTexto 4">
            <a:extLst>
              <a:ext uri="{FF2B5EF4-FFF2-40B4-BE49-F238E27FC236}">
                <a16:creationId xmlns:a16="http://schemas.microsoft.com/office/drawing/2014/main" id="{7AB69D25-AF5B-907B-2C8C-AA5F45BF04EF}"/>
              </a:ext>
            </a:extLst>
          </p:cNvPr>
          <p:cNvSpPr txBox="1"/>
          <p:nvPr/>
        </p:nvSpPr>
        <p:spPr>
          <a:xfrm>
            <a:off x="1045449" y="6217568"/>
            <a:ext cx="3412024" cy="369332"/>
          </a:xfrm>
          <a:prstGeom prst="rect">
            <a:avLst/>
          </a:prstGeom>
          <a:noFill/>
        </p:spPr>
        <p:txBody>
          <a:bodyPr wrap="none" rtlCol="0">
            <a:spAutoFit/>
          </a:bodyPr>
          <a:lstStyle/>
          <a:p>
            <a:r>
              <a:rPr lang="pt-BR" dirty="0"/>
              <a:t>Função hipótese com um atributo.</a:t>
            </a:r>
          </a:p>
        </p:txBody>
      </p:sp>
    </p:spTree>
    <p:extLst>
      <p:ext uri="{BB962C8B-B14F-4D97-AF65-F5344CB8AC3E}">
        <p14:creationId xmlns:p14="http://schemas.microsoft.com/office/powerpoint/2010/main" val="366936230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B225A9-57A2-5D4C-C592-FC96B4AB25F3}"/>
              </a:ext>
            </a:extLst>
          </p:cNvPr>
          <p:cNvSpPr>
            <a:spLocks noGrp="1"/>
          </p:cNvSpPr>
          <p:nvPr>
            <p:ph type="title"/>
          </p:nvPr>
        </p:nvSpPr>
        <p:spPr/>
        <p:txBody>
          <a:bodyPr/>
          <a:lstStyle/>
          <a:p>
            <a:r>
              <a:rPr lang="pt-BR" dirty="0"/>
              <a:t>Superfície de erro</a:t>
            </a:r>
            <a:endParaRPr lang="en-US" dirty="0"/>
          </a:p>
        </p:txBody>
      </p:sp>
      <p:sp>
        <p:nvSpPr>
          <p:cNvPr id="3" name="Content Placeholder 2">
            <a:extLst>
              <a:ext uri="{FF2B5EF4-FFF2-40B4-BE49-F238E27FC236}">
                <a16:creationId xmlns:a16="http://schemas.microsoft.com/office/drawing/2014/main" id="{84E2E11B-9833-18C1-2157-693893D8C114}"/>
              </a:ext>
            </a:extLst>
          </p:cNvPr>
          <p:cNvSpPr>
            <a:spLocks noGrp="1"/>
          </p:cNvSpPr>
          <p:nvPr>
            <p:ph idx="1"/>
          </p:nvPr>
        </p:nvSpPr>
        <p:spPr>
          <a:xfrm>
            <a:off x="5345722" y="1825624"/>
            <a:ext cx="6639951" cy="5032375"/>
          </a:xfrm>
        </p:spPr>
        <p:txBody>
          <a:bodyPr>
            <a:normAutofit/>
          </a:bodyPr>
          <a:lstStyle/>
          <a:p>
            <a:r>
              <a:rPr lang="pt-BR" dirty="0"/>
              <a:t>O que isso significa na prática?</a:t>
            </a:r>
          </a:p>
          <a:p>
            <a:pPr lvl="1">
              <a:buFont typeface="Wingdings" panose="05000000000000000000" pitchFamily="2" charset="2"/>
              <a:buChar char="§"/>
            </a:pPr>
            <a:r>
              <a:rPr lang="pt-BR" dirty="0"/>
              <a:t>Existe apenas </a:t>
            </a:r>
            <a:r>
              <a:rPr lang="pt-BR" b="1" dirty="0"/>
              <a:t>um único ponto mais baixo</a:t>
            </a:r>
            <a:r>
              <a:rPr lang="pt-BR" dirty="0"/>
              <a:t> (o mínimo global).</a:t>
            </a:r>
          </a:p>
          <a:p>
            <a:pPr lvl="1">
              <a:buFont typeface="Wingdings" panose="05000000000000000000" pitchFamily="2" charset="2"/>
              <a:buChar char="§"/>
            </a:pPr>
            <a:r>
              <a:rPr lang="pt-BR" dirty="0"/>
              <a:t>Portanto, não importa onde valores iniciais são inicializados, o gradiente descendente </a:t>
            </a:r>
            <a:r>
              <a:rPr lang="pt-BR" b="1" dirty="0"/>
              <a:t>sempre</a:t>
            </a:r>
            <a:r>
              <a:rPr lang="pt-BR" dirty="0"/>
              <a:t> chegará à melhor solução possível.</a:t>
            </a:r>
          </a:p>
        </p:txBody>
      </p:sp>
      <p:grpSp>
        <p:nvGrpSpPr>
          <p:cNvPr id="4" name="Agrupar 4">
            <a:extLst>
              <a:ext uri="{FF2B5EF4-FFF2-40B4-BE49-F238E27FC236}">
                <a16:creationId xmlns:a16="http://schemas.microsoft.com/office/drawing/2014/main" id="{84412B71-A2C7-E89B-BE04-C2E70AB63FB6}"/>
              </a:ext>
            </a:extLst>
          </p:cNvPr>
          <p:cNvGrpSpPr/>
          <p:nvPr/>
        </p:nvGrpSpPr>
        <p:grpSpPr>
          <a:xfrm>
            <a:off x="500575" y="1825624"/>
            <a:ext cx="4456768" cy="4360505"/>
            <a:chOff x="55618" y="2251324"/>
            <a:chExt cx="4456768" cy="4360505"/>
          </a:xfrm>
        </p:grpSpPr>
        <p:grpSp>
          <p:nvGrpSpPr>
            <p:cNvPr id="5" name="Agrupar 5">
              <a:extLst>
                <a:ext uri="{FF2B5EF4-FFF2-40B4-BE49-F238E27FC236}">
                  <a16:creationId xmlns:a16="http://schemas.microsoft.com/office/drawing/2014/main" id="{FB0DCC50-E74B-B0C7-FD19-2CD268B79A24}"/>
                </a:ext>
              </a:extLst>
            </p:cNvPr>
            <p:cNvGrpSpPr/>
            <p:nvPr/>
          </p:nvGrpSpPr>
          <p:grpSpPr>
            <a:xfrm>
              <a:off x="55618" y="2251324"/>
              <a:ext cx="4456768" cy="4360505"/>
              <a:chOff x="930667" y="1938641"/>
              <a:chExt cx="4456768" cy="4360505"/>
            </a:xfrm>
          </p:grpSpPr>
          <p:grpSp>
            <p:nvGrpSpPr>
              <p:cNvPr id="8" name="Agrupar 8">
                <a:extLst>
                  <a:ext uri="{FF2B5EF4-FFF2-40B4-BE49-F238E27FC236}">
                    <a16:creationId xmlns:a16="http://schemas.microsoft.com/office/drawing/2014/main" id="{7FD92229-0631-3DCD-1FF9-A49AE18B66EF}"/>
                  </a:ext>
                </a:extLst>
              </p:cNvPr>
              <p:cNvGrpSpPr/>
              <p:nvPr/>
            </p:nvGrpSpPr>
            <p:grpSpPr>
              <a:xfrm>
                <a:off x="930667" y="1938641"/>
                <a:ext cx="4456768" cy="4360505"/>
                <a:chOff x="447782" y="1825625"/>
                <a:chExt cx="4456768" cy="4360505"/>
              </a:xfrm>
            </p:grpSpPr>
            <p:grpSp>
              <p:nvGrpSpPr>
                <p:cNvPr id="18" name="Agrupar 44">
                  <a:extLst>
                    <a:ext uri="{FF2B5EF4-FFF2-40B4-BE49-F238E27FC236}">
                      <a16:creationId xmlns:a16="http://schemas.microsoft.com/office/drawing/2014/main" id="{9E0EE296-BA0A-9E88-428D-23EFF31F9CDD}"/>
                    </a:ext>
                  </a:extLst>
                </p:cNvPr>
                <p:cNvGrpSpPr/>
                <p:nvPr/>
              </p:nvGrpSpPr>
              <p:grpSpPr>
                <a:xfrm>
                  <a:off x="447782" y="1825625"/>
                  <a:ext cx="4456768" cy="3859236"/>
                  <a:chOff x="1592492" y="1393380"/>
                  <a:chExt cx="3209820" cy="2846768"/>
                </a:xfrm>
              </p:grpSpPr>
              <p:pic>
                <p:nvPicPr>
                  <p:cNvPr id="27" name="Picture 2" descr="Visualization for Function Optimization in Python -  MachineLearningMastery.com">
                    <a:extLst>
                      <a:ext uri="{FF2B5EF4-FFF2-40B4-BE49-F238E27FC236}">
                        <a16:creationId xmlns:a16="http://schemas.microsoft.com/office/drawing/2014/main" id="{44D88D47-5822-C7A4-E1B5-0AF53981D02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id="{D3302DEB-0BAF-20B2-A12B-7E3667CD882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0264388D-BD42-DE8D-1EDA-911DD626CE21}"/>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0" name="CaixaDeTexto 29">
                        <a:extLst>
                          <a:ext uri="{FF2B5EF4-FFF2-40B4-BE49-F238E27FC236}">
                            <a16:creationId xmlns:a16="http://schemas.microsoft.com/office/drawing/2014/main" id="{585BAA01-510A-C118-CA93-5A46D3C329CC}"/>
                          </a:ext>
                        </a:extLst>
                      </p:cNvPr>
                      <p:cNvSpPr txBox="1"/>
                      <p:nvPr/>
                    </p:nvSpPr>
                    <p:spPr>
                      <a:xfrm>
                        <a:off x="4244939" y="1495438"/>
                        <a:ext cx="557373"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b="1" i="1" smtClean="0">
                                      <a:latin typeface="Cambria Math" panose="02040503050406030204" pitchFamily="18" charset="0"/>
                                    </a:rPr>
                                  </m:ctrlPr>
                                </m:sSubPr>
                                <m:e>
                                  <m:r>
                                    <a:rPr lang="pt-BR" sz="2000" b="1" i="1" smtClean="0">
                                      <a:latin typeface="Cambria Math" panose="02040503050406030204" pitchFamily="18" charset="0"/>
                                    </a:rPr>
                                    <m:t>𝑱</m:t>
                                  </m:r>
                                </m:e>
                                <m:sub>
                                  <m:r>
                                    <a:rPr lang="pt-BR" sz="2000" b="1" i="1" smtClean="0">
                                      <a:latin typeface="Cambria Math" panose="02040503050406030204" pitchFamily="18" charset="0"/>
                                    </a:rPr>
                                    <m:t>𝒆</m:t>
                                  </m:r>
                                </m:sub>
                              </m:sSub>
                              <m:r>
                                <a:rPr lang="pt-BR" sz="2000" b="1" i="1" smtClean="0">
                                  <a:latin typeface="Cambria Math" panose="02040503050406030204" pitchFamily="18" charset="0"/>
                                </a:rPr>
                                <m:t>(</m:t>
                              </m:r>
                              <m:r>
                                <a:rPr lang="pt-BR" sz="2000" b="1" i="1" smtClean="0">
                                  <a:latin typeface="Cambria Math" panose="02040503050406030204" pitchFamily="18" charset="0"/>
                                </a:rPr>
                                <m:t>𝒂</m:t>
                              </m:r>
                              <m:r>
                                <a:rPr lang="pt-BR" sz="2000" b="1" i="1" smtClean="0">
                                  <a:latin typeface="Cambria Math" panose="02040503050406030204" pitchFamily="18" charset="0"/>
                                </a:rPr>
                                <m:t>)</m:t>
                              </m:r>
                            </m:oMath>
                          </m:oMathPara>
                        </a14:m>
                        <a:endParaRPr lang="pt-BR" sz="2000" b="1" dirty="0"/>
                      </a:p>
                    </p:txBody>
                  </p:sp>
                </mc:Choice>
                <mc:Fallback xmlns="">
                  <p:sp>
                    <p:nvSpPr>
                      <p:cNvPr id="30" name="CaixaDeTexto 29">
                        <a:extLst>
                          <a:ext uri="{FF2B5EF4-FFF2-40B4-BE49-F238E27FC236}">
                            <a16:creationId xmlns:a16="http://schemas.microsoft.com/office/drawing/2014/main" id="{585BAA01-510A-C118-CA93-5A46D3C329CC}"/>
                          </a:ext>
                        </a:extLst>
                      </p:cNvPr>
                      <p:cNvSpPr txBox="1">
                        <a:spLocks noRot="1" noChangeAspect="1" noMove="1" noResize="1" noEditPoints="1" noAdjustHandles="1" noChangeArrowheads="1" noChangeShapeType="1" noTextEdit="1"/>
                      </p:cNvSpPr>
                      <p:nvPr/>
                    </p:nvSpPr>
                    <p:spPr>
                      <a:xfrm>
                        <a:off x="4244939" y="1495438"/>
                        <a:ext cx="557373" cy="295141"/>
                      </a:xfrm>
                      <a:prstGeom prst="rect">
                        <a:avLst/>
                      </a:prstGeom>
                      <a:blipFill>
                        <a:blip r:embed="rId6"/>
                        <a:stretch>
                          <a:fillRect l="-2362" r="-3150" b="-15152"/>
                        </a:stretch>
                      </a:blipFill>
                    </p:spPr>
                    <p:txBody>
                      <a:bodyPr/>
                      <a:lstStyle/>
                      <a:p>
                        <a:r>
                          <a:rPr lang="en-US">
                            <a:noFill/>
                          </a:rPr>
                          <a:t> </a:t>
                        </a:r>
                      </a:p>
                    </p:txBody>
                  </p:sp>
                </mc:Fallback>
              </mc:AlternateContent>
            </p:grpSp>
            <p:sp>
              <p:nvSpPr>
                <p:cNvPr id="19" name="Elipse 18">
                  <a:extLst>
                    <a:ext uri="{FF2B5EF4-FFF2-40B4-BE49-F238E27FC236}">
                      <a16:creationId xmlns:a16="http://schemas.microsoft.com/office/drawing/2014/main" id="{048570E9-84B4-263B-42B4-31A2588FB83B}"/>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id="{F03C6EA3-09F9-5AF4-2C93-055E20E87D18}"/>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id="{09BF1C12-E6A9-0B8A-A4BE-A0CDC64BF5EB}"/>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id="{BAD148F8-88A1-9983-64AC-7DC9A33D0083}"/>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id="{C07E394D-50B1-689C-6846-C8A7447896B9}"/>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id="{A506799A-6B61-E22B-5542-D0125466F84F}"/>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5" name="Conector de Seta Reta 51">
                  <a:extLst>
                    <a:ext uri="{FF2B5EF4-FFF2-40B4-BE49-F238E27FC236}">
                      <a16:creationId xmlns:a16="http://schemas.microsoft.com/office/drawing/2014/main" id="{4C86C60D-83E6-EFF1-0757-FBEE2440C7F6}"/>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FB4BC05E-298F-2552-BE8C-2BBFA977ECA2}"/>
                        </a:ext>
                      </a:extLst>
                    </p:cNvPr>
                    <p:cNvSpPr txBox="1"/>
                    <p:nvPr/>
                  </p:nvSpPr>
                  <p:spPr>
                    <a:xfrm>
                      <a:off x="2426116" y="5601355"/>
                      <a:ext cx="1483596" cy="584775"/>
                    </a:xfrm>
                    <a:prstGeom prst="rect">
                      <a:avLst/>
                    </a:prstGeom>
                    <a:noFill/>
                  </p:spPr>
                  <p:txBody>
                    <a:bodyPr wrap="square" rtlCol="0">
                      <a:spAutoFit/>
                    </a:bodyPr>
                    <a:lstStyle/>
                    <a:p>
                      <a:r>
                        <a:rPr lang="pt-BR" sz="1400" b="1" dirty="0">
                          <a:solidFill>
                            <a:srgbClr val="00B0F0"/>
                          </a:solidFill>
                        </a:rPr>
                        <a:t>ponto de mínimo</a:t>
                      </a:r>
                    </a:p>
                    <a:p>
                      <a:pPr algn="ctr"/>
                      <a14:m>
                        <m:oMathPara xmlns:m="http://schemas.openxmlformats.org/officeDocument/2006/math">
                          <m:oMathParaPr>
                            <m:jc m:val="centerGroup"/>
                          </m:oMathParaPr>
                          <m:oMath xmlns:m="http://schemas.openxmlformats.org/officeDocument/2006/math">
                            <m:sSub>
                              <m:sSubPr>
                                <m:ctrlPr>
                                  <a:rPr lang="pt-BR" b="1" i="1" smtClean="0">
                                    <a:solidFill>
                                      <a:schemeClr val="tx1"/>
                                    </a:solidFill>
                                    <a:latin typeface="Cambria Math" panose="02040503050406030204" pitchFamily="18" charset="0"/>
                                  </a:rPr>
                                </m:ctrlPr>
                              </m:sSubPr>
                              <m:e>
                                <m:r>
                                  <a:rPr lang="pt-BR" b="1" i="1" smtClean="0">
                                    <a:solidFill>
                                      <a:schemeClr val="tx1"/>
                                    </a:solidFill>
                                    <a:latin typeface="Cambria Math" panose="02040503050406030204" pitchFamily="18" charset="0"/>
                                  </a:rPr>
                                  <m:t>𝒂</m:t>
                                </m:r>
                              </m:e>
                              <m:sub>
                                <m:r>
                                  <a:rPr lang="pt-BR" b="1" i="1" smtClean="0">
                                    <a:solidFill>
                                      <a:schemeClr val="tx1"/>
                                    </a:solidFill>
                                    <a:latin typeface="Cambria Math" panose="02040503050406030204" pitchFamily="18" charset="0"/>
                                  </a:rPr>
                                  <m:t>ó</m:t>
                                </m:r>
                                <m:r>
                                  <a:rPr lang="pt-BR" b="1" i="1" smtClean="0">
                                    <a:solidFill>
                                      <a:schemeClr val="tx1"/>
                                    </a:solidFill>
                                    <a:latin typeface="Cambria Math" panose="02040503050406030204" pitchFamily="18" charset="0"/>
                                  </a:rPr>
                                  <m:t>𝒕𝒊𝒎𝒐</m:t>
                                </m:r>
                              </m:sub>
                            </m:sSub>
                          </m:oMath>
                        </m:oMathPara>
                      </a14:m>
                      <a:endParaRPr lang="pt-BR" b="1" dirty="0">
                        <a:solidFill>
                          <a:schemeClr val="tx1"/>
                        </a:solidFill>
                      </a:endParaRPr>
                    </a:p>
                  </p:txBody>
                </p:sp>
              </mc:Choice>
              <mc:Fallback xmlns="">
                <p:sp>
                  <p:nvSpPr>
                    <p:cNvPr id="26" name="CaixaDeTexto 25">
                      <a:extLst>
                        <a:ext uri="{FF2B5EF4-FFF2-40B4-BE49-F238E27FC236}">
                          <a16:creationId xmlns:a16="http://schemas.microsoft.com/office/drawing/2014/main" id="{FB4BC05E-298F-2552-BE8C-2BBFA977ECA2}"/>
                        </a:ext>
                      </a:extLst>
                    </p:cNvPr>
                    <p:cNvSpPr txBox="1">
                      <a:spLocks noRot="1" noChangeAspect="1" noMove="1" noResize="1" noEditPoints="1" noAdjustHandles="1" noChangeArrowheads="1" noChangeShapeType="1" noTextEdit="1"/>
                    </p:cNvSpPr>
                    <p:nvPr/>
                  </p:nvSpPr>
                  <p:spPr>
                    <a:xfrm>
                      <a:off x="2426116" y="5601355"/>
                      <a:ext cx="1483596" cy="584775"/>
                    </a:xfrm>
                    <a:prstGeom prst="rect">
                      <a:avLst/>
                    </a:prstGeom>
                    <a:blipFill>
                      <a:blip r:embed="rId7"/>
                      <a:stretch>
                        <a:fillRect l="-1235" t="-2083"/>
                      </a:stretch>
                    </a:blipFill>
                  </p:spPr>
                  <p:txBody>
                    <a:bodyPr/>
                    <a:lstStyle/>
                    <a:p>
                      <a:r>
                        <a:rPr lang="en-US">
                          <a:noFill/>
                        </a:rPr>
                        <a:t> </a:t>
                      </a:r>
                    </a:p>
                  </p:txBody>
                </p:sp>
              </mc:Fallback>
            </mc:AlternateContent>
          </p:grpSp>
          <p:sp>
            <p:nvSpPr>
              <p:cNvPr id="9" name="Elipse 8">
                <a:extLst>
                  <a:ext uri="{FF2B5EF4-FFF2-40B4-BE49-F238E27FC236}">
                    <a16:creationId xmlns:a16="http://schemas.microsoft.com/office/drawing/2014/main" id="{35F2A8C3-8F29-6C0D-DEBF-574DE751D83A}"/>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id="{D1D65435-8067-43D7-8B85-B58B5FE78F2B}"/>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CE6F24E9-AEC3-E8E8-ACE1-5AB643448FDA}"/>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8FACFAF7-7CF9-2A68-6DC3-73E2F744A7A7}"/>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id="{23FC64BF-9399-8DED-CE7B-6F37E3B76D0A}"/>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id="{6CFC6E21-F686-D9AD-1678-277756D9D6E1}"/>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id="{EA4C6F73-7F27-70C2-998B-E17C2EF4CE32}"/>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id="{A4A39634-3F5F-74B0-1F5F-3C4537D68CCD}"/>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id="{204AE0DB-6550-BA4B-42F4-3D291466092E}"/>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id="{17F23E77-B76E-73C8-AB63-BA858F6FEDAE}"/>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id="{E63CF6F2-828D-404E-FB76-EDD94F5EE7C4}"/>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31" name="CaixaDeTexto 30"/>
          <p:cNvSpPr txBox="1"/>
          <p:nvPr/>
        </p:nvSpPr>
        <p:spPr>
          <a:xfrm>
            <a:off x="740658" y="6188984"/>
            <a:ext cx="3581943" cy="369332"/>
          </a:xfrm>
          <a:prstGeom prst="rect">
            <a:avLst/>
          </a:prstGeom>
          <a:noFill/>
        </p:spPr>
        <p:txBody>
          <a:bodyPr wrap="none" rtlCol="0">
            <a:spAutoFit/>
          </a:bodyPr>
          <a:lstStyle/>
          <a:p>
            <a:r>
              <a:rPr lang="pt-BR" dirty="0"/>
              <a:t>Função hipótese com dois atributos.</a:t>
            </a:r>
          </a:p>
        </p:txBody>
      </p:sp>
    </p:spTree>
    <p:extLst>
      <p:ext uri="{BB962C8B-B14F-4D97-AF65-F5344CB8AC3E}">
        <p14:creationId xmlns:p14="http://schemas.microsoft.com/office/powerpoint/2010/main" val="201210074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Superfície de erro</a:t>
            </a:r>
          </a:p>
        </p:txBody>
      </p:sp>
      <p:sp>
        <p:nvSpPr>
          <p:cNvPr id="3" name="Espaço Reservado para Conteúdo 2"/>
          <p:cNvSpPr>
            <a:spLocks noGrp="1"/>
          </p:cNvSpPr>
          <p:nvPr>
            <p:ph idx="1"/>
          </p:nvPr>
        </p:nvSpPr>
        <p:spPr>
          <a:xfrm>
            <a:off x="5520906" y="1825624"/>
            <a:ext cx="6487064" cy="5032375"/>
          </a:xfrm>
        </p:spPr>
        <p:txBody>
          <a:bodyPr>
            <a:normAutofit/>
          </a:bodyPr>
          <a:lstStyle/>
          <a:p>
            <a:r>
              <a:rPr lang="pt-BR" dirty="0"/>
              <a:t>Modelos não lineares, como redes neurais, apresentam superfícies de erro totalmente irregulares, com</a:t>
            </a:r>
          </a:p>
          <a:p>
            <a:pPr lvl="1">
              <a:buFont typeface="Wingdings" panose="05000000000000000000" pitchFamily="2" charset="2"/>
              <a:buChar char="§"/>
            </a:pPr>
            <a:r>
              <a:rPr lang="pt-BR" dirty="0"/>
              <a:t>Pontos de sela: a função diminui em algumas direções e aumenta em outras.</a:t>
            </a:r>
          </a:p>
          <a:p>
            <a:pPr lvl="1">
              <a:buFont typeface="Wingdings" panose="05000000000000000000" pitchFamily="2" charset="2"/>
              <a:buChar char="§"/>
            </a:pPr>
            <a:r>
              <a:rPr lang="pt-BR" dirty="0"/>
              <a:t>Vários mínimos locais.</a:t>
            </a:r>
          </a:p>
          <a:p>
            <a:pPr lvl="1">
              <a:buFont typeface="Wingdings" panose="05000000000000000000" pitchFamily="2" charset="2"/>
              <a:buChar char="§"/>
            </a:pPr>
            <a:r>
              <a:rPr lang="pt-BR" dirty="0"/>
              <a:t> Platôs: região plana com erro alto.</a:t>
            </a:r>
          </a:p>
          <a:p>
            <a:r>
              <a:rPr lang="pt-BR" dirty="0"/>
              <a:t>Essas irregularidades causam</a:t>
            </a:r>
          </a:p>
          <a:p>
            <a:pPr lvl="1">
              <a:buFont typeface="Wingdings" panose="05000000000000000000" pitchFamily="2" charset="2"/>
              <a:buChar char="§"/>
            </a:pPr>
            <a:r>
              <a:rPr lang="pt-BR" dirty="0"/>
              <a:t>treinamento mais lento</a:t>
            </a:r>
          </a:p>
          <a:p>
            <a:pPr lvl="1">
              <a:buFont typeface="Wingdings" panose="05000000000000000000" pitchFamily="2" charset="2"/>
              <a:buChar char="§"/>
            </a:pPr>
            <a:r>
              <a:rPr lang="pt-BR" dirty="0"/>
              <a:t>instabilidade numérica</a:t>
            </a:r>
          </a:p>
          <a:p>
            <a:pPr lvl="1">
              <a:buFont typeface="Wingdings" panose="05000000000000000000" pitchFamily="2" charset="2"/>
              <a:buChar char="§"/>
            </a:pPr>
            <a:r>
              <a:rPr lang="pt-BR" dirty="0"/>
              <a:t>soluções diferentes para o mesmo problema</a:t>
            </a:r>
          </a:p>
        </p:txBody>
      </p:sp>
      <p:pic>
        <p:nvPicPr>
          <p:cNvPr id="5" name="Imagem 4"/>
          <p:cNvPicPr>
            <a:picLocks noChangeAspect="1"/>
          </p:cNvPicPr>
          <p:nvPr/>
        </p:nvPicPr>
        <p:blipFill rotWithShape="1">
          <a:blip r:embed="rId3">
            <a:extLst>
              <a:ext uri="{28A0092B-C50C-407E-A947-70E740481C1C}">
                <a14:useLocalDpi xmlns:a14="http://schemas.microsoft.com/office/drawing/2010/main" val="0"/>
              </a:ext>
            </a:extLst>
          </a:blip>
          <a:srcRect l="4503" r="4330"/>
          <a:stretch/>
        </p:blipFill>
        <p:spPr>
          <a:xfrm>
            <a:off x="272921" y="2067165"/>
            <a:ext cx="5075456" cy="3777995"/>
          </a:xfrm>
          <a:prstGeom prst="rect">
            <a:avLst/>
          </a:prstGeom>
        </p:spPr>
      </p:pic>
    </p:spTree>
    <p:extLst>
      <p:ext uri="{BB962C8B-B14F-4D97-AF65-F5344CB8AC3E}">
        <p14:creationId xmlns:p14="http://schemas.microsoft.com/office/powerpoint/2010/main" val="36799737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Gradiente descendente</a:t>
            </a:r>
          </a:p>
        </p:txBody>
      </p:sp>
      <p:sp>
        <p:nvSpPr>
          <p:cNvPr id="3" name="Espaço Reservado para Conteúdo 2"/>
          <p:cNvSpPr>
            <a:spLocks noGrp="1"/>
          </p:cNvSpPr>
          <p:nvPr>
            <p:ph idx="1"/>
          </p:nvPr>
        </p:nvSpPr>
        <p:spPr>
          <a:xfrm>
            <a:off x="5739663" y="1825624"/>
            <a:ext cx="6246010" cy="5032375"/>
          </a:xfrm>
        </p:spPr>
        <p:txBody>
          <a:bodyPr/>
          <a:lstStyle/>
          <a:p>
            <a:r>
              <a:rPr lang="pt-BR" dirty="0"/>
              <a:t>Procura de forma </a:t>
            </a:r>
            <a:r>
              <a:rPr lang="pt-BR" b="1" dirty="0"/>
              <a:t>iterativa o ponto mais baixo da superfície de erro</a:t>
            </a:r>
            <a:r>
              <a:rPr lang="pt-BR" dirty="0"/>
              <a:t>, i.e., o ponto que nos dá os pesos ótimos.</a:t>
            </a:r>
          </a:p>
          <a:p>
            <a:r>
              <a:rPr lang="pt-BR" dirty="0"/>
              <a:t>É inicializado com </a:t>
            </a:r>
            <a:r>
              <a:rPr lang="pt-BR" b="1" dirty="0"/>
              <a:t>pesos (i.e., em pontos) aleatórios</a:t>
            </a:r>
            <a:r>
              <a:rPr lang="pt-BR" dirty="0"/>
              <a:t>.</a:t>
            </a:r>
          </a:p>
          <a:p>
            <a:r>
              <a:rPr lang="pt-BR" dirty="0"/>
              <a:t>E, a cada iteração, ele </a:t>
            </a:r>
            <a:r>
              <a:rPr lang="pt-BR" b="1" dirty="0"/>
              <a:t>refina</a:t>
            </a:r>
            <a:r>
              <a:rPr lang="pt-BR" dirty="0"/>
              <a:t> os valores dos pesos, ficando mais e mais próximos do ponto de mínimo.</a:t>
            </a:r>
          </a:p>
        </p:txBody>
      </p:sp>
      <p:grpSp>
        <p:nvGrpSpPr>
          <p:cNvPr id="4" name="Agrupar 4">
            <a:extLst>
              <a:ext uri="{FF2B5EF4-FFF2-40B4-BE49-F238E27FC236}">
                <a16:creationId xmlns:a16="http://schemas.microsoft.com/office/drawing/2014/main" id="{84412B71-A2C7-E89B-BE04-C2E70AB63FB6}"/>
              </a:ext>
            </a:extLst>
          </p:cNvPr>
          <p:cNvGrpSpPr/>
          <p:nvPr/>
        </p:nvGrpSpPr>
        <p:grpSpPr>
          <a:xfrm>
            <a:off x="838200" y="1994437"/>
            <a:ext cx="4381189" cy="4360505"/>
            <a:chOff x="55618" y="2251324"/>
            <a:chExt cx="4381189" cy="4360505"/>
          </a:xfrm>
        </p:grpSpPr>
        <p:grpSp>
          <p:nvGrpSpPr>
            <p:cNvPr id="5" name="Agrupar 5">
              <a:extLst>
                <a:ext uri="{FF2B5EF4-FFF2-40B4-BE49-F238E27FC236}">
                  <a16:creationId xmlns:a16="http://schemas.microsoft.com/office/drawing/2014/main" id="{FB0DCC50-E74B-B0C7-FD19-2CD268B79A24}"/>
                </a:ext>
              </a:extLst>
            </p:cNvPr>
            <p:cNvGrpSpPr/>
            <p:nvPr/>
          </p:nvGrpSpPr>
          <p:grpSpPr>
            <a:xfrm>
              <a:off x="55618" y="2251324"/>
              <a:ext cx="4381189" cy="4360505"/>
              <a:chOff x="930667" y="1938641"/>
              <a:chExt cx="4381189" cy="4360505"/>
            </a:xfrm>
          </p:grpSpPr>
          <p:grpSp>
            <p:nvGrpSpPr>
              <p:cNvPr id="8" name="Agrupar 8">
                <a:extLst>
                  <a:ext uri="{FF2B5EF4-FFF2-40B4-BE49-F238E27FC236}">
                    <a16:creationId xmlns:a16="http://schemas.microsoft.com/office/drawing/2014/main" id="{7FD92229-0631-3DCD-1FF9-A49AE18B66EF}"/>
                  </a:ext>
                </a:extLst>
              </p:cNvPr>
              <p:cNvGrpSpPr/>
              <p:nvPr/>
            </p:nvGrpSpPr>
            <p:grpSpPr>
              <a:xfrm>
                <a:off x="930667" y="1938641"/>
                <a:ext cx="4381189" cy="4360505"/>
                <a:chOff x="447782" y="1825625"/>
                <a:chExt cx="4381189" cy="4360505"/>
              </a:xfrm>
            </p:grpSpPr>
            <p:grpSp>
              <p:nvGrpSpPr>
                <p:cNvPr id="18" name="Agrupar 44">
                  <a:extLst>
                    <a:ext uri="{FF2B5EF4-FFF2-40B4-BE49-F238E27FC236}">
                      <a16:creationId xmlns:a16="http://schemas.microsoft.com/office/drawing/2014/main" id="{9E0EE296-BA0A-9E88-428D-23EFF31F9CDD}"/>
                    </a:ext>
                  </a:extLst>
                </p:cNvPr>
                <p:cNvGrpSpPr/>
                <p:nvPr/>
              </p:nvGrpSpPr>
              <p:grpSpPr>
                <a:xfrm>
                  <a:off x="447782" y="1825625"/>
                  <a:ext cx="4381189" cy="3859236"/>
                  <a:chOff x="1592492" y="1393380"/>
                  <a:chExt cx="3155387" cy="2846768"/>
                </a:xfrm>
              </p:grpSpPr>
              <p:pic>
                <p:nvPicPr>
                  <p:cNvPr id="27" name="Picture 2" descr="Visualization for Function Optimization in Python -  MachineLearningMastery.com">
                    <a:extLst>
                      <a:ext uri="{FF2B5EF4-FFF2-40B4-BE49-F238E27FC236}">
                        <a16:creationId xmlns:a16="http://schemas.microsoft.com/office/drawing/2014/main" id="{44D88D47-5822-C7A4-E1B5-0AF53981D02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id="{D3302DEB-0BAF-20B2-A12B-7E3667CD882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0264388D-BD42-DE8D-1EDA-911DD626CE21}"/>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0" name="CaixaDeTexto 29">
                        <a:extLst>
                          <a:ext uri="{FF2B5EF4-FFF2-40B4-BE49-F238E27FC236}">
                            <a16:creationId xmlns:a16="http://schemas.microsoft.com/office/drawing/2014/main" id="{585BAA01-510A-C118-CA93-5A46D3C329CC}"/>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𝐄𝐐𝐌</m:t>
                              </m:r>
                            </m:oMath>
                          </m:oMathPara>
                        </a14:m>
                        <a:endParaRPr lang="pt-BR" b="1" dirty="0"/>
                      </a:p>
                    </p:txBody>
                  </p:sp>
                </mc:Choice>
                <mc:Fallback xmlns="">
                  <p:sp>
                    <p:nvSpPr>
                      <p:cNvPr id="41" name="CaixaDeTexto 40">
                        <a:extLst>
                          <a:ext uri="{FF2B5EF4-FFF2-40B4-BE49-F238E27FC236}">
                            <a16:creationId xmlns:a16="http://schemas.microsoft.com/office/drawing/2014/main" id="{B86ACC41-6A24-7A4D-DE0B-040FA766A60D}"/>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b="-9836"/>
                        </a:stretch>
                      </a:blipFill>
                    </p:spPr>
                    <p:txBody>
                      <a:bodyPr/>
                      <a:lstStyle/>
                      <a:p>
                        <a:r>
                          <a:rPr lang="pt-BR">
                            <a:noFill/>
                          </a:rPr>
                          <a:t> </a:t>
                        </a:r>
                      </a:p>
                    </p:txBody>
                  </p:sp>
                </mc:Fallback>
              </mc:AlternateContent>
            </p:grpSp>
            <p:sp>
              <p:nvSpPr>
                <p:cNvPr id="19" name="Elipse 18">
                  <a:extLst>
                    <a:ext uri="{FF2B5EF4-FFF2-40B4-BE49-F238E27FC236}">
                      <a16:creationId xmlns:a16="http://schemas.microsoft.com/office/drawing/2014/main" id="{048570E9-84B4-263B-42B4-31A2588FB83B}"/>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id="{F03C6EA3-09F9-5AF4-2C93-055E20E87D18}"/>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id="{09BF1C12-E6A9-0B8A-A4BE-A0CDC64BF5EB}"/>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id="{BAD148F8-88A1-9983-64AC-7DC9A33D0083}"/>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id="{C07E394D-50B1-689C-6846-C8A7447896B9}"/>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id="{A506799A-6B61-E22B-5542-D0125466F84F}"/>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5" name="Conector de Seta Reta 51">
                  <a:extLst>
                    <a:ext uri="{FF2B5EF4-FFF2-40B4-BE49-F238E27FC236}">
                      <a16:creationId xmlns:a16="http://schemas.microsoft.com/office/drawing/2014/main" id="{4C86C60D-83E6-EFF1-0757-FBEE2440C7F6}"/>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FB4BC05E-298F-2552-BE8C-2BBFA977ECA2}"/>
                        </a:ext>
                      </a:extLst>
                    </p:cNvPr>
                    <p:cNvSpPr txBox="1"/>
                    <p:nvPr/>
                  </p:nvSpPr>
                  <p:spPr>
                    <a:xfrm>
                      <a:off x="2426116" y="5601355"/>
                      <a:ext cx="1483596" cy="584775"/>
                    </a:xfrm>
                    <a:prstGeom prst="rect">
                      <a:avLst/>
                    </a:prstGeom>
                    <a:noFill/>
                  </p:spPr>
                  <p:txBody>
                    <a:bodyPr wrap="square" rtlCol="0">
                      <a:spAutoFit/>
                    </a:bodyPr>
                    <a:lstStyle/>
                    <a:p>
                      <a:r>
                        <a:rPr lang="pt-BR" sz="1400" b="1" dirty="0">
                          <a:solidFill>
                            <a:srgbClr val="00B0F0"/>
                          </a:solidFill>
                        </a:rPr>
                        <a:t>ponto de mínimo</a:t>
                      </a:r>
                    </a:p>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1" i="1">
                                    <a:latin typeface="Cambria Math" panose="02040503050406030204" pitchFamily="18" charset="0"/>
                                  </a:rPr>
                                  <m:t>ó</m:t>
                                </m:r>
                                <m:r>
                                  <a:rPr lang="pt-BR" b="1" i="1">
                                    <a:latin typeface="Cambria Math" panose="02040503050406030204" pitchFamily="18" charset="0"/>
                                  </a:rPr>
                                  <m:t>𝒕𝒊𝒎𝒐</m:t>
                                </m:r>
                              </m:sub>
                            </m:sSub>
                          </m:oMath>
                        </m:oMathPara>
                      </a14:m>
                      <a:endParaRPr lang="pt-BR" b="1" dirty="0"/>
                    </a:p>
                  </p:txBody>
                </p:sp>
              </mc:Choice>
              <mc:Fallback xmlns="">
                <p:sp>
                  <p:nvSpPr>
                    <p:cNvPr id="26" name="CaixaDeTexto 25">
                      <a:extLst>
                        <a:ext uri="{FF2B5EF4-FFF2-40B4-BE49-F238E27FC236}">
                          <a16:creationId xmlns:a16="http://schemas.microsoft.com/office/drawing/2014/main" id="{FB4BC05E-298F-2552-BE8C-2BBFA977ECA2}"/>
                        </a:ext>
                      </a:extLst>
                    </p:cNvPr>
                    <p:cNvSpPr txBox="1">
                      <a:spLocks noRot="1" noChangeAspect="1" noMove="1" noResize="1" noEditPoints="1" noAdjustHandles="1" noChangeArrowheads="1" noChangeShapeType="1" noTextEdit="1"/>
                    </p:cNvSpPr>
                    <p:nvPr/>
                  </p:nvSpPr>
                  <p:spPr>
                    <a:xfrm>
                      <a:off x="2426116" y="5601355"/>
                      <a:ext cx="1483596" cy="584775"/>
                    </a:xfrm>
                    <a:prstGeom prst="rect">
                      <a:avLst/>
                    </a:prstGeom>
                    <a:blipFill>
                      <a:blip r:embed="rId7"/>
                      <a:stretch>
                        <a:fillRect l="-1235" t="-2105"/>
                      </a:stretch>
                    </a:blipFill>
                  </p:spPr>
                  <p:txBody>
                    <a:bodyPr/>
                    <a:lstStyle/>
                    <a:p>
                      <a:r>
                        <a:rPr lang="en-US">
                          <a:noFill/>
                        </a:rPr>
                        <a:t> </a:t>
                      </a:r>
                    </a:p>
                  </p:txBody>
                </p:sp>
              </mc:Fallback>
            </mc:AlternateContent>
          </p:grpSp>
          <p:sp>
            <p:nvSpPr>
              <p:cNvPr id="9" name="Elipse 8">
                <a:extLst>
                  <a:ext uri="{FF2B5EF4-FFF2-40B4-BE49-F238E27FC236}">
                    <a16:creationId xmlns:a16="http://schemas.microsoft.com/office/drawing/2014/main" id="{35F2A8C3-8F29-6C0D-DEBF-574DE751D83A}"/>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id="{D1D65435-8067-43D7-8B85-B58B5FE78F2B}"/>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CE6F24E9-AEC3-E8E8-ACE1-5AB643448FDA}"/>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8FACFAF7-7CF9-2A68-6DC3-73E2F744A7A7}"/>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id="{23FC64BF-9399-8DED-CE7B-6F37E3B76D0A}"/>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id="{6CFC6E21-F686-D9AD-1678-277756D9D6E1}"/>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id="{EA4C6F73-7F27-70C2-998B-E17C2EF4CE32}"/>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id="{A4A39634-3F5F-74B0-1F5F-3C4537D68CCD}"/>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id="{204AE0DB-6550-BA4B-42F4-3D291466092E}"/>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id="{17F23E77-B76E-73C8-AB63-BA858F6FEDAE}"/>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id="{E63CF6F2-828D-404E-FB76-EDD94F5EE7C4}"/>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6247619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BEFD801-7E8D-0885-F1AD-8DAF6F77CEEE}"/>
              </a:ext>
            </a:extLst>
          </p:cNvPr>
          <p:cNvSpPr>
            <a:spLocks noGrp="1"/>
          </p:cNvSpPr>
          <p:nvPr>
            <p:ph type="title"/>
          </p:nvPr>
        </p:nvSpPr>
        <p:spPr/>
        <p:txBody>
          <a:bodyPr/>
          <a:lstStyle/>
          <a:p>
            <a:r>
              <a:rPr lang="pt-BR" dirty="0"/>
              <a:t>Gradiente descendente</a:t>
            </a:r>
          </a:p>
        </p:txBody>
      </p:sp>
      <p:sp>
        <p:nvSpPr>
          <p:cNvPr id="3" name="Espaço Reservado para Conteúdo 2">
            <a:extLst>
              <a:ext uri="{FF2B5EF4-FFF2-40B4-BE49-F238E27FC236}">
                <a16:creationId xmlns:a16="http://schemas.microsoft.com/office/drawing/2014/main" id="{9BA6276C-11C7-FBDF-9CC4-A84A195D7527}"/>
              </a:ext>
            </a:extLst>
          </p:cNvPr>
          <p:cNvSpPr>
            <a:spLocks noGrp="1"/>
          </p:cNvSpPr>
          <p:nvPr>
            <p:ph idx="1"/>
          </p:nvPr>
        </p:nvSpPr>
        <p:spPr>
          <a:xfrm>
            <a:off x="5722706" y="1825625"/>
            <a:ext cx="6240694" cy="5032376"/>
          </a:xfrm>
        </p:spPr>
        <p:txBody>
          <a:bodyPr>
            <a:normAutofit/>
          </a:bodyPr>
          <a:lstStyle/>
          <a:p>
            <a:r>
              <a:rPr lang="pt-BR" dirty="0"/>
              <a:t>Esse </a:t>
            </a:r>
            <a:r>
              <a:rPr lang="pt-BR" b="1" i="1" dirty="0">
                <a:solidFill>
                  <a:srgbClr val="00B050"/>
                </a:solidFill>
              </a:rPr>
              <a:t>processo de busca</a:t>
            </a:r>
            <a:r>
              <a:rPr lang="pt-BR" dirty="0"/>
              <a:t> que tem como </a:t>
            </a:r>
            <a:r>
              <a:rPr lang="pt-BR" b="1" i="1" dirty="0">
                <a:solidFill>
                  <a:srgbClr val="00B050"/>
                </a:solidFill>
              </a:rPr>
              <a:t>objetivo</a:t>
            </a:r>
            <a:r>
              <a:rPr lang="pt-BR" dirty="0"/>
              <a:t> encontrar o </a:t>
            </a:r>
            <a:r>
              <a:rPr lang="pt-BR" b="1" i="1" dirty="0">
                <a:solidFill>
                  <a:srgbClr val="00B050"/>
                </a:solidFill>
              </a:rPr>
              <a:t>ponto</a:t>
            </a:r>
            <a:r>
              <a:rPr lang="pt-BR" dirty="0"/>
              <a:t> que </a:t>
            </a:r>
            <a:r>
              <a:rPr lang="pt-BR" b="1" i="1" dirty="0">
                <a:solidFill>
                  <a:srgbClr val="00B050"/>
                </a:solidFill>
              </a:rPr>
              <a:t>minimiza o erro </a:t>
            </a:r>
            <a:r>
              <a:rPr lang="pt-BR" dirty="0"/>
              <a:t>é chamado de </a:t>
            </a:r>
            <a:r>
              <a:rPr lang="pt-BR" b="1" i="1" dirty="0">
                <a:solidFill>
                  <a:schemeClr val="accent2"/>
                </a:solidFill>
              </a:rPr>
              <a:t>otimização</a:t>
            </a:r>
            <a:r>
              <a:rPr lang="pt-BR" dirty="0"/>
              <a:t> e, no contexto de ML, é conhecido como </a:t>
            </a:r>
            <a:r>
              <a:rPr lang="pt-BR" b="1" i="1" dirty="0">
                <a:solidFill>
                  <a:srgbClr val="7030A0"/>
                </a:solidFill>
              </a:rPr>
              <a:t>treinamento do modelo</a:t>
            </a:r>
            <a:r>
              <a:rPr lang="pt-BR" dirty="0"/>
              <a:t>.</a:t>
            </a:r>
          </a:p>
          <a:p>
            <a:pPr lvl="1">
              <a:buFont typeface="Wingdings" panose="05000000000000000000" pitchFamily="2" charset="2"/>
              <a:buChar char="§"/>
            </a:pPr>
            <a:r>
              <a:rPr lang="pt-BR" dirty="0"/>
              <a:t>Treinamento é o processo de </a:t>
            </a:r>
            <a:r>
              <a:rPr lang="pt-BR" b="1" i="1" dirty="0">
                <a:solidFill>
                  <a:srgbClr val="00B050"/>
                </a:solidFill>
              </a:rPr>
              <a:t>atualizar o modelo</a:t>
            </a:r>
            <a:r>
              <a:rPr lang="pt-BR" dirty="0"/>
              <a:t> para obter predições melhores a cada </a:t>
            </a:r>
            <a:r>
              <a:rPr lang="pt-BR" b="1" i="1" dirty="0">
                <a:solidFill>
                  <a:srgbClr val="00B050"/>
                </a:solidFill>
              </a:rPr>
              <a:t>iteração</a:t>
            </a:r>
            <a:r>
              <a:rPr lang="pt-BR" dirty="0"/>
              <a:t>.</a:t>
            </a:r>
          </a:p>
        </p:txBody>
      </p:sp>
      <p:grpSp>
        <p:nvGrpSpPr>
          <p:cNvPr id="107" name="Agrupar 106">
            <a:extLst>
              <a:ext uri="{FF2B5EF4-FFF2-40B4-BE49-F238E27FC236}">
                <a16:creationId xmlns:a16="http://schemas.microsoft.com/office/drawing/2014/main" id="{9F6194FB-F234-5221-2C40-FEA9956AEE0C}"/>
              </a:ext>
            </a:extLst>
          </p:cNvPr>
          <p:cNvGrpSpPr/>
          <p:nvPr/>
        </p:nvGrpSpPr>
        <p:grpSpPr>
          <a:xfrm>
            <a:off x="725184" y="1825625"/>
            <a:ext cx="4381189" cy="4360505"/>
            <a:chOff x="447782" y="1825625"/>
            <a:chExt cx="4381189" cy="4360505"/>
          </a:xfrm>
        </p:grpSpPr>
        <p:grpSp>
          <p:nvGrpSpPr>
            <p:cNvPr id="25" name="Agrupar 24">
              <a:extLst>
                <a:ext uri="{FF2B5EF4-FFF2-40B4-BE49-F238E27FC236}">
                  <a16:creationId xmlns:a16="http://schemas.microsoft.com/office/drawing/2014/main" id="{840F54E6-6D97-C31B-F9D8-19F2AA3CDBF5}"/>
                </a:ext>
              </a:extLst>
            </p:cNvPr>
            <p:cNvGrpSpPr/>
            <p:nvPr/>
          </p:nvGrpSpPr>
          <p:grpSpPr>
            <a:xfrm>
              <a:off x="447782" y="1825625"/>
              <a:ext cx="4381189" cy="3859236"/>
              <a:chOff x="1592492" y="1393380"/>
              <a:chExt cx="3155387" cy="2846768"/>
            </a:xfrm>
          </p:grpSpPr>
          <p:pic>
            <p:nvPicPr>
              <p:cNvPr id="26" name="Picture 2" descr="Visualization for Function Optimization in Python -  MachineLearningMastery.com">
                <a:extLst>
                  <a:ext uri="{FF2B5EF4-FFF2-40B4-BE49-F238E27FC236}">
                    <a16:creationId xmlns:a16="http://schemas.microsoft.com/office/drawing/2014/main" id="{374B63DB-288A-70B9-44EF-3580F40CCC0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7" name="CaixaDeTexto 26">
                    <a:extLst>
                      <a:ext uri="{FF2B5EF4-FFF2-40B4-BE49-F238E27FC236}">
                        <a16:creationId xmlns:a16="http://schemas.microsoft.com/office/drawing/2014/main" id="{00D42F04-97F1-C0EA-6B00-D0BD117CDEF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1FCA9EDF-24EB-6DAA-4AB3-9E76EE2FB342}"/>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2" name="CaixaDeTexto 31">
                    <a:extLst>
                      <a:ext uri="{FF2B5EF4-FFF2-40B4-BE49-F238E27FC236}">
                        <a16:creationId xmlns:a16="http://schemas.microsoft.com/office/drawing/2014/main" id="{5C41B175-64DA-79AF-4D15-C9A59E4443D8}"/>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𝐌𝐒𝐄</m:t>
                          </m:r>
                        </m:oMath>
                      </m:oMathPara>
                    </a14:m>
                    <a:endParaRPr lang="pt-BR" b="1" dirty="0"/>
                  </a:p>
                </p:txBody>
              </p:sp>
            </mc:Choice>
            <mc:Fallback xmlns="">
              <p:sp>
                <p:nvSpPr>
                  <p:cNvPr id="32" name="CaixaDeTexto 31">
                    <a:extLst>
                      <a:ext uri="{FF2B5EF4-FFF2-40B4-BE49-F238E27FC236}">
                        <a16:creationId xmlns:a16="http://schemas.microsoft.com/office/drawing/2014/main" id="{5C41B175-64DA-79AF-4D15-C9A59E4443D8}"/>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5"/>
                    <a:stretch>
                      <a:fillRect/>
                    </a:stretch>
                  </a:blipFill>
                </p:spPr>
                <p:txBody>
                  <a:bodyPr/>
                  <a:lstStyle/>
                  <a:p>
                    <a:r>
                      <a:rPr lang="pt-BR">
                        <a:noFill/>
                      </a:rPr>
                      <a:t> </a:t>
                    </a:r>
                  </a:p>
                </p:txBody>
              </p:sp>
            </mc:Fallback>
          </mc:AlternateContent>
        </p:grpSp>
        <p:sp>
          <p:nvSpPr>
            <p:cNvPr id="33" name="Elipse 32">
              <a:extLst>
                <a:ext uri="{FF2B5EF4-FFF2-40B4-BE49-F238E27FC236}">
                  <a16:creationId xmlns:a16="http://schemas.microsoft.com/office/drawing/2014/main" id="{ADFE79DF-D458-343A-A13D-98FD73B6A5F6}"/>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6" name="Conector de Seta Reta 35">
              <a:extLst>
                <a:ext uri="{FF2B5EF4-FFF2-40B4-BE49-F238E27FC236}">
                  <a16:creationId xmlns:a16="http://schemas.microsoft.com/office/drawing/2014/main" id="{C80ACF3A-3CFA-A0BC-CB05-D0ECA5FA14D5}"/>
                </a:ext>
              </a:extLst>
            </p:cNvPr>
            <p:cNvCxnSpPr>
              <a:cxnSpLocks/>
            </p:cNvCxnSpPr>
            <p:nvPr/>
          </p:nvCxnSpPr>
          <p:spPr>
            <a:xfrm>
              <a:off x="1595006" y="3476156"/>
              <a:ext cx="213643" cy="40525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 name="Conector reto 40">
              <a:extLst>
                <a:ext uri="{FF2B5EF4-FFF2-40B4-BE49-F238E27FC236}">
                  <a16:creationId xmlns:a16="http://schemas.microsoft.com/office/drawing/2014/main" id="{E4FB3ED5-CBA0-424D-0693-7F2E0B11F067}"/>
                </a:ext>
              </a:extLst>
            </p:cNvPr>
            <p:cNvCxnSpPr>
              <a:cxnSpLocks/>
              <a:endCxn id="33"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47" name="Conector reto 46">
              <a:extLst>
                <a:ext uri="{FF2B5EF4-FFF2-40B4-BE49-F238E27FC236}">
                  <a16:creationId xmlns:a16="http://schemas.microsoft.com/office/drawing/2014/main" id="{60709E57-1952-D602-5A8C-33759AF63ECF}"/>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55" name="Conector reto 54">
              <a:extLst>
                <a:ext uri="{FF2B5EF4-FFF2-40B4-BE49-F238E27FC236}">
                  <a16:creationId xmlns:a16="http://schemas.microsoft.com/office/drawing/2014/main" id="{70469046-E645-754E-8DAB-C5843FA2CA4C}"/>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94" name="Conector reto 93">
              <a:extLst>
                <a:ext uri="{FF2B5EF4-FFF2-40B4-BE49-F238E27FC236}">
                  <a16:creationId xmlns:a16="http://schemas.microsoft.com/office/drawing/2014/main" id="{1BCFD666-1E92-D928-BC71-CEB6A8691777}"/>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97" name="Conector reto 96">
              <a:extLst>
                <a:ext uri="{FF2B5EF4-FFF2-40B4-BE49-F238E27FC236}">
                  <a16:creationId xmlns:a16="http://schemas.microsoft.com/office/drawing/2014/main" id="{A4C7AE2B-6CC5-1709-3D07-1602E5412267}"/>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104" name="Conector de Seta Reta 103">
              <a:extLst>
                <a:ext uri="{FF2B5EF4-FFF2-40B4-BE49-F238E27FC236}">
                  <a16:creationId xmlns:a16="http://schemas.microsoft.com/office/drawing/2014/main" id="{79BBFED7-3E57-8610-AD49-8A0A1D984CA1}"/>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5" name="CaixaDeTexto 104">
                  <a:extLst>
                    <a:ext uri="{FF2B5EF4-FFF2-40B4-BE49-F238E27FC236}">
                      <a16:creationId xmlns:a16="http://schemas.microsoft.com/office/drawing/2014/main" id="{4AA6498F-657F-137E-D70A-390BEE15E5F0}"/>
                    </a:ext>
                  </a:extLst>
                </p:cNvPr>
                <p:cNvSpPr txBox="1"/>
                <p:nvPr/>
              </p:nvSpPr>
              <p:spPr>
                <a:xfrm>
                  <a:off x="2426116" y="5601355"/>
                  <a:ext cx="1483596" cy="584775"/>
                </a:xfrm>
                <a:prstGeom prst="rect">
                  <a:avLst/>
                </a:prstGeom>
                <a:noFill/>
              </p:spPr>
              <p:txBody>
                <a:bodyPr wrap="square" rtlCol="0">
                  <a:spAutoFit/>
                </a:bodyPr>
                <a:lstStyle/>
                <a:p>
                  <a:r>
                    <a:rPr lang="pt-BR" sz="1400" b="1" dirty="0">
                      <a:solidFill>
                        <a:srgbClr val="00B0F0"/>
                      </a:solidFill>
                    </a:rPr>
                    <a:t>ponto de mínimo</a:t>
                  </a:r>
                </a:p>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1" i="1">
                                <a:latin typeface="Cambria Math" panose="02040503050406030204" pitchFamily="18" charset="0"/>
                              </a:rPr>
                              <m:t>ó</m:t>
                            </m:r>
                            <m:r>
                              <a:rPr lang="pt-BR" b="1" i="1">
                                <a:latin typeface="Cambria Math" panose="02040503050406030204" pitchFamily="18" charset="0"/>
                              </a:rPr>
                              <m:t>𝒕𝒊𝒎𝒐</m:t>
                            </m:r>
                          </m:sub>
                        </m:sSub>
                      </m:oMath>
                    </m:oMathPara>
                  </a14:m>
                  <a:endParaRPr lang="pt-BR" sz="1400" b="1" dirty="0"/>
                </a:p>
              </p:txBody>
            </p:sp>
          </mc:Choice>
          <mc:Fallback xmlns="">
            <p:sp>
              <p:nvSpPr>
                <p:cNvPr id="105" name="CaixaDeTexto 104">
                  <a:extLst>
                    <a:ext uri="{FF2B5EF4-FFF2-40B4-BE49-F238E27FC236}">
                      <a16:creationId xmlns:a16="http://schemas.microsoft.com/office/drawing/2014/main" id="{4AA6498F-657F-137E-D70A-390BEE15E5F0}"/>
                    </a:ext>
                  </a:extLst>
                </p:cNvPr>
                <p:cNvSpPr txBox="1">
                  <a:spLocks noRot="1" noChangeAspect="1" noMove="1" noResize="1" noEditPoints="1" noAdjustHandles="1" noChangeArrowheads="1" noChangeShapeType="1" noTextEdit="1"/>
                </p:cNvSpPr>
                <p:nvPr/>
              </p:nvSpPr>
              <p:spPr>
                <a:xfrm>
                  <a:off x="2426116" y="5601355"/>
                  <a:ext cx="1483596" cy="584775"/>
                </a:xfrm>
                <a:prstGeom prst="rect">
                  <a:avLst/>
                </a:prstGeom>
                <a:blipFill>
                  <a:blip r:embed="rId6"/>
                  <a:stretch>
                    <a:fillRect l="-1230" t="-2083"/>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08" name="CaixaDeTexto 107">
                <a:extLst>
                  <a:ext uri="{FF2B5EF4-FFF2-40B4-BE49-F238E27FC236}">
                    <a16:creationId xmlns:a16="http://schemas.microsoft.com/office/drawing/2014/main" id="{1D98E349-DD7D-48A2-457D-33CE98A94DE2}"/>
                  </a:ext>
                </a:extLst>
              </p:cNvPr>
              <p:cNvSpPr txBox="1"/>
              <p:nvPr/>
            </p:nvSpPr>
            <p:spPr>
              <a:xfrm>
                <a:off x="1942847" y="2907775"/>
                <a:ext cx="1683810" cy="738664"/>
              </a:xfrm>
              <a:prstGeom prst="rect">
                <a:avLst/>
              </a:prstGeom>
              <a:noFill/>
            </p:spPr>
            <p:txBody>
              <a:bodyPr wrap="square" rtlCol="0">
                <a:spAutoFit/>
              </a:bodyPr>
              <a:lstStyle/>
              <a:p>
                <a:pPr algn="ctr"/>
                <a:r>
                  <a:rPr lang="pt-BR" sz="1400" dirty="0"/>
                  <a:t>Vá em direção a valores maiores de </a:t>
                </a:r>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𝑎</m:t>
                        </m:r>
                      </m:e>
                      <m:sub>
                        <m:r>
                          <a:rPr lang="pt-BR" sz="1400" i="1">
                            <a:latin typeface="Cambria Math" panose="02040503050406030204" pitchFamily="18" charset="0"/>
                          </a:rPr>
                          <m:t>0</m:t>
                        </m:r>
                      </m:sub>
                    </m:sSub>
                  </m:oMath>
                </a14:m>
                <a:r>
                  <a:rPr lang="pt-BR" sz="1400" dirty="0"/>
                  <a:t> e menores de </a:t>
                </a:r>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𝑎</m:t>
                        </m:r>
                      </m:e>
                      <m:sub>
                        <m:r>
                          <a:rPr lang="pt-BR" sz="1400" b="0" i="1" smtClean="0">
                            <a:latin typeface="Cambria Math" panose="02040503050406030204" pitchFamily="18" charset="0"/>
                          </a:rPr>
                          <m:t>1</m:t>
                        </m:r>
                      </m:sub>
                    </m:sSub>
                  </m:oMath>
                </a14:m>
                <a:r>
                  <a:rPr lang="pt-BR" sz="1400" dirty="0"/>
                  <a:t>.</a:t>
                </a:r>
              </a:p>
            </p:txBody>
          </p:sp>
        </mc:Choice>
        <mc:Fallback xmlns="">
          <p:sp>
            <p:nvSpPr>
              <p:cNvPr id="108" name="CaixaDeTexto 107">
                <a:extLst>
                  <a:ext uri="{FF2B5EF4-FFF2-40B4-BE49-F238E27FC236}">
                    <a16:creationId xmlns:a16="http://schemas.microsoft.com/office/drawing/2014/main" id="{1D98E349-DD7D-48A2-457D-33CE98A94DE2}"/>
                  </a:ext>
                </a:extLst>
              </p:cNvPr>
              <p:cNvSpPr txBox="1">
                <a:spLocks noRot="1" noChangeAspect="1" noMove="1" noResize="1" noEditPoints="1" noAdjustHandles="1" noChangeArrowheads="1" noChangeShapeType="1" noTextEdit="1"/>
              </p:cNvSpPr>
              <p:nvPr/>
            </p:nvSpPr>
            <p:spPr>
              <a:xfrm>
                <a:off x="1942847" y="2907775"/>
                <a:ext cx="1683810" cy="738664"/>
              </a:xfrm>
              <a:prstGeom prst="rect">
                <a:avLst/>
              </a:prstGeom>
              <a:blipFill>
                <a:blip r:embed="rId7"/>
                <a:stretch>
                  <a:fillRect t="-1653" b="-7438"/>
                </a:stretch>
              </a:blipFill>
            </p:spPr>
            <p:txBody>
              <a:bodyPr/>
              <a:lstStyle/>
              <a:p>
                <a:r>
                  <a:rPr lang="pt-BR">
                    <a:noFill/>
                  </a:rPr>
                  <a:t> </a:t>
                </a:r>
              </a:p>
            </p:txBody>
          </p:sp>
        </mc:Fallback>
      </mc:AlternateContent>
    </p:spTree>
    <p:extLst>
      <p:ext uri="{BB962C8B-B14F-4D97-AF65-F5344CB8AC3E}">
        <p14:creationId xmlns:p14="http://schemas.microsoft.com/office/powerpoint/2010/main" val="100205222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BEFD801-7E8D-0885-F1AD-8DAF6F77CEEE}"/>
              </a:ext>
            </a:extLst>
          </p:cNvPr>
          <p:cNvSpPr>
            <a:spLocks noGrp="1"/>
          </p:cNvSpPr>
          <p:nvPr>
            <p:ph type="title"/>
          </p:nvPr>
        </p:nvSpPr>
        <p:spPr/>
        <p:txBody>
          <a:bodyPr/>
          <a:lstStyle/>
          <a:p>
            <a:r>
              <a:rPr lang="pt-BR" dirty="0"/>
              <a:t>Gradiente descendente</a:t>
            </a:r>
          </a:p>
        </p:txBody>
      </p:sp>
      <p:sp>
        <p:nvSpPr>
          <p:cNvPr id="3" name="Espaço Reservado para Conteúdo 2">
            <a:extLst>
              <a:ext uri="{FF2B5EF4-FFF2-40B4-BE49-F238E27FC236}">
                <a16:creationId xmlns:a16="http://schemas.microsoft.com/office/drawing/2014/main" id="{9BA6276C-11C7-FBDF-9CC4-A84A195D7527}"/>
              </a:ext>
            </a:extLst>
          </p:cNvPr>
          <p:cNvSpPr>
            <a:spLocks noGrp="1"/>
          </p:cNvSpPr>
          <p:nvPr>
            <p:ph idx="1"/>
          </p:nvPr>
        </p:nvSpPr>
        <p:spPr>
          <a:xfrm>
            <a:off x="5604007" y="1825625"/>
            <a:ext cx="6457854" cy="5032376"/>
          </a:xfrm>
        </p:spPr>
        <p:txBody>
          <a:bodyPr>
            <a:normAutofit/>
          </a:bodyPr>
          <a:lstStyle/>
          <a:p>
            <a:r>
              <a:rPr lang="pt-BR" dirty="0"/>
              <a:t>O </a:t>
            </a:r>
            <a:r>
              <a:rPr lang="pt-BR" b="1" i="1" dirty="0">
                <a:solidFill>
                  <a:srgbClr val="00B050"/>
                </a:solidFill>
              </a:rPr>
              <a:t>treinamento</a:t>
            </a:r>
            <a:r>
              <a:rPr lang="pt-BR" dirty="0"/>
              <a:t> (ou atualização) do modelo se </a:t>
            </a:r>
            <a:r>
              <a:rPr lang="pt-BR" b="1" i="1" dirty="0">
                <a:solidFill>
                  <a:srgbClr val="00B050"/>
                </a:solidFill>
              </a:rPr>
              <a:t>baseia</a:t>
            </a:r>
            <a:r>
              <a:rPr lang="pt-BR" dirty="0"/>
              <a:t> na </a:t>
            </a:r>
            <a:r>
              <a:rPr lang="pt-BR" b="1" i="1" dirty="0">
                <a:solidFill>
                  <a:srgbClr val="7030A0"/>
                </a:solidFill>
              </a:rPr>
              <a:t>informação obtida a partir da função de erro</a:t>
            </a:r>
            <a:r>
              <a:rPr lang="pt-BR" dirty="0"/>
              <a:t>.</a:t>
            </a:r>
          </a:p>
          <a:p>
            <a:r>
              <a:rPr lang="pt-BR" dirty="0"/>
              <a:t>Essa informação </a:t>
            </a:r>
            <a:r>
              <a:rPr lang="pt-BR" b="1" i="1" dirty="0">
                <a:solidFill>
                  <a:schemeClr val="accent2"/>
                </a:solidFill>
              </a:rPr>
              <a:t>aponta</a:t>
            </a:r>
            <a:r>
              <a:rPr lang="pt-BR" dirty="0">
                <a:solidFill>
                  <a:schemeClr val="accent2"/>
                </a:solidFill>
              </a:rPr>
              <a:t> </a:t>
            </a:r>
            <a:r>
              <a:rPr lang="pt-BR" b="1" i="1" dirty="0">
                <a:solidFill>
                  <a:srgbClr val="00B050"/>
                </a:solidFill>
              </a:rPr>
              <a:t>para a direção do ponto de mínimo </a:t>
            </a:r>
            <a:r>
              <a:rPr lang="pt-BR" b="1" i="1" dirty="0"/>
              <a:t>(i.e., conjunto de pesos ótimo)</a:t>
            </a:r>
            <a:r>
              <a:rPr lang="pt-BR" dirty="0"/>
              <a:t>.</a:t>
            </a:r>
          </a:p>
          <a:p>
            <a:r>
              <a:rPr lang="pt-BR" dirty="0"/>
              <a:t>Como veremos, de posse da informação trazida pelo erro, o </a:t>
            </a:r>
            <a:r>
              <a:rPr lang="pt-BR" b="1" dirty="0">
                <a:solidFill>
                  <a:srgbClr val="00B050"/>
                </a:solidFill>
              </a:rPr>
              <a:t>gradiente descendente</a:t>
            </a:r>
            <a:r>
              <a:rPr lang="pt-BR" dirty="0"/>
              <a:t> </a:t>
            </a:r>
            <a:r>
              <a:rPr lang="pt-BR" b="1" dirty="0">
                <a:solidFill>
                  <a:srgbClr val="7030A0"/>
                </a:solidFill>
              </a:rPr>
              <a:t>caminha iterativamente</a:t>
            </a:r>
            <a:r>
              <a:rPr lang="pt-BR" dirty="0">
                <a:solidFill>
                  <a:srgbClr val="7030A0"/>
                </a:solidFill>
              </a:rPr>
              <a:t> </a:t>
            </a:r>
            <a:r>
              <a:rPr lang="pt-BR" dirty="0"/>
              <a:t>através da </a:t>
            </a:r>
            <a:r>
              <a:rPr lang="pt-BR" b="1" dirty="0">
                <a:solidFill>
                  <a:srgbClr val="00B050"/>
                </a:solidFill>
              </a:rPr>
              <a:t>superfície de erro</a:t>
            </a:r>
            <a:r>
              <a:rPr lang="pt-BR" dirty="0"/>
              <a:t> até o </a:t>
            </a:r>
            <a:r>
              <a:rPr lang="pt-BR" b="1" dirty="0">
                <a:solidFill>
                  <a:srgbClr val="00B050"/>
                </a:solidFill>
              </a:rPr>
              <a:t>ponto de mínimo.</a:t>
            </a:r>
          </a:p>
        </p:txBody>
      </p:sp>
      <p:grpSp>
        <p:nvGrpSpPr>
          <p:cNvPr id="107" name="Agrupar 106">
            <a:extLst>
              <a:ext uri="{FF2B5EF4-FFF2-40B4-BE49-F238E27FC236}">
                <a16:creationId xmlns:a16="http://schemas.microsoft.com/office/drawing/2014/main" id="{9F6194FB-F234-5221-2C40-FEA9956AEE0C}"/>
              </a:ext>
            </a:extLst>
          </p:cNvPr>
          <p:cNvGrpSpPr/>
          <p:nvPr/>
        </p:nvGrpSpPr>
        <p:grpSpPr>
          <a:xfrm>
            <a:off x="725184" y="1825625"/>
            <a:ext cx="4381189" cy="4360505"/>
            <a:chOff x="447782" y="1825625"/>
            <a:chExt cx="4381189" cy="4360505"/>
          </a:xfrm>
        </p:grpSpPr>
        <p:grpSp>
          <p:nvGrpSpPr>
            <p:cNvPr id="25" name="Agrupar 24">
              <a:extLst>
                <a:ext uri="{FF2B5EF4-FFF2-40B4-BE49-F238E27FC236}">
                  <a16:creationId xmlns:a16="http://schemas.microsoft.com/office/drawing/2014/main" id="{840F54E6-6D97-C31B-F9D8-19F2AA3CDBF5}"/>
                </a:ext>
              </a:extLst>
            </p:cNvPr>
            <p:cNvGrpSpPr/>
            <p:nvPr/>
          </p:nvGrpSpPr>
          <p:grpSpPr>
            <a:xfrm>
              <a:off x="447782" y="1825625"/>
              <a:ext cx="4381189" cy="3859236"/>
              <a:chOff x="1592492" y="1393380"/>
              <a:chExt cx="3155387" cy="2846768"/>
            </a:xfrm>
          </p:grpSpPr>
          <p:pic>
            <p:nvPicPr>
              <p:cNvPr id="26" name="Picture 2" descr="Visualization for Function Optimization in Python -  MachineLearningMastery.com">
                <a:extLst>
                  <a:ext uri="{FF2B5EF4-FFF2-40B4-BE49-F238E27FC236}">
                    <a16:creationId xmlns:a16="http://schemas.microsoft.com/office/drawing/2014/main" id="{374B63DB-288A-70B9-44EF-3580F40CCC0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7" name="CaixaDeTexto 26">
                    <a:extLst>
                      <a:ext uri="{FF2B5EF4-FFF2-40B4-BE49-F238E27FC236}">
                        <a16:creationId xmlns:a16="http://schemas.microsoft.com/office/drawing/2014/main" id="{00D42F04-97F1-C0EA-6B00-D0BD117CDEF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1FCA9EDF-24EB-6DAA-4AB3-9E76EE2FB342}"/>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2" name="CaixaDeTexto 31">
                    <a:extLst>
                      <a:ext uri="{FF2B5EF4-FFF2-40B4-BE49-F238E27FC236}">
                        <a16:creationId xmlns:a16="http://schemas.microsoft.com/office/drawing/2014/main" id="{5C41B175-64DA-79AF-4D15-C9A59E4443D8}"/>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𝐌𝐒𝐄</m:t>
                          </m:r>
                        </m:oMath>
                      </m:oMathPara>
                    </a14:m>
                    <a:endParaRPr lang="pt-BR" b="1" dirty="0"/>
                  </a:p>
                </p:txBody>
              </p:sp>
            </mc:Choice>
            <mc:Fallback xmlns="">
              <p:sp>
                <p:nvSpPr>
                  <p:cNvPr id="32" name="CaixaDeTexto 31">
                    <a:extLst>
                      <a:ext uri="{FF2B5EF4-FFF2-40B4-BE49-F238E27FC236}">
                        <a16:creationId xmlns:a16="http://schemas.microsoft.com/office/drawing/2014/main" id="{5C41B175-64DA-79AF-4D15-C9A59E4443D8}"/>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a:stretch>
                  </a:blipFill>
                </p:spPr>
                <p:txBody>
                  <a:bodyPr/>
                  <a:lstStyle/>
                  <a:p>
                    <a:r>
                      <a:rPr lang="pt-BR">
                        <a:noFill/>
                      </a:rPr>
                      <a:t> </a:t>
                    </a:r>
                  </a:p>
                </p:txBody>
              </p:sp>
            </mc:Fallback>
          </mc:AlternateContent>
        </p:grpSp>
        <p:sp>
          <p:nvSpPr>
            <p:cNvPr id="33" name="Elipse 32">
              <a:extLst>
                <a:ext uri="{FF2B5EF4-FFF2-40B4-BE49-F238E27FC236}">
                  <a16:creationId xmlns:a16="http://schemas.microsoft.com/office/drawing/2014/main" id="{ADFE79DF-D458-343A-A13D-98FD73B6A5F6}"/>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6" name="Conector de Seta Reta 35">
              <a:extLst>
                <a:ext uri="{FF2B5EF4-FFF2-40B4-BE49-F238E27FC236}">
                  <a16:creationId xmlns:a16="http://schemas.microsoft.com/office/drawing/2014/main" id="{C80ACF3A-3CFA-A0BC-CB05-D0ECA5FA14D5}"/>
                </a:ext>
              </a:extLst>
            </p:cNvPr>
            <p:cNvCxnSpPr>
              <a:cxnSpLocks/>
            </p:cNvCxnSpPr>
            <p:nvPr/>
          </p:nvCxnSpPr>
          <p:spPr>
            <a:xfrm>
              <a:off x="1595006" y="3476156"/>
              <a:ext cx="213643" cy="40525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 name="Conector reto 40">
              <a:extLst>
                <a:ext uri="{FF2B5EF4-FFF2-40B4-BE49-F238E27FC236}">
                  <a16:creationId xmlns:a16="http://schemas.microsoft.com/office/drawing/2014/main" id="{E4FB3ED5-CBA0-424D-0693-7F2E0B11F067}"/>
                </a:ext>
              </a:extLst>
            </p:cNvPr>
            <p:cNvCxnSpPr>
              <a:cxnSpLocks/>
              <a:endCxn id="33"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47" name="Conector reto 46">
              <a:extLst>
                <a:ext uri="{FF2B5EF4-FFF2-40B4-BE49-F238E27FC236}">
                  <a16:creationId xmlns:a16="http://schemas.microsoft.com/office/drawing/2014/main" id="{60709E57-1952-D602-5A8C-33759AF63ECF}"/>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55" name="Conector reto 54">
              <a:extLst>
                <a:ext uri="{FF2B5EF4-FFF2-40B4-BE49-F238E27FC236}">
                  <a16:creationId xmlns:a16="http://schemas.microsoft.com/office/drawing/2014/main" id="{70469046-E645-754E-8DAB-C5843FA2CA4C}"/>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94" name="Conector reto 93">
              <a:extLst>
                <a:ext uri="{FF2B5EF4-FFF2-40B4-BE49-F238E27FC236}">
                  <a16:creationId xmlns:a16="http://schemas.microsoft.com/office/drawing/2014/main" id="{1BCFD666-1E92-D928-BC71-CEB6A8691777}"/>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97" name="Conector reto 96">
              <a:extLst>
                <a:ext uri="{FF2B5EF4-FFF2-40B4-BE49-F238E27FC236}">
                  <a16:creationId xmlns:a16="http://schemas.microsoft.com/office/drawing/2014/main" id="{A4C7AE2B-6CC5-1709-3D07-1602E5412267}"/>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104" name="Conector de Seta Reta 103">
              <a:extLst>
                <a:ext uri="{FF2B5EF4-FFF2-40B4-BE49-F238E27FC236}">
                  <a16:creationId xmlns:a16="http://schemas.microsoft.com/office/drawing/2014/main" id="{79BBFED7-3E57-8610-AD49-8A0A1D984CA1}"/>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5" name="CaixaDeTexto 104">
                  <a:extLst>
                    <a:ext uri="{FF2B5EF4-FFF2-40B4-BE49-F238E27FC236}">
                      <a16:creationId xmlns:a16="http://schemas.microsoft.com/office/drawing/2014/main" id="{4AA6498F-657F-137E-D70A-390BEE15E5F0}"/>
                    </a:ext>
                  </a:extLst>
                </p:cNvPr>
                <p:cNvSpPr txBox="1"/>
                <p:nvPr/>
              </p:nvSpPr>
              <p:spPr>
                <a:xfrm>
                  <a:off x="2426116" y="5601355"/>
                  <a:ext cx="1483596" cy="584775"/>
                </a:xfrm>
                <a:prstGeom prst="rect">
                  <a:avLst/>
                </a:prstGeom>
                <a:noFill/>
              </p:spPr>
              <p:txBody>
                <a:bodyPr wrap="square" rtlCol="0">
                  <a:spAutoFit/>
                </a:bodyPr>
                <a:lstStyle/>
                <a:p>
                  <a:r>
                    <a:rPr lang="pt-BR" sz="1400" b="1" dirty="0">
                      <a:solidFill>
                        <a:srgbClr val="00B0F0"/>
                      </a:solidFill>
                    </a:rPr>
                    <a:t>ponto de mínimo</a:t>
                  </a:r>
                </a:p>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1" i="1">
                                <a:latin typeface="Cambria Math" panose="02040503050406030204" pitchFamily="18" charset="0"/>
                              </a:rPr>
                              <m:t>ó</m:t>
                            </m:r>
                            <m:r>
                              <a:rPr lang="pt-BR" b="1" i="1">
                                <a:latin typeface="Cambria Math" panose="02040503050406030204" pitchFamily="18" charset="0"/>
                              </a:rPr>
                              <m:t>𝒕𝒊𝒎𝒐</m:t>
                            </m:r>
                          </m:sub>
                        </m:sSub>
                      </m:oMath>
                    </m:oMathPara>
                  </a14:m>
                  <a:endParaRPr lang="pt-BR" sz="1400" b="1" dirty="0"/>
                </a:p>
              </p:txBody>
            </p:sp>
          </mc:Choice>
          <mc:Fallback xmlns="">
            <p:sp>
              <p:nvSpPr>
                <p:cNvPr id="105" name="CaixaDeTexto 104">
                  <a:extLst>
                    <a:ext uri="{FF2B5EF4-FFF2-40B4-BE49-F238E27FC236}">
                      <a16:creationId xmlns:a16="http://schemas.microsoft.com/office/drawing/2014/main" id="{4AA6498F-657F-137E-D70A-390BEE15E5F0}"/>
                    </a:ext>
                  </a:extLst>
                </p:cNvPr>
                <p:cNvSpPr txBox="1">
                  <a:spLocks noRot="1" noChangeAspect="1" noMove="1" noResize="1" noEditPoints="1" noAdjustHandles="1" noChangeArrowheads="1" noChangeShapeType="1" noTextEdit="1"/>
                </p:cNvSpPr>
                <p:nvPr/>
              </p:nvSpPr>
              <p:spPr>
                <a:xfrm>
                  <a:off x="2426116" y="5601355"/>
                  <a:ext cx="1483596" cy="584775"/>
                </a:xfrm>
                <a:prstGeom prst="rect">
                  <a:avLst/>
                </a:prstGeom>
                <a:blipFill>
                  <a:blip r:embed="rId7"/>
                  <a:stretch>
                    <a:fillRect l="-1230" t="-2083"/>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08" name="CaixaDeTexto 107">
                <a:extLst>
                  <a:ext uri="{FF2B5EF4-FFF2-40B4-BE49-F238E27FC236}">
                    <a16:creationId xmlns:a16="http://schemas.microsoft.com/office/drawing/2014/main" id="{1D98E349-DD7D-48A2-457D-33CE98A94DE2}"/>
                  </a:ext>
                </a:extLst>
              </p:cNvPr>
              <p:cNvSpPr txBox="1"/>
              <p:nvPr/>
            </p:nvSpPr>
            <p:spPr>
              <a:xfrm>
                <a:off x="1942847" y="2907775"/>
                <a:ext cx="1683810" cy="738664"/>
              </a:xfrm>
              <a:prstGeom prst="rect">
                <a:avLst/>
              </a:prstGeom>
              <a:noFill/>
            </p:spPr>
            <p:txBody>
              <a:bodyPr wrap="square" rtlCol="0">
                <a:spAutoFit/>
              </a:bodyPr>
              <a:lstStyle/>
              <a:p>
                <a:pPr algn="ctr"/>
                <a:r>
                  <a:rPr lang="pt-BR" sz="1400" dirty="0"/>
                  <a:t>Vá em direção a valores maiores de </a:t>
                </a:r>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𝑎</m:t>
                        </m:r>
                      </m:e>
                      <m:sub>
                        <m:r>
                          <a:rPr lang="pt-BR" sz="1400" i="1">
                            <a:latin typeface="Cambria Math" panose="02040503050406030204" pitchFamily="18" charset="0"/>
                          </a:rPr>
                          <m:t>0</m:t>
                        </m:r>
                      </m:sub>
                    </m:sSub>
                  </m:oMath>
                </a14:m>
                <a:r>
                  <a:rPr lang="pt-BR" sz="1400" dirty="0"/>
                  <a:t> e menores de </a:t>
                </a:r>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𝑎</m:t>
                        </m:r>
                      </m:e>
                      <m:sub>
                        <m:r>
                          <a:rPr lang="pt-BR" sz="1400" b="0" i="1" smtClean="0">
                            <a:latin typeface="Cambria Math" panose="02040503050406030204" pitchFamily="18" charset="0"/>
                          </a:rPr>
                          <m:t>1</m:t>
                        </m:r>
                      </m:sub>
                    </m:sSub>
                  </m:oMath>
                </a14:m>
                <a:r>
                  <a:rPr lang="pt-BR" sz="1400" dirty="0"/>
                  <a:t>.</a:t>
                </a:r>
              </a:p>
            </p:txBody>
          </p:sp>
        </mc:Choice>
        <mc:Fallback xmlns="">
          <p:sp>
            <p:nvSpPr>
              <p:cNvPr id="108" name="CaixaDeTexto 107">
                <a:extLst>
                  <a:ext uri="{FF2B5EF4-FFF2-40B4-BE49-F238E27FC236}">
                    <a16:creationId xmlns:a16="http://schemas.microsoft.com/office/drawing/2014/main" id="{1D98E349-DD7D-48A2-457D-33CE98A94DE2}"/>
                  </a:ext>
                </a:extLst>
              </p:cNvPr>
              <p:cNvSpPr txBox="1">
                <a:spLocks noRot="1" noChangeAspect="1" noMove="1" noResize="1" noEditPoints="1" noAdjustHandles="1" noChangeArrowheads="1" noChangeShapeType="1" noTextEdit="1"/>
              </p:cNvSpPr>
              <p:nvPr/>
            </p:nvSpPr>
            <p:spPr>
              <a:xfrm>
                <a:off x="1942847" y="2907775"/>
                <a:ext cx="1683810" cy="738664"/>
              </a:xfrm>
              <a:prstGeom prst="rect">
                <a:avLst/>
              </a:prstGeom>
              <a:blipFill>
                <a:blip r:embed="rId8"/>
                <a:stretch>
                  <a:fillRect t="-1653" b="-7438"/>
                </a:stretch>
              </a:blipFill>
            </p:spPr>
            <p:txBody>
              <a:bodyPr/>
              <a:lstStyle/>
              <a:p>
                <a:r>
                  <a:rPr lang="pt-BR">
                    <a:noFill/>
                  </a:rPr>
                  <a:t> </a:t>
                </a:r>
              </a:p>
            </p:txBody>
          </p:sp>
        </mc:Fallback>
      </mc:AlternateContent>
    </p:spTree>
    <p:extLst>
      <p:ext uri="{BB962C8B-B14F-4D97-AF65-F5344CB8AC3E}">
        <p14:creationId xmlns:p14="http://schemas.microsoft.com/office/powerpoint/2010/main" val="152525472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105707-A12C-0860-BB85-520E0875855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6C69F44-1138-444E-7282-8F08777E9F05}"/>
              </a:ext>
            </a:extLst>
          </p:cNvPr>
          <p:cNvSpPr>
            <a:spLocks noGrp="1"/>
          </p:cNvSpPr>
          <p:nvPr>
            <p:ph idx="1"/>
          </p:nvPr>
        </p:nvSpPr>
        <p:spPr>
          <a:xfrm>
            <a:off x="838200" y="2614110"/>
            <a:ext cx="10515600" cy="1629780"/>
          </a:xfrm>
        </p:spPr>
        <p:txBody>
          <a:bodyPr/>
          <a:lstStyle/>
          <a:p>
            <a:pPr marL="0" indent="0" algn="ctr">
              <a:buNone/>
            </a:pPr>
            <a:r>
              <a:rPr lang="pt-BR" sz="5400" i="1" dirty="0"/>
              <a:t>Como funciona o gradiente descendente?</a:t>
            </a:r>
            <a:endParaRPr lang="en-US" sz="5400" i="1" dirty="0"/>
          </a:p>
        </p:txBody>
      </p:sp>
    </p:spTree>
    <p:extLst>
      <p:ext uri="{BB962C8B-B14F-4D97-AF65-F5344CB8AC3E}">
        <p14:creationId xmlns:p14="http://schemas.microsoft.com/office/powerpoint/2010/main" val="318883279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Forma Livre: Forma 24">
            <a:extLst>
              <a:ext uri="{FF2B5EF4-FFF2-40B4-BE49-F238E27FC236}">
                <a16:creationId xmlns:a16="http://schemas.microsoft.com/office/drawing/2014/main" id="{5E99E2AE-4E3E-6185-354D-4B008D2690A8}"/>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 name="Título 1">
            <a:extLst>
              <a:ext uri="{FF2B5EF4-FFF2-40B4-BE49-F238E27FC236}">
                <a16:creationId xmlns:a16="http://schemas.microsoft.com/office/drawing/2014/main" id="{B66D1129-3E5F-BB00-90C5-B1ADC369787A}"/>
              </a:ext>
            </a:extLst>
          </p:cNvPr>
          <p:cNvSpPr>
            <a:spLocks noGrp="1"/>
          </p:cNvSpPr>
          <p:nvPr>
            <p:ph type="title"/>
          </p:nvPr>
        </p:nvSpPr>
        <p:spPr/>
        <p:txBody>
          <a:bodyPr/>
          <a:lstStyle/>
          <a:p>
            <a:r>
              <a:rPr lang="pt-BR" dirty="0"/>
              <a:t>Vetores gradiente</a:t>
            </a:r>
          </a:p>
        </p:txBody>
      </p:sp>
      <p:sp>
        <p:nvSpPr>
          <p:cNvPr id="3" name="Espaço Reservado para Conteúdo 2">
            <a:extLst>
              <a:ext uri="{FF2B5EF4-FFF2-40B4-BE49-F238E27FC236}">
                <a16:creationId xmlns:a16="http://schemas.microsoft.com/office/drawing/2014/main" id="{1DDC095D-537A-22C7-EBAE-27CDB323C57B}"/>
              </a:ext>
            </a:extLst>
          </p:cNvPr>
          <p:cNvSpPr>
            <a:spLocks noGrp="1"/>
          </p:cNvSpPr>
          <p:nvPr>
            <p:ph idx="1"/>
          </p:nvPr>
        </p:nvSpPr>
        <p:spPr>
          <a:xfrm>
            <a:off x="5587421" y="1825624"/>
            <a:ext cx="6428728" cy="5032375"/>
          </a:xfrm>
        </p:spPr>
        <p:txBody>
          <a:bodyPr/>
          <a:lstStyle/>
          <a:p>
            <a:r>
              <a:rPr lang="pt-BR" dirty="0"/>
              <a:t>Vamos primeiro ver como os vetores gradiente nos ajudam a minimizar o erro.</a:t>
            </a:r>
          </a:p>
          <a:p>
            <a:r>
              <a:rPr lang="pt-BR" dirty="0"/>
              <a:t>Ou seja, como encontrar o </a:t>
            </a:r>
            <a:r>
              <a:rPr lang="pt-BR" b="1" i="1" dirty="0">
                <a:solidFill>
                  <a:srgbClr val="00B050"/>
                </a:solidFill>
              </a:rPr>
              <a:t>ponto de mínimo da função de erro</a:t>
            </a:r>
            <a:r>
              <a:rPr lang="pt-BR" dirty="0"/>
              <a:t>.</a:t>
            </a:r>
          </a:p>
        </p:txBody>
      </p:sp>
      <p:grpSp>
        <p:nvGrpSpPr>
          <p:cNvPr id="22" name="Agrupar 21">
            <a:extLst>
              <a:ext uri="{FF2B5EF4-FFF2-40B4-BE49-F238E27FC236}">
                <a16:creationId xmlns:a16="http://schemas.microsoft.com/office/drawing/2014/main" id="{3078DEFA-4D19-CC6A-09E6-B2A4E06CA18B}"/>
              </a:ext>
            </a:extLst>
          </p:cNvPr>
          <p:cNvGrpSpPr>
            <a:grpSpLocks noChangeAspect="1"/>
          </p:cNvGrpSpPr>
          <p:nvPr/>
        </p:nvGrpSpPr>
        <p:grpSpPr>
          <a:xfrm>
            <a:off x="974017" y="2353696"/>
            <a:ext cx="3962612" cy="2939417"/>
            <a:chOff x="1323650" y="2793841"/>
            <a:chExt cx="3325297" cy="2466665"/>
          </a:xfrm>
        </p:grpSpPr>
        <p:cxnSp>
          <p:nvCxnSpPr>
            <p:cNvPr id="6" name="Conector de Seta Reta 5">
              <a:extLst>
                <a:ext uri="{FF2B5EF4-FFF2-40B4-BE49-F238E27FC236}">
                  <a16:creationId xmlns:a16="http://schemas.microsoft.com/office/drawing/2014/main" id="{D56CDFD3-EBF0-A6E8-13D0-DA400FCD8A9E}"/>
                </a:ext>
              </a:extLst>
            </p:cNvPr>
            <p:cNvCxnSpPr>
              <a:cxnSpLocks/>
            </p:cNvCxnSpPr>
            <p:nvPr/>
          </p:nvCxnSpPr>
          <p:spPr>
            <a:xfrm>
              <a:off x="1323650" y="4944191"/>
              <a:ext cx="324000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Conector de Seta Reta 7">
              <a:extLst>
                <a:ext uri="{FF2B5EF4-FFF2-40B4-BE49-F238E27FC236}">
                  <a16:creationId xmlns:a16="http://schemas.microsoft.com/office/drawing/2014/main" id="{07D3588B-B31F-AD61-2342-848270CC2EC9}"/>
                </a:ext>
              </a:extLst>
            </p:cNvPr>
            <p:cNvCxnSpPr>
              <a:cxnSpLocks/>
            </p:cNvCxnSpPr>
            <p:nvPr/>
          </p:nvCxnSpPr>
          <p:spPr>
            <a:xfrm flipV="1">
              <a:off x="1323651" y="2868202"/>
              <a:ext cx="0" cy="2075989"/>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B0250428-D071-9C4E-A18F-04EA9FB08734}"/>
                    </a:ext>
                  </a:extLst>
                </p:cNvPr>
                <p:cNvSpPr txBox="1"/>
                <p:nvPr/>
              </p:nvSpPr>
              <p:spPr>
                <a:xfrm>
                  <a:off x="1323650" y="2793841"/>
                  <a:ext cx="2064926" cy="3099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10" name="CaixaDeTexto 9">
                  <a:extLst>
                    <a:ext uri="{FF2B5EF4-FFF2-40B4-BE49-F238E27FC236}">
                      <a16:creationId xmlns:a16="http://schemas.microsoft.com/office/drawing/2014/main" id="{B0250428-D071-9C4E-A18F-04EA9FB08734}"/>
                    </a:ext>
                  </a:extLst>
                </p:cNvPr>
                <p:cNvSpPr txBox="1">
                  <a:spLocks noRot="1" noChangeAspect="1" noMove="1" noResize="1" noEditPoints="1" noAdjustHandles="1" noChangeArrowheads="1" noChangeShapeType="1" noTextEdit="1"/>
                </p:cNvSpPr>
                <p:nvPr/>
              </p:nvSpPr>
              <p:spPr>
                <a:xfrm>
                  <a:off x="1323650" y="2793841"/>
                  <a:ext cx="2064926" cy="309932"/>
                </a:xfrm>
                <a:prstGeom prst="rect">
                  <a:avLst/>
                </a:prstGeom>
                <a:blipFill>
                  <a:blip r:embed="rId3"/>
                  <a:stretch>
                    <a:fillRect l="-2233" t="-8197" b="-24590"/>
                  </a:stretch>
                </a:blipFill>
              </p:spPr>
              <p:txBody>
                <a:bodyPr/>
                <a:lstStyle/>
                <a:p>
                  <a:r>
                    <a:rPr lang="pt-BR">
                      <a:noFill/>
                    </a:rPr>
                    <a:t> </a:t>
                  </a:r>
                </a:p>
              </p:txBody>
            </p:sp>
          </mc:Fallback>
        </mc:AlternateContent>
        <p:sp>
          <p:nvSpPr>
            <p:cNvPr id="11" name="CaixaDeTexto 10">
              <a:extLst>
                <a:ext uri="{FF2B5EF4-FFF2-40B4-BE49-F238E27FC236}">
                  <a16:creationId xmlns:a16="http://schemas.microsoft.com/office/drawing/2014/main" id="{5ED7933E-3D25-7111-5F12-120C263F95C3}"/>
                </a:ext>
              </a:extLst>
            </p:cNvPr>
            <p:cNvSpPr txBox="1"/>
            <p:nvPr/>
          </p:nvSpPr>
          <p:spPr>
            <a:xfrm>
              <a:off x="4114956" y="4950574"/>
              <a:ext cx="533991" cy="309932"/>
            </a:xfrm>
            <a:prstGeom prst="rect">
              <a:avLst/>
            </a:prstGeom>
            <a:noFill/>
          </p:spPr>
          <p:txBody>
            <a:bodyPr wrap="square" rtlCol="0">
              <a:spAutoFit/>
            </a:bodyPr>
            <a:lstStyle/>
            <a:p>
              <a:pPr algn="r"/>
              <a:r>
                <a:rPr lang="pt-BR" dirty="0"/>
                <a:t>Peso</a:t>
              </a:r>
            </a:p>
          </p:txBody>
        </p:sp>
        <p:cxnSp>
          <p:nvCxnSpPr>
            <p:cNvPr id="13" name="Conector reto 12">
              <a:extLst>
                <a:ext uri="{FF2B5EF4-FFF2-40B4-BE49-F238E27FC236}">
                  <a16:creationId xmlns:a16="http://schemas.microsoft.com/office/drawing/2014/main" id="{FEBEFA08-5BC3-7C18-56CA-466CD07B8642}"/>
                </a:ext>
              </a:extLst>
            </p:cNvPr>
            <p:cNvCxnSpPr/>
            <p:nvPr/>
          </p:nvCxnSpPr>
          <p:spPr>
            <a:xfrm>
              <a:off x="1326057" y="4800159"/>
              <a:ext cx="1620000"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6" name="CaixaDeTexto 15">
              <a:extLst>
                <a:ext uri="{FF2B5EF4-FFF2-40B4-BE49-F238E27FC236}">
                  <a16:creationId xmlns:a16="http://schemas.microsoft.com/office/drawing/2014/main" id="{1A18913F-965C-09B3-627C-40B9D264F64F}"/>
                </a:ext>
              </a:extLst>
            </p:cNvPr>
            <p:cNvSpPr txBox="1"/>
            <p:nvPr/>
          </p:nvSpPr>
          <p:spPr>
            <a:xfrm>
              <a:off x="2493227" y="4372013"/>
              <a:ext cx="895349" cy="461665"/>
            </a:xfrm>
            <a:prstGeom prst="rect">
              <a:avLst/>
            </a:prstGeom>
            <a:noFill/>
          </p:spPr>
          <p:txBody>
            <a:bodyPr wrap="square" rtlCol="0">
              <a:spAutoFit/>
            </a:bodyPr>
            <a:lstStyle/>
            <a:p>
              <a:pPr algn="ctr"/>
              <a:r>
                <a:rPr lang="pt-BR" sz="1200" dirty="0"/>
                <a:t>Ponto de mínimo</a:t>
              </a:r>
            </a:p>
          </p:txBody>
        </p:sp>
        <p:cxnSp>
          <p:nvCxnSpPr>
            <p:cNvPr id="17" name="Conector reto 16">
              <a:extLst>
                <a:ext uri="{FF2B5EF4-FFF2-40B4-BE49-F238E27FC236}">
                  <a16:creationId xmlns:a16="http://schemas.microsoft.com/office/drawing/2014/main" id="{8286C17E-F5E5-300A-E4A7-2E0B1945B3D4}"/>
                </a:ext>
              </a:extLst>
            </p:cNvPr>
            <p:cNvCxnSpPr>
              <a:cxnSpLocks/>
            </p:cNvCxnSpPr>
            <p:nvPr/>
          </p:nvCxnSpPr>
          <p:spPr>
            <a:xfrm>
              <a:off x="2941952" y="4793809"/>
              <a:ext cx="0" cy="14400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20" name="Elipse 19">
              <a:extLst>
                <a:ext uri="{FF2B5EF4-FFF2-40B4-BE49-F238E27FC236}">
                  <a16:creationId xmlns:a16="http://schemas.microsoft.com/office/drawing/2014/main" id="{12B97A56-C56D-F8FB-6177-BC422001684B}"/>
                </a:ext>
              </a:extLst>
            </p:cNvPr>
            <p:cNvSpPr/>
            <p:nvPr/>
          </p:nvSpPr>
          <p:spPr>
            <a:xfrm>
              <a:off x="2922902" y="4781109"/>
              <a:ext cx="36000" cy="36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1287BDD8-BE9B-D73B-995F-9AC17ED047E0}"/>
                  </a:ext>
                </a:extLst>
              </p:cNvPr>
              <p:cNvSpPr txBox="1"/>
              <p:nvPr/>
            </p:nvSpPr>
            <p:spPr>
              <a:xfrm>
                <a:off x="974017" y="5682905"/>
                <a:ext cx="3860967" cy="646331"/>
              </a:xfrm>
              <a:prstGeom prst="rect">
                <a:avLst/>
              </a:prstGeom>
              <a:noFill/>
            </p:spPr>
            <p:txBody>
              <a:bodyPr wrap="square" rtlCol="0">
                <a:spAutoFit/>
              </a:bodyPr>
              <a:lstStyle/>
              <a:p>
                <a:pPr algn="ctr"/>
                <a:r>
                  <a:rPr lang="pt-BR" dirty="0"/>
                  <a:t>A função de erro,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i="1">
                        <a:latin typeface="Cambria Math" panose="02040503050406030204" pitchFamily="18" charset="0"/>
                      </a:rPr>
                      <m:t>𝑎</m:t>
                    </m:r>
                    <m:r>
                      <a:rPr lang="pt-BR" i="1">
                        <a:latin typeface="Cambria Math" panose="02040503050406030204" pitchFamily="18" charset="0"/>
                      </a:rPr>
                      <m:t>)</m:t>
                    </m:r>
                  </m:oMath>
                </a14:m>
                <a:r>
                  <a:rPr lang="pt-BR" dirty="0"/>
                  <a:t>, quantifica a diferença entre </a:t>
                </a:r>
                <a14:m>
                  <m:oMath xmlns:m="http://schemas.openxmlformats.org/officeDocument/2006/math">
                    <m:r>
                      <a:rPr lang="pt-BR" b="0" i="1" smtClean="0">
                        <a:latin typeface="Cambria Math" panose="02040503050406030204" pitchFamily="18" charset="0"/>
                      </a:rPr>
                      <m:t>𝑦</m:t>
                    </m:r>
                  </m:oMath>
                </a14:m>
                <a:r>
                  <a:rPr lang="pt-BR" dirty="0"/>
                  <a:t> e </a:t>
                </a:r>
                <a14:m>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oMath>
                </a14:m>
                <a:r>
                  <a:rPr lang="pt-BR" dirty="0"/>
                  <a:t>.</a:t>
                </a:r>
              </a:p>
            </p:txBody>
          </p:sp>
        </mc:Choice>
        <mc:Fallback xmlns="">
          <p:sp>
            <p:nvSpPr>
              <p:cNvPr id="23" name="CaixaDeTexto 22">
                <a:extLst>
                  <a:ext uri="{FF2B5EF4-FFF2-40B4-BE49-F238E27FC236}">
                    <a16:creationId xmlns:a16="http://schemas.microsoft.com/office/drawing/2014/main" id="{1287BDD8-BE9B-D73B-995F-9AC17ED047E0}"/>
                  </a:ext>
                </a:extLst>
              </p:cNvPr>
              <p:cNvSpPr txBox="1">
                <a:spLocks noRot="1" noChangeAspect="1" noMove="1" noResize="1" noEditPoints="1" noAdjustHandles="1" noChangeArrowheads="1" noChangeShapeType="1" noTextEdit="1"/>
              </p:cNvSpPr>
              <p:nvPr/>
            </p:nvSpPr>
            <p:spPr>
              <a:xfrm>
                <a:off x="974017" y="5682905"/>
                <a:ext cx="3860967" cy="646331"/>
              </a:xfrm>
              <a:prstGeom prst="rect">
                <a:avLst/>
              </a:prstGeom>
              <a:blipFill>
                <a:blip r:embed="rId4"/>
                <a:stretch>
                  <a:fillRect t="-4717" b="-1415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AB5ADD18-0E14-67E6-B146-0808AFE44344}"/>
                  </a:ext>
                </a:extLst>
              </p:cNvPr>
              <p:cNvSpPr txBox="1"/>
              <p:nvPr/>
            </p:nvSpPr>
            <p:spPr>
              <a:xfrm>
                <a:off x="2679917" y="4870862"/>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4" name="CaixaDeTexto 3">
                <a:extLst>
                  <a:ext uri="{FF2B5EF4-FFF2-40B4-BE49-F238E27FC236}">
                    <a16:creationId xmlns:a16="http://schemas.microsoft.com/office/drawing/2014/main" id="{AB5ADD18-0E14-67E6-B146-0808AFE44344}"/>
                  </a:ext>
                </a:extLst>
              </p:cNvPr>
              <p:cNvSpPr txBox="1">
                <a:spLocks noRot="1" noChangeAspect="1" noMove="1" noResize="1" noEditPoints="1" noAdjustHandles="1" noChangeArrowheads="1" noChangeShapeType="1" noTextEdit="1"/>
              </p:cNvSpPr>
              <p:nvPr/>
            </p:nvSpPr>
            <p:spPr>
              <a:xfrm>
                <a:off x="2679917" y="4870862"/>
                <a:ext cx="867941" cy="307777"/>
              </a:xfrm>
              <a:prstGeom prst="rect">
                <a:avLst/>
              </a:prstGeom>
              <a:blipFill>
                <a:blip r:embed="rId5"/>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188558242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F10778-4DC2-6686-4237-98D18A337BAF}"/>
            </a:ext>
          </a:extLst>
        </p:cNvPr>
        <p:cNvGrpSpPr/>
        <p:nvPr/>
      </p:nvGrpSpPr>
      <p:grpSpPr>
        <a:xfrm>
          <a:off x="0" y="0"/>
          <a:ext cx="0" cy="0"/>
          <a:chOff x="0" y="0"/>
          <a:chExt cx="0" cy="0"/>
        </a:xfrm>
      </p:grpSpPr>
      <p:sp>
        <p:nvSpPr>
          <p:cNvPr id="15" name="Forma Livre: Forma 14">
            <a:extLst>
              <a:ext uri="{FF2B5EF4-FFF2-40B4-BE49-F238E27FC236}">
                <a16:creationId xmlns:a16="http://schemas.microsoft.com/office/drawing/2014/main" id="{36759AC9-5F48-6ED4-D637-8577A3C3D476}"/>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 name="Título 1">
            <a:extLst>
              <a:ext uri="{FF2B5EF4-FFF2-40B4-BE49-F238E27FC236}">
                <a16:creationId xmlns:a16="http://schemas.microsoft.com/office/drawing/2014/main" id="{023870D0-50D8-4571-7048-1280D6EA2DA5}"/>
              </a:ext>
            </a:extLst>
          </p:cNvPr>
          <p:cNvSpPr>
            <a:spLocks noGrp="1"/>
          </p:cNvSpPr>
          <p:nvPr>
            <p:ph type="title"/>
          </p:nvPr>
        </p:nvSpPr>
        <p:spPr/>
        <p:txBody>
          <a:bodyPr/>
          <a:lstStyle/>
          <a:p>
            <a:r>
              <a:rPr lang="pt-BR" dirty="0"/>
              <a:t>Formato da função de erro</a:t>
            </a:r>
          </a:p>
        </p:txBody>
      </p:sp>
      <p:sp>
        <p:nvSpPr>
          <p:cNvPr id="3" name="Espaço Reservado para Conteúdo 2">
            <a:extLst>
              <a:ext uri="{FF2B5EF4-FFF2-40B4-BE49-F238E27FC236}">
                <a16:creationId xmlns:a16="http://schemas.microsoft.com/office/drawing/2014/main" id="{7DF03888-D2DD-B6FB-779D-C1942E86CB91}"/>
              </a:ext>
            </a:extLst>
          </p:cNvPr>
          <p:cNvSpPr>
            <a:spLocks noGrp="1"/>
          </p:cNvSpPr>
          <p:nvPr>
            <p:ph idx="1"/>
          </p:nvPr>
        </p:nvSpPr>
        <p:spPr>
          <a:xfrm>
            <a:off x="5989041" y="1825624"/>
            <a:ext cx="6011175" cy="5032376"/>
          </a:xfrm>
        </p:spPr>
        <p:txBody>
          <a:bodyPr>
            <a:normAutofit/>
          </a:bodyPr>
          <a:lstStyle/>
          <a:p>
            <a:r>
              <a:rPr lang="pt-BR" dirty="0"/>
              <a:t>A </a:t>
            </a:r>
            <a:r>
              <a:rPr lang="pt-BR" b="1" i="1" dirty="0">
                <a:solidFill>
                  <a:srgbClr val="00B050"/>
                </a:solidFill>
              </a:rPr>
              <a:t>convexidade</a:t>
            </a:r>
            <a:r>
              <a:rPr lang="pt-BR" dirty="0"/>
              <a:t> da superfície de erro é </a:t>
            </a:r>
            <a:r>
              <a:rPr lang="pt-BR" b="1" i="1" dirty="0">
                <a:solidFill>
                  <a:srgbClr val="00B050"/>
                </a:solidFill>
              </a:rPr>
              <a:t>importante</a:t>
            </a:r>
            <a:r>
              <a:rPr lang="pt-BR" dirty="0"/>
              <a:t> pois </a:t>
            </a:r>
            <a:r>
              <a:rPr lang="pt-BR" b="1" i="1" dirty="0">
                <a:solidFill>
                  <a:srgbClr val="00B050"/>
                </a:solidFill>
              </a:rPr>
              <a:t>garante</a:t>
            </a:r>
            <a:r>
              <a:rPr lang="pt-BR" dirty="0"/>
              <a:t> que a </a:t>
            </a:r>
            <a:r>
              <a:rPr lang="pt-BR" b="1" i="1" dirty="0">
                <a:solidFill>
                  <a:srgbClr val="00B050"/>
                </a:solidFill>
              </a:rPr>
              <a:t>função tenha apenas </a:t>
            </a:r>
            <a:r>
              <a:rPr lang="pt-BR" b="1" i="1" dirty="0">
                <a:solidFill>
                  <a:schemeClr val="accent2"/>
                </a:solidFill>
              </a:rPr>
              <a:t>um ponto de mínimo</a:t>
            </a:r>
            <a:r>
              <a:rPr lang="pt-BR" b="1" i="1" dirty="0">
                <a:solidFill>
                  <a:srgbClr val="00B050"/>
                </a:solidFill>
              </a:rPr>
              <a:t>, o </a:t>
            </a:r>
            <a:r>
              <a:rPr lang="pt-BR" b="1" i="1" dirty="0">
                <a:solidFill>
                  <a:srgbClr val="7030A0"/>
                </a:solidFill>
              </a:rPr>
              <a:t>mínimo global</a:t>
            </a:r>
            <a:r>
              <a:rPr lang="pt-BR" dirty="0"/>
              <a:t>.</a:t>
            </a:r>
          </a:p>
          <a:p>
            <a:r>
              <a:rPr lang="pt-BR" dirty="0"/>
              <a:t>Isso permite que encontremos a solução ótima de forma mais eficiente.</a:t>
            </a:r>
          </a:p>
        </p:txBody>
      </p:sp>
      <p:grpSp>
        <p:nvGrpSpPr>
          <p:cNvPr id="4" name="Agrupar 3">
            <a:extLst>
              <a:ext uri="{FF2B5EF4-FFF2-40B4-BE49-F238E27FC236}">
                <a16:creationId xmlns:a16="http://schemas.microsoft.com/office/drawing/2014/main" id="{FF908425-E0A9-EB1C-2F59-1AF629814BE2}"/>
              </a:ext>
            </a:extLst>
          </p:cNvPr>
          <p:cNvGrpSpPr>
            <a:grpSpLocks noChangeAspect="1"/>
          </p:cNvGrpSpPr>
          <p:nvPr/>
        </p:nvGrpSpPr>
        <p:grpSpPr>
          <a:xfrm>
            <a:off x="974017" y="2353696"/>
            <a:ext cx="3962612" cy="2939417"/>
            <a:chOff x="1323650" y="2793841"/>
            <a:chExt cx="3325297" cy="2466665"/>
          </a:xfrm>
        </p:grpSpPr>
        <p:cxnSp>
          <p:nvCxnSpPr>
            <p:cNvPr id="6" name="Conector de Seta Reta 5">
              <a:extLst>
                <a:ext uri="{FF2B5EF4-FFF2-40B4-BE49-F238E27FC236}">
                  <a16:creationId xmlns:a16="http://schemas.microsoft.com/office/drawing/2014/main" id="{93A5F0B3-1194-3997-0FFE-5CE8542DD158}"/>
                </a:ext>
              </a:extLst>
            </p:cNvPr>
            <p:cNvCxnSpPr>
              <a:cxnSpLocks/>
            </p:cNvCxnSpPr>
            <p:nvPr/>
          </p:nvCxnSpPr>
          <p:spPr>
            <a:xfrm>
              <a:off x="1323650" y="4944191"/>
              <a:ext cx="324000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DDD08076-5640-D464-648A-1C47B3856282}"/>
                </a:ext>
              </a:extLst>
            </p:cNvPr>
            <p:cNvCxnSpPr>
              <a:cxnSpLocks/>
            </p:cNvCxnSpPr>
            <p:nvPr/>
          </p:nvCxnSpPr>
          <p:spPr>
            <a:xfrm flipV="1">
              <a:off x="1323651" y="2868202"/>
              <a:ext cx="0" cy="2075989"/>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8463C8D6-E222-3DB3-4312-502AD0B50778}"/>
                    </a:ext>
                  </a:extLst>
                </p:cNvPr>
                <p:cNvSpPr txBox="1"/>
                <p:nvPr/>
              </p:nvSpPr>
              <p:spPr>
                <a:xfrm>
                  <a:off x="1323650" y="2793841"/>
                  <a:ext cx="1967192" cy="3099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1323650" y="2793841"/>
                  <a:ext cx="1967192" cy="309932"/>
                </a:xfrm>
                <a:prstGeom prst="rect">
                  <a:avLst/>
                </a:prstGeom>
                <a:blipFill>
                  <a:blip r:embed="rId3"/>
                  <a:stretch>
                    <a:fillRect l="-2344"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B2F269E8-C7C6-0735-3D16-D6B4072531D1}"/>
                </a:ext>
              </a:extLst>
            </p:cNvPr>
            <p:cNvSpPr txBox="1"/>
            <p:nvPr/>
          </p:nvSpPr>
          <p:spPr>
            <a:xfrm>
              <a:off x="4114956" y="4950574"/>
              <a:ext cx="533991" cy="3099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AC7A7D34-E478-E05A-BED5-178B5219D5F5}"/>
                </a:ext>
              </a:extLst>
            </p:cNvPr>
            <p:cNvCxnSpPr/>
            <p:nvPr/>
          </p:nvCxnSpPr>
          <p:spPr>
            <a:xfrm>
              <a:off x="1326057" y="4800159"/>
              <a:ext cx="1620000"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77310E60-7430-7D6D-D9B6-7F306294B9C6}"/>
                </a:ext>
              </a:extLst>
            </p:cNvPr>
            <p:cNvSpPr txBox="1"/>
            <p:nvPr/>
          </p:nvSpPr>
          <p:spPr>
            <a:xfrm>
              <a:off x="2475227" y="4386103"/>
              <a:ext cx="895349" cy="461665"/>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C8ED5630-1A0F-8D83-D279-41089B853FA5}"/>
                </a:ext>
              </a:extLst>
            </p:cNvPr>
            <p:cNvCxnSpPr>
              <a:cxnSpLocks/>
            </p:cNvCxnSpPr>
            <p:nvPr/>
          </p:nvCxnSpPr>
          <p:spPr>
            <a:xfrm>
              <a:off x="2941952" y="4793809"/>
              <a:ext cx="0" cy="14400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432B46AB-802F-439D-1AE7-E2261DD2BA67}"/>
                </a:ext>
              </a:extLst>
            </p:cNvPr>
            <p:cNvSpPr/>
            <p:nvPr/>
          </p:nvSpPr>
          <p:spPr>
            <a:xfrm>
              <a:off x="2922902" y="4781109"/>
              <a:ext cx="36000" cy="36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6A2C0FD4-5792-5AB5-394B-F7334F54EA5B}"/>
                  </a:ext>
                </a:extLst>
              </p:cNvPr>
              <p:cNvSpPr txBox="1"/>
              <p:nvPr/>
            </p:nvSpPr>
            <p:spPr>
              <a:xfrm>
                <a:off x="624375" y="5438348"/>
                <a:ext cx="4979023" cy="1130822"/>
              </a:xfrm>
              <a:prstGeom prst="rect">
                <a:avLst/>
              </a:prstGeom>
              <a:noFill/>
            </p:spPr>
            <p:txBody>
              <a:bodyPr wrap="square" rtlCol="0">
                <a:spAutoFit/>
              </a:bodyPr>
              <a:lstStyle/>
              <a:p>
                <a:pPr/>
                <a14:m>
                  <m:oMathPara xmlns:m="http://schemas.openxmlformats.org/officeDocument/2006/math">
                    <m:oMathParaPr>
                      <m:jc m:val="left"/>
                    </m:oMathParaPr>
                    <m:oMath xmlns:m="http://schemas.openxmlformats.org/officeDocument/2006/math">
                      <m:sSub>
                        <m:sSubPr>
                          <m:ctrlPr>
                            <a:rPr lang="pt-BR" sz="2400" i="1" smtClean="0">
                              <a:latin typeface="Cambria Math" panose="02040503050406030204" pitchFamily="18" charset="0"/>
                            </a:rPr>
                          </m:ctrlPr>
                        </m:sSubPr>
                        <m:e>
                          <m:r>
                            <a:rPr lang="pt-BR" sz="2400" i="1">
                              <a:latin typeface="Cambria Math" panose="02040503050406030204" pitchFamily="18" charset="0"/>
                            </a:rPr>
                            <m:t>𝐽</m:t>
                          </m:r>
                        </m:e>
                        <m:sub>
                          <m:r>
                            <a:rPr lang="pt-BR" sz="2400" i="1">
                              <a:latin typeface="Cambria Math" panose="02040503050406030204" pitchFamily="18" charset="0"/>
                            </a:rPr>
                            <m:t>𝑒</m:t>
                          </m:r>
                        </m:sub>
                      </m:sSub>
                      <m:d>
                        <m:dPr>
                          <m:ctrlPr>
                            <a:rPr lang="pt-BR" sz="2400" i="1">
                              <a:latin typeface="Cambria Math" panose="02040503050406030204" pitchFamily="18" charset="0"/>
                            </a:rPr>
                          </m:ctrlPr>
                        </m:dPr>
                        <m:e>
                          <m:r>
                            <a:rPr lang="pt-BR" sz="2400" i="1">
                              <a:latin typeface="Cambria Math" panose="02040503050406030204" pitchFamily="18" charset="0"/>
                            </a:rPr>
                            <m:t>𝑎</m:t>
                          </m:r>
                        </m:e>
                      </m:d>
                      <m:r>
                        <a:rPr lang="pt-BR" sz="2400" b="0" i="0" smtClean="0">
                          <a:latin typeface="Cambria Math" panose="02040503050406030204" pitchFamily="18" charset="0"/>
                        </a:rPr>
                        <m:t>=</m:t>
                      </m:r>
                      <m:r>
                        <m:rPr>
                          <m:sty m:val="p"/>
                        </m:rPr>
                        <a:rPr lang="pt-BR" sz="2400" b="0" i="0" smtClean="0">
                          <a:latin typeface="Cambria Math" panose="02040503050406030204" pitchFamily="18" charset="0"/>
                        </a:rPr>
                        <m:t>MSE</m:t>
                      </m:r>
                      <m:r>
                        <a:rPr lang="pt-BR" sz="2400" b="0" i="1" smtClean="0">
                          <a:latin typeface="Cambria Math" panose="02040503050406030204" pitchFamily="18" charset="0"/>
                        </a:rPr>
                        <m:t>=</m:t>
                      </m:r>
                      <m:f>
                        <m:fPr>
                          <m:ctrlPr>
                            <a:rPr lang="pt-BR" sz="2400" b="0" i="1" smtClean="0">
                              <a:latin typeface="Cambria Math" panose="02040503050406030204" pitchFamily="18" charset="0"/>
                            </a:rPr>
                          </m:ctrlPr>
                        </m:fPr>
                        <m:num>
                          <m:r>
                            <a:rPr lang="pt-BR" sz="2400" b="0" i="1" smtClean="0">
                              <a:latin typeface="Cambria Math" panose="02040503050406030204" pitchFamily="18" charset="0"/>
                            </a:rPr>
                            <m:t>1</m:t>
                          </m:r>
                        </m:num>
                        <m:den>
                          <m:r>
                            <a:rPr lang="pt-BR" sz="2400" b="0" i="1" smtClean="0">
                              <a:latin typeface="Cambria Math" panose="02040503050406030204" pitchFamily="18" charset="0"/>
                            </a:rPr>
                            <m:t>𝑁</m:t>
                          </m:r>
                        </m:den>
                      </m:f>
                      <m:nary>
                        <m:naryPr>
                          <m:chr m:val="∑"/>
                          <m:ctrlPr>
                            <a:rPr lang="pt-BR" sz="2400" b="0" i="1" smtClean="0">
                              <a:latin typeface="Cambria Math" panose="02040503050406030204" pitchFamily="18" charset="0"/>
                            </a:rPr>
                          </m:ctrlPr>
                        </m:naryPr>
                        <m:sub>
                          <m:r>
                            <m:rPr>
                              <m:brk m:alnAt="23"/>
                            </m:rPr>
                            <a:rPr lang="pt-BR" sz="2400" b="0" i="1" smtClean="0">
                              <a:latin typeface="Cambria Math" panose="02040503050406030204" pitchFamily="18" charset="0"/>
                            </a:rPr>
                            <m:t>𝑛</m:t>
                          </m:r>
                          <m:r>
                            <a:rPr lang="pt-BR" sz="2400" b="0" i="1" smtClean="0">
                              <a:latin typeface="Cambria Math" panose="02040503050406030204" pitchFamily="18" charset="0"/>
                            </a:rPr>
                            <m:t>=1</m:t>
                          </m:r>
                        </m:sub>
                        <m:sup>
                          <m:r>
                            <a:rPr lang="pt-BR" sz="2400" b="0" i="1" smtClean="0">
                              <a:latin typeface="Cambria Math" panose="02040503050406030204" pitchFamily="18" charset="0"/>
                            </a:rPr>
                            <m:t>𝑁</m:t>
                          </m:r>
                        </m:sup>
                        <m:e>
                          <m:sSup>
                            <m:sSupPr>
                              <m:ctrlPr>
                                <a:rPr lang="pt-BR" sz="2400" b="0" i="1" smtClean="0">
                                  <a:latin typeface="Cambria Math" panose="02040503050406030204" pitchFamily="18" charset="0"/>
                                </a:rPr>
                              </m:ctrlPr>
                            </m:sSupPr>
                            <m:e>
                              <m:d>
                                <m:dPr>
                                  <m:ctrlPr>
                                    <a:rPr lang="pt-BR" sz="2400" b="0" i="1" smtClean="0">
                                      <a:latin typeface="Cambria Math" panose="02040503050406030204" pitchFamily="18" charset="0"/>
                                    </a:rPr>
                                  </m:ctrlPr>
                                </m:dPr>
                                <m:e>
                                  <m:sSub>
                                    <m:sSubPr>
                                      <m:ctrlPr>
                                        <a:rPr lang="pt-BR" sz="2400" i="1">
                                          <a:latin typeface="Cambria Math" panose="02040503050406030204" pitchFamily="18" charset="0"/>
                                        </a:rPr>
                                      </m:ctrlPr>
                                    </m:sSubPr>
                                    <m:e>
                                      <m:acc>
                                        <m:accPr>
                                          <m:chr m:val="̂"/>
                                          <m:ctrlPr>
                                            <a:rPr lang="pt-BR" sz="2400" i="1">
                                              <a:latin typeface="Cambria Math" panose="02040503050406030204" pitchFamily="18" charset="0"/>
                                            </a:rPr>
                                          </m:ctrlPr>
                                        </m:accPr>
                                        <m:e>
                                          <m:r>
                                            <a:rPr lang="pt-BR" sz="2400" i="1">
                                              <a:latin typeface="Cambria Math" panose="02040503050406030204" pitchFamily="18" charset="0"/>
                                            </a:rPr>
                                            <m:t>𝑦</m:t>
                                          </m:r>
                                        </m:e>
                                      </m:acc>
                                    </m:e>
                                    <m:sub>
                                      <m:r>
                                        <a:rPr lang="pt-BR" sz="2400" i="1">
                                          <a:latin typeface="Cambria Math" panose="02040503050406030204" pitchFamily="18" charset="0"/>
                                        </a:rPr>
                                        <m:t>𝑛</m:t>
                                      </m:r>
                                    </m:sub>
                                  </m:sSub>
                                  <m:r>
                                    <a:rPr lang="pt-BR" sz="2400" b="0" i="1" smtClean="0">
                                      <a:latin typeface="Cambria Math" panose="02040503050406030204" pitchFamily="18" charset="0"/>
                                    </a:rPr>
                                    <m:t>(</m:t>
                                  </m:r>
                                  <m:r>
                                    <a:rPr lang="pt-BR" sz="2400" b="0" i="1" smtClean="0">
                                      <a:latin typeface="Cambria Math" panose="02040503050406030204" pitchFamily="18" charset="0"/>
                                    </a:rPr>
                                    <m:t>𝑎</m:t>
                                  </m:r>
                                  <m:r>
                                    <a:rPr lang="pt-BR" sz="2400" b="0" i="1" smtClean="0">
                                      <a:latin typeface="Cambria Math" panose="02040503050406030204" pitchFamily="18" charset="0"/>
                                    </a:rPr>
                                    <m:t>)−</m:t>
                                  </m:r>
                                  <m:sSub>
                                    <m:sSubPr>
                                      <m:ctrlPr>
                                        <a:rPr lang="pt-BR" sz="2400" i="1">
                                          <a:latin typeface="Cambria Math" panose="02040503050406030204" pitchFamily="18" charset="0"/>
                                        </a:rPr>
                                      </m:ctrlPr>
                                    </m:sSubPr>
                                    <m:e>
                                      <m:r>
                                        <a:rPr lang="pt-BR" sz="2400" i="1">
                                          <a:latin typeface="Cambria Math" panose="02040503050406030204" pitchFamily="18" charset="0"/>
                                        </a:rPr>
                                        <m:t>𝑦</m:t>
                                      </m:r>
                                    </m:e>
                                    <m:sub>
                                      <m:r>
                                        <a:rPr lang="pt-BR" sz="2400" i="1">
                                          <a:latin typeface="Cambria Math" panose="02040503050406030204" pitchFamily="18" charset="0"/>
                                        </a:rPr>
                                        <m:t>𝑛</m:t>
                                      </m:r>
                                    </m:sub>
                                  </m:sSub>
                                </m:e>
                              </m:d>
                            </m:e>
                            <m:sup>
                              <m:r>
                                <a:rPr lang="pt-BR" sz="2400" b="0" i="1" smtClean="0">
                                  <a:latin typeface="Cambria Math" panose="02040503050406030204" pitchFamily="18" charset="0"/>
                                </a:rPr>
                                <m:t>2</m:t>
                              </m:r>
                            </m:sup>
                          </m:sSup>
                        </m:e>
                      </m:nary>
                    </m:oMath>
                  </m:oMathPara>
                </a14:m>
                <a:endParaRPr lang="pt-BR" sz="2400" dirty="0"/>
              </a:p>
            </p:txBody>
          </p:sp>
        </mc:Choice>
        <mc:Fallback xmlns="">
          <p:sp>
            <p:nvSpPr>
              <p:cNvPr id="14" name="CaixaDeTexto 13">
                <a:extLst>
                  <a:ext uri="{FF2B5EF4-FFF2-40B4-BE49-F238E27FC236}">
                    <a16:creationId xmlns:a16="http://schemas.microsoft.com/office/drawing/2014/main" id="{43DA85D1-4D90-5FC1-15B5-A84453E4F6E7}"/>
                  </a:ext>
                </a:extLst>
              </p:cNvPr>
              <p:cNvSpPr txBox="1">
                <a:spLocks noRot="1" noChangeAspect="1" noMove="1" noResize="1" noEditPoints="1" noAdjustHandles="1" noChangeArrowheads="1" noChangeShapeType="1" noTextEdit="1"/>
              </p:cNvSpPr>
              <p:nvPr/>
            </p:nvSpPr>
            <p:spPr>
              <a:xfrm>
                <a:off x="624375" y="5438348"/>
                <a:ext cx="4979023" cy="1130822"/>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98B92EED-647F-0C34-9883-EAD59CF6D677}"/>
                  </a:ext>
                </a:extLst>
              </p:cNvPr>
              <p:cNvSpPr txBox="1"/>
              <p:nvPr/>
            </p:nvSpPr>
            <p:spPr>
              <a:xfrm>
                <a:off x="2679917" y="4870862"/>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5" name="CaixaDeTexto 4">
                <a:extLst>
                  <a:ext uri="{FF2B5EF4-FFF2-40B4-BE49-F238E27FC236}">
                    <a16:creationId xmlns:a16="http://schemas.microsoft.com/office/drawing/2014/main" id="{3356027E-1373-2AE7-2282-A045FF430AE9}"/>
                  </a:ext>
                </a:extLst>
              </p:cNvPr>
              <p:cNvSpPr txBox="1">
                <a:spLocks noRot="1" noChangeAspect="1" noMove="1" noResize="1" noEditPoints="1" noAdjustHandles="1" noChangeArrowheads="1" noChangeShapeType="1" noTextEdit="1"/>
              </p:cNvSpPr>
              <p:nvPr/>
            </p:nvSpPr>
            <p:spPr>
              <a:xfrm>
                <a:off x="2679917" y="4870862"/>
                <a:ext cx="867941" cy="307777"/>
              </a:xfrm>
              <a:prstGeom prst="rect">
                <a:avLst/>
              </a:prstGeom>
              <a:blipFill>
                <a:blip r:embed="rId5"/>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401641517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Forma Livre: Forma 18">
            <a:extLst>
              <a:ext uri="{FF2B5EF4-FFF2-40B4-BE49-F238E27FC236}">
                <a16:creationId xmlns:a16="http://schemas.microsoft.com/office/drawing/2014/main" id="{D9013326-EF21-4EBB-9732-E899F67B9080}"/>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Ponto de mínimo de uma função convexa</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76819" y="1825624"/>
            <a:ext cx="6123397" cy="5032376"/>
          </a:xfrm>
        </p:spPr>
        <p:txBody>
          <a:bodyPr>
            <a:normAutofit/>
          </a:bodyPr>
          <a:lstStyle/>
          <a:p>
            <a:r>
              <a:rPr lang="pt-BR" dirty="0"/>
              <a:t>Vejam a figura ao lado.</a:t>
            </a:r>
          </a:p>
          <a:p>
            <a:r>
              <a:rPr lang="pt-BR" dirty="0"/>
              <a:t>Se queremos encontrar o </a:t>
            </a:r>
            <a:r>
              <a:rPr lang="pt-BR" b="1" i="1" dirty="0">
                <a:solidFill>
                  <a:srgbClr val="00B050"/>
                </a:solidFill>
              </a:rPr>
              <a:t>mínimo</a:t>
            </a:r>
            <a:r>
              <a:rPr lang="pt-BR" dirty="0"/>
              <a:t> da função, basta buscarmos a </a:t>
            </a:r>
            <a:r>
              <a:rPr lang="pt-BR" b="1" i="1" dirty="0">
                <a:solidFill>
                  <a:srgbClr val="7030A0"/>
                </a:solidFill>
              </a:rPr>
              <a:t>parte mais baixa da parábola</a:t>
            </a:r>
            <a:r>
              <a:rPr lang="pt-BR" dirty="0"/>
              <a:t>.</a:t>
            </a:r>
          </a:p>
          <a:p>
            <a:r>
              <a:rPr lang="pt-BR" dirty="0"/>
              <a:t>Não importa quais sejam os valores dos pesos e onde a função de erro é plotada no gráfico, nós </a:t>
            </a:r>
            <a:r>
              <a:rPr lang="pt-BR" b="1" i="1" dirty="0"/>
              <a:t>sempre teremos </a:t>
            </a:r>
            <a:r>
              <a:rPr lang="pt-BR" b="1" i="1" dirty="0">
                <a:solidFill>
                  <a:srgbClr val="00B050"/>
                </a:solidFill>
              </a:rPr>
              <a:t>certeza</a:t>
            </a:r>
            <a:r>
              <a:rPr lang="pt-BR" b="1" i="1" dirty="0"/>
              <a:t> de que o </a:t>
            </a:r>
            <a:r>
              <a:rPr lang="pt-BR" b="1" i="1" dirty="0">
                <a:solidFill>
                  <a:srgbClr val="00B050"/>
                </a:solidFill>
              </a:rPr>
              <a:t>mínimo está na parte inferior da parábola</a:t>
            </a:r>
            <a:r>
              <a:rPr lang="pt-BR" dirty="0"/>
              <a:t>.</a:t>
            </a:r>
          </a:p>
        </p:txBody>
      </p:sp>
      <p:grpSp>
        <p:nvGrpSpPr>
          <p:cNvPr id="4" name="Agrupar 3">
            <a:extLst>
              <a:ext uri="{FF2B5EF4-FFF2-40B4-BE49-F238E27FC236}">
                <a16:creationId xmlns:a16="http://schemas.microsoft.com/office/drawing/2014/main" id="{595E690C-A133-B1B0-72E4-B7F425367050}"/>
              </a:ext>
            </a:extLst>
          </p:cNvPr>
          <p:cNvGrpSpPr>
            <a:grpSpLocks noChangeAspect="1"/>
          </p:cNvGrpSpPr>
          <p:nvPr/>
        </p:nvGrpSpPr>
        <p:grpSpPr>
          <a:xfrm>
            <a:off x="974017" y="2353696"/>
            <a:ext cx="3962612" cy="2939417"/>
            <a:chOff x="1323650" y="2793841"/>
            <a:chExt cx="3325297" cy="2466665"/>
          </a:xfrm>
        </p:grpSpPr>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1323650" y="4944191"/>
              <a:ext cx="324000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1323651" y="2868202"/>
              <a:ext cx="0" cy="2075989"/>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1323650" y="2793841"/>
                  <a:ext cx="2125406" cy="3099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1323650" y="2793841"/>
                  <a:ext cx="2125406" cy="309932"/>
                </a:xfrm>
                <a:prstGeom prst="rect">
                  <a:avLst/>
                </a:prstGeom>
                <a:blipFill>
                  <a:blip r:embed="rId3"/>
                  <a:stretch>
                    <a:fillRect l="-2169"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114956" y="4950574"/>
              <a:ext cx="533991" cy="3099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1326057" y="4800159"/>
              <a:ext cx="1620000"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410291" y="4283075"/>
              <a:ext cx="895349" cy="461665"/>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41952" y="4793809"/>
              <a:ext cx="0" cy="14400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922902" y="4781109"/>
              <a:ext cx="36000" cy="36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16" name="Conector de Seta Reta 15">
            <a:extLst>
              <a:ext uri="{FF2B5EF4-FFF2-40B4-BE49-F238E27FC236}">
                <a16:creationId xmlns:a16="http://schemas.microsoft.com/office/drawing/2014/main" id="{8F063B4C-03F8-0636-565D-874E617104A0}"/>
              </a:ext>
            </a:extLst>
          </p:cNvPr>
          <p:cNvCxnSpPr>
            <a:cxnSpLocks/>
          </p:cNvCxnSpPr>
          <p:nvPr/>
        </p:nvCxnSpPr>
        <p:spPr>
          <a:xfrm flipH="1">
            <a:off x="2922676" y="3590207"/>
            <a:ext cx="882208" cy="108829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2C41DFBA-AE8A-4E79-F8A7-B31B1053F34D}"/>
                  </a:ext>
                </a:extLst>
              </p:cNvPr>
              <p:cNvSpPr txBox="1"/>
              <p:nvPr/>
            </p:nvSpPr>
            <p:spPr>
              <a:xfrm>
                <a:off x="2679917" y="4870862"/>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5" name="CaixaDeTexto 4">
                <a:extLst>
                  <a:ext uri="{FF2B5EF4-FFF2-40B4-BE49-F238E27FC236}">
                    <a16:creationId xmlns:a16="http://schemas.microsoft.com/office/drawing/2014/main" id="{2C41DFBA-AE8A-4E79-F8A7-B31B1053F34D}"/>
                  </a:ext>
                </a:extLst>
              </p:cNvPr>
              <p:cNvSpPr txBox="1">
                <a:spLocks noRot="1" noChangeAspect="1" noMove="1" noResize="1" noEditPoints="1" noAdjustHandles="1" noChangeArrowheads="1" noChangeShapeType="1" noTextEdit="1"/>
              </p:cNvSpPr>
              <p:nvPr/>
            </p:nvSpPr>
            <p:spPr>
              <a:xfrm>
                <a:off x="2679917" y="4870862"/>
                <a:ext cx="867941" cy="307777"/>
              </a:xfrm>
              <a:prstGeom prst="rect">
                <a:avLst/>
              </a:prstGeom>
              <a:blipFill>
                <a:blip r:embed="rId4"/>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368775377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O erro indica o caminho a ser seguido</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92280" y="1825624"/>
            <a:ext cx="6207936" cy="5032376"/>
          </a:xfrm>
        </p:spPr>
        <p:txBody>
          <a:bodyPr>
            <a:normAutofit/>
          </a:bodyPr>
          <a:lstStyle/>
          <a:p>
            <a:r>
              <a:rPr lang="pt-BR" dirty="0"/>
              <a:t>Assim, se dermos um palpite (</a:t>
            </a:r>
            <a:r>
              <a:rPr lang="pt-BR" b="1" i="1" dirty="0">
                <a:solidFill>
                  <a:srgbClr val="00B050"/>
                </a:solidFill>
              </a:rPr>
              <a:t>ponto inicial</a:t>
            </a:r>
            <a:r>
              <a:rPr lang="pt-BR" dirty="0"/>
              <a:t>) sobre os valores dos </a:t>
            </a:r>
            <a:r>
              <a:rPr lang="pt-BR" b="1" i="1" dirty="0">
                <a:solidFill>
                  <a:srgbClr val="00B050"/>
                </a:solidFill>
              </a:rPr>
              <a:t>pesos da função hipótese</a:t>
            </a:r>
            <a:r>
              <a:rPr lang="pt-BR" dirty="0"/>
              <a:t>, como o mostrado ao lado, e calcularmos o </a:t>
            </a:r>
            <a:r>
              <a:rPr lang="pt-BR" b="1" i="1" dirty="0">
                <a:solidFill>
                  <a:srgbClr val="00B050"/>
                </a:solidFill>
              </a:rPr>
              <a:t>erro</a:t>
            </a:r>
            <a:r>
              <a:rPr lang="pt-BR" dirty="0"/>
              <a:t>, ele será </a:t>
            </a:r>
            <a:r>
              <a:rPr lang="pt-BR" b="1" i="1" dirty="0">
                <a:solidFill>
                  <a:srgbClr val="00B050"/>
                </a:solidFill>
              </a:rPr>
              <a:t>alto</a:t>
            </a:r>
            <a:r>
              <a:rPr lang="pt-BR" dirty="0"/>
              <a:t> e, consequentemente, saberemos que </a:t>
            </a:r>
            <a:r>
              <a:rPr lang="pt-BR" b="1" i="1" dirty="0">
                <a:solidFill>
                  <a:srgbClr val="00B050"/>
                </a:solidFill>
              </a:rPr>
              <a:t>estamos longe do ponto de mínimo</a:t>
            </a:r>
            <a:r>
              <a:rPr lang="pt-BR" dirty="0"/>
              <a:t>.</a:t>
            </a:r>
          </a:p>
          <a:p>
            <a:r>
              <a:rPr lang="pt-BR" dirty="0"/>
              <a:t>Portanto, quanto menor o erro, mais próximo estaremos do ponto ótimo.</a:t>
            </a:r>
          </a:p>
        </p:txBody>
      </p:sp>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642076"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642076" cy="369332"/>
                </a:xfrm>
                <a:prstGeom prst="rect">
                  <a:avLst/>
                </a:prstGeom>
                <a:blipFill>
                  <a:blip r:embed="rId3"/>
                  <a:stretch>
                    <a:fillRect l="-2079"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grpSp>
      <p:sp>
        <p:nvSpPr>
          <p:cNvPr id="5" name="TextBox 4">
            <a:extLst>
              <a:ext uri="{FF2B5EF4-FFF2-40B4-BE49-F238E27FC236}">
                <a16:creationId xmlns:a16="http://schemas.microsoft.com/office/drawing/2014/main" id="{4FE89500-E230-5856-4374-C3752C426D23}"/>
              </a:ext>
            </a:extLst>
          </p:cNvPr>
          <p:cNvSpPr txBox="1"/>
          <p:nvPr/>
        </p:nvSpPr>
        <p:spPr>
          <a:xfrm>
            <a:off x="838200" y="5705092"/>
            <a:ext cx="10838016" cy="338554"/>
          </a:xfrm>
          <a:prstGeom prst="rect">
            <a:avLst/>
          </a:prstGeom>
          <a:noFill/>
        </p:spPr>
        <p:txBody>
          <a:bodyPr wrap="square">
            <a:spAutoFit/>
          </a:bodyPr>
          <a:lstStyle/>
          <a:p>
            <a:r>
              <a:rPr lang="pt-BR" sz="1600" b="1" dirty="0"/>
              <a:t>OBS</a:t>
            </a:r>
            <a:r>
              <a:rPr lang="pt-BR" sz="1600" dirty="0"/>
              <a:t>.: Em geral, o erro nunca será igual a 0 devido aos dados estarem corrompidos por algum tipo de ruído.</a:t>
            </a:r>
          </a:p>
        </p:txBody>
      </p:sp>
    </p:spTree>
    <p:extLst>
      <p:ext uri="{BB962C8B-B14F-4D97-AF65-F5344CB8AC3E}">
        <p14:creationId xmlns:p14="http://schemas.microsoft.com/office/powerpoint/2010/main" val="214420167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83072272-6A7D-4F6A-0F0F-8EECA4B0D90E}"/>
              </a:ext>
            </a:extLst>
          </p:cNvPr>
          <p:cNvSpPr>
            <a:spLocks noGrp="1"/>
          </p:cNvSpPr>
          <p:nvPr>
            <p:ph idx="1"/>
          </p:nvPr>
        </p:nvSpPr>
        <p:spPr>
          <a:xfrm>
            <a:off x="838200" y="2583055"/>
            <a:ext cx="10515600" cy="1691890"/>
          </a:xfrm>
        </p:spPr>
        <p:txBody>
          <a:bodyPr>
            <a:normAutofit/>
          </a:bodyPr>
          <a:lstStyle/>
          <a:p>
            <a:pPr marL="0" indent="0" algn="ctr">
              <a:buNone/>
            </a:pPr>
            <a:r>
              <a:rPr lang="pt-BR" sz="5400" i="1" dirty="0"/>
              <a:t>Como encontramos o ponto de mínimo através do erro?</a:t>
            </a:r>
          </a:p>
        </p:txBody>
      </p:sp>
    </p:spTree>
    <p:extLst>
      <p:ext uri="{BB962C8B-B14F-4D97-AF65-F5344CB8AC3E}">
        <p14:creationId xmlns:p14="http://schemas.microsoft.com/office/powerpoint/2010/main" val="121151226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154352" y="1825624"/>
                <a:ext cx="6874358" cy="5032376"/>
              </a:xfrm>
            </p:spPr>
            <p:txBody>
              <a:bodyPr>
                <a:normAutofit/>
              </a:bodyPr>
              <a:lstStyle/>
              <a:p>
                <a:r>
                  <a:rPr lang="pt-BR" dirty="0">
                    <a:solidFill>
                      <a:schemeClr val="tx1"/>
                    </a:solidFill>
                  </a:rPr>
                  <a:t>Se nós </a:t>
                </a:r>
                <a:r>
                  <a:rPr lang="pt-BR" b="1" i="1" dirty="0">
                    <a:solidFill>
                      <a:schemeClr val="accent2"/>
                    </a:solidFill>
                  </a:rPr>
                  <a:t>diferenciarmos a função de erro em um ponto qualquer </a:t>
                </a:r>
                <a:r>
                  <a:rPr lang="pt-BR" dirty="0">
                    <a:solidFill>
                      <a:schemeClr val="tx1"/>
                    </a:solidFill>
                  </a:rPr>
                  <a:t>em relação aos pesos, nós obtemos o </a:t>
                </a:r>
                <a:r>
                  <a:rPr lang="pt-BR" b="1" i="1" dirty="0">
                    <a:solidFill>
                      <a:schemeClr val="tx1"/>
                    </a:solidFill>
                  </a:rPr>
                  <a:t>vetor gradiente</a:t>
                </a:r>
                <a:r>
                  <a:rPr lang="pt-BR" dirty="0">
                    <a:solidFill>
                      <a:schemeClr val="tx1"/>
                    </a:solidFill>
                  </a:rPr>
                  <a:t> </a:t>
                </a:r>
              </a:p>
              <a:p>
                <a:pPr marL="0" indent="0" algn="ctr">
                  <a:buNone/>
                </a:pPr>
                <a14:m>
                  <m:oMath xmlns:m="http://schemas.openxmlformats.org/officeDocument/2006/math">
                    <m:r>
                      <a:rPr lang="pt-BR" i="1" dirty="0" smtClean="0">
                        <a:solidFill>
                          <a:schemeClr val="tx1"/>
                        </a:solidFill>
                        <a:latin typeface="Cambria Math" panose="02040503050406030204" pitchFamily="18" charset="0"/>
                        <a:ea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𝒂</m:t>
                        </m:r>
                      </m:e>
                    </m:d>
                    <m:r>
                      <a:rPr lang="pt-BR" b="0" i="1" smtClean="0">
                        <a:solidFill>
                          <a:schemeClr val="tx1"/>
                        </a:solidFill>
                        <a:latin typeface="Cambria Math" panose="02040503050406030204" pitchFamily="18" charset="0"/>
                      </a:rPr>
                      <m:t>=</m:t>
                    </m:r>
                    <m:f>
                      <m:fPr>
                        <m:ctrlPr>
                          <a:rPr lang="pt-BR" i="1" dirty="0" smtClean="0">
                            <a:solidFill>
                              <a:schemeClr val="tx1"/>
                            </a:solidFill>
                            <a:latin typeface="Cambria Math" panose="02040503050406030204" pitchFamily="18" charset="0"/>
                          </a:rPr>
                        </m:ctrlPr>
                      </m:fPr>
                      <m:num>
                        <m:r>
                          <a:rPr lang="pt-BR" i="1" dirty="0" smtClean="0">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𝒂</m:t>
                        </m:r>
                        <m:r>
                          <a:rPr lang="pt-BR" i="1">
                            <a:solidFill>
                              <a:schemeClr val="tx1"/>
                            </a:solidFill>
                            <a:latin typeface="Cambria Math" panose="02040503050406030204" pitchFamily="18" charset="0"/>
                          </a:rPr>
                          <m:t>)</m:t>
                        </m:r>
                      </m:num>
                      <m:den>
                        <m:r>
                          <a:rPr lang="pt-BR" i="1" dirty="0" smtClean="0">
                            <a:solidFill>
                              <a:schemeClr val="tx1"/>
                            </a:solidFill>
                            <a:latin typeface="Cambria Math" panose="02040503050406030204" pitchFamily="18" charset="0"/>
                          </a:rPr>
                          <m:t>𝜕</m:t>
                        </m:r>
                        <m:r>
                          <a:rPr lang="pt-BR" b="1" i="1" dirty="0" smtClean="0">
                            <a:solidFill>
                              <a:schemeClr val="tx1"/>
                            </a:solidFill>
                            <a:latin typeface="Cambria Math" panose="02040503050406030204" pitchFamily="18" charset="0"/>
                          </a:rPr>
                          <m:t>𝒂</m:t>
                        </m:r>
                      </m:den>
                    </m:f>
                  </m:oMath>
                </a14:m>
                <a:r>
                  <a:rPr lang="pt-BR" dirty="0">
                    <a:solidFill>
                      <a:schemeClr val="tx1"/>
                    </a:solidFill>
                  </a:rPr>
                  <a:t>.</a:t>
                </a:r>
              </a:p>
              <a:p>
                <a:r>
                  <a:rPr lang="pt-BR" b="0" i="0" dirty="0">
                    <a:solidFill>
                      <a:schemeClr val="tx1"/>
                    </a:solidFill>
                    <a:effectLst/>
                  </a:rPr>
                  <a:t>Ele sempre aponta na </a:t>
                </a:r>
                <a:r>
                  <a:rPr lang="pt-BR" b="1" i="1" dirty="0">
                    <a:solidFill>
                      <a:srgbClr val="00B050"/>
                    </a:solidFill>
                    <a:effectLst/>
                  </a:rPr>
                  <a:t>direção de maior taxa de crescimento da função</a:t>
                </a:r>
                <a:r>
                  <a:rPr lang="pt-BR" b="1" i="1" dirty="0">
                    <a:solidFill>
                      <a:schemeClr val="tx1"/>
                    </a:solidFill>
                    <a:effectLst/>
                  </a:rPr>
                  <a:t> </a:t>
                </a:r>
                <a:r>
                  <a:rPr lang="pt-BR" b="0" i="0" dirty="0">
                    <a:solidFill>
                      <a:schemeClr val="tx1"/>
                    </a:solidFill>
                    <a:effectLst/>
                  </a:rPr>
                  <a:t>a partir do ponto onde ele é calculado.</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154352" y="1825624"/>
                <a:ext cx="6874358" cy="5032376"/>
              </a:xfrm>
              <a:blipFill>
                <a:blip r:embed="rId3"/>
                <a:stretch>
                  <a:fillRect l="-1597" t="-1937" r="-2573"/>
                </a:stretch>
              </a:blipFill>
            </p:spPr>
            <p:txBody>
              <a:bodyPr/>
              <a:lstStyle/>
              <a:p>
                <a:r>
                  <a:rPr lang="en-US">
                    <a:noFill/>
                  </a:rPr>
                  <a:t> </a:t>
                </a:r>
              </a:p>
            </p:txBody>
          </p:sp>
        </mc:Fallback>
      </mc:AlternateContent>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918358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Vetor gradiente</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154352" y="1825624"/>
            <a:ext cx="6874358" cy="5032376"/>
          </a:xfrm>
        </p:spPr>
        <p:txBody>
          <a:bodyPr>
            <a:normAutofit/>
          </a:bodyPr>
          <a:lstStyle/>
          <a:p>
            <a:r>
              <a:rPr lang="pt-BR" b="0" i="0" dirty="0">
                <a:solidFill>
                  <a:schemeClr val="tx1"/>
                </a:solidFill>
                <a:effectLst/>
              </a:rPr>
              <a:t>O gradiente pode ser também interpretado como a </a:t>
            </a:r>
            <a:r>
              <a:rPr lang="pt-BR" b="1" i="1" dirty="0">
                <a:solidFill>
                  <a:srgbClr val="7030A0"/>
                </a:solidFill>
                <a:effectLst/>
              </a:rPr>
              <a:t>inclinação</a:t>
            </a:r>
            <a:r>
              <a:rPr lang="pt-BR" b="0" i="0" dirty="0">
                <a:solidFill>
                  <a:schemeClr val="tx1"/>
                </a:solidFill>
                <a:effectLst/>
              </a:rPr>
              <a:t> de um </a:t>
            </a:r>
            <a:r>
              <a:rPr lang="pt-BR" b="1" i="1" dirty="0">
                <a:solidFill>
                  <a:srgbClr val="00B050"/>
                </a:solidFill>
                <a:effectLst/>
              </a:rPr>
              <a:t>hiperplano tangente à função</a:t>
            </a:r>
            <a:r>
              <a:rPr lang="pt-BR" b="0" i="0" dirty="0">
                <a:solidFill>
                  <a:schemeClr val="tx1"/>
                </a:solidFill>
                <a:effectLst/>
              </a:rPr>
              <a:t> no ponto onde ele é calculado.</a:t>
            </a:r>
          </a:p>
          <a:p>
            <a:pPr lvl="1">
              <a:buFont typeface="Wingdings" panose="05000000000000000000" pitchFamily="2" charset="2"/>
              <a:buChar char="§"/>
            </a:pPr>
            <a:r>
              <a:rPr lang="pt-BR" b="0" i="0" dirty="0">
                <a:solidFill>
                  <a:schemeClr val="tx1"/>
                </a:solidFill>
                <a:effectLst/>
              </a:rPr>
              <a:t>Quanto </a:t>
            </a:r>
            <a:r>
              <a:rPr lang="pt-BR" b="1" i="1" dirty="0">
                <a:solidFill>
                  <a:schemeClr val="tx1"/>
                </a:solidFill>
                <a:effectLst/>
              </a:rPr>
              <a:t>maior o valor absoluto </a:t>
            </a:r>
            <a:r>
              <a:rPr lang="pt-BR" dirty="0">
                <a:solidFill>
                  <a:schemeClr val="tx1"/>
                </a:solidFill>
                <a:effectLst/>
              </a:rPr>
              <a:t>do gradiente</a:t>
            </a:r>
            <a:r>
              <a:rPr lang="pt-BR" b="1" i="1" dirty="0">
                <a:solidFill>
                  <a:schemeClr val="tx1"/>
                </a:solidFill>
                <a:effectLst/>
              </a:rPr>
              <a:t>, mais inclinado é </a:t>
            </a:r>
            <a:r>
              <a:rPr lang="pt-BR" b="1" i="1" dirty="0"/>
              <a:t>o hiperplano </a:t>
            </a:r>
            <a:r>
              <a:rPr lang="pt-BR" b="1" i="1" dirty="0">
                <a:solidFill>
                  <a:schemeClr val="tx1"/>
                </a:solidFill>
                <a:effectLst/>
              </a:rPr>
              <a:t>tangente </a:t>
            </a:r>
            <a:r>
              <a:rPr lang="pt-BR" dirty="0"/>
              <a:t>à</a:t>
            </a:r>
            <a:r>
              <a:rPr lang="pt-BR" b="0" i="0" dirty="0">
                <a:solidFill>
                  <a:schemeClr val="tx1"/>
                </a:solidFill>
                <a:effectLst/>
              </a:rPr>
              <a:t>quele ponto.</a:t>
            </a:r>
          </a:p>
          <a:p>
            <a:pPr lvl="1">
              <a:buFont typeface="Wingdings" panose="05000000000000000000" pitchFamily="2" charset="2"/>
              <a:buChar char="§"/>
            </a:pPr>
            <a:r>
              <a:rPr lang="pt-BR" dirty="0"/>
              <a:t>Portanto, </a:t>
            </a:r>
            <a:r>
              <a:rPr lang="pt-BR" b="1" i="1" dirty="0"/>
              <a:t>um valor igual a 0 indica inclinação nula</a:t>
            </a:r>
            <a:r>
              <a:rPr lang="pt-BR" dirty="0"/>
              <a:t>.</a:t>
            </a:r>
          </a:p>
          <a:p>
            <a:pPr lvl="1">
              <a:buFont typeface="Wingdings" panose="05000000000000000000" pitchFamily="2" charset="2"/>
              <a:buChar char="§"/>
            </a:pPr>
            <a:r>
              <a:rPr lang="pt-BR" b="0" i="0" dirty="0">
                <a:solidFill>
                  <a:schemeClr val="tx1"/>
                </a:solidFill>
                <a:effectLst/>
              </a:rPr>
              <a:t>Onde isso ocorre? </a:t>
            </a:r>
          </a:p>
          <a:p>
            <a:pPr lvl="2">
              <a:buFont typeface="Wingdings" panose="05000000000000000000" pitchFamily="2" charset="2"/>
              <a:buChar char="§"/>
            </a:pPr>
            <a:r>
              <a:rPr lang="pt-BR" b="1" i="1" dirty="0">
                <a:solidFill>
                  <a:schemeClr val="accent2"/>
                </a:solidFill>
              </a:rPr>
              <a:t>Resposta:</a:t>
            </a:r>
            <a:r>
              <a:rPr lang="pt-BR" b="1" i="1" dirty="0">
                <a:solidFill>
                  <a:srgbClr val="00B050"/>
                </a:solidFill>
              </a:rPr>
              <a:t> Em </a:t>
            </a:r>
            <a:r>
              <a:rPr lang="pt-BR" b="1" i="1" dirty="0">
                <a:solidFill>
                  <a:srgbClr val="00B050"/>
                </a:solidFill>
                <a:effectLst/>
              </a:rPr>
              <a:t>pontos de máximo e de mínimo</a:t>
            </a:r>
            <a:r>
              <a:rPr lang="pt-BR" b="0" i="0" dirty="0">
                <a:solidFill>
                  <a:schemeClr val="tx1"/>
                </a:solidFill>
                <a:effectLst/>
              </a:rPr>
              <a:t>.</a:t>
            </a:r>
          </a:p>
        </p:txBody>
      </p:sp>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CaixaDeTexto 4">
            <a:extLst>
              <a:ext uri="{FF2B5EF4-FFF2-40B4-BE49-F238E27FC236}">
                <a16:creationId xmlns:a16="http://schemas.microsoft.com/office/drawing/2014/main" id="{0C28C885-5E71-B2B1-A1C0-BB5E866BD112}"/>
              </a:ext>
            </a:extLst>
          </p:cNvPr>
          <p:cNvSpPr txBox="1"/>
          <p:nvPr/>
        </p:nvSpPr>
        <p:spPr>
          <a:xfrm>
            <a:off x="1135059" y="5485769"/>
            <a:ext cx="3768132" cy="1077218"/>
          </a:xfrm>
          <a:prstGeom prst="rect">
            <a:avLst/>
          </a:prstGeom>
          <a:noFill/>
        </p:spPr>
        <p:txBody>
          <a:bodyPr wrap="square" rtlCol="0">
            <a:spAutoFit/>
          </a:bodyPr>
          <a:lstStyle/>
          <a:p>
            <a:pPr algn="ctr"/>
            <a:r>
              <a:rPr lang="pt-BR" sz="1600" dirty="0"/>
              <a:t>No caso da função ter apenas um argumento, o vetor gradiente dá a inclinação de uma reta tangente ao ponto onde ele é calculado.</a:t>
            </a:r>
          </a:p>
        </p:txBody>
      </p:sp>
    </p:spTree>
    <p:extLst>
      <p:ext uri="{BB962C8B-B14F-4D97-AF65-F5344CB8AC3E}">
        <p14:creationId xmlns:p14="http://schemas.microsoft.com/office/powerpoint/2010/main" val="235855031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559179" y="1825624"/>
                <a:ext cx="6441038" cy="5032376"/>
              </a:xfrm>
            </p:spPr>
            <p:txBody>
              <a:bodyPr>
                <a:normAutofit/>
              </a:bodyPr>
              <a:lstStyle/>
              <a:p>
                <a:r>
                  <a:rPr lang="pt-BR" dirty="0">
                    <a:solidFill>
                      <a:schemeClr val="tx1"/>
                    </a:solidFill>
                  </a:rPr>
                  <a:t>Porém, queremos </a:t>
                </a:r>
                <a:r>
                  <a:rPr lang="pt-BR" b="1" i="1" dirty="0">
                    <a:solidFill>
                      <a:srgbClr val="00B050"/>
                    </a:solidFill>
                  </a:rPr>
                  <a:t>encontrar o mínimo</a:t>
                </a:r>
                <a:r>
                  <a:rPr lang="pt-BR" dirty="0">
                    <a:solidFill>
                      <a:schemeClr val="tx1"/>
                    </a:solidFill>
                  </a:rPr>
                  <a:t> da função, o que devemos fazer?</a:t>
                </a:r>
                <a:endParaRPr lang="pt-BR" b="0" i="0" dirty="0">
                  <a:solidFill>
                    <a:schemeClr val="tx1"/>
                  </a:solidFill>
                  <a:effectLst/>
                </a:endParaRPr>
              </a:p>
              <a:p>
                <a:r>
                  <a:rPr lang="pt-BR" b="0" i="0" dirty="0">
                    <a:solidFill>
                      <a:schemeClr val="tx1"/>
                    </a:solidFill>
                    <a:effectLst/>
                  </a:rPr>
                  <a:t>Basta irmos na </a:t>
                </a:r>
                <a:r>
                  <a:rPr lang="pt-BR" b="1" i="1" dirty="0">
                    <a:solidFill>
                      <a:srgbClr val="00B050"/>
                    </a:solidFill>
                    <a:effectLst/>
                  </a:rPr>
                  <a:t>direção oposta</a:t>
                </a:r>
                <a:r>
                  <a:rPr lang="pt-BR" dirty="0">
                    <a:effectLst/>
                  </a:rPr>
                  <a:t> à</a:t>
                </a:r>
                <a:r>
                  <a:rPr lang="pt-BR" b="0" i="0" dirty="0">
                    <a:solidFill>
                      <a:schemeClr val="tx1"/>
                    </a:solidFill>
                    <a:effectLst/>
                  </a:rPr>
                  <a:t> </a:t>
                </a:r>
                <a:r>
                  <a:rPr lang="pt-BR" dirty="0"/>
                  <a:t>indicada pelo</a:t>
                </a:r>
                <a:r>
                  <a:rPr lang="pt-BR" b="0" i="0" dirty="0">
                    <a:solidFill>
                      <a:schemeClr val="tx1"/>
                    </a:solidFill>
                    <a:effectLst/>
                  </a:rPr>
                  <a:t> vetor gradiente (i.e., negativo do gradiente)</a:t>
                </a:r>
              </a:p>
              <a:p>
                <a:pPr marL="0" indent="0">
                  <a:buNone/>
                </a:pPr>
                <a14:m>
                  <m:oMathPara xmlns:m="http://schemas.openxmlformats.org/officeDocument/2006/math">
                    <m:oMathParaPr>
                      <m:jc m:val="centerGroup"/>
                    </m:oMathParaPr>
                    <m:oMath xmlns:m="http://schemas.openxmlformats.org/officeDocument/2006/math">
                      <m:r>
                        <a:rPr lang="pt-BR" b="0" i="1" dirty="0" smtClean="0">
                          <a:solidFill>
                            <a:schemeClr val="tx1"/>
                          </a:solidFill>
                          <a:latin typeface="Cambria Math" panose="02040503050406030204" pitchFamily="18" charset="0"/>
                          <a:ea typeface="Cambria Math" panose="02040503050406030204" pitchFamily="18" charset="0"/>
                        </a:rPr>
                        <m:t>−</m:t>
                      </m:r>
                      <m:r>
                        <a:rPr lang="pt-BR" i="1" dirty="0" smtClean="0">
                          <a:solidFill>
                            <a:schemeClr val="tx1"/>
                          </a:solidFill>
                          <a:latin typeface="Cambria Math" panose="02040503050406030204" pitchFamily="18" charset="0"/>
                          <a:ea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𝒂</m:t>
                          </m:r>
                        </m:e>
                      </m:d>
                      <m:r>
                        <a:rPr lang="pt-BR" b="0" i="1" smtClean="0">
                          <a:solidFill>
                            <a:schemeClr val="tx1"/>
                          </a:solidFill>
                          <a:latin typeface="Cambria Math" panose="02040503050406030204" pitchFamily="18" charset="0"/>
                        </a:rPr>
                        <m:t>=−</m:t>
                      </m:r>
                      <m:f>
                        <m:fPr>
                          <m:ctrlPr>
                            <a:rPr lang="pt-BR" i="1" dirty="0" smtClean="0">
                              <a:solidFill>
                                <a:schemeClr val="tx1"/>
                              </a:solidFill>
                              <a:latin typeface="Cambria Math" panose="02040503050406030204" pitchFamily="18" charset="0"/>
                            </a:rPr>
                          </m:ctrlPr>
                        </m:fPr>
                        <m:num>
                          <m:r>
                            <a:rPr lang="pt-BR" i="1" dirty="0" smtClean="0">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𝒂</m:t>
                          </m:r>
                          <m:r>
                            <a:rPr lang="pt-BR" i="1">
                              <a:solidFill>
                                <a:schemeClr val="tx1"/>
                              </a:solidFill>
                              <a:latin typeface="Cambria Math" panose="02040503050406030204" pitchFamily="18" charset="0"/>
                            </a:rPr>
                            <m:t>)</m:t>
                          </m:r>
                        </m:num>
                        <m:den>
                          <m:r>
                            <a:rPr lang="pt-BR" i="1" dirty="0" smtClean="0">
                              <a:solidFill>
                                <a:schemeClr val="tx1"/>
                              </a:solidFill>
                              <a:latin typeface="Cambria Math" panose="02040503050406030204" pitchFamily="18" charset="0"/>
                            </a:rPr>
                            <m:t>𝜕</m:t>
                          </m:r>
                          <m:r>
                            <a:rPr lang="pt-BR" b="1" i="1" dirty="0" smtClean="0">
                              <a:solidFill>
                                <a:schemeClr val="tx1"/>
                              </a:solidFill>
                              <a:latin typeface="Cambria Math" panose="02040503050406030204" pitchFamily="18" charset="0"/>
                            </a:rPr>
                            <m:t>𝒂</m:t>
                          </m:r>
                        </m:den>
                      </m:f>
                    </m:oMath>
                  </m:oMathPara>
                </a14:m>
                <a:endParaRPr lang="pt-BR" dirty="0"/>
              </a:p>
              <a:p>
                <a:r>
                  <a:rPr lang="pt-BR" dirty="0"/>
                  <a:t>O </a:t>
                </a:r>
                <a:r>
                  <a:rPr lang="pt-BR" b="1" i="1" dirty="0">
                    <a:solidFill>
                      <a:srgbClr val="7030A0"/>
                    </a:solidFill>
                  </a:rPr>
                  <a:t>negativo do vetor gradiente</a:t>
                </a:r>
                <a:r>
                  <a:rPr lang="pt-BR" b="1" i="1" dirty="0">
                    <a:solidFill>
                      <a:srgbClr val="00B050"/>
                    </a:solidFill>
                    <a:effectLst/>
                  </a:rPr>
                  <a:t> </a:t>
                </a:r>
                <a:r>
                  <a:rPr lang="pt-BR" b="1" i="1" dirty="0">
                    <a:solidFill>
                      <a:schemeClr val="tx1"/>
                    </a:solidFill>
                    <a:effectLst/>
                  </a:rPr>
                  <a:t>aponta para a </a:t>
                </a:r>
                <a:r>
                  <a:rPr lang="pt-BR" b="1" i="1" dirty="0">
                    <a:solidFill>
                      <a:srgbClr val="00B050"/>
                    </a:solidFill>
                    <a:effectLst/>
                  </a:rPr>
                  <a:t>direção de maior taxa de decrescimento da função</a:t>
                </a:r>
                <a:r>
                  <a:rPr lang="pt-BR" b="0" i="0" dirty="0">
                    <a:solidFill>
                      <a:srgbClr val="00B050"/>
                    </a:solidFill>
                    <a:effectLst/>
                  </a:rPr>
                  <a:t> </a:t>
                </a:r>
                <a:r>
                  <a:rPr lang="pt-BR" b="0" i="0" dirty="0">
                    <a:solidFill>
                      <a:schemeClr val="tx1"/>
                    </a:solidFill>
                    <a:effectLst/>
                  </a:rPr>
                  <a:t>a partir do ponto</a:t>
                </a:r>
                <a:r>
                  <a:rPr lang="pt-BR" dirty="0"/>
                  <a:t> onde ele é calculado.</a:t>
                </a:r>
                <a:endParaRPr lang="pt-BR" dirty="0">
                  <a:solidFill>
                    <a:schemeClr val="tx1"/>
                  </a:solidFill>
                </a:endParaRP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559179" y="1825624"/>
                <a:ext cx="6441038" cy="5032376"/>
              </a:xfrm>
              <a:blipFill>
                <a:blip r:embed="rId3"/>
                <a:stretch>
                  <a:fillRect l="-1703" t="-1937" r="-2649"/>
                </a:stretch>
              </a:blipFill>
            </p:spPr>
            <p:txBody>
              <a:bodyPr/>
              <a:lstStyle/>
              <a:p>
                <a:r>
                  <a:rPr lang="en-US">
                    <a:noFill/>
                  </a:rPr>
                  <a:t> </a:t>
                </a:r>
              </a:p>
            </p:txBody>
          </p:sp>
        </mc:Fallback>
      </mc:AlternateContent>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CaixaDeTexto 15">
            <a:extLst>
              <a:ext uri="{FF2B5EF4-FFF2-40B4-BE49-F238E27FC236}">
                <a16:creationId xmlns:a16="http://schemas.microsoft.com/office/drawing/2014/main" id="{C058A725-4BBC-26BD-048D-ECFF5AD66B5E}"/>
              </a:ext>
            </a:extLst>
          </p:cNvPr>
          <p:cNvSpPr txBox="1"/>
          <p:nvPr/>
        </p:nvSpPr>
        <p:spPr>
          <a:xfrm>
            <a:off x="468345" y="5522410"/>
            <a:ext cx="4822861" cy="646331"/>
          </a:xfrm>
          <a:prstGeom prst="rect">
            <a:avLst/>
          </a:prstGeom>
          <a:noFill/>
        </p:spPr>
        <p:txBody>
          <a:bodyPr wrap="square" rtlCol="0">
            <a:spAutoFit/>
          </a:bodyPr>
          <a:lstStyle/>
          <a:p>
            <a:pPr algn="ctr"/>
            <a:r>
              <a:rPr lang="pt-BR" dirty="0"/>
              <a:t>O objetivo é minimizar a função de erro </a:t>
            </a:r>
            <a:r>
              <a:rPr lang="pt-BR" b="1" i="1" dirty="0">
                <a:solidFill>
                  <a:srgbClr val="7030A0"/>
                </a:solidFill>
              </a:rPr>
              <a:t>indo na direção contrária</a:t>
            </a:r>
            <a:r>
              <a:rPr lang="pt-BR" dirty="0"/>
              <a:t> à indicada pelo gradiente.</a:t>
            </a:r>
          </a:p>
        </p:txBody>
      </p:sp>
    </p:spTree>
    <p:extLst>
      <p:ext uri="{BB962C8B-B14F-4D97-AF65-F5344CB8AC3E}">
        <p14:creationId xmlns:p14="http://schemas.microsoft.com/office/powerpoint/2010/main" val="112975768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Qual a distância até o mínimo?</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102983" cy="5032376"/>
          </a:xfrm>
        </p:spPr>
        <p:txBody>
          <a:bodyPr>
            <a:normAutofit/>
          </a:bodyPr>
          <a:lstStyle/>
          <a:p>
            <a:r>
              <a:rPr lang="pt-BR" dirty="0"/>
              <a:t>Entretanto, o gradiente </a:t>
            </a:r>
            <a:r>
              <a:rPr lang="pt-BR" b="1" i="1" dirty="0">
                <a:solidFill>
                  <a:srgbClr val="00B050"/>
                </a:solidFill>
              </a:rPr>
              <a:t>não dá informação sobre a distância até o ponto de mínimo</a:t>
            </a:r>
            <a:r>
              <a:rPr lang="pt-BR" dirty="0"/>
              <a:t>, mas pelo menos sabemos a direção correta.</a:t>
            </a:r>
          </a:p>
          <a:p>
            <a:r>
              <a:rPr lang="pt-BR" dirty="0"/>
              <a:t>Podemos fazer a analogia com uma bola solta em uma ladeira.</a:t>
            </a:r>
          </a:p>
          <a:p>
            <a:r>
              <a:rPr lang="pt-BR" dirty="0"/>
              <a:t>A gravidade dá a direção até a parte mais baixa da ladeira, mas não dá a distância até lá. </a:t>
            </a:r>
          </a:p>
          <a:p>
            <a:endParaRPr lang="pt-BR" dirty="0"/>
          </a:p>
        </p:txBody>
      </p:sp>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565636"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565636" cy="369332"/>
                </a:xfrm>
                <a:prstGeom prst="rect">
                  <a:avLst/>
                </a:prstGeom>
                <a:blipFill>
                  <a:blip r:embed="rId3"/>
                  <a:stretch>
                    <a:fillRect l="-2138"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5114357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102983" cy="5032376"/>
          </a:xfrm>
        </p:spPr>
        <p:txBody>
          <a:bodyPr>
            <a:normAutofit/>
          </a:bodyPr>
          <a:lstStyle/>
          <a:p>
            <a:r>
              <a:rPr lang="pt-BR" dirty="0"/>
              <a:t>Portanto, se quisermos </a:t>
            </a:r>
            <a:r>
              <a:rPr lang="pt-BR" b="1" i="1" dirty="0">
                <a:solidFill>
                  <a:srgbClr val="00B050"/>
                </a:solidFill>
              </a:rPr>
              <a:t>seguir até o ponto de mínimo</a:t>
            </a:r>
            <a:r>
              <a:rPr lang="pt-BR" dirty="0"/>
              <a:t> a partir de um ponto qualquer, podemos </a:t>
            </a:r>
            <a:r>
              <a:rPr lang="pt-BR" b="1" i="1" dirty="0">
                <a:solidFill>
                  <a:srgbClr val="7030A0"/>
                </a:solidFill>
              </a:rPr>
              <a:t>dar um passo</a:t>
            </a:r>
            <a:r>
              <a:rPr lang="pt-BR" b="1" i="1" dirty="0">
                <a:solidFill>
                  <a:srgbClr val="00B050"/>
                </a:solidFill>
              </a:rPr>
              <a:t> na direção apontada pelo gradiente</a:t>
            </a:r>
            <a:r>
              <a:rPr lang="pt-BR" dirty="0"/>
              <a:t>.</a:t>
            </a:r>
          </a:p>
          <a:p>
            <a:r>
              <a:rPr lang="pt-BR" dirty="0"/>
              <a:t>Nós sabemos a direção do ponto de mínimo e podemos </a:t>
            </a:r>
            <a:r>
              <a:rPr lang="pt-BR" b="1" i="1" dirty="0">
                <a:solidFill>
                  <a:schemeClr val="accent2"/>
                </a:solidFill>
              </a:rPr>
              <a:t>escolher o tamanho do passo</a:t>
            </a:r>
            <a:r>
              <a:rPr lang="pt-BR" dirty="0"/>
              <a:t> para darmos naquela direção.</a:t>
            </a:r>
          </a:p>
        </p:txBody>
      </p:sp>
      <p:grpSp>
        <p:nvGrpSpPr>
          <p:cNvPr id="52" name="Agrupar 51">
            <a:extLst>
              <a:ext uri="{FF2B5EF4-FFF2-40B4-BE49-F238E27FC236}">
                <a16:creationId xmlns:a16="http://schemas.microsoft.com/office/drawing/2014/main" id="{C28387F9-D7FD-85ED-8EAA-F893C59A9528}"/>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600EFC4B-E5AE-01A3-BA49-9FAC5F7EB269}"/>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530E5751-C05C-E237-ADF7-AC5CE485170E}"/>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37EAAC62-22C5-6028-EB17-5E7D7A0FA774}"/>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0B96B558-FD3C-575E-D9A1-D3E273AF2DEB}"/>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id="{2C59751E-36DB-0194-586B-E3ADFD5E2F3E}"/>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ACD660F6-9366-FE86-1D50-0AFB812C300C}"/>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A5146C3E-B0FA-B680-38D2-A628801FD84D}"/>
                  </a:ext>
                </a:extLst>
              </p:cNvPr>
              <p:cNvSpPr txBox="1"/>
              <p:nvPr/>
            </p:nvSpPr>
            <p:spPr>
              <a:xfrm>
                <a:off x="955480" y="5704354"/>
                <a:ext cx="3662982"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47" name="CaixaDeTexto 46">
                <a:extLst>
                  <a:ext uri="{FF2B5EF4-FFF2-40B4-BE49-F238E27FC236}">
                    <a16:creationId xmlns:a16="http://schemas.microsoft.com/office/drawing/2014/main" id="{A5146C3E-B0FA-B680-38D2-A628801FD84D}"/>
                  </a:ext>
                </a:extLst>
              </p:cNvPr>
              <p:cNvSpPr txBox="1">
                <a:spLocks noRot="1" noChangeAspect="1" noMove="1" noResize="1" noEditPoints="1" noAdjustHandles="1" noChangeArrowheads="1" noChangeShapeType="1" noTextEdit="1"/>
              </p:cNvSpPr>
              <p:nvPr/>
            </p:nvSpPr>
            <p:spPr>
              <a:xfrm>
                <a:off x="955480" y="5704354"/>
                <a:ext cx="3662982" cy="678584"/>
              </a:xfrm>
              <a:prstGeom prst="rect">
                <a:avLst/>
              </a:prstGeom>
              <a:blipFill>
                <a:blip r:embed="rId9"/>
                <a:stretch>
                  <a:fillRect/>
                </a:stretch>
              </a:blipFill>
            </p:spPr>
            <p:txBody>
              <a:bodyPr/>
              <a:lstStyle/>
              <a:p>
                <a:r>
                  <a:rPr lang="pt-BR">
                    <a:noFill/>
                  </a:rPr>
                  <a:t> </a:t>
                </a:r>
              </a:p>
            </p:txBody>
          </p:sp>
        </mc:Fallback>
      </mc:AlternateContent>
      <p:sp>
        <p:nvSpPr>
          <p:cNvPr id="48" name="CaixaDeTexto 47">
            <a:extLst>
              <a:ext uri="{FF2B5EF4-FFF2-40B4-BE49-F238E27FC236}">
                <a16:creationId xmlns:a16="http://schemas.microsoft.com/office/drawing/2014/main" id="{01C22BBB-35EB-E308-FDB7-BCA9B063B091}"/>
              </a:ext>
            </a:extLst>
          </p:cNvPr>
          <p:cNvSpPr txBox="1"/>
          <p:nvPr/>
        </p:nvSpPr>
        <p:spPr>
          <a:xfrm>
            <a:off x="2851197" y="6545877"/>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id="{A6DFF2D4-9482-CE1A-10F2-E2E0D4FD3158}"/>
              </a:ext>
            </a:extLst>
          </p:cNvPr>
          <p:cNvCxnSpPr>
            <a:cxnSpLocks/>
          </p:cNvCxnSpPr>
          <p:nvPr/>
        </p:nvCxnSpPr>
        <p:spPr>
          <a:xfrm>
            <a:off x="2879776" y="6168939"/>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2251714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4824B5-E32B-7737-F280-A9CDCD2E52A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F8D0636-D111-010D-30BF-359631D0DCF7}"/>
              </a:ext>
            </a:extLst>
          </p:cNvPr>
          <p:cNvSpPr>
            <a:spLocks noGrp="1"/>
          </p:cNvSpPr>
          <p:nvPr>
            <p:ph type="title"/>
          </p:nvPr>
        </p:nvSpPr>
        <p:spPr/>
        <p:txBody>
          <a:bodyPr/>
          <a:lstStyle/>
          <a:p>
            <a:r>
              <a:rPr lang="pt-BR" dirty="0"/>
              <a:t>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3DAFB368-64B7-FC99-5EB4-63434C72A0BE}"/>
                  </a:ext>
                </a:extLst>
              </p:cNvPr>
              <p:cNvSpPr>
                <a:spLocks noGrp="1"/>
              </p:cNvSpPr>
              <p:nvPr>
                <p:ph idx="1"/>
              </p:nvPr>
            </p:nvSpPr>
            <p:spPr>
              <a:xfrm>
                <a:off x="5897233" y="1825624"/>
                <a:ext cx="6102983" cy="5032376"/>
              </a:xfrm>
            </p:spPr>
            <p:txBody>
              <a:bodyPr>
                <a:normAutofit/>
              </a:bodyPr>
              <a:lstStyle/>
              <a:p>
                <a:r>
                  <a:rPr lang="pt-BR" dirty="0"/>
                  <a:t>O passo de aprendizagem determina a </a:t>
                </a:r>
                <a:r>
                  <a:rPr lang="pt-BR" b="1" i="1" dirty="0">
                    <a:solidFill>
                      <a:schemeClr val="accent2"/>
                    </a:solidFill>
                  </a:rPr>
                  <a:t>porcentagem</a:t>
                </a:r>
                <a:r>
                  <a:rPr lang="pt-BR" b="1" i="1" dirty="0">
                    <a:solidFill>
                      <a:srgbClr val="00B050"/>
                    </a:solidFill>
                  </a:rPr>
                  <a:t> da informação do </a:t>
                </a:r>
                <a:r>
                  <a:rPr lang="pt-BR" b="1" i="1" dirty="0">
                    <a:solidFill>
                      <a:srgbClr val="0070C0"/>
                    </a:solidFill>
                  </a:rPr>
                  <a:t>vetor gradiente</a:t>
                </a:r>
                <a:r>
                  <a:rPr lang="pt-BR" b="1" i="1" dirty="0">
                    <a:solidFill>
                      <a:srgbClr val="00B050"/>
                    </a:solidFill>
                  </a:rPr>
                  <a:t> que é adicionada aos pesos</a:t>
                </a:r>
                <a:r>
                  <a:rPr lang="pt-BR" dirty="0"/>
                  <a:t>.</a:t>
                </a:r>
              </a:p>
              <a:p>
                <a:r>
                  <a:rPr lang="pt-BR" dirty="0"/>
                  <a:t>A equação abaixo é chamada de </a:t>
                </a:r>
                <a:r>
                  <a:rPr lang="pt-BR" b="1" i="1" dirty="0">
                    <a:solidFill>
                      <a:srgbClr val="7030A0"/>
                    </a:solidFill>
                  </a:rPr>
                  <a:t>equação de atualização dos pesos</a:t>
                </a:r>
              </a:p>
              <a:p>
                <a:pPr marL="0" indent="0">
                  <a:buNone/>
                </a:pPr>
                <a:endParaRPr lang="pt-BR" sz="700" dirty="0"/>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novo</m:t>
                          </m:r>
                        </m:sub>
                      </m:sSub>
                      <m:r>
                        <a:rPr lang="pt-BR">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inicial</m:t>
                          </m:r>
                        </m:sub>
                      </m:sSub>
                      <m:r>
                        <a:rPr lang="pt-BR">
                          <a:latin typeface="Cambria Math" panose="02040503050406030204" pitchFamily="18" charset="0"/>
                        </a:rPr>
                        <m:t>−</m:t>
                      </m:r>
                      <m:r>
                        <a:rPr lang="pt-BR" i="1" dirty="0">
                          <a:latin typeface="Cambria Math" panose="02040503050406030204" pitchFamily="18" charset="0"/>
                          <a:ea typeface="Cambria Math" panose="02040503050406030204" pitchFamily="18" charset="0"/>
                        </a:rPr>
                        <m:t>𝛼</m:t>
                      </m:r>
                      <m:f>
                        <m:fPr>
                          <m:ctrlPr>
                            <a:rPr lang="pt-BR" i="1" dirty="0">
                              <a:latin typeface="Cambria Math" panose="02040503050406030204" pitchFamily="18" charset="0"/>
                            </a:rPr>
                          </m:ctrlPr>
                        </m:fPr>
                        <m:num>
                          <m:r>
                            <a:rPr lang="pt-BR" i="1" dirty="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inicial</m:t>
                              </m:r>
                            </m:sub>
                          </m:sSub>
                          <m:r>
                            <a:rPr lang="pt-BR" i="1">
                              <a:latin typeface="Cambria Math" panose="02040503050406030204" pitchFamily="18" charset="0"/>
                            </a:rPr>
                            <m:t>)</m:t>
                          </m:r>
                        </m:num>
                        <m:den>
                          <m:r>
                            <a:rPr lang="pt-BR" i="1" dirty="0">
                              <a:latin typeface="Cambria Math" panose="02040503050406030204" pitchFamily="18" charset="0"/>
                            </a:rPr>
                            <m:t>𝜕</m:t>
                          </m:r>
                          <m:r>
                            <a:rPr lang="pt-BR" i="1" dirty="0">
                              <a:latin typeface="Cambria Math" panose="02040503050406030204" pitchFamily="18" charset="0"/>
                            </a:rPr>
                            <m:t>𝑎</m:t>
                          </m:r>
                        </m:den>
                      </m:f>
                    </m:oMath>
                  </m:oMathPara>
                </a14:m>
                <a:endParaRPr lang="pt-BR" dirty="0"/>
              </a:p>
            </p:txBody>
          </p:sp>
        </mc:Choice>
        <mc:Fallback xmlns="">
          <p:sp>
            <p:nvSpPr>
              <p:cNvPr id="3" name="Espaço Reservado para Conteúdo 2">
                <a:extLst>
                  <a:ext uri="{FF2B5EF4-FFF2-40B4-BE49-F238E27FC236}">
                    <a16:creationId xmlns:a16="http://schemas.microsoft.com/office/drawing/2014/main" id="{3DAFB368-64B7-FC99-5EB4-63434C72A0BE}"/>
                  </a:ext>
                </a:extLst>
              </p:cNvPr>
              <p:cNvSpPr>
                <a:spLocks noGrp="1" noRot="1" noChangeAspect="1" noMove="1" noResize="1" noEditPoints="1" noAdjustHandles="1" noChangeArrowheads="1" noChangeShapeType="1" noTextEdit="1"/>
              </p:cNvSpPr>
              <p:nvPr>
                <p:ph idx="1"/>
              </p:nvPr>
            </p:nvSpPr>
            <p:spPr>
              <a:xfrm>
                <a:off x="5897233" y="1825624"/>
                <a:ext cx="6102983" cy="5032376"/>
              </a:xfrm>
              <a:blipFill>
                <a:blip r:embed="rId3"/>
                <a:stretch>
                  <a:fillRect l="-1796" t="-1937" r="-998"/>
                </a:stretch>
              </a:blipFill>
            </p:spPr>
            <p:txBody>
              <a:bodyPr/>
              <a:lstStyle/>
              <a:p>
                <a:r>
                  <a:rPr lang="en-US">
                    <a:noFill/>
                  </a:rPr>
                  <a:t> </a:t>
                </a:r>
              </a:p>
            </p:txBody>
          </p:sp>
        </mc:Fallback>
      </mc:AlternateContent>
      <p:grpSp>
        <p:nvGrpSpPr>
          <p:cNvPr id="52" name="Agrupar 51">
            <a:extLst>
              <a:ext uri="{FF2B5EF4-FFF2-40B4-BE49-F238E27FC236}">
                <a16:creationId xmlns:a16="http://schemas.microsoft.com/office/drawing/2014/main" id="{BD7C7801-93AE-3521-9688-67EB7DF33460}"/>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AD352239-0C2F-18AE-061D-77B0099C6672}"/>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4556B2FE-00BB-B5FB-6C0B-1E9D78EDD697}"/>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877E7BC2-D86C-E401-20A7-CD0960144C69}"/>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6A25D9E2-360B-F174-8BBF-0A2E84CF2664}"/>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CBE0D392-CD86-346B-F78B-7E7D4DB5A0C6}"/>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DBD11855-7724-5DBC-812A-3E03BB970BA0}"/>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DB3EBCAF-5483-156A-6C02-04C826D77075}"/>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F32E6078-0804-72F4-5F76-A5DA078D2DB9}"/>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B5D0D0B8-5078-87A3-A626-3F1E3EDEF0F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AAD06C7-C0BD-34BA-EEB0-80FBA9714E01}"/>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686E2EBF-DFE7-B601-1AA6-4447472964BD}"/>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62B22DD-0088-2E78-C884-697E7DB3EFA2}"/>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395F7296-6BAB-C2A7-725C-D4C32B4D317A}"/>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2BF94E25-D082-5EB9-0249-5BBD89899DCF}"/>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9A3AD53-C51A-C34F-2BCC-05BA99197460}"/>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8DC2A5E0-A082-CC58-B934-3FFB3935678B}"/>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71C43C28-09F1-353B-BC8E-ADAECB5EB76E}"/>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F5EAFBE1-84DE-E789-2984-FE862A01CBCD}"/>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C21A0C15-3686-9EDD-D546-681BD24E3869}"/>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4D57B8E0-B223-FB65-2B97-D3C8086F7826}"/>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id="{CA22AD14-39B0-2F41-14AF-E3A95A2ADB3B}"/>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67F160FB-DE3E-79C3-88D2-4EA327A6593E}"/>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p:sp>
        <p:nvSpPr>
          <p:cNvPr id="48" name="CaixaDeTexto 47">
            <a:extLst>
              <a:ext uri="{FF2B5EF4-FFF2-40B4-BE49-F238E27FC236}">
                <a16:creationId xmlns:a16="http://schemas.microsoft.com/office/drawing/2014/main" id="{5E37C1F1-7EA1-2169-BB38-D423F8A41806}"/>
              </a:ext>
            </a:extLst>
          </p:cNvPr>
          <p:cNvSpPr txBox="1"/>
          <p:nvPr/>
        </p:nvSpPr>
        <p:spPr>
          <a:xfrm>
            <a:off x="9039886" y="5048306"/>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id="{D3C871A0-7BA3-210E-C6D7-E92F0EC87F43}"/>
              </a:ext>
            </a:extLst>
          </p:cNvPr>
          <p:cNvCxnSpPr>
            <a:cxnSpLocks/>
          </p:cNvCxnSpPr>
          <p:nvPr/>
        </p:nvCxnSpPr>
        <p:spPr>
          <a:xfrm>
            <a:off x="9068465" y="4671368"/>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212400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102983" cy="5032376"/>
              </a:xfrm>
            </p:spPr>
            <p:txBody>
              <a:bodyPr>
                <a:normAutofit lnSpcReduction="10000"/>
              </a:bodyPr>
              <a:lstStyle/>
              <a:p>
                <a:r>
                  <a:rPr lang="pt-BR" dirty="0"/>
                  <a:t>A porcentagem do gradiente é frequentemente chamada de </a:t>
                </a:r>
                <a:r>
                  <a:rPr lang="pt-BR" b="1" i="1" dirty="0">
                    <a:solidFill>
                      <a:srgbClr val="00B050"/>
                    </a:solidFill>
                  </a:rPr>
                  <a:t>taxa</a:t>
                </a:r>
                <a:r>
                  <a:rPr lang="pt-BR" b="1" i="1" dirty="0"/>
                  <a:t> ou </a:t>
                </a:r>
                <a:r>
                  <a:rPr lang="pt-BR" b="1" i="1" dirty="0">
                    <a:solidFill>
                      <a:srgbClr val="00B050"/>
                    </a:solidFill>
                  </a:rPr>
                  <a:t>passo de aprendizagem</a:t>
                </a:r>
                <a:r>
                  <a:rPr lang="pt-BR" dirty="0">
                    <a:solidFill>
                      <a:srgbClr val="00B050"/>
                    </a:solidFill>
                  </a:rPr>
                  <a:t> </a:t>
                </a:r>
                <a:r>
                  <a:rPr lang="pt-BR" dirty="0"/>
                  <a:t>e é, normalmente, denotado pela letra grega,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a:t>
                </a:r>
              </a:p>
              <a:p>
                <a:r>
                  <a:rPr lang="pt-BR" dirty="0"/>
                  <a:t>Se o peso atual está à esquerda do mínimo, o </a:t>
                </a:r>
                <a:r>
                  <a:rPr lang="pt-BR" b="1" i="1" dirty="0">
                    <a:solidFill>
                      <a:srgbClr val="7030A0"/>
                    </a:solidFill>
                  </a:rPr>
                  <a:t>termo de atualização</a:t>
                </a:r>
                <a:r>
                  <a:rPr lang="pt-BR" dirty="0"/>
                  <a:t> faz com que o novo peso seja maior do que o anterior.</a:t>
                </a:r>
              </a:p>
              <a:p>
                <a:r>
                  <a:rPr lang="pt-BR" dirty="0"/>
                  <a:t>Se o peso atual está à direita do mínimo, o </a:t>
                </a:r>
                <a:r>
                  <a:rPr lang="pt-BR" b="1" i="1" dirty="0">
                    <a:solidFill>
                      <a:srgbClr val="7030A0"/>
                    </a:solidFill>
                  </a:rPr>
                  <a:t>termo de atualização</a:t>
                </a:r>
                <a:r>
                  <a:rPr lang="pt-BR" dirty="0"/>
                  <a:t> faz com que o novo peso seja menor do que o anterior.</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897233" y="1825624"/>
                <a:ext cx="6102983" cy="5032376"/>
              </a:xfrm>
              <a:blipFill>
                <a:blip r:embed="rId3"/>
                <a:stretch>
                  <a:fillRect l="-1796" t="-2663"/>
                </a:stretch>
              </a:blipFill>
            </p:spPr>
            <p:txBody>
              <a:bodyPr/>
              <a:lstStyle/>
              <a:p>
                <a:r>
                  <a:rPr lang="en-US">
                    <a:noFill/>
                  </a:rPr>
                  <a:t> </a:t>
                </a:r>
              </a:p>
            </p:txBody>
          </p:sp>
        </mc:Fallback>
      </mc:AlternateContent>
      <p:grpSp>
        <p:nvGrpSpPr>
          <p:cNvPr id="52" name="Agrupar 51">
            <a:extLst>
              <a:ext uri="{FF2B5EF4-FFF2-40B4-BE49-F238E27FC236}">
                <a16:creationId xmlns:a16="http://schemas.microsoft.com/office/drawing/2014/main" id="{C28387F9-D7FD-85ED-8EAA-F893C59A9528}"/>
              </a:ext>
            </a:extLst>
          </p:cNvPr>
          <p:cNvGrpSpPr/>
          <p:nvPr/>
        </p:nvGrpSpPr>
        <p:grpSpPr>
          <a:xfrm>
            <a:off x="973059" y="2055748"/>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600EFC4B-E5AE-01A3-BA49-9FAC5F7EB269}"/>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530E5751-C05C-E237-ADF7-AC5CE485170E}"/>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37EAAC62-22C5-6028-EB17-5E7D7A0FA774}"/>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0B96B558-FD3C-575E-D9A1-D3E273AF2DEB}"/>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id="{2C59751E-36DB-0194-586B-E3ADFD5E2F3E}"/>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ACD660F6-9366-FE86-1D50-0AFB812C300C}"/>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A5146C3E-B0FA-B680-38D2-A628801FD84D}"/>
                  </a:ext>
                </a:extLst>
              </p:cNvPr>
              <p:cNvSpPr txBox="1"/>
              <p:nvPr/>
            </p:nvSpPr>
            <p:spPr>
              <a:xfrm>
                <a:off x="955480" y="5704354"/>
                <a:ext cx="3662982"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47" name="CaixaDeTexto 46">
                <a:extLst>
                  <a:ext uri="{FF2B5EF4-FFF2-40B4-BE49-F238E27FC236}">
                    <a16:creationId xmlns:a16="http://schemas.microsoft.com/office/drawing/2014/main" id="{A5146C3E-B0FA-B680-38D2-A628801FD84D}"/>
                  </a:ext>
                </a:extLst>
              </p:cNvPr>
              <p:cNvSpPr txBox="1">
                <a:spLocks noRot="1" noChangeAspect="1" noMove="1" noResize="1" noEditPoints="1" noAdjustHandles="1" noChangeArrowheads="1" noChangeShapeType="1" noTextEdit="1"/>
              </p:cNvSpPr>
              <p:nvPr/>
            </p:nvSpPr>
            <p:spPr>
              <a:xfrm>
                <a:off x="955480" y="5704354"/>
                <a:ext cx="3662982" cy="678584"/>
              </a:xfrm>
              <a:prstGeom prst="rect">
                <a:avLst/>
              </a:prstGeom>
              <a:blipFill>
                <a:blip r:embed="rId9"/>
                <a:stretch>
                  <a:fillRect/>
                </a:stretch>
              </a:blipFill>
            </p:spPr>
            <p:txBody>
              <a:bodyPr/>
              <a:lstStyle/>
              <a:p>
                <a:r>
                  <a:rPr lang="pt-BR">
                    <a:noFill/>
                  </a:rPr>
                  <a:t> </a:t>
                </a:r>
              </a:p>
            </p:txBody>
          </p:sp>
        </mc:Fallback>
      </mc:AlternateContent>
      <p:sp>
        <p:nvSpPr>
          <p:cNvPr id="48" name="CaixaDeTexto 47">
            <a:extLst>
              <a:ext uri="{FF2B5EF4-FFF2-40B4-BE49-F238E27FC236}">
                <a16:creationId xmlns:a16="http://schemas.microsoft.com/office/drawing/2014/main" id="{01C22BBB-35EB-E308-FDB7-BCA9B063B091}"/>
              </a:ext>
            </a:extLst>
          </p:cNvPr>
          <p:cNvSpPr txBox="1"/>
          <p:nvPr/>
        </p:nvSpPr>
        <p:spPr>
          <a:xfrm>
            <a:off x="2851197" y="6545877"/>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id="{A6DFF2D4-9482-CE1A-10F2-E2E0D4FD3158}"/>
              </a:ext>
            </a:extLst>
          </p:cNvPr>
          <p:cNvCxnSpPr>
            <a:cxnSpLocks/>
          </p:cNvCxnSpPr>
          <p:nvPr/>
        </p:nvCxnSpPr>
        <p:spPr>
          <a:xfrm>
            <a:off x="2879776" y="6168939"/>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CaixaDeTexto 4">
            <a:extLst>
              <a:ext uri="{FF2B5EF4-FFF2-40B4-BE49-F238E27FC236}">
                <a16:creationId xmlns:a16="http://schemas.microsoft.com/office/drawing/2014/main" id="{81A2BF92-A8D9-4E65-BDD9-68638C6DCB76}"/>
              </a:ext>
            </a:extLst>
          </p:cNvPr>
          <p:cNvSpPr txBox="1"/>
          <p:nvPr/>
        </p:nvSpPr>
        <p:spPr>
          <a:xfrm>
            <a:off x="2729921" y="5288988"/>
            <a:ext cx="1790707" cy="276999"/>
          </a:xfrm>
          <a:prstGeom prst="rect">
            <a:avLst/>
          </a:prstGeom>
          <a:noFill/>
        </p:spPr>
        <p:txBody>
          <a:bodyPr wrap="square" rtlCol="0">
            <a:spAutoFit/>
          </a:bodyPr>
          <a:lstStyle/>
          <a:p>
            <a:pPr algn="ctr"/>
            <a:r>
              <a:rPr lang="pt-BR" sz="1200" dirty="0"/>
              <a:t>Termo de atualização</a:t>
            </a:r>
          </a:p>
        </p:txBody>
      </p:sp>
      <p:sp>
        <p:nvSpPr>
          <p:cNvPr id="26" name="Chave Direita 25">
            <a:extLst>
              <a:ext uri="{FF2B5EF4-FFF2-40B4-BE49-F238E27FC236}">
                <a16:creationId xmlns:a16="http://schemas.microsoft.com/office/drawing/2014/main" id="{8F5A814E-78F2-FFB2-52B9-94E958523F58}"/>
              </a:ext>
            </a:extLst>
          </p:cNvPr>
          <p:cNvSpPr/>
          <p:nvPr/>
        </p:nvSpPr>
        <p:spPr>
          <a:xfrm rot="16200000">
            <a:off x="3501985" y="4768070"/>
            <a:ext cx="246580" cy="179070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Tree>
    <p:extLst>
      <p:ext uri="{BB962C8B-B14F-4D97-AF65-F5344CB8AC3E}">
        <p14:creationId xmlns:p14="http://schemas.microsoft.com/office/powerpoint/2010/main" val="257884002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Otimização iterativa</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353807" y="1825624"/>
            <a:ext cx="6646410" cy="5032376"/>
          </a:xfrm>
        </p:spPr>
        <p:txBody>
          <a:bodyPr>
            <a:normAutofit lnSpcReduction="10000"/>
          </a:bodyPr>
          <a:lstStyle/>
          <a:p>
            <a:r>
              <a:rPr lang="pt-BR" dirty="0"/>
              <a:t>Portanto, dada a </a:t>
            </a:r>
            <a:r>
              <a:rPr lang="pt-BR" b="1" i="1" dirty="0">
                <a:solidFill>
                  <a:srgbClr val="00B050"/>
                </a:solidFill>
              </a:rPr>
              <a:t>direção do gradiente e um passo de aprendizagem</a:t>
            </a:r>
            <a:r>
              <a:rPr lang="pt-BR" dirty="0"/>
              <a:t>, agora podemos </a:t>
            </a:r>
            <a:r>
              <a:rPr lang="pt-BR" b="1" i="1" dirty="0">
                <a:solidFill>
                  <a:srgbClr val="00B050"/>
                </a:solidFill>
              </a:rPr>
              <a:t>iterativamente</a:t>
            </a:r>
            <a:r>
              <a:rPr lang="pt-BR" dirty="0"/>
              <a:t> caminhar em direção ao ponto de mínimo.</a:t>
            </a:r>
          </a:p>
          <a:p>
            <a:r>
              <a:rPr lang="pt-BR" dirty="0"/>
              <a:t>A cada </a:t>
            </a:r>
            <a:r>
              <a:rPr lang="pt-BR" b="1" i="1" dirty="0">
                <a:solidFill>
                  <a:srgbClr val="00B050"/>
                </a:solidFill>
              </a:rPr>
              <a:t>iteração</a:t>
            </a:r>
            <a:r>
              <a:rPr lang="pt-BR" dirty="0"/>
              <a:t> calculamos o gradiente no ponto atual, atualizamos os pesos com uma porcentagem do gradiente e calculamos o gradiente no novo ponto.</a:t>
            </a:r>
          </a:p>
          <a:p>
            <a:r>
              <a:rPr lang="pt-BR" b="1" i="1" dirty="0">
                <a:solidFill>
                  <a:srgbClr val="00B050"/>
                </a:solidFill>
              </a:rPr>
              <a:t>Repetimos</a:t>
            </a:r>
            <a:r>
              <a:rPr lang="pt-BR" dirty="0"/>
              <a:t> esse processo </a:t>
            </a:r>
            <a:r>
              <a:rPr lang="pt-BR" b="1" i="1" dirty="0">
                <a:solidFill>
                  <a:srgbClr val="00B050"/>
                </a:solidFill>
              </a:rPr>
              <a:t>até</a:t>
            </a:r>
            <a:r>
              <a:rPr lang="pt-BR" dirty="0"/>
              <a:t> que a </a:t>
            </a:r>
            <a:r>
              <a:rPr lang="pt-BR" b="1" i="1" dirty="0">
                <a:solidFill>
                  <a:srgbClr val="00B050"/>
                </a:solidFill>
              </a:rPr>
              <a:t>inclinação da reta tangente ao ponto atual se torne igual a 0</a:t>
            </a:r>
            <a:r>
              <a:rPr lang="pt-BR" dirty="0"/>
              <a:t>, indicando que o ponto de mínimo foi atingido.</a:t>
            </a:r>
          </a:p>
          <a:p>
            <a:r>
              <a:rPr lang="pt-BR" b="1" i="1" dirty="0">
                <a:solidFill>
                  <a:srgbClr val="00B050"/>
                </a:solidFill>
              </a:rPr>
              <a:t>O que ocorre quando o gradiente é 0?</a:t>
            </a:r>
          </a:p>
        </p:txBody>
      </p:sp>
      <p:grpSp>
        <p:nvGrpSpPr>
          <p:cNvPr id="4" name="Agrupar 3">
            <a:extLst>
              <a:ext uri="{FF2B5EF4-FFF2-40B4-BE49-F238E27FC236}">
                <a16:creationId xmlns:a16="http://schemas.microsoft.com/office/drawing/2014/main" id="{ED41ABFD-548C-4B86-C347-18D33EB57FE8}"/>
              </a:ext>
            </a:extLst>
          </p:cNvPr>
          <p:cNvGrpSpPr/>
          <p:nvPr/>
        </p:nvGrpSpPr>
        <p:grpSpPr>
          <a:xfrm>
            <a:off x="654563"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cxnSp>
            <p:nvCxnSpPr>
              <p:cNvPr id="38" name="Conector de Seta Reta 37">
                <a:extLst>
                  <a:ext uri="{FF2B5EF4-FFF2-40B4-BE49-F238E27FC236}">
                    <a16:creationId xmlns:a16="http://schemas.microsoft.com/office/drawing/2014/main" id="{68034E18-A442-62D7-3DB8-7E034ACBB8FB}"/>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CaixaDeTexto 40">
                <a:extLst>
                  <a:ext uri="{FF2B5EF4-FFF2-40B4-BE49-F238E27FC236}">
                    <a16:creationId xmlns:a16="http://schemas.microsoft.com/office/drawing/2014/main" id="{C6AED7E6-776D-2275-0616-9245A6D9FA2F}"/>
                  </a:ext>
                </a:extLst>
              </p:cNvPr>
              <p:cNvSpPr txBox="1"/>
              <p:nvPr/>
            </p:nvSpPr>
            <p:spPr>
              <a:xfrm>
                <a:off x="2355219" y="4333840"/>
                <a:ext cx="1071476" cy="261610"/>
              </a:xfrm>
              <a:prstGeom prst="rect">
                <a:avLst/>
              </a:prstGeom>
              <a:noFill/>
            </p:spPr>
            <p:txBody>
              <a:bodyPr wrap="square" rtlCol="0">
                <a:spAutoFit/>
              </a:bodyPr>
              <a:lstStyle/>
              <a:p>
                <a:r>
                  <a:rPr lang="pt-BR" sz="1100" dirty="0"/>
                  <a:t>Novo ponto</a:t>
                </a:r>
              </a:p>
            </p:txBody>
          </p:sp>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C1D5DB3A-D103-9E96-0C21-7F28D7FEA74D}"/>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2" name="CaixaDeTexto 41">
                    <a:extLst>
                      <a:ext uri="{FF2B5EF4-FFF2-40B4-BE49-F238E27FC236}">
                        <a16:creationId xmlns:a16="http://schemas.microsoft.com/office/drawing/2014/main" id="{C1D5DB3A-D103-9E96-0C21-7F28D7FEA74D}"/>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6"/>
                    <a:stretch>
                      <a:fillRect r="-37903" b="-1370"/>
                    </a:stretch>
                  </a:blipFill>
                </p:spPr>
                <p:txBody>
                  <a:bodyPr/>
                  <a:lstStyle/>
                  <a:p>
                    <a:r>
                      <a:rPr lang="pt-BR">
                        <a:noFill/>
                      </a:rPr>
                      <a:t> </a:t>
                    </a:r>
                  </a:p>
                </p:txBody>
              </p:sp>
            </mc:Fallback>
          </mc:AlternateContent>
          <p:cxnSp>
            <p:nvCxnSpPr>
              <p:cNvPr id="43" name="Conector reto 42">
                <a:extLst>
                  <a:ext uri="{FF2B5EF4-FFF2-40B4-BE49-F238E27FC236}">
                    <a16:creationId xmlns:a16="http://schemas.microsoft.com/office/drawing/2014/main" id="{33AD0DEC-1BFB-48CC-9552-A207C6E4AB5F}"/>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18D9158A-32E2-486B-D9F5-660207BFF35D}"/>
                      </a:ext>
                    </a:extLst>
                  </p:cNvPr>
                  <p:cNvSpPr txBox="1"/>
                  <p:nvPr/>
                </p:nvSpPr>
                <p:spPr>
                  <a:xfrm>
                    <a:off x="1785331" y="4880663"/>
                    <a:ext cx="521882" cy="307777"/>
                  </a:xfrm>
                  <a:prstGeom prst="rect">
                    <a:avLst/>
                  </a:prstGeom>
                  <a:noFill/>
                </p:spPr>
                <p:txBody>
                  <a:bodyPr wrap="square" rtlCol="0">
                    <a:spAutoFit/>
                  </a:bodyPr>
                  <a:lstStyle/>
                  <a:p>
                    <a:pPr algn="ctr"/>
                    <a14:m>
                      <m:oMathPara xmlns:m="http://schemas.openxmlformats.org/officeDocument/2006/math">
                        <m:oMathParaPr>
                          <m:jc m:val="left"/>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ant</m:t>
                              </m:r>
                              <m:r>
                                <a:rPr lang="pt-BR" sz="1400" b="0" i="1" smtClean="0">
                                  <a:latin typeface="Cambria Math" panose="02040503050406030204" pitchFamily="18" charset="0"/>
                                </a:rPr>
                                <m:t>.</m:t>
                              </m:r>
                            </m:sub>
                          </m:sSub>
                        </m:oMath>
                      </m:oMathPara>
                    </a14:m>
                    <a:endParaRPr lang="pt-BR" sz="1400" dirty="0"/>
                  </a:p>
                </p:txBody>
              </p:sp>
            </mc:Choice>
            <mc:Fallback xmlns="">
              <p:sp>
                <p:nvSpPr>
                  <p:cNvPr id="44" name="CaixaDeTexto 43">
                    <a:extLst>
                      <a:ext uri="{FF2B5EF4-FFF2-40B4-BE49-F238E27FC236}">
                        <a16:creationId xmlns:a16="http://schemas.microsoft.com/office/drawing/2014/main" id="{18D9158A-32E2-486B-D9F5-660207BFF35D}"/>
                      </a:ext>
                    </a:extLst>
                  </p:cNvPr>
                  <p:cNvSpPr txBox="1">
                    <a:spLocks noRot="1" noChangeAspect="1" noMove="1" noResize="1" noEditPoints="1" noAdjustHandles="1" noChangeArrowheads="1" noChangeShapeType="1" noTextEdit="1"/>
                  </p:cNvSpPr>
                  <p:nvPr/>
                </p:nvSpPr>
                <p:spPr>
                  <a:xfrm>
                    <a:off x="1785331" y="4880663"/>
                    <a:ext cx="521882" cy="307777"/>
                  </a:xfrm>
                  <a:prstGeom prst="rect">
                    <a:avLst/>
                  </a:prstGeom>
                  <a:blipFill>
                    <a:blip r:embed="rId7"/>
                    <a:stretch>
                      <a:fillRect/>
                    </a:stretch>
                  </a:blipFill>
                </p:spPr>
                <p:txBody>
                  <a:bodyPr/>
                  <a:lstStyle/>
                  <a:p>
                    <a:r>
                      <a:rPr lang="pt-BR">
                        <a:noFill/>
                      </a:rPr>
                      <a:t> </a:t>
                    </a:r>
                  </a:p>
                </p:txBody>
              </p:sp>
            </mc:Fallback>
          </mc:AlternateContent>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744BE183-5F01-AB59-599F-17091AA24B29}"/>
                    </a:ext>
                  </a:extLst>
                </p:cNvPr>
                <p:cNvSpPr txBox="1"/>
                <p:nvPr/>
              </p:nvSpPr>
              <p:spPr>
                <a:xfrm>
                  <a:off x="2119544" y="3893176"/>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smtClean="0">
                                <a:latin typeface="Cambria Math" panose="02040503050406030204" pitchFamily="18" charset="0"/>
                              </a:rPr>
                              <m:t>(</m:t>
                            </m:r>
                            <m:sSub>
                              <m:sSubPr>
                                <m:ctrlPr>
                                  <a:rPr lang="pt-BR" sz="1200" i="1" smtClean="0">
                                    <a:latin typeface="Cambria Math" panose="02040503050406030204" pitchFamily="18" charset="0"/>
                                  </a:rPr>
                                </m:ctrlPr>
                              </m:sSubPr>
                              <m:e>
                                <m:r>
                                  <a:rPr lang="pt-BR" sz="1200" i="1">
                                    <a:latin typeface="Cambria Math" panose="02040503050406030204" pitchFamily="18" charset="0"/>
                                  </a:rPr>
                                  <m:t>𝑎</m:t>
                                </m:r>
                              </m:e>
                              <m:sub>
                                <m:r>
                                  <m:rPr>
                                    <m:sty m:val="p"/>
                                  </m:rPr>
                                  <a:rPr lang="pt-BR" sz="1200" b="0" i="0" smtClean="0">
                                    <a:latin typeface="Cambria Math" panose="02040503050406030204" pitchFamily="18" charset="0"/>
                                  </a:rPr>
                                  <m:t>anterior</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7" name="CaixaDeTexto 46">
                  <a:extLst>
                    <a:ext uri="{FF2B5EF4-FFF2-40B4-BE49-F238E27FC236}">
                      <a16:creationId xmlns:a16="http://schemas.microsoft.com/office/drawing/2014/main" id="{744BE183-5F01-AB59-599F-17091AA24B29}"/>
                    </a:ext>
                  </a:extLst>
                </p:cNvPr>
                <p:cNvSpPr txBox="1">
                  <a:spLocks noRot="1" noChangeAspect="1" noMove="1" noResize="1" noEditPoints="1" noAdjustHandles="1" noChangeArrowheads="1" noChangeShapeType="1" noTextEdit="1"/>
                </p:cNvSpPr>
                <p:nvPr/>
              </p:nvSpPr>
              <p:spPr>
                <a:xfrm>
                  <a:off x="2119544" y="3893176"/>
                  <a:ext cx="756505" cy="444032"/>
                </a:xfrm>
                <a:prstGeom prst="rect">
                  <a:avLst/>
                </a:prstGeom>
                <a:blipFill>
                  <a:blip r:embed="rId8"/>
                  <a:stretch>
                    <a:fillRect r="-52419" b="-2778"/>
                  </a:stretch>
                </a:blipFill>
              </p:spPr>
              <p:txBody>
                <a:bodyPr/>
                <a:lstStyle/>
                <a:p>
                  <a:r>
                    <a:rPr lang="pt-BR">
                      <a:noFill/>
                    </a:rPr>
                    <a:t> </a:t>
                  </a:r>
                </a:p>
              </p:txBody>
            </p:sp>
          </mc:Fallback>
        </mc:AlternateContent>
        <p:cxnSp>
          <p:nvCxnSpPr>
            <p:cNvPr id="48" name="Conector reto 47">
              <a:extLst>
                <a:ext uri="{FF2B5EF4-FFF2-40B4-BE49-F238E27FC236}">
                  <a16:creationId xmlns:a16="http://schemas.microsoft.com/office/drawing/2014/main" id="{91970589-0FEE-A18A-6939-B759912143E8}"/>
                </a:ext>
              </a:extLst>
            </p:cNvPr>
            <p:cNvCxnSpPr>
              <a:cxnSpLocks/>
            </p:cNvCxnSpPr>
            <p:nvPr/>
          </p:nvCxnSpPr>
          <p:spPr>
            <a:xfrm>
              <a:off x="2402309" y="4543393"/>
              <a:ext cx="0" cy="360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9" name="CaixaDeTexto 48">
                  <a:extLst>
                    <a:ext uri="{FF2B5EF4-FFF2-40B4-BE49-F238E27FC236}">
                      <a16:creationId xmlns:a16="http://schemas.microsoft.com/office/drawing/2014/main" id="{549CB10D-AF19-2EAB-1F32-C5517B1BA991}"/>
                    </a:ext>
                  </a:extLst>
                </p:cNvPr>
                <p:cNvSpPr txBox="1"/>
                <p:nvPr/>
              </p:nvSpPr>
              <p:spPr>
                <a:xfrm>
                  <a:off x="2245894" y="4879610"/>
                  <a:ext cx="521882" cy="307777"/>
                </a:xfrm>
                <a:prstGeom prst="rect">
                  <a:avLst/>
                </a:prstGeom>
                <a:noFill/>
              </p:spPr>
              <p:txBody>
                <a:bodyPr wrap="square" rtlCol="0">
                  <a:spAutoFit/>
                </a:bodyPr>
                <a:lstStyle/>
                <a:p>
                  <a:pPr algn="ctr"/>
                  <a14:m>
                    <m:oMathPara xmlns:m="http://schemas.openxmlformats.org/officeDocument/2006/math">
                      <m:oMathParaPr>
                        <m:jc m:val="left"/>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9" name="CaixaDeTexto 48">
                  <a:extLst>
                    <a:ext uri="{FF2B5EF4-FFF2-40B4-BE49-F238E27FC236}">
                      <a16:creationId xmlns:a16="http://schemas.microsoft.com/office/drawing/2014/main" id="{549CB10D-AF19-2EAB-1F32-C5517B1BA991}"/>
                    </a:ext>
                  </a:extLst>
                </p:cNvPr>
                <p:cNvSpPr txBox="1">
                  <a:spLocks noRot="1" noChangeAspect="1" noMove="1" noResize="1" noEditPoints="1" noAdjustHandles="1" noChangeArrowheads="1" noChangeShapeType="1" noTextEdit="1"/>
                </p:cNvSpPr>
                <p:nvPr/>
              </p:nvSpPr>
              <p:spPr>
                <a:xfrm>
                  <a:off x="2245894" y="4879610"/>
                  <a:ext cx="521882" cy="307777"/>
                </a:xfrm>
                <a:prstGeom prst="rect">
                  <a:avLst/>
                </a:prstGeom>
                <a:blipFill>
                  <a:blip r:embed="rId9"/>
                  <a:stretch>
                    <a:fillRect r="-2326"/>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AD34DBF0-EDFD-5DD5-7A9F-3D8017EA2434}"/>
                  </a:ext>
                </a:extLst>
              </p:cNvPr>
              <p:cNvSpPr txBox="1"/>
              <p:nvPr/>
            </p:nvSpPr>
            <p:spPr>
              <a:xfrm>
                <a:off x="581889" y="5591230"/>
                <a:ext cx="3981143"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smtClean="0">
                              <a:latin typeface="Cambria Math" panose="02040503050406030204" pitchFamily="18" charset="0"/>
                            </a:rPr>
                            <m:t>(</m:t>
                          </m:r>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50" name="CaixaDeTexto 49">
                <a:extLst>
                  <a:ext uri="{FF2B5EF4-FFF2-40B4-BE49-F238E27FC236}">
                    <a16:creationId xmlns:a16="http://schemas.microsoft.com/office/drawing/2014/main" id="{AD34DBF0-EDFD-5DD5-7A9F-3D8017EA2434}"/>
                  </a:ext>
                </a:extLst>
              </p:cNvPr>
              <p:cNvSpPr txBox="1">
                <a:spLocks noRot="1" noChangeAspect="1" noMove="1" noResize="1" noEditPoints="1" noAdjustHandles="1" noChangeArrowheads="1" noChangeShapeType="1" noTextEdit="1"/>
              </p:cNvSpPr>
              <p:nvPr/>
            </p:nvSpPr>
            <p:spPr>
              <a:xfrm>
                <a:off x="581889" y="5591230"/>
                <a:ext cx="3981143" cy="678584"/>
              </a:xfrm>
              <a:prstGeom prst="rect">
                <a:avLst/>
              </a:prstGeom>
              <a:blipFill>
                <a:blip r:embed="rId10"/>
                <a:stretch>
                  <a:fillRect/>
                </a:stretch>
              </a:blipFill>
            </p:spPr>
            <p:txBody>
              <a:bodyPr/>
              <a:lstStyle/>
              <a:p>
                <a:r>
                  <a:rPr lang="en-US">
                    <a:noFill/>
                  </a:rPr>
                  <a:t> </a:t>
                </a:r>
              </a:p>
            </p:txBody>
          </p:sp>
        </mc:Fallback>
      </mc:AlternateContent>
      <p:sp>
        <p:nvSpPr>
          <p:cNvPr id="51" name="Chave Direita 50">
            <a:extLst>
              <a:ext uri="{FF2B5EF4-FFF2-40B4-BE49-F238E27FC236}">
                <a16:creationId xmlns:a16="http://schemas.microsoft.com/office/drawing/2014/main" id="{BBB7610F-0D45-15F0-36E0-B73700205383}"/>
              </a:ext>
            </a:extLst>
          </p:cNvPr>
          <p:cNvSpPr/>
          <p:nvPr/>
        </p:nvSpPr>
        <p:spPr>
          <a:xfrm rot="5400000">
            <a:off x="2485579" y="4359378"/>
            <a:ext cx="237200" cy="386192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52" name="CaixaDeTexto 51">
            <a:extLst>
              <a:ext uri="{FF2B5EF4-FFF2-40B4-BE49-F238E27FC236}">
                <a16:creationId xmlns:a16="http://schemas.microsoft.com/office/drawing/2014/main" id="{38BE7280-D6C2-F198-63A6-75BAA02AF46C}"/>
              </a:ext>
            </a:extLst>
          </p:cNvPr>
          <p:cNvSpPr txBox="1"/>
          <p:nvPr/>
        </p:nvSpPr>
        <p:spPr>
          <a:xfrm>
            <a:off x="654563" y="6359834"/>
            <a:ext cx="3880580" cy="369332"/>
          </a:xfrm>
          <a:prstGeom prst="rect">
            <a:avLst/>
          </a:prstGeom>
          <a:noFill/>
        </p:spPr>
        <p:txBody>
          <a:bodyPr wrap="square" rtlCol="0">
            <a:spAutoFit/>
          </a:bodyPr>
          <a:lstStyle/>
          <a:p>
            <a:pPr algn="ctr"/>
            <a:r>
              <a:rPr lang="pt-BR" dirty="0"/>
              <a:t>Equação de atualização dos pesos</a:t>
            </a:r>
          </a:p>
        </p:txBody>
      </p:sp>
    </p:spTree>
    <p:extLst>
      <p:ext uri="{BB962C8B-B14F-4D97-AF65-F5344CB8AC3E}">
        <p14:creationId xmlns:p14="http://schemas.microsoft.com/office/powerpoint/2010/main" val="141823049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102983" cy="5032376"/>
              </a:xfrm>
            </p:spPr>
            <p:txBody>
              <a:bodyPr>
                <a:normAutofit/>
              </a:bodyPr>
              <a:lstStyle/>
              <a:p>
                <a:r>
                  <a:rPr lang="pt-BR" dirty="0"/>
                  <a:t>O objetivo é que a cada nova iteração, nós nos movamos para mais e mais perto do ponto de mínimo, </a:t>
                </a:r>
                <a14:m>
                  <m:oMath xmlns:m="http://schemas.openxmlformats.org/officeDocument/2006/math">
                    <m:sSub>
                      <m:sSubPr>
                        <m:ctrlPr>
                          <a:rPr lang="pt-BR" sz="2800" i="1" smtClean="0">
                            <a:latin typeface="Cambria Math" panose="02040503050406030204" pitchFamily="18" charset="0"/>
                          </a:rPr>
                        </m:ctrlPr>
                      </m:sSubPr>
                      <m:e>
                        <m:r>
                          <a:rPr lang="pt-BR" sz="2800" b="0" i="1" smtClean="0">
                            <a:latin typeface="Cambria Math" panose="02040503050406030204" pitchFamily="18" charset="0"/>
                          </a:rPr>
                          <m:t>𝑎</m:t>
                        </m:r>
                      </m:e>
                      <m:sub>
                        <m:r>
                          <a:rPr lang="pt-BR" sz="2800" b="0" i="0" smtClean="0">
                            <a:latin typeface="Cambria Math" panose="02040503050406030204" pitchFamily="18" charset="0"/>
                          </a:rPr>
                          <m:t>ó</m:t>
                        </m:r>
                        <m:r>
                          <m:rPr>
                            <m:sty m:val="p"/>
                          </m:rPr>
                          <a:rPr lang="pt-BR" sz="2800" b="0" i="0" smtClean="0">
                            <a:latin typeface="Cambria Math" panose="02040503050406030204" pitchFamily="18" charset="0"/>
                          </a:rPr>
                          <m:t>timo</m:t>
                        </m:r>
                      </m:sub>
                    </m:sSub>
                  </m:oMath>
                </a14:m>
                <a:r>
                  <a:rPr lang="pt-BR" sz="2800" dirty="0"/>
                  <a:t>.</a:t>
                </a:r>
                <a:endParaRPr lang="pt-BR" dirty="0"/>
              </a:p>
              <a:p>
                <a:r>
                  <a:rPr lang="pt-BR" dirty="0"/>
                  <a:t>Porém, devemos tomar </a:t>
                </a:r>
                <a:r>
                  <a:rPr lang="pt-BR" b="1" i="1" dirty="0">
                    <a:solidFill>
                      <a:srgbClr val="00B050"/>
                    </a:solidFill>
                  </a:rPr>
                  <a:t>cuidado</a:t>
                </a:r>
                <a:r>
                  <a:rPr lang="pt-BR" dirty="0"/>
                  <a:t>, com o </a:t>
                </a:r>
                <a:r>
                  <a:rPr lang="pt-BR" b="1" i="1" dirty="0">
                    <a:solidFill>
                      <a:srgbClr val="00B050"/>
                    </a:solidFill>
                  </a:rPr>
                  <a:t>tamanho do passo de aprendizagem</a:t>
                </a:r>
                <a:r>
                  <a:rPr lang="pt-BR" dirty="0"/>
                  <a:t>.</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897233" y="1825624"/>
                <a:ext cx="6102983" cy="5032376"/>
              </a:xfrm>
              <a:blipFill>
                <a:blip r:embed="rId3"/>
                <a:stretch>
                  <a:fillRect l="-1796" t="-1937" r="-3293"/>
                </a:stretch>
              </a:blipFill>
            </p:spPr>
            <p:txBody>
              <a:bodyPr/>
              <a:lstStyle/>
              <a:p>
                <a:r>
                  <a:rPr lang="en-US">
                    <a:noFill/>
                  </a:rPr>
                  <a:t> </a:t>
                </a:r>
              </a:p>
            </p:txBody>
          </p:sp>
        </mc:Fallback>
      </mc:AlternateContent>
      <p:grpSp>
        <p:nvGrpSpPr>
          <p:cNvPr id="9" name="Agrupar 8">
            <a:extLst>
              <a:ext uri="{FF2B5EF4-FFF2-40B4-BE49-F238E27FC236}">
                <a16:creationId xmlns:a16="http://schemas.microsoft.com/office/drawing/2014/main" id="{CE5633B0-F4B8-9229-2E27-248A503BF5C6}"/>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99120741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29DE4-9BB7-A424-DEBE-4DADE6650C4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A69D8A0-928C-266D-E63A-469D59887BB5}"/>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82489D92-82CF-37A2-5BFD-51D850911B3A}"/>
              </a:ext>
            </a:extLst>
          </p:cNvPr>
          <p:cNvSpPr>
            <a:spLocks noGrp="1"/>
          </p:cNvSpPr>
          <p:nvPr>
            <p:ph idx="1"/>
          </p:nvPr>
        </p:nvSpPr>
        <p:spPr>
          <a:xfrm>
            <a:off x="5897233" y="1825624"/>
            <a:ext cx="6102983" cy="5032376"/>
          </a:xfrm>
        </p:spPr>
        <p:txBody>
          <a:bodyPr>
            <a:normAutofit/>
          </a:bodyPr>
          <a:lstStyle/>
          <a:p>
            <a:r>
              <a:rPr lang="pt-BR" b="0" i="0" dirty="0">
                <a:effectLst/>
              </a:rPr>
              <a:t>O valor do passo de aprendizagem é um </a:t>
            </a:r>
            <a:r>
              <a:rPr lang="pt-BR" b="1" i="1" dirty="0">
                <a:solidFill>
                  <a:srgbClr val="7030A0"/>
                </a:solidFill>
                <a:effectLst/>
              </a:rPr>
              <a:t>hiperparâmetro</a:t>
            </a:r>
            <a:r>
              <a:rPr lang="pt-BR" b="0" i="0" dirty="0">
                <a:effectLst/>
              </a:rPr>
              <a:t> crucial para o GD.</a:t>
            </a:r>
          </a:p>
          <a:p>
            <a:pPr lvl="1">
              <a:buFont typeface="Wingdings" panose="05000000000000000000" pitchFamily="2" charset="2"/>
              <a:buChar char="§"/>
            </a:pPr>
            <a:r>
              <a:rPr lang="pt-BR" b="1" i="1" dirty="0">
                <a:solidFill>
                  <a:srgbClr val="7030A0"/>
                </a:solidFill>
                <a:effectLst/>
              </a:rPr>
              <a:t>Hiperparâmetros</a:t>
            </a:r>
            <a:r>
              <a:rPr lang="pt-BR" dirty="0">
                <a:effectLst/>
              </a:rPr>
              <a:t> são </a:t>
            </a:r>
            <a:r>
              <a:rPr lang="pt-BR" b="0" i="0" dirty="0">
                <a:effectLst/>
              </a:rPr>
              <a:t>parâmetros do modelo que </a:t>
            </a:r>
            <a:r>
              <a:rPr lang="pt-BR" b="1" i="1" dirty="0">
                <a:solidFill>
                  <a:srgbClr val="00B050"/>
                </a:solidFill>
                <a:effectLst/>
              </a:rPr>
              <a:t>não são aprendidos durante o treinamento</a:t>
            </a:r>
            <a:r>
              <a:rPr lang="pt-BR" b="0" i="0" dirty="0">
                <a:effectLst/>
              </a:rPr>
              <a:t>, mas sim definidos pelo desenvolvedor antes do treinamento. </a:t>
            </a:r>
          </a:p>
          <a:p>
            <a:r>
              <a:rPr lang="pt-BR" b="0" i="0" dirty="0">
                <a:effectLst/>
              </a:rPr>
              <a:t>O passo de aprendizagem influencia a velocidade e a convergência do treinamento.</a:t>
            </a:r>
            <a:endParaRPr lang="pt-BR" dirty="0"/>
          </a:p>
        </p:txBody>
      </p:sp>
      <p:grpSp>
        <p:nvGrpSpPr>
          <p:cNvPr id="9" name="Agrupar 8">
            <a:extLst>
              <a:ext uri="{FF2B5EF4-FFF2-40B4-BE49-F238E27FC236}">
                <a16:creationId xmlns:a16="http://schemas.microsoft.com/office/drawing/2014/main" id="{2B3300FC-1F8B-4D40-55FC-4DADDEF60A38}"/>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id="{B120F7B9-2248-79F2-6FA7-FC181ABBD533}"/>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0949F496-8EBB-9C8C-9640-ABA37C0EEB23}"/>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7E9E0D75-6F30-7E13-24A5-13AEEE768B26}"/>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5C80E982-5424-B462-EEBF-FBC879B7AC50}"/>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85A7FF84-84D1-6CB7-8E1A-EF8D55926DCC}"/>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57BF668F-0902-E2D5-7E6D-EE930ED32B29}"/>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12AA2389-33DB-1C45-F9B3-4F94D2E6E4AA}"/>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F3AABC85-C5C4-1FAD-D98F-80CF3D8A67ED}"/>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556A9EFF-2F10-64A9-707F-EF039943488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318D3C96-0AD2-DBEA-8C0E-436657B8227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D9E0D33F-5E6E-2C79-1D5E-74513F899E00}"/>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1772BD86-71F2-A920-B75A-653C6A672D1F}"/>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77DDF51A-A423-FBEF-5D7A-7915270BDF2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C8E8716D-6C5E-7E84-3DF5-124A02F5083E}"/>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025B04DE-447C-58F7-8A10-79310E76234B}"/>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515C45D2-5D7C-E18F-C743-D8A98E1942B2}"/>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DC32555F-71FC-AEEF-E51E-BF16C39AD56B}"/>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2D9FFB36-1313-7712-2996-7E6FC8DE1E52}"/>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F03F2ADA-C162-4847-8B5E-8BC3CA32F8BD}"/>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2B72F850-4E7B-B1E7-228F-0563502AC9B4}"/>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E7F81A81-0FE2-F3EE-F177-39DEC80A611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05B6ED55-74A8-57F1-BED0-5ACC4658D959}"/>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05587805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Se o passo de aprendizagem for </a:t>
            </a:r>
            <a:r>
              <a:rPr lang="pt-BR" b="1" i="1" dirty="0">
                <a:solidFill>
                  <a:srgbClr val="00B050"/>
                </a:solidFill>
              </a:rPr>
              <a:t>muito grande</a:t>
            </a:r>
            <a:r>
              <a:rPr lang="pt-BR" dirty="0"/>
              <a:t>, podemos ultrapassar o ponto de mínimo.</a:t>
            </a:r>
          </a:p>
        </p:txBody>
      </p:sp>
      <p:grpSp>
        <p:nvGrpSpPr>
          <p:cNvPr id="9" name="Agrupar 8">
            <a:extLst>
              <a:ext uri="{FF2B5EF4-FFF2-40B4-BE49-F238E27FC236}">
                <a16:creationId xmlns:a16="http://schemas.microsoft.com/office/drawing/2014/main" id="{B40DA0F3-64A9-E79C-828F-083E52679EA2}"/>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6">
              <a:extLst>
                <a:ext uri="{FF2B5EF4-FFF2-40B4-BE49-F238E27FC236}">
                  <a16:creationId xmlns:a16="http://schemas.microsoft.com/office/drawing/2014/main" id="{F10A95C3-BB34-F522-3D99-683166B96EBB}"/>
                </a:ext>
              </a:extLst>
            </p:cNvPr>
            <p:cNvSpPr/>
            <p:nvPr/>
          </p:nvSpPr>
          <p:spPr>
            <a:xfrm>
              <a:off x="3189264" y="460797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Forma Livre: Forma 7">
              <a:extLst>
                <a:ext uri="{FF2B5EF4-FFF2-40B4-BE49-F238E27FC236}">
                  <a16:creationId xmlns:a16="http://schemas.microsoft.com/office/drawing/2014/main" id="{FC1A3823-B1C8-B7C6-F602-49A745E6FA6F}"/>
                </a:ext>
              </a:extLst>
            </p:cNvPr>
            <p:cNvSpPr/>
            <p:nvPr/>
          </p:nvSpPr>
          <p:spPr>
            <a:xfrm rot="18167588">
              <a:off x="2851310" y="454254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59053307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Se o passo de aprendizagem for </a:t>
            </a:r>
            <a:r>
              <a:rPr lang="pt-BR" b="1" i="1" dirty="0">
                <a:solidFill>
                  <a:srgbClr val="00B050"/>
                </a:solidFill>
              </a:rPr>
              <a:t>muito grande</a:t>
            </a:r>
            <a:r>
              <a:rPr lang="pt-BR" dirty="0"/>
              <a:t>, o processo de otimização pode ficar </a:t>
            </a:r>
            <a:r>
              <a:rPr lang="pt-BR" b="1" i="1" dirty="0">
                <a:solidFill>
                  <a:srgbClr val="00B050"/>
                </a:solidFill>
              </a:rPr>
              <a:t>ziguezagueando</a:t>
            </a:r>
            <a:r>
              <a:rPr lang="pt-BR" dirty="0"/>
              <a:t> de um lado para o outro do fundo da função </a:t>
            </a:r>
            <a:r>
              <a:rPr lang="pt-BR" b="1" i="1" dirty="0">
                <a:solidFill>
                  <a:srgbClr val="00B050"/>
                </a:solidFill>
              </a:rPr>
              <a:t>sem nunca atingir o ponto de mínimo</a:t>
            </a:r>
            <a:r>
              <a:rPr lang="pt-BR" dirty="0"/>
              <a:t>.</a:t>
            </a:r>
          </a:p>
        </p:txBody>
      </p:sp>
      <p:grpSp>
        <p:nvGrpSpPr>
          <p:cNvPr id="4" name="Agrupar 3">
            <a:extLst>
              <a:ext uri="{FF2B5EF4-FFF2-40B4-BE49-F238E27FC236}">
                <a16:creationId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6">
            <a:extLst>
              <a:ext uri="{FF2B5EF4-FFF2-40B4-BE49-F238E27FC236}">
                <a16:creationId xmlns:a16="http://schemas.microsoft.com/office/drawing/2014/main" id="{F10A95C3-BB34-F522-3D99-683166B96EBB}"/>
              </a:ext>
            </a:extLst>
          </p:cNvPr>
          <p:cNvSpPr/>
          <p:nvPr/>
        </p:nvSpPr>
        <p:spPr>
          <a:xfrm>
            <a:off x="3189264" y="460797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Forma Livre: Forma 7">
            <a:extLst>
              <a:ext uri="{FF2B5EF4-FFF2-40B4-BE49-F238E27FC236}">
                <a16:creationId xmlns:a16="http://schemas.microsoft.com/office/drawing/2014/main" id="{FC1A3823-B1C8-B7C6-F602-49A745E6FA6F}"/>
              </a:ext>
            </a:extLst>
          </p:cNvPr>
          <p:cNvSpPr/>
          <p:nvPr/>
        </p:nvSpPr>
        <p:spPr>
          <a:xfrm rot="18167588">
            <a:off x="2851310" y="454254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
            <a:extLst>
              <a:ext uri="{FF2B5EF4-FFF2-40B4-BE49-F238E27FC236}">
                <a16:creationId xmlns:a16="http://schemas.microsoft.com/office/drawing/2014/main" id="{66F5E9C4-6E6A-D729-D1C1-7AE8FCF29BCD}"/>
              </a:ext>
            </a:extLst>
          </p:cNvPr>
          <p:cNvSpPr/>
          <p:nvPr/>
        </p:nvSpPr>
        <p:spPr>
          <a:xfrm>
            <a:off x="2556441" y="463674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Forma Livre: Forma 9">
            <a:extLst>
              <a:ext uri="{FF2B5EF4-FFF2-40B4-BE49-F238E27FC236}">
                <a16:creationId xmlns:a16="http://schemas.microsoft.com/office/drawing/2014/main" id="{2FCC8D0F-7BC9-5790-E377-6357912CB7EE}"/>
              </a:ext>
            </a:extLst>
          </p:cNvPr>
          <p:cNvSpPr/>
          <p:nvPr/>
        </p:nvSpPr>
        <p:spPr>
          <a:xfrm rot="3432412" flipH="1">
            <a:off x="2742814" y="4370323"/>
            <a:ext cx="337490" cy="529669"/>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Tree>
    <p:extLst>
      <p:ext uri="{BB962C8B-B14F-4D97-AF65-F5344CB8AC3E}">
        <p14:creationId xmlns:p14="http://schemas.microsoft.com/office/powerpoint/2010/main" val="38821539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Dependendo do quão grande for o valor do passo de aprendizagem, pode ocorrer até a </a:t>
            </a:r>
            <a:r>
              <a:rPr lang="pt-BR" b="1" i="1" dirty="0">
                <a:solidFill>
                  <a:srgbClr val="00B050"/>
                </a:solidFill>
              </a:rPr>
              <a:t>divergência</a:t>
            </a:r>
            <a:r>
              <a:rPr lang="pt-BR" dirty="0"/>
              <a:t> ao invés da convergência.</a:t>
            </a:r>
          </a:p>
          <a:p>
            <a:r>
              <a:rPr lang="pt-BR" dirty="0"/>
              <a:t>Ou seja, ao invés de se aproximar do ponto de mínimo, o algoritmo </a:t>
            </a:r>
            <a:r>
              <a:rPr lang="pt-BR" b="1" i="1" dirty="0">
                <a:solidFill>
                  <a:srgbClr val="00B050"/>
                </a:solidFill>
              </a:rPr>
              <a:t>se distancia</a:t>
            </a:r>
            <a:r>
              <a:rPr lang="pt-BR" dirty="0"/>
              <a:t> dele a cada iteração.</a:t>
            </a:r>
          </a:p>
          <a:p>
            <a:r>
              <a:rPr lang="pt-BR" dirty="0"/>
              <a:t>Se isso ocorrer, após algumas iterações, ocorre o estouro da precisão numérica das variáveis envolvidas na regra de atualização dos pesos.</a:t>
            </a:r>
          </a:p>
        </p:txBody>
      </p:sp>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60281" y="2256394"/>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60281" y="2256394"/>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916798" y="4055384"/>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6073" y="4076834"/>
            <a:ext cx="972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937945" y="4076834"/>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900274" y="3980864"/>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727251" y="4865131"/>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727251" y="4865131"/>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12" name="Elipse 11">
            <a:extLst>
              <a:ext uri="{FF2B5EF4-FFF2-40B4-BE49-F238E27FC236}">
                <a16:creationId xmlns:a16="http://schemas.microsoft.com/office/drawing/2014/main" id="{5B563BA0-E378-3A17-97FE-B854F1F16851}"/>
              </a:ext>
            </a:extLst>
          </p:cNvPr>
          <p:cNvSpPr/>
          <p:nvPr/>
        </p:nvSpPr>
        <p:spPr>
          <a:xfrm>
            <a:off x="1627867" y="367924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12">
            <a:extLst>
              <a:ext uri="{FF2B5EF4-FFF2-40B4-BE49-F238E27FC236}">
                <a16:creationId xmlns:a16="http://schemas.microsoft.com/office/drawing/2014/main" id="{E968D954-3A1A-EEFB-4E47-00D7C7965803}"/>
              </a:ext>
            </a:extLst>
          </p:cNvPr>
          <p:cNvSpPr/>
          <p:nvPr/>
        </p:nvSpPr>
        <p:spPr>
          <a:xfrm>
            <a:off x="3860692" y="3937964"/>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7A59E676-E956-52B1-0902-CBD97A81139E}"/>
              </a:ext>
            </a:extLst>
          </p:cNvPr>
          <p:cNvSpPr/>
          <p:nvPr/>
        </p:nvSpPr>
        <p:spPr>
          <a:xfrm>
            <a:off x="4286854" y="335856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14">
            <a:extLst>
              <a:ext uri="{FF2B5EF4-FFF2-40B4-BE49-F238E27FC236}">
                <a16:creationId xmlns:a16="http://schemas.microsoft.com/office/drawing/2014/main" id="{1EBB8C24-58B5-9A66-A8FC-5E5CE61DE597}"/>
              </a:ext>
            </a:extLst>
          </p:cNvPr>
          <p:cNvSpPr/>
          <p:nvPr/>
        </p:nvSpPr>
        <p:spPr>
          <a:xfrm>
            <a:off x="1329185" y="3237497"/>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7" name="Elipse 16">
            <a:extLst>
              <a:ext uri="{FF2B5EF4-FFF2-40B4-BE49-F238E27FC236}">
                <a16:creationId xmlns:a16="http://schemas.microsoft.com/office/drawing/2014/main" id="{23390379-6E1F-E439-E024-14CB2C3DA972}"/>
              </a:ext>
            </a:extLst>
          </p:cNvPr>
          <p:cNvSpPr/>
          <p:nvPr/>
        </p:nvSpPr>
        <p:spPr>
          <a:xfrm>
            <a:off x="4556729" y="301884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1" name="Forma Livre: Forma 20">
            <a:extLst>
              <a:ext uri="{FF2B5EF4-FFF2-40B4-BE49-F238E27FC236}">
                <a16:creationId xmlns:a16="http://schemas.microsoft.com/office/drawing/2014/main" id="{B640F571-9B12-CCD9-8EFD-D2112AA8C4E3}"/>
              </a:ext>
            </a:extLst>
          </p:cNvPr>
          <p:cNvSpPr/>
          <p:nvPr/>
        </p:nvSpPr>
        <p:spPr>
          <a:xfrm>
            <a:off x="1962150" y="3788763"/>
            <a:ext cx="1914525" cy="292700"/>
          </a:xfrm>
          <a:custGeom>
            <a:avLst/>
            <a:gdLst>
              <a:gd name="connsiteX0" fmla="*/ 0 w 1914525"/>
              <a:gd name="connsiteY0" fmla="*/ 292700 h 292700"/>
              <a:gd name="connsiteX1" fmla="*/ 695325 w 1914525"/>
              <a:gd name="connsiteY1" fmla="*/ 2187 h 292700"/>
              <a:gd name="connsiteX2" fmla="*/ 1914525 w 1914525"/>
              <a:gd name="connsiteY2" fmla="*/ 164112 h 292700"/>
            </a:gdLst>
            <a:ahLst/>
            <a:cxnLst>
              <a:cxn ang="0">
                <a:pos x="connsiteX0" y="connsiteY0"/>
              </a:cxn>
              <a:cxn ang="0">
                <a:pos x="connsiteX1" y="connsiteY1"/>
              </a:cxn>
              <a:cxn ang="0">
                <a:pos x="connsiteX2" y="connsiteY2"/>
              </a:cxn>
            </a:cxnLst>
            <a:rect l="l" t="t" r="r" b="b"/>
            <a:pathLst>
              <a:path w="1914525" h="292700">
                <a:moveTo>
                  <a:pt x="0" y="292700"/>
                </a:moveTo>
                <a:cubicBezTo>
                  <a:pt x="188119" y="158159"/>
                  <a:pt x="376238" y="23618"/>
                  <a:pt x="695325" y="2187"/>
                </a:cubicBezTo>
                <a:cubicBezTo>
                  <a:pt x="1014413" y="-19244"/>
                  <a:pt x="1651794" y="122837"/>
                  <a:pt x="1914525" y="164112"/>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3" name="Forma Livre: Forma 22">
            <a:extLst>
              <a:ext uri="{FF2B5EF4-FFF2-40B4-BE49-F238E27FC236}">
                <a16:creationId xmlns:a16="http://schemas.microsoft.com/office/drawing/2014/main" id="{F0968180-C17A-4999-BE8C-1996E774567C}"/>
              </a:ext>
            </a:extLst>
          </p:cNvPr>
          <p:cNvSpPr/>
          <p:nvPr/>
        </p:nvSpPr>
        <p:spPr>
          <a:xfrm>
            <a:off x="1647825" y="3492559"/>
            <a:ext cx="2224088" cy="455554"/>
          </a:xfrm>
          <a:custGeom>
            <a:avLst/>
            <a:gdLst>
              <a:gd name="connsiteX0" fmla="*/ 2224088 w 2224088"/>
              <a:gd name="connsiteY0" fmla="*/ 455554 h 455554"/>
              <a:gd name="connsiteX1" fmla="*/ 1181100 w 2224088"/>
              <a:gd name="connsiteY1" fmla="*/ 7879 h 455554"/>
              <a:gd name="connsiteX2" fmla="*/ 0 w 2224088"/>
              <a:gd name="connsiteY2" fmla="*/ 212666 h 455554"/>
            </a:gdLst>
            <a:ahLst/>
            <a:cxnLst>
              <a:cxn ang="0">
                <a:pos x="connsiteX0" y="connsiteY0"/>
              </a:cxn>
              <a:cxn ang="0">
                <a:pos x="connsiteX1" y="connsiteY1"/>
              </a:cxn>
              <a:cxn ang="0">
                <a:pos x="connsiteX2" y="connsiteY2"/>
              </a:cxn>
            </a:cxnLst>
            <a:rect l="l" t="t" r="r" b="b"/>
            <a:pathLst>
              <a:path w="2224088" h="455554">
                <a:moveTo>
                  <a:pt x="2224088" y="455554"/>
                </a:moveTo>
                <a:cubicBezTo>
                  <a:pt x="1887934" y="251957"/>
                  <a:pt x="1551781" y="48360"/>
                  <a:pt x="1181100" y="7879"/>
                </a:cubicBezTo>
                <a:cubicBezTo>
                  <a:pt x="810419" y="-32602"/>
                  <a:pt x="405209" y="90032"/>
                  <a:pt x="0" y="212666"/>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4" name="Forma Livre: Forma 23">
            <a:extLst>
              <a:ext uri="{FF2B5EF4-FFF2-40B4-BE49-F238E27FC236}">
                <a16:creationId xmlns:a16="http://schemas.microsoft.com/office/drawing/2014/main" id="{B6FF6AE7-D340-CC3C-9D4E-ABD2740882E5}"/>
              </a:ext>
            </a:extLst>
          </p:cNvPr>
          <p:cNvSpPr/>
          <p:nvPr/>
        </p:nvSpPr>
        <p:spPr>
          <a:xfrm>
            <a:off x="1647825" y="3178360"/>
            <a:ext cx="2667000" cy="517340"/>
          </a:xfrm>
          <a:custGeom>
            <a:avLst/>
            <a:gdLst>
              <a:gd name="connsiteX0" fmla="*/ 0 w 2667000"/>
              <a:gd name="connsiteY0" fmla="*/ 517340 h 517340"/>
              <a:gd name="connsiteX1" fmla="*/ 1042988 w 2667000"/>
              <a:gd name="connsiteY1" fmla="*/ 12515 h 517340"/>
              <a:gd name="connsiteX2" fmla="*/ 2667000 w 2667000"/>
              <a:gd name="connsiteY2" fmla="*/ 203015 h 517340"/>
            </a:gdLst>
            <a:ahLst/>
            <a:cxnLst>
              <a:cxn ang="0">
                <a:pos x="connsiteX0" y="connsiteY0"/>
              </a:cxn>
              <a:cxn ang="0">
                <a:pos x="connsiteX1" y="connsiteY1"/>
              </a:cxn>
              <a:cxn ang="0">
                <a:pos x="connsiteX2" y="connsiteY2"/>
              </a:cxn>
            </a:cxnLst>
            <a:rect l="l" t="t" r="r" b="b"/>
            <a:pathLst>
              <a:path w="2667000" h="517340">
                <a:moveTo>
                  <a:pt x="0" y="517340"/>
                </a:moveTo>
                <a:cubicBezTo>
                  <a:pt x="299244" y="291121"/>
                  <a:pt x="598488" y="64903"/>
                  <a:pt x="1042988" y="12515"/>
                </a:cubicBezTo>
                <a:cubicBezTo>
                  <a:pt x="1487488" y="-39873"/>
                  <a:pt x="2077244" y="81571"/>
                  <a:pt x="2667000" y="20301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5" name="Forma Livre: Forma 24">
            <a:extLst>
              <a:ext uri="{FF2B5EF4-FFF2-40B4-BE49-F238E27FC236}">
                <a16:creationId xmlns:a16="http://schemas.microsoft.com/office/drawing/2014/main" id="{6E85C26E-1CD4-6AFF-0651-5530F449B578}"/>
              </a:ext>
            </a:extLst>
          </p:cNvPr>
          <p:cNvSpPr/>
          <p:nvPr/>
        </p:nvSpPr>
        <p:spPr>
          <a:xfrm>
            <a:off x="1357313" y="2951336"/>
            <a:ext cx="2962275" cy="415752"/>
          </a:xfrm>
          <a:custGeom>
            <a:avLst/>
            <a:gdLst>
              <a:gd name="connsiteX0" fmla="*/ 2962275 w 2962275"/>
              <a:gd name="connsiteY0" fmla="*/ 415752 h 415752"/>
              <a:gd name="connsiteX1" fmla="*/ 1333500 w 2962275"/>
              <a:gd name="connsiteY1" fmla="*/ 1414 h 415752"/>
              <a:gd name="connsiteX2" fmla="*/ 0 w 2962275"/>
              <a:gd name="connsiteY2" fmla="*/ 306214 h 415752"/>
            </a:gdLst>
            <a:ahLst/>
            <a:cxnLst>
              <a:cxn ang="0">
                <a:pos x="connsiteX0" y="connsiteY0"/>
              </a:cxn>
              <a:cxn ang="0">
                <a:pos x="connsiteX1" y="connsiteY1"/>
              </a:cxn>
              <a:cxn ang="0">
                <a:pos x="connsiteX2" y="connsiteY2"/>
              </a:cxn>
            </a:cxnLst>
            <a:rect l="l" t="t" r="r" b="b"/>
            <a:pathLst>
              <a:path w="2962275" h="415752">
                <a:moveTo>
                  <a:pt x="2962275" y="415752"/>
                </a:moveTo>
                <a:cubicBezTo>
                  <a:pt x="2394743" y="217711"/>
                  <a:pt x="1827212" y="19670"/>
                  <a:pt x="1333500" y="1414"/>
                </a:cubicBezTo>
                <a:cubicBezTo>
                  <a:pt x="839787" y="-16842"/>
                  <a:pt x="419893" y="144686"/>
                  <a:pt x="0" y="30621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1" name="Forma Livre: Forma 40">
            <a:extLst>
              <a:ext uri="{FF2B5EF4-FFF2-40B4-BE49-F238E27FC236}">
                <a16:creationId xmlns:a16="http://schemas.microsoft.com/office/drawing/2014/main" id="{E191B056-71F7-5DFD-E5ED-20A36EBF466C}"/>
              </a:ext>
            </a:extLst>
          </p:cNvPr>
          <p:cNvSpPr/>
          <p:nvPr/>
        </p:nvSpPr>
        <p:spPr>
          <a:xfrm>
            <a:off x="1347788" y="2704740"/>
            <a:ext cx="3238500" cy="557573"/>
          </a:xfrm>
          <a:custGeom>
            <a:avLst/>
            <a:gdLst>
              <a:gd name="connsiteX0" fmla="*/ 0 w 3238500"/>
              <a:gd name="connsiteY0" fmla="*/ 557573 h 557573"/>
              <a:gd name="connsiteX1" fmla="*/ 1409700 w 3238500"/>
              <a:gd name="connsiteY1" fmla="*/ 5123 h 557573"/>
              <a:gd name="connsiteX2" fmla="*/ 3238500 w 3238500"/>
              <a:gd name="connsiteY2" fmla="*/ 328973 h 557573"/>
            </a:gdLst>
            <a:ahLst/>
            <a:cxnLst>
              <a:cxn ang="0">
                <a:pos x="connsiteX0" y="connsiteY0"/>
              </a:cxn>
              <a:cxn ang="0">
                <a:pos x="connsiteX1" y="connsiteY1"/>
              </a:cxn>
              <a:cxn ang="0">
                <a:pos x="connsiteX2" y="connsiteY2"/>
              </a:cxn>
            </a:cxnLst>
            <a:rect l="l" t="t" r="r" b="b"/>
            <a:pathLst>
              <a:path w="3238500" h="557573">
                <a:moveTo>
                  <a:pt x="0" y="557573"/>
                </a:moveTo>
                <a:cubicBezTo>
                  <a:pt x="434975" y="300398"/>
                  <a:pt x="869950" y="43223"/>
                  <a:pt x="1409700" y="5123"/>
                </a:cubicBezTo>
                <a:cubicBezTo>
                  <a:pt x="1949450" y="-32977"/>
                  <a:pt x="2593975" y="147998"/>
                  <a:pt x="3238500" y="328973"/>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81672958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Outra questão, </a:t>
            </a:r>
            <a:r>
              <a:rPr lang="pt-BR" b="1" i="1" dirty="0">
                <a:solidFill>
                  <a:srgbClr val="00B050"/>
                </a:solidFill>
              </a:rPr>
              <a:t>menos problemática</a:t>
            </a:r>
            <a:r>
              <a:rPr lang="pt-BR" dirty="0"/>
              <a:t> que passos grandes, é a situação oposta.</a:t>
            </a:r>
          </a:p>
          <a:p>
            <a:r>
              <a:rPr lang="pt-BR" dirty="0"/>
              <a:t>Passos </a:t>
            </a:r>
            <a:r>
              <a:rPr lang="pt-BR" b="1" i="1" dirty="0">
                <a:solidFill>
                  <a:srgbClr val="00B050"/>
                </a:solidFill>
              </a:rPr>
              <a:t>muito pequenos</a:t>
            </a:r>
            <a:r>
              <a:rPr lang="pt-BR" dirty="0"/>
              <a:t> fazem com que se </a:t>
            </a:r>
            <a:r>
              <a:rPr lang="pt-BR" b="1" i="1" dirty="0">
                <a:solidFill>
                  <a:srgbClr val="00B050"/>
                </a:solidFill>
              </a:rPr>
              <a:t>leve muito tempo</a:t>
            </a:r>
            <a:r>
              <a:rPr lang="pt-BR" dirty="0"/>
              <a:t>, i.e., iterações, para atingir o ponto de mínimo.</a:t>
            </a:r>
          </a:p>
          <a:p>
            <a:r>
              <a:rPr lang="pt-BR" dirty="0"/>
              <a:t>Se cada iteração levar um tempo razoável para ser executada, o tempo necessário para se atingir o ponto de mínimo pode ser muto grande.</a:t>
            </a:r>
          </a:p>
          <a:p>
            <a:r>
              <a:rPr lang="pt-BR" dirty="0"/>
              <a:t>Porém, </a:t>
            </a:r>
            <a:r>
              <a:rPr lang="pt-BR" b="1" i="1" dirty="0">
                <a:solidFill>
                  <a:srgbClr val="00B050"/>
                </a:solidFill>
              </a:rPr>
              <a:t>se esperarmos </a:t>
            </a:r>
            <a:r>
              <a:rPr lang="pt-BR" dirty="0"/>
              <a:t>tempo suficiente, a </a:t>
            </a:r>
            <a:r>
              <a:rPr lang="pt-BR" b="1" i="1" dirty="0">
                <a:solidFill>
                  <a:srgbClr val="00B050"/>
                </a:solidFill>
              </a:rPr>
              <a:t>convergência é garantida</a:t>
            </a:r>
            <a:r>
              <a:rPr lang="pt-BR" dirty="0"/>
              <a:t>.</a:t>
            </a:r>
          </a:p>
        </p:txBody>
      </p:sp>
      <p:grpSp>
        <p:nvGrpSpPr>
          <p:cNvPr id="81" name="Agrupar 80">
            <a:extLst>
              <a:ext uri="{FF2B5EF4-FFF2-40B4-BE49-F238E27FC236}">
                <a16:creationId xmlns:a16="http://schemas.microsoft.com/office/drawing/2014/main" id="{4F34C0FD-8BB0-C876-0EDF-2B0F445FCB0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02767" y="2716168"/>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6" name="Elipse 45">
              <a:extLst>
                <a:ext uri="{FF2B5EF4-FFF2-40B4-BE49-F238E27FC236}">
                  <a16:creationId xmlns:a16="http://schemas.microsoft.com/office/drawing/2014/main" id="{C3DEEC2D-A2E8-B62C-3519-1662739D0B6E}"/>
                </a:ext>
              </a:extLst>
            </p:cNvPr>
            <p:cNvSpPr/>
            <p:nvPr/>
          </p:nvSpPr>
          <p:spPr>
            <a:xfrm>
              <a:off x="2355906" y="45034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
              <a:extLst>
                <a:ext uri="{FF2B5EF4-FFF2-40B4-BE49-F238E27FC236}">
                  <a16:creationId xmlns:a16="http://schemas.microsoft.com/office/drawing/2014/main" id="{66F5E9C4-6E6A-D729-D1C1-7AE8FCF29BCD}"/>
                </a:ext>
              </a:extLst>
            </p:cNvPr>
            <p:cNvSpPr/>
            <p:nvPr/>
          </p:nvSpPr>
          <p:spPr>
            <a:xfrm>
              <a:off x="2556441" y="4636742"/>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7F069FBA-00C8-0C44-E723-6CADD06562F5}"/>
                </a:ext>
              </a:extLst>
            </p:cNvPr>
            <p:cNvSpPr/>
            <p:nvPr/>
          </p:nvSpPr>
          <p:spPr>
            <a:xfrm>
              <a:off x="1327675" y="3244123"/>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CC4F1DE4-810A-9509-F69E-9B0C77B0F7AC}"/>
                </a:ext>
              </a:extLst>
            </p:cNvPr>
            <p:cNvSpPr/>
            <p:nvPr/>
          </p:nvSpPr>
          <p:spPr>
            <a:xfrm>
              <a:off x="1378120" y="3319499"/>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12">
              <a:extLst>
                <a:ext uri="{FF2B5EF4-FFF2-40B4-BE49-F238E27FC236}">
                  <a16:creationId xmlns:a16="http://schemas.microsoft.com/office/drawing/2014/main" id="{7F72007A-7FB4-0FD4-B790-8C68A292728B}"/>
                </a:ext>
              </a:extLst>
            </p:cNvPr>
            <p:cNvSpPr/>
            <p:nvPr/>
          </p:nvSpPr>
          <p:spPr>
            <a:xfrm>
              <a:off x="1425429" y="338890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A43108D4-8CDD-E0C1-6AA8-F3B847B5A5FE}"/>
                </a:ext>
              </a:extLst>
            </p:cNvPr>
            <p:cNvSpPr/>
            <p:nvPr/>
          </p:nvSpPr>
          <p:spPr>
            <a:xfrm>
              <a:off x="1472521" y="345831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14">
              <a:extLst>
                <a:ext uri="{FF2B5EF4-FFF2-40B4-BE49-F238E27FC236}">
                  <a16:creationId xmlns:a16="http://schemas.microsoft.com/office/drawing/2014/main" id="{91F238E2-F971-328C-8AA8-EEC9108E5CF2}"/>
                </a:ext>
              </a:extLst>
            </p:cNvPr>
            <p:cNvSpPr/>
            <p:nvPr/>
          </p:nvSpPr>
          <p:spPr>
            <a:xfrm>
              <a:off x="1515421" y="3527717"/>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7" name="Elipse 16">
              <a:extLst>
                <a:ext uri="{FF2B5EF4-FFF2-40B4-BE49-F238E27FC236}">
                  <a16:creationId xmlns:a16="http://schemas.microsoft.com/office/drawing/2014/main" id="{6A46DFA2-73FE-1EFA-14D1-691BA83ED8A3}"/>
                </a:ext>
              </a:extLst>
            </p:cNvPr>
            <p:cNvSpPr/>
            <p:nvPr/>
          </p:nvSpPr>
          <p:spPr>
            <a:xfrm>
              <a:off x="1561796" y="3591834"/>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1" name="Elipse 20">
              <a:extLst>
                <a:ext uri="{FF2B5EF4-FFF2-40B4-BE49-F238E27FC236}">
                  <a16:creationId xmlns:a16="http://schemas.microsoft.com/office/drawing/2014/main" id="{BA98C14A-660A-E23C-A63D-8AD8F1592E9B}"/>
                </a:ext>
              </a:extLst>
            </p:cNvPr>
            <p:cNvSpPr/>
            <p:nvPr/>
          </p:nvSpPr>
          <p:spPr>
            <a:xfrm>
              <a:off x="1607987" y="365824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2" name="Elipse 21">
              <a:extLst>
                <a:ext uri="{FF2B5EF4-FFF2-40B4-BE49-F238E27FC236}">
                  <a16:creationId xmlns:a16="http://schemas.microsoft.com/office/drawing/2014/main" id="{7B8D126E-C9F2-6234-AB34-F636263D8513}"/>
                </a:ext>
              </a:extLst>
            </p:cNvPr>
            <p:cNvSpPr/>
            <p:nvPr/>
          </p:nvSpPr>
          <p:spPr>
            <a:xfrm>
              <a:off x="1652758" y="371554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3" name="Elipse 22">
              <a:extLst>
                <a:ext uri="{FF2B5EF4-FFF2-40B4-BE49-F238E27FC236}">
                  <a16:creationId xmlns:a16="http://schemas.microsoft.com/office/drawing/2014/main" id="{6365D0AE-A3DF-B7AC-F475-9F70022DDB01}"/>
                </a:ext>
              </a:extLst>
            </p:cNvPr>
            <p:cNvSpPr/>
            <p:nvPr/>
          </p:nvSpPr>
          <p:spPr>
            <a:xfrm>
              <a:off x="1698039" y="377957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4" name="Elipse 23">
              <a:extLst>
                <a:ext uri="{FF2B5EF4-FFF2-40B4-BE49-F238E27FC236}">
                  <a16:creationId xmlns:a16="http://schemas.microsoft.com/office/drawing/2014/main" id="{1DA23385-85C2-2EAA-B092-6A525B4513FD}"/>
                </a:ext>
              </a:extLst>
            </p:cNvPr>
            <p:cNvSpPr/>
            <p:nvPr/>
          </p:nvSpPr>
          <p:spPr>
            <a:xfrm>
              <a:off x="1740861" y="384359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5" name="Elipse 24">
              <a:extLst>
                <a:ext uri="{FF2B5EF4-FFF2-40B4-BE49-F238E27FC236}">
                  <a16:creationId xmlns:a16="http://schemas.microsoft.com/office/drawing/2014/main" id="{738ABD31-C46E-659E-05F5-B531A68619AD}"/>
                </a:ext>
              </a:extLst>
            </p:cNvPr>
            <p:cNvSpPr/>
            <p:nvPr/>
          </p:nvSpPr>
          <p:spPr>
            <a:xfrm>
              <a:off x="1799450" y="39216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9" name="Elipse 28">
              <a:extLst>
                <a:ext uri="{FF2B5EF4-FFF2-40B4-BE49-F238E27FC236}">
                  <a16:creationId xmlns:a16="http://schemas.microsoft.com/office/drawing/2014/main" id="{737BA4D0-63B5-D4AC-255A-56D2243936D3}"/>
                </a:ext>
              </a:extLst>
            </p:cNvPr>
            <p:cNvSpPr/>
            <p:nvPr/>
          </p:nvSpPr>
          <p:spPr>
            <a:xfrm>
              <a:off x="1858708" y="398410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8" name="Elipse 37">
              <a:extLst>
                <a:ext uri="{FF2B5EF4-FFF2-40B4-BE49-F238E27FC236}">
                  <a16:creationId xmlns:a16="http://schemas.microsoft.com/office/drawing/2014/main" id="{56EDA7AD-1FD1-7936-23DD-5AC2EF35C705}"/>
                </a:ext>
              </a:extLst>
            </p:cNvPr>
            <p:cNvSpPr/>
            <p:nvPr/>
          </p:nvSpPr>
          <p:spPr>
            <a:xfrm>
              <a:off x="1954518" y="411473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Elipse 40">
              <a:extLst>
                <a:ext uri="{FF2B5EF4-FFF2-40B4-BE49-F238E27FC236}">
                  <a16:creationId xmlns:a16="http://schemas.microsoft.com/office/drawing/2014/main" id="{D65708CB-153B-FC5B-3AF3-F1301A4F421D}"/>
                </a:ext>
              </a:extLst>
            </p:cNvPr>
            <p:cNvSpPr/>
            <p:nvPr/>
          </p:nvSpPr>
          <p:spPr>
            <a:xfrm>
              <a:off x="2025000" y="418780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Elipse 41">
              <a:extLst>
                <a:ext uri="{FF2B5EF4-FFF2-40B4-BE49-F238E27FC236}">
                  <a16:creationId xmlns:a16="http://schemas.microsoft.com/office/drawing/2014/main" id="{175F876A-1E08-2BA1-BBFD-720FE6AB00B1}"/>
                </a:ext>
              </a:extLst>
            </p:cNvPr>
            <p:cNvSpPr/>
            <p:nvPr/>
          </p:nvSpPr>
          <p:spPr>
            <a:xfrm>
              <a:off x="2075827" y="4253457"/>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3" name="Elipse 42">
              <a:extLst>
                <a:ext uri="{FF2B5EF4-FFF2-40B4-BE49-F238E27FC236}">
                  <a16:creationId xmlns:a16="http://schemas.microsoft.com/office/drawing/2014/main" id="{5DDD2C90-020A-08D1-E390-5A3409D7257D}"/>
                </a:ext>
              </a:extLst>
            </p:cNvPr>
            <p:cNvSpPr/>
            <p:nvPr/>
          </p:nvSpPr>
          <p:spPr>
            <a:xfrm>
              <a:off x="2152793" y="4320362"/>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4" name="Elipse 43">
              <a:extLst>
                <a:ext uri="{FF2B5EF4-FFF2-40B4-BE49-F238E27FC236}">
                  <a16:creationId xmlns:a16="http://schemas.microsoft.com/office/drawing/2014/main" id="{514B35BC-F8FA-6EA4-613D-CBCE40868BDB}"/>
                </a:ext>
              </a:extLst>
            </p:cNvPr>
            <p:cNvSpPr/>
            <p:nvPr/>
          </p:nvSpPr>
          <p:spPr>
            <a:xfrm>
              <a:off x="2208074" y="438143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7" name="Elipse 46">
              <a:extLst>
                <a:ext uri="{FF2B5EF4-FFF2-40B4-BE49-F238E27FC236}">
                  <a16:creationId xmlns:a16="http://schemas.microsoft.com/office/drawing/2014/main" id="{332B17B3-F946-7D34-9C30-5263B9F3CC17}"/>
                </a:ext>
              </a:extLst>
            </p:cNvPr>
            <p:cNvSpPr/>
            <p:nvPr/>
          </p:nvSpPr>
          <p:spPr>
            <a:xfrm>
              <a:off x="2283183" y="444423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8" name="Elipse 47">
              <a:extLst>
                <a:ext uri="{FF2B5EF4-FFF2-40B4-BE49-F238E27FC236}">
                  <a16:creationId xmlns:a16="http://schemas.microsoft.com/office/drawing/2014/main" id="{CDD1BD60-16E5-3ED7-F192-8B8F8F046E8A}"/>
                </a:ext>
              </a:extLst>
            </p:cNvPr>
            <p:cNvSpPr/>
            <p:nvPr/>
          </p:nvSpPr>
          <p:spPr>
            <a:xfrm>
              <a:off x="2409933" y="45463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9" name="Elipse 48">
              <a:extLst>
                <a:ext uri="{FF2B5EF4-FFF2-40B4-BE49-F238E27FC236}">
                  <a16:creationId xmlns:a16="http://schemas.microsoft.com/office/drawing/2014/main" id="{E5B2DBF1-2D5F-1E8B-0DBB-A29836F8CCCE}"/>
                </a:ext>
              </a:extLst>
            </p:cNvPr>
            <p:cNvSpPr/>
            <p:nvPr/>
          </p:nvSpPr>
          <p:spPr>
            <a:xfrm>
              <a:off x="2485410" y="459770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0" name="Elipse 49">
              <a:extLst>
                <a:ext uri="{FF2B5EF4-FFF2-40B4-BE49-F238E27FC236}">
                  <a16:creationId xmlns:a16="http://schemas.microsoft.com/office/drawing/2014/main" id="{ACD15CFD-B032-1F2A-1EE8-B61E322D67FC}"/>
                </a:ext>
              </a:extLst>
            </p:cNvPr>
            <p:cNvSpPr/>
            <p:nvPr/>
          </p:nvSpPr>
          <p:spPr>
            <a:xfrm>
              <a:off x="2635389" y="4670729"/>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1" name="Elipse 50">
              <a:extLst>
                <a:ext uri="{FF2B5EF4-FFF2-40B4-BE49-F238E27FC236}">
                  <a16:creationId xmlns:a16="http://schemas.microsoft.com/office/drawing/2014/main" id="{E88579B0-B02D-BD9C-E35E-770F228E7214}"/>
                </a:ext>
              </a:extLst>
            </p:cNvPr>
            <p:cNvSpPr/>
            <p:nvPr/>
          </p:nvSpPr>
          <p:spPr>
            <a:xfrm>
              <a:off x="2714517" y="470381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2" name="Forma Livre: Forma 51">
              <a:extLst>
                <a:ext uri="{FF2B5EF4-FFF2-40B4-BE49-F238E27FC236}">
                  <a16:creationId xmlns:a16="http://schemas.microsoft.com/office/drawing/2014/main" id="{D57FE806-611C-B25D-9C44-B106EAADB91C}"/>
                </a:ext>
              </a:extLst>
            </p:cNvPr>
            <p:cNvSpPr/>
            <p:nvPr/>
          </p:nvSpPr>
          <p:spPr>
            <a:xfrm>
              <a:off x="1314450" y="3143408"/>
              <a:ext cx="87751" cy="109380"/>
            </a:xfrm>
            <a:custGeom>
              <a:avLst/>
              <a:gdLst>
                <a:gd name="connsiteX0" fmla="*/ 0 w 87751"/>
                <a:gd name="connsiteY0" fmla="*/ 28417 h 109380"/>
                <a:gd name="connsiteX1" fmla="*/ 85725 w 87751"/>
                <a:gd name="connsiteY1" fmla="*/ 4605 h 109380"/>
                <a:gd name="connsiteX2" fmla="*/ 52388 w 87751"/>
                <a:gd name="connsiteY2" fmla="*/ 109380 h 109380"/>
              </a:gdLst>
              <a:ahLst/>
              <a:cxnLst>
                <a:cxn ang="0">
                  <a:pos x="connsiteX0" y="connsiteY0"/>
                </a:cxn>
                <a:cxn ang="0">
                  <a:pos x="connsiteX1" y="connsiteY1"/>
                </a:cxn>
                <a:cxn ang="0">
                  <a:pos x="connsiteX2" y="connsiteY2"/>
                </a:cxn>
              </a:cxnLst>
              <a:rect l="l" t="t" r="r" b="b"/>
              <a:pathLst>
                <a:path w="87751" h="109380">
                  <a:moveTo>
                    <a:pt x="0" y="28417"/>
                  </a:moveTo>
                  <a:cubicBezTo>
                    <a:pt x="38497" y="9764"/>
                    <a:pt x="76994" y="-8889"/>
                    <a:pt x="85725" y="4605"/>
                  </a:cubicBezTo>
                  <a:cubicBezTo>
                    <a:pt x="94456" y="18099"/>
                    <a:pt x="73422" y="63739"/>
                    <a:pt x="52388" y="10938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3" name="Forma Livre: Forma 52">
              <a:extLst>
                <a:ext uri="{FF2B5EF4-FFF2-40B4-BE49-F238E27FC236}">
                  <a16:creationId xmlns:a16="http://schemas.microsoft.com/office/drawing/2014/main" id="{1DF0A457-E5D4-2DE1-6F74-765414E143DF}"/>
                </a:ext>
              </a:extLst>
            </p:cNvPr>
            <p:cNvSpPr/>
            <p:nvPr/>
          </p:nvSpPr>
          <p:spPr>
            <a:xfrm>
              <a:off x="1362075" y="3235526"/>
              <a:ext cx="134966" cy="102987"/>
            </a:xfrm>
            <a:custGeom>
              <a:avLst/>
              <a:gdLst>
                <a:gd name="connsiteX0" fmla="*/ 0 w 134966"/>
                <a:gd name="connsiteY0" fmla="*/ 12499 h 102987"/>
                <a:gd name="connsiteX1" fmla="*/ 133350 w 134966"/>
                <a:gd name="connsiteY1" fmla="*/ 7737 h 102987"/>
                <a:gd name="connsiteX2" fmla="*/ 61913 w 134966"/>
                <a:gd name="connsiteY2" fmla="*/ 102987 h 102987"/>
              </a:gdLst>
              <a:ahLst/>
              <a:cxnLst>
                <a:cxn ang="0">
                  <a:pos x="connsiteX0" y="connsiteY0"/>
                </a:cxn>
                <a:cxn ang="0">
                  <a:pos x="connsiteX1" y="connsiteY1"/>
                </a:cxn>
                <a:cxn ang="0">
                  <a:pos x="connsiteX2" y="connsiteY2"/>
                </a:cxn>
              </a:cxnLst>
              <a:rect l="l" t="t" r="r" b="b"/>
              <a:pathLst>
                <a:path w="134966" h="102987">
                  <a:moveTo>
                    <a:pt x="0" y="12499"/>
                  </a:moveTo>
                  <a:cubicBezTo>
                    <a:pt x="61515" y="2577"/>
                    <a:pt x="123031" y="-7344"/>
                    <a:pt x="133350" y="7737"/>
                  </a:cubicBezTo>
                  <a:cubicBezTo>
                    <a:pt x="143669" y="22818"/>
                    <a:pt x="102791" y="62902"/>
                    <a:pt x="61913" y="102987"/>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4" name="Forma Livre: Forma 53">
              <a:extLst>
                <a:ext uri="{FF2B5EF4-FFF2-40B4-BE49-F238E27FC236}">
                  <a16:creationId xmlns:a16="http://schemas.microsoft.com/office/drawing/2014/main" id="{FA4AB10D-42FB-9BC1-5B4B-DE2A62632A3D}"/>
                </a:ext>
              </a:extLst>
            </p:cNvPr>
            <p:cNvSpPr/>
            <p:nvPr/>
          </p:nvSpPr>
          <p:spPr>
            <a:xfrm>
              <a:off x="1400175" y="3310085"/>
              <a:ext cx="120084" cy="99865"/>
            </a:xfrm>
            <a:custGeom>
              <a:avLst/>
              <a:gdLst>
                <a:gd name="connsiteX0" fmla="*/ 0 w 120084"/>
                <a:gd name="connsiteY0" fmla="*/ 23665 h 99865"/>
                <a:gd name="connsiteX1" fmla="*/ 119063 w 120084"/>
                <a:gd name="connsiteY1" fmla="*/ 4615 h 99865"/>
                <a:gd name="connsiteX2" fmla="*/ 47625 w 120084"/>
                <a:gd name="connsiteY2" fmla="*/ 99865 h 99865"/>
              </a:gdLst>
              <a:ahLst/>
              <a:cxnLst>
                <a:cxn ang="0">
                  <a:pos x="connsiteX0" y="connsiteY0"/>
                </a:cxn>
                <a:cxn ang="0">
                  <a:pos x="connsiteX1" y="connsiteY1"/>
                </a:cxn>
                <a:cxn ang="0">
                  <a:pos x="connsiteX2" y="connsiteY2"/>
                </a:cxn>
              </a:cxnLst>
              <a:rect l="l" t="t" r="r" b="b"/>
              <a:pathLst>
                <a:path w="120084" h="99865">
                  <a:moveTo>
                    <a:pt x="0" y="23665"/>
                  </a:moveTo>
                  <a:cubicBezTo>
                    <a:pt x="55563" y="7790"/>
                    <a:pt x="111126" y="-8085"/>
                    <a:pt x="119063" y="4615"/>
                  </a:cubicBezTo>
                  <a:cubicBezTo>
                    <a:pt x="127000" y="17315"/>
                    <a:pt x="87312" y="58590"/>
                    <a:pt x="47625" y="9986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5" name="Forma Livre: Forma 54">
              <a:extLst>
                <a:ext uri="{FF2B5EF4-FFF2-40B4-BE49-F238E27FC236}">
                  <a16:creationId xmlns:a16="http://schemas.microsoft.com/office/drawing/2014/main" id="{D3AAA687-E8E8-0A22-0AA9-EA7171F6A6F7}"/>
                </a:ext>
              </a:extLst>
            </p:cNvPr>
            <p:cNvSpPr/>
            <p:nvPr/>
          </p:nvSpPr>
          <p:spPr>
            <a:xfrm>
              <a:off x="1447800" y="3368793"/>
              <a:ext cx="111669" cy="112595"/>
            </a:xfrm>
            <a:custGeom>
              <a:avLst/>
              <a:gdLst>
                <a:gd name="connsiteX0" fmla="*/ 0 w 111669"/>
                <a:gd name="connsiteY0" fmla="*/ 41157 h 112595"/>
                <a:gd name="connsiteX1" fmla="*/ 109538 w 111669"/>
                <a:gd name="connsiteY1" fmla="*/ 3057 h 112595"/>
                <a:gd name="connsiteX2" fmla="*/ 61913 w 111669"/>
                <a:gd name="connsiteY2" fmla="*/ 112595 h 112595"/>
              </a:gdLst>
              <a:ahLst/>
              <a:cxnLst>
                <a:cxn ang="0">
                  <a:pos x="connsiteX0" y="connsiteY0"/>
                </a:cxn>
                <a:cxn ang="0">
                  <a:pos x="connsiteX1" y="connsiteY1"/>
                </a:cxn>
                <a:cxn ang="0">
                  <a:pos x="connsiteX2" y="connsiteY2"/>
                </a:cxn>
              </a:cxnLst>
              <a:rect l="l" t="t" r="r" b="b"/>
              <a:pathLst>
                <a:path w="111669" h="112595">
                  <a:moveTo>
                    <a:pt x="0" y="41157"/>
                  </a:moveTo>
                  <a:cubicBezTo>
                    <a:pt x="49609" y="16154"/>
                    <a:pt x="99219" y="-8849"/>
                    <a:pt x="109538" y="3057"/>
                  </a:cubicBezTo>
                  <a:cubicBezTo>
                    <a:pt x="119857" y="14963"/>
                    <a:pt x="90885" y="63779"/>
                    <a:pt x="61913" y="11259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6" name="Forma Livre: Forma 55">
              <a:extLst>
                <a:ext uri="{FF2B5EF4-FFF2-40B4-BE49-F238E27FC236}">
                  <a16:creationId xmlns:a16="http://schemas.microsoft.com/office/drawing/2014/main" id="{E344A5C9-4592-EA82-0B7E-2CE9A88F3EC4}"/>
                </a:ext>
              </a:extLst>
            </p:cNvPr>
            <p:cNvSpPr/>
            <p:nvPr/>
          </p:nvSpPr>
          <p:spPr>
            <a:xfrm>
              <a:off x="1500188" y="3430385"/>
              <a:ext cx="92355" cy="117678"/>
            </a:xfrm>
            <a:custGeom>
              <a:avLst/>
              <a:gdLst>
                <a:gd name="connsiteX0" fmla="*/ 0 w 92355"/>
                <a:gd name="connsiteY0" fmla="*/ 41478 h 117678"/>
                <a:gd name="connsiteX1" fmla="*/ 90487 w 92355"/>
                <a:gd name="connsiteY1" fmla="*/ 3378 h 117678"/>
                <a:gd name="connsiteX2" fmla="*/ 52387 w 92355"/>
                <a:gd name="connsiteY2" fmla="*/ 117678 h 117678"/>
              </a:gdLst>
              <a:ahLst/>
              <a:cxnLst>
                <a:cxn ang="0">
                  <a:pos x="connsiteX0" y="connsiteY0"/>
                </a:cxn>
                <a:cxn ang="0">
                  <a:pos x="connsiteX1" y="connsiteY1"/>
                </a:cxn>
                <a:cxn ang="0">
                  <a:pos x="connsiteX2" y="connsiteY2"/>
                </a:cxn>
              </a:cxnLst>
              <a:rect l="l" t="t" r="r" b="b"/>
              <a:pathLst>
                <a:path w="92355" h="117678">
                  <a:moveTo>
                    <a:pt x="0" y="41478"/>
                  </a:moveTo>
                  <a:cubicBezTo>
                    <a:pt x="40878" y="16078"/>
                    <a:pt x="81756" y="-9322"/>
                    <a:pt x="90487" y="3378"/>
                  </a:cubicBezTo>
                  <a:cubicBezTo>
                    <a:pt x="99218" y="16078"/>
                    <a:pt x="75802" y="66878"/>
                    <a:pt x="52387" y="117678"/>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7" name="Forma Livre: Forma 56">
              <a:extLst>
                <a:ext uri="{FF2B5EF4-FFF2-40B4-BE49-F238E27FC236}">
                  <a16:creationId xmlns:a16="http://schemas.microsoft.com/office/drawing/2014/main" id="{7C62A9D7-8CED-886C-1008-4FED473EF7E2}"/>
                </a:ext>
              </a:extLst>
            </p:cNvPr>
            <p:cNvSpPr/>
            <p:nvPr/>
          </p:nvSpPr>
          <p:spPr>
            <a:xfrm>
              <a:off x="1552575" y="3493544"/>
              <a:ext cx="69039" cy="111669"/>
            </a:xfrm>
            <a:custGeom>
              <a:avLst/>
              <a:gdLst>
                <a:gd name="connsiteX0" fmla="*/ 0 w 69039"/>
                <a:gd name="connsiteY0" fmla="*/ 49756 h 111669"/>
                <a:gd name="connsiteX1" fmla="*/ 66675 w 69039"/>
                <a:gd name="connsiteY1" fmla="*/ 2131 h 111669"/>
                <a:gd name="connsiteX2" fmla="*/ 47625 w 69039"/>
                <a:gd name="connsiteY2" fmla="*/ 111669 h 111669"/>
              </a:gdLst>
              <a:ahLst/>
              <a:cxnLst>
                <a:cxn ang="0">
                  <a:pos x="connsiteX0" y="connsiteY0"/>
                </a:cxn>
                <a:cxn ang="0">
                  <a:pos x="connsiteX1" y="connsiteY1"/>
                </a:cxn>
                <a:cxn ang="0">
                  <a:pos x="connsiteX2" y="connsiteY2"/>
                </a:cxn>
              </a:cxnLst>
              <a:rect l="l" t="t" r="r" b="b"/>
              <a:pathLst>
                <a:path w="69039" h="111669">
                  <a:moveTo>
                    <a:pt x="0" y="49756"/>
                  </a:moveTo>
                  <a:cubicBezTo>
                    <a:pt x="29369" y="20784"/>
                    <a:pt x="58738" y="-8188"/>
                    <a:pt x="66675" y="2131"/>
                  </a:cubicBezTo>
                  <a:cubicBezTo>
                    <a:pt x="74612" y="12450"/>
                    <a:pt x="61118" y="62059"/>
                    <a:pt x="47625" y="11166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8" name="Forma Livre: Forma 57">
              <a:extLst>
                <a:ext uri="{FF2B5EF4-FFF2-40B4-BE49-F238E27FC236}">
                  <a16:creationId xmlns:a16="http://schemas.microsoft.com/office/drawing/2014/main" id="{FCAD2A4D-7160-44D1-B740-BF7032929A14}"/>
                </a:ext>
              </a:extLst>
            </p:cNvPr>
            <p:cNvSpPr/>
            <p:nvPr/>
          </p:nvSpPr>
          <p:spPr>
            <a:xfrm>
              <a:off x="1595438" y="3564253"/>
              <a:ext cx="78640" cy="117160"/>
            </a:xfrm>
            <a:custGeom>
              <a:avLst/>
              <a:gdLst>
                <a:gd name="connsiteX0" fmla="*/ 0 w 78640"/>
                <a:gd name="connsiteY0" fmla="*/ 45722 h 117160"/>
                <a:gd name="connsiteX1" fmla="*/ 76200 w 78640"/>
                <a:gd name="connsiteY1" fmla="*/ 2860 h 117160"/>
                <a:gd name="connsiteX2" fmla="*/ 52387 w 78640"/>
                <a:gd name="connsiteY2" fmla="*/ 117160 h 117160"/>
              </a:gdLst>
              <a:ahLst/>
              <a:cxnLst>
                <a:cxn ang="0">
                  <a:pos x="connsiteX0" y="connsiteY0"/>
                </a:cxn>
                <a:cxn ang="0">
                  <a:pos x="connsiteX1" y="connsiteY1"/>
                </a:cxn>
                <a:cxn ang="0">
                  <a:pos x="connsiteX2" y="connsiteY2"/>
                </a:cxn>
              </a:cxnLst>
              <a:rect l="l" t="t" r="r" b="b"/>
              <a:pathLst>
                <a:path w="78640" h="117160">
                  <a:moveTo>
                    <a:pt x="0" y="45722"/>
                  </a:moveTo>
                  <a:cubicBezTo>
                    <a:pt x="33734" y="18338"/>
                    <a:pt x="67469" y="-9046"/>
                    <a:pt x="76200" y="2860"/>
                  </a:cubicBezTo>
                  <a:cubicBezTo>
                    <a:pt x="84931" y="14766"/>
                    <a:pt x="68659" y="65963"/>
                    <a:pt x="52387" y="117160"/>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0" name="Forma Livre: Forma 59">
              <a:extLst>
                <a:ext uri="{FF2B5EF4-FFF2-40B4-BE49-F238E27FC236}">
                  <a16:creationId xmlns:a16="http://schemas.microsoft.com/office/drawing/2014/main" id="{F1A38194-7B65-BCBB-2977-4345DF290245}"/>
                </a:ext>
              </a:extLst>
            </p:cNvPr>
            <p:cNvSpPr/>
            <p:nvPr/>
          </p:nvSpPr>
          <p:spPr>
            <a:xfrm>
              <a:off x="1643063" y="3627272"/>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1" name="Forma Livre: Forma 60">
              <a:extLst>
                <a:ext uri="{FF2B5EF4-FFF2-40B4-BE49-F238E27FC236}">
                  <a16:creationId xmlns:a16="http://schemas.microsoft.com/office/drawing/2014/main" id="{564F9501-3436-F9FF-28D2-FC3BC9E298B0}"/>
                </a:ext>
              </a:extLst>
            </p:cNvPr>
            <p:cNvSpPr/>
            <p:nvPr/>
          </p:nvSpPr>
          <p:spPr>
            <a:xfrm>
              <a:off x="1672945" y="3701326"/>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2" name="Forma Livre: Forma 61">
              <a:extLst>
                <a:ext uri="{FF2B5EF4-FFF2-40B4-BE49-F238E27FC236}">
                  <a16:creationId xmlns:a16="http://schemas.microsoft.com/office/drawing/2014/main" id="{EB5C1DE8-1D90-2807-7A37-610CFC2241BF}"/>
                </a:ext>
              </a:extLst>
            </p:cNvPr>
            <p:cNvSpPr/>
            <p:nvPr/>
          </p:nvSpPr>
          <p:spPr>
            <a:xfrm>
              <a:off x="1714723" y="3763481"/>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3" name="Forma Livre: Forma 62">
              <a:extLst>
                <a:ext uri="{FF2B5EF4-FFF2-40B4-BE49-F238E27FC236}">
                  <a16:creationId xmlns:a16="http://schemas.microsoft.com/office/drawing/2014/main" id="{A78A777C-ABAA-46CF-76F7-8785A8DD1EE4}"/>
                </a:ext>
              </a:extLst>
            </p:cNvPr>
            <p:cNvSpPr/>
            <p:nvPr/>
          </p:nvSpPr>
          <p:spPr>
            <a:xfrm>
              <a:off x="1757623" y="3811521"/>
              <a:ext cx="113994" cy="125406"/>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4" name="Forma Livre: Forma 63">
              <a:extLst>
                <a:ext uri="{FF2B5EF4-FFF2-40B4-BE49-F238E27FC236}">
                  <a16:creationId xmlns:a16="http://schemas.microsoft.com/office/drawing/2014/main" id="{54A11321-0DCE-958E-4505-BE313F984ECA}"/>
                </a:ext>
              </a:extLst>
            </p:cNvPr>
            <p:cNvSpPr/>
            <p:nvPr/>
          </p:nvSpPr>
          <p:spPr>
            <a:xfrm>
              <a:off x="1821503" y="3895318"/>
              <a:ext cx="88624"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5" name="Forma Livre: Forma 64">
              <a:extLst>
                <a:ext uri="{FF2B5EF4-FFF2-40B4-BE49-F238E27FC236}">
                  <a16:creationId xmlns:a16="http://schemas.microsoft.com/office/drawing/2014/main" id="{2D97E6F2-CC68-004D-956A-DE643D2955A7}"/>
                </a:ext>
              </a:extLst>
            </p:cNvPr>
            <p:cNvSpPr/>
            <p:nvPr/>
          </p:nvSpPr>
          <p:spPr>
            <a:xfrm>
              <a:off x="1880976" y="3950963"/>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6" name="Forma Livre: Forma 65">
              <a:extLst>
                <a:ext uri="{FF2B5EF4-FFF2-40B4-BE49-F238E27FC236}">
                  <a16:creationId xmlns:a16="http://schemas.microsoft.com/office/drawing/2014/main" id="{D37F839C-B273-7AF7-9774-8944F7C38068}"/>
                </a:ext>
              </a:extLst>
            </p:cNvPr>
            <p:cNvSpPr/>
            <p:nvPr/>
          </p:nvSpPr>
          <p:spPr>
            <a:xfrm>
              <a:off x="1926411" y="4005230"/>
              <a:ext cx="98586" cy="152400"/>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7" name="Forma Livre: Forma 66">
              <a:extLst>
                <a:ext uri="{FF2B5EF4-FFF2-40B4-BE49-F238E27FC236}">
                  <a16:creationId xmlns:a16="http://schemas.microsoft.com/office/drawing/2014/main" id="{EDBB2EA8-D634-AABA-077C-BE358C721A12}"/>
                </a:ext>
              </a:extLst>
            </p:cNvPr>
            <p:cNvSpPr/>
            <p:nvPr/>
          </p:nvSpPr>
          <p:spPr>
            <a:xfrm>
              <a:off x="1986165" y="4073869"/>
              <a:ext cx="98578" cy="131717"/>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8" name="Forma Livre: Forma 67">
              <a:extLst>
                <a:ext uri="{FF2B5EF4-FFF2-40B4-BE49-F238E27FC236}">
                  <a16:creationId xmlns:a16="http://schemas.microsoft.com/office/drawing/2014/main" id="{93E645CA-D65E-103D-DDF1-9D62FB3EDB7F}"/>
                </a:ext>
              </a:extLst>
            </p:cNvPr>
            <p:cNvSpPr/>
            <p:nvPr/>
          </p:nvSpPr>
          <p:spPr>
            <a:xfrm>
              <a:off x="2045913" y="4168557"/>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0" name="Forma Livre: Forma 69">
              <a:extLst>
                <a:ext uri="{FF2B5EF4-FFF2-40B4-BE49-F238E27FC236}">
                  <a16:creationId xmlns:a16="http://schemas.microsoft.com/office/drawing/2014/main" id="{43B103BC-B12F-A33E-DE0F-88EC59D3C67D}"/>
                </a:ext>
              </a:extLst>
            </p:cNvPr>
            <p:cNvSpPr/>
            <p:nvPr/>
          </p:nvSpPr>
          <p:spPr>
            <a:xfrm>
              <a:off x="2098675" y="4235311"/>
              <a:ext cx="107993" cy="111264"/>
            </a:xfrm>
            <a:custGeom>
              <a:avLst/>
              <a:gdLst>
                <a:gd name="connsiteX0" fmla="*/ 0 w 107993"/>
                <a:gd name="connsiteY0" fmla="*/ 38239 h 111264"/>
                <a:gd name="connsiteX1" fmla="*/ 101600 w 107993"/>
                <a:gd name="connsiteY1" fmla="*/ 3314 h 111264"/>
                <a:gd name="connsiteX2" fmla="*/ 88900 w 107993"/>
                <a:gd name="connsiteY2" fmla="*/ 111264 h 111264"/>
              </a:gdLst>
              <a:ahLst/>
              <a:cxnLst>
                <a:cxn ang="0">
                  <a:pos x="connsiteX0" y="connsiteY0"/>
                </a:cxn>
                <a:cxn ang="0">
                  <a:pos x="connsiteX1" y="connsiteY1"/>
                </a:cxn>
                <a:cxn ang="0">
                  <a:pos x="connsiteX2" y="connsiteY2"/>
                </a:cxn>
              </a:cxnLst>
              <a:rect l="l" t="t" r="r" b="b"/>
              <a:pathLst>
                <a:path w="107993" h="111264">
                  <a:moveTo>
                    <a:pt x="0" y="38239"/>
                  </a:moveTo>
                  <a:cubicBezTo>
                    <a:pt x="43391" y="14691"/>
                    <a:pt x="86783" y="-8857"/>
                    <a:pt x="101600" y="3314"/>
                  </a:cubicBezTo>
                  <a:cubicBezTo>
                    <a:pt x="116417" y="15485"/>
                    <a:pt x="102658" y="63374"/>
                    <a:pt x="88900" y="1112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1" name="Forma Livre: Forma 70">
              <a:extLst>
                <a:ext uri="{FF2B5EF4-FFF2-40B4-BE49-F238E27FC236}">
                  <a16:creationId xmlns:a16="http://schemas.microsoft.com/office/drawing/2014/main" id="{6BCCEA16-BC55-6616-B281-605F855C505E}"/>
                </a:ext>
              </a:extLst>
            </p:cNvPr>
            <p:cNvSpPr/>
            <p:nvPr/>
          </p:nvSpPr>
          <p:spPr>
            <a:xfrm>
              <a:off x="2174875" y="4292461"/>
              <a:ext cx="89562" cy="111264"/>
            </a:xfrm>
            <a:custGeom>
              <a:avLst/>
              <a:gdLst>
                <a:gd name="connsiteX0" fmla="*/ 0 w 89562"/>
                <a:gd name="connsiteY0" fmla="*/ 38239 h 111264"/>
                <a:gd name="connsiteX1" fmla="*/ 85725 w 89562"/>
                <a:gd name="connsiteY1" fmla="*/ 3314 h 111264"/>
                <a:gd name="connsiteX2" fmla="*/ 66675 w 89562"/>
                <a:gd name="connsiteY2" fmla="*/ 111264 h 111264"/>
              </a:gdLst>
              <a:ahLst/>
              <a:cxnLst>
                <a:cxn ang="0">
                  <a:pos x="connsiteX0" y="connsiteY0"/>
                </a:cxn>
                <a:cxn ang="0">
                  <a:pos x="connsiteX1" y="connsiteY1"/>
                </a:cxn>
                <a:cxn ang="0">
                  <a:pos x="connsiteX2" y="connsiteY2"/>
                </a:cxn>
              </a:cxnLst>
              <a:rect l="l" t="t" r="r" b="b"/>
              <a:pathLst>
                <a:path w="89562" h="111264">
                  <a:moveTo>
                    <a:pt x="0" y="38239"/>
                  </a:moveTo>
                  <a:cubicBezTo>
                    <a:pt x="37306" y="14691"/>
                    <a:pt x="74612" y="-8857"/>
                    <a:pt x="85725" y="3314"/>
                  </a:cubicBezTo>
                  <a:cubicBezTo>
                    <a:pt x="96838" y="15485"/>
                    <a:pt x="81756" y="63374"/>
                    <a:pt x="66675" y="1112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2" name="Forma Livre: Forma 71">
              <a:extLst>
                <a:ext uri="{FF2B5EF4-FFF2-40B4-BE49-F238E27FC236}">
                  <a16:creationId xmlns:a16="http://schemas.microsoft.com/office/drawing/2014/main" id="{D7F56D13-06A0-62E6-112F-8C2FA22995A9}"/>
                </a:ext>
              </a:extLst>
            </p:cNvPr>
            <p:cNvSpPr/>
            <p:nvPr/>
          </p:nvSpPr>
          <p:spPr>
            <a:xfrm>
              <a:off x="2235200" y="4340019"/>
              <a:ext cx="87012" cy="133556"/>
            </a:xfrm>
            <a:custGeom>
              <a:avLst/>
              <a:gdLst>
                <a:gd name="connsiteX0" fmla="*/ 0 w 87012"/>
                <a:gd name="connsiteY0" fmla="*/ 51006 h 133556"/>
                <a:gd name="connsiteX1" fmla="*/ 79375 w 87012"/>
                <a:gd name="connsiteY1" fmla="*/ 3381 h 133556"/>
                <a:gd name="connsiteX2" fmla="*/ 79375 w 87012"/>
                <a:gd name="connsiteY2" fmla="*/ 133556 h 133556"/>
              </a:gdLst>
              <a:ahLst/>
              <a:cxnLst>
                <a:cxn ang="0">
                  <a:pos x="connsiteX0" y="connsiteY0"/>
                </a:cxn>
                <a:cxn ang="0">
                  <a:pos x="connsiteX1" y="connsiteY1"/>
                </a:cxn>
                <a:cxn ang="0">
                  <a:pos x="connsiteX2" y="connsiteY2"/>
                </a:cxn>
              </a:cxnLst>
              <a:rect l="l" t="t" r="r" b="b"/>
              <a:pathLst>
                <a:path w="87012" h="133556">
                  <a:moveTo>
                    <a:pt x="0" y="51006"/>
                  </a:moveTo>
                  <a:cubicBezTo>
                    <a:pt x="33073" y="20314"/>
                    <a:pt x="66146" y="-10377"/>
                    <a:pt x="79375" y="3381"/>
                  </a:cubicBezTo>
                  <a:cubicBezTo>
                    <a:pt x="92604" y="17139"/>
                    <a:pt x="85989" y="75347"/>
                    <a:pt x="79375" y="133556"/>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3" name="Forma Livre: Forma 72">
              <a:extLst>
                <a:ext uri="{FF2B5EF4-FFF2-40B4-BE49-F238E27FC236}">
                  <a16:creationId xmlns:a16="http://schemas.microsoft.com/office/drawing/2014/main" id="{D79D1EC4-900A-E0DC-21EB-C06FE8BE60DC}"/>
                </a:ext>
              </a:extLst>
            </p:cNvPr>
            <p:cNvSpPr/>
            <p:nvPr/>
          </p:nvSpPr>
          <p:spPr>
            <a:xfrm>
              <a:off x="2311400" y="4398411"/>
              <a:ext cx="79448" cy="125964"/>
            </a:xfrm>
            <a:custGeom>
              <a:avLst/>
              <a:gdLst>
                <a:gd name="connsiteX0" fmla="*/ 0 w 79448"/>
                <a:gd name="connsiteY0" fmla="*/ 59289 h 125964"/>
                <a:gd name="connsiteX1" fmla="*/ 66675 w 79448"/>
                <a:gd name="connsiteY1" fmla="*/ 2139 h 125964"/>
                <a:gd name="connsiteX2" fmla="*/ 79375 w 79448"/>
                <a:gd name="connsiteY2" fmla="*/ 125964 h 125964"/>
              </a:gdLst>
              <a:ahLst/>
              <a:cxnLst>
                <a:cxn ang="0">
                  <a:pos x="connsiteX0" y="connsiteY0"/>
                </a:cxn>
                <a:cxn ang="0">
                  <a:pos x="connsiteX1" y="connsiteY1"/>
                </a:cxn>
                <a:cxn ang="0">
                  <a:pos x="connsiteX2" y="connsiteY2"/>
                </a:cxn>
              </a:cxnLst>
              <a:rect l="l" t="t" r="r" b="b"/>
              <a:pathLst>
                <a:path w="79448" h="125964">
                  <a:moveTo>
                    <a:pt x="0" y="59289"/>
                  </a:moveTo>
                  <a:cubicBezTo>
                    <a:pt x="26723" y="25158"/>
                    <a:pt x="53446" y="-8973"/>
                    <a:pt x="66675" y="2139"/>
                  </a:cubicBezTo>
                  <a:cubicBezTo>
                    <a:pt x="79904" y="13251"/>
                    <a:pt x="79639" y="69607"/>
                    <a:pt x="79375" y="1259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4" name="Forma Livre: Forma 73">
              <a:extLst>
                <a:ext uri="{FF2B5EF4-FFF2-40B4-BE49-F238E27FC236}">
                  <a16:creationId xmlns:a16="http://schemas.microsoft.com/office/drawing/2014/main" id="{CFA317FC-CBA8-2D85-F2CA-3A07BFAD6E3A}"/>
                </a:ext>
              </a:extLst>
            </p:cNvPr>
            <p:cNvSpPr/>
            <p:nvPr/>
          </p:nvSpPr>
          <p:spPr>
            <a:xfrm>
              <a:off x="2374900" y="4452843"/>
              <a:ext cx="85662" cy="125507"/>
            </a:xfrm>
            <a:custGeom>
              <a:avLst/>
              <a:gdLst>
                <a:gd name="connsiteX0" fmla="*/ 0 w 85662"/>
                <a:gd name="connsiteY0" fmla="*/ 65182 h 125507"/>
                <a:gd name="connsiteX1" fmla="*/ 82550 w 85662"/>
                <a:gd name="connsiteY1" fmla="*/ 1682 h 125507"/>
                <a:gd name="connsiteX2" fmla="*/ 60325 w 85662"/>
                <a:gd name="connsiteY2" fmla="*/ 125507 h 125507"/>
              </a:gdLst>
              <a:ahLst/>
              <a:cxnLst>
                <a:cxn ang="0">
                  <a:pos x="connsiteX0" y="connsiteY0"/>
                </a:cxn>
                <a:cxn ang="0">
                  <a:pos x="connsiteX1" y="connsiteY1"/>
                </a:cxn>
                <a:cxn ang="0">
                  <a:pos x="connsiteX2" y="connsiteY2"/>
                </a:cxn>
              </a:cxnLst>
              <a:rect l="l" t="t" r="r" b="b"/>
              <a:pathLst>
                <a:path w="85662" h="125507">
                  <a:moveTo>
                    <a:pt x="0" y="65182"/>
                  </a:moveTo>
                  <a:cubicBezTo>
                    <a:pt x="36248" y="28405"/>
                    <a:pt x="72496" y="-8372"/>
                    <a:pt x="82550" y="1682"/>
                  </a:cubicBezTo>
                  <a:cubicBezTo>
                    <a:pt x="92604" y="11736"/>
                    <a:pt x="76464" y="68621"/>
                    <a:pt x="60325" y="125507"/>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5" name="Forma Livre: Forma 74">
              <a:extLst>
                <a:ext uri="{FF2B5EF4-FFF2-40B4-BE49-F238E27FC236}">
                  <a16:creationId xmlns:a16="http://schemas.microsoft.com/office/drawing/2014/main" id="{600EBBD5-E1A7-6BC3-AEAB-AEB3DEBB9379}"/>
                </a:ext>
              </a:extLst>
            </p:cNvPr>
            <p:cNvSpPr/>
            <p:nvPr/>
          </p:nvSpPr>
          <p:spPr>
            <a:xfrm>
              <a:off x="2444750" y="4501630"/>
              <a:ext cx="72127" cy="98945"/>
            </a:xfrm>
            <a:custGeom>
              <a:avLst/>
              <a:gdLst>
                <a:gd name="connsiteX0" fmla="*/ 0 w 72127"/>
                <a:gd name="connsiteY0" fmla="*/ 67195 h 98945"/>
                <a:gd name="connsiteX1" fmla="*/ 63500 w 72127"/>
                <a:gd name="connsiteY1" fmla="*/ 520 h 98945"/>
                <a:gd name="connsiteX2" fmla="*/ 69850 w 72127"/>
                <a:gd name="connsiteY2" fmla="*/ 98945 h 98945"/>
              </a:gdLst>
              <a:ahLst/>
              <a:cxnLst>
                <a:cxn ang="0">
                  <a:pos x="connsiteX0" y="connsiteY0"/>
                </a:cxn>
                <a:cxn ang="0">
                  <a:pos x="connsiteX1" y="connsiteY1"/>
                </a:cxn>
                <a:cxn ang="0">
                  <a:pos x="connsiteX2" y="connsiteY2"/>
                </a:cxn>
              </a:cxnLst>
              <a:rect l="l" t="t" r="r" b="b"/>
              <a:pathLst>
                <a:path w="72127" h="98945">
                  <a:moveTo>
                    <a:pt x="0" y="67195"/>
                  </a:moveTo>
                  <a:cubicBezTo>
                    <a:pt x="25929" y="31211"/>
                    <a:pt x="51858" y="-4772"/>
                    <a:pt x="63500" y="520"/>
                  </a:cubicBezTo>
                  <a:cubicBezTo>
                    <a:pt x="75142" y="5812"/>
                    <a:pt x="72496" y="52378"/>
                    <a:pt x="69850" y="9894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6" name="Forma Livre: Forma 75">
              <a:extLst>
                <a:ext uri="{FF2B5EF4-FFF2-40B4-BE49-F238E27FC236}">
                  <a16:creationId xmlns:a16="http://schemas.microsoft.com/office/drawing/2014/main" id="{AF771831-DE3E-AC38-FF22-C146CA0083AA}"/>
                </a:ext>
              </a:extLst>
            </p:cNvPr>
            <p:cNvSpPr/>
            <p:nvPr/>
          </p:nvSpPr>
          <p:spPr>
            <a:xfrm>
              <a:off x="2508250" y="4539696"/>
              <a:ext cx="76200" cy="111679"/>
            </a:xfrm>
            <a:custGeom>
              <a:avLst/>
              <a:gdLst>
                <a:gd name="connsiteX0" fmla="*/ 0 w 76200"/>
                <a:gd name="connsiteY0" fmla="*/ 76754 h 111679"/>
                <a:gd name="connsiteX1" fmla="*/ 60325 w 76200"/>
                <a:gd name="connsiteY1" fmla="*/ 554 h 111679"/>
                <a:gd name="connsiteX2" fmla="*/ 76200 w 76200"/>
                <a:gd name="connsiteY2" fmla="*/ 111679 h 111679"/>
              </a:gdLst>
              <a:ahLst/>
              <a:cxnLst>
                <a:cxn ang="0">
                  <a:pos x="connsiteX0" y="connsiteY0"/>
                </a:cxn>
                <a:cxn ang="0">
                  <a:pos x="connsiteX1" y="connsiteY1"/>
                </a:cxn>
                <a:cxn ang="0">
                  <a:pos x="connsiteX2" y="connsiteY2"/>
                </a:cxn>
              </a:cxnLst>
              <a:rect l="l" t="t" r="r" b="b"/>
              <a:pathLst>
                <a:path w="76200" h="111679">
                  <a:moveTo>
                    <a:pt x="0" y="76754"/>
                  </a:moveTo>
                  <a:cubicBezTo>
                    <a:pt x="23812" y="35743"/>
                    <a:pt x="47625" y="-5267"/>
                    <a:pt x="60325" y="554"/>
                  </a:cubicBezTo>
                  <a:cubicBezTo>
                    <a:pt x="73025" y="6375"/>
                    <a:pt x="74612" y="59027"/>
                    <a:pt x="76200" y="11167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7" name="Forma Livre: Forma 76">
              <a:extLst>
                <a:ext uri="{FF2B5EF4-FFF2-40B4-BE49-F238E27FC236}">
                  <a16:creationId xmlns:a16="http://schemas.microsoft.com/office/drawing/2014/main" id="{9E3EE2E2-AAFC-F971-94C2-3CA4B3CB80E6}"/>
                </a:ext>
              </a:extLst>
            </p:cNvPr>
            <p:cNvSpPr/>
            <p:nvPr/>
          </p:nvSpPr>
          <p:spPr>
            <a:xfrm>
              <a:off x="2565400" y="4577916"/>
              <a:ext cx="92820" cy="114734"/>
            </a:xfrm>
            <a:custGeom>
              <a:avLst/>
              <a:gdLst>
                <a:gd name="connsiteX0" fmla="*/ 0 w 92820"/>
                <a:gd name="connsiteY0" fmla="*/ 82984 h 114734"/>
                <a:gd name="connsiteX1" fmla="*/ 79375 w 92820"/>
                <a:gd name="connsiteY1" fmla="*/ 434 h 114734"/>
                <a:gd name="connsiteX2" fmla="*/ 92075 w 92820"/>
                <a:gd name="connsiteY2" fmla="*/ 114734 h 114734"/>
              </a:gdLst>
              <a:ahLst/>
              <a:cxnLst>
                <a:cxn ang="0">
                  <a:pos x="connsiteX0" y="connsiteY0"/>
                </a:cxn>
                <a:cxn ang="0">
                  <a:pos x="connsiteX1" y="connsiteY1"/>
                </a:cxn>
                <a:cxn ang="0">
                  <a:pos x="connsiteX2" y="connsiteY2"/>
                </a:cxn>
              </a:cxnLst>
              <a:rect l="l" t="t" r="r" b="b"/>
              <a:pathLst>
                <a:path w="92820" h="114734">
                  <a:moveTo>
                    <a:pt x="0" y="82984"/>
                  </a:moveTo>
                  <a:cubicBezTo>
                    <a:pt x="32014" y="39063"/>
                    <a:pt x="64029" y="-4858"/>
                    <a:pt x="79375" y="434"/>
                  </a:cubicBezTo>
                  <a:cubicBezTo>
                    <a:pt x="94721" y="5726"/>
                    <a:pt x="93398" y="60230"/>
                    <a:pt x="92075" y="11473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8" name="Forma Livre: Forma 77">
              <a:extLst>
                <a:ext uri="{FF2B5EF4-FFF2-40B4-BE49-F238E27FC236}">
                  <a16:creationId xmlns:a16="http://schemas.microsoft.com/office/drawing/2014/main" id="{A2A80F15-32A8-C453-F003-E9E0F2429B5F}"/>
                </a:ext>
              </a:extLst>
            </p:cNvPr>
            <p:cNvSpPr/>
            <p:nvPr/>
          </p:nvSpPr>
          <p:spPr>
            <a:xfrm>
              <a:off x="2651125" y="4603482"/>
              <a:ext cx="95250" cy="114568"/>
            </a:xfrm>
            <a:custGeom>
              <a:avLst/>
              <a:gdLst>
                <a:gd name="connsiteX0" fmla="*/ 0 w 95250"/>
                <a:gd name="connsiteY0" fmla="*/ 89168 h 114568"/>
                <a:gd name="connsiteX1" fmla="*/ 66675 w 95250"/>
                <a:gd name="connsiteY1" fmla="*/ 268 h 114568"/>
                <a:gd name="connsiteX2" fmla="*/ 95250 w 95250"/>
                <a:gd name="connsiteY2" fmla="*/ 114568 h 114568"/>
              </a:gdLst>
              <a:ahLst/>
              <a:cxnLst>
                <a:cxn ang="0">
                  <a:pos x="connsiteX0" y="connsiteY0"/>
                </a:cxn>
                <a:cxn ang="0">
                  <a:pos x="connsiteX1" y="connsiteY1"/>
                </a:cxn>
                <a:cxn ang="0">
                  <a:pos x="connsiteX2" y="connsiteY2"/>
                </a:cxn>
              </a:cxnLst>
              <a:rect l="l" t="t" r="r" b="b"/>
              <a:pathLst>
                <a:path w="95250" h="114568">
                  <a:moveTo>
                    <a:pt x="0" y="89168"/>
                  </a:moveTo>
                  <a:cubicBezTo>
                    <a:pt x="25400" y="42601"/>
                    <a:pt x="50800" y="-3965"/>
                    <a:pt x="66675" y="268"/>
                  </a:cubicBezTo>
                  <a:cubicBezTo>
                    <a:pt x="82550" y="4501"/>
                    <a:pt x="88900" y="59534"/>
                    <a:pt x="95250" y="114568"/>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9" name="Forma Livre: Forma 78">
              <a:extLst>
                <a:ext uri="{FF2B5EF4-FFF2-40B4-BE49-F238E27FC236}">
                  <a16:creationId xmlns:a16="http://schemas.microsoft.com/office/drawing/2014/main" id="{6EF95DE3-0AEA-02CB-E478-9BE340A6783A}"/>
                </a:ext>
              </a:extLst>
            </p:cNvPr>
            <p:cNvSpPr/>
            <p:nvPr/>
          </p:nvSpPr>
          <p:spPr>
            <a:xfrm>
              <a:off x="2733675" y="4606865"/>
              <a:ext cx="82550" cy="117535"/>
            </a:xfrm>
            <a:custGeom>
              <a:avLst/>
              <a:gdLst>
                <a:gd name="connsiteX0" fmla="*/ 0 w 82550"/>
                <a:gd name="connsiteY0" fmla="*/ 104835 h 117535"/>
                <a:gd name="connsiteX1" fmla="*/ 60325 w 82550"/>
                <a:gd name="connsiteY1" fmla="*/ 60 h 117535"/>
                <a:gd name="connsiteX2" fmla="*/ 82550 w 82550"/>
                <a:gd name="connsiteY2" fmla="*/ 117535 h 117535"/>
              </a:gdLst>
              <a:ahLst/>
              <a:cxnLst>
                <a:cxn ang="0">
                  <a:pos x="connsiteX0" y="connsiteY0"/>
                </a:cxn>
                <a:cxn ang="0">
                  <a:pos x="connsiteX1" y="connsiteY1"/>
                </a:cxn>
                <a:cxn ang="0">
                  <a:pos x="connsiteX2" y="connsiteY2"/>
                </a:cxn>
              </a:cxnLst>
              <a:rect l="l" t="t" r="r" b="b"/>
              <a:pathLst>
                <a:path w="82550" h="117535">
                  <a:moveTo>
                    <a:pt x="0" y="104835"/>
                  </a:moveTo>
                  <a:cubicBezTo>
                    <a:pt x="23283" y="51389"/>
                    <a:pt x="46567" y="-2057"/>
                    <a:pt x="60325" y="60"/>
                  </a:cubicBezTo>
                  <a:cubicBezTo>
                    <a:pt x="74083" y="2177"/>
                    <a:pt x="78316" y="59856"/>
                    <a:pt x="82550" y="11753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0" name="Forma Livre: Forma 79">
              <a:extLst>
                <a:ext uri="{FF2B5EF4-FFF2-40B4-BE49-F238E27FC236}">
                  <a16:creationId xmlns:a16="http://schemas.microsoft.com/office/drawing/2014/main" id="{F1748201-F8B2-ADE8-2CD8-08B0B3212FE4}"/>
                </a:ext>
              </a:extLst>
            </p:cNvPr>
            <p:cNvSpPr/>
            <p:nvPr/>
          </p:nvSpPr>
          <p:spPr>
            <a:xfrm>
              <a:off x="2800350" y="4632261"/>
              <a:ext cx="107950" cy="111189"/>
            </a:xfrm>
            <a:custGeom>
              <a:avLst/>
              <a:gdLst>
                <a:gd name="connsiteX0" fmla="*/ 0 w 107950"/>
                <a:gd name="connsiteY0" fmla="*/ 98489 h 111189"/>
                <a:gd name="connsiteX1" fmla="*/ 60325 w 107950"/>
                <a:gd name="connsiteY1" fmla="*/ 64 h 111189"/>
                <a:gd name="connsiteX2" fmla="*/ 107950 w 107950"/>
                <a:gd name="connsiteY2" fmla="*/ 111189 h 111189"/>
              </a:gdLst>
              <a:ahLst/>
              <a:cxnLst>
                <a:cxn ang="0">
                  <a:pos x="connsiteX0" y="connsiteY0"/>
                </a:cxn>
                <a:cxn ang="0">
                  <a:pos x="connsiteX1" y="connsiteY1"/>
                </a:cxn>
                <a:cxn ang="0">
                  <a:pos x="connsiteX2" y="connsiteY2"/>
                </a:cxn>
              </a:cxnLst>
              <a:rect l="l" t="t" r="r" b="b"/>
              <a:pathLst>
                <a:path w="107950" h="111189">
                  <a:moveTo>
                    <a:pt x="0" y="98489"/>
                  </a:moveTo>
                  <a:cubicBezTo>
                    <a:pt x="21166" y="48218"/>
                    <a:pt x="42333" y="-2053"/>
                    <a:pt x="60325" y="64"/>
                  </a:cubicBezTo>
                  <a:cubicBezTo>
                    <a:pt x="78317" y="2181"/>
                    <a:pt x="93133" y="56685"/>
                    <a:pt x="107950" y="11118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16721146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AC0E484-4D14-ED45-6334-FB9030891CDC}"/>
              </a:ext>
            </a:extLst>
          </p:cNvPr>
          <p:cNvSpPr>
            <a:spLocks noGrp="1"/>
          </p:cNvSpPr>
          <p:nvPr>
            <p:ph type="title"/>
          </p:nvPr>
        </p:nvSpPr>
        <p:spPr>
          <a:xfrm>
            <a:off x="838199" y="365125"/>
            <a:ext cx="11264757" cy="1325563"/>
          </a:xfrm>
        </p:spPr>
        <p:txBody>
          <a:bodyPr/>
          <a:lstStyle/>
          <a:p>
            <a:r>
              <a:rPr lang="pt-BR" dirty="0"/>
              <a:t>Qual o tamanho de passo de aprendizagem usar?</a:t>
            </a:r>
          </a:p>
        </p:txBody>
      </p:sp>
      <p:sp>
        <p:nvSpPr>
          <p:cNvPr id="3" name="Espaço Reservado para Conteúdo 2">
            <a:extLst>
              <a:ext uri="{FF2B5EF4-FFF2-40B4-BE49-F238E27FC236}">
                <a16:creationId xmlns:a16="http://schemas.microsoft.com/office/drawing/2014/main" id="{8AA55DA5-8239-8A32-8EFE-CC711352420F}"/>
              </a:ext>
            </a:extLst>
          </p:cNvPr>
          <p:cNvSpPr>
            <a:spLocks noGrp="1"/>
          </p:cNvSpPr>
          <p:nvPr>
            <p:ph idx="1"/>
          </p:nvPr>
        </p:nvSpPr>
        <p:spPr>
          <a:xfrm>
            <a:off x="5595627" y="1825624"/>
            <a:ext cx="6342370" cy="5032376"/>
          </a:xfrm>
        </p:spPr>
        <p:txBody>
          <a:bodyPr/>
          <a:lstStyle/>
          <a:p>
            <a:r>
              <a:rPr lang="pt-BR" dirty="0"/>
              <a:t>É importante escolhermos um passo de aprendizagem que </a:t>
            </a:r>
            <a:r>
              <a:rPr lang="pt-BR" b="1" i="1" dirty="0">
                <a:solidFill>
                  <a:schemeClr val="accent2"/>
                </a:solidFill>
              </a:rPr>
              <a:t>acelere</a:t>
            </a:r>
            <a:r>
              <a:rPr lang="pt-BR" b="1" i="1" dirty="0">
                <a:solidFill>
                  <a:srgbClr val="00B050"/>
                </a:solidFill>
              </a:rPr>
              <a:t> a convergência </a:t>
            </a:r>
            <a:r>
              <a:rPr lang="pt-BR" b="1" i="1" dirty="0">
                <a:solidFill>
                  <a:schemeClr val="accent2"/>
                </a:solidFill>
              </a:rPr>
              <a:t>sem causar oscilações</a:t>
            </a:r>
            <a:r>
              <a:rPr lang="pt-BR" b="1" i="1" dirty="0">
                <a:solidFill>
                  <a:srgbClr val="00B050"/>
                </a:solidFill>
              </a:rPr>
              <a:t> em torno do ponto de mínimo</a:t>
            </a:r>
            <a:r>
              <a:rPr lang="pt-BR" dirty="0"/>
              <a:t>.</a:t>
            </a:r>
          </a:p>
          <a:p>
            <a:r>
              <a:rPr lang="pt-BR" dirty="0"/>
              <a:t>Em geral, um bom valor para o passo é encontrado por </a:t>
            </a:r>
            <a:r>
              <a:rPr lang="pt-BR" b="1" i="1" dirty="0">
                <a:solidFill>
                  <a:srgbClr val="7030A0"/>
                </a:solidFill>
              </a:rPr>
              <a:t>tentativa e erro</a:t>
            </a:r>
            <a:r>
              <a:rPr lang="pt-BR" dirty="0"/>
              <a:t>.</a:t>
            </a:r>
          </a:p>
          <a:p>
            <a:r>
              <a:rPr lang="pt-BR" dirty="0"/>
              <a:t>Uma forma mais avançada é ajustar o passo ao longo das iterações.</a:t>
            </a:r>
          </a:p>
          <a:p>
            <a:pPr lvl="1">
              <a:buFont typeface="Wingdings" panose="05000000000000000000" pitchFamily="2" charset="2"/>
              <a:buChar char="§"/>
            </a:pPr>
            <a:r>
              <a:rPr lang="pt-BR" dirty="0"/>
              <a:t>Usamos </a:t>
            </a:r>
            <a:r>
              <a:rPr lang="pt-BR" b="1" i="1" dirty="0">
                <a:solidFill>
                  <a:srgbClr val="00B050"/>
                </a:solidFill>
              </a:rPr>
              <a:t>valores grandes no início</a:t>
            </a:r>
            <a:r>
              <a:rPr lang="pt-BR" dirty="0"/>
              <a:t>, em pontos distantes do mínimo, e o </a:t>
            </a:r>
            <a:r>
              <a:rPr lang="pt-BR" b="1" i="1" dirty="0">
                <a:solidFill>
                  <a:srgbClr val="00B050"/>
                </a:solidFill>
              </a:rPr>
              <a:t>reduzimos gradualmente </a:t>
            </a:r>
            <a:r>
              <a:rPr lang="pt-BR" dirty="0"/>
              <a:t>ao longo das iterações.</a:t>
            </a:r>
          </a:p>
        </p:txBody>
      </p:sp>
      <p:sp>
        <p:nvSpPr>
          <p:cNvPr id="33" name="Forma Livre: Forma 32">
            <a:extLst>
              <a:ext uri="{FF2B5EF4-FFF2-40B4-BE49-F238E27FC236}">
                <a16:creationId xmlns:a16="http://schemas.microsoft.com/office/drawing/2014/main" id="{7C72AF5E-AD61-47E9-180D-8D4F9F4548A7}"/>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4" name="Conector de Seta Reta 33">
            <a:extLst>
              <a:ext uri="{FF2B5EF4-FFF2-40B4-BE49-F238E27FC236}">
                <a16:creationId xmlns:a16="http://schemas.microsoft.com/office/drawing/2014/main" id="{4FC25C18-C83D-3AB8-F417-92EAF612ED8A}"/>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Conector de Seta Reta 34">
            <a:extLst>
              <a:ext uri="{FF2B5EF4-FFF2-40B4-BE49-F238E27FC236}">
                <a16:creationId xmlns:a16="http://schemas.microsoft.com/office/drawing/2014/main" id="{A31A3BE8-21C2-9616-3724-97C10E8F919C}"/>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B6292365-46CE-2DC6-BC86-6332CDC50DD5}"/>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36" name="CaixaDeTexto 35">
                <a:extLst>
                  <a:ext uri="{FF2B5EF4-FFF2-40B4-BE49-F238E27FC236}">
                    <a16:creationId xmlns:a16="http://schemas.microsoft.com/office/drawing/2014/main" id="{B6292365-46CE-2DC6-BC86-6332CDC50DD5}"/>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37" name="CaixaDeTexto 36">
            <a:extLst>
              <a:ext uri="{FF2B5EF4-FFF2-40B4-BE49-F238E27FC236}">
                <a16:creationId xmlns:a16="http://schemas.microsoft.com/office/drawing/2014/main" id="{01390CF0-6B6A-9B0D-7DE8-899223FCADD7}"/>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38" name="Conector reto 37">
            <a:extLst>
              <a:ext uri="{FF2B5EF4-FFF2-40B4-BE49-F238E27FC236}">
                <a16:creationId xmlns:a16="http://schemas.microsoft.com/office/drawing/2014/main" id="{6864894A-0008-36B9-4A42-31E85C4D2710}"/>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9" name="Conector reto 38">
            <a:extLst>
              <a:ext uri="{FF2B5EF4-FFF2-40B4-BE49-F238E27FC236}">
                <a16:creationId xmlns:a16="http://schemas.microsoft.com/office/drawing/2014/main" id="{68DC3660-BA2F-2A1E-7738-D4BCA0921550}"/>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40" name="Elipse 39">
            <a:extLst>
              <a:ext uri="{FF2B5EF4-FFF2-40B4-BE49-F238E27FC236}">
                <a16:creationId xmlns:a16="http://schemas.microsoft.com/office/drawing/2014/main" id="{C43B5FA5-C881-689C-19C6-ABBBD27317D9}"/>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Elipse 40">
            <a:extLst>
              <a:ext uri="{FF2B5EF4-FFF2-40B4-BE49-F238E27FC236}">
                <a16:creationId xmlns:a16="http://schemas.microsoft.com/office/drawing/2014/main" id="{25D89519-9D18-E533-6B58-8EDFDB682401}"/>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42" name="Conector reto 41">
            <a:extLst>
              <a:ext uri="{FF2B5EF4-FFF2-40B4-BE49-F238E27FC236}">
                <a16:creationId xmlns:a16="http://schemas.microsoft.com/office/drawing/2014/main" id="{77635043-48FD-B7AE-C2C5-B612334BCA3B}"/>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43" name="Conector reto 42">
            <a:extLst>
              <a:ext uri="{FF2B5EF4-FFF2-40B4-BE49-F238E27FC236}">
                <a16:creationId xmlns:a16="http://schemas.microsoft.com/office/drawing/2014/main" id="{D2A5FB6B-929B-9E63-6566-29FABE31E513}"/>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44" name="CaixaDeTexto 43">
            <a:extLst>
              <a:ext uri="{FF2B5EF4-FFF2-40B4-BE49-F238E27FC236}">
                <a16:creationId xmlns:a16="http://schemas.microsoft.com/office/drawing/2014/main" id="{8B414CE2-054A-BC5F-52BD-A5CF45D780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45" name="CaixaDeTexto 44">
                <a:extLst>
                  <a:ext uri="{FF2B5EF4-FFF2-40B4-BE49-F238E27FC236}">
                    <a16:creationId xmlns:a16="http://schemas.microsoft.com/office/drawing/2014/main" id="{817CCF2F-1EC0-D9DF-709B-A0C664906BF7}"/>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45" name="CaixaDeTexto 44">
                <a:extLst>
                  <a:ext uri="{FF2B5EF4-FFF2-40B4-BE49-F238E27FC236}">
                    <a16:creationId xmlns:a16="http://schemas.microsoft.com/office/drawing/2014/main" id="{817CCF2F-1EC0-D9DF-709B-A0C664906BF7}"/>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E9293F4B-DA9A-FFF9-B290-85C88F2B0387}"/>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46" name="CaixaDeTexto 45">
                <a:extLst>
                  <a:ext uri="{FF2B5EF4-FFF2-40B4-BE49-F238E27FC236}">
                    <a16:creationId xmlns:a16="http://schemas.microsoft.com/office/drawing/2014/main" id="{E9293F4B-DA9A-FFF9-B290-85C88F2B0387}"/>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47" name="Elipse 46">
            <a:extLst>
              <a:ext uri="{FF2B5EF4-FFF2-40B4-BE49-F238E27FC236}">
                <a16:creationId xmlns:a16="http://schemas.microsoft.com/office/drawing/2014/main" id="{5F4218F3-E7B7-8DA4-1DC8-C96504FB4BB7}"/>
              </a:ext>
            </a:extLst>
          </p:cNvPr>
          <p:cNvSpPr/>
          <p:nvPr/>
        </p:nvSpPr>
        <p:spPr>
          <a:xfrm>
            <a:off x="1740861" y="3835847"/>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8" name="Forma Livre: Forma 47">
            <a:extLst>
              <a:ext uri="{FF2B5EF4-FFF2-40B4-BE49-F238E27FC236}">
                <a16:creationId xmlns:a16="http://schemas.microsoft.com/office/drawing/2014/main" id="{3F2AA93E-3E48-E7DC-29CB-C3AD7972760F}"/>
              </a:ext>
            </a:extLst>
          </p:cNvPr>
          <p:cNvSpPr/>
          <p:nvPr/>
        </p:nvSpPr>
        <p:spPr>
          <a:xfrm>
            <a:off x="1314107" y="3182705"/>
            <a:ext cx="426750" cy="652084"/>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1" name="Forma Livre: Forma 30">
            <a:extLst>
              <a:ext uri="{FF2B5EF4-FFF2-40B4-BE49-F238E27FC236}">
                <a16:creationId xmlns:a16="http://schemas.microsoft.com/office/drawing/2014/main" id="{8FA397AA-05A1-EEFF-C919-6CA5767484D1}"/>
              </a:ext>
            </a:extLst>
          </p:cNvPr>
          <p:cNvSpPr/>
          <p:nvPr/>
        </p:nvSpPr>
        <p:spPr>
          <a:xfrm rot="20640245">
            <a:off x="1827404" y="3824639"/>
            <a:ext cx="183929" cy="449474"/>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B29390A2-9262-FB14-083B-A534B818F00B}"/>
              </a:ext>
            </a:extLst>
          </p:cNvPr>
          <p:cNvSpPr/>
          <p:nvPr/>
        </p:nvSpPr>
        <p:spPr>
          <a:xfrm>
            <a:off x="2069709" y="4240069"/>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7" name="Forma Livre: Forma 26">
            <a:extLst>
              <a:ext uri="{FF2B5EF4-FFF2-40B4-BE49-F238E27FC236}">
                <a16:creationId xmlns:a16="http://schemas.microsoft.com/office/drawing/2014/main" id="{8DAFDB50-9816-E13B-8193-15D77D430A96}"/>
              </a:ext>
            </a:extLst>
          </p:cNvPr>
          <p:cNvSpPr/>
          <p:nvPr/>
        </p:nvSpPr>
        <p:spPr>
          <a:xfrm rot="20640245">
            <a:off x="2121561" y="4220598"/>
            <a:ext cx="239180" cy="375258"/>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9" name="Elipse 48">
            <a:extLst>
              <a:ext uri="{FF2B5EF4-FFF2-40B4-BE49-F238E27FC236}">
                <a16:creationId xmlns:a16="http://schemas.microsoft.com/office/drawing/2014/main" id="{29C597F8-F861-3A5C-3281-647E1D8BFA21}"/>
              </a:ext>
            </a:extLst>
          </p:cNvPr>
          <p:cNvSpPr/>
          <p:nvPr/>
        </p:nvSpPr>
        <p:spPr>
          <a:xfrm>
            <a:off x="2407819" y="4544528"/>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0" name="Forma Livre: Forma 49">
            <a:extLst>
              <a:ext uri="{FF2B5EF4-FFF2-40B4-BE49-F238E27FC236}">
                <a16:creationId xmlns:a16="http://schemas.microsoft.com/office/drawing/2014/main" id="{97E46359-542C-F2F4-3E16-3004D2BAA58D}"/>
              </a:ext>
            </a:extLst>
          </p:cNvPr>
          <p:cNvSpPr/>
          <p:nvPr/>
        </p:nvSpPr>
        <p:spPr>
          <a:xfrm rot="20640245">
            <a:off x="2464434" y="4512879"/>
            <a:ext cx="405642" cy="292152"/>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Tree>
    <p:extLst>
      <p:ext uri="{BB962C8B-B14F-4D97-AF65-F5344CB8AC3E}">
        <p14:creationId xmlns:p14="http://schemas.microsoft.com/office/powerpoint/2010/main" val="389647539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D53A2C8-8CC9-DF50-3DA9-94EFAB2C6BDA}"/>
              </a:ext>
            </a:extLst>
          </p:cNvPr>
          <p:cNvSpPr>
            <a:spLocks noGrp="1"/>
          </p:cNvSpPr>
          <p:nvPr>
            <p:ph type="title"/>
          </p:nvPr>
        </p:nvSpPr>
        <p:spPr/>
        <p:txBody>
          <a:bodyPr/>
          <a:lstStyle/>
          <a:p>
            <a:r>
              <a:rPr lang="pt-BR" dirty="0"/>
              <a:t>Pseudocódigo do gradiente descendente</a:t>
            </a:r>
          </a:p>
        </p:txBody>
      </p:sp>
      <p:pic>
        <p:nvPicPr>
          <p:cNvPr id="1030" name="Picture 6" descr="Gradient Descent Animation">
            <a:extLst>
              <a:ext uri="{FF2B5EF4-FFF2-40B4-BE49-F238E27FC236}">
                <a16:creationId xmlns:a16="http://schemas.microsoft.com/office/drawing/2014/main" id="{D11124B9-2CE5-CB44-B549-5A28D9F522B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898" r="6408"/>
          <a:stretch/>
        </p:blipFill>
        <p:spPr bwMode="auto">
          <a:xfrm>
            <a:off x="970769" y="2107740"/>
            <a:ext cx="5734908" cy="2750002"/>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Rectangle 3">
                <a:extLst>
                  <a:ext uri="{FF2B5EF4-FFF2-40B4-BE49-F238E27FC236}">
                    <a16:creationId xmlns:a16="http://schemas.microsoft.com/office/drawing/2014/main" id="{B09DE927-8E6D-630C-9389-F5DD1A3E13B4}"/>
                  </a:ext>
                </a:extLst>
              </p:cNvPr>
              <p:cNvSpPr/>
              <p:nvPr/>
            </p:nvSpPr>
            <p:spPr>
              <a:xfrm>
                <a:off x="136747" y="5139856"/>
                <a:ext cx="7675164" cy="1189365"/>
              </a:xfrm>
              <a:prstGeom prst="rect">
                <a:avLst/>
              </a:prstGeom>
              <a:ln>
                <a:solidFill>
                  <a:schemeClr val="tx1"/>
                </a:solidFill>
              </a:ln>
            </p:spPr>
            <p:txBody>
              <a:bodyPr wrap="square">
                <a:spAutoFit/>
              </a:bodyPr>
              <a:lstStyle/>
              <a:p>
                <a14:m>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 </m:t>
                    </m:r>
                  </m:oMath>
                </a14:m>
                <a:r>
                  <a:rPr lang="en-US" b="1" dirty="0"/>
                  <a:t> </a:t>
                </a:r>
                <a14:m>
                  <m:oMath xmlns:m="http://schemas.openxmlformats.org/officeDocument/2006/math">
                    <m:r>
                      <a:rPr lang="en-US" b="1" i="1" dirty="0">
                        <a:latin typeface="Cambria Math" panose="02040503050406030204" pitchFamily="18" charset="0"/>
                        <a:ea typeface="Cambria Math" panose="02040503050406030204" pitchFamily="18" charset="0"/>
                      </a:rPr>
                      <m:t>←</m:t>
                    </m:r>
                    <m:r>
                      <m:rPr>
                        <m:sty m:val="p"/>
                      </m:rPr>
                      <a:rPr lang="en-US" dirty="0">
                        <a:latin typeface="Cambria Math" panose="02040503050406030204" pitchFamily="18" charset="0"/>
                        <a:ea typeface="Cambria Math" panose="02040503050406030204" pitchFamily="18" charset="0"/>
                      </a:rPr>
                      <m:t>inicializa</m:t>
                    </m:r>
                    <m:r>
                      <a:rPr lang="en-US" dirty="0">
                        <a:latin typeface="Cambria Math" panose="02040503050406030204" pitchFamily="18" charset="0"/>
                        <a:ea typeface="Cambria Math" panose="02040503050406030204" pitchFamily="18" charset="0"/>
                      </a:rPr>
                      <m:t> </m:t>
                    </m:r>
                    <m:r>
                      <m:rPr>
                        <m:sty m:val="p"/>
                      </m:rPr>
                      <a:rPr lang="en-US" dirty="0">
                        <a:latin typeface="Cambria Math" panose="02040503050406030204" pitchFamily="18" charset="0"/>
                        <a:ea typeface="Cambria Math" panose="02040503050406030204" pitchFamily="18" charset="0"/>
                      </a:rPr>
                      <m:t>em</m:t>
                    </m:r>
                    <m:r>
                      <a:rPr lang="en-US"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um</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ponto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qualquer</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do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espa</m:t>
                    </m:r>
                    <m:r>
                      <a:rPr lang="pt-BR" dirty="0">
                        <a:latin typeface="Cambria Math" panose="02040503050406030204" pitchFamily="18" charset="0"/>
                        <a:ea typeface="Cambria Math" panose="02040503050406030204" pitchFamily="18" charset="0"/>
                      </a:rPr>
                      <m:t>ç</m:t>
                    </m:r>
                    <m:r>
                      <m:rPr>
                        <m:sty m:val="p"/>
                      </m:rPr>
                      <a:rPr lang="pt-BR" dirty="0">
                        <a:latin typeface="Cambria Math" panose="02040503050406030204" pitchFamily="18" charset="0"/>
                        <a:ea typeface="Cambria Math" panose="02040503050406030204" pitchFamily="18" charset="0"/>
                      </a:rPr>
                      <m:t>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de</m:t>
                    </m:r>
                    <m:r>
                      <a:rPr lang="pt-BR" dirty="0">
                        <a:latin typeface="Cambria Math" panose="02040503050406030204" pitchFamily="18" charset="0"/>
                        <a:ea typeface="Cambria Math" panose="02040503050406030204" pitchFamily="18" charset="0"/>
                      </a:rPr>
                      <m:t> </m:t>
                    </m:r>
                    <m:r>
                      <m:rPr>
                        <m:sty m:val="p"/>
                      </m:rPr>
                      <a:rPr lang="pt-BR" b="0" i="0" dirty="0" smtClean="0">
                        <a:latin typeface="Cambria Math" panose="02040503050406030204" pitchFamily="18" charset="0"/>
                        <a:ea typeface="Cambria Math" panose="02040503050406030204" pitchFamily="18" charset="0"/>
                      </a:rPr>
                      <m:t>pesos</m:t>
                    </m:r>
                  </m:oMath>
                </a14:m>
                <a:endParaRPr lang="pt-BR" b="0" dirty="0">
                  <a:ea typeface="Cambria Math" panose="02040503050406030204" pitchFamily="18" charset="0"/>
                </a:endParaRPr>
              </a:p>
              <a:p>
                <a:r>
                  <a:rPr lang="pt-BR" b="1" dirty="0">
                    <a:latin typeface="Cambria Math" panose="02040503050406030204" pitchFamily="18" charset="0"/>
                    <a:ea typeface="Cambria Math" panose="02040503050406030204" pitchFamily="18" charset="0"/>
                  </a:rPr>
                  <a:t>loop até </a:t>
                </a:r>
                <a:r>
                  <a:rPr lang="pt-BR" dirty="0">
                    <a:latin typeface="Cambria Math" panose="02040503050406030204" pitchFamily="18" charset="0"/>
                    <a:ea typeface="Cambria Math" panose="02040503050406030204" pitchFamily="18" charset="0"/>
                  </a:rPr>
                  <a:t>convergir </a:t>
                </a:r>
                <a:r>
                  <a:rPr lang="pt-BR" b="1" dirty="0">
                    <a:latin typeface="Cambria Math" panose="02040503050406030204" pitchFamily="18" charset="0"/>
                    <a:ea typeface="Cambria Math" panose="02040503050406030204" pitchFamily="18" charset="0"/>
                  </a:rPr>
                  <a:t>ou </a:t>
                </a:r>
                <a:r>
                  <a:rPr lang="pt-BR" dirty="0">
                    <a:latin typeface="Cambria Math" panose="02040503050406030204" pitchFamily="18" charset="0"/>
                    <a:ea typeface="Cambria Math" panose="02040503050406030204" pitchFamily="18" charset="0"/>
                  </a:rPr>
                  <a:t>atingir o número máximo de iterações </a:t>
                </a:r>
                <a:r>
                  <a:rPr lang="pt-BR" b="1" dirty="0">
                    <a:latin typeface="Cambria Math" panose="02040503050406030204" pitchFamily="18" charset="0"/>
                    <a:ea typeface="Cambria Math" panose="02040503050406030204" pitchFamily="18" charset="0"/>
                  </a:rPr>
                  <a:t>do</a:t>
                </a:r>
              </a:p>
              <a:p>
                <a:r>
                  <a:rPr lang="en-US" sz="2400" dirty="0"/>
                  <a:t>	</a:t>
                </a:r>
                <a14:m>
                  <m:oMath xmlns:m="http://schemas.openxmlformats.org/officeDocument/2006/math">
                    <m:r>
                      <a:rPr lang="pt-BR" sz="2400" b="1" i="1">
                        <a:latin typeface="Cambria Math" panose="02040503050406030204" pitchFamily="18" charset="0"/>
                      </a:rPr>
                      <m:t>𝒂</m:t>
                    </m:r>
                    <m:r>
                      <a:rPr lang="en-US" sz="2400" b="1" i="1">
                        <a:latin typeface="Cambria Math" panose="02040503050406030204" pitchFamily="18" charset="0"/>
                        <a:ea typeface="Cambria Math" panose="02040503050406030204" pitchFamily="18" charset="0"/>
                      </a:rPr>
                      <m:t>←</m:t>
                    </m:r>
                    <m:r>
                      <a:rPr lang="pt-BR" sz="2400" b="1" i="1">
                        <a:latin typeface="Cambria Math" panose="02040503050406030204" pitchFamily="18" charset="0"/>
                      </a:rPr>
                      <m:t>𝒂</m:t>
                    </m:r>
                    <m:r>
                      <a:rPr lang="pt-BR" sz="2400" i="1">
                        <a:latin typeface="Cambria Math" panose="02040503050406030204" pitchFamily="18" charset="0"/>
                        <a:ea typeface="Cambria Math" panose="02040503050406030204" pitchFamily="18" charset="0"/>
                      </a:rPr>
                      <m:t>−</m:t>
                    </m:r>
                    <m:r>
                      <a:rPr lang="pt-BR" sz="2400" i="1">
                        <a:latin typeface="Cambria Math" panose="02040503050406030204" pitchFamily="18" charset="0"/>
                        <a:ea typeface="Cambria Math" panose="02040503050406030204" pitchFamily="18" charset="0"/>
                      </a:rPr>
                      <m:t>𝛼</m:t>
                    </m:r>
                    <m:f>
                      <m:fPr>
                        <m:ctrlPr>
                          <a:rPr lang="pt-BR" sz="2400" i="1" smtClean="0">
                            <a:latin typeface="Cambria Math" panose="02040503050406030204" pitchFamily="18" charset="0"/>
                            <a:ea typeface="Cambria Math" panose="02040503050406030204" pitchFamily="18" charset="0"/>
                          </a:rPr>
                        </m:ctrlPr>
                      </m:fPr>
                      <m:num>
                        <m:r>
                          <a:rPr lang="pt-BR" sz="2400" i="1" smtClean="0">
                            <a:latin typeface="Cambria Math" panose="02040503050406030204" pitchFamily="18" charset="0"/>
                            <a:ea typeface="Cambria Math" panose="02040503050406030204" pitchFamily="18" charset="0"/>
                          </a:rPr>
                          <m:t>𝜕</m:t>
                        </m:r>
                        <m:sSub>
                          <m:sSubPr>
                            <m:ctrlPr>
                              <a:rPr lang="pt-BR" sz="2400" i="1">
                                <a:latin typeface="Cambria Math" panose="02040503050406030204" pitchFamily="18" charset="0"/>
                                <a:ea typeface="Cambria Math" panose="02040503050406030204" pitchFamily="18" charset="0"/>
                              </a:rPr>
                            </m:ctrlPr>
                          </m:sSubPr>
                          <m:e>
                            <m:r>
                              <a:rPr lang="pt-BR" sz="2400" i="1">
                                <a:latin typeface="Cambria Math" panose="02040503050406030204" pitchFamily="18" charset="0"/>
                                <a:ea typeface="Cambria Math" panose="02040503050406030204" pitchFamily="18" charset="0"/>
                              </a:rPr>
                              <m:t>𝐽</m:t>
                            </m:r>
                          </m:e>
                          <m:sub>
                            <m:r>
                              <a:rPr lang="pt-BR" sz="2400" i="1">
                                <a:latin typeface="Cambria Math" panose="02040503050406030204" pitchFamily="18" charset="0"/>
                                <a:ea typeface="Cambria Math" panose="02040503050406030204" pitchFamily="18" charset="0"/>
                              </a:rPr>
                              <m:t>𝑒</m:t>
                            </m:r>
                          </m:sub>
                        </m:sSub>
                        <m:r>
                          <a:rPr lang="pt-BR" sz="2400" i="1">
                            <a:latin typeface="Cambria Math" panose="02040503050406030204" pitchFamily="18" charset="0"/>
                            <a:ea typeface="Cambria Math" panose="02040503050406030204" pitchFamily="18" charset="0"/>
                          </a:rPr>
                          <m:t>(</m:t>
                        </m:r>
                        <m:r>
                          <a:rPr lang="pt-BR" sz="2400" b="1" i="1">
                            <a:latin typeface="Cambria Math" panose="02040503050406030204" pitchFamily="18" charset="0"/>
                            <a:ea typeface="Cambria Math" panose="02040503050406030204" pitchFamily="18" charset="0"/>
                          </a:rPr>
                          <m:t>𝒂</m:t>
                        </m:r>
                        <m:r>
                          <a:rPr lang="pt-BR" sz="2400" i="1">
                            <a:latin typeface="Cambria Math" panose="02040503050406030204" pitchFamily="18" charset="0"/>
                            <a:ea typeface="Cambria Math" panose="02040503050406030204" pitchFamily="18" charset="0"/>
                          </a:rPr>
                          <m:t>)</m:t>
                        </m:r>
                      </m:num>
                      <m:den>
                        <m:r>
                          <a:rPr lang="pt-BR" sz="2400" i="1" smtClean="0">
                            <a:latin typeface="Cambria Math" panose="02040503050406030204" pitchFamily="18" charset="0"/>
                            <a:ea typeface="Cambria Math" panose="02040503050406030204" pitchFamily="18" charset="0"/>
                          </a:rPr>
                          <m:t>𝜕</m:t>
                        </m:r>
                        <m:r>
                          <a:rPr lang="pt-BR" sz="2400" b="1" i="1">
                            <a:latin typeface="Cambria Math" panose="02040503050406030204" pitchFamily="18" charset="0"/>
                          </a:rPr>
                          <m:t>𝒂</m:t>
                        </m:r>
                      </m:den>
                    </m:f>
                  </m:oMath>
                </a14:m>
                <a:r>
                  <a:rPr lang="nl-BE" sz="2400" dirty="0"/>
                  <a:t> </a:t>
                </a:r>
                <a:r>
                  <a:rPr lang="nl-BE" dirty="0"/>
                  <a:t>(</a:t>
                </a:r>
                <a:r>
                  <a:rPr lang="nl-BE" b="1" i="1" dirty="0">
                    <a:solidFill>
                      <a:srgbClr val="00B0F0"/>
                    </a:solidFill>
                  </a:rPr>
                  <a:t>eq. de atualização dos pesos</a:t>
                </a:r>
                <a:r>
                  <a:rPr lang="nl-BE" dirty="0"/>
                  <a:t>)</a:t>
                </a:r>
              </a:p>
            </p:txBody>
          </p:sp>
        </mc:Choice>
        <mc:Fallback xmlns="">
          <p:sp>
            <p:nvSpPr>
              <p:cNvPr id="4" name="Rectangle 3">
                <a:extLst>
                  <a:ext uri="{FF2B5EF4-FFF2-40B4-BE49-F238E27FC236}">
                    <a16:creationId xmlns:a16="http://schemas.microsoft.com/office/drawing/2014/main" id="{B09DE927-8E6D-630C-9389-F5DD1A3E13B4}"/>
                  </a:ext>
                </a:extLst>
              </p:cNvPr>
              <p:cNvSpPr>
                <a:spLocks noRot="1" noChangeAspect="1" noMove="1" noResize="1" noEditPoints="1" noAdjustHandles="1" noChangeArrowheads="1" noChangeShapeType="1" noTextEdit="1"/>
              </p:cNvSpPr>
              <p:nvPr/>
            </p:nvSpPr>
            <p:spPr>
              <a:xfrm>
                <a:off x="136747" y="5139856"/>
                <a:ext cx="7675164" cy="1189365"/>
              </a:xfrm>
              <a:prstGeom prst="rect">
                <a:avLst/>
              </a:prstGeom>
              <a:blipFill>
                <a:blip r:embed="rId3"/>
                <a:stretch>
                  <a:fillRect l="-555"/>
                </a:stretch>
              </a:blipFill>
              <a:ln>
                <a:solidFill>
                  <a:schemeClr val="tx1"/>
                </a:solidFill>
              </a:ln>
            </p:spPr>
            <p:txBody>
              <a:bodyPr/>
              <a:lstStyle/>
              <a:p>
                <a:r>
                  <a:rPr lang="en-US">
                    <a:noFill/>
                  </a:rPr>
                  <a:t> </a:t>
                </a:r>
              </a:p>
            </p:txBody>
          </p:sp>
        </mc:Fallback>
      </mc:AlternateContent>
      <p:sp>
        <p:nvSpPr>
          <p:cNvPr id="8" name="Content Placeholder 7">
            <a:extLst>
              <a:ext uri="{FF2B5EF4-FFF2-40B4-BE49-F238E27FC236}">
                <a16:creationId xmlns:a16="http://schemas.microsoft.com/office/drawing/2014/main" id="{2ED9D95A-CAE0-5EC9-5B46-F1BB52462466}"/>
              </a:ext>
            </a:extLst>
          </p:cNvPr>
          <p:cNvSpPr>
            <a:spLocks noGrp="1"/>
          </p:cNvSpPr>
          <p:nvPr>
            <p:ph idx="1"/>
          </p:nvPr>
        </p:nvSpPr>
        <p:spPr>
          <a:xfrm>
            <a:off x="7811911" y="1825625"/>
            <a:ext cx="4243342" cy="4351338"/>
          </a:xfrm>
        </p:spPr>
        <p:txBody>
          <a:bodyPr/>
          <a:lstStyle/>
          <a:p>
            <a:r>
              <a:rPr lang="pt-BR" dirty="0"/>
              <a:t>A animação ao lado mostra o gradiente descendente atualizando os pesos de um modelo, no caso uma reta, para que ele se ajuste da melhor forma possível aos dados de treinamento (pontos azuis).</a:t>
            </a:r>
            <a:endParaRPr lang="en-US" dirty="0"/>
          </a:p>
        </p:txBody>
      </p:sp>
    </p:spTree>
    <p:extLst>
      <p:ext uri="{BB962C8B-B14F-4D97-AF65-F5344CB8AC3E}">
        <p14:creationId xmlns:p14="http://schemas.microsoft.com/office/powerpoint/2010/main" val="59476147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AACDD9-40E5-A4AE-278D-AF1FDC8863A4}"/>
              </a:ext>
            </a:extLst>
          </p:cNvPr>
          <p:cNvSpPr>
            <a:spLocks noGrp="1"/>
          </p:cNvSpPr>
          <p:nvPr>
            <p:ph type="title"/>
          </p:nvPr>
        </p:nvSpPr>
        <p:spPr/>
        <p:txBody>
          <a:bodyPr/>
          <a:lstStyle/>
          <a:p>
            <a:r>
              <a:rPr lang="en-US" dirty="0" err="1"/>
              <a:t>Versões</a:t>
            </a:r>
            <a:r>
              <a:rPr lang="en-US" dirty="0"/>
              <a:t> do </a:t>
            </a:r>
            <a:r>
              <a:rPr lang="en-US" dirty="0" err="1"/>
              <a:t>gradiente</a:t>
            </a:r>
            <a:r>
              <a:rPr lang="en-US" dirty="0"/>
              <a:t> </a:t>
            </a:r>
            <a:r>
              <a:rPr lang="en-US" dirty="0" err="1"/>
              <a:t>descendente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0ECCFF5-5C4A-6AD6-A038-D9C133F0B029}"/>
                  </a:ext>
                </a:extLst>
              </p:cNvPr>
              <p:cNvSpPr>
                <a:spLocks noGrp="1"/>
              </p:cNvSpPr>
              <p:nvPr>
                <p:ph idx="1"/>
              </p:nvPr>
            </p:nvSpPr>
            <p:spPr>
              <a:xfrm>
                <a:off x="838199" y="1825624"/>
                <a:ext cx="11173179" cy="5032375"/>
              </a:xfrm>
            </p:spPr>
            <p:txBody>
              <a:bodyPr>
                <a:normAutofit/>
              </a:bodyPr>
              <a:lstStyle/>
              <a:p>
                <a:r>
                  <a:rPr lang="pt-BR" dirty="0"/>
                  <a:t>O GD pode ser implementado de </a:t>
                </a:r>
                <a:r>
                  <a:rPr lang="pt-BR" b="1" dirty="0"/>
                  <a:t>3 formas diferentes dependendo de como calculamos o vetor gradiente</a:t>
                </a:r>
                <a:r>
                  <a:rPr lang="pt-BR" dirty="0"/>
                  <a:t>.</a:t>
                </a:r>
              </a:p>
              <a:p>
                <a:r>
                  <a:rPr lang="pt-BR" dirty="0"/>
                  <a:t>Para entendermos as 3 versões, vamos primeiro encontrar o vetor gradiente, </a:t>
                </a: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𝒂</m:t>
                        </m:r>
                        <m:r>
                          <a:rPr lang="pt-BR" i="1">
                            <a:latin typeface="Cambria Math" panose="02040503050406030204" pitchFamily="18" charset="0"/>
                            <a:ea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rPr>
                          <m:t>𝒂</m:t>
                        </m:r>
                      </m:den>
                    </m:f>
                  </m:oMath>
                </a14:m>
                <a:r>
                  <a:rPr lang="pt-BR" dirty="0"/>
                  <a:t>, e substituí-lo na equação de atualização dos pesos.</a:t>
                </a:r>
              </a:p>
              <a:p>
                <a:r>
                  <a:rPr lang="pt-BR" dirty="0"/>
                  <a:t>Vamos considerar o EQM como função de erro e um hiperplano como função hipótese</a:t>
                </a:r>
              </a:p>
              <a:p>
                <a:pPr marL="0" indent="0">
                  <a:buNone/>
                </a:pPr>
                <a14:m>
                  <m:oMathPara xmlns:m="http://schemas.openxmlformats.org/officeDocument/2006/math">
                    <m:oMathParaPr>
                      <m:jc m:val="centerGroup"/>
                    </m:oMathParaPr>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𝐾</m:t>
                          </m:r>
                        </m:sup>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𝑖</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𝑖</m:t>
                              </m:r>
                            </m:sub>
                          </m:sSub>
                          <m:d>
                            <m:dPr>
                              <m:ctrlPr>
                                <a:rPr lang="pt-BR" i="1">
                                  <a:latin typeface="Cambria Math" panose="02040503050406030204" pitchFamily="18" charset="0"/>
                                </a:rPr>
                              </m:ctrlPr>
                            </m:dPr>
                            <m:e>
                              <m:r>
                                <a:rPr lang="pt-BR" i="1">
                                  <a:latin typeface="Cambria Math" panose="02040503050406030204" pitchFamily="18" charset="0"/>
                                </a:rPr>
                                <m:t>𝑛</m:t>
                              </m:r>
                            </m:e>
                          </m:d>
                        </m:e>
                      </m:nary>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1  </m:t>
                        </m:r>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 …</m:t>
                    </m:r>
                    <m:sSub>
                      <m:sSubPr>
                        <m:ctrlPr>
                          <a:rPr lang="pt-BR" i="1">
                            <a:latin typeface="Cambria Math" panose="02040503050406030204" pitchFamily="18" charset="0"/>
                          </a:rPr>
                        </m:ctrlPr>
                      </m:sSubPr>
                      <m:e>
                        <m:r>
                          <a:rPr lang="pt-BR" i="1">
                            <a:latin typeface="Cambria Math" panose="02040503050406030204" pitchFamily="18" charset="0"/>
                          </a:rPr>
                          <m:t> </m:t>
                        </m:r>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𝐾</m:t>
                        </m:r>
                        <m:r>
                          <a:rPr lang="pt-BR" i="1">
                            <a:latin typeface="Cambria Math" panose="02040503050406030204" pitchFamily="18" charset="0"/>
                            <a:ea typeface="Cambria Math" panose="02040503050406030204" pitchFamily="18" charset="0"/>
                          </a:rPr>
                          <m:t>+1×1</m:t>
                        </m:r>
                      </m:sup>
                    </m:sSup>
                  </m:oMath>
                </a14:m>
                <a:r>
                  <a:rPr lang="pt-BR" dirty="0"/>
                  <a:t> é um vetor com todos os atributos da </a:t>
                </a:r>
                <a14:m>
                  <m:oMath xmlns:m="http://schemas.openxmlformats.org/officeDocument/2006/math">
                    <m:r>
                      <a:rPr lang="pt-BR" i="1">
                        <a:latin typeface="Cambria Math" panose="02040503050406030204" pitchFamily="18" charset="0"/>
                      </a:rPr>
                      <m:t>𝑛</m:t>
                    </m:r>
                  </m:oMath>
                </a14:m>
                <a:r>
                  <a:rPr lang="pt-BR" dirty="0"/>
                  <a:t>-</a:t>
                </a:r>
                <a:r>
                  <a:rPr lang="pt-BR" dirty="0" err="1"/>
                  <a:t>ésima</a:t>
                </a:r>
                <a:r>
                  <a:rPr lang="pt-BR" dirty="0"/>
                  <a:t> amostra de treinamento.</a:t>
                </a:r>
              </a:p>
            </p:txBody>
          </p:sp>
        </mc:Choice>
        <mc:Fallback xmlns="">
          <p:sp>
            <p:nvSpPr>
              <p:cNvPr id="3" name="Content Placeholder 2">
                <a:extLst>
                  <a:ext uri="{FF2B5EF4-FFF2-40B4-BE49-F238E27FC236}">
                    <a16:creationId xmlns:a16="http://schemas.microsoft.com/office/drawing/2014/main" id="{C0ECCFF5-5C4A-6AD6-A038-D9C133F0B029}"/>
                  </a:ext>
                </a:extLst>
              </p:cNvPr>
              <p:cNvSpPr>
                <a:spLocks noGrp="1" noRot="1" noChangeAspect="1" noMove="1" noResize="1" noEditPoints="1" noAdjustHandles="1" noChangeArrowheads="1" noChangeShapeType="1" noTextEdit="1"/>
              </p:cNvSpPr>
              <p:nvPr>
                <p:ph idx="1"/>
              </p:nvPr>
            </p:nvSpPr>
            <p:spPr>
              <a:xfrm>
                <a:off x="838199" y="1825624"/>
                <a:ext cx="11173179" cy="5032375"/>
              </a:xfrm>
              <a:blipFill>
                <a:blip r:embed="rId2"/>
                <a:stretch>
                  <a:fillRect l="-1091" t="-1937"/>
                </a:stretch>
              </a:blipFill>
            </p:spPr>
            <p:txBody>
              <a:bodyPr/>
              <a:lstStyle/>
              <a:p>
                <a:r>
                  <a:rPr lang="en-US">
                    <a:noFill/>
                  </a:rPr>
                  <a:t> </a:t>
                </a:r>
              </a:p>
            </p:txBody>
          </p:sp>
        </mc:Fallback>
      </mc:AlternateContent>
      <p:sp>
        <p:nvSpPr>
          <p:cNvPr id="4" name="Chave Direita 3">
            <a:extLst>
              <a:ext uri="{FF2B5EF4-FFF2-40B4-BE49-F238E27FC236}">
                <a16:creationId xmlns:a16="http://schemas.microsoft.com/office/drawing/2014/main" id="{021EE6D7-9930-A65A-DD1C-3A4F859A185C}"/>
              </a:ext>
            </a:extLst>
          </p:cNvPr>
          <p:cNvSpPr/>
          <p:nvPr/>
        </p:nvSpPr>
        <p:spPr>
          <a:xfrm rot="5400000">
            <a:off x="5001884" y="3272426"/>
            <a:ext cx="227011" cy="441789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5" name="CaixaDeTexto 4">
            <a:extLst>
              <a:ext uri="{FF2B5EF4-FFF2-40B4-BE49-F238E27FC236}">
                <a16:creationId xmlns:a16="http://schemas.microsoft.com/office/drawing/2014/main" id="{3FEBDEDF-6E0B-439A-F6E7-7E2569A0D585}"/>
              </a:ext>
            </a:extLst>
          </p:cNvPr>
          <p:cNvSpPr txBox="1"/>
          <p:nvPr/>
        </p:nvSpPr>
        <p:spPr>
          <a:xfrm>
            <a:off x="2906444" y="5532742"/>
            <a:ext cx="4417891" cy="307777"/>
          </a:xfrm>
          <a:prstGeom prst="rect">
            <a:avLst/>
          </a:prstGeom>
          <a:noFill/>
        </p:spPr>
        <p:txBody>
          <a:bodyPr wrap="square" rtlCol="0">
            <a:spAutoFit/>
          </a:bodyPr>
          <a:lstStyle/>
          <a:p>
            <a:pPr algn="ctr"/>
            <a:r>
              <a:rPr lang="pt-BR" sz="1400" dirty="0"/>
              <a:t>Equação do hiperplano</a:t>
            </a:r>
          </a:p>
        </p:txBody>
      </p:sp>
    </p:spTree>
    <p:extLst>
      <p:ext uri="{BB962C8B-B14F-4D97-AF65-F5344CB8AC3E}">
        <p14:creationId xmlns:p14="http://schemas.microsoft.com/office/powerpoint/2010/main" val="194884962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186E35-2132-957C-5119-8416C939A543}"/>
              </a:ext>
            </a:extLst>
          </p:cNvPr>
          <p:cNvSpPr>
            <a:spLocks noGrp="1"/>
          </p:cNvSpPr>
          <p:nvPr>
            <p:ph type="title"/>
          </p:nvPr>
        </p:nvSpPr>
        <p:spPr/>
        <p:txBody>
          <a:bodyPr/>
          <a:lstStyle/>
          <a:p>
            <a:r>
              <a:rPr lang="pt-BR" dirty="0"/>
              <a:t>Versões do gradiente descendente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C5EC678-4C25-1184-B2F1-399C0F236041}"/>
                  </a:ext>
                </a:extLst>
              </p:cNvPr>
              <p:cNvSpPr>
                <a:spLocks noGrp="1"/>
              </p:cNvSpPr>
              <p:nvPr>
                <p:ph idx="1"/>
              </p:nvPr>
            </p:nvSpPr>
            <p:spPr>
              <a:xfrm>
                <a:off x="838198" y="1777430"/>
                <a:ext cx="11353801" cy="5080570"/>
              </a:xfrm>
            </p:spPr>
            <p:txBody>
              <a:bodyPr>
                <a:normAutofit/>
              </a:bodyPr>
              <a:lstStyle/>
              <a:p>
                <a:r>
                  <a:rPr lang="pt-BR" dirty="0"/>
                  <a:t>O </a:t>
                </a:r>
                <a:r>
                  <a:rPr lang="pt-BR" b="1" dirty="0"/>
                  <a:t>vetor gradiente </a:t>
                </a:r>
                <a:r>
                  <a:rPr lang="pt-BR" dirty="0"/>
                  <a:t>da</a:t>
                </a:r>
                <a:r>
                  <a:rPr lang="pt-BR" b="1" dirty="0"/>
                  <a:t> função de erro em relação aos pesos </a:t>
                </a:r>
                <a:r>
                  <a:rPr lang="pt-BR" dirty="0"/>
                  <a:t>é dado por</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0" smtClean="0">
                              <a:latin typeface="Cambria Math" panose="02040503050406030204" pitchFamily="18" charset="0"/>
                            </a:rPr>
                            <m:t>𝜕</m:t>
                          </m:r>
                          <m:sSub>
                            <m:sSubPr>
                              <m:ctrlPr>
                                <a:rPr lang="pt-BR" i="1">
                                  <a:latin typeface="Cambria Math" panose="02040503050406030204" pitchFamily="18" charset="0"/>
                                </a:rPr>
                              </m:ctrlPr>
                            </m:sSubPr>
                            <m:e>
                              <m:r>
                                <a:rPr lang="pt-BR" smtClean="0">
                                  <a:latin typeface="Cambria Math" panose="02040503050406030204" pitchFamily="18" charset="0"/>
                                </a:rPr>
                                <m:t>𝐽</m:t>
                              </m:r>
                            </m:e>
                            <m:sub>
                              <m:r>
                                <a:rPr lang="pt-BR" smtClean="0">
                                  <a:latin typeface="Cambria Math" panose="02040503050406030204" pitchFamily="18" charset="0"/>
                                </a:rPr>
                                <m:t>𝑒</m:t>
                              </m:r>
                            </m:sub>
                          </m:sSub>
                          <m:d>
                            <m:dPr>
                              <m:ctrlPr>
                                <a:rPr lang="pt-BR" i="1">
                                  <a:latin typeface="Cambria Math" panose="02040503050406030204" pitchFamily="18" charset="0"/>
                                </a:rPr>
                              </m:ctrlPr>
                            </m:dPr>
                            <m:e>
                              <m:r>
                                <a:rPr lang="pt-BR" b="1" smtClean="0">
                                  <a:latin typeface="Cambria Math" panose="02040503050406030204" pitchFamily="18" charset="0"/>
                                </a:rPr>
                                <m:t>𝒂</m:t>
                              </m:r>
                            </m:e>
                          </m:d>
                        </m:num>
                        <m:den>
                          <m:r>
                            <a:rPr lang="pt-BR" smtClean="0">
                              <a:latin typeface="Cambria Math" panose="02040503050406030204" pitchFamily="18" charset="0"/>
                            </a:rPr>
                            <m:t>𝜕</m:t>
                          </m:r>
                          <m:r>
                            <a:rPr lang="pt-BR" b="1" smtClean="0">
                              <a:latin typeface="Cambria Math" panose="02040503050406030204" pitchFamily="18" charset="0"/>
                            </a:rPr>
                            <m:t>𝒂</m:t>
                          </m:r>
                        </m:den>
                      </m:f>
                      <m:r>
                        <a:rPr lang="pt-BR" b="1" smtClean="0">
                          <a:latin typeface="Cambria Math" panose="02040503050406030204" pitchFamily="18" charset="0"/>
                        </a:rPr>
                        <m:t>=</m:t>
                      </m:r>
                      <m:f>
                        <m:fPr>
                          <m:ctrlPr>
                            <a:rPr lang="pt-BR" i="1">
                              <a:latin typeface="Cambria Math" panose="02040503050406030204" pitchFamily="18" charset="0"/>
                            </a:rPr>
                          </m:ctrlPr>
                        </m:fPr>
                        <m:num>
                          <m:r>
                            <a:rPr lang="pt-BR" smtClean="0">
                              <a:latin typeface="Cambria Math" panose="02040503050406030204" pitchFamily="18" charset="0"/>
                            </a:rPr>
                            <m:t>𝜕</m:t>
                          </m:r>
                        </m:num>
                        <m:den>
                          <m:r>
                            <a:rPr lang="pt-BR" smtClean="0">
                              <a:latin typeface="Cambria Math" panose="02040503050406030204" pitchFamily="18" charset="0"/>
                            </a:rPr>
                            <m:t>𝜕</m:t>
                          </m:r>
                          <m:r>
                            <a:rPr lang="pt-BR" b="1" smtClean="0">
                              <a:latin typeface="Cambria Math" panose="02040503050406030204" pitchFamily="18" charset="0"/>
                            </a:rPr>
                            <m:t>𝒂</m:t>
                          </m:r>
                        </m:den>
                      </m:f>
                      <m:d>
                        <m:dPr>
                          <m:begChr m:val="["/>
                          <m:endChr m:val="]"/>
                          <m:ctrlPr>
                            <a:rPr lang="pt-BR" b="1" i="1" smtClean="0">
                              <a:latin typeface="Cambria Math" panose="02040503050406030204" pitchFamily="18" charset="0"/>
                            </a:rPr>
                          </m:ctrlPr>
                        </m:dPr>
                        <m:e>
                          <m:f>
                            <m:fPr>
                              <m:ctrlPr>
                                <a:rPr lang="pt-BR" i="1">
                                  <a:latin typeface="Cambria Math" panose="02040503050406030204" pitchFamily="18" charset="0"/>
                                </a:rPr>
                              </m:ctrlPr>
                            </m:fPr>
                            <m:num>
                              <m:r>
                                <a:rPr lang="pt-BR" smtClean="0">
                                  <a:latin typeface="Cambria Math" panose="02040503050406030204" pitchFamily="18" charset="0"/>
                                </a:rPr>
                                <m:t>1</m:t>
                              </m:r>
                            </m:num>
                            <m:den>
                              <m:r>
                                <a:rPr lang="pt-BR" smtClean="0">
                                  <a:latin typeface="Cambria Math" panose="02040503050406030204" pitchFamily="18" charset="0"/>
                                </a:rPr>
                                <m:t>𝑁</m:t>
                              </m:r>
                            </m:den>
                          </m:f>
                          <m:nary>
                            <m:naryPr>
                              <m:chr m:val="∑"/>
                              <m:ctrlPr>
                                <a:rPr lang="pt-BR" i="1" smtClean="0">
                                  <a:latin typeface="Cambria Math" panose="02040503050406030204" pitchFamily="18" charset="0"/>
                                </a:rPr>
                              </m:ctrlPr>
                            </m:naryPr>
                            <m:sub>
                              <m:r>
                                <m:rPr>
                                  <m:brk m:alnAt="23"/>
                                </m:rPr>
                                <a:rPr lang="pt-BR" b="0" smtClean="0">
                                  <a:latin typeface="Cambria Math" panose="02040503050406030204" pitchFamily="18" charset="0"/>
                                </a:rPr>
                                <m:t>𝑛</m:t>
                              </m:r>
                              <m:r>
                                <a:rPr lang="pt-BR" b="0" smtClean="0">
                                  <a:latin typeface="Cambria Math" panose="02040503050406030204" pitchFamily="18" charset="0"/>
                                </a:rPr>
                                <m:t>=0</m:t>
                              </m:r>
                            </m:sub>
                            <m:sup>
                              <m:r>
                                <a:rPr lang="pt-BR" b="0" smtClean="0">
                                  <a:latin typeface="Cambria Math" panose="02040503050406030204" pitchFamily="18" charset="0"/>
                                </a:rPr>
                                <m:t>𝑁</m:t>
                              </m:r>
                              <m:r>
                                <a:rPr lang="pt-BR" b="0" smtClean="0">
                                  <a:latin typeface="Cambria Math" panose="02040503050406030204" pitchFamily="18" charset="0"/>
                                </a:rPr>
                                <m:t>−1</m:t>
                              </m:r>
                            </m:sup>
                            <m:e>
                              <m:sSup>
                                <m:sSupPr>
                                  <m:ctrlPr>
                                    <a:rPr lang="pt-BR" i="1" smtClean="0">
                                      <a:latin typeface="Cambria Math" panose="02040503050406030204" pitchFamily="18" charset="0"/>
                                    </a:rPr>
                                  </m:ctrlPr>
                                </m:sSupPr>
                                <m:e>
                                  <m:d>
                                    <m:dPr>
                                      <m:ctrlPr>
                                        <a:rPr lang="pt-BR" i="1" smtClean="0">
                                          <a:latin typeface="Cambria Math" panose="02040503050406030204" pitchFamily="18" charset="0"/>
                                        </a:rPr>
                                      </m:ctrlPr>
                                    </m:dPr>
                                    <m:e>
                                      <m:r>
                                        <a:rPr lang="pt-BR" b="0" smtClean="0">
                                          <a:latin typeface="Cambria Math" panose="02040503050406030204" pitchFamily="18" charset="0"/>
                                        </a:rPr>
                                        <m:t>𝑦</m:t>
                                      </m:r>
                                      <m:d>
                                        <m:dPr>
                                          <m:ctrlPr>
                                            <a:rPr lang="pt-BR" b="0" i="1" smtClean="0">
                                              <a:latin typeface="Cambria Math" panose="02040503050406030204" pitchFamily="18" charset="0"/>
                                            </a:rPr>
                                          </m:ctrlPr>
                                        </m:dPr>
                                        <m:e>
                                          <m:r>
                                            <a:rPr lang="pt-BR" b="0" smtClean="0">
                                              <a:latin typeface="Cambria Math" panose="02040503050406030204" pitchFamily="18" charset="0"/>
                                            </a:rPr>
                                            <m:t>𝑛</m:t>
                                          </m:r>
                                        </m:e>
                                      </m:d>
                                      <m:r>
                                        <a:rPr lang="pt-BR" b="0" smtClean="0">
                                          <a:latin typeface="Cambria Math" panose="02040503050406030204" pitchFamily="18" charset="0"/>
                                        </a:rPr>
                                        <m:t>−</m:t>
                                      </m:r>
                                      <m:acc>
                                        <m:accPr>
                                          <m:chr m:val="̂"/>
                                          <m:ctrlPr>
                                            <a:rPr lang="pt-BR" i="1">
                                              <a:latin typeface="Cambria Math" panose="02040503050406030204" pitchFamily="18" charset="0"/>
                                            </a:rPr>
                                          </m:ctrlPr>
                                        </m:accPr>
                                        <m:e>
                                          <m:r>
                                            <a:rPr lang="pt-BR" smtClean="0">
                                              <a:latin typeface="Cambria Math" panose="02040503050406030204" pitchFamily="18" charset="0"/>
                                            </a:rPr>
                                            <m:t>𝑦</m:t>
                                          </m:r>
                                        </m:e>
                                      </m:acc>
                                      <m:d>
                                        <m:dPr>
                                          <m:ctrlPr>
                                            <a:rPr lang="pt-BR" i="1">
                                              <a:latin typeface="Cambria Math" panose="02040503050406030204" pitchFamily="18" charset="0"/>
                                            </a:rPr>
                                          </m:ctrlPr>
                                        </m:dPr>
                                        <m:e>
                                          <m:r>
                                            <a:rPr lang="pt-BR" smtClean="0">
                                              <a:latin typeface="Cambria Math" panose="02040503050406030204" pitchFamily="18" charset="0"/>
                                            </a:rPr>
                                            <m:t>𝑛</m:t>
                                          </m:r>
                                        </m:e>
                                      </m:d>
                                    </m:e>
                                  </m:d>
                                </m:e>
                                <m:sup>
                                  <m:r>
                                    <a:rPr lang="pt-BR" b="0" smtClean="0">
                                      <a:latin typeface="Cambria Math" panose="02040503050406030204" pitchFamily="18" charset="0"/>
                                    </a:rPr>
                                    <m:t>2</m:t>
                                  </m:r>
                                </m:sup>
                              </m:sSup>
                            </m:e>
                          </m:nary>
                        </m:e>
                      </m:d>
                    </m:oMath>
                  </m:oMathPara>
                </a14:m>
                <a:endParaRPr lang="pt-BR" b="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smtClean="0">
                          <a:latin typeface="Cambria Math" panose="02040503050406030204" pitchFamily="18" charset="0"/>
                        </a:rPr>
                        <m:t>=</m:t>
                      </m:r>
                      <m:r>
                        <a:rPr lang="pt-BR" b="0" smtClean="0">
                          <a:latin typeface="Cambria Math" panose="02040503050406030204" pitchFamily="18" charset="0"/>
                        </a:rPr>
                        <m:t>−</m:t>
                      </m:r>
                      <m:f>
                        <m:fPr>
                          <m:ctrlPr>
                            <a:rPr lang="pt-BR" i="1">
                              <a:latin typeface="Cambria Math" panose="02040503050406030204" pitchFamily="18" charset="0"/>
                            </a:rPr>
                          </m:ctrlPr>
                        </m:fPr>
                        <m:num>
                          <m:r>
                            <a:rPr lang="pt-BR" b="0" smtClean="0">
                              <a:latin typeface="Cambria Math" panose="02040503050406030204" pitchFamily="18" charset="0"/>
                            </a:rPr>
                            <m:t>2</m:t>
                          </m:r>
                        </m:num>
                        <m:den>
                          <m:r>
                            <a:rPr lang="pt-BR" smtClean="0">
                              <a:latin typeface="Cambria Math" panose="02040503050406030204" pitchFamily="18" charset="0"/>
                            </a:rPr>
                            <m:t>𝑁</m:t>
                          </m:r>
                        </m:den>
                      </m:f>
                      <m:nary>
                        <m:naryPr>
                          <m:chr m:val="∑"/>
                          <m:ctrlPr>
                            <a:rPr lang="pt-BR" i="1">
                              <a:latin typeface="Cambria Math" panose="02040503050406030204" pitchFamily="18" charset="0"/>
                            </a:rPr>
                          </m:ctrlPr>
                        </m:naryPr>
                        <m:sub>
                          <m:r>
                            <a:rPr lang="pt-BR" b="0" smtClean="0">
                              <a:latin typeface="Cambria Math" panose="02040503050406030204" pitchFamily="18" charset="0"/>
                            </a:rPr>
                            <m:t>𝑛</m:t>
                          </m:r>
                          <m:r>
                            <a:rPr lang="pt-BR" smtClean="0">
                              <a:latin typeface="Cambria Math" panose="02040503050406030204" pitchFamily="18" charset="0"/>
                            </a:rPr>
                            <m:t>=0</m:t>
                          </m:r>
                        </m:sub>
                        <m:sup>
                          <m:r>
                            <a:rPr lang="pt-BR" smtClean="0">
                              <a:latin typeface="Cambria Math" panose="02040503050406030204" pitchFamily="18" charset="0"/>
                            </a:rPr>
                            <m:t>𝑁</m:t>
                          </m:r>
                          <m:r>
                            <a:rPr lang="pt-BR" smtClean="0">
                              <a:latin typeface="Cambria Math" panose="02040503050406030204" pitchFamily="18" charset="0"/>
                            </a:rPr>
                            <m:t>−1</m:t>
                          </m:r>
                        </m:sup>
                        <m:e>
                          <m:d>
                            <m:dPr>
                              <m:begChr m:val="["/>
                              <m:endChr m:val="]"/>
                              <m:ctrlPr>
                                <a:rPr lang="pt-BR" i="1">
                                  <a:latin typeface="Cambria Math" panose="02040503050406030204" pitchFamily="18" charset="0"/>
                                </a:rPr>
                              </m:ctrlPr>
                            </m:dPr>
                            <m:e>
                              <m:r>
                                <a:rPr lang="pt-BR" smtClean="0">
                                  <a:latin typeface="Cambria Math" panose="02040503050406030204" pitchFamily="18" charset="0"/>
                                </a:rPr>
                                <m:t>𝑦</m:t>
                              </m:r>
                              <m:d>
                                <m:dPr>
                                  <m:ctrlPr>
                                    <a:rPr lang="pt-BR" i="1">
                                      <a:latin typeface="Cambria Math" panose="02040503050406030204" pitchFamily="18" charset="0"/>
                                    </a:rPr>
                                  </m:ctrlPr>
                                </m:dPr>
                                <m:e>
                                  <m:r>
                                    <a:rPr lang="pt-BR" b="0" smtClean="0">
                                      <a:latin typeface="Cambria Math" panose="02040503050406030204" pitchFamily="18" charset="0"/>
                                    </a:rPr>
                                    <m:t>𝑛</m:t>
                                  </m:r>
                                </m:e>
                              </m:d>
                              <m:r>
                                <a:rPr lang="pt-BR" smtClean="0">
                                  <a:latin typeface="Cambria Math" panose="02040503050406030204" pitchFamily="18" charset="0"/>
                                </a:rPr>
                                <m:t>−</m:t>
                              </m:r>
                              <m:acc>
                                <m:accPr>
                                  <m:chr m:val="̂"/>
                                  <m:ctrlPr>
                                    <a:rPr lang="pt-BR" i="1">
                                      <a:latin typeface="Cambria Math" panose="02040503050406030204" pitchFamily="18" charset="0"/>
                                    </a:rPr>
                                  </m:ctrlPr>
                                </m:accPr>
                                <m:e>
                                  <m:r>
                                    <a:rPr lang="pt-BR" smtClean="0">
                                      <a:latin typeface="Cambria Math" panose="02040503050406030204" pitchFamily="18" charset="0"/>
                                    </a:rPr>
                                    <m:t>𝑦</m:t>
                                  </m:r>
                                </m:e>
                              </m:acc>
                              <m:d>
                                <m:dPr>
                                  <m:ctrlPr>
                                    <a:rPr lang="pt-BR" i="1">
                                      <a:latin typeface="Cambria Math" panose="02040503050406030204" pitchFamily="18" charset="0"/>
                                    </a:rPr>
                                  </m:ctrlPr>
                                </m:dPr>
                                <m:e>
                                  <m:r>
                                    <a:rPr lang="pt-BR" smtClean="0">
                                      <a:latin typeface="Cambria Math" panose="02040503050406030204" pitchFamily="18" charset="0"/>
                                    </a:rPr>
                                    <m:t>𝑛</m:t>
                                  </m:r>
                                </m:e>
                              </m:d>
                            </m:e>
                          </m:d>
                          <m:r>
                            <a:rPr lang="pt-BR" b="1" smtClean="0">
                              <a:latin typeface="Cambria Math" panose="02040503050406030204" pitchFamily="18" charset="0"/>
                            </a:rPr>
                            <m:t>𝒙</m:t>
                          </m:r>
                          <m:d>
                            <m:dPr>
                              <m:ctrlPr>
                                <a:rPr lang="pt-BR" b="0" i="1" smtClean="0">
                                  <a:latin typeface="Cambria Math" panose="02040503050406030204" pitchFamily="18" charset="0"/>
                                </a:rPr>
                              </m:ctrlPr>
                            </m:dPr>
                            <m:e>
                              <m:r>
                                <a:rPr lang="pt-BR" b="0" smtClean="0">
                                  <a:latin typeface="Cambria Math" panose="02040503050406030204" pitchFamily="18" charset="0"/>
                                </a:rPr>
                                <m:t>𝑛</m:t>
                              </m:r>
                            </m:e>
                          </m:d>
                        </m:e>
                      </m:nary>
                      <m:r>
                        <a:rPr lang="pt-BR" smtClean="0">
                          <a:latin typeface="Cambria Math" panose="02040503050406030204" pitchFamily="18" charset="0"/>
                        </a:rPr>
                        <m:t>=</m:t>
                      </m:r>
                      <m:sSup>
                        <m:sSupPr>
                          <m:ctrlPr>
                            <a:rPr lang="pt-BR" i="1">
                              <a:latin typeface="Cambria Math" panose="02040503050406030204" pitchFamily="18" charset="0"/>
                            </a:rPr>
                          </m:ctrlPr>
                        </m:sSupPr>
                        <m:e>
                          <m:r>
                            <a:rPr lang="pt-BR" smtClean="0">
                              <a:latin typeface="Cambria Math" panose="02040503050406030204" pitchFamily="18" charset="0"/>
                            </a:rPr>
                            <m:t>−</m:t>
                          </m:r>
                          <m:f>
                            <m:fPr>
                              <m:ctrlPr>
                                <a:rPr lang="pt-BR" i="1">
                                  <a:latin typeface="Cambria Math" panose="02040503050406030204" pitchFamily="18" charset="0"/>
                                </a:rPr>
                              </m:ctrlPr>
                            </m:fPr>
                            <m:num>
                              <m:r>
                                <a:rPr lang="pt-BR" b="0" smtClean="0">
                                  <a:latin typeface="Cambria Math" panose="02040503050406030204" pitchFamily="18" charset="0"/>
                                </a:rPr>
                                <m:t>2</m:t>
                              </m:r>
                            </m:num>
                            <m:den>
                              <m:r>
                                <a:rPr lang="pt-BR" smtClean="0">
                                  <a:latin typeface="Cambria Math" panose="02040503050406030204" pitchFamily="18" charset="0"/>
                                </a:rPr>
                                <m:t>𝑁</m:t>
                              </m:r>
                            </m:den>
                          </m:f>
                          <m:r>
                            <a:rPr lang="pt-BR" b="1" smtClean="0">
                              <a:latin typeface="Cambria Math" panose="02040503050406030204" pitchFamily="18" charset="0"/>
                            </a:rPr>
                            <m:t>𝑿</m:t>
                          </m:r>
                        </m:e>
                        <m:sup>
                          <m:r>
                            <a:rPr lang="pt-BR" smtClean="0">
                              <a:latin typeface="Cambria Math" panose="02040503050406030204" pitchFamily="18" charset="0"/>
                            </a:rPr>
                            <m:t>𝑇</m:t>
                          </m:r>
                        </m:sup>
                      </m:sSup>
                      <m:d>
                        <m:dPr>
                          <m:ctrlPr>
                            <a:rPr lang="pt-BR" i="1">
                              <a:latin typeface="Cambria Math" panose="02040503050406030204" pitchFamily="18" charset="0"/>
                            </a:rPr>
                          </m:ctrlPr>
                        </m:dPr>
                        <m:e>
                          <m:r>
                            <a:rPr lang="pt-BR" b="1" smtClean="0">
                              <a:latin typeface="Cambria Math" panose="02040503050406030204" pitchFamily="18" charset="0"/>
                            </a:rPr>
                            <m:t>𝒚</m:t>
                          </m:r>
                          <m:r>
                            <a:rPr lang="pt-BR" smtClean="0">
                              <a:latin typeface="Cambria Math" panose="02040503050406030204" pitchFamily="18" charset="0"/>
                            </a:rPr>
                            <m:t>−</m:t>
                          </m:r>
                          <m:acc>
                            <m:accPr>
                              <m:chr m:val="̂"/>
                              <m:ctrlPr>
                                <a:rPr lang="pt-BR" i="1">
                                  <a:latin typeface="Cambria Math" panose="02040503050406030204" pitchFamily="18" charset="0"/>
                                </a:rPr>
                              </m:ctrlPr>
                            </m:accPr>
                            <m:e>
                              <m:r>
                                <a:rPr lang="pt-BR" b="1" smtClean="0">
                                  <a:latin typeface="Cambria Math" panose="02040503050406030204" pitchFamily="18" charset="0"/>
                                </a:rPr>
                                <m:t>𝒚</m:t>
                              </m:r>
                            </m:e>
                          </m:acc>
                        </m:e>
                      </m:d>
                      <m:r>
                        <a:rPr lang="pt-BR" b="0" i="0" smtClean="0">
                          <a:latin typeface="Cambria Math" panose="02040503050406030204" pitchFamily="18" charset="0"/>
                        </a:rPr>
                        <m:t>.</m:t>
                      </m:r>
                    </m:oMath>
                  </m:oMathPara>
                </a14:m>
                <a:endParaRPr lang="pt-BR" dirty="0"/>
              </a:p>
              <a:p>
                <a:r>
                  <a:rPr lang="pt-BR" b="1" dirty="0"/>
                  <a:t>OBS</a:t>
                </a:r>
                <a:r>
                  <a:rPr lang="pt-BR" dirty="0"/>
                  <a:t>.: Notem que o gradiente é a média dos gradientes de todos os exemplos de treinamento.</a:t>
                </a:r>
              </a:p>
              <a:p>
                <a:r>
                  <a:rPr lang="pt-BR" dirty="0"/>
                  <a:t>Usamos um hiperplano, mas todos os resultados e conclusões que tiraremos </a:t>
                </a:r>
                <a:r>
                  <a:rPr lang="nl-BE" dirty="0"/>
                  <a:t>podem ser diretamente estendidos a polinômios.</a:t>
                </a:r>
                <a:endParaRPr lang="pt-BR" dirty="0"/>
              </a:p>
            </p:txBody>
          </p:sp>
        </mc:Choice>
        <mc:Fallback xmlns="">
          <p:sp>
            <p:nvSpPr>
              <p:cNvPr id="3" name="Espaço Reservado para Conteúdo 2">
                <a:extLst>
                  <a:ext uri="{FF2B5EF4-FFF2-40B4-BE49-F238E27FC236}">
                    <a16:creationId xmlns:a16="http://schemas.microsoft.com/office/drawing/2014/main" id="{DC5EC678-4C25-1184-B2F1-399C0F236041}"/>
                  </a:ext>
                </a:extLst>
              </p:cNvPr>
              <p:cNvSpPr>
                <a:spLocks noGrp="1" noRot="1" noChangeAspect="1" noMove="1" noResize="1" noEditPoints="1" noAdjustHandles="1" noChangeArrowheads="1" noChangeShapeType="1" noTextEdit="1"/>
              </p:cNvSpPr>
              <p:nvPr>
                <p:ph idx="1"/>
              </p:nvPr>
            </p:nvSpPr>
            <p:spPr>
              <a:xfrm>
                <a:off x="838198" y="1777430"/>
                <a:ext cx="11353801" cy="5080570"/>
              </a:xfrm>
              <a:blipFill>
                <a:blip r:embed="rId2"/>
                <a:stretch>
                  <a:fillRect l="-913" t="-2041"/>
                </a:stretch>
              </a:blipFill>
            </p:spPr>
            <p:txBody>
              <a:bodyPr/>
              <a:lstStyle/>
              <a:p>
                <a:r>
                  <a:rPr lang="en-US">
                    <a:noFill/>
                  </a:rPr>
                  <a:t> </a:t>
                </a:r>
              </a:p>
            </p:txBody>
          </p:sp>
        </mc:Fallback>
      </mc:AlternateContent>
    </p:spTree>
    <p:extLst>
      <p:ext uri="{BB962C8B-B14F-4D97-AF65-F5344CB8AC3E}">
        <p14:creationId xmlns:p14="http://schemas.microsoft.com/office/powerpoint/2010/main" val="55843128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Versões do gradiente descendente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212286" cy="5167311"/>
              </a:xfrm>
            </p:spPr>
            <p:txBody>
              <a:bodyPr>
                <a:normAutofit/>
              </a:bodyPr>
              <a:lstStyle/>
              <a:p>
                <a:r>
                  <a:rPr lang="pt-BR" dirty="0"/>
                  <a:t>Substituindo o </a:t>
                </a:r>
                <a:r>
                  <a:rPr lang="pt-BR" b="1" dirty="0"/>
                  <a:t>vetor gradiente</a:t>
                </a:r>
                <a:r>
                  <a:rPr lang="pt-BR" dirty="0"/>
                  <a:t> na </a:t>
                </a:r>
                <a:r>
                  <a:rPr lang="pt-BR" b="1" dirty="0"/>
                  <a:t>equação de atualização dos pesos</a:t>
                </a:r>
                <a:r>
                  <a:rPr lang="pt-BR" dirty="0"/>
                  <a:t>, temos</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smtClean="0">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smtClean="0">
                              <a:latin typeface="Cambria Math" panose="02040503050406030204" pitchFamily="18" charset="0"/>
                            </a:rPr>
                            <m:t>𝜕</m:t>
                          </m:r>
                          <m:sSub>
                            <m:sSubPr>
                              <m:ctrlPr>
                                <a:rPr lang="pt-BR" i="1">
                                  <a:latin typeface="Cambria Math" panose="02040503050406030204" pitchFamily="18" charset="0"/>
                                </a:rPr>
                              </m:ctrlPr>
                            </m:sSubPr>
                            <m:e>
                              <m:r>
                                <a:rPr lang="pt-BR" i="1" smtClean="0">
                                  <a:latin typeface="Cambria Math" panose="02040503050406030204" pitchFamily="18" charset="0"/>
                                </a:rPr>
                                <m:t>𝐽</m:t>
                              </m:r>
                            </m:e>
                            <m:sub>
                              <m:r>
                                <a:rPr lang="pt-BR" i="1" smtClean="0">
                                  <a:latin typeface="Cambria Math" panose="02040503050406030204" pitchFamily="18" charset="0"/>
                                </a:rPr>
                                <m:t>𝑒</m:t>
                              </m:r>
                            </m:sub>
                          </m:sSub>
                          <m:d>
                            <m:dPr>
                              <m:ctrlPr>
                                <a:rPr lang="pt-BR" i="1">
                                  <a:latin typeface="Cambria Math" panose="02040503050406030204" pitchFamily="18" charset="0"/>
                                </a:rPr>
                              </m:ctrlPr>
                            </m:dPr>
                            <m:e>
                              <m:r>
                                <a:rPr lang="pt-BR" b="1" i="1" smtClean="0">
                                  <a:latin typeface="Cambria Math" panose="02040503050406030204" pitchFamily="18" charset="0"/>
                                </a:rPr>
                                <m:t>𝒂</m:t>
                              </m:r>
                            </m:e>
                          </m:d>
                        </m:num>
                        <m:den>
                          <m:r>
                            <a:rPr lang="pt-BR" i="1" smtClean="0">
                              <a:latin typeface="Cambria Math" panose="02040503050406030204" pitchFamily="18" charset="0"/>
                            </a:rPr>
                            <m:t>𝜕</m:t>
                          </m:r>
                          <m:r>
                            <a:rPr lang="pt-BR" b="1" i="1" smtClean="0">
                              <a:latin typeface="Cambria Math" panose="02040503050406030204" pitchFamily="18" charset="0"/>
                            </a:rPr>
                            <m:t>𝒂</m:t>
                          </m:r>
                        </m:den>
                      </m:f>
                      <m:r>
                        <a:rPr lang="pt-BR" b="1" i="1" smtClean="0">
                          <a:latin typeface="Cambria Math" panose="02040503050406030204" pitchFamily="18" charset="0"/>
                        </a:rPr>
                        <m:t>=</m:t>
                      </m:r>
                      <m:r>
                        <a:rPr lang="pt-BR" b="1" i="1" smtClean="0">
                          <a:latin typeface="Cambria Math" panose="02040503050406030204" pitchFamily="18" charset="0"/>
                        </a:rPr>
                        <m:t>𝒂</m:t>
                      </m:r>
                      <m:r>
                        <a:rPr lang="pt-BR" b="0" i="1" smtClean="0">
                          <a:latin typeface="Cambria Math" panose="02040503050406030204" pitchFamily="18" charset="0"/>
                        </a:rPr>
                        <m:t>+</m:t>
                      </m:r>
                      <m:r>
                        <a:rPr lang="pt-BR" i="1" smtClean="0">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smtClean="0">
                              <a:latin typeface="Cambria Math" panose="02040503050406030204" pitchFamily="18" charset="0"/>
                            </a:rPr>
                            <m:t>𝑁</m:t>
                          </m:r>
                        </m:den>
                      </m:f>
                      <m:nary>
                        <m:naryPr>
                          <m:chr m:val="∑"/>
                          <m:ctrlPr>
                            <a:rPr lang="pt-BR" i="1">
                              <a:latin typeface="Cambria Math" panose="02040503050406030204" pitchFamily="18" charset="0"/>
                            </a:rPr>
                          </m:ctrlPr>
                        </m:naryPr>
                        <m:sub>
                          <m:r>
                            <a:rPr lang="pt-BR" i="1" smtClean="0">
                              <a:latin typeface="Cambria Math" panose="02040503050406030204" pitchFamily="18" charset="0"/>
                            </a:rPr>
                            <m:t>𝑛</m:t>
                          </m:r>
                          <m:r>
                            <a:rPr lang="pt-BR" i="1" smtClean="0">
                              <a:latin typeface="Cambria Math" panose="02040503050406030204" pitchFamily="18" charset="0"/>
                            </a:rPr>
                            <m:t>=0</m:t>
                          </m:r>
                        </m:sub>
                        <m:sup>
                          <m:r>
                            <a:rPr lang="pt-BR" b="0" i="1" smtClean="0">
                              <a:latin typeface="Cambria Math" panose="02040503050406030204" pitchFamily="18" charset="0"/>
                            </a:rPr>
                            <m:t>𝑀</m:t>
                          </m:r>
                          <m:r>
                            <a:rPr lang="pt-BR" i="1" smtClean="0">
                              <a:latin typeface="Cambria Math" panose="02040503050406030204" pitchFamily="18" charset="0"/>
                            </a:rPr>
                            <m:t>−1</m:t>
                          </m:r>
                        </m:sup>
                        <m:e>
                          <m:d>
                            <m:dPr>
                              <m:begChr m:val="["/>
                              <m:endChr m:val="]"/>
                              <m:ctrlPr>
                                <a:rPr lang="pt-BR" i="1">
                                  <a:latin typeface="Cambria Math" panose="02040503050406030204" pitchFamily="18" charset="0"/>
                                </a:rPr>
                              </m:ctrlPr>
                            </m:dPr>
                            <m:e>
                              <m:r>
                                <a:rPr lang="pt-BR" i="1" smtClean="0">
                                  <a:latin typeface="Cambria Math" panose="02040503050406030204" pitchFamily="18" charset="0"/>
                                </a:rPr>
                                <m:t>𝑦</m:t>
                              </m:r>
                              <m:d>
                                <m:dPr>
                                  <m:ctrlPr>
                                    <a:rPr lang="pt-BR" i="1">
                                      <a:latin typeface="Cambria Math" panose="02040503050406030204" pitchFamily="18" charset="0"/>
                                    </a:rPr>
                                  </m:ctrlPr>
                                </m:dPr>
                                <m:e>
                                  <m:r>
                                    <a:rPr lang="pt-BR" i="1" smtClean="0">
                                      <a:latin typeface="Cambria Math" panose="02040503050406030204" pitchFamily="18" charset="0"/>
                                    </a:rPr>
                                    <m:t>𝑛</m:t>
                                  </m:r>
                                </m:e>
                              </m:d>
                              <m:r>
                                <a:rPr lang="pt-BR" i="1" smtClean="0">
                                  <a:latin typeface="Cambria Math" panose="02040503050406030204" pitchFamily="18" charset="0"/>
                                </a:rPr>
                                <m:t>−</m:t>
                              </m:r>
                              <m:acc>
                                <m:accPr>
                                  <m:chr m:val="̂"/>
                                  <m:ctrlPr>
                                    <a:rPr lang="pt-BR" i="1">
                                      <a:latin typeface="Cambria Math" panose="02040503050406030204" pitchFamily="18" charset="0"/>
                                    </a:rPr>
                                  </m:ctrlPr>
                                </m:accPr>
                                <m:e>
                                  <m:r>
                                    <a:rPr lang="pt-BR" i="1" smtClean="0">
                                      <a:latin typeface="Cambria Math" panose="02040503050406030204" pitchFamily="18" charset="0"/>
                                    </a:rPr>
                                    <m:t>𝑦</m:t>
                                  </m:r>
                                </m:e>
                              </m:acc>
                              <m:d>
                                <m:dPr>
                                  <m:ctrlPr>
                                    <a:rPr lang="pt-BR" i="1">
                                      <a:latin typeface="Cambria Math" panose="02040503050406030204" pitchFamily="18" charset="0"/>
                                    </a:rPr>
                                  </m:ctrlPr>
                                </m:dPr>
                                <m:e>
                                  <m:r>
                                    <a:rPr lang="pt-BR" i="1" smtClean="0">
                                      <a:latin typeface="Cambria Math" panose="02040503050406030204" pitchFamily="18" charset="0"/>
                                    </a:rPr>
                                    <m:t>𝑛</m:t>
                                  </m:r>
                                </m:e>
                              </m:d>
                            </m:e>
                          </m:d>
                          <m:r>
                            <a:rPr lang="pt-BR" b="1" i="1" smtClean="0">
                              <a:latin typeface="Cambria Math" panose="02040503050406030204" pitchFamily="18" charset="0"/>
                            </a:rPr>
                            <m:t>𝒙</m:t>
                          </m:r>
                          <m:r>
                            <a:rPr lang="pt-BR" i="1" smtClean="0">
                              <a:latin typeface="Cambria Math" panose="02040503050406030204" pitchFamily="18" charset="0"/>
                            </a:rPr>
                            <m:t>(</m:t>
                          </m:r>
                          <m:r>
                            <a:rPr lang="pt-BR" i="1" smtClean="0">
                              <a:latin typeface="Cambria Math" panose="02040503050406030204" pitchFamily="18" charset="0"/>
                            </a:rPr>
                            <m:t>𝑛</m:t>
                          </m:r>
                          <m:r>
                            <a:rPr lang="pt-BR" i="1" smtClean="0">
                              <a:latin typeface="Cambria Math" panose="02040503050406030204" pitchFamily="18" charset="0"/>
                            </a:rPr>
                            <m:t>)</m:t>
                          </m:r>
                        </m:e>
                      </m:nary>
                      <m:r>
                        <a:rPr lang="pt-BR" b="0" smtClean="0">
                          <a:latin typeface="Cambria Math" panose="02040503050406030204" pitchFamily="18" charset="0"/>
                        </a:rPr>
                        <m:t>.</m:t>
                      </m:r>
                    </m:oMath>
                  </m:oMathPara>
                </a14:m>
                <a:endParaRPr lang="pt-BR" dirty="0"/>
              </a:p>
              <a:p>
                <a:r>
                  <a:rPr lang="pt-BR" dirty="0"/>
                  <a:t>Podemos ter </a:t>
                </a:r>
                <a:r>
                  <a:rPr lang="pt-BR" b="1" dirty="0">
                    <a:solidFill>
                      <a:srgbClr val="00B050"/>
                    </a:solidFill>
                  </a:rPr>
                  <a:t>3 versões diferentes, dependendo da </a:t>
                </a:r>
                <a:r>
                  <a:rPr lang="pt-BR" b="1" dirty="0">
                    <a:solidFill>
                      <a:srgbClr val="FF0000"/>
                    </a:solidFill>
                  </a:rPr>
                  <a:t>quantidade de amostras</a:t>
                </a:r>
                <a:r>
                  <a:rPr lang="pt-BR" dirty="0"/>
                  <a:t>, </a:t>
                </a:r>
                <a14:m>
                  <m:oMath xmlns:m="http://schemas.openxmlformats.org/officeDocument/2006/math">
                    <m:r>
                      <a:rPr lang="pt-BR" b="1" smtClean="0">
                        <a:solidFill>
                          <a:srgbClr val="7030A0"/>
                        </a:solidFill>
                        <a:latin typeface="Cambria Math" panose="02040503050406030204" pitchFamily="18" charset="0"/>
                      </a:rPr>
                      <m:t>𝑴</m:t>
                    </m:r>
                  </m:oMath>
                </a14:m>
                <a:r>
                  <a:rPr lang="pt-BR" dirty="0"/>
                  <a:t>, considerados na média acima:</a:t>
                </a:r>
              </a:p>
              <a:p>
                <a:pPr lvl="1">
                  <a:buFont typeface="Wingdings" panose="05000000000000000000" pitchFamily="2" charset="2"/>
                  <a:buChar char="§"/>
                </a:pPr>
                <a:r>
                  <a:rPr lang="pt-BR" b="1" dirty="0"/>
                  <a:t>Gradiente descendente em batelada (GDB).</a:t>
                </a:r>
              </a:p>
              <a:p>
                <a:pPr lvl="1">
                  <a:buFont typeface="Wingdings" panose="05000000000000000000" pitchFamily="2" charset="2"/>
                  <a:buChar char="§"/>
                </a:pPr>
                <a:r>
                  <a:rPr lang="pt-BR" b="1" dirty="0"/>
                  <a:t>Gradiente descendente estocástico (GDE).</a:t>
                </a:r>
              </a:p>
              <a:p>
                <a:pPr lvl="1">
                  <a:buFont typeface="Wingdings" panose="05000000000000000000" pitchFamily="2" charset="2"/>
                  <a:buChar char="§"/>
                </a:pPr>
                <a:r>
                  <a:rPr lang="nl-BE" b="1" dirty="0"/>
                  <a:t>Gradiente descendente em mini-lotes</a:t>
                </a:r>
                <a:r>
                  <a:rPr lang="pt-BR" b="1" dirty="0"/>
                  <a:t> (GDML).</a:t>
                </a:r>
              </a:p>
              <a:p>
                <a:pPr lvl="1">
                  <a:buFont typeface="Wingdings" panose="05000000000000000000" pitchFamily="2" charset="2"/>
                  <a:buChar char="§"/>
                </a:pPr>
                <a:endParaRPr lang="pt-BR" dirty="0"/>
              </a:p>
              <a:p>
                <a:pPr marL="0" indent="0">
                  <a:buNone/>
                </a:pPr>
                <a:endParaRPr lang="pt-BR" dirty="0"/>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212286" cy="5167311"/>
              </a:xfrm>
              <a:blipFill>
                <a:blip r:embed="rId3"/>
                <a:stretch>
                  <a:fillRect l="-979" t="-1887"/>
                </a:stretch>
              </a:blipFill>
            </p:spPr>
            <p:txBody>
              <a:bodyPr/>
              <a:lstStyle/>
              <a:p>
                <a:r>
                  <a:rPr lang="en-US">
                    <a:noFill/>
                  </a:rPr>
                  <a:t> </a:t>
                </a:r>
              </a:p>
            </p:txBody>
          </p:sp>
        </mc:Fallback>
      </mc:AlternateContent>
    </p:spTree>
    <p:extLst>
      <p:ext uri="{BB962C8B-B14F-4D97-AF65-F5344CB8AC3E}">
        <p14:creationId xmlns:p14="http://schemas.microsoft.com/office/powerpoint/2010/main" val="98532085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Gradiente descendente em batelada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353800" cy="5167311"/>
              </a:xfrm>
            </p:spPr>
            <p:txBody>
              <a:bodyPr>
                <a:normAutofit/>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dirty="0"/>
              </a:p>
              <a:p>
                <a:r>
                  <a:rPr lang="pt-BR" b="0" dirty="0"/>
                  <a:t>Calcula o gradiente </a:t>
                </a:r>
                <a:r>
                  <a:rPr lang="pt-BR" dirty="0"/>
                  <a:t>usando </a:t>
                </a:r>
                <a:r>
                  <a:rPr lang="pt-BR" b="1" dirty="0">
                    <a:solidFill>
                      <a:srgbClr val="00B050"/>
                    </a:solidFill>
                  </a:rPr>
                  <a:t>todas as amostras</a:t>
                </a:r>
                <a:r>
                  <a:rPr lang="pt-BR" b="0" dirty="0"/>
                  <a:t> de treinamento (</a:t>
                </a:r>
                <a14:m>
                  <m:oMath xmlns:m="http://schemas.openxmlformats.org/officeDocument/2006/math">
                    <m:r>
                      <m:rPr>
                        <m:sty m:val="p"/>
                      </m:rPr>
                      <a:rPr lang="pt-BR" b="0" i="0" smtClean="0">
                        <a:latin typeface="Cambria Math" panose="02040503050406030204" pitchFamily="18" charset="0"/>
                      </a:rPr>
                      <m:t>M</m:t>
                    </m:r>
                    <m:r>
                      <a:rPr lang="pt-BR" b="0" i="0" smtClean="0">
                        <a:latin typeface="Cambria Math" panose="02040503050406030204" pitchFamily="18" charset="0"/>
                      </a:rPr>
                      <m:t>=</m:t>
                    </m:r>
                    <m:r>
                      <m:rPr>
                        <m:sty m:val="p"/>
                      </m:rPr>
                      <a:rPr lang="pt-BR" b="0" i="0" smtClean="0">
                        <a:latin typeface="Cambria Math" panose="02040503050406030204" pitchFamily="18" charset="0"/>
                      </a:rPr>
                      <m:t>N</m:t>
                    </m:r>
                  </m:oMath>
                </a14:m>
                <a:r>
                  <a:rPr lang="pt-BR" dirty="0"/>
                  <a:t>), resultando em uma </a:t>
                </a:r>
                <a:r>
                  <a:rPr lang="pt-BR" b="1" dirty="0">
                    <a:solidFill>
                      <a:srgbClr val="00B050"/>
                    </a:solidFill>
                  </a:rPr>
                  <a:t>descida suave e direta</a:t>
                </a:r>
                <a:r>
                  <a:rPr lang="pt-BR" dirty="0"/>
                  <a:t> em direção ao mínimo.</a:t>
                </a:r>
              </a:p>
              <a:p>
                <a:r>
                  <a:rPr lang="pt-BR" b="1" dirty="0">
                    <a:solidFill>
                      <a:srgbClr val="00B050"/>
                    </a:solidFill>
                  </a:rPr>
                  <a:t>Convergência</a:t>
                </a:r>
                <a:r>
                  <a:rPr lang="pt-BR" dirty="0"/>
                  <a:t> para o </a:t>
                </a:r>
                <a:r>
                  <a:rPr lang="pt-BR" b="1" dirty="0">
                    <a:solidFill>
                      <a:srgbClr val="7030A0"/>
                    </a:solidFill>
                  </a:rPr>
                  <a:t>mínimo global </a:t>
                </a:r>
                <a:r>
                  <a:rPr lang="pt-BR" dirty="0"/>
                  <a:t>é </a:t>
                </a:r>
                <a:r>
                  <a:rPr lang="pt-BR" b="1" dirty="0">
                    <a:solidFill>
                      <a:srgbClr val="00B050"/>
                    </a:solidFill>
                  </a:rPr>
                  <a:t>garantida</a:t>
                </a:r>
                <a:r>
                  <a:rPr lang="pt-BR" dirty="0"/>
                  <a:t> quando a função de erro é </a:t>
                </a:r>
                <a:r>
                  <a:rPr lang="pt-BR" b="1" dirty="0">
                    <a:solidFill>
                      <a:srgbClr val="00B050"/>
                    </a:solidFill>
                  </a:rPr>
                  <a:t>convexa e o passo não é grande demais</a:t>
                </a:r>
                <a:r>
                  <a:rPr lang="pt-BR" dirty="0"/>
                  <a:t>.</a:t>
                </a:r>
              </a:p>
              <a:p>
                <a:r>
                  <a:rPr lang="pt-BR" dirty="0"/>
                  <a:t>Pode ser </a:t>
                </a:r>
                <a:r>
                  <a:rPr lang="pt-BR" b="1" dirty="0">
                    <a:solidFill>
                      <a:srgbClr val="00B050"/>
                    </a:solidFill>
                  </a:rPr>
                  <a:t>computacionalmente complexo</a:t>
                </a:r>
                <a:r>
                  <a:rPr lang="pt-BR" dirty="0"/>
                  <a:t> dependendo do tamanho do modelo e do conjunto de dados.</a:t>
                </a:r>
              </a:p>
              <a:p>
                <a:pPr lvl="1">
                  <a:buFont typeface="Wingdings" panose="05000000000000000000" pitchFamily="2" charset="2"/>
                  <a:buChar char="§"/>
                </a:pPr>
                <a:r>
                  <a:rPr lang="pt-BR" dirty="0"/>
                  <a:t>Por processar todos os exemplos, é lento em conjuntos muito grandes e consome muita memória.</a:t>
                </a:r>
              </a:p>
              <a:p>
                <a:r>
                  <a:rPr lang="pt-BR" dirty="0"/>
                  <a:t>Das 3, é a versão que </a:t>
                </a:r>
                <a:r>
                  <a:rPr lang="pt-BR" b="1" dirty="0">
                    <a:solidFill>
                      <a:srgbClr val="00B050"/>
                    </a:solidFill>
                  </a:rPr>
                  <a:t>obtém os melhores resultados</a:t>
                </a:r>
                <a:r>
                  <a:rPr lang="pt-BR" dirty="0"/>
                  <a:t>.</a:t>
                </a:r>
              </a:p>
            </p:txBody>
          </p:sp>
        </mc:Choice>
        <mc:Fallback xmlns="">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353800" cy="5167311"/>
              </a:xfrm>
              <a:blipFill>
                <a:blip r:embed="rId3"/>
                <a:stretch>
                  <a:fillRect l="-967" r="-591" b="-1887"/>
                </a:stretch>
              </a:blipFill>
            </p:spPr>
            <p:txBody>
              <a:bodyPr/>
              <a:lstStyle/>
              <a:p>
                <a:r>
                  <a:rPr lang="en-US">
                    <a:noFill/>
                  </a:rPr>
                  <a:t> </a:t>
                </a:r>
              </a:p>
            </p:txBody>
          </p:sp>
        </mc:Fallback>
      </mc:AlternateContent>
    </p:spTree>
    <p:extLst>
      <p:ext uri="{BB962C8B-B14F-4D97-AF65-F5344CB8AC3E}">
        <p14:creationId xmlns:p14="http://schemas.microsoft.com/office/powerpoint/2010/main" val="55018654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33D925E-2F29-96FA-1E82-8F73086FABF1}"/>
              </a:ext>
            </a:extLst>
          </p:cNvPr>
          <p:cNvSpPr>
            <a:spLocks noGrp="1"/>
          </p:cNvSpPr>
          <p:nvPr>
            <p:ph type="title"/>
          </p:nvPr>
        </p:nvSpPr>
        <p:spPr/>
        <p:txBody>
          <a:bodyPr/>
          <a:lstStyle/>
          <a:p>
            <a:r>
              <a:rPr lang="pt-BR" dirty="0"/>
              <a:t>Gradiente descendente estocástico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E7C9F4C-5009-7EC3-F599-AD0E3603A4A3}"/>
                  </a:ext>
                </a:extLst>
              </p:cNvPr>
              <p:cNvSpPr>
                <a:spLocks noGrp="1"/>
              </p:cNvSpPr>
              <p:nvPr>
                <p:ph idx="1"/>
              </p:nvPr>
            </p:nvSpPr>
            <p:spPr>
              <a:xfrm>
                <a:off x="838199" y="1825624"/>
                <a:ext cx="11110645" cy="5032375"/>
              </a:xfrm>
            </p:spPr>
            <p:txBody>
              <a:bodyPr>
                <a:normAutofit lnSpcReduction="10000"/>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r>
                        <a:rPr lang="pt-BR" b="0" i="1" smtClean="0">
                          <a:latin typeface="Cambria Math" panose="02040503050406030204" pitchFamily="18" charset="0"/>
                          <a:ea typeface="Cambria Math" panose="02040503050406030204" pitchFamily="18" charset="0"/>
                        </a:rPr>
                        <m:t>2</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smtClean="0">
                                  <a:latin typeface="Cambria Math" panose="02040503050406030204" pitchFamily="18" charset="0"/>
                                </a:rPr>
                              </m:ctrlPr>
                            </m:dPr>
                            <m:e>
                              <m:sSub>
                                <m:sSubPr>
                                  <m:ctrlPr>
                                    <a:rPr lang="pt-BR" i="1" smtClean="0">
                                      <a:latin typeface="Cambria Math" panose="02040503050406030204" pitchFamily="18" charset="0"/>
                                    </a:rPr>
                                  </m:ctrlPr>
                                </m:sSubPr>
                                <m:e>
                                  <m:r>
                                    <a:rPr lang="pt-BR" b="0" i="1" smtClean="0">
                                      <a:latin typeface="Cambria Math" panose="02040503050406030204" pitchFamily="18" charset="0"/>
                                    </a:rPr>
                                    <m:t>𝑛</m:t>
                                  </m:r>
                                </m:e>
                                <m:sub>
                                  <m:r>
                                    <m:rPr>
                                      <m:sty m:val="p"/>
                                    </m:rPr>
                                    <a:rPr lang="pt-BR" b="0" i="0" smtClean="0">
                                      <a:latin typeface="Cambria Math" panose="02040503050406030204" pitchFamily="18" charset="0"/>
                                    </a:rPr>
                                    <m:t>random</m:t>
                                  </m:r>
                                </m:sub>
                              </m:sSub>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𝑛</m:t>
                                  </m:r>
                                </m:e>
                                <m:sub>
                                  <m:r>
                                    <m:rPr>
                                      <m:sty m:val="p"/>
                                    </m:rPr>
                                    <a:rPr lang="pt-BR">
                                      <a:latin typeface="Cambria Math" panose="02040503050406030204" pitchFamily="18" charset="0"/>
                                    </a:rPr>
                                    <m:t>random</m:t>
                                  </m:r>
                                </m:sub>
                              </m:sSub>
                            </m:e>
                          </m:d>
                        </m:e>
                      </m:d>
                      <m:r>
                        <a:rPr lang="pt-BR" b="1" i="1">
                          <a:latin typeface="Cambria Math" panose="02040503050406030204" pitchFamily="18" charset="0"/>
                        </a:rPr>
                        <m:t>𝒙</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𝑛</m:t>
                          </m:r>
                        </m:e>
                        <m:sub>
                          <m:r>
                            <m:rPr>
                              <m:sty m:val="p"/>
                            </m:rPr>
                            <a:rPr lang="pt-BR">
                              <a:latin typeface="Cambria Math" panose="02040503050406030204" pitchFamily="18" charset="0"/>
                            </a:rPr>
                            <m:t>random</m:t>
                          </m:r>
                        </m:sub>
                      </m:sSub>
                      <m:r>
                        <a:rPr lang="pt-BR" i="1">
                          <a:latin typeface="Cambria Math" panose="02040503050406030204" pitchFamily="18" charset="0"/>
                        </a:rPr>
                        <m:t>)</m:t>
                      </m:r>
                      <m:r>
                        <a:rPr lang="pt-BR" b="0" i="0" smtClean="0">
                          <a:latin typeface="Cambria Math" panose="02040503050406030204" pitchFamily="18" charset="0"/>
                        </a:rPr>
                        <m:t>.</m:t>
                      </m:r>
                    </m:oMath>
                  </m:oMathPara>
                </a14:m>
                <a:endParaRPr lang="pt-BR" b="0" i="0" dirty="0"/>
              </a:p>
              <a:p>
                <a:pPr marL="0" indent="0">
                  <a:buNone/>
                </a:pPr>
                <a:endParaRPr lang="pt-BR" sz="800" b="0" i="0" dirty="0"/>
              </a:p>
              <a:p>
                <a:r>
                  <a:rPr lang="pt-BR" dirty="0"/>
                  <a:t>Utiliza </a:t>
                </a:r>
                <a:r>
                  <a:rPr lang="pt-BR" b="1" i="1" dirty="0">
                    <a:solidFill>
                      <a:srgbClr val="00B050"/>
                    </a:solidFill>
                  </a:rPr>
                  <a:t>apenas uma amostra</a:t>
                </a:r>
                <a:r>
                  <a:rPr lang="pt-BR" dirty="0"/>
                  <a:t> do conjunto de treinamento (i.e., </a:t>
                </a:r>
                <a14:m>
                  <m:oMath xmlns:m="http://schemas.openxmlformats.org/officeDocument/2006/math">
                    <m:r>
                      <a:rPr lang="pt-BR" b="0" i="1" smtClean="0">
                        <a:latin typeface="Cambria Math" panose="02040503050406030204" pitchFamily="18" charset="0"/>
                      </a:rPr>
                      <m:t>𝑀</m:t>
                    </m:r>
                    <m:r>
                      <a:rPr lang="pt-BR" b="0" i="1" smtClean="0">
                        <a:latin typeface="Cambria Math" panose="02040503050406030204" pitchFamily="18" charset="0"/>
                      </a:rPr>
                      <m:t>=1</m:t>
                    </m:r>
                  </m:oMath>
                </a14:m>
                <a:r>
                  <a:rPr lang="pt-BR" dirty="0"/>
                  <a:t>) para calcular uma </a:t>
                </a:r>
                <a:r>
                  <a:rPr lang="pt-BR" b="1" i="1" dirty="0">
                    <a:solidFill>
                      <a:srgbClr val="00B050"/>
                    </a:solidFill>
                  </a:rPr>
                  <a:t>estimativa estocástica do gradiente</a:t>
                </a:r>
                <a:r>
                  <a:rPr lang="pt-BR" dirty="0"/>
                  <a:t>.</a:t>
                </a:r>
              </a:p>
              <a:p>
                <a:pPr lvl="1">
                  <a:buFont typeface="Wingdings" panose="05000000000000000000" pitchFamily="2" charset="2"/>
                  <a:buChar char="§"/>
                </a:pPr>
                <a:r>
                  <a:rPr lang="pt-BR" dirty="0"/>
                  <a:t>Versão estocástica, pois a cada iteração toma-se uma amostra </a:t>
                </a:r>
                <a:r>
                  <a:rPr lang="pt-BR" b="1" i="1" dirty="0">
                    <a:solidFill>
                      <a:srgbClr val="00B050"/>
                    </a:solidFill>
                  </a:rPr>
                  <a:t>aleatória</a:t>
                </a:r>
                <a:r>
                  <a:rPr lang="pt-BR" dirty="0"/>
                  <a:t> do conjunto para calcular a estimativa do gradiente.</a:t>
                </a:r>
              </a:p>
              <a:p>
                <a:r>
                  <a:rPr lang="pt-BR" dirty="0"/>
                  <a:t>Quando os </a:t>
                </a:r>
                <a:r>
                  <a:rPr lang="pt-BR" b="1" i="1" dirty="0">
                    <a:solidFill>
                      <a:srgbClr val="00B050"/>
                    </a:solidFill>
                  </a:rPr>
                  <a:t>d</a:t>
                </a:r>
                <a:r>
                  <a:rPr lang="pt-BR" b="1" i="1" dirty="0">
                    <a:solidFill>
                      <a:srgbClr val="00B050"/>
                    </a:solidFill>
                    <a:effectLst/>
                  </a:rPr>
                  <a:t>ados de treinamento são ruidosos</a:t>
                </a:r>
                <a:r>
                  <a:rPr lang="pt-BR" b="0" i="0" dirty="0">
                    <a:effectLst/>
                  </a:rPr>
                  <a:t>, a</a:t>
                </a:r>
                <a:r>
                  <a:rPr lang="pt-BR" dirty="0"/>
                  <a:t> </a:t>
                </a:r>
                <a:r>
                  <a:rPr lang="pt-BR" b="1" i="1" dirty="0">
                    <a:solidFill>
                      <a:srgbClr val="00B050"/>
                    </a:solidFill>
                  </a:rPr>
                  <a:t>estimativa</a:t>
                </a:r>
                <a:r>
                  <a:rPr lang="pt-BR" dirty="0"/>
                  <a:t> do gradiente </a:t>
                </a:r>
                <a:r>
                  <a:rPr lang="pt-BR" b="1" i="1" dirty="0">
                    <a:solidFill>
                      <a:srgbClr val="00B050"/>
                    </a:solidFill>
                  </a:rPr>
                  <a:t>é ruidosa</a:t>
                </a:r>
                <a:r>
                  <a:rPr lang="pt-BR" dirty="0"/>
                  <a:t>, fazendo com que a </a:t>
                </a:r>
                <a:r>
                  <a:rPr lang="pt-BR" b="1" i="1" dirty="0">
                    <a:solidFill>
                      <a:srgbClr val="00B050"/>
                    </a:solidFill>
                  </a:rPr>
                  <a:t>convergência não ocorra</a:t>
                </a:r>
                <a:r>
                  <a:rPr lang="pt-BR" dirty="0"/>
                  <a:t> ou </a:t>
                </a:r>
                <a:r>
                  <a:rPr lang="pt-BR" b="1" i="1" dirty="0">
                    <a:solidFill>
                      <a:srgbClr val="00B050"/>
                    </a:solidFill>
                  </a:rPr>
                  <a:t>não seja garantida</a:t>
                </a:r>
                <a:r>
                  <a:rPr lang="pt-BR" dirty="0"/>
                  <a:t>.</a:t>
                </a:r>
              </a:p>
              <a:p>
                <a:r>
                  <a:rPr lang="pt-BR" dirty="0"/>
                  <a:t>Atualiza os pesos a cada exemplo processado, gerando uma trajetória oscilatória que flutua ao redor do mínimo devido à estimativa ruidosa do gradiente.</a:t>
                </a:r>
              </a:p>
              <a:p>
                <a:r>
                  <a:rPr lang="pt-BR" dirty="0"/>
                  <a:t>Entretanto, é mais rápido e usa menos CPU e memória do que o GDB.</a:t>
                </a:r>
              </a:p>
            </p:txBody>
          </p:sp>
        </mc:Choice>
        <mc:Fallback xmlns="">
          <p:sp>
            <p:nvSpPr>
              <p:cNvPr id="3" name="Espaço Reservado para Conteúdo 2">
                <a:extLst>
                  <a:ext uri="{FF2B5EF4-FFF2-40B4-BE49-F238E27FC236}">
                    <a16:creationId xmlns:a16="http://schemas.microsoft.com/office/drawing/2014/main" id="{9E7C9F4C-5009-7EC3-F599-AD0E3603A4A3}"/>
                  </a:ext>
                </a:extLst>
              </p:cNvPr>
              <p:cNvSpPr>
                <a:spLocks noGrp="1" noRot="1" noChangeAspect="1" noMove="1" noResize="1" noEditPoints="1" noAdjustHandles="1" noChangeArrowheads="1" noChangeShapeType="1" noTextEdit="1"/>
              </p:cNvSpPr>
              <p:nvPr>
                <p:ph idx="1"/>
              </p:nvPr>
            </p:nvSpPr>
            <p:spPr>
              <a:xfrm>
                <a:off x="838199" y="1825624"/>
                <a:ext cx="11110645" cy="5032375"/>
              </a:xfrm>
              <a:blipFill>
                <a:blip r:embed="rId3"/>
                <a:stretch>
                  <a:fillRect l="-933" t="-1574" r="-219" b="-1574"/>
                </a:stretch>
              </a:blipFill>
            </p:spPr>
            <p:txBody>
              <a:bodyPr/>
              <a:lstStyle/>
              <a:p>
                <a:r>
                  <a:rPr lang="en-US">
                    <a:noFill/>
                  </a:rPr>
                  <a:t> </a:t>
                </a:r>
              </a:p>
            </p:txBody>
          </p:sp>
        </mc:Fallback>
      </mc:AlternateContent>
    </p:spTree>
    <p:extLst>
      <p:ext uri="{BB962C8B-B14F-4D97-AF65-F5344CB8AC3E}">
        <p14:creationId xmlns:p14="http://schemas.microsoft.com/office/powerpoint/2010/main" val="260128416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Gradiente descendente em mini-lotes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212286" cy="5167311"/>
              </a:xfrm>
            </p:spPr>
            <p:txBody>
              <a:bodyPr>
                <a:normAutofit/>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𝑀𝐵</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𝑀𝐵</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b="0" i="0" dirty="0">
                  <a:latin typeface="Cambria Math" panose="02040503050406030204" pitchFamily="18" charset="0"/>
                </a:endParaRPr>
              </a:p>
              <a:p>
                <a:r>
                  <a:rPr lang="pt-BR" dirty="0"/>
                  <a:t>Utiliza um </a:t>
                </a:r>
                <a:r>
                  <a:rPr lang="pt-BR" b="1" i="1" dirty="0">
                    <a:solidFill>
                      <a:srgbClr val="00B050"/>
                    </a:solidFill>
                  </a:rPr>
                  <a:t>subconjunto de amostras</a:t>
                </a:r>
                <a:r>
                  <a:rPr lang="pt-BR" dirty="0"/>
                  <a:t>, </a:t>
                </a:r>
                <a14:m>
                  <m:oMath xmlns:m="http://schemas.openxmlformats.org/officeDocument/2006/math">
                    <m:r>
                      <a:rPr lang="pt-BR" i="1">
                        <a:latin typeface="Cambria Math" panose="02040503050406030204" pitchFamily="18" charset="0"/>
                      </a:rPr>
                      <m:t>𝑀𝐵</m:t>
                    </m:r>
                  </m:oMath>
                </a14:m>
                <a:r>
                  <a:rPr lang="pt-BR" dirty="0"/>
                  <a:t>, do conjunto de treinamento (</a:t>
                </a:r>
                <a14:m>
                  <m:oMath xmlns:m="http://schemas.openxmlformats.org/officeDocument/2006/math">
                    <m:r>
                      <a:rPr lang="pt-BR" b="0" i="1" smtClean="0">
                        <a:latin typeface="Cambria Math" panose="02040503050406030204" pitchFamily="18" charset="0"/>
                      </a:rPr>
                      <m:t>𝑀</m:t>
                    </m:r>
                    <m:r>
                      <a:rPr lang="pt-BR" b="0" i="1" smtClean="0">
                        <a:latin typeface="Cambria Math" panose="02040503050406030204" pitchFamily="18" charset="0"/>
                      </a:rPr>
                      <m:t>=</m:t>
                    </m:r>
                    <m:r>
                      <a:rPr lang="pt-BR" b="0" i="1" smtClean="0">
                        <a:latin typeface="Cambria Math" panose="02040503050406030204" pitchFamily="18" charset="0"/>
                      </a:rPr>
                      <m:t>𝑀𝐵</m:t>
                    </m:r>
                  </m:oMath>
                </a14:m>
                <a:r>
                  <a:rPr lang="pt-BR" dirty="0"/>
                  <a:t>) para o cálculo do gradiente</a:t>
                </a:r>
                <a:r>
                  <a:rPr lang="nl-BE" dirty="0"/>
                  <a:t>.</a:t>
                </a:r>
              </a:p>
              <a:p>
                <a:r>
                  <a:rPr lang="nl-BE" dirty="0"/>
                  <a:t>Por, em geral, usar um </a:t>
                </a:r>
                <a:r>
                  <a:rPr lang="nl-BE" b="1" i="1" dirty="0">
                    <a:solidFill>
                      <a:srgbClr val="00B050"/>
                    </a:solidFill>
                  </a:rPr>
                  <a:t>subconjunto</a:t>
                </a:r>
                <a:r>
                  <a:rPr lang="nl-BE" dirty="0"/>
                  <a:t> de exemplos, </a:t>
                </a:r>
                <a14:m>
                  <m:oMath xmlns:m="http://schemas.openxmlformats.org/officeDocument/2006/math">
                    <m:r>
                      <a:rPr lang="pt-BR" b="0" i="0" smtClean="0">
                        <a:latin typeface="Cambria Math" panose="02040503050406030204" pitchFamily="18" charset="0"/>
                      </a:rPr>
                      <m:t>1&lt;</m:t>
                    </m:r>
                    <m:r>
                      <a:rPr lang="pt-BR" i="1">
                        <a:latin typeface="Cambria Math" panose="02040503050406030204" pitchFamily="18" charset="0"/>
                      </a:rPr>
                      <m:t>𝑀𝐵</m:t>
                    </m:r>
                    <m:r>
                      <a:rPr lang="pt-BR" b="0" i="0" smtClean="0">
                        <a:latin typeface="Cambria Math" panose="02040503050406030204" pitchFamily="18" charset="0"/>
                      </a:rPr>
                      <m:t>&lt;</m:t>
                    </m:r>
                    <m:r>
                      <a:rPr lang="pt-BR" b="0" i="1" smtClean="0">
                        <a:latin typeface="Cambria Math" panose="02040503050406030204" pitchFamily="18" charset="0"/>
                      </a:rPr>
                      <m:t>𝑁</m:t>
                    </m:r>
                  </m:oMath>
                </a14:m>
                <a:r>
                  <a:rPr lang="pt-BR" dirty="0"/>
                  <a:t>, é mais rápido que o GDB e mais preciso e estável do que o GDE. </a:t>
                </a:r>
              </a:p>
              <a:p>
                <a:r>
                  <a:rPr lang="pt-BR" dirty="0"/>
                  <a:t>Porém, por </a:t>
                </a:r>
                <a14:m>
                  <m:oMath xmlns:m="http://schemas.openxmlformats.org/officeDocument/2006/math">
                    <m:r>
                      <a:rPr lang="pt-BR" b="0" i="1" smtClean="0">
                        <a:latin typeface="Cambria Math" panose="02040503050406030204" pitchFamily="18" charset="0"/>
                      </a:rPr>
                      <m:t>𝑀𝐵</m:t>
                    </m:r>
                  </m:oMath>
                </a14:m>
                <a:r>
                  <a:rPr lang="pt-BR" dirty="0"/>
                  <a:t> ser variável, essa versão é vista como uma </a:t>
                </a:r>
                <a:r>
                  <a:rPr lang="pt-BR" b="1" i="1" dirty="0">
                    <a:solidFill>
                      <a:srgbClr val="00B050"/>
                    </a:solidFill>
                  </a:rPr>
                  <a:t>generalização</a:t>
                </a:r>
                <a:r>
                  <a:rPr lang="pt-BR" dirty="0"/>
                  <a:t> das duas versões anteriores, pois </a:t>
                </a:r>
                <a14:m>
                  <m:oMath xmlns:m="http://schemas.openxmlformats.org/officeDocument/2006/math">
                    <m:r>
                      <a:rPr lang="pt-BR" i="1">
                        <a:latin typeface="Cambria Math" panose="02040503050406030204" pitchFamily="18" charset="0"/>
                      </a:rPr>
                      <m:t>𝑀𝐵</m:t>
                    </m:r>
                  </m:oMath>
                </a14:m>
                <a:r>
                  <a:rPr lang="pt-BR" dirty="0"/>
                  <a:t> pode ser feito igual a 1 ou </a:t>
                </a:r>
                <a14:m>
                  <m:oMath xmlns:m="http://schemas.openxmlformats.org/officeDocument/2006/math">
                    <m:r>
                      <a:rPr lang="pt-BR" b="0" i="1" smtClean="0">
                        <a:latin typeface="Cambria Math" panose="02040503050406030204" pitchFamily="18" charset="0"/>
                      </a:rPr>
                      <m:t>𝑁</m:t>
                    </m:r>
                  </m:oMath>
                </a14:m>
                <a:r>
                  <a:rPr lang="pt-BR" dirty="0"/>
                  <a:t>.</a:t>
                </a:r>
              </a:p>
              <a:p>
                <a:r>
                  <a:rPr lang="pt-BR" dirty="0"/>
                  <a:t>Portanto, por poder ter sua complexidade configurada, é a </a:t>
                </a:r>
                <a:r>
                  <a:rPr lang="pt-BR" b="1" i="1" dirty="0">
                    <a:solidFill>
                      <a:srgbClr val="00B050"/>
                    </a:solidFill>
                  </a:rPr>
                  <a:t>versão mais usada no treinamento de redes neurais</a:t>
                </a:r>
                <a:r>
                  <a:rPr lang="pt-BR" dirty="0"/>
                  <a:t>.</a:t>
                </a:r>
              </a:p>
            </p:txBody>
          </p:sp>
        </mc:Choice>
        <mc:Fallback xmlns="">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212286" cy="5167311"/>
              </a:xfrm>
              <a:blipFill>
                <a:blip r:embed="rId3"/>
                <a:stretch>
                  <a:fillRect l="-979"/>
                </a:stretch>
              </a:blipFill>
            </p:spPr>
            <p:txBody>
              <a:bodyPr/>
              <a:lstStyle/>
              <a:p>
                <a:r>
                  <a:rPr lang="en-US">
                    <a:noFill/>
                  </a:rPr>
                  <a:t> </a:t>
                </a:r>
              </a:p>
            </p:txBody>
          </p:sp>
        </mc:Fallback>
      </mc:AlternateContent>
    </p:spTree>
    <p:extLst>
      <p:ext uri="{BB962C8B-B14F-4D97-AF65-F5344CB8AC3E}">
        <p14:creationId xmlns:p14="http://schemas.microsoft.com/office/powerpoint/2010/main" val="291844747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439F8E-77CA-0E48-B486-457B0472A170}"/>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83699754-4162-7E34-6EA0-08DDCC0BC362}"/>
              </a:ext>
            </a:extLst>
          </p:cNvPr>
          <p:cNvSpPr>
            <a:spLocks noGrp="1"/>
          </p:cNvSpPr>
          <p:nvPr>
            <p:ph idx="1"/>
          </p:nvPr>
        </p:nvSpPr>
        <p:spPr>
          <a:xfrm>
            <a:off x="838200" y="1858433"/>
            <a:ext cx="10515600" cy="3141133"/>
          </a:xfrm>
        </p:spPr>
        <p:txBody>
          <a:bodyPr>
            <a:normAutofit/>
          </a:bodyPr>
          <a:lstStyle/>
          <a:p>
            <a:pPr marL="0" indent="0" algn="ctr">
              <a:buNone/>
            </a:pPr>
            <a:r>
              <a:rPr lang="pt-BR" sz="5400" i="1" dirty="0"/>
              <a:t>Já sabemos como encontrar os pesos de um dado polinômio, mas como descobrimos a complexidade ideal, i.e., o grau deste polinômio?</a:t>
            </a:r>
            <a:endParaRPr lang="en-US" sz="5400" i="1" dirty="0"/>
          </a:p>
        </p:txBody>
      </p:sp>
    </p:spTree>
    <p:extLst>
      <p:ext uri="{BB962C8B-B14F-4D97-AF65-F5344CB8AC3E}">
        <p14:creationId xmlns:p14="http://schemas.microsoft.com/office/powerpoint/2010/main" val="395084870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C905B2-EF68-9C93-5115-04CD84B5B0D0}"/>
              </a:ext>
            </a:extLst>
          </p:cNvPr>
          <p:cNvSpPr>
            <a:spLocks noGrp="1"/>
          </p:cNvSpPr>
          <p:nvPr>
            <p:ph type="title"/>
          </p:nvPr>
        </p:nvSpPr>
        <p:spPr/>
        <p:txBody>
          <a:bodyPr/>
          <a:lstStyle/>
          <a:p>
            <a:r>
              <a:rPr lang="en-US" i="1" dirty="0"/>
              <a:t>Underfitting</a:t>
            </a:r>
            <a:r>
              <a:rPr lang="en-US" dirty="0"/>
              <a:t> e </a:t>
            </a:r>
            <a:r>
              <a:rPr lang="en-US" i="1" dirty="0"/>
              <a:t>overfitting</a:t>
            </a:r>
            <a:endParaRPr lang="en-US" dirty="0"/>
          </a:p>
        </p:txBody>
      </p:sp>
      <p:sp>
        <p:nvSpPr>
          <p:cNvPr id="3" name="Content Placeholder 2">
            <a:extLst>
              <a:ext uri="{FF2B5EF4-FFF2-40B4-BE49-F238E27FC236}">
                <a16:creationId xmlns:a16="http://schemas.microsoft.com/office/drawing/2014/main" id="{8926E79E-7E8D-D875-50B2-B636DE18FB89}"/>
              </a:ext>
            </a:extLst>
          </p:cNvPr>
          <p:cNvSpPr>
            <a:spLocks noGrp="1"/>
          </p:cNvSpPr>
          <p:nvPr>
            <p:ph idx="1"/>
          </p:nvPr>
        </p:nvSpPr>
        <p:spPr>
          <a:xfrm>
            <a:off x="838200" y="1825624"/>
            <a:ext cx="11105444" cy="5032375"/>
          </a:xfrm>
        </p:spPr>
        <p:txBody>
          <a:bodyPr/>
          <a:lstStyle/>
          <a:p>
            <a:r>
              <a:rPr lang="pt-BR" dirty="0"/>
              <a:t>Antes de falarmos sobre a validação cruzada, que é a forma mais usada para de encontrar o melhor modelo, precisamos discutir sobre alguns comportamentos que vamos encontrar durante essa busca.</a:t>
            </a:r>
          </a:p>
          <a:p>
            <a:r>
              <a:rPr lang="pt-BR" dirty="0"/>
              <a:t>Dependendo da complexidade (ou graus de liberdade) do modelo, no caso da regressão, do grau do polinômio, podemos nos deparar com dois comportamentos indesejados:</a:t>
            </a:r>
          </a:p>
          <a:p>
            <a:pPr lvl="1">
              <a:buFont typeface="Wingdings" panose="05000000000000000000" pitchFamily="2" charset="2"/>
              <a:buChar char="§"/>
            </a:pPr>
            <a:r>
              <a:rPr lang="pt-BR" i="1" dirty="0"/>
              <a:t>Underfitting</a:t>
            </a:r>
            <a:r>
              <a:rPr lang="pt-BR" dirty="0"/>
              <a:t> (subajuste)</a:t>
            </a:r>
          </a:p>
          <a:p>
            <a:pPr lvl="1">
              <a:buFont typeface="Wingdings" panose="05000000000000000000" pitchFamily="2" charset="2"/>
              <a:buChar char="§"/>
            </a:pPr>
            <a:r>
              <a:rPr lang="pt-BR" i="1" dirty="0" err="1"/>
              <a:t>Overfitting</a:t>
            </a:r>
            <a:r>
              <a:rPr lang="pt-BR" dirty="0"/>
              <a:t> (sobreajuste)</a:t>
            </a:r>
          </a:p>
        </p:txBody>
      </p:sp>
    </p:spTree>
    <p:extLst>
      <p:ext uri="{BB962C8B-B14F-4D97-AF65-F5344CB8AC3E}">
        <p14:creationId xmlns:p14="http://schemas.microsoft.com/office/powerpoint/2010/main" val="400541624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A366E-1890-0B0C-307E-E44C08256B46}"/>
              </a:ext>
            </a:extLst>
          </p:cNvPr>
          <p:cNvSpPr>
            <a:spLocks noGrp="1"/>
          </p:cNvSpPr>
          <p:nvPr>
            <p:ph type="title"/>
          </p:nvPr>
        </p:nvSpPr>
        <p:spPr/>
        <p:txBody>
          <a:bodyPr/>
          <a:lstStyle/>
          <a:p>
            <a:r>
              <a:rPr lang="en-US" i="1" dirty="0"/>
              <a:t>Overfitting </a:t>
            </a:r>
            <a:r>
              <a:rPr lang="en-US" dirty="0"/>
              <a:t>e</a:t>
            </a:r>
            <a:r>
              <a:rPr lang="en-US" i="1" dirty="0"/>
              <a:t> underfitting</a:t>
            </a:r>
            <a:endParaRPr lang="en-US" dirty="0"/>
          </a:p>
        </p:txBody>
      </p:sp>
      <p:pic>
        <p:nvPicPr>
          <p:cNvPr id="4" name="Picture 2">
            <a:extLst>
              <a:ext uri="{FF2B5EF4-FFF2-40B4-BE49-F238E27FC236}">
                <a16:creationId xmlns:a16="http://schemas.microsoft.com/office/drawing/2014/main" id="{B909593E-E8C3-82E0-8AD7-61CB0B1B3E5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0381" t="29526" r="6597" b="2754"/>
          <a:stretch>
            <a:fillRect/>
          </a:stretch>
        </p:blipFill>
        <p:spPr bwMode="auto">
          <a:xfrm>
            <a:off x="306941" y="2211173"/>
            <a:ext cx="7663016" cy="3512294"/>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553E6552-0BB2-B87E-2D0B-FB28A9C082C7}"/>
              </a:ext>
            </a:extLst>
          </p:cNvPr>
          <p:cNvSpPr txBox="1"/>
          <p:nvPr/>
        </p:nvSpPr>
        <p:spPr>
          <a:xfrm>
            <a:off x="8272614" y="2413048"/>
            <a:ext cx="3693608" cy="3108543"/>
          </a:xfrm>
          <a:prstGeom prst="rect">
            <a:avLst/>
          </a:prstGeom>
          <a:noFill/>
        </p:spPr>
        <p:txBody>
          <a:bodyPr wrap="square">
            <a:spAutoFit/>
          </a:bodyPr>
          <a:lstStyle/>
          <a:p>
            <a:r>
              <a:rPr lang="pt-BR" sz="2800" b="1" i="1" dirty="0"/>
              <a:t>Underfitting</a:t>
            </a:r>
            <a:r>
              <a:rPr lang="pt-BR" sz="2800" dirty="0"/>
              <a:t>: o modelo é simples demais para a complexidade do problema.</a:t>
            </a:r>
          </a:p>
          <a:p>
            <a:endParaRPr lang="pt-BR" sz="2800" b="1" dirty="0"/>
          </a:p>
          <a:p>
            <a:r>
              <a:rPr lang="pt-BR" sz="2800" b="1" i="1" dirty="0" err="1"/>
              <a:t>Overfitting</a:t>
            </a:r>
            <a:r>
              <a:rPr lang="pt-BR" sz="2800" dirty="0"/>
              <a:t>: o modelo é complexo demais.</a:t>
            </a:r>
            <a:endParaRPr lang="en-US" sz="2800" dirty="0"/>
          </a:p>
        </p:txBody>
      </p:sp>
    </p:spTree>
    <p:extLst>
      <p:ext uri="{BB962C8B-B14F-4D97-AF65-F5344CB8AC3E}">
        <p14:creationId xmlns:p14="http://schemas.microsoft.com/office/powerpoint/2010/main" val="249229283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9F3EF5-EAFC-A6A7-0E10-FF771B587B0F}"/>
              </a:ext>
            </a:extLst>
          </p:cNvPr>
          <p:cNvSpPr>
            <a:spLocks noGrp="1"/>
          </p:cNvSpPr>
          <p:nvPr>
            <p:ph type="title"/>
          </p:nvPr>
        </p:nvSpPr>
        <p:spPr/>
        <p:txBody>
          <a:bodyPr/>
          <a:lstStyle/>
          <a:p>
            <a:r>
              <a:rPr lang="en-US" i="1" dirty="0"/>
              <a:t>Overfitting</a:t>
            </a:r>
            <a:endParaRPr lang="en-US" dirty="0"/>
          </a:p>
        </p:txBody>
      </p:sp>
      <p:sp>
        <p:nvSpPr>
          <p:cNvPr id="3" name="Content Placeholder 2">
            <a:extLst>
              <a:ext uri="{FF2B5EF4-FFF2-40B4-BE49-F238E27FC236}">
                <a16:creationId xmlns:a16="http://schemas.microsoft.com/office/drawing/2014/main" id="{98558359-53B1-7971-801A-18F311722EC8}"/>
              </a:ext>
            </a:extLst>
          </p:cNvPr>
          <p:cNvSpPr>
            <a:spLocks noGrp="1"/>
          </p:cNvSpPr>
          <p:nvPr>
            <p:ph idx="1"/>
          </p:nvPr>
        </p:nvSpPr>
        <p:spPr>
          <a:xfrm>
            <a:off x="5700889" y="1825624"/>
            <a:ext cx="6449924" cy="5032375"/>
          </a:xfrm>
        </p:spPr>
        <p:txBody>
          <a:bodyPr/>
          <a:lstStyle/>
          <a:p>
            <a:r>
              <a:rPr lang="pt-BR" dirty="0"/>
              <a:t>O modelo é tão flexível (i.e., complexo) que “</a:t>
            </a:r>
            <a:r>
              <a:rPr lang="pt-BR" b="1" dirty="0"/>
              <a:t>memoriza</a:t>
            </a:r>
            <a:r>
              <a:rPr lang="pt-BR" dirty="0"/>
              <a:t>” o conjunto de treinamento.</a:t>
            </a:r>
          </a:p>
          <a:p>
            <a:r>
              <a:rPr lang="pt-BR" dirty="0"/>
              <a:t>Ele se ajusta ao ruído em vez do padrão geral por trás dos dados.</a:t>
            </a:r>
          </a:p>
          <a:p>
            <a:r>
              <a:rPr lang="pt-BR" b="1" dirty="0"/>
              <a:t>Alta variância</a:t>
            </a:r>
            <a:r>
              <a:rPr lang="pt-BR" dirty="0"/>
              <a:t>: o modelo é extremamente sensível ao conjunto de treino.</a:t>
            </a:r>
          </a:p>
          <a:p>
            <a:pPr lvl="1">
              <a:buFont typeface="Wingdings" panose="05000000000000000000" pitchFamily="2" charset="2"/>
              <a:buChar char="§"/>
            </a:pPr>
            <a:r>
              <a:rPr lang="pt-BR" dirty="0"/>
              <a:t>Pequenas mudanças nas amostras de treinamento geram grandes mudanças no modelo, no caso da regressão, da função estimada.</a:t>
            </a:r>
          </a:p>
          <a:p>
            <a:r>
              <a:rPr lang="pt-BR" dirty="0"/>
              <a:t>O modelo não generaliza bem.</a:t>
            </a:r>
            <a:endParaRPr lang="en-US" dirty="0"/>
          </a:p>
        </p:txBody>
      </p:sp>
      <p:pic>
        <p:nvPicPr>
          <p:cNvPr id="4" name="Picture 2">
            <a:extLst>
              <a:ext uri="{FF2B5EF4-FFF2-40B4-BE49-F238E27FC236}">
                <a16:creationId xmlns:a16="http://schemas.microsoft.com/office/drawing/2014/main" id="{23F554F9-134B-9317-4597-E080F6732D6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186" y="1690688"/>
            <a:ext cx="3124417" cy="209131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B7D47AAC-0C00-2DEE-110C-096F4CF8493D}"/>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242406" y="3429000"/>
            <a:ext cx="2238810" cy="33547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6599465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742A89-D4FA-4919-1552-72DB66CD934C}"/>
              </a:ext>
            </a:extLst>
          </p:cNvPr>
          <p:cNvSpPr>
            <a:spLocks noGrp="1"/>
          </p:cNvSpPr>
          <p:nvPr>
            <p:ph type="title"/>
          </p:nvPr>
        </p:nvSpPr>
        <p:spPr/>
        <p:txBody>
          <a:bodyPr/>
          <a:lstStyle/>
          <a:p>
            <a:r>
              <a:rPr lang="pt-BR" i="1" dirty="0"/>
              <a:t>Underfitting</a:t>
            </a:r>
          </a:p>
        </p:txBody>
      </p:sp>
      <p:sp>
        <p:nvSpPr>
          <p:cNvPr id="3" name="Espaço Reservado para Conteúdo 2">
            <a:extLst>
              <a:ext uri="{FF2B5EF4-FFF2-40B4-BE49-F238E27FC236}">
                <a16:creationId xmlns:a16="http://schemas.microsoft.com/office/drawing/2014/main" id="{1FDFAB3D-88C4-A40C-1FFE-5BF9FD5EB0EC}"/>
              </a:ext>
            </a:extLst>
          </p:cNvPr>
          <p:cNvSpPr>
            <a:spLocks noGrp="1"/>
          </p:cNvSpPr>
          <p:nvPr>
            <p:ph idx="1"/>
          </p:nvPr>
        </p:nvSpPr>
        <p:spPr>
          <a:xfrm>
            <a:off x="6096000" y="1825624"/>
            <a:ext cx="5980386" cy="5032375"/>
          </a:xfrm>
        </p:spPr>
        <p:txBody>
          <a:bodyPr/>
          <a:lstStyle/>
          <a:p>
            <a:r>
              <a:rPr lang="pt-BR" dirty="0">
                <a:effectLst/>
              </a:rPr>
              <a:t>O modelo é </a:t>
            </a:r>
            <a:r>
              <a:rPr lang="pt-BR" b="1" dirty="0">
                <a:effectLst/>
              </a:rPr>
              <a:t>muito simples </a:t>
            </a:r>
            <a:r>
              <a:rPr lang="pt-BR" dirty="0">
                <a:effectLst/>
              </a:rPr>
              <a:t>(i.e., tem pouca flexibilidade) para aprender/capturar o padrão geral por trás dos dados de treinamento.</a:t>
            </a:r>
          </a:p>
          <a:p>
            <a:r>
              <a:rPr lang="pt-BR" b="1" dirty="0"/>
              <a:t>Alto viés</a:t>
            </a:r>
            <a:r>
              <a:rPr lang="pt-BR" dirty="0"/>
              <a:t>: faz suposições muito fortes sobre a forma da função (e.g., assumir linearidade quando a relação é curva).</a:t>
            </a:r>
          </a:p>
          <a:p>
            <a:r>
              <a:rPr lang="pt-BR" dirty="0"/>
              <a:t>O modelo não generaliza bem.</a:t>
            </a:r>
          </a:p>
        </p:txBody>
      </p:sp>
      <p:pic>
        <p:nvPicPr>
          <p:cNvPr id="1028" name="Picture 4" descr="Overfitting vs Underfitting in Neural Network and Comparison of Error rate  with Complexity Graph | by Khush Patel | Towards Data Science">
            <a:extLst>
              <a:ext uri="{FF2B5EF4-FFF2-40B4-BE49-F238E27FC236}">
                <a16:creationId xmlns:a16="http://schemas.microsoft.com/office/drawing/2014/main" id="{7F05446A-F06D-3BEC-420E-6ACCB2C4959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948" t="26610" r="50000" b="4479"/>
          <a:stretch/>
        </p:blipFill>
        <p:spPr bwMode="auto">
          <a:xfrm>
            <a:off x="838200" y="2238704"/>
            <a:ext cx="4484249" cy="35419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607129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pt-BR" i="1" dirty="0"/>
              <a:t>Underfitting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5090852"/>
            <a:ext cx="11216148" cy="1767147"/>
          </a:xfrm>
        </p:spPr>
        <p:txBody>
          <a:bodyPr>
            <a:normAutofit lnSpcReduction="10000"/>
          </a:bodyPr>
          <a:lstStyle/>
          <a:p>
            <a:r>
              <a:rPr lang="pt-BR" dirty="0"/>
              <a:t>O modelo </a:t>
            </a:r>
            <a:r>
              <a:rPr lang="pt-BR" b="1" dirty="0"/>
              <a:t>não é capaz de capturar os padrões</a:t>
            </a:r>
            <a:r>
              <a:rPr lang="pt-BR" dirty="0"/>
              <a:t> presentes nos dados de treinamento.</a:t>
            </a:r>
          </a:p>
          <a:p>
            <a:r>
              <a:rPr lang="pt-BR" dirty="0"/>
              <a:t>O modelo apresenta </a:t>
            </a:r>
            <a:r>
              <a:rPr lang="pt-BR" b="1" dirty="0"/>
              <a:t>erros altos nos conjunto de treinamento e validação</a:t>
            </a:r>
            <a:r>
              <a:rPr lang="pt-BR" dirty="0"/>
              <a:t>.</a:t>
            </a:r>
          </a:p>
          <a:p>
            <a:r>
              <a:rPr lang="pt-BR" dirty="0"/>
              <a:t>Esse padrão indica alto viés.</a:t>
            </a:r>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a:t>subajuste</a:t>
            </a:r>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51763617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pt-BR" i="1" dirty="0"/>
              <a:t>Underfitting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5406487"/>
            <a:ext cx="11216148" cy="1451511"/>
          </a:xfrm>
        </p:spPr>
        <p:txBody>
          <a:bodyPr>
            <a:normAutofit/>
          </a:bodyPr>
          <a:lstStyle/>
          <a:p>
            <a:r>
              <a:rPr lang="pt-BR" dirty="0"/>
              <a:t>Algumas causas: modelo </a:t>
            </a:r>
            <a:r>
              <a:rPr lang="pt-BR" b="1" dirty="0"/>
              <a:t>sem complexidade</a:t>
            </a:r>
            <a:r>
              <a:rPr lang="pt-BR" dirty="0"/>
              <a:t>, </a:t>
            </a:r>
            <a:r>
              <a:rPr lang="pt-BR" b="1" dirty="0"/>
              <a:t>poucas épocas de treinamento</a:t>
            </a:r>
            <a:r>
              <a:rPr lang="pt-BR" dirty="0"/>
              <a:t> e </a:t>
            </a:r>
            <a:r>
              <a:rPr lang="pt-BR" b="1" dirty="0"/>
              <a:t>falta de dados </a:t>
            </a:r>
            <a:r>
              <a:rPr lang="pt-BR" dirty="0"/>
              <a:t>(modelo falha em aprender as características relevantes).</a:t>
            </a:r>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19905814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pt-BR" i="1" dirty="0"/>
              <a:t>Underfitting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5209865"/>
            <a:ext cx="11216148" cy="1648134"/>
          </a:xfrm>
        </p:spPr>
        <p:txBody>
          <a:bodyPr>
            <a:normAutofit/>
          </a:bodyPr>
          <a:lstStyle/>
          <a:p>
            <a:r>
              <a:rPr lang="pt-BR" dirty="0"/>
              <a:t>Como mitigar: </a:t>
            </a:r>
            <a:r>
              <a:rPr lang="pt-BR" b="1" dirty="0"/>
              <a:t>aumentar a complexidade </a:t>
            </a:r>
            <a:r>
              <a:rPr lang="pt-BR" dirty="0"/>
              <a:t>do modelo (e.g., grau do polinômio), </a:t>
            </a:r>
            <a:r>
              <a:rPr lang="pt-BR" b="1" dirty="0"/>
              <a:t>ajustar os hiperparâmetros </a:t>
            </a:r>
            <a:r>
              <a:rPr lang="pt-BR" dirty="0"/>
              <a:t>(e.g., passo de aprendizagem), </a:t>
            </a:r>
            <a:r>
              <a:rPr lang="pt-BR" b="1" dirty="0"/>
              <a:t>treinar por mais épocas </a:t>
            </a:r>
            <a:r>
              <a:rPr lang="pt-BR" dirty="0"/>
              <a:t>e </a:t>
            </a:r>
            <a:r>
              <a:rPr lang="pt-BR" b="1" dirty="0"/>
              <a:t>aumentar o conjunto de treinamento</a:t>
            </a:r>
            <a:r>
              <a:rPr lang="pt-BR" dirty="0"/>
              <a:t>, se possível.</a:t>
            </a:r>
          </a:p>
          <a:p>
            <a:endParaRPr lang="pt-BR" dirty="0"/>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166250550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686301"/>
            <a:ext cx="11216148" cy="2171700"/>
          </a:xfrm>
        </p:spPr>
        <p:txBody>
          <a:bodyPr>
            <a:normAutofit lnSpcReduction="10000"/>
          </a:bodyPr>
          <a:lstStyle/>
          <a:p>
            <a:r>
              <a:rPr lang="pt-BR" dirty="0"/>
              <a:t>O </a:t>
            </a:r>
            <a:r>
              <a:rPr lang="pt-BR" dirty="0">
                <a:effectLst/>
              </a:rPr>
              <a:t>modelo se ajusta excessivamente aos dados de treinamento e perde a capacidade de generalizar para dados inéditos.</a:t>
            </a:r>
          </a:p>
          <a:p>
            <a:r>
              <a:rPr lang="pt-BR" dirty="0"/>
              <a:t>O modelo apresenta </a:t>
            </a:r>
            <a:r>
              <a:rPr lang="pt-BR" b="1" dirty="0"/>
              <a:t>erro muito baixo</a:t>
            </a:r>
            <a:r>
              <a:rPr lang="pt-BR" dirty="0"/>
              <a:t>, tendendo a zero, </a:t>
            </a:r>
            <a:r>
              <a:rPr lang="pt-BR" b="1" dirty="0"/>
              <a:t>no conjunto de treinamento</a:t>
            </a:r>
            <a:r>
              <a:rPr lang="pt-BR" dirty="0"/>
              <a:t> e </a:t>
            </a:r>
            <a:r>
              <a:rPr lang="pt-BR" b="1" dirty="0"/>
              <a:t>muito alto no conjunto de validação</a:t>
            </a:r>
            <a:r>
              <a:rPr lang="pt-BR" dirty="0"/>
              <a:t>.</a:t>
            </a:r>
          </a:p>
          <a:p>
            <a:r>
              <a:rPr lang="pt-BR" dirty="0"/>
              <a:t>Esse padrão indica alta variância.</a:t>
            </a:r>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374003"/>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4987241" y="1336032"/>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11635"/>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668320"/>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334756"/>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85459219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922451"/>
            <a:ext cx="11216148" cy="1935549"/>
          </a:xfrm>
        </p:spPr>
        <p:txBody>
          <a:bodyPr>
            <a:normAutofit/>
          </a:bodyPr>
          <a:lstStyle/>
          <a:p>
            <a:r>
              <a:rPr lang="pt-BR" dirty="0"/>
              <a:t>Algumas causas: </a:t>
            </a:r>
            <a:r>
              <a:rPr lang="pt-BR" b="1" dirty="0"/>
              <a:t>modelo muito complexo </a:t>
            </a:r>
            <a:r>
              <a:rPr lang="pt-BR" dirty="0"/>
              <a:t>em relação à quantidade de dados, </a:t>
            </a:r>
            <a:r>
              <a:rPr lang="pt-BR" b="1" dirty="0"/>
              <a:t>treinamento excessivo </a:t>
            </a:r>
            <a:r>
              <a:rPr lang="pt-BR" dirty="0"/>
              <a:t>(</a:t>
            </a:r>
            <a:r>
              <a:rPr lang="pt-BR" b="0" dirty="0">
                <a:effectLst/>
              </a:rPr>
              <a:t>leva à memorização dos dados de treinamento)</a:t>
            </a:r>
            <a:r>
              <a:rPr lang="pt-BR" dirty="0"/>
              <a:t>, </a:t>
            </a:r>
            <a:r>
              <a:rPr lang="pt-BR" b="1" dirty="0"/>
              <a:t>f</a:t>
            </a:r>
            <a:r>
              <a:rPr lang="pt-BR" b="1" dirty="0">
                <a:effectLst/>
              </a:rPr>
              <a:t>alta de dados </a:t>
            </a:r>
            <a:r>
              <a:rPr lang="pt-BR" dirty="0">
                <a:effectLst/>
              </a:rPr>
              <a:t>(modelo tem poucos</a:t>
            </a:r>
            <a:r>
              <a:rPr lang="pt-BR" b="0" dirty="0">
                <a:effectLst/>
              </a:rPr>
              <a:t> exemplos para aprender os padrões gerais).</a:t>
            </a:r>
            <a:endParaRPr lang="pt-BR" dirty="0"/>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374003"/>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11635"/>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668320"/>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397816"/>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172555027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686301"/>
            <a:ext cx="11216148" cy="2171700"/>
          </a:xfrm>
        </p:spPr>
        <p:txBody>
          <a:bodyPr>
            <a:normAutofit/>
          </a:bodyPr>
          <a:lstStyle/>
          <a:p>
            <a:r>
              <a:rPr lang="pt-BR" dirty="0"/>
              <a:t>Como mitigar: </a:t>
            </a:r>
            <a:r>
              <a:rPr lang="pt-BR" b="1" dirty="0"/>
              <a:t>aumentar os dados de treinamento</a:t>
            </a:r>
            <a:r>
              <a:rPr lang="pt-BR" dirty="0"/>
              <a:t>, se possível, </a:t>
            </a:r>
            <a:r>
              <a:rPr lang="pt-BR" b="1" dirty="0"/>
              <a:t>r</a:t>
            </a:r>
            <a:r>
              <a:rPr lang="pt-BR" b="1" dirty="0">
                <a:effectLst/>
              </a:rPr>
              <a:t>eduzir a complexidade do modelo</a:t>
            </a:r>
            <a:r>
              <a:rPr lang="pt-BR" b="1" dirty="0"/>
              <a:t> </a:t>
            </a:r>
            <a:r>
              <a:rPr lang="pt-BR" dirty="0"/>
              <a:t>(e.g., </a:t>
            </a:r>
            <a:r>
              <a:rPr lang="pt-BR" b="0" dirty="0">
                <a:effectLst/>
              </a:rPr>
              <a:t>reduzir grau do polinômio), </a:t>
            </a:r>
            <a:r>
              <a:rPr lang="pt-BR" b="1" dirty="0">
                <a:effectLst/>
              </a:rPr>
              <a:t>aplicar técnicas de regularização </a:t>
            </a:r>
            <a:r>
              <a:rPr lang="pt-BR" b="0" dirty="0">
                <a:effectLst/>
              </a:rPr>
              <a:t>(e.g., penalizações L1 ou L2, </a:t>
            </a:r>
            <a:r>
              <a:rPr lang="pt-BR" b="1" dirty="0">
                <a:effectLst/>
              </a:rPr>
              <a:t>early-stopping</a:t>
            </a:r>
            <a:r>
              <a:rPr lang="pt-BR" b="0" dirty="0">
                <a:effectLst/>
              </a:rPr>
              <a:t>, o qual </a:t>
            </a:r>
            <a:r>
              <a:rPr lang="pt-BR" dirty="0"/>
              <a:t>encerra o treinamento quando o modelo começa sobreajustar</a:t>
            </a:r>
            <a:r>
              <a:rPr lang="pt-BR" b="0" dirty="0">
                <a:effectLst/>
              </a:rPr>
              <a:t>).</a:t>
            </a:r>
            <a:endParaRPr lang="pt-BR" dirty="0"/>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701915"/>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421628"/>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420556"/>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59260"/>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715945"/>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714294"/>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701915"/>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445441"/>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18170098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i="1" dirty="0"/>
              <a:t>Overfitting </a:t>
            </a:r>
            <a:r>
              <a:rPr lang="en-US" dirty="0"/>
              <a:t>e</a:t>
            </a:r>
            <a:r>
              <a:rPr lang="en-US" i="1" dirty="0"/>
              <a:t> underfitting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768645"/>
            <a:ext cx="11216148" cy="2089356"/>
          </a:xfrm>
        </p:spPr>
        <p:txBody>
          <a:bodyPr>
            <a:normAutofit/>
          </a:bodyPr>
          <a:lstStyle/>
          <a:p>
            <a:r>
              <a:rPr lang="pt-BR" dirty="0">
                <a:effectLst/>
              </a:rPr>
              <a:t>Encontrar o </a:t>
            </a:r>
            <a:r>
              <a:rPr lang="pt-BR" b="1" dirty="0">
                <a:solidFill>
                  <a:srgbClr val="00B050"/>
                </a:solidFill>
                <a:effectLst/>
              </a:rPr>
              <a:t>equilíbrio entre a complexidade </a:t>
            </a:r>
            <a:r>
              <a:rPr lang="pt-BR" dirty="0">
                <a:effectLst/>
              </a:rPr>
              <a:t>(ou flexibilidade) do modelo e sua </a:t>
            </a:r>
            <a:r>
              <a:rPr lang="pt-BR" b="1" dirty="0">
                <a:solidFill>
                  <a:srgbClr val="00B050"/>
                </a:solidFill>
                <a:effectLst/>
              </a:rPr>
              <a:t>capacidade de generalização </a:t>
            </a:r>
            <a:r>
              <a:rPr lang="pt-BR" dirty="0">
                <a:effectLst/>
              </a:rPr>
              <a:t>é essencial para um bom desempenho.</a:t>
            </a:r>
          </a:p>
          <a:p>
            <a:r>
              <a:rPr lang="pt-BR" dirty="0"/>
              <a:t>Ou seja, devemos encontrar um </a:t>
            </a:r>
            <a:r>
              <a:rPr lang="pt-BR" b="1" dirty="0">
                <a:solidFill>
                  <a:srgbClr val="00B050"/>
                </a:solidFill>
                <a:effectLst/>
              </a:rPr>
              <a:t>equilíbrio entre </a:t>
            </a:r>
            <a:r>
              <a:rPr lang="pt-BR" dirty="0">
                <a:effectLst/>
              </a:rPr>
              <a:t>um </a:t>
            </a:r>
            <a:r>
              <a:rPr lang="pt-BR" b="1" dirty="0">
                <a:solidFill>
                  <a:srgbClr val="00B050"/>
                </a:solidFill>
                <a:effectLst/>
              </a:rPr>
              <a:t>modelo muito simples </a:t>
            </a:r>
            <a:r>
              <a:rPr lang="pt-BR" dirty="0">
                <a:effectLst/>
              </a:rPr>
              <a:t>(</a:t>
            </a:r>
            <a:r>
              <a:rPr lang="pt-BR" dirty="0" err="1">
                <a:effectLst/>
              </a:rPr>
              <a:t>subajuste</a:t>
            </a:r>
            <a:r>
              <a:rPr lang="pt-BR" dirty="0">
                <a:effectLst/>
              </a:rPr>
              <a:t>) e um </a:t>
            </a:r>
            <a:r>
              <a:rPr lang="pt-BR" b="1" dirty="0">
                <a:solidFill>
                  <a:srgbClr val="00B050"/>
                </a:solidFill>
                <a:effectLst/>
              </a:rPr>
              <a:t>modelo muito complexo </a:t>
            </a:r>
            <a:r>
              <a:rPr lang="pt-BR" dirty="0">
                <a:effectLst/>
              </a:rPr>
              <a:t>(sobreajuste).</a:t>
            </a:r>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701915"/>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421628"/>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420556"/>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59260"/>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715945"/>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714294"/>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701915"/>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445441"/>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419434596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8B2949-AA2A-78BE-831B-67A7AE5AB555}"/>
              </a:ext>
            </a:extLst>
          </p:cNvPr>
          <p:cNvSpPr>
            <a:spLocks noGrp="1"/>
          </p:cNvSpPr>
          <p:nvPr>
            <p:ph type="title"/>
          </p:nvPr>
        </p:nvSpPr>
        <p:spPr/>
        <p:txBody>
          <a:bodyPr/>
          <a:lstStyle/>
          <a:p>
            <a:r>
              <a:rPr lang="pt-BR" dirty="0"/>
              <a:t>Validação cruzada</a:t>
            </a:r>
          </a:p>
        </p:txBody>
      </p:sp>
      <p:sp>
        <p:nvSpPr>
          <p:cNvPr id="3" name="Espaço Reservado para Conteúdo 2">
            <a:extLst>
              <a:ext uri="{FF2B5EF4-FFF2-40B4-BE49-F238E27FC236}">
                <a16:creationId xmlns:a16="http://schemas.microsoft.com/office/drawing/2014/main" id="{945F73D8-097B-0F49-0490-91BBF0A6A45E}"/>
              </a:ext>
            </a:extLst>
          </p:cNvPr>
          <p:cNvSpPr>
            <a:spLocks noGrp="1"/>
          </p:cNvSpPr>
          <p:nvPr>
            <p:ph idx="1"/>
          </p:nvPr>
        </p:nvSpPr>
        <p:spPr>
          <a:xfrm>
            <a:off x="838200" y="1825624"/>
            <a:ext cx="11152695" cy="5032375"/>
          </a:xfrm>
        </p:spPr>
        <p:txBody>
          <a:bodyPr/>
          <a:lstStyle/>
          <a:p>
            <a:r>
              <a:rPr lang="pt-BR" b="0" dirty="0">
                <a:solidFill>
                  <a:srgbClr val="0F0F0F"/>
                </a:solidFill>
                <a:effectLst/>
              </a:rPr>
              <a:t>A validação cruzada é uma técnica utilizada para </a:t>
            </a:r>
            <a:r>
              <a:rPr lang="pt-BR" b="1" dirty="0">
                <a:solidFill>
                  <a:srgbClr val="00B050"/>
                </a:solidFill>
                <a:effectLst/>
              </a:rPr>
              <a:t>avaliar quantitativamente o desempenho</a:t>
            </a:r>
            <a:r>
              <a:rPr lang="pt-BR" b="0" dirty="0">
                <a:solidFill>
                  <a:srgbClr val="0F0F0F"/>
                </a:solidFill>
                <a:effectLst/>
              </a:rPr>
              <a:t> de um </a:t>
            </a:r>
            <a:r>
              <a:rPr lang="pt-BR" b="1" dirty="0">
                <a:solidFill>
                  <a:srgbClr val="7030A0"/>
                </a:solidFill>
                <a:effectLst/>
              </a:rPr>
              <a:t>modelo</a:t>
            </a:r>
            <a:r>
              <a:rPr lang="pt-BR" b="0" dirty="0">
                <a:solidFill>
                  <a:srgbClr val="0F0F0F"/>
                </a:solidFill>
                <a:effectLst/>
              </a:rPr>
              <a:t> e </a:t>
            </a:r>
            <a:r>
              <a:rPr lang="pt-BR" b="1" dirty="0">
                <a:solidFill>
                  <a:srgbClr val="00B050"/>
                </a:solidFill>
                <a:effectLst/>
              </a:rPr>
              <a:t>garantir que ele generalize bem para dados inéditos</a:t>
            </a:r>
            <a:r>
              <a:rPr lang="pt-BR" b="0" dirty="0">
                <a:solidFill>
                  <a:srgbClr val="0F0F0F"/>
                </a:solidFill>
                <a:effectLst/>
              </a:rPr>
              <a:t>, evitando assim problemas de subajuste ou sobreajuste.</a:t>
            </a:r>
          </a:p>
          <a:p>
            <a:r>
              <a:rPr lang="pt-BR" b="0" dirty="0">
                <a:solidFill>
                  <a:srgbClr val="0F0F0F"/>
                </a:solidFill>
                <a:effectLst/>
              </a:rPr>
              <a:t>O processo de validação cruzada envolve </a:t>
            </a:r>
            <a:r>
              <a:rPr lang="pt-BR" b="1" dirty="0">
                <a:solidFill>
                  <a:srgbClr val="7030A0"/>
                </a:solidFill>
                <a:effectLst/>
              </a:rPr>
              <a:t>dividir o conjunto total de dados em subconjuntos</a:t>
            </a:r>
            <a:r>
              <a:rPr lang="pt-BR" b="0" dirty="0">
                <a:solidFill>
                  <a:srgbClr val="0F0F0F"/>
                </a:solidFill>
                <a:effectLst/>
              </a:rPr>
              <a:t> e realizar</a:t>
            </a:r>
            <a:r>
              <a:rPr lang="pt-BR" b="1" dirty="0">
                <a:solidFill>
                  <a:srgbClr val="7030A0"/>
                </a:solidFill>
                <a:effectLst/>
              </a:rPr>
              <a:t> algumas rodadas de treinamento e validação </a:t>
            </a:r>
            <a:r>
              <a:rPr lang="pt-BR" b="0" dirty="0">
                <a:solidFill>
                  <a:srgbClr val="0F0F0F"/>
                </a:solidFill>
                <a:effectLst/>
              </a:rPr>
              <a:t>do modelo com </a:t>
            </a:r>
            <a:r>
              <a:rPr lang="pt-BR" b="1" dirty="0">
                <a:solidFill>
                  <a:srgbClr val="7030A0"/>
                </a:solidFill>
                <a:effectLst/>
              </a:rPr>
              <a:t>combinações desses subconjuntos</a:t>
            </a:r>
            <a:r>
              <a:rPr lang="pt-BR" dirty="0">
                <a:solidFill>
                  <a:srgbClr val="0F0F0F"/>
                </a:solidFill>
              </a:rPr>
              <a:t>.</a:t>
            </a:r>
            <a:endParaRPr lang="pt-BR" b="0" dirty="0">
              <a:solidFill>
                <a:srgbClr val="0F0F0F"/>
              </a:solidFill>
              <a:effectLst/>
            </a:endParaRPr>
          </a:p>
          <a:p>
            <a:r>
              <a:rPr lang="pt-BR" b="0" dirty="0">
                <a:solidFill>
                  <a:srgbClr val="0F0F0F"/>
                </a:solidFill>
                <a:effectLst/>
              </a:rPr>
              <a:t>A validação cruzada é uma ferramenta importante para </a:t>
            </a:r>
            <a:r>
              <a:rPr lang="pt-BR" b="1" dirty="0">
                <a:solidFill>
                  <a:srgbClr val="0070C0"/>
                </a:solidFill>
                <a:effectLst/>
              </a:rPr>
              <a:t>comparar e selecionar modelos</a:t>
            </a:r>
            <a:r>
              <a:rPr lang="pt-BR" b="0" dirty="0">
                <a:solidFill>
                  <a:srgbClr val="0F0F0F"/>
                </a:solidFill>
                <a:effectLst/>
              </a:rPr>
              <a:t> e para </a:t>
            </a:r>
            <a:r>
              <a:rPr lang="pt-BR" b="1" dirty="0">
                <a:solidFill>
                  <a:schemeClr val="accent2"/>
                </a:solidFill>
                <a:effectLst/>
              </a:rPr>
              <a:t>ajustar hiperparâmetros</a:t>
            </a:r>
            <a:r>
              <a:rPr lang="pt-BR" b="0" dirty="0">
                <a:solidFill>
                  <a:srgbClr val="0F0F0F"/>
                </a:solidFill>
                <a:effectLst/>
              </a:rPr>
              <a:t> como, por exemplo, o </a:t>
            </a:r>
            <a:r>
              <a:rPr lang="pt-BR" b="1" dirty="0">
                <a:solidFill>
                  <a:srgbClr val="0070C0"/>
                </a:solidFill>
                <a:effectLst/>
              </a:rPr>
              <a:t>passo de aprendizagem</a:t>
            </a:r>
            <a:r>
              <a:rPr lang="pt-BR" b="0" dirty="0">
                <a:solidFill>
                  <a:srgbClr val="0F0F0F"/>
                </a:solidFill>
                <a:effectLst/>
              </a:rPr>
              <a:t>, o </a:t>
            </a:r>
            <a:r>
              <a:rPr lang="pt-BR" b="1" dirty="0">
                <a:solidFill>
                  <a:srgbClr val="0070C0"/>
                </a:solidFill>
                <a:effectLst/>
              </a:rPr>
              <a:t>grau do polinômio</a:t>
            </a:r>
            <a:r>
              <a:rPr lang="pt-BR" b="0" dirty="0">
                <a:solidFill>
                  <a:srgbClr val="0F0F0F"/>
                </a:solidFill>
                <a:effectLst/>
              </a:rPr>
              <a:t> da função hipótese, etc.</a:t>
            </a:r>
          </a:p>
        </p:txBody>
      </p:sp>
    </p:spTree>
    <p:extLst>
      <p:ext uri="{BB962C8B-B14F-4D97-AF65-F5344CB8AC3E}">
        <p14:creationId xmlns:p14="http://schemas.microsoft.com/office/powerpoint/2010/main" val="101461400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053A0A-FF84-5176-6AB3-C461B7BCB8CA}"/>
              </a:ext>
            </a:extLst>
          </p:cNvPr>
          <p:cNvSpPr>
            <a:spLocks noGrp="1"/>
          </p:cNvSpPr>
          <p:nvPr>
            <p:ph type="title"/>
          </p:nvPr>
        </p:nvSpPr>
        <p:spPr/>
        <p:txBody>
          <a:bodyPr/>
          <a:lstStyle/>
          <a:p>
            <a:r>
              <a:rPr lang="pt-BR" dirty="0"/>
              <a:t>Validação cruzada</a:t>
            </a:r>
          </a:p>
        </p:txBody>
      </p:sp>
      <p:sp>
        <p:nvSpPr>
          <p:cNvPr id="3" name="Espaço Reservado para Conteúdo 2">
            <a:extLst>
              <a:ext uri="{FF2B5EF4-FFF2-40B4-BE49-F238E27FC236}">
                <a16:creationId xmlns:a16="http://schemas.microsoft.com/office/drawing/2014/main" id="{A191BF4C-9AB1-8D9D-C795-058F9A528591}"/>
              </a:ext>
            </a:extLst>
          </p:cNvPr>
          <p:cNvSpPr>
            <a:spLocks noGrp="1"/>
          </p:cNvSpPr>
          <p:nvPr>
            <p:ph idx="1"/>
          </p:nvPr>
        </p:nvSpPr>
        <p:spPr>
          <a:xfrm>
            <a:off x="838199" y="1825624"/>
            <a:ext cx="11133841" cy="5032375"/>
          </a:xfrm>
        </p:spPr>
        <p:txBody>
          <a:bodyPr>
            <a:normAutofit/>
          </a:bodyPr>
          <a:lstStyle/>
          <a:p>
            <a:r>
              <a:rPr lang="pt-BR" dirty="0"/>
              <a:t>O </a:t>
            </a:r>
            <a:r>
              <a:rPr lang="pt-BR" b="1" dirty="0">
                <a:solidFill>
                  <a:srgbClr val="0070C0"/>
                </a:solidFill>
              </a:rPr>
              <a:t>objetivo</a:t>
            </a:r>
            <a:r>
              <a:rPr lang="pt-BR" dirty="0"/>
              <a:t> da </a:t>
            </a:r>
            <a:r>
              <a:rPr lang="pt-BR" b="1" dirty="0"/>
              <a:t>validação cruzada </a:t>
            </a:r>
            <a:r>
              <a:rPr lang="pt-BR" dirty="0"/>
              <a:t>é encontrar um </a:t>
            </a:r>
            <a:r>
              <a:rPr lang="pt-BR" b="1" dirty="0">
                <a:solidFill>
                  <a:srgbClr val="0070C0"/>
                </a:solidFill>
              </a:rPr>
              <a:t>ponto de equilíbrio</a:t>
            </a:r>
            <a:r>
              <a:rPr lang="pt-BR" dirty="0"/>
              <a:t> entre a </a:t>
            </a:r>
            <a:r>
              <a:rPr lang="pt-BR" b="1" dirty="0">
                <a:solidFill>
                  <a:srgbClr val="7030A0"/>
                </a:solidFill>
              </a:rPr>
              <a:t>flexibilidade</a:t>
            </a:r>
            <a:r>
              <a:rPr lang="pt-BR" dirty="0"/>
              <a:t> e a </a:t>
            </a:r>
            <a:r>
              <a:rPr lang="pt-BR" b="1" dirty="0">
                <a:solidFill>
                  <a:srgbClr val="7030A0"/>
                </a:solidFill>
              </a:rPr>
              <a:t>capacidade de generalização</a:t>
            </a:r>
            <a:r>
              <a:rPr lang="pt-BR" dirty="0"/>
              <a:t> do modelo (e.g., polinômio).</a:t>
            </a:r>
          </a:p>
          <a:p>
            <a:r>
              <a:rPr lang="pt-BR" dirty="0"/>
              <a:t>Um </a:t>
            </a:r>
            <a:r>
              <a:rPr lang="pt-BR" b="1" dirty="0">
                <a:solidFill>
                  <a:srgbClr val="0070C0"/>
                </a:solidFill>
              </a:rPr>
              <a:t>modelo equilibrado</a:t>
            </a:r>
            <a:r>
              <a:rPr lang="pt-BR" dirty="0"/>
              <a:t> é </a:t>
            </a:r>
          </a:p>
          <a:p>
            <a:pPr lvl="1">
              <a:buFont typeface="Wingdings" panose="05000000000000000000" pitchFamily="2" charset="2"/>
              <a:buChar char="§"/>
            </a:pPr>
            <a:r>
              <a:rPr lang="pt-BR" dirty="0"/>
              <a:t>Flexível o </a:t>
            </a:r>
            <a:r>
              <a:rPr lang="pt-BR" b="1" dirty="0">
                <a:solidFill>
                  <a:schemeClr val="accent2"/>
                </a:solidFill>
              </a:rPr>
              <a:t>suficiente</a:t>
            </a:r>
            <a:r>
              <a:rPr lang="pt-BR" dirty="0"/>
              <a:t> para se ajustar ao </a:t>
            </a:r>
            <a:r>
              <a:rPr lang="pt-BR" b="1" dirty="0">
                <a:solidFill>
                  <a:schemeClr val="accent2"/>
                </a:solidFill>
              </a:rPr>
              <a:t>comportamento geral</a:t>
            </a:r>
            <a:r>
              <a:rPr lang="pt-BR" dirty="0"/>
              <a:t> dos dados.</a:t>
            </a:r>
          </a:p>
          <a:p>
            <a:pPr lvl="1">
              <a:buFont typeface="Wingdings" panose="05000000000000000000" pitchFamily="2" charset="2"/>
              <a:buChar char="§"/>
            </a:pPr>
            <a:r>
              <a:rPr lang="pt-BR" dirty="0"/>
              <a:t>Capaz de predizer saídas próximas às esperadas para exemplos não vistos durante seu treinamento.</a:t>
            </a:r>
          </a:p>
          <a:p>
            <a:r>
              <a:rPr lang="pt-BR" dirty="0"/>
              <a:t>A </a:t>
            </a:r>
            <a:r>
              <a:rPr lang="pt-BR" b="1" dirty="0">
                <a:solidFill>
                  <a:srgbClr val="7030A0"/>
                </a:solidFill>
              </a:rPr>
              <a:t>flexibilidade</a:t>
            </a:r>
            <a:r>
              <a:rPr lang="pt-BR" dirty="0"/>
              <a:t> de um modelo é </a:t>
            </a:r>
            <a:r>
              <a:rPr lang="pt-BR" b="1" dirty="0">
                <a:solidFill>
                  <a:srgbClr val="00B050"/>
                </a:solidFill>
              </a:rPr>
              <a:t>estimada</a:t>
            </a:r>
            <a:r>
              <a:rPr lang="pt-BR" dirty="0"/>
              <a:t> através do </a:t>
            </a:r>
            <a:r>
              <a:rPr lang="pt-BR" b="1" dirty="0">
                <a:solidFill>
                  <a:srgbClr val="00B050"/>
                </a:solidFill>
              </a:rPr>
              <a:t>erro de treinamento</a:t>
            </a:r>
            <a:r>
              <a:rPr lang="pt-BR" dirty="0"/>
              <a:t> e a </a:t>
            </a:r>
            <a:r>
              <a:rPr lang="pt-BR" b="1" dirty="0">
                <a:solidFill>
                  <a:srgbClr val="7030A0"/>
                </a:solidFill>
              </a:rPr>
              <a:t>capacidade de generalização</a:t>
            </a:r>
            <a:r>
              <a:rPr lang="pt-BR" dirty="0"/>
              <a:t> é </a:t>
            </a:r>
            <a:r>
              <a:rPr lang="pt-BR" b="1" dirty="0">
                <a:solidFill>
                  <a:srgbClr val="00B050"/>
                </a:solidFill>
              </a:rPr>
              <a:t>estimada</a:t>
            </a:r>
            <a:r>
              <a:rPr lang="pt-BR" dirty="0"/>
              <a:t> através do </a:t>
            </a:r>
            <a:r>
              <a:rPr lang="pt-BR" b="1" dirty="0">
                <a:solidFill>
                  <a:srgbClr val="00B050"/>
                </a:solidFill>
              </a:rPr>
              <a:t>erro de validação</a:t>
            </a:r>
            <a:r>
              <a:rPr lang="pt-BR" dirty="0"/>
              <a:t> ou de </a:t>
            </a:r>
            <a:r>
              <a:rPr lang="pt-BR" b="1" dirty="0">
                <a:solidFill>
                  <a:srgbClr val="00B050"/>
                </a:solidFill>
              </a:rPr>
              <a:t>teste</a:t>
            </a:r>
            <a:r>
              <a:rPr lang="pt-BR" dirty="0"/>
              <a:t>.</a:t>
            </a:r>
          </a:p>
          <a:p>
            <a:pPr lvl="1">
              <a:buFont typeface="Wingdings" panose="05000000000000000000" pitchFamily="2" charset="2"/>
              <a:buChar char="§"/>
            </a:pPr>
            <a:r>
              <a:rPr lang="pt-BR" dirty="0"/>
              <a:t>Erro de treinamento é calculado com o conjunto usado para treinar o modelo.</a:t>
            </a:r>
          </a:p>
          <a:p>
            <a:pPr lvl="1">
              <a:buFont typeface="Wingdings" panose="05000000000000000000" pitchFamily="2" charset="2"/>
              <a:buChar char="§"/>
            </a:pPr>
            <a:r>
              <a:rPr lang="pt-BR" dirty="0"/>
              <a:t>Erro de validação ou teste é calculado com dados inéditos.</a:t>
            </a:r>
          </a:p>
        </p:txBody>
      </p:sp>
    </p:spTree>
    <p:extLst>
      <p:ext uri="{BB962C8B-B14F-4D97-AF65-F5344CB8AC3E}">
        <p14:creationId xmlns:p14="http://schemas.microsoft.com/office/powerpoint/2010/main" val="386480043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C595774-B841-7E8F-A35A-BAB395D69A08}"/>
              </a:ext>
            </a:extLst>
          </p:cNvPr>
          <p:cNvSpPr>
            <a:spLocks noGrp="1"/>
          </p:cNvSpPr>
          <p:nvPr>
            <p:ph type="title"/>
          </p:nvPr>
        </p:nvSpPr>
        <p:spPr/>
        <p:txBody>
          <a:bodyPr/>
          <a:lstStyle/>
          <a:p>
            <a:r>
              <a:rPr lang="pt-BR" dirty="0"/>
              <a:t>Validação cruzada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A9594690-2CA5-0A2D-98E4-C4ACDD16B0DC}"/>
                  </a:ext>
                </a:extLst>
              </p:cNvPr>
              <p:cNvSpPr>
                <a:spLocks noGrp="1"/>
              </p:cNvSpPr>
              <p:nvPr>
                <p:ph idx="1"/>
              </p:nvPr>
            </p:nvSpPr>
            <p:spPr>
              <a:xfrm>
                <a:off x="838199" y="1825624"/>
                <a:ext cx="11218683" cy="5032375"/>
              </a:xfrm>
            </p:spPr>
            <p:txBody>
              <a:bodyPr/>
              <a:lstStyle/>
              <a:p>
                <a:r>
                  <a:rPr lang="pt-BR" dirty="0"/>
                  <a:t>No caso onde queremos usar a </a:t>
                </a:r>
                <a:r>
                  <a:rPr lang="pt-BR" b="1" dirty="0">
                    <a:solidFill>
                      <a:srgbClr val="00B050"/>
                    </a:solidFill>
                  </a:rPr>
                  <a:t>validação cruzada</a:t>
                </a:r>
                <a:r>
                  <a:rPr lang="pt-BR" dirty="0"/>
                  <a:t> para </a:t>
                </a:r>
                <a:r>
                  <a:rPr lang="pt-BR" b="1" dirty="0">
                    <a:solidFill>
                      <a:srgbClr val="00B050"/>
                    </a:solidFill>
                  </a:rPr>
                  <a:t>encontrar o grau ideal da função hipótese polinomial</a:t>
                </a:r>
                <a:r>
                  <a:rPr lang="pt-BR" dirty="0"/>
                  <a:t>, o </a:t>
                </a:r>
                <a:r>
                  <a:rPr lang="pt-BR" b="1" dirty="0">
                    <a:solidFill>
                      <a:srgbClr val="7030A0"/>
                    </a:solidFill>
                  </a:rPr>
                  <a:t>comportamento destes dois erros</a:t>
                </a:r>
                <a:r>
                  <a:rPr lang="pt-BR" dirty="0"/>
                  <a:t> vai nos ajudar a verificar </a:t>
                </a:r>
                <a:r>
                  <a:rPr lang="pt-BR" b="1" dirty="0">
                    <a:solidFill>
                      <a:srgbClr val="0070C0"/>
                    </a:solidFill>
                  </a:rPr>
                  <a:t>quais graus fazem o modelo se ajustar demais</a:t>
                </a:r>
                <a:r>
                  <a:rPr lang="pt-BR" dirty="0"/>
                  <a:t> </a:t>
                </a:r>
                <a:r>
                  <a:rPr lang="pt-BR" b="1" dirty="0">
                    <a:solidFill>
                      <a:srgbClr val="0070C0"/>
                    </a:solidFill>
                  </a:rPr>
                  <a:t>ou insuficientemente </a:t>
                </a:r>
                <a:r>
                  <a:rPr lang="pt-BR" dirty="0"/>
                  <a:t>aos dados de treinamento.</a:t>
                </a:r>
              </a:p>
              <a:p>
                <a:r>
                  <a:rPr lang="pt-BR" dirty="0"/>
                  <a:t>A estratégia de validação cruzada mais utilizada é conhecida como </a:t>
                </a:r>
                <a14:m>
                  <m:oMath xmlns:m="http://schemas.openxmlformats.org/officeDocument/2006/math">
                    <m:r>
                      <a:rPr lang="pt-BR" i="1" smtClean="0">
                        <a:latin typeface="Cambria Math" panose="02040503050406030204" pitchFamily="18" charset="0"/>
                      </a:rPr>
                      <m:t>𝑘</m:t>
                    </m:r>
                  </m:oMath>
                </a14:m>
                <a:r>
                  <a:rPr lang="pt-BR" i="1" dirty="0"/>
                  <a:t>-</a:t>
                </a:r>
                <a:r>
                  <a:rPr lang="pt-BR" i="1" dirty="0" err="1"/>
                  <a:t>fold</a:t>
                </a:r>
                <a:r>
                  <a:rPr lang="pt-BR" dirty="0"/>
                  <a:t>.</a:t>
                </a:r>
              </a:p>
              <a:p>
                <a:r>
                  <a:rPr lang="pt-BR" dirty="0"/>
                  <a:t>Existem outras, como </a:t>
                </a:r>
                <a:r>
                  <a:rPr lang="pt-BR" i="1" dirty="0" err="1"/>
                  <a:t>holdout</a:t>
                </a:r>
                <a:r>
                  <a:rPr lang="pt-BR" dirty="0"/>
                  <a:t> </a:t>
                </a:r>
                <a:r>
                  <a:rPr lang="pt-BR" i="1" dirty="0"/>
                  <a:t>e </a:t>
                </a:r>
                <a:r>
                  <a:rPr lang="pt-BR" i="1" dirty="0" err="1"/>
                  <a:t>leave</a:t>
                </a:r>
                <a:r>
                  <a:rPr lang="pt-BR" i="1" dirty="0"/>
                  <a:t>-</a:t>
                </a:r>
                <a:r>
                  <a:rPr lang="pt-BR" i="1" dirty="0" err="1"/>
                  <a:t>p-out</a:t>
                </a:r>
                <a:r>
                  <a:rPr lang="pt-BR" dirty="0"/>
                  <a:t>, mas focaremos no </a:t>
                </a:r>
                <a14:m>
                  <m:oMath xmlns:m="http://schemas.openxmlformats.org/officeDocument/2006/math">
                    <m:r>
                      <a:rPr lang="pt-BR" i="1" smtClean="0">
                        <a:latin typeface="Cambria Math" panose="02040503050406030204" pitchFamily="18" charset="0"/>
                      </a:rPr>
                      <m:t>𝑘</m:t>
                    </m:r>
                  </m:oMath>
                </a14:m>
                <a:r>
                  <a:rPr lang="pt-BR" i="1" dirty="0"/>
                  <a:t>-</a:t>
                </a:r>
                <a:r>
                  <a:rPr lang="pt-BR" i="1" dirty="0" err="1"/>
                  <a:t>fold</a:t>
                </a:r>
                <a:r>
                  <a:rPr lang="pt-BR" dirty="0"/>
                  <a:t>.</a:t>
                </a:r>
              </a:p>
            </p:txBody>
          </p:sp>
        </mc:Choice>
        <mc:Fallback xmlns="">
          <p:sp>
            <p:nvSpPr>
              <p:cNvPr id="3" name="Espaço Reservado para Conteúdo 2">
                <a:extLst>
                  <a:ext uri="{FF2B5EF4-FFF2-40B4-BE49-F238E27FC236}">
                    <a16:creationId xmlns:a16="http://schemas.microsoft.com/office/drawing/2014/main" id="{A9594690-2CA5-0A2D-98E4-C4ACDD16B0DC}"/>
                  </a:ext>
                </a:extLst>
              </p:cNvPr>
              <p:cNvSpPr>
                <a:spLocks noGrp="1" noRot="1" noChangeAspect="1" noMove="1" noResize="1" noEditPoints="1" noAdjustHandles="1" noChangeArrowheads="1" noChangeShapeType="1" noTextEdit="1"/>
              </p:cNvSpPr>
              <p:nvPr>
                <p:ph idx="1"/>
              </p:nvPr>
            </p:nvSpPr>
            <p:spPr>
              <a:xfrm>
                <a:off x="838199" y="1825624"/>
                <a:ext cx="11218683" cy="5032375"/>
              </a:xfrm>
              <a:blipFill>
                <a:blip r:embed="rId3"/>
                <a:stretch>
                  <a:fillRect l="-923" t="-1937" r="-1793"/>
                </a:stretch>
              </a:blipFill>
            </p:spPr>
            <p:txBody>
              <a:bodyPr/>
              <a:lstStyle/>
              <a:p>
                <a:r>
                  <a:rPr lang="en-US">
                    <a:noFill/>
                  </a:rPr>
                  <a:t> </a:t>
                </a:r>
              </a:p>
            </p:txBody>
          </p:sp>
        </mc:Fallback>
      </mc:AlternateContent>
    </p:spTree>
    <p:extLst>
      <p:ext uri="{BB962C8B-B14F-4D97-AF65-F5344CB8AC3E}">
        <p14:creationId xmlns:p14="http://schemas.microsoft.com/office/powerpoint/2010/main" val="105099249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id="{C5C2477C-2D2C-D4E3-DD60-2911128E0DD0}"/>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C5C2477C-2D2C-D4E3-DD60-2911128E0DD0}"/>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id="{C81D5EE1-D440-6F4D-3F1E-ED8B0B4036BF}"/>
              </a:ext>
            </a:extLst>
          </p:cNvPr>
          <p:cNvSpPr>
            <a:spLocks noGrp="1"/>
          </p:cNvSpPr>
          <p:nvPr>
            <p:ph idx="1"/>
          </p:nvPr>
        </p:nvSpPr>
        <p:spPr>
          <a:xfrm>
            <a:off x="5854700" y="1825624"/>
            <a:ext cx="6197600" cy="5032375"/>
          </a:xfrm>
        </p:spPr>
        <p:txBody>
          <a:bodyPr>
            <a:normAutofit/>
          </a:bodyPr>
          <a:lstStyle/>
          <a:p>
            <a:r>
              <a:rPr lang="pt-BR" dirty="0">
                <a:solidFill>
                  <a:srgbClr val="0F0F0F"/>
                </a:solidFill>
              </a:rPr>
              <a:t>A estratégia consiste em embaralhar (opcional) e </a:t>
            </a:r>
            <a:r>
              <a:rPr lang="pt-BR" b="1" dirty="0">
                <a:solidFill>
                  <a:srgbClr val="00B050"/>
                </a:solidFill>
              </a:rPr>
              <a:t>dividir o </a:t>
            </a:r>
            <a:r>
              <a:rPr lang="pt-BR" b="1" dirty="0">
                <a:solidFill>
                  <a:srgbClr val="00B050"/>
                </a:solidFill>
                <a:effectLst/>
              </a:rPr>
              <a:t>conjunto total de dados em</a:t>
            </a:r>
            <a:r>
              <a:rPr lang="pt-BR" b="0" dirty="0">
                <a:solidFill>
                  <a:srgbClr val="0F0F0F"/>
                </a:solidFill>
                <a:effectLst/>
              </a:rPr>
              <a:t> 𝒌</a:t>
            </a:r>
            <a:r>
              <a:rPr lang="pt-BR" dirty="0">
                <a:solidFill>
                  <a:srgbClr val="0F0F0F"/>
                </a:solidFill>
              </a:rPr>
              <a:t> </a:t>
            </a:r>
            <a:r>
              <a:rPr lang="pt-BR" b="1" dirty="0">
                <a:solidFill>
                  <a:srgbClr val="00B050"/>
                </a:solidFill>
                <a:effectLst/>
              </a:rPr>
              <a:t>partes</a:t>
            </a:r>
            <a:r>
              <a:rPr lang="pt-BR" b="0" dirty="0">
                <a:solidFill>
                  <a:srgbClr val="0F0F0F"/>
                </a:solidFill>
                <a:effectLst/>
              </a:rPr>
              <a:t> (ou </a:t>
            </a:r>
            <a:r>
              <a:rPr lang="pt-BR" b="0" i="1" dirty="0">
                <a:solidFill>
                  <a:srgbClr val="0F0F0F"/>
                </a:solidFill>
                <a:effectLst/>
              </a:rPr>
              <a:t>folds</a:t>
            </a:r>
            <a:r>
              <a:rPr lang="pt-BR" b="0" dirty="0">
                <a:solidFill>
                  <a:srgbClr val="0F0F0F"/>
                </a:solidFill>
                <a:effectLst/>
              </a:rPr>
              <a:t>) </a:t>
            </a:r>
            <a:r>
              <a:rPr lang="pt-BR" b="1" dirty="0">
                <a:solidFill>
                  <a:srgbClr val="00B050"/>
                </a:solidFill>
                <a:effectLst/>
              </a:rPr>
              <a:t>iguais</a:t>
            </a:r>
            <a:r>
              <a:rPr lang="pt-BR" b="0" dirty="0">
                <a:solidFill>
                  <a:srgbClr val="0F0F0F"/>
                </a:solidFill>
                <a:effectLst/>
              </a:rPr>
              <a:t>. </a:t>
            </a:r>
          </a:p>
          <a:p>
            <a:r>
              <a:rPr lang="pt-BR" b="0" dirty="0">
                <a:solidFill>
                  <a:srgbClr val="0F0F0F"/>
                </a:solidFill>
                <a:effectLst/>
              </a:rPr>
              <a:t>O </a:t>
            </a:r>
            <a:r>
              <a:rPr lang="pt-BR" b="1" dirty="0">
                <a:solidFill>
                  <a:srgbClr val="7030A0"/>
                </a:solidFill>
                <a:effectLst/>
              </a:rPr>
              <a:t>modelo é treinado</a:t>
            </a:r>
            <a:r>
              <a:rPr lang="pt-BR" b="0" dirty="0">
                <a:solidFill>
                  <a:srgbClr val="0F0F0F"/>
                </a:solidFill>
                <a:effectLst/>
              </a:rPr>
              <a:t> 𝒌 </a:t>
            </a:r>
            <a:r>
              <a:rPr lang="pt-BR" b="1" dirty="0">
                <a:solidFill>
                  <a:srgbClr val="7030A0"/>
                </a:solidFill>
                <a:effectLst/>
              </a:rPr>
              <a:t>vezes</a:t>
            </a:r>
            <a:r>
              <a:rPr lang="pt-BR" b="0" dirty="0">
                <a:solidFill>
                  <a:srgbClr val="0F0F0F"/>
                </a:solidFill>
                <a:effectLst/>
              </a:rPr>
              <a:t>, cada vez usando 𝒌</a:t>
            </a:r>
            <a:r>
              <a:rPr lang="pt-BR" b="1" dirty="0">
                <a:solidFill>
                  <a:srgbClr val="0F0F0F"/>
                </a:solidFill>
                <a:effectLst/>
              </a:rPr>
              <a:t>-1</a:t>
            </a:r>
            <a:r>
              <a:rPr lang="pt-BR" b="0" dirty="0">
                <a:solidFill>
                  <a:srgbClr val="0F0F0F"/>
                </a:solidFill>
                <a:effectLst/>
              </a:rPr>
              <a:t> partes como conjunto de treinamento e a parte restante como conjunto de validação.</a:t>
            </a:r>
          </a:p>
          <a:p>
            <a:r>
              <a:rPr lang="pt-BR" dirty="0">
                <a:solidFill>
                  <a:srgbClr val="0F0F0F"/>
                </a:solidFill>
              </a:rPr>
              <a:t>O </a:t>
            </a:r>
            <a:r>
              <a:rPr lang="pt-BR" b="1" dirty="0">
                <a:solidFill>
                  <a:srgbClr val="0070C0"/>
                </a:solidFill>
              </a:rPr>
              <a:t>EQM com cada conjunto de validação</a:t>
            </a:r>
            <a:r>
              <a:rPr lang="pt-BR" dirty="0">
                <a:solidFill>
                  <a:srgbClr val="0F0F0F"/>
                </a:solidFill>
              </a:rPr>
              <a:t> é calculado </a:t>
            </a:r>
            <a:r>
              <a:rPr lang="pt-BR" b="1" dirty="0">
                <a:solidFill>
                  <a:srgbClr val="0070C0"/>
                </a:solidFill>
              </a:rPr>
              <a:t>ao final de cada treinamento</a:t>
            </a:r>
            <a:r>
              <a:rPr lang="pt-BR" dirty="0">
                <a:solidFill>
                  <a:srgbClr val="0F0F0F"/>
                </a:solidFill>
              </a:rPr>
              <a:t>.</a:t>
            </a:r>
            <a:endParaRPr lang="pt-BR" b="0" dirty="0">
              <a:solidFill>
                <a:srgbClr val="0F0F0F"/>
              </a:solidFill>
              <a:effectLst/>
            </a:endParaRPr>
          </a:p>
        </p:txBody>
      </p:sp>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3926FA82-F16F-7AE7-534B-5F7CB73CCD08}"/>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3926FA82-F16F-7AE7-534B-5F7CB73CCD08}"/>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4"/>
                <a:stretch>
                  <a:fillRect t="-12500" b="-34375"/>
                </a:stretch>
              </a:blipFill>
            </p:spPr>
            <p:txBody>
              <a:bodyPr/>
              <a:lstStyle/>
              <a:p>
                <a:r>
                  <a:rPr lang="pt-BR">
                    <a:noFill/>
                  </a:rPr>
                  <a:t> </a:t>
                </a:r>
              </a:p>
            </p:txBody>
          </p:sp>
        </mc:Fallback>
      </mc:AlternateContent>
      <p:pic>
        <p:nvPicPr>
          <p:cNvPr id="10" name="Imagem 9">
            <a:extLst>
              <a:ext uri="{FF2B5EF4-FFF2-40B4-BE49-F238E27FC236}">
                <a16:creationId xmlns:a16="http://schemas.microsoft.com/office/drawing/2014/main" id="{DEF6A211-DAF7-2C02-45BC-D2089FA5D178}"/>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p:spTree>
    <p:extLst>
      <p:ext uri="{BB962C8B-B14F-4D97-AF65-F5344CB8AC3E}">
        <p14:creationId xmlns:p14="http://schemas.microsoft.com/office/powerpoint/2010/main" val="378252877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id="{9FBE2970-3CBA-404B-4074-AEE02EAAB9A6}"/>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9FBE2970-3CBA-404B-4074-AEE02EAAB9A6}"/>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id="{F55CE789-94DC-AEE8-1D38-D05D40B0BF3A}"/>
              </a:ext>
            </a:extLst>
          </p:cNvPr>
          <p:cNvSpPr>
            <a:spLocks noGrp="1"/>
          </p:cNvSpPr>
          <p:nvPr>
            <p:ph idx="1"/>
          </p:nvPr>
        </p:nvSpPr>
        <p:spPr>
          <a:xfrm>
            <a:off x="5937956" y="1825624"/>
            <a:ext cx="6254044" cy="5032375"/>
          </a:xfrm>
        </p:spPr>
        <p:txBody>
          <a:bodyPr>
            <a:normAutofit/>
          </a:bodyPr>
          <a:lstStyle/>
          <a:p>
            <a:r>
              <a:rPr lang="pt-BR" b="0" dirty="0">
                <a:solidFill>
                  <a:srgbClr val="0F0F0F"/>
                </a:solidFill>
                <a:effectLst/>
              </a:rPr>
              <a:t>Ao final dos 𝒌 treinamentos, calcula-se a </a:t>
            </a:r>
            <a:r>
              <a:rPr lang="pt-BR" b="1" dirty="0">
                <a:solidFill>
                  <a:srgbClr val="0070C0"/>
                </a:solidFill>
                <a:effectLst/>
              </a:rPr>
              <a:t>média</a:t>
            </a:r>
            <a:r>
              <a:rPr lang="pt-BR" b="0" dirty="0">
                <a:solidFill>
                  <a:srgbClr val="0F0F0F"/>
                </a:solidFill>
                <a:effectLst/>
              </a:rPr>
              <a:t> e o </a:t>
            </a:r>
            <a:r>
              <a:rPr lang="pt-BR" b="1" dirty="0">
                <a:solidFill>
                  <a:srgbClr val="0070C0"/>
                </a:solidFill>
                <a:effectLst/>
              </a:rPr>
              <a:t>desvio padrão</a:t>
            </a:r>
            <a:r>
              <a:rPr lang="pt-BR" b="0" dirty="0">
                <a:solidFill>
                  <a:srgbClr val="0F0F0F"/>
                </a:solidFill>
                <a:effectLst/>
              </a:rPr>
              <a:t> dos 𝒌 </a:t>
            </a:r>
            <a:r>
              <a:rPr lang="pt-BR" b="0" dirty="0" err="1">
                <a:solidFill>
                  <a:srgbClr val="0F0F0F"/>
                </a:solidFill>
                <a:effectLst/>
              </a:rPr>
              <a:t>EQMs</a:t>
            </a:r>
            <a:r>
              <a:rPr lang="pt-BR" b="0" dirty="0">
                <a:solidFill>
                  <a:srgbClr val="0F0F0F"/>
                </a:solidFill>
                <a:effectLst/>
              </a:rPr>
              <a:t> de validação para fornecer uma </a:t>
            </a:r>
            <a:r>
              <a:rPr lang="pt-BR" b="1" dirty="0">
                <a:solidFill>
                  <a:srgbClr val="00B050"/>
                </a:solidFill>
                <a:effectLst/>
              </a:rPr>
              <a:t>avaliação geral do desempenho do modelo</a:t>
            </a:r>
            <a:r>
              <a:rPr lang="pt-BR" b="1" dirty="0">
                <a:solidFill>
                  <a:srgbClr val="00B050"/>
                </a:solidFill>
              </a:rPr>
              <a:t>:</a:t>
            </a:r>
            <a:endParaRPr lang="pt-BR" b="1" dirty="0">
              <a:solidFill>
                <a:srgbClr val="00B050"/>
              </a:solidFill>
              <a:effectLst/>
            </a:endParaRPr>
          </a:p>
          <a:p>
            <a:pPr lvl="1">
              <a:buFont typeface="Wingdings" panose="05000000000000000000" pitchFamily="2" charset="2"/>
              <a:buChar char="§"/>
            </a:pPr>
            <a:r>
              <a:rPr lang="pt-BR" dirty="0"/>
              <a:t>A média fornece uma estimativa da capacidade de generalização do</a:t>
            </a:r>
            <a:br>
              <a:rPr lang="pt-BR" dirty="0"/>
            </a:br>
            <a:r>
              <a:rPr lang="pt-BR" dirty="0"/>
              <a:t>modelo em dados inéditos.</a:t>
            </a:r>
          </a:p>
          <a:p>
            <a:pPr lvl="1">
              <a:buFont typeface="Wingdings" panose="05000000000000000000" pitchFamily="2" charset="2"/>
              <a:buChar char="§"/>
            </a:pPr>
            <a:r>
              <a:rPr lang="pt-BR" dirty="0"/>
              <a:t>O desvio padrão indica a</a:t>
            </a:r>
            <a:br>
              <a:rPr lang="pt-BR" dirty="0"/>
            </a:br>
            <a:r>
              <a:rPr lang="pt-BR" dirty="0"/>
              <a:t>estabilidade do modelo diante de diferentes subconjuntos de</a:t>
            </a:r>
            <a:br>
              <a:rPr lang="pt-BR" dirty="0"/>
            </a:br>
            <a:r>
              <a:rPr lang="pt-BR" dirty="0"/>
              <a:t>treinamento.</a:t>
            </a:r>
            <a:endParaRPr lang="pt-BR" b="1" dirty="0">
              <a:solidFill>
                <a:srgbClr val="00B050"/>
              </a:solidFill>
              <a:effectLst/>
            </a:endParaRPr>
          </a:p>
        </p:txBody>
      </p:sp>
      <p:pic>
        <p:nvPicPr>
          <p:cNvPr id="4" name="Imagem 3">
            <a:extLst>
              <a:ext uri="{FF2B5EF4-FFF2-40B4-BE49-F238E27FC236}">
                <a16:creationId xmlns:a16="http://schemas.microsoft.com/office/drawing/2014/main" id="{4F49A66D-EE2E-954C-CE06-20034C4D7B7C}"/>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A35580BE-2693-7A2B-E389-307D19EBC7B1}"/>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A35580BE-2693-7A2B-E389-307D19EBC7B1}"/>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5"/>
                <a:stretch>
                  <a:fillRect t="-12500" b="-34375"/>
                </a:stretch>
              </a:blipFill>
            </p:spPr>
            <p:txBody>
              <a:bodyPr/>
              <a:lstStyle/>
              <a:p>
                <a:r>
                  <a:rPr lang="pt-BR">
                    <a:noFill/>
                  </a:rPr>
                  <a:t> </a:t>
                </a:r>
              </a:p>
            </p:txBody>
          </p:sp>
        </mc:Fallback>
      </mc:AlternateContent>
    </p:spTree>
    <p:extLst>
      <p:ext uri="{BB962C8B-B14F-4D97-AF65-F5344CB8AC3E}">
        <p14:creationId xmlns:p14="http://schemas.microsoft.com/office/powerpoint/2010/main" val="112903567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C59768-E199-FC07-1D18-43F5B3FAEA6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id="{626500EB-428E-627B-4A36-F1786ED03F75}"/>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9FBE2970-3CBA-404B-4074-AEE02EAAB9A6}"/>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id="{538FA78E-37EF-7A80-CAC5-45B94D3B2029}"/>
              </a:ext>
            </a:extLst>
          </p:cNvPr>
          <p:cNvSpPr>
            <a:spLocks noGrp="1"/>
          </p:cNvSpPr>
          <p:nvPr>
            <p:ph idx="1"/>
          </p:nvPr>
        </p:nvSpPr>
        <p:spPr>
          <a:xfrm>
            <a:off x="6096000" y="1825624"/>
            <a:ext cx="5956300" cy="5032375"/>
          </a:xfrm>
        </p:spPr>
        <p:txBody>
          <a:bodyPr>
            <a:normAutofit/>
          </a:bodyPr>
          <a:lstStyle/>
          <a:p>
            <a:r>
              <a:rPr lang="pt-BR" sz="2800" dirty="0"/>
              <a:t>Em geral, utiliza-se </a:t>
            </a:r>
            <a:r>
              <a:rPr lang="pt-BR" b="0" dirty="0">
                <a:solidFill>
                  <a:srgbClr val="0F0F0F"/>
                </a:solidFill>
                <a:effectLst/>
              </a:rPr>
              <a:t>𝒌</a:t>
            </a:r>
            <a:r>
              <a:rPr lang="pt-BR" sz="2800" dirty="0"/>
              <a:t> = 5 ou 10.</a:t>
            </a:r>
          </a:p>
          <a:p>
            <a:r>
              <a:rPr lang="pt-BR" sz="2800" dirty="0"/>
              <a:t>Porém, </a:t>
            </a:r>
            <a:r>
              <a:rPr lang="pt-BR" b="0" dirty="0">
                <a:solidFill>
                  <a:srgbClr val="0F0F0F"/>
                </a:solidFill>
                <a:effectLst/>
              </a:rPr>
              <a:t>𝒌</a:t>
            </a:r>
            <a:r>
              <a:rPr lang="pt-BR" sz="2800" dirty="0"/>
              <a:t> deve ser escolhido de forma que os folds sejam </a:t>
            </a:r>
            <a:r>
              <a:rPr lang="pt-BR" sz="2800" b="1" dirty="0">
                <a:solidFill>
                  <a:schemeClr val="accent2"/>
                </a:solidFill>
              </a:rPr>
              <a:t>representativos</a:t>
            </a:r>
            <a:r>
              <a:rPr lang="pt-BR" sz="2800" b="1" dirty="0"/>
              <a:t> do padrão presente nos dados.</a:t>
            </a:r>
          </a:p>
        </p:txBody>
      </p:sp>
      <p:pic>
        <p:nvPicPr>
          <p:cNvPr id="4" name="Imagem 3">
            <a:extLst>
              <a:ext uri="{FF2B5EF4-FFF2-40B4-BE49-F238E27FC236}">
                <a16:creationId xmlns:a16="http://schemas.microsoft.com/office/drawing/2014/main" id="{0E04963A-77E5-6FCB-B4EC-DE7DB68E6157}"/>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BA8092F3-11FA-DB4A-4D61-8C2EAB8F811F}"/>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A35580BE-2693-7A2B-E389-307D19EBC7B1}"/>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5"/>
                <a:stretch>
                  <a:fillRect t="-12500" b="-34375"/>
                </a:stretch>
              </a:blipFill>
            </p:spPr>
            <p:txBody>
              <a:bodyPr/>
              <a:lstStyle/>
              <a:p>
                <a:r>
                  <a:rPr lang="pt-BR">
                    <a:noFill/>
                  </a:rPr>
                  <a:t> </a:t>
                </a:r>
              </a:p>
            </p:txBody>
          </p:sp>
        </mc:Fallback>
      </mc:AlternateContent>
    </p:spTree>
    <p:extLst>
      <p:ext uri="{BB962C8B-B14F-4D97-AF65-F5344CB8AC3E}">
        <p14:creationId xmlns:p14="http://schemas.microsoft.com/office/powerpoint/2010/main" val="216426563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3E9311-064D-E16C-41CF-FDDCAC1B534B}"/>
              </a:ext>
            </a:extLst>
          </p:cNvPr>
          <p:cNvSpPr>
            <a:spLocks noGrp="1"/>
          </p:cNvSpPr>
          <p:nvPr>
            <p:ph type="title"/>
          </p:nvPr>
        </p:nvSpPr>
        <p:spPr/>
        <p:txBody>
          <a:bodyPr/>
          <a:lstStyle/>
          <a:p>
            <a:r>
              <a:rPr lang="pt-BR" dirty="0"/>
              <a:t>Inferência</a:t>
            </a:r>
          </a:p>
        </p:txBody>
      </p:sp>
      <p:sp>
        <p:nvSpPr>
          <p:cNvPr id="5" name="Rectangle 12">
            <a:extLst>
              <a:ext uri="{FF2B5EF4-FFF2-40B4-BE49-F238E27FC236}">
                <a16:creationId xmlns:a16="http://schemas.microsoft.com/office/drawing/2014/main" id="{6F331DB9-5397-FE0A-91D8-1793EEF62E87}"/>
              </a:ext>
            </a:extLst>
          </p:cNvPr>
          <p:cNvSpPr/>
          <p:nvPr/>
        </p:nvSpPr>
        <p:spPr>
          <a:xfrm>
            <a:off x="4565513" y="2316027"/>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Computador</a:t>
            </a:r>
          </a:p>
        </p:txBody>
      </p:sp>
      <p:sp>
        <p:nvSpPr>
          <p:cNvPr id="6" name="TextBox 13">
            <a:extLst>
              <a:ext uri="{FF2B5EF4-FFF2-40B4-BE49-F238E27FC236}">
                <a16:creationId xmlns:a16="http://schemas.microsoft.com/office/drawing/2014/main" id="{06E9CAFA-EF45-D808-3524-541209F72608}"/>
              </a:ext>
            </a:extLst>
          </p:cNvPr>
          <p:cNvSpPr txBox="1"/>
          <p:nvPr/>
        </p:nvSpPr>
        <p:spPr>
          <a:xfrm>
            <a:off x="3737514" y="1784441"/>
            <a:ext cx="3524518" cy="461665"/>
          </a:xfrm>
          <a:prstGeom prst="rect">
            <a:avLst/>
          </a:prstGeom>
          <a:noFill/>
        </p:spPr>
        <p:txBody>
          <a:bodyPr wrap="square" rtlCol="0">
            <a:spAutoFit/>
          </a:bodyPr>
          <a:lstStyle/>
          <a:p>
            <a:pPr algn="ctr"/>
            <a:r>
              <a:rPr lang="pt-BR" sz="2400" b="1" dirty="0"/>
              <a:t>Aprendizado de Máquina</a:t>
            </a:r>
          </a:p>
        </p:txBody>
      </p:sp>
      <p:cxnSp>
        <p:nvCxnSpPr>
          <p:cNvPr id="7" name="Straight Arrow Connector 14">
            <a:extLst>
              <a:ext uri="{FF2B5EF4-FFF2-40B4-BE49-F238E27FC236}">
                <a16:creationId xmlns:a16="http://schemas.microsoft.com/office/drawing/2014/main" id="{8C345449-B77B-4B47-E20B-D471D26E35B7}"/>
              </a:ext>
            </a:extLst>
          </p:cNvPr>
          <p:cNvCxnSpPr>
            <a:cxnSpLocks/>
          </p:cNvCxnSpPr>
          <p:nvPr/>
        </p:nvCxnSpPr>
        <p:spPr>
          <a:xfrm>
            <a:off x="3737513" y="249564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15">
            <a:extLst>
              <a:ext uri="{FF2B5EF4-FFF2-40B4-BE49-F238E27FC236}">
                <a16:creationId xmlns:a16="http://schemas.microsoft.com/office/drawing/2014/main" id="{8D62EBB6-EAA7-28D8-E6C2-9795FDB921EE}"/>
              </a:ext>
            </a:extLst>
          </p:cNvPr>
          <p:cNvCxnSpPr>
            <a:cxnSpLocks/>
          </p:cNvCxnSpPr>
          <p:nvPr/>
        </p:nvCxnSpPr>
        <p:spPr>
          <a:xfrm>
            <a:off x="3737513" y="299094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9" name="TextBox 16">
            <a:extLst>
              <a:ext uri="{FF2B5EF4-FFF2-40B4-BE49-F238E27FC236}">
                <a16:creationId xmlns:a16="http://schemas.microsoft.com/office/drawing/2014/main" id="{3FA78080-AFCA-96CC-C453-181F485B31C9}"/>
              </a:ext>
            </a:extLst>
          </p:cNvPr>
          <p:cNvSpPr txBox="1"/>
          <p:nvPr/>
        </p:nvSpPr>
        <p:spPr>
          <a:xfrm>
            <a:off x="2710328" y="2290304"/>
            <a:ext cx="1039586" cy="369332"/>
          </a:xfrm>
          <a:prstGeom prst="rect">
            <a:avLst/>
          </a:prstGeom>
          <a:noFill/>
        </p:spPr>
        <p:txBody>
          <a:bodyPr wrap="square" rtlCol="0">
            <a:spAutoFit/>
          </a:bodyPr>
          <a:lstStyle/>
          <a:p>
            <a:pPr algn="ctr"/>
            <a:r>
              <a:rPr lang="pt-BR" dirty="0"/>
              <a:t>Dados</a:t>
            </a:r>
          </a:p>
        </p:txBody>
      </p:sp>
      <p:sp>
        <p:nvSpPr>
          <p:cNvPr id="10" name="TextBox 17">
            <a:extLst>
              <a:ext uri="{FF2B5EF4-FFF2-40B4-BE49-F238E27FC236}">
                <a16:creationId xmlns:a16="http://schemas.microsoft.com/office/drawing/2014/main" id="{FCE4DF68-8A97-96D9-7A92-8454F29DB5D4}"/>
              </a:ext>
            </a:extLst>
          </p:cNvPr>
          <p:cNvSpPr txBox="1"/>
          <p:nvPr/>
        </p:nvSpPr>
        <p:spPr>
          <a:xfrm>
            <a:off x="2474033" y="2667776"/>
            <a:ext cx="1512176" cy="646331"/>
          </a:xfrm>
          <a:prstGeom prst="rect">
            <a:avLst/>
          </a:prstGeom>
          <a:noFill/>
        </p:spPr>
        <p:txBody>
          <a:bodyPr wrap="square" rtlCol="0">
            <a:spAutoFit/>
          </a:bodyPr>
          <a:lstStyle/>
          <a:p>
            <a:pPr algn="ctr"/>
            <a:r>
              <a:rPr lang="pt-BR" dirty="0"/>
              <a:t>Resultados esperados</a:t>
            </a:r>
          </a:p>
        </p:txBody>
      </p:sp>
      <p:cxnSp>
        <p:nvCxnSpPr>
          <p:cNvPr id="11" name="Straight Arrow Connector 18">
            <a:extLst>
              <a:ext uri="{FF2B5EF4-FFF2-40B4-BE49-F238E27FC236}">
                <a16:creationId xmlns:a16="http://schemas.microsoft.com/office/drawing/2014/main" id="{2D395B6B-3F86-38F7-5013-11F890A95EA5}"/>
              </a:ext>
            </a:extLst>
          </p:cNvPr>
          <p:cNvCxnSpPr>
            <a:cxnSpLocks/>
          </p:cNvCxnSpPr>
          <p:nvPr/>
        </p:nvCxnSpPr>
        <p:spPr>
          <a:xfrm>
            <a:off x="6475956" y="2740570"/>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2" name="TextBox 19">
            <a:extLst>
              <a:ext uri="{FF2B5EF4-FFF2-40B4-BE49-F238E27FC236}">
                <a16:creationId xmlns:a16="http://schemas.microsoft.com/office/drawing/2014/main" id="{B323B8BD-3D5F-3D1B-2326-DC97504A05FD}"/>
              </a:ext>
            </a:extLst>
          </p:cNvPr>
          <p:cNvSpPr txBox="1"/>
          <p:nvPr/>
        </p:nvSpPr>
        <p:spPr>
          <a:xfrm>
            <a:off x="7262032" y="2361429"/>
            <a:ext cx="1046854" cy="646331"/>
          </a:xfrm>
          <a:prstGeom prst="rect">
            <a:avLst/>
          </a:prstGeom>
          <a:noFill/>
        </p:spPr>
        <p:txBody>
          <a:bodyPr wrap="square" rtlCol="0">
            <a:spAutoFit/>
          </a:bodyPr>
          <a:lstStyle/>
          <a:p>
            <a:pPr algn="ctr"/>
            <a:r>
              <a:rPr lang="pt-BR" b="1" dirty="0"/>
              <a:t>Modelo de ML</a:t>
            </a:r>
          </a:p>
        </p:txBody>
      </p:sp>
      <p:sp>
        <p:nvSpPr>
          <p:cNvPr id="17" name="Rectangle 12">
            <a:extLst>
              <a:ext uri="{FF2B5EF4-FFF2-40B4-BE49-F238E27FC236}">
                <a16:creationId xmlns:a16="http://schemas.microsoft.com/office/drawing/2014/main" id="{3BDD7A2C-B103-5CF5-013A-B09C54C3859B}"/>
              </a:ext>
            </a:extLst>
          </p:cNvPr>
          <p:cNvSpPr/>
          <p:nvPr/>
        </p:nvSpPr>
        <p:spPr>
          <a:xfrm>
            <a:off x="4565512" y="3972592"/>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b="1" dirty="0">
                <a:solidFill>
                  <a:schemeClr val="tx1"/>
                </a:solidFill>
              </a:rPr>
              <a:t>Modelo de ML</a:t>
            </a:r>
          </a:p>
        </p:txBody>
      </p:sp>
      <p:sp>
        <p:nvSpPr>
          <p:cNvPr id="18" name="Elipse 17">
            <a:extLst>
              <a:ext uri="{FF2B5EF4-FFF2-40B4-BE49-F238E27FC236}">
                <a16:creationId xmlns:a16="http://schemas.microsoft.com/office/drawing/2014/main" id="{85D61170-E541-E622-A574-5F938A9E5B03}"/>
              </a:ext>
            </a:extLst>
          </p:cNvPr>
          <p:cNvSpPr/>
          <p:nvPr/>
        </p:nvSpPr>
        <p:spPr>
          <a:xfrm>
            <a:off x="7145514" y="2235093"/>
            <a:ext cx="1237966" cy="849086"/>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0" name="Conector: Curvo 19">
            <a:extLst>
              <a:ext uri="{FF2B5EF4-FFF2-40B4-BE49-F238E27FC236}">
                <a16:creationId xmlns:a16="http://schemas.microsoft.com/office/drawing/2014/main" id="{749B6397-E0D4-6139-3D75-F7D3B11F887D}"/>
              </a:ext>
            </a:extLst>
          </p:cNvPr>
          <p:cNvCxnSpPr>
            <a:cxnSpLocks/>
            <a:stCxn id="18" idx="2"/>
          </p:cNvCxnSpPr>
          <p:nvPr/>
        </p:nvCxnSpPr>
        <p:spPr>
          <a:xfrm rot="10800000" flipV="1">
            <a:off x="5592698" y="2659635"/>
            <a:ext cx="1552816" cy="1655509"/>
          </a:xfrm>
          <a:prstGeom prst="curvedConnector2">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15">
            <a:extLst>
              <a:ext uri="{FF2B5EF4-FFF2-40B4-BE49-F238E27FC236}">
                <a16:creationId xmlns:a16="http://schemas.microsoft.com/office/drawing/2014/main" id="{BB742821-1459-A4B5-4D8D-C5A6248E0D75}"/>
              </a:ext>
            </a:extLst>
          </p:cNvPr>
          <p:cNvCxnSpPr>
            <a:cxnSpLocks/>
          </p:cNvCxnSpPr>
          <p:nvPr/>
        </p:nvCxnSpPr>
        <p:spPr>
          <a:xfrm>
            <a:off x="3749914" y="4397135"/>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15">
            <a:extLst>
              <a:ext uri="{FF2B5EF4-FFF2-40B4-BE49-F238E27FC236}">
                <a16:creationId xmlns:a16="http://schemas.microsoft.com/office/drawing/2014/main" id="{BAD9F21E-4241-FCB6-CDB7-1D8B28EA6594}"/>
              </a:ext>
            </a:extLst>
          </p:cNvPr>
          <p:cNvCxnSpPr>
            <a:cxnSpLocks/>
          </p:cNvCxnSpPr>
          <p:nvPr/>
        </p:nvCxnSpPr>
        <p:spPr>
          <a:xfrm>
            <a:off x="6475956" y="4406859"/>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24" name="TextBox 16">
            <a:extLst>
              <a:ext uri="{FF2B5EF4-FFF2-40B4-BE49-F238E27FC236}">
                <a16:creationId xmlns:a16="http://schemas.microsoft.com/office/drawing/2014/main" id="{351ED6B5-96CF-327C-9BC3-800144EA6143}"/>
              </a:ext>
            </a:extLst>
          </p:cNvPr>
          <p:cNvSpPr txBox="1"/>
          <p:nvPr/>
        </p:nvSpPr>
        <p:spPr>
          <a:xfrm>
            <a:off x="2807753" y="4212469"/>
            <a:ext cx="1039586" cy="369332"/>
          </a:xfrm>
          <a:prstGeom prst="rect">
            <a:avLst/>
          </a:prstGeom>
          <a:noFill/>
        </p:spPr>
        <p:txBody>
          <a:bodyPr wrap="square" rtlCol="0">
            <a:spAutoFit/>
          </a:bodyPr>
          <a:lstStyle/>
          <a:p>
            <a:pPr algn="ctr"/>
            <a:r>
              <a:rPr lang="pt-BR" dirty="0"/>
              <a:t>Dados</a:t>
            </a:r>
          </a:p>
        </p:txBody>
      </p:sp>
      <p:sp>
        <p:nvSpPr>
          <p:cNvPr id="25" name="TextBox 16">
            <a:extLst>
              <a:ext uri="{FF2B5EF4-FFF2-40B4-BE49-F238E27FC236}">
                <a16:creationId xmlns:a16="http://schemas.microsoft.com/office/drawing/2014/main" id="{3B2C4DD6-ABCD-7FFD-E1AA-2F7425A98988}"/>
              </a:ext>
            </a:extLst>
          </p:cNvPr>
          <p:cNvSpPr txBox="1"/>
          <p:nvPr/>
        </p:nvSpPr>
        <p:spPr>
          <a:xfrm>
            <a:off x="7212316" y="4083693"/>
            <a:ext cx="1456083" cy="646331"/>
          </a:xfrm>
          <a:prstGeom prst="rect">
            <a:avLst/>
          </a:prstGeom>
          <a:noFill/>
        </p:spPr>
        <p:txBody>
          <a:bodyPr wrap="square" rtlCol="0">
            <a:spAutoFit/>
          </a:bodyPr>
          <a:lstStyle/>
          <a:p>
            <a:pPr algn="ctr"/>
            <a:r>
              <a:rPr lang="pt-BR" dirty="0"/>
              <a:t>Inferências ou predições</a:t>
            </a:r>
          </a:p>
        </p:txBody>
      </p:sp>
      <p:sp>
        <p:nvSpPr>
          <p:cNvPr id="3" name="Espaço Reservado para Conteúdo 2">
            <a:extLst>
              <a:ext uri="{FF2B5EF4-FFF2-40B4-BE49-F238E27FC236}">
                <a16:creationId xmlns:a16="http://schemas.microsoft.com/office/drawing/2014/main" id="{8C447695-AEA9-9967-3A0A-FF7CEA659948}"/>
              </a:ext>
            </a:extLst>
          </p:cNvPr>
          <p:cNvSpPr>
            <a:spLocks noGrp="1"/>
          </p:cNvSpPr>
          <p:nvPr>
            <p:ph idx="1"/>
          </p:nvPr>
        </p:nvSpPr>
        <p:spPr>
          <a:xfrm>
            <a:off x="838199" y="5006343"/>
            <a:ext cx="11229623" cy="1851657"/>
          </a:xfrm>
        </p:spPr>
        <p:txBody>
          <a:bodyPr/>
          <a:lstStyle/>
          <a:p>
            <a:r>
              <a:rPr lang="pt-BR" dirty="0"/>
              <a:t>Após termos treinado e encontrado o modelo, o usamos para fazer </a:t>
            </a:r>
            <a:r>
              <a:rPr lang="pt-BR" b="1" dirty="0">
                <a:solidFill>
                  <a:srgbClr val="00B050"/>
                </a:solidFill>
              </a:rPr>
              <a:t>inferências</a:t>
            </a:r>
            <a:r>
              <a:rPr lang="pt-BR" dirty="0"/>
              <a:t>.</a:t>
            </a:r>
          </a:p>
          <a:p>
            <a:r>
              <a:rPr lang="pt-BR" dirty="0"/>
              <a:t>Ou seja, o usamos para fazer </a:t>
            </a:r>
            <a:r>
              <a:rPr lang="pt-BR" b="1" dirty="0">
                <a:solidFill>
                  <a:srgbClr val="00B050"/>
                </a:solidFill>
              </a:rPr>
              <a:t>predições</a:t>
            </a:r>
            <a:r>
              <a:rPr lang="pt-BR" dirty="0"/>
              <a:t> (i.e., valores de saídas) </a:t>
            </a:r>
            <a:r>
              <a:rPr lang="pt-BR" b="1" dirty="0">
                <a:solidFill>
                  <a:srgbClr val="00B050"/>
                </a:solidFill>
              </a:rPr>
              <a:t>para entradas inéditas</a:t>
            </a:r>
            <a:r>
              <a:rPr lang="pt-BR" dirty="0"/>
              <a:t>.</a:t>
            </a:r>
          </a:p>
        </p:txBody>
      </p:sp>
    </p:spTree>
    <p:extLst>
      <p:ext uri="{BB962C8B-B14F-4D97-AF65-F5344CB8AC3E}">
        <p14:creationId xmlns:p14="http://schemas.microsoft.com/office/powerpoint/2010/main" val="113234715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Generalização</a:t>
            </a:r>
            <a:endParaRPr lang="en-US" dirty="0"/>
          </a:p>
        </p:txBody>
      </p:sp>
      <p:sp>
        <p:nvSpPr>
          <p:cNvPr id="3" name="Espaço Reservado para Conteúdo 2"/>
          <p:cNvSpPr>
            <a:spLocks noGrp="1"/>
          </p:cNvSpPr>
          <p:nvPr>
            <p:ph idx="1"/>
          </p:nvPr>
        </p:nvSpPr>
        <p:spPr>
          <a:xfrm>
            <a:off x="838199" y="1825624"/>
            <a:ext cx="11127659" cy="3074186"/>
          </a:xfrm>
        </p:spPr>
        <p:txBody>
          <a:bodyPr>
            <a:normAutofit/>
          </a:bodyPr>
          <a:lstStyle/>
          <a:p>
            <a:r>
              <a:rPr lang="pt-BR" dirty="0"/>
              <a:t>Porém, não basta que o algoritmo de ML treine um modelo que faça um bom mapeamento </a:t>
            </a:r>
            <a:r>
              <a:rPr lang="pt-BR" b="1" dirty="0"/>
              <a:t>apenas para os dados do conjunto de treinamento</a:t>
            </a:r>
            <a:r>
              <a:rPr lang="pt-BR" dirty="0"/>
              <a:t>.</a:t>
            </a:r>
          </a:p>
          <a:p>
            <a:r>
              <a:rPr lang="pt-BR" dirty="0"/>
              <a:t>O </a:t>
            </a:r>
            <a:r>
              <a:rPr lang="pt-BR" b="1" dirty="0"/>
              <a:t>algoritmo</a:t>
            </a:r>
            <a:r>
              <a:rPr lang="pt-BR" dirty="0"/>
              <a:t> de ML deve </a:t>
            </a:r>
            <a:r>
              <a:rPr lang="pt-BR" b="1" dirty="0"/>
              <a:t>treinar</a:t>
            </a:r>
            <a:r>
              <a:rPr lang="pt-BR" dirty="0"/>
              <a:t> um </a:t>
            </a:r>
            <a:r>
              <a:rPr lang="pt-BR" b="1" dirty="0"/>
              <a:t>modelo</a:t>
            </a:r>
            <a:r>
              <a:rPr lang="pt-BR" dirty="0"/>
              <a:t> que </a:t>
            </a:r>
            <a:r>
              <a:rPr lang="pt-BR" b="1" dirty="0"/>
              <a:t>aprenda</a:t>
            </a:r>
            <a:r>
              <a:rPr lang="pt-BR" dirty="0"/>
              <a:t> uma </a:t>
            </a:r>
            <a:r>
              <a:rPr lang="pt-BR" b="1" dirty="0">
                <a:solidFill>
                  <a:srgbClr val="7030A0"/>
                </a:solidFill>
              </a:rPr>
              <a:t>solução geral</a:t>
            </a:r>
            <a:r>
              <a:rPr lang="pt-BR" dirty="0"/>
              <a:t>, ou seja, um modelo que </a:t>
            </a:r>
            <a:r>
              <a:rPr lang="pt-BR" b="1" dirty="0">
                <a:solidFill>
                  <a:srgbClr val="00B050"/>
                </a:solidFill>
              </a:rPr>
              <a:t>faça predições precisas para entradas não vistas durante o treinamento</a:t>
            </a:r>
            <a:r>
              <a:rPr lang="pt-BR" dirty="0"/>
              <a:t>.</a:t>
            </a:r>
          </a:p>
          <a:p>
            <a:r>
              <a:rPr lang="pt-BR" dirty="0"/>
              <a:t>Essa extrapolação do conhecimento adquirido durante o treinamento é chamado de </a:t>
            </a:r>
            <a:r>
              <a:rPr lang="pt-BR" b="1" dirty="0">
                <a:solidFill>
                  <a:srgbClr val="00B050"/>
                </a:solidFill>
              </a:rPr>
              <a:t>generalização</a:t>
            </a:r>
            <a:r>
              <a:rPr lang="pt-BR" dirty="0"/>
              <a:t>.</a:t>
            </a:r>
          </a:p>
        </p:txBody>
      </p:sp>
      <p:sp>
        <p:nvSpPr>
          <p:cNvPr id="15" name="Rectangle 12"/>
          <p:cNvSpPr/>
          <p:nvPr/>
        </p:nvSpPr>
        <p:spPr>
          <a:xfrm>
            <a:off x="5016127" y="5643789"/>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Computador com modelo de ML </a:t>
            </a:r>
            <a:r>
              <a:rPr lang="pt-BR" b="1" i="1" dirty="0">
                <a:solidFill>
                  <a:srgbClr val="00B0F0"/>
                </a:solidFill>
              </a:rPr>
              <a:t>treinado</a:t>
            </a:r>
          </a:p>
        </p:txBody>
      </p:sp>
      <p:sp>
        <p:nvSpPr>
          <p:cNvPr id="16" name="TextBox 13"/>
          <p:cNvSpPr txBox="1"/>
          <p:nvPr/>
        </p:nvSpPr>
        <p:spPr>
          <a:xfrm>
            <a:off x="4188128" y="5112203"/>
            <a:ext cx="3524518" cy="461665"/>
          </a:xfrm>
          <a:prstGeom prst="rect">
            <a:avLst/>
          </a:prstGeom>
          <a:noFill/>
        </p:spPr>
        <p:txBody>
          <a:bodyPr wrap="square" rtlCol="0">
            <a:spAutoFit/>
          </a:bodyPr>
          <a:lstStyle/>
          <a:p>
            <a:pPr algn="ctr"/>
            <a:r>
              <a:rPr lang="pt-BR" sz="2400" b="1" dirty="0"/>
              <a:t>Aprendizado de Máquina</a:t>
            </a:r>
          </a:p>
        </p:txBody>
      </p:sp>
      <p:cxnSp>
        <p:nvCxnSpPr>
          <p:cNvPr id="17" name="Straight Arrow Connector 14"/>
          <p:cNvCxnSpPr/>
          <p:nvPr/>
        </p:nvCxnSpPr>
        <p:spPr>
          <a:xfrm>
            <a:off x="4188127" y="606833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9" name="TextBox 16"/>
          <p:cNvSpPr txBox="1"/>
          <p:nvPr/>
        </p:nvSpPr>
        <p:spPr>
          <a:xfrm>
            <a:off x="3228378" y="5745166"/>
            <a:ext cx="999567" cy="646331"/>
          </a:xfrm>
          <a:prstGeom prst="rect">
            <a:avLst/>
          </a:prstGeom>
          <a:noFill/>
        </p:spPr>
        <p:txBody>
          <a:bodyPr wrap="square" rtlCol="0">
            <a:spAutoFit/>
          </a:bodyPr>
          <a:lstStyle/>
          <a:p>
            <a:pPr algn="ctr"/>
            <a:r>
              <a:rPr lang="pt-BR" dirty="0"/>
              <a:t>Entradas inéditas</a:t>
            </a:r>
          </a:p>
        </p:txBody>
      </p:sp>
      <p:cxnSp>
        <p:nvCxnSpPr>
          <p:cNvPr id="21" name="Straight Arrow Connector 18"/>
          <p:cNvCxnSpPr/>
          <p:nvPr/>
        </p:nvCxnSpPr>
        <p:spPr>
          <a:xfrm>
            <a:off x="6926570" y="606833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22" name="TextBox 19"/>
          <p:cNvSpPr txBox="1"/>
          <p:nvPr/>
        </p:nvSpPr>
        <p:spPr>
          <a:xfrm>
            <a:off x="7610288" y="5786261"/>
            <a:ext cx="1226725" cy="646331"/>
          </a:xfrm>
          <a:prstGeom prst="rect">
            <a:avLst/>
          </a:prstGeom>
          <a:noFill/>
        </p:spPr>
        <p:txBody>
          <a:bodyPr wrap="square" rtlCol="0">
            <a:spAutoFit/>
          </a:bodyPr>
          <a:lstStyle/>
          <a:p>
            <a:pPr algn="ctr"/>
            <a:r>
              <a:rPr lang="pt-BR" dirty="0"/>
              <a:t>Saída ou inferência</a:t>
            </a:r>
            <a:endParaRPr lang="pt-BR" b="1" dirty="0">
              <a:solidFill>
                <a:srgbClr val="FF0000"/>
              </a:solidFill>
            </a:endParaRPr>
          </a:p>
        </p:txBody>
      </p:sp>
    </p:spTree>
    <p:extLst>
      <p:ext uri="{BB962C8B-B14F-4D97-AF65-F5344CB8AC3E}">
        <p14:creationId xmlns:p14="http://schemas.microsoft.com/office/powerpoint/2010/main" val="1939698329"/>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lstStyle/>
          <a:p>
            <a:r>
              <a:rPr lang="pt-BR" dirty="0">
                <a:hlinkClick r:id="rId3"/>
              </a:rPr>
              <a:t>Exemplo: </a:t>
            </a:r>
            <a:r>
              <a:rPr lang="pt-BR" dirty="0" err="1">
                <a:hlinkClick r:id="rId3"/>
              </a:rPr>
              <a:t>regressão.ipynb</a:t>
            </a:r>
            <a:endParaRPr lang="en-US" dirty="0"/>
          </a:p>
        </p:txBody>
      </p:sp>
      <p:grpSp>
        <p:nvGrpSpPr>
          <p:cNvPr id="18" name="Group 17">
            <a:extLst>
              <a:ext uri="{FF2B5EF4-FFF2-40B4-BE49-F238E27FC236}">
                <a16:creationId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90860825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9AE95-3E0A-F9BB-A3FD-4C328EF25334}"/>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id="{A431927B-FE56-CB25-3ECF-AB5E92A7DC71}"/>
              </a:ext>
            </a:extLst>
          </p:cNvPr>
          <p:cNvSpPr>
            <a:spLocks noGrp="1"/>
          </p:cNvSpPr>
          <p:nvPr>
            <p:ph idx="1"/>
          </p:nvPr>
        </p:nvSpPr>
        <p:spPr/>
        <p:txBody>
          <a:bodyPr/>
          <a:lstStyle/>
          <a:p>
            <a:pPr marL="0" indent="0">
              <a:buNone/>
            </a:pPr>
            <a:r>
              <a:rPr lang="en-US"/>
              <a:t>Lista #5 </a:t>
            </a:r>
            <a:r>
              <a:rPr lang="en-US" dirty="0"/>
              <a:t>- </a:t>
            </a:r>
            <a:r>
              <a:rPr lang="en-US" dirty="0" err="1"/>
              <a:t>Regressão</a:t>
            </a:r>
            <a:endParaRPr lang="en-US" dirty="0"/>
          </a:p>
        </p:txBody>
      </p:sp>
    </p:spTree>
    <p:extLst>
      <p:ext uri="{BB962C8B-B14F-4D97-AF65-F5344CB8AC3E}">
        <p14:creationId xmlns:p14="http://schemas.microsoft.com/office/powerpoint/2010/main" val="195134518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F20CD40C-581D-767F-12ED-42D2CB7861C4}"/>
              </a:ext>
            </a:extLst>
          </p:cNvPr>
          <p:cNvSpPr>
            <a:spLocks noGrp="1"/>
          </p:cNvSpPr>
          <p:nvPr>
            <p:ph idx="1"/>
          </p:nvPr>
        </p:nvSpPr>
        <p:spPr>
          <a:xfrm>
            <a:off x="838200" y="1825625"/>
            <a:ext cx="10515600" cy="3188164"/>
          </a:xfrm>
        </p:spPr>
        <p:txBody>
          <a:bodyPr>
            <a:normAutofit/>
          </a:bodyPr>
          <a:lstStyle/>
          <a:p>
            <a:pPr marL="0" indent="0" algn="ctr">
              <a:buNone/>
            </a:pPr>
            <a:r>
              <a:rPr lang="pt-BR" sz="7200" dirty="0"/>
              <a:t>Anexo:</a:t>
            </a:r>
          </a:p>
          <a:p>
            <a:pPr marL="0" indent="0" algn="ctr">
              <a:buNone/>
            </a:pPr>
            <a:r>
              <a:rPr lang="pt-BR" sz="7200" dirty="0"/>
              <a:t>Cálculo do vetor gradiente</a:t>
            </a:r>
          </a:p>
        </p:txBody>
      </p:sp>
    </p:spTree>
    <p:extLst>
      <p:ext uri="{BB962C8B-B14F-4D97-AF65-F5344CB8AC3E}">
        <p14:creationId xmlns:p14="http://schemas.microsoft.com/office/powerpoint/2010/main" val="421094900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186E35-2132-957C-5119-8416C939A543}"/>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C5EC678-4C25-1184-B2F1-399C0F236041}"/>
                  </a:ext>
                </a:extLst>
              </p:cNvPr>
              <p:cNvSpPr>
                <a:spLocks noGrp="1"/>
              </p:cNvSpPr>
              <p:nvPr>
                <p:ph idx="1"/>
              </p:nvPr>
            </p:nvSpPr>
            <p:spPr>
              <a:xfrm>
                <a:off x="838199" y="1825624"/>
                <a:ext cx="11146971" cy="5032375"/>
              </a:xfrm>
            </p:spPr>
            <p:txBody>
              <a:bodyPr>
                <a:normAutofit/>
              </a:bodyPr>
              <a:lstStyle/>
              <a:p>
                <a:pPr marL="0" indent="0">
                  <a:buNone/>
                </a:pPr>
                <a:r>
                  <a:rPr lang="pt-BR" dirty="0"/>
                  <a:t>Considerando o hiperplano como a função hipótese</a:t>
                </a:r>
              </a:p>
              <a:p>
                <a:pPr marL="0" indent="0">
                  <a:buNone/>
                </a:pPr>
                <a14:m>
                  <m:oMathPara xmlns:m="http://schemas.openxmlformats.org/officeDocument/2006/math">
                    <m:oMathParaPr>
                      <m:jc m:val="centerGroup"/>
                    </m:oMathParaPr>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oMath>
                  </m:oMathPara>
                </a14:m>
                <a:endParaRPr lang="pt-BR" dirty="0"/>
              </a:p>
              <a:p>
                <a:pPr marL="0" indent="0">
                  <a:buNone/>
                </a:pPr>
                <a:r>
                  <a:rPr lang="pt-BR" dirty="0"/>
                  <a:t>O vetor gradiente é calculado como</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sSup>
                        <m:sSupPr>
                          <m:ctrlPr>
                            <a:rPr lang="pt-BR" b="1" i="1" smtClean="0">
                              <a:latin typeface="Cambria Math" panose="02040503050406030204" pitchFamily="18" charset="0"/>
                            </a:rPr>
                          </m:ctrlPr>
                        </m:sSupPr>
                        <m:e>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0</m:t>
                                            </m:r>
                                          </m:sub>
                                        </m:sSub>
                                      </m:den>
                                    </m:f>
                                  </m:e>
                                  <m:e>
                                    <m:r>
                                      <a:rPr lang="pt-BR" b="1" i="1" smtClean="0">
                                        <a:latin typeface="Cambria Math" panose="02040503050406030204" pitchFamily="18" charset="0"/>
                                      </a:rPr>
                                      <m:t>⋯</m:t>
                                    </m:r>
                                  </m:e>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𝐾</m:t>
                                            </m:r>
                                          </m:sub>
                                        </m:sSub>
                                      </m:den>
                                    </m:f>
                                  </m:e>
                                </m:mr>
                              </m:m>
                            </m:e>
                          </m:d>
                        </m:e>
                        <m:sup>
                          <m:r>
                            <a:rPr lang="pt-BR" b="0" i="1" smtClean="0">
                              <a:latin typeface="Cambria Math" panose="02040503050406030204" pitchFamily="18" charset="0"/>
                            </a:rPr>
                            <m:t>𝑇</m:t>
                          </m:r>
                        </m:sup>
                      </m:sSup>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dirty="0"/>
                  <a:t>Assim, o vetor gradiente da função de erro em relação aos pesos é dado por</a:t>
                </a:r>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num>
                        <m:den>
                          <m:r>
                            <a:rPr lang="pt-BR" i="1">
                              <a:latin typeface="Cambria Math" panose="02040503050406030204" pitchFamily="18" charset="0"/>
                            </a:rPr>
                            <m:t>𝜕</m:t>
                          </m:r>
                          <m:r>
                            <a:rPr lang="pt-BR" b="1" i="1">
                              <a:latin typeface="Cambria Math" panose="02040503050406030204" pitchFamily="18" charset="0"/>
                            </a:rPr>
                            <m:t>𝒂</m:t>
                          </m:r>
                        </m:den>
                      </m:f>
                      <m:d>
                        <m:dPr>
                          <m:begChr m:val="["/>
                          <m:endChr m:val="]"/>
                          <m:ctrlPr>
                            <a:rPr lang="pt-BR" b="1" i="1" smtClean="0">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smtClean="0">
                                  <a:latin typeface="Cambria Math" panose="02040503050406030204" pitchFamily="18" charset="0"/>
                                </a:rPr>
                              </m:ctrlPr>
                            </m:naryPr>
                            <m:sub>
                              <m:r>
                                <m:rPr>
                                  <m:brk m:alnAt="23"/>
                                </m:rPr>
                                <a:rPr lang="pt-BR" b="0" i="1" smtClean="0">
                                  <a:latin typeface="Cambria Math" panose="02040503050406030204" pitchFamily="18" charset="0"/>
                                </a:rPr>
                                <m:t>𝑛</m:t>
                              </m:r>
                              <m:r>
                                <a:rPr lang="pt-BR" b="0" i="1" smtClean="0">
                                  <a:latin typeface="Cambria Math" panose="02040503050406030204" pitchFamily="18" charset="0"/>
                                </a:rPr>
                                <m:t>=0</m:t>
                              </m:r>
                            </m:sub>
                            <m:sup>
                              <m:r>
                                <a:rPr lang="pt-BR" b="0" i="1" smtClean="0">
                                  <a:latin typeface="Cambria Math" panose="02040503050406030204" pitchFamily="18" charset="0"/>
                                </a:rPr>
                                <m:t>𝑁</m:t>
                              </m:r>
                              <m:r>
                                <a:rPr lang="pt-BR" b="0" i="1" smtClean="0">
                                  <a:latin typeface="Cambria Math" panose="02040503050406030204" pitchFamily="18" charset="0"/>
                                </a:rPr>
                                <m:t>−1</m:t>
                              </m:r>
                            </m:sup>
                            <m:e>
                              <m:sSup>
                                <m:sSupPr>
                                  <m:ctrlPr>
                                    <a:rPr lang="pt-BR" i="1" smtClean="0">
                                      <a:latin typeface="Cambria Math" panose="02040503050406030204" pitchFamily="18" charset="0"/>
                                    </a:rPr>
                                  </m:ctrlPr>
                                </m:sSupPr>
                                <m:e>
                                  <m:d>
                                    <m:dPr>
                                      <m:ctrlPr>
                                        <a:rPr lang="pt-BR" i="1" smtClean="0">
                                          <a:latin typeface="Cambria Math" panose="02040503050406030204" pitchFamily="18" charset="0"/>
                                        </a:rPr>
                                      </m:ctrlPr>
                                    </m:dPr>
                                    <m:e>
                                      <m:r>
                                        <a:rPr lang="pt-BR" b="0" i="1" smtClean="0">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b="0" i="1" smtClean="0">
                                      <a:latin typeface="Cambria Math" panose="02040503050406030204" pitchFamily="18" charset="0"/>
                                    </a:rPr>
                                    <m:t>2</m:t>
                                  </m:r>
                                </m:sup>
                              </m:sSup>
                            </m:e>
                          </m:nary>
                        </m:e>
                      </m:d>
                      <m:r>
                        <a:rPr lang="pt-BR" b="1" i="1" smtClean="0">
                          <a:latin typeface="Cambria Math" panose="02040503050406030204" pitchFamily="18" charset="0"/>
                        </a:rPr>
                        <m:t>.</m:t>
                      </m:r>
                    </m:oMath>
                  </m:oMathPara>
                </a14:m>
                <a:endParaRPr lang="pt-BR" b="1" i="1" dirty="0">
                  <a:latin typeface="Cambria Math" panose="02040503050406030204" pitchFamily="18" charset="0"/>
                </a:endParaRPr>
              </a:p>
            </p:txBody>
          </p:sp>
        </mc:Choice>
        <mc:Fallback xmlns="">
          <p:sp>
            <p:nvSpPr>
              <p:cNvPr id="3" name="Espaço Reservado para Conteúdo 2">
                <a:extLst>
                  <a:ext uri="{FF2B5EF4-FFF2-40B4-BE49-F238E27FC236}">
                    <a16:creationId xmlns:a16="http://schemas.microsoft.com/office/drawing/2014/main" id="{DC5EC678-4C25-1184-B2F1-399C0F236041}"/>
                  </a:ext>
                </a:extLst>
              </p:cNvPr>
              <p:cNvSpPr>
                <a:spLocks noGrp="1" noRot="1" noChangeAspect="1" noMove="1" noResize="1" noEditPoints="1" noAdjustHandles="1" noChangeArrowheads="1" noChangeShapeType="1" noTextEdit="1"/>
              </p:cNvSpPr>
              <p:nvPr>
                <p:ph idx="1"/>
              </p:nvPr>
            </p:nvSpPr>
            <p:spPr>
              <a:xfrm>
                <a:off x="838199" y="1825624"/>
                <a:ext cx="11146971" cy="5032375"/>
              </a:xfrm>
              <a:blipFill>
                <a:blip r:embed="rId2"/>
                <a:stretch>
                  <a:fillRect l="-1093" t="-1937" r="-984"/>
                </a:stretch>
              </a:blipFill>
            </p:spPr>
            <p:txBody>
              <a:bodyPr/>
              <a:lstStyle/>
              <a:p>
                <a:r>
                  <a:rPr lang="pt-BR">
                    <a:noFill/>
                  </a:rPr>
                  <a:t> </a:t>
                </a:r>
              </a:p>
            </p:txBody>
          </p:sp>
        </mc:Fallback>
      </mc:AlternateContent>
    </p:spTree>
    <p:extLst>
      <p:ext uri="{BB962C8B-B14F-4D97-AF65-F5344CB8AC3E}">
        <p14:creationId xmlns:p14="http://schemas.microsoft.com/office/powerpoint/2010/main" val="176136550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B08F244-8587-36D5-74B4-58E14CF70899}"/>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7CF9ACC0-4818-6B4A-41ED-7792491481CA}"/>
                  </a:ext>
                </a:extLst>
              </p:cNvPr>
              <p:cNvSpPr>
                <a:spLocks noGrp="1"/>
              </p:cNvSpPr>
              <p:nvPr>
                <p:ph idx="1"/>
              </p:nvPr>
            </p:nvSpPr>
            <p:spPr>
              <a:xfrm>
                <a:off x="838200" y="1825624"/>
                <a:ext cx="11079822" cy="5032375"/>
              </a:xfrm>
            </p:spPr>
            <p:txBody>
              <a:bodyPr>
                <a:normAutofit/>
              </a:bodyPr>
              <a:lstStyle/>
              <a:p>
                <a:pPr marL="0" indent="0">
                  <a:buNone/>
                </a:pPr>
                <a:r>
                  <a:rPr lang="pt-BR" dirty="0"/>
                  <a:t>Como a operação de derivada é distributiva, podemos reescrever a equação acima como </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sz="2900" dirty="0"/>
                  <a:t>Substituindo a função hipótese na equação acima, temos</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endParaRPr lang="pt-BR" dirty="0"/>
              </a:p>
            </p:txBody>
          </p:sp>
        </mc:Choice>
        <mc:Fallback xmlns="">
          <p:sp>
            <p:nvSpPr>
              <p:cNvPr id="3" name="Espaço Reservado para Conteúdo 2">
                <a:extLst>
                  <a:ext uri="{FF2B5EF4-FFF2-40B4-BE49-F238E27FC236}">
                    <a16:creationId xmlns:a16="http://schemas.microsoft.com/office/drawing/2014/main" id="{7CF9ACC0-4818-6B4A-41ED-7792491481CA}"/>
                  </a:ext>
                </a:extLst>
              </p:cNvPr>
              <p:cNvSpPr>
                <a:spLocks noGrp="1" noRot="1" noChangeAspect="1" noMove="1" noResize="1" noEditPoints="1" noAdjustHandles="1" noChangeArrowheads="1" noChangeShapeType="1" noTextEdit="1"/>
              </p:cNvSpPr>
              <p:nvPr>
                <p:ph idx="1"/>
              </p:nvPr>
            </p:nvSpPr>
            <p:spPr>
              <a:xfrm>
                <a:off x="838200" y="1825624"/>
                <a:ext cx="11079822" cy="5032375"/>
              </a:xfrm>
              <a:blipFill>
                <a:blip r:embed="rId2"/>
                <a:stretch>
                  <a:fillRect l="-1211" t="-1937"/>
                </a:stretch>
              </a:blipFill>
            </p:spPr>
            <p:txBody>
              <a:bodyPr/>
              <a:lstStyle/>
              <a:p>
                <a:r>
                  <a:rPr lang="pt-BR">
                    <a:noFill/>
                  </a:rPr>
                  <a:t> </a:t>
                </a:r>
              </a:p>
            </p:txBody>
          </p:sp>
        </mc:Fallback>
      </mc:AlternateContent>
    </p:spTree>
    <p:extLst>
      <p:ext uri="{BB962C8B-B14F-4D97-AF65-F5344CB8AC3E}">
        <p14:creationId xmlns:p14="http://schemas.microsoft.com/office/powerpoint/2010/main" val="220963964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5EABBBB-477C-EF02-B776-2500DDBDA6F8}"/>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44DE09F2-2B35-83A3-2A1C-AD25FB180510}"/>
                  </a:ext>
                </a:extLst>
              </p:cNvPr>
              <p:cNvSpPr>
                <a:spLocks noGrp="1"/>
              </p:cNvSpPr>
              <p:nvPr>
                <p:ph idx="1"/>
              </p:nvPr>
            </p:nvSpPr>
            <p:spPr/>
            <p:txBody>
              <a:bodyPr/>
              <a:lstStyle/>
              <a:p>
                <a:pPr marL="0" indent="0">
                  <a:buNone/>
                </a:pPr>
                <a:r>
                  <a:rPr lang="pt-BR" dirty="0"/>
                  <a:t>Aplicando a regra da cadeia, reescrevemos a equação anterior como</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r>
                        <a:rPr lang="pt-BR" b="0" i="1" smtClean="0">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ctrlPr>
                                <a:rPr lang="pt-BR" i="1" smtClean="0">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e>
                          </m:d>
                          <m:f>
                            <m:fPr>
                              <m:ctrlPr>
                                <a:rPr lang="pt-BR" i="1" smtClean="0">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sz="2900" dirty="0"/>
                  <a:t>Sabendo que a derivada de </a:t>
                </a:r>
                <a14:m>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num>
                      <m:den>
                        <m:r>
                          <a:rPr lang="pt-BR" i="1">
                            <a:latin typeface="Cambria Math" panose="02040503050406030204" pitchFamily="18" charset="0"/>
                          </a:rPr>
                          <m:t>𝜕</m:t>
                        </m:r>
                        <m:r>
                          <a:rPr lang="pt-BR" b="1" i="1">
                            <a:latin typeface="Cambria Math" panose="02040503050406030204" pitchFamily="18" charset="0"/>
                          </a:rPr>
                          <m:t>𝒂</m:t>
                        </m:r>
                      </m:den>
                    </m:f>
                  </m:oMath>
                </a14:m>
                <a:r>
                  <a:rPr lang="pt-BR" b="1" i="1" dirty="0">
                    <a:latin typeface="Cambria Math" panose="02040503050406030204" pitchFamily="18" charset="0"/>
                  </a:rPr>
                  <a:t> </a:t>
                </a:r>
                <a:r>
                  <a:rPr lang="pt-BR" sz="2900" dirty="0"/>
                  <a:t>é igual a </a:t>
                </a:r>
                <a14:m>
                  <m:oMath xmlns:m="http://schemas.openxmlformats.org/officeDocument/2006/math">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oMath>
                </a14:m>
                <a:r>
                  <a:rPr lang="pt-BR" dirty="0"/>
                  <a:t>, reescrevemos a equação anterior como</a:t>
                </a:r>
                <a:endParaRPr lang="pt-BR" sz="2900"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 </m:t>
                      </m:r>
                      <m:r>
                        <a:rPr lang="pt-BR" b="0" i="1" smtClean="0">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smtClean="0">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nary>
                      <m:r>
                        <a:rPr lang="pt-BR" b="0" i="1" smtClean="0">
                          <a:latin typeface="Cambria Math" panose="02040503050406030204" pitchFamily="18" charset="0"/>
                        </a:rPr>
                        <m:t>.</m:t>
                      </m:r>
                    </m:oMath>
                  </m:oMathPara>
                </a14:m>
                <a:endParaRPr lang="pt-BR" dirty="0"/>
              </a:p>
              <a:p>
                <a:endParaRPr lang="pt-BR" dirty="0"/>
              </a:p>
            </p:txBody>
          </p:sp>
        </mc:Choice>
        <mc:Fallback xmlns="">
          <p:sp>
            <p:nvSpPr>
              <p:cNvPr id="3" name="Espaço Reservado para Conteúdo 2">
                <a:extLst>
                  <a:ext uri="{FF2B5EF4-FFF2-40B4-BE49-F238E27FC236}">
                    <a16:creationId xmlns:a16="http://schemas.microsoft.com/office/drawing/2014/main" id="{44DE09F2-2B35-83A3-2A1C-AD25FB180510}"/>
                  </a:ext>
                </a:extLst>
              </p:cNvPr>
              <p:cNvSpPr>
                <a:spLocks noGrp="1" noRot="1" noChangeAspect="1" noMove="1" noResize="1" noEditPoints="1" noAdjustHandles="1" noChangeArrowheads="1" noChangeShapeType="1" noTextEdit="1"/>
              </p:cNvSpPr>
              <p:nvPr>
                <p:ph idx="1"/>
              </p:nvPr>
            </p:nvSpPr>
            <p:spPr>
              <a:blipFill>
                <a:blip r:embed="rId2"/>
                <a:stretch>
                  <a:fillRect l="-1275" t="-2241"/>
                </a:stretch>
              </a:blipFill>
            </p:spPr>
            <p:txBody>
              <a:bodyPr/>
              <a:lstStyle/>
              <a:p>
                <a:r>
                  <a:rPr lang="pt-BR">
                    <a:noFill/>
                  </a:rPr>
                  <a:t> </a:t>
                </a:r>
              </a:p>
            </p:txBody>
          </p:sp>
        </mc:Fallback>
      </mc:AlternateContent>
    </p:spTree>
    <p:extLst>
      <p:ext uri="{BB962C8B-B14F-4D97-AF65-F5344CB8AC3E}">
        <p14:creationId xmlns:p14="http://schemas.microsoft.com/office/powerpoint/2010/main" val="346660483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AEE0937-F834-88AD-E3E6-94886F7D8D32}"/>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047B17F-DE79-FCF4-4732-AC53E27E5744}"/>
                  </a:ext>
                </a:extLst>
              </p:cNvPr>
              <p:cNvSpPr>
                <a:spLocks noGrp="1"/>
              </p:cNvSpPr>
              <p:nvPr>
                <p:ph idx="1"/>
              </p:nvPr>
            </p:nvSpPr>
            <p:spPr>
              <a:xfrm>
                <a:off x="838199" y="1825625"/>
                <a:ext cx="11120919" cy="5032375"/>
              </a:xfrm>
            </p:spPr>
            <p:txBody>
              <a:bodyPr/>
              <a:lstStyle/>
              <a:p>
                <a:pPr marL="0" indent="0">
                  <a:buNone/>
                </a:pPr>
                <a:r>
                  <a:rPr lang="pt-BR" dirty="0"/>
                  <a:t>Fazendo</a:t>
                </a:r>
                <a:r>
                  <a:rPr lang="pt-BR" i="1" dirty="0">
                    <a:latin typeface="Cambria Math" panose="02040503050406030204" pitchFamily="18" charset="0"/>
                  </a:rPr>
                  <a:t> </a:t>
                </a:r>
                <a14:m>
                  <m:oMath xmlns:m="http://schemas.openxmlformats.org/officeDocument/2006/math">
                    <m:r>
                      <a:rPr lang="pt-BR" i="1" smtClean="0">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r>
                      <a:rPr lang="pt-BR" b="0" i="1" smtClean="0">
                        <a:latin typeface="Cambria Math" panose="02040503050406030204" pitchFamily="18" charset="0"/>
                      </a:rPr>
                      <m:t>𝑑</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endParaRPr lang="pt-BR"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 </m:t>
                      </m:r>
                      <m:r>
                        <a:rPr lang="pt-BR" b="0" i="1" smtClean="0">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smtClean="0">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nary>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smtClean="0">
                              <a:latin typeface="Cambria Math" panose="02040503050406030204" pitchFamily="18" charset="0"/>
                            </a:rPr>
                          </m:ctrlPr>
                        </m:d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mr>
                              </m:m>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1</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mr>
                              </m:m>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d>
                        </m:e>
                      </m:d>
                      <m:r>
                        <a:rPr lang="pt-BR" b="0" i="1" smtClean="0">
                          <a:latin typeface="Cambria Math" panose="02040503050406030204" pitchFamily="18" charset="0"/>
                        </a:rPr>
                        <m:t>=</m:t>
                      </m:r>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smtClean="0">
                              <a:latin typeface="Cambria Math" panose="02040503050406030204" pitchFamily="18" charset="0"/>
                            </a:rPr>
                          </m:ctrlPr>
                        </m:dPr>
                        <m:e>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b="0" i="1" smtClean="0">
                                        <a:latin typeface="Cambria Math" panose="02040503050406030204" pitchFamily="18" charset="0"/>
                                      </a:rPr>
                                      <m:t>+</m:t>
                                    </m:r>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b="0" i="1" smtClean="0">
                                        <a:latin typeface="Cambria Math" panose="02040503050406030204" pitchFamily="18" charset="0"/>
                                      </a:rPr>
                                      <m:t>+</m:t>
                                    </m:r>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d>
                        </m:e>
                      </m:d>
                      <m:r>
                        <a:rPr lang="pt-BR" b="0" i="1" smtClean="0">
                          <a:latin typeface="Cambria Math" panose="02040503050406030204" pitchFamily="18" charset="0"/>
                        </a:rPr>
                        <m:t>.</m:t>
                      </m:r>
                    </m:oMath>
                  </m:oMathPara>
                </a14:m>
                <a:endParaRPr lang="pt-BR" dirty="0"/>
              </a:p>
              <a:p>
                <a:pPr marL="0" indent="0">
                  <a:buNone/>
                </a:pPr>
                <a:r>
                  <a:rPr lang="pt-BR" dirty="0"/>
                  <a:t>Notem que a equação acima é um </a:t>
                </a:r>
                <a:r>
                  <a:rPr lang="pt-BR" b="1" i="1" dirty="0"/>
                  <a:t>vetor coluna </a:t>
                </a:r>
                <a:r>
                  <a:rPr lang="pt-BR" dirty="0"/>
                  <a:t>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a:t>
                </a:r>
              </a:p>
            </p:txBody>
          </p:sp>
        </mc:Choice>
        <mc:Fallback xmlns="">
          <p:sp>
            <p:nvSpPr>
              <p:cNvPr id="3" name="Espaço Reservado para Conteúdo 2">
                <a:extLst>
                  <a:ext uri="{FF2B5EF4-FFF2-40B4-BE49-F238E27FC236}">
                    <a16:creationId xmlns:a16="http://schemas.microsoft.com/office/drawing/2014/main" id="{B047B17F-DE79-FCF4-4732-AC53E27E5744}"/>
                  </a:ext>
                </a:extLst>
              </p:cNvPr>
              <p:cNvSpPr>
                <a:spLocks noGrp="1" noRot="1" noChangeAspect="1" noMove="1" noResize="1" noEditPoints="1" noAdjustHandles="1" noChangeArrowheads="1" noChangeShapeType="1" noTextEdit="1"/>
              </p:cNvSpPr>
              <p:nvPr>
                <p:ph idx="1"/>
              </p:nvPr>
            </p:nvSpPr>
            <p:spPr>
              <a:xfrm>
                <a:off x="838199" y="1825625"/>
                <a:ext cx="11120919" cy="5032375"/>
              </a:xfrm>
              <a:blipFill>
                <a:blip r:embed="rId2"/>
                <a:stretch>
                  <a:fillRect l="-1096" t="-1937"/>
                </a:stretch>
              </a:blipFill>
            </p:spPr>
            <p:txBody>
              <a:bodyPr/>
              <a:lstStyle/>
              <a:p>
                <a:r>
                  <a:rPr lang="pt-BR">
                    <a:noFill/>
                  </a:rPr>
                  <a:t> </a:t>
                </a:r>
              </a:p>
            </p:txBody>
          </p:sp>
        </mc:Fallback>
      </mc:AlternateContent>
    </p:spTree>
    <p:extLst>
      <p:ext uri="{BB962C8B-B14F-4D97-AF65-F5344CB8AC3E}">
        <p14:creationId xmlns:p14="http://schemas.microsoft.com/office/powerpoint/2010/main" val="2643264798"/>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A9B9A54-37B4-8767-0F70-8AFDB27C5E5D}"/>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7BD817CF-4D8D-9B30-5AB1-25FC1DC3EECD}"/>
                  </a:ext>
                </a:extLst>
              </p:cNvPr>
              <p:cNvSpPr>
                <a:spLocks noGrp="1"/>
              </p:cNvSpPr>
              <p:nvPr>
                <p:ph idx="1"/>
              </p:nvPr>
            </p:nvSpPr>
            <p:spPr>
              <a:xfrm>
                <a:off x="838199" y="1825624"/>
                <a:ext cx="11018179" cy="5032375"/>
              </a:xfrm>
            </p:spPr>
            <p:txBody>
              <a:bodyPr/>
              <a:lstStyle/>
              <a:p>
                <a:pPr marL="0" indent="0">
                  <a:buNone/>
                </a:pPr>
                <a:r>
                  <a:rPr lang="pt-BR" dirty="0"/>
                  <a:t>Podemos reescrever a equação (i.e., vetor) anterior como uma multiplicação matricial</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r>
                        <a:rPr lang="pt-BR">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mr>
                            <m:mr>
                              <m:e>
                                <m:r>
                                  <a:rPr lang="pt-BR" b="1" i="1" smtClean="0">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begChr m:val="["/>
                          <m:endChr m:val="]"/>
                          <m:ctrlPr>
                            <a:rPr lang="pt-BR" b="1" i="1" smtClean="0">
                              <a:latin typeface="Cambria Math" panose="02040503050406030204" pitchFamily="18" charset="0"/>
                            </a:rPr>
                          </m:ctrlPr>
                        </m:dPr>
                        <m:e>
                          <m:m>
                            <m:mPr>
                              <m:mcs>
                                <m:mc>
                                  <m:mcPr>
                                    <m:count m:val="1"/>
                                    <m:mcJc m:val="center"/>
                                  </m:mcPr>
                                </m:mc>
                              </m:mcs>
                              <m:ctrlPr>
                                <a:rPr lang="pt-BR" b="1" i="1" smtClean="0">
                                  <a:latin typeface="Cambria Math" panose="02040503050406030204" pitchFamily="18" charset="0"/>
                                </a:rPr>
                              </m:ctrlPr>
                            </m:mPr>
                            <m:m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1</m:t>
                                    </m:r>
                                  </m:e>
                                </m:d>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mr>
                          </m:m>
                        </m:e>
                      </m:d>
                    </m:oMath>
                  </m:oMathPara>
                </a14:m>
                <a:endParaRPr lang="pt-BR" dirty="0"/>
              </a:p>
              <a:p>
                <a:pPr marL="0" indent="0">
                  <a:buNone/>
                </a:pPr>
                <a:r>
                  <a:rPr lang="pt-BR" dirty="0"/>
                  <a:t>Percebam que temos a multiplicação de uma matriz 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m:t>
                    </m:r>
                    <m:r>
                      <a:rPr lang="pt-BR" b="0" i="1" smtClean="0">
                        <a:latin typeface="Cambria Math" panose="02040503050406030204" pitchFamily="18" charset="0"/>
                        <a:ea typeface="Cambria Math" panose="02040503050406030204" pitchFamily="18" charset="0"/>
                      </a:rPr>
                      <m:t>𝑁</m:t>
                    </m:r>
                  </m:oMath>
                </a14:m>
                <a:r>
                  <a:rPr lang="pt-BR" dirty="0"/>
                  <a:t> por um vetor coluna de dimensão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×1</m:t>
                    </m:r>
                  </m:oMath>
                </a14:m>
                <a:r>
                  <a:rPr lang="pt-BR" dirty="0"/>
                  <a:t>.</a:t>
                </a:r>
              </a:p>
              <a:p>
                <a:pPr marL="0" indent="0">
                  <a:buNone/>
                </a:pPr>
                <a:r>
                  <a:rPr lang="pt-BR" dirty="0"/>
                  <a:t>A matriz contém em cada linha todos os valores de </a:t>
                </a:r>
                <a14:m>
                  <m:oMath xmlns:m="http://schemas.openxmlformats.org/officeDocument/2006/math">
                    <m:r>
                      <a:rPr lang="pt-BR" b="0" i="1" smtClean="0">
                        <a:latin typeface="Cambria Math" panose="02040503050406030204" pitchFamily="18" charset="0"/>
                      </a:rPr>
                      <m:t>𝑛</m:t>
                    </m:r>
                    <m:r>
                      <a:rPr lang="pt-BR" b="0" i="1" smtClean="0">
                        <a:latin typeface="Cambria Math" panose="02040503050406030204" pitchFamily="18" charset="0"/>
                      </a:rPr>
                      <m:t>=0</m:t>
                    </m:r>
                  </m:oMath>
                </a14:m>
                <a:r>
                  <a:rPr lang="pt-BR" dirty="0"/>
                  <a:t> a </a:t>
                </a:r>
                <a14:m>
                  <m:oMath xmlns:m="http://schemas.openxmlformats.org/officeDocument/2006/math">
                    <m:r>
                      <a:rPr lang="pt-BR" b="0" i="1" smtClean="0">
                        <a:latin typeface="Cambria Math" panose="02040503050406030204" pitchFamily="18" charset="0"/>
                      </a:rPr>
                      <m:t>𝑛</m:t>
                    </m:r>
                    <m:r>
                      <a:rPr lang="pt-BR" b="0" i="1" smtClean="0">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oMath>
                </a14:m>
                <a:r>
                  <a:rPr lang="pt-BR" dirty="0"/>
                  <a:t> de um </a:t>
                </a:r>
                <a:r>
                  <a:rPr lang="pt-BR" b="1" i="1" dirty="0"/>
                  <a:t>único</a:t>
                </a:r>
                <a:r>
                  <a:rPr lang="pt-BR" dirty="0"/>
                  <a:t> atributo.</a:t>
                </a:r>
              </a:p>
              <a:p>
                <a:pPr marL="0" indent="0">
                  <a:buNone/>
                </a:pPr>
                <a:r>
                  <a:rPr lang="pt-BR" dirty="0"/>
                  <a:t>O vetor contém em cada linha a diferença </a:t>
                </a:r>
                <a14:m>
                  <m:oMath xmlns:m="http://schemas.openxmlformats.org/officeDocument/2006/math">
                    <m:r>
                      <a:rPr lang="pt-BR" b="0" i="1" smtClean="0">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0" smtClean="0">
                        <a:latin typeface="Cambria Math" panose="02040503050406030204" pitchFamily="18" charset="0"/>
                      </a:rPr>
                      <m:t>=</m:t>
                    </m:r>
                    <m:r>
                      <a:rPr lang="pt-BR" i="1" smtClean="0">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para </a:t>
                </a:r>
                <a14:m>
                  <m:oMath xmlns:m="http://schemas.openxmlformats.org/officeDocument/2006/math">
                    <m:r>
                      <a:rPr lang="pt-BR" i="1">
                        <a:latin typeface="Cambria Math" panose="02040503050406030204" pitchFamily="18" charset="0"/>
                      </a:rPr>
                      <m:t>𝑛</m:t>
                    </m:r>
                    <m:r>
                      <a:rPr lang="pt-BR" i="1">
                        <a:latin typeface="Cambria Math" panose="02040503050406030204" pitchFamily="18" charset="0"/>
                      </a:rPr>
                      <m:t>=0</m:t>
                    </m:r>
                  </m:oMath>
                </a14:m>
                <a:r>
                  <a:rPr lang="pt-BR" dirty="0"/>
                  <a:t> até </a:t>
                </a:r>
                <a14:m>
                  <m:oMath xmlns:m="http://schemas.openxmlformats.org/officeDocument/2006/math">
                    <m:r>
                      <a:rPr lang="pt-BR" i="1">
                        <a:latin typeface="Cambria Math" panose="02040503050406030204" pitchFamily="18" charset="0"/>
                      </a:rPr>
                      <m:t>𝑛</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oMath>
                </a14:m>
                <a:r>
                  <a:rPr lang="pt-BR" dirty="0"/>
                  <a:t>.</a:t>
                </a:r>
              </a:p>
            </p:txBody>
          </p:sp>
        </mc:Choice>
        <mc:Fallback xmlns="">
          <p:sp>
            <p:nvSpPr>
              <p:cNvPr id="3" name="Espaço Reservado para Conteúdo 2">
                <a:extLst>
                  <a:ext uri="{FF2B5EF4-FFF2-40B4-BE49-F238E27FC236}">
                    <a16:creationId xmlns:a16="http://schemas.microsoft.com/office/drawing/2014/main" id="{7BD817CF-4D8D-9B30-5AB1-25FC1DC3EECD}"/>
                  </a:ext>
                </a:extLst>
              </p:cNvPr>
              <p:cNvSpPr>
                <a:spLocks noGrp="1" noRot="1" noChangeAspect="1" noMove="1" noResize="1" noEditPoints="1" noAdjustHandles="1" noChangeArrowheads="1" noChangeShapeType="1" noTextEdit="1"/>
              </p:cNvSpPr>
              <p:nvPr>
                <p:ph idx="1"/>
              </p:nvPr>
            </p:nvSpPr>
            <p:spPr>
              <a:xfrm>
                <a:off x="838199" y="1825624"/>
                <a:ext cx="11018179" cy="5032375"/>
              </a:xfrm>
              <a:blipFill>
                <a:blip r:embed="rId2"/>
                <a:stretch>
                  <a:fillRect l="-1106" t="-1937" b="-3269"/>
                </a:stretch>
              </a:blipFill>
            </p:spPr>
            <p:txBody>
              <a:bodyPr/>
              <a:lstStyle/>
              <a:p>
                <a:r>
                  <a:rPr lang="pt-BR">
                    <a:noFill/>
                  </a:rPr>
                  <a:t> </a:t>
                </a:r>
              </a:p>
            </p:txBody>
          </p:sp>
        </mc:Fallback>
      </mc:AlternateContent>
    </p:spTree>
    <p:extLst>
      <p:ext uri="{BB962C8B-B14F-4D97-AF65-F5344CB8AC3E}">
        <p14:creationId xmlns:p14="http://schemas.microsoft.com/office/powerpoint/2010/main" val="189926942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8B7C6E-B23A-A079-E0B3-7110FA21C782}"/>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1955E10-4B16-2D29-24BC-850FAB262AA9}"/>
                  </a:ext>
                </a:extLst>
              </p:cNvPr>
              <p:cNvSpPr>
                <a:spLocks noGrp="1"/>
              </p:cNvSpPr>
              <p:nvPr>
                <p:ph idx="1"/>
              </p:nvPr>
            </p:nvSpPr>
            <p:spPr>
              <a:xfrm>
                <a:off x="838199" y="1825624"/>
                <a:ext cx="11100371" cy="5032375"/>
              </a:xfrm>
            </p:spPr>
            <p:txBody>
              <a:bodyPr>
                <a:normAutofit/>
              </a:bodyPr>
              <a:lstStyle/>
              <a:p>
                <a:pPr marL="0" indent="0">
                  <a:buNone/>
                </a:pPr>
                <a:r>
                  <a:rPr lang="pt-BR" dirty="0"/>
                  <a:t>Se definirmos uma matriz que contém todos os </a:t>
                </a:r>
                <a14:m>
                  <m:oMath xmlns:m="http://schemas.openxmlformats.org/officeDocument/2006/math">
                    <m:r>
                      <a:rPr lang="pt-BR" i="1">
                        <a:latin typeface="Cambria Math" panose="02040503050406030204" pitchFamily="18" charset="0"/>
                      </a:rPr>
                      <m:t>𝑁</m:t>
                    </m:r>
                    <m:r>
                      <a:rPr lang="pt-BR" i="1">
                        <a:latin typeface="Cambria Math" panose="02040503050406030204" pitchFamily="18" charset="0"/>
                      </a:rPr>
                      <m:t> </m:t>
                    </m:r>
                  </m:oMath>
                </a14:m>
                <a:r>
                  <a:rPr lang="pt-BR" dirty="0"/>
                  <a:t>exemplos de todos os </a:t>
                </a:r>
                <a14:m>
                  <m:oMath xmlns:m="http://schemas.openxmlformats.org/officeDocument/2006/math">
                    <m:r>
                      <a:rPr lang="pt-BR" i="1">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 </m:t>
                    </m:r>
                  </m:oMath>
                </a14:m>
                <a:r>
                  <a:rPr lang="pt-BR" dirty="0"/>
                  <a:t>atributos e que tem dimensão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oMath>
                </a14:m>
                <a:endParaRPr lang="pt-BR" dirty="0"/>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𝑿</m:t>
                      </m:r>
                      <m:r>
                        <a:rPr lang="pt-BR" b="1" i="1" smtClean="0">
                          <a:latin typeface="Cambria Math" panose="02040503050406030204" pitchFamily="18" charset="0"/>
                        </a:rPr>
                        <m:t>=</m:t>
                      </m:r>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e>
                                <m:r>
                                  <m:rPr>
                                    <m:brk m:alnAt="7"/>
                                  </m:rPr>
                                  <a:rPr lang="pt-BR" b="1" i="1">
                                    <a:latin typeface="Cambria Math" panose="02040503050406030204" pitchFamily="18" charset="0"/>
                                  </a:rPr>
                                  <m:t>⋯</m:t>
                                </m:r>
                              </m:e>
                              <m:e>
                                <m:m>
                                  <m:mPr>
                                    <m:mcs>
                                      <m:mc>
                                        <m:mcPr>
                                          <m:count m:val="1"/>
                                          <m:mcJc m:val="center"/>
                                        </m:mcPr>
                                      </m:mc>
                                    </m:mcs>
                                    <m:ctrlPr>
                                      <a:rPr lang="pt-BR" i="1" smtClean="0">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smtClean="0">
                          <a:latin typeface="Cambria Math" panose="02040503050406030204" pitchFamily="18" charset="0"/>
                        </a:rPr>
                        <m:t>,</m:t>
                      </m:r>
                    </m:oMath>
                  </m:oMathPara>
                </a14:m>
                <a:endParaRPr lang="pt-BR" dirty="0"/>
              </a:p>
              <a:p>
                <a:pPr marL="0" indent="0">
                  <a:buNone/>
                </a:pPr>
                <a:r>
                  <a:rPr lang="pt-BR" dirty="0"/>
                  <a:t>e dois vetores coluna com dimensões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rPr>
                      <m:t>×1</m:t>
                    </m:r>
                  </m:oMath>
                </a14:m>
                <a:r>
                  <a:rPr lang="pt-BR" dirty="0"/>
                  <a:t> contendo todos os valores esperados (i.e., rótulos) e todos os valores preditos</a:t>
                </a:r>
              </a:p>
              <a:p>
                <a:pPr marL="0" indent="0" algn="ctr">
                  <a:buNone/>
                </a:pPr>
                <a14:m>
                  <m:oMath xmlns:m="http://schemas.openxmlformats.org/officeDocument/2006/math">
                    <m:r>
                      <a:rPr lang="pt-BR" b="1" i="1" smtClean="0">
                        <a:latin typeface="Cambria Math" panose="02040503050406030204" pitchFamily="18" charset="0"/>
                      </a:rPr>
                      <m:t>𝒚</m:t>
                    </m:r>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r>
                                <m:rPr>
                                  <m:brk m:alnAt="7"/>
                                </m:rPr>
                                <a:rPr lang="pt-BR" b="0" i="1" smtClean="0">
                                  <a:latin typeface="Cambria Math" panose="02040503050406030204" pitchFamily="18" charset="0"/>
                                </a:rPr>
                                <m:t>𝑦</m:t>
                              </m:r>
                              <m:r>
                                <a:rPr lang="pt-BR" b="0" i="1" smtClean="0">
                                  <a:latin typeface="Cambria Math" panose="02040503050406030204" pitchFamily="18" charset="0"/>
                                </a:rPr>
                                <m:t>(0)</m:t>
                              </m:r>
                            </m:e>
                          </m:mr>
                          <m:mr>
                            <m:e>
                              <m:r>
                                <a:rPr lang="pt-BR" b="0" i="1" smtClean="0">
                                  <a:latin typeface="Cambria Math" panose="02040503050406030204" pitchFamily="18" charset="0"/>
                                </a:rPr>
                                <m:t>⋮</m:t>
                              </m:r>
                            </m:e>
                          </m:mr>
                          <m:mr>
                            <m:e>
                              <m:r>
                                <a:rPr lang="pt-BR" b="0" i="1" smtClean="0">
                                  <a:latin typeface="Cambria Math" panose="02040503050406030204" pitchFamily="18" charset="0"/>
                                </a:rPr>
                                <m:t>𝑦</m:t>
                              </m:r>
                              <m:r>
                                <a:rPr lang="pt-BR" b="0" i="1" smtClean="0">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e>
                          </m:mr>
                        </m:m>
                      </m:e>
                    </m:d>
                  </m:oMath>
                </a14:m>
                <a:r>
                  <a:rPr lang="pt-BR" dirty="0"/>
                  <a:t>         e         </a:t>
                </a:r>
                <a14:m>
                  <m:oMath xmlns:m="http://schemas.openxmlformats.org/officeDocument/2006/math">
                    <m:acc>
                      <m:accPr>
                        <m:chr m:val="̂"/>
                        <m:ctrlPr>
                          <a:rPr lang="pt-BR" i="1" smtClean="0">
                            <a:latin typeface="Cambria Math" panose="02040503050406030204" pitchFamily="18" charset="0"/>
                          </a:rPr>
                        </m:ctrlPr>
                      </m:accPr>
                      <m:e>
                        <m:r>
                          <a:rPr lang="pt-BR" b="1" i="1" smtClean="0">
                            <a:latin typeface="Cambria Math" panose="02040503050406030204" pitchFamily="18" charset="0"/>
                          </a:rPr>
                          <m:t>𝒚</m:t>
                        </m:r>
                      </m:e>
                    </m:acc>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r>
                                <a:rPr lang="pt-BR" b="0" i="1" smtClean="0">
                                  <a:latin typeface="Cambria Math" panose="02040503050406030204" pitchFamily="18" charset="0"/>
                                </a:rPr>
                                <m:t>(0)</m:t>
                              </m:r>
                            </m:e>
                          </m:mr>
                          <m:mr>
                            <m:e>
                              <m:r>
                                <a:rPr lang="pt-BR" i="1">
                                  <a:latin typeface="Cambria Math" panose="02040503050406030204" pitchFamily="18" charset="0"/>
                                </a:rPr>
                                <m:t>⋮</m:t>
                              </m:r>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e>
                          </m:mr>
                        </m:m>
                      </m:e>
                    </m:d>
                  </m:oMath>
                </a14:m>
                <a:endParaRPr lang="pt-BR" dirty="0"/>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61955E10-4B16-2D29-24BC-850FAB262AA9}"/>
                  </a:ext>
                </a:extLst>
              </p:cNvPr>
              <p:cNvSpPr>
                <a:spLocks noGrp="1" noRot="1" noChangeAspect="1" noMove="1" noResize="1" noEditPoints="1" noAdjustHandles="1" noChangeArrowheads="1" noChangeShapeType="1" noTextEdit="1"/>
              </p:cNvSpPr>
              <p:nvPr>
                <p:ph idx="1"/>
              </p:nvPr>
            </p:nvSpPr>
            <p:spPr>
              <a:xfrm>
                <a:off x="838199" y="1825624"/>
                <a:ext cx="11100371" cy="5032375"/>
              </a:xfrm>
              <a:blipFill>
                <a:blip r:embed="rId2"/>
                <a:stretch>
                  <a:fillRect l="-1098" t="-1937"/>
                </a:stretch>
              </a:blipFill>
            </p:spPr>
            <p:txBody>
              <a:bodyPr/>
              <a:lstStyle/>
              <a:p>
                <a:r>
                  <a:rPr lang="pt-BR">
                    <a:noFill/>
                  </a:rPr>
                  <a:t> </a:t>
                </a:r>
              </a:p>
            </p:txBody>
          </p:sp>
        </mc:Fallback>
      </mc:AlternateContent>
    </p:spTree>
    <p:extLst>
      <p:ext uri="{BB962C8B-B14F-4D97-AF65-F5344CB8AC3E}">
        <p14:creationId xmlns:p14="http://schemas.microsoft.com/office/powerpoint/2010/main" val="220271980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26E48CD-5975-9166-CE39-4E765E641534}"/>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B6FE6F4-46A6-5D0C-B281-F2FF9F531349}"/>
                  </a:ext>
                </a:extLst>
              </p:cNvPr>
              <p:cNvSpPr>
                <a:spLocks noGrp="1"/>
              </p:cNvSpPr>
              <p:nvPr>
                <p:ph idx="1"/>
              </p:nvPr>
            </p:nvSpPr>
            <p:spPr>
              <a:xfrm>
                <a:off x="838199" y="1825624"/>
                <a:ext cx="11244209" cy="5032375"/>
              </a:xfrm>
            </p:spPr>
            <p:txBody>
              <a:bodyPr>
                <a:normAutofit lnSpcReduction="10000"/>
              </a:bodyPr>
              <a:lstStyle/>
              <a:p>
                <a:pPr marL="0" indent="0">
                  <a:buNone/>
                </a:pPr>
                <a:r>
                  <a:rPr lang="pt-BR" dirty="0"/>
                  <a:t>Usando a matriz e os vetores definidos no slide anterior, podemos reescrever o vetor gradiente como</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0" i="0" smtClean="0">
                          <a:latin typeface="Cambria Math" panose="02040503050406030204" pitchFamily="18" charset="0"/>
                        </a:rPr>
                        <m:t>=</m:t>
                      </m:r>
                      <m:r>
                        <a:rPr lang="pt-BR">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r>
                              <m:e>
                                <m:r>
                                  <a:rPr lang="pt-BR" b="1" i="1">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ctrlPr>
                            <a:rPr lang="pt-BR" b="1" i="1" smtClean="0">
                              <a:latin typeface="Cambria Math" panose="02040503050406030204" pitchFamily="18" charset="0"/>
                            </a:rPr>
                          </m:ctrlPr>
                        </m:dPr>
                        <m:e>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r>
                                      <m:rPr>
                                        <m:brk m:alnAt="7"/>
                                      </m:rP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acc>
                                      <m:accPr>
                                        <m:chr m:val="̂"/>
                                        <m:ctrlPr>
                                          <a:rPr lang="pt-BR" b="1" i="1" smtClean="0">
                                            <a:latin typeface="Cambria Math" panose="02040503050406030204" pitchFamily="18" charset="0"/>
                                          </a:rPr>
                                        </m:ctrlPr>
                                      </m:accPr>
                                      <m:e>
                                        <m:r>
                                          <a:rPr lang="pt-BR" b="0" i="1" smtClean="0">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0</m:t>
                                        </m:r>
                                      </m:e>
                                    </m:d>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e>
                      </m:d>
                    </m:oMath>
                  </m:oMathPara>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𝒚</m:t>
                              </m:r>
                            </m:e>
                          </m:acc>
                        </m:e>
                      </m:d>
                    </m:oMath>
                  </m:oMathPara>
                </a14:m>
                <a:endParaRPr lang="pt-BR" dirty="0"/>
              </a:p>
              <a:p>
                <a:pPr marL="0" indent="0">
                  <a:buNone/>
                </a:pPr>
                <a:r>
                  <a:rPr lang="pt-BR" dirty="0"/>
                  <a:t>O resultado da multiplicação matricial acima continua resultando em um</a:t>
                </a:r>
                <a:r>
                  <a:rPr lang="pt-BR" b="1" i="1" dirty="0"/>
                  <a:t> vetor coluna </a:t>
                </a:r>
                <a:r>
                  <a:rPr lang="pt-BR" dirty="0"/>
                  <a:t>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 ou seja, </a:t>
                </a:r>
                <a14:m>
                  <m:oMath xmlns:m="http://schemas.openxmlformats.org/officeDocument/2006/math">
                    <m:d>
                      <m:dPr>
                        <m:ctrlPr>
                          <a:rPr lang="pt-BR" b="0" i="1" smtClean="0">
                            <a:latin typeface="Cambria Math" panose="02040503050406030204" pitchFamily="18" charset="0"/>
                            <a:ea typeface="Cambria Math" panose="02040503050406030204" pitchFamily="18" charset="0"/>
                          </a:rPr>
                        </m:ctrlPr>
                      </m:dPr>
                      <m:e>
                        <m:r>
                          <a:rPr lang="pt-BR" i="1">
                            <a:latin typeface="Cambria Math" panose="02040503050406030204" pitchFamily="18" charset="0"/>
                          </a:rPr>
                          <m:t>𝐾</m:t>
                        </m:r>
                        <m:r>
                          <a:rPr lang="pt-BR" i="1">
                            <a:latin typeface="Cambria Math" panose="02040503050406030204" pitchFamily="18" charset="0"/>
                          </a:rPr>
                          <m:t>+1×</m:t>
                        </m:r>
                        <m:r>
                          <a:rPr lang="pt-BR" i="1">
                            <a:latin typeface="Cambria Math" panose="02040503050406030204" pitchFamily="18" charset="0"/>
                            <a:ea typeface="Cambria Math" panose="02040503050406030204" pitchFamily="18" charset="0"/>
                          </a:rPr>
                          <m:t>𝑁</m:t>
                        </m:r>
                      </m:e>
                    </m:d>
                    <m:r>
                      <a:rPr lang="pt-BR" b="0" i="1" smtClean="0">
                        <a:latin typeface="Cambria Math" panose="02040503050406030204" pitchFamily="18" charset="0"/>
                        <a:ea typeface="Cambria Math" panose="02040503050406030204" pitchFamily="18" charset="0"/>
                      </a:rPr>
                      <m:t>×</m:t>
                    </m:r>
                    <m:d>
                      <m:dPr>
                        <m:ctrlPr>
                          <a:rPr lang="pt-BR" b="0" i="1" smtClean="0">
                            <a:latin typeface="Cambria Math" panose="02040503050406030204" pitchFamily="18" charset="0"/>
                            <a:ea typeface="Cambria Math" panose="02040503050406030204" pitchFamily="18" charset="0"/>
                          </a:rPr>
                        </m:ctrlPr>
                      </m:dPr>
                      <m:e>
                        <m:r>
                          <a:rPr lang="pt-BR" b="0" i="1" smtClean="0">
                            <a:latin typeface="Cambria Math" panose="02040503050406030204" pitchFamily="18" charset="0"/>
                            <a:ea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×1</m:t>
                        </m:r>
                      </m:e>
                    </m:d>
                    <m:r>
                      <a:rPr lang="pt-BR" b="0" i="0" smtClean="0">
                        <a:latin typeface="Cambria Math" panose="02040503050406030204" pitchFamily="18" charset="0"/>
                        <a:ea typeface="Cambria Math" panose="02040503050406030204" pitchFamily="18" charset="0"/>
                      </a:rPr>
                      <m:t>=</m:t>
                    </m:r>
                    <m:r>
                      <a:rPr lang="pt-BR" i="1">
                        <a:latin typeface="Cambria Math" panose="02040503050406030204" pitchFamily="18" charset="0"/>
                      </a:rPr>
                      <m:t>𝐾</m:t>
                    </m:r>
                    <m:r>
                      <a:rPr lang="pt-BR" i="1">
                        <a:latin typeface="Cambria Math" panose="02040503050406030204" pitchFamily="18" charset="0"/>
                      </a:rPr>
                      <m:t>+1×1</m:t>
                    </m:r>
                  </m:oMath>
                </a14:m>
                <a:r>
                  <a:rPr lang="pt-BR" dirty="0"/>
                  <a:t>.</a:t>
                </a:r>
              </a:p>
            </p:txBody>
          </p:sp>
        </mc:Choice>
        <mc:Fallback xmlns="">
          <p:sp>
            <p:nvSpPr>
              <p:cNvPr id="3" name="Espaço Reservado para Conteúdo 2">
                <a:extLst>
                  <a:ext uri="{FF2B5EF4-FFF2-40B4-BE49-F238E27FC236}">
                    <a16:creationId xmlns:a16="http://schemas.microsoft.com/office/drawing/2014/main" id="{9B6FE6F4-46A6-5D0C-B281-F2FF9F531349}"/>
                  </a:ext>
                </a:extLst>
              </p:cNvPr>
              <p:cNvSpPr>
                <a:spLocks noGrp="1" noRot="1" noChangeAspect="1" noMove="1" noResize="1" noEditPoints="1" noAdjustHandles="1" noChangeArrowheads="1" noChangeShapeType="1" noTextEdit="1"/>
              </p:cNvSpPr>
              <p:nvPr>
                <p:ph idx="1"/>
              </p:nvPr>
            </p:nvSpPr>
            <p:spPr>
              <a:xfrm>
                <a:off x="838199" y="1825624"/>
                <a:ext cx="11244209" cy="5032375"/>
              </a:xfrm>
              <a:blipFill>
                <a:blip r:embed="rId2"/>
                <a:stretch>
                  <a:fillRect l="-1084" t="-2663" b="-969"/>
                </a:stretch>
              </a:blipFill>
            </p:spPr>
            <p:txBody>
              <a:bodyPr/>
              <a:lstStyle/>
              <a:p>
                <a:r>
                  <a:rPr lang="pt-BR">
                    <a:noFill/>
                  </a:rPr>
                  <a:t> </a:t>
                </a:r>
              </a:p>
            </p:txBody>
          </p:sp>
        </mc:Fallback>
      </mc:AlternateContent>
    </p:spTree>
    <p:extLst>
      <p:ext uri="{BB962C8B-B14F-4D97-AF65-F5344CB8AC3E}">
        <p14:creationId xmlns:p14="http://schemas.microsoft.com/office/powerpoint/2010/main" val="468364541"/>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19A506-6095-A71D-6399-41F877CB26C7}"/>
              </a:ext>
            </a:extLst>
          </p:cNvPr>
          <p:cNvSpPr>
            <a:spLocks noGrp="1"/>
          </p:cNvSpPr>
          <p:nvPr>
            <p:ph type="title"/>
          </p:nvPr>
        </p:nvSpPr>
        <p:spPr/>
        <p:txBody>
          <a:bodyPr/>
          <a:lstStyle/>
          <a:p>
            <a:r>
              <a:rPr lang="pt-BR" dirty="0"/>
              <a:t>Equação de atualização dos pesos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89A84A6-B9EC-4293-8CA4-DDE6F7AF7C7D}"/>
                  </a:ext>
                </a:extLst>
              </p:cNvPr>
              <p:cNvSpPr>
                <a:spLocks noGrp="1"/>
              </p:cNvSpPr>
              <p:nvPr>
                <p:ph idx="1"/>
              </p:nvPr>
            </p:nvSpPr>
            <p:spPr>
              <a:xfrm>
                <a:off x="838199" y="1825624"/>
                <a:ext cx="11131193" cy="5032375"/>
              </a:xfrm>
            </p:spPr>
            <p:txBody>
              <a:bodyPr/>
              <a:lstStyle/>
              <a:p>
                <a:pPr marL="0" indent="0">
                  <a:buNone/>
                </a:pPr>
                <a:r>
                  <a:rPr lang="pt-BR" dirty="0"/>
                  <a:t>Utilizando o resultado anterior, podemos reescrever a equação de atualização dos pesos como</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oMath>
                  </m:oMathPara>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               =</m:t>
                      </m:r>
                      <m:sSup>
                        <m:sSupPr>
                          <m:ctrlPr>
                            <a:rPr lang="pt-BR" i="1">
                              <a:latin typeface="Cambria Math" panose="02040503050406030204" pitchFamily="18" charset="0"/>
                            </a:rPr>
                          </m:ctrlPr>
                        </m:sSupPr>
                        <m:e>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𝒚</m:t>
                              </m:r>
                            </m:e>
                          </m:acc>
                        </m:e>
                      </m:d>
                      <m:r>
                        <a:rPr lang="pt-BR" b="1" i="1" smtClean="0">
                          <a:latin typeface="Cambria Math" panose="02040503050406030204" pitchFamily="18" charset="0"/>
                        </a:rPr>
                        <m:t>.</m:t>
                      </m:r>
                    </m:oMath>
                  </m:oMathPara>
                </a14:m>
                <a:endParaRPr lang="pt-BR" dirty="0"/>
              </a:p>
              <a:p>
                <a:pPr marL="0" indent="0">
                  <a:buNone/>
                </a:pPr>
                <a:r>
                  <a:rPr lang="pt-BR" dirty="0"/>
                  <a:t>A soma acima deve resultar em um vetor coluna 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 pois esta é a dimensão dos dois vetores sendo somados. </a:t>
                </a:r>
              </a:p>
              <a:p>
                <a:pPr marL="0" indent="0">
                  <a:buNone/>
                </a:pPr>
                <a:r>
                  <a:rPr lang="pt-BR" dirty="0"/>
                  <a:t>Lembrem-se que </a:t>
                </a:r>
                <a14:m>
                  <m:oMath xmlns:m="http://schemas.openxmlformats.org/officeDocument/2006/math">
                    <m:r>
                      <a:rPr lang="pt-BR" i="1">
                        <a:latin typeface="Cambria Math" panose="02040503050406030204" pitchFamily="18" charset="0"/>
                      </a:rPr>
                      <m:t>𝐾</m:t>
                    </m:r>
                    <m:r>
                      <a:rPr lang="pt-BR" i="1">
                        <a:latin typeface="Cambria Math" panose="02040503050406030204" pitchFamily="18" charset="0"/>
                      </a:rPr>
                      <m:t>+1×1</m:t>
                    </m:r>
                  </m:oMath>
                </a14:m>
                <a:r>
                  <a:rPr lang="pt-BR" dirty="0"/>
                  <a:t> é a dimensão do vetor </a:t>
                </a:r>
                <a14:m>
                  <m:oMath xmlns:m="http://schemas.openxmlformats.org/officeDocument/2006/math">
                    <m:r>
                      <a:rPr lang="pt-BR" b="1" i="1">
                        <a:latin typeface="Cambria Math" panose="02040503050406030204" pitchFamily="18" charset="0"/>
                      </a:rPr>
                      <m:t>𝒂</m:t>
                    </m:r>
                  </m:oMath>
                </a14:m>
                <a:r>
                  <a:rPr lang="pt-BR" dirty="0"/>
                  <a:t>, o qual contém todos os pesos do modelo e que </a:t>
                </a:r>
                <a14:m>
                  <m:oMath xmlns:m="http://schemas.openxmlformats.org/officeDocument/2006/math">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𝒚</m:t>
                            </m:r>
                          </m:e>
                        </m:acc>
                      </m:e>
                    </m:d>
                  </m:oMath>
                </a14:m>
                <a:r>
                  <a:rPr lang="pt-BR" dirty="0"/>
                  <a:t> tem dimensão </a:t>
                </a:r>
                <a14:m>
                  <m:oMath xmlns:m="http://schemas.openxmlformats.org/officeDocument/2006/math">
                    <m:r>
                      <a:rPr lang="pt-BR" i="1">
                        <a:latin typeface="Cambria Math" panose="02040503050406030204" pitchFamily="18" charset="0"/>
                      </a:rPr>
                      <m:t>𝐾</m:t>
                    </m:r>
                    <m:r>
                      <a:rPr lang="pt-BR" i="1">
                        <a:latin typeface="Cambria Math" panose="02040503050406030204" pitchFamily="18" charset="0"/>
                      </a:rPr>
                      <m:t>+1×1</m:t>
                    </m:r>
                  </m:oMath>
                </a14:m>
                <a:r>
                  <a:rPr lang="pt-BR" dirty="0"/>
                  <a:t> também.</a:t>
                </a:r>
              </a:p>
            </p:txBody>
          </p:sp>
        </mc:Choice>
        <mc:Fallback xmlns="">
          <p:sp>
            <p:nvSpPr>
              <p:cNvPr id="3" name="Espaço Reservado para Conteúdo 2">
                <a:extLst>
                  <a:ext uri="{FF2B5EF4-FFF2-40B4-BE49-F238E27FC236}">
                    <a16:creationId xmlns:a16="http://schemas.microsoft.com/office/drawing/2014/main" id="{D89A84A6-B9EC-4293-8CA4-DDE6F7AF7C7D}"/>
                  </a:ext>
                </a:extLst>
              </p:cNvPr>
              <p:cNvSpPr>
                <a:spLocks noGrp="1" noRot="1" noChangeAspect="1" noMove="1" noResize="1" noEditPoints="1" noAdjustHandles="1" noChangeArrowheads="1" noChangeShapeType="1" noTextEdit="1"/>
              </p:cNvSpPr>
              <p:nvPr>
                <p:ph idx="1"/>
              </p:nvPr>
            </p:nvSpPr>
            <p:spPr>
              <a:xfrm>
                <a:off x="838199" y="1825624"/>
                <a:ext cx="11131193" cy="5032375"/>
              </a:xfrm>
              <a:blipFill>
                <a:blip r:embed="rId2"/>
                <a:stretch>
                  <a:fillRect l="-1095" t="-1937" r="-548"/>
                </a:stretch>
              </a:blipFill>
            </p:spPr>
            <p:txBody>
              <a:bodyPr/>
              <a:lstStyle/>
              <a:p>
                <a:r>
                  <a:rPr lang="pt-BR">
                    <a:noFill/>
                  </a:rPr>
                  <a:t> </a:t>
                </a:r>
              </a:p>
            </p:txBody>
          </p:sp>
        </mc:Fallback>
      </mc:AlternateContent>
    </p:spTree>
    <p:extLst>
      <p:ext uri="{BB962C8B-B14F-4D97-AF65-F5344CB8AC3E}">
        <p14:creationId xmlns:p14="http://schemas.microsoft.com/office/powerpoint/2010/main" val="2138859913"/>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19A506-6095-A71D-6399-41F877CB26C7}"/>
              </a:ext>
            </a:extLst>
          </p:cNvPr>
          <p:cNvSpPr>
            <a:spLocks noGrp="1"/>
          </p:cNvSpPr>
          <p:nvPr>
            <p:ph type="title"/>
          </p:nvPr>
        </p:nvSpPr>
        <p:spPr/>
        <p:txBody>
          <a:bodyPr/>
          <a:lstStyle/>
          <a:p>
            <a:r>
              <a:rPr lang="pt-BR" dirty="0"/>
              <a:t>Equação de atualização dos pesos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89A84A6-B9EC-4293-8CA4-DDE6F7AF7C7D}"/>
                  </a:ext>
                </a:extLst>
              </p:cNvPr>
              <p:cNvSpPr>
                <a:spLocks noGrp="1"/>
              </p:cNvSpPr>
              <p:nvPr>
                <p:ph idx="1"/>
              </p:nvPr>
            </p:nvSpPr>
            <p:spPr>
              <a:xfrm>
                <a:off x="838199" y="1825624"/>
                <a:ext cx="11353801" cy="5032375"/>
              </a:xfrm>
            </p:spPr>
            <p:txBody>
              <a:bodyPr>
                <a:normAutofit fontScale="92500"/>
              </a:bodyPr>
              <a:lstStyle/>
              <a:p>
                <a:pPr marL="0" indent="0">
                  <a:buNone/>
                </a:pPr>
                <a:r>
                  <a:rPr lang="pt-BR" dirty="0"/>
                  <a:t>Podemos reescrever a equação de atualização dos pesos como</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d>
                        <m:dPr>
                          <m:begChr m:val="["/>
                          <m:endChr m:val="]"/>
                          <m:ctrlPr>
                            <a:rPr lang="pt-BR" b="1" i="1" smtClean="0">
                              <a:latin typeface="Cambria Math" panose="02040503050406030204" pitchFamily="18" charset="0"/>
                            </a:rPr>
                          </m:ctrlPr>
                        </m:dPr>
                        <m:e>
                          <m:m>
                            <m:mPr>
                              <m:mcs>
                                <m:mc>
                                  <m:mcPr>
                                    <m:count m:val="1"/>
                                    <m:mcJc m:val="center"/>
                                  </m:mcPr>
                                </m:mc>
                              </m:mcs>
                              <m:ctrlPr>
                                <a:rPr lang="pt-BR" b="1" i="1" smtClean="0">
                                  <a:latin typeface="Cambria Math" panose="02040503050406030204" pitchFamily="18" charset="0"/>
                                </a:rPr>
                              </m:ctrlPr>
                            </m:mPr>
                            <m:mr>
                              <m:e>
                                <m:sSub>
                                  <m:sSubPr>
                                    <m:ctrlPr>
                                      <a:rPr lang="pt-BR"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0</m:t>
                                    </m:r>
                                  </m:sub>
                                </m:sSub>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𝐾</m:t>
                                          </m:r>
                                        </m:sub>
                                      </m:sSub>
                                    </m:e>
                                  </m:mr>
                                </m:m>
                              </m:e>
                            </m:mr>
                          </m:m>
                        </m:e>
                      </m:d>
                      <m:r>
                        <a:rPr lang="pt-BR" b="1" i="1" smtClean="0">
                          <a:latin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𝛼</m:t>
                      </m:r>
                      <m:d>
                        <m:dPr>
                          <m:begChr m:val="["/>
                          <m:endChr m:val="]"/>
                          <m:ctrlPr>
                            <a:rPr lang="pt-BR" b="0" i="1" smtClean="0">
                              <a:latin typeface="Cambria Math" panose="02040503050406030204" pitchFamily="18" charset="0"/>
                              <a:ea typeface="Cambria Math" panose="02040503050406030204" pitchFamily="18" charset="0"/>
                            </a:rPr>
                          </m:ctrlPr>
                        </m:dPr>
                        <m:e>
                          <m:m>
                            <m:mPr>
                              <m:mcs>
                                <m:mc>
                                  <m:mcPr>
                                    <m:count m:val="1"/>
                                    <m:mcJc m:val="center"/>
                                  </m:mcPr>
                                </m:mc>
                              </m:mcs>
                              <m:ctrlPr>
                                <a:rPr lang="pt-BR" b="0" i="1" smtClean="0">
                                  <a:latin typeface="Cambria Math" panose="02040503050406030204" pitchFamily="18" charset="0"/>
                                  <a:ea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den>
                                </m:f>
                              </m:e>
                            </m:mr>
                            <m:mr>
                              <m:e>
                                <m:r>
                                  <a:rPr lang="pt-BR" b="0" i="1" smtClean="0">
                                    <a:latin typeface="Cambria Math" panose="02040503050406030204" pitchFamily="18" charset="0"/>
                                    <a:ea typeface="Cambria Math" panose="02040503050406030204" pitchFamily="18" charset="0"/>
                                  </a:rPr>
                                  <m:t>⋮</m:t>
                                </m:r>
                              </m:e>
                            </m:m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den>
                                </m:f>
                              </m:e>
                            </m:mr>
                          </m:m>
                        </m:e>
                      </m:d>
                    </m:oMath>
                  </m:oMathPara>
                </a14:m>
                <a:endParaRPr lang="pt-BR" b="0" i="1" dirty="0">
                  <a:latin typeface="Cambria Math" panose="02040503050406030204" pitchFamily="18" charset="0"/>
                  <a:ea typeface="Cambria Math" panose="02040503050406030204" pitchFamily="18" charset="0"/>
                </a:endParaRPr>
              </a:p>
              <a:p>
                <a:pPr marL="0" indent="0">
                  <a:buNone/>
                </a:pPr>
                <a:r>
                  <a:rPr lang="pt-BR" b="1" dirty="0"/>
                  <a:t> </a:t>
                </a:r>
                <a14:m>
                  <m:oMath xmlns:m="http://schemas.openxmlformats.org/officeDocument/2006/math">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e>
                                </m:mr>
                              </m:m>
                            </m:e>
                          </m:mr>
                        </m:m>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r>
                            <m:e>
                              <m:r>
                                <a:rPr lang="pt-BR" b="1" i="1">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ctrlPr>
                          <a:rPr lang="pt-BR" b="1" i="1">
                            <a:latin typeface="Cambria Math" panose="02040503050406030204" pitchFamily="18" charset="0"/>
                          </a:rPr>
                        </m:ctrlPr>
                      </m:dPr>
                      <m:e>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r>
                                    <m:rPr>
                                      <m:brk m:alnAt="7"/>
                                    </m:rP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0</m:t>
                                      </m:r>
                                    </m:e>
                                  </m:d>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e>
                    </m:d>
                  </m:oMath>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e>
                                  </m:mr>
                                </m:m>
                              </m:e>
                            </m:mr>
                          </m:m>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d>
                        </m:e>
                      </m:d>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D89A84A6-B9EC-4293-8CA4-DDE6F7AF7C7D}"/>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913" t="-1816"/>
                </a:stretch>
              </a:blipFill>
            </p:spPr>
            <p:txBody>
              <a:bodyPr/>
              <a:lstStyle/>
              <a:p>
                <a:r>
                  <a:rPr lang="pt-BR">
                    <a:noFill/>
                  </a:rPr>
                  <a:t> </a:t>
                </a:r>
              </a:p>
            </p:txBody>
          </p:sp>
        </mc:Fallback>
      </mc:AlternateContent>
    </p:spTree>
    <p:extLst>
      <p:ext uri="{BB962C8B-B14F-4D97-AF65-F5344CB8AC3E}">
        <p14:creationId xmlns:p14="http://schemas.microsoft.com/office/powerpoint/2010/main" val="1215094151"/>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8754</TotalTime>
  <Words>13372</Words>
  <Application>Microsoft Office PowerPoint</Application>
  <PresentationFormat>Widescreen</PresentationFormat>
  <Paragraphs>998</Paragraphs>
  <Slides>92</Slides>
  <Notes>52</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92</vt:i4>
      </vt:variant>
    </vt:vector>
  </HeadingPairs>
  <TitlesOfParts>
    <vt:vector size="101" baseType="lpstr">
      <vt:lpstr>Arial</vt:lpstr>
      <vt:lpstr>Calibri</vt:lpstr>
      <vt:lpstr>Calibri Light</vt:lpstr>
      <vt:lpstr>Cambria Math</vt:lpstr>
      <vt:lpstr>Courier New</vt:lpstr>
      <vt:lpstr>Google Sans</vt:lpstr>
      <vt:lpstr>Söhne</vt:lpstr>
      <vt:lpstr>Wingdings</vt:lpstr>
      <vt:lpstr>Tema do Office</vt:lpstr>
      <vt:lpstr>C24 – Inteligência Artificial: Regressão</vt:lpstr>
      <vt:lpstr>Regressão</vt:lpstr>
      <vt:lpstr>Motivação</vt:lpstr>
      <vt:lpstr>Motivação</vt:lpstr>
      <vt:lpstr>PowerPoint Presentation</vt:lpstr>
      <vt:lpstr>PowerPoint Presentation</vt:lpstr>
      <vt:lpstr>Regressão linear</vt:lpstr>
      <vt:lpstr>Qual o objetivo da regressão linear?</vt:lpstr>
      <vt:lpstr>Qual é o paradigma de aprendizado?</vt:lpstr>
      <vt:lpstr>Qual é o paradigma de aprendizado?</vt:lpstr>
      <vt:lpstr>Por que linear?</vt:lpstr>
      <vt:lpstr>Por que linear?</vt:lpstr>
      <vt:lpstr>A flexibilidade dos polinômios</vt:lpstr>
      <vt:lpstr>PowerPoint Presentation</vt:lpstr>
      <vt:lpstr>Objetivo da regressão linear</vt:lpstr>
      <vt:lpstr>PowerPoint Presentation</vt:lpstr>
      <vt:lpstr>Função de erro</vt:lpstr>
      <vt:lpstr>Minimização da função de erro</vt:lpstr>
      <vt:lpstr>Resumo do problema da regressão linear</vt:lpstr>
      <vt:lpstr>Como encontrar os pesos ótimos?</vt:lpstr>
      <vt:lpstr>Comparativo das abordagens</vt:lpstr>
      <vt:lpstr>PowerPoint Presentation</vt:lpstr>
      <vt:lpstr>PowerPoint Presentation</vt:lpstr>
      <vt:lpstr>Superfície de erro</vt:lpstr>
      <vt:lpstr>Superfície de erro</vt:lpstr>
      <vt:lpstr>Superfície de erro</vt:lpstr>
      <vt:lpstr>Superfície de erro</vt:lpstr>
      <vt:lpstr>Gradiente descendente</vt:lpstr>
      <vt:lpstr>Gradiente descendente</vt:lpstr>
      <vt:lpstr>Gradiente descendente</vt:lpstr>
      <vt:lpstr>PowerPoint Presentation</vt:lpstr>
      <vt:lpstr>Vetores gradiente</vt:lpstr>
      <vt:lpstr>Formato da função de erro</vt:lpstr>
      <vt:lpstr>Ponto de mínimo de uma função convexa</vt:lpstr>
      <vt:lpstr>O erro indica o caminho a ser seguido</vt:lpstr>
      <vt:lpstr>PowerPoint Presentation</vt:lpstr>
      <vt:lpstr>Vetor gradiente</vt:lpstr>
      <vt:lpstr>Vetor gradiente</vt:lpstr>
      <vt:lpstr>Vetor gradiente</vt:lpstr>
      <vt:lpstr>Qual a distância até o mínimo?</vt:lpstr>
      <vt:lpstr>Passo de aprendizagem</vt:lpstr>
      <vt:lpstr>Passo de aprendizagem</vt:lpstr>
      <vt:lpstr>Passo de aprendizagem</vt:lpstr>
      <vt:lpstr>Otimização iterativa</vt:lpstr>
      <vt:lpstr>Tamanho do passo de aprendizagem</vt:lpstr>
      <vt:lpstr>Tamanho do passo de aprendizagem</vt:lpstr>
      <vt:lpstr>Tamanho do passo de aprendizagem</vt:lpstr>
      <vt:lpstr>Tamanho do passo de aprendizagem</vt:lpstr>
      <vt:lpstr>Tamanho do passo de aprendizagem</vt:lpstr>
      <vt:lpstr>Tamanho do passo de aprendizagem</vt:lpstr>
      <vt:lpstr>Qual o tamanho de passo de aprendizagem usar?</vt:lpstr>
      <vt:lpstr>Pseudocódigo do gradiente descendente</vt:lpstr>
      <vt:lpstr>Versões do gradiente descendente</vt:lpstr>
      <vt:lpstr>Versões do gradiente descendente</vt:lpstr>
      <vt:lpstr>Versões do gradiente descendente</vt:lpstr>
      <vt:lpstr>Gradiente descendente em batelada</vt:lpstr>
      <vt:lpstr>Gradiente descendente estocástico</vt:lpstr>
      <vt:lpstr>Gradiente descendente em mini-lotes</vt:lpstr>
      <vt:lpstr>PowerPoint Presentation</vt:lpstr>
      <vt:lpstr>Underfitting e overfitting</vt:lpstr>
      <vt:lpstr>Overfitting e underfitting</vt:lpstr>
      <vt:lpstr>Overfitting</vt:lpstr>
      <vt:lpstr>Underfitting</vt:lpstr>
      <vt:lpstr>Underfitting</vt:lpstr>
      <vt:lpstr>Underfitting</vt:lpstr>
      <vt:lpstr>Underfitting</vt:lpstr>
      <vt:lpstr>Overfitting</vt:lpstr>
      <vt:lpstr>Overfitting</vt:lpstr>
      <vt:lpstr>Overfitting</vt:lpstr>
      <vt:lpstr>Overfitting e underfitting</vt:lpstr>
      <vt:lpstr>Validação cruzada</vt:lpstr>
      <vt:lpstr>Validação cruzada</vt:lpstr>
      <vt:lpstr>Validação cruzada</vt:lpstr>
      <vt:lpstr>k-fold</vt:lpstr>
      <vt:lpstr>k-fold</vt:lpstr>
      <vt:lpstr>k-fold</vt:lpstr>
      <vt:lpstr>Inferência</vt:lpstr>
      <vt:lpstr>Generalização</vt:lpstr>
      <vt:lpstr>Exemplo</vt:lpstr>
      <vt:lpstr>Lista de exercícios</vt:lpstr>
      <vt:lpstr>PowerPoint Presentation</vt:lpstr>
      <vt:lpstr>PowerPoint Presentation</vt:lpstr>
      <vt:lpstr>PowerPoint Presentation</vt:lpstr>
      <vt:lpstr>Cálculo do vetor gradiente</vt:lpstr>
      <vt:lpstr>Cálculo do vetor gradiente</vt:lpstr>
      <vt:lpstr>Cálculo do vetor gradiente</vt:lpstr>
      <vt:lpstr>Cálculo do vetor gradiente</vt:lpstr>
      <vt:lpstr>Cálculo do vetor gradiente</vt:lpstr>
      <vt:lpstr>Cálculo do vetor gradiente</vt:lpstr>
      <vt:lpstr>Cálculo do vetor gradiente</vt:lpstr>
      <vt:lpstr>Equação de atualização dos pesos</vt:lpstr>
      <vt:lpstr>Equação de atualização dos pesos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1944</cp:revision>
  <dcterms:created xsi:type="dcterms:W3CDTF">2020-01-20T13:50:05Z</dcterms:created>
  <dcterms:modified xsi:type="dcterms:W3CDTF">2026-02-18T13:43:57Z</dcterms:modified>
</cp:coreProperties>
</file>