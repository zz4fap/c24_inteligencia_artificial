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6"/>
  </p:notesMasterIdLst>
  <p:handoutMasterIdLst>
    <p:handoutMasterId r:id="rId127"/>
  </p:handoutMasterIdLst>
  <p:sldIdLst>
    <p:sldId id="256" r:id="rId2"/>
    <p:sldId id="347" r:id="rId3"/>
    <p:sldId id="296" r:id="rId4"/>
    <p:sldId id="463" r:id="rId5"/>
    <p:sldId id="517" r:id="rId6"/>
    <p:sldId id="518" r:id="rId7"/>
    <p:sldId id="464" r:id="rId8"/>
    <p:sldId id="470" r:id="rId9"/>
    <p:sldId id="571" r:id="rId10"/>
    <p:sldId id="465" r:id="rId11"/>
    <p:sldId id="570" r:id="rId12"/>
    <p:sldId id="520" r:id="rId13"/>
    <p:sldId id="550" r:id="rId14"/>
    <p:sldId id="522" r:id="rId15"/>
    <p:sldId id="523" r:id="rId16"/>
    <p:sldId id="524" r:id="rId17"/>
    <p:sldId id="481" r:id="rId18"/>
    <p:sldId id="525" r:id="rId19"/>
    <p:sldId id="526" r:id="rId20"/>
    <p:sldId id="527" r:id="rId21"/>
    <p:sldId id="547" r:id="rId22"/>
    <p:sldId id="528" r:id="rId23"/>
    <p:sldId id="529" r:id="rId24"/>
    <p:sldId id="541" r:id="rId25"/>
    <p:sldId id="532" r:id="rId26"/>
    <p:sldId id="533" r:id="rId27"/>
    <p:sldId id="435" r:id="rId28"/>
    <p:sldId id="448" r:id="rId29"/>
    <p:sldId id="536" r:id="rId30"/>
    <p:sldId id="411" r:id="rId31"/>
    <p:sldId id="432" r:id="rId32"/>
    <p:sldId id="415" r:id="rId33"/>
    <p:sldId id="566" r:id="rId34"/>
    <p:sldId id="412" r:id="rId35"/>
    <p:sldId id="413" r:id="rId36"/>
    <p:sldId id="450" r:id="rId37"/>
    <p:sldId id="434" r:id="rId38"/>
    <p:sldId id="614" r:id="rId39"/>
    <p:sldId id="615" r:id="rId40"/>
    <p:sldId id="414" r:id="rId41"/>
    <p:sldId id="572" r:id="rId42"/>
    <p:sldId id="416" r:id="rId43"/>
    <p:sldId id="451" r:id="rId44"/>
    <p:sldId id="417" r:id="rId45"/>
    <p:sldId id="419" r:id="rId46"/>
    <p:sldId id="425" r:id="rId47"/>
    <p:sldId id="537" r:id="rId48"/>
    <p:sldId id="418" r:id="rId49"/>
    <p:sldId id="539" r:id="rId50"/>
    <p:sldId id="542" r:id="rId51"/>
    <p:sldId id="423" r:id="rId52"/>
    <p:sldId id="580" r:id="rId53"/>
    <p:sldId id="424" r:id="rId54"/>
    <p:sldId id="429" r:id="rId55"/>
    <p:sldId id="540" r:id="rId56"/>
    <p:sldId id="431" r:id="rId57"/>
    <p:sldId id="583" r:id="rId58"/>
    <p:sldId id="584" r:id="rId59"/>
    <p:sldId id="554" r:id="rId60"/>
    <p:sldId id="555" r:id="rId61"/>
    <p:sldId id="549" r:id="rId62"/>
    <p:sldId id="461" r:id="rId63"/>
    <p:sldId id="557" r:id="rId64"/>
    <p:sldId id="558" r:id="rId65"/>
    <p:sldId id="559" r:id="rId66"/>
    <p:sldId id="560" r:id="rId67"/>
    <p:sldId id="561" r:id="rId68"/>
    <p:sldId id="562" r:id="rId69"/>
    <p:sldId id="563" r:id="rId70"/>
    <p:sldId id="543" r:id="rId71"/>
    <p:sldId id="437" r:id="rId72"/>
    <p:sldId id="436" r:id="rId73"/>
    <p:sldId id="443" r:id="rId74"/>
    <p:sldId id="444" r:id="rId75"/>
    <p:sldId id="565" r:id="rId76"/>
    <p:sldId id="567" r:id="rId77"/>
    <p:sldId id="568" r:id="rId78"/>
    <p:sldId id="604" r:id="rId79"/>
    <p:sldId id="605" r:id="rId80"/>
    <p:sldId id="467" r:id="rId81"/>
    <p:sldId id="338" r:id="rId82"/>
    <p:sldId id="573" r:id="rId83"/>
    <p:sldId id="370" r:id="rId84"/>
    <p:sldId id="293" r:id="rId85"/>
    <p:sldId id="306" r:id="rId86"/>
    <p:sldId id="446" r:id="rId87"/>
    <p:sldId id="438" r:id="rId88"/>
    <p:sldId id="440" r:id="rId89"/>
    <p:sldId id="441" r:id="rId90"/>
    <p:sldId id="551" r:id="rId91"/>
    <p:sldId id="442" r:id="rId92"/>
    <p:sldId id="552" r:id="rId93"/>
    <p:sldId id="553" r:id="rId94"/>
    <p:sldId id="445" r:id="rId95"/>
    <p:sldId id="447" r:id="rId96"/>
    <p:sldId id="608" r:id="rId97"/>
    <p:sldId id="607" r:id="rId98"/>
    <p:sldId id="452" r:id="rId99"/>
    <p:sldId id="569" r:id="rId100"/>
    <p:sldId id="589" r:id="rId101"/>
    <p:sldId id="582" r:id="rId102"/>
    <p:sldId id="586" r:id="rId103"/>
    <p:sldId id="587" r:id="rId104"/>
    <p:sldId id="588" r:id="rId105"/>
    <p:sldId id="590" r:id="rId106"/>
    <p:sldId id="591" r:id="rId107"/>
    <p:sldId id="592" r:id="rId108"/>
    <p:sldId id="593" r:id="rId109"/>
    <p:sldId id="594" r:id="rId110"/>
    <p:sldId id="595" r:id="rId111"/>
    <p:sldId id="597" r:id="rId112"/>
    <p:sldId id="600" r:id="rId113"/>
    <p:sldId id="458" r:id="rId114"/>
    <p:sldId id="601" r:id="rId115"/>
    <p:sldId id="384" r:id="rId116"/>
    <p:sldId id="602" r:id="rId117"/>
    <p:sldId id="611" r:id="rId118"/>
    <p:sldId id="459" r:id="rId119"/>
    <p:sldId id="610" r:id="rId120"/>
    <p:sldId id="399" r:id="rId121"/>
    <p:sldId id="397" r:id="rId122"/>
    <p:sldId id="609" r:id="rId123"/>
    <p:sldId id="579" r:id="rId124"/>
    <p:sldId id="577" r:id="rId125"/>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85714" autoAdjust="0"/>
  </p:normalViewPr>
  <p:slideViewPr>
    <p:cSldViewPr snapToGrid="0">
      <p:cViewPr varScale="1">
        <p:scale>
          <a:sx n="95" d="100"/>
          <a:sy n="95" d="100"/>
        </p:scale>
        <p:origin x="1416" y="7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presProps" Target="pres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viewProps" Target="view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microsoft.com/office/2016/11/relationships/changesInfo" Target="changesInfos/changesInfo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handoutMaster" Target="handoutMasters/handoutMaster1.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24/08/2026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24/08/2026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8" Type="http://schemas.openxmlformats.org/officeDocument/2006/relationships/hyperlink" Target="https://stats.stackexchange.com/questions/86991/reason-for-not-shrinking-the-bias-intercept-term-in-regression" TargetMode="External"/><Relationship Id="rId3" Type="http://schemas.openxmlformats.org/officeDocument/2006/relationships/hyperlink" Target="https://en.wikipedia.org/wiki/Norm_(mathematics)#Euclidean_norm" TargetMode="External"/><Relationship Id="rId7" Type="http://schemas.openxmlformats.org/officeDocument/2006/relationships/hyperlink" Target="https://en.wikipedia.org/wiki/Norm_(mathematics)#Euclidean_norm" TargetMode="External"/><Relationship Id="rId2" Type="http://schemas.openxmlformats.org/officeDocument/2006/relationships/slide" Target="../slides/slide105.xml"/><Relationship Id="rId1" Type="http://schemas.openxmlformats.org/officeDocument/2006/relationships/notesMaster" Target="../notesMasters/notesMaster1.xml"/><Relationship Id="rId6" Type="http://schemas.openxmlformats.org/officeDocument/2006/relationships/hyperlink" Target="https://stackoverflow.com/questions/12578336/why-is-the-bias-term-not-regularized-in-ridge-regression" TargetMode="External"/><Relationship Id="rId5" Type="http://schemas.openxmlformats.org/officeDocument/2006/relationships/hyperlink" Target="https://stackoverflow.com/questions/54017246/why-is-theta0-skipped-while-performing-regulariztion-on-regression" TargetMode="External"/><Relationship Id="rId10" Type="http://schemas.openxmlformats.org/officeDocument/2006/relationships/hyperlink" Target="https://stackoverflow.com/questions/12578336/why-is-the-bias-term-not-regularized-in-ridge-regression" TargetMode="External"/><Relationship Id="rId4" Type="http://schemas.openxmlformats.org/officeDocument/2006/relationships/hyperlink" Target="https://stats.stackexchange.com/questions/86991/reason-for-not-shrinking-the-bias-intercept-term-in-regression" TargetMode="External"/><Relationship Id="rId9" Type="http://schemas.openxmlformats.org/officeDocument/2006/relationships/hyperlink" Target="https://stackoverflow.com/questions/54017246/why-is-theta0-skipped-while-performing-regulariztion-on-regression" TargetMode="Externa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3" Type="http://schemas.openxmlformats.org/officeDocument/2006/relationships/hyperlink" Target="https://colab.research.google.com/github/zz4fap/tp555-machine-learning/blob/master/exemplos/polynomial/regularization/elastic_net_regression.ipynb" TargetMode="External"/><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Em geral, regressão linear não funciona bem com extrapolação, apenas com interpolação (</a:t>
            </a:r>
            <a:r>
              <a:rPr lang="en-US" dirty="0" err="1"/>
              <a:t>prever</a:t>
            </a:r>
            <a:r>
              <a:rPr lang="en-US" dirty="0"/>
              <a:t> </a:t>
            </a:r>
            <a:r>
              <a:rPr lang="en-US" dirty="0" err="1"/>
              <a:t>dentro</a:t>
            </a:r>
            <a:r>
              <a:rPr lang="en-US" dirty="0"/>
              <a:t> do </a:t>
            </a:r>
            <a:r>
              <a:rPr lang="en-US" dirty="0" err="1"/>
              <a:t>intervalo</a:t>
            </a:r>
            <a:r>
              <a:rPr lang="en-US" dirty="0"/>
              <a:t> </a:t>
            </a:r>
            <a:r>
              <a:rPr lang="en-US" dirty="0" err="1"/>
              <a:t>em</a:t>
            </a:r>
            <a:r>
              <a:rPr lang="en-US" dirty="0"/>
              <a:t> </a:t>
            </a:r>
            <a:r>
              <a:rPr lang="en-US" dirty="0" err="1"/>
              <a:t>que</a:t>
            </a:r>
            <a:r>
              <a:rPr lang="en-US" dirty="0"/>
              <a:t> </a:t>
            </a:r>
            <a:r>
              <a:rPr lang="en-US" dirty="0" err="1"/>
              <a:t>temos</a:t>
            </a:r>
            <a:r>
              <a:rPr lang="en-US" dirty="0"/>
              <a:t> dados).</a:t>
            </a:r>
          </a:p>
          <a:p>
            <a:endParaRPr lang="en-US" dirty="0"/>
          </a:p>
          <a:p>
            <a:r>
              <a:rPr lang="en-US" b="1" dirty="0"/>
              <a:t>“Bulk rate”</a:t>
            </a:r>
            <a:r>
              <a:rPr lang="en-US" dirty="0"/>
              <a:t> </a:t>
            </a:r>
            <a:r>
              <a:rPr lang="en-US" dirty="0" err="1"/>
              <a:t>significa</a:t>
            </a:r>
            <a:r>
              <a:rPr lang="en-US" dirty="0"/>
              <a:t> </a:t>
            </a:r>
            <a:r>
              <a:rPr lang="en-US" b="1" dirty="0"/>
              <a:t>“</a:t>
            </a:r>
            <a:r>
              <a:rPr lang="en-US" b="1" dirty="0" err="1"/>
              <a:t>preço</a:t>
            </a:r>
            <a:r>
              <a:rPr lang="en-US" b="1" dirty="0"/>
              <a:t> para </a:t>
            </a:r>
            <a:r>
              <a:rPr lang="en-US" b="1" dirty="0" err="1"/>
              <a:t>compra</a:t>
            </a:r>
            <a:r>
              <a:rPr lang="en-US" b="1" dirty="0"/>
              <a:t> </a:t>
            </a:r>
            <a:r>
              <a:rPr lang="en-US" b="1" dirty="0" err="1"/>
              <a:t>em</a:t>
            </a:r>
            <a:r>
              <a:rPr lang="en-US" b="1" dirty="0"/>
              <a:t> grande </a:t>
            </a:r>
            <a:r>
              <a:rPr lang="en-US" b="1" dirty="0" err="1"/>
              <a:t>quantidade</a:t>
            </a:r>
            <a:r>
              <a:rPr lang="en-US" b="1" dirty="0"/>
              <a:t>”</a:t>
            </a:r>
            <a:r>
              <a:rPr lang="en-US" dirty="0"/>
              <a:t> </a:t>
            </a:r>
            <a:r>
              <a:rPr lang="en-US" dirty="0" err="1"/>
              <a:t>ou</a:t>
            </a:r>
            <a:r>
              <a:rPr lang="en-US" dirty="0"/>
              <a:t> </a:t>
            </a:r>
            <a:r>
              <a:rPr lang="en-US" b="1" dirty="0"/>
              <a:t>“</a:t>
            </a:r>
            <a:r>
              <a:rPr lang="en-US" b="1" dirty="0" err="1"/>
              <a:t>preço</a:t>
            </a:r>
            <a:r>
              <a:rPr lang="en-US" b="1" dirty="0"/>
              <a:t> </a:t>
            </a:r>
            <a:r>
              <a:rPr lang="en-US" b="1" dirty="0" err="1"/>
              <a:t>por</a:t>
            </a:r>
            <a:r>
              <a:rPr lang="en-US" b="1" dirty="0"/>
              <a:t> </a:t>
            </a:r>
            <a:r>
              <a:rPr lang="en-US" b="1" dirty="0" err="1"/>
              <a:t>atacado</a:t>
            </a:r>
            <a:r>
              <a:rPr lang="en-US" b="1" dirty="0"/>
              <a:t>”</a:t>
            </a:r>
            <a:r>
              <a:rPr lang="en-US"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10714538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9C5A2-3B71-6EEE-787F-4D8BB4B4391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05CC10E0-E8FB-599D-848C-D0CE71AD5429}"/>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D25A5A04-61A8-161E-E4C7-753CB3DC0277}"/>
              </a:ext>
            </a:extLst>
          </p:cNvPr>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a:extLst>
              <a:ext uri="{FF2B5EF4-FFF2-40B4-BE49-F238E27FC236}">
                <a16:creationId xmlns:a16="http://schemas.microsoft.com/office/drawing/2014/main" id="{5FCA8359-C79F-9E40-F0F9-8AE5B2ECFFA9}"/>
              </a:ext>
            </a:extLst>
          </p:cNvPr>
          <p:cNvSpPr>
            <a:spLocks noGrp="1"/>
          </p:cNvSpPr>
          <p:nvPr>
            <p:ph type="sldNum" sz="quarter" idx="5"/>
          </p:nvPr>
        </p:nvSpPr>
        <p:spPr/>
        <p:txBody>
          <a:bodyPr/>
          <a:lstStyle/>
          <a:p>
            <a:fld id="{DA8B99DF-01BC-492A-8CEF-4FD88D18DD9D}" type="slidenum">
              <a:rPr lang="nl-BE" smtClean="0"/>
              <a:t>9</a:t>
            </a:fld>
            <a:endParaRPr lang="nl-BE"/>
          </a:p>
        </p:txBody>
      </p:sp>
    </p:spTree>
    <p:extLst>
      <p:ext uri="{BB962C8B-B14F-4D97-AF65-F5344CB8AC3E}">
        <p14:creationId xmlns:p14="http://schemas.microsoft.com/office/powerpoint/2010/main" val="9819423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Se um peso </a:t>
            </a:r>
            <a:r>
              <a:rPr lang="en-US" sz="1200" b="0" i="0" kern="1200" dirty="0" err="1">
                <a:solidFill>
                  <a:schemeClr val="tx1"/>
                </a:solidFill>
                <a:effectLst/>
                <a:latin typeface="+mn-lt"/>
                <a:ea typeface="+mn-ea"/>
                <a:cs typeface="+mn-cs"/>
              </a:rPr>
              <a:t>aparece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dentro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uma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função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não</a:t>
            </a:r>
            <a:r>
              <a:rPr lang="en-US" sz="1200" b="0" i="0" kern="1200" dirty="0">
                <a:solidFill>
                  <a:schemeClr val="tx1"/>
                </a:solidFill>
                <a:effectLst/>
                <a:latin typeface="+mn-lt"/>
                <a:ea typeface="+mn-ea"/>
                <a:cs typeface="+mn-cs"/>
              </a:rPr>
              <a:t> linear, o </a:t>
            </a:r>
            <a:r>
              <a:rPr lang="en-US" sz="1200" b="0" i="0" kern="1200" dirty="0" err="1">
                <a:solidFill>
                  <a:schemeClr val="tx1"/>
                </a:solidFill>
                <a:effectLst/>
                <a:latin typeface="+mn-lt"/>
                <a:ea typeface="+mn-ea"/>
                <a:cs typeface="+mn-cs"/>
              </a:rPr>
              <a:t>modelo</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não</a:t>
            </a:r>
            <a:r>
              <a:rPr lang="en-US" sz="1200" b="0" i="0" kern="1200" dirty="0">
                <a:solidFill>
                  <a:schemeClr val="tx1"/>
                </a:solidFill>
                <a:effectLst/>
                <a:latin typeface="+mn-lt"/>
                <a:ea typeface="+mn-ea"/>
                <a:cs typeface="+mn-cs"/>
              </a:rPr>
              <a:t> linear </a:t>
            </a:r>
            <a:r>
              <a:rPr lang="en-US" sz="1200" b="0" i="0" kern="1200" dirty="0" err="1">
                <a:solidFill>
                  <a:schemeClr val="tx1"/>
                </a:solidFill>
                <a:effectLst/>
                <a:latin typeface="+mn-lt"/>
                <a:ea typeface="+mn-ea"/>
                <a:cs typeface="+mn-cs"/>
              </a:rPr>
              <a:t>nos</a:t>
            </a:r>
            <a:r>
              <a:rPr lang="en-US" sz="1200" b="0" i="0" kern="1200" dirty="0">
                <a:solidFill>
                  <a:schemeClr val="tx1"/>
                </a:solidFill>
                <a:effectLst/>
                <a:latin typeface="+mn-lt"/>
                <a:ea typeface="+mn-ea"/>
                <a:cs typeface="+mn-cs"/>
              </a:rPr>
              <a:t> pesos.</a:t>
            </a:r>
            <a:r>
              <a:rPr lang="en-US" dirty="0"/>
              <a:t> </a:t>
            </a:r>
            <a:br>
              <a:rPr lang="en-US" dirty="0"/>
            </a:b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E99E7-FE5B-A544-E93B-642C25F115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3BB93D-CB06-261C-C4E9-14F7677A3D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00C054-8F41-8C5A-6FE0-B4978AD62C89}"/>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a:extLst>
              <a:ext uri="{FF2B5EF4-FFF2-40B4-BE49-F238E27FC236}">
                <a16:creationId xmlns:a16="http://schemas.microsoft.com/office/drawing/2014/main" id="{0B8FDBB6-3437-2A56-5E8F-03C719363D60}"/>
              </a:ext>
            </a:extLst>
          </p:cNvPr>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41606919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ponto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inflexão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mudança</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direção</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Graus </a:t>
            </a:r>
            <a:r>
              <a:rPr lang="en-US" sz="1200" b="0" i="0" kern="1200" dirty="0" err="1">
                <a:solidFill>
                  <a:schemeClr val="tx1"/>
                </a:solidFill>
                <a:effectLst/>
                <a:latin typeface="+mn-lt"/>
                <a:ea typeface="+mn-ea"/>
                <a:cs typeface="+mn-cs"/>
              </a:rPr>
              <a:t>maiores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capazes</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fazer</a:t>
            </a:r>
            <a:r>
              <a:rPr lang="en-US" sz="1200" b="0" i="0" kern="1200" dirty="0">
                <a:solidFill>
                  <a:schemeClr val="tx1"/>
                </a:solidFill>
                <a:effectLst/>
                <a:latin typeface="+mn-lt"/>
                <a:ea typeface="+mn-ea"/>
                <a:cs typeface="+mn-cs"/>
              </a:rPr>
              <a:t> curvas e </a:t>
            </a:r>
            <a:r>
              <a:rPr lang="en-US" sz="1200" b="0" i="0" kern="1200" dirty="0" err="1">
                <a:solidFill>
                  <a:schemeClr val="tx1"/>
                </a:solidFill>
                <a:effectLst/>
                <a:latin typeface="+mn-lt"/>
                <a:ea typeface="+mn-ea"/>
                <a:cs typeface="+mn-cs"/>
              </a:rPr>
              <a:t>ondulações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mais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complexas</a:t>
            </a:r>
            <a:r>
              <a:rPr lang="en-US" sz="1200" b="0" i="0" kern="1200" dirty="0">
                <a:solidFill>
                  <a:schemeClr val="tx1"/>
                </a:solidFill>
                <a:effectLst/>
                <a:latin typeface="+mn-lt"/>
                <a:ea typeface="+mn-ea"/>
                <a:cs typeface="+mn-cs"/>
              </a:rPr>
              <a: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modelo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aproximar</a:t>
            </a:r>
            <a:r>
              <a:rPr lang="en-US" sz="1200" b="0" i="0" kern="1200" dirty="0">
                <a:solidFill>
                  <a:schemeClr val="tx1"/>
                </a:solidFill>
                <a:effectLst/>
                <a:latin typeface="+mn-lt"/>
                <a:ea typeface="+mn-ea"/>
                <a:cs typeface="+mn-cs"/>
              </a:rPr>
              <a:t> a </a:t>
            </a:r>
            <a:r>
              <a:rPr lang="en-US" sz="1200" b="0" i="0" kern="1200" dirty="0" err="1">
                <a:solidFill>
                  <a:schemeClr val="tx1"/>
                </a:solidFill>
                <a:effectLst/>
                <a:latin typeface="+mn-lt"/>
                <a:ea typeface="+mn-ea"/>
                <a:cs typeface="+mn-cs"/>
              </a:rPr>
              <a:t>função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verdadeira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trás</a:t>
            </a:r>
            <a:r>
              <a:rPr lang="en-US" sz="1200" b="0" i="0" kern="1200" dirty="0">
                <a:solidFill>
                  <a:schemeClr val="tx1"/>
                </a:solidFill>
                <a:effectLst/>
                <a:latin typeface="+mn-lt"/>
                <a:ea typeface="+mn-ea"/>
                <a:cs typeface="+mn-cs"/>
              </a:rPr>
              <a:t> dos </a:t>
            </a:r>
            <a:r>
              <a:rPr lang="en-US" sz="1200" b="0" i="0" kern="1200" dirty="0" err="1">
                <a:solidFill>
                  <a:schemeClr val="tx1"/>
                </a:solidFill>
                <a:effectLst/>
                <a:latin typeface="+mn-lt"/>
                <a:ea typeface="+mn-ea"/>
                <a:cs typeface="+mn-cs"/>
              </a:rPr>
              <a:t>pontos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ruidosos</a:t>
            </a:r>
            <a:r>
              <a:rPr lang="en-US" sz="1200" b="0" i="0" kern="1200" dirty="0">
                <a:solidFill>
                  <a:schemeClr val="tx1"/>
                </a:solidFill>
                <a:effectLst/>
                <a:latin typeface="+mn-lt"/>
                <a:ea typeface="+mn-ea"/>
                <a:cs typeface="+mn-cs"/>
              </a:rPr>
              <a:t>.</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28524507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b="1"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17</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Equação normal: resolução de um sistema de equações lineares.</a:t>
            </a:r>
          </a:p>
          <a:p>
            <a:endParaRPr lang="pt-BR" dirty="0"/>
          </a:p>
          <a:p>
            <a:r>
              <a:rPr lang="pt-BR" dirty="0"/>
              <a:t>Temos soluções apenas se o sistema for determinado ou </a:t>
            </a:r>
            <a:r>
              <a:rPr lang="pt-BR" dirty="0" err="1"/>
              <a:t>sobre-determinado</a:t>
            </a:r>
            <a:r>
              <a:rPr lang="pt-BR" dirty="0"/>
              <a:t> e os atributos forem linearmente independentes.</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359926373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b="1" i="1" dirty="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i="0" dirty="0"/>
                          <m:t>−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E31795-1D92-213A-9CDF-25BD6D59EAA3}"/>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b="1" i="1" dirty="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i="0" dirty="0"/>
                          <m:t>−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id="{1D522910-F4DB-7000-BEE7-C3B059C09549}"/>
              </a:ext>
            </a:extLst>
          </p:cNvPr>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33</a:t>
            </a:fld>
            <a:endParaRPr lang="nl-BE"/>
          </a:p>
        </p:txBody>
      </p:sp>
    </p:spTree>
    <p:extLst>
      <p:ext uri="{BB962C8B-B14F-4D97-AF65-F5344CB8AC3E}">
        <p14:creationId xmlns:p14="http://schemas.microsoft.com/office/powerpoint/2010/main" val="352891855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vetor gradiente não diz o quanto falta para chegar ao mínimo</a:t>
            </a:r>
          </a:p>
          <a:p>
            <a:r>
              <a:rPr lang="pt-BR" dirty="0"/>
              <a:t>sabemos se devemos ir </a:t>
            </a:r>
            <a:r>
              <a:rPr lang="pt-BR" b="1" dirty="0"/>
              <a:t>para esquerda ou direita</a:t>
            </a:r>
            <a:endParaRPr lang="pt-BR" dirty="0"/>
          </a:p>
          <a:p>
            <a:r>
              <a:rPr lang="pt-BR" dirty="0"/>
              <a:t>mas </a:t>
            </a:r>
            <a:r>
              <a:rPr lang="pt-BR" b="1" dirty="0"/>
              <a:t>não sabemos se o mínimo está perto ou longe</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AF18AB7-E93B-53DF-E1B4-3107CF6AFB54}"/>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83D151E3-4C62-E24A-79DA-5EC35DC9EB00}"/>
              </a:ext>
            </a:extLst>
          </p:cNvPr>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CA096-53F7-4485-A453-1D949025DCA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5779427-8D44-CA0C-2C83-24A15441D10B}"/>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9B96E5B5-5B52-5D5A-D236-273FB017D9E7}"/>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55A0622F-F347-8783-B556-41DB3D1DCCEF}"/>
              </a:ext>
            </a:extLst>
          </p:cNvPr>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384478210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C01C7-6726-5536-F240-55221261462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68F8CB8-0170-42D6-1175-4B2E71EB072C}"/>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9EBB2433-A125-29BA-44A9-1FBD2151BA0E}"/>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6B015FDE-78CE-5A22-BEB0-1E4BEEBD7920}"/>
              </a:ext>
            </a:extLst>
          </p:cNvPr>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344107401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B974647-2308-D5CF-6296-CD0D0A521FC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A52A8DF8-274A-95C2-39D7-F58EA26DEE5B}"/>
              </a:ext>
            </a:extLst>
          </p:cNvPr>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Passos grandes ajudam a chegar rápido perto do mínimo; passos pequenos ajudam a não ultrapassá-lo.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gradiente resolve:</a:t>
            </a:r>
          </a:p>
          <a:p>
            <a:r>
              <a:rPr lang="pt-BR" dirty="0"/>
              <a:t>“em média, como devo ajustar os </a:t>
            </a:r>
            <a:r>
              <a:rPr lang="pt-BR" dirty="0" err="1"/>
              <a:t>paraˆmetros</a:t>
            </a:r>
            <a:r>
              <a:rPr lang="pt-BR" dirty="0"/>
              <a:t> para reduzir o erro?”\</a:t>
            </a:r>
            <a:r>
              <a:rPr lang="pt-BR" dirty="0" err="1"/>
              <a:t>text</a:t>
            </a:r>
            <a:r>
              <a:rPr lang="pt-BR" dirty="0"/>
              <a:t>{“em média, como devo ajustar os parâmetros para reduzir o erro?”}“em </a:t>
            </a:r>
            <a:r>
              <a:rPr lang="pt-BR" dirty="0" err="1"/>
              <a:t>meˊdia</a:t>
            </a:r>
            <a:r>
              <a:rPr lang="pt-BR" dirty="0"/>
              <a:t>, como devo ajustar os </a:t>
            </a:r>
            <a:r>
              <a:rPr lang="pt-BR" dirty="0" err="1"/>
              <a:t>paraˆmetros</a:t>
            </a:r>
            <a:r>
              <a:rPr lang="pt-BR" dirty="0"/>
              <a:t> para reduzir o erro?” Ou ainda mais profundo:</a:t>
            </a:r>
          </a:p>
          <a:p>
            <a:br>
              <a:rPr lang="pt-BR" dirty="0"/>
            </a:br>
            <a:r>
              <a:rPr lang="pt-BR" dirty="0"/>
              <a:t>Ele mede a </a:t>
            </a:r>
            <a:r>
              <a:rPr lang="pt-BR" b="1" dirty="0"/>
              <a:t>correlação entre erro e atributos</a:t>
            </a:r>
            <a:endParaRPr lang="pt-BR" dirty="0"/>
          </a:p>
          <a:p>
            <a:r>
              <a:rPr lang="pt-BR" dirty="0"/>
              <a:t>se erro e atributos​ estão correlacionados → ajustar os pesos​ </a:t>
            </a:r>
          </a:p>
          <a:p>
            <a:r>
              <a:rPr lang="pt-BR" dirty="0"/>
              <a:t>se não → gradiente ≈ 0</a:t>
            </a:r>
          </a:p>
          <a:p>
            <a:endParaRPr lang="pt-BR" dirty="0"/>
          </a:p>
          <a:p>
            <a:r>
              <a:rPr lang="pt-BR" dirty="0"/>
              <a:t>Com poucas amostras, o gradiente pode apontar em direções “tortas”.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135350043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forma de </a:t>
            </a:r>
            <a:r>
              <a:rPr lang="pt-BR" b="1" dirty="0">
                <a:solidFill>
                  <a:srgbClr val="00B050"/>
                </a:solidFill>
              </a:rPr>
              <a:t>testar o modelo várias vezes </a:t>
            </a:r>
            <a:r>
              <a:rPr lang="pt-BR" dirty="0"/>
              <a:t>em </a:t>
            </a:r>
            <a:r>
              <a:rPr lang="pt-BR" b="1" dirty="0">
                <a:solidFill>
                  <a:srgbClr val="00B050"/>
                </a:solidFill>
              </a:rPr>
              <a:t>diferentes divisões dos dados</a:t>
            </a:r>
            <a:r>
              <a:rPr lang="pt-BR" dirty="0"/>
              <a:t> para obter uma </a:t>
            </a:r>
            <a:r>
              <a:rPr lang="pt-BR" b="1" dirty="0">
                <a:solidFill>
                  <a:schemeClr val="accent2"/>
                </a:solidFill>
              </a:rPr>
              <a:t>avaliação robusta da sua capacidade de generalização</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145101467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que significa </a:t>
            </a:r>
            <a:r>
              <a:rPr lang="pt-BR" b="1" dirty="0"/>
              <a:t>alta variância</a:t>
            </a:r>
            <a:r>
              <a:rPr lang="pt-BR" dirty="0"/>
              <a:t>?</a:t>
            </a:r>
          </a:p>
          <a:p>
            <a:r>
              <a:rPr lang="pt-BR" dirty="0"/>
              <a:t>Variância mede o quanto o modelo muda quando treinado com pequenas variações nos dados.</a:t>
            </a:r>
          </a:p>
          <a:p>
            <a:r>
              <a:rPr lang="pt-BR" dirty="0"/>
              <a:t>Um modelo com alta variância é extremamente sensível ao conjunto de treino.</a:t>
            </a:r>
          </a:p>
          <a:p>
            <a:r>
              <a:rPr lang="pt-BR" dirty="0"/>
              <a:t>Pequenas mudanças na amostra geram grandes mudanças na função estimada.</a:t>
            </a:r>
          </a:p>
          <a:p>
            <a:r>
              <a:rPr lang="pt-BR" dirty="0"/>
              <a:t>Ele aprende não apenas o padrão real, mas também o ruído específico daquele conjunto de dados.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298970467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subajuste (underfitting) é um problema que ocorre quando um modelo de rede neural não é capaz de capturar adequadamente os padrões e relações presentes nos dados de treinamento. Isso resulta em um modelo que não consegue se adaptar aos dados de forma suficientemente precisa, levando a um desempenho insatisfatório tanto nos dados de treinamento quanto nos dados de validação/teste. Em outras palavras, o modelo é muito simplificado para representar a complexidade dos dados.</a:t>
            </a:r>
          </a:p>
          <a:p>
            <a:pPr algn="l"/>
            <a:r>
              <a:rPr lang="pt-BR" b="0" i="0" dirty="0">
                <a:solidFill>
                  <a:srgbClr val="374151"/>
                </a:solidFill>
                <a:effectLst/>
                <a:latin typeface="Söhne"/>
              </a:rPr>
              <a:t>Características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Desempenho Baixo:</a:t>
            </a:r>
            <a:r>
              <a:rPr lang="pt-BR" b="0" i="0" dirty="0">
                <a:solidFill>
                  <a:srgbClr val="374151"/>
                </a:solidFill>
                <a:effectLst/>
                <a:latin typeface="Söhne"/>
              </a:rPr>
              <a:t> O modelo terá uma baixa precisão e desempenho geral, tanto nos dados de treinamento quanto nos dados de validação/teste.</a:t>
            </a:r>
          </a:p>
          <a:p>
            <a:pPr algn="l">
              <a:buFont typeface="+mj-lt"/>
              <a:buAutoNum type="arabicPeriod"/>
            </a:pPr>
            <a:r>
              <a:rPr lang="pt-BR" b="1" i="0" dirty="0">
                <a:solidFill>
                  <a:srgbClr val="374151"/>
                </a:solidFill>
                <a:effectLst/>
                <a:latin typeface="Söhne"/>
              </a:rPr>
              <a:t>Erro de Treinamento Elevado:</a:t>
            </a:r>
            <a:r>
              <a:rPr lang="pt-BR" b="0" i="0" dirty="0">
                <a:solidFill>
                  <a:srgbClr val="374151"/>
                </a:solidFill>
                <a:effectLst/>
                <a:latin typeface="Söhne"/>
              </a:rPr>
              <a:t> O erro de treinamento será relativamente alto, indicando que o modelo não consegue ajustar os dados de treinamento com precisão.</a:t>
            </a:r>
          </a:p>
          <a:p>
            <a:pPr algn="l">
              <a:buFont typeface="+mj-lt"/>
              <a:buAutoNum type="arabicPeriod"/>
            </a:pPr>
            <a:r>
              <a:rPr lang="pt-BR" b="1" i="0" dirty="0">
                <a:solidFill>
                  <a:srgbClr val="374151"/>
                </a:solidFill>
                <a:effectLst/>
                <a:latin typeface="Söhne"/>
              </a:rPr>
              <a:t>Baixa Complexidade:</a:t>
            </a:r>
            <a:r>
              <a:rPr lang="pt-BR" b="0" i="0" dirty="0">
                <a:solidFill>
                  <a:srgbClr val="374151"/>
                </a:solidFill>
                <a:effectLst/>
                <a:latin typeface="Söhne"/>
              </a:rPr>
              <a:t> Modelos </a:t>
            </a:r>
            <a:r>
              <a:rPr lang="pt-BR" b="0" i="0" dirty="0" err="1">
                <a:solidFill>
                  <a:srgbClr val="374151"/>
                </a:solidFill>
                <a:effectLst/>
                <a:latin typeface="Söhne"/>
              </a:rPr>
              <a:t>subajustados</a:t>
            </a:r>
            <a:r>
              <a:rPr lang="pt-BR" b="0" i="0" dirty="0">
                <a:solidFill>
                  <a:srgbClr val="374151"/>
                </a:solidFill>
                <a:effectLst/>
                <a:latin typeface="Söhne"/>
              </a:rPr>
              <a:t> costumam ser muito simples, com poucos parâmetros ou camadas, o que os torna incapazes de representar as nuances complexas dos dados.</a:t>
            </a:r>
          </a:p>
          <a:p>
            <a:pPr algn="l">
              <a:buFont typeface="+mj-lt"/>
              <a:buAutoNum type="arabicPeriod"/>
            </a:pPr>
            <a:r>
              <a:rPr lang="pt-BR" b="1" i="0" dirty="0">
                <a:solidFill>
                  <a:srgbClr val="374151"/>
                </a:solidFill>
                <a:effectLst/>
                <a:latin typeface="Söhne"/>
              </a:rPr>
              <a:t>Incapacidade de Generalização:</a:t>
            </a:r>
            <a:r>
              <a:rPr lang="pt-BR" b="0" i="0" dirty="0">
                <a:solidFill>
                  <a:srgbClr val="374151"/>
                </a:solidFill>
                <a:effectLst/>
                <a:latin typeface="Söhne"/>
              </a:rPr>
              <a:t> Como o modelo não consegue capturar os padrões nos dados, ele terá dificuldade em generalizar para novos dados que não foram vistos durante o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326650956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Modelo Muito Simples:</a:t>
            </a:r>
            <a:r>
              <a:rPr lang="pt-BR" b="0" i="0" dirty="0">
                <a:solidFill>
                  <a:srgbClr val="374151"/>
                </a:solidFill>
                <a:effectLst/>
                <a:latin typeface="Söhne"/>
              </a:rPr>
              <a:t> Se o modelo for muito básico em relação à complexidade dos dados, ele não terá capacidade para se ajustar adequadamente.</a:t>
            </a:r>
          </a:p>
          <a:p>
            <a:pPr algn="l">
              <a:buFont typeface="+mj-lt"/>
              <a:buAutoNum type="arabicPeriod"/>
            </a:pPr>
            <a:r>
              <a:rPr lang="pt-BR" b="1" i="0" dirty="0">
                <a:solidFill>
                  <a:srgbClr val="374151"/>
                </a:solidFill>
                <a:effectLst/>
                <a:latin typeface="Söhne"/>
              </a:rPr>
              <a:t>Dificuldade de Representação:</a:t>
            </a:r>
            <a:r>
              <a:rPr lang="pt-BR" b="0" i="0" dirty="0">
                <a:solidFill>
                  <a:srgbClr val="374151"/>
                </a:solidFill>
                <a:effectLst/>
                <a:latin typeface="Söhne"/>
              </a:rPr>
              <a:t> Algumas redes neurais podem não ter camadas ou neurônios suficientes para representar a complexidade dos dados.</a:t>
            </a:r>
          </a:p>
          <a:p>
            <a:pPr algn="l">
              <a:buFont typeface="+mj-lt"/>
              <a:buAutoNum type="arabicPeriod"/>
            </a:pPr>
            <a:r>
              <a:rPr lang="pt-BR" b="1" i="0" dirty="0">
                <a:solidFill>
                  <a:srgbClr val="374151"/>
                </a:solidFill>
                <a:effectLst/>
                <a:latin typeface="Söhne"/>
              </a:rPr>
              <a:t>Poucas Épocas de Treinamento:</a:t>
            </a:r>
            <a:r>
              <a:rPr lang="pt-BR" b="0" i="0" dirty="0">
                <a:solidFill>
                  <a:srgbClr val="374151"/>
                </a:solidFill>
                <a:effectLst/>
                <a:latin typeface="Söhne"/>
              </a:rPr>
              <a:t> Um treinamento insuficiente pode resultar em </a:t>
            </a:r>
            <a:r>
              <a:rPr lang="pt-BR" b="0" i="0" dirty="0" err="1">
                <a:solidFill>
                  <a:srgbClr val="374151"/>
                </a:solidFill>
                <a:effectLst/>
                <a:latin typeface="Söhne"/>
              </a:rPr>
              <a:t>subajuste</a:t>
            </a:r>
            <a:r>
              <a:rPr lang="pt-BR" b="0" i="0" dirty="0">
                <a:solidFill>
                  <a:srgbClr val="374151"/>
                </a:solidFill>
                <a:effectLst/>
                <a:latin typeface="Söhne"/>
              </a:rPr>
              <a:t>, pois o modelo não teve oportunidade de aprender os padrões nos dados.</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não ser capaz de aprender com eficácia as características relevantes.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254345765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a Complexidade do Modelo:</a:t>
            </a:r>
            <a:r>
              <a:rPr lang="pt-BR" b="0" i="0" dirty="0">
                <a:solidFill>
                  <a:srgbClr val="374151"/>
                </a:solidFill>
                <a:effectLst/>
                <a:latin typeface="Söhne"/>
              </a:rPr>
              <a:t> Adicionar mais camadas ou neurônios ao modelo pode ajudar a aumentar sua capacidade de representação.</a:t>
            </a:r>
          </a:p>
          <a:p>
            <a:pPr algn="l">
              <a:buFont typeface="+mj-lt"/>
              <a:buAutoNum type="arabicPeriod"/>
            </a:pPr>
            <a:r>
              <a:rPr lang="pt-BR" b="1" i="0" dirty="0">
                <a:solidFill>
                  <a:srgbClr val="374151"/>
                </a:solidFill>
                <a:effectLst/>
                <a:latin typeface="Söhne"/>
              </a:rPr>
              <a:t>Treinar por Mais Épocas:</a:t>
            </a:r>
            <a:r>
              <a:rPr lang="pt-BR" b="0" i="0" dirty="0">
                <a:solidFill>
                  <a:srgbClr val="374151"/>
                </a:solidFill>
                <a:effectLst/>
                <a:latin typeface="Söhne"/>
              </a:rPr>
              <a:t> Treinar o modelo por mais épocas pode permitir que ele se ajuste melhor aos dados. No entanto, é importante monitorar o desempenho nos dados de validação para evitar </a:t>
            </a:r>
            <a:r>
              <a:rPr lang="pt-BR" b="0" i="0" dirty="0" err="1">
                <a:solidFill>
                  <a:srgbClr val="374151"/>
                </a:solidFill>
                <a:effectLst/>
                <a:latin typeface="Söhne"/>
              </a:rPr>
              <a:t>overfitting</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Se possível, coletar mais dados de treinamento pode ajudar o modelo a capturar melhor os padrões.</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e L2 </a:t>
            </a:r>
            <a:r>
              <a:rPr lang="pt-BR" b="0" i="0" dirty="0" err="1">
                <a:solidFill>
                  <a:srgbClr val="374151"/>
                </a:solidFill>
                <a:effectLst/>
                <a:latin typeface="Söhne"/>
              </a:rPr>
              <a:t>regularization</a:t>
            </a:r>
            <a:r>
              <a:rPr lang="pt-BR" b="0" i="0" dirty="0">
                <a:solidFill>
                  <a:srgbClr val="374151"/>
                </a:solidFill>
                <a:effectLst/>
                <a:latin typeface="Söhne"/>
              </a:rPr>
              <a:t>, podem ajudar a evitar o </a:t>
            </a:r>
            <a:r>
              <a:rPr lang="pt-BR" b="0" i="0" dirty="0" err="1">
                <a:solidFill>
                  <a:srgbClr val="374151"/>
                </a:solidFill>
                <a:effectLst/>
                <a:latin typeface="Söhne"/>
              </a:rPr>
              <a:t>subajuste</a:t>
            </a:r>
            <a:r>
              <a:rPr lang="pt-BR" b="0" i="0" dirty="0">
                <a:solidFill>
                  <a:srgbClr val="374151"/>
                </a:solidFill>
                <a:effectLst/>
                <a:latin typeface="Söhne"/>
              </a:rPr>
              <a:t> controlando a complexidade do modelo.</a:t>
            </a:r>
          </a:p>
          <a:p>
            <a:pPr algn="l">
              <a:buFont typeface="+mj-lt"/>
              <a:buAutoNum type="arabicPeriod"/>
            </a:pPr>
            <a:r>
              <a:rPr lang="pt-BR" b="1" i="0" dirty="0">
                <a:solidFill>
                  <a:srgbClr val="374151"/>
                </a:solidFill>
                <a:effectLst/>
                <a:latin typeface="Söhne"/>
              </a:rPr>
              <a:t>Ajustar Hiperparâmetros:</a:t>
            </a:r>
            <a:r>
              <a:rPr lang="pt-BR" b="0" i="0" dirty="0">
                <a:solidFill>
                  <a:srgbClr val="374151"/>
                </a:solidFill>
                <a:effectLst/>
                <a:latin typeface="Söhne"/>
              </a:rPr>
              <a:t> Experimentar com diferentes hiperparâmetros, como taxa de aprendizado e tamanho do lote, pode ajudar a melhorar o desempenho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356191413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sobreajuste (</a:t>
            </a:r>
            <a:r>
              <a:rPr lang="pt-BR" b="0" i="0" dirty="0" err="1">
                <a:solidFill>
                  <a:srgbClr val="374151"/>
                </a:solidFill>
                <a:effectLst/>
                <a:latin typeface="Söhne"/>
              </a:rPr>
              <a:t>overfitting</a:t>
            </a:r>
            <a:r>
              <a:rPr lang="pt-BR" b="0" i="0" dirty="0">
                <a:solidFill>
                  <a:srgbClr val="374151"/>
                </a:solidFill>
                <a:effectLst/>
                <a:latin typeface="Söhne"/>
              </a:rPr>
              <a:t>) é um problema comum em redes neurais e em outros modelos de aprendizado de máquina, onde o modelo se ajusta excessivamente aos dados de treinamento e acaba perdendo a capacidade de generalizar para novos dados que não foram vistos durante o treinamento. Em outras palavras, o modelo memoriza os dados de treinamento em vez de aprender padrões gerais.</a:t>
            </a:r>
          </a:p>
          <a:p>
            <a:pPr algn="l"/>
            <a:r>
              <a:rPr lang="pt-BR" b="0" i="0" dirty="0">
                <a:solidFill>
                  <a:srgbClr val="374151"/>
                </a:solidFill>
                <a:effectLst/>
                <a:latin typeface="Söhne"/>
              </a:rPr>
              <a:t>Características do sobreajuste:</a:t>
            </a:r>
          </a:p>
          <a:p>
            <a:pPr algn="l">
              <a:buFont typeface="+mj-lt"/>
              <a:buAutoNum type="arabicPeriod"/>
            </a:pPr>
            <a:r>
              <a:rPr lang="pt-BR" b="1" i="0" dirty="0">
                <a:solidFill>
                  <a:srgbClr val="374151"/>
                </a:solidFill>
                <a:effectLst/>
                <a:latin typeface="Söhne"/>
              </a:rPr>
              <a:t>Desempenho Excelente nos Dados de Treinamento:</a:t>
            </a:r>
            <a:r>
              <a:rPr lang="pt-BR" b="0" i="0" dirty="0">
                <a:solidFill>
                  <a:srgbClr val="374151"/>
                </a:solidFill>
                <a:effectLst/>
                <a:latin typeface="Söhne"/>
              </a:rPr>
              <a:t> O modelo terá um desempenho muito bom nos dados de treinamento, com um erro de treinamento muito baixo.</a:t>
            </a:r>
          </a:p>
          <a:p>
            <a:pPr algn="l">
              <a:buFont typeface="+mj-lt"/>
              <a:buAutoNum type="arabicPeriod"/>
            </a:pPr>
            <a:r>
              <a:rPr lang="pt-BR" b="1" i="0" dirty="0">
                <a:solidFill>
                  <a:srgbClr val="374151"/>
                </a:solidFill>
                <a:effectLst/>
                <a:latin typeface="Söhne"/>
              </a:rPr>
              <a:t>Desempenho Inferior nos Dados de Validação/Teste:</a:t>
            </a:r>
            <a:r>
              <a:rPr lang="pt-BR" b="0" i="0" dirty="0">
                <a:solidFill>
                  <a:srgbClr val="374151"/>
                </a:solidFill>
                <a:effectLst/>
                <a:latin typeface="Söhne"/>
              </a:rPr>
              <a:t> No entanto, o desempenho nos dados de validação ou teste será significativamente pior, com um erro de validação/teste mais alto do que o erro de treinamento.</a:t>
            </a:r>
          </a:p>
          <a:p>
            <a:pPr algn="l">
              <a:buFont typeface="+mj-lt"/>
              <a:buAutoNum type="arabicPeriod"/>
            </a:pPr>
            <a:r>
              <a:rPr lang="pt-BR" b="1" i="0" dirty="0">
                <a:solidFill>
                  <a:srgbClr val="374151"/>
                </a:solidFill>
                <a:effectLst/>
                <a:latin typeface="Söhne"/>
              </a:rPr>
              <a:t>Modelo Complexo:</a:t>
            </a:r>
            <a:r>
              <a:rPr lang="pt-BR" b="0" i="0" dirty="0">
                <a:solidFill>
                  <a:srgbClr val="374151"/>
                </a:solidFill>
                <a:effectLst/>
                <a:latin typeface="Söhne"/>
              </a:rPr>
              <a:t> Modelos </a:t>
            </a:r>
            <a:r>
              <a:rPr lang="pt-BR" b="0" i="0" dirty="0" err="1">
                <a:solidFill>
                  <a:srgbClr val="374151"/>
                </a:solidFill>
                <a:effectLst/>
                <a:latin typeface="Söhne"/>
              </a:rPr>
              <a:t>sobreajustados</a:t>
            </a:r>
            <a:r>
              <a:rPr lang="pt-BR" b="0" i="0" dirty="0">
                <a:solidFill>
                  <a:srgbClr val="374151"/>
                </a:solidFill>
                <a:effectLst/>
                <a:latin typeface="Söhne"/>
              </a:rPr>
              <a:t> tendem a ser muito complexos, com muitos parâmetros e camadas.</a:t>
            </a:r>
          </a:p>
          <a:p>
            <a:pPr algn="l">
              <a:buFont typeface="+mj-lt"/>
              <a:buAutoNum type="arabicPeriod"/>
            </a:pPr>
            <a:r>
              <a:rPr lang="pt-BR" b="1" i="0" dirty="0">
                <a:solidFill>
                  <a:srgbClr val="374151"/>
                </a:solidFill>
                <a:effectLst/>
                <a:latin typeface="Söhne"/>
              </a:rPr>
              <a:t>Sensibilidade a Ruídos:</a:t>
            </a:r>
            <a:r>
              <a:rPr lang="pt-BR" b="0" i="0" dirty="0">
                <a:solidFill>
                  <a:srgbClr val="374151"/>
                </a:solidFill>
                <a:effectLst/>
                <a:latin typeface="Söhne"/>
              </a:rPr>
              <a:t> O modelo pode se tornar sensível a pequenas variações nos dados de treinamento, incluindo ruídos.</a:t>
            </a:r>
          </a:p>
          <a:p>
            <a:pPr algn="l">
              <a:buFont typeface="+mj-lt"/>
              <a:buAutoNum type="arabicPeriod"/>
            </a:pPr>
            <a:r>
              <a:rPr lang="pt-BR" b="1" i="0" dirty="0">
                <a:solidFill>
                  <a:srgbClr val="374151"/>
                </a:solidFill>
                <a:effectLst/>
                <a:latin typeface="Söhne"/>
              </a:rPr>
              <a:t>Padronização Anormal:</a:t>
            </a:r>
            <a:r>
              <a:rPr lang="pt-BR" b="0" i="0" dirty="0">
                <a:solidFill>
                  <a:srgbClr val="374151"/>
                </a:solidFill>
                <a:effectLst/>
                <a:latin typeface="Söhne"/>
              </a:rPr>
              <a:t> O modelo pode aprender padrões que são específicos dos dados de treinamento, mas não são generalizáveis.</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310161094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sobreajuste:</a:t>
            </a:r>
          </a:p>
          <a:p>
            <a:pPr algn="l">
              <a:buFont typeface="+mj-lt"/>
              <a:buAutoNum type="arabicPeriod"/>
            </a:pPr>
            <a:r>
              <a:rPr lang="pt-BR" b="1" i="0" dirty="0">
                <a:solidFill>
                  <a:srgbClr val="374151"/>
                </a:solidFill>
                <a:effectLst/>
                <a:latin typeface="Söhne"/>
              </a:rPr>
              <a:t>Modelo Muito Complexo:</a:t>
            </a:r>
            <a:r>
              <a:rPr lang="pt-BR" b="0" i="0" dirty="0">
                <a:solidFill>
                  <a:srgbClr val="374151"/>
                </a:solidFill>
                <a:effectLst/>
                <a:latin typeface="Söhne"/>
              </a:rPr>
              <a:t> Se o modelo for muito complexo em relação à quantidade de dados disponíveis, ele pode aprender a representar o ruído nos dados de treinamento.</a:t>
            </a:r>
          </a:p>
          <a:p>
            <a:pPr algn="l">
              <a:buFont typeface="+mj-lt"/>
              <a:buAutoNum type="arabicPeriod"/>
            </a:pPr>
            <a:r>
              <a:rPr lang="pt-BR" b="1" i="0" dirty="0">
                <a:solidFill>
                  <a:srgbClr val="374151"/>
                </a:solidFill>
                <a:effectLst/>
                <a:latin typeface="Söhne"/>
              </a:rPr>
              <a:t>Treinamento Excessivo:</a:t>
            </a:r>
            <a:r>
              <a:rPr lang="pt-BR" b="0" i="0" dirty="0">
                <a:solidFill>
                  <a:srgbClr val="374151"/>
                </a:solidFill>
                <a:effectLst/>
                <a:latin typeface="Söhne"/>
              </a:rPr>
              <a:t> Treinar o modelo por muitas épocas ou permitir que ele veja os mesmos dados várias vezes pode levar ao memorização dos dados de treinamento.</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ser mais propenso a sobreajuste, pois tem menos exemplos para aprender padrões gerais.</a:t>
            </a:r>
          </a:p>
          <a:p>
            <a:pPr algn="l">
              <a:buFont typeface="+mj-lt"/>
              <a:buAutoNum type="arabicPeriod"/>
            </a:pPr>
            <a:r>
              <a:rPr lang="pt-BR" b="1" i="0" dirty="0">
                <a:solidFill>
                  <a:srgbClr val="374151"/>
                </a:solidFill>
                <a:effectLst/>
                <a:latin typeface="Söhne"/>
              </a:rPr>
              <a:t>Ausência de Regularização:</a:t>
            </a:r>
            <a:r>
              <a:rPr lang="pt-BR" b="0" i="0" dirty="0">
                <a:solidFill>
                  <a:srgbClr val="374151"/>
                </a:solidFill>
                <a:effectLst/>
                <a:latin typeface="Söhne"/>
              </a:rPr>
              <a:t> A falta de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L2 </a:t>
            </a:r>
            <a:r>
              <a:rPr lang="pt-BR" b="0" i="0" dirty="0" err="1">
                <a:solidFill>
                  <a:srgbClr val="374151"/>
                </a:solidFill>
                <a:effectLst/>
                <a:latin typeface="Söhne"/>
              </a:rPr>
              <a:t>regularization</a:t>
            </a:r>
            <a:r>
              <a:rPr lang="pt-BR" b="0" i="0" dirty="0">
                <a:solidFill>
                  <a:srgbClr val="374151"/>
                </a:solidFill>
                <a:effectLst/>
                <a:latin typeface="Söhne"/>
              </a:rPr>
              <a:t> ou data </a:t>
            </a:r>
            <a:r>
              <a:rPr lang="pt-BR" b="0" i="0" dirty="0" err="1">
                <a:solidFill>
                  <a:srgbClr val="374151"/>
                </a:solidFill>
                <a:effectLst/>
                <a:latin typeface="Söhne"/>
              </a:rPr>
              <a:t>augmentation</a:t>
            </a:r>
            <a:r>
              <a:rPr lang="pt-BR" b="0" i="0" dirty="0">
                <a:solidFill>
                  <a:srgbClr val="374151"/>
                </a:solidFill>
                <a:effectLst/>
                <a:latin typeface="Söhne"/>
              </a:rPr>
              <a:t>, pode permitir que o modelo se ajuste excessivamente aos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312838055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sobreajuste:</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Utilizar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(desativação aleatória de neurônios durante o treinamento), L2 </a:t>
            </a:r>
            <a:r>
              <a:rPr lang="pt-BR" b="0" i="0" dirty="0" err="1">
                <a:solidFill>
                  <a:srgbClr val="374151"/>
                </a:solidFill>
                <a:effectLst/>
                <a:latin typeface="Söhne"/>
              </a:rPr>
              <a:t>regularization</a:t>
            </a:r>
            <a:r>
              <a:rPr lang="pt-BR" b="0" i="0" dirty="0">
                <a:solidFill>
                  <a:srgbClr val="374151"/>
                </a:solidFill>
                <a:effectLst/>
                <a:latin typeface="Söhne"/>
              </a:rPr>
              <a:t> (penalização dos valores dos parâmetros) e Batch </a:t>
            </a:r>
            <a:r>
              <a:rPr lang="pt-BR" b="0" i="0" dirty="0" err="1">
                <a:solidFill>
                  <a:srgbClr val="374151"/>
                </a:solidFill>
                <a:effectLst/>
                <a:latin typeface="Söhne"/>
              </a:rPr>
              <a:t>Normalization</a:t>
            </a:r>
            <a:r>
              <a:rPr lang="pt-BR" b="0" i="0" dirty="0">
                <a:solidFill>
                  <a:srgbClr val="374151"/>
                </a:solidFill>
                <a:effectLst/>
                <a:latin typeface="Söhne"/>
              </a:rPr>
              <a:t>, pode ajudar a controlar a complexidade do modelo.</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Coletar mais dados de treinamento pode reduzir o risco de sobreajuste, pois o modelo terá mais exemplos para aprender padrões.</a:t>
            </a:r>
          </a:p>
          <a:p>
            <a:pPr algn="l">
              <a:buFont typeface="+mj-lt"/>
              <a:buAutoNum type="arabicPeriod"/>
            </a:pPr>
            <a:r>
              <a:rPr lang="pt-BR" b="1" i="0" dirty="0">
                <a:solidFill>
                  <a:srgbClr val="374151"/>
                </a:solidFill>
                <a:effectLst/>
                <a:latin typeface="Söhne"/>
              </a:rPr>
              <a:t>Validação Cruzada:</a:t>
            </a:r>
            <a:r>
              <a:rPr lang="pt-BR" b="0" i="0" dirty="0">
                <a:solidFill>
                  <a:srgbClr val="374151"/>
                </a:solidFill>
                <a:effectLst/>
                <a:latin typeface="Söhne"/>
              </a:rPr>
              <a:t> Utilizar validação cruzada pode ajudar a avaliar o desempenho do modelo em diferentes conjuntos de dados e identificar quando ele está </a:t>
            </a:r>
            <a:r>
              <a:rPr lang="pt-BR" b="0" i="0" dirty="0" err="1">
                <a:solidFill>
                  <a:srgbClr val="374151"/>
                </a:solidFill>
                <a:effectLst/>
                <a:latin typeface="Söhne"/>
              </a:rPr>
              <a:t>sobreajustando</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Monitoramento do Desempenho:</a:t>
            </a:r>
            <a:r>
              <a:rPr lang="pt-BR" b="0" i="0" dirty="0">
                <a:solidFill>
                  <a:srgbClr val="374151"/>
                </a:solidFill>
                <a:effectLst/>
                <a:latin typeface="Söhne"/>
              </a:rPr>
              <a:t> Acompanhar o desempenho do modelo nos dados de treinamento e de validação/teste pode ajudar a identificar quando o sobreajuste está ocorrendo.</a:t>
            </a:r>
          </a:p>
          <a:p>
            <a:pPr algn="l">
              <a:buFont typeface="+mj-lt"/>
              <a:buAutoNum type="arabicPeriod"/>
            </a:pPr>
            <a:r>
              <a:rPr lang="pt-BR" b="1" i="0" dirty="0">
                <a:solidFill>
                  <a:srgbClr val="374151"/>
                </a:solidFill>
                <a:effectLst/>
                <a:latin typeface="Söhne"/>
              </a:rPr>
              <a:t>Simplificar o Modelo:</a:t>
            </a:r>
            <a:r>
              <a:rPr lang="pt-BR" b="0" i="0" dirty="0">
                <a:solidFill>
                  <a:srgbClr val="374151"/>
                </a:solidFill>
                <a:effectLst/>
                <a:latin typeface="Söhne"/>
              </a:rPr>
              <a:t> Reduzir a complexidade do modelo, removendo camadas ou neurônios, pode ajudar a prevenir o sobreajuste.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114939456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69</a:t>
            </a:fld>
            <a:endParaRPr lang="pt-BR"/>
          </a:p>
        </p:txBody>
      </p:sp>
    </p:spTree>
    <p:extLst>
      <p:ext uri="{BB962C8B-B14F-4D97-AF65-F5344CB8AC3E}">
        <p14:creationId xmlns:p14="http://schemas.microsoft.com/office/powerpoint/2010/main" val="366717638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forma de </a:t>
            </a:r>
            <a:r>
              <a:rPr lang="pt-BR" b="1" dirty="0">
                <a:solidFill>
                  <a:srgbClr val="00B050"/>
                </a:solidFill>
              </a:rPr>
              <a:t>testar o modelo várias vezes </a:t>
            </a:r>
            <a:r>
              <a:rPr lang="pt-BR" dirty="0"/>
              <a:t>em </a:t>
            </a:r>
            <a:r>
              <a:rPr lang="pt-BR" b="1" dirty="0">
                <a:solidFill>
                  <a:srgbClr val="00B050"/>
                </a:solidFill>
              </a:rPr>
              <a:t>diferentes divisões dos dados</a:t>
            </a:r>
            <a:r>
              <a:rPr lang="pt-BR" dirty="0"/>
              <a:t> para obter uma </a:t>
            </a:r>
            <a:r>
              <a:rPr lang="pt-BR" b="1" dirty="0">
                <a:solidFill>
                  <a:schemeClr val="accent2"/>
                </a:solidFill>
              </a:rPr>
              <a:t>avaliação robusta da sua capacidade de generalização</a:t>
            </a:r>
            <a:r>
              <a:rPr lang="pt-BR" dirty="0"/>
              <a:t>.</a:t>
            </a:r>
          </a:p>
          <a:p>
            <a:endParaRPr lang="pt-BR" dirty="0"/>
          </a:p>
          <a:p>
            <a:endParaRPr lang="pt-BR" dirty="0"/>
          </a:p>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70</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71</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72</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73</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74</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F8D4E-93FF-2CEE-F304-EFF1ECCB4CC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8C5B482-0D08-D7C1-40A0-E159FB91CD13}"/>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87FC07-F080-71AF-E508-D23EB2EF72A4}"/>
              </a:ext>
            </a:extLst>
          </p:cNvPr>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a:extLst>
              <a:ext uri="{FF2B5EF4-FFF2-40B4-BE49-F238E27FC236}">
                <a16:creationId xmlns:a16="http://schemas.microsoft.com/office/drawing/2014/main" id="{F4876685-75FD-D2D5-B8B2-395812A47E16}"/>
              </a:ext>
            </a:extLst>
          </p:cNvPr>
          <p:cNvSpPr>
            <a:spLocks noGrp="1"/>
          </p:cNvSpPr>
          <p:nvPr>
            <p:ph type="sldNum" sz="quarter" idx="5"/>
          </p:nvPr>
        </p:nvSpPr>
        <p:spPr/>
        <p:txBody>
          <a:bodyPr/>
          <a:lstStyle/>
          <a:p>
            <a:fld id="{DA8B99DF-01BC-492A-8CEF-4FD88D18DD9D}" type="slidenum">
              <a:rPr lang="nl-BE" smtClean="0"/>
              <a:t>75</a:t>
            </a:fld>
            <a:endParaRPr lang="nl-BE"/>
          </a:p>
        </p:txBody>
      </p:sp>
    </p:spTree>
    <p:extLst>
      <p:ext uri="{BB962C8B-B14F-4D97-AF65-F5344CB8AC3E}">
        <p14:creationId xmlns:p14="http://schemas.microsoft.com/office/powerpoint/2010/main" val="335043353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figura mostra um modelo com número de amostras de treinamento muito maior do que sua complexidade.</a:t>
            </a:r>
          </a:p>
          <a:p>
            <a:endParaRPr lang="pt-BR" dirty="0"/>
          </a:p>
          <a:p>
            <a:r>
              <a:rPr lang="pt-BR" b="0" i="0" dirty="0">
                <a:solidFill>
                  <a:srgbClr val="374151"/>
                </a:solidFill>
                <a:effectLst/>
                <a:latin typeface="Söhne"/>
              </a:rPr>
              <a:t>No entanto, é importante ressaltar que o princípio da navalha de </a:t>
            </a:r>
            <a:r>
              <a:rPr lang="pt-BR" b="0" i="0" dirty="0" err="1">
                <a:solidFill>
                  <a:srgbClr val="374151"/>
                </a:solidFill>
                <a:effectLst/>
                <a:latin typeface="Söhne"/>
              </a:rPr>
              <a:t>Occam</a:t>
            </a:r>
            <a:r>
              <a:rPr lang="pt-BR" b="0" i="0" dirty="0">
                <a:solidFill>
                  <a:srgbClr val="374151"/>
                </a:solidFill>
                <a:effectLst/>
                <a:latin typeface="Söhne"/>
              </a:rPr>
              <a:t> não é uma regra absoluta, mas sim uma orientação heurística. Em certos casos, explicações mais complexas podem ser necessárias para capturar toda a complexidade do fenômeno estudado. Portanto, a aplicação do princípio requer um equilíbrio cuidadoso entre simplicidade e adequação à realidade observada.</a:t>
            </a:r>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77</a:t>
            </a:fld>
            <a:endParaRPr lang="nl-BE"/>
          </a:p>
        </p:txBody>
      </p:sp>
    </p:spTree>
    <p:extLst>
      <p:ext uri="{BB962C8B-B14F-4D97-AF65-F5344CB8AC3E}">
        <p14:creationId xmlns:p14="http://schemas.microsoft.com/office/powerpoint/2010/main" val="66061865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Sobreajuste_e_early_stop.ipynb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early</a:t>
            </a:r>
            <a:r>
              <a:rPr lang="pt-BR" dirty="0"/>
              <a:t> stopping" (parada antecipada) é uma técnica de regularização utilizada em treinamento de redes neurais para evitar o sobreajuste e encontrar um ponto ótimo de convergência durante o treinamento. A ideia fundamental por trás do </a:t>
            </a:r>
            <a:r>
              <a:rPr lang="pt-BR" dirty="0" err="1"/>
              <a:t>early</a:t>
            </a:r>
            <a:r>
              <a:rPr lang="pt-BR" dirty="0"/>
              <a:t> stopping é interromper o treinamento do modelo assim que o desempenho em um conjunto de validação começa a piorar, em vez de continuar até que o modelo se ajuste demais aos dados de treinamento. Aqui está como o </a:t>
            </a:r>
            <a:r>
              <a:rPr lang="pt-BR" dirty="0" err="1"/>
              <a:t>early</a:t>
            </a:r>
            <a:r>
              <a:rPr lang="pt-BR" dirty="0"/>
              <a:t> stopping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**Conjunto de Treinamento e Conjunto de Validação**: Durante o treinamento de uma rede neural, geralmente divide-se o conjunto de dados em dois subconjuntos: um conjunto de treinamento usado para atualizar os pesos do modelo e um conjunto de validação usado para avaliar o desempenho do modelo em dados não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**Monitoramento de Métricas**: À medida que o treinamento progride, as métricas de desempenho, como erro ou precisão, são calculadas regularmente no conjunto de validação. Essas métricas fornecem uma indicação de quão bem o modelo está generalizando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**Critério de Parada**: O critério de parada é uma métrica escolhida com base no problema e nas metas do treinamento. Pode ser o erro de validação, a precisão ou qualquer outra métrica relevante. O treinamento é interrompido quando a métrica de validação não melhora mais ou começa a piorar.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**Recuperação do Melhor Modelo**: Ao interromper o treinamento, o modelo é revertido para o ponto em que obteve o melhor desempenho no conjunto de validação. Esse modelo é então usado para inferência e avaliação em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Os benefícios do </a:t>
            </a:r>
            <a:r>
              <a:rPr lang="pt-BR" dirty="0" err="1"/>
              <a:t>early</a:t>
            </a:r>
            <a:r>
              <a:rPr lang="pt-BR" dirty="0"/>
              <a:t> stopping incluem: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Evita o sobreajuste: Ao interromper o treinamento antes que o modelo se ajuste demais aos dados de treinamento, o </a:t>
            </a:r>
            <a:r>
              <a:rPr lang="pt-BR" dirty="0" err="1"/>
              <a:t>early</a:t>
            </a:r>
            <a:r>
              <a:rPr lang="pt-BR" dirty="0"/>
              <a:t> stopping ajuda a obter modelos mais generalizados e melhores em dados de teste não vistos.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Economiza tempo e recursos computacionais: O treinamento de redes neurais pode ser computacionalmente intensivo, e o </a:t>
            </a:r>
            <a:r>
              <a:rPr lang="pt-BR" dirty="0" err="1"/>
              <a:t>early</a:t>
            </a:r>
            <a:r>
              <a:rPr lang="pt-BR" dirty="0"/>
              <a:t> stopping pode ajudar a economizar tempo e recursos interrompendo o treinamento assim que não houver mais ganho significativo no desempenho.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Melhora a robustez: Modelos treinados com </a:t>
            </a:r>
            <a:r>
              <a:rPr lang="pt-BR" dirty="0" err="1"/>
              <a:t>early</a:t>
            </a:r>
            <a:r>
              <a:rPr lang="pt-BR" dirty="0"/>
              <a:t> stopping tendem a ser mais robustos e menos sensíveis a variações nos dados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importante ajustar o critério de parada, monitorar regularmente as métricas de validação e implementar o </a:t>
            </a:r>
            <a:r>
              <a:rPr lang="pt-BR" dirty="0" err="1"/>
              <a:t>early</a:t>
            </a:r>
            <a:r>
              <a:rPr lang="pt-BR" dirty="0"/>
              <a:t> stopping de maneira adequada para obter os melhores resultados. O </a:t>
            </a:r>
            <a:r>
              <a:rPr lang="pt-BR" dirty="0" err="1"/>
              <a:t>early</a:t>
            </a:r>
            <a:r>
              <a:rPr lang="pt-BR" dirty="0"/>
              <a:t> stopping é uma técnica eficaz, especialmente quando o conjunto de dados é limitado e não é possível coletar mais dados para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79</a:t>
            </a:fld>
            <a:endParaRPr lang="pt-BR"/>
          </a:p>
        </p:txBody>
      </p:sp>
    </p:spTree>
    <p:extLst>
      <p:ext uri="{BB962C8B-B14F-4D97-AF65-F5344CB8AC3E}">
        <p14:creationId xmlns:p14="http://schemas.microsoft.com/office/powerpoint/2010/main" val="166290136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Sobreajuste_e_early_stop.ipynb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early</a:t>
            </a:r>
            <a:r>
              <a:rPr lang="pt-BR" dirty="0"/>
              <a:t> stopping" (parada antecipada) é uma técnica de regularização utilizada em treinamento de redes neurais para evitar o sobreajuste e encontrar um ponto ótimo de convergência durante o treinamento. A ideia fundamental por trás do </a:t>
            </a:r>
            <a:r>
              <a:rPr lang="pt-BR" dirty="0" err="1"/>
              <a:t>early</a:t>
            </a:r>
            <a:r>
              <a:rPr lang="pt-BR" dirty="0"/>
              <a:t> stopping é interromper o treinamento do modelo assim que o desempenho em um conjunto de validação começa a piorar, em vez de continuar até que o modelo se ajuste demais aos dados de treinamento. Aqui está como o </a:t>
            </a:r>
            <a:r>
              <a:rPr lang="pt-BR" dirty="0" err="1"/>
              <a:t>early</a:t>
            </a:r>
            <a:r>
              <a:rPr lang="pt-BR" dirty="0"/>
              <a:t> stopping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**Conjunto de Treinamento e Conjunto de Validação**: Durante o treinamento de uma rede neural, geralmente divide-se o conjunto de dados em dois subconjuntos: um conjunto de treinamento usado para atualizar os pesos do modelo e um conjunto de validação usado para avaliar o desempenho do modelo em dados não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**Monitoramento de Métricas**: À medida que o treinamento progride, as métricas de desempenho, como erro ou precisão, são calculadas regularmente no conjunto de validação. Essas métricas fornecem uma indicação de quão bem o modelo está generalizando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**Critério de Parada**: O critério de parada é uma métrica escolhida com base no problema e nas metas do treinamento. Pode ser o erro de validação, a precisão ou qualquer outra métrica relevante. O treinamento é interrompido quando a métrica de validação não melhora mais ou começa a piorar.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**Recuperação do Melhor Modelo**: Ao interromper o treinamento, o modelo é revertido para o ponto em que obteve o melhor desempenho no conjunto de validação. Esse modelo é então usado para inferência e avaliação em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Os benefícios do </a:t>
            </a:r>
            <a:r>
              <a:rPr lang="pt-BR" dirty="0" err="1"/>
              <a:t>early</a:t>
            </a:r>
            <a:r>
              <a:rPr lang="pt-BR" dirty="0"/>
              <a:t> stopping incluem: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Evita o sobreajuste: Ao interromper o treinamento antes que o modelo se ajuste demais aos dados de treinamento, o </a:t>
            </a:r>
            <a:r>
              <a:rPr lang="pt-BR" dirty="0" err="1"/>
              <a:t>early</a:t>
            </a:r>
            <a:r>
              <a:rPr lang="pt-BR" dirty="0"/>
              <a:t> stopping ajuda a obter modelos mais generalizados e melhores em dados de teste não vistos.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Economiza tempo e recursos computacionais: O treinamento de redes neurais pode ser computacionalmente intensivo, e o </a:t>
            </a:r>
            <a:r>
              <a:rPr lang="pt-BR" dirty="0" err="1"/>
              <a:t>early</a:t>
            </a:r>
            <a:r>
              <a:rPr lang="pt-BR" dirty="0"/>
              <a:t> stopping pode ajudar a economizar tempo e recursos interrompendo o treinamento assim que não houver mais ganho significativo no desempenho.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Melhora a robustez: Modelos treinados com </a:t>
            </a:r>
            <a:r>
              <a:rPr lang="pt-BR" dirty="0" err="1"/>
              <a:t>early</a:t>
            </a:r>
            <a:r>
              <a:rPr lang="pt-BR" dirty="0"/>
              <a:t> stopping tendem a ser mais robustos e menos sensíveis a variações nos dados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importante ajustar o critério de parada, monitorar regularmente as métricas de validação e implementar o </a:t>
            </a:r>
            <a:r>
              <a:rPr lang="pt-BR" dirty="0" err="1"/>
              <a:t>early</a:t>
            </a:r>
            <a:r>
              <a:rPr lang="pt-BR" dirty="0"/>
              <a:t> stopping de maneira adequada para obter os melhores resultados. O </a:t>
            </a:r>
            <a:r>
              <a:rPr lang="pt-BR" dirty="0" err="1"/>
              <a:t>early</a:t>
            </a:r>
            <a:r>
              <a:rPr lang="pt-BR" dirty="0"/>
              <a:t> stopping é uma técnica eficaz, especialmente quando o conjunto de dados é limitado e não é possível coletar mais dados para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80</a:t>
            </a:fld>
            <a:endParaRPr lang="pt-BR"/>
          </a:p>
        </p:txBody>
      </p:sp>
    </p:spTree>
    <p:extLst>
      <p:ext uri="{BB962C8B-B14F-4D97-AF65-F5344CB8AC3E}">
        <p14:creationId xmlns:p14="http://schemas.microsoft.com/office/powerpoint/2010/main" val="67477597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81</a:t>
            </a:fld>
            <a:endParaRPr lang="pt-BR"/>
          </a:p>
        </p:txBody>
      </p:sp>
    </p:spTree>
    <p:extLst>
      <p:ext uri="{BB962C8B-B14F-4D97-AF65-F5344CB8AC3E}">
        <p14:creationId xmlns:p14="http://schemas.microsoft.com/office/powerpoint/2010/main" val="177414423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err="1">
                <a:effectLst/>
                <a:latin typeface="Söhne"/>
              </a:rPr>
              <a:t>Mean</a:t>
            </a:r>
            <a:r>
              <a:rPr lang="pt-BR" b="1" i="0" dirty="0">
                <a:effectLst/>
                <a:latin typeface="Söhne"/>
              </a:rPr>
              <a:t> </a:t>
            </a:r>
            <a:r>
              <a:rPr lang="pt-BR" b="1" i="0" dirty="0" err="1">
                <a:effectLst/>
                <a:latin typeface="Söhne"/>
              </a:rPr>
              <a:t>Squared</a:t>
            </a:r>
            <a:r>
              <a:rPr lang="pt-BR" b="1" i="0" dirty="0">
                <a:effectLst/>
                <a:latin typeface="Söhne"/>
              </a:rPr>
              <a:t> </a:t>
            </a:r>
            <a:r>
              <a:rPr lang="pt-BR" b="1" i="0" dirty="0" err="1">
                <a:effectLst/>
                <a:latin typeface="Söhne"/>
              </a:rPr>
              <a:t>Error</a:t>
            </a:r>
            <a:r>
              <a:rPr lang="pt-BR" b="1" i="0" dirty="0">
                <a:effectLst/>
                <a:latin typeface="Söhne"/>
              </a:rPr>
              <a:t> (MSE):</a:t>
            </a:r>
            <a:r>
              <a:rPr lang="pt-BR" b="0" i="0" dirty="0">
                <a:solidFill>
                  <a:srgbClr val="374151"/>
                </a:solidFill>
                <a:effectLst/>
                <a:latin typeface="Söhne"/>
              </a:rPr>
              <a:t> O MSE é a escolha tradicional para problemas de regressão. Ele calcula a média dos quadrados das diferenças entre as previsões do modelo e os valores reais. O MSE penaliza mais erros maiores, o que pode ser útil se você deseja que o modelo seja mais sensível a erros maiores. No entanto, como o erro é elevado ao quadrado, o MSE pode amplificar a influência de outliers.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99</a:t>
            </a:fld>
            <a:endParaRPr lang="pt-BR"/>
          </a:p>
        </p:txBody>
      </p:sp>
    </p:spTree>
    <p:extLst>
      <p:ext uri="{BB962C8B-B14F-4D97-AF65-F5344CB8AC3E}">
        <p14:creationId xmlns:p14="http://schemas.microsoft.com/office/powerpoint/2010/main" val="330058680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101</a:t>
            </a:fld>
            <a:endParaRPr lang="nl-BE"/>
          </a:p>
        </p:txBody>
      </p:sp>
    </p:spTree>
    <p:extLst>
      <p:ext uri="{BB962C8B-B14F-4D97-AF65-F5344CB8AC3E}">
        <p14:creationId xmlns:p14="http://schemas.microsoft.com/office/powerpoint/2010/main" val="296001941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102</a:t>
            </a:fld>
            <a:endParaRPr lang="nl-BE"/>
          </a:p>
        </p:txBody>
      </p:sp>
    </p:spTree>
    <p:extLst>
      <p:ext uri="{BB962C8B-B14F-4D97-AF65-F5344CB8AC3E}">
        <p14:creationId xmlns:p14="http://schemas.microsoft.com/office/powerpoint/2010/main" val="37849004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103</a:t>
            </a:fld>
            <a:endParaRPr lang="nl-BE"/>
          </a:p>
        </p:txBody>
      </p:sp>
    </p:spTree>
    <p:extLst>
      <p:ext uri="{BB962C8B-B14F-4D97-AF65-F5344CB8AC3E}">
        <p14:creationId xmlns:p14="http://schemas.microsoft.com/office/powerpoint/2010/main" val="400448278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104</a:t>
            </a:fld>
            <a:endParaRPr lang="nl-BE"/>
          </a:p>
        </p:txBody>
      </p:sp>
    </p:spTree>
    <p:extLst>
      <p:ext uri="{BB962C8B-B14F-4D97-AF65-F5344CB8AC3E}">
        <p14:creationId xmlns:p14="http://schemas.microsoft.com/office/powerpoint/2010/main" val="58572319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sz="1200" b="0" i="1" kern="1200" dirty="0">
                    <a:solidFill>
                      <a:schemeClr val="tx1"/>
                    </a:solidFill>
                    <a:effectLst/>
                    <a:latin typeface="+mn-lt"/>
                    <a:ea typeface="+mn-ea"/>
                    <a:cs typeface="+mn-cs"/>
                  </a:rPr>
                  <a:t>Ridge Regression</a:t>
                </a:r>
                <a:r>
                  <a:rPr lang="en-US" sz="1200" b="0" i="0" kern="1200" dirty="0">
                    <a:solidFill>
                      <a:schemeClr val="tx1"/>
                    </a:solidFill>
                    <a:effectLst/>
                    <a:latin typeface="+mn-lt"/>
                    <a:ea typeface="+mn-ea"/>
                    <a:cs typeface="+mn-cs"/>
                  </a:rPr>
                  <a:t> é</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também</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conhecida</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1" kern="1200" dirty="0" err="1">
                    <a:solidFill>
                      <a:schemeClr val="tx1"/>
                    </a:solidFill>
                    <a:effectLst/>
                    <a:latin typeface="+mn-lt"/>
                    <a:ea typeface="+mn-ea"/>
                    <a:cs typeface="+mn-cs"/>
                  </a:rPr>
                  <a:t>Tikhonov</a:t>
                </a:r>
                <a:r>
                  <a:rPr lang="en-US" sz="1200" b="0" i="1" kern="1200" dirty="0">
                    <a:solidFill>
                      <a:schemeClr val="tx1"/>
                    </a:solidFill>
                    <a:effectLst/>
                    <a:latin typeface="+mn-lt"/>
                    <a:ea typeface="+mn-ea"/>
                    <a:cs typeface="+mn-cs"/>
                  </a:rPr>
                  <a:t> regularization</a:t>
                </a:r>
                <a:endParaRPr lang="pt-BR" dirty="0"/>
              </a:p>
              <a:p>
                <a:endParaRPr lang="pt-BR" dirty="0"/>
              </a:p>
              <a:p>
                <a:r>
                  <a:rPr lang="pt-BR" dirty="0"/>
                  <a:t>Ao invés de minimizar apenas o erro quadrático médio, como fizemo</a:t>
                </a:r>
                <a:r>
                  <a:rPr lang="pt-BR" baseline="0" dirty="0"/>
                  <a:t>s antes</a:t>
                </a:r>
                <a:r>
                  <a:rPr lang="pt-BR" dirty="0"/>
                  <a:t>,</a:t>
                </a:r>
                <a:r>
                  <a:rPr lang="pt-BR" baseline="0" dirty="0"/>
                  <a:t> </a:t>
                </a:r>
                <a:r>
                  <a:rPr lang="pt-BR" dirty="0"/>
                  <a:t>agora há a introdução de </a:t>
                </a:r>
                <a:r>
                  <a:rPr lang="pt-BR" b="1" dirty="0"/>
                  <a:t>um termo de penalização </a:t>
                </a:r>
                <a:r>
                  <a:rPr lang="pt-BR" dirty="0"/>
                  <a:t>proporcional à norma Euclidiana (L2) do vetor de</a:t>
                </a:r>
                <a:r>
                  <a:rPr lang="pt-BR" baseline="0" dirty="0"/>
                  <a:t> pesos. Na verdade, o quadrado da norma Euclidiana.</a:t>
                </a:r>
              </a:p>
              <a:p>
                <a:endParaRPr lang="pt-BR" baseline="0" dirty="0"/>
              </a:p>
              <a:p>
                <a:r>
                  <a:rPr lang="pt-BR" baseline="0" dirty="0"/>
                  <a:t>Essa técnica desestimula o aprendizado de um modelo mais complexo ou flexível, de forma a evitar o risco de overfitting.</a:t>
                </a:r>
              </a:p>
              <a:p>
                <a:endParaRPr lang="pt-BR" baseline="0" dirty="0"/>
              </a:p>
              <a:p>
                <a:r>
                  <a:rPr lang="pt-BR" baseline="0" dirty="0"/>
                  <a:t>O aumento na flexibilidade de um modelo é representado pelo aumento de seus pesos e, se quisermos minimizar a função de erro, esses pesos precisam ser pequenos.</a:t>
                </a:r>
              </a:p>
              <a:p>
                <a:endParaRPr lang="pt-BR" baseline="0" dirty="0"/>
              </a:p>
              <a:p>
                <a:r>
                  <a:rPr lang="pt-BR" baseline="0" dirty="0"/>
                  <a:t>O parâmetro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baseline="0" dirty="0"/>
                  <a:t> é também conhecido como parâmetro de complexidade e controla a quantidade de redução/encolhimento dos pesos: quanto maior o valor de </a:t>
                </a:r>
                <a14:m>
                  <m:oMath xmlns:m="http://schemas.openxmlformats.org/officeDocument/2006/math">
                    <m:r>
                      <a:rPr lang="pt-BR" i="1" smtClean="0">
                        <a:latin typeface="Cambria Math" panose="02040503050406030204" pitchFamily="18" charset="0"/>
                        <a:ea typeface="Cambria Math" panose="02040503050406030204" pitchFamily="18" charset="0"/>
                      </a:rPr>
                      <m:t>𝜆</m:t>
                    </m:r>
                  </m:oMath>
                </a14:m>
                <a:r>
                  <a:rPr lang="pt-BR" baseline="0" dirty="0"/>
                  <a:t>, maior a quantidade de redução/encolhimento.</a:t>
                </a:r>
              </a:p>
              <a:p>
                <a:endParaRPr lang="pt-BR" b="1" baseline="0" dirty="0"/>
              </a:p>
              <a:p>
                <a:r>
                  <a:rPr lang="pt-BR" b="1" baseline="0" dirty="0"/>
                  <a:t>Norma Euclidiana</a:t>
                </a:r>
                <a:r>
                  <a:rPr lang="pt-BR" baseline="0" dirty="0"/>
                  <a:t>: </a:t>
                </a:r>
                <a:r>
                  <a:rPr lang="pt-BR" dirty="0">
                    <a:hlinkClick r:id="rId3"/>
                  </a:rPr>
                  <a:t>https://en.wikipedia.org/wiki/Norm_(mathematics)#Euclidean_norm</a:t>
                </a:r>
                <a:endParaRPr lang="pt-BR" baseline="0" dirty="0"/>
              </a:p>
              <a:p>
                <a:endParaRPr lang="pt-BR" baseline="0" dirty="0"/>
              </a:p>
              <a:p>
                <a:r>
                  <a:rPr lang="pt-BR" sz="1200" b="0" i="0" kern="1200" dirty="0">
                    <a:solidFill>
                      <a:schemeClr val="tx1"/>
                    </a:solidFill>
                    <a:effectLst/>
                    <a:latin typeface="+mn-lt"/>
                    <a:ea typeface="+mn-ea"/>
                    <a:cs typeface="+mn-cs"/>
                  </a:rPr>
                  <a:t>A regularização força o algoritmo de aprendizado a não apenas ajustar os pesos, mas também, manté-los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menor possível.</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regularização é baseada na ideia de que o sobreajuste é causado pelo fato dos </a:t>
                </a:r>
                <a:r>
                  <a:rPr lang="pt-BR" sz="1200" b="1" i="1" kern="1200" baseline="0" dirty="0">
                    <a:solidFill>
                      <a:schemeClr val="tx1"/>
                    </a:solidFill>
                    <a:effectLst/>
                    <a:latin typeface="+mn-lt"/>
                    <a:ea typeface="+mn-ea"/>
                    <a:cs typeface="+mn-cs"/>
                  </a:rPr>
                  <a:t>pesos</a:t>
                </a:r>
                <a:r>
                  <a:rPr lang="pt-BR" sz="1200" b="0" i="0" kern="1200" baseline="0" dirty="0">
                    <a:solidFill>
                      <a:schemeClr val="tx1"/>
                    </a:solidFill>
                    <a:effectLst/>
                    <a:latin typeface="+mn-lt"/>
                    <a:ea typeface="+mn-ea"/>
                    <a:cs typeface="+mn-cs"/>
                  </a:rPr>
                  <a:t> (a1 até aK) </a:t>
                </a:r>
                <a:r>
                  <a:rPr lang="pt-BR" sz="1200" b="0" i="0" kern="1200" dirty="0">
                    <a:solidFill>
                      <a:schemeClr val="tx1"/>
                    </a:solidFill>
                    <a:effectLst/>
                    <a:latin typeface="+mn-lt"/>
                    <a:ea typeface="+mn-ea"/>
                    <a:cs typeface="+mn-cs"/>
                  </a:rPr>
                  <a:t>serem "excessivamente específicos", ou</a:t>
                </a:r>
                <a:r>
                  <a:rPr lang="pt-BR" sz="1200" b="0" i="0" kern="1200" baseline="0" dirty="0">
                    <a:solidFill>
                      <a:schemeClr val="tx1"/>
                    </a:solidFill>
                    <a:effectLst/>
                    <a:latin typeface="+mn-lt"/>
                    <a:ea typeface="+mn-ea"/>
                    <a:cs typeface="+mn-cs"/>
                  </a:rPr>
                  <a:t> seja</a:t>
                </a:r>
                <a:r>
                  <a:rPr lang="pt-BR" sz="1200" b="0" i="0" kern="1200" dirty="0">
                    <a:solidFill>
                      <a:schemeClr val="tx1"/>
                    </a:solidFill>
                    <a:effectLst/>
                    <a:latin typeface="+mn-lt"/>
                    <a:ea typeface="+mn-ea"/>
                    <a:cs typeface="+mn-cs"/>
                  </a:rPr>
                  <a:t>, que seus valores sejam grandes</a:t>
                </a:r>
                <a:r>
                  <a:rPr lang="pt-BR" sz="1200" b="0" i="0" kern="1200" baseline="0" dirty="0">
                    <a:solidFill>
                      <a:schemeClr val="tx1"/>
                    </a:solidFill>
                    <a:effectLst/>
                    <a:latin typeface="+mn-lt"/>
                    <a:ea typeface="+mn-ea"/>
                    <a:cs typeface="+mn-cs"/>
                  </a:rPr>
                  <a:t> demais. </a:t>
                </a:r>
                <a:r>
                  <a:rPr lang="pt-BR" sz="1200" b="0" i="0" kern="1200" dirty="0">
                    <a:solidFill>
                      <a:schemeClr val="tx1"/>
                    </a:solidFill>
                    <a:effectLst/>
                    <a:latin typeface="+mn-lt"/>
                    <a:ea typeface="+mn-ea"/>
                    <a:cs typeface="+mn-cs"/>
                  </a:rPr>
                  <a:t>O bias, a0, meramente compensa (desloca) a relação entre y e a1*x1+a2*x2+...+aK*xK e sua escala, portanto, é muito menos importante para o problema de regularização. Além disso, no caso de uma grande compensação (deslocamento/offset/bias) ser necessária por qualquer motivo, regularizar</a:t>
                </a:r>
                <a:r>
                  <a:rPr lang="pt-BR" sz="1200" b="0" i="0" kern="1200" baseline="0" dirty="0">
                    <a:solidFill>
                      <a:schemeClr val="tx1"/>
                    </a:solidFill>
                    <a:effectLst/>
                    <a:latin typeface="+mn-lt"/>
                    <a:ea typeface="+mn-ea"/>
                    <a:cs typeface="+mn-cs"/>
                  </a:rPr>
                  <a:t> o bias (a0)</a:t>
                </a:r>
                <a:r>
                  <a:rPr lang="pt-BR" sz="1200" b="0" i="0" kern="1200" dirty="0">
                    <a:solidFill>
                      <a:schemeClr val="tx1"/>
                    </a:solidFill>
                    <a:effectLst/>
                    <a:latin typeface="+mn-lt"/>
                    <a:ea typeface="+mn-ea"/>
                    <a:cs typeface="+mn-cs"/>
                  </a:rPr>
                  <a:t> impedirá o modelo</a:t>
                </a:r>
                <a:r>
                  <a:rPr lang="pt-BR" sz="1200" b="0" i="0" kern="1200" baseline="0" dirty="0">
                    <a:solidFill>
                      <a:schemeClr val="tx1"/>
                    </a:solidFill>
                    <a:effectLst/>
                    <a:latin typeface="+mn-lt"/>
                    <a:ea typeface="+mn-ea"/>
                    <a:cs typeface="+mn-cs"/>
                  </a:rPr>
                  <a:t> de</a:t>
                </a:r>
                <a:r>
                  <a:rPr lang="pt-BR" sz="1200" b="0" i="0" kern="1200" dirty="0">
                    <a:solidFill>
                      <a:schemeClr val="tx1"/>
                    </a:solidFill>
                    <a:effectLst/>
                    <a:latin typeface="+mn-lt"/>
                    <a:ea typeface="+mn-ea"/>
                    <a:cs typeface="+mn-cs"/>
                  </a:rPr>
                  <a:t> encontrar a relação correta.</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peso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a:rPr lang="pt-BR" sz="1200" i="1">
                            <a:latin typeface="Cambria Math" panose="02040503050406030204" pitchFamily="18" charset="0"/>
                          </a:rPr>
                          <m:t>0</m:t>
                        </m:r>
                      </m:sub>
                    </m:sSub>
                  </m:oMath>
                </a14:m>
                <a:r>
                  <a:rPr lang="pt-BR" sz="1200" dirty="0"/>
                  <a:t> fornece apenas o deslocamento da função hipótese em relação ao eixo </a:t>
                </a:r>
                <a14:m>
                  <m:oMath xmlns:m="http://schemas.openxmlformats.org/officeDocument/2006/math">
                    <m:r>
                      <a:rPr lang="pt-BR" sz="1200" i="1">
                        <a:latin typeface="Cambria Math" panose="02040503050406030204" pitchFamily="18" charset="0"/>
                      </a:rPr>
                      <m:t>𝑦</m:t>
                    </m:r>
                  </m:oMath>
                </a14:m>
                <a:r>
                  <a:rPr lang="pt-BR" sz="1200" dirty="0"/>
                  <a:t> e não tem influência na complexidade da </a:t>
                </a:r>
                <a:r>
                  <a:rPr lang="pt-BR" sz="1200" b="1" i="1" dirty="0"/>
                  <a:t>hipótese</a:t>
                </a:r>
                <a:r>
                  <a:rPr lang="pt-BR" sz="1200" dirty="0"/>
                  <a:t> pois não é multiplicado por nenhum atributo. Lembre-se que a complexidade se deve à ordem do modelo e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a:rPr lang="pt-BR" sz="1200" i="1">
                            <a:latin typeface="Cambria Math" panose="02040503050406030204" pitchFamily="18" charset="0"/>
                          </a:rPr>
                          <m:t>0</m:t>
                        </m:r>
                      </m:sub>
                    </m:sSub>
                  </m:oMath>
                </a14:m>
                <a:r>
                  <a:rPr lang="pt-BR" sz="1200" dirty="0"/>
                  <a:t> apenas dita o </a:t>
                </a:r>
                <a:r>
                  <a:rPr lang="pt-BR" sz="1200" i="1" dirty="0"/>
                  <a:t>offset</a:t>
                </a:r>
                <a:r>
                  <a:rPr lang="pt-BR" sz="1200" dirty="0"/>
                  <a:t> (deslocamento) em relação ao eixo </a:t>
                </a:r>
                <a14:m>
                  <m:oMath xmlns:m="http://schemas.openxmlformats.org/officeDocument/2006/math">
                    <m:r>
                      <a:rPr lang="pt-BR" sz="1200" i="1">
                        <a:latin typeface="Cambria Math" panose="02040503050406030204" pitchFamily="18" charset="0"/>
                      </a:rPr>
                      <m:t>𝑦</m:t>
                    </m:r>
                  </m:oMath>
                </a14:m>
                <a:r>
                  <a:rPr lang="pt-BR" sz="1200" dirty="0"/>
                  <a:t>.</a:t>
                </a:r>
                <a:endParaRPr lang="pt-BR" sz="1200" b="0" i="0" kern="1200" dirty="0">
                  <a:solidFill>
                    <a:schemeClr val="tx1"/>
                  </a:solidFill>
                  <a:effectLst/>
                  <a:latin typeface="+mn-lt"/>
                  <a:ea typeface="+mn-ea"/>
                  <a:cs typeface="+mn-cs"/>
                </a:endParaRPr>
              </a:p>
              <a:p>
                <a:endParaRPr lang="pt-BR" dirty="0"/>
              </a:p>
              <a:p>
                <a:r>
                  <a:rPr lang="pt-BR" b="1" dirty="0"/>
                  <a:t>Referencias com explicações</a:t>
                </a:r>
                <a:r>
                  <a:rPr lang="pt-BR" b="1" baseline="0" dirty="0"/>
                  <a:t> sobre o motivo de a0 não ser considerado no termo de penalização</a:t>
                </a:r>
                <a:r>
                  <a:rPr lang="pt-BR" baseline="0" dirty="0"/>
                  <a:t>:</a:t>
                </a:r>
                <a:endParaRPr lang="pt-BR" dirty="0"/>
              </a:p>
              <a:p>
                <a:r>
                  <a:rPr lang="pt-BR" dirty="0">
                    <a:hlinkClick r:id="rId4"/>
                  </a:rPr>
                  <a:t>https://stats.stackexchange.com/questions/86991/reason-for-not-shrinking-the-bias-intercept-term-in-regression</a:t>
                </a:r>
                <a:endParaRPr lang="pt-BR" dirty="0"/>
              </a:p>
              <a:p>
                <a:r>
                  <a:rPr lang="pt-BR" dirty="0">
                    <a:hlinkClick r:id="rId5"/>
                  </a:rPr>
                  <a:t>https://stackoverflow.com/questions/54017246/why-is-theta0-skipped-while-performing-regulariztion-on-regression</a:t>
                </a:r>
                <a:endParaRPr lang="pt-BR" dirty="0"/>
              </a:p>
              <a:p>
                <a:r>
                  <a:rPr lang="pt-BR" dirty="0">
                    <a:hlinkClick r:id="rId6"/>
                  </a:rPr>
                  <a:t>https://stackoverflow.com/questions/12578336/why-is-the-bias-term-not-regularized-in-ridge-regression</a:t>
                </a:r>
                <a:endParaRPr lang="pt-BR" dirty="0"/>
              </a:p>
              <a:p>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en-US" sz="1200" b="0" i="1" kern="1200" dirty="0">
                    <a:solidFill>
                      <a:schemeClr val="tx1"/>
                    </a:solidFill>
                    <a:effectLst/>
                    <a:latin typeface="+mn-lt"/>
                    <a:ea typeface="+mn-ea"/>
                    <a:cs typeface="+mn-cs"/>
                  </a:rPr>
                  <a:t>Ridge Regression</a:t>
                </a:r>
                <a:r>
                  <a:rPr lang="en-US" sz="1200" b="0" i="0" kern="1200" dirty="0">
                    <a:solidFill>
                      <a:schemeClr val="tx1"/>
                    </a:solidFill>
                    <a:effectLst/>
                    <a:latin typeface="+mn-lt"/>
                    <a:ea typeface="+mn-ea"/>
                    <a:cs typeface="+mn-cs"/>
                  </a:rPr>
                  <a:t> é</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também</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conhecida</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1" kern="1200" dirty="0" err="1">
                    <a:solidFill>
                      <a:schemeClr val="tx1"/>
                    </a:solidFill>
                    <a:effectLst/>
                    <a:latin typeface="+mn-lt"/>
                    <a:ea typeface="+mn-ea"/>
                    <a:cs typeface="+mn-cs"/>
                  </a:rPr>
                  <a:t>Tikhonov</a:t>
                </a:r>
                <a:r>
                  <a:rPr lang="en-US" sz="1200" b="0" i="1" kern="1200" dirty="0">
                    <a:solidFill>
                      <a:schemeClr val="tx1"/>
                    </a:solidFill>
                    <a:effectLst/>
                    <a:latin typeface="+mn-lt"/>
                    <a:ea typeface="+mn-ea"/>
                    <a:cs typeface="+mn-cs"/>
                  </a:rPr>
                  <a:t> regularization</a:t>
                </a:r>
                <a:endParaRPr lang="pt-BR" dirty="0"/>
              </a:p>
              <a:p>
                <a:endParaRPr lang="pt-BR" dirty="0"/>
              </a:p>
              <a:p>
                <a:r>
                  <a:rPr lang="pt-BR" dirty="0"/>
                  <a:t>Ao invés de minimizar apenas o erro quadrático médio, como fizemo</a:t>
                </a:r>
                <a:r>
                  <a:rPr lang="pt-BR" baseline="0" dirty="0"/>
                  <a:t>s antes</a:t>
                </a:r>
                <a:r>
                  <a:rPr lang="pt-BR" dirty="0"/>
                  <a:t>,</a:t>
                </a:r>
                <a:r>
                  <a:rPr lang="pt-BR" baseline="0" dirty="0"/>
                  <a:t> </a:t>
                </a:r>
                <a:r>
                  <a:rPr lang="pt-BR" dirty="0"/>
                  <a:t>agora há a introdução de </a:t>
                </a:r>
                <a:r>
                  <a:rPr lang="pt-BR" b="1" dirty="0"/>
                  <a:t>um termo de penalização </a:t>
                </a:r>
                <a:r>
                  <a:rPr lang="pt-BR" dirty="0"/>
                  <a:t>proporcional à norma Euclidiana (L2) do vetor de</a:t>
                </a:r>
                <a:r>
                  <a:rPr lang="pt-BR" baseline="0" dirty="0"/>
                  <a:t> pesos. Na verdade, o quadrado da norma Euclidiana.</a:t>
                </a:r>
              </a:p>
              <a:p>
                <a:endParaRPr lang="pt-BR" baseline="0" dirty="0"/>
              </a:p>
              <a:p>
                <a:r>
                  <a:rPr lang="pt-BR" baseline="0" dirty="0"/>
                  <a:t>Essa técnica desestimula o aprendizado de um modelo mais complexo ou flexível, de forma a evitar o risco de overfitting.</a:t>
                </a:r>
              </a:p>
              <a:p>
                <a:endParaRPr lang="pt-BR" baseline="0" dirty="0"/>
              </a:p>
              <a:p>
                <a:r>
                  <a:rPr lang="pt-BR" baseline="0" dirty="0"/>
                  <a:t>O aumento na flexibilidade de um modelo é representado pelo aumento de seus pesos e, se quisermos minimizar a função de erro, esses pesos precisam ser pequenos.</a:t>
                </a:r>
              </a:p>
              <a:p>
                <a:endParaRPr lang="pt-BR" baseline="0" dirty="0"/>
              </a:p>
              <a:p>
                <a:r>
                  <a:rPr lang="pt-BR" baseline="0" dirty="0"/>
                  <a:t>O parâmetro </a:t>
                </a:r>
                <a:r>
                  <a:rPr lang="pt-BR" i="0">
                    <a:latin typeface="Cambria Math" panose="02040503050406030204" pitchFamily="18" charset="0"/>
                    <a:ea typeface="Cambria Math" panose="02040503050406030204" pitchFamily="18" charset="0"/>
                  </a:rPr>
                  <a:t>𝜆</a:t>
                </a:r>
                <a:r>
                  <a:rPr lang="pt-BR" baseline="0" dirty="0"/>
                  <a:t> é também conhecido como parâmetro de complexidade e controla a quantidade de redução/encolhimento dos pesos: quanto maior o valor de </a:t>
                </a:r>
                <a:r>
                  <a:rPr lang="pt-BR" i="0">
                    <a:latin typeface="Cambria Math" panose="02040503050406030204" pitchFamily="18" charset="0"/>
                    <a:ea typeface="Cambria Math" panose="02040503050406030204" pitchFamily="18" charset="0"/>
                  </a:rPr>
                  <a:t>𝜆</a:t>
                </a:r>
                <a:r>
                  <a:rPr lang="pt-BR" baseline="0" dirty="0"/>
                  <a:t>, maior a quantidade de redução/encolhimento.</a:t>
                </a:r>
              </a:p>
              <a:p>
                <a:endParaRPr lang="pt-BR" b="1" baseline="0" dirty="0"/>
              </a:p>
              <a:p>
                <a:r>
                  <a:rPr lang="pt-BR" b="1" baseline="0" dirty="0"/>
                  <a:t>Norma Euclidiana</a:t>
                </a:r>
                <a:r>
                  <a:rPr lang="pt-BR" baseline="0" dirty="0"/>
                  <a:t>: </a:t>
                </a:r>
                <a:r>
                  <a:rPr lang="pt-BR" dirty="0">
                    <a:hlinkClick r:id="rId7"/>
                  </a:rPr>
                  <a:t>https://en.wikipedia.org/wiki/Norm_(mathematics)#Euclidean_norm</a:t>
                </a:r>
                <a:endParaRPr lang="pt-BR" baseline="0" dirty="0"/>
              </a:p>
              <a:p>
                <a:endParaRPr lang="pt-BR" baseline="0" dirty="0"/>
              </a:p>
              <a:p>
                <a:r>
                  <a:rPr lang="pt-BR" sz="1200" b="0" i="0" kern="1200" dirty="0">
                    <a:solidFill>
                      <a:schemeClr val="tx1"/>
                    </a:solidFill>
                    <a:effectLst/>
                    <a:latin typeface="+mn-lt"/>
                    <a:ea typeface="+mn-ea"/>
                    <a:cs typeface="+mn-cs"/>
                  </a:rPr>
                  <a:t>A regularização força o algoritmo de aprendizado a não apenas ajustar os pesos, mas também, manté-los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menor possível.</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regularização é baseada na ideia de que o sobreajuste é causado pelo fato dos </a:t>
                </a:r>
                <a:r>
                  <a:rPr lang="pt-BR" sz="1200" b="1" i="1" kern="1200" baseline="0" dirty="0">
                    <a:solidFill>
                      <a:schemeClr val="tx1"/>
                    </a:solidFill>
                    <a:effectLst/>
                    <a:latin typeface="+mn-lt"/>
                    <a:ea typeface="+mn-ea"/>
                    <a:cs typeface="+mn-cs"/>
                  </a:rPr>
                  <a:t>pesos</a:t>
                </a:r>
                <a:r>
                  <a:rPr lang="pt-BR" sz="1200" b="0" i="0" kern="1200" baseline="0" dirty="0">
                    <a:solidFill>
                      <a:schemeClr val="tx1"/>
                    </a:solidFill>
                    <a:effectLst/>
                    <a:latin typeface="+mn-lt"/>
                    <a:ea typeface="+mn-ea"/>
                    <a:cs typeface="+mn-cs"/>
                  </a:rPr>
                  <a:t> (a1 até aK) </a:t>
                </a:r>
                <a:r>
                  <a:rPr lang="pt-BR" sz="1200" b="0" i="0" kern="1200" dirty="0">
                    <a:solidFill>
                      <a:schemeClr val="tx1"/>
                    </a:solidFill>
                    <a:effectLst/>
                    <a:latin typeface="+mn-lt"/>
                    <a:ea typeface="+mn-ea"/>
                    <a:cs typeface="+mn-cs"/>
                  </a:rPr>
                  <a:t>serem "excessivamente específicos", ou</a:t>
                </a:r>
                <a:r>
                  <a:rPr lang="pt-BR" sz="1200" b="0" i="0" kern="1200" baseline="0" dirty="0">
                    <a:solidFill>
                      <a:schemeClr val="tx1"/>
                    </a:solidFill>
                    <a:effectLst/>
                    <a:latin typeface="+mn-lt"/>
                    <a:ea typeface="+mn-ea"/>
                    <a:cs typeface="+mn-cs"/>
                  </a:rPr>
                  <a:t> seja</a:t>
                </a:r>
                <a:r>
                  <a:rPr lang="pt-BR" sz="1200" b="0" i="0" kern="1200" dirty="0">
                    <a:solidFill>
                      <a:schemeClr val="tx1"/>
                    </a:solidFill>
                    <a:effectLst/>
                    <a:latin typeface="+mn-lt"/>
                    <a:ea typeface="+mn-ea"/>
                    <a:cs typeface="+mn-cs"/>
                  </a:rPr>
                  <a:t>, que seus valores sejam grandes</a:t>
                </a:r>
                <a:r>
                  <a:rPr lang="pt-BR" sz="1200" b="0" i="0" kern="1200" baseline="0" dirty="0">
                    <a:solidFill>
                      <a:schemeClr val="tx1"/>
                    </a:solidFill>
                    <a:effectLst/>
                    <a:latin typeface="+mn-lt"/>
                    <a:ea typeface="+mn-ea"/>
                    <a:cs typeface="+mn-cs"/>
                  </a:rPr>
                  <a:t> demais. </a:t>
                </a:r>
                <a:r>
                  <a:rPr lang="pt-BR" sz="1200" b="0" i="0" kern="1200" dirty="0">
                    <a:solidFill>
                      <a:schemeClr val="tx1"/>
                    </a:solidFill>
                    <a:effectLst/>
                    <a:latin typeface="+mn-lt"/>
                    <a:ea typeface="+mn-ea"/>
                    <a:cs typeface="+mn-cs"/>
                  </a:rPr>
                  <a:t>O bias, a0, meramente compensa (desloca) a relação entre y e a1*x1+a2*x2+...+aK*xK e sua escala, portanto, é muito menos importante para o problema de regularização. Além disso, no caso de uma grande compensação (deslocamento/offset/bias) ser necessária por qualquer motivo, regularizar</a:t>
                </a:r>
                <a:r>
                  <a:rPr lang="pt-BR" sz="1200" b="0" i="0" kern="1200" baseline="0" dirty="0">
                    <a:solidFill>
                      <a:schemeClr val="tx1"/>
                    </a:solidFill>
                    <a:effectLst/>
                    <a:latin typeface="+mn-lt"/>
                    <a:ea typeface="+mn-ea"/>
                    <a:cs typeface="+mn-cs"/>
                  </a:rPr>
                  <a:t> o bias (a0)</a:t>
                </a:r>
                <a:r>
                  <a:rPr lang="pt-BR" sz="1200" b="0" i="0" kern="1200" dirty="0">
                    <a:solidFill>
                      <a:schemeClr val="tx1"/>
                    </a:solidFill>
                    <a:effectLst/>
                    <a:latin typeface="+mn-lt"/>
                    <a:ea typeface="+mn-ea"/>
                    <a:cs typeface="+mn-cs"/>
                  </a:rPr>
                  <a:t> impedirá o modelo</a:t>
                </a:r>
                <a:r>
                  <a:rPr lang="pt-BR" sz="1200" b="0" i="0" kern="1200" baseline="0" dirty="0">
                    <a:solidFill>
                      <a:schemeClr val="tx1"/>
                    </a:solidFill>
                    <a:effectLst/>
                    <a:latin typeface="+mn-lt"/>
                    <a:ea typeface="+mn-ea"/>
                    <a:cs typeface="+mn-cs"/>
                  </a:rPr>
                  <a:t> de</a:t>
                </a:r>
                <a:r>
                  <a:rPr lang="pt-BR" sz="1200" b="0" i="0" kern="1200" dirty="0">
                    <a:solidFill>
                      <a:schemeClr val="tx1"/>
                    </a:solidFill>
                    <a:effectLst/>
                    <a:latin typeface="+mn-lt"/>
                    <a:ea typeface="+mn-ea"/>
                    <a:cs typeface="+mn-cs"/>
                  </a:rPr>
                  <a:t> encontrar a relação correta.</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peso </a:t>
                </a:r>
                <a:r>
                  <a:rPr lang="pt-BR" sz="1200" i="0">
                    <a:latin typeface="Cambria Math" panose="02040503050406030204" pitchFamily="18" charset="0"/>
                  </a:rPr>
                  <a:t>𝑎_0</a:t>
                </a:r>
                <a:r>
                  <a:rPr lang="pt-BR" sz="1200" dirty="0"/>
                  <a:t> fornece apenas o deslocamento da função hipótese em relação ao eixo </a:t>
                </a:r>
                <a:r>
                  <a:rPr lang="pt-BR" sz="1200" i="0">
                    <a:latin typeface="Cambria Math" panose="02040503050406030204" pitchFamily="18" charset="0"/>
                  </a:rPr>
                  <a:t>𝑦</a:t>
                </a:r>
                <a:r>
                  <a:rPr lang="pt-BR" sz="1200" dirty="0"/>
                  <a:t> e não tem influência na complexidade da </a:t>
                </a:r>
                <a:r>
                  <a:rPr lang="pt-BR" sz="1200" b="1" i="1" dirty="0"/>
                  <a:t>hipótese</a:t>
                </a:r>
                <a:r>
                  <a:rPr lang="pt-BR" sz="1200" dirty="0"/>
                  <a:t> pois não é multiplicado por nenhum atributo. Lembre-se que a complexidade se deve à ordem do modelo e </a:t>
                </a:r>
                <a:r>
                  <a:rPr lang="pt-BR" sz="1200" i="0">
                    <a:latin typeface="Cambria Math" panose="02040503050406030204" pitchFamily="18" charset="0"/>
                  </a:rPr>
                  <a:t>𝑎_0</a:t>
                </a:r>
                <a:r>
                  <a:rPr lang="pt-BR" sz="1200" dirty="0"/>
                  <a:t> apenas dita o </a:t>
                </a:r>
                <a:r>
                  <a:rPr lang="pt-BR" sz="1200" i="1" dirty="0"/>
                  <a:t>offset</a:t>
                </a:r>
                <a:r>
                  <a:rPr lang="pt-BR" sz="1200" dirty="0"/>
                  <a:t> (deslocamento) em relação ao eixo </a:t>
                </a:r>
                <a:r>
                  <a:rPr lang="pt-BR" sz="1200" i="0">
                    <a:latin typeface="Cambria Math" panose="02040503050406030204" pitchFamily="18" charset="0"/>
                  </a:rPr>
                  <a:t>𝑦</a:t>
                </a:r>
                <a:r>
                  <a:rPr lang="pt-BR" sz="1200" dirty="0"/>
                  <a:t>.</a:t>
                </a:r>
                <a:endParaRPr lang="pt-BR" sz="1200" b="0" i="0" kern="1200" dirty="0">
                  <a:solidFill>
                    <a:schemeClr val="tx1"/>
                  </a:solidFill>
                  <a:effectLst/>
                  <a:latin typeface="+mn-lt"/>
                  <a:ea typeface="+mn-ea"/>
                  <a:cs typeface="+mn-cs"/>
                </a:endParaRPr>
              </a:p>
              <a:p>
                <a:endParaRPr lang="pt-BR" dirty="0"/>
              </a:p>
              <a:p>
                <a:r>
                  <a:rPr lang="pt-BR" b="1" dirty="0"/>
                  <a:t>Referencias com explicações</a:t>
                </a:r>
                <a:r>
                  <a:rPr lang="pt-BR" b="1" baseline="0" dirty="0"/>
                  <a:t> sobre o motivo de a0 não ser considerado no termo de penalização</a:t>
                </a:r>
                <a:r>
                  <a:rPr lang="pt-BR" baseline="0" dirty="0"/>
                  <a:t>:</a:t>
                </a:r>
                <a:endParaRPr lang="pt-BR" dirty="0"/>
              </a:p>
              <a:p>
                <a:r>
                  <a:rPr lang="pt-BR" dirty="0">
                    <a:hlinkClick r:id="rId8"/>
                  </a:rPr>
                  <a:t>https://stats.stackexchange.com/questions/86991/reason-for-not-shrinking-the-bias-intercept-term-in-regression</a:t>
                </a:r>
                <a:endParaRPr lang="pt-BR" dirty="0"/>
              </a:p>
              <a:p>
                <a:r>
                  <a:rPr lang="pt-BR" dirty="0">
                    <a:hlinkClick r:id="rId9"/>
                  </a:rPr>
                  <a:t>https://stackoverflow.com/questions/54017246/why-is-theta0-skipped-while-performing-regulariztion-on-regression</a:t>
                </a:r>
                <a:endParaRPr lang="pt-BR" dirty="0"/>
              </a:p>
              <a:p>
                <a:r>
                  <a:rPr lang="pt-BR" dirty="0">
                    <a:hlinkClick r:id="rId10"/>
                  </a:rPr>
                  <a:t>https://stackoverflow.com/questions/12578336/why-is-the-bias-term-not-regularized-in-ridge-regression</a:t>
                </a:r>
                <a:endParaRPr lang="pt-BR" dirty="0"/>
              </a:p>
              <a:p>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105</a:t>
            </a:fld>
            <a:endParaRPr lang="nl-BE"/>
          </a:p>
        </p:txBody>
      </p:sp>
    </p:spTree>
    <p:extLst>
      <p:ext uri="{BB962C8B-B14F-4D97-AF65-F5344CB8AC3E}">
        <p14:creationId xmlns:p14="http://schemas.microsoft.com/office/powerpoint/2010/main" val="139191252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s.a. = sujeito a</a:t>
            </a:r>
          </a:p>
          <a:p>
            <a:endParaRPr lang="pt-BR" dirty="0"/>
          </a:p>
          <a:p>
            <a:r>
              <a:rPr lang="pt-BR" b="1" dirty="0"/>
              <a:t>Referências</a:t>
            </a:r>
          </a:p>
          <a:p>
            <a:r>
              <a:rPr lang="pt-BR" dirty="0"/>
              <a:t>[1] https://www.datacamp.com/community/tutorials/tutorial-ridge-lasso-elastic-net</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106</a:t>
            </a:fld>
            <a:endParaRPr lang="nl-BE"/>
          </a:p>
        </p:txBody>
      </p:sp>
    </p:spTree>
    <p:extLst>
      <p:ext uri="{BB962C8B-B14F-4D97-AF65-F5344CB8AC3E}">
        <p14:creationId xmlns:p14="http://schemas.microsoft.com/office/powerpoint/2010/main" val="255887676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Referências</a:t>
            </a:r>
            <a:r>
              <a:rPr lang="pt-BR" dirty="0"/>
              <a:t>:</a:t>
            </a:r>
          </a:p>
          <a:p>
            <a:endParaRPr lang="pt-BR" dirty="0"/>
          </a:p>
          <a:p>
            <a:r>
              <a:rPr lang="pt-BR" dirty="0"/>
              <a:t>[1] https://xavierbourretsicotte.github.io/intro_ridge.html</a:t>
            </a:r>
          </a:p>
          <a:p>
            <a:r>
              <a:rPr lang="pt-BR" dirty="0"/>
              <a:t>[2] https://courses.cs.washington.edu/courses/cse446/17wi/slides/ridgeregression-annotated.pdf</a:t>
            </a:r>
          </a:p>
          <a:p>
            <a:r>
              <a:rPr lang="pt-BR" dirty="0"/>
              <a:t>[3] https://www.kaggle.com/residentmario/ridge-regression-cost-function</a:t>
            </a:r>
          </a:p>
        </p:txBody>
      </p:sp>
      <p:sp>
        <p:nvSpPr>
          <p:cNvPr id="4" name="Slide Number Placeholder 3"/>
          <p:cNvSpPr>
            <a:spLocks noGrp="1"/>
          </p:cNvSpPr>
          <p:nvPr>
            <p:ph type="sldNum" sz="quarter" idx="10"/>
          </p:nvPr>
        </p:nvSpPr>
        <p:spPr/>
        <p:txBody>
          <a:bodyPr/>
          <a:lstStyle/>
          <a:p>
            <a:fld id="{DA8B99DF-01BC-492A-8CEF-4FD88D18DD9D}" type="slidenum">
              <a:rPr lang="nl-BE" smtClean="0"/>
              <a:t>109</a:t>
            </a:fld>
            <a:endParaRPr lang="nl-BE"/>
          </a:p>
        </p:txBody>
      </p:sp>
    </p:spTree>
    <p:extLst>
      <p:ext uri="{BB962C8B-B14F-4D97-AF65-F5344CB8AC3E}">
        <p14:creationId xmlns:p14="http://schemas.microsoft.com/office/powerpoint/2010/main" val="329876566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Perceba mais uma vez que o peso a0 não participa da norma envolvida na penalização. Na realidade, a solução para a0 é o próprio valor médio da saída desejada.</a:t>
            </a:r>
          </a:p>
          <a:p>
            <a:endParaRPr lang="pt-BR" dirty="0"/>
          </a:p>
          <a:p>
            <a:r>
              <a:rPr lang="pt-BR" dirty="0"/>
              <a:t>Uma característica importante da regressão</a:t>
            </a:r>
            <a:r>
              <a:rPr lang="pt-BR" baseline="0" dirty="0"/>
              <a:t> LASSO </a:t>
            </a:r>
            <a:r>
              <a:rPr lang="pt-BR" dirty="0"/>
              <a:t>é que ela tende a eliminar completamente os pesos dos atributos menos importantes (ou seja, defini-los como zero).</a:t>
            </a:r>
          </a:p>
          <a:p>
            <a:endParaRPr lang="pt-BR" dirty="0"/>
          </a:p>
          <a:p>
            <a:r>
              <a:rPr lang="pt-BR" dirty="0"/>
              <a:t>A</a:t>
            </a:r>
            <a:r>
              <a:rPr lang="pt-BR" baseline="0" dirty="0"/>
              <a:t> norma do vetor de pesos é </a:t>
            </a:r>
            <a:r>
              <a:rPr lang="pt-BR" baseline="0" dirty="0" err="1"/>
              <a:t>diferenciável</a:t>
            </a:r>
            <a:r>
              <a:rPr lang="pt-BR" baseline="0" dirty="0"/>
              <a:t> em qualquer ponto, exceto no ponto ai = 0 (i=1,...,K), onde ela faz uma curva acentuada ao cruzar o eixo y.</a:t>
            </a:r>
          </a:p>
          <a:p>
            <a:endParaRPr lang="pt-BR" baseline="0" dirty="0"/>
          </a:p>
          <a:p>
            <a:r>
              <a:rPr lang="pt-BR" b="1" baseline="0" dirty="0"/>
              <a:t>IMPORTANTE</a:t>
            </a:r>
          </a:p>
          <a:p>
            <a:r>
              <a:rPr lang="pt-BR" dirty="0"/>
              <a:t>Conforme mencionado na documentação do </a:t>
            </a:r>
            <a:r>
              <a:rPr lang="pt-BR" dirty="0" err="1"/>
              <a:t>Scikit-Learn</a:t>
            </a:r>
            <a:r>
              <a:rPr lang="pt-BR" dirty="0"/>
              <a:t>, a classe LASSO não é recomendada para uso com alfa = 0. Nesses casos, a classe </a:t>
            </a:r>
            <a:r>
              <a:rPr lang="pt-BR" dirty="0" err="1"/>
              <a:t>LinearRegression</a:t>
            </a:r>
            <a:r>
              <a:rPr lang="pt-BR" dirty="0"/>
              <a:t> deve ser usada.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110</a:t>
            </a:fld>
            <a:endParaRPr lang="nl-BE"/>
          </a:p>
        </p:txBody>
      </p:sp>
    </p:spTree>
    <p:extLst>
      <p:ext uri="{BB962C8B-B14F-4D97-AF65-F5344CB8AC3E}">
        <p14:creationId xmlns:p14="http://schemas.microsoft.com/office/powerpoint/2010/main" val="400202094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Perceba mais uma vez que o peso a0 não participa da norma envolvida na penalização. Na realidade, a solução para a0 é o próprio valor médio da saída desejada.</a:t>
            </a:r>
          </a:p>
          <a:p>
            <a:endParaRPr lang="pt-BR" dirty="0"/>
          </a:p>
          <a:p>
            <a:r>
              <a:rPr lang="pt-BR" dirty="0"/>
              <a:t>Uma característica importante da regressão</a:t>
            </a:r>
            <a:r>
              <a:rPr lang="pt-BR" baseline="0" dirty="0"/>
              <a:t> LASSO </a:t>
            </a:r>
            <a:r>
              <a:rPr lang="pt-BR" dirty="0"/>
              <a:t>é que ela tende a eliminar completamente os pesos dos atributos menos importantes (ou seja, defini-los como zero).</a:t>
            </a:r>
          </a:p>
          <a:p>
            <a:endParaRPr lang="pt-BR" dirty="0"/>
          </a:p>
          <a:p>
            <a:r>
              <a:rPr lang="pt-BR" dirty="0"/>
              <a:t>A</a:t>
            </a:r>
            <a:r>
              <a:rPr lang="pt-BR" baseline="0" dirty="0"/>
              <a:t> norma do vetor de pesos é </a:t>
            </a:r>
            <a:r>
              <a:rPr lang="pt-BR" baseline="0" dirty="0" err="1"/>
              <a:t>diferenciável</a:t>
            </a:r>
            <a:r>
              <a:rPr lang="pt-BR" baseline="0" dirty="0"/>
              <a:t> em qualquer ponto, exceto no ponto ai = 0 (i=1,...,K), onde ela faz uma curva acentuada ao cruzar o eixo y.</a:t>
            </a:r>
          </a:p>
          <a:p>
            <a:endParaRPr lang="pt-BR" baseline="0" dirty="0"/>
          </a:p>
          <a:p>
            <a:r>
              <a:rPr lang="pt-BR" b="1" baseline="0" dirty="0"/>
              <a:t>IMPORTANTE</a:t>
            </a:r>
          </a:p>
          <a:p>
            <a:r>
              <a:rPr lang="pt-BR" dirty="0"/>
              <a:t>Conforme mencionado na documentação do </a:t>
            </a:r>
            <a:r>
              <a:rPr lang="pt-BR" dirty="0" err="1"/>
              <a:t>Scikit-Learn</a:t>
            </a:r>
            <a:r>
              <a:rPr lang="pt-BR" dirty="0"/>
              <a:t>, a classe LASSO não é recomendada para uso com alfa = 0. Nesses casos, a classe </a:t>
            </a:r>
            <a:r>
              <a:rPr lang="pt-BR" dirty="0" err="1"/>
              <a:t>LinearRegression</a:t>
            </a:r>
            <a:r>
              <a:rPr lang="pt-BR" dirty="0"/>
              <a:t> deve ser usada.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111</a:t>
            </a:fld>
            <a:endParaRPr lang="nl-BE"/>
          </a:p>
        </p:txBody>
      </p:sp>
    </p:spTree>
    <p:extLst>
      <p:ext uri="{BB962C8B-B14F-4D97-AF65-F5344CB8AC3E}">
        <p14:creationId xmlns:p14="http://schemas.microsoft.com/office/powerpoint/2010/main" val="314793019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definição</a:t>
            </a:r>
            <a:r>
              <a:rPr lang="pt-BR" baseline="0" dirty="0"/>
              <a:t> sobre a função sign ou também conhecida como signum pode ser encontrada em: </a:t>
            </a:r>
            <a:r>
              <a:rPr lang="pt-BR" dirty="0"/>
              <a:t>https://en.wikipedia.org/wiki/Sign_function#Properties</a:t>
            </a:r>
          </a:p>
          <a:p>
            <a:endParaRPr lang="pt-BR" dirty="0"/>
          </a:p>
          <a:p>
            <a:r>
              <a:rPr lang="pt-BR" b="1" dirty="0"/>
              <a:t>Referências</a:t>
            </a:r>
            <a:r>
              <a:rPr lang="pt-BR" dirty="0"/>
              <a:t>:</a:t>
            </a:r>
          </a:p>
          <a:p>
            <a:r>
              <a:rPr lang="pt-BR" dirty="0"/>
              <a:t>[1] https://dafriedman97.github.io/mlbook/content/c2/s2/regularized.html</a:t>
            </a:r>
          </a:p>
          <a:p>
            <a:r>
              <a:rPr lang="pt-BR" dirty="0"/>
              <a:t>[2] https://dafriedman97.github.io/mlbook/content/c2/s1/regularized.html</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112</a:t>
            </a:fld>
            <a:endParaRPr lang="nl-BE"/>
          </a:p>
        </p:txBody>
      </p:sp>
    </p:spTree>
    <p:extLst>
      <p:ext uri="{BB962C8B-B14F-4D97-AF65-F5344CB8AC3E}">
        <p14:creationId xmlns:p14="http://schemas.microsoft.com/office/powerpoint/2010/main" val="284900077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indent="0">
                  <a:buFont typeface="Arial" panose="020B0604020202020204" pitchFamily="34" charset="0"/>
                  <a:buNone/>
                </a:pPr>
                <a:r>
                  <a:rPr lang="pt-BR" dirty="0"/>
                  <a:t>Na figura abaixo, temos as curvas de nível da</a:t>
                </a:r>
                <a:r>
                  <a:rPr lang="pt-BR" baseline="0" dirty="0"/>
                  <a:t> função de</a:t>
                </a:r>
                <a:r>
                  <a:rPr lang="pt-BR" dirty="0"/>
                  <a:t> erro de</a:t>
                </a:r>
                <a:r>
                  <a:rPr lang="pt-BR" baseline="0" dirty="0"/>
                  <a:t> um </a:t>
                </a:r>
                <a:r>
                  <a:rPr lang="pt-BR" dirty="0"/>
                  <a:t>problema de regressão linear, bem como as regiões do espaço de hipóteses</a:t>
                </a:r>
                <a:r>
                  <a:rPr lang="pt-BR" baseline="0" dirty="0"/>
                  <a:t> </a:t>
                </a:r>
                <a:r>
                  <a:rPr lang="pt-BR" dirty="0"/>
                  <a:t>em que as restrições L2 (direita) e L1 (esquerda) são válidas, considerando o caso em que o vetor possui dois pesos sujeitos à regularização.</a:t>
                </a:r>
              </a:p>
              <a:p>
                <a:pPr marL="0" indent="0">
                  <a:buFont typeface="Arial" panose="020B0604020202020204" pitchFamily="34" charset="0"/>
                  <a:buNone/>
                </a:pPr>
                <a:r>
                  <a:rPr lang="pt-BR" dirty="0"/>
                  <a:t>A solução para ambos os métodos corresponde ao primeiro ponto em que as curvas de nível do erro interceptam a região de factibilidade das restrições. A existência de cantos nas curvas de nível de </a:t>
                </a:r>
                <a14:m>
                  <m:oMath xmlns:m="http://schemas.openxmlformats.org/officeDocument/2006/math">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b="0" i="1" smtClean="0">
                            <a:latin typeface="Cambria Math" panose="02040503050406030204" pitchFamily="18" charset="0"/>
                            <a:ea typeface="Cambria Math" panose="02040503050406030204" pitchFamily="18" charset="0"/>
                          </a:rPr>
                          <m:t>1</m:t>
                        </m:r>
                      </m:sub>
                    </m:sSub>
                  </m:oMath>
                </a14:m>
                <a:r>
                  <a:rPr lang="pt-BR" dirty="0"/>
                  <a:t> aumenta as chances de alguns pesos assumirem o valor zero. </a:t>
                </a:r>
              </a:p>
              <a:p>
                <a:pPr marL="0" indent="0">
                  <a:buFont typeface="Arial" panose="020B0604020202020204" pitchFamily="34" charset="0"/>
                  <a:buNone/>
                </a:pPr>
                <a:endParaRPr lang="pt-BR" dirty="0"/>
              </a:p>
              <a:p>
                <a:pPr marL="171450" indent="-171450">
                  <a:buFont typeface="Arial" panose="020B0604020202020204" pitchFamily="34" charset="0"/>
                  <a:buChar char="•"/>
                </a:pPr>
                <a:r>
                  <a:rPr lang="pt-BR" dirty="0"/>
                  <a:t>Na</a:t>
                </a:r>
                <a:r>
                  <a:rPr lang="pt-BR" baseline="0" dirty="0"/>
                  <a:t> figura da esquerda, a área dentro do quadrado azul representa o conjunto de pesos </a:t>
                </a:r>
                <a:r>
                  <a:rPr lang="pt-BR" b="1" baseline="0" dirty="0"/>
                  <a:t>a</a:t>
                </a:r>
                <a:r>
                  <a:rPr lang="pt-BR" b="0" baseline="0" dirty="0"/>
                  <a:t> no espaço de pesos em 2 dimensões que tem norma L1 menor do que </a:t>
                </a:r>
                <a:r>
                  <a:rPr lang="pt-BR" b="1" baseline="0" dirty="0"/>
                  <a:t>c</a:t>
                </a:r>
                <a:r>
                  <a:rPr lang="pt-BR" b="0" baseline="0" dirty="0"/>
                  <a:t>. A solução para o problema deve estar dentro do área do quadrado azul.</a:t>
                </a:r>
              </a:p>
              <a:p>
                <a:pPr marL="171450" indent="-171450">
                  <a:buFont typeface="Arial" panose="020B0604020202020204" pitchFamily="34" charset="0"/>
                  <a:buChar char="•"/>
                </a:pPr>
                <a:r>
                  <a:rPr lang="pt-BR" b="0" baseline="0" dirty="0"/>
                  <a:t>Os círculos representam os contornos da superfície de erro, com o erro mínimo ao centro.</a:t>
                </a:r>
              </a:p>
              <a:p>
                <a:pPr marL="171450" indent="-171450">
                  <a:buFont typeface="Arial" panose="020B0604020202020204" pitchFamily="34" charset="0"/>
                  <a:buChar char="•"/>
                </a:pPr>
                <a:r>
                  <a:rPr lang="pt-BR" b="0" baseline="0" dirty="0"/>
                  <a:t>Queremos encontrar um ponto, dentro do quadrado azul, que esteja o mais próximo do mínimo.</a:t>
                </a:r>
              </a:p>
              <a:p>
                <a:pPr marL="171450" indent="-171450">
                  <a:buFont typeface="Arial" panose="020B0604020202020204" pitchFamily="34" charset="0"/>
                  <a:buChar char="•"/>
                </a:pPr>
                <a:r>
                  <a:rPr lang="pt-BR" b="0" baseline="0" dirty="0"/>
                  <a:t>É facil ver que para uma posição arbitrária do mínimo e seus contornos, será comum que um canto do quadrado ser o ponto mais próximo do ponto de mínimo, só porque os cantos são pontiagudos.</a:t>
                </a:r>
              </a:p>
              <a:p>
                <a:pPr marL="171450" indent="-171450">
                  <a:buFont typeface="Arial" panose="020B0604020202020204" pitchFamily="34" charset="0"/>
                  <a:buChar char="•"/>
                </a:pPr>
                <a:r>
                  <a:rPr lang="pt-BR" b="0" baseline="0" dirty="0"/>
                  <a:t>E claro, os cantos são os pontos que exibem valor zero em alguma direção (dimensão).</a:t>
                </a:r>
              </a:p>
              <a:p>
                <a:pPr marL="171450" indent="-171450">
                  <a:buFont typeface="Arial" panose="020B0604020202020204" pitchFamily="34" charset="0"/>
                  <a:buChar char="•"/>
                </a:pPr>
                <a:endParaRPr lang="pt-BR" b="0" baseline="0" dirty="0"/>
              </a:p>
              <a:p>
                <a:pPr marL="171450" indent="-171450">
                  <a:buFont typeface="Arial" panose="020B0604020202020204" pitchFamily="34" charset="0"/>
                  <a:buChar char="•"/>
                </a:pPr>
                <a:r>
                  <a:rPr lang="pt-BR" b="0" baseline="0" dirty="0"/>
                  <a:t>Fizemos o mesmo para a figura da direita, onde se utiliza a regularização L2, a qual representa um círculo ao invés de um quadrado.</a:t>
                </a:r>
              </a:p>
              <a:p>
                <a:pPr marL="171450" indent="-171450">
                  <a:buFont typeface="Arial" panose="020B0604020202020204" pitchFamily="34" charset="0"/>
                  <a:buChar char="•"/>
                </a:pPr>
                <a:r>
                  <a:rPr lang="pt-BR" b="0" baseline="0" dirty="0"/>
                  <a:t>Nesse caso é possível ver que, em geral, não existe motivo para a interseção ocorrer em um dos eixos.</a:t>
                </a:r>
              </a:p>
              <a:p>
                <a:pPr marL="171450" indent="-171450">
                  <a:buFont typeface="Arial" panose="020B0604020202020204" pitchFamily="34" charset="0"/>
                  <a:buChar char="•"/>
                </a:pPr>
                <a:r>
                  <a:rPr lang="pt-BR" b="0" baseline="0" dirty="0"/>
                  <a:t>Portanto, a regularização L2 não tende a produzir pesos iguais a zero.</a:t>
                </a:r>
                <a:endParaRPr lang="pt-BR" dirty="0"/>
              </a:p>
              <a:p>
                <a:endParaRPr lang="pt-BR" dirty="0"/>
              </a:p>
              <a:p>
                <a:r>
                  <a:rPr lang="pt-BR" dirty="0"/>
                  <a:t>Para mais informações, por favor, leia a seção 18.6.2 do livro do Peter Norvig.</a:t>
                </a:r>
              </a:p>
            </p:txBody>
          </p:sp>
        </mc:Choice>
        <mc:Fallback xmlns="">
          <p:sp>
            <p:nvSpPr>
              <p:cNvPr id="3" name="Notes Placeholder 2"/>
              <p:cNvSpPr>
                <a:spLocks noGrp="1"/>
              </p:cNvSpPr>
              <p:nvPr>
                <p:ph type="body" idx="1"/>
              </p:nvPr>
            </p:nvSpPr>
            <p:spPr/>
            <p:txBody>
              <a:bodyPr/>
              <a:lstStyle/>
              <a:p>
                <a:pPr marL="0" indent="0">
                  <a:buFont typeface="Arial" panose="020B0604020202020204" pitchFamily="34" charset="0"/>
                  <a:buNone/>
                </a:pPr>
                <a:r>
                  <a:rPr lang="pt-BR" dirty="0" smtClean="0"/>
                  <a:t>Na figura abaixo, temos as curvas de nível da</a:t>
                </a:r>
                <a:r>
                  <a:rPr lang="pt-BR" baseline="0" dirty="0" smtClean="0"/>
                  <a:t> função de</a:t>
                </a:r>
                <a:r>
                  <a:rPr lang="pt-BR" dirty="0" smtClean="0"/>
                  <a:t> erro de</a:t>
                </a:r>
                <a:r>
                  <a:rPr lang="pt-BR" baseline="0" dirty="0" smtClean="0"/>
                  <a:t> um </a:t>
                </a:r>
                <a:r>
                  <a:rPr lang="pt-BR" dirty="0" smtClean="0"/>
                  <a:t>problema de regressão linear, bem como as regiões do espaço em que as restrições L2 (direita) e L1 (esquerda) são válidas, considerando o caso em que o vetor possui dois pesos sujeitos à regularização.</a:t>
                </a:r>
              </a:p>
              <a:p>
                <a:pPr marL="0" indent="0">
                  <a:buFont typeface="Arial" panose="020B0604020202020204" pitchFamily="34" charset="0"/>
                  <a:buNone/>
                </a:pPr>
                <a:r>
                  <a:rPr lang="pt-BR" dirty="0" smtClean="0"/>
                  <a:t>A solução para ambos os métodos corresponde ao primeiro ponto em que as curvas de nível do erro interceptam a região de factibilidade das restrições. A existência de cantos nas curvas de nível de </a:t>
                </a:r>
                <a:r>
                  <a:rPr lang="pt-BR" i="0">
                    <a:latin typeface="Cambria Math" panose="02040503050406030204" pitchFamily="18" charset="0"/>
                    <a:ea typeface="Cambria Math" panose="02040503050406030204" pitchFamily="18" charset="0"/>
                  </a:rPr>
                  <a:t>‖</a:t>
                </a:r>
                <a:r>
                  <a:rPr lang="pt-BR" b="1" i="0">
                    <a:latin typeface="Cambria Math" panose="02040503050406030204" pitchFamily="18" charset="0"/>
                  </a:rPr>
                  <a:t>𝒂‖</a:t>
                </a:r>
                <a:r>
                  <a:rPr lang="pt-BR" b="1" i="0" smtClean="0">
                    <a:latin typeface="Cambria Math" panose="02040503050406030204" pitchFamily="18" charset="0"/>
                    <a:ea typeface="Cambria Math" panose="02040503050406030204" pitchFamily="18" charset="0"/>
                  </a:rPr>
                  <a:t>_</a:t>
                </a:r>
                <a:r>
                  <a:rPr lang="pt-BR" b="0" i="0" smtClean="0">
                    <a:latin typeface="Cambria Math" panose="02040503050406030204" pitchFamily="18" charset="0"/>
                    <a:ea typeface="Cambria Math" panose="02040503050406030204" pitchFamily="18" charset="0"/>
                  </a:rPr>
                  <a:t>1</a:t>
                </a:r>
                <a:r>
                  <a:rPr lang="pt-BR" dirty="0" smtClean="0"/>
                  <a:t> aumenta as chances de alguns pesos assumirem o valor zero. </a:t>
                </a:r>
              </a:p>
              <a:p>
                <a:pPr marL="0" indent="0">
                  <a:buFont typeface="Arial" panose="020B0604020202020204" pitchFamily="34" charset="0"/>
                  <a:buNone/>
                </a:pPr>
                <a:endParaRPr lang="pt-BR" dirty="0" smtClean="0"/>
              </a:p>
              <a:p>
                <a:pPr marL="0" indent="0">
                  <a:buFont typeface="Arial" panose="020B0604020202020204" pitchFamily="34" charset="0"/>
                  <a:buNone/>
                </a:pPr>
                <a:endParaRPr lang="pt-BR" dirty="0" smtClean="0"/>
              </a:p>
              <a:p>
                <a:pPr marL="0" indent="0">
                  <a:buFont typeface="Arial" panose="020B0604020202020204" pitchFamily="34" charset="0"/>
                  <a:buNone/>
                </a:pPr>
                <a:endParaRPr lang="pt-BR" dirty="0" smtClean="0"/>
              </a:p>
              <a:p>
                <a:pPr marL="171450" indent="-171450">
                  <a:buFont typeface="Arial" panose="020B0604020202020204" pitchFamily="34" charset="0"/>
                  <a:buChar char="•"/>
                </a:pPr>
                <a:r>
                  <a:rPr lang="pt-BR" dirty="0" smtClean="0"/>
                  <a:t>Na</a:t>
                </a:r>
                <a:r>
                  <a:rPr lang="pt-BR" baseline="0" dirty="0" smtClean="0"/>
                  <a:t> figura da esquerda, a área dentro do quadrado azul representa o conjunto de pesos </a:t>
                </a:r>
                <a:r>
                  <a:rPr lang="pt-BR" b="1" baseline="0" dirty="0" smtClean="0"/>
                  <a:t>a</a:t>
                </a:r>
                <a:r>
                  <a:rPr lang="pt-BR" b="0" baseline="0" dirty="0" smtClean="0"/>
                  <a:t> no espaço de pesos em 2 dimensões que tem norma L1 menor do que </a:t>
                </a:r>
                <a:r>
                  <a:rPr lang="pt-BR" b="1" baseline="0" dirty="0" smtClean="0"/>
                  <a:t>c</a:t>
                </a:r>
                <a:r>
                  <a:rPr lang="pt-BR" b="0" baseline="0" dirty="0" smtClean="0"/>
                  <a:t>. A solução para o problema deve estar dentro do área do quadrado azul.</a:t>
                </a:r>
              </a:p>
              <a:p>
                <a:pPr marL="171450" indent="-171450">
                  <a:buFont typeface="Arial" panose="020B0604020202020204" pitchFamily="34" charset="0"/>
                  <a:buChar char="•"/>
                </a:pPr>
                <a:r>
                  <a:rPr lang="pt-BR" b="0" baseline="0" dirty="0" smtClean="0"/>
                  <a:t>Os círculos representam os contornos da superfície de erro, com o erro mínimo ao centro.</a:t>
                </a:r>
              </a:p>
              <a:p>
                <a:pPr marL="171450" indent="-171450">
                  <a:buFont typeface="Arial" panose="020B0604020202020204" pitchFamily="34" charset="0"/>
                  <a:buChar char="•"/>
                </a:pPr>
                <a:r>
                  <a:rPr lang="pt-BR" b="0" baseline="0" dirty="0" smtClean="0"/>
                  <a:t>Queremos encontrar um ponto, dentro do quadrado azul, que esteja o mais próximo do mínimo.</a:t>
                </a:r>
              </a:p>
              <a:p>
                <a:pPr marL="171450" indent="-171450">
                  <a:buFont typeface="Arial" panose="020B0604020202020204" pitchFamily="34" charset="0"/>
                  <a:buChar char="•"/>
                </a:pPr>
                <a:r>
                  <a:rPr lang="pt-BR" b="0" baseline="0" dirty="0" smtClean="0"/>
                  <a:t>É facil ver que para uma posição arbitrária do mínimo e seus contornos, será comum que um canto do quadrado ser o ponto mais próximo do ponto de mínimo, só porque os cantos são pontiagudos.</a:t>
                </a:r>
              </a:p>
              <a:p>
                <a:pPr marL="171450" indent="-171450">
                  <a:buFont typeface="Arial" panose="020B0604020202020204" pitchFamily="34" charset="0"/>
                  <a:buChar char="•"/>
                </a:pPr>
                <a:r>
                  <a:rPr lang="pt-BR" b="0" baseline="0" dirty="0" smtClean="0"/>
                  <a:t>E claro, os cantos são os pontos que exibem valor zero em alguma direção.</a:t>
                </a:r>
              </a:p>
              <a:p>
                <a:pPr marL="171450" indent="-171450">
                  <a:buFont typeface="Arial" panose="020B0604020202020204" pitchFamily="34" charset="0"/>
                  <a:buChar char="•"/>
                </a:pPr>
                <a:endParaRPr lang="pt-BR" b="0" baseline="0" dirty="0" smtClean="0"/>
              </a:p>
              <a:p>
                <a:pPr marL="171450" indent="-171450">
                  <a:buFont typeface="Arial" panose="020B0604020202020204" pitchFamily="34" charset="0"/>
                  <a:buChar char="•"/>
                </a:pPr>
                <a:r>
                  <a:rPr lang="pt-BR" b="0" baseline="0" dirty="0" smtClean="0"/>
                  <a:t>Fizemos o mesmo para a figura da direita, onde se utiliza a regularização L2, a qual representa um círculo ao invés de um quadrado.</a:t>
                </a:r>
              </a:p>
              <a:p>
                <a:pPr marL="171450" indent="-171450">
                  <a:buFont typeface="Arial" panose="020B0604020202020204" pitchFamily="34" charset="0"/>
                  <a:buChar char="•"/>
                </a:pPr>
                <a:r>
                  <a:rPr lang="pt-BR" b="0" baseline="0" dirty="0" smtClean="0"/>
                  <a:t>Nesse caso é possível ver que, em geral, não existe motivo para a interseção ocorrer em um dos eixos.</a:t>
                </a:r>
              </a:p>
              <a:p>
                <a:pPr marL="171450" indent="-171450">
                  <a:buFont typeface="Arial" panose="020B0604020202020204" pitchFamily="34" charset="0"/>
                  <a:buChar char="•"/>
                </a:pPr>
                <a:r>
                  <a:rPr lang="pt-BR" b="0" baseline="0" dirty="0" smtClean="0"/>
                  <a:t>Portanto, a regularização L2 não tende a produzir pesos iguais a zero.</a:t>
                </a:r>
              </a:p>
              <a:p>
                <a:pPr marL="171450" indent="-171450">
                  <a:buFont typeface="Arial" panose="020B0604020202020204" pitchFamily="34" charset="0"/>
                  <a:buChar char="•"/>
                </a:pPr>
                <a:endParaRPr lang="pt-BR" b="0" baseline="0" dirty="0" smtClean="0"/>
              </a:p>
              <a:p>
                <a:pPr marL="171450" indent="-171450">
                  <a:buFont typeface="Arial" panose="020B0604020202020204" pitchFamily="34" charset="0"/>
                  <a:buChar char="•"/>
                </a:pPr>
                <a:endParaRPr lang="pt-BR" b="1" dirty="0" smtClean="0"/>
              </a:p>
              <a:p>
                <a:endParaRPr lang="pt-BR" dirty="0" smtClean="0"/>
              </a:p>
              <a:p>
                <a:endParaRPr lang="pt-BR" dirty="0" smtClean="0"/>
              </a:p>
              <a:p>
                <a:r>
                  <a:rPr lang="pt-BR" dirty="0" smtClean="0"/>
                  <a:t>Para mais informações, por favor, leia a seção 18.6.2 do livro do Peter Norvig.</a:t>
                </a:r>
                <a:endParaRPr lang="pt-BR" dirty="0"/>
              </a:p>
            </p:txBody>
          </p:sp>
        </mc:Fallback>
      </mc:AlternateContent>
      <p:sp>
        <p:nvSpPr>
          <p:cNvPr id="4" name="Slide Number Placeholder 3"/>
          <p:cNvSpPr>
            <a:spLocks noGrp="1"/>
          </p:cNvSpPr>
          <p:nvPr>
            <p:ph type="sldNum" sz="quarter" idx="10"/>
          </p:nvPr>
        </p:nvSpPr>
        <p:spPr/>
        <p:txBody>
          <a:bodyPr/>
          <a:lstStyle/>
          <a:p>
            <a:fld id="{DA8B99DF-01BC-492A-8CEF-4FD88D18DD9D}" type="slidenum">
              <a:rPr lang="nl-BE" smtClean="0"/>
              <a:t>113</a:t>
            </a:fld>
            <a:endParaRPr lang="nl-BE"/>
          </a:p>
        </p:txBody>
      </p:sp>
    </p:spTree>
    <p:extLst>
      <p:ext uri="{BB962C8B-B14F-4D97-AF65-F5344CB8AC3E}">
        <p14:creationId xmlns:p14="http://schemas.microsoft.com/office/powerpoint/2010/main" val="69131313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DA8B99DF-01BC-492A-8CEF-4FD88D18DD9D}" type="slidenum">
              <a:rPr lang="nl-BE" smtClean="0"/>
              <a:t>114</a:t>
            </a:fld>
            <a:endParaRPr lang="nl-BE"/>
          </a:p>
        </p:txBody>
      </p:sp>
    </p:spTree>
    <p:extLst>
      <p:ext uri="{BB962C8B-B14F-4D97-AF65-F5344CB8AC3E}">
        <p14:creationId xmlns:p14="http://schemas.microsoft.com/office/powerpoint/2010/main" val="208383190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Uma solução intermediária entre </a:t>
                </a:r>
                <a:r>
                  <a:rPr lang="pt-BR" dirty="0" err="1"/>
                  <a:t>ridge</a:t>
                </a:r>
                <a:r>
                  <a:rPr lang="pt-BR" dirty="0"/>
                  <a:t> regression e LASSO é a elastic net,</a:t>
                </a:r>
                <a:r>
                  <a:rPr lang="pt-BR" baseline="0" dirty="0"/>
                  <a:t> </a:t>
                </a:r>
                <a:r>
                  <a:rPr lang="pt-BR" dirty="0"/>
                  <a:t>a qual faz uso de uma combinação entre as penalizações baseadas nas normas L1 e L2 do vetor de pesos.</a:t>
                </a:r>
              </a:p>
              <a:p>
                <a:endParaRPr lang="pt-BR" dirty="0"/>
              </a:p>
              <a:p>
                <a:r>
                  <a:rPr lang="pt-BR" dirty="0"/>
                  <a:t>Quando </a:t>
                </a:r>
                <a14:m>
                  <m:oMath xmlns:m="http://schemas.openxmlformats.org/officeDocument/2006/math">
                    <m:r>
                      <a:rPr lang="pt-BR" b="0" i="1" smtClean="0">
                        <a:latin typeface="Cambria Math" panose="02040503050406030204" pitchFamily="18" charset="0"/>
                        <a:ea typeface="Cambria Math" panose="02040503050406030204" pitchFamily="18" charset="0"/>
                      </a:rPr>
                      <m:t>𝜅</m:t>
                    </m:r>
                  </m:oMath>
                </a14:m>
                <a:r>
                  <a:rPr lang="pt-BR" dirty="0"/>
                  <a:t> = 0, a Elastic-net é equivalente à Ridge regression, e quando </a:t>
                </a:r>
                <a14:m>
                  <m:oMath xmlns:m="http://schemas.openxmlformats.org/officeDocument/2006/math">
                    <m:r>
                      <a:rPr lang="pt-BR" b="0" i="1" smtClean="0">
                        <a:latin typeface="Cambria Math" panose="02040503050406030204" pitchFamily="18" charset="0"/>
                        <a:ea typeface="Cambria Math" panose="02040503050406030204" pitchFamily="18" charset="0"/>
                      </a:rPr>
                      <m:t>𝜅</m:t>
                    </m:r>
                  </m:oMath>
                </a14:m>
                <a:r>
                  <a:rPr lang="pt-BR" dirty="0"/>
                  <a:t> = 1, ela</a:t>
                </a:r>
                <a:r>
                  <a:rPr lang="pt-BR" baseline="0" dirty="0"/>
                  <a:t> </a:t>
                </a:r>
                <a:r>
                  <a:rPr lang="pt-BR" dirty="0"/>
                  <a:t>é equivalente à Regressão Lasso.</a:t>
                </a:r>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 </a:t>
                </a:r>
                <a:r>
                  <a:rPr lang="pt-BR" dirty="0">
                    <a:hlinkClick r:id="rId3"/>
                  </a:rPr>
                  <a:t>elastic_net_regression.ipynb</a:t>
                </a:r>
                <a:endParaRPr lang="pt-BR" dirty="0"/>
              </a:p>
            </p:txBody>
          </p:sp>
        </mc:Choice>
        <mc:Fallback xmlns="">
          <p:sp>
            <p:nvSpPr>
              <p:cNvPr id="3" name="Notes Placeholder 2"/>
              <p:cNvSpPr>
                <a:spLocks noGrp="1"/>
              </p:cNvSpPr>
              <p:nvPr>
                <p:ph type="body" idx="1"/>
              </p:nvPr>
            </p:nvSpPr>
            <p:spPr/>
            <p:txBody>
              <a:bodyPr/>
              <a:lstStyle/>
              <a:p>
                <a:r>
                  <a:rPr lang="pt-BR" dirty="0" smtClean="0"/>
                  <a:t>Uma solução intermediária entre ridge regression e LASSO é a elastic net,</a:t>
                </a:r>
                <a:r>
                  <a:rPr lang="pt-BR" baseline="0" dirty="0" smtClean="0"/>
                  <a:t> </a:t>
                </a:r>
                <a:r>
                  <a:rPr lang="pt-BR" dirty="0" smtClean="0"/>
                  <a:t>a qual faz uso de uma combinação entre as penalizações baseadas nas normas L1 e L2 do vetor de pesos.</a:t>
                </a:r>
              </a:p>
              <a:p>
                <a:endParaRPr lang="pt-BR" dirty="0" smtClean="0"/>
              </a:p>
              <a:p>
                <a:r>
                  <a:rPr lang="pt-BR" dirty="0" smtClean="0"/>
                  <a:t>Quando </a:t>
                </a:r>
                <a:r>
                  <a:rPr lang="pt-BR" b="0" i="0" smtClean="0">
                    <a:latin typeface="Cambria Math" panose="02040503050406030204" pitchFamily="18" charset="0"/>
                    <a:ea typeface="Cambria Math" panose="02040503050406030204" pitchFamily="18" charset="0"/>
                  </a:rPr>
                  <a:t>𝜅</a:t>
                </a:r>
                <a:r>
                  <a:rPr lang="pt-BR" dirty="0" smtClean="0"/>
                  <a:t> = 0, a Elastic-net é equivalente à Ridge regression, e quando </a:t>
                </a:r>
                <a:r>
                  <a:rPr lang="pt-BR" b="0" i="0" smtClean="0">
                    <a:latin typeface="Cambria Math" panose="02040503050406030204" pitchFamily="18" charset="0"/>
                    <a:ea typeface="Cambria Math" panose="02040503050406030204" pitchFamily="18" charset="0"/>
                  </a:rPr>
                  <a:t>𝜅</a:t>
                </a:r>
                <a:r>
                  <a:rPr lang="pt-BR" dirty="0" smtClean="0"/>
                  <a:t> = 1, ela</a:t>
                </a:r>
                <a:r>
                  <a:rPr lang="pt-BR" baseline="0" dirty="0" smtClean="0"/>
                  <a:t> </a:t>
                </a:r>
                <a:r>
                  <a:rPr lang="pt-BR" dirty="0" smtClean="0"/>
                  <a:t>é equivalente à Regressão Lasso.</a:t>
                </a:r>
                <a:endParaRPr lang="pt-BR" dirty="0"/>
              </a:p>
            </p:txBody>
          </p:sp>
        </mc:Fallback>
      </mc:AlternateContent>
      <p:sp>
        <p:nvSpPr>
          <p:cNvPr id="4" name="Slide Number Placeholder 3"/>
          <p:cNvSpPr>
            <a:spLocks noGrp="1"/>
          </p:cNvSpPr>
          <p:nvPr>
            <p:ph type="sldNum" sz="quarter" idx="10"/>
          </p:nvPr>
        </p:nvSpPr>
        <p:spPr/>
        <p:txBody>
          <a:bodyPr/>
          <a:lstStyle/>
          <a:p>
            <a:fld id="{DA8B99DF-01BC-492A-8CEF-4FD88D18DD9D}" type="slidenum">
              <a:rPr lang="nl-BE" smtClean="0"/>
              <a:t>115</a:t>
            </a:fld>
            <a:endParaRPr lang="nl-BE"/>
          </a:p>
        </p:txBody>
      </p:sp>
    </p:spTree>
    <p:extLst>
      <p:ext uri="{BB962C8B-B14F-4D97-AF65-F5344CB8AC3E}">
        <p14:creationId xmlns:p14="http://schemas.microsoft.com/office/powerpoint/2010/main" val="526847666"/>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Então, quando você deve usar a regressão linear, Ridge, LASSO ou Elastic-Net? </a:t>
            </a:r>
          </a:p>
          <a:p>
            <a:endParaRPr lang="pt-BR" dirty="0"/>
          </a:p>
          <a:p>
            <a:r>
              <a:rPr lang="pt-BR" dirty="0"/>
              <a:t>Quase sempre é preferível ter pelo menos um pouco de regularização, então geralmente você deve evitar a regressão linear simples. Ridge é um bom começo, mas se você suspeitar que apenas alguns atributos são realmente úteis, você deve preferir LASSO ou Elastic-Net, pois eles tendem a reduzir os pesos dos atributos inúteis a zero. Em geral, o Elastic-Net é preferível ao LASSO, pois o LASSO pode se comportar de maneira errática quando o número de atributos é maior do que o número de exemplos de treinamento ou quando vários atributos</a:t>
            </a:r>
            <a:r>
              <a:rPr lang="pt-BR" baseline="0" dirty="0"/>
              <a:t> </a:t>
            </a:r>
            <a:r>
              <a:rPr lang="pt-BR" dirty="0"/>
              <a:t>são fortemente correlacionados</a:t>
            </a:r>
          </a:p>
          <a:p>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116</a:t>
            </a:fld>
            <a:endParaRPr lang="nl-BE"/>
          </a:p>
        </p:txBody>
      </p:sp>
    </p:spTree>
    <p:extLst>
      <p:ext uri="{BB962C8B-B14F-4D97-AF65-F5344CB8AC3E}">
        <p14:creationId xmlns:p14="http://schemas.microsoft.com/office/powerpoint/2010/main" val="305406936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0BC36-1FDF-FEE8-C541-46697B67CE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EBC82F-8B5B-3288-61CC-79BFAF89D1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BC0EC4-1ACB-EF06-1D16-DF2771364701}"/>
              </a:ext>
            </a:extLst>
          </p:cNvPr>
          <p:cNvSpPr>
            <a:spLocks noGrp="1"/>
          </p:cNvSpPr>
          <p:nvPr>
            <p:ph type="body" idx="1"/>
          </p:nvPr>
        </p:nvSpPr>
        <p:spPr/>
        <p:txBody>
          <a:bodyPr/>
          <a:lstStyle/>
          <a:p>
            <a:r>
              <a:rPr lang="pt-BR" dirty="0"/>
              <a:t>Então, quando você deve usar a regressão linear, Ridge, LASSO ou Elastic-Net? </a:t>
            </a:r>
          </a:p>
          <a:p>
            <a:endParaRPr lang="pt-BR" dirty="0"/>
          </a:p>
          <a:p>
            <a:r>
              <a:rPr lang="pt-BR" dirty="0"/>
              <a:t>Quase sempre é preferível ter pelo menos um pouco de regularização, então geralmente você deve evitar a regressão linear simples. Ridge é um bom começo, mas se você suspeitar que apenas alguns atributos são realmente úteis, você deve preferir LASSO ou Elastic-Net, pois eles tendem a reduzir os pesos dos atributos inúteis a zero. Em geral, o Elastic-Net é preferível ao LASSO, pois o LASSO pode se comportar de maneira errática quando o número de atributos é maior do que o número de exemplos de treinamento ou quando vários atributos</a:t>
            </a:r>
            <a:r>
              <a:rPr lang="pt-BR" baseline="0" dirty="0"/>
              <a:t> </a:t>
            </a:r>
            <a:r>
              <a:rPr lang="pt-BR" dirty="0"/>
              <a:t>são fortemente correlacionados</a:t>
            </a:r>
          </a:p>
          <a:p>
            <a:endParaRPr lang="pt-BR" dirty="0"/>
          </a:p>
          <a:p>
            <a:endParaRPr lang="pt-BR" dirty="0"/>
          </a:p>
        </p:txBody>
      </p:sp>
      <p:sp>
        <p:nvSpPr>
          <p:cNvPr id="4" name="Slide Number Placeholder 3">
            <a:extLst>
              <a:ext uri="{FF2B5EF4-FFF2-40B4-BE49-F238E27FC236}">
                <a16:creationId xmlns:a16="http://schemas.microsoft.com/office/drawing/2014/main" id="{9D01B4F3-B3B8-A2F5-DD71-1CD91D7458CF}"/>
              </a:ext>
            </a:extLst>
          </p:cNvPr>
          <p:cNvSpPr>
            <a:spLocks noGrp="1"/>
          </p:cNvSpPr>
          <p:nvPr>
            <p:ph type="sldNum" sz="quarter" idx="10"/>
          </p:nvPr>
        </p:nvSpPr>
        <p:spPr/>
        <p:txBody>
          <a:bodyPr/>
          <a:lstStyle/>
          <a:p>
            <a:fld id="{DA8B99DF-01BC-492A-8CEF-4FD88D18DD9D}" type="slidenum">
              <a:rPr lang="nl-BE" smtClean="0"/>
              <a:t>117</a:t>
            </a:fld>
            <a:endParaRPr lang="nl-BE"/>
          </a:p>
        </p:txBody>
      </p:sp>
    </p:spTree>
    <p:extLst>
      <p:ext uri="{BB962C8B-B14F-4D97-AF65-F5344CB8AC3E}">
        <p14:creationId xmlns:p14="http://schemas.microsoft.com/office/powerpoint/2010/main" val="292409399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en-US" dirty="0"/>
          </a:p>
          <a:p>
            <a:r>
              <a:rPr lang="en-US" dirty="0" err="1"/>
              <a:t>Intuitivamente</a:t>
            </a:r>
            <a:r>
              <a:rPr lang="en-US" dirty="0"/>
              <a:t>, o </a:t>
            </a:r>
            <a:r>
              <a:rPr lang="en-US" dirty="0" err="1"/>
              <a:t>algoritmo</a:t>
            </a:r>
            <a:r>
              <a:rPr lang="en-US" dirty="0"/>
              <a:t> do </a:t>
            </a:r>
            <a:r>
              <a:rPr lang="en-US" dirty="0" err="1"/>
              <a:t>gradiente</a:t>
            </a:r>
            <a:r>
              <a:rPr lang="en-US" dirty="0"/>
              <a:t> </a:t>
            </a:r>
            <a:r>
              <a:rPr lang="en-US" dirty="0" err="1"/>
              <a:t>descendente</a:t>
            </a:r>
            <a:r>
              <a:rPr lang="en-US" dirty="0"/>
              <a:t> </a:t>
            </a:r>
            <a:r>
              <a:rPr lang="en-US" dirty="0" err="1"/>
              <a:t>tenderá</a:t>
            </a:r>
            <a:r>
              <a:rPr lang="en-US" dirty="0"/>
              <a:t> a </a:t>
            </a:r>
            <a:r>
              <a:rPr lang="en-US" dirty="0" err="1"/>
              <a:t>aprender</a:t>
            </a:r>
            <a:r>
              <a:rPr lang="en-US" dirty="0"/>
              <a:t> </a:t>
            </a:r>
            <a:r>
              <a:rPr lang="en-US" dirty="0" err="1"/>
              <a:t>modelos</a:t>
            </a:r>
            <a:r>
              <a:rPr lang="en-US" dirty="0"/>
              <a:t> </a:t>
            </a:r>
            <a:r>
              <a:rPr lang="en-US" dirty="0" err="1"/>
              <a:t>cada</a:t>
            </a:r>
            <a:r>
              <a:rPr lang="en-US" dirty="0"/>
              <a:t> </a:t>
            </a:r>
            <a:r>
              <a:rPr lang="en-US" dirty="0" err="1"/>
              <a:t>vez</a:t>
            </a:r>
            <a:r>
              <a:rPr lang="en-US" dirty="0"/>
              <a:t> </a:t>
            </a:r>
            <a:r>
              <a:rPr lang="en-US" dirty="0" err="1"/>
              <a:t>mais</a:t>
            </a:r>
            <a:r>
              <a:rPr lang="en-US" dirty="0"/>
              <a:t> </a:t>
            </a:r>
            <a:r>
              <a:rPr lang="en-US" dirty="0" err="1"/>
              <a:t>complexos</a:t>
            </a:r>
            <a:r>
              <a:rPr lang="en-US" dirty="0"/>
              <a:t> à </a:t>
            </a:r>
            <a:r>
              <a:rPr lang="en-US" dirty="0" err="1"/>
              <a:t>medida</a:t>
            </a:r>
            <a:r>
              <a:rPr lang="en-US" dirty="0"/>
              <a:t> que o </a:t>
            </a:r>
            <a:r>
              <a:rPr lang="en-US" dirty="0" err="1"/>
              <a:t>número</a:t>
            </a:r>
            <a:r>
              <a:rPr lang="en-US" dirty="0"/>
              <a:t> de </a:t>
            </a:r>
            <a:r>
              <a:rPr lang="en-US" dirty="0" err="1"/>
              <a:t>iterações</a:t>
            </a:r>
            <a:r>
              <a:rPr lang="en-US" dirty="0"/>
              <a:t> (</a:t>
            </a:r>
            <a:r>
              <a:rPr lang="en-US" dirty="0" err="1"/>
              <a:t>ou</a:t>
            </a:r>
            <a:r>
              <a:rPr lang="en-US" dirty="0"/>
              <a:t> </a:t>
            </a:r>
            <a:r>
              <a:rPr lang="en-US" dirty="0" err="1"/>
              <a:t>épocas</a:t>
            </a:r>
            <a:r>
              <a:rPr lang="en-US" dirty="0"/>
              <a:t>) </a:t>
            </a:r>
            <a:r>
              <a:rPr lang="en-US" dirty="0" err="1"/>
              <a:t>aumenta</a:t>
            </a:r>
            <a:r>
              <a:rPr lang="en-US" dirty="0"/>
              <a:t>. </a:t>
            </a:r>
            <a:r>
              <a:rPr lang="en-US" dirty="0" err="1"/>
              <a:t>Ao</a:t>
            </a:r>
            <a:r>
              <a:rPr lang="en-US" dirty="0"/>
              <a:t> </a:t>
            </a:r>
            <a:r>
              <a:rPr lang="en-US" dirty="0" err="1"/>
              <a:t>regularizar</a:t>
            </a:r>
            <a:r>
              <a:rPr lang="en-US" dirty="0"/>
              <a:t> no tempo, a </a:t>
            </a:r>
            <a:r>
              <a:rPr lang="en-US" dirty="0" err="1"/>
              <a:t>complexidade</a:t>
            </a:r>
            <a:r>
              <a:rPr lang="en-US" dirty="0"/>
              <a:t> do </a:t>
            </a:r>
            <a:r>
              <a:rPr lang="en-US" dirty="0" err="1"/>
              <a:t>modelo</a:t>
            </a:r>
            <a:r>
              <a:rPr lang="en-US" dirty="0"/>
              <a:t> </a:t>
            </a:r>
            <a:r>
              <a:rPr lang="en-US" dirty="0" err="1"/>
              <a:t>pode</a:t>
            </a:r>
            <a:r>
              <a:rPr lang="en-US" dirty="0"/>
              <a:t> </a:t>
            </a:r>
            <a:r>
              <a:rPr lang="en-US" dirty="0" err="1"/>
              <a:t>ser</a:t>
            </a:r>
            <a:r>
              <a:rPr lang="en-US" dirty="0"/>
              <a:t> </a:t>
            </a:r>
            <a:r>
              <a:rPr lang="en-US" dirty="0" err="1"/>
              <a:t>controlada</a:t>
            </a:r>
            <a:r>
              <a:rPr lang="en-US" dirty="0"/>
              <a:t>, </a:t>
            </a:r>
            <a:r>
              <a:rPr lang="en-US" dirty="0" err="1"/>
              <a:t>melhorando</a:t>
            </a:r>
            <a:r>
              <a:rPr lang="en-US" dirty="0"/>
              <a:t> </a:t>
            </a:r>
            <a:r>
              <a:rPr lang="en-US" dirty="0" err="1"/>
              <a:t>sua</a:t>
            </a:r>
            <a:r>
              <a:rPr lang="en-US" dirty="0"/>
              <a:t> </a:t>
            </a:r>
            <a:r>
              <a:rPr lang="en-US" dirty="0" err="1"/>
              <a:t>generalização</a:t>
            </a:r>
            <a:r>
              <a:rPr lang="en-US" dirty="0"/>
              <a:t>.</a:t>
            </a:r>
          </a:p>
          <a:p>
            <a:endParaRPr lang="en-US" dirty="0">
              <a:cs typeface="Calibri"/>
            </a:endParaRPr>
          </a:p>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118</a:t>
            </a:fld>
            <a:endParaRPr lang="nl-BE"/>
          </a:p>
        </p:txBody>
      </p:sp>
    </p:spTree>
    <p:extLst>
      <p:ext uri="{BB962C8B-B14F-4D97-AF65-F5344CB8AC3E}">
        <p14:creationId xmlns:p14="http://schemas.microsoft.com/office/powerpoint/2010/main" val="1507527125"/>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D4D6D-2CF8-B4CF-5A39-21E7475993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26A627-C493-7BC5-26F0-8F8BC31570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7C94AC-0241-614C-2069-9EC3FCC509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en-US" dirty="0"/>
          </a:p>
          <a:p>
            <a:r>
              <a:rPr lang="en-US" dirty="0" err="1"/>
              <a:t>Intuitivamente</a:t>
            </a:r>
            <a:r>
              <a:rPr lang="en-US" dirty="0"/>
              <a:t>, o </a:t>
            </a:r>
            <a:r>
              <a:rPr lang="en-US" dirty="0" err="1"/>
              <a:t>algoritmo</a:t>
            </a:r>
            <a:r>
              <a:rPr lang="en-US" dirty="0"/>
              <a:t> do </a:t>
            </a:r>
            <a:r>
              <a:rPr lang="en-US" dirty="0" err="1"/>
              <a:t>gradiente</a:t>
            </a:r>
            <a:r>
              <a:rPr lang="en-US" dirty="0"/>
              <a:t> </a:t>
            </a:r>
            <a:r>
              <a:rPr lang="en-US" dirty="0" err="1"/>
              <a:t>descendente</a:t>
            </a:r>
            <a:r>
              <a:rPr lang="en-US" dirty="0"/>
              <a:t> </a:t>
            </a:r>
            <a:r>
              <a:rPr lang="en-US" dirty="0" err="1"/>
              <a:t>tenderá</a:t>
            </a:r>
            <a:r>
              <a:rPr lang="en-US" dirty="0"/>
              <a:t> a </a:t>
            </a:r>
            <a:r>
              <a:rPr lang="en-US" dirty="0" err="1"/>
              <a:t>aprender</a:t>
            </a:r>
            <a:r>
              <a:rPr lang="en-US" dirty="0"/>
              <a:t> </a:t>
            </a:r>
            <a:r>
              <a:rPr lang="en-US" dirty="0" err="1"/>
              <a:t>modelos</a:t>
            </a:r>
            <a:r>
              <a:rPr lang="en-US" dirty="0"/>
              <a:t> </a:t>
            </a:r>
            <a:r>
              <a:rPr lang="en-US" dirty="0" err="1"/>
              <a:t>cada</a:t>
            </a:r>
            <a:r>
              <a:rPr lang="en-US" dirty="0"/>
              <a:t> </a:t>
            </a:r>
            <a:r>
              <a:rPr lang="en-US" dirty="0" err="1"/>
              <a:t>vez</a:t>
            </a:r>
            <a:r>
              <a:rPr lang="en-US" dirty="0"/>
              <a:t> </a:t>
            </a:r>
            <a:r>
              <a:rPr lang="en-US" dirty="0" err="1"/>
              <a:t>mais</a:t>
            </a:r>
            <a:r>
              <a:rPr lang="en-US" dirty="0"/>
              <a:t> </a:t>
            </a:r>
            <a:r>
              <a:rPr lang="en-US" dirty="0" err="1"/>
              <a:t>complexos</a:t>
            </a:r>
            <a:r>
              <a:rPr lang="en-US" dirty="0"/>
              <a:t> à </a:t>
            </a:r>
            <a:r>
              <a:rPr lang="en-US" dirty="0" err="1"/>
              <a:t>medida</a:t>
            </a:r>
            <a:r>
              <a:rPr lang="en-US" dirty="0"/>
              <a:t> que o </a:t>
            </a:r>
            <a:r>
              <a:rPr lang="en-US" dirty="0" err="1"/>
              <a:t>número</a:t>
            </a:r>
            <a:r>
              <a:rPr lang="en-US" dirty="0"/>
              <a:t> de </a:t>
            </a:r>
            <a:r>
              <a:rPr lang="en-US" dirty="0" err="1"/>
              <a:t>iterações</a:t>
            </a:r>
            <a:r>
              <a:rPr lang="en-US" dirty="0"/>
              <a:t> (</a:t>
            </a:r>
            <a:r>
              <a:rPr lang="en-US" dirty="0" err="1"/>
              <a:t>ou</a:t>
            </a:r>
            <a:r>
              <a:rPr lang="en-US" dirty="0"/>
              <a:t> </a:t>
            </a:r>
            <a:r>
              <a:rPr lang="en-US" dirty="0" err="1"/>
              <a:t>épocas</a:t>
            </a:r>
            <a:r>
              <a:rPr lang="en-US" dirty="0"/>
              <a:t>) </a:t>
            </a:r>
            <a:r>
              <a:rPr lang="en-US" dirty="0" err="1"/>
              <a:t>aumenta</a:t>
            </a:r>
            <a:r>
              <a:rPr lang="en-US" dirty="0"/>
              <a:t>. </a:t>
            </a:r>
            <a:r>
              <a:rPr lang="en-US" dirty="0" err="1"/>
              <a:t>Ao</a:t>
            </a:r>
            <a:r>
              <a:rPr lang="en-US" dirty="0"/>
              <a:t> </a:t>
            </a:r>
            <a:r>
              <a:rPr lang="en-US" dirty="0" err="1"/>
              <a:t>regularizar</a:t>
            </a:r>
            <a:r>
              <a:rPr lang="en-US" dirty="0"/>
              <a:t> no tempo, a </a:t>
            </a:r>
            <a:r>
              <a:rPr lang="en-US" dirty="0" err="1"/>
              <a:t>complexidade</a:t>
            </a:r>
            <a:r>
              <a:rPr lang="en-US" dirty="0"/>
              <a:t> do </a:t>
            </a:r>
            <a:r>
              <a:rPr lang="en-US" dirty="0" err="1"/>
              <a:t>modelo</a:t>
            </a:r>
            <a:r>
              <a:rPr lang="en-US" dirty="0"/>
              <a:t> </a:t>
            </a:r>
            <a:r>
              <a:rPr lang="en-US" dirty="0" err="1"/>
              <a:t>pode</a:t>
            </a:r>
            <a:r>
              <a:rPr lang="en-US" dirty="0"/>
              <a:t> </a:t>
            </a:r>
            <a:r>
              <a:rPr lang="en-US" dirty="0" err="1"/>
              <a:t>ser</a:t>
            </a:r>
            <a:r>
              <a:rPr lang="en-US" dirty="0"/>
              <a:t> </a:t>
            </a:r>
            <a:r>
              <a:rPr lang="en-US" dirty="0" err="1"/>
              <a:t>controlada</a:t>
            </a:r>
            <a:r>
              <a:rPr lang="en-US" dirty="0"/>
              <a:t>, </a:t>
            </a:r>
            <a:r>
              <a:rPr lang="en-US" dirty="0" err="1"/>
              <a:t>melhorando</a:t>
            </a:r>
            <a:r>
              <a:rPr lang="en-US" dirty="0"/>
              <a:t> </a:t>
            </a:r>
            <a:r>
              <a:rPr lang="en-US" dirty="0" err="1"/>
              <a:t>sua</a:t>
            </a:r>
            <a:r>
              <a:rPr lang="en-US" dirty="0"/>
              <a:t> </a:t>
            </a:r>
            <a:r>
              <a:rPr lang="en-US" dirty="0" err="1"/>
              <a:t>generalização</a:t>
            </a:r>
            <a:r>
              <a:rPr lang="en-US" dirty="0"/>
              <a:t>.</a:t>
            </a:r>
          </a:p>
          <a:p>
            <a:endParaRPr lang="en-US" dirty="0">
              <a:cs typeface="Calibri"/>
            </a:endParaRPr>
          </a:p>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pt-BR" dirty="0"/>
          </a:p>
        </p:txBody>
      </p:sp>
      <p:sp>
        <p:nvSpPr>
          <p:cNvPr id="4" name="Slide Number Placeholder 3">
            <a:extLst>
              <a:ext uri="{FF2B5EF4-FFF2-40B4-BE49-F238E27FC236}">
                <a16:creationId xmlns:a16="http://schemas.microsoft.com/office/drawing/2014/main" id="{873FE963-A65D-1D91-323F-535C42DC5ED4}"/>
              </a:ext>
            </a:extLst>
          </p:cNvPr>
          <p:cNvSpPr>
            <a:spLocks noGrp="1"/>
          </p:cNvSpPr>
          <p:nvPr>
            <p:ph type="sldNum" sz="quarter" idx="10"/>
          </p:nvPr>
        </p:nvSpPr>
        <p:spPr/>
        <p:txBody>
          <a:bodyPr/>
          <a:lstStyle/>
          <a:p>
            <a:fld id="{DA8B99DF-01BC-492A-8CEF-4FD88D18DD9D}" type="slidenum">
              <a:rPr lang="nl-BE" smtClean="0"/>
              <a:t>119</a:t>
            </a:fld>
            <a:endParaRPr lang="nl-BE"/>
          </a:p>
        </p:txBody>
      </p:sp>
    </p:spTree>
    <p:extLst>
      <p:ext uri="{BB962C8B-B14F-4D97-AF65-F5344CB8AC3E}">
        <p14:creationId xmlns:p14="http://schemas.microsoft.com/office/powerpoint/2010/main" val="359330880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conjunto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conjunto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a:t>
            </a:r>
            <a:r>
              <a:rPr lang="en-US" dirty="0" err="1"/>
              <a:t>o</a:t>
            </a:r>
            <a:r>
              <a:rPr lang="en-US" dirty="0"/>
              <a:t> </a:t>
            </a:r>
            <a:r>
              <a:rPr lang="en-US" dirty="0" err="1"/>
              <a:t>desempenho</a:t>
            </a:r>
            <a:r>
              <a:rPr lang="en-US" dirty="0"/>
              <a:t> no conjunto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conjunto de testes.</a:t>
            </a:r>
          </a:p>
        </p:txBody>
      </p:sp>
      <p:sp>
        <p:nvSpPr>
          <p:cNvPr id="4" name="Slide Number Placeholder 3"/>
          <p:cNvSpPr>
            <a:spLocks noGrp="1"/>
          </p:cNvSpPr>
          <p:nvPr>
            <p:ph type="sldNum" sz="quarter" idx="5"/>
          </p:nvPr>
        </p:nvSpPr>
        <p:spPr/>
        <p:txBody>
          <a:bodyPr/>
          <a:lstStyle/>
          <a:p>
            <a:fld id="{DA8B99DF-01BC-492A-8CEF-4FD88D18DD9D}" type="slidenum">
              <a:rPr lang="nl-BE" smtClean="0"/>
              <a:t>120</a:t>
            </a:fld>
            <a:endParaRPr lang="nl-BE"/>
          </a:p>
        </p:txBody>
      </p:sp>
    </p:spTree>
    <p:extLst>
      <p:ext uri="{BB962C8B-B14F-4D97-AF65-F5344CB8AC3E}">
        <p14:creationId xmlns:p14="http://schemas.microsoft.com/office/powerpoint/2010/main" val="18877676"/>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solidFill>
                  <a:srgbClr val="00B0F0"/>
                </a:solidFill>
              </a:rPr>
              <a:t>Exemplo</a:t>
            </a:r>
            <a:r>
              <a:rPr lang="pt-BR" dirty="0">
                <a:solidFill>
                  <a:srgbClr val="00B0F0"/>
                </a:solidFill>
              </a:rPr>
              <a:t>: early_stoppingv3.ipynb</a:t>
            </a:r>
            <a:endParaRPr lang="pt-BR" dirty="0"/>
          </a:p>
          <a:p>
            <a:endParaRPr lang="pt-BR" dirty="0"/>
          </a:p>
          <a:p>
            <a:r>
              <a:rPr lang="pt-BR" dirty="0"/>
              <a:t>A figura mostra um modelo complexo (um modelo de regressão polinomial de alto grau) sendo treinado usando</a:t>
            </a:r>
            <a:r>
              <a:rPr lang="pt-BR" baseline="0" dirty="0"/>
              <a:t> o gradiente descendente estocástico</a:t>
            </a:r>
            <a:r>
              <a:rPr lang="pt-BR" dirty="0"/>
              <a:t>. À medida que as épocas passam, o algoritmo aprende e seu erro quadrático médio no conjunto de treinamento diminui, juntamente com</a:t>
            </a:r>
            <a:r>
              <a:rPr lang="pt-BR" baseline="0" dirty="0"/>
              <a:t> o </a:t>
            </a:r>
            <a:r>
              <a:rPr lang="pt-BR" dirty="0"/>
              <a:t>erro de predição no conjunto de validação. No entanto, após algumas</a:t>
            </a:r>
            <a:r>
              <a:rPr lang="pt-BR" baseline="0" dirty="0"/>
              <a:t> épocas</a:t>
            </a:r>
            <a:r>
              <a:rPr lang="pt-BR" dirty="0"/>
              <a:t>, o erro de validação para de diminuir e começa a voltar a crescer. Isso indica que o modelo começou a sobreajustar os dados de treinamento. Com a parada antecipada, você apenas para de treinar assim que o erro de validação atinge o mínimo.</a:t>
            </a:r>
          </a:p>
          <a:p>
            <a:endParaRPr lang="pt-BR" dirty="0"/>
          </a:p>
          <a:p>
            <a:r>
              <a:rPr lang="pt-BR" b="1" dirty="0"/>
              <a:t>Dica</a:t>
            </a:r>
            <a:r>
              <a:rPr lang="pt-BR" dirty="0"/>
              <a:t>: Com</a:t>
            </a:r>
            <a:r>
              <a:rPr lang="pt-BR" baseline="0" dirty="0"/>
              <a:t> o gradiente descendente estocástico e o mini-batch</a:t>
            </a:r>
            <a:r>
              <a:rPr lang="pt-BR" dirty="0"/>
              <a:t>, as curvas de erro não são tão suaves e pode ser difícil saber se você atingiu o mínimo ou não. Uma solução é parar apenas depois que o erro de validação estiver acima do mínimo por algum tempo (quando você estiver confiante de que o modelo não ficará melhor) e reverta os pesos do modelo para o ponto em que o erro de validação atingiu o mínimo.</a:t>
            </a:r>
          </a:p>
          <a:p>
            <a:endParaRPr lang="pt-BR" dirty="0"/>
          </a:p>
          <a:p>
            <a:r>
              <a:rPr lang="pt-BR" b="1" dirty="0"/>
              <a:t>Exemplo</a:t>
            </a:r>
            <a:r>
              <a:rPr lang="pt-BR"/>
              <a:t>: early_stoppingv2.ipynb</a:t>
            </a:r>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121</a:t>
            </a:fld>
            <a:endParaRPr lang="nl-BE"/>
          </a:p>
        </p:txBody>
      </p:sp>
    </p:spTree>
    <p:extLst>
      <p:ext uri="{BB962C8B-B14F-4D97-AF65-F5344CB8AC3E}">
        <p14:creationId xmlns:p14="http://schemas.microsoft.com/office/powerpoint/2010/main" val="1250587823"/>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33155-29A2-1C0C-E69A-007969EC57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7F37CF-1D76-2644-52BE-23ADA5650B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96DEEC-7B59-6E0B-D5BB-863C3C3EF3E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solidFill>
                  <a:srgbClr val="00B0F0"/>
                </a:solidFill>
              </a:rPr>
              <a:t>Exemplo</a:t>
            </a:r>
            <a:r>
              <a:rPr lang="pt-BR" dirty="0">
                <a:solidFill>
                  <a:srgbClr val="00B0F0"/>
                </a:solidFill>
              </a:rPr>
              <a:t>: early_stoppingv3.ipynb</a:t>
            </a:r>
            <a:endParaRPr lang="pt-BR" dirty="0"/>
          </a:p>
          <a:p>
            <a:endParaRPr lang="pt-BR" dirty="0"/>
          </a:p>
          <a:p>
            <a:r>
              <a:rPr lang="pt-BR" dirty="0"/>
              <a:t>A figura mostra um modelo complexo (um modelo de regressão polinomial de alto grau) sendo treinado usando</a:t>
            </a:r>
            <a:r>
              <a:rPr lang="pt-BR" baseline="0" dirty="0"/>
              <a:t> o gradiente descendente estocástico</a:t>
            </a:r>
            <a:r>
              <a:rPr lang="pt-BR" dirty="0"/>
              <a:t>. À medida que as épocas passam, o algoritmo aprende e seu erro quadrático médio no conjunto de treinamento diminui, juntamente com</a:t>
            </a:r>
            <a:r>
              <a:rPr lang="pt-BR" baseline="0" dirty="0"/>
              <a:t> o </a:t>
            </a:r>
            <a:r>
              <a:rPr lang="pt-BR" dirty="0"/>
              <a:t>erro de predição no conjunto de validação. No entanto, após algumas</a:t>
            </a:r>
            <a:r>
              <a:rPr lang="pt-BR" baseline="0" dirty="0"/>
              <a:t> épocas</a:t>
            </a:r>
            <a:r>
              <a:rPr lang="pt-BR" dirty="0"/>
              <a:t>, o erro de validação para de diminuir e começa a voltar a crescer. Isso indica que o modelo começou a sobreajustar os dados de treinamento. Com a parada antecipada, você apenas para de treinar assim que o erro de validação atinge o mínimo.</a:t>
            </a:r>
          </a:p>
          <a:p>
            <a:endParaRPr lang="pt-BR" dirty="0"/>
          </a:p>
          <a:p>
            <a:r>
              <a:rPr lang="pt-BR" b="1" dirty="0"/>
              <a:t>Dica</a:t>
            </a:r>
            <a:r>
              <a:rPr lang="pt-BR" dirty="0"/>
              <a:t>: Com</a:t>
            </a:r>
            <a:r>
              <a:rPr lang="pt-BR" baseline="0" dirty="0"/>
              <a:t> o gradiente descendente estocástico e o mini-batch</a:t>
            </a:r>
            <a:r>
              <a:rPr lang="pt-BR" dirty="0"/>
              <a:t>, as curvas de erro não são tão suaves e pode ser difícil saber se você atingiu o mínimo ou não. Uma solução é parar apenas depois que o erro de validação estiver acima do mínimo por algum tempo (quando você estiver confiante de que o modelo não ficará melhor) e reverta os pesos do modelo para o ponto em que o erro de validação atingiu o mínimo.</a:t>
            </a:r>
          </a:p>
          <a:p>
            <a:endParaRPr lang="pt-BR" dirty="0"/>
          </a:p>
          <a:p>
            <a:r>
              <a:rPr lang="pt-BR" b="1" dirty="0"/>
              <a:t>Exemplo</a:t>
            </a:r>
            <a:r>
              <a:rPr lang="pt-BR"/>
              <a:t>: early_stoppingv2.ipynb</a:t>
            </a:r>
            <a:endParaRPr lang="pt-BR" dirty="0"/>
          </a:p>
        </p:txBody>
      </p:sp>
      <p:sp>
        <p:nvSpPr>
          <p:cNvPr id="4" name="Slide Number Placeholder 3">
            <a:extLst>
              <a:ext uri="{FF2B5EF4-FFF2-40B4-BE49-F238E27FC236}">
                <a16:creationId xmlns:a16="http://schemas.microsoft.com/office/drawing/2014/main" id="{8B1F7C99-86C3-4AAA-56E8-11E1CD345EC4}"/>
              </a:ext>
            </a:extLst>
          </p:cNvPr>
          <p:cNvSpPr>
            <a:spLocks noGrp="1"/>
          </p:cNvSpPr>
          <p:nvPr>
            <p:ph type="sldNum" sz="quarter" idx="10"/>
          </p:nvPr>
        </p:nvSpPr>
        <p:spPr/>
        <p:txBody>
          <a:bodyPr/>
          <a:lstStyle/>
          <a:p>
            <a:fld id="{DA8B99DF-01BC-492A-8CEF-4FD88D18DD9D}" type="slidenum">
              <a:rPr lang="nl-BE" smtClean="0"/>
              <a:t>122</a:t>
            </a:fld>
            <a:endParaRPr lang="nl-BE"/>
          </a:p>
        </p:txBody>
      </p:sp>
    </p:spTree>
    <p:extLst>
      <p:ext uri="{BB962C8B-B14F-4D97-AF65-F5344CB8AC3E}">
        <p14:creationId xmlns:p14="http://schemas.microsoft.com/office/powerpoint/2010/main" val="23847166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24/08/2026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24/08/2026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4.png"/><Relationship Id="rId7" Type="http://schemas.openxmlformats.org/officeDocument/2006/relationships/image" Target="../media/image7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91.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31.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5.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20.png"/><Relationship Id="rId5" Type="http://schemas.openxmlformats.org/officeDocument/2006/relationships/image" Target="../media/image560.png"/><Relationship Id="rId4" Type="http://schemas.openxmlformats.org/officeDocument/2006/relationships/image" Target="../media/image550.png"/></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7.xml.rels><?xml version="1.0" encoding="UTF-8" standalone="yes"?>
<Relationships xmlns="http://schemas.openxmlformats.org/package/2006/relationships"><Relationship Id="rId7" Type="http://schemas.openxmlformats.org/officeDocument/2006/relationships/image" Target="../media/image37.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5.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1.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6.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2.png"/><Relationship Id="rId7" Type="http://schemas.openxmlformats.org/officeDocument/2006/relationships/image" Target="../media/image180.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7.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3.png"/><Relationship Id="rId7" Type="http://schemas.openxmlformats.org/officeDocument/2006/relationships/image" Target="../media/image18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38.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4.png"/><Relationship Id="rId7" Type="http://schemas.openxmlformats.org/officeDocument/2006/relationships/image" Target="../media/image48.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 Id="rId9" Type="http://schemas.openxmlformats.org/officeDocument/2006/relationships/image" Target="../media/image200.png"/></Relationships>
</file>

<file path=ppt/slides/_rels/slide39.xml.rels><?xml version="1.0" encoding="UTF-8" standalone="yes"?>
<Relationships xmlns="http://schemas.openxmlformats.org/package/2006/relationships"><Relationship Id="rId8" Type="http://schemas.openxmlformats.org/officeDocument/2006/relationships/image" Target="../media/image190.png"/><Relationship Id="rId7" Type="http://schemas.openxmlformats.org/officeDocument/2006/relationships/image" Target="../media/image180.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0.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41.xml.rels><?xml version="1.0" encoding="UTF-8" standalone="yes"?>
<Relationships xmlns="http://schemas.openxmlformats.org/package/2006/relationships"><Relationship Id="rId3" Type="http://schemas.openxmlformats.org/officeDocument/2006/relationships/image" Target="../media/image431.png"/><Relationship Id="rId2" Type="http://schemas.openxmlformats.org/officeDocument/2006/relationships/image" Target="../media/image51.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4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4.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5.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6.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47.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8.xml.rels><?xml version="1.0" encoding="UTF-8" standalone="yes"?>
<Relationships xmlns="http://schemas.openxmlformats.org/package/2006/relationships"><Relationship Id="rId3" Type="http://schemas.openxmlformats.org/officeDocument/2006/relationships/image" Target="../media/image461.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481.png"/><Relationship Id="rId4" Type="http://schemas.openxmlformats.org/officeDocument/2006/relationships/image" Target="../media/image472.png"/></Relationships>
</file>

<file path=ppt/slides/_rels/slide4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gif"/><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91.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52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30.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41.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55.jpe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6.jpe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57.jpeg"/></Relationships>
</file>

<file path=ppt/slides/_rels/slide62.xml.rels><?xml version="1.0" encoding="UTF-8" standalone="yes"?>
<Relationships xmlns="http://schemas.openxmlformats.org/package/2006/relationships"><Relationship Id="rId2" Type="http://schemas.openxmlformats.org/officeDocument/2006/relationships/image" Target="../media/image58.jpe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3.xml"/><Relationship Id="rId1" Type="http://schemas.openxmlformats.org/officeDocument/2006/relationships/slideLayout" Target="../slideLayouts/slideLayout2.xml"/><Relationship Id="rId5" Type="http://schemas.openxmlformats.org/officeDocument/2006/relationships/image" Target="../media/image61.png"/><Relationship Id="rId4" Type="http://schemas.openxmlformats.org/officeDocument/2006/relationships/image" Target="../media/image620.png"/></Relationships>
</file>

<file path=ppt/slides/_rels/slide74.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4.xml"/><Relationship Id="rId1" Type="http://schemas.openxmlformats.org/officeDocument/2006/relationships/slideLayout" Target="../slideLayouts/slideLayout2.xml"/><Relationship Id="rId5" Type="http://schemas.openxmlformats.org/officeDocument/2006/relationships/image" Target="../media/image620.png"/><Relationship Id="rId4" Type="http://schemas.openxmlformats.org/officeDocument/2006/relationships/image" Target="../media/image61.png"/></Relationships>
</file>

<file path=ppt/slides/_rels/slide75.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76.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media/image651.png"/><Relationship Id="rId4" Type="http://schemas.openxmlformats.org/officeDocument/2006/relationships/image" Target="../media/image640.png"/></Relationships>
</file>

<file path=ppt/slides/_rels/slide8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69.png"/><Relationship Id="rId5" Type="http://schemas.openxmlformats.org/officeDocument/2006/relationships/image" Target="../media/image68.jpeg"/><Relationship Id="rId4" Type="http://schemas.openxmlformats.org/officeDocument/2006/relationships/image" Target="../media/image67.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5%20-%20Regress%C3%A3o.pdf" TargetMode="Externa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520.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47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NUL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73.png"/></Relationships>
</file>

<file path=ppt/slides/_rels/slide111.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73.png"/></Relationships>
</file>

<file path=ppt/slides/_rels/slide112.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0.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75.png"/></Relationships>
</file>

<file path=ppt/slides/_rels/slide113.xml.rels><?xml version="1.0" encoding="UTF-8" standalone="yes"?>
<Relationships xmlns="http://schemas.openxmlformats.org/package/2006/relationships"><Relationship Id="rId3" Type="http://schemas.openxmlformats.org/officeDocument/2006/relationships/image" Target="NULL"/><Relationship Id="rId7" Type="http://schemas.openxmlformats.org/officeDocument/2006/relationships/image" Target="../media/image77.pn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76.png"/><Relationship Id="rId5" Type="http://schemas.openxmlformats.org/officeDocument/2006/relationships/image" Target="NULL"/><Relationship Id="rId4" Type="http://schemas.openxmlformats.org/officeDocument/2006/relationships/image" Target="NUL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3.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78.png"/></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79.xml"/><Relationship Id="rId1" Type="http://schemas.openxmlformats.org/officeDocument/2006/relationships/slideLayout" Target="../slideLayouts/slideLayout2.xml"/><Relationship Id="rId5" Type="http://schemas.openxmlformats.org/officeDocument/2006/relationships/image" Target="../media/image84.png"/><Relationship Id="rId4" Type="http://schemas.openxmlformats.org/officeDocument/2006/relationships/image" Target="../media/image83.png"/></Relationships>
</file>

<file path=ppt/slides/_rels/slide122.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80.xml"/><Relationship Id="rId1" Type="http://schemas.openxmlformats.org/officeDocument/2006/relationships/slideLayout" Target="../slideLayouts/slideLayout2.xml"/><Relationship Id="rId4" Type="http://schemas.openxmlformats.org/officeDocument/2006/relationships/image" Target="../media/image84.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3" Type="http://schemas.openxmlformats.org/officeDocument/2006/relationships/image" Target="../media/image630.png"/><Relationship Id="rId2" Type="http://schemas.openxmlformats.org/officeDocument/2006/relationships/image" Target="../media/image610.png"/><Relationship Id="rId1" Type="http://schemas.openxmlformats.org/officeDocument/2006/relationships/slideLayout" Target="../slideLayouts/slideLayout2.xml"/><Relationship Id="rId6" Type="http://schemas.openxmlformats.org/officeDocument/2006/relationships/image" Target="../media/image661.png"/><Relationship Id="rId5" Type="http://schemas.openxmlformats.org/officeDocument/2006/relationships/image" Target="../media/image650.png"/><Relationship Id="rId4" Type="http://schemas.openxmlformats.org/officeDocument/2006/relationships/image" Target="../media/image64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Regressão</a:t>
            </a:r>
            <a:endParaRPr lang="en-US" dirty="0"/>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5772150" y="1825624"/>
                <a:ext cx="6329539" cy="5032375"/>
              </a:xfrm>
            </p:spPr>
            <p:txBody>
              <a:bodyPr/>
              <a:lstStyle/>
              <a:p>
                <a:r>
                  <a:rPr lang="pt-BR" dirty="0"/>
                  <a:t>Tarefa (ou problema) de </a:t>
                </a:r>
                <a:r>
                  <a:rPr lang="pt-BR" b="1" dirty="0">
                    <a:solidFill>
                      <a:schemeClr val="accent2"/>
                    </a:solidFill>
                  </a:rPr>
                  <a:t>aprendizado supervisionado</a:t>
                </a:r>
                <a:r>
                  <a:rPr lang="pt-BR" dirty="0"/>
                  <a:t>.</a:t>
                </a:r>
              </a:p>
              <a:p>
                <a:pPr lvl="1">
                  <a:buFont typeface="Wingdings" panose="05000000000000000000" pitchFamily="2" charset="2"/>
                  <a:buChar char="§"/>
                </a:pPr>
                <a:r>
                  <a:rPr lang="pt-BR" dirty="0"/>
                  <a:t>Os valores de entradas (atributos) e saídas esperadas (rótulos) são conhecidos.</a:t>
                </a:r>
              </a:p>
              <a:p>
                <a:r>
                  <a:rPr lang="pt-BR" dirty="0"/>
                  <a:t>Envolve encontrar uma função, </a:t>
                </a:r>
                <a14:m>
                  <m:oMath xmlns:m="http://schemas.openxmlformats.org/officeDocument/2006/math">
                    <m:r>
                      <a:rPr lang="pt-BR" b="0" i="1" smtClean="0">
                        <a:latin typeface="Cambria Math" panose="02040503050406030204" pitchFamily="18" charset="0"/>
                      </a:rPr>
                      <m:t>ℎ</m:t>
                    </m:r>
                    <m:r>
                      <a:rPr lang="pt-BR" i="1" smtClean="0">
                        <a:latin typeface="Cambria Math" panose="02040503050406030204" pitchFamily="18" charset="0"/>
                      </a:rPr>
                      <m:t>(</m:t>
                    </m:r>
                    <m:r>
                      <a:rPr lang="pt-BR" b="1" i="1" smtClean="0">
                        <a:latin typeface="Cambria Math" panose="02040503050406030204" pitchFamily="18" charset="0"/>
                      </a:rPr>
                      <m:t>𝒙</m:t>
                    </m:r>
                    <m:r>
                      <a:rPr lang="pt-BR" i="1" smtClean="0">
                        <a:latin typeface="Cambria Math" panose="02040503050406030204" pitchFamily="18" charset="0"/>
                      </a:rPr>
                      <m:t>)</m:t>
                    </m:r>
                  </m:oMath>
                </a14:m>
                <a:r>
                  <a:rPr lang="pt-BR" dirty="0"/>
                  <a:t>, que </a:t>
                </a:r>
                <a:r>
                  <a:rPr lang="pt-BR" b="1" dirty="0">
                    <a:solidFill>
                      <a:srgbClr val="7030A0"/>
                    </a:solidFill>
                  </a:rPr>
                  <a:t>mapeie</a:t>
                </a:r>
                <a:r>
                  <a:rPr lang="pt-BR" dirty="0"/>
                  <a:t> os atributos em </a:t>
                </a:r>
                <a:r>
                  <a:rPr lang="pt-BR" b="1" dirty="0">
                    <a:solidFill>
                      <a:schemeClr val="accent2"/>
                    </a:solidFill>
                  </a:rPr>
                  <a:t>valores reais.</a:t>
                </a:r>
                <a:endParaRPr lang="en-US" dirty="0"/>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5772150" y="1825624"/>
                <a:ext cx="6329539" cy="5032375"/>
              </a:xfrm>
              <a:blipFill>
                <a:blip r:embed="rId2"/>
                <a:stretch>
                  <a:fillRect l="-1734" t="-1937"/>
                </a:stretch>
              </a:blipFill>
            </p:spPr>
            <p:txBody>
              <a:bodyPr/>
              <a:lstStyle/>
              <a:p>
                <a:r>
                  <a:rPr lang="en-US">
                    <a:noFill/>
                  </a:rPr>
                  <a:t> </a:t>
                </a:r>
              </a:p>
            </p:txBody>
          </p:sp>
        </mc:Fallback>
      </mc:AlternateContent>
      <p:pic>
        <p:nvPicPr>
          <p:cNvPr id="5" name="Picture 2" descr="https://miro.medium.com/max/1276/1*4sixxtuD8unWceZ-yp9TgQ.jpeg"/>
          <p:cNvPicPr>
            <a:picLocks noChangeAspect="1" noChangeArrowheads="1"/>
          </p:cNvPicPr>
          <p:nvPr/>
        </p:nvPicPr>
        <p:blipFill rotWithShape="1">
          <a:blip r:embed="rId3">
            <a:extLst>
              <a:ext uri="{28A0092B-C50C-407E-A947-70E740481C1C}">
                <a14:useLocalDpi xmlns:a14="http://schemas.microsoft.com/office/drawing/2010/main" val="0"/>
              </a:ext>
            </a:extLst>
          </a:blip>
          <a:srcRect l="53147" t="33424" r="5087" b="12524"/>
          <a:stretch/>
        </p:blipFill>
        <p:spPr bwMode="auto">
          <a:xfrm>
            <a:off x="1062922" y="2002572"/>
            <a:ext cx="3469002" cy="337063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CaixaDeTexto 3"/>
              <p:cNvSpPr txBox="1"/>
              <p:nvPr/>
            </p:nvSpPr>
            <p:spPr>
              <a:xfrm>
                <a:off x="806201" y="5361923"/>
                <a:ext cx="3840479" cy="646331"/>
              </a:xfrm>
              <a:prstGeom prst="rect">
                <a:avLst/>
              </a:prstGeom>
              <a:noFill/>
            </p:spPr>
            <p:txBody>
              <a:bodyPr wrap="square" rtlCol="0">
                <a:spAutoFit/>
              </a:bodyPr>
              <a:lstStyle/>
              <a:p>
                <a:pPr algn="ctr"/>
                <a14:m>
                  <m:oMath xmlns:m="http://schemas.openxmlformats.org/officeDocument/2006/math">
                    <m:r>
                      <a:rPr lang="pt-BR" b="0" i="1" smtClean="0">
                        <a:latin typeface="Cambria Math" panose="02040503050406030204" pitchFamily="18" charset="0"/>
                      </a:rPr>
                      <m:t>ℎ</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en-US" dirty="0"/>
                  <a:t> </a:t>
                </a:r>
                <a:r>
                  <a:rPr lang="en-US" b="1" dirty="0" err="1">
                    <a:solidFill>
                      <a:srgbClr val="00B050"/>
                    </a:solidFill>
                  </a:rPr>
                  <a:t>aproxima</a:t>
                </a:r>
                <a:r>
                  <a:rPr lang="en-US" dirty="0"/>
                  <a:t> o </a:t>
                </a:r>
                <a:r>
                  <a:rPr lang="en-US" b="1" dirty="0" err="1">
                    <a:solidFill>
                      <a:srgbClr val="7030A0"/>
                    </a:solidFill>
                  </a:rPr>
                  <a:t>comportamento</a:t>
                </a:r>
                <a:r>
                  <a:rPr lang="en-US" b="1" dirty="0">
                    <a:solidFill>
                      <a:srgbClr val="7030A0"/>
                    </a:solidFill>
                  </a:rPr>
                  <a:t> </a:t>
                </a:r>
                <a:r>
                  <a:rPr lang="en-US" b="1" dirty="0" err="1">
                    <a:solidFill>
                      <a:srgbClr val="7030A0"/>
                    </a:solidFill>
                  </a:rPr>
                  <a:t>geral</a:t>
                </a:r>
                <a:r>
                  <a:rPr lang="en-US" dirty="0"/>
                  <a:t> dos dados.</a:t>
                </a:r>
              </a:p>
            </p:txBody>
          </p:sp>
        </mc:Choice>
        <mc:Fallback xmlns="">
          <p:sp>
            <p:nvSpPr>
              <p:cNvPr id="4" name="CaixaDeTexto 3"/>
              <p:cNvSpPr txBox="1">
                <a:spLocks noRot="1" noChangeAspect="1" noMove="1" noResize="1" noEditPoints="1" noAdjustHandles="1" noChangeArrowheads="1" noChangeShapeType="1" noTextEdit="1"/>
              </p:cNvSpPr>
              <p:nvPr/>
            </p:nvSpPr>
            <p:spPr>
              <a:xfrm>
                <a:off x="806201" y="5361923"/>
                <a:ext cx="3840479" cy="646331"/>
              </a:xfrm>
              <a:prstGeom prst="rect">
                <a:avLst/>
              </a:prstGeom>
              <a:blipFill>
                <a:blip r:embed="rId4"/>
                <a:stretch>
                  <a:fillRect t="-5660" b="-14151"/>
                </a:stretch>
              </a:blipFill>
            </p:spPr>
            <p:txBody>
              <a:bodyPr/>
              <a:lstStyle/>
              <a:p>
                <a:r>
                  <a:rPr lang="en-US">
                    <a:noFill/>
                  </a:rPr>
                  <a:t> </a:t>
                </a:r>
              </a:p>
            </p:txBody>
          </p:sp>
        </mc:Fallback>
      </mc:AlternateContent>
    </p:spTree>
    <p:extLst>
      <p:ext uri="{BB962C8B-B14F-4D97-AF65-F5344CB8AC3E}">
        <p14:creationId xmlns:p14="http://schemas.microsoft.com/office/powerpoint/2010/main" val="32704749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dirty="0"/>
                  <a:t>regressão</a:t>
                </a:r>
                <a:r>
                  <a:rPr lang="pt-BR" dirty="0"/>
                  <a:t> para encontrar uma </a:t>
                </a:r>
                <a:r>
                  <a:rPr lang="pt-BR" b="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b="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ℎ</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dirty="0"/>
                  <a:t>Como podemos encontrar as funções de mapeamento, </a:t>
                </a:r>
                <a14:m>
                  <m:oMath xmlns:m="http://schemas.openxmlformats.org/officeDocument/2006/math">
                    <m:r>
                      <a:rPr lang="pt-BR" sz="4800" i="1">
                        <a:latin typeface="Cambria Math" panose="02040503050406030204" pitchFamily="18" charset="0"/>
                      </a:rPr>
                      <m:t>ℎ</m:t>
                    </m:r>
                    <m:r>
                      <a:rPr lang="pt-BR" sz="4800" i="1">
                        <a:latin typeface="Cambria Math" panose="02040503050406030204" pitchFamily="18" charset="0"/>
                      </a:rPr>
                      <m:t>(</m:t>
                    </m:r>
                    <m:r>
                      <a:rPr lang="pt-BR" sz="4800" b="1" i="1">
                        <a:latin typeface="Cambria Math" panose="02040503050406030204" pitchFamily="18" charset="0"/>
                      </a:rPr>
                      <m:t>𝒙</m:t>
                    </m:r>
                    <m:r>
                      <a:rPr lang="pt-BR" sz="4800" i="1">
                        <a:latin typeface="Cambria Math" panose="02040503050406030204" pitchFamily="18" charset="0"/>
                      </a:rPr>
                      <m:t>)</m:t>
                    </m:r>
                  </m:oMath>
                </a14:m>
                <a:r>
                  <a:rPr lang="pt-BR" sz="4800" dirty="0"/>
                  <a:t>?</a:t>
                </a:r>
              </a:p>
            </p:txBody>
          </p:sp>
        </mc:Choice>
        <mc:Fallback xmlns="">
          <p:sp>
            <p:nvSpPr>
              <p:cNvPr id="3" name="Espaço Reservado para Conteúdo 2">
                <a:extLst>
                  <a:ext uri="{FF2B5EF4-FFF2-40B4-BE49-F238E27FC236}">
                    <a16:creationId xmlns:a16="http://schemas.microsoft.com/office/drawing/2014/main" id="{36C16A22-1E29-D959-69D9-364EB3DA7640}"/>
                  </a:ext>
                </a:extLst>
              </p:cNvPr>
              <p:cNvSpPr>
                <a:spLocks noGrp="1" noRot="1" noChangeAspect="1" noMove="1" noResize="1" noEditPoints="1" noAdjustHandles="1" noChangeArrowheads="1" noChangeShapeType="1" noTextEdit="1"/>
              </p:cNvSpPr>
              <p:nvPr>
                <p:ph idx="1"/>
              </p:nvPr>
            </p:nvSpPr>
            <p:spPr>
              <a:xfrm>
                <a:off x="838200" y="2593975"/>
                <a:ext cx="10515600" cy="1670050"/>
              </a:xfrm>
              <a:blipFill>
                <a:blip r:embed="rId2"/>
                <a:stretch>
                  <a:fillRect l="-1043" t="-12454" r="-2203" b="-4396"/>
                </a:stretch>
              </a:blipFill>
            </p:spPr>
            <p:txBody>
              <a:bodyPr/>
              <a:lstStyle/>
              <a:p>
                <a:r>
                  <a:rPr lang="en-US">
                    <a:noFill/>
                  </a:rPr>
                  <a:t> </a:t>
                </a:r>
              </a:p>
            </p:txBody>
          </p:sp>
        </mc:Fallback>
      </mc:AlternateContent>
    </p:spTree>
    <p:extLst>
      <p:ext uri="{BB962C8B-B14F-4D97-AF65-F5344CB8AC3E}">
        <p14:creationId xmlns:p14="http://schemas.microsoft.com/office/powerpoint/2010/main" val="3830765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id="{8C5B78AE-E842-ED4F-93D3-10BD115003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dirty="0"/>
              <a:t>intuições</a:t>
            </a:r>
            <a:r>
              <a:rPr lang="pt-BR" dirty="0"/>
              <a:t> importantes para o </a:t>
            </a:r>
            <a:r>
              <a:rPr lang="pt-BR" b="1" dirty="0"/>
              <a:t>entendimento</a:t>
            </a:r>
            <a:r>
              <a:rPr lang="pt-BR" dirty="0"/>
              <a:t> de </a:t>
            </a:r>
            <a:r>
              <a:rPr lang="pt-BR" b="1" dirty="0"/>
              <a:t>algoritmos mais complexos</a:t>
            </a:r>
            <a:r>
              <a:rPr lang="pt-BR" dirty="0"/>
              <a:t>, como </a:t>
            </a:r>
            <a:r>
              <a:rPr lang="pt-BR" b="1" dirty="0"/>
              <a:t>classificadores</a:t>
            </a:r>
            <a:r>
              <a:rPr lang="pt-BR" dirty="0"/>
              <a:t> e </a:t>
            </a:r>
            <a:r>
              <a:rPr lang="pt-BR" b="1" dirty="0"/>
              <a:t>redes neurais</a:t>
            </a:r>
            <a:r>
              <a:rPr lang="pt-BR" dirty="0"/>
              <a:t>.</a:t>
            </a:r>
          </a:p>
        </p:txBody>
      </p:sp>
      <p:grpSp>
        <p:nvGrpSpPr>
          <p:cNvPr id="4" name="Group 3">
            <a:extLst>
              <a:ext uri="{FF2B5EF4-FFF2-40B4-BE49-F238E27FC236}">
                <a16:creationId xmlns:a16="http://schemas.microsoft.com/office/drawing/2014/main"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
                        <m:r>
                          <a:rPr lang="pt-BR" sz="1400" b="0" i="1" smtClean="0">
                            <a:latin typeface="Cambria Math" panose="02040503050406030204" pitchFamily="18" charset="0"/>
                          </a:rPr>
                          <m:t>ℎ</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14680" y="1825624"/>
                <a:ext cx="6677320" cy="5032375"/>
              </a:xfrm>
            </p:spPr>
            <p:txBody>
              <a:bodyPr>
                <a:normAutofit/>
              </a:bodyPr>
              <a:lstStyle/>
              <a:p>
                <a:r>
                  <a:rPr lang="pt-BR" b="1" dirty="0"/>
                  <a:t>Objetivo</a:t>
                </a:r>
                <a:r>
                  <a:rPr lang="pt-BR" dirty="0"/>
                  <a:t>: encontrar uma </a:t>
                </a:r>
                <a:r>
                  <a:rPr lang="pt-BR" b="1" dirty="0">
                    <a:solidFill>
                      <a:schemeClr val="accent1"/>
                    </a:solidFill>
                  </a:rPr>
                  <a:t>função aproximadora</a:t>
                </a:r>
                <a:r>
                  <a:rPr lang="pt-BR" dirty="0"/>
                  <a:t>, </a:t>
                </a:r>
                <a14:m>
                  <m:oMath xmlns:m="http://schemas.openxmlformats.org/officeDocument/2006/math">
                    <m:r>
                      <a:rPr lang="pt-BR" b="0" i="1" smtClean="0">
                        <a:latin typeface="Cambria Math" panose="02040503050406030204" pitchFamily="18" charset="0"/>
                      </a:rPr>
                      <m:t>ℎ</m:t>
                    </m:r>
                    <m:d>
                      <m:dPr>
                        <m:ctrlPr>
                          <a:rPr lang="pt-BR" b="1" i="1">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ℎ</m:t>
                    </m:r>
                    <m:d>
                      <m:dPr>
                        <m:ctrlPr>
                          <a:rPr lang="pt-BR" b="1"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chemeClr val="accent2"/>
                    </a:solidFill>
                  </a:rPr>
                  <a:t>ótima</a:t>
                </a:r>
                <a:r>
                  <a:rPr lang="pt-BR" dirty="0"/>
                  <a:t>.</a:t>
                </a:r>
              </a:p>
              <a:p>
                <a:r>
                  <a:rPr lang="pt-BR" b="1" i="0" dirty="0">
                    <a:solidFill>
                      <a:schemeClr val="accent2"/>
                    </a:solidFill>
                    <a:effectLst/>
                  </a:rPr>
                  <a:t>Ótimo</a:t>
                </a:r>
                <a:r>
                  <a:rPr lang="pt-BR" b="0" i="0" dirty="0">
                    <a:solidFill>
                      <a:schemeClr val="tx1"/>
                    </a:solidFill>
                    <a:effectLst/>
                  </a:rPr>
                  <a:t>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predições feitas por </a:t>
                </a:r>
                <a14:m>
                  <m:oMath xmlns:m="http://schemas.openxmlformats.org/officeDocument/2006/math">
                    <m:r>
                      <a:rPr lang="pt-BR" i="1" smtClean="0">
                        <a:solidFill>
                          <a:schemeClr val="tx1"/>
                        </a:solidFill>
                        <a:latin typeface="Cambria Math" panose="02040503050406030204" pitchFamily="18" charset="0"/>
                      </a:rPr>
                      <m:t>ℎ</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604C70A9-5604-48B8-C1FC-E69BD106F6F8}"/>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a16="http://schemas.microsoft.com/office/drawing/2014/main" id="{7C92ECFF-8C74-0006-B612-C44FCE82BA49}"/>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a16="http://schemas.microsoft.com/office/drawing/2014/main" id="{4F6A078B-ED02-6903-FC50-3B0373C5269F}"/>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a16="http://schemas.microsoft.com/office/drawing/2014/main" id="{A75FE43F-1DC3-56A6-8984-4280EEE4EE5F}"/>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a16="http://schemas.microsoft.com/office/drawing/2014/main" id="{5E04C334-72DA-A023-DA1F-4BE6228FECE8}"/>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a16="http://schemas.microsoft.com/office/drawing/2014/main" id="{5D0DFD15-A711-302B-5F84-B005B26599F0}"/>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
                        <m:r>
                          <a:rPr lang="pt-BR" sz="1400" b="0" i="1" smtClean="0">
                            <a:latin typeface="Cambria Math" panose="02040503050406030204" pitchFamily="18" charset="0"/>
                          </a:rPr>
                          <m:t>ℎ</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C3BE5-3FDE-4D33-6792-E489FB88453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368BA9B-D886-45D8-579D-0D1A0B51E32D}"/>
              </a:ext>
            </a:extLst>
          </p:cNvPr>
          <p:cNvSpPr>
            <a:spLocks noGrp="1"/>
          </p:cNvSpPr>
          <p:nvPr>
            <p:ph type="title"/>
          </p:nvPr>
        </p:nvSpPr>
        <p:spPr/>
        <p:txBody>
          <a:bodyPr/>
          <a:lstStyle/>
          <a:p>
            <a:r>
              <a:rPr lang="pt-BR" dirty="0"/>
              <a:t>Função hipótese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2E79883-4418-8363-40E5-94F8B817906B}"/>
                  </a:ext>
                </a:extLst>
              </p:cNvPr>
              <p:cNvSpPr>
                <a:spLocks noGrp="1"/>
              </p:cNvSpPr>
              <p:nvPr>
                <p:ph idx="1"/>
              </p:nvPr>
            </p:nvSpPr>
            <p:spPr>
              <a:xfrm>
                <a:off x="5514680" y="1825624"/>
                <a:ext cx="6677320" cy="5032375"/>
              </a:xfrm>
            </p:spPr>
            <p:txBody>
              <a:bodyPr>
                <a:normAutofit/>
              </a:bodyPr>
              <a:lstStyle/>
              <a:p>
                <a:r>
                  <a:rPr lang="pt-BR" dirty="0"/>
                  <a:t>No contexto da regressão, a </a:t>
                </a:r>
                <a:r>
                  <a:rPr lang="pt-BR" b="1" dirty="0"/>
                  <a:t>função aproximadora</a:t>
                </a:r>
                <a:r>
                  <a:rPr lang="pt-BR" dirty="0"/>
                  <a:t>, </a:t>
                </a:r>
                <a14:m>
                  <m:oMath xmlns:m="http://schemas.openxmlformats.org/officeDocument/2006/math">
                    <m:r>
                      <a:rPr lang="pt-BR" i="1">
                        <a:latin typeface="Cambria Math" panose="02040503050406030204" pitchFamily="18" charset="0"/>
                      </a:rPr>
                      <m:t>ℎ</m:t>
                    </m:r>
                    <m:d>
                      <m:dPr>
                        <m:ctrlPr>
                          <a:rPr lang="pt-BR" b="1" i="1">
                            <a:latin typeface="Cambria Math" panose="02040503050406030204" pitchFamily="18" charset="0"/>
                          </a:rPr>
                        </m:ctrlPr>
                      </m:dPr>
                      <m:e>
                        <m:r>
                          <a:rPr lang="pt-BR" b="1" i="1">
                            <a:latin typeface="Cambria Math" panose="02040503050406030204" pitchFamily="18" charset="0"/>
                          </a:rPr>
                          <m:t>𝒙</m:t>
                        </m:r>
                      </m:e>
                    </m:d>
                  </m:oMath>
                </a14:m>
                <a:r>
                  <a:rPr lang="pt-BR" dirty="0"/>
                  <a:t>, é chamada de </a:t>
                </a:r>
                <a:r>
                  <a:rPr lang="pt-BR" b="1" dirty="0">
                    <a:solidFill>
                      <a:schemeClr val="accent2"/>
                    </a:solidFill>
                  </a:rPr>
                  <a:t>função hipótese</a:t>
                </a:r>
                <a:r>
                  <a:rPr lang="pt-BR" dirty="0"/>
                  <a:t>, pois refere-se à </a:t>
                </a:r>
                <a:r>
                  <a:rPr lang="pt-BR" b="1" dirty="0">
                    <a:solidFill>
                      <a:srgbClr val="7030A0"/>
                    </a:solidFill>
                  </a:rPr>
                  <a:t>explicação proposta</a:t>
                </a:r>
                <a:r>
                  <a:rPr lang="pt-BR" dirty="0"/>
                  <a:t> para a </a:t>
                </a:r>
                <a:r>
                  <a:rPr lang="pt-BR" b="1" dirty="0">
                    <a:solidFill>
                      <a:srgbClr val="7030A0"/>
                    </a:solidFill>
                  </a:rPr>
                  <a:t>relação</a:t>
                </a:r>
                <a:r>
                  <a:rPr lang="pt-BR" dirty="0"/>
                  <a:t> entre as entradas, </a:t>
                </a:r>
                <a14:m>
                  <m:oMath xmlns:m="http://schemas.openxmlformats.org/officeDocument/2006/math">
                    <m:r>
                      <a:rPr lang="pt-BR" b="1" i="1">
                        <a:latin typeface="Cambria Math" panose="02040503050406030204" pitchFamily="18" charset="0"/>
                      </a:rPr>
                      <m:t>𝒙</m:t>
                    </m:r>
                  </m:oMath>
                </a14:m>
                <a:r>
                  <a:rPr lang="pt-BR" dirty="0"/>
                  <a:t> e o rótulo,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Por exemplo, anteriormente, </a:t>
                </a:r>
                <a:r>
                  <a:rPr lang="pt-BR" b="1" dirty="0">
                    <a:solidFill>
                      <a:schemeClr val="accent2"/>
                    </a:solidFill>
                  </a:rPr>
                  <a:t>hipotetizamos</a:t>
                </a:r>
                <a:r>
                  <a:rPr lang="pt-BR" dirty="0"/>
                  <a:t> que uma </a:t>
                </a:r>
                <a:r>
                  <a:rPr lang="pt-BR" b="1" dirty="0">
                    <a:solidFill>
                      <a:srgbClr val="00B050"/>
                    </a:solidFill>
                  </a:rPr>
                  <a:t>reta</a:t>
                </a:r>
                <a:r>
                  <a:rPr lang="pt-BR" dirty="0"/>
                  <a:t> explicaria bem a </a:t>
                </a:r>
                <a:r>
                  <a:rPr lang="pt-BR" b="1" dirty="0">
                    <a:solidFill>
                      <a:srgbClr val="7030A0"/>
                    </a:solidFill>
                  </a:rPr>
                  <a:t>relação</a:t>
                </a:r>
                <a:r>
                  <a:rPr lang="pt-BR" dirty="0"/>
                  <a:t> entre a </a:t>
                </a:r>
                <a:r>
                  <a:rPr lang="pt-BR" b="1" dirty="0">
                    <a:solidFill>
                      <a:srgbClr val="7030A0"/>
                    </a:solidFill>
                  </a:rPr>
                  <a:t>temperatura média </a:t>
                </a:r>
                <a:r>
                  <a:rPr lang="pt-BR" dirty="0"/>
                  <a:t>de um dia e o número de </a:t>
                </a:r>
                <a:r>
                  <a:rPr lang="pt-BR" b="1" dirty="0">
                    <a:solidFill>
                      <a:srgbClr val="7030A0"/>
                    </a:solidFill>
                  </a:rPr>
                  <a:t>picolés vendidos.</a:t>
                </a:r>
                <a:br>
                  <a:rPr lang="pt-BR" dirty="0"/>
                </a:br>
                <a:endParaRPr lang="pt-BR"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B2E79883-4418-8363-40E5-94F8B817906B}"/>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r="-2374"/>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18D1F5C3-5D2C-401F-6D50-5FB95A035FA3}"/>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a16="http://schemas.microsoft.com/office/drawing/2014/main" id="{11421008-4682-A62D-ABF6-766B2D288F9D}"/>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a16="http://schemas.microsoft.com/office/drawing/2014/main" id="{F9922E2F-EA12-479C-5EF1-6D23FE41DD2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a16="http://schemas.microsoft.com/office/drawing/2014/main" id="{5300BBFA-2EAB-4504-E94B-2C5D91FD870C}"/>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a16="http://schemas.microsoft.com/office/drawing/2014/main" id="{0AA5A0A3-1FF3-9769-E170-A62DE6CDB817}"/>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a16="http://schemas.microsoft.com/office/drawing/2014/main" id="{E0444285-15DF-1944-12B5-2D49E900EAF4}"/>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
                        <m:r>
                          <a:rPr lang="pt-BR" sz="1400" b="0" i="1" smtClean="0">
                            <a:latin typeface="Cambria Math" panose="02040503050406030204" pitchFamily="18" charset="0"/>
                          </a:rPr>
                          <m:t>ℎ</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5406929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200" y="1825624"/>
                <a:ext cx="11353800" cy="5032375"/>
              </a:xfrm>
            </p:spPr>
            <p:txBody>
              <a:bodyPr>
                <a:normAutofit/>
              </a:bodyPr>
              <a:lstStyle/>
              <a:p>
                <a:r>
                  <a:rPr lang="pt-BR" dirty="0"/>
                  <a:t>Porque a saída da </a:t>
                </a:r>
                <a:r>
                  <a:rPr lang="pt-BR" b="1" dirty="0"/>
                  <a:t>função hipótese</a:t>
                </a:r>
                <a:r>
                  <a:rPr lang="pt-BR" dirty="0"/>
                  <a:t>, </a:t>
                </a:r>
                <a14:m>
                  <m:oMath xmlns:m="http://schemas.openxmlformats.org/officeDocument/2006/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dirty="0">
                    <a:solidFill>
                      <a:srgbClr val="FF0000"/>
                    </a:solidFill>
                  </a:rPr>
                  <a:t>modelada</a:t>
                </a:r>
                <a:r>
                  <a:rPr lang="pt-BR" dirty="0"/>
                  <a:t> como sendo uma </a:t>
                </a:r>
                <a:r>
                  <a:rPr lang="pt-BR" b="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combinação.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oMath>
                </a14:m>
                <a:r>
                  <a:rPr lang="pt-BR" i="1" dirty="0">
                    <a:latin typeface="Cambria Math" panose="02040503050406030204" pitchFamily="18" charset="0"/>
                  </a:rPr>
                  <a:t>                      </a:t>
                </a:r>
                <a:r>
                  <a:rPr lang="pt-BR" dirty="0"/>
                  <a:t>(</a:t>
                </a:r>
                <a:r>
                  <a:rPr lang="en-US" dirty="0"/>
                  <a:t>polinômio de </a:t>
                </a:r>
                <a:r>
                  <a:rPr lang="en-US" dirty="0" err="1"/>
                  <a:t>grau</a:t>
                </a:r>
                <a:r>
                  <a:rPr lang="en-US" dirty="0"/>
                  <a:t> 1, </a:t>
                </a:r>
                <a:r>
                  <a:rPr lang="en-US" dirty="0" err="1"/>
                  <a:t>reta</a:t>
                </a:r>
                <a:r>
                  <a:rPr lang="en-US" dirty="0"/>
                  <a:t>, com uma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oMath>
                </a14:m>
                <a:r>
                  <a:rPr lang="pt-BR" i="1" dirty="0">
                    <a:latin typeface="Cambria Math" panose="02040503050406030204" pitchFamily="18" charset="0"/>
                  </a:rPr>
                  <a:t>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r>
                          <a:rPr lang="pt-BR" i="1">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1, plano, com duas </a:t>
                </a:r>
                <a:r>
                  <a:rPr lang="en-US" dirty="0" err="1"/>
                  <a:t>variáveis</a:t>
                </a:r>
                <a:r>
                  <a:rPr lang="en-US" dirty="0"/>
                  <a:t>).</a:t>
                </a:r>
                <a:endParaRPr lang="pt-BR" i="1" dirty="0">
                  <a:latin typeface="Cambria Math" panose="02040503050406030204" pitchFamily="18" charset="0"/>
                </a:endParaRP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b="0"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com </a:t>
                </a:r>
                <a:r>
                  <a:rPr lang="en-US" dirty="0" err="1"/>
                  <a:t>uma</a:t>
                </a:r>
                <a:r>
                  <a:rPr lang="en-US" dirty="0"/>
                  <a:t>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bSup>
                      <m:sSubSupPr>
                        <m:ctrlPr>
                          <a:rPr lang="pt-BR" b="0" i="1" smtClean="0">
                            <a:latin typeface="Cambria Math" panose="02040503050406030204" pitchFamily="18" charset="0"/>
                            <a:ea typeface="Cambria Math" panose="02040503050406030204" pitchFamily="18" charset="0"/>
                          </a:rPr>
                        </m:ctrlPr>
                      </m:sSubSupPr>
                      <m:e>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up>
                        <m:r>
                          <a:rPr lang="pt-BR" b="0" i="1" smtClean="0">
                            <a:latin typeface="Cambria Math" panose="02040503050406030204" pitchFamily="18" charset="0"/>
                            <a:ea typeface="Cambria Math" panose="02040503050406030204" pitchFamily="18" charset="0"/>
                          </a:rPr>
                          <m:t>2</m:t>
                        </m:r>
                      </m:sup>
                    </m:sSubSup>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3, com duas </a:t>
                </a:r>
                <a:r>
                  <a:rPr lang="en-US" dirty="0" err="1"/>
                  <a:t>variáveis</a:t>
                </a:r>
                <a:r>
                  <a:rPr lang="en-US" dirty="0"/>
                  <a:t>).</a:t>
                </a:r>
                <a:endParaRPr lang="pt-BR" i="1" dirty="0"/>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C1B55-1ED2-A4B7-FC25-634DEEE9ED2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2BFEE22-042D-089E-5392-D8366906BD80}"/>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0AF2C97-23AA-21C2-FC29-4F9B2D05558B}"/>
                  </a:ext>
                </a:extLst>
              </p:cNvPr>
              <p:cNvSpPr>
                <a:spLocks noGrp="1"/>
              </p:cNvSpPr>
              <p:nvPr>
                <p:ph idx="1"/>
              </p:nvPr>
            </p:nvSpPr>
            <p:spPr>
              <a:xfrm>
                <a:off x="838200" y="1825624"/>
                <a:ext cx="11155325" cy="5032375"/>
              </a:xfrm>
            </p:spPr>
            <p:txBody>
              <a:bodyPr>
                <a:normAutofit/>
              </a:bodyPr>
              <a:lstStyle/>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a:t>
                </a:r>
                <a14:m>
                  <m:oMath xmlns:m="http://schemas.openxmlformats.org/officeDocument/2006/math">
                    <m:sSub>
                      <m:sSubPr>
                        <m:ctrlPr>
                          <a:rPr lang="pt-BR" b="0" i="1">
                            <a:solidFill>
                              <a:srgbClr val="7030A0"/>
                            </a:solidFill>
                            <a:latin typeface="Cambria Math" panose="02040503050406030204" pitchFamily="18" charset="0"/>
                            <a:ea typeface="Cambria Math" panose="02040503050406030204" pitchFamily="18" charset="0"/>
                          </a:rPr>
                        </m:ctrlPr>
                      </m:sSubPr>
                      <m:e>
                        <m:r>
                          <a:rPr lang="pt-BR" b="0" i="1">
                            <a:solidFill>
                              <a:srgbClr val="7030A0"/>
                            </a:solidFill>
                            <a:latin typeface="Cambria Math" panose="02040503050406030204" pitchFamily="18" charset="0"/>
                            <a:ea typeface="Cambria Math" panose="02040503050406030204" pitchFamily="18" charset="0"/>
                          </a:rPr>
                          <m:t>𝑎</m:t>
                        </m:r>
                      </m:e>
                      <m:sub>
                        <m:r>
                          <a:rPr lang="pt-BR" b="0" i="1" smtClean="0">
                            <a:solidFill>
                              <a:srgbClr val="7030A0"/>
                            </a:solidFill>
                            <a:latin typeface="Cambria Math" panose="02040503050406030204" pitchFamily="18" charset="0"/>
                            <a:ea typeface="Cambria Math" panose="02040503050406030204" pitchFamily="18" charset="0"/>
                          </a:rPr>
                          <m:t>𝑘</m:t>
                        </m:r>
                      </m:sub>
                    </m:sSub>
                    <m:r>
                      <a:rPr lang="pt-BR" b="0" i="1" smtClean="0">
                        <a:solidFill>
                          <a:srgbClr val="7030A0"/>
                        </a:solidFill>
                        <a:latin typeface="Cambria Math" panose="02040503050406030204" pitchFamily="18" charset="0"/>
                        <a:ea typeface="Cambria Math" panose="02040503050406030204" pitchFamily="18" charset="0"/>
                      </a:rPr>
                      <m:t>∀</m:t>
                    </m:r>
                    <m:r>
                      <a:rPr lang="pt-BR" b="0" i="1" smtClean="0">
                        <a:solidFill>
                          <a:srgbClr val="7030A0"/>
                        </a:solidFill>
                        <a:latin typeface="Cambria Math" panose="02040503050406030204" pitchFamily="18" charset="0"/>
                        <a:ea typeface="Cambria Math" panose="02040503050406030204" pitchFamily="18" charset="0"/>
                      </a:rPr>
                      <m:t>𝑘</m:t>
                    </m:r>
                  </m:oMath>
                </a14:m>
                <a:r>
                  <a:rPr lang="pt-BR" dirty="0">
                    <a:solidFill>
                      <a:srgbClr val="7030A0"/>
                    </a:solidFill>
                  </a:rPr>
                  <a:t>, </a:t>
                </a:r>
                <a:r>
                  <a:rPr lang="pt-BR" b="1" dirty="0">
                    <a:solidFill>
                      <a:srgbClr val="7030A0"/>
                    </a:solidFill>
                  </a:rPr>
                  <a:t>e o grau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00AF2C97-23AA-21C2-FC29-4F9B2D05558B}"/>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4494502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7B6B386-02B2-D964-73F3-196F9F79BAF2}"/>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C482631-ECEA-B4D7-2D72-82A636953ACA}"/>
                  </a:ext>
                </a:extLst>
              </p:cNvPr>
              <p:cNvSpPr>
                <a:spLocks noGrp="1"/>
              </p:cNvSpPr>
              <p:nvPr>
                <p:ph idx="1"/>
              </p:nvPr>
            </p:nvSpPr>
            <p:spPr>
              <a:xfrm>
                <a:off x="4892511" y="1825624"/>
                <a:ext cx="7212402"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a:t>
                </a:r>
                <a:r>
                  <a:rPr lang="pt-BR" dirty="0" err="1"/>
                  <a:t>senoide</a:t>
                </a:r>
                <a:r>
                  <a:rPr lang="pt-BR" dirty="0"/>
                  <a:t>:</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a:t>
                </a:r>
                <a:r>
                  <a:rPr lang="pt-BR" b="1" dirty="0"/>
                  <a:t>lineares e não lineares 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892511" y="1825624"/>
                <a:ext cx="7212402" cy="5032375"/>
              </a:xfrm>
              <a:blipFill>
                <a:blip r:embed="rId3"/>
                <a:stretch>
                  <a:fillRect l="-1522" t="-1937" r="-2029"/>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7C531-24F5-3DB0-B7A7-5DB19DFC73D8}"/>
              </a:ext>
            </a:extLst>
          </p:cNvPr>
          <p:cNvSpPr>
            <a:spLocks noGrp="1"/>
          </p:cNvSpPr>
          <p:nvPr>
            <p:ph type="title"/>
          </p:nvPr>
        </p:nvSpPr>
        <p:spPr/>
        <p:txBody>
          <a:bodyPr/>
          <a:lstStyle/>
          <a:p>
            <a:r>
              <a:rPr lang="pt-BR" dirty="0"/>
              <a:t>A flexibilidade dos polinômios</a:t>
            </a:r>
            <a:endParaRPr lang="en-US" dirty="0"/>
          </a:p>
        </p:txBody>
      </p:sp>
      <p:sp>
        <p:nvSpPr>
          <p:cNvPr id="3" name="Content Placeholder 2">
            <a:extLst>
              <a:ext uri="{FF2B5EF4-FFF2-40B4-BE49-F238E27FC236}">
                <a16:creationId xmlns:a16="http://schemas.microsoft.com/office/drawing/2014/main" id="{FBA4BB4A-BD28-6356-3136-572E90FF542A}"/>
              </a:ext>
            </a:extLst>
          </p:cNvPr>
          <p:cNvSpPr>
            <a:spLocks noGrp="1"/>
          </p:cNvSpPr>
          <p:nvPr>
            <p:ph idx="1"/>
          </p:nvPr>
        </p:nvSpPr>
        <p:spPr>
          <a:xfrm>
            <a:off x="5520266" y="1825624"/>
            <a:ext cx="6671733" cy="5032375"/>
          </a:xfrm>
        </p:spPr>
        <p:txBody>
          <a:bodyPr>
            <a:normAutofit lnSpcReduction="10000"/>
          </a:bodyPr>
          <a:lstStyle/>
          <a:p>
            <a:r>
              <a:rPr lang="pt-BR" noProof="0" dirty="0"/>
              <a:t>Grau 1: linha reta</a:t>
            </a:r>
          </a:p>
          <a:p>
            <a:r>
              <a:rPr lang="pt-BR" noProof="0" dirty="0"/>
              <a:t>Grau 2: parábola com um </a:t>
            </a:r>
            <a:r>
              <a:rPr lang="pt-BR" b="1" noProof="0" dirty="0"/>
              <a:t>ponto de inflexão</a:t>
            </a:r>
            <a:r>
              <a:rPr lang="pt-BR" noProof="0" dirty="0"/>
              <a:t> (i.e., mudança de direção)</a:t>
            </a:r>
          </a:p>
          <a:p>
            <a:r>
              <a:rPr lang="pt-BR" noProof="0" dirty="0"/>
              <a:t>Grau 3: curva com até dois pontos de inflexão</a:t>
            </a:r>
          </a:p>
          <a:p>
            <a:r>
              <a:rPr lang="pt-BR" noProof="0" dirty="0"/>
              <a:t>Graus maiores: curvas </a:t>
            </a:r>
            <a:r>
              <a:rPr lang="pt-BR" b="1" noProof="0" dirty="0">
                <a:solidFill>
                  <a:srgbClr val="7030A0"/>
                </a:solidFill>
              </a:rPr>
              <a:t>cada vez mais flexíveis</a:t>
            </a:r>
          </a:p>
          <a:p>
            <a:r>
              <a:rPr lang="pt-BR" b="1" noProof="0" dirty="0"/>
              <a:t>Observações</a:t>
            </a:r>
            <a:r>
              <a:rPr lang="pt-BR" noProof="0" dirty="0"/>
              <a:t>:</a:t>
            </a:r>
          </a:p>
          <a:p>
            <a:pPr lvl="1">
              <a:buFont typeface="Wingdings" panose="05000000000000000000" pitchFamily="2" charset="2"/>
              <a:buChar char="§"/>
            </a:pPr>
            <a:r>
              <a:rPr lang="pt-BR" noProof="0" dirty="0"/>
              <a:t>Maior grau ≠ modelo melhor.</a:t>
            </a:r>
          </a:p>
          <a:p>
            <a:pPr lvl="1">
              <a:buFont typeface="Wingdings" panose="05000000000000000000" pitchFamily="2" charset="2"/>
              <a:buChar char="§"/>
            </a:pPr>
            <a:r>
              <a:rPr lang="pt-BR" noProof="0" dirty="0"/>
              <a:t>Flexibilidade excessiva pode levar ao </a:t>
            </a:r>
            <a:r>
              <a:rPr lang="pt-BR" i="1" noProof="0" dirty="0" err="1"/>
              <a:t>overfitting</a:t>
            </a:r>
            <a:r>
              <a:rPr lang="pt-BR" i="1" noProof="0" dirty="0"/>
              <a:t>.</a:t>
            </a:r>
          </a:p>
          <a:p>
            <a:pPr lvl="1">
              <a:buFont typeface="Wingdings" panose="05000000000000000000" pitchFamily="2" charset="2"/>
              <a:buChar char="§"/>
            </a:pPr>
            <a:r>
              <a:rPr lang="pt-BR" noProof="0" dirty="0"/>
              <a:t>Por outro lado, flexibilidade de menos pode levar ao </a:t>
            </a:r>
            <a:r>
              <a:rPr lang="pt-BR" i="1" noProof="0" dirty="0"/>
              <a:t>underfitting</a:t>
            </a:r>
            <a:r>
              <a:rPr lang="pt-BR" noProof="0" dirty="0"/>
              <a:t>.</a:t>
            </a:r>
          </a:p>
        </p:txBody>
      </p:sp>
      <p:pic>
        <p:nvPicPr>
          <p:cNvPr id="1026" name="Picture 2">
            <a:extLst>
              <a:ext uri="{FF2B5EF4-FFF2-40B4-BE49-F238E27FC236}">
                <a16:creationId xmlns:a16="http://schemas.microsoft.com/office/drawing/2014/main" id="{D7A0260E-AE81-A92B-4535-15046E14C6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8656" y="2269068"/>
            <a:ext cx="4454331" cy="3433056"/>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244C24D-7C66-269F-87CC-D8B1A348C837}"/>
                  </a:ext>
                </a:extLst>
              </p:cNvPr>
              <p:cNvSpPr txBox="1"/>
              <p:nvPr/>
            </p:nvSpPr>
            <p:spPr>
              <a:xfrm>
                <a:off x="838200" y="5702124"/>
                <a:ext cx="4144787" cy="830997"/>
              </a:xfrm>
              <a:prstGeom prst="rect">
                <a:avLst/>
              </a:prstGeom>
              <a:noFill/>
            </p:spPr>
            <p:txBody>
              <a:bodyPr wrap="square">
                <a:spAutoFit/>
              </a:bodyPr>
              <a:lstStyle/>
              <a:p>
                <a:pPr algn="ctr"/>
                <a:r>
                  <a:rPr lang="pt-BR" sz="1600" b="0" i="0" kern="1200" noProof="0" dirty="0">
                    <a:solidFill>
                      <a:schemeClr val="tx1"/>
                    </a:solidFill>
                    <a:effectLst/>
                    <a:latin typeface="+mn-lt"/>
                    <a:ea typeface="+mn-ea"/>
                    <a:cs typeface="+mn-cs"/>
                  </a:rPr>
                  <a:t>O objetivo é encontrar uma função hipótese, </a:t>
                </a:r>
                <a14:m>
                  <m:oMath xmlns:m="http://schemas.openxmlformats.org/officeDocument/2006/math">
                    <m:r>
                      <a:rPr lang="pt-BR" sz="1600" b="0" i="1" kern="1200" noProof="0" smtClean="0">
                        <a:solidFill>
                          <a:schemeClr val="tx1"/>
                        </a:solidFill>
                        <a:effectLst/>
                        <a:latin typeface="Cambria Math" panose="02040503050406030204" pitchFamily="18" charset="0"/>
                        <a:ea typeface="+mn-ea"/>
                        <a:cs typeface="+mn-cs"/>
                      </a:rPr>
                      <m:t>ℎ</m:t>
                    </m:r>
                    <m:r>
                      <a:rPr lang="pt-BR" sz="1600" b="0" i="1" kern="1200" noProof="0" smtClean="0">
                        <a:solidFill>
                          <a:schemeClr val="tx1"/>
                        </a:solidFill>
                        <a:effectLst/>
                        <a:latin typeface="Cambria Math" panose="02040503050406030204" pitchFamily="18" charset="0"/>
                        <a:ea typeface="+mn-ea"/>
                        <a:cs typeface="+mn-cs"/>
                      </a:rPr>
                      <m:t>(</m:t>
                    </m:r>
                    <m:r>
                      <a:rPr lang="pt-BR" sz="1600" b="0" i="1" kern="1200" noProof="0" smtClean="0">
                        <a:solidFill>
                          <a:schemeClr val="tx1"/>
                        </a:solidFill>
                        <a:effectLst/>
                        <a:latin typeface="Cambria Math" panose="02040503050406030204" pitchFamily="18" charset="0"/>
                        <a:ea typeface="+mn-ea"/>
                        <a:cs typeface="+mn-cs"/>
                      </a:rPr>
                      <m:t>𝑥</m:t>
                    </m:r>
                    <m:r>
                      <a:rPr lang="pt-BR" sz="1600" b="0" i="1" kern="1200" noProof="0" smtClean="0">
                        <a:solidFill>
                          <a:schemeClr val="tx1"/>
                        </a:solidFill>
                        <a:effectLst/>
                        <a:latin typeface="Cambria Math" panose="02040503050406030204" pitchFamily="18" charset="0"/>
                        <a:ea typeface="+mn-ea"/>
                        <a:cs typeface="+mn-cs"/>
                      </a:rPr>
                      <m:t>)</m:t>
                    </m:r>
                  </m:oMath>
                </a14:m>
                <a:r>
                  <a:rPr lang="pt-BR" sz="1600" b="0" i="0" kern="1200" noProof="0" dirty="0">
                    <a:solidFill>
                      <a:schemeClr val="tx1"/>
                    </a:solidFill>
                    <a:effectLst/>
                    <a:latin typeface="+mn-lt"/>
                    <a:ea typeface="+mn-ea"/>
                    <a:cs typeface="+mn-cs"/>
                  </a:rPr>
                  <a:t>, que </a:t>
                </a:r>
                <a:r>
                  <a:rPr lang="pt-BR" sz="1600" b="1" i="0" kern="1200" noProof="0" dirty="0">
                    <a:solidFill>
                      <a:srgbClr val="00B050"/>
                    </a:solidFill>
                    <a:effectLst/>
                    <a:latin typeface="+mn-lt"/>
                    <a:ea typeface="+mn-ea"/>
                    <a:cs typeface="+mn-cs"/>
                  </a:rPr>
                  <a:t>aproxime a função verdadeira por trás dos pontos ruidosos</a:t>
                </a:r>
                <a:r>
                  <a:rPr lang="pt-BR" sz="1600" b="0" i="0" kern="1200" noProof="0" dirty="0">
                    <a:solidFill>
                      <a:schemeClr val="tx1"/>
                    </a:solidFill>
                    <a:effectLst/>
                    <a:latin typeface="+mn-lt"/>
                    <a:ea typeface="+mn-ea"/>
                    <a:cs typeface="+mn-cs"/>
                  </a:rPr>
                  <a:t>.</a:t>
                </a:r>
                <a:endParaRPr lang="pt-BR" sz="1600" noProof="0" dirty="0"/>
              </a:p>
            </p:txBody>
          </p:sp>
        </mc:Choice>
        <mc:Fallback xmlns="">
          <p:sp>
            <p:nvSpPr>
              <p:cNvPr id="5" name="CaixaDeTexto 4">
                <a:extLst>
                  <a:ext uri="{FF2B5EF4-FFF2-40B4-BE49-F238E27FC236}">
                    <a16:creationId xmlns:a16="http://schemas.microsoft.com/office/drawing/2014/main" id="{A244C24D-7C66-269F-87CC-D8B1A348C837}"/>
                  </a:ext>
                </a:extLst>
              </p:cNvPr>
              <p:cNvSpPr txBox="1">
                <a:spLocks noRot="1" noChangeAspect="1" noMove="1" noResize="1" noEditPoints="1" noAdjustHandles="1" noChangeArrowheads="1" noChangeShapeType="1" noTextEdit="1"/>
              </p:cNvSpPr>
              <p:nvPr/>
            </p:nvSpPr>
            <p:spPr>
              <a:xfrm>
                <a:off x="838200" y="5702124"/>
                <a:ext cx="4144787" cy="830997"/>
              </a:xfrm>
              <a:prstGeom prst="rect">
                <a:avLst/>
              </a:prstGeom>
              <a:blipFill>
                <a:blip r:embed="rId4"/>
                <a:stretch>
                  <a:fillRect t="-2190" b="-8029"/>
                </a:stretch>
              </a:blipFill>
            </p:spPr>
            <p:txBody>
              <a:bodyPr/>
              <a:lstStyle/>
              <a:p>
                <a:r>
                  <a:rPr lang="en-US">
                    <a:noFill/>
                  </a:rPr>
                  <a:t> </a:t>
                </a:r>
              </a:p>
            </p:txBody>
          </p:sp>
        </mc:Fallback>
      </mc:AlternateContent>
    </p:spTree>
    <p:extLst>
      <p:ext uri="{BB962C8B-B14F-4D97-AF65-F5344CB8AC3E}">
        <p14:creationId xmlns:p14="http://schemas.microsoft.com/office/powerpoint/2010/main" val="18145006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8F1D988-6925-C286-BA9F-B4A4851E2FFB}"/>
                  </a:ext>
                </a:extLst>
              </p:cNvPr>
              <p:cNvSpPr>
                <a:spLocks noGrp="1"/>
              </p:cNvSpPr>
              <p:nvPr>
                <p:ph idx="1"/>
              </p:nvPr>
            </p:nvSpPr>
            <p:spPr>
              <a:xfrm>
                <a:off x="838199" y="1825624"/>
                <a:ext cx="11249968" cy="5032375"/>
              </a:xfrm>
            </p:spPr>
            <p:txBody>
              <a:bodyPr>
                <a:normAutofit/>
              </a:bodyPr>
              <a:lstStyle/>
              <a:p>
                <a:r>
                  <a:rPr lang="pt-BR" dirty="0"/>
                  <a:t>Por enquanto, vamos assumir que já conhecemos o melhor grau do polinômio.</a:t>
                </a:r>
              </a:p>
              <a:p>
                <a:r>
                  <a:rPr lang="pt-BR" dirty="0"/>
                  <a:t>Como temos os atributos e os rótulos, o </a:t>
                </a:r>
                <a:r>
                  <a:rPr lang="pt-BR" b="1" dirty="0"/>
                  <a:t>objetivo</a:t>
                </a:r>
                <a:r>
                  <a:rPr lang="pt-BR" dirty="0"/>
                  <a:t> passa a ser encontrar os </a:t>
                </a:r>
                <a:r>
                  <a:rPr lang="pt-BR" b="1" dirty="0"/>
                  <a:t>pesos (ótimos)</a:t>
                </a:r>
                <a:r>
                  <a:rPr lang="pt-BR" dirty="0"/>
                  <a:t> que </a:t>
                </a:r>
                <a:r>
                  <a:rPr lang="pt-BR" b="1" dirty="0">
                    <a:solidFill>
                      <a:srgbClr val="7030A0"/>
                    </a:solidFill>
                  </a:rPr>
                  <a:t>minimizam o erro </a:t>
                </a:r>
                <a:r>
                  <a:rPr lang="pt-BR" b="1" dirty="0"/>
                  <a:t>entre as predições</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saídas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problema de otimização, temos que o </a:t>
                </a:r>
                <a:r>
                  <a:rPr lang="pt-BR" b="1" dirty="0"/>
                  <a:t>objetivo</a:t>
                </a:r>
                <a:r>
                  <a:rPr lang="pt-BR" dirty="0"/>
                  <a:t>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pt-BR" i="1">
                            <a:latin typeface="Cambria Math" panose="02040503050406030204" pitchFamily="18" charset="0"/>
                          </a:rPr>
                        </m:ctrlPr>
                      </m:funcPr>
                      <m:fName>
                        <m:limLow>
                          <m:limLowPr>
                            <m:ctrlPr>
                              <a:rPr lang="pt-BR">
                                <a:latin typeface="Cambria Math" panose="02040503050406030204" pitchFamily="18" charset="0"/>
                              </a:rPr>
                            </m:ctrlPr>
                          </m:limLowPr>
                          <m:e>
                            <m:r>
                              <m:rPr>
                                <m:sty m:val="p"/>
                              </m:rPr>
                              <a:rPr lang="pt-BR">
                                <a:latin typeface="Cambria Math" panose="02040503050406030204" pitchFamily="18" charset="0"/>
                              </a:rPr>
                              <m:t>min</m:t>
                            </m:r>
                          </m:e>
                          <m:lim>
                            <m:r>
                              <a:rPr lang="pt-BR" b="1" i="1" smtClean="0">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xmlns="">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249968" cy="5032375"/>
              </a:xfrm>
              <a:blipFill>
                <a:blip r:embed="rId2"/>
                <a:stretch>
                  <a:fillRect l="-921" t="-1937" r="-2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6B354F9-74E2-2FAD-DDBA-5FD514A114CE}"/>
                  </a:ext>
                </a:extLst>
              </p:cNvPr>
              <p:cNvSpPr txBox="1"/>
              <p:nvPr/>
            </p:nvSpPr>
            <p:spPr>
              <a:xfrm>
                <a:off x="9596487" y="6550223"/>
                <a:ext cx="2595513"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atributos.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596487" y="6550223"/>
                <a:ext cx="2595513" cy="307777"/>
              </a:xfrm>
              <a:prstGeom prst="rect">
                <a:avLst/>
              </a:prstGeom>
              <a:blipFill>
                <a:blip r:embed="rId3"/>
                <a:stretch>
                  <a:fillRect l="-704"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b="0"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i="1">
                              <a:latin typeface="Cambria Math" panose="02040503050406030204" pitchFamily="18" charset="0"/>
                            </a:rPr>
                          </m:ctrlPr>
                        </m:limLowPr>
                        <m:e>
                          <m:groupChr>
                            <m:groupChrPr>
                              <m:chr m:val="⏟"/>
                              <m:pos m:val="bot"/>
                              <m:vertJc m:val="top"/>
                              <m:ctrlPr>
                                <a:rPr lang="pt-BR" i="1">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b="1" i="1">
                                              <a:latin typeface="Cambria Math" panose="02040503050406030204" pitchFamily="18" charset="0"/>
                                            </a:rPr>
                                          </m:ctrlPr>
                                        </m:limLowPr>
                                        <m:e>
                                          <m:groupChr>
                                            <m:groupChrPr>
                                              <m:chr m:val="⏟"/>
                                              <m:pos m:val="bot"/>
                                              <m:vertJc m:val="top"/>
                                              <m:ctrlPr>
                                                <a:rPr lang="pt-BR" b="1"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dirty="0" smtClean="0">
                                              <a:latin typeface="Cambria Math" panose="02040503050406030204" pitchFamily="18" charset="0"/>
                                            </a:rPr>
                                            <m:t>=</m:t>
                                          </m:r>
                                          <m:r>
                                            <a:rPr lang="pt-BR" b="0" i="1" dirty="0" smtClean="0">
                                              <a:latin typeface="Cambria Math" panose="02040503050406030204" pitchFamily="18" charset="0"/>
                                            </a:rPr>
                                            <m:t>ℎ</m:t>
                                          </m:r>
                                          <m:r>
                                            <a:rPr lang="pt-BR" b="1" i="1" dirty="0" smtClean="0">
                                              <a:latin typeface="Cambria Math" panose="02040503050406030204" pitchFamily="18" charset="0"/>
                                            </a:rPr>
                                            <m:t>(</m:t>
                                          </m:r>
                                          <m:r>
                                            <a:rPr lang="pt-BR" b="1" i="1" dirty="0" smtClean="0">
                                              <a:latin typeface="Cambria Math" panose="02040503050406030204" pitchFamily="18" charset="0"/>
                                            </a:rPr>
                                            <m:t>𝒙</m:t>
                                          </m:r>
                                          <m:r>
                                            <a:rPr lang="pt-BR" b="1" i="1" dirty="0" smtClean="0">
                                              <a:latin typeface="Cambria Math" panose="02040503050406030204" pitchFamily="18" charset="0"/>
                                            </a:rPr>
                                            <m:t>)</m:t>
                                          </m:r>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b="0"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Tree>
    <p:extLst>
      <p:ext uri="{BB962C8B-B14F-4D97-AF65-F5344CB8AC3E}">
        <p14:creationId xmlns:p14="http://schemas.microsoft.com/office/powerpoint/2010/main" val="40783349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 ótimo</a:t>
                </a:r>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b="1" i="1">
                                          <a:latin typeface="Cambria Math" panose="02040503050406030204" pitchFamily="18" charset="0"/>
                                        </a:rPr>
                                      </m:ctrlPr>
                                    </m:limLowPr>
                                    <m:e>
                                      <m:groupChr>
                                        <m:groupChrPr>
                                          <m:chr m:val="⏟"/>
                                          <m:pos m:val="bot"/>
                                          <m:vertJc m:val="top"/>
                                          <m:ctrlPr>
                                            <a:rPr lang="pt-BR" b="1"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dirty="0">
                    <a:solidFill>
                      <a:schemeClr val="accent2"/>
                    </a:solidFill>
                  </a:rPr>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E0FC8F8-ADC7-A068-C2BC-465BFAC99DC0}"/>
                  </a:ext>
                </a:extLst>
              </p:cNvPr>
              <p:cNvSpPr>
                <a:spLocks noGrp="1"/>
              </p:cNvSpPr>
              <p:nvPr>
                <p:ph idx="1"/>
              </p:nvPr>
            </p:nvSpPr>
            <p:spPr>
              <a:xfrm>
                <a:off x="838200" y="1825624"/>
                <a:ext cx="11353800" cy="5032375"/>
              </a:xfrm>
            </p:spPr>
            <p:txBody>
              <a:bodyPr/>
              <a:lstStyle/>
              <a:p>
                <a:r>
                  <a:rPr lang="pt-BR" dirty="0"/>
                  <a:t>Existem duas formas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smtClean="0">
                              <a:latin typeface="Cambria Math" panose="02040503050406030204" pitchFamily="18" charset="0"/>
                            </a:rPr>
                            <m:t>ó</m:t>
                          </m:r>
                          <m:r>
                            <m:rPr>
                              <m:sty m:val="p"/>
                            </m:rPr>
                            <a:rPr lang="pt-BR" b="0" i="0" smtClean="0">
                              <a:latin typeface="Cambria Math" panose="02040503050406030204" pitchFamily="18" charset="0"/>
                            </a:rPr>
                            <m:t>timo</m:t>
                          </m:r>
                        </m:sub>
                      </m:sSub>
                      <m:r>
                        <a:rPr lang="pt-BR" b="1" i="1">
                          <a:latin typeface="Cambria Math" panose="02040503050406030204" pitchFamily="18" charset="0"/>
                        </a:rPr>
                        <m:t> </m:t>
                      </m:r>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2">
                  <a:buFont typeface="Courier New" panose="02070309020205020404" pitchFamily="49" charset="0"/>
                  <a:buChar char="o"/>
                </a:pPr>
                <a:r>
                  <a:rPr lang="pt-BR" dirty="0"/>
                  <a:t>Só funciona se os atributos forem linearmente independentes e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r>
                  <a:rPr lang="pt-BR" dirty="0"/>
                  <a:t>.</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passo de aprendizagem, sobreajuste/subajuste, número de iterações, etc.)</a:t>
                </a:r>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244286732"/>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val="2676689337"/>
                        </a:ext>
                      </a:extLst>
                    </a:gridCol>
                    <a:gridCol w="5046642">
                      <a:extLst>
                        <a:ext uri="{9D8B030D-6E8A-4147-A177-3AD203B41FA5}">
                          <a16:colId xmlns:a16="http://schemas.microsoft.com/office/drawing/2014/main" val="921422884"/>
                        </a:ext>
                      </a:extLst>
                    </a:gridCol>
                    <a:gridCol w="4654613">
                      <a:extLst>
                        <a:ext uri="{9D8B030D-6E8A-4147-A177-3AD203B41FA5}">
                          <a16:colId xmlns:a16="http://schemas.microsoft.com/office/drawing/2014/main"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0">
                    <a:tc>
                      <a:txBody>
                        <a:bodyPr/>
                        <a:lstStyle/>
                        <a:p>
                          <a:pPr algn="ctr">
                            <a:buNone/>
                          </a:pPr>
                          <a:r>
                            <a:rPr lang="pt-BR" sz="2000" b="1" noProof="0" dirty="0">
                              <a:latin typeface="+mn-lt"/>
                            </a:rPr>
                            <a:t>Hiperparâmetros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do</a:t>
                          </a:r>
                          <a:r>
                            <a:rPr lang="pt-BR" sz="2000" baseline="0" noProof="0" dirty="0">
                              <a:latin typeface="+mn-lt"/>
                            </a:rPr>
                            <a:t> taxa de aprendizagem,</a:t>
                          </a:r>
                          <a:r>
                            <a:rPr lang="pt-BR" sz="2000" noProof="0" dirty="0">
                              <a:latin typeface="+mn-lt"/>
                            </a:rPr>
                            <a:t>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recursos disponíveis (RAM e CPU/GPU).</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não lineares (e.g., redes neurais).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0400338"/>
                      </a:ext>
                    </a:extLst>
                  </a:tr>
                </a:tbl>
              </a:graphicData>
            </a:graphic>
          </p:graphicFrame>
        </mc:Choice>
        <mc:Fallback xmlns="">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244286732"/>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val="2676689337"/>
                        </a:ext>
                      </a:extLst>
                    </a:gridCol>
                    <a:gridCol w="5046642">
                      <a:extLst>
                        <a:ext uri="{9D8B030D-6E8A-4147-A177-3AD203B41FA5}">
                          <a16:colId xmlns:a16="http://schemas.microsoft.com/office/drawing/2014/main" val="921422884"/>
                        </a:ext>
                      </a:extLst>
                    </a:gridCol>
                    <a:gridCol w="4654613">
                      <a:extLst>
                        <a:ext uri="{9D8B030D-6E8A-4147-A177-3AD203B41FA5}">
                          <a16:colId xmlns:a16="http://schemas.microsoft.com/office/drawing/2014/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9976" t="-207692" r="-92512" b="-812308"/>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51702" t="-207692" r="-262" b="-812308"/>
                          </a:stretch>
                        </a:blipFill>
                      </a:tcPr>
                    </a:tc>
                    <a:extLst>
                      <a:ext uri="{0D108BD9-81ED-4DB2-BD59-A6C34878D82A}">
                        <a16:rowId xmlns:a16="http://schemas.microsoft.com/office/drawing/2014/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396240">
                    <a:tc>
                      <a:txBody>
                        <a:bodyPr/>
                        <a:lstStyle/>
                        <a:p>
                          <a:pPr algn="ctr">
                            <a:buNone/>
                          </a:pPr>
                          <a:r>
                            <a:rPr lang="pt-BR" sz="2000" b="1" noProof="0" dirty="0">
                              <a:latin typeface="+mn-lt"/>
                            </a:rPr>
                            <a:t>Hiperparâmetros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9976" t="-407692" r="-92512" b="-612308"/>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16154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recursos disponíveis (RAM e CPU/GPU).</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51702" t="-168302" r="-262" b="-6415"/>
                          </a:stretch>
                        </a:blipFill>
                      </a:tcPr>
                    </a:tc>
                    <a:extLst>
                      <a:ext uri="{0D108BD9-81ED-4DB2-BD59-A6C34878D82A}">
                        <a16:rowId xmlns:a16="http://schemas.microsoft.com/office/drawing/2014/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b="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a16="http://schemas.microsoft.com/office/drawing/2014/main"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281" y="1074509"/>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F5B4230-F901-54A0-181D-6A33FF47ECB5}"/>
              </a:ext>
            </a:extLst>
          </p:cNvPr>
          <p:cNvSpPr txBox="1"/>
          <p:nvPr/>
        </p:nvSpPr>
        <p:spPr>
          <a:xfrm>
            <a:off x="6872140" y="1074509"/>
            <a:ext cx="5109328" cy="5078313"/>
          </a:xfrm>
          <a:prstGeom prst="rect">
            <a:avLst/>
          </a:prstGeom>
          <a:noFill/>
        </p:spPr>
        <p:txBody>
          <a:bodyPr wrap="square" rtlCol="0">
            <a:spAutoFit/>
          </a:bodyPr>
          <a:lstStyle/>
          <a:p>
            <a:pPr algn="ctr"/>
            <a:r>
              <a:rPr lang="pt-BR" sz="3600" dirty="0"/>
              <a:t>O gradiente descendente está por trás dos algoritmos mais populares de ML.</a:t>
            </a:r>
          </a:p>
          <a:p>
            <a:pPr algn="ctr"/>
            <a:endParaRPr lang="pt-BR" sz="3600" dirty="0"/>
          </a:p>
          <a:p>
            <a:pPr algn="ctr"/>
            <a:r>
              <a:rPr lang="pt-BR" sz="2400" dirty="0"/>
              <a:t>Regressão linear</a:t>
            </a:r>
          </a:p>
          <a:p>
            <a:pPr algn="ctr"/>
            <a:r>
              <a:rPr lang="pt-BR" sz="2400" dirty="0"/>
              <a:t>Regressão logística e </a:t>
            </a:r>
            <a:r>
              <a:rPr lang="pt-BR" sz="2400" i="1" dirty="0"/>
              <a:t>softmax</a:t>
            </a:r>
          </a:p>
          <a:p>
            <a:pPr algn="ctr"/>
            <a:r>
              <a:rPr lang="pt-BR" sz="2400" dirty="0"/>
              <a:t>Redes neurais </a:t>
            </a:r>
            <a:r>
              <a:rPr lang="pt-BR" sz="2400" i="1" dirty="0"/>
              <a:t>multilayer perceptron</a:t>
            </a:r>
            <a:endParaRPr lang="pt-BR" sz="2400" dirty="0"/>
          </a:p>
          <a:p>
            <a:pPr algn="ctr"/>
            <a:r>
              <a:rPr lang="pt-BR" sz="2400" i="1" dirty="0" err="1"/>
              <a:t>Deep</a:t>
            </a:r>
            <a:r>
              <a:rPr lang="pt-BR" sz="2400" i="1" dirty="0"/>
              <a:t> learning </a:t>
            </a:r>
            <a:r>
              <a:rPr lang="pt-BR" sz="2400" dirty="0"/>
              <a:t>(</a:t>
            </a:r>
            <a:r>
              <a:rPr lang="pt-BR" sz="2400" dirty="0" err="1"/>
              <a:t>CNNs</a:t>
            </a:r>
            <a:r>
              <a:rPr lang="pt-BR" sz="2400" dirty="0"/>
              <a:t>, </a:t>
            </a:r>
            <a:r>
              <a:rPr lang="pt-BR" sz="2400" dirty="0" err="1"/>
              <a:t>RNNs</a:t>
            </a:r>
            <a:r>
              <a:rPr lang="pt-BR" sz="2400" dirty="0"/>
              <a:t>, </a:t>
            </a:r>
            <a:r>
              <a:rPr lang="pt-BR" sz="2400" i="1" dirty="0" err="1"/>
              <a:t>Tranformers</a:t>
            </a:r>
            <a:r>
              <a:rPr lang="pt-BR" sz="2400" dirty="0"/>
              <a:t>)</a:t>
            </a:r>
          </a:p>
          <a:p>
            <a:pPr algn="ctr"/>
            <a:r>
              <a:rPr lang="pt-BR" sz="2400" dirty="0"/>
              <a:t>Máquinas de vetores de suporte (SVM)</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dirty="0"/>
              <a:t>Como o gradiente descendente é a abordagem mais usada com grande parte dos algoritmos de ML, vamos focar no seu aprendizado.</a:t>
            </a:r>
            <a:endParaRPr lang="en-US" sz="5400" dirty="0"/>
          </a:p>
        </p:txBody>
      </p:sp>
    </p:spTree>
    <p:extLst>
      <p:ext uri="{BB962C8B-B14F-4D97-AF65-F5344CB8AC3E}">
        <p14:creationId xmlns:p14="http://schemas.microsoft.com/office/powerpoint/2010/main" val="31950105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a:t>
                </a:r>
                <a:r>
                  <a:rPr lang="pt-BR" b="1" dirty="0">
                    <a:solidFill>
                      <a:schemeClr val="accent2"/>
                    </a:solidFill>
                  </a:rPr>
                  <a:t>representação geométrica da função de erro.</a:t>
                </a:r>
              </a:p>
              <a:p>
                <a:r>
                  <a:rPr lang="pt-BR" dirty="0"/>
                  <a:t>Ela mostra o quão "errado" o nosso modelo está </a:t>
                </a:r>
                <a:r>
                  <a:rPr lang="pt-BR" b="1" dirty="0"/>
                  <a:t>para cada combinação possível de pesos</a:t>
                </a:r>
                <a:endParaRPr lang="pt-BR" dirty="0"/>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a:blip r:embed="rId3"/>
                <a:stretch>
                  <a:fillRect l="-1592" t="-1937" r="-2299" b="-3390"/>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0" y="6581000"/>
            <a:ext cx="5034223" cy="276999"/>
          </a:xfrm>
          <a:prstGeom prst="rect">
            <a:avLst/>
          </a:prstGeom>
          <a:noFill/>
        </p:spPr>
        <p:txBody>
          <a:bodyPr wrap="square" rtlCol="0">
            <a:spAutoFit/>
          </a:bodyPr>
          <a:lstStyle/>
          <a:p>
            <a:r>
              <a:rPr lang="pt-BR" sz="1200" b="1" dirty="0"/>
              <a:t>OBS</a:t>
            </a:r>
            <a:r>
              <a:rPr lang="pt-BR" sz="1200" dirty="0"/>
              <a:t>.: Superfície de erro para um função hipótese com um atributo e um peso.</a:t>
            </a:r>
          </a:p>
        </p:txBody>
      </p:sp>
    </p:spTree>
    <p:extLst>
      <p:ext uri="{BB962C8B-B14F-4D97-AF65-F5344CB8AC3E}">
        <p14:creationId xmlns:p14="http://schemas.microsoft.com/office/powerpoint/2010/main" val="29565492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49ABA-9D79-2DC4-D0DD-14B8C59177C0}"/>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4459D3A-818A-5DAE-535B-3F207C128390}"/>
                  </a:ext>
                </a:extLst>
              </p:cNvPr>
              <p:cNvSpPr>
                <a:spLocks noGrp="1"/>
              </p:cNvSpPr>
              <p:nvPr>
                <p:ph idx="1"/>
              </p:nvPr>
            </p:nvSpPr>
            <p:spPr>
              <a:xfrm>
                <a:off x="5118755" y="1825624"/>
                <a:ext cx="7073245" cy="5032375"/>
              </a:xfrm>
            </p:spPr>
            <p:txBody>
              <a:bodyPr>
                <a:normAutofit/>
              </a:bodyPr>
              <a:lstStyle/>
              <a:p>
                <a:r>
                  <a:rPr lang="pt-BR" dirty="0"/>
                  <a:t>O ponto mais baixo da superfície nos dá o vetor de </a:t>
                </a:r>
                <a:r>
                  <a:rPr lang="pt-BR" b="1" dirty="0"/>
                  <a:t>pesos ótimos,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Devido ao EQM ter uma forma quadrática,</a:t>
                </a:r>
                <a:endParaRPr lang="pt-BR" b="1" dirty="0"/>
              </a:p>
              <a:p>
                <a:pPr marL="0" indent="0" algn="ctr">
                  <a:buNone/>
                </a:pPr>
                <a14:m>
                  <m:oMathPara xmlns:m="http://schemas.openxmlformats.org/officeDocument/2006/math">
                    <m:oMath>
                      <m:sSup>
                        <m:sSupPr>
                          <m:ctrlPr>
                            <a:rPr lang="pt-BR" sz="2400" i="1">
                              <a:latin typeface="Cambria Math" panose="02040503050406030204" pitchFamily="18" charset="0"/>
                            </a:rPr>
                          </m:ctrlPr>
                        </m:sSupPr>
                        <m:e>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𝒚</m:t>
                              </m:r>
                              <m:r>
                                <a:rPr lang="pt-BR" sz="2400" i="1">
                                  <a:latin typeface="Cambria Math" panose="02040503050406030204" pitchFamily="18" charset="0"/>
                                </a:rPr>
                                <m:t> −</m:t>
                              </m:r>
                              <m:r>
                                <a:rPr lang="pt-BR" sz="2400" b="1" i="1">
                                  <a:latin typeface="Cambria Math" panose="02040503050406030204" pitchFamily="18" charset="0"/>
                                </a:rPr>
                                <m:t>𝑿𝒂</m:t>
                              </m:r>
                            </m:e>
                          </m:d>
                        </m:e>
                        <m:sup>
                          <m:r>
                            <a:rPr lang="pt-BR" sz="2400" i="1">
                              <a:latin typeface="Cambria Math" panose="02040503050406030204" pitchFamily="18" charset="0"/>
                            </a:rPr>
                            <m:t>2</m:t>
                          </m:r>
                        </m:sup>
                      </m:sSup>
                    </m:oMath>
                  </m:oMathPara>
                </a14:m>
                <a:endParaRPr lang="pt-BR" sz="2400" i="1" dirty="0">
                  <a:latin typeface="Cambria Math" panose="02040503050406030204" pitchFamily="18" charset="0"/>
                </a:endParaRPr>
              </a:p>
              <a:p>
                <a:pPr marL="0" indent="0" algn="ctr">
                  <a:buNone/>
                </a:pPr>
                <a:r>
                  <a:rPr lang="pt-BR" sz="2400" dirty="0"/>
                  <a:t>= </a:t>
                </a:r>
                <a14:m>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ctrlPr>
                          <a:rPr lang="pt-BR" sz="2400" b="1" i="1" dirty="0">
                            <a:latin typeface="Cambria Math" panose="02040503050406030204" pitchFamily="18" charset="0"/>
                          </a:rPr>
                        </m:ctrlPr>
                      </m:d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m:rPr>
                            <m:nor/>
                          </m:rPr>
                          <a:rPr lang="pt-BR" sz="2400" b="1" i="0" dirty="0"/>
                          <m:t> </m:t>
                        </m:r>
                        <m:r>
                          <a:rPr lang="pt-BR" sz="2400" b="1" i="1">
                            <a:latin typeface="Cambria Math" panose="02040503050406030204" pitchFamily="18" charset="0"/>
                          </a:rPr>
                          <m:t>𝒚</m:t>
                        </m:r>
                        <m:r>
                          <m:rPr>
                            <m:nor/>
                          </m:rPr>
                          <a:rPr lang="nl-BE" sz="2400" i="0" dirty="0"/>
                          <m:t> − </m:t>
                        </m:r>
                        <m:sSup>
                          <m:sSupPr>
                            <m:ctrlPr>
                              <a:rPr lang="pt-BR" sz="2400" b="1" i="1" dirty="0">
                                <a:latin typeface="Cambria Math" panose="02040503050406030204" pitchFamily="18" charset="0"/>
                              </a:rPr>
                            </m:ctrlPr>
                          </m:sSup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a:rPr lang="pt-BR" sz="2400" b="1" i="1">
                                <a:latin typeface="Cambria Math" panose="02040503050406030204" pitchFamily="18" charset="0"/>
                              </a:rPr>
                              <m:t>𝑿</m:t>
                            </m:r>
                            <m:r>
                              <a:rPr lang="pt-BR" sz="2400" b="1" i="1" dirty="0">
                                <a:latin typeface="Cambria Math" panose="02040503050406030204" pitchFamily="18" charset="0"/>
                              </a:rPr>
                              <m:t>𝒂</m:t>
                            </m:r>
                          </m:e>
                          <m:sup>
                            <m:r>
                              <a:rPr lang="pt-BR" sz="2400" i="1" dirty="0">
                                <a:latin typeface="Cambria Math" panose="02040503050406030204" pitchFamily="18" charset="0"/>
                              </a:rPr>
                              <m:t>𝑇</m:t>
                            </m:r>
                          </m:sup>
                        </m:sSup>
                        <m:r>
                          <m:rPr>
                            <m:nor/>
                          </m:rPr>
                          <a:rPr lang="nl-BE" sz="2400" i="0" dirty="0"/>
                          <m:t>− </m:t>
                        </m:r>
                        <m:sSup>
                          <m:sSupPr>
                            <m:ctrlPr>
                              <a:rPr lang="pt-BR" sz="2400" b="1"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pt-BR" sz="2400" b="1"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m:rPr>
                            <m:nor/>
                          </m:rPr>
                          <a:rPr lang="pt-BR" sz="2400" b="1" i="0" dirty="0"/>
                          <m:t> </m:t>
                        </m:r>
                        <m:r>
                          <a:rPr lang="pt-BR" sz="2400" b="1" i="1">
                            <a:latin typeface="Cambria Math" panose="02040503050406030204" pitchFamily="18" charset="0"/>
                          </a:rPr>
                          <m:t>𝒚</m:t>
                        </m:r>
                        <m:r>
                          <m:rPr>
                            <m:nor/>
                          </m:rPr>
                          <a:rPr lang="nl-BE" sz="2400" i="0" dirty="0"/>
                          <m:t> + </m:t>
                        </m:r>
                        <m:limLow>
                          <m:limLowPr>
                            <m:ctrlPr>
                              <a:rPr lang="nl-BE" sz="2400" i="1">
                                <a:latin typeface="Cambria Math" panose="02040503050406030204" pitchFamily="18" charset="0"/>
                              </a:rPr>
                            </m:ctrlPr>
                          </m:limLowPr>
                          <m:e>
                            <m:groupChr>
                              <m:groupChrPr>
                                <m:chr m:val="⏟"/>
                                <m:pos m:val="bot"/>
                                <m:vertJc m:val="top"/>
                                <m:ctrlPr>
                                  <a:rPr lang="pt-BR" sz="2400" b="1" i="1">
                                    <a:latin typeface="Cambria Math" panose="02040503050406030204" pitchFamily="18" charset="0"/>
                                  </a:rPr>
                                </m:ctrlPr>
                              </m:groupChrPr>
                              <m:e>
                                <m:sSup>
                                  <m:sSupPr>
                                    <m:ctrlPr>
                                      <a:rPr lang="pt-BR" sz="2400" b="1"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pt-BR" sz="2400" b="1"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a:rPr lang="pt-BR" sz="2400" b="1" i="1">
                                    <a:latin typeface="Cambria Math" panose="02040503050406030204" pitchFamily="18" charset="0"/>
                                  </a:rPr>
                                  <m:t>𝑿𝒂</m:t>
                                </m:r>
                              </m:e>
                            </m:groupChr>
                          </m:e>
                          <m:lim>
                            <m:sSup>
                              <m:sSupPr>
                                <m:ctrlPr>
                                  <a:rPr lang="pt-BR" sz="2400" b="1" i="1">
                                    <a:latin typeface="Cambria Math" panose="02040503050406030204" pitchFamily="18" charset="0"/>
                                  </a:rPr>
                                </m:ctrlPr>
                              </m:s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𝑿𝒂</m:t>
                                    </m:r>
                                  </m:e>
                                </m:d>
                              </m:e>
                              <m:sup>
                                <m:r>
                                  <a:rPr lang="pt-BR" sz="2400" i="1">
                                    <a:latin typeface="Cambria Math" panose="02040503050406030204" pitchFamily="18" charset="0"/>
                                  </a:rPr>
                                  <m:t>2</m:t>
                                </m:r>
                              </m:sup>
                            </m:sSup>
                            <m:r>
                              <a:rPr lang="pt-BR" sz="2400">
                                <a:latin typeface="Cambria Math" panose="02040503050406030204" pitchFamily="18" charset="0"/>
                              </a:rPr>
                              <m:t>≥</m:t>
                            </m:r>
                            <m:r>
                              <a:rPr lang="pt-BR" sz="2400" b="0" i="0" smtClean="0">
                                <a:latin typeface="Cambria Math" panose="02040503050406030204" pitchFamily="18" charset="0"/>
                              </a:rPr>
                              <m:t>0</m:t>
                            </m:r>
                          </m:lim>
                        </m:limLow>
                      </m:e>
                    </m:d>
                    <m:r>
                      <a:rPr lang="pt-BR" sz="2400" b="1" i="1" smtClean="0">
                        <a:latin typeface="Cambria Math" panose="02040503050406030204" pitchFamily="18" charset="0"/>
                      </a:rPr>
                      <m:t>,</m:t>
                    </m:r>
                  </m:oMath>
                </a14:m>
                <a:endParaRPr lang="pt-BR" sz="2400" dirty="0"/>
              </a:p>
              <a:p>
                <a:pPr marL="0" indent="0">
                  <a:buNone/>
                </a:pPr>
                <a:r>
                  <a:rPr lang="pt-BR" dirty="0"/>
                  <a:t>sua superfície de erro </a:t>
                </a:r>
                <a:r>
                  <a:rPr lang="pt-BR" b="1" dirty="0"/>
                  <a:t>sempre terá o formato de uma</a:t>
                </a:r>
                <a:r>
                  <a:rPr lang="pt-BR" dirty="0"/>
                  <a:t> </a:t>
                </a:r>
                <a:r>
                  <a:rPr lang="pt-BR" b="1" dirty="0">
                    <a:solidFill>
                      <a:schemeClr val="accent2"/>
                    </a:solidFill>
                  </a:rPr>
                  <a:t>parábola</a:t>
                </a:r>
                <a:r>
                  <a:rPr lang="pt-BR" b="1" dirty="0"/>
                  <a:t> (ou tigela)</a:t>
                </a:r>
                <a:r>
                  <a:rPr lang="pt-BR" dirty="0"/>
                  <a:t>.</a:t>
                </a:r>
              </a:p>
              <a:p>
                <a:r>
                  <a:rPr lang="pt-BR" dirty="0"/>
                  <a:t>Além disso, devido ao termo quadrático ser positivo, ela terá a </a:t>
                </a:r>
                <a:r>
                  <a:rPr lang="pt-BR" b="1" dirty="0">
                    <a:solidFill>
                      <a:srgbClr val="7030A0"/>
                    </a:solidFill>
                  </a:rPr>
                  <a:t>concavidade sempre voltada para cima</a:t>
                </a:r>
                <a:r>
                  <a:rPr lang="pt-BR" b="1" dirty="0"/>
                  <a:t>.</a:t>
                </a:r>
              </a:p>
            </p:txBody>
          </p:sp>
        </mc:Choice>
        <mc:Fallback xmlns="">
          <p:sp>
            <p:nvSpPr>
              <p:cNvPr id="3" name="Content Placeholder 2">
                <a:extLst>
                  <a:ext uri="{FF2B5EF4-FFF2-40B4-BE49-F238E27FC236}">
                    <a16:creationId xmlns:a16="http://schemas.microsoft.com/office/drawing/2014/main" id="{E4459D3A-818A-5DAE-535B-3F207C128390}"/>
                  </a:ext>
                </a:extLst>
              </p:cNvPr>
              <p:cNvSpPr>
                <a:spLocks noGrp="1" noRot="1" noChangeAspect="1" noMove="1" noResize="1" noEditPoints="1" noAdjustHandles="1" noChangeArrowheads="1" noChangeShapeType="1" noTextEdit="1"/>
              </p:cNvSpPr>
              <p:nvPr>
                <p:ph idx="1"/>
              </p:nvPr>
            </p:nvSpPr>
            <p:spPr>
              <a:xfrm>
                <a:off x="5118755" y="1825624"/>
                <a:ext cx="7073245" cy="5032375"/>
              </a:xfrm>
              <a:blipFill>
                <a:blip r:embed="rId3"/>
                <a:stretch>
                  <a:fillRect l="-1810" t="-1937" b="-1937"/>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C9D697DF-5B23-D1C0-486E-B97AA1B4792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8" name="Rectangle 7">
            <a:extLst>
              <a:ext uri="{FF2B5EF4-FFF2-40B4-BE49-F238E27FC236}">
                <a16:creationId xmlns:a16="http://schemas.microsoft.com/office/drawing/2014/main" id="{2E75DE34-0603-3089-D41E-8F16B6BD358C}"/>
              </a:ext>
            </a:extLst>
          </p:cNvPr>
          <p:cNvSpPr/>
          <p:nvPr/>
        </p:nvSpPr>
        <p:spPr>
          <a:xfrm>
            <a:off x="9889255" y="3902697"/>
            <a:ext cx="1158957" cy="35302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6693623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345722" y="1825624"/>
                <a:ext cx="6748868" cy="5032375"/>
              </a:xfrm>
            </p:spPr>
            <p:txBody>
              <a:bodyPr>
                <a:normAutofit/>
              </a:bodyPr>
              <a:lstStyle/>
              <a:p>
                <a:r>
                  <a:rPr lang="pt-BR" noProof="0"/>
                  <a:t>O que isso significa na prática?</a:t>
                </a:r>
              </a:p>
              <a:p>
                <a:pPr lvl="1">
                  <a:buFont typeface="Wingdings" panose="05000000000000000000" pitchFamily="2" charset="2"/>
                  <a:buChar char="§"/>
                </a:pPr>
                <a:r>
                  <a:rPr lang="pt-BR" noProof="0" dirty="0"/>
                  <a:t>A </a:t>
                </a:r>
                <a:r>
                  <a:rPr lang="pt-BR" b="1" noProof="0" dirty="0"/>
                  <a:t>superfície de erro </a:t>
                </a:r>
                <a:r>
                  <a:rPr lang="pt-BR" noProof="0" dirty="0"/>
                  <a:t>tem o formato de uma </a:t>
                </a:r>
                <a:r>
                  <a:rPr lang="pt-BR" b="1" noProof="0" dirty="0">
                    <a:solidFill>
                      <a:srgbClr val="00B0F0"/>
                    </a:solidFill>
                  </a:rPr>
                  <a:t>parábola convexa</a:t>
                </a:r>
                <a:r>
                  <a:rPr lang="pt-BR" b="1" noProof="0" dirty="0"/>
                  <a:t> </a:t>
                </a:r>
                <a:r>
                  <a:rPr lang="pt-BR" noProof="0" dirty="0"/>
                  <a:t>(i.e., formato de uma </a:t>
                </a:r>
                <a:r>
                  <a:rPr lang="pt-BR" b="1" noProof="0" dirty="0"/>
                  <a:t>tigela </a:t>
                </a:r>
                <a:r>
                  <a:rPr lang="pt-BR" noProof="0" dirty="0"/>
                  <a:t>ou </a:t>
                </a:r>
                <a:r>
                  <a:rPr lang="pt-BR" b="1" noProof="0" dirty="0"/>
                  <a:t>vale</a:t>
                </a:r>
                <a:r>
                  <a:rPr lang="pt-BR" noProof="0" dirty="0"/>
                  <a:t>).</a:t>
                </a:r>
              </a:p>
              <a:p>
                <a:pPr lvl="1">
                  <a:buFont typeface="Wingdings" panose="05000000000000000000" pitchFamily="2" charset="2"/>
                  <a:buChar char="§"/>
                </a:pPr>
                <a:r>
                  <a:rPr lang="pt-BR" noProof="0" dirty="0"/>
                  <a:t>Consequentemente, existe apenas </a:t>
                </a:r>
                <a:r>
                  <a:rPr lang="pt-BR" b="1" noProof="0" dirty="0">
                    <a:solidFill>
                      <a:schemeClr val="accent2"/>
                    </a:solidFill>
                  </a:rPr>
                  <a:t>um único </a:t>
                </a:r>
                <a:r>
                  <a:rPr lang="pt-BR" b="1" noProof="0" dirty="0"/>
                  <a:t>ponto mais baixo</a:t>
                </a:r>
                <a:r>
                  <a:rPr lang="pt-BR" noProof="0" dirty="0"/>
                  <a:t> (chamado de </a:t>
                </a:r>
                <a:r>
                  <a:rPr lang="pt-BR" b="1" noProof="0" dirty="0">
                    <a:solidFill>
                      <a:srgbClr val="7030A0"/>
                    </a:solidFill>
                  </a:rPr>
                  <a:t>mínimo global</a:t>
                </a:r>
                <a:r>
                  <a:rPr lang="pt-BR" noProof="0" dirty="0"/>
                  <a:t>).</a:t>
                </a:r>
              </a:p>
              <a:p>
                <a:pPr lvl="1">
                  <a:buFont typeface="Wingdings" panose="05000000000000000000" pitchFamily="2" charset="2"/>
                  <a:buChar char="§"/>
                </a:pPr>
                <a:r>
                  <a:rPr lang="pt-BR" noProof="0" dirty="0"/>
                  <a:t>Portanto, basta </a:t>
                </a:r>
                <a:r>
                  <a:rPr lang="pt-BR" b="1" noProof="0" dirty="0">
                    <a:solidFill>
                      <a:schemeClr val="accent1"/>
                    </a:solidFill>
                  </a:rPr>
                  <a:t>seguirmos ladeira abaixo</a:t>
                </a:r>
                <a:r>
                  <a:rPr lang="pt-BR" noProof="0" dirty="0"/>
                  <a:t> </a:t>
                </a:r>
                <a:r>
                  <a:rPr lang="pt-BR" b="1" noProof="0" dirty="0">
                    <a:solidFill>
                      <a:srgbClr val="00B050"/>
                    </a:solidFill>
                  </a:rPr>
                  <a:t>a partir de qualquer ponto</a:t>
                </a:r>
                <a:r>
                  <a:rPr lang="pt-BR" noProof="0" dirty="0"/>
                  <a:t> que encontraremos a melhor solução possível,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𝒂</m:t>
                        </m:r>
                      </m:e>
                      <m:sub>
                        <m:r>
                          <a:rPr lang="pt-BR" noProof="0">
                            <a:latin typeface="Cambria Math" panose="02040503050406030204" pitchFamily="18" charset="0"/>
                          </a:rPr>
                          <m:t>ó</m:t>
                        </m:r>
                        <m:r>
                          <m:rPr>
                            <m:sty m:val="p"/>
                          </m:rPr>
                          <a:rPr lang="pt-BR" noProof="0">
                            <a:latin typeface="Cambria Math" panose="02040503050406030204" pitchFamily="18" charset="0"/>
                          </a:rPr>
                          <m:t>timo</m:t>
                        </m:r>
                      </m:sub>
                    </m:sSub>
                  </m:oMath>
                </a14:m>
                <a:r>
                  <a:rPr lang="pt-BR" noProof="0" dirty="0"/>
                  <a:t>.</a:t>
                </a:r>
              </a:p>
              <a:p>
                <a:r>
                  <a:rPr lang="pt-BR" noProof="0" dirty="0"/>
                  <a:t>Em geral, o </a:t>
                </a:r>
                <a:r>
                  <a:rPr lang="pt-BR" b="1" noProof="0" dirty="0">
                    <a:solidFill>
                      <a:srgbClr val="7030A0"/>
                    </a:solidFill>
                  </a:rPr>
                  <a:t>erro mínimo</a:t>
                </a:r>
                <a:r>
                  <a:rPr lang="pt-BR" noProof="0" dirty="0"/>
                  <a:t> nunca será igual a 0 devido aos dados estarem corrompidos por algum tipo de ruído.</a:t>
                </a:r>
              </a:p>
              <a:p>
                <a:pPr lvl="1">
                  <a:buFont typeface="Wingdings" panose="05000000000000000000" pitchFamily="2" charset="2"/>
                  <a:buChar char="§"/>
                </a:pPr>
                <a:endParaRPr lang="pt-BR" noProof="0" dirty="0"/>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345722" y="1825624"/>
                <a:ext cx="6748868" cy="5032375"/>
              </a:xfrm>
              <a:blipFill>
                <a:blip r:embed="rId2"/>
                <a:stretch>
                  <a:fillRect l="-1626" t="-1937" r="-1716" b="-969"/>
                </a:stretch>
              </a:blipFill>
            </p:spPr>
            <p:txBody>
              <a:bodyPr/>
              <a:lstStyle/>
              <a:p>
                <a:r>
                  <a:rPr lang="en-US">
                    <a:noFill/>
                  </a:rPr>
                  <a:t> </a:t>
                </a:r>
              </a:p>
            </p:txBody>
          </p:sp>
        </mc:Fallback>
      </mc:AlternateContent>
      <p:grpSp>
        <p:nvGrpSpPr>
          <p:cNvPr id="8" name="Agrupar 8">
            <a:extLst>
              <a:ext uri="{FF2B5EF4-FFF2-40B4-BE49-F238E27FC236}">
                <a16:creationId xmlns:a16="http://schemas.microsoft.com/office/drawing/2014/main" id="{7FD92229-0631-3DCD-1FF9-A49AE18B66EF}"/>
              </a:ext>
            </a:extLst>
          </p:cNvPr>
          <p:cNvGrpSpPr/>
          <p:nvPr/>
        </p:nvGrpSpPr>
        <p:grpSpPr>
          <a:xfrm>
            <a:off x="500575" y="1825624"/>
            <a:ext cx="4456768" cy="4397089"/>
            <a:chOff x="447782" y="1825625"/>
            <a:chExt cx="4456768" cy="4397089"/>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131891" y="5637939"/>
                  <a:ext cx="2091484" cy="584775"/>
                </a:xfrm>
                <a:prstGeom prst="rect">
                  <a:avLst/>
                </a:prstGeom>
                <a:noFill/>
              </p:spPr>
              <p:txBody>
                <a:bodyPr wrap="square" rtlCol="0">
                  <a:spAutoFit/>
                </a:bodyPr>
                <a:lstStyle/>
                <a:p>
                  <a:r>
                    <a:rPr lang="pt-BR" sz="1400" b="1" dirty="0">
                      <a:solidFill>
                        <a:srgbClr val="00B0F0"/>
                      </a:solidFill>
                    </a:rPr>
                    <a:t>ponto de mínimo global</a:t>
                  </a:r>
                </a:p>
                <a:p>
                  <a:pPr algn="ctr"/>
                  <a14:m>
                    <m:oMathPara xmlns:m="http://schemas.openxmlformats.org/officeDocument/2006/math">
                      <m:o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0" i="0" smtClean="0">
                                <a:solidFill>
                                  <a:schemeClr val="tx1"/>
                                </a:solidFill>
                                <a:latin typeface="Cambria Math" panose="02040503050406030204" pitchFamily="18" charset="0"/>
                              </a:rPr>
                              <m:t>ó</m:t>
                            </m:r>
                            <m:r>
                              <m:rPr>
                                <m:sty m:val="p"/>
                              </m:rPr>
                              <a:rPr lang="pt-BR" b="0" i="0" smtClean="0">
                                <a:solidFill>
                                  <a:schemeClr val="tx1"/>
                                </a:solidFill>
                                <a:latin typeface="Cambria Math" panose="02040503050406030204" pitchFamily="18" charset="0"/>
                              </a:rPr>
                              <m:t>timo</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31891" y="5637939"/>
                  <a:ext cx="2091484" cy="584775"/>
                </a:xfrm>
                <a:prstGeom prst="rect">
                  <a:avLst/>
                </a:prstGeom>
                <a:blipFill>
                  <a:blip r:embed="rId7"/>
                  <a:stretch>
                    <a:fillRect l="-875" t="-2083"/>
                  </a:stretch>
                </a:blipFill>
              </p:spPr>
              <p:txBody>
                <a:bodyPr/>
                <a:lstStyle/>
                <a:p>
                  <a:r>
                    <a:rPr lang="en-US">
                      <a:noFill/>
                    </a:rPr>
                    <a:t> </a:t>
                  </a:r>
                </a:p>
              </p:txBody>
            </p:sp>
          </mc:Fallback>
        </mc:AlternateContent>
      </p:grpSp>
      <p:sp>
        <p:nvSpPr>
          <p:cNvPr id="32" name="CaixaDeTexto 4">
            <a:extLst>
              <a:ext uri="{FF2B5EF4-FFF2-40B4-BE49-F238E27FC236}">
                <a16:creationId xmlns:a16="http://schemas.microsoft.com/office/drawing/2014/main" id="{937BDBF2-CD1E-BFE4-16C2-CB92C782157B}"/>
              </a:ext>
            </a:extLst>
          </p:cNvPr>
          <p:cNvSpPr txBox="1"/>
          <p:nvPr/>
        </p:nvSpPr>
        <p:spPr>
          <a:xfrm>
            <a:off x="0" y="6488667"/>
            <a:ext cx="6561983" cy="276999"/>
          </a:xfrm>
          <a:prstGeom prst="rect">
            <a:avLst/>
          </a:prstGeom>
          <a:noFill/>
        </p:spPr>
        <p:txBody>
          <a:bodyPr wrap="square" rtlCol="0">
            <a:spAutoFit/>
          </a:bodyPr>
          <a:lstStyle/>
          <a:p>
            <a:r>
              <a:rPr lang="pt-BR" sz="1200" b="1" dirty="0"/>
              <a:t>OBS</a:t>
            </a:r>
            <a:r>
              <a:rPr lang="pt-BR" sz="1200" dirty="0"/>
              <a:t>.: Superfície de erro para um função hipótese com dois atributos e dois pesos.</a:t>
            </a:r>
          </a:p>
        </p:txBody>
      </p:sp>
    </p:spTree>
    <p:extLst>
      <p:ext uri="{BB962C8B-B14F-4D97-AF65-F5344CB8AC3E}">
        <p14:creationId xmlns:p14="http://schemas.microsoft.com/office/powerpoint/2010/main" val="2012100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5739662" y="1825624"/>
                <a:ext cx="6307793" cy="5032375"/>
              </a:xfrm>
            </p:spPr>
            <p:txBody>
              <a:bodyPr/>
              <a:lstStyle/>
              <a:p>
                <a:r>
                  <a:rPr lang="pt-BR" dirty="0"/>
                  <a:t>O </a:t>
                </a:r>
                <a:r>
                  <a:rPr lang="pt-BR" b="1" dirty="0">
                    <a:solidFill>
                      <a:schemeClr val="accent2"/>
                    </a:solidFill>
                  </a:rPr>
                  <a:t>gradiente descendente</a:t>
                </a:r>
                <a:r>
                  <a:rPr lang="pt-BR" dirty="0"/>
                  <a:t> procura de forma </a:t>
                </a:r>
                <a:r>
                  <a:rPr lang="pt-BR" b="1" dirty="0">
                    <a:solidFill>
                      <a:srgbClr val="7030A0"/>
                    </a:solidFill>
                  </a:rPr>
                  <a:t>iterativa</a:t>
                </a:r>
                <a:r>
                  <a:rPr lang="pt-BR" b="1" dirty="0"/>
                  <a:t> o ponto mais baixo da superfície de erro</a:t>
                </a:r>
                <a:r>
                  <a:rPr lang="pt-BR" dirty="0"/>
                  <a:t>.</a:t>
                </a:r>
              </a:p>
              <a:p>
                <a:pPr lvl="1">
                  <a:buFont typeface="Wingdings" panose="05000000000000000000" pitchFamily="2" charset="2"/>
                  <a:buChar char="§"/>
                </a:pPr>
                <a:r>
                  <a:rPr lang="pt-BR" dirty="0"/>
                  <a:t>O GD </a:t>
                </a:r>
                <a:r>
                  <a:rPr lang="pt-BR" b="1" dirty="0">
                    <a:solidFill>
                      <a:schemeClr val="accent2"/>
                    </a:solidFill>
                  </a:rPr>
                  <a:t>desce a ladeira </a:t>
                </a:r>
                <a:r>
                  <a:rPr lang="pt-BR" dirty="0"/>
                  <a:t>em busca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Ele é inicializado com </a:t>
                </a:r>
                <a:r>
                  <a:rPr lang="pt-BR" b="1" dirty="0"/>
                  <a:t>pesos (i.e., pontos) </a:t>
                </a:r>
                <a:r>
                  <a:rPr lang="pt-BR" b="1" dirty="0">
                    <a:solidFill>
                      <a:srgbClr val="00B0F0"/>
                    </a:solidFill>
                  </a:rPr>
                  <a:t>aleatórios</a:t>
                </a:r>
                <a:r>
                  <a:rPr lang="pt-BR" dirty="0"/>
                  <a:t>.</a:t>
                </a:r>
              </a:p>
              <a:p>
                <a:r>
                  <a:rPr lang="pt-BR" dirty="0"/>
                  <a:t>E, a cada iteração, ele </a:t>
                </a:r>
                <a:r>
                  <a:rPr lang="pt-BR" b="1" dirty="0">
                    <a:solidFill>
                      <a:srgbClr val="00B050"/>
                    </a:solidFill>
                  </a:rPr>
                  <a:t>refina</a:t>
                </a:r>
                <a:r>
                  <a:rPr lang="pt-BR" dirty="0"/>
                  <a:t> os valores dos pesos, ficando mais e mais próximo do ponto de mínimo.</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5739662" y="1825624"/>
                <a:ext cx="6307793" cy="5032375"/>
              </a:xfrm>
              <a:blipFill>
                <a:blip r:embed="rId2"/>
                <a:stretch>
                  <a:fillRect l="-1741" t="-1937" r="-290"/>
                </a:stretch>
              </a:blipFill>
            </p:spPr>
            <p:txBody>
              <a:bodyPr/>
              <a:lstStyle/>
              <a:p>
                <a:r>
                  <a:rPr lang="en-US">
                    <a:noFill/>
                  </a:rPr>
                  <a:t> </a:t>
                </a:r>
              </a:p>
            </p:txBody>
          </p:sp>
        </mc:Fallback>
      </mc:AlternateContent>
      <p:grpSp>
        <p:nvGrpSpPr>
          <p:cNvPr id="4" name="Agrupar 4">
            <a:extLst>
              <a:ext uri="{FF2B5EF4-FFF2-40B4-BE49-F238E27FC236}">
                <a16:creationId xmlns:a16="http://schemas.microsoft.com/office/drawing/2014/main" id="{84412B71-A2C7-E89B-BE04-C2E70AB63FB6}"/>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722706" y="1825625"/>
            <a:ext cx="6371884" cy="5032376"/>
          </a:xfrm>
        </p:spPr>
        <p:txBody>
          <a:bodyPr>
            <a:normAutofit/>
          </a:bodyPr>
          <a:lstStyle/>
          <a:p>
            <a:r>
              <a:rPr lang="pt-BR" dirty="0"/>
              <a:t>Esse </a:t>
            </a:r>
            <a:r>
              <a:rPr lang="pt-BR" b="1" dirty="0">
                <a:solidFill>
                  <a:srgbClr val="00B050"/>
                </a:solidFill>
              </a:rPr>
              <a:t>processo </a:t>
            </a:r>
            <a:r>
              <a:rPr lang="pt-BR" b="1" dirty="0">
                <a:solidFill>
                  <a:srgbClr val="0070C0"/>
                </a:solidFill>
              </a:rPr>
              <a:t>iterativo</a:t>
            </a:r>
            <a:r>
              <a:rPr lang="pt-BR" b="1" dirty="0">
                <a:solidFill>
                  <a:srgbClr val="00B050"/>
                </a:solidFill>
              </a:rPr>
              <a:t> de busca</a:t>
            </a:r>
            <a:r>
              <a:rPr lang="pt-BR" dirty="0"/>
              <a:t> que tem como </a:t>
            </a:r>
            <a:r>
              <a:rPr lang="pt-BR" b="1" dirty="0">
                <a:solidFill>
                  <a:srgbClr val="00B050"/>
                </a:solidFill>
              </a:rPr>
              <a:t>objetivo</a:t>
            </a:r>
            <a:r>
              <a:rPr lang="pt-BR" dirty="0"/>
              <a:t> encontrar o </a:t>
            </a:r>
            <a:r>
              <a:rPr lang="pt-BR" b="1" dirty="0">
                <a:solidFill>
                  <a:srgbClr val="00B050"/>
                </a:solidFill>
              </a:rPr>
              <a:t>ponto de mínimo </a:t>
            </a:r>
            <a:r>
              <a:rPr lang="pt-BR" dirty="0"/>
              <a:t>é chamado de </a:t>
            </a:r>
            <a:r>
              <a:rPr lang="pt-BR" b="1" dirty="0">
                <a:solidFill>
                  <a:schemeClr val="accent2"/>
                </a:solidFill>
              </a:rPr>
              <a:t>otimização</a:t>
            </a:r>
            <a:r>
              <a:rPr lang="pt-BR" dirty="0"/>
              <a:t> e, no contexto de ML, é conhecido como </a:t>
            </a:r>
            <a:r>
              <a:rPr lang="pt-BR" b="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dirty="0">
                <a:solidFill>
                  <a:srgbClr val="00B050"/>
                </a:solidFill>
              </a:rPr>
              <a:t>atualizar o modelo (i.e., os pesos)</a:t>
            </a:r>
            <a:r>
              <a:rPr lang="pt-BR" dirty="0"/>
              <a:t> para obter predições melhores a cada </a:t>
            </a:r>
            <a:r>
              <a:rPr lang="pt-BR" b="1" dirty="0">
                <a:solidFill>
                  <a:srgbClr val="00B050"/>
                </a:solidFill>
              </a:rPr>
              <a:t>iteração</a:t>
            </a:r>
            <a:r>
              <a:rPr lang="pt-BR" dirty="0"/>
              <a:t>.</a:t>
            </a:r>
          </a:p>
        </p:txBody>
      </p:sp>
      <p:grpSp>
        <p:nvGrpSpPr>
          <p:cNvPr id="4" name="Agrupar 4">
            <a:extLst>
              <a:ext uri="{FF2B5EF4-FFF2-40B4-BE49-F238E27FC236}">
                <a16:creationId xmlns:a16="http://schemas.microsoft.com/office/drawing/2014/main" id="{9344D18F-E9D1-3434-5B95-AFC054026FB2}"/>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45CBF24A-5767-4370-B736-8C09E572C4B5}"/>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DBBB9A33-52B4-E67A-457C-F9DF2E931649}"/>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B3F2C569-5AD8-6920-653E-E9202ECC9894}"/>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id="{EAA854D4-6261-8A67-4D85-DC0F8814436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id="{FF33C1EC-4904-6568-779A-CC84C151528E}"/>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id="{8550E570-431B-A667-30E2-009964454538}"/>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id="{DB123646-A2E6-EFE2-A269-F1DE26F3D5E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3580F84A-1C34-B760-11E0-86229D51511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D3B27D56-7F27-E4B2-2709-687DEC7BC15B}"/>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4EA7C11E-EC5F-DF33-E9B7-636B67C7597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A8B65B29-AA59-92D2-356C-BDD3B673232F}"/>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D073B126-37FA-E9FD-68F8-B94BDD48E82B}"/>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46854ABF-3D70-B939-4ED0-A8FADC23351B}"/>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id="{ED23E1B1-963D-4A71-37E9-BD8E2C39E5FA}"/>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id="{4CD5D1B8-6B5C-8F3F-B41D-9DCEF115885F}"/>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4CD5D1B8-6B5C-8F3F-B41D-9DCEF115885F}"/>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A8B6B054-A0E1-9497-ADAA-A31C58678FB7}"/>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3F0FB46B-591B-DECB-784D-FB6F5066E6DF}"/>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07D4D312-BAC5-D271-B2A0-3ABED0BD3A2F}"/>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31607A61-D5CF-8AA3-E56A-7445CE41E8DB}"/>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328FC2F8-5B78-F676-A59A-3113162AFE53}"/>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88864241-E559-BD09-2F27-714BB052D9FF}"/>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9079DE15-C9E3-E13D-2181-F7B0DD652A0A}"/>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6DC48B22-CFA3-A80E-D9EB-51142F549CFF}"/>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13EC68C7-C0D9-5F3F-5791-0865ADFFD909}"/>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7A8B3D83-AD3E-D9FC-B360-AD1257A2F77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F9B928E7-F62A-6C2C-30D2-11AEE5ECA480}"/>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020522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dirty="0">
                <a:solidFill>
                  <a:srgbClr val="00B050"/>
                </a:solidFill>
              </a:rPr>
              <a:t>treinamento</a:t>
            </a:r>
            <a:r>
              <a:rPr lang="pt-BR" dirty="0"/>
              <a:t> do modelo se </a:t>
            </a:r>
            <a:r>
              <a:rPr lang="pt-BR" b="1" dirty="0">
                <a:solidFill>
                  <a:srgbClr val="00B050"/>
                </a:solidFill>
              </a:rPr>
              <a:t>baseia</a:t>
            </a:r>
            <a:r>
              <a:rPr lang="pt-BR" dirty="0"/>
              <a:t> na </a:t>
            </a:r>
            <a:r>
              <a:rPr lang="pt-BR" b="1" dirty="0">
                <a:solidFill>
                  <a:srgbClr val="0070C0"/>
                </a:solidFill>
              </a:rPr>
              <a:t>informação</a:t>
            </a:r>
            <a:r>
              <a:rPr lang="pt-BR" b="1" dirty="0">
                <a:solidFill>
                  <a:srgbClr val="7030A0"/>
                </a:solidFill>
              </a:rPr>
              <a:t> trazida pela da função de erro</a:t>
            </a:r>
            <a:r>
              <a:rPr lang="pt-BR" dirty="0"/>
              <a:t>.</a:t>
            </a:r>
          </a:p>
          <a:p>
            <a:r>
              <a:rPr lang="pt-BR" dirty="0"/>
              <a:t>Essa </a:t>
            </a:r>
            <a:r>
              <a:rPr lang="pt-BR" b="1" dirty="0">
                <a:solidFill>
                  <a:srgbClr val="0070C0"/>
                </a:solidFill>
              </a:rPr>
              <a:t>informação</a:t>
            </a:r>
            <a:r>
              <a:rPr lang="pt-BR" dirty="0"/>
              <a:t> </a:t>
            </a:r>
            <a:r>
              <a:rPr lang="pt-BR" b="1" dirty="0">
                <a:solidFill>
                  <a:schemeClr val="accent2"/>
                </a:solidFill>
              </a:rPr>
              <a:t>aponta</a:t>
            </a:r>
            <a:r>
              <a:rPr lang="pt-BR" dirty="0">
                <a:solidFill>
                  <a:schemeClr val="accent2"/>
                </a:solidFill>
              </a:rPr>
              <a:t> </a:t>
            </a:r>
            <a:r>
              <a:rPr lang="pt-BR" b="1" dirty="0">
                <a:solidFill>
                  <a:srgbClr val="00B050"/>
                </a:solidFill>
              </a:rPr>
              <a:t>para a direção do ponto de mínimo</a:t>
            </a:r>
            <a:r>
              <a:rPr lang="pt-BR" dirty="0"/>
              <a:t>.</a:t>
            </a:r>
          </a:p>
          <a:p>
            <a:r>
              <a:rPr lang="pt-BR" dirty="0"/>
              <a:t>Como veremos, com essa </a:t>
            </a:r>
            <a:r>
              <a:rPr lang="pt-BR" b="1" dirty="0">
                <a:solidFill>
                  <a:srgbClr val="0070C0"/>
                </a:solidFill>
              </a:rPr>
              <a:t>informação</a:t>
            </a:r>
            <a:r>
              <a:rPr lang="pt-BR" dirty="0"/>
              <a:t>,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4" name="Agrupar 4">
            <a:extLst>
              <a:ext uri="{FF2B5EF4-FFF2-40B4-BE49-F238E27FC236}">
                <a16:creationId xmlns:a16="http://schemas.microsoft.com/office/drawing/2014/main" id="{9F345E32-5359-1241-37CD-C3CC13B27933}"/>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331EB408-7DA3-FD42-3C07-ADA6BBC4904D}"/>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6CBDA722-85D3-05E9-F5A8-B9814552D89E}"/>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2F4C68F6-3B38-C076-3EAB-193FAC6A003E}"/>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id="{5A0CDFF2-7455-46D4-9542-9ECBA3E3624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id="{BC8FE7EB-DF47-7ED3-F146-651647CE0725}"/>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id="{3BA16F1F-761F-C1CC-23F0-9B962EF38490}"/>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id="{F1B61CFC-15F3-B778-4EB0-CBD3FD21C896}"/>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C0B4B2A0-E1AB-5062-391D-F969BB8D98CA}"/>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5B944E53-C2E1-0339-4112-000093FDE723}"/>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A0F36872-CE0A-D2D2-1B49-34335DB8454E}"/>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21202D27-04FA-C912-C0F7-3DB8C0CDE5BD}"/>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DF97B0FC-2983-0E9B-5D0C-C25044FF23B4}"/>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8324D023-6467-65A2-8F94-6986E867422A}"/>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id="{3A841147-58A5-551E-75C9-7656FAFC477C}"/>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id="{F4E5CEDE-980A-354D-D693-FAD0BECA2D61}"/>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F4E5CEDE-980A-354D-D693-FAD0BECA2D61}"/>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A5E26438-27C2-541A-B888-2B2D52B4EBF0}"/>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F2B411D0-842D-D201-22AB-72886F40E534}"/>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A27C77C0-D6FA-D34A-E66E-95F6DF01445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68256AD-CA5A-0D83-64C5-9A1C3BCC0A10}"/>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B6491912-DC60-60C5-BE17-05C1C63B4F82}"/>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5B578662-96CB-069F-30C1-879CAA44817D}"/>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BF31A2A-20C3-FC61-4B50-24A84640850B}"/>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5E212F80-EF2F-1761-B58D-0C9D92D5F437}"/>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1AEA9F46-DB5D-2389-2564-E205B3406742}"/>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25E88F5C-95D6-F3BE-299F-C7D41EFBBC18}"/>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BEB871A4-8454-9770-68D7-7ECC14CE1CCB}"/>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252547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dirty="0"/>
              <a:t>Como funciona o gradiente descendente?</a:t>
            </a:r>
            <a:endParaRPr lang="en-US" sz="5400" dirty="0"/>
          </a:p>
        </p:txBody>
      </p:sp>
    </p:spTree>
    <p:extLst>
      <p:ext uri="{BB962C8B-B14F-4D97-AF65-F5344CB8AC3E}">
        <p14:creationId xmlns:p14="http://schemas.microsoft.com/office/powerpoint/2010/main" val="31888327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968517" cy="5032376"/>
              </a:xfrm>
            </p:spPr>
            <p:txBody>
              <a:bodyPr>
                <a:normAutofit/>
              </a:bodyPr>
              <a:lstStyle/>
              <a:p>
                <a:r>
                  <a:rPr lang="pt-BR" dirty="0">
                    <a:solidFill>
                      <a:schemeClr val="tx1"/>
                    </a:solidFill>
                  </a:rPr>
                  <a:t>Se nós </a:t>
                </a:r>
                <a:r>
                  <a:rPr lang="pt-BR" b="1" dirty="0">
                    <a:solidFill>
                      <a:schemeClr val="accent2"/>
                    </a:solidFill>
                  </a:rPr>
                  <a:t>diferenciarmos a função de erro em relação aos pesos</a:t>
                </a:r>
                <a:r>
                  <a:rPr lang="pt-BR" dirty="0">
                    <a:solidFill>
                      <a:schemeClr val="tx1"/>
                    </a:solidFill>
                  </a:rPr>
                  <a:t>, nós obtemos o </a:t>
                </a:r>
                <a:r>
                  <a:rPr lang="pt-BR" b="1" dirty="0">
                    <a:solidFill>
                      <a:schemeClr val="tx1"/>
                    </a:solidFill>
                  </a:rPr>
                  <a:t>vetor gradiente</a:t>
                </a:r>
                <a:r>
                  <a:rPr lang="pt-BR" dirty="0">
                    <a:solidFill>
                      <a:schemeClr val="tx1"/>
                    </a:solidFill>
                  </a:rPr>
                  <a:t> </a:t>
                </a:r>
              </a:p>
              <a:p>
                <a:pPr marL="0" indent="0" algn="ctr">
                  <a:buNone/>
                </a:pPr>
                <a14:m>
                  <m:oMath xmlns:m="http://schemas.openxmlformats.org/officeDocument/2006/math">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dirty="0">
                    <a:solidFill>
                      <a:schemeClr val="tx1"/>
                    </a:solidFill>
                    <a:effectLst/>
                  </a:rPr>
                  <a:t>Ele sempre aponta na </a:t>
                </a:r>
                <a:r>
                  <a:rPr lang="pt-BR" b="1" dirty="0">
                    <a:solidFill>
                      <a:srgbClr val="00B050"/>
                    </a:solidFill>
                    <a:effectLst/>
                  </a:rPr>
                  <a:t>direção de maior taxa de crescimento de uma função</a:t>
                </a:r>
                <a:r>
                  <a:rPr lang="pt-BR" b="1" dirty="0">
                    <a:solidFill>
                      <a:schemeClr val="tx1"/>
                    </a:solidFill>
                    <a:effectLst/>
                  </a:rPr>
                  <a:t> </a:t>
                </a:r>
                <a:r>
                  <a:rPr lang="pt-BR" b="0" dirty="0">
                    <a:solidFill>
                      <a:schemeClr val="tx1"/>
                    </a:solidFill>
                    <a:effectLst/>
                  </a:rPr>
                  <a:t>a partir do ponto, </a:t>
                </a:r>
                <a14:m>
                  <m:oMath xmlns:m="http://schemas.openxmlformats.org/officeDocument/2006/math">
                    <m:r>
                      <a:rPr lang="pt-BR" b="1" i="1" dirty="0">
                        <a:latin typeface="Cambria Math" panose="02040503050406030204" pitchFamily="18" charset="0"/>
                      </a:rPr>
                      <m:t>𝒂</m:t>
                    </m:r>
                  </m:oMath>
                </a14:m>
                <a:r>
                  <a:rPr lang="pt-BR" b="0" dirty="0">
                    <a:solidFill>
                      <a:schemeClr val="tx1"/>
                    </a:solidFill>
                    <a:effectLst/>
                  </a:rPr>
                  <a:t>, onde ele é calculado.</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968517" cy="5032376"/>
              </a:xfrm>
              <a:blipFill>
                <a:blip r:embed="rId3"/>
                <a:stretch>
                  <a:fillRect l="-1575" t="-1937" r="-875"/>
                </a:stretch>
              </a:blipFill>
            </p:spPr>
            <p:txBody>
              <a:bodyPr/>
              <a:lstStyle/>
              <a:p>
                <a:r>
                  <a:rPr lang="en-US">
                    <a:noFill/>
                  </a:rPr>
                  <a:t> </a:t>
                </a:r>
              </a:p>
            </p:txBody>
          </p:sp>
        </mc:Fallback>
      </mc:AlternateContent>
      <p:grpSp>
        <p:nvGrpSpPr>
          <p:cNvPr id="5" name="Agrupar 4">
            <a:extLst>
              <a:ext uri="{FF2B5EF4-FFF2-40B4-BE49-F238E27FC236}">
                <a16:creationId xmlns:a16="http://schemas.microsoft.com/office/drawing/2014/main" id="{12E4ADCF-A7FD-F345-12BA-0CF9505FCCF4}"/>
              </a:ext>
            </a:extLst>
          </p:cNvPr>
          <p:cNvGrpSpPr/>
          <p:nvPr/>
        </p:nvGrpSpPr>
        <p:grpSpPr>
          <a:xfrm>
            <a:off x="973059" y="2353695"/>
            <a:ext cx="3963570" cy="2939416"/>
            <a:chOff x="973059" y="2353695"/>
            <a:chExt cx="3963570" cy="2939416"/>
          </a:xfrm>
        </p:grpSpPr>
        <p:sp>
          <p:nvSpPr>
            <p:cNvPr id="16" name="Forma Livre: Forma 15">
              <a:extLst>
                <a:ext uri="{FF2B5EF4-FFF2-40B4-BE49-F238E27FC236}">
                  <a16:creationId xmlns:a16="http://schemas.microsoft.com/office/drawing/2014/main" id="{C6A784CD-F591-D77A-216C-711CC8B1FCCE}"/>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8" name="Conector de Seta Reta 17">
              <a:extLst>
                <a:ext uri="{FF2B5EF4-FFF2-40B4-BE49-F238E27FC236}">
                  <a16:creationId xmlns:a16="http://schemas.microsoft.com/office/drawing/2014/main" id="{C6B749B0-5566-BE1C-2F81-1FBD023AC4A5}"/>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18">
              <a:extLst>
                <a:ext uri="{FF2B5EF4-FFF2-40B4-BE49-F238E27FC236}">
                  <a16:creationId xmlns:a16="http://schemas.microsoft.com/office/drawing/2014/main" id="{273CB2E1-5B19-11A9-517D-C293F25403DE}"/>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CaixaDeTexto 19">
                  <a:extLst>
                    <a:ext uri="{FF2B5EF4-FFF2-40B4-BE49-F238E27FC236}">
                      <a16:creationId xmlns:a16="http://schemas.microsoft.com/office/drawing/2014/main" id="{8E54EE22-65BF-1CD4-BAB8-944D023139BC}"/>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26" name="CaixaDeTexto 25">
              <a:extLst>
                <a:ext uri="{FF2B5EF4-FFF2-40B4-BE49-F238E27FC236}">
                  <a16:creationId xmlns:a16="http://schemas.microsoft.com/office/drawing/2014/main" id="{0E87A25C-A581-62CE-5B3A-7966C68CCA3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7" name="Conector reto 26">
              <a:extLst>
                <a:ext uri="{FF2B5EF4-FFF2-40B4-BE49-F238E27FC236}">
                  <a16:creationId xmlns:a16="http://schemas.microsoft.com/office/drawing/2014/main" id="{5021288C-7C99-655C-B6EE-D9AD2742D963}"/>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8" name="CaixaDeTexto 27">
              <a:extLst>
                <a:ext uri="{FF2B5EF4-FFF2-40B4-BE49-F238E27FC236}">
                  <a16:creationId xmlns:a16="http://schemas.microsoft.com/office/drawing/2014/main" id="{92256FBD-47D1-5290-996D-60B79CD35FE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29" name="Conector reto 28">
              <a:extLst>
                <a:ext uri="{FF2B5EF4-FFF2-40B4-BE49-F238E27FC236}">
                  <a16:creationId xmlns:a16="http://schemas.microsoft.com/office/drawing/2014/main" id="{3380337A-C41F-1BA8-D436-3889DF59F95C}"/>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0" name="Elipse 29">
              <a:extLst>
                <a:ext uri="{FF2B5EF4-FFF2-40B4-BE49-F238E27FC236}">
                  <a16:creationId xmlns:a16="http://schemas.microsoft.com/office/drawing/2014/main" id="{F8833596-2A9C-2454-1545-DF1D1B9BB1DE}"/>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Elipse 30">
              <a:extLst>
                <a:ext uri="{FF2B5EF4-FFF2-40B4-BE49-F238E27FC236}">
                  <a16:creationId xmlns:a16="http://schemas.microsoft.com/office/drawing/2014/main" id="{B32BC633-2BBD-3B18-4F71-BF6A0FDED51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2" name="Conector reto 31">
              <a:extLst>
                <a:ext uri="{FF2B5EF4-FFF2-40B4-BE49-F238E27FC236}">
                  <a16:creationId xmlns:a16="http://schemas.microsoft.com/office/drawing/2014/main" id="{7CA9B95D-CB51-98E9-107C-C69BB0B5118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85E82FE4-2BE8-73DD-CE7E-9C9E72B636E5}"/>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4" name="CaixaDeTexto 33">
              <a:extLst>
                <a:ext uri="{FF2B5EF4-FFF2-40B4-BE49-F238E27FC236}">
                  <a16:creationId xmlns:a16="http://schemas.microsoft.com/office/drawing/2014/main" id="{D420AE38-FACE-EFB5-CDC4-F0EE816FAB60}"/>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62416D29-AFD5-94D4-5356-93BB16BD24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4837DF0-4DE2-DA43-15A6-6ACEAE06312C}"/>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37" name="Conector de Seta Reta 36">
            <a:extLst>
              <a:ext uri="{FF2B5EF4-FFF2-40B4-BE49-F238E27FC236}">
                <a16:creationId xmlns:a16="http://schemas.microsoft.com/office/drawing/2014/main" id="{D7C90129-1F0B-65C5-8B58-FAD7F81AFB00}"/>
              </a:ext>
            </a:extLst>
          </p:cNvPr>
          <p:cNvCxnSpPr>
            <a:cxnSpLocks/>
          </p:cNvCxnSpPr>
          <p:nvPr/>
        </p:nvCxnSpPr>
        <p:spPr>
          <a:xfrm>
            <a:off x="771525" y="2442308"/>
            <a:ext cx="540631" cy="777108"/>
          </a:xfrm>
          <a:prstGeom prst="straightConnector1">
            <a:avLst/>
          </a:prstGeom>
          <a:ln>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b="0" dirty="0">
                <a:solidFill>
                  <a:schemeClr val="tx1"/>
                </a:solidFill>
                <a:effectLst/>
              </a:rPr>
              <a:t>O gradiente pode ser também interpretado como a </a:t>
            </a:r>
            <a:r>
              <a:rPr lang="pt-BR" b="1" dirty="0">
                <a:solidFill>
                  <a:srgbClr val="7030A0"/>
                </a:solidFill>
                <a:effectLst/>
              </a:rPr>
              <a:t>inclinação</a:t>
            </a:r>
            <a:r>
              <a:rPr lang="pt-BR" b="0" dirty="0">
                <a:solidFill>
                  <a:schemeClr val="tx1"/>
                </a:solidFill>
                <a:effectLst/>
              </a:rPr>
              <a:t> de um </a:t>
            </a:r>
            <a:r>
              <a:rPr lang="pt-BR" b="1" dirty="0">
                <a:solidFill>
                  <a:srgbClr val="00B050"/>
                </a:solidFill>
                <a:effectLst/>
              </a:rPr>
              <a:t>hiperplano tangente à função</a:t>
            </a:r>
            <a:r>
              <a:rPr lang="pt-BR" b="0" dirty="0">
                <a:solidFill>
                  <a:schemeClr val="tx1"/>
                </a:solidFill>
                <a:effectLst/>
              </a:rPr>
              <a:t> no ponto onde o gradiente é calculado.</a:t>
            </a:r>
          </a:p>
          <a:p>
            <a:pPr lvl="1">
              <a:buFont typeface="Wingdings" panose="05000000000000000000" pitchFamily="2" charset="2"/>
              <a:buChar char="§"/>
            </a:pPr>
            <a:r>
              <a:rPr lang="pt-BR" b="0" dirty="0">
                <a:solidFill>
                  <a:schemeClr val="tx1"/>
                </a:solidFill>
                <a:effectLst/>
              </a:rPr>
              <a:t>Quanto </a:t>
            </a:r>
            <a:r>
              <a:rPr lang="pt-BR" b="1" dirty="0">
                <a:solidFill>
                  <a:schemeClr val="tx1"/>
                </a:solidFill>
                <a:effectLst/>
              </a:rPr>
              <a:t>maior o valor absoluto </a:t>
            </a:r>
            <a:r>
              <a:rPr lang="pt-BR" dirty="0">
                <a:solidFill>
                  <a:schemeClr val="tx1"/>
                </a:solidFill>
                <a:effectLst/>
              </a:rPr>
              <a:t>do gradiente,</a:t>
            </a:r>
            <a:r>
              <a:rPr lang="pt-BR" b="1" dirty="0">
                <a:solidFill>
                  <a:schemeClr val="tx1"/>
                </a:solidFill>
                <a:effectLst/>
              </a:rPr>
              <a:t> mais inclinado é </a:t>
            </a:r>
            <a:r>
              <a:rPr lang="pt-BR" b="1" dirty="0"/>
              <a:t>o hiperplano </a:t>
            </a:r>
            <a:r>
              <a:rPr lang="pt-BR" b="1" dirty="0">
                <a:solidFill>
                  <a:schemeClr val="tx1"/>
                </a:solidFill>
                <a:effectLst/>
              </a:rPr>
              <a:t>tangente </a:t>
            </a:r>
            <a:r>
              <a:rPr lang="pt-BR" dirty="0"/>
              <a:t>à</a:t>
            </a:r>
            <a:r>
              <a:rPr lang="pt-BR" b="0" dirty="0">
                <a:solidFill>
                  <a:schemeClr val="tx1"/>
                </a:solidFill>
                <a:effectLst/>
              </a:rPr>
              <a:t>quele ponto.</a:t>
            </a:r>
          </a:p>
          <a:p>
            <a:pPr lvl="1">
              <a:buFont typeface="Wingdings" panose="05000000000000000000" pitchFamily="2" charset="2"/>
              <a:buChar char="§"/>
            </a:pPr>
            <a:r>
              <a:rPr lang="pt-BR" dirty="0"/>
              <a:t>Portanto, </a:t>
            </a:r>
            <a:r>
              <a:rPr lang="pt-BR" b="1" dirty="0"/>
              <a:t>um </a:t>
            </a:r>
            <a:r>
              <a:rPr lang="pt-BR" b="1" dirty="0">
                <a:solidFill>
                  <a:srgbClr val="00B0F0"/>
                </a:solidFill>
              </a:rPr>
              <a:t>valor igual a 0 </a:t>
            </a:r>
            <a:r>
              <a:rPr lang="pt-BR" b="1" dirty="0"/>
              <a:t>indica inclinação nula</a:t>
            </a:r>
            <a:r>
              <a:rPr lang="pt-BR" dirty="0"/>
              <a:t>.</a:t>
            </a:r>
          </a:p>
          <a:p>
            <a:pPr lvl="1">
              <a:buFont typeface="Wingdings" panose="05000000000000000000" pitchFamily="2" charset="2"/>
              <a:buChar char="§"/>
            </a:pPr>
            <a:r>
              <a:rPr lang="pt-BR" b="0" dirty="0">
                <a:solidFill>
                  <a:schemeClr val="tx1"/>
                </a:solidFill>
                <a:effectLst/>
              </a:rPr>
              <a:t>Onde isso ocorre? </a:t>
            </a:r>
          </a:p>
          <a:p>
            <a:pPr lvl="2">
              <a:buFont typeface="Wingdings" panose="05000000000000000000" pitchFamily="2" charset="2"/>
              <a:buChar char="§"/>
            </a:pPr>
            <a:r>
              <a:rPr lang="pt-BR" b="1" dirty="0">
                <a:solidFill>
                  <a:schemeClr val="accent2"/>
                </a:solidFill>
              </a:rPr>
              <a:t>Resposta:</a:t>
            </a:r>
            <a:r>
              <a:rPr lang="pt-BR" b="1" dirty="0">
                <a:solidFill>
                  <a:srgbClr val="00B050"/>
                </a:solidFill>
              </a:rPr>
              <a:t> Em </a:t>
            </a:r>
            <a:r>
              <a:rPr lang="pt-BR" b="1" dirty="0">
                <a:solidFill>
                  <a:srgbClr val="00B050"/>
                </a:solidFill>
                <a:effectLst/>
              </a:rPr>
              <a:t>pontos de máximo e de mínimo</a:t>
            </a:r>
            <a:r>
              <a:rPr lang="pt-BR" b="0" dirty="0">
                <a:solidFill>
                  <a:schemeClr val="tx1"/>
                </a:solidFill>
                <a:effectLst/>
              </a:rPr>
              <a:t>.</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sp>
        <p:nvSpPr>
          <p:cNvPr id="5" name="CaixaDeTexto 4">
            <a:extLst>
              <a:ext uri="{FF2B5EF4-FFF2-40B4-BE49-F238E27FC236}">
                <a16:creationId xmlns:a16="http://schemas.microsoft.com/office/drawing/2014/main" id="{0C28C885-5E71-B2B1-A1C0-BB5E866BD112}"/>
              </a:ext>
            </a:extLst>
          </p:cNvPr>
          <p:cNvSpPr txBox="1"/>
          <p:nvPr/>
        </p:nvSpPr>
        <p:spPr>
          <a:xfrm>
            <a:off x="1135059" y="5485769"/>
            <a:ext cx="3768132" cy="1077218"/>
          </a:xfrm>
          <a:prstGeom prst="rect">
            <a:avLst/>
          </a:prstGeom>
          <a:noFill/>
        </p:spPr>
        <p:txBody>
          <a:bodyPr wrap="square" rtlCol="0">
            <a:spAutoFit/>
          </a:bodyPr>
          <a:lstStyle/>
          <a:p>
            <a:pPr algn="ctr"/>
            <a:r>
              <a:rPr lang="pt-BR" sz="1600" dirty="0"/>
              <a:t>No caso da função hipótese ter apenas um peso, o vetor gradiente dá a inclinação de uma </a:t>
            </a:r>
            <a:r>
              <a:rPr lang="pt-BR" sz="1600" b="1" dirty="0">
                <a:solidFill>
                  <a:schemeClr val="accent2"/>
                </a:solidFill>
              </a:rPr>
              <a:t>reta tangente</a:t>
            </a:r>
            <a:r>
              <a:rPr lang="pt-BR" sz="1600" dirty="0"/>
              <a:t> ao ponto onde ele é calculado.</a:t>
            </a:r>
          </a:p>
        </p:txBody>
      </p:sp>
      <p:cxnSp>
        <p:nvCxnSpPr>
          <p:cNvPr id="16" name="Conector de Seta Reta 15">
            <a:extLst>
              <a:ext uri="{FF2B5EF4-FFF2-40B4-BE49-F238E27FC236}">
                <a16:creationId xmlns:a16="http://schemas.microsoft.com/office/drawing/2014/main" id="{2EA8176B-5ADC-D0FA-51E4-AB57F89F1F6E}"/>
              </a:ext>
            </a:extLst>
          </p:cNvPr>
          <p:cNvCxnSpPr>
            <a:cxnSpLocks/>
          </p:cNvCxnSpPr>
          <p:nvPr/>
        </p:nvCxnSpPr>
        <p:spPr>
          <a:xfrm>
            <a:off x="771525" y="2442308"/>
            <a:ext cx="540631" cy="777108"/>
          </a:xfrm>
          <a:prstGeom prst="straightConnector1">
            <a:avLst/>
          </a:prstGeom>
          <a:ln>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85503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59178" y="1825624"/>
                <a:ext cx="6547091" cy="5032376"/>
              </a:xfrm>
            </p:spPr>
            <p:txBody>
              <a:bodyPr>
                <a:normAutofit/>
              </a:bodyPr>
              <a:lstStyle/>
              <a:p>
                <a:r>
                  <a:rPr lang="pt-BR" dirty="0">
                    <a:solidFill>
                      <a:schemeClr val="tx1"/>
                    </a:solidFill>
                  </a:rPr>
                  <a:t>Porém, queremos </a:t>
                </a:r>
                <a:r>
                  <a:rPr lang="pt-BR" b="1" dirty="0">
                    <a:solidFill>
                      <a:srgbClr val="00B050"/>
                    </a:solidFill>
                  </a:rPr>
                  <a:t>encontrar o ponto de mínimo</a:t>
                </a:r>
                <a:r>
                  <a:rPr lang="pt-BR" dirty="0">
                    <a:solidFill>
                      <a:schemeClr val="tx1"/>
                    </a:solidFill>
                  </a:rPr>
                  <a:t> da função, o que devemos fazer?</a:t>
                </a:r>
                <a:endParaRPr lang="pt-BR" b="0" dirty="0">
                  <a:solidFill>
                    <a:schemeClr val="tx1"/>
                  </a:solidFill>
                  <a:effectLst/>
                </a:endParaRPr>
              </a:p>
              <a:p>
                <a:r>
                  <a:rPr lang="pt-BR" b="0" dirty="0">
                    <a:solidFill>
                      <a:schemeClr val="tx1"/>
                    </a:solidFill>
                    <a:effectLst/>
                  </a:rPr>
                  <a:t>Basta irmos na </a:t>
                </a:r>
                <a:r>
                  <a:rPr lang="pt-BR" b="1" dirty="0">
                    <a:solidFill>
                      <a:srgbClr val="00B050"/>
                    </a:solidFill>
                    <a:effectLst/>
                  </a:rPr>
                  <a:t>direção oposta</a:t>
                </a:r>
                <a:r>
                  <a:rPr lang="pt-BR" dirty="0">
                    <a:effectLst/>
                  </a:rPr>
                  <a:t> à</a:t>
                </a:r>
                <a:r>
                  <a:rPr lang="pt-BR" b="0" dirty="0">
                    <a:solidFill>
                      <a:schemeClr val="tx1"/>
                    </a:solidFill>
                    <a:effectLst/>
                  </a:rPr>
                  <a:t> </a:t>
                </a:r>
                <a:r>
                  <a:rPr lang="pt-BR" dirty="0"/>
                  <a:t>indicada pelo</a:t>
                </a:r>
                <a:r>
                  <a:rPr lang="pt-BR" b="0" dirty="0">
                    <a:solidFill>
                      <a:schemeClr val="tx1"/>
                    </a:solidFill>
                    <a:effectLst/>
                  </a:rPr>
                  <a:t> vetor gradiente (i.e., negativo do gradiente)</a:t>
                </a:r>
              </a:p>
              <a:p>
                <a:pPr marL="0" indent="0">
                  <a:buNone/>
                </a:pPr>
                <a14:m>
                  <m:oMathPara xmlns:m="http://schemas.openxmlformats.org/officeDocument/2006/math">
                    <m:oMath>
                      <m:r>
                        <a:rPr lang="pt-BR" b="0" i="1" dirty="0" smtClean="0">
                          <a:solidFill>
                            <a:schemeClr val="tx1"/>
                          </a:solidFill>
                          <a:latin typeface="Cambria Math" panose="02040503050406030204" pitchFamily="18" charset="0"/>
                          <a:ea typeface="Cambria Math" panose="02040503050406030204" pitchFamily="18" charset="0"/>
                        </a:rPr>
                        <m:t>−</m:t>
                      </m:r>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dirty="0">
                    <a:solidFill>
                      <a:srgbClr val="7030A0"/>
                    </a:solidFill>
                  </a:rPr>
                  <a:t>negativo do vetor gradiente</a:t>
                </a:r>
                <a:r>
                  <a:rPr lang="pt-BR" b="1" dirty="0">
                    <a:solidFill>
                      <a:srgbClr val="00B050"/>
                    </a:solidFill>
                    <a:effectLst/>
                  </a:rPr>
                  <a:t> </a:t>
                </a:r>
                <a:r>
                  <a:rPr lang="pt-BR" b="1" dirty="0">
                    <a:solidFill>
                      <a:schemeClr val="tx1"/>
                    </a:solidFill>
                    <a:effectLst/>
                  </a:rPr>
                  <a:t>aponta para a </a:t>
                </a:r>
                <a:r>
                  <a:rPr lang="pt-BR" b="1" dirty="0">
                    <a:solidFill>
                      <a:schemeClr val="accent2"/>
                    </a:solidFill>
                    <a:effectLst/>
                  </a:rPr>
                  <a:t>direção</a:t>
                </a:r>
                <a:r>
                  <a:rPr lang="pt-BR" b="1" dirty="0">
                    <a:solidFill>
                      <a:srgbClr val="00B050"/>
                    </a:solidFill>
                    <a:effectLst/>
                  </a:rPr>
                  <a:t> de maior taxa de decrescimento da função</a:t>
                </a:r>
                <a:r>
                  <a:rPr lang="pt-BR" b="0" dirty="0">
                    <a:solidFill>
                      <a:srgbClr val="00B050"/>
                    </a:solidFill>
                    <a:effectLst/>
                  </a:rPr>
                  <a:t> </a:t>
                </a:r>
                <a:r>
                  <a:rPr lang="pt-BR" b="0" dirty="0">
                    <a:solidFill>
                      <a:schemeClr val="tx1"/>
                    </a:solidFill>
                    <a:effectLst/>
                  </a:rPr>
                  <a:t>a partir do ponto</a:t>
                </a:r>
                <a:r>
                  <a:rPr lang="pt-BR" dirty="0"/>
                  <a:t> onde o gradiente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8" y="1825624"/>
                <a:ext cx="6547091" cy="5032376"/>
              </a:xfrm>
              <a:blipFill>
                <a:blip r:embed="rId3"/>
                <a:stretch>
                  <a:fillRect l="-1676" t="-1937"/>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0AE141-CA77-0446-63E0-C5BDFBD8341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43674EA4-345D-7AF4-5F72-7D54DCA33195}"/>
              </a:ext>
            </a:extLst>
          </p:cNvPr>
          <p:cNvSpPr>
            <a:spLocks noGrp="1"/>
          </p:cNvSpPr>
          <p:nvPr>
            <p:ph idx="1"/>
          </p:nvPr>
        </p:nvSpPr>
        <p:spPr>
          <a:xfrm>
            <a:off x="5904689" y="1825624"/>
            <a:ext cx="6143285" cy="5032375"/>
          </a:xfrm>
        </p:spPr>
        <p:txBody>
          <a:bodyPr>
            <a:normAutofit/>
          </a:bodyPr>
          <a:lstStyle/>
          <a:p>
            <a:r>
              <a:rPr lang="pt-BR" dirty="0"/>
              <a:t>Quando seguimos na </a:t>
            </a:r>
            <a:r>
              <a:rPr lang="pt-BR" b="1" dirty="0">
                <a:solidFill>
                  <a:srgbClr val="00B050"/>
                </a:solidFill>
              </a:rPr>
              <a:t>direção contrária a da máxima taxa de crescimento</a:t>
            </a:r>
            <a:r>
              <a:rPr lang="pt-BR" dirty="0"/>
              <a:t>, estamos indo na </a:t>
            </a:r>
            <a:r>
              <a:rPr lang="pt-BR" b="1" dirty="0">
                <a:solidFill>
                  <a:srgbClr val="7030A0"/>
                </a:solidFill>
              </a:rPr>
              <a:t>direção de </a:t>
            </a:r>
            <a:r>
              <a:rPr lang="pt-BR" b="1" dirty="0">
                <a:solidFill>
                  <a:schemeClr val="accent2"/>
                </a:solidFill>
              </a:rPr>
              <a:t>decrescimento</a:t>
            </a:r>
            <a:r>
              <a:rPr lang="pt-BR" b="1" dirty="0">
                <a:solidFill>
                  <a:srgbClr val="7030A0"/>
                </a:solidFill>
              </a:rPr>
              <a:t> mais rápido da função.</a:t>
            </a:r>
          </a:p>
          <a:p>
            <a:r>
              <a:rPr lang="pt-BR" dirty="0"/>
              <a:t>Portanto, um elemento do vetor gradiente com sinal:</a:t>
            </a:r>
          </a:p>
          <a:p>
            <a:pPr lvl="1">
              <a:buFont typeface="Wingdings" panose="05000000000000000000" pitchFamily="2" charset="2"/>
              <a:buChar char="§"/>
            </a:pPr>
            <a:r>
              <a:rPr lang="pt-BR" dirty="0"/>
              <a:t>- (reta com inclinação negativa)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à frente</a:t>
            </a:r>
            <a:r>
              <a:rPr lang="pt-BR" dirty="0"/>
              <a:t>.</a:t>
            </a:r>
          </a:p>
          <a:p>
            <a:pPr lvl="1">
              <a:buFont typeface="Wingdings" panose="05000000000000000000" pitchFamily="2" charset="2"/>
              <a:buChar char="§"/>
            </a:pPr>
            <a:r>
              <a:rPr lang="pt-BR" dirty="0"/>
              <a:t>+ (reta com inclinação positiva)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atrás</a:t>
            </a:r>
            <a:r>
              <a:rPr lang="pt-BR" dirty="0"/>
              <a:t>. </a:t>
            </a:r>
          </a:p>
          <a:p>
            <a:pPr lvl="1">
              <a:buFont typeface="Wingdings" panose="05000000000000000000" pitchFamily="2" charset="2"/>
              <a:buChar char="§"/>
            </a:pPr>
            <a:r>
              <a:rPr lang="pt-BR" dirty="0"/>
              <a:t>0 (reta com inclinação nula) indica que </a:t>
            </a:r>
            <a:r>
              <a:rPr lang="pt-BR" b="1" dirty="0">
                <a:solidFill>
                  <a:srgbClr val="00B050"/>
                </a:solidFill>
              </a:rPr>
              <a:t>ponto de </a:t>
            </a:r>
            <a:r>
              <a:rPr lang="pt-BR" b="1" dirty="0">
                <a:solidFill>
                  <a:schemeClr val="accent2"/>
                </a:solidFill>
              </a:rPr>
              <a:t>mínimo</a:t>
            </a:r>
            <a:r>
              <a:rPr lang="pt-BR" b="1" dirty="0">
                <a:solidFill>
                  <a:srgbClr val="00B050"/>
                </a:solidFill>
              </a:rPr>
              <a:t> foi encontrado</a:t>
            </a:r>
            <a:r>
              <a:rPr lang="pt-BR" dirty="0"/>
              <a:t>.</a:t>
            </a:r>
          </a:p>
        </p:txBody>
      </p:sp>
      <p:pic>
        <p:nvPicPr>
          <p:cNvPr id="6" name="Picture 5">
            <a:extLst>
              <a:ext uri="{FF2B5EF4-FFF2-40B4-BE49-F238E27FC236}">
                <a16:creationId xmlns:a16="http://schemas.microsoft.com/office/drawing/2014/main" id="{54437538-7DB9-AC84-8BC4-45B5BC80B0D4}"/>
              </a:ext>
            </a:extLst>
          </p:cNvPr>
          <p:cNvPicPr>
            <a:picLocks noChangeAspect="1"/>
          </p:cNvPicPr>
          <p:nvPr/>
        </p:nvPicPr>
        <p:blipFill>
          <a:blip r:embed="rId3" cstate="print">
            <a:extLst>
              <a:ext uri="{28A0092B-C50C-407E-A947-70E740481C1C}">
                <a14:useLocalDpi xmlns:a14="http://schemas.microsoft.com/office/drawing/2010/main" val="0"/>
              </a:ext>
            </a:extLst>
          </a:blip>
          <a:srcRect t="44974" r="1399"/>
          <a:stretch>
            <a:fillRect/>
          </a:stretch>
        </p:blipFill>
        <p:spPr>
          <a:xfrm>
            <a:off x="144026" y="2658358"/>
            <a:ext cx="5562702" cy="2348080"/>
          </a:xfrm>
          <a:prstGeom prst="rect">
            <a:avLst/>
          </a:prstGeom>
        </p:spPr>
      </p:pic>
    </p:spTree>
    <p:extLst>
      <p:ext uri="{BB962C8B-B14F-4D97-AF65-F5344CB8AC3E}">
        <p14:creationId xmlns:p14="http://schemas.microsoft.com/office/powerpoint/2010/main" val="113481222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59647" cy="5032376"/>
          </a:xfrm>
        </p:spPr>
        <p:txBody>
          <a:bodyPr>
            <a:normAutofit/>
          </a:bodyPr>
          <a:lstStyle/>
          <a:p>
            <a:r>
              <a:rPr lang="pt-BR" dirty="0"/>
              <a:t>Entretanto, o gradiente </a:t>
            </a:r>
            <a:r>
              <a:rPr lang="pt-BR" b="1" dirty="0">
                <a:solidFill>
                  <a:srgbClr val="00B050"/>
                </a:solidFill>
              </a:rPr>
              <a:t>não dá informação sobre a distância até o ponto de mínimo</a:t>
            </a:r>
            <a:r>
              <a:rPr lang="pt-BR" dirty="0"/>
              <a:t>, mas pelo menos sabemos a direção correta.</a:t>
            </a:r>
          </a:p>
          <a:p>
            <a:pPr lvl="1">
              <a:buFont typeface="Wingdings" panose="05000000000000000000" pitchFamily="2" charset="2"/>
              <a:buChar char="§"/>
            </a:pPr>
            <a:r>
              <a:rPr lang="pt-BR" dirty="0"/>
              <a:t>Gradiente fornece </a:t>
            </a:r>
            <a:r>
              <a:rPr lang="pt-BR" b="1" dirty="0">
                <a:solidFill>
                  <a:srgbClr val="7030A0"/>
                </a:solidFill>
              </a:rPr>
              <a:t>apenas</a:t>
            </a:r>
            <a:r>
              <a:rPr lang="pt-BR" dirty="0"/>
              <a:t> </a:t>
            </a:r>
            <a:r>
              <a:rPr lang="pt-BR" b="1" dirty="0">
                <a:solidFill>
                  <a:srgbClr val="00B0F0"/>
                </a:solidFill>
              </a:rPr>
              <a:t>a direção e a taxa de crescimento</a:t>
            </a:r>
            <a:r>
              <a:rPr lang="pt-BR" dirty="0"/>
              <a:t>.</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79387" y="1825624"/>
                <a:ext cx="6523180" cy="5032376"/>
              </a:xfrm>
            </p:spPr>
            <p:txBody>
              <a:bodyPr>
                <a:normAutofit/>
              </a:bodyPr>
              <a:lstStyle/>
              <a:p>
                <a:r>
                  <a:rPr lang="pt-BR" dirty="0"/>
                  <a:t>Portanto, se quisermos </a:t>
                </a:r>
                <a:r>
                  <a:rPr lang="pt-BR" b="1" dirty="0">
                    <a:solidFill>
                      <a:srgbClr val="00B050"/>
                    </a:solidFill>
                  </a:rPr>
                  <a:t>seguir até o ponto de mínimo</a:t>
                </a:r>
                <a:r>
                  <a:rPr lang="pt-BR" dirty="0"/>
                  <a:t> a partir de um ponto qualquer, podemos </a:t>
                </a:r>
                <a:r>
                  <a:rPr lang="pt-BR" b="1" dirty="0">
                    <a:solidFill>
                      <a:srgbClr val="7030A0"/>
                    </a:solidFill>
                  </a:rPr>
                  <a:t>dar um passo</a:t>
                </a:r>
                <a:r>
                  <a:rPr lang="pt-BR" b="1" dirty="0">
                    <a:solidFill>
                      <a:srgbClr val="00B050"/>
                    </a:solidFill>
                  </a:rPr>
                  <a:t> na direção oposta à apontada pelo gradiente</a:t>
                </a:r>
                <a:r>
                  <a:rPr lang="pt-BR" dirty="0"/>
                  <a:t>.</a:t>
                </a:r>
              </a:p>
              <a:p>
                <a:r>
                  <a:rPr lang="pt-BR" dirty="0"/>
                  <a:t>Nós sabemos a direção do ponto de mínimo, então basta </a:t>
                </a:r>
                <a:r>
                  <a:rPr lang="pt-BR" b="1" dirty="0">
                    <a:solidFill>
                      <a:schemeClr val="accent2"/>
                    </a:solidFill>
                  </a:rPr>
                  <a:t>escolhermos o tamanho do passo</a:t>
                </a:r>
                <a:r>
                  <a:rPr lang="pt-BR" dirty="0"/>
                  <a:t> (de aprendizagem) para darmos naquela direção.</a:t>
                </a:r>
              </a:p>
              <a:p>
                <a:r>
                  <a:rPr lang="pt-BR" dirty="0"/>
                  <a:t>O tamanho do passo é definido por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chamado de </a:t>
                </a:r>
                <a:r>
                  <a:rPr lang="pt-BR" b="1" dirty="0">
                    <a:solidFill>
                      <a:schemeClr val="accent1"/>
                    </a:solidFill>
                  </a:rPr>
                  <a:t>taxa de aprendizagem</a:t>
                </a:r>
                <a:r>
                  <a:rPr lang="pt-BR" dirty="0"/>
                  <a:t>.</a:t>
                </a:r>
              </a:p>
              <a:p>
                <a:pPr lvl="1">
                  <a:buFont typeface="Wingdings" panose="05000000000000000000" pitchFamily="2" charset="2"/>
                  <a:buChar char="§"/>
                </a:pPr>
                <a14:m>
                  <m:oMath xmlns:m="http://schemas.openxmlformats.org/officeDocument/2006/math">
                    <m:r>
                      <m:rPr>
                        <m:sty m:val="p"/>
                      </m:rPr>
                      <a:rPr lang="pt-BR" dirty="0" smtClean="0">
                        <a:latin typeface="Cambria Math" panose="02040503050406030204" pitchFamily="18" charset="0"/>
                        <a:ea typeface="Cambria Math" panose="02040503050406030204" pitchFamily="18" charset="0"/>
                      </a:rPr>
                      <m:t>α</m:t>
                    </m:r>
                  </m:oMath>
                </a14:m>
                <a:r>
                  <a:rPr lang="pt-BR" dirty="0"/>
                  <a:t> é sempre maior do que 0.</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79387" y="1825624"/>
                <a:ext cx="6523180" cy="5032376"/>
              </a:xfrm>
              <a:blipFill>
                <a:blip r:embed="rId3"/>
                <a:stretch>
                  <a:fillRect l="-1682" t="-1937" r="-3084"/>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p:sp>
          <p:nvSpPr>
            <p:cNvPr id="44" name="CaixaDeTexto 43">
              <a:extLst>
                <a:ext uri="{FF2B5EF4-FFF2-40B4-BE49-F238E27FC236}">
                  <a16:creationId xmlns:a16="http://schemas.microsoft.com/office/drawing/2014/main" id="{0B96B558-FD3C-575E-D9A1-D3E273AF2DEB}"/>
                </a:ext>
              </a:extLst>
            </p:cNvPr>
            <p:cNvSpPr txBox="1"/>
            <p:nvPr/>
          </p:nvSpPr>
          <p:spPr>
            <a:xfrm>
              <a:off x="1644527" y="3277391"/>
              <a:ext cx="1195676" cy="461665"/>
            </a:xfrm>
            <a:prstGeom prst="rect">
              <a:avLst/>
            </a:prstGeom>
            <a:noFill/>
          </p:spPr>
          <p:txBody>
            <a:bodyPr wrap="square">
              <a:spAutoFit/>
            </a:bodyPr>
            <a:lstStyle/>
            <a:p>
              <a:pPr algn="ctr"/>
              <a:r>
                <a:rPr lang="pt-BR" sz="1200" dirty="0"/>
                <a:t>Passo de aprendizagem </a:t>
              </a:r>
            </a:p>
          </p:txBody>
        </p:sp>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7225171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DAFB368-64B7-FC99-5EB4-63434C72A0BE}"/>
                  </a:ext>
                </a:extLst>
              </p:cNvPr>
              <p:cNvSpPr>
                <a:spLocks noGrp="1"/>
              </p:cNvSpPr>
              <p:nvPr>
                <p:ph idx="1"/>
              </p:nvPr>
            </p:nvSpPr>
            <p:spPr>
              <a:xfrm>
                <a:off x="5897233" y="1825624"/>
                <a:ext cx="6218564" cy="5032376"/>
              </a:xfrm>
            </p:spPr>
            <p:txBody>
              <a:bodyPr>
                <a:normAutofit/>
              </a:bodyPr>
              <a:lstStyle/>
              <a:p>
                <a:r>
                  <a:rPr lang="pt-BR" dirty="0"/>
                  <a:t>A taxa de aprendizagem,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determina a </a:t>
                </a:r>
                <a:r>
                  <a:rPr lang="pt-BR" b="1" dirty="0">
                    <a:solidFill>
                      <a:schemeClr val="accent2"/>
                    </a:solidFill>
                  </a:rPr>
                  <a:t>porcentagem</a:t>
                </a:r>
                <a:r>
                  <a:rPr lang="pt-BR" b="1" dirty="0">
                    <a:solidFill>
                      <a:srgbClr val="00B050"/>
                    </a:solidFill>
                  </a:rPr>
                  <a:t> da informação do </a:t>
                </a:r>
                <a:r>
                  <a:rPr lang="pt-BR" b="1" dirty="0">
                    <a:solidFill>
                      <a:srgbClr val="0070C0"/>
                    </a:solidFill>
                  </a:rPr>
                  <a:t>vetor gradiente</a:t>
                </a:r>
                <a:r>
                  <a:rPr lang="pt-BR" b="1" dirty="0">
                    <a:solidFill>
                      <a:srgbClr val="00B050"/>
                    </a:solidFill>
                  </a:rPr>
                  <a:t> que é adicionada aos pesos</a:t>
                </a:r>
                <a:r>
                  <a:rPr lang="pt-BR" dirty="0"/>
                  <a:t>.</a:t>
                </a:r>
              </a:p>
              <a:p>
                <a:r>
                  <a:rPr lang="pt-BR" dirty="0"/>
                  <a:t>A equação abaixo é chamada de </a:t>
                </a:r>
                <a:r>
                  <a:rPr lang="pt-BR" b="1" dirty="0">
                    <a:solidFill>
                      <a:srgbClr val="7030A0"/>
                    </a:solidFill>
                  </a:rPr>
                  <a:t>equação de atualização dos pesos</a:t>
                </a:r>
              </a:p>
              <a:p>
                <a:pPr marL="0" indent="0">
                  <a:buNone/>
                </a:pPr>
                <a:endParaRPr lang="pt-BR" sz="700" dirty="0"/>
              </a:p>
              <a:p>
                <a:pPr marL="0" indent="0">
                  <a:buNone/>
                </a:pPr>
                <a14:m>
                  <m:oMathPara xmlns:m="http://schemas.openxmlformats.org/officeDocument/2006/math">
                    <m:oMath>
                      <m:sSub>
                        <m:sSubPr>
                          <m:ctrlPr>
                            <a:rPr lang="pt-BR" i="0" smtClean="0">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novo</m:t>
                          </m:r>
                        </m:sub>
                      </m:sSub>
                      <m:r>
                        <a:rPr lang="pt-BR" i="0" smtClean="0">
                          <a:latin typeface="Cambria Math" panose="02040503050406030204" pitchFamily="18" charset="0"/>
                        </a:rPr>
                        <m:t>=</m:t>
                      </m:r>
                      <m:sSub>
                        <m:sSubPr>
                          <m:ctrlPr>
                            <a:rPr lang="pt-BR" i="0" smtClean="0">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inicial</m:t>
                          </m:r>
                        </m:sub>
                      </m:sSub>
                      <m:r>
                        <a:rPr lang="pt-BR" i="0" smtClean="0">
                          <a:latin typeface="Cambria Math" panose="02040503050406030204" pitchFamily="18" charset="0"/>
                        </a:rPr>
                        <m:t>−</m:t>
                      </m:r>
                      <m:r>
                        <m:rPr>
                          <m:sty m:val="p"/>
                        </m:rPr>
                        <a:rPr lang="pt-BR" i="0" dirty="0" smtClean="0">
                          <a:latin typeface="Cambria Math" panose="02040503050406030204" pitchFamily="18" charset="0"/>
                          <a:ea typeface="Cambria Math" panose="02040503050406030204" pitchFamily="18" charset="0"/>
                        </a:rPr>
                        <m:t>α</m:t>
                      </m:r>
                      <m:f>
                        <m:fPr>
                          <m:ctrlPr>
                            <a:rPr lang="pt-BR" i="0" dirty="0" smtClean="0">
                              <a:latin typeface="Cambria Math" panose="02040503050406030204" pitchFamily="18" charset="0"/>
                            </a:rPr>
                          </m:ctrlPr>
                        </m:fPr>
                        <m:num>
                          <m:r>
                            <a:rPr lang="pt-BR" i="0" dirty="0" smtClean="0">
                              <a:latin typeface="Cambria Math" panose="02040503050406030204" pitchFamily="18" charset="0"/>
                            </a:rPr>
                            <m:t>𝜕</m:t>
                          </m:r>
                          <m:sSub>
                            <m:sSubPr>
                              <m:ctrlPr>
                                <a:rPr lang="pt-BR" smtClean="0">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r>
                            <a:rPr lang="pt-BR" smtClean="0">
                              <a:latin typeface="Cambria Math" panose="02040503050406030204" pitchFamily="18" charset="0"/>
                            </a:rPr>
                            <m:t>(</m:t>
                          </m:r>
                          <m:sSub>
                            <m:sSubPr>
                              <m:ctrlPr>
                                <a:rPr lang="pt-BR" smtClean="0">
                                  <a:latin typeface="Cambria Math" panose="02040503050406030204" pitchFamily="18" charset="0"/>
                                </a:rPr>
                              </m:ctrlPr>
                            </m:sSubPr>
                            <m:e>
                              <m:r>
                                <a:rPr lang="pt-BR" smtClean="0">
                                  <a:latin typeface="Cambria Math" panose="02040503050406030204" pitchFamily="18" charset="0"/>
                                </a:rPr>
                                <m:t>𝑎</m:t>
                              </m:r>
                            </m:e>
                            <m:sub>
                              <m:r>
                                <a:rPr lang="pt-BR" smtClean="0">
                                  <a:latin typeface="Cambria Math" panose="02040503050406030204" pitchFamily="18" charset="0"/>
                                </a:rPr>
                                <m:t>𝑖𝑛𝑖𝑐𝑖𝑎𝑙</m:t>
                              </m:r>
                            </m:sub>
                          </m:sSub>
                          <m:r>
                            <a:rPr lang="pt-BR" smtClean="0">
                              <a:latin typeface="Cambria Math" panose="02040503050406030204" pitchFamily="18" charset="0"/>
                            </a:rPr>
                            <m:t>)</m:t>
                          </m:r>
                        </m:num>
                        <m:den>
                          <m:r>
                            <a:rPr lang="pt-BR" dirty="0" smtClean="0">
                              <a:latin typeface="Cambria Math" panose="02040503050406030204" pitchFamily="18" charset="0"/>
                            </a:rPr>
                            <m:t>𝜕</m:t>
                          </m:r>
                          <m:r>
                            <a:rPr lang="pt-BR" dirty="0" smtClean="0">
                              <a:latin typeface="Cambria Math" panose="02040503050406030204" pitchFamily="18" charset="0"/>
                            </a:rPr>
                            <m:t>𝑎</m:t>
                          </m:r>
                        </m:den>
                      </m:f>
                    </m:oMath>
                  </m:oMathPara>
                </a14:m>
                <a:endParaRPr lang="pt-BR" dirty="0"/>
              </a:p>
            </p:txBody>
          </p:sp>
        </mc:Choice>
        <mc:Fallback xmlns="">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3" y="1825624"/>
                <a:ext cx="6218564" cy="5032376"/>
              </a:xfrm>
              <a:blipFill>
                <a:blip r:embed="rId3"/>
                <a:stretch>
                  <a:fillRect l="-1765" t="-1937" r="-2451"/>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5" name="CaixaDeTexto 47">
            <a:extLst>
              <a:ext uri="{FF2B5EF4-FFF2-40B4-BE49-F238E27FC236}">
                <a16:creationId xmlns:a16="http://schemas.microsoft.com/office/drawing/2014/main" id="{01C22BBB-35EB-E308-FDB7-BCA9B063B091}"/>
              </a:ext>
            </a:extLst>
          </p:cNvPr>
          <p:cNvSpPr txBox="1"/>
          <p:nvPr/>
        </p:nvSpPr>
        <p:spPr>
          <a:xfrm>
            <a:off x="7496701" y="5797549"/>
            <a:ext cx="2898196" cy="276999"/>
          </a:xfrm>
          <a:prstGeom prst="rect">
            <a:avLst/>
          </a:prstGeom>
          <a:noFill/>
        </p:spPr>
        <p:txBody>
          <a:bodyPr wrap="square" rtlCol="0">
            <a:spAutoFit/>
          </a:bodyPr>
          <a:lstStyle/>
          <a:p>
            <a:r>
              <a:rPr lang="pt-BR" sz="1200" dirty="0"/>
              <a:t>sentido aposto ao apontado pelo gradiente</a:t>
            </a:r>
          </a:p>
        </p:txBody>
      </p:sp>
      <p:cxnSp>
        <p:nvCxnSpPr>
          <p:cNvPr id="16" name="Conector de Seta Reta 49">
            <a:extLst>
              <a:ext uri="{FF2B5EF4-FFF2-40B4-BE49-F238E27FC236}">
                <a16:creationId xmlns:a16="http://schemas.microsoft.com/office/drawing/2014/main" id="{A6DFF2D4-9482-CE1A-10F2-E2E0D4FD3158}"/>
              </a:ext>
            </a:extLst>
          </p:cNvPr>
          <p:cNvCxnSpPr>
            <a:cxnSpLocks/>
          </p:cNvCxnSpPr>
          <p:nvPr/>
        </p:nvCxnSpPr>
        <p:spPr>
          <a:xfrm flipH="1">
            <a:off x="8945799" y="4721835"/>
            <a:ext cx="150576" cy="110396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205337" cy="5032376"/>
              </a:xfrm>
            </p:spPr>
            <p:txBody>
              <a:bodyPr>
                <a:normAutofit/>
              </a:bodyPr>
              <a:lstStyle/>
              <a:p>
                <a:r>
                  <a:rPr lang="pt-BR" dirty="0"/>
                  <a:t>Se o peso atual está à esquerda do mínimo, o </a:t>
                </a:r>
                <a:r>
                  <a:rPr lang="pt-BR" b="1" dirty="0">
                    <a:solidFill>
                      <a:srgbClr val="7030A0"/>
                    </a:solidFill>
                  </a:rPr>
                  <a:t>termo de atualização</a:t>
                </a:r>
                <a:r>
                  <a:rPr lang="pt-BR" dirty="0"/>
                  <a:t> faz com que o </a:t>
                </a:r>
                <a:r>
                  <a:rPr lang="pt-BR" b="1" dirty="0">
                    <a:solidFill>
                      <a:schemeClr val="accent2"/>
                    </a:solidFill>
                  </a:rPr>
                  <a:t>novo valor do peso seja maior</a:t>
                </a:r>
                <a:r>
                  <a:rPr lang="pt-BR" dirty="0"/>
                  <a:t> do que o anterior.</a:t>
                </a:r>
              </a:p>
              <a:p>
                <a:pPr lvl="1">
                  <a:buFont typeface="Wingdings" panose="05000000000000000000" pitchFamily="2" charset="2"/>
                  <a:buChar char="§"/>
                </a:pPr>
                <a:r>
                  <a:rPr lang="pt-BR" dirty="0"/>
                  <a:t>À esquerda do mínimo, </a:t>
                </a:r>
                <a14:m>
                  <m:oMath xmlns:m="http://schemas.openxmlformats.org/officeDocument/2006/math">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terá sinal negativo,</a:t>
                </a:r>
              </a:p>
              <a:p>
                <a:pPr lvl="1">
                  <a:buFont typeface="Wingdings" panose="05000000000000000000" pitchFamily="2" charset="2"/>
                  <a:buChar char="§"/>
                </a:pPr>
                <a:r>
                  <a:rPr lang="pt-BR" dirty="0"/>
                  <a:t>Que quando multiplicado por </a:t>
                </a:r>
                <a14:m>
                  <m:oMath xmlns:m="http://schemas.openxmlformats.org/officeDocument/2006/math">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oMath>
                </a14:m>
                <a:r>
                  <a:rPr lang="pt-BR" dirty="0"/>
                  <a:t>, fará com que o termo de atualização se torne positivo.</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205337" cy="5032376"/>
              </a:xfrm>
              <a:blipFill>
                <a:blip r:embed="rId3"/>
                <a:stretch>
                  <a:fillRect l="-1768" t="-1937"/>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A55B36-34CE-4878-83B4-42D1324C236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8DC80DC-35D1-9045-6686-A446DEAFC710}"/>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02007BE-0A55-45A9-97D1-1F1399046C83}"/>
                  </a:ext>
                </a:extLst>
              </p:cNvPr>
              <p:cNvSpPr>
                <a:spLocks noGrp="1"/>
              </p:cNvSpPr>
              <p:nvPr>
                <p:ph idx="1"/>
              </p:nvPr>
            </p:nvSpPr>
            <p:spPr>
              <a:xfrm>
                <a:off x="5897233" y="1825624"/>
                <a:ext cx="6205337" cy="5032376"/>
              </a:xfrm>
            </p:spPr>
            <p:txBody>
              <a:bodyPr>
                <a:normAutofit/>
              </a:bodyPr>
              <a:lstStyle/>
              <a:p>
                <a:r>
                  <a:rPr lang="pt-BR" dirty="0"/>
                  <a:t>Se o peso atual está à direita do mínimo, o </a:t>
                </a:r>
                <a:r>
                  <a:rPr lang="pt-BR" b="1" dirty="0">
                    <a:solidFill>
                      <a:srgbClr val="7030A0"/>
                    </a:solidFill>
                  </a:rPr>
                  <a:t>termo de atualização</a:t>
                </a:r>
                <a:r>
                  <a:rPr lang="pt-BR" dirty="0"/>
                  <a:t> faz com que o </a:t>
                </a:r>
                <a:r>
                  <a:rPr lang="pt-BR" b="1" dirty="0">
                    <a:solidFill>
                      <a:schemeClr val="accent2"/>
                    </a:solidFill>
                  </a:rPr>
                  <a:t>novo valor do peso seja menor</a:t>
                </a:r>
                <a:r>
                  <a:rPr lang="pt-BR" dirty="0"/>
                  <a:t> do que o anterior.</a:t>
                </a:r>
              </a:p>
              <a:p>
                <a:pPr lvl="1">
                  <a:buFont typeface="Wingdings" panose="05000000000000000000" pitchFamily="2" charset="2"/>
                  <a:buChar char="§"/>
                </a:pPr>
                <a:r>
                  <a:rPr lang="pt-BR" dirty="0"/>
                  <a:t>À direita do mínimo, </a:t>
                </a:r>
                <a14:m>
                  <m:oMath xmlns:m="http://schemas.openxmlformats.org/officeDocument/2006/math">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terá sinal positivo,</a:t>
                </a:r>
              </a:p>
              <a:p>
                <a:pPr lvl="1">
                  <a:buFont typeface="Wingdings" panose="05000000000000000000" pitchFamily="2" charset="2"/>
                  <a:buChar char="§"/>
                </a:pPr>
                <a:r>
                  <a:rPr lang="pt-BR" dirty="0"/>
                  <a:t>Que quando multiplicado por </a:t>
                </a:r>
                <a14:m>
                  <m:oMath xmlns:m="http://schemas.openxmlformats.org/officeDocument/2006/math">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oMath>
                </a14:m>
                <a:r>
                  <a:rPr lang="pt-BR" dirty="0"/>
                  <a:t>, fará com que o termo de atualização se torne negativo.</a:t>
                </a:r>
              </a:p>
              <a:p>
                <a:endParaRPr lang="pt-BR" dirty="0"/>
              </a:p>
            </p:txBody>
          </p:sp>
        </mc:Choice>
        <mc:Fallback xmlns="">
          <p:sp>
            <p:nvSpPr>
              <p:cNvPr id="3" name="Espaço Reservado para Conteúdo 2">
                <a:extLst>
                  <a:ext uri="{FF2B5EF4-FFF2-40B4-BE49-F238E27FC236}">
                    <a16:creationId xmlns:a16="http://schemas.microsoft.com/office/drawing/2014/main" id="{802007BE-0A55-45A9-97D1-1F1399046C83}"/>
                  </a:ext>
                </a:extLst>
              </p:cNvPr>
              <p:cNvSpPr>
                <a:spLocks noGrp="1" noRot="1" noChangeAspect="1" noMove="1" noResize="1" noEditPoints="1" noAdjustHandles="1" noChangeArrowheads="1" noChangeShapeType="1" noTextEdit="1"/>
              </p:cNvSpPr>
              <p:nvPr>
                <p:ph idx="1"/>
              </p:nvPr>
            </p:nvSpPr>
            <p:spPr>
              <a:xfrm>
                <a:off x="5897233" y="1825624"/>
                <a:ext cx="6205337" cy="5032376"/>
              </a:xfrm>
              <a:blipFill>
                <a:blip r:embed="rId3"/>
                <a:stretch>
                  <a:fillRect l="-1768" t="-1937"/>
                </a:stretch>
              </a:blipFill>
            </p:spPr>
            <p:txBody>
              <a:bodyPr/>
              <a:lstStyle/>
              <a:p>
                <a:r>
                  <a:rPr lang="en-US">
                    <a:noFill/>
                  </a:rPr>
                  <a:t> </a:t>
                </a:r>
              </a:p>
            </p:txBody>
          </p:sp>
        </mc:Fallback>
      </mc:AlternateContent>
      <p:sp>
        <p:nvSpPr>
          <p:cNvPr id="24" name="Forma Livre: Forma 23">
            <a:extLst>
              <a:ext uri="{FF2B5EF4-FFF2-40B4-BE49-F238E27FC236}">
                <a16:creationId xmlns:a16="http://schemas.microsoft.com/office/drawing/2014/main" id="{95AD1E5E-4D52-4805-C53B-35E995960688}"/>
              </a:ext>
            </a:extLst>
          </p:cNvPr>
          <p:cNvSpPr/>
          <p:nvPr/>
        </p:nvSpPr>
        <p:spPr>
          <a:xfrm>
            <a:off x="1190625" y="2692903"/>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E62A43FE-99D1-E4A5-BCAA-CF0A08BB8A4B}"/>
              </a:ext>
            </a:extLst>
          </p:cNvPr>
          <p:cNvCxnSpPr>
            <a:cxnSpLocks/>
          </p:cNvCxnSpPr>
          <p:nvPr/>
        </p:nvCxnSpPr>
        <p:spPr>
          <a:xfrm>
            <a:off x="974017" y="4618225"/>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54C9D9B1-14A6-AB3C-5EDD-20A8FCC9B42E}"/>
              </a:ext>
            </a:extLst>
          </p:cNvPr>
          <p:cNvCxnSpPr>
            <a:cxnSpLocks/>
          </p:cNvCxnSpPr>
          <p:nvPr/>
        </p:nvCxnSpPr>
        <p:spPr>
          <a:xfrm flipV="1">
            <a:off x="974018" y="2144361"/>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C9810D7C-618F-42D7-D15F-E07BF0143A5D}"/>
                  </a:ext>
                </a:extLst>
              </p:cNvPr>
              <p:cNvSpPr txBox="1"/>
              <p:nvPr/>
            </p:nvSpPr>
            <p:spPr>
              <a:xfrm>
                <a:off x="974017" y="2055748"/>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C9810D7C-618F-42D7-D15F-E07BF0143A5D}"/>
                  </a:ext>
                </a:extLst>
              </p:cNvPr>
              <p:cNvSpPr txBox="1">
                <a:spLocks noRot="1" noChangeAspect="1" noMove="1" noResize="1" noEditPoints="1" noAdjustHandles="1" noChangeArrowheads="1" noChangeShapeType="1" noTextEdit="1"/>
              </p:cNvSpPr>
              <p:nvPr/>
            </p:nvSpPr>
            <p:spPr>
              <a:xfrm>
                <a:off x="974017" y="2055748"/>
                <a:ext cx="2747030" cy="369332"/>
              </a:xfrm>
              <a:prstGeom prst="rect">
                <a:avLst/>
              </a:prstGeom>
              <a:blipFill>
                <a:blip r:embed="rId4"/>
                <a:stretch>
                  <a:fillRect l="-2000" t="-8197" b="-24590"/>
                </a:stretch>
              </a:blipFill>
            </p:spPr>
            <p:txBody>
              <a:bodyPr/>
              <a:lstStyle/>
              <a:p>
                <a:r>
                  <a:rPr lang="en-US">
                    <a:noFill/>
                  </a:rPr>
                  <a:t> </a:t>
                </a:r>
              </a:p>
            </p:txBody>
          </p:sp>
        </mc:Fallback>
      </mc:AlternateContent>
      <p:sp>
        <p:nvSpPr>
          <p:cNvPr id="9" name="CaixaDeTexto 8">
            <a:extLst>
              <a:ext uri="{FF2B5EF4-FFF2-40B4-BE49-F238E27FC236}">
                <a16:creationId xmlns:a16="http://schemas.microsoft.com/office/drawing/2014/main" id="{79409339-B873-6CD8-ABD2-05EB218DE072}"/>
              </a:ext>
            </a:extLst>
          </p:cNvPr>
          <p:cNvSpPr txBox="1"/>
          <p:nvPr/>
        </p:nvSpPr>
        <p:spPr>
          <a:xfrm>
            <a:off x="4300295" y="4625832"/>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039EA0C5-8C71-7A67-014E-9B8BFDF0F5AC}"/>
              </a:ext>
            </a:extLst>
          </p:cNvPr>
          <p:cNvCxnSpPr/>
          <p:nvPr/>
        </p:nvCxnSpPr>
        <p:spPr>
          <a:xfrm>
            <a:off x="976885" y="4446589"/>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2FE34480-3A98-C37D-1CC7-C4D46C84C191}"/>
              </a:ext>
            </a:extLst>
          </p:cNvPr>
          <p:cNvSpPr txBox="1"/>
          <p:nvPr/>
        </p:nvSpPr>
        <p:spPr>
          <a:xfrm>
            <a:off x="2367751" y="3934283"/>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64134F0A-4EEF-6DAE-478A-B7431749E1EC}"/>
              </a:ext>
            </a:extLst>
          </p:cNvPr>
          <p:cNvCxnSpPr>
            <a:cxnSpLocks/>
          </p:cNvCxnSpPr>
          <p:nvPr/>
        </p:nvCxnSpPr>
        <p:spPr>
          <a:xfrm>
            <a:off x="2902477" y="4439022"/>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15DD9BF6-B244-29D4-119F-C6B3781653CD}"/>
              </a:ext>
            </a:extLst>
          </p:cNvPr>
          <p:cNvSpPr/>
          <p:nvPr/>
        </p:nvSpPr>
        <p:spPr>
          <a:xfrm>
            <a:off x="2879776" y="4423888"/>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CDA6E95E-D9EC-3537-8F77-6EE3F47192AB}"/>
              </a:ext>
            </a:extLst>
          </p:cNvPr>
          <p:cNvSpPr/>
          <p:nvPr/>
        </p:nvSpPr>
        <p:spPr>
          <a:xfrm>
            <a:off x="4435947" y="286541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FE0C45FA-56C4-F642-30D0-8D2DDF54AF46}"/>
              </a:ext>
            </a:extLst>
          </p:cNvPr>
          <p:cNvCxnSpPr/>
          <p:nvPr/>
        </p:nvCxnSpPr>
        <p:spPr>
          <a:xfrm>
            <a:off x="973059" y="2886646"/>
            <a:ext cx="349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E7D13DB9-4C75-078A-6958-6C154EC05952}"/>
              </a:ext>
            </a:extLst>
          </p:cNvPr>
          <p:cNvCxnSpPr>
            <a:cxnSpLocks/>
          </p:cNvCxnSpPr>
          <p:nvPr/>
        </p:nvCxnSpPr>
        <p:spPr>
          <a:xfrm>
            <a:off x="4457397" y="2893989"/>
            <a:ext cx="0" cy="17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2223F3-5DD2-71FD-B16F-33B193B11964}"/>
              </a:ext>
            </a:extLst>
          </p:cNvPr>
          <p:cNvSpPr txBox="1"/>
          <p:nvPr/>
        </p:nvSpPr>
        <p:spPr>
          <a:xfrm>
            <a:off x="3517064" y="2599556"/>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0EE88986-EB8C-724C-244A-3D5A37DAF924}"/>
                  </a:ext>
                </a:extLst>
              </p:cNvPr>
              <p:cNvSpPr txBox="1"/>
              <p:nvPr/>
            </p:nvSpPr>
            <p:spPr>
              <a:xfrm>
                <a:off x="1074774" y="4570269"/>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0EE88986-EB8C-724C-244A-3D5A37DAF924}"/>
                  </a:ext>
                </a:extLst>
              </p:cNvPr>
              <p:cNvSpPr txBox="1">
                <a:spLocks noRot="1" noChangeAspect="1" noMove="1" noResize="1" noEditPoints="1" noAdjustHandles="1" noChangeArrowheads="1" noChangeShapeType="1" noTextEdit="1"/>
              </p:cNvSpPr>
              <p:nvPr/>
            </p:nvSpPr>
            <p:spPr>
              <a:xfrm>
                <a:off x="1074774" y="4570269"/>
                <a:ext cx="867941" cy="30777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C20C4FF7-F2B2-21E5-6E82-822BAEAF5190}"/>
                  </a:ext>
                </a:extLst>
              </p:cNvPr>
              <p:cNvSpPr txBox="1"/>
              <p:nvPr/>
            </p:nvSpPr>
            <p:spPr>
              <a:xfrm>
                <a:off x="2671712" y="4569848"/>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C20C4FF7-F2B2-21E5-6E82-822BAEAF5190}"/>
                  </a:ext>
                </a:extLst>
              </p:cNvPr>
              <p:cNvSpPr txBox="1">
                <a:spLocks noRot="1" noChangeAspect="1" noMove="1" noResize="1" noEditPoints="1" noAdjustHandles="1" noChangeArrowheads="1" noChangeShapeType="1" noTextEdit="1"/>
              </p:cNvSpPr>
              <p:nvPr/>
            </p:nvSpPr>
            <p:spPr>
              <a:xfrm>
                <a:off x="2671712" y="4569848"/>
                <a:ext cx="867941" cy="307777"/>
              </a:xfrm>
              <a:prstGeom prst="rect">
                <a:avLst/>
              </a:prstGeom>
              <a:blipFill>
                <a:blip r:embed="rId6"/>
                <a:stretch>
                  <a:fillRect/>
                </a:stretch>
              </a:blipFill>
            </p:spPr>
            <p:txBody>
              <a:bodyPr/>
              <a:lstStyle/>
              <a:p>
                <a:r>
                  <a:rPr lang="en-US">
                    <a:noFill/>
                  </a:rPr>
                  <a:t> </a:t>
                </a:r>
              </a:p>
            </p:txBody>
          </p:sp>
        </mc:Fallback>
      </mc:AlternateContent>
      <p:cxnSp>
        <p:nvCxnSpPr>
          <p:cNvPr id="4" name="Conector de Seta Reta 3">
            <a:extLst>
              <a:ext uri="{FF2B5EF4-FFF2-40B4-BE49-F238E27FC236}">
                <a16:creationId xmlns:a16="http://schemas.microsoft.com/office/drawing/2014/main" id="{DC244B52-4334-BD96-C961-7980C8966554}"/>
              </a:ext>
            </a:extLst>
          </p:cNvPr>
          <p:cNvCxnSpPr>
            <a:cxnSpLocks/>
          </p:cNvCxnSpPr>
          <p:nvPr/>
        </p:nvCxnSpPr>
        <p:spPr>
          <a:xfrm flipH="1">
            <a:off x="4000500" y="2896738"/>
            <a:ext cx="447243" cy="7318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9D1FBDB5-A30B-552C-6312-3B6BD90ACEA3}"/>
              </a:ext>
            </a:extLst>
          </p:cNvPr>
          <p:cNvSpPr/>
          <p:nvPr/>
        </p:nvSpPr>
        <p:spPr>
          <a:xfrm>
            <a:off x="3774858" y="374058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7CF6E555-725C-0E5C-C537-9555F01F314A}"/>
              </a:ext>
            </a:extLst>
          </p:cNvPr>
          <p:cNvSpPr txBox="1"/>
          <p:nvPr/>
        </p:nvSpPr>
        <p:spPr>
          <a:xfrm>
            <a:off x="2870595" y="3628610"/>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D1B49863-995B-5C94-39FC-9775AB496188}"/>
                  </a:ext>
                </a:extLst>
              </p:cNvPr>
              <p:cNvSpPr txBox="1"/>
              <p:nvPr/>
            </p:nvSpPr>
            <p:spPr>
              <a:xfrm>
                <a:off x="2833286" y="3005203"/>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D1B49863-995B-5C94-39FC-9775AB496188}"/>
                  </a:ext>
                </a:extLst>
              </p:cNvPr>
              <p:cNvSpPr txBox="1">
                <a:spLocks noRot="1" noChangeAspect="1" noMove="1" noResize="1" noEditPoints="1" noAdjustHandles="1" noChangeArrowheads="1" noChangeShapeType="1" noTextEdit="1"/>
              </p:cNvSpPr>
              <p:nvPr/>
            </p:nvSpPr>
            <p:spPr>
              <a:xfrm>
                <a:off x="2833286" y="3005203"/>
                <a:ext cx="756505" cy="444032"/>
              </a:xfrm>
              <a:prstGeom prst="rect">
                <a:avLst/>
              </a:prstGeom>
              <a:blipFill>
                <a:blip r:embed="rId7"/>
                <a:stretch>
                  <a:fillRect r="-37903" b="-1370"/>
                </a:stretch>
              </a:blipFill>
            </p:spPr>
            <p:txBody>
              <a:bodyPr/>
              <a:lstStyle/>
              <a:p>
                <a:r>
                  <a:rPr lang="en-US">
                    <a:noFill/>
                  </a:rPr>
                  <a:t> </a:t>
                </a:r>
              </a:p>
            </p:txBody>
          </p:sp>
        </mc:Fallback>
      </mc:AlternateContent>
      <p:cxnSp>
        <p:nvCxnSpPr>
          <p:cNvPr id="45" name="Conector reto 44">
            <a:extLst>
              <a:ext uri="{FF2B5EF4-FFF2-40B4-BE49-F238E27FC236}">
                <a16:creationId xmlns:a16="http://schemas.microsoft.com/office/drawing/2014/main" id="{F372B741-B2B5-BA49-3507-12F27F931DA6}"/>
              </a:ext>
            </a:extLst>
          </p:cNvPr>
          <p:cNvCxnSpPr>
            <a:cxnSpLocks/>
          </p:cNvCxnSpPr>
          <p:nvPr/>
        </p:nvCxnSpPr>
        <p:spPr>
          <a:xfrm>
            <a:off x="3798092" y="3773961"/>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2A2FFB7B-0A97-529B-F3AB-053420899F77}"/>
                  </a:ext>
                </a:extLst>
              </p:cNvPr>
              <p:cNvSpPr txBox="1"/>
              <p:nvPr/>
            </p:nvSpPr>
            <p:spPr>
              <a:xfrm>
                <a:off x="1703016" y="4581082"/>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2A2FFB7B-0A97-529B-F3AB-053420899F77}"/>
                  </a:ext>
                </a:extLst>
              </p:cNvPr>
              <p:cNvSpPr txBox="1">
                <a:spLocks noRot="1" noChangeAspect="1" noMove="1" noResize="1" noEditPoints="1" noAdjustHandles="1" noChangeArrowheads="1" noChangeShapeType="1" noTextEdit="1"/>
              </p:cNvSpPr>
              <p:nvPr/>
            </p:nvSpPr>
            <p:spPr>
              <a:xfrm>
                <a:off x="1703016" y="4581082"/>
                <a:ext cx="867941" cy="30777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EACF50E9-CB50-D05F-FA10-9A32D5DB4608}"/>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FB6EA329-858B-8339-B316-5B6D0837F3CE}"/>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6F971FB6-8DFF-4302-CEFF-DA4495AEEA22}"/>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C036354-5F62-B69D-2156-D972DE6F41D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9C9CF1AE-34A8-0556-A9E5-E6F607CD3AC4}"/>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cxnSp>
        <p:nvCxnSpPr>
          <p:cNvPr id="28" name="Conector: Curvo 27">
            <a:extLst>
              <a:ext uri="{FF2B5EF4-FFF2-40B4-BE49-F238E27FC236}">
                <a16:creationId xmlns:a16="http://schemas.microsoft.com/office/drawing/2014/main" id="{81FD9F85-70A2-0DE8-FFC5-5557062E1604}"/>
              </a:ext>
            </a:extLst>
          </p:cNvPr>
          <p:cNvCxnSpPr>
            <a:cxnSpLocks/>
            <a:stCxn id="14" idx="2"/>
            <a:endCxn id="19" idx="2"/>
          </p:cNvCxnSpPr>
          <p:nvPr/>
        </p:nvCxnSpPr>
        <p:spPr>
          <a:xfrm rot="10800000" flipV="1">
            <a:off x="3774859" y="2886865"/>
            <a:ext cx="661089" cy="875168"/>
          </a:xfrm>
          <a:prstGeom prst="curvedConnector3">
            <a:avLst>
              <a:gd name="adj1" fmla="val 91931"/>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284138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1E2277-700F-9E43-790B-9D23711BFFB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062D35D-B6EE-88FD-F460-EBB18CA173BC}"/>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id="{FF249910-0A57-AEAC-E6E9-68DE1A336706}"/>
              </a:ext>
            </a:extLst>
          </p:cNvPr>
          <p:cNvSpPr>
            <a:spLocks noGrp="1"/>
          </p:cNvSpPr>
          <p:nvPr>
            <p:ph idx="1"/>
          </p:nvPr>
        </p:nvSpPr>
        <p:spPr>
          <a:xfrm>
            <a:off x="5897233" y="1825624"/>
            <a:ext cx="6205337" cy="5032376"/>
          </a:xfrm>
        </p:spPr>
        <p:txBody>
          <a:bodyPr>
            <a:normAutofit/>
          </a:bodyPr>
          <a:lstStyle/>
          <a:p>
            <a:r>
              <a:rPr lang="pt-BR" dirty="0"/>
              <a:t>Portanto, dado o</a:t>
            </a:r>
            <a:r>
              <a:rPr lang="pt-BR" b="1" dirty="0">
                <a:solidFill>
                  <a:srgbClr val="00B050"/>
                </a:solidFill>
              </a:rPr>
              <a:t> vetor gradiente (direção e taxa de crescimento) e uma taxa de aprendizagem</a:t>
            </a:r>
            <a:r>
              <a:rPr lang="pt-BR" dirty="0"/>
              <a:t>, agora podemos caminhar </a:t>
            </a:r>
            <a:r>
              <a:rPr lang="pt-BR" b="1" dirty="0">
                <a:solidFill>
                  <a:schemeClr val="accent1"/>
                </a:solidFill>
              </a:rPr>
              <a:t>iterativamente</a:t>
            </a:r>
            <a:r>
              <a:rPr lang="pt-BR" b="1" dirty="0">
                <a:solidFill>
                  <a:srgbClr val="00B050"/>
                </a:solidFill>
              </a:rPr>
              <a:t> </a:t>
            </a:r>
            <a:r>
              <a:rPr lang="pt-BR" dirty="0"/>
              <a:t>em direção ao ponto de mínimo.</a:t>
            </a:r>
          </a:p>
        </p:txBody>
      </p:sp>
      <p:grpSp>
        <p:nvGrpSpPr>
          <p:cNvPr id="52" name="Agrupar 51">
            <a:extLst>
              <a:ext uri="{FF2B5EF4-FFF2-40B4-BE49-F238E27FC236}">
                <a16:creationId xmlns:a16="http://schemas.microsoft.com/office/drawing/2014/main" id="{4B27E292-8EDA-771F-C523-04EA3AFE2EA0}"/>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9A12137B-7F18-FBD1-C41B-49EAEE2E86BB}"/>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6601733F-F691-6113-4CE5-21289B583C5B}"/>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B8CFE0C7-A4E7-CB3C-2885-FF1D03CA5B1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6BD4D9E-8F31-6602-8EEC-75C6316A991D}"/>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2628AFDC-5BFB-8F3F-6004-42AA7668BB44}"/>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6658C28E-0283-FC4A-0B5C-5DCDAE0EE825}"/>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1B97234F-4121-972D-142A-35653790BFFF}"/>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6A266EC2-2029-0C02-4116-56D7140603B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A0E030FB-67BC-546E-A99D-10C41F6A8A3D}"/>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DFCED1A8-F4A0-74EF-81A0-62573FF0B969}"/>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8DDE6786-40C0-06F9-CF5C-BA07DAFCB799}"/>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CAA5059E-2CB9-4291-0468-98399C4B277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8CE3E78D-2832-6D21-5620-AF91D0D92A40}"/>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009E9506-63AD-0EFC-ECF4-7CD8F23DBFF3}"/>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3616B305-9CB0-B473-C7BF-EA4FB5BC2D55}"/>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D8D8EBA8-9252-FA17-0758-3EC098D4A552}"/>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5C3BA385-0F21-9DE3-C731-2E356FD76FBC}"/>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2D44C00B-D931-A8A7-3AD9-75A394317A2C}"/>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FBAEB95B-710F-E24C-28C3-5A9AC998E627}"/>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C175C0BA-5097-143C-81A3-F410417F7E1C}"/>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7BA96501-5A5A-E5AB-9D1D-9FD5C2346EB1}"/>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C19EAC35-A140-C8F7-7653-05C10318AAB8}"/>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D33E10AB-FEF7-84CD-FDCE-1ED204C52B50}"/>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4AE040C1-4906-8D50-4FF3-FA03EBBAA2E3}"/>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7D7F8FAE-E203-A39C-9C19-0BF73A9CD1A4}"/>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55A5996C-9053-5970-0342-0500D2C5EF44}"/>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A019FC8F-5684-7736-FEA0-2C289609A66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93224456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353807" y="1825624"/>
            <a:ext cx="6646410" cy="5032376"/>
          </a:xfrm>
        </p:spPr>
        <p:txBody>
          <a:bodyPr>
            <a:normAutofit/>
          </a:bodyPr>
          <a:lstStyle/>
          <a:p>
            <a:r>
              <a:rPr lang="pt-BR" dirty="0"/>
              <a:t>A cada </a:t>
            </a:r>
            <a:r>
              <a:rPr lang="pt-BR" b="1" dirty="0">
                <a:solidFill>
                  <a:srgbClr val="00B050"/>
                </a:solidFill>
              </a:rPr>
              <a:t>iteração</a:t>
            </a:r>
            <a:r>
              <a:rPr lang="pt-BR" dirty="0"/>
              <a:t> do GD calculamos o gradiente no ponto atual e atualizamos os pesos com uma porcentagem dele.</a:t>
            </a:r>
          </a:p>
          <a:p>
            <a:r>
              <a:rPr lang="pt-BR" b="1" dirty="0">
                <a:solidFill>
                  <a:srgbClr val="00B050"/>
                </a:solidFill>
              </a:rPr>
              <a:t>Repetimos</a:t>
            </a:r>
            <a:r>
              <a:rPr lang="pt-BR" dirty="0"/>
              <a:t> esse processo </a:t>
            </a:r>
            <a:r>
              <a:rPr lang="pt-BR" b="1" dirty="0">
                <a:solidFill>
                  <a:srgbClr val="00B050"/>
                </a:solidFill>
              </a:rPr>
              <a:t>até</a:t>
            </a:r>
            <a:r>
              <a:rPr lang="pt-BR" dirty="0"/>
              <a:t> que a </a:t>
            </a:r>
            <a:r>
              <a:rPr lang="pt-BR" b="1" dirty="0">
                <a:solidFill>
                  <a:srgbClr val="00B050"/>
                </a:solidFill>
              </a:rPr>
              <a:t>inclinação do hiperplano tangente ao ponto atual se torne igual a 0</a:t>
            </a:r>
            <a:r>
              <a:rPr lang="pt-BR" dirty="0"/>
              <a:t>, indicando que o ponto de mínimo foi atingido.</a:t>
            </a:r>
          </a:p>
          <a:p>
            <a:r>
              <a:rPr lang="pt-BR" b="1" dirty="0">
                <a:solidFill>
                  <a:schemeClr val="accent2"/>
                </a:solidFill>
              </a:rPr>
              <a:t>O que ocorre quando o gradiente é 0?</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id="{38BE7280-D6C2-F198-63A6-75BAA02AF46C}"/>
              </a:ext>
            </a:extLst>
          </p:cNvPr>
          <p:cNvSpPr txBox="1"/>
          <p:nvPr/>
        </p:nvSpPr>
        <p:spPr>
          <a:xfrm>
            <a:off x="654563" y="6359834"/>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4CC07-5164-3C85-E8FA-D50DCD6DE55C}"/>
              </a:ext>
            </a:extLst>
          </p:cNvPr>
          <p:cNvSpPr>
            <a:spLocks noGrp="1"/>
          </p:cNvSpPr>
          <p:nvPr>
            <p:ph type="title"/>
          </p:nvPr>
        </p:nvSpPr>
        <p:spPr/>
        <p:txBody>
          <a:bodyPr/>
          <a:lstStyle/>
          <a:p>
            <a:r>
              <a:rPr lang="pt-BR" dirty="0"/>
              <a:t>Otimização iterativa</a:t>
            </a:r>
            <a:endParaRPr lang="en-US" dirty="0"/>
          </a:p>
        </p:txBody>
      </p:sp>
      <p:sp>
        <p:nvSpPr>
          <p:cNvPr id="3" name="Content Placeholder 2">
            <a:extLst>
              <a:ext uri="{FF2B5EF4-FFF2-40B4-BE49-F238E27FC236}">
                <a16:creationId xmlns:a16="http://schemas.microsoft.com/office/drawing/2014/main" id="{C9EC55E5-C8A8-27F2-D000-5CBB479BF656}"/>
              </a:ext>
            </a:extLst>
          </p:cNvPr>
          <p:cNvSpPr>
            <a:spLocks noGrp="1"/>
          </p:cNvSpPr>
          <p:nvPr>
            <p:ph idx="1"/>
          </p:nvPr>
        </p:nvSpPr>
        <p:spPr>
          <a:xfrm>
            <a:off x="5684362" y="1825624"/>
            <a:ext cx="6410228" cy="5032375"/>
          </a:xfrm>
        </p:spPr>
        <p:txBody>
          <a:bodyPr/>
          <a:lstStyle/>
          <a:p>
            <a:r>
              <a:rPr lang="pt-BR" dirty="0"/>
              <a:t>Quando os elementos do vetor gradiente se tornam iguais a 0, os </a:t>
            </a:r>
            <a:r>
              <a:rPr lang="pt-BR" b="1" dirty="0">
                <a:solidFill>
                  <a:schemeClr val="accent2"/>
                </a:solidFill>
              </a:rPr>
              <a:t>pesos não são mais atualizados</a:t>
            </a:r>
            <a:r>
              <a:rPr lang="pt-BR" dirty="0"/>
              <a:t>, permanecendo </a:t>
            </a:r>
            <a:r>
              <a:rPr lang="pt-BR" b="1" dirty="0">
                <a:solidFill>
                  <a:srgbClr val="7030A0"/>
                </a:solidFill>
              </a:rPr>
              <a:t>constantes</a:t>
            </a:r>
            <a:r>
              <a:rPr lang="pt-BR" dirty="0"/>
              <a:t>.</a:t>
            </a:r>
          </a:p>
          <a:p>
            <a:r>
              <a:rPr lang="pt-BR" dirty="0"/>
              <a:t>Consequentemente, se os pesos são constantes, </a:t>
            </a:r>
            <a:r>
              <a:rPr lang="pt-BR" b="1" dirty="0">
                <a:solidFill>
                  <a:srgbClr val="7030A0"/>
                </a:solidFill>
              </a:rPr>
              <a:t>o erro se torna constante</a:t>
            </a:r>
            <a:r>
              <a:rPr lang="pt-BR" dirty="0"/>
              <a:t>.</a:t>
            </a:r>
          </a:p>
          <a:p>
            <a:r>
              <a:rPr lang="pt-BR" dirty="0"/>
              <a:t>Essa constância do erro (i.e., reta), é uma das formas usadas para encerrar o treinamento.</a:t>
            </a:r>
          </a:p>
          <a:p>
            <a:pPr lvl="1">
              <a:buFont typeface="Wingdings" panose="05000000000000000000" pitchFamily="2" charset="2"/>
              <a:buChar char="§"/>
            </a:pPr>
            <a:r>
              <a:rPr lang="pt-BR" dirty="0"/>
              <a:t>Se a </a:t>
            </a:r>
            <a:r>
              <a:rPr lang="pt-BR" b="1" dirty="0">
                <a:solidFill>
                  <a:srgbClr val="00B050"/>
                </a:solidFill>
              </a:rPr>
              <a:t>diferença do erro entre duas iterações consecutivas</a:t>
            </a:r>
            <a:r>
              <a:rPr lang="pt-BR" dirty="0"/>
              <a:t> cair abaixo de um valor bem pequeno, encerra-se o treinamento.</a:t>
            </a:r>
            <a:endParaRPr lang="en-US" dirty="0"/>
          </a:p>
        </p:txBody>
      </p:sp>
      <mc:AlternateContent xmlns:mc="http://schemas.openxmlformats.org/markup-compatibility/2006" xmlns:a14="http://schemas.microsoft.com/office/drawing/2010/main">
        <mc:Choice Requires="a14">
          <p:sp>
            <p:nvSpPr>
              <p:cNvPr id="4" name="CaixaDeTexto 49">
                <a:extLst>
                  <a:ext uri="{FF2B5EF4-FFF2-40B4-BE49-F238E27FC236}">
                    <a16:creationId xmlns:a16="http://schemas.microsoft.com/office/drawing/2014/main" id="{75B195AC-8D57-E609-4AEB-9B162275450D}"/>
                  </a:ext>
                </a:extLst>
              </p:cNvPr>
              <p:cNvSpPr txBox="1"/>
              <p:nvPr/>
            </p:nvSpPr>
            <p:spPr>
              <a:xfrm>
                <a:off x="947049" y="1980762"/>
                <a:ext cx="4078575" cy="678519"/>
              </a:xfrm>
              <a:prstGeom prst="rect">
                <a:avLst/>
              </a:prstGeom>
              <a:noFill/>
            </p:spPr>
            <p:txBody>
              <a:bodyPr wrap="square" rtlCol="0">
                <a:spAutoFit/>
              </a:bodyPr>
              <a:lstStyle/>
              <a:p>
                <a:pPr algn="ctr"/>
                <a14:m>
                  <m:oMathPara xmlns:m="http://schemas.openxmlformats.org/officeDocument/2006/math">
                    <m:o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𝒂</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b="1" i="1">
                              <a:latin typeface="Cambria Math" panose="02040503050406030204" pitchFamily="18" charset="0"/>
                            </a:rPr>
                          </m:ctrlPr>
                        </m:sSubPr>
                        <m:e>
                          <m:r>
                            <a:rPr lang="pt-BR" sz="2000" b="1" i="1">
                              <a:latin typeface="Cambria Math" panose="02040503050406030204" pitchFamily="18" charset="0"/>
                            </a:rPr>
                            <m:t>𝒂</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b="1" i="1">
                                  <a:latin typeface="Cambria Math" panose="02040503050406030204" pitchFamily="18" charset="0"/>
                                </a:rPr>
                              </m:ctrlPr>
                            </m:sSubPr>
                            <m:e>
                              <m:r>
                                <a:rPr lang="pt-BR" sz="2000" b="1" i="1">
                                  <a:latin typeface="Cambria Math" panose="02040503050406030204" pitchFamily="18" charset="0"/>
                                </a:rPr>
                                <m:t>𝒂</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b="1" i="1" dirty="0">
                              <a:latin typeface="Cambria Math" panose="02040503050406030204" pitchFamily="18" charset="0"/>
                            </a:rPr>
                            <m:t>𝒂</m:t>
                          </m:r>
                        </m:den>
                      </m:f>
                    </m:oMath>
                  </m:oMathPara>
                </a14:m>
                <a:endParaRPr lang="pt-BR" sz="2000" dirty="0"/>
              </a:p>
            </p:txBody>
          </p:sp>
        </mc:Choice>
        <mc:Fallback xmlns="">
          <p:sp>
            <p:nvSpPr>
              <p:cNvPr id="4" name="CaixaDeTexto 49">
                <a:extLst>
                  <a:ext uri="{FF2B5EF4-FFF2-40B4-BE49-F238E27FC236}">
                    <a16:creationId xmlns:a16="http://schemas.microsoft.com/office/drawing/2014/main" id="{75B195AC-8D57-E609-4AEB-9B162275450D}"/>
                  </a:ext>
                </a:extLst>
              </p:cNvPr>
              <p:cNvSpPr txBox="1">
                <a:spLocks noRot="1" noChangeAspect="1" noMove="1" noResize="1" noEditPoints="1" noAdjustHandles="1" noChangeArrowheads="1" noChangeShapeType="1" noTextEdit="1"/>
              </p:cNvSpPr>
              <p:nvPr/>
            </p:nvSpPr>
            <p:spPr>
              <a:xfrm>
                <a:off x="947049" y="1980762"/>
                <a:ext cx="4078575" cy="678519"/>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DFF60BC3-6E0D-EC71-61D0-DF5C00BB2B96}"/>
                  </a:ext>
                </a:extLst>
              </p:cNvPr>
              <p:cNvSpPr txBox="1"/>
              <p:nvPr/>
            </p:nvSpPr>
            <p:spPr>
              <a:xfrm>
                <a:off x="1312410" y="3062544"/>
                <a:ext cx="3330803" cy="610936"/>
              </a:xfrm>
              <a:prstGeom prst="rect">
                <a:avLst/>
              </a:prstGeom>
              <a:noFill/>
            </p:spPr>
            <p:txBody>
              <a:bodyPr wrap="square">
                <a:spAutoFit/>
              </a:bodyPr>
              <a:lstStyle/>
              <a:p>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en-US" dirty="0"/>
              </a:p>
            </p:txBody>
          </p:sp>
        </mc:Choice>
        <mc:Fallback xmlns="">
          <p:sp>
            <p:nvSpPr>
              <p:cNvPr id="7" name="TextBox 6">
                <a:extLst>
                  <a:ext uri="{FF2B5EF4-FFF2-40B4-BE49-F238E27FC236}">
                    <a16:creationId xmlns:a16="http://schemas.microsoft.com/office/drawing/2014/main" id="{DFF60BC3-6E0D-EC71-61D0-DF5C00BB2B96}"/>
                  </a:ext>
                </a:extLst>
              </p:cNvPr>
              <p:cNvSpPr txBox="1">
                <a:spLocks noRot="1" noChangeAspect="1" noMove="1" noResize="1" noEditPoints="1" noAdjustHandles="1" noChangeArrowheads="1" noChangeShapeType="1" noTextEdit="1"/>
              </p:cNvSpPr>
              <p:nvPr/>
            </p:nvSpPr>
            <p:spPr>
              <a:xfrm>
                <a:off x="1312410" y="3062544"/>
                <a:ext cx="3330803" cy="610936"/>
              </a:xfrm>
              <a:prstGeom prst="rect">
                <a:avLst/>
              </a:prstGeom>
              <a:blipFill>
                <a:blip r:embed="rId3"/>
                <a:stretch>
                  <a:fillRect/>
                </a:stretch>
              </a:blipFill>
            </p:spPr>
            <p:txBody>
              <a:bodyPr/>
              <a:lstStyle/>
              <a:p>
                <a:r>
                  <a:rPr lang="en-US">
                    <a:noFill/>
                  </a:rPr>
                  <a:t> </a:t>
                </a:r>
              </a:p>
            </p:txBody>
          </p:sp>
        </mc:Fallback>
      </mc:AlternateContent>
      <p:pic>
        <p:nvPicPr>
          <p:cNvPr id="11" name="Picture 10">
            <a:extLst>
              <a:ext uri="{FF2B5EF4-FFF2-40B4-BE49-F238E27FC236}">
                <a16:creationId xmlns:a16="http://schemas.microsoft.com/office/drawing/2014/main" id="{B98B5F86-3939-B850-99BF-BD516A3DCB1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63520" y="4104385"/>
            <a:ext cx="4002296" cy="2668197"/>
          </a:xfrm>
          <a:prstGeom prst="rect">
            <a:avLst/>
          </a:prstGeom>
        </p:spPr>
      </p:pic>
      <p:sp>
        <p:nvSpPr>
          <p:cNvPr id="12" name="Arrow: Down 11">
            <a:extLst>
              <a:ext uri="{FF2B5EF4-FFF2-40B4-BE49-F238E27FC236}">
                <a16:creationId xmlns:a16="http://schemas.microsoft.com/office/drawing/2014/main" id="{3ED116A8-9241-BD04-5661-741C84A3F581}"/>
              </a:ext>
            </a:extLst>
          </p:cNvPr>
          <p:cNvSpPr/>
          <p:nvPr/>
        </p:nvSpPr>
        <p:spPr>
          <a:xfrm>
            <a:off x="2854733" y="2711481"/>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Arrow: Down 12">
            <a:extLst>
              <a:ext uri="{FF2B5EF4-FFF2-40B4-BE49-F238E27FC236}">
                <a16:creationId xmlns:a16="http://schemas.microsoft.com/office/drawing/2014/main" id="{079A896D-7F5E-D405-8833-14DF91B2118B}"/>
              </a:ext>
            </a:extLst>
          </p:cNvPr>
          <p:cNvSpPr/>
          <p:nvPr/>
        </p:nvSpPr>
        <p:spPr>
          <a:xfrm>
            <a:off x="2834820" y="3777177"/>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27690957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o GD se mova para mais e mais perto do ponto de mínimo, </a:t>
                </a:r>
                <a14:m>
                  <m:oMath xmlns:m="http://schemas.openxmlformats.org/officeDocument/2006/math">
                    <m:sSub>
                      <m:sSubPr>
                        <m:ctrlPr>
                          <a:rPr lang="pt-BR" sz="2800" b="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dirty="0">
                    <a:solidFill>
                      <a:srgbClr val="00B050"/>
                    </a:solidFill>
                  </a:rPr>
                  <a:t>cuidado</a:t>
                </a:r>
                <a:r>
                  <a:rPr lang="pt-BR" dirty="0"/>
                  <a:t>, com o </a:t>
                </a:r>
                <a:r>
                  <a:rPr lang="pt-BR" b="1" dirty="0">
                    <a:solidFill>
                      <a:srgbClr val="00B050"/>
                    </a:solidFill>
                  </a:rPr>
                  <a:t>tamanho do passo de aprendizagem</a:t>
                </a:r>
                <a:r>
                  <a:rPr lang="pt-BR" dirty="0"/>
                  <a:t>, que é ditado pela </a:t>
                </a:r>
                <a:r>
                  <a:rPr lang="pt-BR" b="1" dirty="0">
                    <a:solidFill>
                      <a:srgbClr val="00B0F0"/>
                    </a:solidFill>
                  </a:rPr>
                  <a:t>taxa de aprendizagem</a:t>
                </a:r>
                <a:r>
                  <a:rPr lang="pt-BR"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3293"/>
                </a:stretch>
              </a:blipFill>
            </p:spPr>
            <p:txBody>
              <a:bodyPr/>
              <a:lstStyle/>
              <a:p>
                <a:r>
                  <a:rPr lang="en-US">
                    <a:noFill/>
                  </a:rPr>
                  <a:t> </a:t>
                </a:r>
              </a:p>
            </p:txBody>
          </p:sp>
        </mc:Fallback>
      </mc:AlternateContent>
      <p:grpSp>
        <p:nvGrpSpPr>
          <p:cNvPr id="9" name="Agrupar 8">
            <a:extLst>
              <a:ext uri="{FF2B5EF4-FFF2-40B4-BE49-F238E27FC236}">
                <a16:creationId xmlns:a16="http://schemas.microsoft.com/office/drawing/2014/main"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82489D92-82CF-37A2-5BFD-51D850911B3A}"/>
              </a:ext>
            </a:extLst>
          </p:cNvPr>
          <p:cNvSpPr>
            <a:spLocks noGrp="1"/>
          </p:cNvSpPr>
          <p:nvPr>
            <p:ph idx="1"/>
          </p:nvPr>
        </p:nvSpPr>
        <p:spPr>
          <a:xfrm>
            <a:off x="5897232" y="1825624"/>
            <a:ext cx="6294765" cy="5032376"/>
          </a:xfrm>
        </p:spPr>
        <p:txBody>
          <a:bodyPr>
            <a:normAutofit/>
          </a:bodyPr>
          <a:lstStyle/>
          <a:p>
            <a:r>
              <a:rPr lang="pt-BR" dirty="0"/>
              <a:t>A </a:t>
            </a:r>
            <a:r>
              <a:rPr lang="pt-BR" b="0" dirty="0">
                <a:effectLst/>
              </a:rPr>
              <a:t>taxa de aprendizagem é um </a:t>
            </a:r>
            <a:r>
              <a:rPr lang="pt-BR" b="1" dirty="0">
                <a:solidFill>
                  <a:srgbClr val="7030A0"/>
                </a:solidFill>
                <a:effectLst/>
              </a:rPr>
              <a:t>hiperparâmetro</a:t>
            </a:r>
            <a:r>
              <a:rPr lang="pt-BR" b="0" dirty="0">
                <a:effectLst/>
              </a:rPr>
              <a:t> crucial para o GD.</a:t>
            </a:r>
          </a:p>
          <a:p>
            <a:pPr lvl="1">
              <a:buFont typeface="Wingdings" panose="05000000000000000000" pitchFamily="2" charset="2"/>
              <a:buChar char="§"/>
            </a:pPr>
            <a:r>
              <a:rPr lang="pt-BR" b="1" dirty="0">
                <a:solidFill>
                  <a:srgbClr val="7030A0"/>
                </a:solidFill>
                <a:effectLst/>
              </a:rPr>
              <a:t>Hiperparâmetros</a:t>
            </a:r>
            <a:r>
              <a:rPr lang="pt-BR" dirty="0">
                <a:effectLst/>
              </a:rPr>
              <a:t> são </a:t>
            </a:r>
            <a:r>
              <a:rPr lang="pt-BR" b="0" dirty="0">
                <a:effectLst/>
              </a:rPr>
              <a:t>parâmetros do modelo que </a:t>
            </a:r>
            <a:r>
              <a:rPr lang="pt-BR" b="1" dirty="0">
                <a:solidFill>
                  <a:srgbClr val="00B050"/>
                </a:solidFill>
                <a:effectLst/>
              </a:rPr>
              <a:t>não são aprendidos durante o treinamento</a:t>
            </a:r>
            <a:r>
              <a:rPr lang="pt-BR" b="0" dirty="0">
                <a:effectLst/>
              </a:rPr>
              <a:t>, mas sim definidos antes do treinamento.</a:t>
            </a:r>
          </a:p>
          <a:p>
            <a:r>
              <a:rPr lang="pt-BR" dirty="0"/>
              <a:t>O valor da</a:t>
            </a:r>
            <a:r>
              <a:rPr lang="pt-BR" b="0" dirty="0">
                <a:effectLst/>
              </a:rPr>
              <a:t> </a:t>
            </a:r>
            <a:r>
              <a:rPr lang="pt-BR" b="1" dirty="0">
                <a:solidFill>
                  <a:srgbClr val="00B0F0"/>
                </a:solidFill>
                <a:effectLst/>
              </a:rPr>
              <a:t>taxa de aprendizagem</a:t>
            </a:r>
            <a:r>
              <a:rPr lang="pt-BR" b="1" dirty="0">
                <a:solidFill>
                  <a:srgbClr val="00B0F0"/>
                </a:solidFill>
              </a:rPr>
              <a:t> influencia diretamente o tamanho do passo</a:t>
            </a:r>
            <a:r>
              <a:rPr lang="pt-BR" dirty="0"/>
              <a:t> de aprendizagem.</a:t>
            </a:r>
          </a:p>
          <a:p>
            <a:r>
              <a:rPr lang="pt-BR" b="0" dirty="0">
                <a:effectLst/>
              </a:rPr>
              <a:t>Que conseque</a:t>
            </a:r>
            <a:r>
              <a:rPr lang="pt-BR" dirty="0"/>
              <a:t>ntemente,</a:t>
            </a:r>
            <a:r>
              <a:rPr lang="pt-BR" b="0" dirty="0">
                <a:effectLst/>
              </a:rPr>
              <a:t> </a:t>
            </a:r>
            <a:r>
              <a:rPr lang="pt-BR" b="1" dirty="0">
                <a:solidFill>
                  <a:schemeClr val="accent2"/>
                </a:solidFill>
                <a:effectLst/>
              </a:rPr>
              <a:t>influencia a velocidade e a convergência</a:t>
            </a:r>
            <a:r>
              <a:rPr lang="pt-BR" b="0" dirty="0">
                <a:effectLst/>
              </a:rPr>
              <a:t> do treinamento.</a:t>
            </a:r>
            <a:endParaRPr lang="pt-BR" dirty="0"/>
          </a:p>
        </p:txBody>
      </p:sp>
      <p:grpSp>
        <p:nvGrpSpPr>
          <p:cNvPr id="9" name="Agrupar 8">
            <a:extLst>
              <a:ext uri="{FF2B5EF4-FFF2-40B4-BE49-F238E27FC236}">
                <a16:creationId xmlns:a16="http://schemas.microsoft.com/office/drawing/2014/main"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podemos </a:t>
            </a:r>
            <a:r>
              <a:rPr lang="pt-BR" b="1" dirty="0">
                <a:solidFill>
                  <a:schemeClr val="accent2"/>
                </a:solidFill>
              </a:rPr>
              <a:t>ultrapassar</a:t>
            </a:r>
            <a:r>
              <a:rPr lang="pt-BR" dirty="0"/>
              <a:t> o ponto de mínimo.</a:t>
            </a:r>
          </a:p>
        </p:txBody>
      </p:sp>
      <p:grpSp>
        <p:nvGrpSpPr>
          <p:cNvPr id="9" name="Agrupar 8">
            <a:extLst>
              <a:ext uri="{FF2B5EF4-FFF2-40B4-BE49-F238E27FC236}">
                <a16:creationId xmlns:a16="http://schemas.microsoft.com/office/drawing/2014/main"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o processo de otimização pode ficar </a:t>
            </a:r>
            <a:r>
              <a:rPr lang="pt-BR" b="1" dirty="0">
                <a:solidFill>
                  <a:srgbClr val="00B050"/>
                </a:solidFill>
              </a:rPr>
              <a:t>ziguezagueando</a:t>
            </a:r>
            <a:r>
              <a:rPr lang="pt-BR" dirty="0"/>
              <a:t> de um lado para o outro da base da função </a:t>
            </a:r>
            <a:r>
              <a:rPr lang="pt-BR" b="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342753" cy="5032376"/>
          </a:xfrm>
        </p:spPr>
        <p:txBody>
          <a:bodyPr>
            <a:normAutofit/>
          </a:bodyPr>
          <a:lstStyle/>
          <a:p>
            <a:r>
              <a:rPr lang="pt-BR" dirty="0"/>
              <a:t>Dependendo do quão grande for o valor do passo de aprendizagem, pode ocorrer até a </a:t>
            </a:r>
            <a:r>
              <a:rPr lang="pt-BR" b="1" dirty="0">
                <a:solidFill>
                  <a:srgbClr val="00B050"/>
                </a:solidFill>
              </a:rPr>
              <a:t>divergência</a:t>
            </a:r>
            <a:r>
              <a:rPr lang="pt-BR" dirty="0"/>
              <a:t> ao invés da convergência.</a:t>
            </a:r>
          </a:p>
          <a:p>
            <a:r>
              <a:rPr lang="pt-BR" dirty="0"/>
              <a:t>Ou seja, ao invés de se aproximar do ponto de mínimo, o algoritmo </a:t>
            </a:r>
            <a:r>
              <a:rPr lang="pt-BR" b="1" dirty="0">
                <a:solidFill>
                  <a:srgbClr val="00B050"/>
                </a:solidFill>
              </a:rPr>
              <a:t>se distancia</a:t>
            </a:r>
            <a:r>
              <a:rPr lang="pt-BR" dirty="0"/>
              <a:t> dele a cada iteração.</a:t>
            </a:r>
          </a:p>
          <a:p>
            <a:r>
              <a:rPr lang="pt-BR" dirty="0"/>
              <a:t>Se isso ocorrer, após algumas iterações, ocorre o </a:t>
            </a:r>
            <a:r>
              <a:rPr lang="pt-BR" b="1" dirty="0">
                <a:solidFill>
                  <a:schemeClr val="accent2"/>
                </a:solidFill>
              </a:rPr>
              <a:t>estouro da precisão numérica </a:t>
            </a:r>
            <a:r>
              <a:rPr lang="pt-BR" dirty="0"/>
              <a:t>das variáveis envolvidas na regra de atualização dos pesos.</a:t>
            </a:r>
          </a:p>
        </p:txBody>
      </p:sp>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Outra questão, </a:t>
            </a:r>
            <a:r>
              <a:rPr lang="pt-BR" b="1" dirty="0">
                <a:solidFill>
                  <a:srgbClr val="00B050"/>
                </a:solidFill>
              </a:rPr>
              <a:t>menos problemática</a:t>
            </a:r>
            <a:r>
              <a:rPr lang="pt-BR" dirty="0"/>
              <a:t> que passos grandes, é a situação oposta.</a:t>
            </a:r>
          </a:p>
          <a:p>
            <a:r>
              <a:rPr lang="pt-BR" dirty="0"/>
              <a:t>Passos </a:t>
            </a:r>
            <a:r>
              <a:rPr lang="pt-BR" b="1" dirty="0">
                <a:solidFill>
                  <a:srgbClr val="00B050"/>
                </a:solidFill>
              </a:rPr>
              <a:t>muito pequenos</a:t>
            </a:r>
            <a:r>
              <a:rPr lang="pt-BR" dirty="0"/>
              <a:t> fazem com que se </a:t>
            </a:r>
            <a:r>
              <a:rPr lang="pt-BR" b="1" dirty="0">
                <a:solidFill>
                  <a:srgbClr val="00B050"/>
                </a:solidFill>
              </a:rPr>
              <a:t>leve muito tempo</a:t>
            </a:r>
            <a:r>
              <a:rPr lang="pt-BR" dirty="0"/>
              <a:t>, i.e., iterações, para atingir o ponto de mínimo.</a:t>
            </a:r>
          </a:p>
          <a:p>
            <a:r>
              <a:rPr lang="pt-BR" dirty="0"/>
              <a:t>Se cada iteração levar um tempo razoável para ser executada, o tempo necessário para se atingir o ponto de mínimo pode ser muito grande.</a:t>
            </a:r>
          </a:p>
          <a:p>
            <a:r>
              <a:rPr lang="pt-BR" dirty="0"/>
              <a:t>Porém, </a:t>
            </a:r>
            <a:r>
              <a:rPr lang="pt-BR" b="1" dirty="0">
                <a:solidFill>
                  <a:srgbClr val="00B050"/>
                </a:solidFill>
              </a:rPr>
              <a:t>se esperarmos </a:t>
            </a:r>
            <a:r>
              <a:rPr lang="pt-BR" dirty="0"/>
              <a:t>tempo suficiente, a </a:t>
            </a:r>
            <a:r>
              <a:rPr lang="pt-BR" b="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id="{8AA55DA5-8239-8A32-8EFE-CC711352420F}"/>
              </a:ext>
            </a:extLst>
          </p:cNvPr>
          <p:cNvSpPr>
            <a:spLocks noGrp="1"/>
          </p:cNvSpPr>
          <p:nvPr>
            <p:ph idx="1"/>
          </p:nvPr>
        </p:nvSpPr>
        <p:spPr>
          <a:xfrm>
            <a:off x="4883081" y="1825624"/>
            <a:ext cx="7308920" cy="5032376"/>
          </a:xfrm>
        </p:spPr>
        <p:txBody>
          <a:bodyPr>
            <a:normAutofit/>
          </a:bodyPr>
          <a:lstStyle/>
          <a:p>
            <a:r>
              <a:rPr lang="pt-BR" dirty="0"/>
              <a:t>É importante escolhermos um passo de aprendizagem que </a:t>
            </a:r>
            <a:r>
              <a:rPr lang="pt-BR" b="1" dirty="0">
                <a:solidFill>
                  <a:schemeClr val="accent2"/>
                </a:solidFill>
              </a:rPr>
              <a:t>acelere</a:t>
            </a:r>
            <a:r>
              <a:rPr lang="pt-BR" b="1" dirty="0">
                <a:solidFill>
                  <a:srgbClr val="00B050"/>
                </a:solidFill>
              </a:rPr>
              <a:t> a convergência </a:t>
            </a:r>
            <a:r>
              <a:rPr lang="pt-BR" b="1" dirty="0">
                <a:solidFill>
                  <a:schemeClr val="accent2"/>
                </a:solidFill>
              </a:rPr>
              <a:t>sem causar oscilações</a:t>
            </a:r>
            <a:r>
              <a:rPr lang="pt-BR" b="1" dirty="0">
                <a:solidFill>
                  <a:srgbClr val="00B050"/>
                </a:solidFill>
              </a:rPr>
              <a:t> em torno do ponto de mínimo</a:t>
            </a:r>
            <a:r>
              <a:rPr lang="pt-BR" dirty="0"/>
              <a:t>.</a:t>
            </a:r>
          </a:p>
          <a:p>
            <a:r>
              <a:rPr lang="pt-BR" dirty="0"/>
              <a:t>Em geral, um bom valor para o passo é encontrado por </a:t>
            </a:r>
            <a:r>
              <a:rPr lang="pt-BR" b="1" dirty="0">
                <a:solidFill>
                  <a:srgbClr val="7030A0"/>
                </a:solidFill>
              </a:rPr>
              <a:t>tentativa e erro ou otimização.</a:t>
            </a:r>
            <a:endParaRPr lang="pt-BR" dirty="0"/>
          </a:p>
          <a:p>
            <a:r>
              <a:rPr lang="pt-BR" dirty="0"/>
              <a:t>Uma forma mais avançada é ajustar o passo ao longo das iterações.</a:t>
            </a:r>
          </a:p>
          <a:p>
            <a:pPr lvl="1">
              <a:buFont typeface="Wingdings" panose="05000000000000000000" pitchFamily="2" charset="2"/>
              <a:buChar char="§"/>
            </a:pPr>
            <a:r>
              <a:rPr lang="pt-BR" dirty="0"/>
              <a:t>Usamos </a:t>
            </a:r>
            <a:r>
              <a:rPr lang="pt-BR" b="1" dirty="0">
                <a:solidFill>
                  <a:srgbClr val="00B050"/>
                </a:solidFill>
              </a:rPr>
              <a:t>valores maiores no início</a:t>
            </a:r>
            <a:r>
              <a:rPr lang="pt-BR" dirty="0"/>
              <a:t>, em pontos distantes do mínimo, e o </a:t>
            </a:r>
            <a:r>
              <a:rPr lang="pt-BR" b="1" dirty="0">
                <a:solidFill>
                  <a:srgbClr val="00B050"/>
                </a:solidFill>
              </a:rPr>
              <a:t>reduzimos gradualmente </a:t>
            </a:r>
            <a:r>
              <a:rPr lang="pt-BR" dirty="0"/>
              <a:t>ao longo das iterações.</a:t>
            </a:r>
          </a:p>
          <a:p>
            <a:pPr lvl="1">
              <a:buFont typeface="Wingdings" panose="05000000000000000000" pitchFamily="2" charset="2"/>
              <a:buChar char="§"/>
            </a:pPr>
            <a:r>
              <a:rPr lang="pt-BR" dirty="0"/>
              <a:t>Existem métodos que o ajustam automaticamente.</a:t>
            </a:r>
          </a:p>
        </p:txBody>
      </p:sp>
      <p:grpSp>
        <p:nvGrpSpPr>
          <p:cNvPr id="4" name="Group 3">
            <a:extLst>
              <a:ext uri="{FF2B5EF4-FFF2-40B4-BE49-F238E27FC236}">
                <a16:creationId xmlns:a16="http://schemas.microsoft.com/office/drawing/2014/main" id="{281C0929-D05A-423F-33E3-1E65503E9587}"/>
              </a:ext>
            </a:extLst>
          </p:cNvPr>
          <p:cNvGrpSpPr/>
          <p:nvPr/>
        </p:nvGrpSpPr>
        <p:grpSpPr>
          <a:xfrm>
            <a:off x="709108" y="2495097"/>
            <a:ext cx="3963570" cy="2939416"/>
            <a:chOff x="973059" y="2353695"/>
            <a:chExt cx="3963570" cy="2939416"/>
          </a:xfrm>
        </p:grpSpPr>
        <p:sp>
          <p:nvSpPr>
            <p:cNvPr id="33" name="Forma Livre: Forma 32">
              <a:extLst>
                <a:ext uri="{FF2B5EF4-FFF2-40B4-BE49-F238E27FC236}">
                  <a16:creationId xmlns:a16="http://schemas.microsoft.com/office/drawing/2014/main"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1774" t="-8197" b="-24590"/>
                  </a:stretch>
                </a:blipFill>
              </p:spPr>
              <p:txBody>
                <a:bodyPr/>
                <a:lstStyle/>
                <a:p>
                  <a:r>
                    <a:rPr lang="en-US">
                      <a:noFill/>
                    </a:rPr>
                    <a:t> </a:t>
                  </a:r>
                </a:p>
              </p:txBody>
            </p:sp>
          </mc:Fallback>
        </mc:AlternateContent>
        <p:sp>
          <p:nvSpPr>
            <p:cNvPr id="37" name="CaixaDeTexto 36">
              <a:extLst>
                <a:ext uri="{FF2B5EF4-FFF2-40B4-BE49-F238E27FC236}">
                  <a16:creationId xmlns:a16="http://schemas.microsoft.com/office/drawing/2014/main"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en-US">
                      <a:noFill/>
                    </a:rPr>
                    <a:t> </a:t>
                  </a:r>
                </a:p>
              </p:txBody>
            </p:sp>
          </mc:Fallback>
        </mc:AlternateContent>
        <p:sp>
          <p:nvSpPr>
            <p:cNvPr id="47" name="Elipse 46">
              <a:extLst>
                <a:ext uri="{FF2B5EF4-FFF2-40B4-BE49-F238E27FC236}">
                  <a16:creationId xmlns:a16="http://schemas.microsoft.com/office/drawing/2014/main"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89647539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1172863" y="3742873"/>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mc:Choice xmlns:a14="http://schemas.microsoft.com/office/drawing/2010/main" Requires="a14">
          <p:sp>
            <p:nvSpPr>
              <p:cNvPr id="4" name="Rectangle 3">
                <a:extLst>
                  <a:ext uri="{FF2B5EF4-FFF2-40B4-BE49-F238E27FC236}">
                    <a16:creationId xmlns:a16="http://schemas.microsoft.com/office/drawing/2014/main" id="{B09DE927-8E6D-630C-9389-F5DD1A3E13B4}"/>
                  </a:ext>
                </a:extLst>
              </p:cNvPr>
              <p:cNvSpPr/>
              <p:nvPr/>
            </p:nvSpPr>
            <p:spPr>
              <a:xfrm>
                <a:off x="240443" y="2004952"/>
                <a:ext cx="7675164" cy="1466363"/>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pPr/>
                <a14:m>
                  <m:oMath xmlns:m="http://schemas.openxmlformats.org/officeDocument/2006/math">
                    <m:r>
                      <a:rPr lang="pt-BR" i="1">
                        <a:latin typeface="Cambria Math" panose="02040503050406030204" pitchFamily="18" charset="0"/>
                        <a:ea typeface="Cambria Math" panose="02040503050406030204" pitchFamily="18" charset="0"/>
                      </a:rPr>
                      <m:t>𝛼</m:t>
                    </m:r>
                  </m:oMath>
                </a14:m>
                <a:r>
                  <a:rPr lang="en-US" b="1" dirty="0">
                    <a:ea typeface="Cambria Math" panose="02040503050406030204" pitchFamily="18" charset="0"/>
                  </a:rPr>
                  <a:t> </a:t>
                </a:r>
                <a14:m>
                  <m:oMath xmlns:m="http://schemas.openxmlformats.org/officeDocument/2006/math">
                    <m:r>
                      <a:rPr lang="pt-BR" b="1" i="0" dirty="0" smtClean="0">
                        <a:latin typeface="Cambria Math" panose="02040503050406030204" pitchFamily="18" charset="0"/>
                        <a:ea typeface="Cambria Math" panose="02040503050406030204" pitchFamily="18" charset="0"/>
                      </a:rPr>
                      <m:t> </m:t>
                    </m:r>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a</m:t>
                    </m:r>
                    <m:r>
                      <a:rPr lang="pt-BR" b="0" i="0" dirty="0" smtClean="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taxa</m:t>
                    </m:r>
                    <m:r>
                      <a:rPr lang="pt-BR" b="0" i="0" dirty="0" smtClean="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de</m:t>
                    </m:r>
                    <m:r>
                      <a:rPr lang="pt-BR" b="0" i="0" dirty="0" smtClean="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aprendizagem</m:t>
                    </m:r>
                    <m:r>
                      <a:rPr lang="en-US" dirty="0">
                        <a:latin typeface="Cambria Math" panose="02040503050406030204" pitchFamily="18" charset="0"/>
                        <a:ea typeface="Cambria Math" panose="02040503050406030204" pitchFamily="18" charset="0"/>
                      </a:rPr>
                      <m:t> </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dirty="0">
                    <a:solidFill>
                      <a:srgbClr val="00B0F0"/>
                    </a:solidFill>
                  </a:rPr>
                  <a:t>eq. de atualização dos pesos</a:t>
                </a:r>
                <a:r>
                  <a:rPr lang="nl-BE" dirty="0"/>
                  <a:t>)</a:t>
                </a:r>
              </a:p>
            </p:txBody>
          </p:sp>
        </mc:Choice>
        <mc:Fallback>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240443" y="2004952"/>
                <a:ext cx="7675164" cy="1466363"/>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id="{2ED9D95A-CAE0-5EC9-5B46-F1BB52462466}"/>
              </a:ext>
            </a:extLst>
          </p:cNvPr>
          <p:cNvSpPr>
            <a:spLocks noGrp="1"/>
          </p:cNvSpPr>
          <p:nvPr>
            <p:ph idx="1"/>
          </p:nvPr>
        </p:nvSpPr>
        <p:spPr>
          <a:xfrm>
            <a:off x="8003357" y="1825625"/>
            <a:ext cx="4119512" cy="4351338"/>
          </a:xfrm>
        </p:spPr>
        <p:txBody>
          <a:bodyPr/>
          <a:lstStyle/>
          <a:p>
            <a:r>
              <a:rPr lang="pt-BR" dirty="0"/>
              <a:t>A animação ao lado mostra o </a:t>
            </a:r>
            <a:r>
              <a:rPr lang="pt-BR" b="1" dirty="0">
                <a:solidFill>
                  <a:schemeClr val="accent1"/>
                </a:solidFill>
              </a:rPr>
              <a:t>gradiente descendente atualizando os pesos</a:t>
            </a:r>
            <a:r>
              <a:rPr lang="pt-BR" dirty="0"/>
              <a:t> de um </a:t>
            </a:r>
            <a:r>
              <a:rPr lang="pt-BR" b="1" dirty="0">
                <a:solidFill>
                  <a:schemeClr val="accent2"/>
                </a:solidFill>
              </a:rPr>
              <a:t>modelo</a:t>
            </a:r>
            <a:r>
              <a:rPr lang="pt-BR" dirty="0"/>
              <a:t>, no caso, uma </a:t>
            </a:r>
            <a:r>
              <a:rPr lang="pt-BR" b="1" dirty="0">
                <a:solidFill>
                  <a:schemeClr val="accent2"/>
                </a:solidFill>
              </a:rPr>
              <a:t>reta</a:t>
            </a:r>
            <a:r>
              <a:rPr lang="pt-BR" dirty="0"/>
              <a:t>, para que ele se </a:t>
            </a:r>
            <a:r>
              <a:rPr lang="pt-BR" b="1" dirty="0">
                <a:solidFill>
                  <a:srgbClr val="00B050"/>
                </a:solidFill>
              </a:rPr>
              <a:t>ajuste da melhor forma possível aos dados</a:t>
            </a:r>
            <a:r>
              <a:rPr lang="pt-BR" dirty="0"/>
              <a:t> de treinamento (pontos azuis).</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ACDD9-40E5-A4AE-278D-AF1FDC8863A4}"/>
              </a:ext>
            </a:extLst>
          </p:cNvPr>
          <p:cNvSpPr>
            <a:spLocks noGrp="1"/>
          </p:cNvSpPr>
          <p:nvPr>
            <p:ph type="title"/>
          </p:nvPr>
        </p:nvSpPr>
        <p:spPr/>
        <p:txBody>
          <a:bodyPr/>
          <a:lstStyle/>
          <a:p>
            <a:r>
              <a:rPr lang="en-US" dirty="0" err="1"/>
              <a:t>Versões</a:t>
            </a:r>
            <a:r>
              <a:rPr lang="en-US" dirty="0"/>
              <a:t> do </a:t>
            </a:r>
            <a:r>
              <a:rPr lang="en-US" dirty="0" err="1"/>
              <a:t>gradiente</a:t>
            </a:r>
            <a:r>
              <a:rPr lang="en-US" dirty="0"/>
              <a:t> </a:t>
            </a:r>
            <a:r>
              <a:rPr lang="en-US" dirty="0" err="1"/>
              <a:t>descendente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0ECCFF5-5C4A-6AD6-A038-D9C133F0B029}"/>
                  </a:ext>
                </a:extLst>
              </p:cNvPr>
              <p:cNvSpPr>
                <a:spLocks noGrp="1"/>
              </p:cNvSpPr>
              <p:nvPr>
                <p:ph idx="1"/>
              </p:nvPr>
            </p:nvSpPr>
            <p:spPr>
              <a:xfrm>
                <a:off x="838199" y="1825624"/>
                <a:ext cx="11173179" cy="5032375"/>
              </a:xfrm>
            </p:spPr>
            <p:txBody>
              <a:bodyPr>
                <a:normAutofit/>
              </a:bodyPr>
              <a:lstStyle/>
              <a:p>
                <a:r>
                  <a:rPr lang="pt-BR" dirty="0"/>
                  <a:t>O GD pode ser implementado de </a:t>
                </a:r>
                <a:r>
                  <a:rPr lang="pt-BR" b="1" dirty="0"/>
                  <a:t>3 formas diferentes dependendo de como calculamos o vetor gradiente</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a:t>
                </a:r>
                <a:r>
                  <a:rPr lang="pt-BR" b="1" dirty="0">
                    <a:solidFill>
                      <a:schemeClr val="accent2"/>
                    </a:solidFill>
                  </a:rPr>
                  <a:t>EQM como função de erro e um hiperplano como função hipótese</a:t>
                </a:r>
              </a:p>
              <a:p>
                <a:pPr marL="0" indent="0">
                  <a:buNone/>
                </a:pPr>
                <a14:m>
                  <m:oMathPara xmlns:m="http://schemas.openxmlformats.org/officeDocument/2006/math">
                    <m:o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a:t>
                </a:r>
              </a:p>
            </p:txBody>
          </p:sp>
        </mc:Choice>
        <mc:Fallback xmlns="">
          <p:sp>
            <p:nvSpPr>
              <p:cNvPr id="3" name="Content Placeholder 2">
                <a:extLst>
                  <a:ext uri="{FF2B5EF4-FFF2-40B4-BE49-F238E27FC236}">
                    <a16:creationId xmlns:a16="http://schemas.microsoft.com/office/drawing/2014/main"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173179" cy="5032375"/>
              </a:xfrm>
              <a:blipFill>
                <a:blip r:embed="rId2"/>
                <a:stretch>
                  <a:fillRect l="-1091" t="-1937"/>
                </a:stretch>
              </a:blipFill>
            </p:spPr>
            <p:txBody>
              <a:bodyPr/>
              <a:lstStyle/>
              <a:p>
                <a:r>
                  <a:rPr lang="pt-BR">
                    <a:noFill/>
                  </a:rPr>
                  <a:t> </a:t>
                </a:r>
              </a:p>
            </p:txBody>
          </p:sp>
        </mc:Fallback>
      </mc:AlternateContent>
      <p:sp>
        <p:nvSpPr>
          <p:cNvPr id="4" name="Chave Direita 3">
            <a:extLst>
              <a:ext uri="{FF2B5EF4-FFF2-40B4-BE49-F238E27FC236}">
                <a16:creationId xmlns:a16="http://schemas.microsoft.com/office/drawing/2014/main" id="{021EE6D7-9930-A65A-DD1C-3A4F859A185C}"/>
              </a:ext>
            </a:extLst>
          </p:cNvPr>
          <p:cNvSpPr/>
          <p:nvPr/>
        </p:nvSpPr>
        <p:spPr>
          <a:xfrm rot="5400000">
            <a:off x="5001884" y="3272426"/>
            <a:ext cx="227011" cy="441789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
                      <m:f>
                        <m:fPr>
                          <m:ctrlPr>
                            <a:rPr lang="pt-BR" i="0" smtClean="0">
                              <a:latin typeface="Cambria Math" panose="02040503050406030204" pitchFamily="18" charset="0"/>
                            </a:rPr>
                          </m:ctrlPr>
                        </m:fPr>
                        <m:num>
                          <m:r>
                            <a:rPr lang="pt-BR" i="0" smtClean="0">
                              <a:latin typeface="Cambria Math" panose="02040503050406030204" pitchFamily="18" charset="0"/>
                            </a:rPr>
                            <m:t>𝜕</m:t>
                          </m:r>
                          <m:sSub>
                            <m:sSubPr>
                              <m:ctrlPr>
                                <a:rPr lang="pt-BR" smtClean="0">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b="1" smtClean="0">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smtClean="0">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i="1" smtClean="0">
                              <a:latin typeface="Cambria Math" panose="02040503050406030204" pitchFamily="18" charset="0"/>
                            </a:rPr>
                          </m:ctrlPr>
                        </m:dPr>
                        <m:e>
                          <m:f>
                            <m:fPr>
                              <m:ctrlPr>
                                <a:rPr lang="pt-BR" smtClean="0">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b="0"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b="0" i="1" smtClean="0">
                                      <a:latin typeface="Cambria Math" panose="02040503050406030204" pitchFamily="18" charset="0"/>
                                    </a:rPr>
                                  </m:ctrlPr>
                                </m:sSupPr>
                                <m:e>
                                  <m:d>
                                    <m:dPr>
                                      <m:ctrlPr>
                                        <a:rPr lang="pt-BR" b="0" smtClean="0">
                                          <a:latin typeface="Cambria Math" panose="02040503050406030204" pitchFamily="18" charset="0"/>
                                        </a:rPr>
                                      </m:ctrlPr>
                                    </m:dPr>
                                    <m:e>
                                      <m:r>
                                        <a:rPr lang="pt-BR" b="0" smtClean="0">
                                          <a:latin typeface="Cambria Math" panose="02040503050406030204" pitchFamily="18" charset="0"/>
                                        </a:rPr>
                                        <m:t>𝑦</m:t>
                                      </m:r>
                                      <m:d>
                                        <m:dPr>
                                          <m:ctrlPr>
                                            <a:rPr lang="pt-BR" b="0"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smtClean="0">
                                              <a:latin typeface="Cambria Math" panose="02040503050406030204" pitchFamily="18" charset="0"/>
                                            </a:rPr>
                                          </m:ctrlPr>
                                        </m:accPr>
                                        <m:e>
                                          <m:r>
                                            <a:rPr lang="pt-BR" smtClean="0">
                                              <a:latin typeface="Cambria Math" panose="02040503050406030204" pitchFamily="18" charset="0"/>
                                            </a:rPr>
                                            <m:t>𝑦</m:t>
                                          </m:r>
                                        </m:e>
                                      </m:acc>
                                      <m:d>
                                        <m:dPr>
                                          <m:ctrlPr>
                                            <a:rPr lang="pt-BR" smtClean="0">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r>
                        <a:rPr lang="pt-BR" b="1" i="1" smtClean="0">
                          <a:latin typeface="Cambria Math" panose="02040503050406030204" pitchFamily="18" charset="0"/>
                        </a:rPr>
                        <m:t>=</m:t>
                      </m:r>
                      <m:f>
                        <m:fPr>
                          <m:ctrlPr>
                            <a:rPr lang="pt-BR">
                              <a:latin typeface="Cambria Math" panose="02040503050406030204" pitchFamily="18" charset="0"/>
                            </a:rPr>
                          </m:ctrlPr>
                        </m:fPr>
                        <m:num>
                          <m:r>
                            <a:rPr lang="pt-BR">
                              <a:latin typeface="Cambria Math" panose="02040503050406030204" pitchFamily="18" charset="0"/>
                            </a:rPr>
                            <m:t>1</m:t>
                          </m:r>
                        </m:num>
                        <m:den>
                          <m:r>
                            <a:rPr lang="pt-BR">
                              <a:latin typeface="Cambria Math" panose="02040503050406030204" pitchFamily="18" charset="0"/>
                            </a:rPr>
                            <m:t>𝑁</m:t>
                          </m:r>
                        </m:den>
                      </m:f>
                      <m:nary>
                        <m:naryPr>
                          <m:chr m:val="∑"/>
                          <m:ctrlPr>
                            <a:rPr lang="pt-BR">
                              <a:latin typeface="Cambria Math" panose="02040503050406030204" pitchFamily="18" charset="0"/>
                            </a:rPr>
                          </m:ctrlPr>
                        </m:naryPr>
                        <m:sub>
                          <m:r>
                            <m:rPr>
                              <m:brk m:alnAt="23"/>
                            </m:rPr>
                            <a:rPr lang="pt-BR">
                              <a:latin typeface="Cambria Math" panose="02040503050406030204" pitchFamily="18" charset="0"/>
                            </a:rPr>
                            <m:t>𝑛</m:t>
                          </m:r>
                          <m:r>
                            <a:rPr lang="pt-BR">
                              <a:latin typeface="Cambria Math" panose="02040503050406030204" pitchFamily="18" charset="0"/>
                            </a:rPr>
                            <m:t>=0</m:t>
                          </m:r>
                        </m:sub>
                        <m:sup>
                          <m:r>
                            <a:rPr lang="pt-BR">
                              <a:latin typeface="Cambria Math" panose="02040503050406030204" pitchFamily="18" charset="0"/>
                            </a:rPr>
                            <m:t>𝑁</m:t>
                          </m:r>
                          <m:r>
                            <a:rPr lang="pt-BR">
                              <a:latin typeface="Cambria Math" panose="02040503050406030204" pitchFamily="18" charset="0"/>
                            </a:rPr>
                            <m:t>−1</m:t>
                          </m:r>
                        </m:sup>
                        <m:e>
                          <m:d>
                            <m:dPr>
                              <m:begChr m:val="["/>
                              <m:endChr m:val="]"/>
                              <m:ctrlPr>
                                <a:rPr lang="pt-BR" i="1">
                                  <a:latin typeface="Cambria Math" panose="02040503050406030204" pitchFamily="18" charset="0"/>
                                </a:rPr>
                              </m:ctrlPr>
                            </m:dPr>
                            <m:e>
                              <m:sSup>
                                <m:sSupPr>
                                  <m:ctrlPr>
                                    <a:rPr lang="pt-BR" i="1">
                                      <a:latin typeface="Cambria Math" panose="02040503050406030204" pitchFamily="18" charset="0"/>
                                    </a:rPr>
                                  </m:ctrlPr>
                                </m:sSupPr>
                                <m:e>
                                  <m:f>
                                    <m:fPr>
                                      <m:ctrlPr>
                                        <a:rPr lang="pt-BR">
                                          <a:latin typeface="Cambria Math" panose="02040503050406030204" pitchFamily="18" charset="0"/>
                                        </a:rPr>
                                      </m:ctrlPr>
                                    </m:fPr>
                                    <m:num>
                                      <m:r>
                                        <a:rPr lang="pt-BR">
                                          <a:latin typeface="Cambria Math" panose="02040503050406030204" pitchFamily="18" charset="0"/>
                                        </a:rPr>
                                        <m:t>𝜕</m:t>
                                      </m:r>
                                    </m:num>
                                    <m:den>
                                      <m:r>
                                        <a:rPr lang="pt-BR">
                                          <a:latin typeface="Cambria Math" panose="02040503050406030204" pitchFamily="18" charset="0"/>
                                        </a:rPr>
                                        <m:t>𝜕</m:t>
                                      </m:r>
                                      <m:r>
                                        <a:rPr lang="pt-BR" b="1">
                                          <a:latin typeface="Cambria Math" panose="02040503050406030204" pitchFamily="18" charset="0"/>
                                        </a:rPr>
                                        <m:t>𝒂</m:t>
                                      </m:r>
                                    </m:den>
                                  </m:f>
                                  <m:d>
                                    <m:dPr>
                                      <m:ctrlPr>
                                        <a:rPr lang="pt-BR">
                                          <a:latin typeface="Cambria Math" panose="02040503050406030204" pitchFamily="18" charset="0"/>
                                        </a:rPr>
                                      </m:ctrlPr>
                                    </m:dPr>
                                    <m:e>
                                      <m:r>
                                        <a:rPr lang="pt-BR">
                                          <a:latin typeface="Cambria Math" panose="02040503050406030204" pitchFamily="18" charset="0"/>
                                        </a:rPr>
                                        <m:t>𝑦</m:t>
                                      </m:r>
                                      <m:d>
                                        <m:dPr>
                                          <m:ctrlPr>
                                            <a:rPr lang="pt-BR">
                                              <a:latin typeface="Cambria Math" panose="02040503050406030204" pitchFamily="18" charset="0"/>
                                            </a:rPr>
                                          </m:ctrlPr>
                                        </m:dPr>
                                        <m:e>
                                          <m:r>
                                            <a:rPr lang="pt-BR">
                                              <a:latin typeface="Cambria Math" panose="02040503050406030204" pitchFamily="18" charset="0"/>
                                            </a:rPr>
                                            <m:t>𝑛</m:t>
                                          </m:r>
                                        </m:e>
                                      </m:d>
                                      <m:r>
                                        <a:rPr lang="pt-BR">
                                          <a:latin typeface="Cambria Math" panose="02040503050406030204" pitchFamily="18" charset="0"/>
                                        </a:rPr>
                                        <m:t>−</m:t>
                                      </m:r>
                                      <m:acc>
                                        <m:accPr>
                                          <m:chr m:val="̂"/>
                                          <m:ctrlPr>
                                            <a:rPr lang="pt-BR">
                                              <a:latin typeface="Cambria Math" panose="02040503050406030204" pitchFamily="18" charset="0"/>
                                            </a:rPr>
                                          </m:ctrlPr>
                                        </m:accPr>
                                        <m:e>
                                          <m:r>
                                            <a:rPr lang="pt-BR">
                                              <a:latin typeface="Cambria Math" panose="02040503050406030204" pitchFamily="18" charset="0"/>
                                            </a:rPr>
                                            <m:t>𝑦</m:t>
                                          </m:r>
                                        </m:e>
                                      </m:acc>
                                      <m:d>
                                        <m:dPr>
                                          <m:ctrlPr>
                                            <a:rPr lang="pt-BR">
                                              <a:latin typeface="Cambria Math" panose="02040503050406030204" pitchFamily="18" charset="0"/>
                                            </a:rPr>
                                          </m:ctrlPr>
                                        </m:dPr>
                                        <m:e>
                                          <m:r>
                                            <a:rPr lang="pt-BR">
                                              <a:latin typeface="Cambria Math" panose="02040503050406030204" pitchFamily="18" charset="0"/>
                                            </a:rPr>
                                            <m:t>𝑛</m:t>
                                          </m:r>
                                        </m:e>
                                      </m:d>
                                    </m:e>
                                  </m:d>
                                </m:e>
                                <m:sup>
                                  <m:r>
                                    <a:rPr lang="pt-BR">
                                      <a:latin typeface="Cambria Math" panose="02040503050406030204" pitchFamily="18" charset="0"/>
                                    </a:rPr>
                                    <m:t>2</m:t>
                                  </m:r>
                                </m:sup>
                              </m:sSup>
                            </m:e>
                          </m:d>
                        </m:e>
                      </m:nary>
                    </m:oMath>
                  </m:oMathPara>
                </a14:m>
                <a:endParaRPr lang="pt-BR" b="1" dirty="0">
                  <a:latin typeface="Cambria Math" panose="02040503050406030204" pitchFamily="18" charset="0"/>
                </a:endParaRPr>
              </a:p>
              <a:p>
                <a:pPr marL="0" indent="0">
                  <a:buNone/>
                </a:pPr>
                <a14:m>
                  <m:oMathPara xmlns:m="http://schemas.openxmlformats.org/officeDocument/2006/math">
                    <m:oMath>
                      <m:r>
                        <a:rPr lang="pt-BR" b="1" smtClean="0">
                          <a:latin typeface="Cambria Math" panose="02040503050406030204" pitchFamily="18" charset="0"/>
                        </a:rPr>
                        <m:t>=</m:t>
                      </m:r>
                      <m:r>
                        <a:rPr lang="pt-BR" b="0" smtClean="0">
                          <a:latin typeface="Cambria Math" panose="02040503050406030204" pitchFamily="18" charset="0"/>
                        </a:rPr>
                        <m:t>−</m:t>
                      </m:r>
                      <m:f>
                        <m:fPr>
                          <m:ctrlPr>
                            <a:rPr lang="pt-BR" b="0" smtClean="0">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b="0" smtClean="0">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smtClean="0">
                                  <a:latin typeface="Cambria Math" panose="02040503050406030204" pitchFamily="18" charset="0"/>
                                </a:rPr>
                              </m:ctrlPr>
                            </m:dPr>
                            <m:e>
                              <m:r>
                                <a:rPr lang="pt-BR" smtClean="0">
                                  <a:latin typeface="Cambria Math" panose="02040503050406030204" pitchFamily="18" charset="0"/>
                                </a:rPr>
                                <m:t>𝑦</m:t>
                              </m:r>
                              <m:d>
                                <m:dPr>
                                  <m:ctrlPr>
                                    <a:rPr lang="pt-BR" b="0" smtClean="0">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smtClean="0">
                                      <a:latin typeface="Cambria Math" panose="02040503050406030204" pitchFamily="18" charset="0"/>
                                    </a:rPr>
                                  </m:ctrlPr>
                                </m:accPr>
                                <m:e>
                                  <m:r>
                                    <a:rPr lang="pt-BR" smtClean="0">
                                      <a:latin typeface="Cambria Math" panose="02040503050406030204" pitchFamily="18" charset="0"/>
                                    </a:rPr>
                                    <m:t>𝑦</m:t>
                                  </m:r>
                                </m:e>
                              </m:acc>
                              <m:d>
                                <m:dPr>
                                  <m:ctrlPr>
                                    <a:rPr lang="pt-BR" smtClean="0">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smtClean="0">
                              <a:latin typeface="Cambria Math" panose="02040503050406030204" pitchFamily="18" charset="0"/>
                            </a:rPr>
                          </m:ctrlPr>
                        </m:sSupPr>
                        <m:e>
                          <m:r>
                            <a:rPr lang="pt-BR" smtClean="0">
                              <a:latin typeface="Cambria Math" panose="02040503050406030204" pitchFamily="18" charset="0"/>
                            </a:rPr>
                            <m:t>−</m:t>
                          </m:r>
                          <m:f>
                            <m:fPr>
                              <m:ctrlPr>
                                <a:rPr lang="pt-BR" b="0" smtClean="0">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b="1" smtClean="0">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b="1" smtClean="0">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dirty="0"/>
                  <a:t>Usamos um </a:t>
                </a:r>
                <a:r>
                  <a:rPr lang="pt-BR" b="1" dirty="0">
                    <a:solidFill>
                      <a:schemeClr val="accent2"/>
                    </a:solidFill>
                  </a:rPr>
                  <a:t>hiperplano</a:t>
                </a:r>
                <a:r>
                  <a:rPr lang="pt-BR" dirty="0"/>
                  <a:t> para encontrar o vetor gradiente, mas todos os resultados e conclusões </a:t>
                </a:r>
                <a:r>
                  <a:rPr lang="nl-BE" dirty="0"/>
                  <a:t>podem ser diretamente estendidos a polinômios.</a:t>
                </a:r>
              </a:p>
              <a:p>
                <a:r>
                  <a:rPr lang="pt-BR" dirty="0"/>
                  <a:t>Notem que o </a:t>
                </a:r>
                <a:r>
                  <a:rPr lang="pt-BR" b="1" dirty="0">
                    <a:solidFill>
                      <a:srgbClr val="00B050"/>
                    </a:solidFill>
                  </a:rPr>
                  <a:t>vetor</a:t>
                </a:r>
                <a:r>
                  <a:rPr lang="pt-BR" dirty="0"/>
                  <a:t> </a:t>
                </a:r>
                <a:r>
                  <a:rPr lang="pt-BR" b="1" dirty="0">
                    <a:solidFill>
                      <a:srgbClr val="00B050"/>
                    </a:solidFill>
                  </a:rPr>
                  <a:t>gradiente</a:t>
                </a:r>
                <a:r>
                  <a:rPr lang="pt-BR" dirty="0"/>
                  <a:t> é a </a:t>
                </a:r>
                <a:r>
                  <a:rPr lang="pt-BR" b="1" dirty="0">
                    <a:solidFill>
                      <a:srgbClr val="7030A0"/>
                    </a:solidFill>
                  </a:rPr>
                  <a:t>média</a:t>
                </a:r>
                <a:r>
                  <a:rPr lang="pt-BR" b="1" dirty="0">
                    <a:solidFill>
                      <a:srgbClr val="00B050"/>
                    </a:solidFill>
                  </a:rPr>
                  <a:t> dos gradientes </a:t>
                </a:r>
                <a:r>
                  <a:rPr lang="pt-BR" dirty="0"/>
                  <a:t>de todos os exemplos de treinamento.</a:t>
                </a: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2"/>
                <a:stretch>
                  <a:fillRect l="-913" t="-2041"/>
                </a:stretch>
              </a:blipFill>
            </p:spPr>
            <p:txBody>
              <a:bodyPr/>
              <a:lstStyle/>
              <a:p>
                <a:r>
                  <a:rPr lang="en-US">
                    <a:noFill/>
                  </a:rPr>
                  <a:t> </a:t>
                </a:r>
              </a:p>
            </p:txBody>
          </p:sp>
        </mc:Fallback>
      </mc:AlternateContent>
    </p:spTree>
    <p:extLst>
      <p:ext uri="{BB962C8B-B14F-4D97-AF65-F5344CB8AC3E}">
        <p14:creationId xmlns:p14="http://schemas.microsoft.com/office/powerpoint/2010/main" val="55843128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Interpretação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lnSpcReduction="10000"/>
              </a:bodyPr>
              <a:lstStyle/>
              <a:p>
                <a:pPr marL="0" indent="0">
                  <a:buNone/>
                </a:pPr>
                <a14:m>
                  <m:oMathPara xmlns:m="http://schemas.openxmlformats.org/officeDocument/2006/math">
                    <m:oMath>
                      <m:f>
                        <m:fPr>
                          <m:ctrlPr>
                            <a:rPr lang="pt-BR" i="0" smtClean="0">
                              <a:latin typeface="Cambria Math" panose="02040503050406030204" pitchFamily="18" charset="0"/>
                            </a:rPr>
                          </m:ctrlPr>
                        </m:fPr>
                        <m:num>
                          <m:r>
                            <a:rPr lang="pt-BR" i="0" smtClean="0">
                              <a:latin typeface="Cambria Math" panose="02040503050406030204" pitchFamily="18" charset="0"/>
                            </a:rPr>
                            <m:t>𝜕</m:t>
                          </m:r>
                          <m:sSub>
                            <m:sSubPr>
                              <m:ctrlPr>
                                <a:rPr lang="pt-BR" smtClean="0">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b="1" smtClean="0">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r>
                        <a:rPr lang="pt-BR" b="0" smtClean="0">
                          <a:latin typeface="Cambria Math" panose="02040503050406030204" pitchFamily="18" charset="0"/>
                        </a:rPr>
                        <m:t>−</m:t>
                      </m:r>
                      <m:f>
                        <m:fPr>
                          <m:ctrlPr>
                            <a:rPr lang="pt-BR" b="0" smtClean="0">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b="0" smtClean="0">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smtClean="0">
                                  <a:latin typeface="Cambria Math" panose="02040503050406030204" pitchFamily="18" charset="0"/>
                                </a:rPr>
                              </m:ctrlPr>
                            </m:dPr>
                            <m:e>
                              <m:r>
                                <a:rPr lang="pt-BR" smtClean="0">
                                  <a:latin typeface="Cambria Math" panose="02040503050406030204" pitchFamily="18" charset="0"/>
                                </a:rPr>
                                <m:t>𝑦</m:t>
                              </m:r>
                              <m:d>
                                <m:dPr>
                                  <m:ctrlPr>
                                    <a:rPr lang="pt-BR" b="0" smtClean="0">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smtClean="0">
                                      <a:latin typeface="Cambria Math" panose="02040503050406030204" pitchFamily="18" charset="0"/>
                                    </a:rPr>
                                  </m:ctrlPr>
                                </m:accPr>
                                <m:e>
                                  <m:r>
                                    <a:rPr lang="pt-BR" smtClean="0">
                                      <a:latin typeface="Cambria Math" panose="02040503050406030204" pitchFamily="18" charset="0"/>
                                    </a:rPr>
                                    <m:t>𝑦</m:t>
                                  </m:r>
                                </m:e>
                              </m:acc>
                              <m:d>
                                <m:dPr>
                                  <m:ctrlPr>
                                    <a:rPr lang="pt-BR" smtClean="0">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smtClean="0">
                                  <a:latin typeface="Cambria Math" panose="02040503050406030204" pitchFamily="18" charset="0"/>
                                </a:rPr>
                              </m:ctrlPr>
                            </m:dPr>
                            <m:e>
                              <m:r>
                                <a:rPr lang="pt-BR" b="0" smtClean="0">
                                  <a:latin typeface="Cambria Math" panose="02040503050406030204" pitchFamily="18" charset="0"/>
                                </a:rPr>
                                <m:t>𝑛</m:t>
                              </m:r>
                            </m:e>
                          </m:d>
                        </m:e>
                      </m:nary>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f>
                            <m:fPr>
                              <m:ctrlPr>
                                <a:rPr lang="pt-BR">
                                  <a:latin typeface="Cambria Math" panose="02040503050406030204" pitchFamily="18" charset="0"/>
                                </a:rPr>
                              </m:ctrlPr>
                            </m:fPr>
                            <m:num>
                              <m:r>
                                <a:rPr lang="pt-BR">
                                  <a:latin typeface="Cambria Math" panose="02040503050406030204" pitchFamily="18" charset="0"/>
                                </a:rPr>
                                <m:t>𝜕</m:t>
                              </m:r>
                              <m:sSub>
                                <m:sSubPr>
                                  <m:ctrlPr>
                                    <a:rPr lang="pt-BR">
                                      <a:latin typeface="Cambria Math" panose="02040503050406030204" pitchFamily="18" charset="0"/>
                                    </a:rPr>
                                  </m:ctrlPr>
                                </m:sSubPr>
                                <m:e>
                                  <m:r>
                                    <a:rPr lang="pt-BR">
                                      <a:latin typeface="Cambria Math" panose="02040503050406030204" pitchFamily="18" charset="0"/>
                                    </a:rPr>
                                    <m:t>𝐽</m:t>
                                  </m:r>
                                </m:e>
                                <m:sub>
                                  <m:r>
                                    <a:rPr lang="pt-BR">
                                      <a:latin typeface="Cambria Math" panose="02040503050406030204" pitchFamily="18" charset="0"/>
                                    </a:rPr>
                                    <m:t>𝑒</m:t>
                                  </m:r>
                                </m:sub>
                              </m:sSub>
                              <m:d>
                                <m:dPr>
                                  <m:ctrlPr>
                                    <a:rPr lang="pt-BR" b="1">
                                      <a:latin typeface="Cambria Math" panose="02040503050406030204" pitchFamily="18" charset="0"/>
                                    </a:rPr>
                                  </m:ctrlPr>
                                </m:dPr>
                                <m:e>
                                  <m:r>
                                    <a:rPr lang="pt-BR" b="1">
                                      <a:latin typeface="Cambria Math" panose="02040503050406030204" pitchFamily="18" charset="0"/>
                                    </a:rPr>
                                    <m:t>𝒂</m:t>
                                  </m:r>
                                </m:e>
                              </m:d>
                            </m:num>
                            <m:den>
                              <m:r>
                                <a:rPr lang="pt-BR">
                                  <a:latin typeface="Cambria Math" panose="02040503050406030204" pitchFamily="18" charset="0"/>
                                </a:rPr>
                                <m:t>𝜕</m:t>
                              </m:r>
                              <m:r>
                                <a:rPr lang="pt-BR" b="1">
                                  <a:latin typeface="Cambria Math" panose="02040503050406030204" pitchFamily="18" charset="0"/>
                                </a:rPr>
                                <m:t>𝒂</m:t>
                              </m:r>
                            </m:den>
                          </m:f>
                        </m:e>
                        <m:sub>
                          <m:r>
                            <m:rPr>
                              <m:sty m:val="p"/>
                            </m:rPr>
                            <a:rPr lang="pt-BR" b="0" i="0" smtClean="0">
                              <a:latin typeface="Cambria Math" panose="02040503050406030204" pitchFamily="18" charset="0"/>
                            </a:rPr>
                            <m:t>verdadeiro</m:t>
                          </m:r>
                        </m:sub>
                      </m:sSub>
                      <m:r>
                        <a:rPr lang="pt-BR" b="0" i="1" smtClean="0">
                          <a:latin typeface="Cambria Math" panose="02040503050406030204" pitchFamily="18" charset="0"/>
                        </a:rPr>
                        <m:t>+</m:t>
                      </m:r>
                      <m:r>
                        <m:rPr>
                          <m:sty m:val="p"/>
                        </m:rPr>
                        <a:rPr lang="pt-BR" b="0" i="0" smtClean="0">
                          <a:latin typeface="Cambria Math" panose="02040503050406030204" pitchFamily="18" charset="0"/>
                        </a:rPr>
                        <m:t>ru</m:t>
                      </m:r>
                      <m:r>
                        <a:rPr lang="pt-BR" b="0" i="0" smtClean="0">
                          <a:latin typeface="Cambria Math" panose="02040503050406030204" pitchFamily="18" charset="0"/>
                        </a:rPr>
                        <m:t>í</m:t>
                      </m:r>
                      <m:r>
                        <m:rPr>
                          <m:sty m:val="p"/>
                        </m:rPr>
                        <a:rPr lang="pt-BR" b="0" i="0" smtClean="0">
                          <a:latin typeface="Cambria Math" panose="02040503050406030204" pitchFamily="18" charset="0"/>
                        </a:rPr>
                        <m:t>do</m:t>
                      </m:r>
                      <m:r>
                        <a:rPr lang="pt-BR" b="0" i="0" smtClean="0">
                          <a:latin typeface="Cambria Math" panose="02040503050406030204" pitchFamily="18" charset="0"/>
                        </a:rPr>
                        <m:t>.</m:t>
                      </m:r>
                    </m:oMath>
                  </m:oMathPara>
                </a14:m>
                <a:endParaRPr lang="pt-BR" dirty="0"/>
              </a:p>
              <a:p>
                <a:r>
                  <a:rPr lang="pt-BR" dirty="0"/>
                  <a:t>Cada </a:t>
                </a:r>
                <a:r>
                  <a:rPr lang="pt-BR" b="1" dirty="0">
                    <a:solidFill>
                      <a:srgbClr val="00B050"/>
                    </a:solidFill>
                  </a:rPr>
                  <a:t>termo do somatório </a:t>
                </a:r>
                <a:r>
                  <a:rPr lang="pt-BR" dirty="0"/>
                  <a:t>mostra como cada </a:t>
                </a:r>
                <a:r>
                  <a:rPr lang="pt-BR" b="1" dirty="0">
                    <a:solidFill>
                      <a:srgbClr val="00B050"/>
                    </a:solidFill>
                  </a:rPr>
                  <a:t>vetor de atributos contribui para o erro</a:t>
                </a:r>
                <a:r>
                  <a:rPr lang="pt-BR" dirty="0"/>
                  <a:t>.</a:t>
                </a:r>
              </a:p>
              <a:p>
                <a:r>
                  <a:rPr lang="pt-BR" dirty="0"/>
                  <a:t>No contexto do GD, o termo indica a </a:t>
                </a:r>
                <a:r>
                  <a:rPr lang="pt-BR" b="1" dirty="0">
                    <a:solidFill>
                      <a:srgbClr val="00B0F0"/>
                    </a:solidFill>
                  </a:rPr>
                  <a:t>força</a:t>
                </a:r>
                <a:r>
                  <a:rPr lang="pt-BR" dirty="0"/>
                  <a:t> com que </a:t>
                </a:r>
                <a:r>
                  <a:rPr lang="pt-BR" b="1" dirty="0">
                    <a:solidFill>
                      <a:schemeClr val="accent2"/>
                    </a:solidFill>
                  </a:rPr>
                  <a:t>cada amostra atualiza os pesos</a:t>
                </a:r>
                <a:r>
                  <a:rPr lang="pt-BR" dirty="0"/>
                  <a:t>.</a:t>
                </a:r>
              </a:p>
              <a:p>
                <a:pPr lvl="1">
                  <a:buFont typeface="Wingdings" panose="05000000000000000000" pitchFamily="2" charset="2"/>
                  <a:buChar char="§"/>
                </a:pPr>
                <a:r>
                  <a:rPr lang="pt-BR" dirty="0"/>
                  <a:t>O gradiente é a </a:t>
                </a:r>
                <a:r>
                  <a:rPr lang="pt-BR" b="1" dirty="0">
                    <a:solidFill>
                      <a:srgbClr val="7030A0"/>
                    </a:solidFill>
                  </a:rPr>
                  <a:t>média</a:t>
                </a:r>
                <a:r>
                  <a:rPr lang="pt-BR" dirty="0"/>
                  <a:t> das forças de correção vindas de todas as amostras.</a:t>
                </a:r>
                <a:endParaRPr lang="pt-BR" b="1" dirty="0">
                  <a:solidFill>
                    <a:srgbClr val="FF0000"/>
                  </a:solidFill>
                </a:endParaRPr>
              </a:p>
              <a:p>
                <a:r>
                  <a:rPr lang="pt-BR" dirty="0"/>
                  <a:t>Assim, quanto </a:t>
                </a:r>
                <a:r>
                  <a:rPr lang="pt-BR" b="1" dirty="0">
                    <a:solidFill>
                      <a:srgbClr val="7030A0"/>
                    </a:solidFill>
                  </a:rPr>
                  <a:t>menos amostras</a:t>
                </a:r>
                <a:r>
                  <a:rPr lang="pt-BR" dirty="0"/>
                  <a:t>, </a:t>
                </a:r>
                <a:r>
                  <a:rPr lang="pt-BR" b="1" dirty="0">
                    <a:solidFill>
                      <a:srgbClr val="7030A0"/>
                    </a:solidFill>
                  </a:rPr>
                  <a:t>maior a variância </a:t>
                </a:r>
                <a:r>
                  <a:rPr lang="pt-BR" dirty="0"/>
                  <a:t>do gradiente.</a:t>
                </a:r>
              </a:p>
              <a:p>
                <a:pPr lvl="1">
                  <a:buFont typeface="Wingdings" panose="05000000000000000000" pitchFamily="2" charset="2"/>
                  <a:buChar char="§"/>
                </a:pPr>
                <a:r>
                  <a:rPr lang="pt-BR" dirty="0"/>
                  <a:t>Cada termo pode apontar para longe do valor verdadeiro da média: </a:t>
                </a:r>
                <a:r>
                  <a:rPr lang="en-US" dirty="0" err="1"/>
                  <a:t>direção</a:t>
                </a:r>
                <a:r>
                  <a:rPr lang="en-US" dirty="0"/>
                  <a:t> “torta”</a:t>
                </a:r>
                <a:r>
                  <a:rPr lang="pt-BR" dirty="0"/>
                  <a:t>.</a:t>
                </a:r>
              </a:p>
              <a:p>
                <a:r>
                  <a:rPr lang="pt-BR" dirty="0"/>
                  <a:t>É como se tivéssemos o </a:t>
                </a:r>
                <a:r>
                  <a:rPr lang="pt-BR" b="1" dirty="0">
                    <a:solidFill>
                      <a:srgbClr val="92D050"/>
                    </a:solidFill>
                  </a:rPr>
                  <a:t>valor verdadeiro mais um ruído</a:t>
                </a:r>
                <a:r>
                  <a:rPr lang="pt-BR" dirty="0"/>
                  <a:t>, que tem variância alta quando </a:t>
                </a:r>
                <a14:m>
                  <m:oMath xmlns:m="http://schemas.openxmlformats.org/officeDocument/2006/math">
                    <m:r>
                      <a:rPr lang="pt-BR" b="0" i="1" smtClean="0">
                        <a:latin typeface="Cambria Math" panose="02040503050406030204" pitchFamily="18" charset="0"/>
                      </a:rPr>
                      <m:t>𝑁</m:t>
                    </m:r>
                  </m:oMath>
                </a14:m>
                <a:r>
                  <a:rPr lang="pt-BR" dirty="0"/>
                  <a:t> é pequeno.</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rotWithShape="0">
                <a:blip r:embed="rId3"/>
                <a:stretch>
                  <a:fillRect l="-913" r="-1181"/>
                </a:stretch>
              </a:blipFill>
            </p:spPr>
            <p:txBody>
              <a:bodyPr/>
              <a:lstStyle/>
              <a:p>
                <a:r>
                  <a:rPr lang="pt-BR">
                    <a:noFill/>
                  </a:rPr>
                  <a:t> </a:t>
                </a:r>
              </a:p>
            </p:txBody>
          </p:sp>
        </mc:Fallback>
      </mc:AlternateContent>
    </p:spTree>
    <p:extLst>
      <p:ext uri="{BB962C8B-B14F-4D97-AF65-F5344CB8AC3E}">
        <p14:creationId xmlns:p14="http://schemas.microsoft.com/office/powerpoint/2010/main" val="352296995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smtClean="0">
                              <a:latin typeface="Cambria Math" panose="02040503050406030204" pitchFamily="18" charset="0"/>
                            </a:rPr>
                          </m:ctrlPr>
                        </m:fPr>
                        <m:num>
                          <m:r>
                            <a:rPr lang="pt-BR" i="1" smtClean="0">
                              <a:latin typeface="Cambria Math" panose="02040503050406030204" pitchFamily="18" charset="0"/>
                            </a:rPr>
                            <m:t>𝜕</m:t>
                          </m:r>
                          <m:sSub>
                            <m:sSubPr>
                              <m:ctrlPr>
                                <a:rPr lang="pt-BR" i="1" smtClean="0">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b="1" i="1" smtClean="0">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m:t>
                          </m:r>
                        </m:den>
                      </m:f>
                      <m:nary>
                        <m:naryPr>
                          <m:chr m:val="∑"/>
                          <m:ctrlPr>
                            <a:rPr lang="pt-BR" i="1" smtClean="0">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smtClean="0">
                                  <a:latin typeface="Cambria Math" panose="02040503050406030204" pitchFamily="18" charset="0"/>
                                </a:rPr>
                              </m:ctrlPr>
                            </m:dPr>
                            <m:e>
                              <m:r>
                                <a:rPr lang="pt-BR" i="1" smtClean="0">
                                  <a:latin typeface="Cambria Math" panose="02040503050406030204" pitchFamily="18" charset="0"/>
                                </a:rPr>
                                <m:t>𝑦</m:t>
                              </m:r>
                              <m:d>
                                <m:dPr>
                                  <m:ctrlPr>
                                    <a:rPr lang="pt-BR" i="1" smtClean="0">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smtClean="0">
                                      <a:latin typeface="Cambria Math" panose="02040503050406030204" pitchFamily="18" charset="0"/>
                                    </a:rPr>
                                  </m:ctrlPr>
                                </m:accPr>
                                <m:e>
                                  <m:r>
                                    <a:rPr lang="pt-BR" i="1" smtClean="0">
                                      <a:latin typeface="Cambria Math" panose="02040503050406030204" pitchFamily="18" charset="0"/>
                                    </a:rPr>
                                    <m:t>𝑦</m:t>
                                  </m:r>
                                </m:e>
                              </m:acc>
                              <m:d>
                                <m:dPr>
                                  <m:ctrlPr>
                                    <a:rPr lang="pt-BR" i="1" smtClean="0">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considerados na média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rotWithShape="0">
                <a:blip r:embed="rId3"/>
                <a:stretch>
                  <a:fillRect l="-979" t="-1887"/>
                </a:stretch>
              </a:blipFill>
            </p:spPr>
            <p:txBody>
              <a:bodyPr/>
              <a:lstStyle/>
              <a:p>
                <a:r>
                  <a:rPr lang="pt-BR">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353800" cy="5167311"/>
              </a:xfrm>
            </p:spPr>
            <p:txBody>
              <a:bodyPr>
                <a:normAutofit/>
              </a:bodyPr>
              <a:lstStyle/>
              <a:p>
                <a:pPr marL="0" indent="0">
                  <a:buNone/>
                </a:pPr>
                <a14:m>
                  <m:oMathPara xmlns:m="http://schemas.openxmlformats.org/officeDocument/2006/math">
                    <m:o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Calcula o gradiente </a:t>
                </a:r>
                <a:r>
                  <a:rPr lang="pt-BR" dirty="0"/>
                  <a:t>usando </a:t>
                </a:r>
                <a:r>
                  <a:rPr lang="pt-BR" b="1" dirty="0">
                    <a:solidFill>
                      <a:srgbClr val="00B050"/>
                    </a:solidFill>
                  </a:rPr>
                  <a:t>todas as amostras</a:t>
                </a:r>
                <a:r>
                  <a:rPr lang="pt-BR" b="0" dirty="0"/>
                  <a:t> de treinamento (</a:t>
                </a:r>
                <a14:m>
                  <m:oMath xmlns:m="http://schemas.openxmlformats.org/officeDocument/2006/math">
                    <m:r>
                      <m:rPr>
                        <m:sty m:val="p"/>
                      </m:rPr>
                      <a:rPr lang="pt-BR" b="0" i="0" smtClean="0">
                        <a:latin typeface="Cambria Math" panose="02040503050406030204" pitchFamily="18" charset="0"/>
                      </a:rPr>
                      <m:t>M</m:t>
                    </m:r>
                    <m:r>
                      <a:rPr lang="pt-BR" b="0" i="0" smtClean="0">
                        <a:latin typeface="Cambria Math" panose="02040503050406030204" pitchFamily="18" charset="0"/>
                      </a:rPr>
                      <m:t>=</m:t>
                    </m:r>
                    <m:r>
                      <m:rPr>
                        <m:sty m:val="p"/>
                      </m:rPr>
                      <a:rPr lang="pt-BR" b="0" i="0" smtClean="0">
                        <a:latin typeface="Cambria Math" panose="02040503050406030204" pitchFamily="18" charset="0"/>
                      </a:rPr>
                      <m:t>N</m:t>
                    </m:r>
                  </m:oMath>
                </a14:m>
                <a:r>
                  <a:rPr lang="pt-BR" dirty="0"/>
                  <a:t>), resultando em uma </a:t>
                </a:r>
                <a:r>
                  <a:rPr lang="pt-BR" b="1" dirty="0">
                    <a:solidFill>
                      <a:srgbClr val="00B050"/>
                    </a:solidFill>
                  </a:rPr>
                  <a:t>descida suave e direta</a:t>
                </a:r>
                <a:r>
                  <a:rPr lang="pt-BR" dirty="0"/>
                  <a:t> em direção ao mínimo.</a:t>
                </a:r>
              </a:p>
              <a:p>
                <a:r>
                  <a:rPr lang="pt-BR" b="1" dirty="0">
                    <a:solidFill>
                      <a:srgbClr val="00B050"/>
                    </a:solidFill>
                  </a:rPr>
                  <a:t>Convergência</a:t>
                </a:r>
                <a:r>
                  <a:rPr lang="pt-BR" dirty="0"/>
                  <a:t> para o </a:t>
                </a:r>
                <a:r>
                  <a:rPr lang="pt-BR" b="1" dirty="0">
                    <a:solidFill>
                      <a:srgbClr val="7030A0"/>
                    </a:solidFill>
                  </a:rPr>
                  <a:t>mínimo global </a:t>
                </a:r>
                <a:r>
                  <a:rPr lang="pt-BR" dirty="0"/>
                  <a:t>é </a:t>
                </a:r>
                <a:r>
                  <a:rPr lang="pt-BR" b="1" dirty="0">
                    <a:solidFill>
                      <a:srgbClr val="7030A0"/>
                    </a:solidFill>
                  </a:rPr>
                  <a:t>garantida</a:t>
                </a:r>
                <a:r>
                  <a:rPr lang="pt-BR" dirty="0"/>
                  <a:t> quando a função de erro é </a:t>
                </a:r>
                <a:r>
                  <a:rPr lang="pt-BR" b="1" dirty="0">
                    <a:solidFill>
                      <a:srgbClr val="00B050"/>
                    </a:solidFill>
                  </a:rPr>
                  <a:t>convexa e o passo não é grande demais</a:t>
                </a:r>
                <a:r>
                  <a:rPr lang="pt-BR" dirty="0"/>
                  <a:t>.</a:t>
                </a:r>
              </a:p>
              <a:p>
                <a:r>
                  <a:rPr lang="pt-BR" dirty="0"/>
                  <a:t>Pode ser </a:t>
                </a:r>
                <a:r>
                  <a:rPr lang="pt-BR" b="1" dirty="0">
                    <a:solidFill>
                      <a:srgbClr val="00B050"/>
                    </a:solidFill>
                  </a:rPr>
                  <a:t>computacionalmente complexo</a:t>
                </a:r>
                <a:r>
                  <a:rPr lang="pt-BR" dirty="0"/>
                  <a:t> dependendo do tamanho do modelo e do conjunto de dados.</a:t>
                </a:r>
              </a:p>
              <a:p>
                <a:pPr lvl="1">
                  <a:buFont typeface="Wingdings" panose="05000000000000000000" pitchFamily="2" charset="2"/>
                  <a:buChar char="§"/>
                </a:pPr>
                <a:r>
                  <a:rPr lang="pt-BR" dirty="0"/>
                  <a:t>Por processar todos os exemplos, é lento com modelos e conjuntos muito grandes e consome muita memória.</a:t>
                </a:r>
              </a:p>
              <a:p>
                <a:r>
                  <a:rPr lang="pt-BR" dirty="0"/>
                  <a:t>Das 3, é a versão que </a:t>
                </a:r>
                <a:r>
                  <a:rPr lang="pt-BR" b="1" dirty="0">
                    <a:solidFill>
                      <a:srgbClr val="00B050"/>
                    </a:solidFill>
                  </a:rPr>
                  <a:t>obtém os melhores resultados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a:blip r:embed="rId3"/>
                <a:stretch>
                  <a:fillRect l="-967" r="-591" b="-1887"/>
                </a:stretch>
              </a:blipFill>
            </p:spPr>
            <p:txBody>
              <a:bodyPr/>
              <a:lstStyle/>
              <a:p>
                <a:r>
                  <a:rPr lang="en-US">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E7C9F4C-5009-7EC3-F599-AD0E3603A4A3}"/>
                  </a:ext>
                </a:extLst>
              </p:cNvPr>
              <p:cNvSpPr>
                <a:spLocks noGrp="1"/>
              </p:cNvSpPr>
              <p:nvPr>
                <p:ph idx="1"/>
              </p:nvPr>
            </p:nvSpPr>
            <p:spPr>
              <a:xfrm>
                <a:off x="838199" y="1825624"/>
                <a:ext cx="11353801" cy="5032375"/>
              </a:xfrm>
            </p:spPr>
            <p:txBody>
              <a:bodyPr>
                <a:normAutofit/>
              </a:bodyPr>
              <a:lstStyle/>
              <a:p>
                <a:pPr marL="0" indent="0">
                  <a:buNone/>
                </a:pPr>
                <a14:m>
                  <m:oMathPara xmlns:m="http://schemas.openxmlformats.org/officeDocument/2006/math">
                    <m:o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b="0" i="1" smtClean="0">
                                  <a:latin typeface="Cambria Math" panose="02040503050406030204" pitchFamily="18" charset="0"/>
                                </a:rPr>
                              </m:ctrlPr>
                            </m:dPr>
                            <m:e>
                              <m:sSub>
                                <m:sSubPr>
                                  <m:ctrlPr>
                                    <a:rPr lang="pt-BR" b="0"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t>
                </a:r>
                <a:r>
                  <a:rPr lang="pt-BR" b="1" dirty="0">
                    <a:solidFill>
                      <a:srgbClr val="00B050"/>
                    </a:solidFill>
                  </a:rPr>
                  <a:t>apenas uma amostra</a:t>
                </a:r>
                <a:r>
                  <a:rPr lang="pt-BR" dirty="0"/>
                  <a:t> de treinamento (</a:t>
                </a:r>
                <a14:m>
                  <m:oMath xmlns:m="http://schemas.openxmlformats.org/officeDocument/2006/math">
                    <m:r>
                      <m:rPr>
                        <m:sty m:val="p"/>
                      </m:rPr>
                      <a:rPr lang="pt-BR">
                        <a:latin typeface="Cambria Math" panose="02040503050406030204" pitchFamily="18" charset="0"/>
                      </a:rPr>
                      <m:t>M</m:t>
                    </m:r>
                    <m:r>
                      <a:rPr lang="pt-BR">
                        <a:latin typeface="Cambria Math" panose="02040503050406030204" pitchFamily="18" charset="0"/>
                      </a:rPr>
                      <m:t>=1</m:t>
                    </m:r>
                  </m:oMath>
                </a14:m>
                <a:r>
                  <a:rPr lang="pt-BR" dirty="0"/>
                  <a:t>) para calcular uma </a:t>
                </a:r>
                <a:r>
                  <a:rPr lang="pt-BR" b="1" dirty="0">
                    <a:solidFill>
                      <a:srgbClr val="00B050"/>
                    </a:solidFill>
                  </a:rPr>
                  <a:t>estimativa </a:t>
                </a:r>
                <a:r>
                  <a:rPr lang="pt-BR" b="1" dirty="0">
                    <a:solidFill>
                      <a:srgbClr val="7030A0"/>
                    </a:solidFill>
                  </a:rPr>
                  <a:t>estocástica</a:t>
                </a:r>
                <a:r>
                  <a:rPr lang="pt-BR" b="1" dirty="0">
                    <a:solidFill>
                      <a:srgbClr val="00B050"/>
                    </a:solidFill>
                  </a:rPr>
                  <a:t> do gradiente</a:t>
                </a:r>
                <a:r>
                  <a:rPr lang="pt-BR" dirty="0"/>
                  <a:t>.</a:t>
                </a:r>
              </a:p>
              <a:p>
                <a:pPr lvl="1">
                  <a:buFont typeface="Wingdings" panose="05000000000000000000" pitchFamily="2" charset="2"/>
                  <a:buChar char="§"/>
                </a:pPr>
                <a:r>
                  <a:rPr lang="pt-BR" b="1" dirty="0">
                    <a:solidFill>
                      <a:srgbClr val="7030A0"/>
                    </a:solidFill>
                  </a:rPr>
                  <a:t>Estocástica</a:t>
                </a:r>
                <a:r>
                  <a:rPr lang="pt-BR" dirty="0"/>
                  <a:t>: a cada iteração, toma-se uma amostra </a:t>
                </a:r>
                <a:r>
                  <a:rPr lang="pt-BR" b="1" dirty="0">
                    <a:solidFill>
                      <a:srgbClr val="00B050"/>
                    </a:solidFill>
                  </a:rPr>
                  <a:t>aleatória</a:t>
                </a:r>
                <a:r>
                  <a:rPr lang="pt-BR" dirty="0"/>
                  <a:t> para atualizar </a:t>
                </a:r>
                <a14:m>
                  <m:oMath xmlns:m="http://schemas.openxmlformats.org/officeDocument/2006/math">
                    <m:r>
                      <a:rPr lang="pt-BR" b="1" i="1">
                        <a:latin typeface="Cambria Math" panose="02040503050406030204" pitchFamily="18" charset="0"/>
                      </a:rPr>
                      <m:t>𝒂</m:t>
                    </m:r>
                  </m:oMath>
                </a14:m>
                <a:r>
                  <a:rPr lang="pt-BR" dirty="0"/>
                  <a:t>.</a:t>
                </a:r>
              </a:p>
              <a:p>
                <a:pPr lvl="1">
                  <a:buFont typeface="Wingdings" panose="05000000000000000000" pitchFamily="2" charset="2"/>
                  <a:buChar char="§"/>
                </a:pPr>
                <a:r>
                  <a:rPr lang="pt-BR" dirty="0"/>
                  <a:t>A cada atualização, a estimativa do gradiente pode </a:t>
                </a:r>
                <a:r>
                  <a:rPr lang="pt-BR" b="1" dirty="0">
                    <a:solidFill>
                      <a:schemeClr val="accent2"/>
                    </a:solidFill>
                  </a:rPr>
                  <a:t>apontar para direções diferentes</a:t>
                </a:r>
                <a:r>
                  <a:rPr lang="pt-BR" dirty="0"/>
                  <a:t>.</a:t>
                </a:r>
              </a:p>
              <a:p>
                <a:r>
                  <a:rPr lang="pt-BR" dirty="0"/>
                  <a:t>Quando os </a:t>
                </a:r>
                <a:r>
                  <a:rPr lang="pt-BR" b="1" dirty="0">
                    <a:solidFill>
                      <a:srgbClr val="00B050"/>
                    </a:solidFill>
                  </a:rPr>
                  <a:t>d</a:t>
                </a:r>
                <a:r>
                  <a:rPr lang="pt-BR" b="1" dirty="0">
                    <a:solidFill>
                      <a:srgbClr val="00B050"/>
                    </a:solidFill>
                    <a:effectLst/>
                  </a:rPr>
                  <a:t>ados de treinamento estão </a:t>
                </a:r>
                <a:r>
                  <a:rPr lang="pt-BR" b="1" dirty="0">
                    <a:solidFill>
                      <a:schemeClr val="accent2"/>
                    </a:solidFill>
                    <a:effectLst/>
                  </a:rPr>
                  <a:t>contaminados com ruído</a:t>
                </a:r>
                <a:r>
                  <a:rPr lang="pt-BR" b="0" dirty="0">
                    <a:effectLst/>
                  </a:rPr>
                  <a:t>, a</a:t>
                </a:r>
                <a:r>
                  <a:rPr lang="pt-BR" dirty="0"/>
                  <a:t> </a:t>
                </a:r>
                <a:r>
                  <a:rPr lang="pt-BR" b="1" dirty="0">
                    <a:solidFill>
                      <a:srgbClr val="00B050"/>
                    </a:solidFill>
                  </a:rPr>
                  <a:t>estimativa</a:t>
                </a:r>
                <a:r>
                  <a:rPr lang="pt-BR" dirty="0"/>
                  <a:t> do gradiente </a:t>
                </a:r>
                <a:r>
                  <a:rPr lang="pt-BR" b="1" dirty="0">
                    <a:solidFill>
                      <a:srgbClr val="00B050"/>
                    </a:solidFill>
                  </a:rPr>
                  <a:t>se torna mais ruidosa</a:t>
                </a:r>
                <a:r>
                  <a:rPr lang="pt-BR" dirty="0"/>
                  <a:t>, fazendo com que a </a:t>
                </a:r>
                <a:r>
                  <a:rPr lang="pt-BR" b="1" dirty="0">
                    <a:solidFill>
                      <a:schemeClr val="accent2"/>
                    </a:solidFill>
                  </a:rPr>
                  <a:t>convergência</a:t>
                </a:r>
                <a:r>
                  <a:rPr lang="pt-BR" b="1" dirty="0">
                    <a:solidFill>
                      <a:srgbClr val="00B050"/>
                    </a:solidFill>
                  </a:rPr>
                  <a:t> não ocorra</a:t>
                </a:r>
                <a:r>
                  <a:rPr lang="pt-BR" dirty="0"/>
                  <a:t> ou </a:t>
                </a:r>
                <a:r>
                  <a:rPr lang="pt-BR" b="1" dirty="0">
                    <a:solidFill>
                      <a:srgbClr val="00B050"/>
                    </a:solidFill>
                  </a:rPr>
                  <a:t>não seja garantida</a:t>
                </a:r>
                <a:r>
                  <a:rPr lang="pt-BR" dirty="0"/>
                  <a:t>.</a:t>
                </a:r>
              </a:p>
              <a:p>
                <a:pPr lvl="1">
                  <a:buFont typeface="Wingdings" panose="05000000000000000000" pitchFamily="2" charset="2"/>
                  <a:buChar char="§"/>
                </a:pPr>
                <a:r>
                  <a:rPr lang="pt-BR" dirty="0"/>
                  <a:t>O ruído faz com que o </a:t>
                </a:r>
                <a:r>
                  <a:rPr lang="pt-BR" b="1" dirty="0">
                    <a:solidFill>
                      <a:srgbClr val="0070C0"/>
                    </a:solidFill>
                  </a:rPr>
                  <a:t>gradiente oscile </a:t>
                </a:r>
                <a:r>
                  <a:rPr lang="pt-BR" dirty="0"/>
                  <a:t>ao redor do ponto de mínimo.</a:t>
                </a:r>
              </a:p>
              <a:p>
                <a:r>
                  <a:rPr lang="pt-BR" dirty="0"/>
                  <a:t>Entretanto, é mais </a:t>
                </a:r>
                <a:r>
                  <a:rPr lang="pt-BR" b="1" dirty="0">
                    <a:solidFill>
                      <a:srgbClr val="00B0F0"/>
                    </a:solidFill>
                  </a:rPr>
                  <a:t>rápido e usa menos CPU e memória </a:t>
                </a:r>
                <a:r>
                  <a:rPr lang="pt-BR" dirty="0"/>
                  <a:t>do que o GDB.</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574" b="-847"/>
                </a:stretch>
              </a:blipFill>
            </p:spPr>
            <p:txBody>
              <a:bodyPr/>
              <a:lstStyle/>
              <a:p>
                <a:r>
                  <a:rPr lang="pt-BR">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pPr marL="0" indent="0">
                  <a:buNone/>
                </a:pPr>
                <a14:m>
                  <m:oMathPara xmlns:m="http://schemas.openxmlformats.org/officeDocument/2006/math">
                    <m:o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dirty="0">
                    <a:solidFill>
                      <a:srgbClr val="00B050"/>
                    </a:solidFill>
                  </a:rPr>
                  <a:t>subconjunto de amostras</a:t>
                </a:r>
                <a:r>
                  <a:rPr lang="pt-BR" dirty="0"/>
                  <a:t>, chamado de </a:t>
                </a:r>
                <a:r>
                  <a:rPr lang="pt-BR" i="1" dirty="0" err="1"/>
                  <a:t>mini-batch</a:t>
                </a:r>
                <a:r>
                  <a:rPr lang="pt-BR" dirty="0"/>
                  <a:t> </a:t>
                </a:r>
                <a14:m>
                  <m:oMath xmlns:m="http://schemas.openxmlformats.org/officeDocument/2006/math">
                    <m:r>
                      <a:rPr lang="pt-BR" b="0" i="0" smtClean="0">
                        <a:latin typeface="Cambria Math" panose="02040503050406030204" pitchFamily="18" charset="0"/>
                      </a:rPr>
                      <m:t>(</m:t>
                    </m:r>
                    <m:r>
                      <a:rPr lang="pt-BR" i="1">
                        <a:latin typeface="Cambria Math" panose="02040503050406030204" pitchFamily="18" charset="0"/>
                      </a:rPr>
                      <m:t>𝑀𝐵</m:t>
                    </m:r>
                    <m:r>
                      <a:rPr lang="pt-BR" b="0" i="1" smtClean="0">
                        <a:latin typeface="Cambria Math" panose="02040503050406030204" pitchFamily="18" charset="0"/>
                      </a:rPr>
                      <m:t>)</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Em geral, por usar um </a:t>
                </a:r>
                <a:r>
                  <a:rPr lang="nl-BE" b="1" dirty="0">
                    <a:solidFill>
                      <a:srgbClr val="00B050"/>
                    </a:solidFill>
                  </a:rPr>
                  <a:t>subconjunto</a:t>
                </a:r>
                <a:r>
                  <a:rPr lang="nl-BE" dirty="0"/>
                  <a:t> de amostras,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 poder ter sua complexidade configurada, é a </a:t>
                </a:r>
                <a:r>
                  <a:rPr lang="pt-BR" b="1" dirty="0">
                    <a:solidFill>
                      <a:srgbClr val="00B050"/>
                    </a:solidFill>
                  </a:rPr>
                  <a:t>versão mais usada no treinamento de redes neurais</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rotWithShape="0">
                <a:blip r:embed="rId3"/>
                <a:stretch>
                  <a:fillRect l="-979"/>
                </a:stretch>
              </a:blipFill>
            </p:spPr>
            <p:txBody>
              <a:bodyPr/>
              <a:lstStyle/>
              <a:p>
                <a:r>
                  <a:rPr lang="pt-BR">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DF75D-E25D-0C86-AB76-F3F339521856}"/>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48CF2F8-77D4-DB7A-0B9A-22DD9AEC6352}"/>
              </a:ext>
            </a:extLst>
          </p:cNvPr>
          <p:cNvSpPr>
            <a:spLocks noGrp="1"/>
          </p:cNvSpPr>
          <p:nvPr>
            <p:ph idx="1"/>
          </p:nvPr>
        </p:nvSpPr>
        <p:spPr>
          <a:xfrm>
            <a:off x="838200" y="1858433"/>
            <a:ext cx="10515600" cy="3141133"/>
          </a:xfrm>
        </p:spPr>
        <p:txBody>
          <a:bodyPr>
            <a:normAutofit/>
          </a:bodyPr>
          <a:lstStyle/>
          <a:p>
            <a:pPr marL="0" indent="0" algn="ctr">
              <a:buNone/>
            </a:pPr>
            <a:r>
              <a:rPr lang="pt-BR" sz="5400" dirty="0"/>
              <a:t>Já sabemos como encontrar os pesos de um dado polinômio, mas como descobrimos a complexidade ideal, i.e., o grau do polinômio?</a:t>
            </a:r>
            <a:endParaRPr lang="en-US" sz="5400" dirty="0"/>
          </a:p>
        </p:txBody>
      </p:sp>
    </p:spTree>
    <p:extLst>
      <p:ext uri="{BB962C8B-B14F-4D97-AF65-F5344CB8AC3E}">
        <p14:creationId xmlns:p14="http://schemas.microsoft.com/office/powerpoint/2010/main" val="263210114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51318A-9766-41A3-777E-1776857875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CCA37D-FCD4-93F5-F6BF-33F52FA5108E}"/>
              </a:ext>
            </a:extLst>
          </p:cNvPr>
          <p:cNvSpPr>
            <a:spLocks noGrp="1"/>
          </p:cNvSpPr>
          <p:nvPr>
            <p:ph type="title"/>
          </p:nvPr>
        </p:nvSpPr>
        <p:spPr/>
        <p:txBody>
          <a:bodyPr/>
          <a:lstStyle/>
          <a:p>
            <a:r>
              <a:rPr lang="pt-BR" dirty="0"/>
              <a:t>Validação cruzada</a:t>
            </a:r>
            <a:endParaRPr lang="en-US" dirty="0"/>
          </a:p>
        </p:txBody>
      </p:sp>
      <p:sp>
        <p:nvSpPr>
          <p:cNvPr id="3" name="Content Placeholder 2">
            <a:extLst>
              <a:ext uri="{FF2B5EF4-FFF2-40B4-BE49-F238E27FC236}">
                <a16:creationId xmlns:a16="http://schemas.microsoft.com/office/drawing/2014/main" id="{D3705B0B-B850-E121-FA69-691054FB2744}"/>
              </a:ext>
            </a:extLst>
          </p:cNvPr>
          <p:cNvSpPr>
            <a:spLocks noGrp="1"/>
          </p:cNvSpPr>
          <p:nvPr>
            <p:ph idx="1"/>
          </p:nvPr>
        </p:nvSpPr>
        <p:spPr>
          <a:xfrm>
            <a:off x="838199" y="1825625"/>
            <a:ext cx="11353801" cy="4351338"/>
          </a:xfrm>
        </p:spPr>
        <p:txBody>
          <a:bodyPr/>
          <a:lstStyle/>
          <a:p>
            <a:r>
              <a:rPr lang="pt-BR" dirty="0"/>
              <a:t>Usamos validação cruzada.</a:t>
            </a:r>
          </a:p>
          <a:p>
            <a:r>
              <a:rPr lang="pt-BR" dirty="0"/>
              <a:t>É uma forma de obter uma </a:t>
            </a:r>
            <a:r>
              <a:rPr lang="pt-BR" b="1" dirty="0">
                <a:solidFill>
                  <a:schemeClr val="accent2"/>
                </a:solidFill>
              </a:rPr>
              <a:t>avaliação robusta da capacidade de generalização de um modelo</a:t>
            </a:r>
            <a:r>
              <a:rPr lang="pt-BR" dirty="0"/>
              <a:t>.</a:t>
            </a:r>
          </a:p>
          <a:p>
            <a:r>
              <a:rPr lang="pt-BR" b="1" dirty="0"/>
              <a:t>Objetivo</a:t>
            </a:r>
            <a:r>
              <a:rPr lang="pt-BR" dirty="0"/>
              <a:t>: encontrar a complexidade que faça o modelo </a:t>
            </a:r>
            <a:r>
              <a:rPr lang="pt-BR" b="1" dirty="0">
                <a:solidFill>
                  <a:srgbClr val="7030A0"/>
                </a:solidFill>
              </a:rPr>
              <a:t>generalizar da melhor maneira possível</a:t>
            </a:r>
            <a:r>
              <a:rPr lang="pt-BR" dirty="0"/>
              <a:t>.</a:t>
            </a:r>
            <a:endParaRPr lang="en-US" dirty="0"/>
          </a:p>
        </p:txBody>
      </p:sp>
    </p:spTree>
    <p:extLst>
      <p:ext uri="{BB962C8B-B14F-4D97-AF65-F5344CB8AC3E}">
        <p14:creationId xmlns:p14="http://schemas.microsoft.com/office/powerpoint/2010/main" val="295995103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C905B2-EF68-9C93-5115-04CD84B5B0D0}"/>
              </a:ext>
            </a:extLst>
          </p:cNvPr>
          <p:cNvSpPr>
            <a:spLocks noGrp="1"/>
          </p:cNvSpPr>
          <p:nvPr>
            <p:ph type="title"/>
          </p:nvPr>
        </p:nvSpPr>
        <p:spPr/>
        <p:txBody>
          <a:bodyPr/>
          <a:lstStyle/>
          <a:p>
            <a:r>
              <a:rPr lang="en-US" i="1" dirty="0"/>
              <a:t>Underfitting</a:t>
            </a:r>
            <a:r>
              <a:rPr lang="en-US" dirty="0"/>
              <a:t> e </a:t>
            </a:r>
            <a:r>
              <a:rPr lang="en-US" i="1" dirty="0"/>
              <a:t>overfitting</a:t>
            </a:r>
            <a:endParaRPr lang="en-US" dirty="0"/>
          </a:p>
        </p:txBody>
      </p:sp>
      <p:sp>
        <p:nvSpPr>
          <p:cNvPr id="3" name="Content Placeholder 2">
            <a:extLst>
              <a:ext uri="{FF2B5EF4-FFF2-40B4-BE49-F238E27FC236}">
                <a16:creationId xmlns:a16="http://schemas.microsoft.com/office/drawing/2014/main" id="{8926E79E-7E8D-D875-50B2-B636DE18FB89}"/>
              </a:ext>
            </a:extLst>
          </p:cNvPr>
          <p:cNvSpPr>
            <a:spLocks noGrp="1"/>
          </p:cNvSpPr>
          <p:nvPr>
            <p:ph idx="1"/>
          </p:nvPr>
        </p:nvSpPr>
        <p:spPr>
          <a:xfrm>
            <a:off x="838200" y="1825624"/>
            <a:ext cx="11353800" cy="5032375"/>
          </a:xfrm>
        </p:spPr>
        <p:txBody>
          <a:bodyPr/>
          <a:lstStyle/>
          <a:p>
            <a:r>
              <a:rPr lang="pt-BR" dirty="0"/>
              <a:t>Antes entendermos como a validação cruzada funciona, precisamos discutir alguns </a:t>
            </a:r>
            <a:r>
              <a:rPr lang="pt-BR" b="1" dirty="0">
                <a:solidFill>
                  <a:srgbClr val="0070C0"/>
                </a:solidFill>
              </a:rPr>
              <a:t>comportamentos</a:t>
            </a:r>
            <a:r>
              <a:rPr lang="pt-BR" dirty="0"/>
              <a:t> que encontraremos durante a busca pelo melhor modelo.</a:t>
            </a:r>
          </a:p>
          <a:p>
            <a:r>
              <a:rPr lang="pt-BR" dirty="0"/>
              <a:t>Dependendo da </a:t>
            </a:r>
            <a:r>
              <a:rPr lang="pt-BR" b="1" dirty="0">
                <a:solidFill>
                  <a:schemeClr val="accent2"/>
                </a:solidFill>
              </a:rPr>
              <a:t>complexidade</a:t>
            </a:r>
            <a:r>
              <a:rPr lang="pt-BR" dirty="0"/>
              <a:t> (ou graus de liberdade) </a:t>
            </a:r>
            <a:r>
              <a:rPr lang="pt-BR" b="1" dirty="0">
                <a:solidFill>
                  <a:schemeClr val="accent2"/>
                </a:solidFill>
              </a:rPr>
              <a:t>do modelo</a:t>
            </a:r>
            <a:r>
              <a:rPr lang="pt-BR" dirty="0"/>
              <a:t>, no caso da regressão, do grau do polinômio, podemos nos deparar com </a:t>
            </a:r>
            <a:r>
              <a:rPr lang="pt-BR" b="1" dirty="0">
                <a:solidFill>
                  <a:schemeClr val="accent2"/>
                </a:solidFill>
              </a:rPr>
              <a:t>dois comportamentos indesejados</a:t>
            </a:r>
            <a:r>
              <a:rPr lang="pt-BR" dirty="0"/>
              <a:t>:</a:t>
            </a:r>
          </a:p>
          <a:p>
            <a:pPr lvl="1">
              <a:buFont typeface="Wingdings" panose="05000000000000000000" pitchFamily="2" charset="2"/>
              <a:buChar char="§"/>
            </a:pPr>
            <a:r>
              <a:rPr lang="pt-BR" i="1" dirty="0"/>
              <a:t>Underfitting</a:t>
            </a:r>
            <a:r>
              <a:rPr lang="pt-BR" dirty="0"/>
              <a:t> (subajuste)</a:t>
            </a:r>
          </a:p>
          <a:p>
            <a:pPr lvl="1">
              <a:buFont typeface="Wingdings" panose="05000000000000000000" pitchFamily="2" charset="2"/>
              <a:buChar char="§"/>
            </a:pPr>
            <a:r>
              <a:rPr lang="pt-BR" i="1" dirty="0" err="1"/>
              <a:t>Overfitting</a:t>
            </a:r>
            <a:r>
              <a:rPr lang="pt-BR" dirty="0"/>
              <a:t> (sobreajuste)</a:t>
            </a:r>
          </a:p>
        </p:txBody>
      </p:sp>
    </p:spTree>
    <p:extLst>
      <p:ext uri="{BB962C8B-B14F-4D97-AF65-F5344CB8AC3E}">
        <p14:creationId xmlns:p14="http://schemas.microsoft.com/office/powerpoint/2010/main" val="400541624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A366E-1890-0B0C-307E-E44C08256B46}"/>
              </a:ext>
            </a:extLst>
          </p:cNvPr>
          <p:cNvSpPr>
            <a:spLocks noGrp="1"/>
          </p:cNvSpPr>
          <p:nvPr>
            <p:ph type="title"/>
          </p:nvPr>
        </p:nvSpPr>
        <p:spPr/>
        <p:txBody>
          <a:bodyPr/>
          <a:lstStyle/>
          <a:p>
            <a:r>
              <a:rPr lang="en-US" i="1" dirty="0"/>
              <a:t>Overfitting </a:t>
            </a:r>
            <a:r>
              <a:rPr lang="en-US" dirty="0"/>
              <a:t>e</a:t>
            </a:r>
            <a:r>
              <a:rPr lang="en-US" i="1" dirty="0"/>
              <a:t> underfitting</a:t>
            </a:r>
            <a:endParaRPr lang="en-US" dirty="0"/>
          </a:p>
        </p:txBody>
      </p:sp>
      <p:pic>
        <p:nvPicPr>
          <p:cNvPr id="4" name="Picture 2">
            <a:extLst>
              <a:ext uri="{FF2B5EF4-FFF2-40B4-BE49-F238E27FC236}">
                <a16:creationId xmlns:a16="http://schemas.microsoft.com/office/drawing/2014/main" id="{B909593E-E8C3-82E0-8AD7-61CB0B1B3E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381" t="29526" r="6597" b="2754"/>
          <a:stretch>
            <a:fillRect/>
          </a:stretch>
        </p:blipFill>
        <p:spPr bwMode="auto">
          <a:xfrm>
            <a:off x="306941" y="2211173"/>
            <a:ext cx="7663016" cy="351229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53E6552-0BB2-B87E-2D0B-FB28A9C082C7}"/>
              </a:ext>
            </a:extLst>
          </p:cNvPr>
          <p:cNvSpPr txBox="1"/>
          <p:nvPr/>
        </p:nvSpPr>
        <p:spPr>
          <a:xfrm>
            <a:off x="8272614" y="2413048"/>
            <a:ext cx="3693608" cy="3108543"/>
          </a:xfrm>
          <a:prstGeom prst="rect">
            <a:avLst/>
          </a:prstGeom>
          <a:noFill/>
        </p:spPr>
        <p:txBody>
          <a:bodyPr wrap="square">
            <a:spAutoFit/>
          </a:bodyPr>
          <a:lstStyle/>
          <a:p>
            <a:r>
              <a:rPr lang="pt-BR" sz="2800" b="1" i="1" dirty="0"/>
              <a:t>Underfitting</a:t>
            </a:r>
            <a:r>
              <a:rPr lang="pt-BR" sz="2800" dirty="0"/>
              <a:t>: o modelo é simples demais para a complexidade do problema.</a:t>
            </a:r>
          </a:p>
          <a:p>
            <a:endParaRPr lang="pt-BR" sz="2800" b="1" dirty="0"/>
          </a:p>
          <a:p>
            <a:r>
              <a:rPr lang="pt-BR" sz="2800" b="1" i="1" dirty="0" err="1"/>
              <a:t>Overfitting</a:t>
            </a:r>
            <a:r>
              <a:rPr lang="pt-BR" sz="2800" dirty="0"/>
              <a:t>: o modelo é complexo demais.</a:t>
            </a:r>
            <a:endParaRPr lang="en-US" sz="2800" dirty="0"/>
          </a:p>
        </p:txBody>
      </p:sp>
    </p:spTree>
    <p:extLst>
      <p:ext uri="{BB962C8B-B14F-4D97-AF65-F5344CB8AC3E}">
        <p14:creationId xmlns:p14="http://schemas.microsoft.com/office/powerpoint/2010/main" val="249229283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9F3EF5-EAFC-A6A7-0E10-FF771B587B0F}"/>
              </a:ext>
            </a:extLst>
          </p:cNvPr>
          <p:cNvSpPr>
            <a:spLocks noGrp="1"/>
          </p:cNvSpPr>
          <p:nvPr>
            <p:ph type="title"/>
          </p:nvPr>
        </p:nvSpPr>
        <p:spPr/>
        <p:txBody>
          <a:bodyPr/>
          <a:lstStyle/>
          <a:p>
            <a:r>
              <a:rPr lang="en-US" i="1" dirty="0"/>
              <a:t>Overfitting</a:t>
            </a:r>
            <a:endParaRPr lang="en-US" dirty="0"/>
          </a:p>
        </p:txBody>
      </p:sp>
      <p:sp>
        <p:nvSpPr>
          <p:cNvPr id="3" name="Content Placeholder 2">
            <a:extLst>
              <a:ext uri="{FF2B5EF4-FFF2-40B4-BE49-F238E27FC236}">
                <a16:creationId xmlns:a16="http://schemas.microsoft.com/office/drawing/2014/main" id="{98558359-53B1-7971-801A-18F311722EC8}"/>
              </a:ext>
            </a:extLst>
          </p:cNvPr>
          <p:cNvSpPr>
            <a:spLocks noGrp="1"/>
          </p:cNvSpPr>
          <p:nvPr>
            <p:ph idx="1"/>
          </p:nvPr>
        </p:nvSpPr>
        <p:spPr>
          <a:xfrm>
            <a:off x="5700888" y="1825624"/>
            <a:ext cx="6491111" cy="5032375"/>
          </a:xfrm>
        </p:spPr>
        <p:txBody>
          <a:bodyPr/>
          <a:lstStyle/>
          <a:p>
            <a:r>
              <a:rPr lang="pt-BR" dirty="0"/>
              <a:t>O modelo é tão flexível (i.e., complexo) que “</a:t>
            </a:r>
            <a:r>
              <a:rPr lang="pt-BR" b="1" dirty="0"/>
              <a:t>memoriza</a:t>
            </a:r>
            <a:r>
              <a:rPr lang="pt-BR" dirty="0"/>
              <a:t>” o conjunto de treinamento.</a:t>
            </a:r>
          </a:p>
          <a:p>
            <a:r>
              <a:rPr lang="pt-BR" dirty="0"/>
              <a:t>Ele se </a:t>
            </a:r>
            <a:r>
              <a:rPr lang="pt-BR" b="1" dirty="0">
                <a:solidFill>
                  <a:srgbClr val="7030A0"/>
                </a:solidFill>
              </a:rPr>
              <a:t>ajusta ao ruído </a:t>
            </a:r>
            <a:r>
              <a:rPr lang="pt-BR" dirty="0"/>
              <a:t>em vez do </a:t>
            </a:r>
            <a:r>
              <a:rPr lang="pt-BR" b="1" dirty="0">
                <a:solidFill>
                  <a:schemeClr val="accent2"/>
                </a:solidFill>
              </a:rPr>
              <a:t>padrão geral por trás </a:t>
            </a:r>
            <a:r>
              <a:rPr lang="pt-BR" dirty="0"/>
              <a:t>dos dados.</a:t>
            </a:r>
          </a:p>
          <a:p>
            <a:r>
              <a:rPr lang="pt-BR" b="1" dirty="0"/>
              <a:t>Alta variância</a:t>
            </a:r>
            <a:r>
              <a:rPr lang="pt-BR" dirty="0"/>
              <a:t>: o modelo é extremamente </a:t>
            </a:r>
            <a:r>
              <a:rPr lang="pt-BR" b="1" dirty="0">
                <a:solidFill>
                  <a:srgbClr val="00B050"/>
                </a:solidFill>
              </a:rPr>
              <a:t>sensível ao conjunto de treino</a:t>
            </a:r>
            <a:r>
              <a:rPr lang="pt-BR" dirty="0"/>
              <a:t>.</a:t>
            </a:r>
          </a:p>
          <a:p>
            <a:pPr lvl="1">
              <a:buFont typeface="Wingdings" panose="05000000000000000000" pitchFamily="2" charset="2"/>
              <a:buChar char="§"/>
            </a:pPr>
            <a:r>
              <a:rPr lang="pt-BR" b="1" dirty="0">
                <a:solidFill>
                  <a:srgbClr val="0070C0"/>
                </a:solidFill>
              </a:rPr>
              <a:t>Pequenas mudanças</a:t>
            </a:r>
            <a:r>
              <a:rPr lang="pt-BR" dirty="0"/>
              <a:t> nas amostras de treinamento </a:t>
            </a:r>
            <a:r>
              <a:rPr lang="pt-BR" b="1" dirty="0">
                <a:solidFill>
                  <a:srgbClr val="0070C0"/>
                </a:solidFill>
              </a:rPr>
              <a:t>geram grandes mudanças no modelo</a:t>
            </a:r>
            <a:r>
              <a:rPr lang="pt-BR" dirty="0"/>
              <a:t>, no caso da regressão, da função estimada.</a:t>
            </a:r>
          </a:p>
          <a:p>
            <a:r>
              <a:rPr lang="pt-BR" dirty="0"/>
              <a:t>O modelo </a:t>
            </a:r>
            <a:r>
              <a:rPr lang="pt-BR" b="1" dirty="0">
                <a:solidFill>
                  <a:srgbClr val="00B050"/>
                </a:solidFill>
              </a:rPr>
              <a:t>não generaliza bem</a:t>
            </a:r>
            <a:r>
              <a:rPr lang="pt-BR" dirty="0"/>
              <a:t>.</a:t>
            </a:r>
            <a:endParaRPr lang="en-US" dirty="0"/>
          </a:p>
        </p:txBody>
      </p:sp>
      <p:pic>
        <p:nvPicPr>
          <p:cNvPr id="4" name="Picture 2">
            <a:extLst>
              <a:ext uri="{FF2B5EF4-FFF2-40B4-BE49-F238E27FC236}">
                <a16:creationId xmlns:a16="http://schemas.microsoft.com/office/drawing/2014/main" id="{23F554F9-134B-9317-4597-E080F6732D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86" y="1690688"/>
            <a:ext cx="3124417" cy="209131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B7D47AAC-0C00-2DEE-110C-096F4CF849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42406" y="3429000"/>
            <a:ext cx="2238810" cy="33547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599465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742A89-D4FA-4919-1552-72DB66CD934C}"/>
              </a:ext>
            </a:extLst>
          </p:cNvPr>
          <p:cNvSpPr>
            <a:spLocks noGrp="1"/>
          </p:cNvSpPr>
          <p:nvPr>
            <p:ph type="title"/>
          </p:nvPr>
        </p:nvSpPr>
        <p:spPr/>
        <p:txBody>
          <a:bodyPr/>
          <a:lstStyle/>
          <a:p>
            <a:r>
              <a:rPr lang="pt-BR" i="1" dirty="0"/>
              <a:t>Underfitting</a:t>
            </a:r>
          </a:p>
        </p:txBody>
      </p:sp>
      <p:sp>
        <p:nvSpPr>
          <p:cNvPr id="3" name="Espaço Reservado para Conteúdo 2">
            <a:extLst>
              <a:ext uri="{FF2B5EF4-FFF2-40B4-BE49-F238E27FC236}">
                <a16:creationId xmlns:a16="http://schemas.microsoft.com/office/drawing/2014/main" id="{1FDFAB3D-88C4-A40C-1FFE-5BF9FD5EB0EC}"/>
              </a:ext>
            </a:extLst>
          </p:cNvPr>
          <p:cNvSpPr>
            <a:spLocks noGrp="1"/>
          </p:cNvSpPr>
          <p:nvPr>
            <p:ph idx="1"/>
          </p:nvPr>
        </p:nvSpPr>
        <p:spPr>
          <a:xfrm>
            <a:off x="6096000" y="1825624"/>
            <a:ext cx="5980386" cy="5032375"/>
          </a:xfrm>
        </p:spPr>
        <p:txBody>
          <a:bodyPr/>
          <a:lstStyle/>
          <a:p>
            <a:r>
              <a:rPr lang="pt-BR" dirty="0">
                <a:effectLst/>
              </a:rPr>
              <a:t>O modelo é </a:t>
            </a:r>
            <a:r>
              <a:rPr lang="pt-BR" b="1" dirty="0">
                <a:effectLst/>
              </a:rPr>
              <a:t>muito simples </a:t>
            </a:r>
            <a:r>
              <a:rPr lang="pt-BR" dirty="0">
                <a:effectLst/>
              </a:rPr>
              <a:t>(i.e., tem pouca flexibilidade) para aprender/</a:t>
            </a:r>
            <a:r>
              <a:rPr lang="pt-BR" b="1" dirty="0">
                <a:effectLst/>
              </a:rPr>
              <a:t>capturar o padrão geral </a:t>
            </a:r>
            <a:r>
              <a:rPr lang="pt-BR" dirty="0">
                <a:effectLst/>
              </a:rPr>
              <a:t>por trás dos dados de treinamento.</a:t>
            </a:r>
          </a:p>
          <a:p>
            <a:r>
              <a:rPr lang="pt-BR" b="1" dirty="0"/>
              <a:t>Alto viés</a:t>
            </a:r>
            <a:r>
              <a:rPr lang="pt-BR" dirty="0"/>
              <a:t>: faz </a:t>
            </a:r>
            <a:r>
              <a:rPr lang="pt-BR" b="1" dirty="0">
                <a:solidFill>
                  <a:srgbClr val="00B050"/>
                </a:solidFill>
              </a:rPr>
              <a:t>suposições muito fortes sobre a </a:t>
            </a:r>
            <a:r>
              <a:rPr lang="pt-BR" b="1" dirty="0">
                <a:solidFill>
                  <a:srgbClr val="7030A0"/>
                </a:solidFill>
              </a:rPr>
              <a:t>forma</a:t>
            </a:r>
            <a:r>
              <a:rPr lang="pt-BR" b="1" dirty="0">
                <a:solidFill>
                  <a:srgbClr val="00B050"/>
                </a:solidFill>
              </a:rPr>
              <a:t> da função </a:t>
            </a:r>
            <a:r>
              <a:rPr lang="pt-BR" dirty="0"/>
              <a:t>(e.g., assumir linearidade quando a relação é curva).</a:t>
            </a:r>
          </a:p>
          <a:p>
            <a:r>
              <a:rPr lang="pt-BR" dirty="0"/>
              <a:t>O modelo </a:t>
            </a:r>
            <a:r>
              <a:rPr lang="pt-BR" b="1" dirty="0">
                <a:solidFill>
                  <a:srgbClr val="00B050"/>
                </a:solidFill>
              </a:rPr>
              <a:t>não generaliza bem</a:t>
            </a:r>
            <a:r>
              <a:rPr lang="pt-BR" dirty="0"/>
              <a:t>.</a:t>
            </a:r>
          </a:p>
        </p:txBody>
      </p:sp>
      <p:pic>
        <p:nvPicPr>
          <p:cNvPr id="1028" name="Picture 4" descr="Overfitting vs Underfitting in Neural Network and Comparison of Error rate  with Complexity Graph | by Khush Patel | Towards Data Science">
            <a:extLst>
              <a:ext uri="{FF2B5EF4-FFF2-40B4-BE49-F238E27FC236}">
                <a16:creationId xmlns:a16="http://schemas.microsoft.com/office/drawing/2014/main" id="{7F05446A-F06D-3BEC-420E-6ACCB2C4959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48" t="26610" r="50000" b="4479"/>
          <a:stretch/>
        </p:blipFill>
        <p:spPr bwMode="auto">
          <a:xfrm>
            <a:off x="838200" y="2238704"/>
            <a:ext cx="4484249" cy="3541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07129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grpSp>
        <p:nvGrpSpPr>
          <p:cNvPr id="11" name="Grupo 10"/>
          <p:cNvGrpSpPr/>
          <p:nvPr/>
        </p:nvGrpSpPr>
        <p:grpSpPr>
          <a:xfrm>
            <a:off x="1124066" y="1301491"/>
            <a:ext cx="9001125" cy="3763423"/>
            <a:chOff x="1124066" y="1372931"/>
            <a:chExt cx="9001125" cy="3763423"/>
          </a:xfrm>
        </p:grpSpPr>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a:t>subajuste</a:t>
              </a:r>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gr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986338"/>
            <a:ext cx="11353802" cy="1871661"/>
          </a:xfrm>
        </p:spPr>
        <p:txBody>
          <a:bodyPr>
            <a:normAutofit lnSpcReduction="10000"/>
          </a:bodyPr>
          <a:lstStyle/>
          <a:p>
            <a:r>
              <a:rPr lang="pt-BR" dirty="0"/>
              <a:t>O modelo </a:t>
            </a:r>
            <a:r>
              <a:rPr lang="pt-BR" b="1" dirty="0"/>
              <a:t>não tem flexibilidade para capturar o padrão</a:t>
            </a:r>
            <a:r>
              <a:rPr lang="pt-BR" dirty="0"/>
              <a:t> </a:t>
            </a:r>
            <a:r>
              <a:rPr lang="pt-BR" b="1" dirty="0"/>
              <a:t>geral</a:t>
            </a:r>
            <a:r>
              <a:rPr lang="pt-BR" dirty="0"/>
              <a:t> presente nos dados de treinamento.</a:t>
            </a:r>
          </a:p>
          <a:p>
            <a:r>
              <a:rPr lang="pt-BR" dirty="0"/>
              <a:t>O modelo apresenta </a:t>
            </a:r>
            <a:r>
              <a:rPr lang="pt-BR" b="1" dirty="0"/>
              <a:t>erros altos nos conjuntos de treinamento e validação</a:t>
            </a:r>
            <a:r>
              <a:rPr lang="pt-BR" dirty="0"/>
              <a:t>.</a:t>
            </a:r>
          </a:p>
          <a:p>
            <a:r>
              <a:rPr lang="pt-BR" dirty="0"/>
              <a:t>Esse padrão indica </a:t>
            </a:r>
            <a:r>
              <a:rPr lang="pt-BR" b="1" dirty="0">
                <a:solidFill>
                  <a:schemeClr val="accent2"/>
                </a:solidFill>
              </a:rPr>
              <a:t>alto viés</a:t>
            </a:r>
            <a:r>
              <a:rPr lang="pt-BR" dirty="0"/>
              <a:t>.</a:t>
            </a:r>
          </a:p>
        </p:txBody>
      </p:sp>
    </p:spTree>
    <p:extLst>
      <p:ext uri="{BB962C8B-B14F-4D97-AF65-F5344CB8AC3E}">
        <p14:creationId xmlns:p14="http://schemas.microsoft.com/office/powerpoint/2010/main" val="51763617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406487"/>
            <a:ext cx="11216148" cy="1451511"/>
          </a:xfrm>
        </p:spPr>
        <p:txBody>
          <a:bodyPr>
            <a:normAutofit/>
          </a:bodyPr>
          <a:lstStyle/>
          <a:p>
            <a:r>
              <a:rPr lang="pt-BR" b="1" dirty="0">
                <a:solidFill>
                  <a:srgbClr val="7030A0"/>
                </a:solidFill>
              </a:rPr>
              <a:t>Possíveis causas</a:t>
            </a:r>
            <a:r>
              <a:rPr lang="pt-BR" dirty="0"/>
              <a:t>: modelo </a:t>
            </a:r>
            <a:r>
              <a:rPr lang="pt-BR" b="1" dirty="0"/>
              <a:t>sem complexidade</a:t>
            </a:r>
            <a:r>
              <a:rPr lang="pt-BR" dirty="0"/>
              <a:t>, </a:t>
            </a:r>
            <a:r>
              <a:rPr lang="pt-BR" b="1" dirty="0"/>
              <a:t>poucas épocas de treinamento</a:t>
            </a:r>
            <a:r>
              <a:rPr lang="pt-BR" dirty="0"/>
              <a:t> e </a:t>
            </a:r>
            <a:r>
              <a:rPr lang="pt-BR" b="1" dirty="0"/>
              <a:t>dados de treinamento não representativos </a:t>
            </a:r>
            <a:r>
              <a:rPr lang="pt-BR" dirty="0"/>
              <a:t>(modelo falha em aprender as características relevantes).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9905814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209865"/>
            <a:ext cx="11216148" cy="1648134"/>
          </a:xfrm>
        </p:spPr>
        <p:txBody>
          <a:bodyPr>
            <a:normAutofit/>
          </a:bodyPr>
          <a:lstStyle/>
          <a:p>
            <a:r>
              <a:rPr lang="pt-BR" b="1" dirty="0">
                <a:solidFill>
                  <a:srgbClr val="7030A0"/>
                </a:solidFill>
              </a:rPr>
              <a:t>Como mitigar</a:t>
            </a:r>
            <a:r>
              <a:rPr lang="pt-BR" dirty="0"/>
              <a:t>: </a:t>
            </a:r>
            <a:r>
              <a:rPr lang="pt-BR" b="1" dirty="0"/>
              <a:t>aumentar a complexidade </a:t>
            </a:r>
            <a:r>
              <a:rPr lang="pt-BR" dirty="0"/>
              <a:t>do modelo (e.g., grau do polinômio), </a:t>
            </a:r>
            <a:r>
              <a:rPr lang="pt-BR" b="1" dirty="0"/>
              <a:t>ajustar os hiperparâmetros </a:t>
            </a:r>
            <a:r>
              <a:rPr lang="pt-BR" dirty="0"/>
              <a:t>(e.g., passo de aprendizagem), </a:t>
            </a:r>
            <a:r>
              <a:rPr lang="pt-BR" b="1" dirty="0"/>
              <a:t>treinar por mais épocas </a:t>
            </a:r>
            <a:r>
              <a:rPr lang="pt-BR" dirty="0"/>
              <a:t>e </a:t>
            </a:r>
            <a:r>
              <a:rPr lang="pt-BR" b="1" dirty="0"/>
              <a:t>aumentar o conjunto de treinamento</a:t>
            </a:r>
            <a:r>
              <a:rPr lang="pt-BR" dirty="0"/>
              <a:t>, se possível.</a:t>
            </a:r>
          </a:p>
          <a:p>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66250550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353800" cy="2171700"/>
          </a:xfrm>
        </p:spPr>
        <p:txBody>
          <a:bodyPr>
            <a:normAutofit lnSpcReduction="10000"/>
          </a:bodyPr>
          <a:lstStyle/>
          <a:p>
            <a:r>
              <a:rPr lang="pt-BR" dirty="0"/>
              <a:t>O </a:t>
            </a:r>
            <a:r>
              <a:rPr lang="pt-BR" dirty="0">
                <a:effectLst/>
              </a:rPr>
              <a:t>modelo se </a:t>
            </a:r>
            <a:r>
              <a:rPr lang="pt-BR" b="1" dirty="0">
                <a:solidFill>
                  <a:srgbClr val="7030A0"/>
                </a:solidFill>
                <a:effectLst/>
              </a:rPr>
              <a:t>ajusta excessivamente </a:t>
            </a:r>
            <a:r>
              <a:rPr lang="pt-BR" dirty="0">
                <a:effectLst/>
              </a:rPr>
              <a:t>aos dados de </a:t>
            </a:r>
            <a:r>
              <a:rPr lang="pt-BR" b="1" dirty="0">
                <a:solidFill>
                  <a:srgbClr val="7030A0"/>
                </a:solidFill>
                <a:effectLst/>
              </a:rPr>
              <a:t>treinamento</a:t>
            </a:r>
            <a:r>
              <a:rPr lang="pt-BR" dirty="0">
                <a:effectLst/>
              </a:rPr>
              <a:t> e </a:t>
            </a:r>
            <a:r>
              <a:rPr lang="pt-BR" b="1" dirty="0">
                <a:solidFill>
                  <a:srgbClr val="00B050"/>
                </a:solidFill>
                <a:effectLst/>
              </a:rPr>
              <a:t>perde a capacidade de generalizar</a:t>
            </a:r>
            <a:r>
              <a:rPr lang="pt-BR" dirty="0">
                <a:effectLst/>
              </a:rPr>
              <a:t>.</a:t>
            </a:r>
          </a:p>
          <a:p>
            <a:r>
              <a:rPr lang="pt-BR" dirty="0"/>
              <a:t>O modelo apresenta </a:t>
            </a:r>
            <a:r>
              <a:rPr lang="pt-BR" b="1" dirty="0"/>
              <a:t>erro muito baixo</a:t>
            </a:r>
            <a:r>
              <a:rPr lang="pt-BR" dirty="0"/>
              <a:t>, tendendo a zero, </a:t>
            </a:r>
            <a:r>
              <a:rPr lang="pt-BR" b="1" dirty="0"/>
              <a:t>no conjunto de treinamento</a:t>
            </a:r>
            <a:r>
              <a:rPr lang="pt-BR" dirty="0"/>
              <a:t> e </a:t>
            </a:r>
            <a:r>
              <a:rPr lang="pt-BR" b="1" dirty="0"/>
              <a:t>muito alto no conjunto de validação</a:t>
            </a:r>
            <a:r>
              <a:rPr lang="pt-BR" dirty="0"/>
              <a:t>.</a:t>
            </a:r>
          </a:p>
          <a:p>
            <a:r>
              <a:rPr lang="pt-BR" dirty="0"/>
              <a:t>Esse padrão indica </a:t>
            </a:r>
            <a:r>
              <a:rPr lang="pt-BR" b="1" dirty="0">
                <a:solidFill>
                  <a:schemeClr val="accent2"/>
                </a:solidFill>
              </a:rPr>
              <a:t>alta variância</a:t>
            </a:r>
            <a:r>
              <a:rPr lang="pt-BR" dirty="0"/>
              <a:t>.</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4987241" y="1336032"/>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3475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8545921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922451"/>
            <a:ext cx="11216148" cy="1935549"/>
          </a:xfrm>
        </p:spPr>
        <p:txBody>
          <a:bodyPr>
            <a:normAutofit/>
          </a:bodyPr>
          <a:lstStyle/>
          <a:p>
            <a:r>
              <a:rPr lang="pt-BR" b="1" dirty="0">
                <a:solidFill>
                  <a:srgbClr val="7030A0"/>
                </a:solidFill>
              </a:rPr>
              <a:t>Possíveis causas</a:t>
            </a:r>
            <a:r>
              <a:rPr lang="pt-BR" dirty="0"/>
              <a:t>: </a:t>
            </a:r>
            <a:r>
              <a:rPr lang="pt-BR" b="1" dirty="0"/>
              <a:t>modelo muito complexo</a:t>
            </a:r>
            <a:r>
              <a:rPr lang="pt-BR" dirty="0"/>
              <a:t>, </a:t>
            </a:r>
            <a:r>
              <a:rPr lang="pt-BR" b="1" dirty="0"/>
              <a:t>treinamento excessivo </a:t>
            </a:r>
            <a:r>
              <a:rPr lang="pt-BR" dirty="0"/>
              <a:t>(</a:t>
            </a:r>
            <a:r>
              <a:rPr lang="pt-BR" b="0" dirty="0">
                <a:effectLst/>
              </a:rPr>
              <a:t>leva à memorização dos dados de treinamento)</a:t>
            </a:r>
            <a:r>
              <a:rPr lang="pt-BR" dirty="0"/>
              <a:t>, </a:t>
            </a:r>
            <a:r>
              <a:rPr lang="pt-BR" b="1" dirty="0"/>
              <a:t>f</a:t>
            </a:r>
            <a:r>
              <a:rPr lang="pt-BR" b="1" dirty="0">
                <a:effectLst/>
              </a:rPr>
              <a:t>alta de dados </a:t>
            </a:r>
            <a:r>
              <a:rPr lang="pt-BR" dirty="0">
                <a:effectLst/>
              </a:rPr>
              <a:t>(o modelo tem poucos</a:t>
            </a:r>
            <a:r>
              <a:rPr lang="pt-BR" b="0" dirty="0">
                <a:effectLst/>
              </a:rPr>
              <a:t> exemplos para aprender os padrões gerais).</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9781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72555027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a:bodyPr>
          <a:lstStyle/>
          <a:p>
            <a:r>
              <a:rPr lang="pt-BR" b="1" dirty="0">
                <a:solidFill>
                  <a:srgbClr val="7030A0"/>
                </a:solidFill>
              </a:rPr>
              <a:t>Como mitigar</a:t>
            </a:r>
            <a:r>
              <a:rPr lang="pt-BR" dirty="0"/>
              <a:t>: </a:t>
            </a:r>
            <a:r>
              <a:rPr lang="pt-BR" b="1" dirty="0"/>
              <a:t>aumentar os dados de treinamento</a:t>
            </a:r>
            <a:r>
              <a:rPr lang="pt-BR" dirty="0"/>
              <a:t>, se possível, </a:t>
            </a:r>
            <a:r>
              <a:rPr lang="pt-BR" b="1" dirty="0"/>
              <a:t>r</a:t>
            </a:r>
            <a:r>
              <a:rPr lang="pt-BR" b="1" dirty="0">
                <a:effectLst/>
              </a:rPr>
              <a:t>eduzir a complexidade do modelo</a:t>
            </a:r>
            <a:r>
              <a:rPr lang="pt-BR" b="1" dirty="0"/>
              <a:t> </a:t>
            </a:r>
            <a:r>
              <a:rPr lang="pt-BR" dirty="0"/>
              <a:t>(e.g., </a:t>
            </a:r>
            <a:r>
              <a:rPr lang="pt-BR" b="0" dirty="0">
                <a:effectLst/>
              </a:rPr>
              <a:t>reduzir grau do polinômio), </a:t>
            </a:r>
            <a:r>
              <a:rPr lang="pt-BR" b="1" dirty="0">
                <a:effectLst/>
              </a:rPr>
              <a:t>aplicar técnicas de regularização </a:t>
            </a:r>
            <a:r>
              <a:rPr lang="pt-BR" b="0" dirty="0">
                <a:effectLst/>
              </a:rPr>
              <a:t>(e.g., penalizações L1 ou L2, </a:t>
            </a:r>
            <a:r>
              <a:rPr lang="pt-BR" b="0" i="1" dirty="0" err="1">
                <a:effectLst/>
              </a:rPr>
              <a:t>dropout</a:t>
            </a:r>
            <a:r>
              <a:rPr lang="pt-BR" b="0" dirty="0">
                <a:effectLst/>
              </a:rPr>
              <a:t>, </a:t>
            </a:r>
            <a:r>
              <a:rPr lang="pt-BR" i="1" dirty="0">
                <a:effectLst/>
              </a:rPr>
              <a:t>early-stopping</a:t>
            </a:r>
            <a:r>
              <a:rPr lang="pt-BR" b="0" dirty="0">
                <a:effectLst/>
              </a:rPr>
              <a:t>, o qual </a:t>
            </a:r>
            <a:r>
              <a:rPr lang="pt-BR" dirty="0"/>
              <a:t>encerra o treinamento quando o modelo começa sobreajustar</a:t>
            </a:r>
            <a:r>
              <a:rPr lang="pt-BR" b="0" dirty="0">
                <a:effectLst/>
              </a:rPr>
              <a:t>).</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8170098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dirty="0"/>
              <a:t>Ponto de </a:t>
            </a:r>
            <a:r>
              <a:rPr lang="en-US" dirty="0" err="1"/>
              <a:t>equilíbrio</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768645"/>
            <a:ext cx="11353800" cy="2089356"/>
          </a:xfrm>
        </p:spPr>
        <p:txBody>
          <a:bodyPr>
            <a:normAutofit/>
          </a:bodyPr>
          <a:lstStyle/>
          <a:p>
            <a:r>
              <a:rPr lang="pt-BR" dirty="0">
                <a:effectLst/>
              </a:rPr>
              <a:t>Encontrar o </a:t>
            </a:r>
            <a:r>
              <a:rPr lang="pt-BR" b="1" dirty="0">
                <a:solidFill>
                  <a:srgbClr val="00B050"/>
                </a:solidFill>
                <a:effectLst/>
              </a:rPr>
              <a:t>equilíbrio entre a complexidade </a:t>
            </a:r>
            <a:r>
              <a:rPr lang="pt-BR" dirty="0">
                <a:effectLst/>
              </a:rPr>
              <a:t>(ou flexibilidade) do modelo e sua </a:t>
            </a:r>
            <a:r>
              <a:rPr lang="pt-BR" b="1" dirty="0">
                <a:solidFill>
                  <a:srgbClr val="00B050"/>
                </a:solidFill>
                <a:effectLst/>
              </a:rPr>
              <a:t>capacidade de generalização </a:t>
            </a:r>
            <a:r>
              <a:rPr lang="pt-BR" dirty="0">
                <a:effectLst/>
              </a:rPr>
              <a:t>é essencial para um bom desempenho.</a:t>
            </a:r>
          </a:p>
          <a:p>
            <a:r>
              <a:rPr lang="pt-BR" dirty="0"/>
              <a:t>Um modelo que atinge o </a:t>
            </a:r>
            <a:r>
              <a:rPr lang="pt-BR" b="1" dirty="0">
                <a:solidFill>
                  <a:schemeClr val="accent2"/>
                </a:solidFill>
              </a:rPr>
              <a:t>ponto de equilíbrio</a:t>
            </a:r>
            <a:r>
              <a:rPr lang="pt-BR" dirty="0"/>
              <a:t> apresenta </a:t>
            </a:r>
            <a:r>
              <a:rPr lang="pt-BR" b="1" dirty="0">
                <a:solidFill>
                  <a:schemeClr val="accent2"/>
                </a:solidFill>
              </a:rPr>
              <a:t>ambos os erros, treinamento e validação, pequenos e próximos</a:t>
            </a:r>
            <a:r>
              <a:rPr lang="pt-BR" dirty="0"/>
              <a:t>.</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419434596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945F73D8-097B-0F49-0490-91BBF0A6A45E}"/>
              </a:ext>
            </a:extLst>
          </p:cNvPr>
          <p:cNvSpPr>
            <a:spLocks noGrp="1"/>
          </p:cNvSpPr>
          <p:nvPr>
            <p:ph idx="1"/>
          </p:nvPr>
        </p:nvSpPr>
        <p:spPr>
          <a:xfrm>
            <a:off x="838200" y="1825624"/>
            <a:ext cx="11353800" cy="5032375"/>
          </a:xfrm>
        </p:spPr>
        <p:txBody>
          <a:bodyPr/>
          <a:lstStyle/>
          <a:p>
            <a:r>
              <a:rPr lang="pt-BR" b="0" dirty="0">
                <a:solidFill>
                  <a:srgbClr val="0F0F0F"/>
                </a:solidFill>
                <a:effectLst/>
              </a:rPr>
              <a:t>É uma técnica utilizada para </a:t>
            </a:r>
            <a:r>
              <a:rPr lang="pt-BR" b="1" dirty="0">
                <a:solidFill>
                  <a:srgbClr val="00B050"/>
                </a:solidFill>
                <a:effectLst/>
              </a:rPr>
              <a:t>avaliar quantitativamente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a:solidFill>
                  <a:srgbClr val="00B050"/>
                </a:solidFill>
                <a:effectLst/>
              </a:rPr>
              <a:t>verificar se ele generalize bem</a:t>
            </a:r>
            <a:r>
              <a:rPr lang="pt-BR" b="0" dirty="0">
                <a:solidFill>
                  <a:srgbClr val="0F0F0F"/>
                </a:solidFill>
                <a:effectLst/>
              </a:rPr>
              <a:t>.</a:t>
            </a:r>
          </a:p>
          <a:p>
            <a:r>
              <a:rPr lang="pt-BR" b="0" dirty="0">
                <a:solidFill>
                  <a:srgbClr val="0F0F0F"/>
                </a:solidFill>
                <a:effectLst/>
              </a:rPr>
              <a:t>Envolve </a:t>
            </a:r>
            <a:r>
              <a:rPr lang="pt-BR" b="1" dirty="0">
                <a:solidFill>
                  <a:srgbClr val="7030A0"/>
                </a:solidFill>
                <a:effectLst/>
              </a:rPr>
              <a:t>dividir o conjunto total de dados em subconjuntos</a:t>
            </a:r>
            <a:r>
              <a:rPr lang="pt-BR" b="0" dirty="0">
                <a:solidFill>
                  <a:srgbClr val="0F0F0F"/>
                </a:solidFill>
                <a:effectLst/>
              </a:rPr>
              <a:t> e realizar</a:t>
            </a:r>
            <a:r>
              <a:rPr lang="pt-BR" b="1" dirty="0">
                <a:solidFill>
                  <a:srgbClr val="7030A0"/>
                </a:solidFill>
              </a:rPr>
              <a:t> </a:t>
            </a:r>
            <a:r>
              <a:rPr lang="pt-BR" b="1" dirty="0">
                <a:solidFill>
                  <a:srgbClr val="7030A0"/>
                </a:solidFill>
                <a:effectLst/>
              </a:rPr>
              <a:t>rodadas de treinamento e validação </a:t>
            </a:r>
            <a:r>
              <a:rPr lang="pt-BR" b="0" dirty="0">
                <a:solidFill>
                  <a:srgbClr val="0F0F0F"/>
                </a:solidFill>
                <a:effectLst/>
              </a:rPr>
              <a:t>do modelo com </a:t>
            </a:r>
            <a:r>
              <a:rPr lang="pt-BR" b="1" dirty="0">
                <a:solidFill>
                  <a:srgbClr val="00B050"/>
                </a:solidFill>
                <a:effectLst/>
              </a:rPr>
              <a:t>diferentes combinações</a:t>
            </a:r>
            <a:r>
              <a:rPr lang="pt-BR" b="1" dirty="0">
                <a:solidFill>
                  <a:srgbClr val="7030A0"/>
                </a:solidFill>
                <a:effectLst/>
              </a:rPr>
              <a:t> </a:t>
            </a:r>
            <a:r>
              <a:rPr lang="pt-BR" dirty="0">
                <a:effectLst/>
              </a:rPr>
              <a:t>dos subconjuntos</a:t>
            </a:r>
            <a:r>
              <a:rPr lang="pt-BR" dirty="0"/>
              <a:t>.</a:t>
            </a:r>
            <a:endParaRPr lang="pt-BR" dirty="0">
              <a:effectLst/>
            </a:endParaRPr>
          </a:p>
          <a:p>
            <a:r>
              <a:rPr lang="pt-BR" b="0" dirty="0">
                <a:solidFill>
                  <a:srgbClr val="0F0F0F"/>
                </a:solidFill>
                <a:effectLst/>
              </a:rPr>
              <a:t>É uma ferramenta importante para </a:t>
            </a:r>
          </a:p>
          <a:p>
            <a:pPr lvl="1">
              <a:buFont typeface="Wingdings" panose="05000000000000000000" pitchFamily="2" charset="2"/>
              <a:buChar char="§"/>
            </a:pPr>
            <a:r>
              <a:rPr lang="pt-BR" b="1" dirty="0">
                <a:solidFill>
                  <a:srgbClr val="0070C0"/>
                </a:solidFill>
                <a:effectLst/>
              </a:rPr>
              <a:t>comparar e selecionar modelos</a:t>
            </a:r>
            <a:endParaRPr lang="pt-BR" b="0" dirty="0">
              <a:solidFill>
                <a:srgbClr val="0F0F0F"/>
              </a:solidFill>
              <a:effectLst/>
            </a:endParaRPr>
          </a:p>
          <a:p>
            <a:pPr lvl="1">
              <a:buFont typeface="Wingdings" panose="05000000000000000000" pitchFamily="2" charset="2"/>
              <a:buChar char="§"/>
            </a:pPr>
            <a:r>
              <a:rPr lang="pt-BR" dirty="0">
                <a:solidFill>
                  <a:srgbClr val="0F0F0F"/>
                </a:solidFill>
              </a:rPr>
              <a:t>e</a:t>
            </a:r>
            <a:r>
              <a:rPr lang="pt-BR" b="0" dirty="0">
                <a:solidFill>
                  <a:srgbClr val="0F0F0F"/>
                </a:solidFill>
                <a:effectLst/>
              </a:rPr>
              <a:t>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A191BF4C-9AB1-8D9D-C795-058F9A528591}"/>
              </a:ext>
            </a:extLst>
          </p:cNvPr>
          <p:cNvSpPr>
            <a:spLocks noGrp="1"/>
          </p:cNvSpPr>
          <p:nvPr>
            <p:ph idx="1"/>
          </p:nvPr>
        </p:nvSpPr>
        <p:spPr>
          <a:xfrm>
            <a:off x="838199" y="1825624"/>
            <a:ext cx="11353801" cy="5032375"/>
          </a:xfrm>
        </p:spPr>
        <p:txBody>
          <a:bodyPr>
            <a:normAutofit/>
          </a:bodyPr>
          <a:lstStyle/>
          <a:p>
            <a:r>
              <a:rPr lang="pt-BR" b="1" dirty="0">
                <a:solidFill>
                  <a:srgbClr val="0070C0"/>
                </a:solidFill>
              </a:rPr>
              <a:t>Objetivo</a:t>
            </a:r>
            <a:r>
              <a:rPr lang="pt-BR" dirty="0"/>
              <a:t>: encontrar o </a:t>
            </a:r>
            <a:r>
              <a:rPr lang="pt-BR" b="1" dirty="0">
                <a:solidFill>
                  <a:srgbClr val="0070C0"/>
                </a:solidFill>
              </a:rPr>
              <a:t>ponto 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de seu </a:t>
            </a:r>
            <a:r>
              <a:rPr lang="pt-BR" b="1" dirty="0">
                <a:solidFill>
                  <a:srgbClr val="00B050"/>
                </a:solidFill>
              </a:rPr>
              <a:t>erro de treinamento.</a:t>
            </a:r>
            <a:endParaRPr lang="pt-BR" dirty="0"/>
          </a:p>
          <a:p>
            <a:r>
              <a:rPr lang="pt-BR" dirty="0"/>
              <a:t>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de seu </a:t>
            </a:r>
            <a:r>
              <a:rPr lang="pt-BR" b="1" dirty="0">
                <a:solidFill>
                  <a:srgbClr val="00B050"/>
                </a:solidFill>
              </a:rPr>
              <a:t>erro de validação</a:t>
            </a:r>
            <a:r>
              <a:rPr lang="pt-BR" dirty="0"/>
              <a:t> ou de </a:t>
            </a:r>
            <a:r>
              <a:rPr lang="pt-BR" b="1" dirty="0">
                <a:solidFill>
                  <a:srgbClr val="00B050"/>
                </a:solidFill>
              </a:rPr>
              <a:t>teste</a:t>
            </a:r>
            <a:r>
              <a:rPr lang="pt-BR" dirty="0"/>
              <a:t>.</a:t>
            </a:r>
          </a:p>
          <a:p>
            <a:r>
              <a:rPr lang="pt-BR" b="1" dirty="0">
                <a:solidFill>
                  <a:schemeClr val="accent2"/>
                </a:solidFill>
              </a:rPr>
              <a:t>O erro de treinamento</a:t>
            </a:r>
            <a:r>
              <a:rPr lang="pt-BR" dirty="0"/>
              <a:t> é calculado com o conjunto usado para treinar o modelo.</a:t>
            </a:r>
          </a:p>
          <a:p>
            <a:r>
              <a:rPr lang="pt-BR" b="1" dirty="0">
                <a:solidFill>
                  <a:schemeClr val="accent2"/>
                </a:solidFill>
              </a:rPr>
              <a:t>O erro de validação ou teste</a:t>
            </a:r>
            <a:r>
              <a:rPr lang="pt-BR" dirty="0"/>
              <a:t> é calculado com dados inéditos dos conjuntos de validação ou teste.</a:t>
            </a:r>
          </a:p>
        </p:txBody>
      </p:sp>
    </p:spTree>
    <p:extLst>
      <p:ext uri="{BB962C8B-B14F-4D97-AF65-F5344CB8AC3E}">
        <p14:creationId xmlns:p14="http://schemas.microsoft.com/office/powerpoint/2010/main" val="386480043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do polinômio</a:t>
                </a:r>
                <a:r>
                  <a:rPr lang="pt-BR" dirty="0"/>
                  <a:t>, o </a:t>
                </a:r>
                <a:r>
                  <a:rPr lang="pt-BR" b="1" dirty="0">
                    <a:solidFill>
                      <a:srgbClr val="7030A0"/>
                    </a:solidFill>
                  </a:rPr>
                  <a:t>comportamento destes dois erros</a:t>
                </a:r>
                <a:r>
                  <a:rPr lang="pt-BR" dirty="0"/>
                  <a:t> 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Existem diversas estratégias de validação cruzada, como:</a:t>
                </a:r>
              </a:p>
              <a:p>
                <a:pPr lvl="1">
                  <a:buFont typeface="Wingdings" panose="05000000000000000000" pitchFamily="2" charset="2"/>
                  <a:buChar char="§"/>
                </a:pPr>
                <a:r>
                  <a:rPr lang="pt-BR" i="1" dirty="0" err="1"/>
                  <a:t>holdout</a:t>
                </a:r>
                <a:r>
                  <a:rPr lang="pt-BR" i="1" dirty="0"/>
                  <a:t> </a:t>
                </a:r>
              </a:p>
              <a:p>
                <a:pPr lvl="1">
                  <a:buFont typeface="Wingdings" panose="05000000000000000000" pitchFamily="2" charset="2"/>
                  <a:buChar char="§"/>
                </a:pPr>
                <a14:m>
                  <m:oMath xmlns:m="http://schemas.openxmlformats.org/officeDocument/2006/math">
                    <m:r>
                      <a:rPr lang="pt-BR" i="1">
                        <a:latin typeface="Cambria Math" panose="02040503050406030204" pitchFamily="18" charset="0"/>
                      </a:rPr>
                      <m:t>𝑘</m:t>
                    </m:r>
                  </m:oMath>
                </a14:m>
                <a:r>
                  <a:rPr lang="pt-BR" i="1" dirty="0"/>
                  <a:t>-</a:t>
                </a:r>
                <a:r>
                  <a:rPr lang="pt-BR" i="1" dirty="0" err="1"/>
                  <a:t>fold</a:t>
                </a:r>
                <a:endParaRPr lang="pt-BR" i="1" dirty="0"/>
              </a:p>
              <a:p>
                <a:pPr lvl="1">
                  <a:buFont typeface="Wingdings" panose="05000000000000000000" pitchFamily="2" charset="2"/>
                  <a:buChar char="§"/>
                </a:pPr>
                <a:r>
                  <a:rPr lang="pt-BR" i="1" dirty="0" err="1"/>
                  <a:t>leave</a:t>
                </a:r>
                <a:r>
                  <a:rPr lang="pt-BR" i="1" dirty="0"/>
                  <a:t>-</a:t>
                </a:r>
                <a14:m>
                  <m:oMath xmlns:m="http://schemas.openxmlformats.org/officeDocument/2006/math">
                    <m:r>
                      <a:rPr lang="pt-BR" b="0" i="1" smtClean="0">
                        <a:latin typeface="Cambria Math" panose="02040503050406030204" pitchFamily="18" charset="0"/>
                      </a:rPr>
                      <m:t>𝑝</m:t>
                    </m:r>
                  </m:oMath>
                </a14:m>
                <a:r>
                  <a:rPr lang="pt-BR" i="1" dirty="0"/>
                  <a:t>-out</a:t>
                </a:r>
              </a:p>
              <a:p>
                <a:pPr marL="0" indent="0">
                  <a:buNone/>
                </a:pPr>
                <a:r>
                  <a:rPr lang="pt-BR" dirty="0"/>
                  <a:t>sendo o </a:t>
                </a:r>
                <a14:m>
                  <m:oMath xmlns:m="http://schemas.openxmlformats.org/officeDocument/2006/math">
                    <m:r>
                      <a:rPr lang="pt-BR" i="1">
                        <a:latin typeface="Cambria Math" panose="02040503050406030204" pitchFamily="18" charset="0"/>
                      </a:rPr>
                      <m:t>𝑘</m:t>
                    </m:r>
                  </m:oMath>
                </a14:m>
                <a:r>
                  <a:rPr lang="pt-BR" i="1" dirty="0"/>
                  <a:t>-</a:t>
                </a:r>
                <a:r>
                  <a:rPr lang="pt-BR" i="1" dirty="0" err="1"/>
                  <a:t>fold</a:t>
                </a:r>
                <a:r>
                  <a:rPr lang="pt-BR" dirty="0"/>
                  <a:t> a mais usada e a estratégia que aprenderemos.</a:t>
                </a:r>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1086" t="-1937"/>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C81D5EE1-D440-6F4D-3F1E-ED8B0B4036BF}"/>
              </a:ext>
            </a:extLst>
          </p:cNvPr>
          <p:cNvSpPr>
            <a:spLocks noGrp="1"/>
          </p:cNvSpPr>
          <p:nvPr>
            <p:ph idx="1"/>
          </p:nvPr>
        </p:nvSpPr>
        <p:spPr>
          <a:xfrm>
            <a:off x="5854700" y="1825624"/>
            <a:ext cx="63373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a:t>
            </a:r>
            <a:r>
              <a:rPr lang="pt-BR" b="1" dirty="0">
                <a:solidFill>
                  <a:schemeClr val="accent2"/>
                </a:solidFill>
                <a:effectLst/>
              </a:rPr>
              <a:t>parte</a:t>
            </a:r>
            <a:r>
              <a:rPr lang="pt-BR" b="0" dirty="0">
                <a:solidFill>
                  <a:srgbClr val="0F0F0F"/>
                </a:solidFill>
                <a:effectLst/>
              </a:rPr>
              <a:t> restante como conjunto de validação.</a:t>
            </a:r>
          </a:p>
          <a:p>
            <a:r>
              <a:rPr lang="pt-BR" dirty="0">
                <a:solidFill>
                  <a:srgbClr val="0F0F0F"/>
                </a:solidFill>
              </a:rPr>
              <a:t>O </a:t>
            </a:r>
            <a:r>
              <a:rPr lang="pt-BR" b="1" dirty="0">
                <a:solidFill>
                  <a:srgbClr val="0070C0"/>
                </a:solidFill>
              </a:rPr>
              <a:t>EQM para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F55CE789-94DC-AEE8-1D38-D05D40B0BF3A}"/>
              </a:ext>
            </a:extLst>
          </p:cNvPr>
          <p:cNvSpPr>
            <a:spLocks noGrp="1"/>
          </p:cNvSpPr>
          <p:nvPr>
            <p:ph idx="1"/>
          </p:nvPr>
        </p:nvSpPr>
        <p:spPr>
          <a:xfrm>
            <a:off x="5848350" y="1825624"/>
            <a:ext cx="6343650"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r>
              <a:rPr lang="pt-BR" b="1" dirty="0">
                <a:solidFill>
                  <a:srgbClr val="00B050"/>
                </a:solidFill>
              </a:rPr>
              <a:t>:</a:t>
            </a:r>
            <a:endParaRPr lang="pt-BR" b="1" dirty="0">
              <a:solidFill>
                <a:srgbClr val="00B050"/>
              </a:solidFill>
              <a:effectLst/>
            </a:endParaRPr>
          </a:p>
          <a:p>
            <a:pPr lvl="1">
              <a:buFont typeface="Wingdings" panose="05000000000000000000" pitchFamily="2" charset="2"/>
              <a:buChar char="§"/>
            </a:pPr>
            <a:r>
              <a:rPr lang="pt-BR" dirty="0"/>
              <a:t>A </a:t>
            </a:r>
            <a:r>
              <a:rPr lang="pt-BR" b="1" dirty="0">
                <a:solidFill>
                  <a:schemeClr val="accent2"/>
                </a:solidFill>
              </a:rPr>
              <a:t>média</a:t>
            </a:r>
            <a:r>
              <a:rPr lang="pt-BR" dirty="0"/>
              <a:t> fornece uma </a:t>
            </a:r>
            <a:r>
              <a:rPr lang="pt-BR" b="1" dirty="0">
                <a:solidFill>
                  <a:schemeClr val="accent2"/>
                </a:solidFill>
              </a:rPr>
              <a:t>estimativa da capacidade de generalização </a:t>
            </a:r>
            <a:r>
              <a:rPr lang="pt-BR" dirty="0"/>
              <a:t>do</a:t>
            </a:r>
            <a:br>
              <a:rPr lang="pt-BR" dirty="0"/>
            </a:br>
            <a:r>
              <a:rPr lang="pt-BR" dirty="0"/>
              <a:t>modelo em dados inéditos.</a:t>
            </a:r>
          </a:p>
          <a:p>
            <a:pPr lvl="1">
              <a:buFont typeface="Wingdings" panose="05000000000000000000" pitchFamily="2" charset="2"/>
              <a:buChar char="§"/>
            </a:pPr>
            <a:r>
              <a:rPr lang="pt-BR" dirty="0"/>
              <a:t>O </a:t>
            </a:r>
            <a:r>
              <a:rPr lang="pt-BR" b="1" dirty="0">
                <a:solidFill>
                  <a:srgbClr val="7030A0"/>
                </a:solidFill>
              </a:rPr>
              <a:t>desvio padrão </a:t>
            </a:r>
            <a:r>
              <a:rPr lang="pt-BR" dirty="0"/>
              <a:t>indica a</a:t>
            </a:r>
            <a:br>
              <a:rPr lang="pt-BR" dirty="0"/>
            </a:br>
            <a:r>
              <a:rPr lang="pt-BR" b="1" dirty="0">
                <a:solidFill>
                  <a:srgbClr val="7030A0"/>
                </a:solidFill>
              </a:rPr>
              <a:t>estabilidade do modelo</a:t>
            </a:r>
            <a:r>
              <a:rPr lang="pt-BR" dirty="0"/>
              <a:t> diante de </a:t>
            </a:r>
            <a:r>
              <a:rPr lang="pt-BR" b="1" dirty="0">
                <a:solidFill>
                  <a:srgbClr val="7030A0"/>
                </a:solidFill>
              </a:rPr>
              <a:t>diferentes subconjuntos </a:t>
            </a:r>
            <a:r>
              <a:rPr lang="pt-BR" dirty="0"/>
              <a:t>de</a:t>
            </a:r>
            <a:br>
              <a:rPr lang="pt-BR" dirty="0"/>
            </a:br>
            <a:r>
              <a:rPr lang="pt-BR" b="1" dirty="0">
                <a:solidFill>
                  <a:srgbClr val="7030A0"/>
                </a:solidFill>
              </a:rPr>
              <a:t>treinamento</a:t>
            </a:r>
            <a:r>
              <a:rPr lang="pt-BR" dirty="0"/>
              <a:t>.</a:t>
            </a:r>
          </a:p>
          <a:p>
            <a:pPr lvl="2">
              <a:buFont typeface="Courier New" panose="02070309020205020404" pitchFamily="49" charset="0"/>
              <a:buChar char="o"/>
            </a:pPr>
            <a:r>
              <a:rPr lang="pt-BR" dirty="0">
                <a:effectLst/>
              </a:rPr>
              <a:t>Um modelo que sempre captura o comportamento geral dos dados de treinamento tem baixa variância.</a:t>
            </a:r>
          </a:p>
        </p:txBody>
      </p:sp>
      <p:pic>
        <p:nvPicPr>
          <p:cNvPr id="4" name="Imagem 3">
            <a:extLst>
              <a:ext uri="{FF2B5EF4-FFF2-40B4-BE49-F238E27FC236}">
                <a16:creationId xmlns:a16="http://schemas.microsoft.com/office/drawing/2014/main"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C59768-E199-FC07-1D18-43F5B3FAEA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626500EB-428E-627B-4A36-F1786ED03F75}"/>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538FA78E-37EF-7A80-CAC5-45B94D3B2029}"/>
              </a:ext>
            </a:extLst>
          </p:cNvPr>
          <p:cNvSpPr>
            <a:spLocks noGrp="1"/>
          </p:cNvSpPr>
          <p:nvPr>
            <p:ph idx="1"/>
          </p:nvPr>
        </p:nvSpPr>
        <p:spPr>
          <a:xfrm>
            <a:off x="6096000" y="1825624"/>
            <a:ext cx="6096000" cy="5032375"/>
          </a:xfrm>
        </p:spPr>
        <p:txBody>
          <a:bodyPr>
            <a:normAutofit/>
          </a:bodyPr>
          <a:lstStyle/>
          <a:p>
            <a:r>
              <a:rPr lang="pt-BR" sz="2800" dirty="0"/>
              <a:t>Em geral, utiliza-se </a:t>
            </a:r>
            <a:r>
              <a:rPr lang="pt-BR" b="0" dirty="0">
                <a:solidFill>
                  <a:srgbClr val="0F0F0F"/>
                </a:solidFill>
                <a:effectLst/>
              </a:rPr>
              <a:t>𝒌</a:t>
            </a:r>
            <a:r>
              <a:rPr lang="pt-BR" sz="2800" dirty="0"/>
              <a:t> </a:t>
            </a:r>
            <a:r>
              <a:rPr lang="pt-BR" dirty="0"/>
              <a:t>entre 3 e</a:t>
            </a:r>
            <a:r>
              <a:rPr lang="pt-BR" sz="2800" dirty="0"/>
              <a:t> 10.</a:t>
            </a:r>
          </a:p>
          <a:p>
            <a:r>
              <a:rPr lang="pt-BR" sz="2800" dirty="0"/>
              <a:t>Porém, ele deve ser escolhido de forma que os </a:t>
            </a:r>
            <a:r>
              <a:rPr lang="pt-BR" sz="2800" i="1" dirty="0"/>
              <a:t>folds</a:t>
            </a:r>
            <a:r>
              <a:rPr lang="pt-BR" sz="2800" dirty="0"/>
              <a:t> sejam </a:t>
            </a:r>
            <a:r>
              <a:rPr lang="pt-BR" sz="2800" b="1" dirty="0">
                <a:solidFill>
                  <a:schemeClr val="accent2"/>
                </a:solidFill>
              </a:rPr>
              <a:t>representativos</a:t>
            </a:r>
            <a:r>
              <a:rPr lang="pt-BR" sz="2800" b="1" dirty="0"/>
              <a:t> do padrão presente nos dados.</a:t>
            </a:r>
          </a:p>
          <a:p>
            <a:pPr lvl="1">
              <a:buFont typeface="Wingdings" panose="05000000000000000000" pitchFamily="2" charset="2"/>
              <a:buChar char="§"/>
            </a:pPr>
            <a:r>
              <a:rPr lang="pt-BR" dirty="0">
                <a:solidFill>
                  <a:srgbClr val="0F0F0F"/>
                </a:solidFill>
              </a:rPr>
              <a:t>Problema conhecido como </a:t>
            </a:r>
            <a:r>
              <a:rPr lang="pt-BR" b="1" dirty="0">
                <a:solidFill>
                  <a:srgbClr val="FF0000"/>
                </a:solidFill>
              </a:rPr>
              <a:t>viés de seleção</a:t>
            </a:r>
            <a:r>
              <a:rPr lang="pt-BR" dirty="0">
                <a:solidFill>
                  <a:srgbClr val="0F0F0F"/>
                </a:solidFill>
              </a:rPr>
              <a:t>.</a:t>
            </a:r>
          </a:p>
          <a:p>
            <a:pPr lvl="1">
              <a:buFont typeface="Wingdings" panose="05000000000000000000" pitchFamily="2" charset="2"/>
              <a:buChar char="§"/>
            </a:pPr>
            <a:r>
              <a:rPr lang="pt-BR" dirty="0">
                <a:solidFill>
                  <a:srgbClr val="0F0F0F"/>
                </a:solidFill>
              </a:rPr>
              <a:t>A capacidade de generalização pode ser impactada negativamente.</a:t>
            </a:r>
          </a:p>
        </p:txBody>
      </p:sp>
      <p:grpSp>
        <p:nvGrpSpPr>
          <p:cNvPr id="6" name="Agrupar 8">
            <a:extLst>
              <a:ext uri="{FF2B5EF4-FFF2-40B4-BE49-F238E27FC236}">
                <a16:creationId xmlns:a16="http://schemas.microsoft.com/office/drawing/2014/main" id="{72CAD8E9-608C-0619-BA18-804ABB039257}"/>
              </a:ext>
            </a:extLst>
          </p:cNvPr>
          <p:cNvGrpSpPr/>
          <p:nvPr/>
        </p:nvGrpSpPr>
        <p:grpSpPr>
          <a:xfrm>
            <a:off x="425297" y="2187587"/>
            <a:ext cx="4600876" cy="3598860"/>
            <a:chOff x="423511" y="2416929"/>
            <a:chExt cx="4381727" cy="3392554"/>
          </a:xfrm>
        </p:grpSpPr>
        <p:pic>
          <p:nvPicPr>
            <p:cNvPr id="7" name="Picture 2">
              <a:extLst>
                <a:ext uri="{FF2B5EF4-FFF2-40B4-BE49-F238E27FC236}">
                  <a16:creationId xmlns:a16="http://schemas.microsoft.com/office/drawing/2014/main" id="{2997E71A-2934-26D3-0EF6-9BEBB14AC3B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3511" y="2416929"/>
              <a:ext cx="4381727" cy="339255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4">
              <a:extLst>
                <a:ext uri="{FF2B5EF4-FFF2-40B4-BE49-F238E27FC236}">
                  <a16:creationId xmlns:a16="http://schemas.microsoft.com/office/drawing/2014/main" id="{D78ADD44-4EA9-33F3-5DF6-5C5B279EB083}"/>
                </a:ext>
              </a:extLst>
            </p:cNvPr>
            <p:cNvSpPr/>
            <p:nvPr/>
          </p:nvSpPr>
          <p:spPr>
            <a:xfrm>
              <a:off x="1013460" y="3337560"/>
              <a:ext cx="2743200" cy="196596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5">
              <a:extLst>
                <a:ext uri="{FF2B5EF4-FFF2-40B4-BE49-F238E27FC236}">
                  <a16:creationId xmlns:a16="http://schemas.microsoft.com/office/drawing/2014/main" id="{3128F98A-711B-5325-266C-6BB55D57F01F}"/>
                </a:ext>
              </a:extLst>
            </p:cNvPr>
            <p:cNvSpPr/>
            <p:nvPr/>
          </p:nvSpPr>
          <p:spPr>
            <a:xfrm>
              <a:off x="3816351" y="2552700"/>
              <a:ext cx="812800" cy="1682416"/>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aixaDeTexto 6">
              <a:extLst>
                <a:ext uri="{FF2B5EF4-FFF2-40B4-BE49-F238E27FC236}">
                  <a16:creationId xmlns:a16="http://schemas.microsoft.com/office/drawing/2014/main" id="{7B47E952-9F60-C8B9-4C09-4B671AC49170}"/>
                </a:ext>
              </a:extLst>
            </p:cNvPr>
            <p:cNvSpPr txBox="1"/>
            <p:nvPr/>
          </p:nvSpPr>
          <p:spPr>
            <a:xfrm>
              <a:off x="1819136" y="3360571"/>
              <a:ext cx="1131848" cy="307777"/>
            </a:xfrm>
            <a:prstGeom prst="rect">
              <a:avLst/>
            </a:prstGeom>
            <a:noFill/>
          </p:spPr>
          <p:txBody>
            <a:bodyPr wrap="none" rtlCol="0">
              <a:spAutoFit/>
            </a:bodyPr>
            <a:lstStyle/>
            <a:p>
              <a:r>
                <a:rPr lang="pt-BR" sz="1400" b="1" dirty="0"/>
                <a:t>Treinamento</a:t>
              </a:r>
            </a:p>
          </p:txBody>
        </p:sp>
        <p:sp>
          <p:nvSpPr>
            <p:cNvPr id="11" name="CaixaDeTexto 7">
              <a:extLst>
                <a:ext uri="{FF2B5EF4-FFF2-40B4-BE49-F238E27FC236}">
                  <a16:creationId xmlns:a16="http://schemas.microsoft.com/office/drawing/2014/main" id="{CA0BDFF5-EE38-9E9E-C871-D5EBCF1842E8}"/>
                </a:ext>
              </a:extLst>
            </p:cNvPr>
            <p:cNvSpPr txBox="1"/>
            <p:nvPr/>
          </p:nvSpPr>
          <p:spPr>
            <a:xfrm>
              <a:off x="3791644" y="4235116"/>
              <a:ext cx="901529" cy="307777"/>
            </a:xfrm>
            <a:prstGeom prst="rect">
              <a:avLst/>
            </a:prstGeom>
            <a:noFill/>
          </p:spPr>
          <p:txBody>
            <a:bodyPr wrap="none" rtlCol="0">
              <a:spAutoFit/>
            </a:bodyPr>
            <a:lstStyle/>
            <a:p>
              <a:r>
                <a:rPr lang="pt-BR" sz="1400" b="1" dirty="0"/>
                <a:t>Validação</a:t>
              </a:r>
            </a:p>
          </p:txBody>
        </p:sp>
      </p:grpSp>
    </p:spTree>
    <p:extLst>
      <p:ext uri="{BB962C8B-B14F-4D97-AF65-F5344CB8AC3E}">
        <p14:creationId xmlns:p14="http://schemas.microsoft.com/office/powerpoint/2010/main" val="216426563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51A04E-87C2-A4B1-727E-ACB4C5801459}"/>
              </a:ext>
            </a:extLst>
          </p:cNvPr>
          <p:cNvSpPr>
            <a:spLocks noGrp="1"/>
          </p:cNvSpPr>
          <p:nvPr>
            <p:ph type="title"/>
          </p:nvPr>
        </p:nvSpPr>
        <p:spPr>
          <a:xfrm>
            <a:off x="838200" y="365125"/>
            <a:ext cx="109982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139ADDD6-6BAF-0757-3736-516A20794509}"/>
              </a:ext>
            </a:extLst>
          </p:cNvPr>
          <p:cNvSpPr>
            <a:spLocks noGrp="1"/>
          </p:cNvSpPr>
          <p:nvPr>
            <p:ph idx="1"/>
          </p:nvPr>
        </p:nvSpPr>
        <p:spPr>
          <a:xfrm>
            <a:off x="5572462" y="2005846"/>
            <a:ext cx="6619538" cy="4868781"/>
          </a:xfrm>
        </p:spPr>
        <p:txBody>
          <a:bodyPr>
            <a:normAutofit/>
          </a:bodyPr>
          <a:lstStyle/>
          <a:p>
            <a:r>
              <a:rPr lang="pt-BR" dirty="0"/>
              <a:t>Observem a figura.</a:t>
            </a:r>
          </a:p>
          <a:p>
            <a:r>
              <a:rPr lang="pt-BR" b="1" dirty="0">
                <a:solidFill>
                  <a:srgbClr val="00B050"/>
                </a:solidFill>
              </a:rPr>
              <a:t>Qual grau devemos escolher quando a média dos erros são mínimos e praticamente constantes para vários graus de polinômio?</a:t>
            </a:r>
          </a:p>
          <a:p>
            <a:r>
              <a:rPr lang="pt-BR" dirty="0"/>
              <a:t>Essa situação ocorre quando o número de amostras é muito maior do que a flexibilidade (e.g., o grau) do modelo.</a:t>
            </a:r>
          </a:p>
        </p:txBody>
      </p:sp>
      <p:pic>
        <p:nvPicPr>
          <p:cNvPr id="4" name="Picture 2">
            <a:extLst>
              <a:ext uri="{FF2B5EF4-FFF2-40B4-BE49-F238E27FC236}">
                <a16:creationId xmlns:a16="http://schemas.microsoft.com/office/drawing/2014/main" id="{F1523848-867A-3698-482D-51E11972A82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49470"/>
          <a:stretch/>
        </p:blipFill>
        <p:spPr bwMode="auto">
          <a:xfrm>
            <a:off x="108413" y="2005846"/>
            <a:ext cx="5237628" cy="380743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3160817B-5023-F2AE-B878-2F4AD2764249}"/>
              </a:ext>
            </a:extLst>
          </p:cNvPr>
          <p:cNvSpPr txBox="1"/>
          <p:nvPr/>
        </p:nvSpPr>
        <p:spPr>
          <a:xfrm>
            <a:off x="2334266" y="4283220"/>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sp>
        <p:nvSpPr>
          <p:cNvPr id="5" name="CaixaDeTexto 4"/>
          <p:cNvSpPr txBox="1"/>
          <p:nvPr/>
        </p:nvSpPr>
        <p:spPr>
          <a:xfrm>
            <a:off x="1071562" y="5943769"/>
            <a:ext cx="4274479" cy="646331"/>
          </a:xfrm>
          <a:prstGeom prst="rect">
            <a:avLst/>
          </a:prstGeom>
          <a:noFill/>
        </p:spPr>
        <p:txBody>
          <a:bodyPr wrap="square" rtlCol="0">
            <a:spAutoFit/>
          </a:bodyPr>
          <a:lstStyle/>
          <a:p>
            <a:pPr algn="ctr"/>
            <a:r>
              <a:rPr lang="pt-BR" dirty="0"/>
              <a:t>Média do EQM para modelos com diferentes complexidades</a:t>
            </a:r>
          </a:p>
        </p:txBody>
      </p:sp>
    </p:spTree>
    <p:extLst>
      <p:ext uri="{BB962C8B-B14F-4D97-AF65-F5344CB8AC3E}">
        <p14:creationId xmlns:p14="http://schemas.microsoft.com/office/powerpoint/2010/main" val="234686411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1B1586-529A-A679-60A3-A0D83AC9CEB5}"/>
              </a:ext>
            </a:extLst>
          </p:cNvPr>
          <p:cNvSpPr>
            <a:spLocks noGrp="1"/>
          </p:cNvSpPr>
          <p:nvPr>
            <p:ph type="title"/>
          </p:nvPr>
        </p:nvSpPr>
        <p:spPr>
          <a:xfrm>
            <a:off x="838200" y="365125"/>
            <a:ext cx="109855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39A11C6A-E0FA-69E8-0E7C-434857DB5D45}"/>
              </a:ext>
            </a:extLst>
          </p:cNvPr>
          <p:cNvSpPr>
            <a:spLocks noGrp="1"/>
          </p:cNvSpPr>
          <p:nvPr>
            <p:ph idx="1"/>
          </p:nvPr>
        </p:nvSpPr>
        <p:spPr>
          <a:xfrm>
            <a:off x="838200" y="1825624"/>
            <a:ext cx="11353800" cy="5032375"/>
          </a:xfrm>
        </p:spPr>
        <p:txBody>
          <a:bodyPr>
            <a:normAutofit/>
          </a:bodyPr>
          <a:lstStyle/>
          <a:p>
            <a:r>
              <a:rPr lang="pt-BR" dirty="0"/>
              <a:t>A resposta é aplicar o </a:t>
            </a:r>
            <a:r>
              <a:rPr lang="pt-BR" b="1" dirty="0"/>
              <a:t>princípio da navalha de </a:t>
            </a:r>
            <a:r>
              <a:rPr lang="pt-BR" b="1" dirty="0" err="1"/>
              <a:t>Occam</a:t>
            </a:r>
            <a:r>
              <a:rPr lang="pt-BR" dirty="0"/>
              <a:t>.</a:t>
            </a:r>
          </a:p>
          <a:p>
            <a:r>
              <a:rPr lang="pt-BR" dirty="0"/>
              <a:t>A </a:t>
            </a:r>
            <a:r>
              <a:rPr lang="pt-BR" b="1" dirty="0"/>
              <a:t>navalha de </a:t>
            </a:r>
            <a:r>
              <a:rPr lang="pt-BR" b="1" dirty="0" err="1"/>
              <a:t>Occam</a:t>
            </a:r>
            <a:r>
              <a:rPr lang="pt-BR" b="1" dirty="0"/>
              <a:t> </a:t>
            </a:r>
            <a:r>
              <a:rPr lang="pt-BR" dirty="0"/>
              <a:t>é um princípio lógico que diz que, </a:t>
            </a:r>
            <a:r>
              <a:rPr lang="pt-BR" b="1" dirty="0">
                <a:solidFill>
                  <a:srgbClr val="7030A0"/>
                </a:solidFill>
                <a:effectLst/>
              </a:rPr>
              <a:t>entre várias explicações igualmente plausíveis</a:t>
            </a:r>
            <a:r>
              <a:rPr lang="pt-BR" b="0" dirty="0">
                <a:solidFill>
                  <a:srgbClr val="0F0F0F"/>
                </a:solidFill>
                <a:effectLst/>
              </a:rPr>
              <a:t> para um conjunto de observações, a </a:t>
            </a:r>
            <a:r>
              <a:rPr lang="pt-BR" b="1" dirty="0">
                <a:solidFill>
                  <a:srgbClr val="7030A0"/>
                </a:solidFill>
                <a:effectLst/>
              </a:rPr>
              <a:t>mais simples deve ser preferida</a:t>
            </a:r>
            <a:r>
              <a:rPr lang="pt-BR" b="0" dirty="0">
                <a:solidFill>
                  <a:srgbClr val="0F0F0F"/>
                </a:solidFill>
                <a:effectLst/>
              </a:rPr>
              <a:t>.</a:t>
            </a:r>
            <a:endParaRPr lang="pt-BR" dirty="0"/>
          </a:p>
          <a:p>
            <a:pPr lvl="1">
              <a:buFont typeface="Wingdings" panose="05000000000000000000" pitchFamily="2" charset="2"/>
              <a:buChar char="§"/>
            </a:pPr>
            <a:r>
              <a:rPr lang="pt-BR" dirty="0"/>
              <a:t>Ou seja, deve-se </a:t>
            </a:r>
            <a:r>
              <a:rPr lang="pt-BR" b="1" dirty="0">
                <a:solidFill>
                  <a:srgbClr val="0070C0"/>
                </a:solidFill>
              </a:rPr>
              <a:t>preferir explicações mais simples às mais complexas</a:t>
            </a:r>
            <a:r>
              <a:rPr lang="pt-BR" dirty="0"/>
              <a:t>.</a:t>
            </a:r>
          </a:p>
          <a:p>
            <a:r>
              <a:rPr lang="pt-BR" dirty="0"/>
              <a:t>Portanto, usando a </a:t>
            </a:r>
            <a:r>
              <a:rPr lang="pt-BR" b="1" dirty="0"/>
              <a:t>navalha de </a:t>
            </a:r>
            <a:r>
              <a:rPr lang="pt-BR" b="1" dirty="0" err="1"/>
              <a:t>Occam</a:t>
            </a:r>
            <a:r>
              <a:rPr lang="pt-BR" dirty="0"/>
              <a:t> escolhemos a </a:t>
            </a:r>
            <a:r>
              <a:rPr lang="pt-BR" b="1" dirty="0">
                <a:solidFill>
                  <a:srgbClr val="002060"/>
                </a:solidFill>
              </a:rPr>
              <a:t>função hipótese polinomial</a:t>
            </a:r>
            <a:r>
              <a:rPr lang="pt-BR" b="1" dirty="0">
                <a:solidFill>
                  <a:srgbClr val="00B050"/>
                </a:solidFill>
              </a:rPr>
              <a:t> com menor grau</a:t>
            </a:r>
            <a:r>
              <a:rPr lang="pt-BR" dirty="0"/>
              <a:t> (i.e., menos complexa), </a:t>
            </a:r>
            <a:r>
              <a:rPr lang="pt-BR" b="1" dirty="0">
                <a:solidFill>
                  <a:srgbClr val="00B050"/>
                </a:solidFill>
              </a:rPr>
              <a:t>mas que se ajusta bem ao comportamento geral dos dados</a:t>
            </a:r>
            <a:r>
              <a:rPr lang="pt-BR" dirty="0"/>
              <a:t>.</a:t>
            </a:r>
          </a:p>
          <a:p>
            <a:pPr lvl="1">
              <a:buFont typeface="Wingdings" panose="05000000000000000000" pitchFamily="2" charset="2"/>
              <a:buChar char="§"/>
            </a:pPr>
            <a:r>
              <a:rPr lang="pt-BR" dirty="0"/>
              <a:t>Ou seja, escolhemos o modelo mais simples em termos de quantidade de cálculos, mas que possua uma boa capacidade de generalização.</a:t>
            </a:r>
          </a:p>
        </p:txBody>
      </p:sp>
    </p:spTree>
    <p:extLst>
      <p:ext uri="{BB962C8B-B14F-4D97-AF65-F5344CB8AC3E}">
        <p14:creationId xmlns:p14="http://schemas.microsoft.com/office/powerpoint/2010/main" val="245174827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C02EC-13AB-CF60-1E76-D8B929CCB92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2D0BB43-38B4-FFCC-014B-32D9C7B82DFB}"/>
              </a:ext>
            </a:extLst>
          </p:cNvPr>
          <p:cNvSpPr>
            <a:spLocks noGrp="1"/>
          </p:cNvSpPr>
          <p:nvPr>
            <p:ph idx="1"/>
          </p:nvPr>
        </p:nvSpPr>
        <p:spPr>
          <a:xfrm>
            <a:off x="838200" y="2554829"/>
            <a:ext cx="10515600" cy="1748341"/>
          </a:xfrm>
        </p:spPr>
        <p:txBody>
          <a:bodyPr/>
          <a:lstStyle/>
          <a:p>
            <a:pPr marL="0" indent="0" algn="ctr">
              <a:buNone/>
            </a:pPr>
            <a:r>
              <a:rPr lang="pt-BR" sz="5400" dirty="0"/>
              <a:t>Outras maneiras de se evitar que um modelo se sobreajuste</a:t>
            </a:r>
            <a:endParaRPr lang="en-US" sz="5400" dirty="0"/>
          </a:p>
        </p:txBody>
      </p:sp>
    </p:spTree>
    <p:extLst>
      <p:ext uri="{BB962C8B-B14F-4D97-AF65-F5344CB8AC3E}">
        <p14:creationId xmlns:p14="http://schemas.microsoft.com/office/powerpoint/2010/main" val="14766328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m 8">
            <a:extLst>
              <a:ext uri="{FF2B5EF4-FFF2-40B4-BE49-F238E27FC236}">
                <a16:creationId xmlns:a16="http://schemas.microsoft.com/office/drawing/2014/main" id="{20AB6FA0-AEEA-DD68-71A9-D05F91264E51}"/>
              </a:ext>
            </a:extLst>
          </p:cNvPr>
          <p:cNvPicPr>
            <a:picLocks noChangeAspect="1"/>
          </p:cNvPicPr>
          <p:nvPr/>
        </p:nvPicPr>
        <p:blipFill>
          <a:blip r:embed="rId3"/>
          <a:stretch>
            <a:fillRect/>
          </a:stretch>
        </p:blipFill>
        <p:spPr>
          <a:xfrm>
            <a:off x="2228194" y="3997134"/>
            <a:ext cx="2145915" cy="2852904"/>
          </a:xfrm>
          <a:prstGeom prst="rect">
            <a:avLst/>
          </a:prstGeom>
        </p:spPr>
      </p:pic>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dirty="0"/>
              <a:t>Regularização</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690794" y="1825624"/>
            <a:ext cx="6501206" cy="5032375"/>
          </a:xfrm>
        </p:spPr>
        <p:txBody>
          <a:bodyPr>
            <a:normAutofit lnSpcReduction="10000"/>
          </a:bodyPr>
          <a:lstStyle/>
          <a:p>
            <a:r>
              <a:rPr lang="pt-BR" b="0" dirty="0">
                <a:effectLst/>
              </a:rPr>
              <a:t>Envolve a </a:t>
            </a:r>
            <a:r>
              <a:rPr lang="pt-BR" b="1" dirty="0">
                <a:solidFill>
                  <a:srgbClr val="7030A0"/>
                </a:solidFill>
                <a:effectLst/>
              </a:rPr>
              <a:t>adição de um termo de penalização à função de erro </a:t>
            </a:r>
            <a:r>
              <a:rPr lang="pt-BR" b="1" dirty="0">
                <a:solidFill>
                  <a:srgbClr val="00B050"/>
                </a:solidFill>
                <a:effectLst/>
              </a:rPr>
              <a:t>durante o treinamento </a:t>
            </a:r>
            <a:r>
              <a:rPr lang="pt-BR" b="0" dirty="0">
                <a:effectLst/>
              </a:rPr>
              <a:t>do modelo.</a:t>
            </a:r>
          </a:p>
          <a:p>
            <a:r>
              <a:rPr lang="pt-BR" b="1" dirty="0"/>
              <a:t>O</a:t>
            </a:r>
            <a:r>
              <a:rPr lang="pt-BR" b="1" dirty="0">
                <a:effectLst/>
              </a:rPr>
              <a:t>bjetivo</a:t>
            </a:r>
            <a:r>
              <a:rPr lang="pt-BR" b="0" dirty="0">
                <a:effectLst/>
              </a:rPr>
              <a:t>: impor </a:t>
            </a:r>
            <a:r>
              <a:rPr lang="pt-BR" b="1" dirty="0">
                <a:solidFill>
                  <a:srgbClr val="00B050"/>
                </a:solidFill>
                <a:effectLst/>
              </a:rPr>
              <a:t>restrições sobre os possíveis valores dos pesos</a:t>
            </a:r>
            <a:r>
              <a:rPr lang="pt-BR" b="0" dirty="0">
                <a:effectLst/>
              </a:rPr>
              <a:t>.</a:t>
            </a:r>
          </a:p>
          <a:p>
            <a:r>
              <a:rPr lang="pt-BR" dirty="0"/>
              <a:t>A regularização </a:t>
            </a:r>
            <a:r>
              <a:rPr lang="pt-BR" b="1" dirty="0">
                <a:solidFill>
                  <a:srgbClr val="00B050"/>
                </a:solidFill>
              </a:rPr>
              <a:t>reduz a flexibilidade </a:t>
            </a:r>
            <a:r>
              <a:rPr lang="pt-BR" dirty="0"/>
              <a:t>do modelo </a:t>
            </a:r>
            <a:r>
              <a:rPr lang="pt-BR" b="1" dirty="0">
                <a:solidFill>
                  <a:srgbClr val="00B050"/>
                </a:solidFill>
              </a:rPr>
              <a:t>penalizando seus pesos</a:t>
            </a:r>
            <a:r>
              <a:rPr lang="pt-BR" dirty="0"/>
              <a:t>.</a:t>
            </a:r>
          </a:p>
          <a:p>
            <a:pPr lvl="1">
              <a:buFont typeface="Wingdings" panose="05000000000000000000" pitchFamily="2" charset="2"/>
              <a:buChar char="§"/>
            </a:pPr>
            <a:r>
              <a:rPr lang="pt-BR" dirty="0"/>
              <a:t>Modelos que sobreajustam têm </a:t>
            </a:r>
            <a:r>
              <a:rPr lang="pt-BR" b="1" dirty="0">
                <a:solidFill>
                  <a:srgbClr val="00B050"/>
                </a:solidFill>
              </a:rPr>
              <a:t>pesos com valores </a:t>
            </a:r>
            <a:r>
              <a:rPr lang="pt-BR" b="1" dirty="0">
                <a:solidFill>
                  <a:srgbClr val="7030A0"/>
                </a:solidFill>
              </a:rPr>
              <a:t>absolutos</a:t>
            </a:r>
            <a:r>
              <a:rPr lang="pt-BR" b="1" dirty="0">
                <a:solidFill>
                  <a:srgbClr val="00B050"/>
                </a:solidFill>
              </a:rPr>
              <a:t> muito altos</a:t>
            </a:r>
            <a:r>
              <a:rPr lang="pt-BR" dirty="0"/>
              <a:t>.</a:t>
            </a:r>
          </a:p>
          <a:p>
            <a:pPr lvl="1">
              <a:buFont typeface="Wingdings" panose="05000000000000000000" pitchFamily="2" charset="2"/>
              <a:buChar char="§"/>
            </a:pPr>
            <a:r>
              <a:rPr lang="pt-BR" dirty="0"/>
              <a:t>A regularização </a:t>
            </a:r>
            <a:r>
              <a:rPr lang="pt-BR" b="1" dirty="0">
                <a:solidFill>
                  <a:srgbClr val="00B050"/>
                </a:solidFill>
              </a:rPr>
              <a:t>restringe</a:t>
            </a:r>
            <a:r>
              <a:rPr lang="pt-BR" dirty="0"/>
              <a:t> o aumento dos pesos a uma </a:t>
            </a:r>
            <a:r>
              <a:rPr lang="pt-BR" b="1" dirty="0">
                <a:solidFill>
                  <a:srgbClr val="00B050"/>
                </a:solidFill>
              </a:rPr>
              <a:t>região de possíveis valores</a:t>
            </a:r>
            <a:r>
              <a:rPr lang="pt-BR" dirty="0"/>
              <a:t>.</a:t>
            </a:r>
          </a:p>
          <a:p>
            <a:r>
              <a:rPr lang="pt-BR" dirty="0"/>
              <a:t>As</a:t>
            </a:r>
            <a:r>
              <a:rPr lang="pt-BR" b="0" dirty="0">
                <a:effectLst/>
              </a:rPr>
              <a:t> técnicas de regularização mais utilizadas são L1, L2 e </a:t>
            </a:r>
            <a:r>
              <a:rPr lang="pt-BR" b="0" i="1" dirty="0" err="1">
                <a:effectLst/>
              </a:rPr>
              <a:t>elastic</a:t>
            </a:r>
            <a:r>
              <a:rPr lang="pt-BR" b="0" i="1" dirty="0">
                <a:effectLst/>
              </a:rPr>
              <a:t>-net</a:t>
            </a:r>
            <a:r>
              <a:rPr lang="pt-BR" b="0" dirty="0">
                <a:effectLst/>
              </a:rPr>
              <a:t> (anexo).</a:t>
            </a: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5D2EFB5-F853-0ECE-6705-DF53B688DBE6}"/>
                  </a:ext>
                </a:extLst>
              </p:cNvPr>
              <p:cNvSpPr txBox="1"/>
              <p:nvPr/>
            </p:nvSpPr>
            <p:spPr>
              <a:xfrm>
                <a:off x="1298918" y="2680590"/>
                <a:ext cx="3803434" cy="1470980"/>
              </a:xfrm>
              <a:prstGeom prst="rect">
                <a:avLst/>
              </a:prstGeom>
              <a:noFill/>
            </p:spPr>
            <p:txBody>
              <a:bodyPr wrap="square">
                <a:spAutoFit/>
              </a:bodyPr>
              <a:lstStyle/>
              <a:p>
                <a:pPr/>
                <a14:m>
                  <m:oMathPara xmlns:m="http://schemas.openxmlformats.org/officeDocument/2006/math">
                    <m:oMath>
                      <m:func>
                        <m:funcPr>
                          <m:ctrlPr>
                            <a:rPr lang="nl-BE" sz="2800" i="1">
                              <a:latin typeface="Cambria Math" panose="02040503050406030204" pitchFamily="18" charset="0"/>
                            </a:rPr>
                          </m:ctrlPr>
                        </m:funcPr>
                        <m:fName>
                          <m:limLow>
                            <m:limLowPr>
                              <m:ctrlPr>
                                <a:rPr lang="nl-BE" sz="2800">
                                  <a:latin typeface="Cambria Math" panose="02040503050406030204" pitchFamily="18" charset="0"/>
                                </a:rPr>
                              </m:ctrlPr>
                            </m:limLowPr>
                            <m:e>
                              <m:r>
                                <m:rPr>
                                  <m:sty m:val="p"/>
                                </m:rPr>
                                <a:rPr lang="nl-BE" sz="2800">
                                  <a:latin typeface="Cambria Math" panose="02040503050406030204" pitchFamily="18" charset="0"/>
                                </a:rPr>
                                <m:t>min</m:t>
                              </m:r>
                            </m:e>
                            <m:lim>
                              <m:r>
                                <a:rPr lang="pt-BR" sz="2800" b="1" i="1" smtClean="0">
                                  <a:latin typeface="Cambria Math" panose="02040503050406030204" pitchFamily="18" charset="0"/>
                                </a:rPr>
                                <m:t>𝒂</m:t>
                              </m:r>
                            </m:lim>
                          </m:limLow>
                        </m:fName>
                        <m:e>
                          <m:sSup>
                            <m:sSupPr>
                              <m:ctrlPr>
                                <a:rPr lang="pt-BR" sz="2800" b="1" i="1">
                                  <a:latin typeface="Cambria Math" panose="02040503050406030204" pitchFamily="18" charset="0"/>
                                </a:rPr>
                              </m:ctrlPr>
                            </m:s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𝒚</m:t>
                                  </m:r>
                                  <m:r>
                                    <a:rPr lang="pt-BR" sz="2800" i="1">
                                      <a:latin typeface="Cambria Math" panose="02040503050406030204" pitchFamily="18" charset="0"/>
                                    </a:rPr>
                                    <m:t> −</m:t>
                                  </m:r>
                                  <m:r>
                                    <a:rPr lang="pt-BR" sz="2800" b="1" i="1">
                                      <a:latin typeface="Cambria Math" panose="02040503050406030204" pitchFamily="18" charset="0"/>
                                    </a:rPr>
                                    <m:t>𝒉</m:t>
                                  </m:r>
                                  <m:r>
                                    <a:rPr lang="pt-BR" sz="2800" b="1" i="1">
                                      <a:latin typeface="Cambria Math" panose="02040503050406030204" pitchFamily="18" charset="0"/>
                                    </a:rPr>
                                    <m:t>(</m:t>
                                  </m:r>
                                  <m:r>
                                    <a:rPr lang="pt-BR" sz="2800" b="1" i="1" smtClean="0">
                                      <a:latin typeface="Cambria Math" panose="02040503050406030204" pitchFamily="18" charset="0"/>
                                    </a:rPr>
                                    <m:t>𝒙</m:t>
                                  </m:r>
                                  <m:r>
                                    <a:rPr lang="pt-BR" sz="2800" b="1" i="1">
                                      <a:latin typeface="Cambria Math" panose="02040503050406030204" pitchFamily="18" charset="0"/>
                                    </a:rPr>
                                    <m:t>)</m:t>
                                  </m:r>
                                </m:e>
                              </m:d>
                            </m:e>
                            <m:sup>
                              <m:r>
                                <a:rPr lang="pt-BR" sz="2800" i="1">
                                  <a:latin typeface="Cambria Math" panose="02040503050406030204" pitchFamily="18" charset="0"/>
                                </a:rPr>
                                <m:t>2</m:t>
                              </m:r>
                            </m:sup>
                          </m:sSup>
                        </m:e>
                      </m:func>
                    </m:oMath>
                  </m:oMathPara>
                </a14:m>
                <a:endParaRPr lang="pt-BR" sz="2800" dirty="0"/>
              </a:p>
              <a:p>
                <a:pPr/>
                <a14:m>
                  <m:oMathPara xmlns:m="http://schemas.openxmlformats.org/officeDocument/2006/math">
                    <m:oMath>
                      <m:r>
                        <m:rPr>
                          <m:sty m:val="p"/>
                        </m:rPr>
                        <a:rPr lang="pt-BR" sz="2800" i="1">
                          <a:latin typeface="Cambria Math" panose="02040503050406030204" pitchFamily="18" charset="0"/>
                        </a:rPr>
                        <m:t>s</m:t>
                      </m:r>
                      <m:r>
                        <a:rPr lang="pt-BR" sz="2800" i="1">
                          <a:latin typeface="Cambria Math" panose="02040503050406030204" pitchFamily="18" charset="0"/>
                        </a:rPr>
                        <m:t>.</m:t>
                      </m:r>
                      <m:r>
                        <a:rPr lang="pt-BR" sz="2800" i="1">
                          <a:latin typeface="Cambria Math" panose="02040503050406030204" pitchFamily="18" charset="0"/>
                        </a:rPr>
                        <m:t>𝑎</m:t>
                      </m:r>
                      <m:r>
                        <a:rPr lang="pt-BR" sz="2800" i="1">
                          <a:latin typeface="Cambria Math" panose="02040503050406030204" pitchFamily="18" charset="0"/>
                        </a:rPr>
                        <m:t>.</m:t>
                      </m:r>
                      <m:sSubSup>
                        <m:sSubSupPr>
                          <m:ctrlPr>
                            <a:rPr lang="pt-BR" sz="2800" b="1" i="1" smtClean="0">
                              <a:latin typeface="Cambria Math" panose="02040503050406030204" pitchFamily="18" charset="0"/>
                              <a:ea typeface="Cambria Math" panose="02040503050406030204" pitchFamily="18" charset="0"/>
                            </a:rPr>
                          </m:ctrlPr>
                        </m:sSubSupPr>
                        <m:e>
                          <m:d>
                            <m:dPr>
                              <m:begChr m:val="‖"/>
                              <m:endChr m:val="‖"/>
                              <m:ctrlPr>
                                <a:rPr lang="pt-BR" sz="2800" b="1" i="1" smtClean="0">
                                  <a:latin typeface="Cambria Math" panose="02040503050406030204" pitchFamily="18" charset="0"/>
                                  <a:ea typeface="Cambria Math" panose="02040503050406030204" pitchFamily="18" charset="0"/>
                                </a:rPr>
                              </m:ctrlPr>
                            </m:dPr>
                            <m:e>
                              <m:r>
                                <a:rPr lang="pt-BR" sz="2800" b="1" i="1" smtClean="0">
                                  <a:latin typeface="Cambria Math" panose="02040503050406030204" pitchFamily="18" charset="0"/>
                                  <a:ea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r>
                        <a:rPr lang="pt-BR" sz="2800" i="1">
                          <a:latin typeface="Cambria Math" panose="02040503050406030204" pitchFamily="18" charset="0"/>
                          <a:ea typeface="Cambria Math" panose="02040503050406030204" pitchFamily="18" charset="0"/>
                        </a:rPr>
                        <m:t>≤</m:t>
                      </m:r>
                      <m:f>
                        <m:fPr>
                          <m:ctrlPr>
                            <a:rPr lang="pt-BR" sz="2800" b="0" i="1" smtClean="0">
                              <a:latin typeface="Cambria Math" panose="02040503050406030204" pitchFamily="18" charset="0"/>
                              <a:ea typeface="Cambria Math" panose="02040503050406030204" pitchFamily="18" charset="0"/>
                            </a:rPr>
                          </m:ctrlPr>
                        </m:fPr>
                        <m:num>
                          <m:r>
                            <a:rPr lang="pt-BR" sz="2800" b="0" i="1" smtClean="0">
                              <a:latin typeface="Cambria Math" panose="02040503050406030204" pitchFamily="18" charset="0"/>
                              <a:ea typeface="Cambria Math" panose="02040503050406030204" pitchFamily="18" charset="0"/>
                            </a:rPr>
                            <m:t>1</m:t>
                          </m:r>
                        </m:num>
                        <m:den>
                          <m:r>
                            <a:rPr lang="pt-BR" sz="2800" i="1">
                              <a:latin typeface="Cambria Math" panose="02040503050406030204" pitchFamily="18" charset="0"/>
                              <a:ea typeface="Cambria Math" panose="02040503050406030204" pitchFamily="18" charset="0"/>
                            </a:rPr>
                            <m:t>𝜆</m:t>
                          </m:r>
                        </m:den>
                      </m:f>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5" name="CaixaDeTexto 4">
                <a:extLst>
                  <a:ext uri="{FF2B5EF4-FFF2-40B4-BE49-F238E27FC236}">
                    <a16:creationId xmlns:a16="http://schemas.microsoft.com/office/drawing/2014/main" id="{A5D2EFB5-F853-0ECE-6705-DF53B688DBE6}"/>
                  </a:ext>
                </a:extLst>
              </p:cNvPr>
              <p:cNvSpPr txBox="1">
                <a:spLocks noRot="1" noChangeAspect="1" noMove="1" noResize="1" noEditPoints="1" noAdjustHandles="1" noChangeArrowheads="1" noChangeShapeType="1" noTextEdit="1"/>
              </p:cNvSpPr>
              <p:nvPr/>
            </p:nvSpPr>
            <p:spPr>
              <a:xfrm>
                <a:off x="1298918" y="2680590"/>
                <a:ext cx="3803434" cy="147098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94FA96E5-6E55-D162-F30C-3F9BF88DAB2A}"/>
                  </a:ext>
                </a:extLst>
              </p:cNvPr>
              <p:cNvSpPr txBox="1"/>
              <p:nvPr/>
            </p:nvSpPr>
            <p:spPr>
              <a:xfrm>
                <a:off x="429768" y="1825624"/>
                <a:ext cx="5212478" cy="668260"/>
              </a:xfrm>
              <a:prstGeom prst="rect">
                <a:avLst/>
              </a:prstGeom>
              <a:noFill/>
            </p:spPr>
            <p:txBody>
              <a:bodyPr wrap="square">
                <a:spAutoFit/>
              </a:bodyPr>
              <a:lstStyle/>
              <a:p>
                <a:pPr/>
                <a14:m>
                  <m:oMathPara xmlns:m="http://schemas.openxmlformats.org/officeDocument/2006/math">
                    <m:oMath>
                      <m:func>
                        <m:funcPr>
                          <m:ctrlPr>
                            <a:rPr lang="nl-BE" sz="2800" i="1">
                              <a:latin typeface="Cambria Math" panose="02040503050406030204" pitchFamily="18" charset="0"/>
                            </a:rPr>
                          </m:ctrlPr>
                        </m:funcPr>
                        <m:fName>
                          <m:limLow>
                            <m:limLowPr>
                              <m:ctrlPr>
                                <a:rPr lang="nl-BE" sz="2800">
                                  <a:latin typeface="Cambria Math" panose="02040503050406030204" pitchFamily="18" charset="0"/>
                                </a:rPr>
                              </m:ctrlPr>
                            </m:limLowPr>
                            <m:e>
                              <m:r>
                                <m:rPr>
                                  <m:sty m:val="p"/>
                                </m:rPr>
                                <a:rPr lang="nl-BE" sz="2800">
                                  <a:latin typeface="Cambria Math" panose="02040503050406030204" pitchFamily="18" charset="0"/>
                                </a:rPr>
                                <m:t>min</m:t>
                              </m:r>
                            </m:e>
                            <m:lim>
                              <m:r>
                                <a:rPr lang="pt-BR" sz="2800" b="1" i="1" smtClean="0">
                                  <a:latin typeface="Cambria Math" panose="02040503050406030204" pitchFamily="18" charset="0"/>
                                </a:rPr>
                                <m:t>𝒂</m:t>
                              </m:r>
                              <m:r>
                                <a:rPr lang="pt-BR" sz="2800" b="1" i="1">
                                  <a:latin typeface="Cambria Math" panose="02040503050406030204" pitchFamily="18" charset="0"/>
                                </a:rPr>
                                <m:t> </m:t>
                              </m:r>
                            </m:lim>
                          </m:limLow>
                        </m:fName>
                        <m:e>
                          <m:d>
                            <m:dPr>
                              <m:ctrlPr>
                                <a:rPr lang="pt-BR" sz="2800" i="1">
                                  <a:latin typeface="Cambria Math" panose="02040503050406030204" pitchFamily="18" charset="0"/>
                                </a:rPr>
                              </m:ctrlPr>
                            </m:dPr>
                            <m:e>
                              <m:sSup>
                                <m:sSupPr>
                                  <m:ctrlPr>
                                    <a:rPr lang="pt-BR" sz="2800" b="1" i="1">
                                      <a:latin typeface="Cambria Math" panose="02040503050406030204" pitchFamily="18" charset="0"/>
                                    </a:rPr>
                                  </m:ctrlPr>
                                </m:s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𝒚</m:t>
                                      </m:r>
                                      <m:r>
                                        <a:rPr lang="pt-BR" sz="2800" i="1">
                                          <a:latin typeface="Cambria Math" panose="02040503050406030204" pitchFamily="18" charset="0"/>
                                        </a:rPr>
                                        <m:t> −</m:t>
                                      </m:r>
                                      <m:r>
                                        <a:rPr lang="pt-BR" sz="2800" b="1" i="1" smtClean="0">
                                          <a:latin typeface="Cambria Math" panose="02040503050406030204" pitchFamily="18" charset="0"/>
                                        </a:rPr>
                                        <m:t>𝒉</m:t>
                                      </m:r>
                                      <m:r>
                                        <a:rPr lang="pt-BR" sz="2800" b="1" i="1" smtClean="0">
                                          <a:latin typeface="Cambria Math" panose="02040503050406030204" pitchFamily="18" charset="0"/>
                                        </a:rPr>
                                        <m:t>(</m:t>
                                      </m:r>
                                      <m:r>
                                        <a:rPr lang="pt-BR" sz="2800" b="1" i="1" smtClean="0">
                                          <a:latin typeface="Cambria Math" panose="02040503050406030204" pitchFamily="18" charset="0"/>
                                        </a:rPr>
                                        <m:t>𝒙</m:t>
                                      </m:r>
                                      <m:r>
                                        <a:rPr lang="pt-BR" sz="2800" b="1" i="1" smtClean="0">
                                          <a:latin typeface="Cambria Math" panose="02040503050406030204" pitchFamily="18" charset="0"/>
                                        </a:rPr>
                                        <m:t>)</m:t>
                                      </m:r>
                                    </m:e>
                                  </m:d>
                                </m:e>
                                <m:sup>
                                  <m:r>
                                    <a:rPr lang="pt-BR" sz="2800" i="1">
                                      <a:latin typeface="Cambria Math" panose="02040503050406030204" pitchFamily="18" charset="0"/>
                                    </a:rPr>
                                    <m:t>2</m:t>
                                  </m:r>
                                </m:sup>
                              </m:sSup>
                              <m:r>
                                <a:rPr lang="pt-BR" sz="2800" i="1">
                                  <a:latin typeface="Cambria Math" panose="02040503050406030204" pitchFamily="18" charset="0"/>
                                </a:rPr>
                                <m:t>+</m:t>
                              </m:r>
                              <m:r>
                                <a:rPr lang="pt-BR" sz="2800" i="1">
                                  <a:latin typeface="Cambria Math" panose="02040503050406030204" pitchFamily="18" charset="0"/>
                                  <a:ea typeface="Cambria Math" panose="02040503050406030204" pitchFamily="18" charset="0"/>
                                </a:rPr>
                                <m:t>𝜆</m:t>
                              </m:r>
                              <m:sSubSup>
                                <m:sSubSupPr>
                                  <m:ctrlPr>
                                    <a:rPr lang="pt-BR" sz="2800" b="1" i="1" smtClean="0">
                                      <a:latin typeface="Cambria Math" panose="02040503050406030204" pitchFamily="18" charset="0"/>
                                      <a:ea typeface="Cambria Math" panose="02040503050406030204" pitchFamily="18" charset="0"/>
                                    </a:rPr>
                                  </m:ctrlPr>
                                </m:sSubSupPr>
                                <m:e>
                                  <m:d>
                                    <m:dPr>
                                      <m:begChr m:val="‖"/>
                                      <m:endChr m:val="‖"/>
                                      <m:ctrlPr>
                                        <a:rPr lang="pt-BR" sz="2800" b="1" i="1" smtClean="0">
                                          <a:latin typeface="Cambria Math" panose="02040503050406030204" pitchFamily="18" charset="0"/>
                                          <a:ea typeface="Cambria Math" panose="02040503050406030204" pitchFamily="18" charset="0"/>
                                        </a:rPr>
                                      </m:ctrlPr>
                                    </m:dPr>
                                    <m:e>
                                      <m:r>
                                        <a:rPr lang="pt-BR" sz="2800" b="1" i="1" smtClean="0">
                                          <a:latin typeface="Cambria Math" panose="02040503050406030204" pitchFamily="18" charset="0"/>
                                          <a:ea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e>
                          </m:d>
                          <m:r>
                            <a:rPr lang="pt-BR" sz="2800" b="1" i="1" smtClean="0">
                              <a:latin typeface="Cambria Math" panose="02040503050406030204" pitchFamily="18" charset="0"/>
                              <a:ea typeface="Cambria Math" panose="02040503050406030204" pitchFamily="18" charset="0"/>
                            </a:rPr>
                            <m:t>,</m:t>
                          </m:r>
                        </m:e>
                      </m:func>
                    </m:oMath>
                  </m:oMathPara>
                </a14:m>
                <a:endParaRPr lang="pt-BR" sz="2800" dirty="0"/>
              </a:p>
            </p:txBody>
          </p:sp>
        </mc:Choice>
        <mc:Fallback xmlns="">
          <p:sp>
            <p:nvSpPr>
              <p:cNvPr id="7" name="CaixaDeTexto 6">
                <a:extLst>
                  <a:ext uri="{FF2B5EF4-FFF2-40B4-BE49-F238E27FC236}">
                    <a16:creationId xmlns:a16="http://schemas.microsoft.com/office/drawing/2014/main" id="{94FA96E5-6E55-D162-F30C-3F9BF88DAB2A}"/>
                  </a:ext>
                </a:extLst>
              </p:cNvPr>
              <p:cNvSpPr txBox="1">
                <a:spLocks noRot="1" noChangeAspect="1" noMove="1" noResize="1" noEditPoints="1" noAdjustHandles="1" noChangeArrowheads="1" noChangeShapeType="1" noTextEdit="1"/>
              </p:cNvSpPr>
              <p:nvPr/>
            </p:nvSpPr>
            <p:spPr>
              <a:xfrm>
                <a:off x="429768" y="1825624"/>
                <a:ext cx="5212478" cy="66826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819F47D4-12A7-BD7F-55C6-5DB6C2E38871}"/>
                  </a:ext>
                </a:extLst>
              </p:cNvPr>
              <p:cNvSpPr txBox="1"/>
              <p:nvPr/>
            </p:nvSpPr>
            <p:spPr>
              <a:xfrm>
                <a:off x="-33954" y="6573039"/>
                <a:ext cx="6094206" cy="276999"/>
              </a:xfrm>
              <a:prstGeom prst="rect">
                <a:avLst/>
              </a:prstGeom>
              <a:noFill/>
            </p:spPr>
            <p:txBody>
              <a:bodyPr wrap="square">
                <a:spAutoFit/>
              </a:bodyPr>
              <a:lstStyle/>
              <a:p>
                <a:r>
                  <a:rPr lang="pt-BR" sz="1200" b="1" dirty="0">
                    <a:ea typeface="Cambria Math" panose="02040503050406030204" pitchFamily="18" charset="0"/>
                  </a:rPr>
                  <a:t>OBS</a:t>
                </a:r>
                <a:r>
                  <a:rPr lang="pt-BR" sz="1200" dirty="0">
                    <a:ea typeface="Cambria Math" panose="02040503050406030204" pitchFamily="18" charset="0"/>
                  </a:rPr>
                  <a:t>.: </a:t>
                </a:r>
                <a14:m>
                  <m:oMath xmlns:m="http://schemas.openxmlformats.org/officeDocument/2006/math">
                    <m:r>
                      <a:rPr lang="pt-BR" sz="1200" i="1">
                        <a:latin typeface="Cambria Math" panose="02040503050406030204" pitchFamily="18" charset="0"/>
                        <a:ea typeface="Cambria Math" panose="02040503050406030204" pitchFamily="18" charset="0"/>
                      </a:rPr>
                      <m:t>𝜆</m:t>
                    </m:r>
                    <m:r>
                      <a:rPr lang="pt-BR" sz="1200" i="1">
                        <a:latin typeface="Cambria Math" panose="02040503050406030204" pitchFamily="18" charset="0"/>
                        <a:ea typeface="Cambria Math" panose="02040503050406030204" pitchFamily="18" charset="0"/>
                      </a:rPr>
                      <m:t>≥0 </m:t>
                    </m:r>
                  </m:oMath>
                </a14:m>
                <a:r>
                  <a:rPr lang="pt-BR" sz="1200" dirty="0"/>
                  <a:t>é o </a:t>
                </a:r>
                <a:r>
                  <a:rPr lang="pt-BR" sz="1200" b="1" i="1" dirty="0"/>
                  <a:t>fator de regularização.</a:t>
                </a:r>
                <a:endParaRPr lang="pt-BR" sz="1200" dirty="0"/>
              </a:p>
            </p:txBody>
          </p:sp>
        </mc:Choice>
        <mc:Fallback xmlns="">
          <p:sp>
            <p:nvSpPr>
              <p:cNvPr id="13" name="CaixaDeTexto 12">
                <a:extLst>
                  <a:ext uri="{FF2B5EF4-FFF2-40B4-BE49-F238E27FC236}">
                    <a16:creationId xmlns:a16="http://schemas.microsoft.com/office/drawing/2014/main" id="{819F47D4-12A7-BD7F-55C6-5DB6C2E38871}"/>
                  </a:ext>
                </a:extLst>
              </p:cNvPr>
              <p:cNvSpPr txBox="1">
                <a:spLocks noRot="1" noChangeAspect="1" noMove="1" noResize="1" noEditPoints="1" noAdjustHandles="1" noChangeArrowheads="1" noChangeShapeType="1" noTextEdit="1"/>
              </p:cNvSpPr>
              <p:nvPr/>
            </p:nvSpPr>
            <p:spPr>
              <a:xfrm>
                <a:off x="-33954" y="6573039"/>
                <a:ext cx="6094206" cy="276999"/>
              </a:xfrm>
              <a:prstGeom prst="rect">
                <a:avLst/>
              </a:prstGeom>
              <a:blipFill>
                <a:blip r:embed="rId6"/>
                <a:stretch>
                  <a:fillRect b="-15217"/>
                </a:stretch>
              </a:blipFill>
            </p:spPr>
            <p:txBody>
              <a:bodyPr/>
              <a:lstStyle/>
              <a:p>
                <a:r>
                  <a:rPr lang="pt-BR">
                    <a:noFill/>
                  </a:rPr>
                  <a:t> </a:t>
                </a:r>
              </a:p>
            </p:txBody>
          </p:sp>
        </mc:Fallback>
      </mc:AlternateContent>
      <p:sp>
        <p:nvSpPr>
          <p:cNvPr id="6" name="Retângulo 5">
            <a:extLst>
              <a:ext uri="{FF2B5EF4-FFF2-40B4-BE49-F238E27FC236}">
                <a16:creationId xmlns:a16="http://schemas.microsoft.com/office/drawing/2014/main" id="{B1E50C15-796B-7379-D1C6-2808D390DEE1}"/>
              </a:ext>
            </a:extLst>
          </p:cNvPr>
          <p:cNvSpPr/>
          <p:nvPr/>
        </p:nvSpPr>
        <p:spPr>
          <a:xfrm>
            <a:off x="3963368" y="1825624"/>
            <a:ext cx="1072229" cy="59020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F5FB412B-B269-ECA7-F14E-329AAAC59407}"/>
              </a:ext>
            </a:extLst>
          </p:cNvPr>
          <p:cNvSpPr/>
          <p:nvPr/>
        </p:nvSpPr>
        <p:spPr>
          <a:xfrm>
            <a:off x="1590675" y="1803005"/>
            <a:ext cx="1997390" cy="590203"/>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have Direita 9">
            <a:extLst>
              <a:ext uri="{FF2B5EF4-FFF2-40B4-BE49-F238E27FC236}">
                <a16:creationId xmlns:a16="http://schemas.microsoft.com/office/drawing/2014/main" id="{0DBFA6D4-9D17-89FF-09AD-0BB33A989E37}"/>
              </a:ext>
            </a:extLst>
          </p:cNvPr>
          <p:cNvSpPr/>
          <p:nvPr/>
        </p:nvSpPr>
        <p:spPr>
          <a:xfrm rot="5400000">
            <a:off x="2899256" y="391346"/>
            <a:ext cx="281654" cy="440376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1" name="CaixaDeTexto 10">
            <a:extLst>
              <a:ext uri="{FF2B5EF4-FFF2-40B4-BE49-F238E27FC236}">
                <a16:creationId xmlns:a16="http://schemas.microsoft.com/office/drawing/2014/main" id="{213457FF-A7B2-D6E1-9337-CAD908FDDE69}"/>
              </a:ext>
            </a:extLst>
          </p:cNvPr>
          <p:cNvSpPr txBox="1"/>
          <p:nvPr/>
        </p:nvSpPr>
        <p:spPr>
          <a:xfrm>
            <a:off x="2285732" y="1456292"/>
            <a:ext cx="645946" cy="369332"/>
          </a:xfrm>
          <a:prstGeom prst="rect">
            <a:avLst/>
          </a:prstGeom>
          <a:noFill/>
        </p:spPr>
        <p:txBody>
          <a:bodyPr wrap="none" rtlCol="0">
            <a:spAutoFit/>
          </a:bodyPr>
          <a:lstStyle/>
          <a:p>
            <a:r>
              <a:rPr lang="pt-BR" dirty="0"/>
              <a:t>EQM</a:t>
            </a:r>
          </a:p>
        </p:txBody>
      </p:sp>
      <p:sp>
        <p:nvSpPr>
          <p:cNvPr id="12" name="CaixaDeTexto 11">
            <a:extLst>
              <a:ext uri="{FF2B5EF4-FFF2-40B4-BE49-F238E27FC236}">
                <a16:creationId xmlns:a16="http://schemas.microsoft.com/office/drawing/2014/main" id="{4A11FE2E-094D-7109-7D29-CDC23773C411}"/>
              </a:ext>
            </a:extLst>
          </p:cNvPr>
          <p:cNvSpPr txBox="1"/>
          <p:nvPr/>
        </p:nvSpPr>
        <p:spPr>
          <a:xfrm>
            <a:off x="3963367" y="1450727"/>
            <a:ext cx="1546449" cy="369332"/>
          </a:xfrm>
          <a:prstGeom prst="rect">
            <a:avLst/>
          </a:prstGeom>
          <a:noFill/>
        </p:spPr>
        <p:txBody>
          <a:bodyPr wrap="none" rtlCol="0">
            <a:spAutoFit/>
          </a:bodyPr>
          <a:lstStyle/>
          <a:p>
            <a:r>
              <a:rPr lang="pt-BR" dirty="0"/>
              <a:t>Penalização L2</a:t>
            </a:r>
          </a:p>
        </p:txBody>
      </p:sp>
    </p:spTree>
    <p:extLst>
      <p:ext uri="{BB962C8B-B14F-4D97-AF65-F5344CB8AC3E}">
        <p14:creationId xmlns:p14="http://schemas.microsoft.com/office/powerpoint/2010/main" val="166834566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Early-stopping </a:t>
            </a:r>
            <a:r>
              <a:rPr lang="pt-BR" dirty="0"/>
              <a:t>(parada antecipada)</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637008" y="1825624"/>
            <a:ext cx="6554992" cy="5032375"/>
          </a:xfrm>
        </p:spPr>
        <p:txBody>
          <a:bodyPr>
            <a:normAutofit/>
          </a:bodyPr>
          <a:lstStyle/>
          <a:p>
            <a:r>
              <a:rPr lang="pt-BR" dirty="0">
                <a:effectLst/>
              </a:rPr>
              <a:t>É uma técnica de </a:t>
            </a:r>
            <a:r>
              <a:rPr lang="pt-BR" b="1" dirty="0">
                <a:solidFill>
                  <a:srgbClr val="7030A0"/>
                </a:solidFill>
                <a:effectLst/>
              </a:rPr>
              <a:t>regularização temporal</a:t>
            </a:r>
            <a:r>
              <a:rPr lang="pt-BR" dirty="0">
                <a:effectLst/>
              </a:rPr>
              <a:t>.</a:t>
            </a:r>
          </a:p>
          <a:p>
            <a:r>
              <a:rPr lang="pt-BR" b="0" dirty="0">
                <a:effectLst/>
              </a:rPr>
              <a:t>A ideia é </a:t>
            </a:r>
            <a:r>
              <a:rPr lang="pt-BR" b="1" dirty="0">
                <a:solidFill>
                  <a:srgbClr val="00B050"/>
                </a:solidFill>
                <a:effectLst/>
              </a:rPr>
              <a:t>interromper o treinamento do modelo assim que o desempenho no conjunto de validação começa a piorar</a:t>
            </a:r>
            <a:r>
              <a:rPr lang="pt-BR" b="0" dirty="0">
                <a:effectLst/>
              </a:rPr>
              <a:t>, em vez de continuar até que o modelo se sobreajuste.</a:t>
            </a:r>
          </a:p>
          <a:p>
            <a:pPr lvl="1">
              <a:buFont typeface="Wingdings" panose="05000000000000000000" pitchFamily="2" charset="2"/>
              <a:buChar char="§"/>
            </a:pPr>
            <a:r>
              <a:rPr lang="pt-BR" b="1" dirty="0">
                <a:solidFill>
                  <a:srgbClr val="7030A0"/>
                </a:solidFill>
                <a:effectLst/>
              </a:rPr>
              <a:t>Vantagens</a:t>
            </a:r>
            <a:r>
              <a:rPr lang="pt-BR" b="0" dirty="0">
                <a:effectLst/>
              </a:rPr>
              <a:t>: </a:t>
            </a:r>
            <a:r>
              <a:rPr lang="pt-BR" b="1" dirty="0">
                <a:solidFill>
                  <a:srgbClr val="00B050"/>
                </a:solidFill>
                <a:effectLst/>
              </a:rPr>
              <a:t>economiza</a:t>
            </a:r>
            <a:r>
              <a:rPr lang="pt-BR" b="0" dirty="0">
                <a:effectLst/>
              </a:rPr>
              <a:t> tempo e recursos computacionais.</a:t>
            </a:r>
          </a:p>
          <a:p>
            <a:pPr lvl="1">
              <a:buFont typeface="Wingdings" panose="05000000000000000000" pitchFamily="2" charset="2"/>
              <a:buChar char="§"/>
            </a:pPr>
            <a:r>
              <a:rPr lang="pt-BR" b="1" dirty="0">
                <a:solidFill>
                  <a:srgbClr val="7030A0"/>
                </a:solidFill>
                <a:effectLst/>
              </a:rPr>
              <a:t>Desvantagem</a:t>
            </a:r>
            <a:r>
              <a:rPr lang="pt-BR" b="0" dirty="0">
                <a:solidFill>
                  <a:srgbClr val="1F1F1F"/>
                </a:solidFill>
                <a:effectLst/>
              </a:rPr>
              <a:t>: se o treinamento for interrompido muito cedo, o modelo pode não ter tempo suficiente para aprender o padrão geral, levando ao </a:t>
            </a:r>
            <a:r>
              <a:rPr lang="pt-BR" b="1" dirty="0">
                <a:solidFill>
                  <a:srgbClr val="FF0000"/>
                </a:solidFill>
                <a:effectLst/>
              </a:rPr>
              <a:t>subajuste</a:t>
            </a:r>
            <a:r>
              <a:rPr lang="pt-BR" b="0" dirty="0">
                <a:solidFill>
                  <a:srgbClr val="1F1F1F"/>
                </a:solidFill>
                <a:effectLst/>
              </a:rPr>
              <a:t>.</a:t>
            </a:r>
            <a:endParaRPr lang="pt-BR" dirty="0">
              <a:effectLst/>
            </a:endParaRPr>
          </a:p>
        </p:txBody>
      </p:sp>
      <p:grpSp>
        <p:nvGrpSpPr>
          <p:cNvPr id="8" name="Agrupar 7">
            <a:extLst>
              <a:ext uri="{FF2B5EF4-FFF2-40B4-BE49-F238E27FC236}">
                <a16:creationId xmlns:a16="http://schemas.microsoft.com/office/drawing/2014/main" id="{E095B930-11D3-84D9-888C-FDD602C69284}"/>
              </a:ext>
            </a:extLst>
          </p:cNvPr>
          <p:cNvGrpSpPr/>
          <p:nvPr/>
        </p:nvGrpSpPr>
        <p:grpSpPr>
          <a:xfrm>
            <a:off x="448916" y="2140058"/>
            <a:ext cx="4817167" cy="3991572"/>
            <a:chOff x="919612" y="1910994"/>
            <a:chExt cx="4817167" cy="3991572"/>
          </a:xfrm>
        </p:grpSpPr>
        <p:pic>
          <p:nvPicPr>
            <p:cNvPr id="10" name="Picture 2">
              <a:extLst>
                <a:ext uri="{FF2B5EF4-FFF2-40B4-BE49-F238E27FC236}">
                  <a16:creationId xmlns:a16="http://schemas.microsoft.com/office/drawing/2014/main" id="{C13C3FCC-7512-6E26-5226-AE3A265362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9612" y="1910994"/>
              <a:ext cx="4817167" cy="3991572"/>
            </a:xfrm>
            <a:prstGeom prst="rect">
              <a:avLst/>
            </a:prstGeom>
            <a:noFill/>
            <a:extLst>
              <a:ext uri="{909E8E84-426E-40DD-AFC4-6F175D3DCCD1}">
                <a14:hiddenFill xmlns:a14="http://schemas.microsoft.com/office/drawing/2010/main">
                  <a:solidFill>
                    <a:srgbClr val="FFFFFF"/>
                  </a:solidFill>
                </a14:hiddenFill>
              </a:ext>
            </a:extLst>
          </p:spPr>
        </p:pic>
        <p:sp>
          <p:nvSpPr>
            <p:cNvPr id="11" name="Elipse 10">
              <a:extLst>
                <a:ext uri="{FF2B5EF4-FFF2-40B4-BE49-F238E27FC236}">
                  <a16:creationId xmlns:a16="http://schemas.microsoft.com/office/drawing/2014/main" id="{77637BC2-E998-542B-ABA7-76B0A7068739}"/>
                </a:ext>
              </a:extLst>
            </p:cNvPr>
            <p:cNvSpPr/>
            <p:nvPr/>
          </p:nvSpPr>
          <p:spPr>
            <a:xfrm>
              <a:off x="1428749" y="4219574"/>
              <a:ext cx="309563" cy="276225"/>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CaixaDeTexto 11">
              <a:extLst>
                <a:ext uri="{FF2B5EF4-FFF2-40B4-BE49-F238E27FC236}">
                  <a16:creationId xmlns:a16="http://schemas.microsoft.com/office/drawing/2014/main" id="{C3112F4A-171F-7B59-2F12-B79F6BE6C432}"/>
                </a:ext>
              </a:extLst>
            </p:cNvPr>
            <p:cNvSpPr txBox="1"/>
            <p:nvPr/>
          </p:nvSpPr>
          <p:spPr>
            <a:xfrm>
              <a:off x="1692978" y="4597833"/>
              <a:ext cx="1142209" cy="276999"/>
            </a:xfrm>
            <a:prstGeom prst="rect">
              <a:avLst/>
            </a:prstGeom>
            <a:noFill/>
          </p:spPr>
          <p:txBody>
            <a:bodyPr wrap="square" rtlCol="0">
              <a:spAutoFit/>
            </a:bodyPr>
            <a:lstStyle/>
            <a:p>
              <a:pPr algn="ctr"/>
              <a:r>
                <a:rPr lang="pt-BR" sz="1200" dirty="0"/>
                <a:t>Early-stopping</a:t>
              </a:r>
            </a:p>
          </p:txBody>
        </p:sp>
        <p:cxnSp>
          <p:nvCxnSpPr>
            <p:cNvPr id="13" name="Conector de Seta Reta 12">
              <a:extLst>
                <a:ext uri="{FF2B5EF4-FFF2-40B4-BE49-F238E27FC236}">
                  <a16:creationId xmlns:a16="http://schemas.microsoft.com/office/drawing/2014/main" id="{1538B9E6-D12D-D423-F402-A8F26F0AC3E7}"/>
                </a:ext>
              </a:extLst>
            </p:cNvPr>
            <p:cNvCxnSpPr>
              <a:stCxn id="11" idx="5"/>
            </p:cNvCxnSpPr>
            <p:nvPr/>
          </p:nvCxnSpPr>
          <p:spPr>
            <a:xfrm>
              <a:off x="1692978" y="4455347"/>
              <a:ext cx="264410" cy="1837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7467948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D0BD2-7C00-5A10-8D71-4A32D7A607D2}"/>
              </a:ext>
            </a:extLst>
          </p:cNvPr>
          <p:cNvSpPr>
            <a:spLocks noGrp="1"/>
          </p:cNvSpPr>
          <p:nvPr>
            <p:ph type="title"/>
          </p:nvPr>
        </p:nvSpPr>
        <p:spPr/>
        <p:txBody>
          <a:bodyPr/>
          <a:lstStyle/>
          <a:p>
            <a:r>
              <a:rPr lang="pt-BR" dirty="0"/>
              <a:t>Avisos</a:t>
            </a:r>
            <a:endParaRPr lang="en-US" dirty="0"/>
          </a:p>
        </p:txBody>
      </p:sp>
      <p:sp>
        <p:nvSpPr>
          <p:cNvPr id="3" name="Content Placeholder 2">
            <a:extLst>
              <a:ext uri="{FF2B5EF4-FFF2-40B4-BE49-F238E27FC236}">
                <a16:creationId xmlns:a16="http://schemas.microsoft.com/office/drawing/2014/main" id="{3EFA45DD-DE5E-7F12-4C62-6BFB35041C7C}"/>
              </a:ext>
            </a:extLst>
          </p:cNvPr>
          <p:cNvSpPr>
            <a:spLocks noGrp="1"/>
          </p:cNvSpPr>
          <p:nvPr>
            <p:ph idx="1"/>
          </p:nvPr>
        </p:nvSpPr>
        <p:spPr>
          <a:xfrm>
            <a:off x="838199" y="1825624"/>
            <a:ext cx="11353801" cy="5032375"/>
          </a:xfrm>
        </p:spPr>
        <p:txBody>
          <a:bodyPr/>
          <a:lstStyle/>
          <a:p>
            <a:r>
              <a:rPr lang="pt-BR" dirty="0"/>
              <a:t>NP1: 13/04/2026</a:t>
            </a:r>
            <a:endParaRPr lang="en-US" dirty="0"/>
          </a:p>
          <a:p>
            <a:r>
              <a:rPr lang="en-US" dirty="0"/>
              <a:t>10 </a:t>
            </a:r>
            <a:r>
              <a:rPr lang="en-US" dirty="0" err="1"/>
              <a:t>questões</a:t>
            </a:r>
            <a:r>
              <a:rPr lang="en-US" dirty="0"/>
              <a:t> de </a:t>
            </a:r>
            <a:r>
              <a:rPr lang="en-US" dirty="0" err="1"/>
              <a:t>múltipla</a:t>
            </a:r>
            <a:r>
              <a:rPr lang="en-US" dirty="0"/>
              <a:t> </a:t>
            </a:r>
            <a:r>
              <a:rPr lang="en-US" dirty="0" err="1"/>
              <a:t>escolha</a:t>
            </a:r>
            <a:r>
              <a:rPr lang="en-US" dirty="0"/>
              <a:t>.</a:t>
            </a:r>
          </a:p>
          <a:p>
            <a:r>
              <a:rPr lang="en-US" dirty="0" err="1"/>
              <a:t>Conteúdo</a:t>
            </a:r>
            <a:r>
              <a:rPr lang="en-US" dirty="0"/>
              <a:t>: </a:t>
            </a:r>
            <a:r>
              <a:rPr lang="en-US" dirty="0" err="1"/>
              <a:t>até</a:t>
            </a:r>
            <a:r>
              <a:rPr lang="en-US" dirty="0"/>
              <a:t> o </a:t>
            </a:r>
            <a:r>
              <a:rPr lang="en-US" dirty="0" err="1"/>
              <a:t>que</a:t>
            </a:r>
            <a:r>
              <a:rPr lang="en-US" dirty="0"/>
              <a:t> for </a:t>
            </a:r>
            <a:r>
              <a:rPr lang="en-US" dirty="0" err="1"/>
              <a:t>apresentado</a:t>
            </a:r>
            <a:r>
              <a:rPr lang="en-US" dirty="0"/>
              <a:t> </a:t>
            </a:r>
            <a:r>
              <a:rPr lang="en-US" dirty="0" err="1"/>
              <a:t>na</a:t>
            </a:r>
            <a:r>
              <a:rPr lang="en-US" dirty="0"/>
              <a:t> aula do </a:t>
            </a:r>
            <a:r>
              <a:rPr lang="en-US" dirty="0" err="1"/>
              <a:t>dia</a:t>
            </a:r>
            <a:r>
              <a:rPr lang="en-US" dirty="0"/>
              <a:t> 06/04/2026.</a:t>
            </a:r>
          </a:p>
        </p:txBody>
      </p:sp>
    </p:spTree>
    <p:extLst>
      <p:ext uri="{BB962C8B-B14F-4D97-AF65-F5344CB8AC3E}">
        <p14:creationId xmlns:p14="http://schemas.microsoft.com/office/powerpoint/2010/main" val="310610249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hlinkClick r:id="rId2"/>
              </a:rPr>
              <a:t>Lista #5 - </a:t>
            </a:r>
            <a:r>
              <a:rPr lang="en-US" dirty="0" err="1">
                <a:hlinkClick r:id="rId2"/>
              </a:rPr>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2379662"/>
            <a:ext cx="10515600" cy="2098675"/>
          </a:xfrm>
        </p:spPr>
        <p:txBody>
          <a:bodyPr>
            <a:normAutofit/>
          </a:bodyPr>
          <a:lstStyle/>
          <a:p>
            <a:pPr marL="0" indent="0" algn="ctr">
              <a:buNone/>
            </a:pPr>
            <a:r>
              <a:rPr lang="pt-BR" sz="6000" dirty="0"/>
              <a:t>Anexo I:</a:t>
            </a:r>
          </a:p>
          <a:p>
            <a:pPr marL="0" indent="0" algn="ctr">
              <a:buNone/>
            </a:pPr>
            <a:r>
              <a:rPr lang="pt-BR" sz="60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Considerando o hiperplano como a função hipótese</a:t>
                </a:r>
              </a:p>
              <a:p>
                <a:pPr marL="0" indent="0">
                  <a:buNone/>
                </a:pPr>
                <a14:m>
                  <m:oMathPara xmlns:m="http://schemas.openxmlformats.org/officeDocument/2006/math">
                    <m:o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en-US">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d>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i="1">
                            <a:latin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
                      <m:r>
                        <a:rPr lang="pt-BR" b="1" i="1" smtClean="0">
                          <a:latin typeface="Cambria Math" panose="02040503050406030204" pitchFamily="18" charset="0"/>
                        </a:rPr>
                        <m:t>               =</m:t>
                      </m:r>
                      <m:sSup>
                        <m:sSupPr>
                          <m:ctrlPr>
                            <a:rPr lang="pt-BR" b="1"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0B6C63-B773-CA4D-EED6-C9AE57EB8B6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6FEB56D-6934-E9CB-B61C-9B295607BB0E}"/>
              </a:ext>
            </a:extLst>
          </p:cNvPr>
          <p:cNvSpPr>
            <a:spLocks noGrp="1"/>
          </p:cNvSpPr>
          <p:nvPr>
            <p:ph idx="1"/>
          </p:nvPr>
        </p:nvSpPr>
        <p:spPr>
          <a:xfrm>
            <a:off x="669471" y="2154577"/>
            <a:ext cx="10853057" cy="2548846"/>
          </a:xfrm>
        </p:spPr>
        <p:txBody>
          <a:bodyPr>
            <a:normAutofit/>
          </a:bodyPr>
          <a:lstStyle/>
          <a:p>
            <a:pPr marL="0" indent="0" algn="ctr">
              <a:buNone/>
            </a:pPr>
            <a:r>
              <a:rPr lang="pt-BR" sz="6000" dirty="0"/>
              <a:t>Anexo II: </a:t>
            </a:r>
          </a:p>
          <a:p>
            <a:pPr marL="0" indent="0" algn="ctr">
              <a:buNone/>
            </a:pPr>
            <a:r>
              <a:rPr lang="pt-BR" sz="6000" dirty="0"/>
              <a:t>Matriz de atributos polinomial</a:t>
            </a:r>
            <a:endParaRPr lang="en-US" sz="6000" i="1" dirty="0"/>
          </a:p>
        </p:txBody>
      </p:sp>
    </p:spTree>
    <p:extLst>
      <p:ext uri="{BB962C8B-B14F-4D97-AF65-F5344CB8AC3E}">
        <p14:creationId xmlns:p14="http://schemas.microsoft.com/office/powerpoint/2010/main" val="393136188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8FE1700-1035-D231-E381-8EEF54EB3939}"/>
              </a:ext>
            </a:extLst>
          </p:cNvPr>
          <p:cNvSpPr>
            <a:spLocks noGrp="1"/>
          </p:cNvSpPr>
          <p:nvPr>
            <p:ph type="title"/>
          </p:nvPr>
        </p:nvSpPr>
        <p:spPr/>
        <p:txBody>
          <a:bodyPr/>
          <a:lstStyle/>
          <a:p>
            <a:r>
              <a:rPr lang="pt-BR" dirty="0"/>
              <a:t>Regressão polinomial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2E5602A-661E-0742-2B1B-2D2F60E5F350}"/>
                  </a:ext>
                </a:extLst>
              </p:cNvPr>
              <p:cNvSpPr>
                <a:spLocks noGrp="1"/>
              </p:cNvSpPr>
              <p:nvPr>
                <p:ph idx="1"/>
              </p:nvPr>
            </p:nvSpPr>
            <p:spPr>
              <a:xfrm>
                <a:off x="838198" y="1825624"/>
                <a:ext cx="11353801" cy="5032375"/>
              </a:xfrm>
            </p:spPr>
            <p:txBody>
              <a:bodyPr>
                <a:normAutofit/>
              </a:bodyPr>
              <a:lstStyle/>
              <a:p>
                <a:r>
                  <a:rPr lang="pt-BR" dirty="0"/>
                  <a:t>Por exemplo, para a seguinte função hipótese </a:t>
                </a:r>
                <a:r>
                  <a:rPr lang="pt-BR" b="1" dirty="0">
                    <a:solidFill>
                      <a:srgbClr val="7030A0"/>
                    </a:solidFill>
                  </a:rPr>
                  <a:t>polinomial</a:t>
                </a:r>
                <a:r>
                  <a:rPr lang="pt-BR" dirty="0"/>
                  <a:t> </a:t>
                </a:r>
                <a:r>
                  <a:rPr lang="pt-BR" b="1" dirty="0">
                    <a:solidFill>
                      <a:srgbClr val="7030A0"/>
                    </a:solidFill>
                  </a:rPr>
                  <a:t>de grau </a:t>
                </a:r>
                <a14:m>
                  <m:oMath xmlns:m="http://schemas.openxmlformats.org/officeDocument/2006/math">
                    <m:r>
                      <a:rPr lang="pt-BR" b="1" i="1" smtClean="0">
                        <a:solidFill>
                          <a:srgbClr val="7030A0"/>
                        </a:solidFill>
                        <a:latin typeface="Cambria Math" panose="02040503050406030204" pitchFamily="18" charset="0"/>
                      </a:rPr>
                      <m:t>𝑴</m:t>
                    </m:r>
                  </m:oMath>
                </a14:m>
                <a:r>
                  <a:rPr lang="pt-BR" b="1" dirty="0">
                    <a:solidFill>
                      <a:srgbClr val="7030A0"/>
                    </a:solidFill>
                  </a:rPr>
                  <a:t> em um único atributo</a:t>
                </a:r>
              </a:p>
              <a:p>
                <a:pPr marL="0" indent="0">
                  <a:buNone/>
                </a:pPr>
                <a14:m>
                  <m:oMathPara xmlns:m="http://schemas.openxmlformats.org/officeDocument/2006/math">
                    <m:oMath>
                      <m:r>
                        <a:rPr lang="pt-BR" i="1" smtClean="0">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𝑀</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i="1">
                              <a:latin typeface="Cambria Math" panose="02040503050406030204" pitchFamily="18" charset="0"/>
                            </a:rPr>
                          </m:ctrlPr>
                        </m:dPr>
                        <m:e>
                          <m:r>
                            <a:rPr lang="pt-BR" i="1">
                              <a:latin typeface="Cambria Math" panose="02040503050406030204" pitchFamily="18" charset="0"/>
                            </a:rPr>
                            <m:t>𝑛</m:t>
                          </m:r>
                        </m:e>
                      </m:d>
                      <m:r>
                        <a:rPr lang="pt-BR" b="0" i="0" smtClean="0">
                          <a:latin typeface="Cambria Math" panose="02040503050406030204" pitchFamily="18" charset="0"/>
                        </a:rPr>
                        <m:t>,</m:t>
                      </m:r>
                    </m:oMath>
                  </m:oMathPara>
                </a14:m>
                <a:endParaRPr lang="pt-BR" dirty="0"/>
              </a:p>
              <a:p>
                <a:pPr marL="0" indent="0">
                  <a:buNone/>
                </a:pPr>
                <a:r>
                  <a:rPr lang="pt-BR" dirty="0"/>
                  <a:t>a </a:t>
                </a:r>
                <a:r>
                  <a:rPr lang="pt-BR" b="1" dirty="0">
                    <a:solidFill>
                      <a:srgbClr val="00B050"/>
                    </a:solidFill>
                  </a:rPr>
                  <a:t>matriz de atributos polinomial</a:t>
                </a:r>
                <a:r>
                  <a:rPr lang="pt-BR" dirty="0"/>
                  <a:t>, </a:t>
                </a:r>
                <a14:m>
                  <m:oMath xmlns:m="http://schemas.openxmlformats.org/officeDocument/2006/math">
                    <m:r>
                      <a:rPr lang="pt-BR" b="1" i="1">
                        <a:latin typeface="Cambria Math" panose="02040503050406030204" pitchFamily="18" charset="0"/>
                      </a:rPr>
                      <m:t>𝑿</m:t>
                    </m:r>
                  </m:oMath>
                </a14:m>
                <a:r>
                  <a:rPr lang="pt-BR" dirty="0"/>
                  <a:t>, fica da seguinte forma </a:t>
                </a:r>
              </a:p>
              <a:p>
                <a:pPr marL="0" indent="0">
                  <a:buNone/>
                </a:pPr>
                <a14:m>
                  <m:oMathPara xmlns:m="http://schemas.openxmlformats.org/officeDocument/2006/math">
                    <m:oMath>
                      <m:r>
                        <a:rPr lang="pt-BR" b="1" i="1" smtClean="0">
                          <a:latin typeface="Cambria Math" panose="02040503050406030204" pitchFamily="18" charset="0"/>
                        </a:rPr>
                        <m:t>𝑿</m:t>
                      </m:r>
                      <m:r>
                        <a:rPr lang="pt-BR" b="0"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r>
                                  <a:rPr lang="pt-BR" b="0" i="1" smtClean="0">
                                    <a:latin typeface="Cambria Math" panose="02040503050406030204" pitchFamily="18" charset="0"/>
                                  </a:rPr>
                                  <m:t>1</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0</m:t>
                                    </m:r>
                                  </m:e>
                                </m:d>
                              </m:e>
                              <m:e>
                                <m:m>
                                  <m:mPr>
                                    <m:mcs>
                                      <m:mc>
                                        <m:mcPr>
                                          <m:count m:val="2"/>
                                          <m:mcJc m:val="center"/>
                                        </m:mcPr>
                                      </m:mc>
                                    </m:mcs>
                                    <m:ctrlPr>
                                      <a:rPr lang="pt-BR" b="1" i="1" smtClean="0">
                                        <a:latin typeface="Cambria Math" panose="02040503050406030204" pitchFamily="18" charset="0"/>
                                      </a:rPr>
                                    </m:ctrlPr>
                                  </m:mPr>
                                  <m:mr>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b="0" i="1" smtClean="0">
                                              <a:latin typeface="Cambria Math" panose="02040503050406030204" pitchFamily="18" charset="0"/>
                                            </a:rPr>
                                          </m:ctrlPr>
                                        </m:dPr>
                                        <m:e>
                                          <m:r>
                                            <a:rPr lang="pt-BR" b="0" i="1" smtClean="0">
                                              <a:latin typeface="Cambria Math" panose="02040503050406030204" pitchFamily="18" charset="0"/>
                                            </a:rPr>
                                            <m:t>0</m:t>
                                          </m:r>
                                        </m:e>
                                      </m:d>
                                    </m:e>
                                    <m:e>
                                      <m:m>
                                        <m:mPr>
                                          <m:mcs>
                                            <m:mc>
                                              <m:mcPr>
                                                <m:count m:val="2"/>
                                                <m:mcJc m:val="center"/>
                                              </m:mcPr>
                                            </m:mc>
                                          </m:mcs>
                                          <m:ctrlPr>
                                            <a:rPr lang="pt-BR" b="1" i="1" smtClean="0">
                                              <a:latin typeface="Cambria Math" panose="02040503050406030204" pitchFamily="18" charset="0"/>
                                            </a:rPr>
                                          </m:ctrlPr>
                                        </m:mPr>
                                        <m:mr>
                                          <m:e>
                                            <m:r>
                                              <m:rPr>
                                                <m:brk m:alnAt="7"/>
                                              </m:rPr>
                                              <a:rPr lang="pt-BR" b="1" i="1">
                                                <a:latin typeface="Cambria Math" panose="02040503050406030204" pitchFamily="18" charset="0"/>
                                              </a:rPr>
                                              <m:t>⋯</m:t>
                                            </m:r>
                                          </m:e>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b="0" i="1" smtClean="0">
                                                    <a:latin typeface="Cambria Math" panose="02040503050406030204" pitchFamily="18" charset="0"/>
                                                  </a:rPr>
                                                </m:ctrlPr>
                                              </m:dPr>
                                              <m:e>
                                                <m:r>
                                                  <a:rPr lang="pt-BR" b="0" i="1" smtClean="0">
                                                    <a:latin typeface="Cambria Math" panose="02040503050406030204" pitchFamily="18" charset="0"/>
                                                  </a:rPr>
                                                  <m:t>0</m:t>
                                                </m:r>
                                              </m:e>
                                            </m:d>
                                          </m:e>
                                        </m:mr>
                                      </m:m>
                                    </m:e>
                                  </m:mr>
                                </m:m>
                              </m:e>
                            </m:mr>
                            <m:mr>
                              <m:e>
                                <m:r>
                                  <a:rPr lang="pt-BR" b="1" i="1" smtClean="0">
                                    <a:latin typeface="Cambria Math" panose="02040503050406030204" pitchFamily="18" charset="0"/>
                                  </a:rPr>
                                  <m:t>⋮</m:t>
                                </m:r>
                              </m:e>
                              <m:e>
                                <m:r>
                                  <a:rPr lang="pt-BR" b="1" i="1">
                                    <a:latin typeface="Cambria Math" panose="02040503050406030204" pitchFamily="18" charset="0"/>
                                  </a:rPr>
                                  <m:t>⋮</m:t>
                                </m:r>
                              </m:e>
                              <m:e>
                                <m:m>
                                  <m:mPr>
                                    <m:mcs>
                                      <m:mc>
                                        <m:mcPr>
                                          <m:count m:val="3"/>
                                          <m:mcJc m:val="center"/>
                                        </m:mcPr>
                                      </m:mc>
                                    </m:mcs>
                                    <m:ctrlPr>
                                      <a:rPr lang="pt-BR" b="1" i="1" smtClean="0">
                                        <a:latin typeface="Cambria Math" panose="02040503050406030204" pitchFamily="18" charset="0"/>
                                      </a:rPr>
                                    </m:ctrlPr>
                                  </m:mPr>
                                  <m:mr>
                                    <m:e>
                                      <m:r>
                                        <a:rPr lang="pt-BR" b="1" i="1">
                                          <a:latin typeface="Cambria Math" panose="02040503050406030204" pitchFamily="18" charset="0"/>
                                        </a:rPr>
                                        <m:t>⋮</m:t>
                                      </m:r>
                                    </m:e>
                                    <m:e>
                                      <m:r>
                                        <a:rPr lang="pt-BR" b="1" i="1" smtClean="0">
                                          <a:latin typeface="Cambria Math" panose="02040503050406030204" pitchFamily="18" charset="0"/>
                                        </a:rPr>
                                        <m:t>       ⋱        </m:t>
                                      </m:r>
                                    </m:e>
                                    <m:e>
                                      <m:r>
                                        <a:rPr lang="pt-BR" b="1" i="1" smtClean="0">
                                          <a:latin typeface="Cambria Math" panose="02040503050406030204" pitchFamily="18" charset="0"/>
                                        </a:rPr>
                                        <m:t>⋮</m:t>
                                      </m:r>
                                    </m:e>
                                  </m:mr>
                                </m:m>
                              </m:e>
                            </m:mr>
                            <m:mr>
                              <m:e>
                                <m:r>
                                  <a:rPr lang="pt-BR" i="1" smtClean="0">
                                    <a:latin typeface="Cambria Math" panose="02040503050406030204" pitchFamily="18" charset="0"/>
                                  </a:rPr>
                                  <m:t>1</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a:latin typeface="Cambria Math" panose="02040503050406030204" pitchFamily="18" charset="0"/>
                                              </a:rPr>
                                              <m:t>⋯</m:t>
                                            </m:r>
                                          </m:e>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mr>
                          </m:m>
                        </m:e>
                      </m:d>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𝑀</m:t>
                          </m:r>
                          <m:r>
                            <a:rPr lang="pt-BR" i="1">
                              <a:latin typeface="Cambria Math" panose="02040503050406030204" pitchFamily="18" charset="0"/>
                              <a:ea typeface="Cambria Math" panose="02040503050406030204" pitchFamily="18" charset="0"/>
                            </a:rPr>
                            <m:t>+1</m:t>
                          </m:r>
                        </m:sup>
                      </m:sSup>
                      <m:r>
                        <a:rPr lang="pt-BR" b="0" i="0"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cada coluna contém um atributo (original ou combinação).</a:t>
                </a:r>
              </a:p>
              <a:p>
                <a:r>
                  <a:rPr lang="pt-BR" dirty="0"/>
                  <a:t>A função </a:t>
                </a:r>
                <a:r>
                  <a:rPr lang="en-US" b="1" i="1" dirty="0" err="1"/>
                  <a:t>PolynomialFeatures</a:t>
                </a:r>
                <a:r>
                  <a:rPr lang="en-US" dirty="0"/>
                  <a:t> </a:t>
                </a:r>
                <a:r>
                  <a:rPr lang="pt-BR" dirty="0"/>
                  <a:t>da biblioteca </a:t>
                </a:r>
                <a:r>
                  <a:rPr lang="pt-BR" i="1" dirty="0" err="1"/>
                  <a:t>SciKit-Learn</a:t>
                </a:r>
                <a:r>
                  <a:rPr lang="pt-BR" dirty="0"/>
                  <a:t> cria essas matrizes automaticamente a partir dos atributos originais.</a:t>
                </a:r>
              </a:p>
              <a:p>
                <a:endParaRPr lang="en-US" dirty="0"/>
              </a:p>
              <a:p>
                <a:endParaRPr lang="pt-BR" dirty="0"/>
              </a:p>
            </p:txBody>
          </p:sp>
        </mc:Choice>
        <mc:Fallback xmlns="">
          <p:sp>
            <p:nvSpPr>
              <p:cNvPr id="3" name="Espaço Reservado para Conteúdo 2">
                <a:extLst>
                  <a:ext uri="{FF2B5EF4-FFF2-40B4-BE49-F238E27FC236}">
                    <a16:creationId xmlns:a16="http://schemas.microsoft.com/office/drawing/2014/main" id="{F2E5602A-661E-0742-2B1B-2D2F60E5F350}"/>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2"/>
                <a:stretch>
                  <a:fillRect l="-1074" t="-1937" r="-1664"/>
                </a:stretch>
              </a:blipFill>
            </p:spPr>
            <p:txBody>
              <a:bodyPr/>
              <a:lstStyle/>
              <a:p>
                <a:r>
                  <a:rPr lang="en-US">
                    <a:noFill/>
                  </a:rPr>
                  <a:t> </a:t>
                </a:r>
              </a:p>
            </p:txBody>
          </p:sp>
        </mc:Fallback>
      </mc:AlternateContent>
    </p:spTree>
    <p:extLst>
      <p:ext uri="{BB962C8B-B14F-4D97-AF65-F5344CB8AC3E}">
        <p14:creationId xmlns:p14="http://schemas.microsoft.com/office/powerpoint/2010/main" val="18255558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004E1-01BA-5756-F8E2-7323DBF9CE3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8AB8037-326E-12F8-6CF1-4F38F24E1D5A}"/>
              </a:ext>
            </a:extLst>
          </p:cNvPr>
          <p:cNvSpPr>
            <a:spLocks noGrp="1"/>
          </p:cNvSpPr>
          <p:nvPr>
            <p:ph idx="1"/>
          </p:nvPr>
        </p:nvSpPr>
        <p:spPr>
          <a:xfrm>
            <a:off x="669471" y="2015501"/>
            <a:ext cx="10853057" cy="2826998"/>
          </a:xfrm>
        </p:spPr>
        <p:txBody>
          <a:bodyPr>
            <a:noAutofit/>
          </a:bodyPr>
          <a:lstStyle/>
          <a:p>
            <a:pPr marL="0" indent="0" algn="ctr">
              <a:buNone/>
            </a:pPr>
            <a:r>
              <a:rPr lang="pt-BR" sz="6000" dirty="0"/>
              <a:t>Anexo III: </a:t>
            </a:r>
          </a:p>
          <a:p>
            <a:pPr marL="0" indent="0" algn="ctr">
              <a:buNone/>
            </a:pPr>
            <a:r>
              <a:rPr lang="pt-BR" sz="6000" dirty="0"/>
              <a:t>Efeitos de outliers no treinamento de modelos de ML</a:t>
            </a:r>
            <a:endParaRPr lang="en-US" sz="6000" i="1" dirty="0"/>
          </a:p>
        </p:txBody>
      </p:sp>
    </p:spTree>
    <p:extLst>
      <p:ext uri="{BB962C8B-B14F-4D97-AF65-F5344CB8AC3E}">
        <p14:creationId xmlns:p14="http://schemas.microsoft.com/office/powerpoint/2010/main" val="293061388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9A10830-7336-91D1-5499-0862C69FEE02}"/>
              </a:ext>
            </a:extLst>
          </p:cNvPr>
          <p:cNvSpPr>
            <a:spLocks noGrp="1"/>
          </p:cNvSpPr>
          <p:nvPr>
            <p:ph type="title"/>
          </p:nvPr>
        </p:nvSpPr>
        <p:spPr/>
        <p:txBody>
          <a:bodyPr/>
          <a:lstStyle/>
          <a:p>
            <a:r>
              <a:rPr lang="pt-BR" dirty="0"/>
              <a:t>Impacto de </a:t>
            </a:r>
            <a:r>
              <a:rPr lang="pt-BR" i="1" dirty="0"/>
              <a:t>outliers</a:t>
            </a:r>
            <a:r>
              <a:rPr lang="pt-BR" dirty="0"/>
              <a:t> no modelo aprendido</a:t>
            </a:r>
          </a:p>
        </p:txBody>
      </p:sp>
      <p:sp>
        <p:nvSpPr>
          <p:cNvPr id="3" name="Espaço Reservado para Conteúdo 2">
            <a:extLst>
              <a:ext uri="{FF2B5EF4-FFF2-40B4-BE49-F238E27FC236}">
                <a16:creationId xmlns:a16="http://schemas.microsoft.com/office/drawing/2014/main" id="{996BF4C0-7E55-8111-D7D7-035EB9474E11}"/>
              </a:ext>
            </a:extLst>
          </p:cNvPr>
          <p:cNvSpPr>
            <a:spLocks noGrp="1"/>
          </p:cNvSpPr>
          <p:nvPr>
            <p:ph idx="1"/>
          </p:nvPr>
        </p:nvSpPr>
        <p:spPr>
          <a:xfrm>
            <a:off x="5147352" y="1825624"/>
            <a:ext cx="6904235" cy="5032375"/>
          </a:xfrm>
        </p:spPr>
        <p:txBody>
          <a:bodyPr>
            <a:normAutofit/>
          </a:bodyPr>
          <a:lstStyle/>
          <a:p>
            <a:r>
              <a:rPr lang="pt-BR" b="1" i="1" dirty="0">
                <a:solidFill>
                  <a:srgbClr val="7030A0"/>
                </a:solidFill>
              </a:rPr>
              <a:t>Outliers</a:t>
            </a:r>
            <a:r>
              <a:rPr lang="pt-BR" dirty="0"/>
              <a:t> podem levar o modelo a se concentrar demais em </a:t>
            </a:r>
            <a:r>
              <a:rPr lang="pt-BR" b="1" dirty="0"/>
              <a:t>reduzir os erros grandes</a:t>
            </a:r>
            <a:r>
              <a:rPr lang="pt-BR" dirty="0"/>
              <a:t>, em </a:t>
            </a:r>
            <a:r>
              <a:rPr lang="pt-BR" b="1" dirty="0"/>
              <a:t>detrimento de um bom ajuste geral</a:t>
            </a:r>
            <a:r>
              <a:rPr lang="pt-BR" dirty="0"/>
              <a:t>.</a:t>
            </a:r>
          </a:p>
          <a:p>
            <a:r>
              <a:rPr lang="pt-BR" dirty="0"/>
              <a:t>A consequência disso é a</a:t>
            </a:r>
            <a:r>
              <a:rPr lang="pt-BR" b="0" i="0" dirty="0">
                <a:effectLst/>
              </a:rPr>
              <a:t> </a:t>
            </a:r>
            <a:r>
              <a:rPr lang="pt-BR" b="1" dirty="0">
                <a:solidFill>
                  <a:srgbClr val="00B050"/>
                </a:solidFill>
                <a:effectLst/>
              </a:rPr>
              <a:t>distorção do modelo aprendido</a:t>
            </a:r>
            <a:r>
              <a:rPr lang="pt-BR" b="0" i="0" dirty="0">
                <a:effectLst/>
              </a:rPr>
              <a:t>, fazendo com que ele se </a:t>
            </a:r>
            <a:r>
              <a:rPr lang="pt-BR" b="1" i="0" dirty="0">
                <a:solidFill>
                  <a:schemeClr val="accent2"/>
                </a:solidFill>
                <a:effectLst/>
              </a:rPr>
              <a:t>distancie</a:t>
            </a:r>
            <a:r>
              <a:rPr lang="pt-BR" b="0" i="0" dirty="0">
                <a:effectLst/>
              </a:rPr>
              <a:t> de um </a:t>
            </a:r>
            <a:r>
              <a:rPr lang="pt-BR" b="1" i="0" dirty="0">
                <a:solidFill>
                  <a:schemeClr val="accent2"/>
                </a:solidFill>
                <a:effectLst/>
              </a:rPr>
              <a:t>mapeamento que represente o comportamento dos dados típicos</a:t>
            </a:r>
            <a:r>
              <a:rPr lang="pt-BR" b="0" i="0" dirty="0">
                <a:effectLst/>
              </a:rPr>
              <a:t>.</a:t>
            </a:r>
            <a:endParaRPr lang="pt-BR" dirty="0"/>
          </a:p>
        </p:txBody>
      </p:sp>
      <p:grpSp>
        <p:nvGrpSpPr>
          <p:cNvPr id="7" name="Group 6">
            <a:extLst>
              <a:ext uri="{FF2B5EF4-FFF2-40B4-BE49-F238E27FC236}">
                <a16:creationId xmlns:a16="http://schemas.microsoft.com/office/drawing/2014/main" id="{0DB4E377-29F9-3F4A-FEBF-A885B6F2205E}"/>
              </a:ext>
            </a:extLst>
          </p:cNvPr>
          <p:cNvGrpSpPr/>
          <p:nvPr/>
        </p:nvGrpSpPr>
        <p:grpSpPr>
          <a:xfrm>
            <a:off x="762000" y="2537470"/>
            <a:ext cx="4031374" cy="3258156"/>
            <a:chOff x="838200" y="3593384"/>
            <a:chExt cx="4031374" cy="3258156"/>
          </a:xfrm>
        </p:grpSpPr>
        <p:pic>
          <p:nvPicPr>
            <p:cNvPr id="1026" name="Picture 2">
              <a:extLst>
                <a:ext uri="{FF2B5EF4-FFF2-40B4-BE49-F238E27FC236}">
                  <a16:creationId xmlns:a16="http://schemas.microsoft.com/office/drawing/2014/main" id="{7CBC9B34-92E1-B52B-8142-014B6553EA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3593384"/>
              <a:ext cx="3753596" cy="2847780"/>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id="{939C8695-1AC6-E3B6-703C-D28BBA11C447}"/>
                </a:ext>
              </a:extLst>
            </p:cNvPr>
            <p:cNvSpPr/>
            <p:nvPr/>
          </p:nvSpPr>
          <p:spPr>
            <a:xfrm>
              <a:off x="2412510" y="3593384"/>
              <a:ext cx="410966" cy="321487"/>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97EA9FFC-A8FC-FBFD-695A-DC546F50941B}"/>
                    </a:ext>
                  </a:extLst>
                </p:cNvPr>
                <p:cNvSpPr txBox="1"/>
                <p:nvPr/>
              </p:nvSpPr>
              <p:spPr>
                <a:xfrm>
                  <a:off x="1197419" y="6482208"/>
                  <a:ext cx="3672155" cy="369332"/>
                </a:xfrm>
                <a:prstGeom prst="rect">
                  <a:avLst/>
                </a:prstGeom>
                <a:noFill/>
              </p:spPr>
              <p:txBody>
                <a:bodyPr wrap="square" rtlCol="0">
                  <a:spAutoFit/>
                </a:bodyPr>
                <a:lstStyle/>
                <a:p>
                  <a:r>
                    <a:rPr lang="pt-BR" dirty="0"/>
                    <a:t>Função original: </a:t>
                  </a:r>
                  <a14:m>
                    <m:oMath xmlns:m="http://schemas.openxmlformats.org/officeDocument/2006/math">
                      <m:r>
                        <m:rPr>
                          <m:sty m:val="p"/>
                        </m:rPr>
                        <a:rPr lang="pt-BR" b="0" i="0" smtClean="0">
                          <a:latin typeface="Cambria Math" panose="02040503050406030204" pitchFamily="18" charset="0"/>
                        </a:rPr>
                        <m:t>y</m:t>
                      </m:r>
                      <m:r>
                        <a:rPr lang="pt-BR" b="0" i="0" smtClean="0">
                          <a:latin typeface="Cambria Math" panose="02040503050406030204" pitchFamily="18" charset="0"/>
                        </a:rPr>
                        <m:t>=1+</m:t>
                      </m:r>
                      <m:r>
                        <a:rPr lang="pt-BR" b="0" i="1" smtClean="0">
                          <a:latin typeface="Cambria Math" panose="02040503050406030204" pitchFamily="18" charset="0"/>
                        </a:rPr>
                        <m:t>𝑥</m:t>
                      </m:r>
                      <m:r>
                        <a:rPr lang="pt-BR" b="0" i="1" smtClean="0">
                          <a:latin typeface="Cambria Math" panose="02040503050406030204" pitchFamily="18" charset="0"/>
                        </a:rPr>
                        <m:t>+2</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2</m:t>
                          </m:r>
                        </m:sup>
                      </m:sSup>
                    </m:oMath>
                  </a14:m>
                  <a:endParaRPr lang="pt-BR" dirty="0"/>
                </a:p>
              </p:txBody>
            </p:sp>
          </mc:Choice>
          <mc:Fallback xmlns="">
            <p:sp>
              <p:nvSpPr>
                <p:cNvPr id="6" name="CaixaDeTexto 5">
                  <a:extLst>
                    <a:ext uri="{FF2B5EF4-FFF2-40B4-BE49-F238E27FC236}">
                      <a16:creationId xmlns:a16="http://schemas.microsoft.com/office/drawing/2014/main" id="{97EA9FFC-A8FC-FBFD-695A-DC546F50941B}"/>
                    </a:ext>
                  </a:extLst>
                </p:cNvPr>
                <p:cNvSpPr txBox="1">
                  <a:spLocks noRot="1" noChangeAspect="1" noMove="1" noResize="1" noEditPoints="1" noAdjustHandles="1" noChangeArrowheads="1" noChangeShapeType="1" noTextEdit="1"/>
                </p:cNvSpPr>
                <p:nvPr/>
              </p:nvSpPr>
              <p:spPr>
                <a:xfrm>
                  <a:off x="1197419" y="6482208"/>
                  <a:ext cx="3672155" cy="369332"/>
                </a:xfrm>
                <a:prstGeom prst="rect">
                  <a:avLst/>
                </a:prstGeom>
                <a:blipFill>
                  <a:blip r:embed="rId4"/>
                  <a:stretch>
                    <a:fillRect l="-1495" t="-8197" b="-24590"/>
                  </a:stretch>
                </a:blipFill>
              </p:spPr>
              <p:txBody>
                <a:bodyPr/>
                <a:lstStyle/>
                <a:p>
                  <a:r>
                    <a:rPr lang="en-US">
                      <a:noFill/>
                    </a:rPr>
                    <a:t> </a:t>
                  </a:r>
                </a:p>
              </p:txBody>
            </p:sp>
          </mc:Fallback>
        </mc:AlternateContent>
      </p:grpSp>
    </p:spTree>
    <p:extLst>
      <p:ext uri="{BB962C8B-B14F-4D97-AF65-F5344CB8AC3E}">
        <p14:creationId xmlns:p14="http://schemas.microsoft.com/office/powerpoint/2010/main" val="216631569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A85BB-15A7-F8BA-99B5-68CD4245988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7355097-DAFD-4CD9-99D1-94344DD04521}"/>
              </a:ext>
            </a:extLst>
          </p:cNvPr>
          <p:cNvSpPr>
            <a:spLocks noGrp="1"/>
          </p:cNvSpPr>
          <p:nvPr>
            <p:ph idx="1"/>
          </p:nvPr>
        </p:nvSpPr>
        <p:spPr>
          <a:xfrm>
            <a:off x="669471" y="2154577"/>
            <a:ext cx="10853057" cy="2548846"/>
          </a:xfrm>
        </p:spPr>
        <p:txBody>
          <a:bodyPr>
            <a:normAutofit/>
          </a:bodyPr>
          <a:lstStyle/>
          <a:p>
            <a:pPr marL="0" indent="0" algn="ctr">
              <a:buNone/>
            </a:pPr>
            <a:r>
              <a:rPr lang="pt-BR" sz="6000" dirty="0"/>
              <a:t>Anexo IV: </a:t>
            </a:r>
          </a:p>
          <a:p>
            <a:pPr marL="0" indent="0" algn="ctr">
              <a:buNone/>
            </a:pPr>
            <a:r>
              <a:rPr lang="pt-BR" sz="6000" dirty="0"/>
              <a:t>Regularização</a:t>
            </a:r>
            <a:endParaRPr lang="en-US" sz="6000" i="1" dirty="0"/>
          </a:p>
        </p:txBody>
      </p:sp>
    </p:spTree>
    <p:extLst>
      <p:ext uri="{BB962C8B-B14F-4D97-AF65-F5344CB8AC3E}">
        <p14:creationId xmlns:p14="http://schemas.microsoft.com/office/powerpoint/2010/main" val="92228983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9F6013C-2F2F-4945-1B5B-3B467AE43415}"/>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D73F6863-0CB2-7108-C7EB-DC30EA7D96BA}"/>
              </a:ext>
            </a:extLst>
          </p:cNvPr>
          <p:cNvSpPr>
            <a:spLocks noGrp="1"/>
          </p:cNvSpPr>
          <p:nvPr>
            <p:ph idx="1"/>
          </p:nvPr>
        </p:nvSpPr>
        <p:spPr>
          <a:xfrm>
            <a:off x="838200" y="1825624"/>
            <a:ext cx="11207044" cy="5032375"/>
          </a:xfrm>
        </p:spPr>
        <p:txBody>
          <a:bodyPr>
            <a:normAutofit/>
          </a:bodyPr>
          <a:lstStyle/>
          <a:p>
            <a:r>
              <a:rPr lang="pt-BR" dirty="0"/>
              <a:t>Anteriormente, nós vimos como escolher o melhor modelo de regressão utilizando </a:t>
            </a:r>
            <a:r>
              <a:rPr lang="pt-BR" b="1" i="1" dirty="0"/>
              <a:t>validação cruzada</a:t>
            </a:r>
            <a:r>
              <a:rPr lang="pt-BR" dirty="0"/>
              <a:t>.</a:t>
            </a:r>
          </a:p>
          <a:p>
            <a:pPr lvl="1">
              <a:buFont typeface="Wingdings" panose="05000000000000000000" pitchFamily="2" charset="2"/>
              <a:buChar char="§"/>
            </a:pPr>
            <a:r>
              <a:rPr lang="pt-BR" dirty="0"/>
              <a:t>Escolhemos o modelo </a:t>
            </a:r>
            <a:r>
              <a:rPr lang="pt-BR" b="1" i="1" dirty="0"/>
              <a:t>menos complexo</a:t>
            </a:r>
            <a:r>
              <a:rPr lang="pt-BR" dirty="0"/>
              <a:t>, </a:t>
            </a:r>
            <a:r>
              <a:rPr lang="pt-BR" b="1" i="1" dirty="0"/>
              <a:t>mas que generaliza bem</a:t>
            </a:r>
            <a:r>
              <a:rPr lang="pt-BR" dirty="0"/>
              <a:t>. </a:t>
            </a:r>
          </a:p>
          <a:p>
            <a:r>
              <a:rPr lang="pt-BR" dirty="0"/>
              <a:t>Uma abordagem alternativa é </a:t>
            </a:r>
            <a:r>
              <a:rPr lang="pt-BR" b="1" i="1" dirty="0">
                <a:solidFill>
                  <a:srgbClr val="00B050"/>
                </a:solidFill>
              </a:rPr>
              <a:t>minimizar conjuntamente o erro e a complexidade da função hipótese</a:t>
            </a:r>
            <a:r>
              <a:rPr lang="pt-BR" dirty="0"/>
              <a:t>.</a:t>
            </a:r>
          </a:p>
          <a:p>
            <a:r>
              <a:rPr lang="pt-BR" dirty="0"/>
              <a:t>Essa abordagem combina </a:t>
            </a:r>
            <a:r>
              <a:rPr lang="pt-BR" b="1" i="1" dirty="0"/>
              <a:t>medidas de erro e de complexidade em uma única função de erro</a:t>
            </a:r>
            <a:r>
              <a:rPr lang="pt-BR" dirty="0"/>
              <a:t>, possibilitando que encontremos uma </a:t>
            </a:r>
            <a:r>
              <a:rPr lang="pt-BR" b="1" i="1" dirty="0"/>
              <a:t>função hipótese </a:t>
            </a:r>
            <a:r>
              <a:rPr lang="pt-BR" dirty="0"/>
              <a:t>com</a:t>
            </a:r>
          </a:p>
          <a:p>
            <a:pPr lvl="1">
              <a:buFont typeface="Wingdings" panose="05000000000000000000" pitchFamily="2" charset="2"/>
              <a:buChar char="§"/>
            </a:pPr>
            <a:r>
              <a:rPr lang="pt-BR" dirty="0"/>
              <a:t>a complexidade/flexibilidade ideal,</a:t>
            </a:r>
          </a:p>
          <a:p>
            <a:pPr lvl="1">
              <a:buFont typeface="Wingdings" panose="05000000000000000000" pitchFamily="2" charset="2"/>
              <a:buChar char="§"/>
            </a:pPr>
            <a:r>
              <a:rPr lang="pt-BR" dirty="0"/>
              <a:t>os pesos que minimizam o erro.</a:t>
            </a:r>
          </a:p>
        </p:txBody>
      </p:sp>
    </p:spTree>
    <p:extLst>
      <p:ext uri="{BB962C8B-B14F-4D97-AF65-F5344CB8AC3E}">
        <p14:creationId xmlns:p14="http://schemas.microsoft.com/office/powerpoint/2010/main" val="346834352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5F167CF-1401-A125-DC09-88303260028C}"/>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66C376AB-02FE-A43B-71FC-290EE8AAB94A}"/>
              </a:ext>
            </a:extLst>
          </p:cNvPr>
          <p:cNvSpPr>
            <a:spLocks noGrp="1"/>
          </p:cNvSpPr>
          <p:nvPr>
            <p:ph idx="1"/>
          </p:nvPr>
        </p:nvSpPr>
        <p:spPr>
          <a:xfrm>
            <a:off x="838200" y="1825624"/>
            <a:ext cx="11049000" cy="5032375"/>
          </a:xfrm>
        </p:spPr>
        <p:txBody>
          <a:bodyPr/>
          <a:lstStyle/>
          <a:p>
            <a:r>
              <a:rPr lang="pt-BR" dirty="0"/>
              <a:t>Existem duas técnicas que seguem essa abordagem:</a:t>
            </a:r>
          </a:p>
          <a:p>
            <a:pPr lvl="1">
              <a:buFont typeface="Wingdings" panose="05000000000000000000" pitchFamily="2" charset="2"/>
              <a:buChar char="§"/>
            </a:pPr>
            <a:r>
              <a:rPr lang="pt-BR" b="1" dirty="0"/>
              <a:t>Regularização</a:t>
            </a:r>
            <a:r>
              <a:rPr lang="pt-BR" dirty="0"/>
              <a:t>: </a:t>
            </a:r>
            <a:r>
              <a:rPr lang="pt-BR" b="1" i="1" dirty="0">
                <a:solidFill>
                  <a:srgbClr val="7030A0"/>
                </a:solidFill>
              </a:rPr>
              <a:t>penaliza funções hipótese muito complexas</a:t>
            </a:r>
            <a:r>
              <a:rPr lang="pt-BR" dirty="0"/>
              <a:t>, ou seja, muito flexíveis.</a:t>
            </a:r>
          </a:p>
          <a:p>
            <a:pPr lvl="1">
              <a:buFont typeface="Wingdings" panose="05000000000000000000" pitchFamily="2" charset="2"/>
              <a:buChar char="§"/>
            </a:pPr>
            <a:r>
              <a:rPr lang="pt-BR" b="1" i="1" dirty="0"/>
              <a:t>Early-stopping</a:t>
            </a:r>
            <a:r>
              <a:rPr lang="pt-BR" dirty="0"/>
              <a:t>: encerra o treinamento de </a:t>
            </a:r>
            <a:r>
              <a:rPr lang="pt-BR" b="1" i="1" dirty="0"/>
              <a:t>algoritmos iterativos</a:t>
            </a:r>
            <a:r>
              <a:rPr lang="pt-BR" dirty="0"/>
              <a:t> (e.g., gradiente descendente) quando o erro de validação for o menor possível </a:t>
            </a:r>
          </a:p>
          <a:p>
            <a:pPr lvl="2">
              <a:buFont typeface="Wingdings" panose="05000000000000000000" pitchFamily="2" charset="2"/>
              <a:buChar char="§"/>
            </a:pPr>
            <a:r>
              <a:rPr lang="pt-BR" dirty="0"/>
              <a:t>Chamado de </a:t>
            </a:r>
            <a:r>
              <a:rPr lang="pt-BR" b="1" i="1" dirty="0">
                <a:solidFill>
                  <a:srgbClr val="00B050"/>
                </a:solidFill>
              </a:rPr>
              <a:t>regularização temporal</a:t>
            </a:r>
            <a:r>
              <a:rPr lang="pt-BR" dirty="0"/>
              <a:t>.</a:t>
            </a:r>
          </a:p>
          <a:p>
            <a:r>
              <a:rPr lang="pt-BR" dirty="0"/>
              <a:t>O objetivo das duas técnicas é deixar o modelo </a:t>
            </a:r>
            <a:r>
              <a:rPr lang="pt-BR" b="1" i="1" dirty="0"/>
              <a:t>mais regular </a:t>
            </a:r>
            <a:r>
              <a:rPr lang="pt-BR" dirty="0"/>
              <a:t>(i.e., menos complexo) de tal forma que ele </a:t>
            </a:r>
            <a:r>
              <a:rPr lang="pt-BR" b="1" i="1" dirty="0"/>
              <a:t>não se sobreajuste </a:t>
            </a:r>
            <a:r>
              <a:rPr lang="pt-BR" dirty="0"/>
              <a:t>ao conjunto de treinamento.</a:t>
            </a:r>
          </a:p>
        </p:txBody>
      </p:sp>
    </p:spTree>
    <p:extLst>
      <p:ext uri="{BB962C8B-B14F-4D97-AF65-F5344CB8AC3E}">
        <p14:creationId xmlns:p14="http://schemas.microsoft.com/office/powerpoint/2010/main" val="4280557743"/>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CF51B8E-2ECF-5C12-C6E1-60E4C73E176B}"/>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3FBF386A-8096-9BC3-23F3-2B36D8B4267C}"/>
              </a:ext>
            </a:extLst>
          </p:cNvPr>
          <p:cNvSpPr>
            <a:spLocks noGrp="1"/>
          </p:cNvSpPr>
          <p:nvPr>
            <p:ph idx="1"/>
          </p:nvPr>
        </p:nvSpPr>
        <p:spPr>
          <a:xfrm>
            <a:off x="838200" y="1825624"/>
            <a:ext cx="11003844" cy="5032375"/>
          </a:xfrm>
        </p:spPr>
        <p:txBody>
          <a:bodyPr/>
          <a:lstStyle/>
          <a:p>
            <a:r>
              <a:rPr lang="pt-BR" dirty="0"/>
              <a:t>Um claro sinal de um modelo que se </a:t>
            </a:r>
            <a:r>
              <a:rPr lang="pt-BR" b="1" i="1" dirty="0" err="1">
                <a:solidFill>
                  <a:srgbClr val="00B050"/>
                </a:solidFill>
              </a:rPr>
              <a:t>sobreajustou</a:t>
            </a:r>
            <a:r>
              <a:rPr lang="pt-BR" b="1" i="1" dirty="0">
                <a:solidFill>
                  <a:srgbClr val="00B050"/>
                </a:solidFill>
              </a:rPr>
              <a:t> </a:t>
            </a:r>
            <a:r>
              <a:rPr lang="pt-BR" b="1" i="1" dirty="0"/>
              <a:t>aos dados de treinamento</a:t>
            </a:r>
            <a:r>
              <a:rPr lang="pt-BR" dirty="0"/>
              <a:t>, são </a:t>
            </a:r>
            <a:r>
              <a:rPr lang="pt-BR" b="1" i="1" dirty="0">
                <a:solidFill>
                  <a:srgbClr val="7030A0"/>
                </a:solidFill>
              </a:rPr>
              <a:t>pesos com magnitudes extremamente altas</a:t>
            </a:r>
            <a:r>
              <a:rPr lang="pt-BR" dirty="0"/>
              <a:t>.</a:t>
            </a:r>
          </a:p>
          <a:p>
            <a:r>
              <a:rPr lang="pt-BR" dirty="0"/>
              <a:t>Portanto, a ideia por trás da </a:t>
            </a:r>
            <a:r>
              <a:rPr lang="pt-BR" b="1" i="1" dirty="0">
                <a:solidFill>
                  <a:srgbClr val="00B050"/>
                </a:solidFill>
              </a:rPr>
              <a:t>regularização</a:t>
            </a:r>
            <a:r>
              <a:rPr lang="pt-BR" dirty="0"/>
              <a:t> é </a:t>
            </a:r>
            <a:r>
              <a:rPr lang="pt-BR" b="1" i="1" dirty="0">
                <a:solidFill>
                  <a:srgbClr val="00B050"/>
                </a:solidFill>
              </a:rPr>
              <a:t>restringir o aumento da magnitude dos pesos</a:t>
            </a:r>
            <a:r>
              <a:rPr lang="pt-BR" b="1" i="1" dirty="0"/>
              <a:t> </a:t>
            </a:r>
            <a:r>
              <a:rPr lang="pt-BR" dirty="0"/>
              <a:t>de forma a </a:t>
            </a:r>
            <a:r>
              <a:rPr lang="pt-BR" b="1" i="1" dirty="0"/>
              <a:t>reduzir o risco de sobreajuste.</a:t>
            </a:r>
            <a:endParaRPr lang="pt-BR" b="1" i="1" dirty="0">
              <a:solidFill>
                <a:srgbClr val="FF0000"/>
              </a:solidFill>
            </a:endParaRPr>
          </a:p>
          <a:p>
            <a:r>
              <a:rPr lang="pt-BR" dirty="0"/>
              <a:t>Para tanto, incorpora-se ao </a:t>
            </a:r>
            <a:r>
              <a:rPr lang="pt-BR" b="1" i="1" dirty="0">
                <a:solidFill>
                  <a:schemeClr val="accent2"/>
                </a:solidFill>
              </a:rPr>
              <a:t>processo de treinamento</a:t>
            </a:r>
            <a:r>
              <a:rPr lang="pt-BR" dirty="0"/>
              <a:t> </a:t>
            </a:r>
            <a:r>
              <a:rPr lang="pt-BR" b="1" i="1" dirty="0">
                <a:solidFill>
                  <a:srgbClr val="0070C0"/>
                </a:solidFill>
              </a:rPr>
              <a:t>restrições</a:t>
            </a:r>
            <a:r>
              <a:rPr lang="pt-BR" b="1" dirty="0"/>
              <a:t> </a:t>
            </a:r>
            <a:r>
              <a:rPr lang="pt-BR" dirty="0"/>
              <a:t>proporcionais a alguma </a:t>
            </a:r>
            <a:r>
              <a:rPr lang="pt-BR" b="1" i="1" dirty="0"/>
              <a:t>norma</a:t>
            </a:r>
            <a:r>
              <a:rPr lang="pt-BR" dirty="0"/>
              <a:t> do </a:t>
            </a:r>
            <a:r>
              <a:rPr lang="pt-BR" b="1" i="1" dirty="0"/>
              <a:t>vetor de pesos</a:t>
            </a:r>
            <a:r>
              <a:rPr lang="pt-BR" dirty="0"/>
              <a:t>.</a:t>
            </a:r>
          </a:p>
        </p:txBody>
      </p:sp>
    </p:spTree>
    <p:extLst>
      <p:ext uri="{BB962C8B-B14F-4D97-AF65-F5344CB8AC3E}">
        <p14:creationId xmlns:p14="http://schemas.microsoft.com/office/powerpoint/2010/main" val="297589009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E3CFBE0-B38B-2A39-D412-E8F3926EAF96}"/>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6F1FA5A3-0599-AF42-6073-7FA9CB1A286D}"/>
              </a:ext>
            </a:extLst>
          </p:cNvPr>
          <p:cNvSpPr>
            <a:spLocks noGrp="1"/>
          </p:cNvSpPr>
          <p:nvPr>
            <p:ph idx="1"/>
          </p:nvPr>
        </p:nvSpPr>
        <p:spPr>
          <a:xfrm>
            <a:off x="838200" y="1825624"/>
            <a:ext cx="11049000" cy="5032375"/>
          </a:xfrm>
        </p:spPr>
        <p:txBody>
          <a:bodyPr/>
          <a:lstStyle/>
          <a:p>
            <a:r>
              <a:rPr lang="pt-BR" b="1" i="1" dirty="0">
                <a:solidFill>
                  <a:srgbClr val="00B050"/>
                </a:solidFill>
              </a:rPr>
              <a:t>Técnicas de regularização reduzem o risco de sobreajuste </a:t>
            </a:r>
            <a:r>
              <a:rPr lang="pt-BR" dirty="0"/>
              <a:t>do modelo ao conjunto de treinamento, </a:t>
            </a:r>
            <a:r>
              <a:rPr lang="pt-BR" b="1" i="1" dirty="0">
                <a:solidFill>
                  <a:srgbClr val="00B050"/>
                </a:solidFill>
              </a:rPr>
              <a:t>aumentando sua capacidade de generalização</a:t>
            </a:r>
            <a:r>
              <a:rPr lang="pt-BR" dirty="0"/>
              <a:t>.</a:t>
            </a:r>
          </a:p>
          <a:p>
            <a:r>
              <a:rPr lang="pt-BR" dirty="0"/>
              <a:t>Quanto menos graus de liberdade o modelo tiver, mais difícil será para ele se </a:t>
            </a:r>
            <a:r>
              <a:rPr lang="pt-BR" b="1" i="1" dirty="0"/>
              <a:t>sobreajustar</a:t>
            </a:r>
            <a:r>
              <a:rPr lang="pt-BR" dirty="0"/>
              <a:t> aos dados de treinamento.</a:t>
            </a:r>
          </a:p>
          <a:p>
            <a:r>
              <a:rPr lang="pt-BR" dirty="0"/>
              <a:t>A </a:t>
            </a:r>
            <a:r>
              <a:rPr lang="pt-BR" b="1" i="1" dirty="0"/>
              <a:t>regularização</a:t>
            </a:r>
            <a:r>
              <a:rPr lang="pt-BR" dirty="0"/>
              <a:t> força o algoritmo de aprendizado não apenas a capturar o </a:t>
            </a:r>
            <a:r>
              <a:rPr lang="pt-BR" b="1" i="1" dirty="0">
                <a:solidFill>
                  <a:srgbClr val="0070C0"/>
                </a:solidFill>
              </a:rPr>
              <a:t>comportamento geral por trás das amostras</a:t>
            </a:r>
            <a:r>
              <a:rPr lang="pt-BR" dirty="0"/>
              <a:t>, mas também a </a:t>
            </a:r>
            <a:r>
              <a:rPr lang="pt-BR" b="1" i="1" dirty="0"/>
              <a:t>manter os pesos do modelo os menores possíveis</a:t>
            </a:r>
            <a:r>
              <a:rPr lang="pt-BR" dirty="0"/>
              <a:t>.</a:t>
            </a:r>
          </a:p>
        </p:txBody>
      </p:sp>
    </p:spTree>
    <p:extLst>
      <p:ext uri="{BB962C8B-B14F-4D97-AF65-F5344CB8AC3E}">
        <p14:creationId xmlns:p14="http://schemas.microsoft.com/office/powerpoint/2010/main" val="335178610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1DECE43-4D45-339A-D91B-F99EC70D817B}"/>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3198D10-DFD8-1382-4B89-DBDDB78C3C16}"/>
                  </a:ext>
                </a:extLst>
              </p:cNvPr>
              <p:cNvSpPr>
                <a:spLocks noGrp="1"/>
              </p:cNvSpPr>
              <p:nvPr>
                <p:ph idx="1"/>
              </p:nvPr>
            </p:nvSpPr>
            <p:spPr>
              <a:xfrm>
                <a:off x="838200" y="1825624"/>
                <a:ext cx="11105444" cy="5032375"/>
              </a:xfrm>
            </p:spPr>
            <p:txBody>
              <a:bodyPr>
                <a:normAutofit lnSpcReduction="10000"/>
              </a:bodyPr>
              <a:lstStyle/>
              <a:p>
                <a:r>
                  <a:rPr lang="pt-BR" dirty="0"/>
                  <a:t>Ao invés de </a:t>
                </a:r>
                <a:r>
                  <a:rPr lang="pt-BR" b="1" i="1" dirty="0">
                    <a:solidFill>
                      <a:schemeClr val="accent5"/>
                    </a:solidFill>
                  </a:rPr>
                  <a:t>minimizarmos</a:t>
                </a:r>
                <a:r>
                  <a:rPr lang="pt-BR" dirty="0"/>
                  <a:t> apenas o </a:t>
                </a:r>
                <a:r>
                  <a:rPr lang="pt-BR" b="1" i="1" dirty="0"/>
                  <a:t>erro quadrático médio</a:t>
                </a:r>
                <a:r>
                  <a:rPr lang="pt-BR" dirty="0"/>
                  <a:t>, como fizemos antes, introduzimos um</a:t>
                </a:r>
                <a:r>
                  <a:rPr lang="pt-BR" b="1" dirty="0"/>
                  <a:t> </a:t>
                </a:r>
                <a:r>
                  <a:rPr lang="pt-BR" b="1" i="1" dirty="0">
                    <a:solidFill>
                      <a:srgbClr val="7030A0"/>
                    </a:solidFill>
                  </a:rPr>
                  <a:t>termo de penalização</a:t>
                </a:r>
                <a:r>
                  <a:rPr lang="pt-BR" b="1" i="1" dirty="0"/>
                  <a:t> (ou regularização) </a:t>
                </a:r>
                <a:r>
                  <a:rPr lang="pt-BR" dirty="0"/>
                  <a:t>proporcional à </a:t>
                </a:r>
                <a:r>
                  <a:rPr lang="pt-BR" b="1" i="1" dirty="0">
                    <a:solidFill>
                      <a:srgbClr val="7030A0"/>
                    </a:solidFill>
                  </a:rPr>
                  <a:t>norma Euclidiana</a:t>
                </a:r>
                <a:r>
                  <a:rPr lang="pt-BR" dirty="0"/>
                  <a:t> (i.e., a norma L2) do vetor de pesos</a:t>
                </a:r>
              </a:p>
              <a:p>
                <a:pPr marL="0" indent="0" algn="ctr">
                  <a:buNone/>
                </a:pPr>
                <a14:m>
                  <m:oMath xmlns:m="http://schemas.openxmlformats.org/officeDocument/2006/math">
                    <m:func>
                      <m:funcPr>
                        <m:ctrlPr>
                          <a:rPr lang="nl-BE" sz="2400" i="1">
                            <a:latin typeface="Cambria Math" panose="02040503050406030204" pitchFamily="18" charset="0"/>
                          </a:rPr>
                        </m:ctrlPr>
                      </m:funcPr>
                      <m:fName>
                        <m:limLow>
                          <m:limLowPr>
                            <m:ctrlPr>
                              <a:rPr lang="nl-BE" sz="2400">
                                <a:latin typeface="Cambria Math" panose="02040503050406030204" pitchFamily="18" charset="0"/>
                              </a:rPr>
                            </m:ctrlPr>
                          </m:limLowPr>
                          <m:e>
                            <m:r>
                              <m:rPr>
                                <m:sty m:val="p"/>
                              </m:rPr>
                              <a:rPr lang="nl-BE" sz="2400">
                                <a:latin typeface="Cambria Math" panose="02040503050406030204" pitchFamily="18" charset="0"/>
                              </a:rPr>
                              <m:t>min</m:t>
                            </m:r>
                          </m:e>
                          <m:lim>
                            <m:r>
                              <a:rPr lang="pt-BR" sz="2400" b="1" i="1">
                                <a:latin typeface="Cambria Math" panose="02040503050406030204" pitchFamily="18" charset="0"/>
                              </a:rPr>
                              <m:t>𝒂</m:t>
                            </m:r>
                            <m:r>
                              <a:rPr lang="pt-BR" sz="2400" b="1" i="1">
                                <a:latin typeface="Cambria Math" panose="02040503050406030204" pitchFamily="18" charset="0"/>
                              </a:rPr>
                              <m:t> ∈ </m:t>
                            </m:r>
                            <m:sSup>
                              <m:sSupPr>
                                <m:ctrlPr>
                                  <a:rPr lang="pt-BR" sz="2400" b="1" i="1">
                                    <a:latin typeface="Cambria Math" panose="02040503050406030204" pitchFamily="18" charset="0"/>
                                    <a:ea typeface="Cambria Math" panose="02040503050406030204" pitchFamily="18" charset="0"/>
                                  </a:rPr>
                                </m:ctrlPr>
                              </m:sSupPr>
                              <m:e>
                                <m:r>
                                  <a:rPr lang="pt-BR" sz="2400" b="1" i="1">
                                    <a:latin typeface="Cambria Math" panose="02040503050406030204" pitchFamily="18" charset="0"/>
                                    <a:ea typeface="Cambria Math" panose="02040503050406030204" pitchFamily="18" charset="0"/>
                                  </a:rPr>
                                  <m:t>ℝ</m:t>
                                </m:r>
                              </m:e>
                              <m:sup>
                                <m:r>
                                  <a:rPr lang="pt-BR" sz="2400" b="0" i="1" smtClean="0">
                                    <a:latin typeface="Cambria Math" panose="02040503050406030204" pitchFamily="18" charset="0"/>
                                  </a:rPr>
                                  <m:t>𝐾</m:t>
                                </m:r>
                                <m:r>
                                  <a:rPr lang="pt-BR" sz="2400" b="0" i="1" smtClean="0">
                                    <a:latin typeface="Cambria Math" panose="02040503050406030204" pitchFamily="18" charset="0"/>
                                  </a:rPr>
                                  <m:t>+1×1</m:t>
                                </m:r>
                              </m:sup>
                            </m:sSup>
                          </m:lim>
                        </m:limLow>
                      </m:fName>
                      <m:e>
                        <m:d>
                          <m:dPr>
                            <m:ctrlPr>
                              <a:rPr lang="pt-BR" sz="2400" i="1">
                                <a:latin typeface="Cambria Math" panose="02040503050406030204" pitchFamily="18" charset="0"/>
                              </a:rPr>
                            </m:ctrlPr>
                          </m:dPr>
                          <m:e>
                            <m:sSup>
                              <m:sSupPr>
                                <m:ctrlPr>
                                  <a:rPr lang="pt-BR" sz="2400" b="1" i="1">
                                    <a:latin typeface="Cambria Math" panose="02040503050406030204" pitchFamily="18" charset="0"/>
                                  </a:rPr>
                                </m:ctrlPr>
                              </m:s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𝒚</m:t>
                                    </m:r>
                                    <m:r>
                                      <a:rPr lang="pt-BR" sz="2400" i="1">
                                        <a:latin typeface="Cambria Math" panose="02040503050406030204" pitchFamily="18" charset="0"/>
                                      </a:rPr>
                                      <m:t> −</m:t>
                                    </m:r>
                                    <m:r>
                                      <a:rPr lang="pt-BR" sz="2400" b="1" i="1" smtClean="0">
                                        <a:latin typeface="Cambria Math" panose="02040503050406030204" pitchFamily="18" charset="0"/>
                                      </a:rPr>
                                      <m:t>𝑿</m:t>
                                    </m:r>
                                    <m:r>
                                      <a:rPr lang="pt-BR" sz="2400" b="1" i="1">
                                        <a:latin typeface="Cambria Math" panose="02040503050406030204" pitchFamily="18" charset="0"/>
                                      </a:rPr>
                                      <m:t>𝒂</m:t>
                                    </m:r>
                                  </m:e>
                                </m:d>
                              </m:e>
                              <m:sup>
                                <m:r>
                                  <a:rPr lang="pt-BR" sz="2400" i="1">
                                    <a:latin typeface="Cambria Math" panose="02040503050406030204" pitchFamily="18" charset="0"/>
                                  </a:rPr>
                                  <m:t>2</m:t>
                                </m:r>
                              </m:sup>
                            </m:sSup>
                            <m:r>
                              <a:rPr lang="pt-BR" sz="2400"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𝜆</m:t>
                            </m:r>
                            <m:sSubSup>
                              <m:sSubSupPr>
                                <m:ctrlPr>
                                  <a:rPr lang="pt-BR" sz="2400" b="1" i="1">
                                    <a:latin typeface="Cambria Math" panose="02040503050406030204" pitchFamily="18" charset="0"/>
                                  </a:rPr>
                                </m:ctrlPr>
                              </m:sSub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𝒂</m:t>
                                    </m:r>
                                  </m:e>
                                </m:d>
                              </m:e>
                              <m:sub>
                                <m:r>
                                  <a:rPr lang="pt-BR" sz="2400" i="1">
                                    <a:latin typeface="Cambria Math" panose="02040503050406030204" pitchFamily="18" charset="0"/>
                                    <a:ea typeface="Cambria Math" panose="02040503050406030204" pitchFamily="18" charset="0"/>
                                  </a:rPr>
                                  <m:t>2</m:t>
                                </m:r>
                              </m:sub>
                              <m:sup>
                                <m:r>
                                  <a:rPr lang="pt-BR" sz="2400" i="1">
                                    <a:latin typeface="Cambria Math" panose="02040503050406030204" pitchFamily="18" charset="0"/>
                                    <a:ea typeface="Cambria Math" panose="02040503050406030204" pitchFamily="18" charset="0"/>
                                  </a:rPr>
                                  <m:t>2</m:t>
                                </m:r>
                              </m:sup>
                            </m:sSubSup>
                          </m:e>
                        </m:d>
                      </m:e>
                    </m:func>
                  </m:oMath>
                </a14:m>
                <a:r>
                  <a:rPr lang="pt-BR" sz="2400" dirty="0"/>
                  <a:t>,</a:t>
                </a:r>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≥0 </m:t>
                    </m:r>
                  </m:oMath>
                </a14:m>
                <a:r>
                  <a:rPr lang="pt-BR" dirty="0"/>
                  <a:t>é o </a:t>
                </a:r>
                <a:r>
                  <a:rPr lang="pt-BR" b="1" i="1" dirty="0"/>
                  <a:t>fator de regularização</a:t>
                </a:r>
                <a:r>
                  <a:rPr lang="pt-BR" dirty="0"/>
                  <a:t>, </a:t>
                </a:r>
                <a14:m>
                  <m:oMath xmlns:m="http://schemas.openxmlformats.org/officeDocument/2006/math">
                    <m:r>
                      <a:rPr lang="pt-BR" b="1" i="1" smtClean="0">
                        <a:latin typeface="Cambria Math" panose="02040503050406030204" pitchFamily="18" charset="0"/>
                      </a:rPr>
                      <m:t>𝑿</m:t>
                    </m:r>
                    <m:r>
                      <a:rPr lang="el-GR" b="1" i="1">
                        <a:latin typeface="Cambria Math" panose="02040503050406030204" pitchFamily="18" charset="0"/>
                      </a:rPr>
                      <m:t> </m:t>
                    </m:r>
                  </m:oMath>
                </a14:m>
                <a:r>
                  <a:rPr lang="pt-BR" dirty="0"/>
                  <a:t>é a matriz de atributos, </a:t>
                </a:r>
                <a14:m>
                  <m:oMath xmlns:m="http://schemas.openxmlformats.org/officeDocument/2006/math">
                    <m:r>
                      <a:rPr lang="pt-BR" b="1" i="1">
                        <a:latin typeface="Cambria Math" panose="02040503050406030204" pitchFamily="18" charset="0"/>
                      </a:rPr>
                      <m:t>𝒂</m:t>
                    </m:r>
                  </m:oMath>
                </a14:m>
                <a:r>
                  <a:rPr lang="pt-BR" b="1" i="1" dirty="0"/>
                  <a:t> </a:t>
                </a:r>
                <a:r>
                  <a:rPr lang="pt-BR" dirty="0"/>
                  <a:t>é o vetor de pesos e </a:t>
                </a:r>
                <a14:m>
                  <m:oMath xmlns:m="http://schemas.openxmlformats.org/officeDocument/2006/math">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i="1">
                        <a:latin typeface="Cambria Math" panose="02040503050406030204" pitchFamily="18" charset="0"/>
                        <a:ea typeface="Cambria Math" panose="02040503050406030204" pitchFamily="18" charset="0"/>
                      </a:rPr>
                      <m:t>=</m:t>
                    </m:r>
                    <m:nary>
                      <m:naryPr>
                        <m:chr m:val="∑"/>
                        <m:limLoc m:val="subSup"/>
                        <m:ctrlPr>
                          <a:rPr lang="pt-BR" i="1">
                            <a:latin typeface="Cambria Math" panose="02040503050406030204" pitchFamily="18" charset="0"/>
                            <a:ea typeface="Cambria Math" panose="02040503050406030204" pitchFamily="18" charset="0"/>
                          </a:rPr>
                        </m:ctrlPr>
                      </m:naryPr>
                      <m:sub>
                        <m:r>
                          <m:rPr>
                            <m:brk m:alnAt="25"/>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sSup>
                          <m:sSupPr>
                            <m:ctrlPr>
                              <a:rPr lang="pt-BR" i="1">
                                <a:latin typeface="Cambria Math" panose="02040503050406030204" pitchFamily="18" charset="0"/>
                                <a:ea typeface="Cambria Math" panose="02040503050406030204" pitchFamily="18" charset="0"/>
                              </a:rPr>
                            </m:ctrlPr>
                          </m:sSup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𝑖</m:t>
                                </m:r>
                              </m:sub>
                            </m:sSub>
                          </m:e>
                          <m:sup>
                            <m:r>
                              <a:rPr lang="pt-BR" i="1">
                                <a:latin typeface="Cambria Math" panose="02040503050406030204" pitchFamily="18" charset="0"/>
                                <a:ea typeface="Cambria Math" panose="02040503050406030204" pitchFamily="18" charset="0"/>
                              </a:rPr>
                              <m:t>2</m:t>
                            </m:r>
                          </m:sup>
                        </m:sSup>
                      </m:e>
                    </m:nary>
                    <m:r>
                      <a:rPr lang="pt-BR" b="1" i="1" smtClean="0">
                        <a:latin typeface="Cambria Math" panose="02040503050406030204" pitchFamily="18" charset="0"/>
                        <a:ea typeface="Cambria Math" panose="02040503050406030204" pitchFamily="18" charset="0"/>
                      </a:rPr>
                      <m:t>.</m:t>
                    </m:r>
                  </m:oMath>
                </a14:m>
                <a:endParaRPr lang="pt-BR" dirty="0"/>
              </a:p>
              <a:p>
                <a:r>
                  <a:rPr lang="pt-BR" sz="2800" dirty="0"/>
                  <a:t>Se </a:t>
                </a:r>
                <a14:m>
                  <m:oMath xmlns:m="http://schemas.openxmlformats.org/officeDocument/2006/math">
                    <m:sSubSup>
                      <m:sSubSupPr>
                        <m:ctrlPr>
                          <a:rPr lang="pt-BR" sz="2800" b="1" i="1">
                            <a:latin typeface="Cambria Math" panose="02040503050406030204" pitchFamily="18" charset="0"/>
                          </a:rPr>
                        </m:ctrlPr>
                      </m:sSub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oMath>
                </a14:m>
                <a:r>
                  <a:rPr lang="pt-BR" sz="2800" dirty="0"/>
                  <a:t> aumenta, </a:t>
                </a:r>
                <a14:m>
                  <m:oMath xmlns:m="http://schemas.openxmlformats.org/officeDocument/2006/math">
                    <m:r>
                      <a:rPr lang="pt-BR" sz="2800" i="1">
                        <a:latin typeface="Cambria Math" panose="02040503050406030204" pitchFamily="18" charset="0"/>
                        <a:ea typeface="Cambria Math" panose="02040503050406030204" pitchFamily="18" charset="0"/>
                      </a:rPr>
                      <m:t>𝜆</m:t>
                    </m:r>
                    <m:r>
                      <a:rPr lang="pt-BR" sz="2800" i="1">
                        <a:latin typeface="Cambria Math" panose="02040503050406030204" pitchFamily="18" charset="0"/>
                        <a:ea typeface="Cambria Math" panose="02040503050406030204" pitchFamily="18" charset="0"/>
                      </a:rPr>
                      <m:t> </m:t>
                    </m:r>
                  </m:oMath>
                </a14:m>
                <a:r>
                  <a:rPr lang="pt-BR" sz="2800" dirty="0"/>
                  <a:t>deve diminuir para que o erro seja minimizado.</a:t>
                </a:r>
                <a:endParaRPr lang="pt-BR" dirty="0"/>
              </a:p>
              <a:p>
                <a:r>
                  <a:rPr lang="pt-BR" b="1" dirty="0"/>
                  <a:t>OBS</a:t>
                </a:r>
                <a:r>
                  <a:rPr lang="pt-BR" dirty="0"/>
                  <a:t>.: O somatório inicia em 1 e não em 0, pois o peso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oMath>
                </a14:m>
                <a:r>
                  <a:rPr lang="pt-BR" dirty="0"/>
                  <a:t> não influencia na </a:t>
                </a:r>
                <a:r>
                  <a:rPr lang="pt-BR" b="1" i="1" dirty="0"/>
                  <a:t>complexidade</a:t>
                </a:r>
                <a:r>
                  <a:rPr lang="pt-BR" dirty="0"/>
                  <a:t> do modelo a qual se deve apenas à ordem do modelo. </a:t>
                </a:r>
              </a:p>
              <a:p>
                <a:pPr lvl="1">
                  <a:buFont typeface="Wingdings" panose="05000000000000000000" pitchFamily="2" charset="2"/>
                  <a:buChar char="§"/>
                </a:pPr>
                <a14:m>
                  <m:oMath xmlns:m="http://schemas.openxmlformats.org/officeDocument/2006/math">
                    <m:sSub>
                      <m:sSubPr>
                        <m:ctrlPr>
                          <a:rPr lang="pt-BR">
                            <a:latin typeface="Cambria Math" panose="02040503050406030204" pitchFamily="18" charset="0"/>
                          </a:rPr>
                        </m:ctrlPr>
                      </m:sSubPr>
                      <m:e>
                        <m:r>
                          <a:rPr lang="pt-BR">
                            <a:latin typeface="Cambria Math" panose="02040503050406030204" pitchFamily="18" charset="0"/>
                          </a:rPr>
                          <m:t>𝑎</m:t>
                        </m:r>
                      </m:e>
                      <m:sub>
                        <m:r>
                          <a:rPr lang="pt-BR">
                            <a:latin typeface="Cambria Math" panose="02040503050406030204" pitchFamily="18" charset="0"/>
                          </a:rPr>
                          <m:t>0</m:t>
                        </m:r>
                      </m:sub>
                    </m:sSub>
                  </m:oMath>
                </a14:m>
                <a:r>
                  <a:rPr lang="pt-BR" dirty="0"/>
                  <a:t> apenas dita o </a:t>
                </a:r>
                <a:r>
                  <a:rPr lang="pt-BR" b="1" i="1" dirty="0"/>
                  <a:t>deslocamento</a:t>
                </a:r>
                <a:r>
                  <a:rPr lang="pt-BR" dirty="0"/>
                  <a:t> em relação ao eixo das ordenadas e não influência na complexidade da </a:t>
                </a:r>
                <a:r>
                  <a:rPr lang="pt-BR" b="1" i="1" dirty="0"/>
                  <a:t>função</a:t>
                </a:r>
                <a:r>
                  <a:rPr lang="pt-BR" dirty="0"/>
                  <a:t> </a:t>
                </a:r>
                <a:r>
                  <a:rPr lang="pt-BR" b="1" i="1" dirty="0"/>
                  <a:t>hipótese</a:t>
                </a:r>
                <a:r>
                  <a:rPr lang="pt-BR" dirty="0"/>
                  <a:t>, pois não é multiplicado por nenhum atributo.</a:t>
                </a:r>
              </a:p>
            </p:txBody>
          </p:sp>
        </mc:Choice>
        <mc:Fallback xmlns="">
          <p:sp>
            <p:nvSpPr>
              <p:cNvPr id="3" name="Espaço Reservado para Conteúdo 2">
                <a:extLst>
                  <a:ext uri="{FF2B5EF4-FFF2-40B4-BE49-F238E27FC236}">
                    <a16:creationId xmlns:a16="http://schemas.microsoft.com/office/drawing/2014/main" id="{A3198D10-DFD8-1382-4B89-DBDDB78C3C16}"/>
                  </a:ext>
                </a:extLst>
              </p:cNvPr>
              <p:cNvSpPr>
                <a:spLocks noGrp="1" noRot="1" noChangeAspect="1" noMove="1" noResize="1" noEditPoints="1" noAdjustHandles="1" noChangeArrowheads="1" noChangeShapeType="1" noTextEdit="1"/>
              </p:cNvSpPr>
              <p:nvPr>
                <p:ph idx="1"/>
              </p:nvPr>
            </p:nvSpPr>
            <p:spPr>
              <a:xfrm>
                <a:off x="838200" y="1825624"/>
                <a:ext cx="11105444" cy="5032375"/>
              </a:xfrm>
              <a:blipFill>
                <a:blip r:embed="rId3"/>
                <a:stretch>
                  <a:fillRect l="-1153" t="-2663" r="-1098"/>
                </a:stretch>
              </a:blipFill>
            </p:spPr>
            <p:txBody>
              <a:bodyPr/>
              <a:lstStyle/>
              <a:p>
                <a:r>
                  <a:rPr lang="pt-BR">
                    <a:noFill/>
                  </a:rPr>
                  <a:t> </a:t>
                </a:r>
              </a:p>
            </p:txBody>
          </p:sp>
        </mc:Fallback>
      </mc:AlternateContent>
      <p:sp>
        <p:nvSpPr>
          <p:cNvPr id="4" name="Rectangle 3">
            <a:extLst>
              <a:ext uri="{FF2B5EF4-FFF2-40B4-BE49-F238E27FC236}">
                <a16:creationId xmlns:a16="http://schemas.microsoft.com/office/drawing/2014/main" id="{BB84C9BF-2349-9A7F-2725-56007DBAE450}"/>
              </a:ext>
            </a:extLst>
          </p:cNvPr>
          <p:cNvSpPr/>
          <p:nvPr/>
        </p:nvSpPr>
        <p:spPr>
          <a:xfrm>
            <a:off x="7434787" y="2921230"/>
            <a:ext cx="862546" cy="48519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50528892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50E46CB-9D16-64FC-BCF2-31C7D4BEF385}"/>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EC1B10B-4576-D3BF-19B0-AF57A0CE50F7}"/>
                  </a:ext>
                </a:extLst>
              </p:cNvPr>
              <p:cNvSpPr>
                <a:spLocks noGrp="1"/>
              </p:cNvSpPr>
              <p:nvPr>
                <p:ph idx="1"/>
              </p:nvPr>
            </p:nvSpPr>
            <p:spPr>
              <a:xfrm>
                <a:off x="838199" y="1825624"/>
                <a:ext cx="11161889" cy="5032375"/>
              </a:xfrm>
            </p:spPr>
            <p:txBody>
              <a:bodyPr>
                <a:normAutofit lnSpcReduction="10000"/>
              </a:bodyPr>
              <a:lstStyle/>
              <a:p>
                <a:r>
                  <a:rPr lang="pt-BR" dirty="0"/>
                  <a:t>Reescrevendo o problema da regularização como um </a:t>
                </a:r>
                <a:r>
                  <a:rPr lang="pt-BR" b="1" i="1" dirty="0"/>
                  <a:t>problema de otimização </a:t>
                </a:r>
                <a:r>
                  <a:rPr lang="pt-BR" b="1" i="1" dirty="0">
                    <a:solidFill>
                      <a:srgbClr val="00B050"/>
                    </a:solidFill>
                  </a:rPr>
                  <a:t>com restrição</a:t>
                </a:r>
                <a:r>
                  <a:rPr lang="pt-BR" dirty="0"/>
                  <a:t>, temos</a:t>
                </a:r>
              </a:p>
              <a:p>
                <a:pPr marL="0" indent="0">
                  <a:buNone/>
                </a:pPr>
                <a14:m>
                  <m:oMathPara xmlns:m="http://schemas.openxmlformats.org/officeDocument/2006/math">
                    <m:oMath>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e>
                      </m:func>
                    </m:oMath>
                  </m:oMathPara>
                </a14:m>
                <a:endParaRPr lang="pt-BR" dirty="0"/>
              </a:p>
              <a:p>
                <a:pPr marL="0" indent="0">
                  <a:buNone/>
                </a:pPr>
                <a14:m>
                  <m:oMathPara xmlns:m="http://schemas.openxmlformats.org/officeDocument/2006/math">
                    <m:oMath>
                      <m:r>
                        <m:rPr>
                          <m:sty m:val="p"/>
                        </m:rPr>
                        <a:rPr lang="pt-BR" i="1" smtClean="0">
                          <a:latin typeface="Cambria Math" panose="02040503050406030204" pitchFamily="18" charset="0"/>
                        </a:rPr>
                        <m:t>s</m:t>
                      </m:r>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𝑐</m:t>
                      </m:r>
                      <m:r>
                        <a:rPr lang="pt-BR" b="0" i="1"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restringe a magnitude dos pesos (</a:t>
                </a:r>
                <a:r>
                  <a:rPr lang="pt-BR" b="1" i="1" dirty="0"/>
                  <a:t>raio da região de factibilidade</a:t>
                </a:r>
                <a:r>
                  <a:rPr lang="pt-BR" dirty="0"/>
                  <a:t>) e é inversamente proporcional à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dirty="0"/>
                  <a:t>.</a:t>
                </a:r>
              </a:p>
              <a:p>
                <a:r>
                  <a:rPr lang="pt-BR" dirty="0"/>
                  <a:t>Observem que</a:t>
                </a:r>
              </a:p>
              <a:p>
                <a:pPr lvl="1">
                  <a:buFont typeface="Wingdings" panose="05000000000000000000" pitchFamily="2" charset="2"/>
                  <a:buChar char="§"/>
                </a:pPr>
                <a:r>
                  <a:rPr lang="pt-BR" dirty="0"/>
                  <a:t>Conforme o valor 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diminui, menor poderá ser a magnitude dos pesos, até que no limite, quando </a:t>
                </a:r>
                <a14:m>
                  <m:oMath xmlns:m="http://schemas.openxmlformats.org/officeDocument/2006/math">
                    <m:r>
                      <a:rPr lang="pt-BR" i="1" smtClean="0">
                        <a:latin typeface="Cambria Math" panose="02040503050406030204" pitchFamily="18" charset="0"/>
                        <a:ea typeface="Cambria Math" panose="02040503050406030204" pitchFamily="18" charset="0"/>
                      </a:rPr>
                      <m:t>𝑐</m:t>
                    </m:r>
                    <m:r>
                      <a:rPr lang="pt-BR" i="1" smtClean="0">
                        <a:latin typeface="Cambria Math" panose="02040503050406030204" pitchFamily="18" charset="0"/>
                        <a:ea typeface="Cambria Math" panose="02040503050406030204" pitchFamily="18" charset="0"/>
                      </a:rPr>
                      <m:t>→0</m:t>
                    </m:r>
                  </m:oMath>
                </a14:m>
                <a:r>
                  <a:rPr lang="pt-BR" dirty="0"/>
                  <a:t>, então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𝑖</m:t>
                        </m:r>
                      </m:sub>
                    </m:sSub>
                  </m:oMath>
                </a14:m>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→0</m:t>
                    </m:r>
                    <m:r>
                      <a:rPr lang="pt-BR" b="0" i="1" smtClean="0">
                        <a:latin typeface="Cambria Math" panose="02040503050406030204" pitchFamily="18" charset="0"/>
                        <a:ea typeface="Cambria Math" panose="02040503050406030204" pitchFamily="18" charset="0"/>
                      </a:rPr>
                      <m:t>, </m:t>
                    </m:r>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𝑖</m:t>
                    </m:r>
                  </m:oMath>
                </a14:m>
                <a:r>
                  <a:rPr lang="pt-BR" dirty="0"/>
                  <a:t> .</a:t>
                </a:r>
              </a:p>
              <a:p>
                <a:pPr lvl="1">
                  <a:buFont typeface="Wingdings" panose="05000000000000000000" pitchFamily="2" charset="2"/>
                  <a:buChar char="§"/>
                </a:pPr>
                <a:r>
                  <a:rPr lang="pt-BR" dirty="0"/>
                  <a:t>Por outro lado, conforme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 </m:t>
                    </m:r>
                  </m:oMath>
                </a14:m>
                <a:r>
                  <a:rPr lang="pt-BR" dirty="0"/>
                  <a:t>aumenta, maior poderá ser a magnitude dos pesos, até que no limite, quando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m:t>
                    </m:r>
                  </m:oMath>
                </a14:m>
                <a:r>
                  <a:rPr lang="pt-BR" dirty="0"/>
                  <a:t>, então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oMath>
                </a14:m>
                <a:r>
                  <a:rPr lang="pt-BR" dirty="0"/>
                  <a:t> pode assumir qualquer valor.</a:t>
                </a:r>
              </a:p>
              <a:p>
                <a:pPr lvl="1">
                  <a:buFont typeface="Wingdings" panose="05000000000000000000" pitchFamily="2" charset="2"/>
                  <a:buChar char="§"/>
                </a:pPr>
                <a:r>
                  <a:rPr lang="pt-BR" dirty="0"/>
                  <a:t>Portanto, o parâmetro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 </m:t>
                    </m:r>
                  </m:oMath>
                </a14:m>
                <a:r>
                  <a:rPr lang="pt-BR" dirty="0"/>
                  <a:t>(e, consequentemente,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dirty="0"/>
                  <a:t>) </a:t>
                </a:r>
                <a:r>
                  <a:rPr lang="pt-BR" b="1" i="1" dirty="0">
                    <a:solidFill>
                      <a:srgbClr val="00B050"/>
                    </a:solidFill>
                  </a:rPr>
                  <a:t>controla o compromisso entre a redução do erro e a limitação da magnitude dos pesos</a:t>
                </a:r>
                <a:r>
                  <a:rPr lang="pt-BR" dirty="0"/>
                  <a:t>.</a:t>
                </a:r>
              </a:p>
            </p:txBody>
          </p:sp>
        </mc:Choice>
        <mc:Fallback xmlns="">
          <p:sp>
            <p:nvSpPr>
              <p:cNvPr id="3" name="Espaço Reservado para Conteúdo 2">
                <a:extLst>
                  <a:ext uri="{FF2B5EF4-FFF2-40B4-BE49-F238E27FC236}">
                    <a16:creationId xmlns:a16="http://schemas.microsoft.com/office/drawing/2014/main" id="{BEC1B10B-4576-D3BF-19B0-AF57A0CE50F7}"/>
                  </a:ext>
                </a:extLst>
              </p:cNvPr>
              <p:cNvSpPr>
                <a:spLocks noGrp="1" noRot="1" noChangeAspect="1" noMove="1" noResize="1" noEditPoints="1" noAdjustHandles="1" noChangeArrowheads="1" noChangeShapeType="1" noTextEdit="1"/>
              </p:cNvSpPr>
              <p:nvPr>
                <p:ph idx="1"/>
              </p:nvPr>
            </p:nvSpPr>
            <p:spPr>
              <a:xfrm>
                <a:off x="838199" y="1825624"/>
                <a:ext cx="11161889" cy="5032375"/>
              </a:xfrm>
              <a:blipFill>
                <a:blip r:embed="rId3"/>
                <a:stretch>
                  <a:fillRect l="-1092" t="-2663" r="-1419" b="-605"/>
                </a:stretch>
              </a:blipFill>
            </p:spPr>
            <p:txBody>
              <a:bodyPr/>
              <a:lstStyle/>
              <a:p>
                <a:r>
                  <a:rPr lang="pt-BR">
                    <a:noFill/>
                  </a:rPr>
                  <a:t> </a:t>
                </a:r>
              </a:p>
            </p:txBody>
          </p:sp>
        </mc:Fallback>
      </mc:AlternateContent>
    </p:spTree>
    <p:extLst>
      <p:ext uri="{BB962C8B-B14F-4D97-AF65-F5344CB8AC3E}">
        <p14:creationId xmlns:p14="http://schemas.microsoft.com/office/powerpoint/2010/main" val="3253545055"/>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025626B-8EF8-3AAD-2E0C-698D34078CB5}"/>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5CA03AE-9771-A5F3-3DD5-E1C42035D04B}"/>
                  </a:ext>
                </a:extLst>
              </p:cNvPr>
              <p:cNvSpPr>
                <a:spLocks noGrp="1"/>
              </p:cNvSpPr>
              <p:nvPr>
                <p:ph idx="1"/>
              </p:nvPr>
            </p:nvSpPr>
            <p:spPr>
              <a:xfrm>
                <a:off x="4730045" y="1825624"/>
                <a:ext cx="7303912" cy="5032375"/>
              </a:xfrm>
            </p:spPr>
            <p:txBody>
              <a:bodyPr/>
              <a:lstStyle/>
              <a:p>
                <a:r>
                  <a:rPr lang="pt-BR" sz="2800" b="1" i="1" dirty="0">
                    <a:solidFill>
                      <a:schemeClr val="accent2"/>
                    </a:solidFill>
                  </a:rPr>
                  <a:t>Região de factibilidade</a:t>
                </a:r>
                <a:r>
                  <a:rPr lang="pt-BR" sz="2800" dirty="0"/>
                  <a:t>: região com os possíveis valores que os pesos podem assumir. </a:t>
                </a:r>
              </a:p>
              <a:p>
                <a:r>
                  <a:rPr lang="pt-BR" dirty="0"/>
                  <a:t>O parâmetro </a:t>
                </a:r>
                <a14:m>
                  <m:oMath xmlns:m="http://schemas.openxmlformats.org/officeDocument/2006/math">
                    <m:r>
                      <a:rPr lang="pt-BR" b="0" i="1" smtClean="0">
                        <a:latin typeface="Cambria Math" panose="02040503050406030204" pitchFamily="18" charset="0"/>
                        <a:ea typeface="Cambria Math" panose="02040503050406030204" pitchFamily="18" charset="0"/>
                      </a:rPr>
                      <m:t>𝑐</m:t>
                    </m:r>
                  </m:oMath>
                </a14:m>
                <a:r>
                  <a:rPr lang="pt-BR" dirty="0"/>
                  <a:t> dá o raio da região.</a:t>
                </a:r>
                <a:endParaRPr lang="pt-BR" sz="2800" dirty="0"/>
              </a:p>
              <a:p>
                <a:r>
                  <a:rPr lang="pt-BR" sz="2800" dirty="0"/>
                  <a:t>O </a:t>
                </a:r>
                <a:r>
                  <a:rPr lang="pt-BR" sz="2800" b="1" i="1" dirty="0">
                    <a:solidFill>
                      <a:srgbClr val="00B050"/>
                    </a:solidFill>
                  </a:rPr>
                  <a:t>raio do círculo</a:t>
                </a:r>
                <a:r>
                  <a:rPr lang="pt-BR" sz="2800" b="1" dirty="0">
                    <a:solidFill>
                      <a:srgbClr val="00B050"/>
                    </a:solidFill>
                  </a:rPr>
                  <a:t> </a:t>
                </a:r>
                <a:r>
                  <a:rPr lang="pt-BR" dirty="0"/>
                  <a:t>for</a:t>
                </a:r>
                <a:r>
                  <a:rPr lang="pt-BR" sz="2800" dirty="0"/>
                  <a:t>mando a região de factibilidade</a:t>
                </a:r>
                <a:r>
                  <a:rPr lang="pt-BR" sz="2800" b="1" dirty="0">
                    <a:solidFill>
                      <a:srgbClr val="00B050"/>
                    </a:solidFill>
                  </a:rPr>
                  <a:t> é inversamente proporcional ao fator de regularização, </a:t>
                </a:r>
                <a14:m>
                  <m:oMath xmlns:m="http://schemas.openxmlformats.org/officeDocument/2006/math">
                    <m:r>
                      <a:rPr lang="pt-BR" sz="2800" b="1" i="1">
                        <a:solidFill>
                          <a:srgbClr val="00B050"/>
                        </a:solidFill>
                        <a:latin typeface="Cambria Math" panose="02040503050406030204" pitchFamily="18" charset="0"/>
                        <a:ea typeface="Cambria Math" panose="02040503050406030204" pitchFamily="18" charset="0"/>
                      </a:rPr>
                      <m:t>𝝀</m:t>
                    </m:r>
                  </m:oMath>
                </a14:m>
                <a:r>
                  <a:rPr lang="pt-BR" sz="2800" dirty="0"/>
                  <a:t>.</a:t>
                </a:r>
              </a:p>
              <a:p>
                <a:r>
                  <a:rPr lang="pt-BR" dirty="0"/>
                  <a:t>A equação de </a:t>
                </a:r>
                <a:r>
                  <a:rPr lang="pt-BR" b="1" i="1" dirty="0"/>
                  <a:t>erro regularizado</a:t>
                </a:r>
                <a:r>
                  <a:rPr lang="pt-BR" dirty="0"/>
                  <a:t>, </a:t>
                </a:r>
              </a:p>
              <a:p>
                <a:pPr marL="0" indent="0">
                  <a:buNone/>
                </a:pPr>
                <a14:m>
                  <m:oMathPara xmlns:m="http://schemas.openxmlformats.org/officeDocument/2006/math">
                    <m:oMath>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b="0" i="0"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b="1" i="1" dirty="0"/>
                  <a:t>continua sendo </a:t>
                </a:r>
                <a:r>
                  <a:rPr lang="pt-BR" b="1" i="1" dirty="0">
                    <a:solidFill>
                      <a:schemeClr val="accent5"/>
                    </a:solidFill>
                  </a:rPr>
                  <a:t>quadrática</a:t>
                </a:r>
                <a:r>
                  <a:rPr lang="pt-BR" b="1" i="1" dirty="0"/>
                  <a:t> com relação aos pesos</a:t>
                </a:r>
                <a:r>
                  <a:rPr lang="pt-BR" dirty="0"/>
                  <a:t>, e, portanto, a </a:t>
                </a:r>
                <a:r>
                  <a:rPr lang="pt-BR" b="1" i="1" dirty="0"/>
                  <a:t>superfície de erro continua sendo </a:t>
                </a:r>
                <a:r>
                  <a:rPr lang="pt-BR" b="1" i="1" dirty="0">
                    <a:solidFill>
                      <a:schemeClr val="accent5"/>
                    </a:solidFill>
                  </a:rPr>
                  <a:t>convexa</a:t>
                </a:r>
                <a:r>
                  <a:rPr lang="pt-BR" dirty="0"/>
                  <a:t>.</a:t>
                </a:r>
              </a:p>
            </p:txBody>
          </p:sp>
        </mc:Choice>
        <mc:Fallback xmlns="">
          <p:sp>
            <p:nvSpPr>
              <p:cNvPr id="3" name="Espaço Reservado para Conteúdo 2">
                <a:extLst>
                  <a:ext uri="{FF2B5EF4-FFF2-40B4-BE49-F238E27FC236}">
                    <a16:creationId xmlns:a16="http://schemas.microsoft.com/office/drawing/2014/main" id="{25CA03AE-9771-A5F3-3DD5-E1C42035D04B}"/>
                  </a:ext>
                </a:extLst>
              </p:cNvPr>
              <p:cNvSpPr>
                <a:spLocks noGrp="1" noRot="1" noChangeAspect="1" noMove="1" noResize="1" noEditPoints="1" noAdjustHandles="1" noChangeArrowheads="1" noChangeShapeType="1" noTextEdit="1"/>
              </p:cNvSpPr>
              <p:nvPr>
                <p:ph idx="1"/>
              </p:nvPr>
            </p:nvSpPr>
            <p:spPr>
              <a:xfrm>
                <a:off x="4730045" y="1825624"/>
                <a:ext cx="7303912" cy="5032375"/>
              </a:xfrm>
              <a:blipFill>
                <a:blip r:embed="rId2"/>
                <a:stretch>
                  <a:fillRect l="-1753" t="-1937" r="-501"/>
                </a:stretch>
              </a:blipFill>
            </p:spPr>
            <p:txBody>
              <a:bodyPr/>
              <a:lstStyle/>
              <a:p>
                <a:r>
                  <a:rPr lang="pt-BR">
                    <a:noFill/>
                  </a:rPr>
                  <a:t> </a:t>
                </a:r>
              </a:p>
            </p:txBody>
          </p:sp>
        </mc:Fallback>
      </mc:AlternateContent>
      <p:pic>
        <p:nvPicPr>
          <p:cNvPr id="5" name="Picture 2" descr="Introduction to Regularization Methods in Deep Learning | by John Kaller |  unpackAI | Medium">
            <a:extLst>
              <a:ext uri="{FF2B5EF4-FFF2-40B4-BE49-F238E27FC236}">
                <a16:creationId xmlns:a16="http://schemas.microsoft.com/office/drawing/2014/main" id="{2FFDF25D-AEF8-B319-0478-2768A114A21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624" t="5351" r="3408" b="15226"/>
          <a:stretch/>
        </p:blipFill>
        <p:spPr bwMode="auto">
          <a:xfrm>
            <a:off x="1185347" y="1964266"/>
            <a:ext cx="2991542" cy="38968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7998820"/>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8890DE-3A81-FDA6-665B-64763C8B34E6}"/>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FFFFC86-5F95-1E71-9AAF-6DC5CEC3A4F5}"/>
                  </a:ext>
                </a:extLst>
              </p:cNvPr>
              <p:cNvSpPr>
                <a:spLocks noGrp="1"/>
              </p:cNvSpPr>
              <p:nvPr>
                <p:ph idx="1"/>
              </p:nvPr>
            </p:nvSpPr>
            <p:spPr>
              <a:xfrm>
                <a:off x="838199" y="1825624"/>
                <a:ext cx="11184467" cy="5032375"/>
              </a:xfrm>
            </p:spPr>
            <p:txBody>
              <a:bodyPr>
                <a:normAutofit lnSpcReduction="10000"/>
              </a:bodyPr>
              <a:lstStyle/>
              <a:p>
                <a:r>
                  <a:rPr lang="pt-BR" dirty="0"/>
                  <a:t>Assim, podemos encontrar uma solução de </a:t>
                </a:r>
                <a:r>
                  <a:rPr lang="pt-BR" b="1" i="1" dirty="0"/>
                  <a:t>forma fechada </a:t>
                </a:r>
                <a:r>
                  <a:rPr lang="pt-BR" dirty="0"/>
                  <a:t>seguindo o mesmo procedimento que usamos para encontrar a </a:t>
                </a:r>
                <a:r>
                  <a:rPr lang="pt-BR" b="1" i="1" dirty="0"/>
                  <a:t>equação normal</a:t>
                </a:r>
                <a:endParaRPr lang="pt-BR" sz="1200" b="1" i="1" dirty="0">
                  <a:latin typeface="Cambria Math" panose="02040503050406030204" pitchFamily="18" charset="0"/>
                </a:endParaRPr>
              </a:p>
              <a:p>
                <a:pPr marL="0" indent="0" algn="ctr">
                  <a:buNone/>
                </a:pPr>
                <a14:m>
                  <m:oMath xmlns:m="http://schemas.openxmlformats.org/officeDocument/2006/math">
                    <m:r>
                      <a:rPr lang="pt-BR" sz="2200" b="1" i="1">
                        <a:latin typeface="Cambria Math" panose="02040503050406030204" pitchFamily="18" charset="0"/>
                      </a:rPr>
                      <m:t>𝒂</m:t>
                    </m:r>
                    <m:r>
                      <a:rPr lang="pt-BR" sz="2200" b="1" i="1">
                        <a:latin typeface="Cambria Math" panose="02040503050406030204" pitchFamily="18" charset="0"/>
                      </a:rPr>
                      <m:t> =</m:t>
                    </m:r>
                    <m:sSup>
                      <m:sSupPr>
                        <m:ctrlPr>
                          <a:rPr lang="pt-BR" sz="2200" i="1">
                            <a:latin typeface="Cambria Math" panose="02040503050406030204" pitchFamily="18" charset="0"/>
                          </a:rPr>
                        </m:ctrlPr>
                      </m:sSupPr>
                      <m:e>
                        <m:d>
                          <m:dPr>
                            <m:ctrlPr>
                              <a:rPr lang="pt-BR" sz="2200" b="1" i="1" smtClean="0">
                                <a:latin typeface="Cambria Math" panose="02040503050406030204" pitchFamily="18" charset="0"/>
                              </a:rPr>
                            </m:ctrlPr>
                          </m:dPr>
                          <m:e>
                            <m:sSup>
                              <m:sSupPr>
                                <m:ctrlPr>
                                  <a:rPr lang="pt-BR" sz="2200" b="1" i="1" smtClean="0">
                                    <a:latin typeface="Cambria Math" panose="02040503050406030204" pitchFamily="18" charset="0"/>
                                  </a:rPr>
                                </m:ctrlPr>
                              </m:sSupPr>
                              <m:e>
                                <m:r>
                                  <a:rPr lang="pt-BR" sz="2200" b="1" i="1" smtClean="0">
                                    <a:latin typeface="Cambria Math" panose="02040503050406030204" pitchFamily="18" charset="0"/>
                                  </a:rPr>
                                  <m:t>𝑿</m:t>
                                </m:r>
                              </m:e>
                              <m:sup>
                                <m:r>
                                  <a:rPr lang="pt-BR" sz="2200" i="1">
                                    <a:latin typeface="Cambria Math" panose="02040503050406030204" pitchFamily="18" charset="0"/>
                                  </a:rPr>
                                  <m:t>𝑇</m:t>
                                </m:r>
                              </m:sup>
                            </m:sSup>
                            <m:r>
                              <a:rPr lang="pt-BR" sz="2200" b="1" i="1" smtClean="0">
                                <a:latin typeface="Cambria Math" panose="02040503050406030204" pitchFamily="18" charset="0"/>
                              </a:rPr>
                              <m:t>𝑿</m:t>
                            </m:r>
                            <m:r>
                              <a:rPr lang="pt-BR" sz="2200" b="1" i="1">
                                <a:latin typeface="Cambria Math" panose="02040503050406030204" pitchFamily="18" charset="0"/>
                              </a:rPr>
                              <m:t>+</m:t>
                            </m:r>
                            <m:r>
                              <a:rPr lang="pt-BR" sz="2200" i="1">
                                <a:latin typeface="Cambria Math" panose="02040503050406030204" pitchFamily="18" charset="0"/>
                                <a:ea typeface="Cambria Math" panose="02040503050406030204" pitchFamily="18" charset="0"/>
                              </a:rPr>
                              <m:t>𝜆</m:t>
                            </m:r>
                            <m:r>
                              <a:rPr lang="pt-BR" sz="2200" b="1" i="1">
                                <a:latin typeface="Cambria Math" panose="02040503050406030204" pitchFamily="18" charset="0"/>
                                <a:ea typeface="Cambria Math" panose="02040503050406030204" pitchFamily="18" charset="0"/>
                              </a:rPr>
                              <m:t>𝑰</m:t>
                            </m:r>
                            <m:r>
                              <a:rPr lang="pt-BR" sz="2200" b="1" i="1">
                                <a:latin typeface="Cambria Math" panose="02040503050406030204" pitchFamily="18" charset="0"/>
                                <a:ea typeface="Cambria Math" panose="02040503050406030204" pitchFamily="18" charset="0"/>
                              </a:rPr>
                              <m:t>′</m:t>
                            </m:r>
                          </m:e>
                        </m:d>
                      </m:e>
                      <m:sup>
                        <m:r>
                          <a:rPr lang="pt-BR" sz="2200" i="1">
                            <a:latin typeface="Cambria Math" panose="02040503050406030204" pitchFamily="18" charset="0"/>
                          </a:rPr>
                          <m:t>−1</m:t>
                        </m:r>
                      </m:sup>
                    </m:sSup>
                    <m:sSup>
                      <m:sSupPr>
                        <m:ctrlPr>
                          <a:rPr lang="pt-BR" sz="2200" i="1">
                            <a:latin typeface="Cambria Math" panose="02040503050406030204" pitchFamily="18" charset="0"/>
                          </a:rPr>
                        </m:ctrlPr>
                      </m:sSupPr>
                      <m:e>
                        <m:r>
                          <a:rPr lang="pt-BR" sz="2200" i="1">
                            <a:latin typeface="Cambria Math" panose="02040503050406030204" pitchFamily="18" charset="0"/>
                          </a:rPr>
                          <m:t> </m:t>
                        </m:r>
                        <m:r>
                          <a:rPr lang="pt-BR" sz="2200" b="1" i="1" smtClean="0">
                            <a:latin typeface="Cambria Math" panose="02040503050406030204" pitchFamily="18" charset="0"/>
                          </a:rPr>
                          <m:t>𝑿</m:t>
                        </m:r>
                      </m:e>
                      <m:sup>
                        <m:r>
                          <a:rPr lang="pt-BR" sz="2200" i="1">
                            <a:latin typeface="Cambria Math" panose="02040503050406030204" pitchFamily="18" charset="0"/>
                          </a:rPr>
                          <m:t>𝑇</m:t>
                        </m:r>
                      </m:sup>
                    </m:sSup>
                    <m:r>
                      <a:rPr lang="pt-BR" sz="2200" b="1" i="1">
                        <a:latin typeface="Cambria Math" panose="02040503050406030204" pitchFamily="18" charset="0"/>
                      </a:rPr>
                      <m:t>𝒚</m:t>
                    </m:r>
                  </m:oMath>
                </a14:m>
                <a:r>
                  <a:rPr lang="pt-BR" sz="2200" dirty="0"/>
                  <a:t>, onde </a:t>
                </a:r>
                <a14:m>
                  <m:oMath xmlns:m="http://schemas.openxmlformats.org/officeDocument/2006/math">
                    <m:sSup>
                      <m:sSupPr>
                        <m:ctrlPr>
                          <a:rPr lang="pt-BR" sz="2200" b="1" i="1">
                            <a:latin typeface="Cambria Math" panose="02040503050406030204" pitchFamily="18" charset="0"/>
                            <a:ea typeface="Cambria Math" panose="02040503050406030204" pitchFamily="18" charset="0"/>
                          </a:rPr>
                        </m:ctrlPr>
                      </m:sSupPr>
                      <m:e>
                        <m:r>
                          <a:rPr lang="pt-BR" sz="2200" b="1" i="1">
                            <a:latin typeface="Cambria Math" panose="02040503050406030204" pitchFamily="18" charset="0"/>
                            <a:ea typeface="Cambria Math" panose="02040503050406030204" pitchFamily="18" charset="0"/>
                          </a:rPr>
                          <m:t>𝑰</m:t>
                        </m:r>
                      </m:e>
                      <m:sup>
                        <m:r>
                          <a:rPr lang="pt-BR" sz="2200" b="1" i="1">
                            <a:latin typeface="Cambria Math" panose="02040503050406030204" pitchFamily="18" charset="0"/>
                            <a:ea typeface="Cambria Math" panose="02040503050406030204" pitchFamily="18" charset="0"/>
                          </a:rPr>
                          <m:t>′</m:t>
                        </m:r>
                      </m:sup>
                    </m:sSup>
                    <m:r>
                      <a:rPr lang="pt-BR" sz="2200" b="1" i="1">
                        <a:latin typeface="Cambria Math" panose="02040503050406030204" pitchFamily="18" charset="0"/>
                        <a:ea typeface="Cambria Math" panose="02040503050406030204" pitchFamily="18" charset="0"/>
                      </a:rPr>
                      <m:t>=</m:t>
                    </m:r>
                    <m:d>
                      <m:dPr>
                        <m:begChr m:val="["/>
                        <m:endChr m:val="]"/>
                        <m:ctrlPr>
                          <a:rPr lang="pt-BR" sz="2200" i="1">
                            <a:latin typeface="Cambria Math" panose="02040503050406030204" pitchFamily="18" charset="0"/>
                            <a:ea typeface="Cambria Math" panose="02040503050406030204" pitchFamily="18" charset="0"/>
                          </a:rPr>
                        </m:ctrlPr>
                      </m:dP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0</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0</m:t>
                                                </m:r>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1</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0</m:t>
                                                </m:r>
                                              </m:e>
                                            </m:mr>
                                          </m:m>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m:t>
                                          </m:r>
                                        </m:e>
                                      </m:mr>
                                    </m:m>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0</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1</m:t>
                                    </m:r>
                                  </m:e>
                                </m:mr>
                              </m:m>
                            </m:e>
                          </m:mr>
                        </m:m>
                      </m:e>
                    </m:d>
                  </m:oMath>
                </a14:m>
                <a:endParaRPr lang="pt-BR" sz="2200" b="1" dirty="0"/>
              </a:p>
              <a:p>
                <a:r>
                  <a:rPr lang="pt-BR" b="1" dirty="0"/>
                  <a:t>Observações</a:t>
                </a:r>
              </a:p>
              <a:p>
                <a:pPr lvl="1">
                  <a:buFont typeface="Wingdings" panose="05000000000000000000" pitchFamily="2" charset="2"/>
                  <a:buChar char="§"/>
                </a:pPr>
                <a:r>
                  <a:rPr lang="pt-BR" dirty="0"/>
                  <a:t>Mesmo que a matriz </a:t>
                </a:r>
                <a14:m>
                  <m:oMath xmlns:m="http://schemas.openxmlformats.org/officeDocument/2006/math">
                    <m:r>
                      <a:rPr lang="pt-BR" b="1" i="1" smtClean="0">
                        <a:latin typeface="Cambria Math" panose="02040503050406030204" pitchFamily="18" charset="0"/>
                      </a:rPr>
                      <m:t>𝑿</m:t>
                    </m:r>
                    <m:r>
                      <a:rPr lang="pt-BR" b="1" i="1">
                        <a:latin typeface="Cambria Math" panose="02040503050406030204" pitchFamily="18" charset="0"/>
                      </a:rPr>
                      <m:t> </m:t>
                    </m:r>
                  </m:oMath>
                </a14:m>
                <a:r>
                  <a:rPr lang="pt-BR" dirty="0"/>
                  <a:t>não tenha </a:t>
                </a:r>
                <a:r>
                  <a:rPr lang="pt-BR" b="1" i="1" dirty="0"/>
                  <a:t>posto completo </a:t>
                </a:r>
                <a:r>
                  <a:rPr lang="pt-BR" dirty="0"/>
                  <a:t>(i.e., matriz singular), a inversa na equação acima sempre existirá devido à adição do termo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b="1" i="1">
                        <a:latin typeface="Cambria Math" panose="02040503050406030204" pitchFamily="18" charset="0"/>
                        <a:ea typeface="Cambria Math" panose="02040503050406030204" pitchFamily="18" charset="0"/>
                      </a:rPr>
                      <m:t>𝑰</m:t>
                    </m:r>
                    <m:r>
                      <a:rPr lang="pt-BR" b="1" i="1">
                        <a:latin typeface="Cambria Math" panose="02040503050406030204" pitchFamily="18" charset="0"/>
                        <a:ea typeface="Cambria Math" panose="02040503050406030204" pitchFamily="18" charset="0"/>
                      </a:rPr>
                      <m:t>′</m:t>
                    </m:r>
                  </m:oMath>
                </a14:m>
                <a:r>
                  <a:rPr lang="pt-BR" dirty="0"/>
                  <a:t>.</a:t>
                </a:r>
              </a:p>
              <a:p>
                <a:pPr lvl="1">
                  <a:buFont typeface="Wingdings" panose="05000000000000000000" pitchFamily="2" charset="2"/>
                  <a:buChar char="§"/>
                </a:pPr>
                <a:r>
                  <a:rPr lang="pt-BR" dirty="0"/>
                  <a:t>Como a </a:t>
                </a:r>
                <a:r>
                  <a:rPr lang="pt-BR" b="1" i="1" dirty="0"/>
                  <a:t>norma L2 </a:t>
                </a:r>
                <a:r>
                  <a:rPr lang="pt-BR" dirty="0"/>
                  <a:t>é </a:t>
                </a:r>
                <a:r>
                  <a:rPr lang="pt-BR" b="1" i="1" dirty="0">
                    <a:solidFill>
                      <a:schemeClr val="accent5"/>
                    </a:solidFill>
                  </a:rPr>
                  <a:t>diferenciável</a:t>
                </a:r>
                <a:r>
                  <a:rPr lang="pt-BR" dirty="0"/>
                  <a:t>, a regressão </a:t>
                </a:r>
                <a:r>
                  <a:rPr lang="pt-BR" i="1" dirty="0"/>
                  <a:t>Ridge</a:t>
                </a:r>
                <a:r>
                  <a:rPr lang="pt-BR" dirty="0"/>
                  <a:t> também pode ser resolvida iterativamente através do </a:t>
                </a:r>
                <a:r>
                  <a:rPr lang="pt-BR" b="1" i="1" dirty="0">
                    <a:solidFill>
                      <a:schemeClr val="accent5"/>
                    </a:solidFill>
                  </a:rPr>
                  <a:t>algoritmo do gradiente descendente</a:t>
                </a:r>
                <a:r>
                  <a:rPr lang="pt-BR" dirty="0"/>
                  <a:t>.</a:t>
                </a:r>
              </a:p>
              <a:p>
                <a:pPr lvl="1">
                  <a:buFont typeface="Wingdings" panose="05000000000000000000" pitchFamily="2" charset="2"/>
                  <a:buChar char="§"/>
                </a:pPr>
                <a:r>
                  <a:rPr lang="pt-BR" dirty="0"/>
                  <a:t>O </a:t>
                </a:r>
                <a:r>
                  <a:rPr lang="pt-BR" b="1" i="1" dirty="0"/>
                  <a:t>termo de regularização </a:t>
                </a:r>
                <a:r>
                  <a:rPr lang="pt-BR" dirty="0"/>
                  <a:t>deve ser </a:t>
                </a:r>
                <a:r>
                  <a:rPr lang="pt-BR" b="1" i="1" dirty="0"/>
                  <a:t>adicionado apenas à função de erro durante o treinamento</a:t>
                </a:r>
                <a:r>
                  <a:rPr lang="pt-BR" dirty="0"/>
                  <a:t>. Depois que o modelo é treinado, a avaliação de seu desempenho não utiliza a regularização.</a:t>
                </a:r>
              </a:p>
            </p:txBody>
          </p:sp>
        </mc:Choice>
        <mc:Fallback xmlns="">
          <p:sp>
            <p:nvSpPr>
              <p:cNvPr id="3" name="Espaço Reservado para Conteúdo 2">
                <a:extLst>
                  <a:ext uri="{FF2B5EF4-FFF2-40B4-BE49-F238E27FC236}">
                    <a16:creationId xmlns:a16="http://schemas.microsoft.com/office/drawing/2014/main" id="{6FFFFC86-5F95-1E71-9AAF-6DC5CEC3A4F5}"/>
                  </a:ext>
                </a:extLst>
              </p:cNvPr>
              <p:cNvSpPr>
                <a:spLocks noGrp="1" noRot="1" noChangeAspect="1" noMove="1" noResize="1" noEditPoints="1" noAdjustHandles="1" noChangeArrowheads="1" noChangeShapeType="1" noTextEdit="1"/>
              </p:cNvSpPr>
              <p:nvPr>
                <p:ph idx="1"/>
              </p:nvPr>
            </p:nvSpPr>
            <p:spPr>
              <a:xfrm>
                <a:off x="838199" y="1825624"/>
                <a:ext cx="11184467" cy="5032375"/>
              </a:xfrm>
              <a:blipFill>
                <a:blip r:embed="rId2"/>
                <a:stretch>
                  <a:fillRect l="-926" t="-2663" r="-1253"/>
                </a:stretch>
              </a:blipFill>
            </p:spPr>
            <p:txBody>
              <a:bodyPr/>
              <a:lstStyle/>
              <a:p>
                <a:r>
                  <a:rPr lang="pt-BR">
                    <a:noFill/>
                  </a:rPr>
                  <a:t> </a:t>
                </a:r>
              </a:p>
            </p:txBody>
          </p:sp>
        </mc:Fallback>
      </mc:AlternateContent>
      <p:sp>
        <p:nvSpPr>
          <p:cNvPr id="4" name="Retângulo 3">
            <a:extLst>
              <a:ext uri="{FF2B5EF4-FFF2-40B4-BE49-F238E27FC236}">
                <a16:creationId xmlns:a16="http://schemas.microsoft.com/office/drawing/2014/main" id="{50C0C0B3-BE3B-F4DF-36EE-A774B2ACD2D4}"/>
              </a:ext>
            </a:extLst>
          </p:cNvPr>
          <p:cNvSpPr/>
          <p:nvPr/>
        </p:nvSpPr>
        <p:spPr>
          <a:xfrm>
            <a:off x="9461105" y="2791136"/>
            <a:ext cx="2561561" cy="646331"/>
          </a:xfrm>
          <a:prstGeom prst="rect">
            <a:avLst/>
          </a:prstGeom>
        </p:spPr>
        <p:txBody>
          <a:bodyPr wrap="square">
            <a:spAutoFit/>
          </a:bodyPr>
          <a:lstStyle/>
          <a:p>
            <a:pPr algn="ctr"/>
            <a:r>
              <a:rPr lang="pt-BR" sz="1200" b="1" i="1" dirty="0"/>
              <a:t>matriz identidade</a:t>
            </a:r>
            <a:r>
              <a:rPr lang="pt-BR" sz="1200" dirty="0"/>
              <a:t> com o primeiro elemento igual a 0, pois não penalizamos o peso de bias.</a:t>
            </a:r>
          </a:p>
        </p:txBody>
      </p:sp>
      <p:sp>
        <p:nvSpPr>
          <p:cNvPr id="5" name="Rectangle 3">
            <a:extLst>
              <a:ext uri="{FF2B5EF4-FFF2-40B4-BE49-F238E27FC236}">
                <a16:creationId xmlns:a16="http://schemas.microsoft.com/office/drawing/2014/main" id="{B19BB8E6-9F41-4727-5A32-C2313E165C74}"/>
              </a:ext>
            </a:extLst>
          </p:cNvPr>
          <p:cNvSpPr/>
          <p:nvPr/>
        </p:nvSpPr>
        <p:spPr>
          <a:xfrm>
            <a:off x="4980532" y="2964247"/>
            <a:ext cx="404923" cy="28707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5">
            <a:extLst>
              <a:ext uri="{FF2B5EF4-FFF2-40B4-BE49-F238E27FC236}">
                <a16:creationId xmlns:a16="http://schemas.microsoft.com/office/drawing/2014/main" id="{44B21D6E-949E-A019-A2BB-868903138B6B}"/>
              </a:ext>
            </a:extLst>
          </p:cNvPr>
          <p:cNvSpPr/>
          <p:nvPr/>
        </p:nvSpPr>
        <p:spPr>
          <a:xfrm>
            <a:off x="4745665" y="3656504"/>
            <a:ext cx="2700670" cy="276999"/>
          </a:xfrm>
          <a:prstGeom prst="rect">
            <a:avLst/>
          </a:prstGeom>
        </p:spPr>
        <p:txBody>
          <a:bodyPr wrap="square">
            <a:spAutoFit/>
          </a:bodyPr>
          <a:lstStyle/>
          <a:p>
            <a:pPr algn="ctr"/>
            <a:r>
              <a:rPr lang="pt-BR" sz="1200" dirty="0"/>
              <a:t>derivada do termo de regularização</a:t>
            </a:r>
          </a:p>
        </p:txBody>
      </p:sp>
      <p:cxnSp>
        <p:nvCxnSpPr>
          <p:cNvPr id="7" name="Conector de seta reta 13">
            <a:extLst>
              <a:ext uri="{FF2B5EF4-FFF2-40B4-BE49-F238E27FC236}">
                <a16:creationId xmlns:a16="http://schemas.microsoft.com/office/drawing/2014/main" id="{F3E4A288-E08F-3017-FE28-760F2ED99D28}"/>
              </a:ext>
            </a:extLst>
          </p:cNvPr>
          <p:cNvCxnSpPr/>
          <p:nvPr/>
        </p:nvCxnSpPr>
        <p:spPr>
          <a:xfrm>
            <a:off x="5162172" y="3251326"/>
            <a:ext cx="404037" cy="40874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283613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Regressão Ridge com gradiente descendente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19121" cy="5032375"/>
              </a:xfrm>
            </p:spPr>
            <p:txBody>
              <a:bodyPr>
                <a:normAutofit fontScale="85000" lnSpcReduction="20000"/>
              </a:bodyPr>
              <a:lstStyle/>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i="1" smtClean="0">
                                      <a:latin typeface="Cambria Math" panose="02040503050406030204" pitchFamily="18" charset="0"/>
                                    </a:rPr>
                                    <m:t>𝑦</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i="1" dirty="0">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e>
                            <m:sup>
                              <m:r>
                                <a:rPr lang="pt-BR" i="1">
                                  <a:latin typeface="Cambria Math" panose="02040503050406030204" pitchFamily="18" charset="0"/>
                                </a:rPr>
                                <m:t>2</m:t>
                              </m:r>
                            </m:sup>
                          </m:sSup>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i="1" dirty="0">
                                      <a:latin typeface="Cambria Math" panose="02040503050406030204" pitchFamily="18" charset="0"/>
                                    </a:rPr>
                                    <m:t>−</m:t>
                                  </m:r>
                                  <m:r>
                                    <a:rPr lang="pt-BR" i="1">
                                      <a:latin typeface="Cambria Math" panose="02040503050406030204" pitchFamily="18" charset="0"/>
                                    </a:rPr>
                                    <m:t>ℎ</m:t>
                                  </m:r>
                                  <m:d>
                                    <m:dPr>
                                      <m:ctrlPr>
                                        <a:rPr lang="pt-BR" b="1" i="1">
                                          <a:latin typeface="Cambria Math" panose="02040503050406030204" pitchFamily="18" charset="0"/>
                                        </a:rPr>
                                      </m:ctrlPr>
                                    </m:dPr>
                                    <m:e>
                                      <m:r>
                                        <a:rPr lang="pt-BR" b="1" i="1">
                                          <a:latin typeface="Cambria Math" panose="02040503050406030204" pitchFamily="18" charset="0"/>
                                        </a:rPr>
                                        <m:t>𝒙</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b="1" i="1">
                                          <a:latin typeface="Cambria Math" panose="02040503050406030204" pitchFamily="18" charset="0"/>
                                        </a:rPr>
                                        <m:t>𝒂</m:t>
                                      </m:r>
                                    </m:e>
                                  </m:d>
                                </m:e>
                              </m:d>
                            </m:e>
                            <m:sup>
                              <m:r>
                                <a:rPr lang="pt-BR" i="1">
                                  <a:latin typeface="Cambria Math" panose="02040503050406030204" pitchFamily="18" charset="0"/>
                                </a:rPr>
                                <m:t>2</m:t>
                              </m:r>
                            </m:sup>
                          </m:sSup>
                        </m:e>
                      </m:nary>
                    </m:oMath>
                  </m:oMathPara>
                </a14:m>
                <a:endParaRPr lang="pt-BR" i="1" dirty="0">
                  <a:latin typeface="Cambria Math" panose="02040503050406030204" pitchFamily="18" charset="0"/>
                </a:endParaRPr>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oMath>
                  </m:oMathPara>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r>
                      <a:rPr lang="pt-BR" b="0" i="1" smtClean="0">
                        <a:latin typeface="Cambria Math" panose="02040503050406030204" pitchFamily="18" charset="0"/>
                      </a:rPr>
                      <m:t>=</m:t>
                    </m:r>
                    <m:r>
                      <a:rPr lang="pt-BR" i="1">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b="0" i="1" dirty="0" smtClean="0">
                                    <a:latin typeface="Cambria Math" panose="02040503050406030204" pitchFamily="18" charset="0"/>
                                    <a:ea typeface="Cambria Math" panose="02040503050406030204" pitchFamily="18" charset="0"/>
                                  </a:rPr>
                                </m:ctrlPr>
                              </m:accPr>
                              <m:e>
                                <m:r>
                                  <a:rPr lang="pt-BR" b="0" i="1" dirty="0" smtClean="0">
                                    <a:latin typeface="Cambria Math" panose="02040503050406030204" pitchFamily="18" charset="0"/>
                                    <a:ea typeface="Cambria Math" panose="02040503050406030204" pitchFamily="18" charset="0"/>
                                  </a:rPr>
                                  <m:t>𝑦</m:t>
                                </m:r>
                              </m:e>
                            </m:acc>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𝜆</m:t>
                    </m:r>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𝑘</m:t>
                        </m:r>
                      </m:sub>
                    </m:sSub>
                  </m:oMath>
                </a14:m>
                <a:r>
                  <a:rPr lang="nl-BE" dirty="0"/>
                  <a:t> ,  </a:t>
                </a:r>
                <a14:m>
                  <m:oMath xmlns:m="http://schemas.openxmlformats.org/officeDocument/2006/math">
                    <m:r>
                      <a:rPr lang="pt-BR" i="1">
                        <a:latin typeface="Cambria Math" panose="02040503050406030204" pitchFamily="18" charset="0"/>
                      </a:rPr>
                      <m:t>𝑘</m:t>
                    </m:r>
                    <m:r>
                      <a:rPr lang="pt-BR" i="1">
                        <a:latin typeface="Cambria Math" panose="02040503050406030204" pitchFamily="18" charset="0"/>
                      </a:rPr>
                      <m:t>=1,...,</m:t>
                    </m:r>
                    <m:r>
                      <a:rPr lang="pt-BR" b="0" i="1" smtClean="0">
                        <a:latin typeface="Cambria Math" panose="02040503050406030204" pitchFamily="18" charset="0"/>
                      </a:rPr>
                      <m:t>𝐾</m:t>
                    </m:r>
                  </m:oMath>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0</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𝑖</m:t>
                        </m:r>
                      </m:e>
                    </m:d>
                  </m:oMath>
                </a14:m>
                <a:r>
                  <a:rPr lang="nl-BE" dirty="0"/>
                  <a:t> , </a:t>
                </a:r>
                <a:endParaRPr lang="pt-BR" dirty="0"/>
              </a:p>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b="0" i="1" smtClean="0">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b="0" i="0" smtClean="0">
                          <a:latin typeface="Cambria Math" panose="02040503050406030204" pitchFamily="18" charset="0"/>
                        </a:rPr>
                        <m:t>+2</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a:rPr lang="pt-BR" b="1" i="1">
                          <a:latin typeface="Cambria Math" panose="02040503050406030204" pitchFamily="18" charset="0"/>
                        </a:rPr>
                        <m:t>𝒂</m:t>
                      </m:r>
                      <m:r>
                        <m:rPr>
                          <m:nor/>
                        </m:rPr>
                        <a:rPr lang="pt-BR" i="0" dirty="0"/>
                        <m:t>,</m:t>
                      </m:r>
                    </m:oMath>
                  </m:oMathPara>
                </a14:m>
                <a:endParaRPr lang="pt-BR" dirty="0"/>
              </a:p>
              <a:p>
                <a:pPr marL="0" indent="0">
                  <a:buNone/>
                </a:pPr>
                <a:r>
                  <a:rPr lang="pt-BR" dirty="0"/>
                  <a:t>onde </a:t>
                </a:r>
                <a14:m>
                  <m:oMath xmlns:m="http://schemas.openxmlformats.org/officeDocument/2006/math">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oMath>
                </a14:m>
                <a:r>
                  <a:rPr lang="pt-BR" dirty="0"/>
                  <a:t> é uma </a:t>
                </a:r>
                <a:r>
                  <a:rPr lang="pt-BR" b="1" i="1" dirty="0"/>
                  <a:t>matriz identidade</a:t>
                </a:r>
                <a:r>
                  <a:rPr lang="pt-BR" dirty="0"/>
                  <a:t> de tamanho </a:t>
                </a:r>
                <a14:m>
                  <m:oMath xmlns:m="http://schemas.openxmlformats.org/officeDocument/2006/math">
                    <m:r>
                      <a:rPr lang="pt-BR" i="1">
                        <a:latin typeface="Cambria Math" panose="02040503050406030204" pitchFamily="18" charset="0"/>
                      </a:rPr>
                      <m:t>𝐾</m:t>
                    </m:r>
                    <m:r>
                      <a:rPr lang="pt-BR" b="0" i="0" smtClean="0">
                        <a:latin typeface="Cambria Math" panose="02040503050406030204" pitchFamily="18" charset="0"/>
                      </a:rPr>
                      <m:t>+1</m:t>
                    </m:r>
                  </m:oMath>
                </a14:m>
                <a:r>
                  <a:rPr lang="pt-BR" dirty="0"/>
                  <a:t>, onde o primeiro elemento é feito igual a 0, pois não queremos regularizar o peso de bias.</a:t>
                </a:r>
              </a:p>
              <a:p>
                <a:r>
                  <a:rPr lang="pt-BR" dirty="0"/>
                  <a:t>A </a:t>
                </a:r>
                <a:r>
                  <a:rPr lang="pt-BR" b="1" i="1" dirty="0"/>
                  <a:t>equação de atualização dos pesos </a:t>
                </a:r>
                <a:r>
                  <a:rPr lang="pt-BR" dirty="0"/>
                  <a:t>é dada por</a:t>
                </a:r>
              </a:p>
              <a:p>
                <a:pPr marL="0" indent="0" algn="ctr">
                  <a:buNone/>
                </a:pPr>
                <a14:m>
                  <m:oMath xmlns:m="http://schemas.openxmlformats.org/officeDocument/2006/math">
                    <m:r>
                      <a:rPr lang="pt-BR" b="1" i="1">
                        <a:latin typeface="Cambria Math" panose="02040503050406030204" pitchFamily="18" charset="0"/>
                        <a:ea typeface="Cambria Math" panose="02040503050406030204" pitchFamily="18" charset="0"/>
                      </a:rPr>
                      <m:t>𝒂</m:t>
                    </m:r>
                  </m:oMath>
                </a14:m>
                <a:r>
                  <a:rPr lang="pt-BR" dirty="0"/>
                  <a:t> =</a:t>
                </a:r>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𝒂</m:t>
                    </m:r>
                    <m:r>
                      <a:rPr lang="pt-BR" b="1" i="1" smtClean="0">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rPr>
                        </m:ctrlPr>
                      </m:dPr>
                      <m:e>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b="0" i="0"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a:rPr lang="pt-BR" b="1" i="1">
                            <a:latin typeface="Cambria Math" panose="02040503050406030204" pitchFamily="18" charset="0"/>
                          </a:rPr>
                          <m:t>𝒂</m:t>
                        </m:r>
                      </m:e>
                    </m:d>
                    <m:r>
                      <m:rPr>
                        <m:nor/>
                      </m:rPr>
                      <a:rPr lang="pt-BR" b="0" i="0" smtClean="0">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19121" cy="5032375"/>
              </a:xfrm>
              <a:blipFill>
                <a:blip r:embed="rId3"/>
                <a:stretch>
                  <a:fillRect l="-815"/>
                </a:stretch>
              </a:blipFill>
            </p:spPr>
            <p:txBody>
              <a:bodyPr/>
              <a:lstStyle/>
              <a:p>
                <a:r>
                  <a:rPr lang="pt-BR">
                    <a:noFill/>
                  </a:rPr>
                  <a:t> </a:t>
                </a:r>
              </a:p>
            </p:txBody>
          </p:sp>
        </mc:Fallback>
      </mc:AlternateContent>
      <p:cxnSp>
        <p:nvCxnSpPr>
          <p:cNvPr id="8" name="Straight Arrow Connector 7"/>
          <p:cNvCxnSpPr/>
          <p:nvPr/>
        </p:nvCxnSpPr>
        <p:spPr>
          <a:xfrm flipH="1">
            <a:off x="9067377" y="4213016"/>
            <a:ext cx="769257" cy="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9867345" y="4603517"/>
            <a:ext cx="2189975" cy="461665"/>
          </a:xfrm>
          <a:prstGeom prst="rect">
            <a:avLst/>
          </a:prstGeom>
          <a:noFill/>
        </p:spPr>
        <p:txBody>
          <a:bodyPr wrap="square" rtlCol="0">
            <a:spAutoFit/>
          </a:bodyPr>
          <a:lstStyle/>
          <a:p>
            <a:pPr algn="ctr"/>
            <a:r>
              <a:rPr lang="pt-BR" sz="1200" b="1" dirty="0"/>
              <a:t>Equação geral</a:t>
            </a:r>
            <a:r>
              <a:rPr lang="pt-BR" sz="1200" dirty="0"/>
              <a:t> do vetor gradiente em formato matricial.</a:t>
            </a:r>
          </a:p>
        </p:txBody>
      </p:sp>
      <p:cxnSp>
        <p:nvCxnSpPr>
          <p:cNvPr id="12" name="Straight Arrow Connector 11"/>
          <p:cNvCxnSpPr/>
          <p:nvPr/>
        </p:nvCxnSpPr>
        <p:spPr>
          <a:xfrm flipH="1">
            <a:off x="9067376" y="4834350"/>
            <a:ext cx="769257" cy="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9836633" y="3982183"/>
            <a:ext cx="1857410" cy="461665"/>
          </a:xfrm>
          <a:prstGeom prst="rect">
            <a:avLst/>
          </a:prstGeom>
          <a:noFill/>
        </p:spPr>
        <p:txBody>
          <a:bodyPr wrap="square" rtlCol="0">
            <a:spAutoFit/>
          </a:bodyPr>
          <a:lstStyle/>
          <a:p>
            <a:pPr algn="ctr"/>
            <a:r>
              <a:rPr lang="pt-BR" sz="1200" dirty="0"/>
              <a:t>Gradiente com relação ao peso de bias</a:t>
            </a:r>
          </a:p>
        </p:txBody>
      </p:sp>
      <p:sp>
        <p:nvSpPr>
          <p:cNvPr id="9" name="Rectangle 3"/>
          <p:cNvSpPr/>
          <p:nvPr/>
        </p:nvSpPr>
        <p:spPr>
          <a:xfrm>
            <a:off x="7823200" y="6230681"/>
            <a:ext cx="620889" cy="43455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p:cNvSpPr/>
          <p:nvPr/>
        </p:nvSpPr>
        <p:spPr>
          <a:xfrm>
            <a:off x="8630281" y="5823091"/>
            <a:ext cx="2412704" cy="276999"/>
          </a:xfrm>
          <a:prstGeom prst="rect">
            <a:avLst/>
          </a:prstGeom>
        </p:spPr>
        <p:txBody>
          <a:bodyPr wrap="square">
            <a:spAutoFit/>
          </a:bodyPr>
          <a:lstStyle/>
          <a:p>
            <a:pPr algn="ctr"/>
            <a:r>
              <a:rPr lang="pt-BR" sz="1200" dirty="0"/>
              <a:t>derivada do termo de regularização</a:t>
            </a:r>
          </a:p>
        </p:txBody>
      </p:sp>
      <p:cxnSp>
        <p:nvCxnSpPr>
          <p:cNvPr id="14" name="Conector de seta reta 13"/>
          <p:cNvCxnSpPr>
            <a:cxnSpLocks/>
            <a:stCxn id="9" idx="0"/>
          </p:cNvCxnSpPr>
          <p:nvPr/>
        </p:nvCxnSpPr>
        <p:spPr>
          <a:xfrm flipV="1">
            <a:off x="8133645" y="6012460"/>
            <a:ext cx="542522" cy="21822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125297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E81AB3D-70B2-9F0A-D0FA-EBB5710A350E}"/>
              </a:ext>
            </a:extLst>
          </p:cNvPr>
          <p:cNvSpPr>
            <a:spLocks noGrp="1"/>
          </p:cNvSpPr>
          <p:nvPr>
            <p:ph type="title"/>
          </p:nvPr>
        </p:nvSpPr>
        <p:spPr/>
        <p:txBody>
          <a:bodyPr/>
          <a:lstStyle/>
          <a:p>
            <a:r>
              <a:rPr lang="pt-BR" dirty="0"/>
              <a:t>Regressão LASSO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9F4321D-B42D-0104-0880-A4AD4A46194C}"/>
                  </a:ext>
                </a:extLst>
              </p:cNvPr>
              <p:cNvSpPr>
                <a:spLocks noGrp="1"/>
              </p:cNvSpPr>
              <p:nvPr>
                <p:ph idx="1"/>
              </p:nvPr>
            </p:nvSpPr>
            <p:spPr>
              <a:xfrm>
                <a:off x="4436533" y="1825624"/>
                <a:ext cx="7642577" cy="5032375"/>
              </a:xfrm>
            </p:spPr>
            <p:txBody>
              <a:bodyPr>
                <a:normAutofit/>
              </a:bodyPr>
              <a:lstStyle/>
              <a:p>
                <a:r>
                  <a:rPr lang="pt-BR" dirty="0"/>
                  <a:t>A </a:t>
                </a:r>
                <a:r>
                  <a:rPr lang="pt-BR" b="1" i="1" dirty="0"/>
                  <a:t>regressão LASSO </a:t>
                </a:r>
                <a:r>
                  <a:rPr lang="pt-BR" dirty="0"/>
                  <a:t>(do inglês </a:t>
                </a:r>
                <a:r>
                  <a:rPr lang="pt-BR" i="1" dirty="0" err="1"/>
                  <a:t>Least</a:t>
                </a:r>
                <a:r>
                  <a:rPr lang="pt-BR" i="1" dirty="0"/>
                  <a:t> Absolute Shrinkage and Selection Operator</a:t>
                </a:r>
                <a:r>
                  <a:rPr lang="pt-BR" dirty="0"/>
                  <a:t>) adiciona à função de erro um </a:t>
                </a:r>
                <a:r>
                  <a:rPr lang="pt-BR" b="1" i="1" dirty="0"/>
                  <a:t>termo de penalização</a:t>
                </a:r>
                <a:r>
                  <a:rPr lang="pt-BR" dirty="0"/>
                  <a:t> proporcional à </a:t>
                </a:r>
                <a:r>
                  <a:rPr lang="pt-BR" b="1" dirty="0"/>
                  <a:t>norma L1 </a:t>
                </a:r>
                <a:r>
                  <a:rPr lang="pt-BR" dirty="0"/>
                  <a:t>do vetor de pesos.</a:t>
                </a:r>
              </a:p>
              <a:p>
                <a:pPr marL="0" indent="0" algn="ctr">
                  <a:buNone/>
                </a:pPr>
                <a14:m>
                  <m:oMath xmlns:m="http://schemas.openxmlformats.org/officeDocument/2006/math">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r>
                              <a:rPr lang="pt-BR" b="1" i="1">
                                <a:latin typeface="Cambria Math" panose="02040503050406030204" pitchFamily="18" charset="0"/>
                              </a:rPr>
                              <m:t> </m:t>
                            </m:r>
                          </m:lim>
                        </m:limLow>
                      </m:fName>
                      <m:e>
                        <m:d>
                          <m:dPr>
                            <m:ctrlPr>
                              <a:rPr lang="pt-BR" i="1">
                                <a:latin typeface="Cambria Math" panose="02040503050406030204" pitchFamily="18" charset="0"/>
                              </a:rPr>
                            </m:ctrlPr>
                          </m:dPr>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e>
                        </m:d>
                      </m:e>
                    </m:func>
                  </m:oMath>
                </a14:m>
                <a:r>
                  <a:rPr lang="pt-BR" dirty="0"/>
                  <a:t>,</a:t>
                </a:r>
              </a:p>
              <a:p>
                <a:pPr marL="0" indent="0">
                  <a:buNone/>
                </a:pPr>
                <a:r>
                  <a:rPr lang="pt-BR" dirty="0"/>
                  <a:t>onde </a:t>
                </a:r>
                <a14:m>
                  <m:oMath xmlns:m="http://schemas.openxmlformats.org/officeDocument/2006/math">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nary>
                      <m:naryPr>
                        <m:chr m:val="∑"/>
                        <m:limLoc m:val="subSup"/>
                        <m:ctrlPr>
                          <a:rPr lang="pt-BR" i="1">
                            <a:latin typeface="Cambria Math" panose="02040503050406030204" pitchFamily="18" charset="0"/>
                            <a:ea typeface="Cambria Math" panose="02040503050406030204" pitchFamily="18" charset="0"/>
                          </a:rPr>
                        </m:ctrlPr>
                      </m:naryPr>
                      <m:sub>
                        <m:r>
                          <m:rPr>
                            <m:brk m:alnAt="25"/>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d>
                          <m:dPr>
                            <m:begChr m:val="|"/>
                            <m:endChr m:val="|"/>
                            <m:ctrlPr>
                              <a:rPr lang="pt-BR" b="0" i="1" smtClean="0">
                                <a:latin typeface="Cambria Math" panose="02040503050406030204" pitchFamily="18" charset="0"/>
                                <a:ea typeface="Cambria Math" panose="02040503050406030204" pitchFamily="18" charset="0"/>
                              </a:rPr>
                            </m:ctrlPr>
                          </m:dPr>
                          <m:e>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𝑖</m:t>
                                </m:r>
                              </m:sub>
                            </m:sSub>
                          </m:e>
                        </m:d>
                      </m:e>
                    </m:nary>
                    <m:r>
                      <a:rPr lang="pt-BR" b="0" i="0">
                        <a:latin typeface="Cambria Math" panose="02040503050406030204" pitchFamily="18" charset="0"/>
                        <a:ea typeface="Cambria Math" panose="02040503050406030204" pitchFamily="18" charset="0"/>
                      </a:rPr>
                      <m:t> </m:t>
                    </m:r>
                    <m:r>
                      <m:rPr>
                        <m:sty m:val="p"/>
                      </m:rPr>
                      <a:rPr lang="pt-BR" b="0" i="0" smtClean="0">
                        <a:latin typeface="Cambria Math" panose="02040503050406030204" pitchFamily="18" charset="0"/>
                        <a:ea typeface="Cambria Math" panose="02040503050406030204" pitchFamily="18" charset="0"/>
                      </a:rPr>
                      <m:t>e</m:t>
                    </m:r>
                  </m:oMath>
                </a14:m>
                <a:r>
                  <a:rPr lang="pt-BR" dirty="0"/>
                  <a:t>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≥0 </m:t>
                    </m:r>
                  </m:oMath>
                </a14:m>
                <a:r>
                  <a:rPr lang="pt-BR" dirty="0"/>
                  <a:t>é o </a:t>
                </a:r>
                <a:r>
                  <a:rPr lang="pt-BR" b="1" i="1" dirty="0"/>
                  <a:t>fator de regularização</a:t>
                </a:r>
                <a:r>
                  <a:rPr lang="pt-BR" dirty="0"/>
                  <a:t>.</a:t>
                </a:r>
              </a:p>
              <a:p>
                <a:r>
                  <a:rPr lang="pt-BR" sz="2800" dirty="0"/>
                  <a:t>A </a:t>
                </a:r>
                <a:r>
                  <a:rPr lang="pt-BR" sz="2800" b="1" i="1" dirty="0"/>
                  <a:t>região factibilidade </a:t>
                </a:r>
                <a:r>
                  <a:rPr lang="pt-BR" sz="2800" dirty="0"/>
                  <a:t>da norma L1 tem formato de uma diamante (quadrado rotacionado).</a:t>
                </a:r>
              </a:p>
              <a:p>
                <a:endParaRPr lang="pt-BR" dirty="0"/>
              </a:p>
            </p:txBody>
          </p:sp>
        </mc:Choice>
        <mc:Fallback xmlns="">
          <p:sp>
            <p:nvSpPr>
              <p:cNvPr id="3" name="Espaço Reservado para Conteúdo 2">
                <a:extLst>
                  <a:ext uri="{FF2B5EF4-FFF2-40B4-BE49-F238E27FC236}">
                    <a16:creationId xmlns:a16="http://schemas.microsoft.com/office/drawing/2014/main" id="{B9F4321D-B42D-0104-0880-A4AD4A46194C}"/>
                  </a:ext>
                </a:extLst>
              </p:cNvPr>
              <p:cNvSpPr>
                <a:spLocks noGrp="1" noRot="1" noChangeAspect="1" noMove="1" noResize="1" noEditPoints="1" noAdjustHandles="1" noChangeArrowheads="1" noChangeShapeType="1" noTextEdit="1"/>
              </p:cNvSpPr>
              <p:nvPr>
                <p:ph idx="1"/>
              </p:nvPr>
            </p:nvSpPr>
            <p:spPr>
              <a:xfrm>
                <a:off x="4436533" y="1825624"/>
                <a:ext cx="7642577" cy="5032375"/>
              </a:xfrm>
              <a:blipFill>
                <a:blip r:embed="rId3"/>
                <a:stretch>
                  <a:fillRect l="-1676" t="-1937"/>
                </a:stretch>
              </a:blipFill>
            </p:spPr>
            <p:txBody>
              <a:bodyPr/>
              <a:lstStyle/>
              <a:p>
                <a:r>
                  <a:rPr lang="pt-BR">
                    <a:noFill/>
                  </a:rPr>
                  <a:t> </a:t>
                </a:r>
              </a:p>
            </p:txBody>
          </p:sp>
        </mc:Fallback>
      </mc:AlternateContent>
      <p:pic>
        <p:nvPicPr>
          <p:cNvPr id="4" name="Picture 2" descr="Introduction to Regularization Methods in Deep Learning | by John Kaller |  unpackAI | Medium">
            <a:extLst>
              <a:ext uri="{FF2B5EF4-FFF2-40B4-BE49-F238E27FC236}">
                <a16:creationId xmlns:a16="http://schemas.microsoft.com/office/drawing/2014/main" id="{2FFDA4A1-172A-7203-3F93-CE954EA10E0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10" t="5749" r="56564" b="3790"/>
          <a:stretch/>
        </p:blipFill>
        <p:spPr bwMode="auto">
          <a:xfrm>
            <a:off x="982455" y="1825624"/>
            <a:ext cx="2742877" cy="40962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6268403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E81AB3D-70B2-9F0A-D0FA-EBB5710A350E}"/>
              </a:ext>
            </a:extLst>
          </p:cNvPr>
          <p:cNvSpPr>
            <a:spLocks noGrp="1"/>
          </p:cNvSpPr>
          <p:nvPr>
            <p:ph type="title"/>
          </p:nvPr>
        </p:nvSpPr>
        <p:spPr/>
        <p:txBody>
          <a:bodyPr/>
          <a:lstStyle/>
          <a:p>
            <a:r>
              <a:rPr lang="pt-BR" dirty="0"/>
              <a:t>Regressão LASSO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9F4321D-B42D-0104-0880-A4AD4A46194C}"/>
                  </a:ext>
                </a:extLst>
              </p:cNvPr>
              <p:cNvSpPr>
                <a:spLocks noGrp="1"/>
              </p:cNvSpPr>
              <p:nvPr>
                <p:ph idx="1"/>
              </p:nvPr>
            </p:nvSpPr>
            <p:spPr>
              <a:xfrm>
                <a:off x="4967111" y="1825624"/>
                <a:ext cx="7111999" cy="5032375"/>
              </a:xfrm>
            </p:spPr>
            <p:txBody>
              <a:bodyPr>
                <a:normAutofit lnSpcReduction="10000"/>
              </a:bodyPr>
              <a:lstStyle/>
              <a:p>
                <a:r>
                  <a:rPr lang="pt-BR" dirty="0"/>
                  <a:t>Podemos re-escrever o </a:t>
                </a:r>
                <a:r>
                  <a:rPr lang="pt-BR" b="1" i="1" dirty="0"/>
                  <a:t>problema de regularização</a:t>
                </a:r>
                <a:r>
                  <a:rPr lang="pt-BR" dirty="0"/>
                  <a:t> acima como um </a:t>
                </a:r>
                <a:r>
                  <a:rPr lang="pt-BR" b="1" i="1" dirty="0"/>
                  <a:t>problema de otimização com restrição </a:t>
                </a:r>
                <a:r>
                  <a:rPr lang="pt-BR" dirty="0"/>
                  <a:t>da seguinte forma</a:t>
                </a:r>
              </a:p>
              <a:p>
                <a:pPr marL="0" indent="0">
                  <a:buNone/>
                </a:pPr>
                <a14:m>
                  <m:oMathPara xmlns:m="http://schemas.openxmlformats.org/officeDocument/2006/math">
                    <m:oMath>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e>
                      </m:func>
                    </m:oMath>
                  </m:oMathPara>
                </a14:m>
                <a:endParaRPr lang="pt-BR" dirty="0"/>
              </a:p>
              <a:p>
                <a:pPr marL="0" indent="0">
                  <a:buNone/>
                </a:pPr>
                <a14:m>
                  <m:oMathPara xmlns:m="http://schemas.openxmlformats.org/officeDocument/2006/math">
                    <m:oMath>
                      <m:r>
                        <m:rPr>
                          <m:sty m:val="p"/>
                        </m:rPr>
                        <a:rPr lang="pt-BR" i="1">
                          <a:latin typeface="Cambria Math" panose="02040503050406030204" pitchFamily="18" charset="0"/>
                        </a:rPr>
                        <m:t>s</m:t>
                      </m:r>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restringe a magnitude dos pesos e é </a:t>
                </a:r>
                <a:r>
                  <a:rPr lang="pt-BR" b="1" i="1" dirty="0"/>
                  <a:t>inversamente proporcional à </a:t>
                </a:r>
                <a14:m>
                  <m:oMath xmlns:m="http://schemas.openxmlformats.org/officeDocument/2006/math">
                    <m:r>
                      <a:rPr lang="pt-BR" b="1" i="1">
                        <a:latin typeface="Cambria Math" panose="02040503050406030204" pitchFamily="18" charset="0"/>
                        <a:ea typeface="Cambria Math" panose="02040503050406030204" pitchFamily="18" charset="0"/>
                      </a:rPr>
                      <m:t>𝝀</m:t>
                    </m:r>
                  </m:oMath>
                </a14:m>
                <a:r>
                  <a:rPr lang="pt-BR" b="1" i="1" dirty="0"/>
                  <a:t>.</a:t>
                </a:r>
              </a:p>
              <a:p>
                <a14:m>
                  <m:oMath xmlns:m="http://schemas.openxmlformats.org/officeDocument/2006/math">
                    <m:r>
                      <a:rPr lang="pt-BR" sz="2800" i="1" smtClean="0">
                        <a:latin typeface="Cambria Math" panose="02040503050406030204" pitchFamily="18" charset="0"/>
                        <a:ea typeface="Cambria Math" panose="02040503050406030204" pitchFamily="18" charset="0"/>
                      </a:rPr>
                      <m:t>𝑐</m:t>
                    </m:r>
                  </m:oMath>
                </a14:m>
                <a:r>
                  <a:rPr lang="pt-BR" sz="2800" dirty="0"/>
                  <a:t> restringe a </a:t>
                </a:r>
                <a:r>
                  <a:rPr lang="pt-BR" sz="2800" b="1" i="1" dirty="0">
                    <a:solidFill>
                      <a:srgbClr val="00B050"/>
                    </a:solidFill>
                  </a:rPr>
                  <a:t>área do quadrado </a:t>
                </a:r>
                <a:r>
                  <a:rPr lang="pt-BR" sz="2800" dirty="0"/>
                  <a:t>e é igual a distância da origem até qualquer um dos vértices.</a:t>
                </a:r>
                <a:endParaRPr lang="pt-BR" b="1" i="1" dirty="0"/>
              </a:p>
              <a:p>
                <a:r>
                  <a:rPr lang="pt-BR" b="1" dirty="0"/>
                  <a:t>OBS</a:t>
                </a:r>
                <a:r>
                  <a:rPr lang="pt-BR" dirty="0"/>
                  <a:t>.: Assim como na regressão de Ridge,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oMath>
                </a14:m>
                <a:r>
                  <a:rPr lang="pt-BR" dirty="0"/>
                  <a:t> também não faz parte do cálculo da norma.</a:t>
                </a:r>
              </a:p>
            </p:txBody>
          </p:sp>
        </mc:Choice>
        <mc:Fallback xmlns="">
          <p:sp>
            <p:nvSpPr>
              <p:cNvPr id="3" name="Espaço Reservado para Conteúdo 2">
                <a:extLst>
                  <a:ext uri="{FF2B5EF4-FFF2-40B4-BE49-F238E27FC236}">
                    <a16:creationId xmlns:a16="http://schemas.microsoft.com/office/drawing/2014/main" id="{B9F4321D-B42D-0104-0880-A4AD4A46194C}"/>
                  </a:ext>
                </a:extLst>
              </p:cNvPr>
              <p:cNvSpPr>
                <a:spLocks noGrp="1" noRot="1" noChangeAspect="1" noMove="1" noResize="1" noEditPoints="1" noAdjustHandles="1" noChangeArrowheads="1" noChangeShapeType="1" noTextEdit="1"/>
              </p:cNvSpPr>
              <p:nvPr>
                <p:ph idx="1"/>
              </p:nvPr>
            </p:nvSpPr>
            <p:spPr>
              <a:xfrm>
                <a:off x="4967111" y="1825624"/>
                <a:ext cx="7111999" cy="5032375"/>
              </a:xfrm>
              <a:blipFill>
                <a:blip r:embed="rId3"/>
                <a:stretch>
                  <a:fillRect l="-1801" t="-2663"/>
                </a:stretch>
              </a:blipFill>
            </p:spPr>
            <p:txBody>
              <a:bodyPr/>
              <a:lstStyle/>
              <a:p>
                <a:r>
                  <a:rPr lang="pt-BR">
                    <a:noFill/>
                  </a:rPr>
                  <a:t> </a:t>
                </a:r>
              </a:p>
            </p:txBody>
          </p:sp>
        </mc:Fallback>
      </mc:AlternateContent>
      <p:pic>
        <p:nvPicPr>
          <p:cNvPr id="4" name="Picture 2" descr="Introduction to Regularization Methods in Deep Learning | by John Kaller |  unpackAI | Medium">
            <a:extLst>
              <a:ext uri="{FF2B5EF4-FFF2-40B4-BE49-F238E27FC236}">
                <a16:creationId xmlns:a16="http://schemas.microsoft.com/office/drawing/2014/main" id="{02C4FD12-C4FB-7AE0-4D4D-F5879EC9962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10" t="5749" r="56564" b="3790"/>
          <a:stretch/>
        </p:blipFill>
        <p:spPr bwMode="auto">
          <a:xfrm>
            <a:off x="982455" y="1825624"/>
            <a:ext cx="2742877" cy="40962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1854383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Regressão LASSO com gradiente descendente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016000" y="1825624"/>
                <a:ext cx="11016342" cy="5032375"/>
              </a:xfrm>
            </p:spPr>
            <p:txBody>
              <a:bodyPr>
                <a:normAutofit fontScale="92500" lnSpcReduction="20000"/>
              </a:bodyPr>
              <a:lstStyle/>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e>
                            <m:sup>
                              <m:r>
                                <a:rPr lang="pt-BR" i="1">
                                  <a:latin typeface="Cambria Math" panose="02040503050406030204" pitchFamily="18" charset="0"/>
                                </a:rPr>
                                <m:t>2</m:t>
                              </m:r>
                            </m:sup>
                          </m:sSup>
                          <m:r>
                            <a:rPr lang="pt-BR" i="1">
                              <a:latin typeface="Cambria Math" panose="02040503050406030204" pitchFamily="18" charset="0"/>
                            </a:rPr>
                            <m:t>+ </m:t>
                          </m:r>
                        </m:e>
                      </m:nary>
                      <m:r>
                        <a:rPr lang="pt-BR" i="1">
                          <a:latin typeface="Cambria Math" panose="02040503050406030204" pitchFamily="18" charset="0"/>
                          <a:ea typeface="Cambria Math" panose="02040503050406030204" pitchFamily="18" charset="0"/>
                        </a:rPr>
                        <m:t>𝜆</m:t>
                      </m:r>
                      <m:nary>
                        <m:naryPr>
                          <m:chr m:val="∑"/>
                          <m:limLoc m:val="subSup"/>
                          <m:ctrlPr>
                            <a:rPr lang="pt-BR" i="1">
                              <a:latin typeface="Cambria Math" panose="02040503050406030204" pitchFamily="18" charset="0"/>
                              <a:ea typeface="Cambria Math" panose="02040503050406030204" pitchFamily="18" charset="0"/>
                            </a:rPr>
                          </m:ctrlPr>
                        </m:naryPr>
                        <m:sub>
                          <m:r>
                            <m:rPr>
                              <m:brk m:alnAt="1"/>
                            </m:rPr>
                            <a:rPr lang="pt-BR" i="1">
                              <a:latin typeface="Cambria Math" panose="02040503050406030204" pitchFamily="18" charset="0"/>
                              <a:ea typeface="Cambria Math" panose="02040503050406030204" pitchFamily="18" charset="0"/>
                            </a:rPr>
                            <m:t>𝑘</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d>
                            <m:dPr>
                              <m:begChr m:val="|"/>
                              <m:endChr m:val="|"/>
                              <m:ctrlPr>
                                <a:rPr lang="pt-BR"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𝑘</m:t>
                                  </m:r>
                                </m:sub>
                              </m:sSub>
                            </m:e>
                          </m:d>
                        </m:e>
                      </m:nary>
                    </m:oMath>
                  </m:oMathPara>
                </a14:m>
                <a:endParaRPr lang="pt-BR" i="1" dirty="0">
                  <a:latin typeface="Cambria Math" panose="02040503050406030204" pitchFamily="18" charset="0"/>
                </a:endParaRPr>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𝑖</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sSub>
                      <m:sSubPr>
                        <m:ctrlPr>
                          <a:rPr lang="pt-BR">
                            <a:latin typeface="Cambria Math" panose="02040503050406030204" pitchFamily="18" charset="0"/>
                            <a:ea typeface="Cambria Math" panose="02040503050406030204" pitchFamily="18" charset="0"/>
                          </a:rPr>
                        </m:ctrlPr>
                      </m:sSubPr>
                      <m:e>
                        <m:r>
                          <m:rPr>
                            <m:sty m:val="p"/>
                          </m:rPr>
                          <a:rPr lang="pt-BR">
                            <a:latin typeface="Cambria Math" panose="02040503050406030204" pitchFamily="18" charset="0"/>
                            <a:ea typeface="Cambria Math" panose="02040503050406030204" pitchFamily="18" charset="0"/>
                          </a:rPr>
                          <m:t>sign</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𝑘</m:t>
                        </m:r>
                      </m:sub>
                    </m:sSub>
                  </m:oMath>
                </a14:m>
                <a:r>
                  <a:rPr lang="nl-BE" dirty="0"/>
                  <a:t>) ,  </a:t>
                </a:r>
                <a14:m>
                  <m:oMath xmlns:m="http://schemas.openxmlformats.org/officeDocument/2006/math">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0</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𝑖</m:t>
                        </m:r>
                      </m:e>
                    </m:d>
                  </m:oMath>
                </a14:m>
                <a:r>
                  <a:rPr lang="nl-BE" dirty="0"/>
                  <a:t> , </a:t>
                </a:r>
                <a:endParaRPr lang="pt-BR" dirty="0"/>
              </a:p>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i="0">
                          <a:latin typeface="Cambria Math" panose="02040503050406030204" pitchFamily="18" charset="0"/>
                        </a:rPr>
                        <m:t> +</m:t>
                      </m:r>
                      <m:r>
                        <a:rPr lang="pt-BR" i="1">
                          <a:latin typeface="Cambria Math" panose="02040503050406030204" pitchFamily="18" charset="0"/>
                        </a:rPr>
                        <m:t> </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m:rPr>
                          <m:sty m:val="p"/>
                        </m:rPr>
                        <a:rPr lang="pt-BR">
                          <a:latin typeface="Cambria Math" panose="02040503050406030204" pitchFamily="18" charset="0"/>
                          <a:ea typeface="Cambria Math" panose="02040503050406030204" pitchFamily="18" charset="0"/>
                        </a:rPr>
                        <m:t>sign</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r>
                        <m:rPr>
                          <m:nor/>
                        </m:rPr>
                        <a:rPr lang="pt-BR" i="0">
                          <a:latin typeface="Cambria Math" panose="02040503050406030204" pitchFamily="18" charset="0"/>
                        </a:rPr>
                        <m:t>)</m:t>
                      </m:r>
                      <m:r>
                        <m:rPr>
                          <m:nor/>
                        </m:rPr>
                        <a:rPr lang="pt-BR" i="0" dirty="0"/>
                        <m:t>, </m:t>
                      </m:r>
                    </m:oMath>
                  </m:oMathPara>
                </a14:m>
                <a:endParaRPr lang="pt-BR" dirty="0"/>
              </a:p>
              <a:p>
                <a:pPr marL="0" indent="0">
                  <a:buNone/>
                </a:pPr>
                <a:r>
                  <a:rPr lang="pt-BR" dirty="0"/>
                  <a:t>onde </a:t>
                </a:r>
                <a14:m>
                  <m:oMath xmlns:m="http://schemas.openxmlformats.org/officeDocument/2006/math">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oMath>
                </a14:m>
                <a:r>
                  <a:rPr lang="pt-BR" dirty="0"/>
                  <a:t> é uma </a:t>
                </a:r>
                <a:r>
                  <a:rPr lang="pt-BR" b="1" i="1" dirty="0"/>
                  <a:t>matriz identidade</a:t>
                </a:r>
                <a:r>
                  <a:rPr lang="pt-BR" dirty="0"/>
                  <a:t> de tamanho </a:t>
                </a:r>
                <a14:m>
                  <m:oMath xmlns:m="http://schemas.openxmlformats.org/officeDocument/2006/math">
                    <m:r>
                      <a:rPr lang="pt-BR" i="1">
                        <a:latin typeface="Cambria Math" panose="02040503050406030204" pitchFamily="18" charset="0"/>
                      </a:rPr>
                      <m:t>𝐾</m:t>
                    </m:r>
                    <m:r>
                      <a:rPr lang="pt-BR">
                        <a:latin typeface="Cambria Math" panose="02040503050406030204" pitchFamily="18" charset="0"/>
                      </a:rPr>
                      <m:t>+1</m:t>
                    </m:r>
                  </m:oMath>
                </a14:m>
                <a:r>
                  <a:rPr lang="pt-BR" dirty="0"/>
                  <a:t>, onde o primeiro elemento é feito igual a 0 e </a:t>
                </a:r>
                <a:r>
                  <a:rPr lang="pt-BR" i="1" dirty="0"/>
                  <a:t>a </a:t>
                </a:r>
                <a:r>
                  <a:rPr lang="pt-BR" b="1" i="1" dirty="0"/>
                  <a:t>função sign </a:t>
                </a:r>
                <a:r>
                  <a:rPr lang="pt-BR" dirty="0"/>
                  <a:t>ou </a:t>
                </a:r>
                <a:r>
                  <a:rPr lang="pt-BR" b="1" i="1" dirty="0"/>
                  <a:t>signum</a:t>
                </a:r>
                <a:r>
                  <a:rPr lang="pt-BR" dirty="0"/>
                  <a:t> é uma função matemática ímpar que extrai o sinal de um número real.</a:t>
                </a:r>
              </a:p>
              <a:p>
                <a:r>
                  <a:rPr lang="pt-BR" dirty="0"/>
                  <a:t>A </a:t>
                </a:r>
                <a:r>
                  <a:rPr lang="pt-BR" b="1" i="1" dirty="0"/>
                  <a:t>equação de atualização dos pesos </a:t>
                </a:r>
                <a:r>
                  <a:rPr lang="pt-BR" dirty="0"/>
                  <a:t>é dada por</a:t>
                </a:r>
              </a:p>
              <a:p>
                <a:pPr marL="0" indent="0" algn="ctr">
                  <a:buNone/>
                </a:pPr>
                <a14:m>
                  <m:oMath xmlns:m="http://schemas.openxmlformats.org/officeDocument/2006/math">
                    <m:r>
                      <a:rPr lang="pt-BR" b="1" i="1">
                        <a:latin typeface="Cambria Math" panose="02040503050406030204" pitchFamily="18" charset="0"/>
                        <a:ea typeface="Cambria Math" panose="02040503050406030204" pitchFamily="18" charset="0"/>
                      </a:rPr>
                      <m:t>𝒂</m:t>
                    </m:r>
                  </m:oMath>
                </a14:m>
                <a:r>
                  <a:rPr lang="pt-BR" dirty="0"/>
                  <a:t> =</a:t>
                </a:r>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𝒂</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𝛼</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i="0">
                            <a:latin typeface="Cambria Math" panose="02040503050406030204" pitchFamily="18" charset="0"/>
                          </a:rPr>
                          <m:t>−</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𝜆</m:t>
                            </m:r>
                          </m:num>
                          <m:den>
                            <m:r>
                              <a:rPr lang="pt-BR" i="1">
                                <a:latin typeface="Cambria Math" panose="02040503050406030204" pitchFamily="18" charset="0"/>
                              </a:rPr>
                              <m:t>2</m:t>
                            </m:r>
                          </m:den>
                        </m:f>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m:rPr>
                            <m:sty m:val="p"/>
                          </m:rPr>
                          <a:rPr lang="pt-BR">
                            <a:latin typeface="Cambria Math" panose="02040503050406030204" pitchFamily="18" charset="0"/>
                            <a:ea typeface="Cambria Math" panose="02040503050406030204" pitchFamily="18" charset="0"/>
                          </a:rPr>
                          <m:t>sign</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r>
                          <m:rPr>
                            <m:nor/>
                          </m:rPr>
                          <a:rPr lang="pt-BR" i="0">
                            <a:latin typeface="Cambria Math" panose="02040503050406030204" pitchFamily="18" charset="0"/>
                          </a:rPr>
                          <m:t>)</m:t>
                        </m:r>
                      </m:e>
                    </m:d>
                    <m:r>
                      <m:rPr>
                        <m:nor/>
                      </m:rPr>
                      <a:rPr lang="pt-BR" i="0">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016000" y="1825624"/>
                <a:ext cx="11016342" cy="5032375"/>
              </a:xfrm>
              <a:blipFill>
                <a:blip r:embed="rId3"/>
                <a:stretch>
                  <a:fillRect l="-996" r="-277"/>
                </a:stretch>
              </a:blipFill>
            </p:spPr>
            <p:txBody>
              <a:bodyPr/>
              <a:lstStyle/>
              <a:p>
                <a:r>
                  <a:rPr lang="pt-BR">
                    <a:noFill/>
                  </a:rPr>
                  <a:t> </a:t>
                </a:r>
              </a:p>
            </p:txBody>
          </p:sp>
        </mc:Fallback>
      </mc:AlternateContent>
      <p:pic>
        <p:nvPicPr>
          <p:cNvPr id="4" name="Picture 2" descr="https://upload.wikimedia.org/wikipedia/commons/thumb/4/4f/Signum_function.svg/300px-Signum_function.svg.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8970" y="3106604"/>
            <a:ext cx="1545373" cy="124145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147471" y="2528664"/>
            <a:ext cx="1376146" cy="307777"/>
          </a:xfrm>
          <a:prstGeom prst="rect">
            <a:avLst/>
          </a:prstGeom>
        </p:spPr>
        <p:txBody>
          <a:bodyPr wrap="none">
            <a:spAutoFit/>
          </a:bodyPr>
          <a:lstStyle/>
          <a:p>
            <a:r>
              <a:rPr lang="pt-BR" sz="1400" dirty="0">
                <a:solidFill>
                  <a:srgbClr val="202122"/>
                </a:solidFill>
              </a:rPr>
              <a:t>indeterminação </a:t>
            </a:r>
            <a:endParaRPr lang="pt-BR" sz="1400" dirty="0"/>
          </a:p>
        </p:txBody>
      </p:sp>
      <p:cxnSp>
        <p:nvCxnSpPr>
          <p:cNvPr id="6" name="Straight Arrow Connector 5"/>
          <p:cNvCxnSpPr>
            <a:stCxn id="5" idx="2"/>
          </p:cNvCxnSpPr>
          <p:nvPr/>
        </p:nvCxnSpPr>
        <p:spPr>
          <a:xfrm>
            <a:off x="835544" y="2836441"/>
            <a:ext cx="246519" cy="7673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Rectangle 10"/>
              <p:cNvSpPr/>
              <p:nvPr/>
            </p:nvSpPr>
            <p:spPr>
              <a:xfrm>
                <a:off x="114282" y="4348054"/>
                <a:ext cx="2533963" cy="457882"/>
              </a:xfrm>
              <a:prstGeom prst="rect">
                <a:avLst/>
              </a:prstGeom>
            </p:spPr>
            <p:txBody>
              <a:bodyPr wrap="none">
                <a:spAutoFit/>
              </a:bodyPr>
              <a:lstStyle/>
              <a:p>
                <a14:m>
                  <m:oMath xmlns:m="http://schemas.openxmlformats.org/officeDocument/2006/math">
                    <m:f>
                      <m:fPr>
                        <m:ctrlPr>
                          <a:rPr lang="pt-BR" sz="1600" i="1" dirty="0" smtClean="0">
                            <a:solidFill>
                              <a:srgbClr val="202122"/>
                            </a:solidFill>
                            <a:latin typeface="Cambria Math" panose="02040503050406030204" pitchFamily="18" charset="0"/>
                          </a:rPr>
                        </m:ctrlPr>
                      </m:fPr>
                      <m:num>
                        <m:r>
                          <a:rPr lang="pt-BR" sz="1600" i="1" dirty="0" smtClean="0">
                            <a:solidFill>
                              <a:srgbClr val="202122"/>
                            </a:solidFill>
                            <a:latin typeface="Cambria Math" panose="02040503050406030204" pitchFamily="18" charset="0"/>
                          </a:rPr>
                          <m:t>𝜕</m:t>
                        </m:r>
                        <m:d>
                          <m:dPr>
                            <m:begChr m:val="|"/>
                            <m:endChr m:val="|"/>
                            <m:ctrlPr>
                              <a:rPr lang="pt-BR" sz="1600" b="0" i="1" dirty="0" smtClean="0">
                                <a:solidFill>
                                  <a:srgbClr val="202122"/>
                                </a:solidFill>
                                <a:latin typeface="Cambria Math" panose="02040503050406030204" pitchFamily="18" charset="0"/>
                              </a:rPr>
                            </m:ctrlPr>
                          </m:dPr>
                          <m:e>
                            <m:r>
                              <a:rPr lang="pt-BR" sz="1600" b="0" i="1" dirty="0" smtClean="0">
                                <a:solidFill>
                                  <a:srgbClr val="202122"/>
                                </a:solidFill>
                                <a:latin typeface="Cambria Math" panose="02040503050406030204" pitchFamily="18" charset="0"/>
                              </a:rPr>
                              <m:t>𝑥</m:t>
                            </m:r>
                          </m:e>
                        </m:d>
                      </m:num>
                      <m:den>
                        <m:r>
                          <a:rPr lang="pt-BR" sz="1600" i="1" dirty="0" smtClean="0">
                            <a:solidFill>
                              <a:srgbClr val="202122"/>
                            </a:solidFill>
                            <a:latin typeface="Cambria Math" panose="02040503050406030204" pitchFamily="18" charset="0"/>
                          </a:rPr>
                          <m:t>𝜕</m:t>
                        </m:r>
                        <m:r>
                          <a:rPr lang="pt-BR" sz="1600" i="1" dirty="0" smtClean="0">
                            <a:solidFill>
                              <a:srgbClr val="202122"/>
                            </a:solidFill>
                            <a:latin typeface="Cambria Math" panose="02040503050406030204" pitchFamily="18" charset="0"/>
                          </a:rPr>
                          <m:t>𝑥</m:t>
                        </m:r>
                      </m:den>
                    </m:f>
                    <m:r>
                      <a:rPr lang="pt-BR" sz="1600" b="0" i="1" dirty="0" smtClean="0">
                        <a:solidFill>
                          <a:srgbClr val="202122"/>
                        </a:solidFill>
                        <a:latin typeface="Cambria Math" panose="02040503050406030204" pitchFamily="18" charset="0"/>
                      </a:rPr>
                      <m:t>=</m:t>
                    </m:r>
                    <m:r>
                      <m:rPr>
                        <m:sty m:val="p"/>
                      </m:rPr>
                      <a:rPr lang="pt-BR" sz="1600" b="0" i="0" dirty="0" smtClean="0">
                        <a:solidFill>
                          <a:srgbClr val="202122"/>
                        </a:solidFill>
                        <a:latin typeface="Cambria Math" panose="02040503050406030204" pitchFamily="18" charset="0"/>
                      </a:rPr>
                      <m:t>sign</m:t>
                    </m:r>
                    <m:d>
                      <m:dPr>
                        <m:ctrlPr>
                          <a:rPr lang="pt-BR" sz="1600" b="0" i="1" dirty="0" smtClean="0">
                            <a:solidFill>
                              <a:srgbClr val="202122"/>
                            </a:solidFill>
                            <a:latin typeface="Cambria Math" panose="02040503050406030204" pitchFamily="18" charset="0"/>
                          </a:rPr>
                        </m:ctrlPr>
                      </m:dPr>
                      <m:e>
                        <m:r>
                          <a:rPr lang="pt-BR" sz="1600" b="0" i="1" dirty="0" smtClean="0">
                            <a:solidFill>
                              <a:srgbClr val="202122"/>
                            </a:solidFill>
                            <a:latin typeface="Cambria Math" panose="02040503050406030204" pitchFamily="18" charset="0"/>
                          </a:rPr>
                          <m:t>𝑥</m:t>
                        </m:r>
                      </m:e>
                    </m:d>
                    <m:r>
                      <a:rPr lang="pt-BR" sz="1600" b="0" i="0" dirty="0" smtClean="0">
                        <a:solidFill>
                          <a:srgbClr val="202122"/>
                        </a:solidFill>
                        <a:latin typeface="Cambria Math" panose="02040503050406030204" pitchFamily="18" charset="0"/>
                      </a:rPr>
                      <m:t>, </m:t>
                    </m:r>
                    <m:r>
                      <m:rPr>
                        <m:sty m:val="p"/>
                      </m:rPr>
                      <a:rPr lang="pt-BR" sz="1600" b="0" i="0" dirty="0" smtClean="0">
                        <a:solidFill>
                          <a:srgbClr val="202122"/>
                        </a:solidFill>
                        <a:latin typeface="Cambria Math" panose="02040503050406030204" pitchFamily="18" charset="0"/>
                      </a:rPr>
                      <m:t>para</m:t>
                    </m:r>
                    <m:r>
                      <a:rPr lang="pt-BR" sz="1600" b="0" i="0" dirty="0" smtClean="0">
                        <a:solidFill>
                          <a:srgbClr val="202122"/>
                        </a:solidFill>
                        <a:latin typeface="Cambria Math" panose="02040503050406030204" pitchFamily="18" charset="0"/>
                      </a:rPr>
                      <m:t> </m:t>
                    </m:r>
                    <m:r>
                      <a:rPr lang="pt-BR" sz="1600" b="0" i="1" dirty="0" smtClean="0">
                        <a:solidFill>
                          <a:srgbClr val="202122"/>
                        </a:solidFill>
                        <a:latin typeface="Cambria Math" panose="02040503050406030204" pitchFamily="18" charset="0"/>
                      </a:rPr>
                      <m:t>𝑥</m:t>
                    </m:r>
                    <m:r>
                      <a:rPr lang="pt-BR" sz="1600" b="0" i="0" dirty="0" smtClean="0">
                        <a:solidFill>
                          <a:srgbClr val="202122"/>
                        </a:solidFill>
                        <a:latin typeface="Cambria Math" panose="02040503050406030204" pitchFamily="18" charset="0"/>
                      </a:rPr>
                      <m:t> </m:t>
                    </m:r>
                    <m:r>
                      <a:rPr lang="pt-BR" sz="1600" b="0" i="1" dirty="0" smtClean="0">
                        <a:solidFill>
                          <a:srgbClr val="202122"/>
                        </a:solidFill>
                        <a:latin typeface="Cambria Math" panose="02040503050406030204" pitchFamily="18" charset="0"/>
                        <a:ea typeface="Cambria Math" panose="02040503050406030204" pitchFamily="18" charset="0"/>
                      </a:rPr>
                      <m:t>≠0.</m:t>
                    </m:r>
                  </m:oMath>
                </a14:m>
                <a:r>
                  <a:rPr lang="pt-BR" sz="1600" dirty="0"/>
                  <a:t> </a:t>
                </a:r>
              </a:p>
            </p:txBody>
          </p:sp>
        </mc:Choice>
        <mc:Fallback xmlns="">
          <p:sp>
            <p:nvSpPr>
              <p:cNvPr id="11" name="Rectangle 10"/>
              <p:cNvSpPr>
                <a:spLocks noRot="1" noChangeAspect="1" noMove="1" noResize="1" noEditPoints="1" noAdjustHandles="1" noChangeArrowheads="1" noChangeShapeType="1" noTextEdit="1"/>
              </p:cNvSpPr>
              <p:nvPr/>
            </p:nvSpPr>
            <p:spPr>
              <a:xfrm>
                <a:off x="114282" y="4348054"/>
                <a:ext cx="2533963" cy="457882"/>
              </a:xfrm>
              <a:prstGeom prst="rect">
                <a:avLst/>
              </a:prstGeom>
              <a:blipFill rotWithShape="0">
                <a:blip r:embed="rId5"/>
                <a:stretch>
                  <a:fillRect b="-1333"/>
                </a:stretch>
              </a:blipFill>
            </p:spPr>
            <p:txBody>
              <a:bodyPr/>
              <a:lstStyle/>
              <a:p>
                <a:r>
                  <a:rPr lang="pt-BR">
                    <a:noFill/>
                  </a:rPr>
                  <a:t> </a:t>
                </a:r>
              </a:p>
            </p:txBody>
          </p:sp>
        </mc:Fallback>
      </mc:AlternateContent>
      <p:sp>
        <p:nvSpPr>
          <p:cNvPr id="13" name="TextBox 12"/>
          <p:cNvSpPr txBox="1"/>
          <p:nvPr/>
        </p:nvSpPr>
        <p:spPr>
          <a:xfrm>
            <a:off x="9613313" y="5619690"/>
            <a:ext cx="2024060" cy="461665"/>
          </a:xfrm>
          <a:prstGeom prst="rect">
            <a:avLst/>
          </a:prstGeom>
          <a:noFill/>
        </p:spPr>
        <p:txBody>
          <a:bodyPr wrap="square" rtlCol="0">
            <a:spAutoFit/>
          </a:bodyPr>
          <a:lstStyle/>
          <a:p>
            <a:pPr algn="ctr"/>
            <a:r>
              <a:rPr lang="pt-BR" sz="1200" dirty="0"/>
              <a:t>Implementações práticas consideram que sign(0) = 0.</a:t>
            </a:r>
          </a:p>
        </p:txBody>
      </p:sp>
      <p:cxnSp>
        <p:nvCxnSpPr>
          <p:cNvPr id="14" name="Straight Arrow Connector 13"/>
          <p:cNvCxnSpPr/>
          <p:nvPr/>
        </p:nvCxnSpPr>
        <p:spPr>
          <a:xfrm flipH="1">
            <a:off x="8580474" y="5866594"/>
            <a:ext cx="1176340" cy="32316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7"/>
          <p:cNvCxnSpPr/>
          <p:nvPr/>
        </p:nvCxnSpPr>
        <p:spPr>
          <a:xfrm flipH="1">
            <a:off x="9218428" y="3692021"/>
            <a:ext cx="956506" cy="612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0"/>
          <p:cNvSpPr txBox="1"/>
          <p:nvPr/>
        </p:nvSpPr>
        <p:spPr>
          <a:xfrm>
            <a:off x="10205645" y="4082522"/>
            <a:ext cx="1793192" cy="646331"/>
          </a:xfrm>
          <a:prstGeom prst="rect">
            <a:avLst/>
          </a:prstGeom>
          <a:noFill/>
        </p:spPr>
        <p:txBody>
          <a:bodyPr wrap="square" rtlCol="0">
            <a:spAutoFit/>
          </a:bodyPr>
          <a:lstStyle/>
          <a:p>
            <a:pPr algn="ctr"/>
            <a:r>
              <a:rPr lang="pt-BR" sz="1200" b="1" dirty="0"/>
              <a:t>Equação geral</a:t>
            </a:r>
            <a:r>
              <a:rPr lang="pt-BR" sz="1200" dirty="0"/>
              <a:t> do vetor gradiente em formato matricial.</a:t>
            </a:r>
          </a:p>
        </p:txBody>
      </p:sp>
      <p:cxnSp>
        <p:nvCxnSpPr>
          <p:cNvPr id="17" name="Straight Arrow Connector 11"/>
          <p:cNvCxnSpPr/>
          <p:nvPr/>
        </p:nvCxnSpPr>
        <p:spPr>
          <a:xfrm flipH="1">
            <a:off x="9377916" y="4313355"/>
            <a:ext cx="797017" cy="12042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2"/>
          <p:cNvSpPr txBox="1"/>
          <p:nvPr/>
        </p:nvSpPr>
        <p:spPr>
          <a:xfrm>
            <a:off x="10174932" y="3461188"/>
            <a:ext cx="1605942" cy="461665"/>
          </a:xfrm>
          <a:prstGeom prst="rect">
            <a:avLst/>
          </a:prstGeom>
          <a:noFill/>
        </p:spPr>
        <p:txBody>
          <a:bodyPr wrap="square" rtlCol="0">
            <a:spAutoFit/>
          </a:bodyPr>
          <a:lstStyle/>
          <a:p>
            <a:pPr algn="ctr"/>
            <a:r>
              <a:rPr lang="pt-BR" sz="1200" dirty="0"/>
              <a:t>Gradiente com relação ao peso de bias</a:t>
            </a:r>
          </a:p>
        </p:txBody>
      </p:sp>
    </p:spTree>
    <p:extLst>
      <p:ext uri="{BB962C8B-B14F-4D97-AF65-F5344CB8AC3E}">
        <p14:creationId xmlns:p14="http://schemas.microsoft.com/office/powerpoint/2010/main" val="396620089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94103"/>
            <a:ext cx="11219821" cy="729157"/>
          </a:xfrm>
        </p:spPr>
        <p:txBody>
          <a:bodyPr vert="horz" lIns="91440" tIns="45720" rIns="91440" bIns="45720" rtlCol="0" anchor="ctr">
            <a:normAutofit fontScale="90000"/>
          </a:bodyPr>
          <a:lstStyle/>
          <a:p>
            <a:r>
              <a:rPr lang="pt-BR" dirty="0"/>
              <a:t>Por que a regressão LASSO produz modelos esparsos?</a:t>
            </a:r>
          </a:p>
        </p:txBody>
      </p:sp>
      <mc:AlternateContent xmlns:mc="http://schemas.openxmlformats.org/markup-compatibility/2006" xmlns:a14="http://schemas.microsoft.com/office/drawing/2010/main">
        <mc:Choice Requires="a14">
          <p:sp>
            <p:nvSpPr>
              <p:cNvPr id="8" name="Content Placeholder 2"/>
              <p:cNvSpPr>
                <a:spLocks noGrp="1"/>
              </p:cNvSpPr>
              <p:nvPr>
                <p:ph idx="1"/>
              </p:nvPr>
            </p:nvSpPr>
            <p:spPr>
              <a:xfrm>
                <a:off x="465512" y="3755788"/>
                <a:ext cx="11592509" cy="3102212"/>
              </a:xfrm>
            </p:spPr>
            <p:txBody>
              <a:bodyPr>
                <a:normAutofit fontScale="85000" lnSpcReduction="20000"/>
              </a:bodyPr>
              <a:lstStyle/>
              <a:p>
                <a:pPr>
                  <a:buFont typeface="Wingdings" panose="05000000000000000000" pitchFamily="2" charset="2"/>
                  <a:buChar char="§"/>
                </a:pPr>
                <a:r>
                  <a:rPr lang="pt-BR" dirty="0"/>
                  <a:t>A figura mostra as </a:t>
                </a:r>
                <a:r>
                  <a:rPr lang="pt-BR" b="1" i="1" dirty="0"/>
                  <a:t>curvas de nível </a:t>
                </a:r>
                <a:r>
                  <a:rPr lang="pt-BR" dirty="0"/>
                  <a:t>da </a:t>
                </a:r>
                <a:r>
                  <a:rPr lang="pt-BR" b="1" i="1" dirty="0"/>
                  <a:t>função de erro </a:t>
                </a:r>
                <a:r>
                  <a:rPr lang="pt-BR" dirty="0"/>
                  <a:t>de um problema de regressão linear com dois pesos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oMath>
                </a14:m>
                <a:r>
                  <a:rPr lang="pt-BR" dirty="0"/>
                  <a:t>) e as regiões do </a:t>
                </a:r>
                <a:r>
                  <a:rPr lang="pt-BR" b="1" i="1" dirty="0"/>
                  <a:t>espaço de hipóteses </a:t>
                </a:r>
                <a:r>
                  <a:rPr lang="pt-BR" dirty="0"/>
                  <a:t>onde as restrições L1 e L2 são válidas.</a:t>
                </a:r>
              </a:p>
              <a:p>
                <a:pPr>
                  <a:buFont typeface="Wingdings" panose="05000000000000000000" pitchFamily="2" charset="2"/>
                  <a:buChar char="§"/>
                </a:pPr>
                <a:r>
                  <a:rPr lang="pt-BR" dirty="0"/>
                  <a:t>A solução para ambos os métodos corresponde ao ponto, dentro da </a:t>
                </a:r>
                <a:r>
                  <a:rPr lang="pt-BR" b="1" i="1" dirty="0"/>
                  <a:t>região de factibilidade</a:t>
                </a:r>
                <a:r>
                  <a:rPr lang="pt-BR" dirty="0"/>
                  <a:t> </a:t>
                </a:r>
                <a:r>
                  <a:rPr lang="pt-BR" b="1" i="1" dirty="0"/>
                  <a:t>mais próximo do ponto de mínimo </a:t>
                </a:r>
                <a:r>
                  <a:rPr lang="pt-BR" dirty="0"/>
                  <a:t>da função de erro.</a:t>
                </a:r>
              </a:p>
              <a:p>
                <a:pPr>
                  <a:buFont typeface="Wingdings" panose="05000000000000000000" pitchFamily="2" charset="2"/>
                  <a:buChar char="§"/>
                </a:pPr>
                <a:r>
                  <a:rPr lang="pt-BR" dirty="0"/>
                  <a:t>É fácil ver que para uma posição arbitrária do mínimo, será comum que um </a:t>
                </a:r>
                <a:r>
                  <a:rPr lang="pt-BR" b="1" i="1" dirty="0"/>
                  <a:t>vértice </a:t>
                </a:r>
                <a:r>
                  <a:rPr lang="pt-BR" dirty="0"/>
                  <a:t>(ou cantos) do quadrado seja o ponto mais próximo do ponto de mínimo da função de erro.</a:t>
                </a:r>
              </a:p>
              <a:p>
                <a:pPr>
                  <a:buFont typeface="Wingdings" panose="05000000000000000000" pitchFamily="2" charset="2"/>
                  <a:buChar char="§"/>
                </a:pPr>
                <a:r>
                  <a:rPr lang="pt-BR" dirty="0"/>
                  <a:t>Os </a:t>
                </a:r>
                <a:r>
                  <a:rPr lang="pt-BR" b="1" i="1" dirty="0"/>
                  <a:t>vértices </a:t>
                </a:r>
                <a:r>
                  <a:rPr lang="pt-BR" dirty="0"/>
                  <a:t>na </a:t>
                </a:r>
                <a:r>
                  <a:rPr lang="pt-BR" b="1" i="1" dirty="0"/>
                  <a:t>região de factibilidade </a:t>
                </a:r>
                <a:r>
                  <a:rPr lang="pt-BR" dirty="0"/>
                  <a:t>da restrição L1 aumentam as chances de alguns pesos assumirem o valor zero, pois são eles que possuem valor igual a zero em alguma das dimensões (i.e., pesos).</a:t>
                </a:r>
              </a:p>
            </p:txBody>
          </p:sp>
        </mc:Choice>
        <mc:Fallback xmlns="">
          <p:sp>
            <p:nvSpPr>
              <p:cNvPr id="8" name="Content Placeholder 2"/>
              <p:cNvSpPr>
                <a:spLocks noGrp="1" noRot="1" noChangeAspect="1" noMove="1" noResize="1" noEditPoints="1" noAdjustHandles="1" noChangeArrowheads="1" noChangeShapeType="1" noTextEdit="1"/>
              </p:cNvSpPr>
              <p:nvPr>
                <p:ph idx="1"/>
              </p:nvPr>
            </p:nvSpPr>
            <p:spPr>
              <a:xfrm>
                <a:off x="465512" y="3755788"/>
                <a:ext cx="11592509" cy="3102212"/>
              </a:xfrm>
              <a:blipFill rotWithShape="0">
                <a:blip r:embed="rId3"/>
                <a:stretch>
                  <a:fillRect l="-683" t="-4519" r="-1262" b="-2750"/>
                </a:stretch>
              </a:blipFill>
            </p:spPr>
            <p:txBody>
              <a:bodyPr/>
              <a:lstStyle/>
              <a:p>
                <a:r>
                  <a:rPr lang="pt-BR">
                    <a:noFill/>
                  </a:rPr>
                  <a:t> </a:t>
                </a:r>
              </a:p>
            </p:txBody>
          </p:sp>
        </mc:Fallback>
      </mc:AlternateContent>
      <p:sp>
        <p:nvSpPr>
          <p:cNvPr id="3" name="TextBox 2"/>
          <p:cNvSpPr txBox="1"/>
          <p:nvPr/>
        </p:nvSpPr>
        <p:spPr>
          <a:xfrm>
            <a:off x="5050209" y="1034947"/>
            <a:ext cx="861646" cy="369332"/>
          </a:xfrm>
          <a:prstGeom prst="rect">
            <a:avLst/>
          </a:prstGeom>
          <a:noFill/>
        </p:spPr>
        <p:txBody>
          <a:bodyPr wrap="square" rtlCol="0">
            <a:spAutoFit/>
          </a:bodyPr>
          <a:lstStyle/>
          <a:p>
            <a:r>
              <a:rPr lang="pt-BR" dirty="0"/>
              <a:t>LASSO</a:t>
            </a:r>
          </a:p>
        </p:txBody>
      </p:sp>
      <p:sp>
        <p:nvSpPr>
          <p:cNvPr id="9" name="TextBox 8"/>
          <p:cNvSpPr txBox="1"/>
          <p:nvPr/>
        </p:nvSpPr>
        <p:spPr>
          <a:xfrm>
            <a:off x="8077936" y="1034947"/>
            <a:ext cx="861646" cy="369332"/>
          </a:xfrm>
          <a:prstGeom prst="rect">
            <a:avLst/>
          </a:prstGeom>
          <a:noFill/>
        </p:spPr>
        <p:txBody>
          <a:bodyPr wrap="square" rtlCol="0">
            <a:spAutoFit/>
          </a:bodyPr>
          <a:lstStyle/>
          <a:p>
            <a:r>
              <a:rPr lang="pt-BR" dirty="0"/>
              <a:t>Ridge</a:t>
            </a:r>
          </a:p>
        </p:txBody>
      </p:sp>
      <mc:AlternateContent xmlns:mc="http://schemas.openxmlformats.org/markup-compatibility/2006" xmlns:a14="http://schemas.microsoft.com/office/drawing/2010/main">
        <mc:Choice Requires="a14">
          <p:sp>
            <p:nvSpPr>
              <p:cNvPr id="4" name="TextBox 3"/>
              <p:cNvSpPr txBox="1"/>
              <p:nvPr/>
            </p:nvSpPr>
            <p:spPr>
              <a:xfrm>
                <a:off x="116115" y="1154932"/>
                <a:ext cx="3077028" cy="2308324"/>
              </a:xfrm>
              <a:prstGeom prst="rect">
                <a:avLst/>
              </a:prstGeom>
              <a:noFill/>
            </p:spPr>
            <p:txBody>
              <a:bodyPr wrap="square" rtlCol="0">
                <a:spAutoFit/>
              </a:bodyPr>
              <a:lstStyle/>
              <a:p>
                <a:pPr marL="285750" indent="-285750">
                  <a:buFont typeface="Arial" panose="020B0604020202020204" pitchFamily="34" charset="0"/>
                  <a:buChar char="•"/>
                </a:pPr>
                <a:r>
                  <a:rPr lang="pt-BR" dirty="0"/>
                  <a:t>O quadrado azul representa o conjunto de pontos </a:t>
                </a:r>
                <a14:m>
                  <m:oMath xmlns:m="http://schemas.openxmlformats.org/officeDocument/2006/math">
                    <m:r>
                      <a:rPr lang="pt-BR" b="1" i="1" smtClean="0">
                        <a:latin typeface="Cambria Math" panose="02040503050406030204" pitchFamily="18" charset="0"/>
                      </a:rPr>
                      <m:t>𝒂</m:t>
                    </m:r>
                  </m:oMath>
                </a14:m>
                <a:r>
                  <a:rPr lang="pt-BR" dirty="0"/>
                  <a:t> no espaço de pesos bidimensional que tenham norma L1 menor do que </a:t>
                </a:r>
                <a14:m>
                  <m:oMath xmlns:m="http://schemas.openxmlformats.org/officeDocument/2006/math">
                    <m:r>
                      <a:rPr lang="pt-BR" i="1">
                        <a:latin typeface="Cambria Math" panose="02040503050406030204" pitchFamily="18" charset="0"/>
                      </a:rPr>
                      <m:t>𝑐</m:t>
                    </m:r>
                  </m:oMath>
                </a14:m>
                <a:r>
                  <a:rPr lang="pt-BR" dirty="0"/>
                  <a:t>. </a:t>
                </a:r>
              </a:p>
              <a:p>
                <a:pPr marL="285750" indent="-285750">
                  <a:buFont typeface="Arial" panose="020B0604020202020204" pitchFamily="34" charset="0"/>
                  <a:buChar char="•"/>
                </a:pPr>
                <a:r>
                  <a:rPr lang="pt-BR" dirty="0"/>
                  <a:t>A solução deve estar dentro do quadrado, o mais próximo do mínimo.</a:t>
                </a:r>
              </a:p>
            </p:txBody>
          </p:sp>
        </mc:Choice>
        <mc:Fallback xmlns="">
          <p:sp>
            <p:nvSpPr>
              <p:cNvPr id="4" name="TextBox 3"/>
              <p:cNvSpPr txBox="1">
                <a:spLocks noRot="1" noChangeAspect="1" noMove="1" noResize="1" noEditPoints="1" noAdjustHandles="1" noChangeArrowheads="1" noChangeShapeType="1" noTextEdit="1"/>
              </p:cNvSpPr>
              <p:nvPr/>
            </p:nvSpPr>
            <p:spPr>
              <a:xfrm>
                <a:off x="116115" y="1154932"/>
                <a:ext cx="3077028" cy="2308324"/>
              </a:xfrm>
              <a:prstGeom prst="rect">
                <a:avLst/>
              </a:prstGeom>
              <a:blipFill rotWithShape="0">
                <a:blip r:embed="rId4"/>
                <a:stretch>
                  <a:fillRect l="-1188" t="-1319" r="-2772" b="-31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8881508" y="1151188"/>
                <a:ext cx="3248539" cy="2308324"/>
              </a:xfrm>
              <a:prstGeom prst="rect">
                <a:avLst/>
              </a:prstGeom>
              <a:noFill/>
            </p:spPr>
            <p:txBody>
              <a:bodyPr wrap="square" rtlCol="0">
                <a:spAutoFit/>
              </a:bodyPr>
              <a:lstStyle/>
              <a:p>
                <a:pPr marL="285750" indent="-285750">
                  <a:buFont typeface="Arial" panose="020B0604020202020204" pitchFamily="34" charset="0"/>
                  <a:buChar char="•"/>
                </a:pPr>
                <a:r>
                  <a:rPr lang="pt-BR" dirty="0"/>
                  <a:t>O círculo azul representa o conjunto de pontos </a:t>
                </a:r>
                <a14:m>
                  <m:oMath xmlns:m="http://schemas.openxmlformats.org/officeDocument/2006/math">
                    <m:r>
                      <a:rPr lang="pt-BR" b="1" i="1" smtClean="0">
                        <a:latin typeface="Cambria Math" panose="02040503050406030204" pitchFamily="18" charset="0"/>
                      </a:rPr>
                      <m:t>𝒂</m:t>
                    </m:r>
                  </m:oMath>
                </a14:m>
                <a:r>
                  <a:rPr lang="pt-BR" dirty="0"/>
                  <a:t> no espaço de pesos bidimensional que tenham norma L2 menor do que </a:t>
                </a:r>
                <a14:m>
                  <m:oMath xmlns:m="http://schemas.openxmlformats.org/officeDocument/2006/math">
                    <m:r>
                      <a:rPr lang="pt-BR" b="0" i="1" smtClean="0">
                        <a:latin typeface="Cambria Math" panose="02040503050406030204" pitchFamily="18" charset="0"/>
                      </a:rPr>
                      <m:t>𝑐</m:t>
                    </m:r>
                  </m:oMath>
                </a14:m>
                <a:r>
                  <a:rPr lang="pt-BR" dirty="0"/>
                  <a:t>. </a:t>
                </a:r>
              </a:p>
              <a:p>
                <a:pPr marL="285750" indent="-285750">
                  <a:buFont typeface="Arial" panose="020B0604020202020204" pitchFamily="34" charset="0"/>
                  <a:buChar char="•"/>
                </a:pPr>
                <a:r>
                  <a:rPr lang="pt-BR" dirty="0"/>
                  <a:t>A solução deve estar dentro do círculo, o mais próximo do mínimo.</a:t>
                </a:r>
              </a:p>
            </p:txBody>
          </p:sp>
        </mc:Choice>
        <mc:Fallback xmlns="">
          <p:sp>
            <p:nvSpPr>
              <p:cNvPr id="10" name="TextBox 9"/>
              <p:cNvSpPr txBox="1">
                <a:spLocks noRot="1" noChangeAspect="1" noMove="1" noResize="1" noEditPoints="1" noAdjustHandles="1" noChangeArrowheads="1" noChangeShapeType="1" noTextEdit="1"/>
              </p:cNvSpPr>
              <p:nvPr/>
            </p:nvSpPr>
            <p:spPr>
              <a:xfrm>
                <a:off x="8881508" y="1151188"/>
                <a:ext cx="3248539" cy="2308324"/>
              </a:xfrm>
              <a:prstGeom prst="rect">
                <a:avLst/>
              </a:prstGeom>
              <a:blipFill rotWithShape="0">
                <a:blip r:embed="rId5"/>
                <a:stretch>
                  <a:fillRect l="-1313" t="-1583" r="-1689" b="-3166"/>
                </a:stretch>
              </a:blipFill>
            </p:spPr>
            <p:txBody>
              <a:bodyPr/>
              <a:lstStyle/>
              <a:p>
                <a:r>
                  <a:rPr lang="en-US">
                    <a:noFill/>
                  </a:rPr>
                  <a:t> </a:t>
                </a:r>
              </a:p>
            </p:txBody>
          </p:sp>
        </mc:Fallback>
      </mc:AlternateContent>
      <p:pic>
        <p:nvPicPr>
          <p:cNvPr id="11" name="Picture 10"/>
          <p:cNvPicPr>
            <a:picLocks noChangeAspect="1"/>
          </p:cNvPicPr>
          <p:nvPr/>
        </p:nvPicPr>
        <p:blipFill rotWithShape="1">
          <a:blip r:embed="rId6">
            <a:extLst>
              <a:ext uri="{28A0092B-C50C-407E-A947-70E740481C1C}">
                <a14:useLocalDpi xmlns:a14="http://schemas.microsoft.com/office/drawing/2010/main" val="0"/>
              </a:ext>
            </a:extLst>
          </a:blip>
          <a:srcRect l="2653" t="3125" r="3605"/>
          <a:stretch/>
        </p:blipFill>
        <p:spPr>
          <a:xfrm>
            <a:off x="6055763" y="1050242"/>
            <a:ext cx="2681837" cy="2443936"/>
          </a:xfrm>
          <a:prstGeom prst="rect">
            <a:avLst/>
          </a:prstGeom>
        </p:spPr>
      </p:pic>
      <p:pic>
        <p:nvPicPr>
          <p:cNvPr id="6" name="Picture 5"/>
          <p:cNvPicPr>
            <a:picLocks noChangeAspect="1"/>
          </p:cNvPicPr>
          <p:nvPr/>
        </p:nvPicPr>
        <p:blipFill rotWithShape="1">
          <a:blip r:embed="rId7">
            <a:extLst>
              <a:ext uri="{28A0092B-C50C-407E-A947-70E740481C1C}">
                <a14:useLocalDpi xmlns:a14="http://schemas.microsoft.com/office/drawing/2010/main" val="0"/>
              </a:ext>
            </a:extLst>
          </a:blip>
          <a:srcRect l="2696" t="3219" r="2945" b="1"/>
          <a:stretch/>
        </p:blipFill>
        <p:spPr>
          <a:xfrm>
            <a:off x="3074800" y="1112186"/>
            <a:ext cx="2693378" cy="2386329"/>
          </a:xfrm>
          <a:prstGeom prst="rect">
            <a:avLst/>
          </a:prstGeom>
        </p:spPr>
      </p:pic>
      <p:sp>
        <p:nvSpPr>
          <p:cNvPr id="5" name="CaixaDeTexto 4"/>
          <p:cNvSpPr txBox="1"/>
          <p:nvPr/>
        </p:nvSpPr>
        <p:spPr>
          <a:xfrm>
            <a:off x="5466303" y="1597933"/>
            <a:ext cx="914400" cy="523220"/>
          </a:xfrm>
          <a:prstGeom prst="rect">
            <a:avLst/>
          </a:prstGeom>
          <a:noFill/>
        </p:spPr>
        <p:txBody>
          <a:bodyPr wrap="square" rtlCol="0">
            <a:spAutoFit/>
          </a:bodyPr>
          <a:lstStyle/>
          <a:p>
            <a:pPr algn="ctr"/>
            <a:r>
              <a:rPr lang="pt-BR" sz="1400" dirty="0"/>
              <a:t>pontos de mínimo</a:t>
            </a:r>
            <a:endParaRPr lang="en-US" sz="1400" dirty="0"/>
          </a:p>
        </p:txBody>
      </p:sp>
      <p:cxnSp>
        <p:nvCxnSpPr>
          <p:cNvPr id="12" name="Conector de seta reta 11"/>
          <p:cNvCxnSpPr>
            <a:stCxn id="5" idx="3"/>
          </p:cNvCxnSpPr>
          <p:nvPr/>
        </p:nvCxnSpPr>
        <p:spPr>
          <a:xfrm>
            <a:off x="6380703" y="1859543"/>
            <a:ext cx="834013" cy="14007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14"/>
          <p:cNvCxnSpPr>
            <a:stCxn id="5" idx="1"/>
          </p:cNvCxnSpPr>
          <p:nvPr/>
        </p:nvCxnSpPr>
        <p:spPr>
          <a:xfrm flipH="1">
            <a:off x="4471517" y="1859543"/>
            <a:ext cx="994786" cy="1802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9441696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Limitações</a:t>
            </a:r>
          </a:p>
        </p:txBody>
      </p:sp>
      <p:sp>
        <p:nvSpPr>
          <p:cNvPr id="3" name="Espaço Reservado para Conteúdo 2"/>
          <p:cNvSpPr>
            <a:spLocks noGrp="1"/>
          </p:cNvSpPr>
          <p:nvPr>
            <p:ph idx="1"/>
          </p:nvPr>
        </p:nvSpPr>
        <p:spPr>
          <a:xfrm>
            <a:off x="838200" y="1825624"/>
            <a:ext cx="11165958" cy="5032375"/>
          </a:xfrm>
        </p:spPr>
        <p:txBody>
          <a:bodyPr>
            <a:normAutofit fontScale="92500" lnSpcReduction="10000"/>
          </a:bodyPr>
          <a:lstStyle/>
          <a:p>
            <a:r>
              <a:rPr lang="pt-BR" dirty="0"/>
              <a:t>Por não fazer </a:t>
            </a:r>
            <a:r>
              <a:rPr lang="pt-BR" b="1" i="1" dirty="0"/>
              <a:t>seleção de atributos</a:t>
            </a:r>
            <a:r>
              <a:rPr lang="pt-BR" dirty="0"/>
              <a:t>, a regressão Ridge resulta em um modelo:</a:t>
            </a:r>
          </a:p>
          <a:p>
            <a:pPr lvl="1">
              <a:buFont typeface="Wingdings" panose="05000000000000000000" pitchFamily="2" charset="2"/>
              <a:buChar char="§"/>
            </a:pPr>
            <a:r>
              <a:rPr lang="pt-BR" b="1" i="1" dirty="0"/>
              <a:t>Com baixa </a:t>
            </a:r>
            <a:r>
              <a:rPr lang="pt-BR" b="1" i="1" dirty="0" err="1"/>
              <a:t>interpretabilidade</a:t>
            </a:r>
            <a:r>
              <a:rPr lang="pt-BR" dirty="0"/>
              <a:t>: não se consegue determinar quais atributos são e não são importantes para a predição.</a:t>
            </a:r>
          </a:p>
          <a:p>
            <a:pPr lvl="1">
              <a:buFont typeface="Wingdings" panose="05000000000000000000" pitchFamily="2" charset="2"/>
              <a:buChar char="§"/>
            </a:pPr>
            <a:r>
              <a:rPr lang="pt-BR" b="1" i="1" dirty="0"/>
              <a:t>Complexo</a:t>
            </a:r>
            <a:r>
              <a:rPr lang="pt-BR" dirty="0"/>
              <a:t>: por </a:t>
            </a:r>
            <a:r>
              <a:rPr lang="pt-BR" b="1" i="1" dirty="0"/>
              <a:t>manter todos os pesos no modelo, necessita de uma maior quantidade de cálculos</a:t>
            </a:r>
            <a:r>
              <a:rPr lang="pt-BR" dirty="0"/>
              <a:t> para realizar predições, se tornando computacionalmente intensiva quando se lida com um grande número de atributos.</a:t>
            </a:r>
          </a:p>
          <a:p>
            <a:r>
              <a:rPr lang="pt-BR" dirty="0"/>
              <a:t>A regressão LASSO:</a:t>
            </a:r>
          </a:p>
          <a:p>
            <a:pPr lvl="1">
              <a:buFont typeface="Wingdings" panose="05000000000000000000" pitchFamily="2" charset="2"/>
              <a:buChar char="§"/>
            </a:pPr>
            <a:r>
              <a:rPr lang="pt-BR" b="1" i="1" dirty="0"/>
              <a:t>Pode não selecionar o melhor atributo quando há forte correlação positiva</a:t>
            </a:r>
            <a:r>
              <a:rPr lang="pt-BR" dirty="0"/>
              <a:t> entre dois ou mais atributos.  </a:t>
            </a:r>
          </a:p>
          <a:p>
            <a:pPr lvl="1">
              <a:buFont typeface="Wingdings" panose="05000000000000000000" pitchFamily="2" charset="2"/>
              <a:buChar char="§"/>
            </a:pPr>
            <a:r>
              <a:rPr lang="pt-BR" dirty="0"/>
              <a:t>Se o </a:t>
            </a:r>
            <a:r>
              <a:rPr lang="pt-BR" b="1" i="1" dirty="0"/>
              <a:t>fator de regularização não for ideal</a:t>
            </a:r>
            <a:r>
              <a:rPr lang="pt-BR" dirty="0"/>
              <a:t>, pode levar a um </a:t>
            </a:r>
            <a:r>
              <a:rPr lang="pt-BR" b="1" i="1" dirty="0"/>
              <a:t>modelo muito simples </a:t>
            </a:r>
            <a:r>
              <a:rPr lang="pt-BR" dirty="0"/>
              <a:t>que não inclui todas os atributos importantes (devido à seleção de atributos).</a:t>
            </a:r>
          </a:p>
          <a:p>
            <a:pPr lvl="1">
              <a:buFont typeface="Wingdings" panose="05000000000000000000" pitchFamily="2" charset="2"/>
              <a:buChar char="§"/>
            </a:pPr>
            <a:r>
              <a:rPr lang="pt-BR" b="1" i="1" dirty="0"/>
              <a:t>Numericamente instável </a:t>
            </a:r>
            <a:r>
              <a:rPr lang="pt-BR" dirty="0"/>
              <a:t>para valores pequenos do </a:t>
            </a:r>
            <a:r>
              <a:rPr lang="pt-BR" b="1" i="1" dirty="0"/>
              <a:t>fator de regularização, principalmente para casos subdeterminados, i.e., K &gt; N.</a:t>
            </a:r>
            <a:endParaRPr lang="pt-BR" dirty="0"/>
          </a:p>
          <a:p>
            <a:r>
              <a:rPr lang="pt-BR" dirty="0"/>
              <a:t>Nesses casos, a regressão </a:t>
            </a:r>
            <a:r>
              <a:rPr lang="pt-BR" dirty="0" err="1"/>
              <a:t>Elastic</a:t>
            </a:r>
            <a:r>
              <a:rPr lang="pt-BR" dirty="0"/>
              <a:t>-Net é mais indicada, pois minimiza as limitações das duas regressões.</a:t>
            </a:r>
          </a:p>
        </p:txBody>
      </p:sp>
    </p:spTree>
    <p:extLst>
      <p:ext uri="{BB962C8B-B14F-4D97-AF65-F5344CB8AC3E}">
        <p14:creationId xmlns:p14="http://schemas.microsoft.com/office/powerpoint/2010/main" val="420189625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55931"/>
            <a:ext cx="10515600" cy="810532"/>
          </a:xfrm>
        </p:spPr>
        <p:txBody>
          <a:bodyPr/>
          <a:lstStyle/>
          <a:p>
            <a:r>
              <a:rPr lang="pt-BR" i="1" dirty="0" err="1"/>
              <a:t>Elastic</a:t>
            </a:r>
            <a:r>
              <a:rPr lang="pt-BR" i="1" dirty="0"/>
              <a:t>-Net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2330214"/>
                <a:ext cx="11197167" cy="4527786"/>
              </a:xfrm>
            </p:spPr>
            <p:txBody>
              <a:bodyPr>
                <a:normAutofit fontScale="92500" lnSpcReduction="20000"/>
              </a:bodyPr>
              <a:lstStyle/>
              <a:p>
                <a:r>
                  <a:rPr lang="pt-BR" b="1" i="1" dirty="0"/>
                  <a:t>Elastic-net</a:t>
                </a:r>
                <a:r>
                  <a:rPr lang="pt-BR" dirty="0"/>
                  <a:t> é uma regularização que combina as regressões Ridge e LASSO de forma a </a:t>
                </a:r>
                <a:r>
                  <a:rPr lang="pt-BR" b="1" i="1" dirty="0"/>
                  <a:t>resolver as limitações de ambas</a:t>
                </a:r>
                <a:r>
                  <a:rPr lang="pt-BR" dirty="0"/>
                  <a:t>.</a:t>
                </a:r>
              </a:p>
              <a:p>
                <a:r>
                  <a:rPr lang="pt-BR" dirty="0"/>
                  <a:t>Realiza </a:t>
                </a:r>
                <a:r>
                  <a:rPr lang="pt-BR" b="1" i="1" dirty="0"/>
                  <a:t>seleção automática de atributos</a:t>
                </a:r>
                <a:r>
                  <a:rPr lang="pt-BR" dirty="0"/>
                  <a:t> e </a:t>
                </a:r>
                <a:r>
                  <a:rPr lang="pt-BR" b="1" i="1" dirty="0"/>
                  <a:t>regularização</a:t>
                </a:r>
                <a:r>
                  <a:rPr lang="pt-BR" dirty="0"/>
                  <a:t> simultaneamente.</a:t>
                </a:r>
              </a:p>
              <a:p>
                <a:r>
                  <a:rPr lang="pt-BR" dirty="0"/>
                  <a:t>Nada mais é do que uma </a:t>
                </a:r>
                <a:r>
                  <a:rPr lang="pt-BR" b="1" i="1" dirty="0"/>
                  <a:t>combinação linear </a:t>
                </a:r>
                <a:r>
                  <a:rPr lang="pt-BR" dirty="0"/>
                  <a:t>entre as penalizações baseadas nas normas L1 e L2 do vetor de pesos.</a:t>
                </a:r>
              </a:p>
              <a:p>
                <a:pPr marL="0" indent="0" algn="ctr">
                  <a:buNone/>
                </a:pPr>
                <a14:m>
                  <m:oMath xmlns:m="http://schemas.openxmlformats.org/officeDocument/2006/math">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smtClean="0">
                                <a:latin typeface="Cambria Math" panose="02040503050406030204" pitchFamily="18" charset="0"/>
                              </a:rPr>
                              <m:t> </m:t>
                            </m:r>
                            <m:r>
                              <a:rPr lang="pt-BR" b="1" i="1">
                                <a:latin typeface="Cambria Math" panose="02040503050406030204" pitchFamily="18" charset="0"/>
                              </a:rPr>
                              <m:t>∈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d>
                          <m:dPr>
                            <m:ctrlPr>
                              <a:rPr lang="pt-BR" i="1">
                                <a:latin typeface="Cambria Math" panose="02040503050406030204" pitchFamily="18" charset="0"/>
                              </a:rPr>
                            </m:ctrlPr>
                          </m:dPr>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el-GR" b="1" i="1">
                                        <a:latin typeface="Cambria Math" panose="02040503050406030204" pitchFamily="18" charset="0"/>
                                      </a:rPr>
                                      <m:t>𝜱</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d>
                              <m:dPr>
                                <m:begChr m:val="["/>
                                <m:endChr m:val="]"/>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𝜅</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e>
                            </m:d>
                          </m:e>
                        </m:d>
                      </m:e>
                    </m:func>
                  </m:oMath>
                </a14:m>
                <a:r>
                  <a:rPr lang="pt-BR" dirty="0"/>
                  <a:t>,</a:t>
                </a:r>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 </m:t>
                    </m:r>
                    <m:r>
                      <a:rPr lang="pt-BR" i="1">
                        <a:latin typeface="Cambria Math" panose="02040503050406030204" pitchFamily="18" charset="0"/>
                        <a:ea typeface="Cambria Math" panose="02040503050406030204" pitchFamily="18" charset="0"/>
                      </a:rPr>
                      <m:t>𝜖</m:t>
                    </m:r>
                    <m:r>
                      <a:rPr lang="pt-BR" i="1">
                        <a:latin typeface="Cambria Math" panose="02040503050406030204" pitchFamily="18" charset="0"/>
                        <a:ea typeface="Cambria Math" panose="02040503050406030204" pitchFamily="18" charset="0"/>
                      </a:rPr>
                      <m:t> [0, 1]</m:t>
                    </m:r>
                  </m:oMath>
                </a14:m>
                <a:r>
                  <a:rPr lang="pt-BR" dirty="0"/>
                  <a:t> é o </a:t>
                </a:r>
                <a:r>
                  <a:rPr lang="pt-BR" b="1" i="1" dirty="0"/>
                  <a:t>fator de elasticidade </a:t>
                </a:r>
                <a:r>
                  <a:rPr lang="pt-BR" dirty="0"/>
                  <a:t>entre as duas normas, ou seja, estabelece uma </a:t>
                </a:r>
                <a:r>
                  <a:rPr lang="pt-BR" b="1" i="1" dirty="0"/>
                  <a:t>relação de compromisso entre as duas normas</a:t>
                </a:r>
                <a:r>
                  <a:rPr lang="pt-BR" dirty="0"/>
                  <a:t>.</a:t>
                </a:r>
              </a:p>
              <a:p>
                <a:r>
                  <a:rPr lang="pt-BR" dirty="0"/>
                  <a:t>Quando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 0, é equivalente à regressão Ridge, e quando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 1, ela é equivalente a regressão LASSO.</a:t>
                </a:r>
              </a:p>
              <a:p>
                <a:r>
                  <a:rPr lang="pt-BR" dirty="0"/>
                  <a:t>A seleção dos hiperparâmetros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 </m:t>
                    </m:r>
                  </m:oMath>
                </a14:m>
                <a:r>
                  <a:rPr lang="pt-BR" dirty="0"/>
                  <a:t>e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oMath>
                </a14:m>
                <a:r>
                  <a:rPr lang="pt-BR" dirty="0"/>
                  <a:t>pode ser feita por meio de </a:t>
                </a:r>
                <a:r>
                  <a:rPr lang="pt-BR" b="1" i="1" dirty="0"/>
                  <a:t>validação cruzada</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2330214"/>
                <a:ext cx="11197167" cy="4527786"/>
              </a:xfrm>
              <a:blipFill rotWithShape="0">
                <a:blip r:embed="rId3"/>
                <a:stretch>
                  <a:fillRect l="-980" t="-3365" r="-1525"/>
                </a:stretch>
              </a:blipFill>
            </p:spPr>
            <p:txBody>
              <a:bodyPr/>
              <a:lstStyle/>
              <a:p>
                <a:r>
                  <a:rPr lang="pt-BR">
                    <a:noFill/>
                  </a:rPr>
                  <a:t> </a:t>
                </a:r>
              </a:p>
            </p:txBody>
          </p:sp>
        </mc:Fallback>
      </mc:AlternateContent>
      <p:pic>
        <p:nvPicPr>
          <p:cNvPr id="1026" name="Picture 2" descr="https://miro.medium.com/max/761/1*nrWncnoJ4V_BkzEf1pd4MA.png"/>
          <p:cNvPicPr>
            <a:picLocks noChangeAspect="1" noChangeArrowheads="1"/>
          </p:cNvPicPr>
          <p:nvPr/>
        </p:nvPicPr>
        <p:blipFill rotWithShape="1">
          <a:blip r:embed="rId4">
            <a:extLst>
              <a:ext uri="{28A0092B-C50C-407E-A947-70E740481C1C}">
                <a14:useLocalDpi xmlns:a14="http://schemas.microsoft.com/office/drawing/2010/main" val="0"/>
              </a:ext>
            </a:extLst>
          </a:blip>
          <a:srcRect l="2859" t="10764" r="2427" b="3407"/>
          <a:stretch/>
        </p:blipFill>
        <p:spPr bwMode="auto">
          <a:xfrm>
            <a:off x="3993765" y="122613"/>
            <a:ext cx="5276215" cy="2085946"/>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Rectangle 4"/>
              <p:cNvSpPr/>
              <p:nvPr/>
            </p:nvSpPr>
            <p:spPr>
              <a:xfrm>
                <a:off x="9269980" y="597075"/>
                <a:ext cx="2765387" cy="830997"/>
              </a:xfrm>
              <a:prstGeom prst="rect">
                <a:avLst/>
              </a:prstGeom>
            </p:spPr>
            <p:txBody>
              <a:bodyPr wrap="square">
                <a:spAutoFit/>
              </a:bodyPr>
              <a:lstStyle/>
              <a:p>
                <a:r>
                  <a:rPr lang="pt-BR" sz="1600" dirty="0">
                    <a:ea typeface="Cambria Math" panose="02040503050406030204" pitchFamily="18" charset="0"/>
                  </a:rPr>
                  <a:t>O hiperparâmetro </a:t>
                </a:r>
                <a14:m>
                  <m:oMath xmlns:m="http://schemas.openxmlformats.org/officeDocument/2006/math">
                    <m:r>
                      <a:rPr lang="pt-BR" sz="1600" i="1">
                        <a:latin typeface="Cambria Math" panose="02040503050406030204" pitchFamily="18" charset="0"/>
                        <a:ea typeface="Cambria Math" panose="02040503050406030204" pitchFamily="18" charset="0"/>
                      </a:rPr>
                      <m:t>𝜅</m:t>
                    </m:r>
                  </m:oMath>
                </a14:m>
                <a:r>
                  <a:rPr lang="pt-BR" sz="1600" dirty="0"/>
                  <a:t> dita a relação de compromisso entre as duas regularizações.</a:t>
                </a:r>
              </a:p>
            </p:txBody>
          </p:sp>
        </mc:Choice>
        <mc:Fallback xmlns="">
          <p:sp>
            <p:nvSpPr>
              <p:cNvPr id="5" name="Rectangle 4"/>
              <p:cNvSpPr>
                <a:spLocks noRot="1" noChangeAspect="1" noMove="1" noResize="1" noEditPoints="1" noAdjustHandles="1" noChangeArrowheads="1" noChangeShapeType="1" noTextEdit="1"/>
              </p:cNvSpPr>
              <p:nvPr/>
            </p:nvSpPr>
            <p:spPr>
              <a:xfrm>
                <a:off x="9269980" y="597075"/>
                <a:ext cx="2765387" cy="830997"/>
              </a:xfrm>
              <a:prstGeom prst="rect">
                <a:avLst/>
              </a:prstGeom>
              <a:blipFill rotWithShape="0">
                <a:blip r:embed="rId5"/>
                <a:stretch>
                  <a:fillRect l="-1325" t="-2206" b="-8824"/>
                </a:stretch>
              </a:blipFill>
            </p:spPr>
            <p:txBody>
              <a:bodyPr/>
              <a:lstStyle/>
              <a:p>
                <a:r>
                  <a:rPr lang="pt-BR">
                    <a:noFill/>
                  </a:rPr>
                  <a:t> </a:t>
                </a:r>
              </a:p>
            </p:txBody>
          </p:sp>
        </mc:Fallback>
      </mc:AlternateContent>
    </p:spTree>
    <p:extLst>
      <p:ext uri="{BB962C8B-B14F-4D97-AF65-F5344CB8AC3E}">
        <p14:creationId xmlns:p14="http://schemas.microsoft.com/office/powerpoint/2010/main" val="120408615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49013"/>
            <a:ext cx="10515600" cy="737961"/>
          </a:xfrm>
        </p:spPr>
        <p:txBody>
          <a:bodyPr/>
          <a:lstStyle/>
          <a:p>
            <a:r>
              <a:rPr lang="pt-BR" dirty="0"/>
              <a:t>Quando utilizar cada tipo de regressão?</a:t>
            </a:r>
          </a:p>
        </p:txBody>
      </p:sp>
      <p:sp>
        <p:nvSpPr>
          <p:cNvPr id="3" name="Content Placeholder 2"/>
          <p:cNvSpPr>
            <a:spLocks noGrp="1"/>
          </p:cNvSpPr>
          <p:nvPr>
            <p:ph idx="1"/>
          </p:nvPr>
        </p:nvSpPr>
        <p:spPr>
          <a:xfrm>
            <a:off x="838199" y="1286933"/>
            <a:ext cx="11132128" cy="5571067"/>
          </a:xfrm>
        </p:spPr>
        <p:txBody>
          <a:bodyPr>
            <a:normAutofit/>
          </a:bodyPr>
          <a:lstStyle/>
          <a:p>
            <a:r>
              <a:rPr lang="pt-BR" b="1" dirty="0"/>
              <a:t>Regressão Ridge</a:t>
            </a:r>
            <a:r>
              <a:rPr lang="pt-BR" dirty="0"/>
              <a:t>: é um bom começo. No entanto, se você suspeitar que apenas alguns atributos são realmente úteis, você deve preferir LASSO ou Elastic-Net.</a:t>
            </a:r>
          </a:p>
          <a:p>
            <a:r>
              <a:rPr lang="pt-BR" b="1" dirty="0"/>
              <a:t>Regressão LASSO</a:t>
            </a:r>
            <a:r>
              <a:rPr lang="pt-BR" dirty="0"/>
              <a:t>: boa para </a:t>
            </a:r>
            <a:r>
              <a:rPr lang="pt-BR" b="1" i="1" dirty="0"/>
              <a:t>seleção automática de atributos</a:t>
            </a:r>
            <a:r>
              <a:rPr lang="pt-BR" dirty="0"/>
              <a:t>. </a:t>
            </a:r>
          </a:p>
          <a:p>
            <a:pPr lvl="1">
              <a:buFont typeface="Wingdings" panose="05000000000000000000" pitchFamily="2" charset="2"/>
              <a:buChar char="§"/>
            </a:pPr>
            <a:r>
              <a:rPr lang="pt-BR" dirty="0"/>
              <a:t>No entanto, pode se comportar erraticamente se o </a:t>
            </a:r>
            <a:r>
              <a:rPr lang="pt-BR" b="1" i="1" dirty="0"/>
              <a:t>número de atributos, K, for maior que o número de exemplos de treinamento, N</a:t>
            </a:r>
            <a:r>
              <a:rPr lang="pt-BR" dirty="0"/>
              <a:t>. Nesse caso, ele </a:t>
            </a:r>
            <a:r>
              <a:rPr lang="pt-BR" b="1" i="1" dirty="0"/>
              <a:t>encontra no máximo N pesos diferentes de zero</a:t>
            </a:r>
            <a:r>
              <a:rPr lang="pt-BR" dirty="0"/>
              <a:t>, mesmo que os </a:t>
            </a:r>
            <a:r>
              <a:rPr lang="pt-BR" i="1" dirty="0"/>
              <a:t>K</a:t>
            </a:r>
            <a:r>
              <a:rPr lang="pt-BR" dirty="0"/>
              <a:t> atributos sejam relevantes.</a:t>
            </a:r>
          </a:p>
          <a:p>
            <a:pPr lvl="1">
              <a:buFont typeface="Wingdings" panose="05000000000000000000" pitchFamily="2" charset="2"/>
              <a:buChar char="§"/>
            </a:pPr>
            <a:r>
              <a:rPr lang="pt-BR" dirty="0"/>
              <a:t>Se houverem </a:t>
            </a:r>
            <a:r>
              <a:rPr lang="pt-BR" b="1" i="1" dirty="0"/>
              <a:t>atributos fortemente correlacionados entre si</a:t>
            </a:r>
            <a:r>
              <a:rPr lang="pt-BR" dirty="0"/>
              <a:t>, ela </a:t>
            </a:r>
            <a:r>
              <a:rPr lang="pt-BR" b="1" i="1" dirty="0"/>
              <a:t>seleciona um deles aleatoriamente e ignora os demais</a:t>
            </a:r>
            <a:r>
              <a:rPr lang="pt-BR" dirty="0"/>
              <a:t>, o que não é bom para a interpretação do modelo.</a:t>
            </a:r>
          </a:p>
          <a:p>
            <a:pPr lvl="1">
              <a:buFont typeface="Wingdings" panose="05000000000000000000" pitchFamily="2" charset="2"/>
              <a:buChar char="§"/>
            </a:pPr>
            <a:r>
              <a:rPr lang="pt-BR" dirty="0"/>
              <a:t>Nestes casos, deve-se usar a regressão </a:t>
            </a:r>
            <a:r>
              <a:rPr lang="pt-BR" dirty="0" err="1"/>
              <a:t>Elastic</a:t>
            </a:r>
            <a:r>
              <a:rPr lang="pt-BR" dirty="0"/>
              <a:t>-Net.</a:t>
            </a:r>
          </a:p>
        </p:txBody>
      </p:sp>
    </p:spTree>
    <p:extLst>
      <p:ext uri="{BB962C8B-B14F-4D97-AF65-F5344CB8AC3E}">
        <p14:creationId xmlns:p14="http://schemas.microsoft.com/office/powerpoint/2010/main" val="82685464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2AA62-FC8F-1D16-E88D-8C3ADD4382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691348-0647-8E31-A338-714CD525620E}"/>
              </a:ext>
            </a:extLst>
          </p:cNvPr>
          <p:cNvSpPr>
            <a:spLocks noGrp="1"/>
          </p:cNvSpPr>
          <p:nvPr>
            <p:ph type="title"/>
          </p:nvPr>
        </p:nvSpPr>
        <p:spPr>
          <a:xfrm>
            <a:off x="838200" y="249013"/>
            <a:ext cx="10515600" cy="737961"/>
          </a:xfrm>
        </p:spPr>
        <p:txBody>
          <a:bodyPr/>
          <a:lstStyle/>
          <a:p>
            <a:r>
              <a:rPr lang="pt-BR" dirty="0"/>
              <a:t>Quando utilizar cada tipo de regressão?</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D87EA34-8ECE-4144-1EEE-338463F0EF97}"/>
                  </a:ext>
                </a:extLst>
              </p:cNvPr>
              <p:cNvSpPr>
                <a:spLocks noGrp="1"/>
              </p:cNvSpPr>
              <p:nvPr>
                <p:ph idx="1"/>
              </p:nvPr>
            </p:nvSpPr>
            <p:spPr>
              <a:xfrm>
                <a:off x="838199" y="1286933"/>
                <a:ext cx="11132128" cy="5571067"/>
              </a:xfrm>
            </p:spPr>
            <p:txBody>
              <a:bodyPr>
                <a:normAutofit/>
              </a:bodyPr>
              <a:lstStyle/>
              <a:p>
                <a:r>
                  <a:rPr lang="pt-BR" b="1" dirty="0"/>
                  <a:t>Regressão </a:t>
                </a:r>
                <a:r>
                  <a:rPr lang="pt-BR" b="1" dirty="0" err="1"/>
                  <a:t>Elastic</a:t>
                </a:r>
                <a:r>
                  <a:rPr lang="pt-BR" b="1" dirty="0"/>
                  <a:t>-Net</a:t>
                </a:r>
                <a:r>
                  <a:rPr lang="pt-BR" dirty="0"/>
                  <a:t>: é mais versátil que as anteriores, pois o fator de elasticidade,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pode ser ajustado de forma a encontrar uma relação de compromisso entre as normas L1 e L2. </a:t>
                </a:r>
              </a:p>
              <a:p>
                <a:pPr lvl="1">
                  <a:buFont typeface="Wingdings" panose="05000000000000000000" pitchFamily="2" charset="2"/>
                  <a:buChar char="§"/>
                </a:pPr>
                <a:r>
                  <a:rPr lang="pt-BR" dirty="0"/>
                  <a:t>Quando há vários atributos correlacionados entre si, a regressão LASSO provavelmente escolherá um deles aleatoriamente, enquanto o Elastic-Net provavelmente </a:t>
                </a:r>
                <a:r>
                  <a:rPr lang="pt-BR" b="1" i="1" dirty="0"/>
                  <a:t>escolherá todos</a:t>
                </a:r>
                <a:r>
                  <a:rPr lang="pt-BR" dirty="0"/>
                  <a:t>, facilitando a </a:t>
                </a:r>
                <a:r>
                  <a:rPr lang="pt-BR" b="1" i="1" dirty="0"/>
                  <a:t>interpretação do modelo</a:t>
                </a:r>
                <a:r>
                  <a:rPr lang="pt-BR" dirty="0"/>
                  <a:t>.</a:t>
                </a:r>
              </a:p>
              <a:p>
                <a:pPr lvl="1">
                  <a:buFont typeface="Wingdings" panose="05000000000000000000" pitchFamily="2" charset="2"/>
                  <a:buChar char="§"/>
                </a:pPr>
                <a:r>
                  <a:rPr lang="pt-BR" dirty="0"/>
                  <a:t>Uma proporção de 50% (i.e.,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b="0" i="1" smtClean="0">
                        <a:latin typeface="Cambria Math" panose="02040503050406030204" pitchFamily="18" charset="0"/>
                        <a:ea typeface="Cambria Math" panose="02040503050406030204" pitchFamily="18" charset="0"/>
                      </a:rPr>
                      <m:t>=0.5</m:t>
                    </m:r>
                  </m:oMath>
                </a14:m>
                <a:r>
                  <a:rPr lang="pt-BR" dirty="0"/>
                  <a:t>) entre as penalizações L1 e L2 é uma boa escolha inicial para esse parâmetro.</a:t>
                </a:r>
              </a:p>
            </p:txBody>
          </p:sp>
        </mc:Choice>
        <mc:Fallback xmlns="">
          <p:sp>
            <p:nvSpPr>
              <p:cNvPr id="3" name="Content Placeholder 2">
                <a:extLst>
                  <a:ext uri="{FF2B5EF4-FFF2-40B4-BE49-F238E27FC236}">
                    <a16:creationId xmlns:a16="http://schemas.microsoft.com/office/drawing/2014/main" id="{9D87EA34-8ECE-4144-1EEE-338463F0EF97}"/>
                  </a:ext>
                </a:extLst>
              </p:cNvPr>
              <p:cNvSpPr>
                <a:spLocks noGrp="1" noRot="1" noChangeAspect="1" noMove="1" noResize="1" noEditPoints="1" noAdjustHandles="1" noChangeArrowheads="1" noChangeShapeType="1" noTextEdit="1"/>
              </p:cNvSpPr>
              <p:nvPr>
                <p:ph idx="1"/>
              </p:nvPr>
            </p:nvSpPr>
            <p:spPr>
              <a:xfrm>
                <a:off x="838199" y="1286933"/>
                <a:ext cx="11132128" cy="5571067"/>
              </a:xfrm>
              <a:blipFill>
                <a:blip r:embed="rId3"/>
                <a:stretch>
                  <a:fillRect l="-930" t="-1751"/>
                </a:stretch>
              </a:blipFill>
            </p:spPr>
            <p:txBody>
              <a:bodyPr/>
              <a:lstStyle/>
              <a:p>
                <a:r>
                  <a:rPr lang="en-US">
                    <a:noFill/>
                  </a:rPr>
                  <a:t> </a:t>
                </a:r>
              </a:p>
            </p:txBody>
          </p:sp>
        </mc:Fallback>
      </mc:AlternateContent>
    </p:spTree>
    <p:extLst>
      <p:ext uri="{BB962C8B-B14F-4D97-AF65-F5344CB8AC3E}">
        <p14:creationId xmlns:p14="http://schemas.microsoft.com/office/powerpoint/2010/main" val="360398584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ea typeface="+mj-lt"/>
                <a:cs typeface="+mj-lt"/>
              </a:rPr>
              <a:t>Early-</a:t>
            </a:r>
            <a:r>
              <a:rPr lang="pt-BR" dirty="0" err="1">
                <a:ea typeface="+mj-lt"/>
                <a:cs typeface="+mj-lt"/>
              </a:rPr>
              <a:t>stopping</a:t>
            </a:r>
            <a:r>
              <a:rPr lang="pt-BR" dirty="0">
                <a:ea typeface="+mj-lt"/>
                <a:cs typeface="+mj-lt"/>
              </a:rPr>
              <a:t>: Parada antecipada</a:t>
            </a:r>
            <a:endParaRPr lang="pt-BR" dirty="0"/>
          </a:p>
        </p:txBody>
      </p:sp>
      <p:sp>
        <p:nvSpPr>
          <p:cNvPr id="3" name="Content Placeholder 2"/>
          <p:cNvSpPr>
            <a:spLocks noGrp="1"/>
          </p:cNvSpPr>
          <p:nvPr>
            <p:ph idx="1"/>
          </p:nvPr>
        </p:nvSpPr>
        <p:spPr>
          <a:xfrm>
            <a:off x="5457824" y="1825624"/>
            <a:ext cx="6734175" cy="5032375"/>
          </a:xfrm>
        </p:spPr>
        <p:txBody>
          <a:bodyPr>
            <a:normAutofit/>
          </a:bodyPr>
          <a:lstStyle/>
          <a:p>
            <a:r>
              <a:rPr lang="pt-BR" dirty="0">
                <a:ea typeface="+mn-lt"/>
                <a:cs typeface="+mn-lt"/>
              </a:rPr>
              <a:t>O algoritmo do </a:t>
            </a:r>
            <a:r>
              <a:rPr lang="pt-BR" b="1" i="1" dirty="0">
                <a:ea typeface="+mn-lt"/>
                <a:cs typeface="+mn-lt"/>
              </a:rPr>
              <a:t>gradiente descendente</a:t>
            </a:r>
            <a:r>
              <a:rPr lang="pt-BR" dirty="0">
                <a:ea typeface="+mn-lt"/>
                <a:cs typeface="+mn-lt"/>
              </a:rPr>
              <a:t> tende a aprender modelos cada vez mais </a:t>
            </a:r>
            <a:r>
              <a:rPr lang="pt-BR" b="1" i="1" dirty="0">
                <a:ea typeface="+mn-lt"/>
                <a:cs typeface="+mn-lt"/>
              </a:rPr>
              <a:t>complexos</a:t>
            </a:r>
            <a:r>
              <a:rPr lang="pt-BR" dirty="0">
                <a:ea typeface="+mn-lt"/>
                <a:cs typeface="+mn-lt"/>
              </a:rPr>
              <a:t> à medida que o número de épocas aumenta.</a:t>
            </a:r>
          </a:p>
          <a:p>
            <a:pPr lvl="1">
              <a:buFont typeface="Wingdings" panose="05000000000000000000" pitchFamily="2" charset="2"/>
              <a:buChar char="§"/>
            </a:pPr>
            <a:r>
              <a:rPr lang="pt-BR" dirty="0">
                <a:ea typeface="+mn-lt"/>
                <a:cs typeface="+mn-lt"/>
              </a:rPr>
              <a:t>Ou seja, ele se </a:t>
            </a:r>
            <a:r>
              <a:rPr lang="pt-BR" b="1" i="1" dirty="0">
                <a:ea typeface="+mn-lt"/>
                <a:cs typeface="+mn-lt"/>
              </a:rPr>
              <a:t>sobreajusta</a:t>
            </a:r>
            <a:r>
              <a:rPr lang="pt-BR" dirty="0">
                <a:ea typeface="+mn-lt"/>
                <a:cs typeface="+mn-lt"/>
              </a:rPr>
              <a:t> ao conjunto de treinamento ao longo do tempo. </a:t>
            </a:r>
            <a:endParaRPr lang="pt-BR" dirty="0"/>
          </a:p>
          <a:p>
            <a:r>
              <a:rPr lang="pt-BR" dirty="0"/>
              <a:t>Uma forma de se </a:t>
            </a:r>
            <a:r>
              <a:rPr lang="pt-BR" b="1" i="1" dirty="0"/>
              <a:t>regularizar</a:t>
            </a:r>
            <a:r>
              <a:rPr lang="pt-BR" dirty="0"/>
              <a:t> algoritmos de </a:t>
            </a:r>
            <a:r>
              <a:rPr lang="pt-BR" b="1" i="1" dirty="0"/>
              <a:t>aprendizado iterativo</a:t>
            </a:r>
            <a:r>
              <a:rPr lang="pt-BR" dirty="0"/>
              <a:t>, como o </a:t>
            </a:r>
            <a:r>
              <a:rPr lang="pt-BR" b="1" i="1" dirty="0"/>
              <a:t>gradiente descendente</a:t>
            </a:r>
            <a:r>
              <a:rPr lang="pt-BR" dirty="0"/>
              <a:t>, é interromper seu treinamento assim que o </a:t>
            </a:r>
            <a:r>
              <a:rPr lang="pt-BR" b="1" i="1" dirty="0"/>
              <a:t>erro de validação </a:t>
            </a:r>
            <a:r>
              <a:rPr lang="pt-BR" dirty="0"/>
              <a:t>comece a crescer sistematicamente.</a:t>
            </a:r>
          </a:p>
        </p:txBody>
      </p:sp>
      <p:pic>
        <p:nvPicPr>
          <p:cNvPr id="4" name="Picture 4" descr="Early Stopping in Practice: an example with Keras and TensorFlow 2.0 | by  B. Chen | Towards Data Scienc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2179" y="2628116"/>
            <a:ext cx="4108870" cy="26082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022431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418AF-3036-F161-1FF9-6A27441E9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639BFA-229B-7127-1F96-31668420945A}"/>
              </a:ext>
            </a:extLst>
          </p:cNvPr>
          <p:cNvSpPr>
            <a:spLocks noGrp="1"/>
          </p:cNvSpPr>
          <p:nvPr>
            <p:ph type="title"/>
          </p:nvPr>
        </p:nvSpPr>
        <p:spPr/>
        <p:txBody>
          <a:bodyPr/>
          <a:lstStyle/>
          <a:p>
            <a:r>
              <a:rPr lang="pt-BR" dirty="0">
                <a:ea typeface="+mj-lt"/>
                <a:cs typeface="+mj-lt"/>
              </a:rPr>
              <a:t>Early-</a:t>
            </a:r>
            <a:r>
              <a:rPr lang="pt-BR" dirty="0" err="1">
                <a:ea typeface="+mj-lt"/>
                <a:cs typeface="+mj-lt"/>
              </a:rPr>
              <a:t>stopping</a:t>
            </a:r>
            <a:r>
              <a:rPr lang="pt-BR" dirty="0">
                <a:ea typeface="+mj-lt"/>
                <a:cs typeface="+mj-lt"/>
              </a:rPr>
              <a:t>: Parada antecipada</a:t>
            </a:r>
            <a:endParaRPr lang="pt-BR" dirty="0"/>
          </a:p>
        </p:txBody>
      </p:sp>
      <p:sp>
        <p:nvSpPr>
          <p:cNvPr id="3" name="Content Placeholder 2">
            <a:extLst>
              <a:ext uri="{FF2B5EF4-FFF2-40B4-BE49-F238E27FC236}">
                <a16:creationId xmlns:a16="http://schemas.microsoft.com/office/drawing/2014/main" id="{EFAA1ABA-7ACE-DB23-CF74-348BF290443B}"/>
              </a:ext>
            </a:extLst>
          </p:cNvPr>
          <p:cNvSpPr>
            <a:spLocks noGrp="1"/>
          </p:cNvSpPr>
          <p:nvPr>
            <p:ph idx="1"/>
          </p:nvPr>
        </p:nvSpPr>
        <p:spPr>
          <a:xfrm>
            <a:off x="5524500" y="1825624"/>
            <a:ext cx="6667500" cy="5032375"/>
          </a:xfrm>
        </p:spPr>
        <p:txBody>
          <a:bodyPr>
            <a:normAutofit lnSpcReduction="10000"/>
          </a:bodyPr>
          <a:lstStyle/>
          <a:p>
            <a:r>
              <a:rPr lang="pt-BR" dirty="0"/>
              <a:t>Essa abordagem é chamada de </a:t>
            </a:r>
            <a:r>
              <a:rPr lang="pt-BR" b="1" i="1" dirty="0"/>
              <a:t>early-stopping </a:t>
            </a:r>
            <a:r>
              <a:rPr lang="pt-BR" dirty="0"/>
              <a:t>e pode </a:t>
            </a:r>
            <a:r>
              <a:rPr lang="pt-BR" dirty="0">
                <a:cs typeface="Calibri"/>
              </a:rPr>
              <a:t>ser vista como uma </a:t>
            </a:r>
            <a:r>
              <a:rPr lang="pt-BR" b="1" i="1" dirty="0">
                <a:cs typeface="Calibri"/>
              </a:rPr>
              <a:t>regularização temporal</a:t>
            </a:r>
            <a:r>
              <a:rPr lang="pt-BR" dirty="0">
                <a:cs typeface="Calibri"/>
              </a:rPr>
              <a:t>.</a:t>
            </a:r>
            <a:endParaRPr lang="pt-BR" dirty="0"/>
          </a:p>
          <a:p>
            <a:r>
              <a:rPr lang="pt-BR" dirty="0"/>
              <a:t>Assim como as outras abordagens, ela tem o objetivo de evitar o </a:t>
            </a:r>
            <a:r>
              <a:rPr lang="pt-BR" b="1" i="1" dirty="0"/>
              <a:t>sobreajuste</a:t>
            </a:r>
            <a:r>
              <a:rPr lang="pt-BR" dirty="0"/>
              <a:t> de um modelo.</a:t>
            </a:r>
            <a:endParaRPr lang="pt-BR" dirty="0">
              <a:cs typeface="Calibri"/>
            </a:endParaRPr>
          </a:p>
          <a:p>
            <a:r>
              <a:rPr lang="pt-BR" dirty="0">
                <a:ea typeface="+mn-lt"/>
                <a:cs typeface="+mn-lt"/>
              </a:rPr>
              <a:t>Ao se </a:t>
            </a:r>
            <a:r>
              <a:rPr lang="pt-BR" b="1" i="1" dirty="0">
                <a:ea typeface="+mn-lt"/>
                <a:cs typeface="+mn-lt"/>
              </a:rPr>
              <a:t>regularizar no tempo</a:t>
            </a:r>
            <a:r>
              <a:rPr lang="pt-BR" dirty="0">
                <a:ea typeface="+mn-lt"/>
                <a:cs typeface="+mn-lt"/>
              </a:rPr>
              <a:t>, a complexidade do modelo pode ser controlada, melhorando sua </a:t>
            </a:r>
            <a:r>
              <a:rPr lang="pt-BR" b="1" i="1" dirty="0">
                <a:ea typeface="+mn-lt"/>
                <a:cs typeface="+mn-lt"/>
              </a:rPr>
              <a:t>generalização</a:t>
            </a:r>
            <a:r>
              <a:rPr lang="pt-BR" dirty="0">
                <a:ea typeface="+mn-lt"/>
                <a:cs typeface="+mn-lt"/>
              </a:rPr>
              <a:t>.</a:t>
            </a:r>
          </a:p>
          <a:p>
            <a:r>
              <a:rPr lang="pt-BR" dirty="0">
                <a:ea typeface="+mn-lt"/>
                <a:cs typeface="+mn-lt"/>
              </a:rPr>
              <a:t>Mas como saber quando interromper o treinamento? </a:t>
            </a:r>
          </a:p>
          <a:p>
            <a:pPr lvl="1">
              <a:buFont typeface="Wingdings" panose="05000000000000000000" pitchFamily="2" charset="2"/>
              <a:buChar char="§"/>
            </a:pPr>
            <a:r>
              <a:rPr lang="pt-BR" dirty="0">
                <a:ea typeface="+mn-lt"/>
                <a:cs typeface="+mn-lt"/>
              </a:rPr>
              <a:t>Ou seja, qual é o critério de parada?</a:t>
            </a:r>
          </a:p>
        </p:txBody>
      </p:sp>
      <p:pic>
        <p:nvPicPr>
          <p:cNvPr id="4" name="Picture 4" descr="Early Stopping in Practice: an example with Keras and TensorFlow 2.0 | by  B. Chen | Towards Data Science">
            <a:extLst>
              <a:ext uri="{FF2B5EF4-FFF2-40B4-BE49-F238E27FC236}">
                <a16:creationId xmlns:a16="http://schemas.microsoft.com/office/drawing/2014/main" id="{30DEB1CD-B16E-369D-76E1-708BFBBC782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9073" y="2782912"/>
            <a:ext cx="4318940" cy="27415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7608871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227E34-0D58-4F7C-A44C-874904CC31AB}"/>
              </a:ext>
            </a:extLst>
          </p:cNvPr>
          <p:cNvSpPr>
            <a:spLocks noGrp="1"/>
          </p:cNvSpPr>
          <p:nvPr>
            <p:ph type="title"/>
          </p:nvPr>
        </p:nvSpPr>
        <p:spPr/>
        <p:txBody>
          <a:bodyPr/>
          <a:lstStyle/>
          <a:p>
            <a:r>
              <a:rPr lang="pt-BR" i="1" dirty="0">
                <a:ea typeface="+mj-lt"/>
                <a:cs typeface="+mj-lt"/>
              </a:rPr>
              <a:t>Early-</a:t>
            </a:r>
            <a:r>
              <a:rPr lang="pt-BR" i="1" dirty="0" err="1">
                <a:ea typeface="+mj-lt"/>
                <a:cs typeface="+mj-lt"/>
              </a:rPr>
              <a:t>stopping</a:t>
            </a:r>
            <a:r>
              <a:rPr lang="pt-BR" dirty="0">
                <a:ea typeface="+mj-lt"/>
                <a:cs typeface="+mj-lt"/>
              </a:rPr>
              <a:t>: </a:t>
            </a:r>
            <a:r>
              <a:rPr lang="pt-BR" dirty="0">
                <a:ea typeface="+mn-lt"/>
                <a:cs typeface="+mn-lt"/>
              </a:rPr>
              <a:t>critério de parada</a:t>
            </a:r>
            <a:endParaRPr lang="en-US" dirty="0" err="1">
              <a:ea typeface="+mj-lt"/>
              <a:cs typeface="+mj-lt"/>
            </a:endParaRPr>
          </a:p>
        </p:txBody>
      </p:sp>
      <p:sp>
        <p:nvSpPr>
          <p:cNvPr id="3" name="Content Placeholder 2">
            <a:extLst>
              <a:ext uri="{FF2B5EF4-FFF2-40B4-BE49-F238E27FC236}">
                <a16:creationId xmlns:a16="http://schemas.microsoft.com/office/drawing/2014/main" id="{96005A71-5862-4C74-B1AF-2AAB990B557F}"/>
              </a:ext>
            </a:extLst>
          </p:cNvPr>
          <p:cNvSpPr>
            <a:spLocks noGrp="1"/>
          </p:cNvSpPr>
          <p:nvPr>
            <p:ph idx="1"/>
          </p:nvPr>
        </p:nvSpPr>
        <p:spPr>
          <a:xfrm>
            <a:off x="838200" y="1825624"/>
            <a:ext cx="11123428" cy="5032376"/>
          </a:xfrm>
        </p:spPr>
        <p:txBody>
          <a:bodyPr vert="horz" lIns="91440" tIns="45720" rIns="91440" bIns="45720" rtlCol="0" anchor="t">
            <a:normAutofit/>
          </a:bodyPr>
          <a:lstStyle/>
          <a:p>
            <a:r>
              <a:rPr lang="pt-BR" dirty="0">
                <a:ea typeface="+mn-lt"/>
                <a:cs typeface="+mn-lt"/>
              </a:rPr>
              <a:t>Existem duas estratégias para se definir o critério de parada:</a:t>
            </a:r>
            <a:endParaRPr lang="en-US" dirty="0">
              <a:ea typeface="+mn-lt"/>
              <a:cs typeface="+mn-lt"/>
            </a:endParaRPr>
          </a:p>
          <a:p>
            <a:pPr lvl="1">
              <a:buFont typeface="Wingdings" panose="05000000000000000000" pitchFamily="2" charset="2"/>
              <a:buChar char="§"/>
            </a:pPr>
            <a:r>
              <a:rPr lang="pt-BR" sz="2800" dirty="0">
                <a:ea typeface="+mn-lt"/>
                <a:cs typeface="+mn-lt"/>
              </a:rPr>
              <a:t>Interromper o treinamento quando o valor do </a:t>
            </a:r>
            <a:r>
              <a:rPr lang="pt-BR" sz="2800" b="1" dirty="0">
                <a:solidFill>
                  <a:srgbClr val="00B050"/>
                </a:solidFill>
                <a:ea typeface="+mn-lt"/>
                <a:cs typeface="+mn-lt"/>
              </a:rPr>
              <a:t>erro de validação </a:t>
            </a:r>
            <a:r>
              <a:rPr lang="pt-BR" sz="2800" dirty="0">
                <a:ea typeface="+mn-lt"/>
                <a:cs typeface="+mn-lt"/>
              </a:rPr>
              <a:t>aumentar por </a:t>
            </a:r>
            <a:r>
              <a:rPr lang="pt-BR" sz="2800" b="1" dirty="0">
                <a:ea typeface="+mn-lt"/>
                <a:cs typeface="+mn-lt"/>
              </a:rPr>
              <a:t>P</a:t>
            </a:r>
            <a:r>
              <a:rPr lang="pt-BR" sz="2800" dirty="0">
                <a:ea typeface="+mn-lt"/>
                <a:cs typeface="+mn-lt"/>
              </a:rPr>
              <a:t> épocas sucessivas, sendo o parâmetro </a:t>
            </a:r>
            <a:r>
              <a:rPr lang="pt-BR" sz="2800" b="1" dirty="0">
                <a:ea typeface="+mn-lt"/>
                <a:cs typeface="+mn-lt"/>
              </a:rPr>
              <a:t>P</a:t>
            </a:r>
            <a:r>
              <a:rPr lang="pt-BR" sz="2800" dirty="0">
                <a:ea typeface="+mn-lt"/>
                <a:cs typeface="+mn-lt"/>
              </a:rPr>
              <a:t> chamado de </a:t>
            </a:r>
            <a:r>
              <a:rPr lang="pt-BR" sz="2800" b="1" dirty="0">
                <a:ea typeface="+mn-lt"/>
                <a:cs typeface="+mn-lt"/>
              </a:rPr>
              <a:t>paciência</a:t>
            </a:r>
            <a:r>
              <a:rPr lang="pt-BR" sz="2800" dirty="0">
                <a:ea typeface="+mn-lt"/>
                <a:cs typeface="+mn-lt"/>
              </a:rPr>
              <a:t>.</a:t>
            </a:r>
          </a:p>
          <a:p>
            <a:pPr lvl="2">
              <a:buFont typeface="Courier New" panose="02070309020205020404" pitchFamily="49" charset="0"/>
              <a:buChar char="o"/>
            </a:pPr>
            <a:r>
              <a:rPr lang="pt-BR" sz="2400" b="1" dirty="0">
                <a:ea typeface="+mn-lt"/>
                <a:cs typeface="+mn-lt"/>
              </a:rPr>
              <a:t>Problema</a:t>
            </a:r>
            <a:r>
              <a:rPr lang="pt-BR" sz="2400" dirty="0">
                <a:ea typeface="+mn-lt"/>
                <a:cs typeface="+mn-lt"/>
              </a:rPr>
              <a:t>: como o erro de validação pode oscilar bastante (e.g., SGD) e apresentar um comportamento pouco previsível, nem sempre é fácil se desenvolver detectores automáticos de mínimos e encerrar o treinamento.</a:t>
            </a:r>
          </a:p>
          <a:p>
            <a:pPr lvl="1">
              <a:buFont typeface="Wingdings" panose="05000000000000000000" pitchFamily="2" charset="2"/>
              <a:buChar char="§"/>
            </a:pPr>
            <a:r>
              <a:rPr lang="pt-BR" sz="2800" dirty="0">
                <a:ea typeface="+mn-lt"/>
                <a:cs typeface="+mn-lt"/>
              </a:rPr>
              <a:t>Outra estratégia é permitir que o treinamento prossiga por um determinado número de épocas, mas sempre armazenando os pesos associados ao </a:t>
            </a:r>
            <a:r>
              <a:rPr lang="pt-BR" sz="2800" b="1" dirty="0">
                <a:ea typeface="+mn-lt"/>
                <a:cs typeface="+mn-lt"/>
              </a:rPr>
              <a:t>menor erro de validação</a:t>
            </a:r>
            <a:r>
              <a:rPr lang="pt-BR" sz="2800" dirty="0">
                <a:ea typeface="+mn-lt"/>
                <a:cs typeface="+mn-lt"/>
              </a:rPr>
              <a:t>. Ao final do treinamento, os </a:t>
            </a:r>
            <a:r>
              <a:rPr lang="pt-BR" sz="2800" b="1" dirty="0">
                <a:ea typeface="+mn-lt"/>
                <a:cs typeface="+mn-lt"/>
              </a:rPr>
              <a:t>pesos associados ao menor erro de validação são considerados </a:t>
            </a:r>
            <a:r>
              <a:rPr lang="pt-BR" sz="2800" dirty="0">
                <a:ea typeface="+mn-lt"/>
                <a:cs typeface="+mn-lt"/>
              </a:rPr>
              <a:t>para realizar predições com o modelo.</a:t>
            </a:r>
          </a:p>
        </p:txBody>
      </p:sp>
    </p:spTree>
    <p:extLst>
      <p:ext uri="{BB962C8B-B14F-4D97-AF65-F5344CB8AC3E}">
        <p14:creationId xmlns:p14="http://schemas.microsoft.com/office/powerpoint/2010/main" val="2414479644"/>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27053"/>
            <a:ext cx="10515600" cy="898361"/>
          </a:xfrm>
        </p:spPr>
        <p:txBody>
          <a:bodyPr>
            <a:normAutofit/>
          </a:bodyPr>
          <a:lstStyle/>
          <a:p>
            <a:r>
              <a:rPr lang="pt-BR" i="1" dirty="0"/>
              <a:t>Early-stopping</a:t>
            </a:r>
          </a:p>
        </p:txBody>
      </p:sp>
      <mc:AlternateContent xmlns:mc="http://schemas.openxmlformats.org/markup-compatibility/2006" xmlns:a14="http://schemas.microsoft.com/office/drawing/2010/main">
        <mc:Choice Requires="a14">
          <p:sp>
            <p:nvSpPr>
              <p:cNvPr id="6" name="Content Placeholder 2"/>
              <p:cNvSpPr>
                <a:spLocks noGrp="1"/>
              </p:cNvSpPr>
              <p:nvPr>
                <p:ph idx="1"/>
              </p:nvPr>
            </p:nvSpPr>
            <p:spPr>
              <a:xfrm>
                <a:off x="5524500" y="1343392"/>
                <a:ext cx="6667499" cy="5514608"/>
              </a:xfrm>
            </p:spPr>
            <p:txBody>
              <a:bodyPr>
                <a:normAutofit/>
              </a:bodyPr>
              <a:lstStyle/>
              <a:p>
                <a:r>
                  <a:rPr lang="pt-BR" dirty="0"/>
                  <a:t>A figura mostra os erros de treinamento e validação de um modelo de regressão polinomial com grau igual a 90 treinado usando-se o GDE com apenas 70 amostras.</a:t>
                </a:r>
              </a:p>
              <a:p>
                <a:r>
                  <a:rPr lang="pt-BR" dirty="0"/>
                  <a:t>A função observável é dada por</a:t>
                </a:r>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𝑦</m:t>
                          </m:r>
                        </m:e>
                        <m:sub>
                          <m:r>
                            <m:rPr>
                              <m:sty m:val="p"/>
                            </m:rPr>
                            <a:rPr lang="pt-BR">
                              <a:latin typeface="Cambria Math" panose="02040503050406030204" pitchFamily="18" charset="0"/>
                            </a:rPr>
                            <m:t>noisy</m:t>
                          </m:r>
                        </m:sub>
                      </m:sSub>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+0.5</m:t>
                      </m:r>
                      <m:sSup>
                        <m:sSupPr>
                          <m:ctrlPr>
                            <a:rPr lang="pt-BR" i="1">
                              <a:latin typeface="Cambria Math" panose="02040503050406030204" pitchFamily="18" charset="0"/>
                            </a:rPr>
                          </m:ctrlPr>
                        </m:sSupPr>
                        <m:e>
                          <m:r>
                            <a:rPr lang="pt-BR" i="1">
                              <a:latin typeface="Cambria Math" panose="02040503050406030204" pitchFamily="18" charset="0"/>
                            </a:rPr>
                            <m:t>𝑥</m:t>
                          </m:r>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rPr>
                        <m:t>𝑤</m:t>
                      </m:r>
                      <m:r>
                        <a:rPr lang="pt-BR" i="1">
                          <a:latin typeface="Cambria Math" panose="02040503050406030204" pitchFamily="18" charset="0"/>
                        </a:rPr>
                        <m:t>, </m:t>
                      </m:r>
                    </m:oMath>
                  </m:oMathPara>
                </a14:m>
                <a:endParaRPr lang="pt-BR" i="1" dirty="0">
                  <a:latin typeface="Cambria Math" panose="02040503050406030204" pitchFamily="18" charset="0"/>
                </a:endParaRPr>
              </a:p>
              <a:p>
                <a:pPr marL="0" indent="0">
                  <a:buNone/>
                </a:pPr>
                <a:r>
                  <a:rPr lang="pt-BR" dirty="0"/>
                  <a:t>onde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 </m:t>
                    </m:r>
                    <m:r>
                      <a:rPr lang="pt-BR" i="1">
                        <a:latin typeface="Cambria Math" panose="02040503050406030204" pitchFamily="18" charset="0"/>
                      </a:rPr>
                      <m:t>𝑈</m:t>
                    </m:r>
                    <m:d>
                      <m:dPr>
                        <m:ctrlPr>
                          <a:rPr lang="pt-BR" i="1">
                            <a:latin typeface="Cambria Math" panose="02040503050406030204" pitchFamily="18" charset="0"/>
                          </a:rPr>
                        </m:ctrlPr>
                      </m:dPr>
                      <m:e>
                        <m:r>
                          <a:rPr lang="pt-BR" i="1">
                            <a:latin typeface="Cambria Math" panose="02040503050406030204" pitchFamily="18" charset="0"/>
                          </a:rPr>
                          <m:t>−3,3</m:t>
                        </m:r>
                      </m:e>
                    </m:d>
                  </m:oMath>
                </a14:m>
                <a:r>
                  <a:rPr lang="pt-BR" dirty="0"/>
                  <a:t> e </a:t>
                </a:r>
                <a14:m>
                  <m:oMath xmlns:m="http://schemas.openxmlformats.org/officeDocument/2006/math">
                    <m:r>
                      <a:rPr lang="pt-BR" i="1">
                        <a:latin typeface="Cambria Math" panose="02040503050406030204" pitchFamily="18" charset="0"/>
                      </a:rPr>
                      <m:t>𝑤</m:t>
                    </m:r>
                    <m:r>
                      <a:rPr lang="pt-BR" i="1">
                        <a:latin typeface="Cambria Math" panose="02040503050406030204" pitchFamily="18" charset="0"/>
                      </a:rPr>
                      <m:t> ~ </m:t>
                    </m:r>
                    <m:r>
                      <a:rPr lang="pt-BR" i="1">
                        <a:latin typeface="Cambria Math" panose="02040503050406030204" pitchFamily="18" charset="0"/>
                        <a:ea typeface="Cambria Math" panose="02040503050406030204" pitchFamily="18" charset="0"/>
                      </a:rPr>
                      <m:t>𝑁</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0,1</m:t>
                        </m:r>
                      </m:e>
                    </m:d>
                  </m:oMath>
                </a14:m>
                <a:r>
                  <a:rPr lang="pt-BR" dirty="0"/>
                  <a:t>.</a:t>
                </a:r>
              </a:p>
              <a:p>
                <a:r>
                  <a:rPr lang="pt-BR" dirty="0"/>
                  <a:t>A </a:t>
                </a:r>
                <a:r>
                  <a:rPr lang="pt-BR" b="1" dirty="0"/>
                  <a:t>ordem do modelo é muito maior do que a ordem da função verdadeira </a:t>
                </a:r>
                <a:r>
                  <a:rPr lang="pt-BR" dirty="0"/>
                  <a:t>(alta flexibilidade), além de ser maior do que o número de amostras de treinamento (sobreajuste).</a:t>
                </a:r>
              </a:p>
            </p:txBody>
          </p:sp>
        </mc:Choice>
        <mc:Fallback xmlns="">
          <p:sp>
            <p:nvSpPr>
              <p:cNvPr id="6" name="Content Placeholder 2"/>
              <p:cNvSpPr>
                <a:spLocks noGrp="1" noRot="1" noChangeAspect="1" noMove="1" noResize="1" noEditPoints="1" noAdjustHandles="1" noChangeArrowheads="1" noChangeShapeType="1" noTextEdit="1"/>
              </p:cNvSpPr>
              <p:nvPr>
                <p:ph idx="1"/>
              </p:nvPr>
            </p:nvSpPr>
            <p:spPr>
              <a:xfrm>
                <a:off x="5524500" y="1343392"/>
                <a:ext cx="6667499" cy="5514608"/>
              </a:xfrm>
              <a:blipFill>
                <a:blip r:embed="rId3"/>
                <a:stretch>
                  <a:fillRect l="-1828" t="-1768" r="-2377"/>
                </a:stretch>
              </a:blipFill>
            </p:spPr>
            <p:txBody>
              <a:bodyPr/>
              <a:lstStyle/>
              <a:p>
                <a:r>
                  <a:rPr lang="en-US">
                    <a:noFill/>
                  </a:rPr>
                  <a:t> </a:t>
                </a:r>
              </a:p>
            </p:txBody>
          </p:sp>
        </mc:Fallback>
      </mc:AlternateContent>
      <p:pic>
        <p:nvPicPr>
          <p:cNvPr id="4" name="Picture 3"/>
          <p:cNvPicPr>
            <a:picLocks noChangeAspect="1"/>
          </p:cNvPicPr>
          <p:nvPr/>
        </p:nvPicPr>
        <p:blipFill rotWithShape="1">
          <a:blip r:embed="rId4" cstate="print">
            <a:extLst>
              <a:ext uri="{28A0092B-C50C-407E-A947-70E740481C1C}">
                <a14:useLocalDpi xmlns:a14="http://schemas.microsoft.com/office/drawing/2010/main" val="0"/>
              </a:ext>
            </a:extLst>
          </a:blip>
          <a:srcRect l="1814" t="10842" r="9071"/>
          <a:stretch/>
        </p:blipFill>
        <p:spPr>
          <a:xfrm>
            <a:off x="1204786" y="1343392"/>
            <a:ext cx="3660735" cy="2441657"/>
          </a:xfrm>
          <a:prstGeom prst="rect">
            <a:avLst/>
          </a:prstGeom>
        </p:spPr>
      </p:pic>
      <p:pic>
        <p:nvPicPr>
          <p:cNvPr id="7" name="Picture 6"/>
          <p:cNvPicPr>
            <a:picLocks noChangeAspect="1"/>
          </p:cNvPicPr>
          <p:nvPr/>
        </p:nvPicPr>
        <p:blipFill rotWithShape="1">
          <a:blip r:embed="rId5" cstate="print">
            <a:extLst>
              <a:ext uri="{28A0092B-C50C-407E-A947-70E740481C1C}">
                <a14:useLocalDpi xmlns:a14="http://schemas.microsoft.com/office/drawing/2010/main" val="0"/>
              </a:ext>
            </a:extLst>
          </a:blip>
          <a:srcRect l="3854" t="9822" r="9410"/>
          <a:stretch/>
        </p:blipFill>
        <p:spPr>
          <a:xfrm>
            <a:off x="1205490" y="4214429"/>
            <a:ext cx="3665347" cy="2540590"/>
          </a:xfrm>
          <a:prstGeom prst="rect">
            <a:avLst/>
          </a:prstGeom>
        </p:spPr>
      </p:pic>
      <p:sp>
        <p:nvSpPr>
          <p:cNvPr id="8" name="Retângulo 7"/>
          <p:cNvSpPr/>
          <p:nvPr/>
        </p:nvSpPr>
        <p:spPr>
          <a:xfrm>
            <a:off x="8055934" y="3429000"/>
            <a:ext cx="2116766" cy="44132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aixaDeTexto 4"/>
          <p:cNvSpPr txBox="1"/>
          <p:nvPr/>
        </p:nvSpPr>
        <p:spPr>
          <a:xfrm>
            <a:off x="10497878" y="3823697"/>
            <a:ext cx="1379797" cy="276999"/>
          </a:xfrm>
          <a:prstGeom prst="rect">
            <a:avLst/>
          </a:prstGeom>
          <a:noFill/>
        </p:spPr>
        <p:txBody>
          <a:bodyPr wrap="square" rtlCol="0">
            <a:spAutoFit/>
          </a:bodyPr>
          <a:lstStyle/>
          <a:p>
            <a:r>
              <a:rPr lang="pt-BR" sz="1200" dirty="0"/>
              <a:t>Função verdadeira</a:t>
            </a:r>
          </a:p>
        </p:txBody>
      </p:sp>
      <p:cxnSp>
        <p:nvCxnSpPr>
          <p:cNvPr id="10" name="Conector angulado 9"/>
          <p:cNvCxnSpPr>
            <a:cxnSpLocks/>
            <a:stCxn id="8" idx="2"/>
            <a:endCxn id="5" idx="1"/>
          </p:cNvCxnSpPr>
          <p:nvPr/>
        </p:nvCxnSpPr>
        <p:spPr>
          <a:xfrm rot="16200000" flipH="1">
            <a:off x="9760159" y="3224477"/>
            <a:ext cx="91877" cy="1383561"/>
          </a:xfrm>
          <a:prstGeom prst="bentConnector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216410"/>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0F4080-29F1-FBEF-FCCD-15BCE9A0FC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ADB576-C5F6-2436-521C-8978099483B0}"/>
              </a:ext>
            </a:extLst>
          </p:cNvPr>
          <p:cNvSpPr>
            <a:spLocks noGrp="1"/>
          </p:cNvSpPr>
          <p:nvPr>
            <p:ph type="title"/>
          </p:nvPr>
        </p:nvSpPr>
        <p:spPr>
          <a:xfrm>
            <a:off x="838199" y="227053"/>
            <a:ext cx="10515600" cy="898361"/>
          </a:xfrm>
        </p:spPr>
        <p:txBody>
          <a:bodyPr>
            <a:normAutofit/>
          </a:bodyPr>
          <a:lstStyle/>
          <a:p>
            <a:r>
              <a:rPr lang="pt-BR" i="1" dirty="0"/>
              <a:t>Early-stopping</a:t>
            </a:r>
          </a:p>
        </p:txBody>
      </p:sp>
      <p:sp>
        <p:nvSpPr>
          <p:cNvPr id="6" name="Content Placeholder 2">
            <a:extLst>
              <a:ext uri="{FF2B5EF4-FFF2-40B4-BE49-F238E27FC236}">
                <a16:creationId xmlns:a16="http://schemas.microsoft.com/office/drawing/2014/main" id="{544AA3A2-679B-3AA1-CC10-28280789EE1D}"/>
              </a:ext>
            </a:extLst>
          </p:cNvPr>
          <p:cNvSpPr>
            <a:spLocks noGrp="1"/>
          </p:cNvSpPr>
          <p:nvPr>
            <p:ph idx="1"/>
          </p:nvPr>
        </p:nvSpPr>
        <p:spPr>
          <a:xfrm>
            <a:off x="5172075" y="1343392"/>
            <a:ext cx="7019924" cy="5514608"/>
          </a:xfrm>
        </p:spPr>
        <p:txBody>
          <a:bodyPr>
            <a:normAutofit/>
          </a:bodyPr>
          <a:lstStyle/>
          <a:p>
            <a:r>
              <a:rPr lang="pt-BR" dirty="0"/>
              <a:t>À medida que as épocas passam, o algoritmo aprende e seu erro de treinamento diminui, juntamente com o erro de validação. </a:t>
            </a:r>
          </a:p>
          <a:p>
            <a:r>
              <a:rPr lang="pt-BR" dirty="0"/>
              <a:t>No entanto, após aproximadamente 100 épocas, o erro de validação para de diminuir e começa a crescer.</a:t>
            </a:r>
          </a:p>
          <a:p>
            <a:r>
              <a:rPr lang="pt-BR" dirty="0"/>
              <a:t>Isso indica que o modelo começou a </a:t>
            </a:r>
            <a:r>
              <a:rPr lang="pt-BR" b="1" i="1" dirty="0"/>
              <a:t>sobreajustar</a:t>
            </a:r>
            <a:r>
              <a:rPr lang="pt-BR" dirty="0"/>
              <a:t> aos dados de treinamento. </a:t>
            </a:r>
          </a:p>
          <a:p>
            <a:r>
              <a:rPr lang="pt-BR" dirty="0"/>
              <a:t>Com a parada antecipada, usa-se os pesos que resultaram no menor erro de validação ao longo de todo o treinamento, garantindo que o modelo apresente uma boa </a:t>
            </a:r>
            <a:r>
              <a:rPr lang="pt-BR" b="1" i="1" dirty="0"/>
              <a:t>generalização</a:t>
            </a:r>
            <a:r>
              <a:rPr lang="pt-BR" dirty="0"/>
              <a:t>.</a:t>
            </a:r>
          </a:p>
        </p:txBody>
      </p:sp>
      <p:pic>
        <p:nvPicPr>
          <p:cNvPr id="4" name="Picture 3">
            <a:extLst>
              <a:ext uri="{FF2B5EF4-FFF2-40B4-BE49-F238E27FC236}">
                <a16:creationId xmlns:a16="http://schemas.microsoft.com/office/drawing/2014/main" id="{BC513528-9446-C8AA-A136-1A46C8D2F357}"/>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814" t="10842" r="9071"/>
          <a:stretch/>
        </p:blipFill>
        <p:spPr>
          <a:xfrm>
            <a:off x="838199" y="1343392"/>
            <a:ext cx="3660735" cy="2441657"/>
          </a:xfrm>
          <a:prstGeom prst="rect">
            <a:avLst/>
          </a:prstGeom>
        </p:spPr>
      </p:pic>
      <p:pic>
        <p:nvPicPr>
          <p:cNvPr id="7" name="Picture 6">
            <a:extLst>
              <a:ext uri="{FF2B5EF4-FFF2-40B4-BE49-F238E27FC236}">
                <a16:creationId xmlns:a16="http://schemas.microsoft.com/office/drawing/2014/main" id="{3C1D437B-A83C-554E-D000-BDD101D00790}"/>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854" t="9822" r="9410"/>
          <a:stretch/>
        </p:blipFill>
        <p:spPr>
          <a:xfrm>
            <a:off x="838903" y="4214429"/>
            <a:ext cx="3665347" cy="2540590"/>
          </a:xfrm>
          <a:prstGeom prst="rect">
            <a:avLst/>
          </a:prstGeom>
        </p:spPr>
      </p:pic>
    </p:spTree>
    <p:extLst>
      <p:ext uri="{BB962C8B-B14F-4D97-AF65-F5344CB8AC3E}">
        <p14:creationId xmlns:p14="http://schemas.microsoft.com/office/powerpoint/2010/main" val="287535121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F2E4D-5252-BAFC-FDEA-EC63D0F036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586DC0D-9E2B-7FB9-63FD-D89617EA6769}"/>
              </a:ext>
            </a:extLst>
          </p:cNvPr>
          <p:cNvSpPr>
            <a:spLocks noGrp="1"/>
          </p:cNvSpPr>
          <p:nvPr>
            <p:ph idx="1"/>
          </p:nvPr>
        </p:nvSpPr>
        <p:spPr>
          <a:xfrm>
            <a:off x="669471" y="2974433"/>
            <a:ext cx="10853057" cy="909134"/>
          </a:xfrm>
        </p:spPr>
        <p:txBody>
          <a:bodyPr>
            <a:normAutofit/>
          </a:bodyPr>
          <a:lstStyle/>
          <a:p>
            <a:pPr marL="0" indent="0" algn="ctr">
              <a:buNone/>
            </a:pPr>
            <a:r>
              <a:rPr lang="pt-BR" sz="5400" dirty="0"/>
              <a:t>Figuras</a:t>
            </a:r>
          </a:p>
        </p:txBody>
      </p:sp>
    </p:spTree>
    <p:extLst>
      <p:ext uri="{BB962C8B-B14F-4D97-AF65-F5344CB8AC3E}">
        <p14:creationId xmlns:p14="http://schemas.microsoft.com/office/powerpoint/2010/main" val="587432369"/>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3EE36ACD-F81E-F7DC-2A1C-9DB6CB10168C}"/>
              </a:ext>
            </a:extLst>
          </p:cNvPr>
          <p:cNvGrpSpPr/>
          <p:nvPr/>
        </p:nvGrpSpPr>
        <p:grpSpPr>
          <a:xfrm>
            <a:off x="2885285" y="1182134"/>
            <a:ext cx="5640437" cy="4262159"/>
            <a:chOff x="5482823" y="644806"/>
            <a:chExt cx="5640437" cy="4262159"/>
          </a:xfrm>
        </p:grpSpPr>
        <p:cxnSp>
          <p:nvCxnSpPr>
            <p:cNvPr id="5" name="Straight Arrow Connector 4">
              <a:extLst>
                <a:ext uri="{FF2B5EF4-FFF2-40B4-BE49-F238E27FC236}">
                  <a16:creationId xmlns:a16="http://schemas.microsoft.com/office/drawing/2014/main" id="{D9958E20-A01A-5E92-6A88-E1D920ABF1F7}"/>
                </a:ext>
              </a:extLst>
            </p:cNvPr>
            <p:cNvCxnSpPr/>
            <p:nvPr/>
          </p:nvCxnSpPr>
          <p:spPr>
            <a:xfrm>
              <a:off x="6854791" y="3502818"/>
              <a:ext cx="501018" cy="88673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50C1E081-2372-A949-DDA6-03B8790C462F}"/>
                </a:ext>
              </a:extLst>
            </p:cNvPr>
            <p:cNvCxnSpPr/>
            <p:nvPr/>
          </p:nvCxnSpPr>
          <p:spPr>
            <a:xfrm flipH="1">
              <a:off x="9054972" y="3513655"/>
              <a:ext cx="413575" cy="79770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675DDFED-9018-08B2-9F0A-8827A7AB810D}"/>
                </a:ext>
              </a:extLst>
            </p:cNvPr>
            <p:cNvGrpSpPr/>
            <p:nvPr/>
          </p:nvGrpSpPr>
          <p:grpSpPr>
            <a:xfrm rot="10800000">
              <a:off x="6769100" y="644806"/>
              <a:ext cx="2806700" cy="4067687"/>
              <a:chOff x="5943600" y="2032000"/>
              <a:chExt cx="2806700" cy="4067687"/>
            </a:xfrm>
          </p:grpSpPr>
          <p:sp>
            <p:nvSpPr>
              <p:cNvPr id="19" name="Oval 18">
                <a:extLst>
                  <a:ext uri="{FF2B5EF4-FFF2-40B4-BE49-F238E27FC236}">
                    <a16:creationId xmlns:a16="http://schemas.microsoft.com/office/drawing/2014/main" id="{4B77E867-BEE8-B776-807C-83D9CB19DC30}"/>
                  </a:ext>
                </a:extLst>
              </p:cNvPr>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Rectangle 19">
                <a:extLst>
                  <a:ext uri="{FF2B5EF4-FFF2-40B4-BE49-F238E27FC236}">
                    <a16:creationId xmlns:a16="http://schemas.microsoft.com/office/drawing/2014/main" id="{072466AA-6003-8E40-CDAF-9CAE3A542D9D}"/>
                  </a:ext>
                </a:extLst>
              </p:cNvPr>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8" name="Flowchart: Connector 7">
              <a:extLst>
                <a:ext uri="{FF2B5EF4-FFF2-40B4-BE49-F238E27FC236}">
                  <a16:creationId xmlns:a16="http://schemas.microsoft.com/office/drawing/2014/main" id="{EC2ADF97-4143-28AB-F1EF-A4E3E9DE915D}"/>
                </a:ext>
              </a:extLst>
            </p:cNvPr>
            <p:cNvSpPr/>
            <p:nvPr/>
          </p:nvSpPr>
          <p:spPr>
            <a:xfrm>
              <a:off x="7062438" y="3876205"/>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Flowchart: Connector 8">
              <a:extLst>
                <a:ext uri="{FF2B5EF4-FFF2-40B4-BE49-F238E27FC236}">
                  <a16:creationId xmlns:a16="http://schemas.microsoft.com/office/drawing/2014/main" id="{CE026B1A-65C6-20B0-B60B-83652C2C51E3}"/>
                </a:ext>
              </a:extLst>
            </p:cNvPr>
            <p:cNvSpPr/>
            <p:nvPr/>
          </p:nvSpPr>
          <p:spPr>
            <a:xfrm>
              <a:off x="9236075" y="381274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0" name="Straight Arrow Connector 9">
              <a:extLst>
                <a:ext uri="{FF2B5EF4-FFF2-40B4-BE49-F238E27FC236}">
                  <a16:creationId xmlns:a16="http://schemas.microsoft.com/office/drawing/2014/main" id="{BC74AAD6-04C9-8200-AF91-D2BF489CA1D6}"/>
                </a:ext>
              </a:extLst>
            </p:cNvPr>
            <p:cNvCxnSpPr/>
            <p:nvPr/>
          </p:nvCxnSpPr>
          <p:spPr>
            <a:xfrm>
              <a:off x="7756525" y="4724681"/>
              <a:ext cx="866775" cy="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Flowchart: Connector 10">
              <a:extLst>
                <a:ext uri="{FF2B5EF4-FFF2-40B4-BE49-F238E27FC236}">
                  <a16:creationId xmlns:a16="http://schemas.microsoft.com/office/drawing/2014/main" id="{8DE6C7FC-8473-52F4-B42C-541FF701E16E}"/>
                </a:ext>
              </a:extLst>
            </p:cNvPr>
            <p:cNvSpPr/>
            <p:nvPr/>
          </p:nvSpPr>
          <p:spPr>
            <a:xfrm>
              <a:off x="8115300" y="466999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2" name="Straight Arrow Connector 11">
              <a:extLst>
                <a:ext uri="{FF2B5EF4-FFF2-40B4-BE49-F238E27FC236}">
                  <a16:creationId xmlns:a16="http://schemas.microsoft.com/office/drawing/2014/main" id="{B8FF3A42-50A6-8204-2D2E-24B8D034F93D}"/>
                </a:ext>
              </a:extLst>
            </p:cNvPr>
            <p:cNvCxnSpPr/>
            <p:nvPr/>
          </p:nvCxnSpPr>
          <p:spPr>
            <a:xfrm>
              <a:off x="5632450" y="2705797"/>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8B070BF5-62AD-D506-5468-CACA6BE994F9}"/>
                </a:ext>
              </a:extLst>
            </p:cNvPr>
            <p:cNvCxnSpPr/>
            <p:nvPr/>
          </p:nvCxnSpPr>
          <p:spPr>
            <a:xfrm flipH="1">
              <a:off x="5632168" y="4722299"/>
              <a:ext cx="4572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B7426872-438A-A1A8-60E6-42CD16F1B102}"/>
                    </a:ext>
                  </a:extLst>
                </p:cNvPr>
                <p:cNvSpPr/>
                <p:nvPr/>
              </p:nvSpPr>
              <p:spPr>
                <a:xfrm>
                  <a:off x="5612617" y="2534819"/>
                  <a:ext cx="2275303" cy="369332"/>
                </a:xfrm>
                <a:prstGeom prst="rect">
                  <a:avLst/>
                </a:prstGeom>
              </p:spPr>
              <p:txBody>
                <a:bodyPr wrap="none">
                  <a:spAutoFit/>
                </a:bodyPr>
                <a:lstStyle/>
                <a:p>
                  <a:pPr/>
                  <a14:m>
                    <m:oMathPara xmlns:m="http://schemas.openxmlformats.org/officeDocument/2006/math">
                      <m:oMath>
                        <m:r>
                          <m:rPr>
                            <m:nor/>
                          </m:rPr>
                          <a:rPr lang="pt-BR" i="0" dirty="0"/>
                          <m:t>Função de erro, </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m:oMathPara>
                  </a14:m>
                  <a:endParaRPr lang="pt-BR" dirty="0"/>
                </a:p>
              </p:txBody>
            </p:sp>
          </mc:Choice>
          <mc:Fallback xmlns="">
            <p:sp>
              <p:nvSpPr>
                <p:cNvPr id="14" name="Rectangle 13">
                  <a:extLst>
                    <a:ext uri="{FF2B5EF4-FFF2-40B4-BE49-F238E27FC236}">
                      <a16:creationId xmlns:a16="http://schemas.microsoft.com/office/drawing/2014/main" id="{B7426872-438A-A1A8-60E6-42CD16F1B102}"/>
                    </a:ext>
                  </a:extLst>
                </p:cNvPr>
                <p:cNvSpPr>
                  <a:spLocks noRot="1" noChangeAspect="1" noMove="1" noResize="1" noEditPoints="1" noAdjustHandles="1" noChangeArrowheads="1" noChangeShapeType="1" noTextEdit="1"/>
                </p:cNvSpPr>
                <p:nvPr/>
              </p:nvSpPr>
              <p:spPr>
                <a:xfrm>
                  <a:off x="5612617" y="2534819"/>
                  <a:ext cx="2275303" cy="369332"/>
                </a:xfrm>
                <a:prstGeom prst="rect">
                  <a:avLst/>
                </a:prstGeom>
                <a:blipFill>
                  <a:blip r:embed="rId2"/>
                  <a:stretch>
                    <a:fillRect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id="{E9EAEB81-7E73-FA1B-4C33-84308AC98FE3}"/>
                    </a:ext>
                  </a:extLst>
                </p:cNvPr>
                <p:cNvSpPr/>
                <p:nvPr/>
              </p:nvSpPr>
              <p:spPr>
                <a:xfrm>
                  <a:off x="10139894" y="4537633"/>
                  <a:ext cx="371448" cy="369332"/>
                </a:xfrm>
                <a:prstGeom prst="rect">
                  <a:avLst/>
                </a:prstGeom>
              </p:spPr>
              <p:txBody>
                <a:bodyPr wrap="none">
                  <a:spAutoFit/>
                </a:bodyPr>
                <a:lstStyle/>
                <a:p>
                  <a:pPr/>
                  <a14:m>
                    <m:oMathPara xmlns:m="http://schemas.openxmlformats.org/officeDocument/2006/math">
                      <m:oMath>
                        <m:r>
                          <a:rPr lang="pt-BR" b="0" i="1" smtClean="0">
                            <a:latin typeface="Cambria Math" panose="02040503050406030204" pitchFamily="18" charset="0"/>
                          </a:rPr>
                          <m:t>𝑎</m:t>
                        </m:r>
                      </m:oMath>
                    </m:oMathPara>
                  </a14:m>
                  <a:endParaRPr lang="nl-BE" dirty="0"/>
                </a:p>
              </p:txBody>
            </p:sp>
          </mc:Choice>
          <mc:Fallback xmlns="">
            <p:sp>
              <p:nvSpPr>
                <p:cNvPr id="15" name="Rectangle 14">
                  <a:extLst>
                    <a:ext uri="{FF2B5EF4-FFF2-40B4-BE49-F238E27FC236}">
                      <a16:creationId xmlns:a16="http://schemas.microsoft.com/office/drawing/2014/main" id="{E9EAEB81-7E73-FA1B-4C33-84308AC98FE3}"/>
                    </a:ext>
                  </a:extLst>
                </p:cNvPr>
                <p:cNvSpPr>
                  <a:spLocks noRot="1" noChangeAspect="1" noMove="1" noResize="1" noEditPoints="1" noAdjustHandles="1" noChangeArrowheads="1" noChangeShapeType="1" noTextEdit="1"/>
                </p:cNvSpPr>
                <p:nvPr/>
              </p:nvSpPr>
              <p:spPr>
                <a:xfrm>
                  <a:off x="10139894" y="4537633"/>
                  <a:ext cx="371448"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3E21FCC7-E5B4-04E9-2153-93CD4B5FCB2E}"/>
                    </a:ext>
                  </a:extLst>
                </p:cNvPr>
                <p:cNvSpPr txBox="1"/>
                <p:nvPr/>
              </p:nvSpPr>
              <p:spPr>
                <a:xfrm>
                  <a:off x="5482823" y="3543300"/>
                  <a:ext cx="1717458" cy="954107"/>
                </a:xfrm>
                <a:prstGeom prst="rect">
                  <a:avLst/>
                </a:prstGeom>
                <a:noFill/>
              </p:spPr>
              <p:txBody>
                <a:bodyPr wrap="square" rtlCol="0">
                  <a:spAutoFit/>
                </a:bodyPr>
                <a:lstStyle/>
                <a:p>
                  <a:pPr algn="ctr"/>
                  <a14:m>
                    <m:oMathPara xmlns:m="http://schemas.openxmlformats.org/officeDocument/2006/math">
                      <m:o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&lt;0</m:t>
                        </m:r>
                      </m:oMath>
                    </m:oMathPara>
                  </a14:m>
                  <a:endParaRPr lang="en-US" sz="1400" dirty="0"/>
                </a:p>
                <a:p>
                  <a:pPr algn="ctr"/>
                  <a:r>
                    <a:rPr lang="en-US" sz="1400" dirty="0" err="1"/>
                    <a:t>gradiente</a:t>
                  </a:r>
                  <a:r>
                    <a:rPr lang="en-US" sz="1400" dirty="0"/>
                    <a:t> </a:t>
                  </a:r>
                  <a:r>
                    <a:rPr lang="en-US" sz="1400" dirty="0" err="1"/>
                    <a:t>negativo</a:t>
                  </a:r>
                  <a:endParaRPr lang="en-US" sz="1400" dirty="0"/>
                </a:p>
                <a:p>
                  <a:pPr algn="ctr"/>
                  <a:r>
                    <a:rPr lang="en-US" sz="1400" dirty="0"/>
                    <a:t>=</a:t>
                  </a:r>
                </a:p>
                <a:p>
                  <a:pPr algn="ctr"/>
                  <a:r>
                    <a:rPr lang="en-US" sz="1400" dirty="0" err="1"/>
                    <a:t>siga</a:t>
                  </a:r>
                  <a:r>
                    <a:rPr lang="en-US" sz="1400" dirty="0"/>
                    <a:t> </a:t>
                  </a:r>
                  <a:r>
                    <a:rPr lang="en-US" sz="1400" dirty="0" err="1"/>
                    <a:t>em</a:t>
                  </a:r>
                  <a:r>
                    <a:rPr lang="en-US" sz="1400" dirty="0"/>
                    <a:t> </a:t>
                  </a:r>
                  <a:r>
                    <a:rPr lang="en-US" sz="1400" dirty="0" err="1"/>
                    <a:t>frente</a:t>
                  </a:r>
                  <a:endParaRPr lang="en-US" sz="1400" dirty="0"/>
                </a:p>
              </p:txBody>
            </p:sp>
          </mc:Choice>
          <mc:Fallback xmlns="">
            <p:sp>
              <p:nvSpPr>
                <p:cNvPr id="16" name="TextBox 15">
                  <a:extLst>
                    <a:ext uri="{FF2B5EF4-FFF2-40B4-BE49-F238E27FC236}">
                      <a16:creationId xmlns:a16="http://schemas.microsoft.com/office/drawing/2014/main" id="{3E21FCC7-E5B4-04E9-2153-93CD4B5FCB2E}"/>
                    </a:ext>
                  </a:extLst>
                </p:cNvPr>
                <p:cNvSpPr txBox="1">
                  <a:spLocks noRot="1" noChangeAspect="1" noMove="1" noResize="1" noEditPoints="1" noAdjustHandles="1" noChangeArrowheads="1" noChangeShapeType="1" noTextEdit="1"/>
                </p:cNvSpPr>
                <p:nvPr/>
              </p:nvSpPr>
              <p:spPr>
                <a:xfrm>
                  <a:off x="5482823" y="3543300"/>
                  <a:ext cx="1717458" cy="954107"/>
                </a:xfrm>
                <a:prstGeom prst="rect">
                  <a:avLst/>
                </a:prstGeom>
                <a:blipFill>
                  <a:blip r:embed="rId4"/>
                  <a:stretch>
                    <a:fillRect b="-57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1EA152FF-D4D9-1EB1-1A88-575849B0A937}"/>
                    </a:ext>
                  </a:extLst>
                </p:cNvPr>
                <p:cNvSpPr txBox="1"/>
                <p:nvPr/>
              </p:nvSpPr>
              <p:spPr>
                <a:xfrm>
                  <a:off x="9121947" y="3485076"/>
                  <a:ext cx="2001313" cy="954107"/>
                </a:xfrm>
                <a:prstGeom prst="rect">
                  <a:avLst/>
                </a:prstGeom>
                <a:noFill/>
              </p:spPr>
              <p:txBody>
                <a:bodyPr wrap="square" rtlCol="0">
                  <a:spAutoFit/>
                </a:bodyPr>
                <a:lstStyle/>
                <a:p>
                  <a:pPr algn="ctr"/>
                  <a14:m>
                    <m:oMathPara xmlns:m="http://schemas.openxmlformats.org/officeDocument/2006/math">
                      <m:oMath>
                        <m:r>
                          <a:rPr lang="pt-BR" sz="1400" i="1" smtClean="0">
                            <a:latin typeface="Cambria Math" panose="02040503050406030204" pitchFamily="18" charset="0"/>
                            <a:ea typeface="Cambria Math" panose="02040503050406030204" pitchFamily="18" charset="0"/>
                          </a:rPr>
                          <m:t>−</m:t>
                        </m:r>
                        <m:r>
                          <a:rPr lang="pt-BR" sz="1400" i="1" smtClean="0">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smtClean="0">
                            <a:latin typeface="Cambria Math" panose="02040503050406030204" pitchFamily="18" charset="0"/>
                            <a:ea typeface="Cambria Math" panose="02040503050406030204" pitchFamily="18" charset="0"/>
                          </a:rPr>
                          <m:t>&gt;0</m:t>
                        </m:r>
                      </m:oMath>
                    </m:oMathPara>
                  </a14:m>
                  <a:endParaRPr lang="en-US" sz="1400" dirty="0"/>
                </a:p>
                <a:p>
                  <a:pPr algn="ctr"/>
                  <a:r>
                    <a:rPr lang="en-US" sz="1400" dirty="0" err="1"/>
                    <a:t>gradiente</a:t>
                  </a:r>
                  <a:r>
                    <a:rPr lang="en-US" sz="1400" dirty="0"/>
                    <a:t> </a:t>
                  </a:r>
                  <a:r>
                    <a:rPr lang="en-US" sz="1400" dirty="0" err="1"/>
                    <a:t>positivo</a:t>
                  </a:r>
                  <a:endParaRPr lang="en-US" sz="1400" dirty="0"/>
                </a:p>
                <a:p>
                  <a:pPr algn="ctr"/>
                  <a:r>
                    <a:rPr lang="en-US" sz="1400" dirty="0"/>
                    <a:t>=</a:t>
                  </a:r>
                </a:p>
                <a:p>
                  <a:pPr algn="ctr"/>
                  <a:r>
                    <a:rPr lang="en-US" sz="1400" dirty="0" err="1"/>
                    <a:t>siga</a:t>
                  </a:r>
                  <a:r>
                    <a:rPr lang="en-US" sz="1400" dirty="0"/>
                    <a:t> </a:t>
                  </a:r>
                  <a:r>
                    <a:rPr lang="en-US" sz="1400" dirty="0" err="1"/>
                    <a:t>na</a:t>
                  </a:r>
                  <a:r>
                    <a:rPr lang="en-US" sz="1400" dirty="0"/>
                    <a:t> </a:t>
                  </a:r>
                  <a:r>
                    <a:rPr lang="en-US" sz="1400" dirty="0" err="1"/>
                    <a:t>direção</a:t>
                  </a:r>
                  <a:r>
                    <a:rPr lang="en-US" sz="1400" dirty="0"/>
                    <a:t> </a:t>
                  </a:r>
                  <a:r>
                    <a:rPr lang="en-US" sz="1400" dirty="0" err="1"/>
                    <a:t>contrária</a:t>
                  </a:r>
                  <a:endParaRPr lang="nl-BE" sz="1400" dirty="0"/>
                </a:p>
              </p:txBody>
            </p:sp>
          </mc:Choice>
          <mc:Fallback xmlns="">
            <p:sp>
              <p:nvSpPr>
                <p:cNvPr id="17" name="TextBox 16">
                  <a:extLst>
                    <a:ext uri="{FF2B5EF4-FFF2-40B4-BE49-F238E27FC236}">
                      <a16:creationId xmlns:a16="http://schemas.microsoft.com/office/drawing/2014/main" id="{1EA152FF-D4D9-1EB1-1A88-575849B0A937}"/>
                    </a:ext>
                  </a:extLst>
                </p:cNvPr>
                <p:cNvSpPr txBox="1">
                  <a:spLocks noRot="1" noChangeAspect="1" noMove="1" noResize="1" noEditPoints="1" noAdjustHandles="1" noChangeArrowheads="1" noChangeShapeType="1" noTextEdit="1"/>
                </p:cNvSpPr>
                <p:nvPr/>
              </p:nvSpPr>
              <p:spPr>
                <a:xfrm>
                  <a:off x="9121947" y="3485076"/>
                  <a:ext cx="2001313" cy="954107"/>
                </a:xfrm>
                <a:prstGeom prst="rect">
                  <a:avLst/>
                </a:prstGeom>
                <a:blipFill>
                  <a:blip r:embed="rId5"/>
                  <a:stretch>
                    <a:fillRect b="-576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2C31653-D89F-D786-6FAD-B127BD8B3943}"/>
                    </a:ext>
                  </a:extLst>
                </p:cNvPr>
                <p:cNvSpPr txBox="1"/>
                <p:nvPr/>
              </p:nvSpPr>
              <p:spPr>
                <a:xfrm>
                  <a:off x="7488495" y="3655746"/>
                  <a:ext cx="1300446" cy="954107"/>
                </a:xfrm>
                <a:prstGeom prst="rect">
                  <a:avLst/>
                </a:prstGeom>
                <a:noFill/>
              </p:spPr>
              <p:txBody>
                <a:bodyPr wrap="square" rtlCol="0">
                  <a:spAutoFit/>
                </a:bodyPr>
                <a:lstStyle/>
                <a:p>
                  <a:pPr algn="ctr"/>
                  <a14:m>
                    <m:oMathPara xmlns:m="http://schemas.openxmlformats.org/officeDocument/2006/math">
                      <m:o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=0</m:t>
                        </m:r>
                      </m:oMath>
                    </m:oMathPara>
                  </a14:m>
                  <a:endParaRPr lang="en-US" sz="1400" dirty="0"/>
                </a:p>
                <a:p>
                  <a:pPr algn="ctr"/>
                  <a:r>
                    <a:rPr lang="en-US" sz="1400" dirty="0" err="1"/>
                    <a:t>gradiente</a:t>
                  </a:r>
                  <a:r>
                    <a:rPr lang="en-US" sz="1400" dirty="0"/>
                    <a:t> </a:t>
                  </a:r>
                  <a:r>
                    <a:rPr lang="en-US" sz="1400" dirty="0" err="1"/>
                    <a:t>nulo</a:t>
                  </a:r>
                  <a:endParaRPr lang="en-US" sz="1400" dirty="0"/>
                </a:p>
                <a:p>
                  <a:pPr algn="ctr"/>
                  <a:r>
                    <a:rPr lang="en-US" sz="1400" dirty="0"/>
                    <a:t>= </a:t>
                  </a:r>
                </a:p>
                <a:p>
                  <a:pPr algn="ctr"/>
                  <a:r>
                    <a:rPr lang="en-US" sz="1400" dirty="0" err="1"/>
                    <a:t>mínimo</a:t>
                  </a:r>
                  <a:endParaRPr lang="nl-BE" sz="1400" dirty="0"/>
                </a:p>
              </p:txBody>
            </p:sp>
          </mc:Choice>
          <mc:Fallback xmlns="">
            <p:sp>
              <p:nvSpPr>
                <p:cNvPr id="18" name="TextBox 17">
                  <a:extLst>
                    <a:ext uri="{FF2B5EF4-FFF2-40B4-BE49-F238E27FC236}">
                      <a16:creationId xmlns:a16="http://schemas.microsoft.com/office/drawing/2014/main" id="{82C31653-D89F-D786-6FAD-B127BD8B3943}"/>
                    </a:ext>
                  </a:extLst>
                </p:cNvPr>
                <p:cNvSpPr txBox="1">
                  <a:spLocks noRot="1" noChangeAspect="1" noMove="1" noResize="1" noEditPoints="1" noAdjustHandles="1" noChangeArrowheads="1" noChangeShapeType="1" noTextEdit="1"/>
                </p:cNvSpPr>
                <p:nvPr/>
              </p:nvSpPr>
              <p:spPr>
                <a:xfrm>
                  <a:off x="7488495" y="3655746"/>
                  <a:ext cx="1300446" cy="954107"/>
                </a:xfrm>
                <a:prstGeom prst="rect">
                  <a:avLst/>
                </a:prstGeom>
                <a:blipFill>
                  <a:blip r:embed="rId6"/>
                  <a:stretch>
                    <a:fillRect b="-5769"/>
                  </a:stretch>
                </a:blipFill>
              </p:spPr>
              <p:txBody>
                <a:bodyPr/>
                <a:lstStyle/>
                <a:p>
                  <a:r>
                    <a:rPr lang="en-US">
                      <a:noFill/>
                    </a:rPr>
                    <a:t> </a:t>
                  </a:r>
                </a:p>
              </p:txBody>
            </p:sp>
          </mc:Fallback>
        </mc:AlternateContent>
      </p:grpSp>
    </p:spTree>
    <p:extLst>
      <p:ext uri="{BB962C8B-B14F-4D97-AF65-F5344CB8AC3E}">
        <p14:creationId xmlns:p14="http://schemas.microsoft.com/office/powerpoint/2010/main" val="195986348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9506</TotalTime>
  <Words>21260</Words>
  <Application>Microsoft Office PowerPoint</Application>
  <PresentationFormat>Widescreen</PresentationFormat>
  <Paragraphs>1479</Paragraphs>
  <Slides>124</Slides>
  <Notes>80</Notes>
  <HiddenSlides>0</HiddenSlides>
  <MMClips>0</MMClips>
  <ScaleCrop>false</ScaleCrop>
  <HeadingPairs>
    <vt:vector size="6" baseType="variant">
      <vt:variant>
        <vt:lpstr>Fontes usadas</vt:lpstr>
      </vt:variant>
      <vt:variant>
        <vt:i4>7</vt:i4>
      </vt:variant>
      <vt:variant>
        <vt:lpstr>Tema</vt:lpstr>
      </vt:variant>
      <vt:variant>
        <vt:i4>1</vt:i4>
      </vt:variant>
      <vt:variant>
        <vt:lpstr>Títulos de slides</vt:lpstr>
      </vt:variant>
      <vt:variant>
        <vt:i4>124</vt:i4>
      </vt:variant>
    </vt:vector>
  </HeadingPairs>
  <TitlesOfParts>
    <vt:vector size="132" baseType="lpstr">
      <vt:lpstr>Arial</vt:lpstr>
      <vt:lpstr>Calibri</vt:lpstr>
      <vt:lpstr>Calibri Light</vt:lpstr>
      <vt:lpstr>Cambria Math</vt:lpstr>
      <vt:lpstr>Courier New</vt:lpstr>
      <vt:lpstr>Söhne</vt:lpstr>
      <vt:lpstr>Wingdings</vt:lpstr>
      <vt:lpstr>Tema do Office</vt:lpstr>
      <vt:lpstr>C24 – Inteligência Artificial: Regressão</vt:lpstr>
      <vt:lpstr>Regressão</vt:lpstr>
      <vt:lpstr>Motivação</vt:lpstr>
      <vt:lpstr>Motivação</vt:lpstr>
      <vt:lpstr>Apresentação do PowerPoint</vt:lpstr>
      <vt:lpstr>Apresentação do PowerPoint</vt:lpstr>
      <vt:lpstr>Regressão linear</vt:lpstr>
      <vt:lpstr>Qual o objetivo da regressão linear?</vt:lpstr>
      <vt:lpstr>Função hipótese</vt:lpstr>
      <vt:lpstr>Por que linear?</vt:lpstr>
      <vt:lpstr>Por que polinômios?</vt:lpstr>
      <vt:lpstr>Por que polinômios?</vt:lpstr>
      <vt:lpstr>A flexibilidade dos polinômios</vt:lpstr>
      <vt:lpstr>Apresentação do PowerPoint</vt:lpstr>
      <vt:lpstr>Objetivo da regressão linear</vt:lpstr>
      <vt:lpstr>Apresentação do PowerPoint</vt:lpstr>
      <vt:lpstr>Função de erro</vt:lpstr>
      <vt:lpstr>Minimização da função de erro</vt:lpstr>
      <vt:lpstr>Como encontrar os pesos ótimos?</vt:lpstr>
      <vt:lpstr>Comparativo das abordagens</vt:lpstr>
      <vt:lpstr>Apresentação do PowerPoint</vt:lpstr>
      <vt:lpstr>Apresentação do PowerPoint</vt:lpstr>
      <vt:lpstr>Superfície de erro</vt:lpstr>
      <vt:lpstr>Superfície de erro</vt:lpstr>
      <vt:lpstr>Superfície de erro</vt:lpstr>
      <vt:lpstr>Gradiente descendente</vt:lpstr>
      <vt:lpstr>Gradiente descendente</vt:lpstr>
      <vt:lpstr>Gradiente descendente</vt:lpstr>
      <vt:lpstr>Apresentação do PowerPoint</vt:lpstr>
      <vt:lpstr>Vetor gradiente</vt:lpstr>
      <vt:lpstr>Vetor gradiente</vt:lpstr>
      <vt:lpstr>Vetor gradiente</vt:lpstr>
      <vt:lpstr>Vetor gradiente</vt:lpstr>
      <vt:lpstr>Qual a distância até o mínimo?</vt:lpstr>
      <vt:lpstr>Passo de aprendizagem</vt:lpstr>
      <vt:lpstr>Passo de aprendizagem</vt:lpstr>
      <vt:lpstr>Passo de aprendizagem</vt:lpstr>
      <vt:lpstr>Passo de aprendizagem</vt:lpstr>
      <vt:lpstr>Passo de aprendizagem</vt:lpstr>
      <vt:lpstr>Otimização iterativa</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Vetor gradiente</vt:lpstr>
      <vt:lpstr>Interpretação do vetor gradiente</vt:lpstr>
      <vt:lpstr>Versões do gradiente descendente</vt:lpstr>
      <vt:lpstr>Gradiente descendente em batelada</vt:lpstr>
      <vt:lpstr>Gradiente descendente estocástico</vt:lpstr>
      <vt:lpstr>Gradiente descendente em mini-lotes</vt:lpstr>
      <vt:lpstr>Apresentação do PowerPoint</vt:lpstr>
      <vt:lpstr>Validação cruzada</vt:lpstr>
      <vt:lpstr>Underfitting e overfitting</vt:lpstr>
      <vt:lpstr>Overfitting e underfitting</vt:lpstr>
      <vt:lpstr>Overfitting</vt:lpstr>
      <vt:lpstr>Underfitting</vt:lpstr>
      <vt:lpstr>Underfitting</vt:lpstr>
      <vt:lpstr>Underfitting</vt:lpstr>
      <vt:lpstr>Underfitting</vt:lpstr>
      <vt:lpstr>Overfitting</vt:lpstr>
      <vt:lpstr>Overfitting</vt:lpstr>
      <vt:lpstr>Overfitting</vt:lpstr>
      <vt:lpstr>Ponto de equilíbrio</vt:lpstr>
      <vt:lpstr>Validação cruzada</vt:lpstr>
      <vt:lpstr>Validação cruzada</vt:lpstr>
      <vt:lpstr>Validação cruzada</vt:lpstr>
      <vt:lpstr>k-fold</vt:lpstr>
      <vt:lpstr>k-fold</vt:lpstr>
      <vt:lpstr>k-fold</vt:lpstr>
      <vt:lpstr>Qual grau escolher quando vários são possíveis?</vt:lpstr>
      <vt:lpstr>Qual grau escolher quando vários são possíveis?</vt:lpstr>
      <vt:lpstr>Apresentação do PowerPoint</vt:lpstr>
      <vt:lpstr>Regularização</vt:lpstr>
      <vt:lpstr>Early-stopping (parada antecipada)</vt:lpstr>
      <vt:lpstr>Exemplo</vt:lpstr>
      <vt:lpstr>Avisos</vt:lpstr>
      <vt:lpstr>Lista de exercícios</vt:lpstr>
      <vt:lpstr>Apresentação do PowerPoint</vt:lpstr>
      <vt:lpstr>Apresentação do PowerPoint</vt:lpstr>
      <vt:lpstr>Apresentação do PowerPoint</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lpstr>Apresentação do PowerPoint</vt:lpstr>
      <vt:lpstr>Regressão polinomial</vt:lpstr>
      <vt:lpstr>Apresentação do PowerPoint</vt:lpstr>
      <vt:lpstr>Impacto de outliers no modelo aprendido</vt:lpstr>
      <vt:lpstr>Apresentação do PowerPoint</vt:lpstr>
      <vt:lpstr>Regularização: penalizando a complexidade dos modelos</vt:lpstr>
      <vt:lpstr>Regularização: penalizando a complexidade dos modelos</vt:lpstr>
      <vt:lpstr>Regularização: penalizando a complexidade dos modelos</vt:lpstr>
      <vt:lpstr>Regularização: penalizando a complexidade dos modelos</vt:lpstr>
      <vt:lpstr>Regressão Ridge</vt:lpstr>
      <vt:lpstr>Regressão Ridge</vt:lpstr>
      <vt:lpstr>Regressão Ridge</vt:lpstr>
      <vt:lpstr>Regressão Ridge</vt:lpstr>
      <vt:lpstr>Regressão Ridge com gradiente descendente</vt:lpstr>
      <vt:lpstr>Regressão LASSO</vt:lpstr>
      <vt:lpstr>Regressão LASSO</vt:lpstr>
      <vt:lpstr>Regressão LASSO com gradiente descendente</vt:lpstr>
      <vt:lpstr>Por que a regressão LASSO produz modelos esparsos?</vt:lpstr>
      <vt:lpstr>Limitações</vt:lpstr>
      <vt:lpstr>Elastic-Net</vt:lpstr>
      <vt:lpstr>Quando utilizar cada tipo de regressão?</vt:lpstr>
      <vt:lpstr>Quando utilizar cada tipo de regressão?</vt:lpstr>
      <vt:lpstr>Early-stopping: Parada antecipada</vt:lpstr>
      <vt:lpstr>Early-stopping: Parada antecipada</vt:lpstr>
      <vt:lpstr>Early-stopping: critério de parada</vt:lpstr>
      <vt:lpstr>Early-stopping</vt:lpstr>
      <vt:lpstr>Early-stopping</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2175</cp:revision>
  <dcterms:created xsi:type="dcterms:W3CDTF">2020-01-20T13:50:05Z</dcterms:created>
  <dcterms:modified xsi:type="dcterms:W3CDTF">2026-08-24T17:18:35Z</dcterms:modified>
</cp:coreProperties>
</file>