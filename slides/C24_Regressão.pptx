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1"/>
  </p:notesMasterIdLst>
  <p:handoutMasterIdLst>
    <p:handoutMasterId r:id="rId122"/>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414" r:id="rId39"/>
    <p:sldId id="572" r:id="rId40"/>
    <p:sldId id="416" r:id="rId41"/>
    <p:sldId id="451" r:id="rId42"/>
    <p:sldId id="417" r:id="rId43"/>
    <p:sldId id="419" r:id="rId44"/>
    <p:sldId id="425" r:id="rId45"/>
    <p:sldId id="537" r:id="rId46"/>
    <p:sldId id="418" r:id="rId47"/>
    <p:sldId id="539" r:id="rId48"/>
    <p:sldId id="542" r:id="rId49"/>
    <p:sldId id="423" r:id="rId50"/>
    <p:sldId id="580" r:id="rId51"/>
    <p:sldId id="424" r:id="rId52"/>
    <p:sldId id="429" r:id="rId53"/>
    <p:sldId id="540" r:id="rId54"/>
    <p:sldId id="431" r:id="rId55"/>
    <p:sldId id="583" r:id="rId56"/>
    <p:sldId id="584" r:id="rId57"/>
    <p:sldId id="554" r:id="rId58"/>
    <p:sldId id="555" r:id="rId59"/>
    <p:sldId id="549" r:id="rId60"/>
    <p:sldId id="461" r:id="rId61"/>
    <p:sldId id="557" r:id="rId62"/>
    <p:sldId id="558" r:id="rId63"/>
    <p:sldId id="559" r:id="rId64"/>
    <p:sldId id="560" r:id="rId65"/>
    <p:sldId id="561" r:id="rId66"/>
    <p:sldId id="562" r:id="rId67"/>
    <p:sldId id="563" r:id="rId68"/>
    <p:sldId id="543" r:id="rId69"/>
    <p:sldId id="437" r:id="rId70"/>
    <p:sldId id="436" r:id="rId71"/>
    <p:sldId id="443" r:id="rId72"/>
    <p:sldId id="444" r:id="rId73"/>
    <p:sldId id="565" r:id="rId74"/>
    <p:sldId id="567" r:id="rId75"/>
    <p:sldId id="568" r:id="rId76"/>
    <p:sldId id="604" r:id="rId77"/>
    <p:sldId id="605" r:id="rId78"/>
    <p:sldId id="467" r:id="rId79"/>
    <p:sldId id="338" r:id="rId80"/>
    <p:sldId id="573" r:id="rId81"/>
    <p:sldId id="370" r:id="rId82"/>
    <p:sldId id="293" r:id="rId83"/>
    <p:sldId id="306" r:id="rId84"/>
    <p:sldId id="446" r:id="rId85"/>
    <p:sldId id="438" r:id="rId86"/>
    <p:sldId id="440" r:id="rId87"/>
    <p:sldId id="441" r:id="rId88"/>
    <p:sldId id="551" r:id="rId89"/>
    <p:sldId id="442" r:id="rId90"/>
    <p:sldId id="552" r:id="rId91"/>
    <p:sldId id="553" r:id="rId92"/>
    <p:sldId id="445" r:id="rId93"/>
    <p:sldId id="447" r:id="rId94"/>
    <p:sldId id="608" r:id="rId95"/>
    <p:sldId id="607" r:id="rId96"/>
    <p:sldId id="452" r:id="rId97"/>
    <p:sldId id="569" r:id="rId98"/>
    <p:sldId id="589" r:id="rId99"/>
    <p:sldId id="582" r:id="rId100"/>
    <p:sldId id="586" r:id="rId101"/>
    <p:sldId id="587" r:id="rId102"/>
    <p:sldId id="588" r:id="rId103"/>
    <p:sldId id="590" r:id="rId104"/>
    <p:sldId id="591" r:id="rId105"/>
    <p:sldId id="592" r:id="rId106"/>
    <p:sldId id="593" r:id="rId107"/>
    <p:sldId id="594" r:id="rId108"/>
    <p:sldId id="595" r:id="rId109"/>
    <p:sldId id="597" r:id="rId110"/>
    <p:sldId id="600" r:id="rId111"/>
    <p:sldId id="458" r:id="rId112"/>
    <p:sldId id="601" r:id="rId113"/>
    <p:sldId id="384" r:id="rId114"/>
    <p:sldId id="602" r:id="rId115"/>
    <p:sldId id="459" r:id="rId116"/>
    <p:sldId id="399" r:id="rId117"/>
    <p:sldId id="397" r:id="rId118"/>
    <p:sldId id="579" r:id="rId119"/>
    <p:sldId id="577" r:id="rId12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1404" autoAdjust="0"/>
  </p:normalViewPr>
  <p:slideViewPr>
    <p:cSldViewPr snapToGrid="0">
      <p:cViewPr varScale="1">
        <p:scale>
          <a:sx n="67" d="100"/>
          <a:sy n="67" d="100"/>
        </p:scale>
        <p:origin x="1020"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presProps" Target="presProps.xml"/><Relationship Id="rId128"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23/03/2026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23/03/2026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3.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xmlns=""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xmlns=""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xmlns=""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A52A8DF8-274A-95C2-39D7-F58EA26DEE5B}"/>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r>
              <a:rPr lang="pt-BR" dirty="0"/>
              <a:t/>
            </a:r>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xmlns="" id="{F4876685-75FD-D2D5-B8B2-395812A47E16}"/>
              </a:ext>
            </a:extLst>
          </p:cNvPr>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xmlns=""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99</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100</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101</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109</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i="1" smtClean="0">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1250587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59.jpeg"/></Relationships>
</file>

<file path=ppt/slides/_rels/slide60.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63.png"/><Relationship Id="rId4" Type="http://schemas.openxmlformats.org/officeDocument/2006/relationships/image" Target="../media/image620.png"/></Relationships>
</file>

<file path=ppt/slides/_rels/slide7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3.png"/></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8.png"/><Relationship Id="rId4" Type="http://schemas.openxmlformats.org/officeDocument/2006/relationships/image" Target="../media/image67.png"/></Relationships>
</file>

<file path=ppt/slides/_rels/slide7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jpeg"/><Relationship Id="rId4" Type="http://schemas.openxmlformats.org/officeDocument/2006/relationships/image" Target="../media/image7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NUL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10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7.png"/></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9.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NULL"/><Relationship Id="rId4" Type="http://schemas.openxmlformats.org/officeDocument/2006/relationships/image" Target="NUL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hyperlink" Target="https://colab.research.google.com/github/zz4fap/tp555-ml/blob/main/exemplos/non-linear-regression/regularization/example_elastic_net_regression.ipynb" TargetMode="External"/><Relationship Id="rId5" Type="http://schemas.openxmlformats.org/officeDocument/2006/relationships/image" Target="NULL"/><Relationship Id="rId4" Type="http://schemas.openxmlformats.org/officeDocument/2006/relationships/image" Target="../media/image80.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hyperlink" Target="https://colab.research.google.com/github/zz4fap/tp555-ml/blob/main/exemplos/non-linear-regression/regularization/exemplo_early_stopping.ipynb"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xmlns=""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xmlns=""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xmlns=""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xmlns=""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xmlns=""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xmlns=""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xmlns=""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xmlns=""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xmlns=""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xmlns=""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xmlns=""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xmlns=""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xmlns=""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r>
                  <a:rPr lang="pt-BR" dirty="0"/>
                  <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xmlns=""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xmlns=""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xmlns=""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xmlns=""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xmlns=""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xmlns=""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xmlns=""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xmlns=""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xmlns=""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xmlns=""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xmlns=""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xmlns="" val="2676689337"/>
                        </a:ext>
                      </a:extLst>
                    </a:gridCol>
                    <a:gridCol w="5046642">
                      <a:extLst>
                        <a:ext uri="{9D8B030D-6E8A-4147-A177-3AD203B41FA5}">
                          <a16:colId xmlns:a16="http://schemas.microsoft.com/office/drawing/2014/main" xmlns="" val="921422884"/>
                        </a:ext>
                      </a:extLst>
                    </a:gridCol>
                    <a:gridCol w="4654613">
                      <a:extLst>
                        <a:ext uri="{9D8B030D-6E8A-4147-A177-3AD203B41FA5}">
                          <a16:colId xmlns:a16="http://schemas.microsoft.com/office/drawing/2014/main" xmlns=""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xmlns=""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xmlns=""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xmlns=""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xmlns=""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xmlns=""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xmlns=""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xmlns=""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xmlns=""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 direção e a taxa de crescimento.</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xmlns=""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xmlns=""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xmlns=""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xmlns=""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xmlns=""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xmlns=""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xmlns=""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xmlns=""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xmlns=""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xmlns=""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xmlns=""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xmlns=""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xmlns=""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xmlns=""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xmlns=""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xmlns=""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xmlns=""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xmlns=""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xmlns=""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xmlns=""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xmlns=""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xmlns=""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xmlns=""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xmlns=""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xmlns=""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xmlns=""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xmlns=""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xmlns=""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xmlns=""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xmlns=""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xmlns=""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xmlns=""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xmlns=""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xmlns=""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xmlns=""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xmlns=""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xmlns=""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xmlns=""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xmlns=""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xmlns=""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xmlns=""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xmlns=""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xmlns=""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xmlns=""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xmlns=""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xmlns=""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xmlns=""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xmlns=""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xmlns=""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xmlns=""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xmlns=""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xmlns=""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xmlns=""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xmlns=""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xmlns=""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xmlns=""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xmlns=""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xmlns=""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xmlns=""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xmlns=""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xmlns=""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xmlns=""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xmlns=""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xmlns=""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xmlns=""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xmlns=""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xmlns=""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xmlns=""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xmlns=""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xmlns=""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xmlns=""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xmlns=""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xmlns=""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xmlns=""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xmlns=""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xmlns=""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xmlns=""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xmlns=""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xmlns=""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xmlns=""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xmlns=""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xmlns=""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xmlns=""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xmlns=""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xmlns=""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xmlns=""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xmlns=""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smtClean="0">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rPr>
                          </m:ctrlPr>
                        </m:sSubPr>
                        <m:e>
                          <m:f>
                            <m:fPr>
                              <m:ctrlPr>
                                <a:rPr lang="pt-BR" i="1">
                                  <a:latin typeface="Cambria Math" panose="02040503050406030204" pitchFamily="18" charset="0"/>
                                </a:rPr>
                              </m:ctrlPr>
                            </m:fPr>
                            <m:num>
                              <m:r>
                                <a:rPr lang="pt-BR">
                                  <a:latin typeface="Cambria Math" panose="02040503050406030204" pitchFamily="18" charset="0"/>
                                </a:rPr>
                                <m:t>𝜕</m:t>
                              </m:r>
                              <m:sSub>
                                <m:sSubPr>
                                  <m:ctrlPr>
                                    <a:rPr lang="pt-BR" i="1">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i="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a:t>
                </a:r>
                <a:r>
                  <a:rPr lang="pt-BR" dirty="0" smtClean="0"/>
                  <a:t>o termo indica </a:t>
                </a:r>
                <a:r>
                  <a:rPr lang="pt-BR" dirty="0"/>
                  <a:t>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r>
                  <a:rPr lang="pt-BR" dirty="0" smtClean="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r>
                  <a:rPr lang="pt-BR" dirty="0"/>
                  <a:t>(</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smtClean="0"/>
                  <a:t>) </a:t>
                </a:r>
                <a:r>
                  <a:rPr lang="pt-BR" dirty="0" smtClean="0"/>
                  <a:t>para </a:t>
                </a:r>
                <a:r>
                  <a:rPr lang="pt-BR" dirty="0"/>
                  <a:t>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smtClean="0"/>
                  <a:t>, chamado de </a:t>
                </a:r>
                <a:r>
                  <a:rPr lang="pt-BR" i="1" dirty="0" err="1" smtClean="0"/>
                  <a:t>mini-batch</a:t>
                </a:r>
                <a:r>
                  <a:rPr lang="pt-BR" dirty="0" smtClean="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a:t>
            </a:r>
            <a:r>
              <a:rPr lang="pt-BR" sz="5400" dirty="0" smtClean="0"/>
              <a:t>do polinômio</a:t>
            </a:r>
            <a:r>
              <a:rPr lang="pt-BR" sz="5400" dirty="0"/>
              <a:t>?</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xmlns=""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xmlns=""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xmlns=""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xmlns=""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xmlns=""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xmlns=""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xmlns=""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a:t>
            </a:r>
            <a:r>
              <a:rPr lang="pt-BR" b="1" dirty="0" smtClean="0"/>
              <a:t>tem flexibilidade para </a:t>
            </a:r>
            <a:r>
              <a:rPr lang="pt-BR" b="1" dirty="0" smtClean="0"/>
              <a:t>capturar o padrão</a:t>
            </a:r>
            <a:r>
              <a:rPr lang="pt-BR" dirty="0" smtClean="0"/>
              <a:t> </a:t>
            </a:r>
            <a:r>
              <a:rPr lang="pt-BR" b="1" dirty="0" smtClean="0"/>
              <a:t>geral</a:t>
            </a:r>
            <a:r>
              <a:rPr lang="pt-BR" dirty="0" smtClean="0"/>
              <a:t> presente nos </a:t>
            </a:r>
            <a:r>
              <a:rPr lang="pt-BR" dirty="0"/>
              <a:t>dados de treinamento.</a:t>
            </a:r>
          </a:p>
          <a:p>
            <a:r>
              <a:rPr lang="pt-BR" dirty="0"/>
              <a:t>O modelo apresenta </a:t>
            </a:r>
            <a:r>
              <a:rPr lang="pt-BR" b="1" dirty="0"/>
              <a:t>erros altos nos </a:t>
            </a:r>
            <a:r>
              <a:rPr lang="pt-BR" b="1" dirty="0" smtClean="0"/>
              <a:t>conjuntos </a:t>
            </a:r>
            <a:r>
              <a:rPr lang="pt-BR" b="1" dirty="0"/>
              <a:t>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a:t>
            </a:r>
            <a:r>
              <a:rPr lang="pt-BR" b="1" dirty="0" smtClean="0"/>
              <a:t>de treinamento não </a:t>
            </a:r>
            <a:r>
              <a:rPr lang="pt-BR" b="1" dirty="0"/>
              <a:t>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a:t>
            </a:r>
            <a:r>
              <a:rPr lang="pt-BR" b="1" dirty="0" smtClean="0">
                <a:solidFill>
                  <a:srgbClr val="00B050"/>
                </a:solidFill>
                <a:effectLst/>
              </a:rPr>
              <a:t>generalizar</a:t>
            </a:r>
            <a:r>
              <a:rPr lang="pt-BR" dirty="0" smtClean="0">
                <a:effectLst/>
              </a:rPr>
              <a:t>.</a:t>
            </a:r>
            <a:endParaRPr lang="pt-BR" dirty="0">
              <a:effectLst/>
            </a:endParaRP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smtClean="0">
                <a:effectLst/>
              </a:rPr>
              <a:t>(o modelo </a:t>
            </a:r>
            <a:r>
              <a:rPr lang="pt-BR" dirty="0">
                <a:effectLst/>
              </a:rPr>
              <a:t>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smtClean="0"/>
              <a:t>Um</a:t>
            </a:r>
            <a:r>
              <a:rPr lang="pt-BR" dirty="0" smtClean="0"/>
              <a:t> </a:t>
            </a:r>
            <a:r>
              <a:rPr lang="pt-BR" dirty="0"/>
              <a:t>modelo que atinge o </a:t>
            </a:r>
            <a:r>
              <a:rPr lang="pt-BR" b="1" dirty="0">
                <a:solidFill>
                  <a:schemeClr val="accent2"/>
                </a:solidFill>
              </a:rPr>
              <a:t>ponto de equilíbrio</a:t>
            </a:r>
            <a:r>
              <a:rPr lang="pt-BR" dirty="0"/>
              <a:t> apresenta </a:t>
            </a:r>
            <a:r>
              <a:rPr lang="pt-BR" b="1" dirty="0">
                <a:solidFill>
                  <a:schemeClr val="accent2"/>
                </a:solidFill>
              </a:rPr>
              <a:t>ambos os </a:t>
            </a:r>
            <a:r>
              <a:rPr lang="pt-BR" b="1" dirty="0" smtClean="0">
                <a:solidFill>
                  <a:schemeClr val="accent2"/>
                </a:solidFill>
              </a:rPr>
              <a:t>erros, treinamento e validação</a:t>
            </a:r>
            <a:r>
              <a:rPr lang="pt-BR" b="1" dirty="0">
                <a:solidFill>
                  <a:schemeClr val="accent2"/>
                </a:solidFill>
              </a:rPr>
              <a:t>, pequenos e </a:t>
            </a:r>
            <a:r>
              <a:rPr lang="pt-BR" b="1" dirty="0" smtClean="0">
                <a:solidFill>
                  <a:schemeClr val="accent2"/>
                </a:solidFill>
              </a:rPr>
              <a:t>próximos</a:t>
            </a:r>
            <a:r>
              <a:rPr lang="pt-BR" dirty="0" smtClean="0"/>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smtClean="0">
                <a:solidFill>
                  <a:srgbClr val="00B050"/>
                </a:solidFill>
                <a:effectLst/>
              </a:rPr>
              <a:t>verificar se </a:t>
            </a:r>
            <a:r>
              <a:rPr lang="pt-BR" b="1" dirty="0">
                <a:solidFill>
                  <a:srgbClr val="00B050"/>
                </a:solidFill>
                <a:effectLst/>
              </a:rPr>
              <a:t>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a:t>
            </a:r>
            <a:r>
              <a:rPr lang="pt-BR" dirty="0" smtClean="0"/>
              <a:t>o </a:t>
            </a:r>
            <a:r>
              <a:rPr lang="pt-BR" b="1" dirty="0" smtClean="0">
                <a:solidFill>
                  <a:srgbClr val="0070C0"/>
                </a:solidFill>
              </a:rPr>
              <a:t>ponto </a:t>
            </a:r>
            <a:r>
              <a:rPr lang="pt-BR" b="1" dirty="0">
                <a:solidFill>
                  <a:srgbClr val="0070C0"/>
                </a:solidFill>
              </a:rPr>
              <a:t>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smtClean="0">
                <a:solidFill>
                  <a:schemeClr val="accent2"/>
                </a:solidFill>
              </a:rPr>
              <a:t>O </a:t>
            </a:r>
            <a:r>
              <a:rPr lang="pt-BR" b="1" dirty="0">
                <a:solidFill>
                  <a:schemeClr val="accent2"/>
                </a:solidFill>
              </a:rPr>
              <a:t>e</a:t>
            </a:r>
            <a:r>
              <a:rPr lang="pt-BR" b="1" dirty="0" smtClean="0">
                <a:solidFill>
                  <a:schemeClr val="accent2"/>
                </a:solidFill>
              </a:rPr>
              <a:t>rro </a:t>
            </a:r>
            <a:r>
              <a:rPr lang="pt-BR" b="1" dirty="0">
                <a:solidFill>
                  <a:schemeClr val="accent2"/>
                </a:solidFill>
              </a:rPr>
              <a:t>de treinamento</a:t>
            </a:r>
            <a:r>
              <a:rPr lang="pt-BR" dirty="0"/>
              <a:t> é calculado com o conjunto usado para treinar o modelo.</a:t>
            </a:r>
          </a:p>
          <a:p>
            <a:r>
              <a:rPr lang="pt-BR" b="1" dirty="0" smtClean="0">
                <a:solidFill>
                  <a:schemeClr val="accent2"/>
                </a:solidFill>
              </a:rPr>
              <a:t>O e</a:t>
            </a:r>
            <a:r>
              <a:rPr lang="pt-BR" b="1" dirty="0" smtClean="0">
                <a:solidFill>
                  <a:schemeClr val="accent2"/>
                </a:solidFill>
              </a:rPr>
              <a:t>rro </a:t>
            </a:r>
            <a:r>
              <a:rPr lang="pt-BR" b="1" dirty="0">
                <a:solidFill>
                  <a:schemeClr val="accent2"/>
                </a:solidFill>
              </a:rPr>
              <a:t>de validação ou teste</a:t>
            </a:r>
            <a:r>
              <a:rPr lang="pt-BR" dirty="0"/>
              <a:t> é calculado com dados </a:t>
            </a:r>
            <a:r>
              <a:rPr lang="pt-BR" dirty="0" smtClean="0"/>
              <a:t>inéditos dos conjuntos de validação ou teste.</a:t>
            </a:r>
            <a:endParaRPr lang="pt-BR" dirty="0"/>
          </a:p>
        </p:txBody>
      </p:sp>
    </p:spTree>
    <p:extLst>
      <p:ext uri="{BB962C8B-B14F-4D97-AF65-F5344CB8AC3E}">
        <p14:creationId xmlns:p14="http://schemas.microsoft.com/office/powerpoint/2010/main" val="38648004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a:t>
            </a:r>
            <a:r>
              <a:rPr lang="pt-BR" dirty="0" smtClean="0">
                <a:effectLst/>
              </a:rPr>
              <a:t>dados de treinamento </a:t>
            </a:r>
            <a:r>
              <a:rPr lang="pt-BR" dirty="0">
                <a:effectLst/>
              </a:rPr>
              <a:t>tem baixa variância.</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smtClean="0"/>
              <a:t>entre 3 e</a:t>
            </a:r>
            <a:r>
              <a:rPr lang="pt-BR" sz="2800" dirty="0" smtClean="0"/>
              <a:t> </a:t>
            </a:r>
            <a:r>
              <a:rPr lang="pt-BR" sz="2800" dirty="0"/>
              <a:t>10.</a:t>
            </a:r>
          </a:p>
          <a:p>
            <a:r>
              <a:rPr lang="pt-BR" sz="2800" dirty="0"/>
              <a:t>Porém, </a:t>
            </a:r>
            <a:r>
              <a:rPr lang="pt-BR" sz="2800" dirty="0" smtClean="0"/>
              <a:t>ele </a:t>
            </a:r>
            <a:r>
              <a:rPr lang="pt-BR" sz="2800" dirty="0"/>
              <a:t>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a:t>
            </a:r>
            <a:r>
              <a:rPr lang="pt-BR" dirty="0" smtClean="0">
                <a:solidFill>
                  <a:srgbClr val="0F0F0F"/>
                </a:solidFill>
              </a:rPr>
              <a:t>impactada negativamente.</a:t>
            </a:r>
            <a:endParaRPr lang="pt-BR" dirty="0">
              <a:solidFill>
                <a:srgbClr val="0F0F0F"/>
              </a:solidFill>
            </a:endParaRPr>
          </a:p>
        </p:txBody>
      </p:sp>
      <p:grpSp>
        <p:nvGrpSpPr>
          <p:cNvPr id="6" name="Agrupar 8">
            <a:extLst>
              <a:ext uri="{FF2B5EF4-FFF2-40B4-BE49-F238E27FC236}">
                <a16:creationId xmlns:a16="http://schemas.microsoft.com/office/drawing/2014/main" xmlns=""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xmlns=""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xmlns=""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xmlns=""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xmlns=""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xmlns=""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smtClean="0"/>
              <a:t>Média do EQM para modelos com diferentes complexidades</a:t>
            </a:r>
            <a:endParaRPr lang="pt-BR" dirty="0"/>
          </a:p>
        </p:txBody>
      </p:sp>
    </p:spTree>
    <p:extLst>
      <p:ext uri="{BB962C8B-B14F-4D97-AF65-F5344CB8AC3E}">
        <p14:creationId xmlns:p14="http://schemas.microsoft.com/office/powerpoint/2010/main" val="23468641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xmlns=""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a:t>
            </a:r>
            <a:r>
              <a:rPr lang="pt-BR" b="1" dirty="0" smtClean="0">
                <a:solidFill>
                  <a:srgbClr val="00B050"/>
                </a:solidFill>
                <a:effectLst/>
              </a:rPr>
              <a:t>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smtClean="0">
                <a:effectLst/>
              </a:rPr>
              <a:t>elastic</a:t>
            </a:r>
            <a:r>
              <a:rPr lang="pt-BR" b="0" i="1" dirty="0" smtClean="0">
                <a:effectLst/>
              </a:rPr>
              <a:t>-net</a:t>
            </a:r>
            <a:r>
              <a:rPr lang="pt-BR" b="0" dirty="0" smtClean="0">
                <a:effectLst/>
              </a:rPr>
              <a:t> (anexo).</a:t>
            </a:r>
            <a:endParaRPr lang="pt-BR" b="0" dirty="0">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𝒘</m:t>
                              </m:r>
                            </m:lim>
                          </m:limLow>
                        </m:fName>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𝒘</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xmlns=""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xmlns=""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xmlns=""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xmlns=""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xmlns=""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xmlns=""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xmlns=""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xmlns=""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xmlns=""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xmlns=""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xmlns=""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xmlns=""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xmlns=""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smtClean="0">
                                    <a:latin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i="1">
                                    <a:latin typeface="Cambria Math" panose="02040503050406030204" pitchFamily="18" charset="0"/>
                                    <a:ea typeface="Cambria Math" panose="02040503050406030204" pitchFamily="18" charset="0"/>
                                  </a:rPr>
                                </m:ctrlPr>
                              </m:sSubSupPr>
                              <m:e>
                                <m:d>
                                  <m:dPr>
                                    <m:begChr m:val="‖"/>
                                    <m:endChr m:val="‖"/>
                                    <m:ctrlPr>
                                      <a:rPr lang="pt-BR" sz="2400" i="1">
                                        <a:latin typeface="Cambria Math" panose="02040503050406030204" pitchFamily="18" charset="0"/>
                                        <a:ea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xmlns=""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xmlns=""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r>
                      <a:rPr lang="pt-BR" sz="2200">
                        <a:latin typeface="Cambria Math" panose="02040503050406030204" pitchFamily="18" charset="0"/>
                      </a:rPr>
                      <m:t>=</m:t>
                    </m:r>
                    <m:sSup>
                      <m:sSupPr>
                        <m:ctrlPr>
                          <a:rPr lang="pt-BR" sz="2200" i="1">
                            <a:latin typeface="Cambria Math" panose="02040503050406030204" pitchFamily="18" charset="0"/>
                          </a:rPr>
                        </m:ctrlPr>
                      </m:sSupPr>
                      <m:e>
                        <m:d>
                          <m:dPr>
                            <m:ctrlPr>
                              <a:rPr lang="pt-BR" sz="2200" i="1">
                                <a:latin typeface="Cambria Math" panose="02040503050406030204" pitchFamily="18" charset="0"/>
                              </a:rPr>
                            </m:ctrlPr>
                          </m:dPr>
                          <m:e>
                            <m:sSup>
                              <m:sSupPr>
                                <m:ctrlPr>
                                  <a:rPr lang="pt-BR" sz="2200" i="1">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xmlns=""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xmlns=""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xmlns=""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smtClean="0">
                                <a:latin typeface="Cambria Math" panose="02040503050406030204" pitchFamily="18" charset="0"/>
                                <a:ea typeface="Cambria Math" panose="02040503050406030204" pitchFamily="18" charset="0"/>
                              </a:rPr>
                            </m:ctrlPr>
                          </m:dPr>
                          <m:e>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r>
                        <m:rPr>
                          <m:nor/>
                        </m:rPr>
                        <a:rPr lang="pt-BR"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e>
                    </m:d>
                    <m:r>
                      <m:rPr>
                        <m:nor/>
                      </m:rPr>
                      <a:rPr lang="pt-BR">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dirty="0" err="1"/>
              <a:t>Elastic</a:t>
            </a:r>
            <a:r>
              <a:rPr lang="pt-BR"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
        <p:nvSpPr>
          <p:cNvPr id="7" name="Rectangle 6"/>
          <p:cNvSpPr/>
          <p:nvPr/>
        </p:nvSpPr>
        <p:spPr>
          <a:xfrm>
            <a:off x="9606292" y="6581001"/>
            <a:ext cx="2585708" cy="276999"/>
          </a:xfrm>
          <a:prstGeom prst="rect">
            <a:avLst/>
          </a:prstGeom>
        </p:spPr>
        <p:txBody>
          <a:bodyPr wrap="none">
            <a:spAutoFit/>
          </a:bodyPr>
          <a:lstStyle/>
          <a:p>
            <a:r>
              <a:rPr lang="pt-BR" sz="1200" dirty="0">
                <a:solidFill>
                  <a:srgbClr val="00B0F0"/>
                </a:solidFill>
                <a:hlinkClick r:id="rId6"/>
              </a:rPr>
              <a:t>Exemplo: elastic_net_regression.ipynb</a:t>
            </a:r>
            <a:endParaRPr lang="pt-BR" sz="1200" dirty="0">
              <a:solidFill>
                <a:srgbClr val="00B0F0"/>
              </a:solidFill>
            </a:endParaRPr>
          </a:p>
        </p:txBody>
      </p:sp>
    </p:spTree>
    <p:extLst>
      <p:ext uri="{BB962C8B-B14F-4D97-AF65-F5344CB8AC3E}">
        <p14:creationId xmlns:p14="http://schemas.microsoft.com/office/powerpoint/2010/main" val="120408615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286933"/>
                <a:ext cx="11132128" cy="5571067"/>
              </a:xfrm>
            </p:spPr>
            <p:txBody>
              <a:bodyPr>
                <a:normAutofit fontScale="92500" lnSpcReduction="10000"/>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Elastic-Net.</a:t>
                </a:r>
              </a:p>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821" t="-2188" r="-602" b="-1422"/>
                </a:stretch>
              </a:blipFill>
            </p:spPr>
            <p:txBody>
              <a:bodyPr/>
              <a:lstStyle/>
              <a:p>
                <a:r>
                  <a:rPr lang="pt-BR">
                    <a:noFill/>
                  </a:rPr>
                  <a:t> </a:t>
                </a:r>
              </a:p>
            </p:txBody>
          </p:sp>
        </mc:Fallback>
      </mc:AlternateContent>
    </p:spTree>
    <p:extLst>
      <p:ext uri="{BB962C8B-B14F-4D97-AF65-F5344CB8AC3E}">
        <p14:creationId xmlns:p14="http://schemas.microsoft.com/office/powerpoint/2010/main" val="82685464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838200" y="1825624"/>
            <a:ext cx="11102788" cy="5032375"/>
          </a:xfrm>
        </p:spPr>
        <p:txBody>
          <a:bodyPr>
            <a:normAutofit fontScale="92500" lnSpcReduction="20000"/>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a:p>
            <a:r>
              <a:rPr lang="pt-BR" dirty="0"/>
              <a:t>Essa abordagem é chamada de </a:t>
            </a:r>
            <a:r>
              <a:rPr lang="pt-BR" b="1" i="1" dirty="0" err="1"/>
              <a:t>early-stopping</a:t>
            </a:r>
            <a:r>
              <a:rPr lang="pt-BR" b="1" i="1" dirty="0"/>
              <a:t>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18698" y="58762"/>
            <a:ext cx="2783413" cy="176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227E34-0D58-4F7C-A44C-874904CC31AB}"/>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xmlns=""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i="1" dirty="0">
                <a:solidFill>
                  <a:srgbClr val="00B050"/>
                </a:solidFill>
                <a:ea typeface="+mn-lt"/>
                <a:cs typeface="+mn-lt"/>
              </a:rPr>
              <a:t>erro de validação </a:t>
            </a:r>
            <a:r>
              <a:rPr lang="pt-BR" sz="2800" dirty="0">
                <a:ea typeface="+mn-lt"/>
                <a:cs typeface="+mn-lt"/>
              </a:rPr>
              <a:t>aumentar por </a:t>
            </a:r>
            <a:r>
              <a:rPr lang="pt-BR" sz="2800" b="1" i="1" dirty="0">
                <a:ea typeface="+mn-lt"/>
                <a:cs typeface="+mn-lt"/>
              </a:rPr>
              <a:t>P</a:t>
            </a:r>
            <a:r>
              <a:rPr lang="pt-BR" sz="2800" dirty="0">
                <a:ea typeface="+mn-lt"/>
                <a:cs typeface="+mn-lt"/>
              </a:rPr>
              <a:t> épocas sucessivas, sendo o parâmetro </a:t>
            </a:r>
            <a:r>
              <a:rPr lang="pt-BR" sz="2800" b="1" i="1" dirty="0">
                <a:ea typeface="+mn-lt"/>
                <a:cs typeface="+mn-lt"/>
              </a:rPr>
              <a:t>P</a:t>
            </a:r>
            <a:r>
              <a:rPr lang="pt-BR" sz="2800" dirty="0">
                <a:ea typeface="+mn-lt"/>
                <a:cs typeface="+mn-lt"/>
              </a:rPr>
              <a:t> chamado de </a:t>
            </a:r>
            <a:r>
              <a:rPr lang="pt-BR" sz="2800" b="1" i="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i="1" dirty="0">
                <a:ea typeface="+mn-lt"/>
                <a:cs typeface="+mn-lt"/>
              </a:rPr>
              <a:t>menor erro de validação</a:t>
            </a:r>
            <a:r>
              <a:rPr lang="pt-BR" sz="2800" dirty="0">
                <a:ea typeface="+mn-lt"/>
                <a:cs typeface="+mn-lt"/>
              </a:rPr>
              <a:t>. Ao final do treinamento, os </a:t>
            </a:r>
            <a:r>
              <a:rPr lang="pt-BR" sz="2800" b="1" i="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dirty="0"/>
              <a:t>Early-</a:t>
            </a:r>
            <a:r>
              <a:rPr lang="pt-BR" dirty="0" err="1"/>
              <a:t>stopping</a:t>
            </a:r>
            <a:r>
              <a:rPr lang="pt-BR" dirty="0"/>
              <a:t>: exemplo</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838197" y="1343392"/>
                <a:ext cx="7827338" cy="5514608"/>
              </a:xfrm>
            </p:spPr>
            <p:txBody>
              <a:bodyPr>
                <a:normAutofit fontScale="77500" lnSpcReduction="20000"/>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i="1" dirty="0"/>
                  <a:t>ordem do modelo é muito maior do que a ordem da função verdadeira </a:t>
                </a:r>
                <a:r>
                  <a:rPr lang="pt-BR" dirty="0"/>
                  <a:t>(alta flexibilidade), além de ser maior do que o número de amostras de treinamento (sobreajuste).</a:t>
                </a:r>
              </a:p>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838197" y="1343392"/>
                <a:ext cx="7827338" cy="5514608"/>
              </a:xfrm>
              <a:blipFill rotWithShape="0">
                <a:blip r:embed="rId3"/>
                <a:stretch>
                  <a:fillRect l="-934" t="-2210" r="-389"/>
                </a:stretch>
              </a:blipFill>
            </p:spPr>
            <p:txBody>
              <a:bodyPr/>
              <a:lstStyle/>
              <a:p>
                <a:r>
                  <a:rPr lang="pt-BR">
                    <a:noFill/>
                  </a:rPr>
                  <a:t> </a:t>
                </a:r>
              </a:p>
            </p:txBody>
          </p:sp>
        </mc:Fallback>
      </mc:AlternateContent>
      <p:sp>
        <p:nvSpPr>
          <p:cNvPr id="3" name="Rectangle 2"/>
          <p:cNvSpPr/>
          <p:nvPr/>
        </p:nvSpPr>
        <p:spPr>
          <a:xfrm>
            <a:off x="9930793" y="6515203"/>
            <a:ext cx="2103461" cy="276999"/>
          </a:xfrm>
          <a:prstGeom prst="rect">
            <a:avLst/>
          </a:prstGeom>
        </p:spPr>
        <p:txBody>
          <a:bodyPr wrap="none">
            <a:spAutoFit/>
          </a:bodyPr>
          <a:lstStyle/>
          <a:p>
            <a:r>
              <a:rPr lang="pt-BR" sz="1200" dirty="0">
                <a:solidFill>
                  <a:srgbClr val="00B0F0"/>
                </a:solidFill>
                <a:hlinkClick r:id="rId4"/>
              </a:rPr>
              <a:t>Exemplo: </a:t>
            </a:r>
            <a:r>
              <a:rPr lang="pt-BR" sz="1200" dirty="0" err="1">
                <a:solidFill>
                  <a:srgbClr val="00B0F0"/>
                </a:solidFill>
                <a:hlinkClick r:id="rId4"/>
              </a:rPr>
              <a:t>early_stopping.ipynb</a:t>
            </a:r>
            <a:endParaRPr lang="pt-BR" sz="1200" dirty="0">
              <a:solidFill>
                <a:srgbClr val="00B0F0"/>
              </a:solidFill>
            </a:endParaRPr>
          </a:p>
        </p:txBody>
      </p:sp>
      <p:pic>
        <p:nvPicPr>
          <p:cNvPr id="4" name="Picture 3"/>
          <p:cNvPicPr>
            <a:picLocks noChangeAspect="1"/>
          </p:cNvPicPr>
          <p:nvPr/>
        </p:nvPicPr>
        <p:blipFill rotWithShape="1">
          <a:blip r:embed="rId5" cstate="print">
            <a:extLst>
              <a:ext uri="{28A0092B-C50C-407E-A947-70E740481C1C}">
                <a14:useLocalDpi xmlns:a14="http://schemas.microsoft.com/office/drawing/2010/main" val="0"/>
              </a:ext>
            </a:extLst>
          </a:blip>
          <a:srcRect l="1814" t="10842" r="9071"/>
          <a:stretch/>
        </p:blipFill>
        <p:spPr>
          <a:xfrm>
            <a:off x="8525949" y="674196"/>
            <a:ext cx="3660735" cy="2441657"/>
          </a:xfrm>
          <a:prstGeom prst="rect">
            <a:avLst/>
          </a:prstGeom>
        </p:spPr>
      </p:pic>
      <p:pic>
        <p:nvPicPr>
          <p:cNvPr id="7" name="Picture 6"/>
          <p:cNvPicPr>
            <a:picLocks noChangeAspect="1"/>
          </p:cNvPicPr>
          <p:nvPr/>
        </p:nvPicPr>
        <p:blipFill rotWithShape="1">
          <a:blip r:embed="rId6" cstate="print">
            <a:extLst>
              <a:ext uri="{28A0092B-C50C-407E-A947-70E740481C1C}">
                <a14:useLocalDpi xmlns:a14="http://schemas.microsoft.com/office/drawing/2010/main" val="0"/>
              </a:ext>
            </a:extLst>
          </a:blip>
          <a:srcRect l="3854" t="9822" r="9410"/>
          <a:stretch/>
        </p:blipFill>
        <p:spPr>
          <a:xfrm>
            <a:off x="8526653" y="3545233"/>
            <a:ext cx="3665347" cy="2540590"/>
          </a:xfrm>
          <a:prstGeom prst="rect">
            <a:avLst/>
          </a:prstGeom>
        </p:spPr>
      </p:pic>
      <p:sp>
        <p:nvSpPr>
          <p:cNvPr id="8" name="Retângulo 7"/>
          <p:cNvSpPr/>
          <p:nvPr/>
        </p:nvSpPr>
        <p:spPr>
          <a:xfrm>
            <a:off x="4093534" y="2439058"/>
            <a:ext cx="1679944" cy="30330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5773478" y="2860633"/>
            <a:ext cx="2009554" cy="276999"/>
          </a:xfrm>
          <a:prstGeom prst="rect">
            <a:avLst/>
          </a:prstGeom>
          <a:noFill/>
        </p:spPr>
        <p:txBody>
          <a:bodyPr wrap="square" rtlCol="0">
            <a:spAutoFit/>
          </a:bodyPr>
          <a:lstStyle/>
          <a:p>
            <a:r>
              <a:rPr lang="pt-BR" sz="1200" dirty="0"/>
              <a:t>Função verdadeira</a:t>
            </a:r>
          </a:p>
        </p:txBody>
      </p:sp>
      <p:cxnSp>
        <p:nvCxnSpPr>
          <p:cNvPr id="10" name="Conector angulado 9"/>
          <p:cNvCxnSpPr>
            <a:stCxn id="8" idx="2"/>
            <a:endCxn id="5" idx="1"/>
          </p:cNvCxnSpPr>
          <p:nvPr/>
        </p:nvCxnSpPr>
        <p:spPr>
          <a:xfrm rot="16200000" flipH="1">
            <a:off x="5225109" y="2450763"/>
            <a:ext cx="256767" cy="839972"/>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xmlns=""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xmlns=""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xmlns=""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xmlns=""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xmlns=""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xmlns=""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xmlns=""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xmlns=""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xmlns=""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xmlns=""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xmlns=""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xmlns=""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dirty="0"/>
                          <m:t>Fun</m:t>
                        </m:r>
                        <m:r>
                          <m:rPr>
                            <m:nor/>
                          </m:rPr>
                          <a:rPr lang="pt-BR" dirty="0"/>
                          <m:t>çã</m:t>
                        </m:r>
                        <m:r>
                          <m:rPr>
                            <m:nor/>
                          </m:rPr>
                          <a:rPr lang="pt-BR" dirty="0"/>
                          <m:t>o</m:t>
                        </m:r>
                        <m:r>
                          <m:rPr>
                            <m:nor/>
                          </m:rPr>
                          <a:rPr lang="pt-BR" dirty="0"/>
                          <m:t> </m:t>
                        </m:r>
                        <m:r>
                          <m:rPr>
                            <m:nor/>
                          </m:rPr>
                          <a:rPr lang="pt-BR" dirty="0"/>
                          <m:t>de</m:t>
                        </m:r>
                        <m:r>
                          <m:rPr>
                            <m:nor/>
                          </m:rPr>
                          <a:rPr lang="pt-BR" dirty="0"/>
                          <m:t> </m:t>
                        </m:r>
                        <m:r>
                          <m:rPr>
                            <m:nor/>
                          </m:rPr>
                          <a:rPr lang="pt-BR" dirty="0"/>
                          <m:t>erro</m:t>
                        </m:r>
                        <m:r>
                          <m:rPr>
                            <m:nor/>
                          </m:rPr>
                          <a:rPr lang="pt-BR"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xmlns=""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xmlns=""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xmlns=""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9315</TotalTime>
  <Words>15303</Words>
  <Application>Microsoft Office PowerPoint</Application>
  <PresentationFormat>Widescreen</PresentationFormat>
  <Paragraphs>1404</Paragraphs>
  <Slides>119</Slides>
  <Notes>72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119</vt:i4>
      </vt:variant>
    </vt:vector>
  </HeadingPairs>
  <TitlesOfParts>
    <vt:vector size="127"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Early-stopping: Parada antecipada</vt:lpstr>
      <vt:lpstr>Early-stopping: critério de parada</vt:lpstr>
      <vt:lpstr>Early-stopping: exemplo</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2114</cp:revision>
  <dcterms:created xsi:type="dcterms:W3CDTF">2020-01-20T13:50:05Z</dcterms:created>
  <dcterms:modified xsi:type="dcterms:W3CDTF">2026-03-23T21:38:09Z</dcterms:modified>
</cp:coreProperties>
</file>