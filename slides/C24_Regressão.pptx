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296" r:id="rId3"/>
    <p:sldId id="463" r:id="rId4"/>
    <p:sldId id="517" r:id="rId5"/>
    <p:sldId id="518" r:id="rId6"/>
    <p:sldId id="464" r:id="rId7"/>
    <p:sldId id="470" r:id="rId8"/>
    <p:sldId id="471" r:id="rId9"/>
    <p:sldId id="472" r:id="rId10"/>
    <p:sldId id="465" r:id="rId11"/>
    <p:sldId id="520" r:id="rId12"/>
    <p:sldId id="522" r:id="rId13"/>
    <p:sldId id="523" r:id="rId14"/>
    <p:sldId id="524" r:id="rId15"/>
    <p:sldId id="481" r:id="rId16"/>
    <p:sldId id="525" r:id="rId17"/>
    <p:sldId id="320" r:id="rId18"/>
    <p:sldId id="521" r:id="rId19"/>
    <p:sldId id="526" r:id="rId20"/>
    <p:sldId id="293" r:id="rId21"/>
    <p:sldId id="306" r:id="rId2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021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Exemplos de aplicações</a:t>
            </a:r>
            <a:r>
              <a:rPr lang="pt-BR" baseline="0" dirty="0"/>
              <a:t> de regressão linear: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preço de casas.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salário de um empregado baseado em sua 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📊 1. Previsão de vendas em negócios</a:t>
            </a:r>
          </a:p>
          <a:p>
            <a:r>
              <a:rPr lang="pt-BR" dirty="0"/>
              <a:t>Empresas analisam dados históricos de vendas, publicidade, sazonalidade e indicadores econômicos para </a:t>
            </a:r>
            <a:r>
              <a:rPr lang="pt-BR" b="1" dirty="0"/>
              <a:t>prever vendas futuras</a:t>
            </a:r>
            <a:r>
              <a:rPr lang="pt-BR" dirty="0"/>
              <a:t>. Isso ajuda no planejamento de estoque, orçamento e campanhas de marketing.</a:t>
            </a:r>
          </a:p>
          <a:p>
            <a:endParaRPr lang="en-US" dirty="0"/>
          </a:p>
          <a:p>
            <a:r>
              <a:rPr lang="pt-BR" b="1" dirty="0"/>
              <a:t>🏠 2. Estimativa de preços de imóveis</a:t>
            </a:r>
          </a:p>
          <a:p>
            <a:r>
              <a:rPr lang="pt-BR" dirty="0"/>
              <a:t>Corretores e analistas usam regressão para </a:t>
            </a:r>
            <a:r>
              <a:rPr lang="pt-BR" b="1" dirty="0"/>
              <a:t>estimar o preço de uma casa</a:t>
            </a:r>
            <a:r>
              <a:rPr lang="pt-BR" dirty="0"/>
              <a:t> com base em características como área, número de quartos, localização e proximidade de escolas.</a:t>
            </a:r>
          </a:p>
          <a:p>
            <a:endParaRPr lang="en-US" dirty="0"/>
          </a:p>
          <a:p>
            <a:r>
              <a:rPr lang="pt-BR" b="1" dirty="0"/>
              <a:t>💳 4. Avaliação de risco de crédito</a:t>
            </a:r>
          </a:p>
          <a:p>
            <a:r>
              <a:rPr lang="pt-BR" dirty="0"/>
              <a:t>Bancos e instituições financeiras aplicam regressão para </a:t>
            </a:r>
            <a:r>
              <a:rPr lang="pt-BR" b="1" dirty="0"/>
              <a:t>predizer probabilidade de inadimplência</a:t>
            </a:r>
            <a:r>
              <a:rPr lang="pt-BR" dirty="0"/>
              <a:t> de clientes, analisando renda, histórico de crédito, emprego, etc., orientando decisões de empréstimos.</a:t>
            </a:r>
          </a:p>
          <a:p>
            <a:endParaRPr lang="en-US" dirty="0"/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1009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2866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335404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37087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aproximar uma função senoidal usando um polinômio, o método mais comum e elegante é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Série de Taylor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(especificamente a Série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Maclaurin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quando centrada em zero).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fórmula para o seno é: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(x)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x -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{x^3}{3!} +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{x^5}{5!} -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{x^7}{7!} +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</a:t>
            </a:r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58079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Percebam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é função do vetor de pesos, pois variando os valores dos pesos, ficamos mais próximos ou distantes da função hipótese que minimiza o erro.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Percebam que </a:t>
                </a:r>
                <a:r>
                  <a:rPr lang="pt-BR" i="0">
                    <a:latin typeface="Cambria Math" panose="02040503050406030204" pitchFamily="18" charset="0"/>
                  </a:rPr>
                  <a:t>𝐽_𝑒 (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i="0">
                    <a:latin typeface="Cambria Math" panose="02040503050406030204" pitchFamily="18" charset="0"/>
                  </a:rPr>
                  <a:t>)</a:t>
                </a:r>
                <a:r>
                  <a:rPr lang="pt-BR" dirty="0"/>
                  <a:t> é função do vetor de pesos, pois variando os valores dos pesos, ficamos mais próximos ou distantes da função hipótese que minimiza o erro.</a:t>
                </a:r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895993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8660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4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Regressão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520" y="2921704"/>
            <a:ext cx="2224946" cy="14816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109" y="2920986"/>
            <a:ext cx="1965031" cy="147377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97" y="2929582"/>
            <a:ext cx="2620040" cy="1473773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6"/>
            <a:ext cx="10515600" cy="1073439"/>
          </a:xfrm>
        </p:spPr>
        <p:txBody>
          <a:bodyPr>
            <a:normAutofit/>
          </a:bodyPr>
          <a:lstStyle/>
          <a:p>
            <a:r>
              <a:rPr lang="pt-BR" b="1" dirty="0"/>
              <a:t>Exemplo 1</a:t>
            </a:r>
            <a:r>
              <a:rPr lang="pt-BR" dirty="0"/>
              <a:t>: Estimar o preço de casas.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</a:t>
                </a:r>
                <a:r>
                  <a:rPr lang="pt-BR" b="1" i="1" dirty="0"/>
                  <a:t>regressão</a:t>
                </a:r>
                <a:r>
                  <a:rPr lang="pt-BR" dirty="0"/>
                  <a:t> para encontrar uma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relação matemática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o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pt-BR" dirty="0"/>
                  <a:t> de quartos,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 </m:t>
                    </m:r>
                  </m:oMath>
                </a14:m>
                <a:r>
                  <a:rPr lang="pt-BR" dirty="0"/>
                  <a:t>de vagas na garagem, se tem piscina, localização, área, etc. de uma casa e seu valor.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agilizar o processo de avaliação de propriedades.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  <a:blipFill>
                <a:blip r:embed="rId6"/>
                <a:stretch>
                  <a:fillRect l="-981" t="-7719" r="-1035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1555520" y="4556041"/>
            <a:ext cx="2224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R$ 1.000.000,00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4109" y="4567526"/>
            <a:ext cx="2003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R$ 200.000,00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147" y="4517680"/>
            <a:ext cx="262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rgbClr val="FF0000"/>
                </a:solidFill>
              </a:rPr>
              <a:t>???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600" dirty="0"/>
                  <a:t>5 quartos, 3 vagas na garagem, 1 piscina, cond. de luxo, 500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blipFill>
                <a:blip r:embed="rId7"/>
                <a:stretch>
                  <a:fillRect l="-418" t="-3093" r="-1879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1 quarto, sem vaga na garagem, bairro afastado, 70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blipFill>
                <a:blip r:embed="rId8"/>
                <a:stretch>
                  <a:fillRect l="-870" t="-3093" r="-304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2 quartos, 1 vaga na garagem, centro, 200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blipFill>
                <a:blip r:embed="rId9"/>
                <a:stretch>
                  <a:fillRect t="-309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80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7"/>
            <a:ext cx="10515600" cy="604252"/>
          </a:xfrm>
        </p:spPr>
        <p:txBody>
          <a:bodyPr>
            <a:normAutofit/>
          </a:bodyPr>
          <a:lstStyle/>
          <a:p>
            <a:r>
              <a:rPr lang="pt-BR" b="1" dirty="0"/>
              <a:t>Exemplo 2</a:t>
            </a:r>
            <a:r>
              <a:rPr lang="pt-BR" dirty="0"/>
              <a:t>: Estimar as vendas de picolés.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regressão para encontrar um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mapeamento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a temperatura média de um dia e a quantidade de picolés vendidos.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reduzir o desperdício e aumentar os lucros.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  <a:blipFill>
                <a:blip r:embed="rId3"/>
                <a:stretch>
                  <a:fillRect l="-977" t="-10599" b="-78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D3B9ED84-5245-7889-8D8D-F74C85EB5B6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62" t="9838" r="8646"/>
          <a:stretch/>
        </p:blipFill>
        <p:spPr>
          <a:xfrm>
            <a:off x="3811838" y="2364559"/>
            <a:ext cx="3800818" cy="2934238"/>
          </a:xfrm>
          <a:prstGeom prst="rect">
            <a:avLst/>
          </a:prstGeom>
        </p:spPr>
      </p:pic>
      <p:pic>
        <p:nvPicPr>
          <p:cNvPr id="15" name="Picture 2" descr="Picolé Electron – Sorvete Itália">
            <a:extLst>
              <a:ext uri="{FF2B5EF4-FFF2-40B4-BE49-F238E27FC236}">
                <a16:creationId xmlns:a16="http://schemas.microsoft.com/office/drawing/2014/main" id="{673E1C42-10C3-AF6F-1FF0-110BD135C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446" y="3547541"/>
            <a:ext cx="1075397" cy="107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777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C16A22-1E29-D959-69D9-364EB3DA7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3975"/>
            <a:ext cx="10515600" cy="1670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i="1" dirty="0"/>
              <a:t>Como podemos resolver esses problemas de estimação?</a:t>
            </a:r>
          </a:p>
        </p:txBody>
      </p:sp>
    </p:spTree>
    <p:extLst>
      <p:ext uri="{BB962C8B-B14F-4D97-AF65-F5344CB8AC3E}">
        <p14:creationId xmlns:p14="http://schemas.microsoft.com/office/powerpoint/2010/main" val="38307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chine Learning : 'Regression' - Day 3">
            <a:extLst>
              <a:ext uri="{FF2B5EF4-FFF2-40B4-BE49-F238E27FC236}">
                <a16:creationId xmlns:a16="http://schemas.microsoft.com/office/drawing/2014/main" id="{8C5B78AE-E842-ED4F-93D3-10BD11500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089" y="1589917"/>
            <a:ext cx="6332081" cy="4051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207647-D845-CF7E-6030-46E4389E11DD}"/>
              </a:ext>
            </a:extLst>
          </p:cNvPr>
          <p:cNvSpPr txBox="1"/>
          <p:nvPr/>
        </p:nvSpPr>
        <p:spPr>
          <a:xfrm>
            <a:off x="7304313" y="2798019"/>
            <a:ext cx="43216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800" dirty="0"/>
              <a:t>Usando regressão linear!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695472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linear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F0953-075A-79EF-554F-4E05524F1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2501" y="1825624"/>
            <a:ext cx="6533004" cy="5032375"/>
          </a:xfrm>
        </p:spPr>
        <p:txBody>
          <a:bodyPr>
            <a:normAutofit/>
          </a:bodyPr>
          <a:lstStyle/>
          <a:p>
            <a:r>
              <a:rPr lang="pt-BR" dirty="0"/>
              <a:t>É um dos algoritmos mais simples, antigos e usados de aprendizado de máquina.</a:t>
            </a:r>
          </a:p>
          <a:p>
            <a:r>
              <a:rPr lang="pt-BR" dirty="0"/>
              <a:t>Nos dará </a:t>
            </a:r>
            <a:r>
              <a:rPr lang="pt-BR" b="1" i="1" dirty="0"/>
              <a:t>intuições</a:t>
            </a:r>
            <a:r>
              <a:rPr lang="pt-BR" dirty="0"/>
              <a:t> importantes para o </a:t>
            </a:r>
            <a:r>
              <a:rPr lang="pt-BR" b="1" i="1" dirty="0"/>
              <a:t>entendimento</a:t>
            </a:r>
            <a:r>
              <a:rPr lang="pt-BR" dirty="0"/>
              <a:t> de </a:t>
            </a:r>
            <a:r>
              <a:rPr lang="pt-BR" b="1" i="1" dirty="0"/>
              <a:t>algoritmos mais complexos</a:t>
            </a:r>
            <a:r>
              <a:rPr lang="pt-BR" dirty="0"/>
              <a:t>, como </a:t>
            </a:r>
            <a:r>
              <a:rPr lang="pt-BR" b="1" i="1" dirty="0"/>
              <a:t>classificadores</a:t>
            </a:r>
            <a:r>
              <a:rPr lang="pt-BR" dirty="0"/>
              <a:t> e </a:t>
            </a:r>
            <a:r>
              <a:rPr lang="pt-BR" b="1" i="1" dirty="0"/>
              <a:t>redes neurais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AA6EE23-CD07-9149-8335-18879B84AB15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7" name="Agrupar 8">
              <a:extLst>
                <a:ext uri="{FF2B5EF4-FFF2-40B4-BE49-F238E27FC236}">
                  <a16:creationId xmlns:a16="http://schemas.microsoft.com/office/drawing/2014/main" id="{CF20AF4F-BFBD-21EC-07E1-41C0B219150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1" name="Imagem 4">
                <a:extLst>
                  <a:ext uri="{FF2B5EF4-FFF2-40B4-BE49-F238E27FC236}">
                    <a16:creationId xmlns:a16="http://schemas.microsoft.com/office/drawing/2014/main" id="{4D31E461-1A6A-29D1-2297-DFBFD51CB0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CaixaDeTexto 5">
                    <a:extLst>
                      <a:ext uri="{FF2B5EF4-FFF2-40B4-BE49-F238E27FC236}">
                        <a16:creationId xmlns:a16="http://schemas.microsoft.com/office/drawing/2014/main" id="{E01136AD-4899-EC9B-8DFF-D35176FF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Conector de Seta Reta 7">
                <a:extLst>
                  <a:ext uri="{FF2B5EF4-FFF2-40B4-BE49-F238E27FC236}">
                    <a16:creationId xmlns:a16="http://schemas.microsoft.com/office/drawing/2014/main" id="{E6A4E71A-8296-6E9B-6F53-58CD005C17C6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3">
                  <a:extLst>
                    <a:ext uri="{FF2B5EF4-FFF2-40B4-BE49-F238E27FC236}">
                      <a16:creationId xmlns:a16="http://schemas.microsoft.com/office/drawing/2014/main" id="{9E8479D2-8EC0-0456-F706-2969C0BC1122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9012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o objetivo da regressão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Objetivo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rgbClr val="00B050"/>
                    </a:solidFill>
                  </a:rPr>
                  <a:t>mapeie</a:t>
                </a:r>
                <a:r>
                  <a:rPr lang="pt-BR" dirty="0"/>
                  <a:t> os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uma variável de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 ajuste aos dados coletados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forma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ótima</a:t>
                </a:r>
                <a:r>
                  <a:rPr lang="pt-BR" dirty="0"/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Ótimo no sentido da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minimização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da diferença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entre as predições feitas por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valores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), e os </a:t>
                </a:r>
                <a:r>
                  <a:rPr lang="pt-BR" b="1" i="0" dirty="0">
                    <a:solidFill>
                      <a:srgbClr val="7030A0"/>
                    </a:solidFill>
                    <a:effectLst/>
                  </a:rPr>
                  <a:t>rótulos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</a:t>
                </a:r>
                <a:r>
                  <a:rPr lang="pt-BR" dirty="0"/>
                  <a:t>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  <a:blipFill>
                <a:blip r:embed="rId3"/>
                <a:stretch>
                  <a:fillRect l="-1630" t="-1937" r="-2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B11DDB3-BDC9-57EF-0BC8-921A1B6B8D9B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9" name="Agrupar 8">
              <a:extLst>
                <a:ext uri="{FF2B5EF4-FFF2-40B4-BE49-F238E27FC236}">
                  <a16:creationId xmlns:a16="http://schemas.microsoft.com/office/drawing/2014/main" id="{7184A45B-D6CC-54CD-EE0B-7CE85A9D94D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5" name="Imagem 4">
                <a:extLst>
                  <a:ext uri="{FF2B5EF4-FFF2-40B4-BE49-F238E27FC236}">
                    <a16:creationId xmlns:a16="http://schemas.microsoft.com/office/drawing/2014/main" id="{AF1170FE-5534-DC43-8150-E2919F18F24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Conector de Seta Reta 7">
                <a:extLst>
                  <a:ext uri="{FF2B5EF4-FFF2-40B4-BE49-F238E27FC236}">
                    <a16:creationId xmlns:a16="http://schemas.microsoft.com/office/drawing/2014/main" id="{29596D1D-F48C-73D6-3778-6E52A3153EFC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0587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</p:spPr>
            <p:txBody>
              <a:bodyPr/>
              <a:lstStyle/>
              <a:p>
                <a:r>
                  <a:rPr lang="pt-BR" dirty="0"/>
                  <a:t>Dado que possuímos um </a:t>
                </a:r>
                <a:r>
                  <a:rPr lang="pt-BR" b="1" dirty="0"/>
                  <a:t>conjunto</a:t>
                </a:r>
                <a:r>
                  <a:rPr lang="pt-BR" dirty="0"/>
                  <a:t> de valores de entrada,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atributos</a:t>
                </a:r>
                <a:r>
                  <a:rPr lang="pt-BR" dirty="0"/>
                  <a:t>), e os seus respectivos 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rótulos</a:t>
                </a:r>
                <a:r>
                  <a:rPr lang="pt-BR" dirty="0"/>
                  <a:t>), </a:t>
                </a:r>
                <a:r>
                  <a:rPr lang="pt-BR" b="1" dirty="0">
                    <a:solidFill>
                      <a:srgbClr val="00B0F0"/>
                    </a:solidFill>
                  </a:rPr>
                  <a:t>que tipo de aprendizado é realizado pela regressão linear?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  <a:blipFill>
                <a:blip r:embed="rId2"/>
                <a:stretch>
                  <a:fillRect l="-169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1235B076-2510-BA54-045E-9FDA19549589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6BA6F8C4-313D-7B7A-8A78-327F3069654F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2FDB8C03-A236-C2AB-BA26-35BCEB1255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D1A24C38-EFA6-2F8B-5C0C-9C486DD9AA95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57EE6B8B-A053-340A-CAEE-30CFEBD53D7E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5644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7D13973-0CC4-804D-B65C-ACF1497CA131}"/>
              </a:ext>
            </a:extLst>
          </p:cNvPr>
          <p:cNvSpPr txBox="1"/>
          <p:nvPr/>
        </p:nvSpPr>
        <p:spPr>
          <a:xfrm>
            <a:off x="6543036" y="3032554"/>
            <a:ext cx="398345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400" b="1" dirty="0">
                <a:solidFill>
                  <a:srgbClr val="00B050"/>
                </a:solidFill>
              </a:rPr>
              <a:t>Aprendizado supervisionado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FA83DA-1176-B494-DF6D-26AABD487B72}"/>
              </a:ext>
            </a:extLst>
          </p:cNvPr>
          <p:cNvGrpSpPr/>
          <p:nvPr/>
        </p:nvGrpSpPr>
        <p:grpSpPr>
          <a:xfrm>
            <a:off x="606971" y="2326789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3601490F-BA92-2E2F-4176-8548977CDC6B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5C8759EA-A495-1092-5721-C2D5BB9697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3DC28E94-1E78-E96F-81AC-6660B1EAE0DB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18708C14-B461-C0FC-A091-97D0B01047D3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20068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645331-4B2E-BB50-BF81-FDF8C639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53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Porque a saída da </a:t>
                </a:r>
                <a:r>
                  <a:rPr lang="pt-BR" b="1" i="1" dirty="0"/>
                  <a:t>função aproximadora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é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modelada</a:t>
                </a:r>
                <a:r>
                  <a:rPr lang="pt-BR" dirty="0"/>
                  <a:t> como sendo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linear dos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em relação aos pesos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usamos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polinômios</a:t>
                </a:r>
                <a:r>
                  <a:rPr lang="pt-BR" dirty="0"/>
                  <a:t> para modelar essa relação.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=1+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(</a:t>
                </a:r>
                <a:r>
                  <a:rPr lang="en-US" dirty="0" err="1"/>
                  <a:t>polinômio</a:t>
                </a:r>
                <a:r>
                  <a:rPr lang="en-US" dirty="0"/>
                  <a:t> de </a:t>
                </a:r>
                <a:r>
                  <a:rPr lang="en-US" dirty="0" err="1"/>
                  <a:t>grau</a:t>
                </a:r>
                <a:r>
                  <a:rPr lang="en-US" dirty="0"/>
                  <a:t> 2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variável</a:t>
                </a:r>
                <a:r>
                  <a:rPr lang="en-US" dirty="0"/>
                  <a:t>).</a:t>
                </a:r>
                <a:endParaRPr lang="pt-BR" i="1" dirty="0"/>
              </a:p>
              <a:p>
                <a:r>
                  <a:rPr lang="pt-BR" dirty="0"/>
                  <a:t>Pois segundo o teorema da aproximação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Stone-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Weierstrass</a:t>
                </a:r>
                <a:r>
                  <a:rPr lang="pt-BR" dirty="0"/>
                  <a:t> “</a:t>
                </a:r>
                <a:r>
                  <a:rPr lang="pt-BR" i="1" dirty="0"/>
                  <a:t>qualquer função contínua no intervalo fechado [a, b] pode ser uniformemente aproximada por um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polinômio</a:t>
                </a:r>
                <a:r>
                  <a:rPr lang="pt-BR" i="1" dirty="0"/>
                  <a:t>”.</a:t>
                </a:r>
              </a:p>
              <a:p>
                <a:r>
                  <a:rPr lang="pt-BR" dirty="0"/>
                  <a:t>Portanto, polinômios podem modelar qualquer tipo de mapeamento  (lineares ou não lineares) entre os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bastando apenas </a:t>
                </a:r>
                <a:r>
                  <a:rPr lang="pt-BR" b="1" dirty="0">
                    <a:solidFill>
                      <a:srgbClr val="7030A0"/>
                    </a:solidFill>
                  </a:rPr>
                  <a:t>encontrar os pesos e o grau (ou ordem) ideal</a:t>
                </a:r>
                <a:r>
                  <a:rPr lang="pt-BR" dirty="0">
                    <a:solidFill>
                      <a:srgbClr val="7030A0"/>
                    </a:solidFill>
                  </a:rPr>
                  <a:t>.</a:t>
                </a:r>
              </a:p>
              <a:p>
                <a:endParaRPr lang="pt-BR" i="1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5325" cy="5032375"/>
              </a:xfrm>
              <a:blipFill>
                <a:blip r:embed="rId3"/>
                <a:stretch>
                  <a:fillRect l="-984" t="-1937" r="-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2877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0803C-34C9-CCF4-6673-47CCCF2C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6B386-02B2-D964-73F3-196F9F79B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91742" y="1825624"/>
                <a:ext cx="741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Podemos modelar um </a:t>
                </a:r>
                <a:r>
                  <a:rPr lang="pt-BR" b="1" dirty="0"/>
                  <a:t>mapeamento linear</a:t>
                </a:r>
                <a:r>
                  <a:rPr lang="pt-BR" dirty="0"/>
                  <a:t> com a equação de uma reta: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ter um </a:t>
                </a:r>
                <a:r>
                  <a:rPr lang="pt-BR" b="1" dirty="0"/>
                  <a:t>mapeamento não-linear</a:t>
                </a:r>
                <a:r>
                  <a:rPr lang="pt-BR" dirty="0"/>
                  <a:t> com uma equação que aproxima uma </a:t>
                </a:r>
                <a:r>
                  <a:rPr lang="pt-BR" dirty="0" err="1"/>
                  <a:t>senoide</a:t>
                </a:r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7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Também podemos ter mapeamentos lineares e não lineares </a:t>
                </a:r>
                <a:r>
                  <a:rPr lang="pt-BR" b="1" dirty="0"/>
                  <a:t>com dois ou mais atributos</a:t>
                </a:r>
                <a:r>
                  <a:rPr lang="pt-BR" dirty="0"/>
                  <a:t>.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1742" y="1825624"/>
                <a:ext cx="7413171" cy="5032375"/>
              </a:xfrm>
              <a:blipFill>
                <a:blip r:embed="rId3"/>
                <a:stretch>
                  <a:fillRect l="-1480" t="-1937" r="-1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12007748-1241-43BA-BCB2-C3CEA1054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15" y="1690688"/>
            <a:ext cx="3456316" cy="2517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0BE679B-48AF-4331-B659-21FE08DC2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15" y="4275212"/>
            <a:ext cx="3456316" cy="2517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9425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E141-9BEA-1A7F-F3BE-B2EC1675E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636E6F2-3CD7-063A-5B72-5FF656E61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3975"/>
            <a:ext cx="10515600" cy="1670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encontramos os pesos e o melhor grau?</a:t>
            </a:r>
          </a:p>
        </p:txBody>
      </p:sp>
    </p:spTree>
    <p:extLst>
      <p:ext uri="{BB962C8B-B14F-4D97-AF65-F5344CB8AC3E}">
        <p14:creationId xmlns:p14="http://schemas.microsoft.com/office/powerpoint/2010/main" val="2819797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D1460-F0A9-8CC3-99B3-716DC4544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da regressão linear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F1D988-6925-C286-BA9F-B4A4851E2F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enquanto, vamos assumir que já conhecemos o melhor grau do polinômio.</a:t>
                </a:r>
              </a:p>
              <a:p>
                <a:r>
                  <a:rPr lang="pt-BR" dirty="0"/>
                  <a:t>Como temos as entradas (i.e., atributos) e as saídas esperadas (i.e., rótulos), o </a:t>
                </a:r>
                <a:r>
                  <a:rPr lang="pt-BR" b="1" dirty="0"/>
                  <a:t>objetivo</a:t>
                </a:r>
                <a:r>
                  <a:rPr lang="pt-BR" dirty="0"/>
                  <a:t> passa a ser encontrar os </a:t>
                </a:r>
                <a:r>
                  <a:rPr lang="pt-BR" b="1" dirty="0"/>
                  <a:t>pesos ótimos</a:t>
                </a:r>
                <a:r>
                  <a:rPr lang="pt-BR" dirty="0"/>
                  <a:t> que </a:t>
                </a:r>
                <a:r>
                  <a:rPr lang="pt-BR" b="1" dirty="0"/>
                  <a:t>minimizam a distância (i.e., </a:t>
                </a:r>
                <a:r>
                  <a:rPr lang="pt-BR" b="1" dirty="0">
                    <a:solidFill>
                      <a:srgbClr val="7030A0"/>
                    </a:solidFill>
                  </a:rPr>
                  <a:t>erro</a:t>
                </a:r>
                <a:r>
                  <a:rPr lang="pt-BR" b="1" dirty="0"/>
                  <a:t>) entre predição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 (i.e., saída do modelo) </a:t>
                </a:r>
                <a:r>
                  <a:rPr lang="pt-BR" b="1" dirty="0"/>
                  <a:t>e os rótulos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Escrevendo como um problema de otimização, temos que o objetivo é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Encontrar o </a:t>
                </a:r>
                <a:r>
                  <a:rPr lang="pt-BR" b="1" dirty="0">
                    <a:solidFill>
                      <a:srgbClr val="0070C0"/>
                    </a:solidFill>
                  </a:rPr>
                  <a:t>vetor de pesos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que minimize o </a:t>
                </a:r>
                <a:r>
                  <a:rPr lang="pt-BR" b="1" dirty="0"/>
                  <a:t>erro</a:t>
                </a:r>
                <a:r>
                  <a:rPr lang="pt-BR" dirty="0"/>
                  <a:t>, dado por uma </a:t>
                </a:r>
                <a:r>
                  <a:rPr lang="pt-BR" b="1" dirty="0"/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entre a aproximação,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, e o valor esperado,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para todos </a:t>
                </a:r>
                <a:r>
                  <a:rPr lang="pt-BR" b="1" dirty="0">
                    <a:solidFill>
                      <a:srgbClr val="0070C0"/>
                    </a:solidFill>
                  </a:rPr>
                  <a:t>os exemplos do conjunto de treinamento</a:t>
                </a:r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F1D988-6925-C286-BA9F-B4A4851E2F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  <a:blipFill>
                <a:blip r:embed="rId2"/>
                <a:stretch>
                  <a:fillRect l="-928" t="-1937" r="-1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B354F9-74E2-2FAD-DDBA-5FD514A114CE}"/>
                  </a:ext>
                </a:extLst>
              </p:cNvPr>
              <p:cNvSpPr txBox="1"/>
              <p:nvPr/>
            </p:nvSpPr>
            <p:spPr>
              <a:xfrm>
                <a:off x="9753600" y="6550223"/>
                <a:ext cx="243840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400" b="1" dirty="0">
                    <a:ea typeface="Cambria Math" panose="02040503050406030204" pitchFamily="18" charset="0"/>
                  </a:rPr>
                  <a:t>OBS</a:t>
                </a:r>
                <a:r>
                  <a:rPr lang="pt-BR" sz="1400" dirty="0">
                    <a:ea typeface="Cambria Math" panose="02040503050406030204" pitchFamily="18" charset="0"/>
                  </a:rPr>
                  <a:t>.: </a:t>
                </a:r>
                <a14:m>
                  <m:oMath xmlns:m="http://schemas.openxmlformats.org/officeDocument/2006/math">
                    <m:r>
                      <a:rPr lang="pt-B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sz="1400" dirty="0"/>
                  <a:t> é o número de pesos.</a:t>
                </a:r>
                <a:endParaRPr lang="en-US" sz="1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B354F9-74E2-2FAD-DDBA-5FD514A11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3600" y="6550223"/>
                <a:ext cx="2438400" cy="307777"/>
              </a:xfrm>
              <a:prstGeom prst="rect">
                <a:avLst/>
              </a:prstGeom>
              <a:blipFill>
                <a:blip r:embed="rId3"/>
                <a:stretch>
                  <a:fillRect l="-750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8142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A1FF2-610F-29DC-A1C0-06044CE6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B786D8-DC7C-3952-8523-439D463A8F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593975"/>
            <a:ext cx="10853057" cy="22283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Para treinarmos o modelo, precisamos de uma função de erro</a:t>
            </a:r>
          </a:p>
        </p:txBody>
      </p:sp>
    </p:spTree>
    <p:extLst>
      <p:ext uri="{BB962C8B-B14F-4D97-AF65-F5344CB8AC3E}">
        <p14:creationId xmlns:p14="http://schemas.microsoft.com/office/powerpoint/2010/main" val="3208991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2F9E6F-04DB-ABA7-5277-8F56D03FB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43752C2-61B6-8E7E-17CE-7C009ECA9D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Existem várias possibilidades para a </a:t>
                </a:r>
                <a:r>
                  <a:rPr lang="pt-BR" b="1" dirty="0"/>
                  <a:t>função de erro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em problemas de regressão, é comum utilizar-se o </a:t>
                </a:r>
                <a:r>
                  <a:rPr lang="pt-BR" b="1" dirty="0">
                    <a:solidFill>
                      <a:srgbClr val="00B050"/>
                    </a:solidFill>
                  </a:rPr>
                  <a:t>erro quadrático médio (EQM)</a:t>
                </a:r>
                <a:endParaRPr lang="pt-BR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 −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𝑿𝒂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matricial</m:t>
                          </m:r>
                        </m:lim>
                      </m:limLow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é o número total de exemplos (ou amostras),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o número do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(0)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…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−1)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é um </a:t>
                </a:r>
                <a:r>
                  <a:rPr lang="pt-BR" b="1" dirty="0">
                    <a:solidFill>
                      <a:srgbClr val="0070C0"/>
                    </a:solidFill>
                  </a:rPr>
                  <a:t>vetor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 </a:t>
                </a:r>
                <a:r>
                  <a:rPr lang="pt-BR" dirty="0"/>
                  <a:t>contendo todos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valores esperados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…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−1)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70C0"/>
                    </a:solidFill>
                  </a:rPr>
                  <a:t>matriz</a:t>
                </a:r>
                <a:r>
                  <a:rPr lang="pt-BR" dirty="0"/>
                  <a:t> contendo todos os vetores de atributo.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EQM</a:t>
                </a:r>
                <a:r>
                  <a:rPr lang="pt-BR" dirty="0"/>
                  <a:t> nada mais é do que a </a:t>
                </a:r>
                <a:r>
                  <a:rPr lang="pt-BR" b="1" dirty="0">
                    <a:solidFill>
                      <a:srgbClr val="00B050"/>
                    </a:solidFill>
                  </a:rPr>
                  <a:t>média aritmética do quadrado dos erros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43752C2-61B6-8E7E-17CE-7C009ECA9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1937" r="-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1B5748-659A-1A33-A0BB-36FDFC0D922B}"/>
              </a:ext>
            </a:extLst>
          </p:cNvPr>
          <p:cNvSpPr txBox="1"/>
          <p:nvPr/>
        </p:nvSpPr>
        <p:spPr>
          <a:xfrm>
            <a:off x="10424847" y="2782669"/>
            <a:ext cx="1647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Erro entre a saída esperada e a saída da função hipótese.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id="{533A37AF-2E19-6028-AE93-9CF06895589A}"/>
              </a:ext>
            </a:extLst>
          </p:cNvPr>
          <p:cNvCxnSpPr>
            <a:cxnSpLocks/>
          </p:cNvCxnSpPr>
          <p:nvPr/>
        </p:nvCxnSpPr>
        <p:spPr>
          <a:xfrm flipH="1">
            <a:off x="8675914" y="2967726"/>
            <a:ext cx="1839686" cy="6463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334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4E842-F6C8-EE87-0AA0-9BEFA4B97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Minimização da função de erro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581B72-317A-3CC1-4214-6CBD69B4A6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</p:spPr>
            <p:txBody>
              <a:bodyPr/>
              <a:lstStyle/>
              <a:p>
                <a:r>
                  <a:rPr lang="pt-BR" dirty="0"/>
                  <a:t>Então, para encontrarmos o </a:t>
                </a:r>
                <a:r>
                  <a:rPr lang="pt-BR" b="1" dirty="0"/>
                  <a:t>vetor de pesos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devemos </a:t>
                </a:r>
                <a:r>
                  <a:rPr lang="pt-BR" b="1" dirty="0">
                    <a:solidFill>
                      <a:srgbClr val="00B050"/>
                    </a:solidFill>
                  </a:rPr>
                  <a:t>minimizar a função de erro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 ser constante, o termo 1/𝑁 não influencia na minimização e, portanto, pode ser omitido na equação acima.</a:t>
                </a:r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 algn="ctr">
                  <a:buNone/>
                </a:pPr>
                <a:r>
                  <a:rPr lang="pt-BR" sz="4400" i="1" dirty="0"/>
                  <a:t>Como encontramos os pesos que minimizam a função de erro?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581B72-317A-3CC1-4214-6CBD69B4A6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  <a:blipFill>
                <a:blip r:embed="rId2"/>
                <a:stretch>
                  <a:fillRect l="-928" t="-1937" r="-1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1756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DC745-C86C-4971-B0AF-00EE88E91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2231"/>
          </a:xfrm>
        </p:spPr>
        <p:txBody>
          <a:bodyPr/>
          <a:lstStyle/>
          <a:p>
            <a:r>
              <a:rPr lang="pt-BR" dirty="0"/>
              <a:t>Resumo do problema da regressão linear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30550-3E6D-44FC-BB82-8D97663749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6371" y="1551214"/>
            <a:ext cx="5698145" cy="5306785"/>
          </a:xfrm>
        </p:spPr>
        <p:txBody>
          <a:bodyPr>
            <a:normAutofit/>
          </a:bodyPr>
          <a:lstStyle/>
          <a:p>
            <a:r>
              <a:rPr lang="pt-BR" dirty="0"/>
              <a:t>Portanto, resumindo, nosso objetivo é </a:t>
            </a:r>
            <a:r>
              <a:rPr lang="pt-BR" b="1" dirty="0">
                <a:solidFill>
                  <a:srgbClr val="00B050"/>
                </a:solidFill>
              </a:rPr>
              <a:t>treinar</a:t>
            </a:r>
            <a:r>
              <a:rPr lang="pt-BR" dirty="0"/>
              <a:t> um </a:t>
            </a:r>
            <a:r>
              <a:rPr lang="pt-BR" b="1" dirty="0">
                <a:solidFill>
                  <a:srgbClr val="00B050"/>
                </a:solidFill>
              </a:rPr>
              <a:t>modelo</a:t>
            </a:r>
            <a:r>
              <a:rPr lang="pt-BR" dirty="0"/>
              <a:t>, a partir de um </a:t>
            </a:r>
            <a:r>
              <a:rPr lang="pt-BR" b="1" dirty="0">
                <a:solidFill>
                  <a:srgbClr val="00B050"/>
                </a:solidFill>
              </a:rPr>
              <a:t>conjunto de treinamento</a:t>
            </a:r>
            <a:r>
              <a:rPr lang="pt-BR" dirty="0"/>
              <a:t>, que </a:t>
            </a:r>
            <a:r>
              <a:rPr lang="pt-BR" b="1" dirty="0">
                <a:solidFill>
                  <a:srgbClr val="00B050"/>
                </a:solidFill>
              </a:rPr>
              <a:t>minimize o erro de aproximação</a:t>
            </a:r>
            <a:r>
              <a:rPr lang="pt-BR" dirty="0"/>
              <a:t>.</a:t>
            </a:r>
          </a:p>
          <a:p>
            <a:r>
              <a:rPr lang="pt-BR" dirty="0"/>
              <a:t>Assim, para </a:t>
            </a:r>
            <a:r>
              <a:rPr lang="pt-BR" b="1" dirty="0">
                <a:solidFill>
                  <a:srgbClr val="00B050"/>
                </a:solidFill>
              </a:rPr>
              <a:t>treinar</a:t>
            </a:r>
            <a:r>
              <a:rPr lang="pt-BR" dirty="0"/>
              <a:t> o modelo, precisamos encontrar </a:t>
            </a:r>
            <a:r>
              <a:rPr lang="pt-BR" b="1" dirty="0">
                <a:solidFill>
                  <a:srgbClr val="7030A0"/>
                </a:solidFill>
              </a:rPr>
              <a:t>maneiras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de </a:t>
            </a:r>
            <a:r>
              <a:rPr lang="pt-BR" b="1" dirty="0">
                <a:solidFill>
                  <a:schemeClr val="accent2"/>
                </a:solidFill>
              </a:rPr>
              <a:t>ajustar seus pesos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de forma que o erro seja minimizado.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988A4E-4866-35AF-BF8F-8DD7FA3EE9A8}"/>
              </a:ext>
            </a:extLst>
          </p:cNvPr>
          <p:cNvGrpSpPr/>
          <p:nvPr/>
        </p:nvGrpSpPr>
        <p:grpSpPr>
          <a:xfrm>
            <a:off x="936690" y="1871206"/>
            <a:ext cx="4908940" cy="3623775"/>
            <a:chOff x="342900" y="1658935"/>
            <a:chExt cx="4908940" cy="3623775"/>
          </a:xfrm>
        </p:grpSpPr>
        <p:grpSp>
          <p:nvGrpSpPr>
            <p:cNvPr id="7" name="Agrupar 6">
              <a:extLst>
                <a:ext uri="{FF2B5EF4-FFF2-40B4-BE49-F238E27FC236}">
                  <a16:creationId xmlns:a16="http://schemas.microsoft.com/office/drawing/2014/main" id="{A9CFBE1F-E739-ECB1-A43E-891E3E546A8C}"/>
                </a:ext>
              </a:extLst>
            </p:cNvPr>
            <p:cNvGrpSpPr/>
            <p:nvPr/>
          </p:nvGrpSpPr>
          <p:grpSpPr>
            <a:xfrm>
              <a:off x="342900" y="2251139"/>
              <a:ext cx="4908940" cy="3031571"/>
              <a:chOff x="157187" y="2378075"/>
              <a:chExt cx="4908940" cy="3031571"/>
            </a:xfrm>
          </p:grpSpPr>
          <p:sp>
            <p:nvSpPr>
              <p:cNvPr id="20" name="Retângulo 19">
                <a:extLst>
                  <a:ext uri="{FF2B5EF4-FFF2-40B4-BE49-F238E27FC236}">
                    <a16:creationId xmlns:a16="http://schemas.microsoft.com/office/drawing/2014/main" id="{C94DB9DA-6651-67B4-2FCB-6138D2059179}"/>
                  </a:ext>
                </a:extLst>
              </p:cNvPr>
              <p:cNvSpPr/>
              <p:nvPr/>
            </p:nvSpPr>
            <p:spPr>
              <a:xfrm>
                <a:off x="425788" y="3029858"/>
                <a:ext cx="463575" cy="1935842"/>
              </a:xfrm>
              <a:prstGeom prst="rect">
                <a:avLst/>
              </a:prstGeom>
              <a:solidFill>
                <a:schemeClr val="accent1">
                  <a:alpha val="41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8" name="Rectangle 12">
                <a:extLst>
                  <a:ext uri="{FF2B5EF4-FFF2-40B4-BE49-F238E27FC236}">
                    <a16:creationId xmlns:a16="http://schemas.microsoft.com/office/drawing/2014/main" id="{5707A7FC-2643-5BF6-4ADB-DCD3B83DF68F}"/>
                  </a:ext>
                </a:extLst>
              </p:cNvPr>
              <p:cNvSpPr/>
              <p:nvPr/>
            </p:nvSpPr>
            <p:spPr>
              <a:xfrm>
                <a:off x="1361788" y="3029857"/>
                <a:ext cx="1216819" cy="8490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Modelo de ML</a:t>
                </a:r>
                <a:br>
                  <a:rPr lang="pt-BR" dirty="0">
                    <a:solidFill>
                      <a:schemeClr val="tx1"/>
                    </a:solidFill>
                  </a:rPr>
                </a:br>
                <a:r>
                  <a:rPr lang="pt-BR" sz="1200" dirty="0">
                    <a:solidFill>
                      <a:schemeClr val="tx1"/>
                    </a:solidFill>
                  </a:rPr>
                  <a:t>(e.g., polinômio)</a:t>
                </a:r>
                <a:endParaRPr lang="pt-BR" sz="1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" name="Straight Arrow Connector 14">
                <a:extLst>
                  <a:ext uri="{FF2B5EF4-FFF2-40B4-BE49-F238E27FC236}">
                    <a16:creationId xmlns:a16="http://schemas.microsoft.com/office/drawing/2014/main" id="{71024B44-4FCA-AB48-FD6A-BC22BAF1FE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3787" y="3471233"/>
                <a:ext cx="46800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4">
                <a:extLst>
                  <a:ext uri="{FF2B5EF4-FFF2-40B4-BE49-F238E27FC236}">
                    <a16:creationId xmlns:a16="http://schemas.microsoft.com/office/drawing/2014/main" id="{AFAD5EB5-BD73-1AA8-2DE8-86B253D42465}"/>
                  </a:ext>
                </a:extLst>
              </p:cNvPr>
              <p:cNvCxnSpPr>
                <a:cxnSpLocks/>
                <a:stCxn id="8" idx="3"/>
                <a:endCxn id="12" idx="1"/>
              </p:cNvCxnSpPr>
              <p:nvPr/>
            </p:nvCxnSpPr>
            <p:spPr>
              <a:xfrm>
                <a:off x="2578607" y="3454400"/>
                <a:ext cx="840366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Rectangle 12">
                <a:extLst>
                  <a:ext uri="{FF2B5EF4-FFF2-40B4-BE49-F238E27FC236}">
                    <a16:creationId xmlns:a16="http://schemas.microsoft.com/office/drawing/2014/main" id="{70B31B89-FB10-2FE0-309F-D08BB4008A71}"/>
                  </a:ext>
                </a:extLst>
              </p:cNvPr>
              <p:cNvSpPr/>
              <p:nvPr/>
            </p:nvSpPr>
            <p:spPr>
              <a:xfrm>
                <a:off x="3418973" y="3029857"/>
                <a:ext cx="1216818" cy="8490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Função de erro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CaixaDeTexto 12">
                    <a:extLst>
                      <a:ext uri="{FF2B5EF4-FFF2-40B4-BE49-F238E27FC236}">
                        <a16:creationId xmlns:a16="http://schemas.microsoft.com/office/drawing/2014/main" id="{37A5E096-7B54-8ADE-2BF6-C2E99C2CDB1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6587" y="3162012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oMath>
                      </m:oMathPara>
                    </a14:m>
                    <a:endParaRPr lang="pt-BR" sz="2400" b="1" dirty="0"/>
                  </a:p>
                </p:txBody>
              </p:sp>
            </mc:Choice>
            <mc:Fallback xmlns="">
              <p:sp>
                <p:nvSpPr>
                  <p:cNvPr id="13" name="CaixaDeTexto 12">
                    <a:extLst>
                      <a:ext uri="{FF2B5EF4-FFF2-40B4-BE49-F238E27FC236}">
                        <a16:creationId xmlns:a16="http://schemas.microsoft.com/office/drawing/2014/main" id="{37A5E096-7B54-8ADE-2BF6-C2E99C2CDB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6587" y="3162012"/>
                    <a:ext cx="467999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CaixaDeTexto 13">
                    <a:extLst>
                      <a:ext uri="{FF2B5EF4-FFF2-40B4-BE49-F238E27FC236}">
                        <a16:creationId xmlns:a16="http://schemas.microsoft.com/office/drawing/2014/main" id="{6AFC799D-58CB-E1E2-0D69-3033A3F205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25788" y="4367212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oMath>
                      </m:oMathPara>
                    </a14:m>
                    <a:endParaRPr lang="pt-BR" sz="2400" b="1" i="1" dirty="0"/>
                  </a:p>
                </p:txBody>
              </p:sp>
            </mc:Choice>
            <mc:Fallback xmlns="">
              <p:sp>
                <p:nvSpPr>
                  <p:cNvPr id="14" name="CaixaDeTexto 13">
                    <a:extLst>
                      <a:ext uri="{FF2B5EF4-FFF2-40B4-BE49-F238E27FC236}">
                        <a16:creationId xmlns:a16="http://schemas.microsoft.com/office/drawing/2014/main" id="{6AFC799D-58CB-E1E2-0D69-3033A3F205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25788" y="4367212"/>
                    <a:ext cx="467999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CaixaDeTexto 14">
                    <a:extLst>
                      <a:ext uri="{FF2B5EF4-FFF2-40B4-BE49-F238E27FC236}">
                        <a16:creationId xmlns:a16="http://schemas.microsoft.com/office/drawing/2014/main" id="{50292170-E093-D561-BEDB-71584050F29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578604" y="2978956"/>
                    <a:ext cx="80103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5" name="CaixaDeTexto 14">
                    <a:extLst>
                      <a:ext uri="{FF2B5EF4-FFF2-40B4-BE49-F238E27FC236}">
                        <a16:creationId xmlns:a16="http://schemas.microsoft.com/office/drawing/2014/main" id="{50292170-E093-D561-BEDB-71584050F2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578604" y="2978956"/>
                    <a:ext cx="801039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3947" r="-21970" b="-1052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Conector: Angulado 15">
                <a:extLst>
                  <a:ext uri="{FF2B5EF4-FFF2-40B4-BE49-F238E27FC236}">
                    <a16:creationId xmlns:a16="http://schemas.microsoft.com/office/drawing/2014/main" id="{B009E62F-DEAF-CE49-8684-D2F3889690CD}"/>
                  </a:ext>
                </a:extLst>
              </p:cNvPr>
              <p:cNvCxnSpPr>
                <a:cxnSpLocks/>
                <a:stCxn id="14" idx="1"/>
                <a:endCxn id="12" idx="2"/>
              </p:cNvCxnSpPr>
              <p:nvPr/>
            </p:nvCxnSpPr>
            <p:spPr>
              <a:xfrm flipV="1">
                <a:off x="893787" y="3878943"/>
                <a:ext cx="3133595" cy="71910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ector: Angulado 16">
                <a:extLst>
                  <a:ext uri="{FF2B5EF4-FFF2-40B4-BE49-F238E27FC236}">
                    <a16:creationId xmlns:a16="http://schemas.microsoft.com/office/drawing/2014/main" id="{F90DC347-B7E4-3023-60C7-1C8283B3C88E}"/>
                  </a:ext>
                </a:extLst>
              </p:cNvPr>
              <p:cNvCxnSpPr>
                <a:cxnSpLocks/>
                <a:stCxn id="12" idx="3"/>
              </p:cNvCxnSpPr>
              <p:nvPr/>
            </p:nvCxnSpPr>
            <p:spPr>
              <a:xfrm flipH="1" flipV="1">
                <a:off x="2662503" y="2378075"/>
                <a:ext cx="1973288" cy="1076325"/>
              </a:xfrm>
              <a:prstGeom prst="bentConnector3">
                <a:avLst>
                  <a:gd name="adj1" fmla="val -11585"/>
                </a:avLst>
              </a:prstGeom>
              <a:ln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ector reto 17">
                <a:extLst>
                  <a:ext uri="{FF2B5EF4-FFF2-40B4-BE49-F238E27FC236}">
                    <a16:creationId xmlns:a16="http://schemas.microsoft.com/office/drawing/2014/main" id="{29EF8501-71B8-2FB0-7ED2-028287A0A5BB}"/>
                  </a:ext>
                </a:extLst>
              </p:cNvPr>
              <p:cNvCxnSpPr/>
              <p:nvPr/>
            </p:nvCxnSpPr>
            <p:spPr>
              <a:xfrm flipH="1">
                <a:off x="1450107" y="2378075"/>
                <a:ext cx="1212396" cy="1743075"/>
              </a:xfrm>
              <a:prstGeom prst="line">
                <a:avLst/>
              </a:prstGeom>
              <a:ln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2B889678-B98C-9E1D-C61A-60F719853781}"/>
                  </a:ext>
                </a:extLst>
              </p:cNvPr>
              <p:cNvSpPr txBox="1"/>
              <p:nvPr/>
            </p:nvSpPr>
            <p:spPr>
              <a:xfrm>
                <a:off x="893787" y="4074825"/>
                <a:ext cx="13092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Ajuste do modelo</a:t>
                </a:r>
              </a:p>
            </p:txBody>
          </p:sp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D4DEEE4B-BFB7-7180-B620-019C107089CA}"/>
                  </a:ext>
                </a:extLst>
              </p:cNvPr>
              <p:cNvSpPr txBox="1"/>
              <p:nvPr/>
            </p:nvSpPr>
            <p:spPr>
              <a:xfrm>
                <a:off x="157187" y="4947981"/>
                <a:ext cx="10474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Conjunto de treinamento</a:t>
                </a:r>
              </a:p>
            </p:txBody>
          </p:sp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CB35AE44-A8A6-55E4-AF7C-6D1B1C22FD76}"/>
                  </a:ext>
                </a:extLst>
              </p:cNvPr>
              <p:cNvSpPr txBox="1"/>
              <p:nvPr/>
            </p:nvSpPr>
            <p:spPr>
              <a:xfrm>
                <a:off x="2578607" y="3490140"/>
                <a:ext cx="84036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estimativa</a:t>
                </a:r>
              </a:p>
            </p:txBody>
          </p:sp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253F27F5-AE53-A49B-F8E5-AF810876A343}"/>
                  </a:ext>
                </a:extLst>
              </p:cNvPr>
              <p:cNvSpPr txBox="1"/>
              <p:nvPr/>
            </p:nvSpPr>
            <p:spPr>
              <a:xfrm>
                <a:off x="4611210" y="3440621"/>
                <a:ext cx="45491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erro</a:t>
                </a:r>
              </a:p>
            </p:txBody>
          </p:sp>
        </p:grp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C18E8975-8592-CC3B-612B-6E6728CAA35F}"/>
                </a:ext>
              </a:extLst>
            </p:cNvPr>
            <p:cNvSpPr txBox="1"/>
            <p:nvPr/>
          </p:nvSpPr>
          <p:spPr>
            <a:xfrm>
              <a:off x="2848216" y="1658935"/>
              <a:ext cx="2209559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b="1" i="1" dirty="0">
                  <a:solidFill>
                    <a:schemeClr val="accent2"/>
                  </a:solidFill>
                </a:rPr>
                <a:t>Indicação para onde deve-se caminhar </a:t>
              </a:r>
              <a:r>
                <a:rPr lang="pt-BR" sz="1100" dirty="0"/>
                <a:t>no espaço de hipóteses para que o erro seja minimizado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5913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0B404-F3ED-8087-A024-C72B793DE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4684C-15AE-EBFA-CC52-BE2B10624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800" b="1" dirty="0">
                <a:solidFill>
                  <a:srgbClr val="FF0000"/>
                </a:solidFill>
              </a:rPr>
              <a:t>PAREI AQUI!!!!!!!!!!!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1256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CA9BC-BDB8-0017-DAF6-E2CF307E3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0FC8F8-ADC7-A068-C2BC-465BFAC99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/>
              <a:t>Existem duas formas </a:t>
            </a:r>
            <a:r>
              <a:rPr lang="pt-BR" dirty="0"/>
              <a:t>de se encontrar o </a:t>
            </a:r>
            <a:r>
              <a:rPr lang="pt-BR" b="1" dirty="0">
                <a:solidFill>
                  <a:srgbClr val="00B050"/>
                </a:solidFill>
              </a:rPr>
              <a:t>conjunto de pesos ótimo </a:t>
            </a:r>
            <a:r>
              <a:rPr lang="pt-BR" dirty="0"/>
              <a:t>através da </a:t>
            </a:r>
            <a:r>
              <a:rPr lang="pt-BR" b="1" dirty="0">
                <a:solidFill>
                  <a:srgbClr val="7030A0"/>
                </a:solidFill>
              </a:rPr>
              <a:t>minimização da função </a:t>
            </a:r>
            <a:r>
              <a:rPr lang="pt-BR" b="1">
                <a:solidFill>
                  <a:srgbClr val="7030A0"/>
                </a:solidFill>
              </a:rPr>
              <a:t>de erro</a:t>
            </a:r>
            <a:endParaRPr lang="pt-BR" b="1" dirty="0">
              <a:solidFill>
                <a:srgbClr val="7030A0"/>
              </a:solidFill>
            </a:endParaRPr>
          </a:p>
          <a:p>
            <a:pPr lvl="1"/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137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8182</TotalTime>
  <Words>1635</Words>
  <Application>Microsoft Office PowerPoint</Application>
  <PresentationFormat>Widescreen</PresentationFormat>
  <Paragraphs>134</Paragraphs>
  <Slides>21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Regressão</vt:lpstr>
      <vt:lpstr>Motivação</vt:lpstr>
      <vt:lpstr>Motivação</vt:lpstr>
      <vt:lpstr>PowerPoint Presentation</vt:lpstr>
      <vt:lpstr>PowerPoint Presentation</vt:lpstr>
      <vt:lpstr>Regressão linear</vt:lpstr>
      <vt:lpstr>Qual o objetivo da regressão linear?</vt:lpstr>
      <vt:lpstr>Qual é o paradigma de aprendizado?</vt:lpstr>
      <vt:lpstr>Qual é o paradigma de aprendizado?</vt:lpstr>
      <vt:lpstr>Por que linear?</vt:lpstr>
      <vt:lpstr>Por que linear?</vt:lpstr>
      <vt:lpstr>PowerPoint Presentation</vt:lpstr>
      <vt:lpstr>Objetivo da regressão linear</vt:lpstr>
      <vt:lpstr>PowerPoint Presentation</vt:lpstr>
      <vt:lpstr>Função de erro</vt:lpstr>
      <vt:lpstr>Minimização da função de erro</vt:lpstr>
      <vt:lpstr>Resumo do problema da regressão linear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1788</cp:revision>
  <dcterms:created xsi:type="dcterms:W3CDTF">2020-01-20T13:50:05Z</dcterms:created>
  <dcterms:modified xsi:type="dcterms:W3CDTF">2026-02-12T18:51:42Z</dcterms:modified>
</cp:coreProperties>
</file>