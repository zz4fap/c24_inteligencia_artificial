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9"/>
  </p:notesMasterIdLst>
  <p:handoutMasterIdLst>
    <p:handoutMasterId r:id="rId70"/>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455" r:id="rId16"/>
    <p:sldId id="448" r:id="rId17"/>
    <p:sldId id="533" r:id="rId18"/>
    <p:sldId id="512" r:id="rId19"/>
    <p:sldId id="563" r:id="rId20"/>
    <p:sldId id="564" r:id="rId21"/>
    <p:sldId id="560" r:id="rId22"/>
    <p:sldId id="561" r:id="rId23"/>
    <p:sldId id="562" r:id="rId24"/>
    <p:sldId id="531" r:id="rId25"/>
    <p:sldId id="550" r:id="rId26"/>
    <p:sldId id="551" r:id="rId27"/>
    <p:sldId id="566" r:id="rId28"/>
    <p:sldId id="554" r:id="rId29"/>
    <p:sldId id="579" r:id="rId30"/>
    <p:sldId id="567" r:id="rId31"/>
    <p:sldId id="547" r:id="rId32"/>
    <p:sldId id="391" r:id="rId33"/>
    <p:sldId id="392" r:id="rId34"/>
    <p:sldId id="568" r:id="rId35"/>
    <p:sldId id="569" r:id="rId36"/>
    <p:sldId id="578" r:id="rId37"/>
    <p:sldId id="570" r:id="rId38"/>
    <p:sldId id="573" r:id="rId39"/>
    <p:sldId id="574" r:id="rId40"/>
    <p:sldId id="572" r:id="rId41"/>
    <p:sldId id="581" r:id="rId42"/>
    <p:sldId id="584" r:id="rId43"/>
    <p:sldId id="580" r:id="rId44"/>
    <p:sldId id="423" r:id="rId45"/>
    <p:sldId id="607" r:id="rId46"/>
    <p:sldId id="404" r:id="rId47"/>
    <p:sldId id="407" r:id="rId48"/>
    <p:sldId id="588" r:id="rId49"/>
    <p:sldId id="589" r:id="rId50"/>
    <p:sldId id="586" r:id="rId51"/>
    <p:sldId id="587" r:id="rId52"/>
    <p:sldId id="585" r:id="rId53"/>
    <p:sldId id="583" r:id="rId54"/>
    <p:sldId id="592" r:id="rId55"/>
    <p:sldId id="557" r:id="rId56"/>
    <p:sldId id="601" r:id="rId57"/>
    <p:sldId id="593" r:id="rId58"/>
    <p:sldId id="594" r:id="rId59"/>
    <p:sldId id="595" r:id="rId60"/>
    <p:sldId id="596" r:id="rId61"/>
    <p:sldId id="597" r:id="rId62"/>
    <p:sldId id="598" r:id="rId63"/>
    <p:sldId id="599" r:id="rId64"/>
    <p:sldId id="600" r:id="rId65"/>
    <p:sldId id="606" r:id="rId66"/>
    <p:sldId id="405" r:id="rId67"/>
    <p:sldId id="406" r:id="rId68"/>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87893" autoAdjust="0"/>
  </p:normalViewPr>
  <p:slideViewPr>
    <p:cSldViewPr snapToGrid="0">
      <p:cViewPr varScale="1">
        <p:scale>
          <a:sx n="97" d="100"/>
          <a:sy n="97" d="100"/>
        </p:scale>
        <p:origin x="1290" y="84"/>
      </p:cViewPr>
      <p:guideLst/>
    </p:cSldViewPr>
  </p:slideViewPr>
  <p:outlineViewPr>
    <p:cViewPr>
      <p:scale>
        <a:sx n="33" d="100"/>
        <a:sy n="33" d="100"/>
      </p:scale>
      <p:origin x="0" y="-8862"/>
    </p:cViewPr>
  </p:outlineViewPr>
  <p:notesTextViewPr>
    <p:cViewPr>
      <p:scale>
        <a:sx n="1" d="1"/>
        <a:sy n="1" d="1"/>
      </p:scale>
      <p:origin x="0" y="-24"/>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handoutMaster" Target="handoutMasters/handoutMaster1.xml"/><Relationship Id="rId7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1.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0A06A-D0CE-4BAD-3BDF-4B9F8363A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a:t>Existem dois tipos principais de sinapses: a </a:t>
            </a:r>
            <a:r>
              <a:rPr lang="pt-BR" b="1"/>
              <a:t>química</a:t>
            </a:r>
            <a:r>
              <a:rPr lang="pt-BR"/>
              <a:t> (a mais comum no nosso cérebro) e a </a:t>
            </a:r>
            <a:r>
              <a:rPr lang="pt-BR" b="1"/>
              <a:t>elétrica</a:t>
            </a:r>
            <a:r>
              <a:rPr lang="pt-BR"/>
              <a:t>.</a:t>
            </a:r>
          </a:p>
          <a:p>
            <a:endParaRPr lang="pt-BR" b="1"/>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47</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63</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66</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67</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9.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33.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19.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4.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35.xml.rels><?xml version="1.0" encoding="UTF-8" standalone="yes"?>
<Relationships xmlns="http://schemas.openxmlformats.org/package/2006/relationships"><Relationship Id="rId2" Type="http://schemas.openxmlformats.org/officeDocument/2006/relationships/image" Target="../media/image69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79.jpeg"/><Relationship Id="rId4" Type="http://schemas.openxmlformats.org/officeDocument/2006/relationships/image" Target="../media/image78.png"/></Relationships>
</file>

<file path=ppt/slides/_rels/slide49.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780.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4.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79.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emf"/><Relationship Id="rId4" Type="http://schemas.openxmlformats.org/officeDocument/2006/relationships/image" Target="../media/image82.png"/></Relationships>
</file>

<file path=ppt/slides/_rels/slide55.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38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8.emf"/></Relationships>
</file>

<file path=ppt/slides/_rels/slide5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9.emf"/></Relationships>
</file>

<file path=ppt/slides/_rels/slide60.xml.rels><?xml version="1.0" encoding="UTF-8" standalone="yes"?>
<Relationships xmlns="http://schemas.openxmlformats.org/package/2006/relationships"><Relationship Id="rId8" Type="http://schemas.openxmlformats.org/officeDocument/2006/relationships/image" Target="../media/image89.emf"/><Relationship Id="rId3" Type="http://schemas.openxmlformats.org/officeDocument/2006/relationships/image" Target="../media/image92.png"/><Relationship Id="rId7" Type="http://schemas.openxmlformats.org/officeDocument/2006/relationships/image" Target="../media/image650.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8.emf"/><Relationship Id="rId9" Type="http://schemas.openxmlformats.org/officeDocument/2006/relationships/image" Target="../media/image67.png"/></Relationships>
</file>

<file path=ppt/slides/_rels/slide61.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93.png"/></Relationships>
</file>

<file path=ppt/slides/_rels/slide6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3.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766327"/>
            <a:ext cx="4776309" cy="3970318"/>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a:t>ChatGPT</a:t>
            </a:r>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entradas às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relembrar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 </a:t>
            </a:r>
          </a:p>
          <a:p>
            <a:pPr lvl="1">
              <a:buFont typeface="Wingdings" panose="05000000000000000000" pitchFamily="2" charset="2"/>
              <a:buChar char="§"/>
            </a:pPr>
            <a:r>
              <a:rPr lang="pt-BR" dirty="0"/>
              <a:t>o </a:t>
            </a:r>
            <a:r>
              <a:rPr lang="pt-BR" b="1" dirty="0"/>
              <a:t>axônio com seus terminais</a:t>
            </a:r>
            <a:r>
              <a:rPr lang="pt-BR" dirty="0"/>
              <a:t> </a:t>
            </a:r>
          </a:p>
          <a:p>
            <a:pPr lvl="1">
              <a:buFont typeface="Wingdings" panose="05000000000000000000" pitchFamily="2" charset="2"/>
              <a:buChar char="§"/>
            </a:pPr>
            <a:r>
              <a:rPr lang="pt-BR" dirty="0"/>
              <a:t>e o </a:t>
            </a:r>
            <a:r>
              <a:rPr lang="pt-BR" b="1" dirty="0"/>
              <a:t>corpo celular</a:t>
            </a:r>
            <a:r>
              <a:rPr lang="pt-BR" dirty="0"/>
              <a:t>, também chamado de </a:t>
            </a:r>
            <a:r>
              <a:rPr lang="pt-BR" b="1" dirty="0">
                <a:solidFill>
                  <a:srgbClr val="00B050"/>
                </a:solidFill>
              </a:rPr>
              <a:t>soma</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E3E38018-9693-6B2A-8D4F-68053D3B4C50}"/>
              </a:ext>
            </a:extLst>
          </p:cNvPr>
          <p:cNvSpPr>
            <a:spLocks noGrp="1"/>
          </p:cNvSpPr>
          <p:nvPr>
            <p:ph idx="1"/>
          </p:nvPr>
        </p:nvSpPr>
        <p:spPr>
          <a:xfrm>
            <a:off x="5629275" y="1825624"/>
            <a:ext cx="6425046"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limiar de ativação seja ultrapassado.</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é importante para o próximo.</a:t>
            </a:r>
          </a:p>
          <a:p>
            <a:pPr lvl="1">
              <a:buFont typeface="Wingdings" panose="05000000000000000000" pitchFamily="2" charset="2"/>
              <a:buChar char="§"/>
            </a:pPr>
            <a:r>
              <a:rPr lang="pt-BR" b="1" dirty="0"/>
              <a:t>Fraca</a:t>
            </a:r>
            <a:r>
              <a:rPr lang="pt-BR" dirty="0"/>
              <a:t>: a informação de um neurônio não é tão importante para o próximo.</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funcionamento do </a:t>
            </a:r>
            <a:r>
              <a:rPr lang="pt-BR" b="1" dirty="0"/>
              <a:t>neurônio</a:t>
            </a:r>
            <a:r>
              <a:rPr lang="pt-BR" dirty="0"/>
              <a:t> pode ser explicado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meados da década de 40, pesquisadores propuseram o modelo matemático ao lado.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aprendido anteriormente é idêntico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034206" y="1690688"/>
                <a:ext cx="6043494" cy="5167312"/>
              </a:xfrm>
            </p:spPr>
            <p:txBody>
              <a:bodyPr>
                <a:normAutofit/>
              </a:bodyPr>
              <a:lstStyle/>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multiplicados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com 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é passado por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No contexto de redes neurais os estímulos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 controla o </a:t>
                </a:r>
                <a:r>
                  <a:rPr lang="pt-BR" b="1" dirty="0"/>
                  <a:t>ponto de ativação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034206" y="1690688"/>
                <a:ext cx="6043494" cy="5167312"/>
              </a:xfrm>
              <a:blipFill>
                <a:blip r:embed="rId3"/>
                <a:stretch>
                  <a:fillRect l="-1816" t="-1887" r="-2523"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191249" cy="5032376"/>
              </a:xfrm>
            </p:spPr>
            <p:txBody>
              <a:bodyPr>
                <a:normAutofit/>
              </a:bodyPr>
              <a:lstStyle/>
              <a:p>
                <a:r>
                  <a:rPr lang="pt-BR" b="0" dirty="0">
                    <a:solidFill>
                      <a:schemeClr val="tx1"/>
                    </a:solidFill>
                    <a:effectLst/>
                  </a:rPr>
                  <a:t>O </a:t>
                </a:r>
                <a:r>
                  <a:rPr lang="pt-BR" b="1" dirty="0">
                    <a:solidFill>
                      <a:schemeClr val="tx1"/>
                    </a:solidFill>
                    <a:effectLst/>
                  </a:rPr>
                  <a:t>peso de bias</a:t>
                </a:r>
                <a:r>
                  <a:rPr lang="pt-BR" dirty="0">
                    <a:solidFill>
                      <a:schemeClr val="tx1"/>
                    </a:solidFill>
                    <a:effectLst/>
                  </a:rPr>
                  <a:t>,</a:t>
                </a:r>
                <a:r>
                  <a:rPr lang="pt-BR" dirty="0">
                    <a:solidFill>
                      <a:schemeClr val="tx1"/>
                    </a:solidFill>
                  </a:rPr>
                  <a:t> </a:t>
                </a:r>
                <a14:m>
                  <m:oMath xmlns:m="http://schemas.openxmlformats.org/officeDocument/2006/math">
                    <m:r>
                      <a:rPr lang="pt-BR" b="0" i="1" smtClean="0">
                        <a:solidFill>
                          <a:schemeClr val="tx1"/>
                        </a:solidFill>
                        <a:latin typeface="Cambria Math" panose="02040503050406030204" pitchFamily="18" charset="0"/>
                      </a:rPr>
                      <m:t>𝑏</m:t>
                    </m:r>
                  </m:oMath>
                </a14:m>
                <a:r>
                  <a:rPr lang="pt-BR" dirty="0">
                    <a:solidFill>
                      <a:schemeClr val="tx1"/>
                    </a:solidFill>
                    <a:effectLst/>
                  </a:rPr>
                  <a:t>,</a:t>
                </a:r>
                <a:r>
                  <a:rPr lang="pt-BR" b="1" dirty="0">
                    <a:solidFill>
                      <a:schemeClr val="tx1"/>
                    </a:solidFill>
                    <a:effectLst/>
                  </a:rPr>
                  <a:t> </a:t>
                </a:r>
                <a:r>
                  <a:rPr lang="pt-BR" b="0" dirty="0">
                    <a:solidFill>
                      <a:schemeClr val="tx1"/>
                    </a:solidFill>
                    <a:effectLst/>
                  </a:rPr>
                  <a:t>permite </a:t>
                </a:r>
                <a:r>
                  <a:rPr lang="pt-BR" b="1" dirty="0">
                    <a:solidFill>
                      <a:schemeClr val="tx1"/>
                    </a:solidFill>
                    <a:effectLst/>
                  </a:rPr>
                  <a:t>ajustar o limiar de ativação</a:t>
                </a:r>
                <a:r>
                  <a:rPr lang="pt-BR" b="0" dirty="0">
                    <a:solidFill>
                      <a:schemeClr val="tx1"/>
                    </a:solidFill>
                    <a:effectLst/>
                  </a:rPr>
                  <a:t> (ou ponto de disparo) da função de ativação.</a:t>
                </a:r>
                <a:endParaRPr lang="pt-BR" dirty="0">
                  <a:solidFill>
                    <a:schemeClr val="tx1"/>
                  </a:solidFill>
                </a:endParaRPr>
              </a:p>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 (degrau unitário).</a:t>
                </a:r>
              </a:p>
              <a:p>
                <a:r>
                  <a:rPr lang="pt-BR" dirty="0">
                    <a:solidFill>
                      <a:schemeClr val="tx1"/>
                    </a:solidFill>
                  </a:rPr>
                  <a:t>Com o decorrer do tempo, outras funções com características diferentes foram propostas, tais como as funções sigmoide, tangente hiperbólica, linear,</a:t>
                </a:r>
                <a:r>
                  <a:rPr lang="pt-BR" dirty="0"/>
                  <a:t> </a:t>
                </a:r>
                <a:r>
                  <a:rPr lang="pt-BR" dirty="0" err="1"/>
                  <a:t>relu</a:t>
                </a:r>
                <a:r>
                  <a:rPr lang="pt-BR" dirty="0"/>
                  <a:t> e suas variantes,</a:t>
                </a:r>
                <a:r>
                  <a:rPr lang="pt-BR" dirty="0">
                    <a:solidFill>
                      <a:schemeClr val="tx1"/>
                    </a:solidFill>
                  </a:rPr>
                  <a:t> etc.</a:t>
                </a:r>
              </a:p>
            </p:txBody>
          </p:sp>
        </mc:Choice>
        <mc:Fallback xmlns="">
          <p:sp>
            <p:nvSpPr>
              <p:cNvPr id="3" name="Espaço Reservado para Conteúdo 2">
                <a:extLst>
                  <a:ext uri="{FF2B5EF4-FFF2-40B4-BE49-F238E27FC236}">
                    <a16:creationId xmlns:a16="http://schemas.microsoft.com/office/drawing/2014/main" id="{7AD301D6-DB59-55AE-6500-3F2B8EBC51E6}"/>
                  </a:ext>
                </a:extLst>
              </p:cNvPr>
              <p:cNvSpPr>
                <a:spLocks noGrp="1" noRot="1" noChangeAspect="1" noMove="1" noResize="1" noEditPoints="1" noAdjustHandles="1" noChangeArrowheads="1" noChangeShapeType="1" noTextEdit="1"/>
              </p:cNvSpPr>
              <p:nvPr>
                <p:ph idx="1"/>
              </p:nvPr>
            </p:nvSpPr>
            <p:spPr>
              <a:xfrm>
                <a:off x="5819775" y="1825624"/>
                <a:ext cx="6191249" cy="5032376"/>
              </a:xfrm>
              <a:blipFill>
                <a:blip r:embed="rId3"/>
                <a:stretch>
                  <a:fillRect l="-1773" t="-1937" b="-1816"/>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5EB97E14-ADB4-BA5D-F1FE-546C74193E47}"/>
              </a:ext>
            </a:extLst>
          </p:cNvPr>
          <p:cNvSpPr/>
          <p:nvPr/>
        </p:nvSpPr>
        <p:spPr>
          <a:xfrm>
            <a:off x="2830754" y="1710972"/>
            <a:ext cx="2062156" cy="584775"/>
          </a:xfrm>
          <a:prstGeom prst="rect">
            <a:avLst/>
          </a:prstGeom>
        </p:spPr>
        <p:txBody>
          <a:bodyPr wrap="square">
            <a:spAutoFit/>
          </a:bodyPr>
          <a:lstStyle/>
          <a:p>
            <a:pPr algn="ctr"/>
            <a:r>
              <a:rPr lang="pt-BR" sz="1600" b="1" i="1" dirty="0"/>
              <a:t>função de ativação “tudo-ou-nada”</a:t>
            </a:r>
            <a:endParaRPr lang="pt-BR" sz="1600" dirty="0"/>
          </a:p>
        </p:txBody>
      </p:sp>
      <p:pic>
        <p:nvPicPr>
          <p:cNvPr id="11" name="Imagem 10">
            <a:extLst>
              <a:ext uri="{FF2B5EF4-FFF2-40B4-BE49-F238E27FC236}">
                <a16:creationId xmlns:a16="http://schemas.microsoft.com/office/drawing/2014/main" id="{14A2C82D-E147-3E46-5A94-B1817A65CE8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3665" y="1618724"/>
            <a:ext cx="3242177" cy="2092834"/>
          </a:xfrm>
          <a:prstGeom prst="rect">
            <a:avLst/>
          </a:prstGeom>
        </p:spPr>
      </p:pic>
      <p:pic>
        <p:nvPicPr>
          <p:cNvPr id="1028" name="Picture 4" descr="Activation Function - AI Wiki">
            <a:extLst>
              <a:ext uri="{FF2B5EF4-FFF2-40B4-BE49-F238E27FC236}">
                <a16:creationId xmlns:a16="http://schemas.microsoft.com/office/drawing/2014/main" id="{C1963A18-9DCD-92E6-F73C-DDD9DE51D68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024" t="57261" r="54834" b="1205"/>
          <a:stretch/>
        </p:blipFill>
        <p:spPr bwMode="auto">
          <a:xfrm>
            <a:off x="168883" y="3688177"/>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550ACC60-BA74-A8DC-EC0D-BCF56A69369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66054" t="57929" r="9225" b="2032"/>
          <a:stretch/>
        </p:blipFill>
        <p:spPr bwMode="auto">
          <a:xfrm>
            <a:off x="3201838" y="5288588"/>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24D9FB6F-0548-0312-1650-B2A6897D71C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905" t="4046" r="52375" b="51018"/>
          <a:stretch/>
        </p:blipFill>
        <p:spPr bwMode="auto">
          <a:xfrm>
            <a:off x="2856509" y="3688175"/>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DE19C8D7-086E-8B51-C541-E12C93D4CB5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3394" t="3391" r="3935" b="53689"/>
          <a:stretch/>
        </p:blipFill>
        <p:spPr bwMode="auto">
          <a:xfrm>
            <a:off x="334435" y="5309998"/>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06891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00B05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r>
              <a:rPr lang="pt-BR" dirty="0"/>
              <a:t> </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6096000" y="1825624"/>
            <a:ext cx="5964820" cy="5032375"/>
          </a:xfrm>
        </p:spPr>
        <p:txBody>
          <a:bodyPr>
            <a:normAutofit/>
          </a:bodyPr>
          <a:lstStyle/>
          <a:p>
            <a:r>
              <a:rPr lang="pt-BR" dirty="0"/>
              <a:t>Os pesos são ajustados através de um </a:t>
            </a:r>
            <a:r>
              <a:rPr lang="pt-BR" b="1" dirty="0">
                <a:solidFill>
                  <a:srgbClr val="00B050"/>
                </a:solidFill>
              </a:rPr>
              <a:t>processo de otimização iterativo </a:t>
            </a:r>
            <a:r>
              <a:rPr lang="pt-BR" dirty="0"/>
              <a:t>chamado de </a:t>
            </a:r>
            <a:r>
              <a:rPr lang="pt-BR" b="1" dirty="0">
                <a:solidFill>
                  <a:srgbClr val="00B050"/>
                </a:solidFill>
              </a:rPr>
              <a:t>retropropagação do erro</a:t>
            </a:r>
            <a:r>
              <a:rPr lang="pt-BR" dirty="0"/>
              <a:t>, onde apresenta-se ao modelo as </a:t>
            </a:r>
            <a:r>
              <a:rPr lang="pt-BR" b="1" dirty="0"/>
              <a:t>entradas</a:t>
            </a:r>
            <a:r>
              <a:rPr lang="pt-BR" dirty="0"/>
              <a:t> e </a:t>
            </a:r>
            <a:r>
              <a:rPr lang="pt-BR" b="1" dirty="0"/>
              <a:t>saídas esperadas</a:t>
            </a:r>
            <a:r>
              <a:rPr lang="pt-BR" dirty="0"/>
              <a:t> e o processo </a:t>
            </a:r>
            <a:r>
              <a:rPr lang="pt-BR" b="1" dirty="0">
                <a:solidFill>
                  <a:srgbClr val="00B050"/>
                </a:solidFill>
              </a:rPr>
              <a:t>minimiza o erro </a:t>
            </a:r>
            <a:r>
              <a:rPr lang="pt-BR" dirty="0"/>
              <a:t>entre a </a:t>
            </a:r>
            <a:r>
              <a:rPr lang="pt-BR" b="1" dirty="0"/>
              <a:t>saída da rede </a:t>
            </a:r>
            <a:r>
              <a:rPr lang="pt-BR" dirty="0"/>
              <a:t>e os </a:t>
            </a:r>
            <a:r>
              <a:rPr lang="pt-BR" b="1" dirty="0"/>
              <a:t>valores de saída esperados, chamados de </a:t>
            </a:r>
            <a:r>
              <a:rPr lang="pt-BR" b="1" dirty="0">
                <a:solidFill>
                  <a:srgbClr val="7030A0"/>
                </a:solidFill>
              </a:rPr>
              <a:t>rótulos</a:t>
            </a:r>
            <a:r>
              <a:rPr lang="pt-BR" b="1" dirty="0"/>
              <a:t> ou </a:t>
            </a:r>
            <a:r>
              <a:rPr lang="pt-BR" b="1" i="1" dirty="0" err="1">
                <a:solidFill>
                  <a:srgbClr val="7030A0"/>
                </a:solidFill>
              </a:rPr>
              <a:t>labels</a:t>
            </a:r>
            <a:r>
              <a:rPr lang="pt-BR" dirty="0"/>
              <a:t>.</a:t>
            </a:r>
            <a:endParaRPr lang="pt-BR" dirty="0">
              <a:effectLst/>
            </a:endParaRPr>
          </a:p>
        </p:txBody>
      </p:sp>
      <p:pic>
        <p:nvPicPr>
          <p:cNvPr id="5" name="Imagem 4">
            <a:extLst>
              <a:ext uri="{FF2B5EF4-FFF2-40B4-BE49-F238E27FC236}">
                <a16:creationId xmlns:a16="http://schemas.microsoft.com/office/drawing/2014/main" id="{FEF649D0-6599-5F36-3322-C9FED0ED3E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40186641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1" y="1825625"/>
            <a:ext cx="6313714"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pro </a:t>
            </a:r>
            <a:r>
              <a:rPr lang="en-US" dirty="0"/>
              <a:t>Frank Rosenblatt.</a:t>
            </a:r>
            <a:endParaRPr lang="pt-BR" dirty="0"/>
          </a:p>
        </p:txBody>
      </p:sp>
      <p:grpSp>
        <p:nvGrpSpPr>
          <p:cNvPr id="7"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715001" y="1825625"/>
            <a:ext cx="6313714" cy="5032375"/>
          </a:xfrm>
        </p:spPr>
        <p:txBody>
          <a:bodyPr>
            <a:normAutofit/>
          </a:bodyPr>
          <a:lstStyle/>
          <a:p>
            <a:r>
              <a:rPr lang="pt-BR" dirty="0"/>
              <a:t>Ela também é chamada de </a:t>
            </a:r>
            <a:r>
              <a:rPr lang="pt-BR" b="1" dirty="0">
                <a:solidFill>
                  <a:srgbClr val="00B050"/>
                </a:solidFill>
              </a:rPr>
              <a:t>rede densamente conectada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 que determinam a </a:t>
            </a:r>
            <a:r>
              <a:rPr lang="pt-BR" b="1" dirty="0">
                <a:solidFill>
                  <a:srgbClr val="7030A0"/>
                </a:solidFill>
              </a:rPr>
              <a:t>força daquela conexão</a:t>
            </a:r>
            <a:r>
              <a:rPr lang="pt-BR" dirty="0"/>
              <a:t>.</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592182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rgbClr val="7030A0"/>
                </a:solidFill>
              </a:rPr>
              <a:t>arquitetura</a:t>
            </a:r>
            <a:r>
              <a:rPr lang="pt-BR" dirty="0"/>
              <a:t>.</a:t>
            </a:r>
          </a:p>
          <a:p>
            <a:r>
              <a:rPr lang="pt-BR" dirty="0"/>
              <a:t>A arquitetura é definida</a:t>
            </a:r>
          </a:p>
          <a:p>
            <a:pPr lvl="1">
              <a:buFont typeface="Wingdings" panose="05000000000000000000" pitchFamily="2" charset="2"/>
              <a:buChar char="§"/>
            </a:pPr>
            <a:r>
              <a:rPr lang="pt-BR" dirty="0"/>
              <a:t>como os neurônios estão conectados (forma direta ou recursiva),</a:t>
            </a:r>
          </a:p>
          <a:p>
            <a:pPr lvl="1">
              <a:buFont typeface="Wingdings" panose="05000000000000000000" pitchFamily="2" charset="2"/>
              <a:buChar char="§"/>
            </a:pPr>
            <a:r>
              <a:rPr lang="pt-BR" dirty="0"/>
              <a:t>quantidade neurônios,</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146971" cy="4351338"/>
          </a:xfrm>
        </p:spPr>
        <p:txBody>
          <a:bodyPr/>
          <a:lstStyle/>
          <a:p>
            <a:r>
              <a:rPr lang="pt-BR" dirty="0"/>
              <a:t>As </a:t>
            </a:r>
            <a:r>
              <a:rPr lang="pt-BR" dirty="0" err="1"/>
              <a:t>RNAs</a:t>
            </a:r>
            <a:r>
              <a:rPr lang="pt-BR" dirty="0"/>
              <a:t> são o coração do </a:t>
            </a:r>
            <a:r>
              <a:rPr lang="pt-BR" b="1" dirty="0" err="1"/>
              <a:t>deep</a:t>
            </a:r>
            <a:r>
              <a:rPr lang="pt-BR" b="1" dirty="0"/>
              <a:t> learning 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40839" y="3557831"/>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104756" cy="2397727"/>
          </a:xfrm>
        </p:spPr>
        <p:txBody>
          <a:bodyPr>
            <a:normAutofit/>
          </a:bodyPr>
          <a:lstStyle/>
          <a:p>
            <a:r>
              <a:rPr lang="pt-BR" dirty="0"/>
              <a:t>Em geral, quando elas tem duas ou mais camadas ocultas,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terem uma grande capacidade de aprendizado, elas precisam de uma grande quantidade de dados para aprenderem uma solução geral.</a:t>
            </a:r>
          </a:p>
        </p:txBody>
      </p:sp>
      <p:grpSp>
        <p:nvGrpSpPr>
          <p:cNvPr id="6" name="Group 5">
            <a:extLst>
              <a:ext uri="{FF2B5EF4-FFF2-40B4-BE49-F238E27FC236}">
                <a16:creationId xmlns:a16="http://schemas.microsoft.com/office/drawing/2014/main" id="{5213EC6B-9964-F0AD-F41B-220541F20C22}"/>
              </a:ext>
            </a:extLst>
          </p:cNvPr>
          <p:cNvGrpSpPr/>
          <p:nvPr/>
        </p:nvGrpSpPr>
        <p:grpSpPr>
          <a:xfrm>
            <a:off x="2440839" y="3858322"/>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200" y="1825624"/>
            <a:ext cx="11038840"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 (número de camadas, número de nós, que corresponde à quantidade de pesos, as funções de ativação empregadas, etc.).</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a </a:t>
            </a:r>
            <a:r>
              <a:rPr lang="pt-BR" b="1" dirty="0">
                <a:solidFill>
                  <a:srgbClr val="7030A0"/>
                </a:solidFill>
                <a:effectLst/>
              </a:rPr>
              <a:t>capacidade da rede de aproximar diferentes tipos de funções</a:t>
            </a:r>
            <a:r>
              <a:rPr lang="pt-BR" b="0" dirty="0">
                <a:effectLst/>
              </a:rPr>
              <a:t>.</a:t>
            </a:r>
            <a:endParaRPr lang="pt-BR" dirty="0"/>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arquitetura.</a:t>
            </a:r>
          </a:p>
        </p:txBody>
      </p:sp>
    </p:spTree>
    <p:extLst>
      <p:ext uri="{BB962C8B-B14F-4D97-AF65-F5344CB8AC3E}">
        <p14:creationId xmlns:p14="http://schemas.microsoft.com/office/powerpoint/2010/main" val="23078834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rgbClr val="00B050"/>
                </a:solidFill>
              </a:rPr>
              <a:t>uma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validação cruzada e gradiente descendente.</a:t>
            </a:r>
          </a:p>
        </p:txBody>
      </p:sp>
    </p:spTree>
    <p:extLst>
      <p:ext uri="{BB962C8B-B14F-4D97-AF65-F5344CB8AC3E}">
        <p14:creationId xmlns:p14="http://schemas.microsoft.com/office/powerpoint/2010/main" val="15185964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objetivo do </a:t>
            </a:r>
            <a:r>
              <a:rPr lang="pt-BR" i="1" dirty="0" err="1"/>
              <a:t>backpropagation</a:t>
            </a:r>
            <a:r>
              <a:rPr lang="pt-BR" dirty="0"/>
              <a:t> é calcular o quanto cada peso da rede contribui para o erro e ajustá-lo de forma a minimizar o erro.</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525061" y="2170905"/>
            <a:ext cx="3813748" cy="2521523"/>
          </a:xfrm>
        </p:spPr>
        <p:txBody>
          <a:bodyPr>
            <a:noAutofit/>
          </a:bodyPr>
          <a:lstStyle/>
          <a:p>
            <a:pPr marL="0" indent="0" algn="ctr">
              <a:buNone/>
            </a:pPr>
            <a:r>
              <a:rPr lang="pt-BR" sz="3600" dirty="0"/>
              <a:t>O algoritmo de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dirty="0"/>
              <a:t>Propaga o erro para trás através das camadas da rede para atualizar os pesos usando o gradiente descendente.</a:t>
            </a:r>
          </a:p>
          <a:p>
            <a:pPr lvl="2">
              <a:buFont typeface="Courier New" panose="02070309020205020404" pitchFamily="49" charset="0"/>
              <a:buChar char="o"/>
            </a:pPr>
            <a:r>
              <a:rPr lang="pt-BR" dirty="0"/>
              <a:t>Etapa chamada de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dirty="0"/>
              <a:t>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precisam mudar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de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Exemplos: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b="-847"/>
                </a:stretch>
              </a:blipFill>
            </p:spPr>
            <p:txBody>
              <a:bodyPr/>
              <a:lstStyle/>
              <a:p>
                <a:r>
                  <a:rPr lang="pt-BR">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42"/>
                </a:stretch>
              </a:blipFill>
            </p:spPr>
            <p:txBody>
              <a:bodyPr/>
              <a:lstStyle/>
              <a:p>
                <a:r>
                  <a:rPr lang="pt-BR">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uma camada oculta com dois nós e uma camada de saída com um único nó,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i="1">
                        <a:latin typeface="Cambria Math" panose="02040503050406030204" pitchFamily="18" charset="0"/>
                      </a:rPr>
                      <m:t>𝑑</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smtClean="0">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b="0" i="1" smtClean="0">
                        <a:latin typeface="Cambria Math" panose="02040503050406030204" pitchFamily="18" charset="0"/>
                      </a:rPr>
                      <m:t>=1</m:t>
                    </m:r>
                  </m:oMath>
                </a14:m>
                <a:r>
                  <a:rPr lang="pt-BR" dirty="0"/>
                  <a:t>.</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9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r>
                          <a:rPr lang="pt-BR" sz="1400" i="1">
                            <a:latin typeface="Cambria Math" panose="02040503050406030204" pitchFamily="18" charset="0"/>
                          </a:rPr>
                          <m:t>𝑦</m:t>
                        </m:r>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rotWithShape="0">
                <a:blip r:embed="rId3"/>
                <a:stretch>
                  <a:fillRect r="-475" b="-8197"/>
                </a:stretch>
              </a:blipFill>
            </p:spPr>
            <p:txBody>
              <a:bodyPr/>
              <a:lstStyle/>
              <a:p>
                <a:r>
                  <a:rPr lang="pt-BR">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378"/>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rotWithShape="0">
                <a:blip r:embed="rId2"/>
                <a:stretch>
                  <a:fillRect l="-929" t="-1937"/>
                </a:stretch>
              </a:blipFill>
            </p:spPr>
            <p:txBody>
              <a:bodyPr/>
              <a:lstStyle/>
              <a:p>
                <a:r>
                  <a:rPr lang="pt-BR">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rotWithShape="0">
                <a:blip r:embed="rId2"/>
                <a:stretch>
                  <a:fillRect l="-976" t="-1937" r="-54"/>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(1 até </a:t>
                </a:r>
                <a14:m>
                  <m:oMath xmlns:m="http://schemas.openxmlformats.org/officeDocument/2006/math">
                    <m:r>
                      <a:rPr lang="pt-BR" sz="2000" b="0" i="1" smtClean="0">
                        <a:latin typeface="Cambria Math" panose="02040503050406030204" pitchFamily="18" charset="0"/>
                      </a:rPr>
                      <m:t>𝑁</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dirty="0"/>
                  <a:t>OBS.: O pseudocódigo apresentado implementa qualquer versão do gradiente descendente 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usamos bibliotecas que automatizam o processo.</a:t>
            </a:r>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 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05446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
        <p:nvSpPr>
          <p:cNvPr id="6" name="TextBox 5">
            <a:extLst>
              <a:ext uri="{FF2B5EF4-FFF2-40B4-BE49-F238E27FC236}">
                <a16:creationId xmlns:a16="http://schemas.microsoft.com/office/drawing/2014/main" id="{89179501-3107-A6C1-F7DF-DC4E29D2D7A6}"/>
              </a:ext>
            </a:extLst>
          </p:cNvPr>
          <p:cNvSpPr txBox="1"/>
          <p:nvPr/>
        </p:nvSpPr>
        <p:spPr>
          <a:xfrm>
            <a:off x="501446" y="5852305"/>
            <a:ext cx="4385186" cy="369332"/>
          </a:xfrm>
          <a:prstGeom prst="rect">
            <a:avLst/>
          </a:prstGeom>
          <a:noFill/>
        </p:spPr>
        <p:txBody>
          <a:bodyPr wrap="square">
            <a:spAutoFit/>
          </a:bodyPr>
          <a:lstStyle/>
          <a:p>
            <a:r>
              <a:rPr lang="pt-BR" dirty="0"/>
              <a:t>As irregularidades dificultam o aprendizado.</a:t>
            </a:r>
          </a:p>
        </p:txBody>
      </p:sp>
    </p:spTree>
    <p:extLst>
      <p:ext uri="{BB962C8B-B14F-4D97-AF65-F5344CB8AC3E}">
        <p14:creationId xmlns:p14="http://schemas.microsoft.com/office/powerpoint/2010/main" val="3679973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565058" y="1825624"/>
            <a:ext cx="6626942" cy="5032375"/>
          </a:xfrm>
        </p:spPr>
        <p:txBody>
          <a:bodyPr>
            <a:normAutofit/>
          </a:bodyPr>
          <a:lstStyle/>
          <a:p>
            <a:r>
              <a:rPr lang="pt-BR" sz="2800" dirty="0"/>
              <a:t>Felizmente, em muitos casos, </a:t>
            </a:r>
            <a:r>
              <a:rPr lang="pt-BR" sz="2800" b="1" dirty="0">
                <a:solidFill>
                  <a:srgbClr val="7030A0"/>
                </a:solidFill>
              </a:rPr>
              <a:t>quase todos os mínimos locais têm valor de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 que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5761703" y="1825624"/>
            <a:ext cx="6361471" cy="5032375"/>
          </a:xfrm>
        </p:spPr>
        <p:txBody>
          <a:bodyPr>
            <a:normAutofit/>
          </a:bodyPr>
          <a:lstStyle/>
          <a:p>
            <a:r>
              <a:rPr lang="pt-BR" dirty="0"/>
              <a:t>Avaliar o erro em conjuntos de validação e/ou teste.</a:t>
            </a:r>
          </a:p>
          <a:p>
            <a:pPr lvl="1"/>
            <a:r>
              <a:rPr lang="pt-BR" dirty="0"/>
              <a:t>O modelo é considerado bom se o </a:t>
            </a:r>
            <a:r>
              <a:rPr lang="pt-BR" b="1" dirty="0"/>
              <a:t>erro de validação/teste for baixo</a:t>
            </a:r>
            <a:r>
              <a:rPr lang="pt-BR" dirty="0"/>
              <a:t>.</a:t>
            </a:r>
          </a:p>
          <a:p>
            <a:r>
              <a:rPr lang="pt-BR" dirty="0"/>
              <a:t>Comparar o resultado de vários treinamentos com inicializações diferentes.</a:t>
            </a:r>
          </a:p>
          <a:p>
            <a:pPr lvl="1">
              <a:buFont typeface="Wingdings" panose="05000000000000000000" pitchFamily="2" charset="2"/>
              <a:buChar char="§"/>
            </a:pPr>
            <a:r>
              <a:rPr lang="pt-BR" dirty="0"/>
              <a:t>Se todos os treinamentos convergem para erros parecidos, então o mínimo encontrado provavelmente é bom.</a:t>
            </a:r>
          </a:p>
          <a:p>
            <a:pPr lvl="1">
              <a:buFont typeface="Wingdings" panose="05000000000000000000" pitchFamily="2" charset="2"/>
              <a:buChar char="§"/>
            </a:pPr>
            <a:r>
              <a:rPr lang="pt-BR" dirty="0"/>
              <a:t>Se os resultados variam muito, então o mínimo pode ser ruim.</a:t>
            </a:r>
          </a:p>
        </p:txBody>
      </p:sp>
      <p:pic>
        <p:nvPicPr>
          <p:cNvPr id="4" name="Picture 2" descr="challenges-1">
            <a:extLst>
              <a:ext uri="{FF2B5EF4-FFF2-40B4-BE49-F238E27FC236}">
                <a16:creationId xmlns:a16="http://schemas.microsoft.com/office/drawing/2014/main"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32125" y="2556386"/>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1959078"/>
            <a:ext cx="11208773" cy="2939844"/>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a rede acima com </a:t>
                </a:r>
                <a:r>
                  <a:rPr lang="pt-BR" b="1" dirty="0"/>
                  <a:t>3 camadas </a:t>
                </a:r>
                <a:r>
                  <a:rPr lang="pt-BR" dirty="0"/>
                  <a:t>como exemplo. </a:t>
                </a:r>
              </a:p>
              <a:p>
                <a:r>
                  <a:rPr lang="pt-BR" dirty="0"/>
                  <a:t>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da forma </a:t>
                </a:r>
                <a:r>
                  <a:rPr lang="en-US" dirty="0" err="1"/>
                  <a:t>abaixo</a:t>
                </a:r>
                <a:r>
                  <a:rPr lang="en-US" dirty="0"/>
                  <a:t> </a:t>
                </a:r>
                <a:r>
                  <a:rPr lang="en-US" dirty="0" err="1"/>
                  <a:t>deixando</a:t>
                </a:r>
                <a:r>
                  <a:rPr lang="en-US" dirty="0"/>
                  <a:t> </a:t>
                </a:r>
                <a:r>
                  <a:rPr lang="en-US" dirty="0" err="1"/>
                  <a:t>apenas</a:t>
                </a:r>
                <a:r>
                  <a:rPr lang="en-US" dirty="0"/>
                  <a:t> as </a:t>
                </a:r>
                <a:r>
                  <a:rPr lang="en-US" dirty="0" err="1"/>
                  <a:t>as</a:t>
                </a:r>
                <a:r>
                  <a:rPr lang="en-US" dirty="0"/>
                  <a:t>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r="-1664"/>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14:m>
                  <m:oMath xmlns:m="http://schemas.openxmlformats.org/officeDocument/2006/math">
                    <m:r>
                      <a:rPr lang="pt-BR" i="1">
                        <a:latin typeface="Cambria Math" panose="02040503050406030204" pitchFamily="18" charset="0"/>
                      </a:rPr>
                      <m:t>𝑀</m:t>
                    </m:r>
                  </m:oMath>
                </a14:m>
                <a:r>
                  <a:rPr lang="pt-BR" dirty="0"/>
                  <a:t> derivadas das funções de ativação na primeira camada.</a:t>
                </a:r>
              </a:p>
              <a:p>
                <a:r>
                  <a:rPr lang="pt-BR" dirty="0"/>
                  <a:t>As derivadas das funções logística e </a:t>
                </a:r>
                <a:r>
                  <a:rPr lang="pt-BR" dirty="0" err="1"/>
                  <a:t>tanh</a:t>
                </a:r>
                <a:r>
                  <a:rPr lang="pt-BR" dirty="0"/>
                  <a:t> têm valores no máximo iguais a 0.</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r="-10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A8F6D200-7D08-0CCC-145F-94A173627C80}"/>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32B18529-41C0-AF0E-9EA4-ED64EE914AFE}"/>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DE70E2C7-FF35-E904-6977-D68094F5E785}"/>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A8F6D200-7D08-0CCC-145F-94A173627C80}"/>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199" y="1825624"/>
                <a:ext cx="11353801"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menores</a:t>
                </a:r>
                <a:r>
                  <a:rPr lang="en-US" dirty="0"/>
                  <a:t> que 0 (no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b="-3511"/>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dirty="0">
                    <a:solidFill>
                      <a:schemeClr val="tx1"/>
                    </a:solidFill>
                    <a:effectLst/>
                  </a:rPr>
                  <a:t> principais </a:t>
                </a:r>
                <a:r>
                  <a:rPr lang="pt-BR" b="1" dirty="0">
                    <a:solidFill>
                      <a:srgbClr val="00B050"/>
                    </a:solidFill>
                    <a:effectLst/>
                  </a:rPr>
                  <a:t>vantagens</a:t>
                </a:r>
                <a:r>
                  <a:rPr lang="pt-BR" b="0" dirty="0">
                    <a:solidFill>
                      <a:schemeClr val="tx1"/>
                    </a:solidFill>
                    <a:effectLst/>
                  </a:rPr>
                  <a:t> são a sua </a:t>
                </a:r>
                <a:r>
                  <a:rPr lang="pt-BR" b="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a:t>
                </a:r>
                <a:r>
                  <a:rPr lang="pt-BR" b="1" dirty="0">
                    <a:solidFill>
                      <a:srgbClr val="0070C0"/>
                    </a:solidFill>
                    <a:effectLst/>
                  </a:rPr>
                  <a:t> mais </a:t>
                </a:r>
                <a:r>
                  <a:rPr lang="pt-BR" b="1" dirty="0">
                    <a:solidFill>
                      <a:srgbClr val="0070C0"/>
                    </a:solidFill>
                  </a:rPr>
                  <a:t>rápidas de se calcular </a:t>
                </a:r>
                <a:r>
                  <a:rPr lang="pt-BR" dirty="0"/>
                  <a:t>do que as funções logística e tangente hiperbólica.</a:t>
                </a:r>
                <a:endParaRPr lang="pt-BR" b="0" dirty="0">
                  <a:effectLst/>
                </a:endParaRPr>
              </a:p>
              <a:p>
                <a:r>
                  <a:rPr lang="pt-BR" dirty="0"/>
                  <a:t>Além disso, a</a:t>
                </a:r>
                <a:r>
                  <a:rPr lang="pt-BR" b="0" dirty="0">
                    <a:effectLst/>
                  </a:rPr>
                  <a:t>juda a </a:t>
                </a:r>
                <a:r>
                  <a:rPr lang="pt-BR" b="1" dirty="0">
                    <a:solidFill>
                      <a:srgbClr val="00B050"/>
                    </a:solidFill>
                    <a:effectLst/>
                  </a:rPr>
                  <a:t>minimizar o problema do desaparecimento de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desvantagem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008"/>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en-US">
                    <a:noFill/>
                  </a:rPr>
                  <a:t> </a:t>
                </a:r>
              </a:p>
            </p:txBody>
          </p:sp>
        </mc:Fallback>
      </mc:AlternateContent>
      <p:pic>
        <p:nvPicPr>
          <p:cNvPr id="3074" name="Picture 2">
            <a:extLst>
              <a:ext uri="{FF2B5EF4-FFF2-40B4-BE49-F238E27FC236}">
                <a16:creationId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variância das ativações permaneça a mesma ao longo de todas as camadas. Isso garante que o gradiente retropropagado não tenha multiplicações com valores muito pequenos ou muito grandes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padroniza as ativações das camadas durante o treinamento. Isso estabiliza os gradientes e acelera a convergência.</a:t>
            </a:r>
          </a:p>
          <a:p>
            <a:pPr lvl="1">
              <a:buFont typeface="Wingdings" panose="05000000000000000000" pitchFamily="2" charset="2"/>
              <a:buChar char="§"/>
            </a:pPr>
            <a:r>
              <a:rPr lang="pt-BR" b="1" dirty="0"/>
              <a:t>Poda do gradiente</a:t>
            </a:r>
            <a:r>
              <a:rPr lang="pt-BR" dirty="0"/>
              <a:t>: limita o valor máximo do gradiente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criam caminhos diretos entre camadas. Isso facilita a propagação do gradiente em redes muito profundas.</a:t>
            </a:r>
          </a:p>
        </p:txBody>
      </p:sp>
    </p:spTree>
    <p:extLst>
      <p:ext uri="{BB962C8B-B14F-4D97-AF65-F5344CB8AC3E}">
        <p14:creationId xmlns:p14="http://schemas.microsoft.com/office/powerpoint/2010/main" val="36803022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59078"/>
            <a:ext cx="11208773" cy="2939844"/>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8913</TotalTime>
  <Words>10363</Words>
  <Application>Microsoft Office PowerPoint</Application>
  <PresentationFormat>Widescreen</PresentationFormat>
  <Paragraphs>872</Paragraphs>
  <Slides>67</Slides>
  <Notes>36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67</vt:i4>
      </vt:variant>
    </vt:vector>
  </HeadingPairs>
  <TitlesOfParts>
    <vt:vector size="76"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PowerPoint Presentation</vt:lpstr>
      <vt:lpstr>Redes neurais artificiais</vt:lpstr>
      <vt:lpstr>PowerPoint Presentation</vt:lpstr>
      <vt:lpstr>PowerPoint Presentation</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Redes neurais artificiais</vt:lpstr>
      <vt:lpstr>Redes neurais artificiais</vt:lpstr>
      <vt:lpstr>PowerPoint Presentation</vt:lpstr>
      <vt:lpstr>Redes neurais artificiais</vt:lpstr>
      <vt:lpstr>Redes neurais artificiais</vt:lpstr>
      <vt:lpstr>Redes neurais artificiais</vt:lpstr>
      <vt:lpstr>Redes neurais artificiais</vt:lpstr>
      <vt:lpstr>Aproximação universal de funções</vt:lpstr>
      <vt:lpstr>Aproximação universal de funções</vt:lpstr>
      <vt:lpstr>PowerPoint Presentation</vt:lpstr>
      <vt:lpstr>Backpropagation</vt:lpstr>
      <vt:lpstr>PowerPoint Presentation</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PowerPoint Presentation</vt:lpstr>
      <vt:lpstr>PowerPoint Presentation</vt:lpstr>
      <vt:lpstr>Superfícies de erro de redes neurais</vt:lpstr>
      <vt:lpstr>Superfícies de erro irregulares</vt:lpstr>
      <vt:lpstr>Superfícies de erro irregulares</vt:lpstr>
      <vt:lpstr>Como garantir que o erro encontrado é bom?</vt:lpstr>
      <vt:lpstr>Exemplo</vt:lpstr>
      <vt:lpstr>Lista de exercícios</vt:lpstr>
      <vt:lpstr>PowerPoint Presentation</vt:lpstr>
      <vt:lpstr>PowerPoint Presentation</vt:lpstr>
      <vt:lpstr>PowerPoint Presentation</vt:lpstr>
      <vt:lpstr>Desaparecimento do gradiente</vt:lpstr>
      <vt:lpstr>Desaparecimento do gradiente</vt:lpstr>
      <vt:lpstr>Desaparecimento do gradiente</vt:lpstr>
      <vt:lpstr>Desaparecimento do gradiente</vt:lpstr>
      <vt:lpstr>PowerPoint Presentation</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PowerPoint Presentation</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1892</cp:revision>
  <dcterms:created xsi:type="dcterms:W3CDTF">2020-01-20T13:50:05Z</dcterms:created>
  <dcterms:modified xsi:type="dcterms:W3CDTF">2026-04-20T15:10:14Z</dcterms:modified>
</cp:coreProperties>
</file>