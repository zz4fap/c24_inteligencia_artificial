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2"/>
  </p:notesMasterIdLst>
  <p:handoutMasterIdLst>
    <p:handoutMasterId r:id="rId73"/>
  </p:handoutMasterIdLst>
  <p:sldIdLst>
    <p:sldId id="256" r:id="rId2"/>
    <p:sldId id="565" r:id="rId3"/>
    <p:sldId id="417" r:id="rId4"/>
    <p:sldId id="545" r:id="rId5"/>
    <p:sldId id="544" r:id="rId6"/>
    <p:sldId id="553" r:id="rId7"/>
    <p:sldId id="556" r:id="rId8"/>
    <p:sldId id="558" r:id="rId9"/>
    <p:sldId id="445" r:id="rId10"/>
    <p:sldId id="608" r:id="rId11"/>
    <p:sldId id="451" r:id="rId12"/>
    <p:sldId id="454" r:id="rId13"/>
    <p:sldId id="453" r:id="rId14"/>
    <p:sldId id="532" r:id="rId15"/>
    <p:sldId id="609" r:id="rId16"/>
    <p:sldId id="455" r:id="rId17"/>
    <p:sldId id="610" r:id="rId18"/>
    <p:sldId id="448" r:id="rId19"/>
    <p:sldId id="533" r:id="rId20"/>
    <p:sldId id="512" r:id="rId21"/>
    <p:sldId id="563" r:id="rId22"/>
    <p:sldId id="564" r:id="rId23"/>
    <p:sldId id="560" r:id="rId24"/>
    <p:sldId id="561" r:id="rId25"/>
    <p:sldId id="562" r:id="rId26"/>
    <p:sldId id="531" r:id="rId27"/>
    <p:sldId id="550" r:id="rId28"/>
    <p:sldId id="551" r:id="rId29"/>
    <p:sldId id="566" r:id="rId30"/>
    <p:sldId id="554" r:id="rId31"/>
    <p:sldId id="579" r:id="rId32"/>
    <p:sldId id="567" r:id="rId33"/>
    <p:sldId id="547" r:id="rId34"/>
    <p:sldId id="391" r:id="rId35"/>
    <p:sldId id="392" r:id="rId36"/>
    <p:sldId id="568" r:id="rId37"/>
    <p:sldId id="569" r:id="rId38"/>
    <p:sldId id="578" r:id="rId39"/>
    <p:sldId id="570" r:id="rId40"/>
    <p:sldId id="573" r:id="rId41"/>
    <p:sldId id="574" r:id="rId42"/>
    <p:sldId id="572" r:id="rId43"/>
    <p:sldId id="581" r:id="rId44"/>
    <p:sldId id="584" r:id="rId45"/>
    <p:sldId id="580" r:id="rId46"/>
    <p:sldId id="423" r:id="rId47"/>
    <p:sldId id="607" r:id="rId48"/>
    <p:sldId id="404" r:id="rId49"/>
    <p:sldId id="407" r:id="rId50"/>
    <p:sldId id="588" r:id="rId51"/>
    <p:sldId id="589" r:id="rId52"/>
    <p:sldId id="586" r:id="rId53"/>
    <p:sldId id="587" r:id="rId54"/>
    <p:sldId id="585" r:id="rId55"/>
    <p:sldId id="583" r:id="rId56"/>
    <p:sldId id="592" r:id="rId57"/>
    <p:sldId id="611" r:id="rId58"/>
    <p:sldId id="557" r:id="rId59"/>
    <p:sldId id="601" r:id="rId60"/>
    <p:sldId id="593" r:id="rId61"/>
    <p:sldId id="594" r:id="rId62"/>
    <p:sldId id="595" r:id="rId63"/>
    <p:sldId id="596" r:id="rId64"/>
    <p:sldId id="597" r:id="rId65"/>
    <p:sldId id="598" r:id="rId66"/>
    <p:sldId id="599" r:id="rId67"/>
    <p:sldId id="600" r:id="rId68"/>
    <p:sldId id="606" r:id="rId69"/>
    <p:sldId id="405" r:id="rId70"/>
    <p:sldId id="406" r:id="rId71"/>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912" autoAdjust="0"/>
    <p:restoredTop sz="82930" autoAdjust="0"/>
  </p:normalViewPr>
  <p:slideViewPr>
    <p:cSldViewPr snapToGrid="0">
      <p:cViewPr varScale="1">
        <p:scale>
          <a:sx n="92" d="100"/>
          <a:sy n="92" d="100"/>
        </p:scale>
        <p:origin x="1488" y="66"/>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presProps" Target="presProps.xml"/><Relationship Id="rId79"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handoutMaster" Target="handoutMasters/handoutMaster1.xml"/><Relationship Id="rId78"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20/04/2026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20/04/2026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3" Type="http://schemas.openxmlformats.org/officeDocument/2006/relationships/hyperlink" Target="https://en.wikipedia.org/wiki/Activation_function#Comparison_of_activation_functions" TargetMode="External"/><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hyperlink" Target="https://stats.stackexchange.com/questions/126238/what-are-the-advantages-of-relu-over-sigmoid-function-in-deep-neural-networks#:~:text=The%20main%20reason%20why%20ReLu,deep%20network%20with%20sigmoid%20activation." TargetMode="External"/><Relationship Id="rId2" Type="http://schemas.openxmlformats.org/officeDocument/2006/relationships/slide" Target="../slides/slide64.xml"/><Relationship Id="rId1" Type="http://schemas.openxmlformats.org/officeDocument/2006/relationships/notesMaster" Target="../notesMasters/notesMaster1.xml"/><Relationship Id="rId4" Type="http://schemas.openxmlformats.org/officeDocument/2006/relationships/hyperlink" Target="http://www.cs.toronto.edu/~fritz/absps/imagenet.pdf" TargetMode="Externa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25289977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neurônio é uma </a:t>
            </a:r>
            <a:r>
              <a:rPr lang="pt-BR" b="1" dirty="0"/>
              <a:t>célula eucarionte altamente especializada</a:t>
            </a:r>
            <a:r>
              <a:rPr lang="pt-BR" dirty="0"/>
              <a:t>.</a:t>
            </a:r>
          </a:p>
          <a:p>
            <a:br>
              <a:rPr lang="pt-BR" dirty="0"/>
            </a:br>
            <a:r>
              <a:rPr lang="pt-BR" dirty="0"/>
              <a:t>Diferente de uma célula da pele ou do fígado, que têm funções de barreira ou metabolismo químico, o neurônio é projetado para a </a:t>
            </a:r>
            <a:r>
              <a:rPr lang="pt-BR" b="1" dirty="0"/>
              <a:t>excitabilidade elétrica</a:t>
            </a:r>
            <a:r>
              <a:rPr lang="pt-BR" dirty="0"/>
              <a:t>.</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9743940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53F4D-6C82-7FCA-23FF-C258F7CE97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F0A06A-D0CE-4BAD-3BDF-4B9F8363AD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58ADF5-5B4F-9FF6-CF6A-9C10F85DC22E}"/>
              </a:ext>
            </a:extLst>
          </p:cNvPr>
          <p:cNvSpPr>
            <a:spLocks noGrp="1"/>
          </p:cNvSpPr>
          <p:nvPr>
            <p:ph type="body" idx="1"/>
          </p:nvPr>
        </p:nvSpPr>
        <p:spPr/>
        <p:txBody>
          <a:bodyPr/>
          <a:lstStyle/>
          <a:p>
            <a:r>
              <a:rPr lang="pt-BR" dirty="0"/>
              <a:t>O neurônio é uma </a:t>
            </a:r>
            <a:r>
              <a:rPr lang="pt-BR" b="1" dirty="0"/>
              <a:t>célula eucarionte altamente especializada</a:t>
            </a:r>
            <a:r>
              <a:rPr lang="pt-BR" dirty="0"/>
              <a:t>.</a:t>
            </a:r>
          </a:p>
          <a:p>
            <a:br>
              <a:rPr lang="pt-BR" dirty="0"/>
            </a:br>
            <a:r>
              <a:rPr lang="pt-BR" dirty="0"/>
              <a:t>Diferente de uma célula da pele ou do fígado, que têm funções de barreira ou metabolismo químico, o neurônio é projetado para a </a:t>
            </a:r>
            <a:r>
              <a:rPr lang="pt-BR" b="1" dirty="0"/>
              <a:t>excitabilidade elétrica</a:t>
            </a:r>
            <a:r>
              <a:rPr lang="pt-BR" dirty="0"/>
              <a:t>.</a:t>
            </a:r>
          </a:p>
          <a:p>
            <a:endParaRPr lang="en-US" dirty="0"/>
          </a:p>
        </p:txBody>
      </p:sp>
      <p:sp>
        <p:nvSpPr>
          <p:cNvPr id="4" name="Slide Number Placeholder 3">
            <a:extLst>
              <a:ext uri="{FF2B5EF4-FFF2-40B4-BE49-F238E27FC236}">
                <a16:creationId xmlns:a16="http://schemas.microsoft.com/office/drawing/2014/main" id="{2C58DB8A-770D-EB46-5B62-C7A647A63B5B}"/>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3592567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Existem dois tipos principais de sinapses: a </a:t>
            </a:r>
            <a:r>
              <a:rPr lang="pt-BR" b="1" dirty="0"/>
              <a:t>química</a:t>
            </a:r>
            <a:r>
              <a:rPr lang="pt-BR" dirty="0"/>
              <a:t> (a mais comum no nosso cérebro) e a </a:t>
            </a:r>
            <a:r>
              <a:rPr lang="pt-BR" b="1" dirty="0"/>
              <a:t>elétrica</a:t>
            </a:r>
            <a:r>
              <a:rPr lang="pt-BR" dirty="0"/>
              <a:t>.</a:t>
            </a:r>
          </a:p>
          <a:p>
            <a:endParaRPr lang="pt-BR" b="1" dirty="0"/>
          </a:p>
          <a:p>
            <a:r>
              <a:rPr lang="pt-BR" b="1" dirty="0"/>
              <a:t>Como eles se comunicam?</a:t>
            </a:r>
          </a:p>
          <a:p>
            <a:r>
              <a:rPr lang="pt-BR" dirty="0"/>
              <a:t>A comunicação acontece em dois estágios principais:</a:t>
            </a:r>
          </a:p>
          <a:p>
            <a:r>
              <a:rPr lang="pt-BR" b="1" dirty="0"/>
              <a:t>Condução Elétrica:</a:t>
            </a:r>
            <a:r>
              <a:rPr lang="pt-BR" dirty="0"/>
              <a:t> Dentro do próprio neurônio, a informação viaja como um pulso elétrico chamado </a:t>
            </a:r>
            <a:r>
              <a:rPr lang="pt-BR" b="1" dirty="0"/>
              <a:t>Potencial de Ação</a:t>
            </a:r>
            <a:r>
              <a:rPr lang="pt-BR" dirty="0"/>
              <a:t>.</a:t>
            </a:r>
          </a:p>
          <a:p>
            <a:r>
              <a:rPr lang="pt-BR" b="1" dirty="0"/>
              <a:t>Transmissão Química (Sinapse):</a:t>
            </a:r>
            <a:r>
              <a:rPr lang="pt-BR" dirty="0"/>
              <a:t> Quando o sinal chega ao fim do axônio, ele não "pula" diretamente para a outra célula (pois elas não se encostam). O neurônio libera substâncias químicas chamadas </a:t>
            </a:r>
            <a:r>
              <a:rPr lang="pt-BR" b="1" dirty="0"/>
              <a:t>neurotransmissores</a:t>
            </a:r>
            <a:r>
              <a:rPr lang="pt-BR" dirty="0"/>
              <a:t> (como dopamina ou serotonina) no espaço entre eles, a </a:t>
            </a:r>
            <a:r>
              <a:rPr lang="pt-BR" b="1" dirty="0"/>
              <a:t>fenda sináptica</a:t>
            </a:r>
            <a:r>
              <a:rPr lang="pt-BR" dirty="0"/>
              <a:t>.</a:t>
            </a:r>
          </a:p>
          <a:p>
            <a:endParaRPr lang="pt-BR" dirty="0"/>
          </a:p>
          <a:p>
            <a:r>
              <a:rPr lang="pt-BR" b="1" dirty="0"/>
              <a:t>O "Filtro" do Cérebro</a:t>
            </a:r>
          </a:p>
          <a:p>
            <a:r>
              <a:rPr lang="pt-BR" dirty="0"/>
              <a:t>Essa distinção é fundamental porque o seu cérebro recebe milhões de estímulos por segundo (o toque da roupa na pele, o barulho do ventilador, a luz da sala).</a:t>
            </a:r>
          </a:p>
          <a:p>
            <a:r>
              <a:rPr lang="pt-BR" dirty="0"/>
              <a:t>Para as informações irrelevantes, as sinapses são mantidas </a:t>
            </a:r>
            <a:r>
              <a:rPr lang="pt-BR" b="1" dirty="0"/>
              <a:t>fracas</a:t>
            </a:r>
            <a:r>
              <a:rPr lang="pt-BR" dirty="0"/>
              <a:t> (filtro).</a:t>
            </a:r>
          </a:p>
          <a:p>
            <a:r>
              <a:rPr lang="pt-BR" dirty="0"/>
              <a:t>Para informações vitais ou aprendidas, as sinapses tornam-se </a:t>
            </a:r>
            <a:r>
              <a:rPr lang="pt-BR" b="1" dirty="0"/>
              <a:t>fortes</a:t>
            </a:r>
            <a:r>
              <a:rPr lang="pt-BR" dirty="0"/>
              <a:t> (foco).</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6411196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42435634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622987-925B-7129-0A2E-DE3815F4FE58}"/>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A18A4CBA-9044-26FC-DF73-B80C0CE02D5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EB12BB6C-7018-B9ED-217E-DDBC0E24DCB9}"/>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a16="http://schemas.microsoft.com/office/drawing/2014/main" id="{9E728E3E-66FE-8A4E-22A4-3CEBC0A1FE28}"/>
              </a:ext>
            </a:extLst>
          </p:cNvPr>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203768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B3E06D-D4DF-62F5-AED3-2FF8FE7BAF6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761FFDF-D7C1-0654-ECF9-2DA2D948011D}"/>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789B2351-07CF-627D-5227-558D210CC3B2}"/>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a16="http://schemas.microsoft.com/office/drawing/2014/main" id="{FADA0DA6-61DD-F173-41B1-52DE43CB9160}"/>
              </a:ext>
            </a:extLst>
          </p:cNvPr>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2874638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42633465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3695A6-848B-0A56-6ADE-D9EAB9837D1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97F7751-BFAF-01F0-7C95-E12D5204F819}"/>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5A1DA766-2DCA-5FAD-DC9C-AB3157892A1A}"/>
              </a:ext>
            </a:extLst>
          </p:cNvPr>
          <p:cNvSpPr>
            <a:spLocks noGrp="1"/>
          </p:cNvSpPr>
          <p:nvPr>
            <p:ph type="body" idx="1"/>
          </p:nvPr>
        </p:nvSpPr>
        <p:spPr/>
        <p:txBody>
          <a:bodyPr/>
          <a:lstStyle/>
          <a:p>
            <a:endParaRPr lang="pt-BR" dirty="0"/>
          </a:p>
        </p:txBody>
      </p:sp>
      <p:sp>
        <p:nvSpPr>
          <p:cNvPr id="4" name="Espaço Reservado para Número de Slide 3">
            <a:extLst>
              <a:ext uri="{FF2B5EF4-FFF2-40B4-BE49-F238E27FC236}">
                <a16:creationId xmlns:a16="http://schemas.microsoft.com/office/drawing/2014/main" id="{D572725B-DFCE-4260-C8C5-6A026057E77C}"/>
              </a:ext>
            </a:extLst>
          </p:cNvPr>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4530559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0758133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316CC-F373-FC26-CD96-03E3208CE4D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82D6386-1C01-82C2-6C5F-524E39D9CAC2}"/>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4DF546FF-D3FA-E080-6508-2ACC6895CAA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a:extLst>
              <a:ext uri="{FF2B5EF4-FFF2-40B4-BE49-F238E27FC236}">
                <a16:creationId xmlns:a16="http://schemas.microsoft.com/office/drawing/2014/main" id="{19F165B9-8714-BAFC-E5BF-A8F2176883FE}"/>
              </a:ext>
            </a:extLst>
          </p:cNvPr>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34575246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32981188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F1F29B-270E-E588-11EC-4DA7E79E79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F1CCEFA5-3016-C460-BD42-0573275C34E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B7C6FDBF-A103-E7A0-047E-3EAA381C208B}"/>
              </a:ext>
            </a:extLst>
          </p:cNvPr>
          <p:cNvSpPr>
            <a:spLocks noGrp="1"/>
          </p:cNvSpPr>
          <p:nvPr>
            <p:ph type="body" idx="1"/>
          </p:nvPr>
        </p:nvSpPr>
        <p:spPr/>
        <p:txBody>
          <a:bodyPr/>
          <a:lstStyle/>
          <a:p>
            <a:r>
              <a:rPr lang="pt-BR" b="1" dirty="0"/>
              <a:t>Por que elas são "Ocultas"?</a:t>
            </a:r>
          </a:p>
          <a:p>
            <a:r>
              <a:rPr lang="pt-BR" dirty="0"/>
              <a:t>Simplesmente porque não vemos o que acontece ali dentro durante o processo. Elas são a "caixa preta" onde os dados são mastigados e transformados em abstrações.</a:t>
            </a:r>
          </a:p>
          <a:p>
            <a:endParaRPr lang="pt-BR" dirty="0"/>
          </a:p>
        </p:txBody>
      </p:sp>
      <p:sp>
        <p:nvSpPr>
          <p:cNvPr id="4" name="Espaço Reservado para Número de Slide 3">
            <a:extLst>
              <a:ext uri="{FF2B5EF4-FFF2-40B4-BE49-F238E27FC236}">
                <a16:creationId xmlns:a16="http://schemas.microsoft.com/office/drawing/2014/main" id="{BB272679-77C5-7D07-DA1E-053F9855A280}"/>
              </a:ext>
            </a:extLst>
          </p:cNvPr>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38823192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2B59A-F827-F651-F147-44FBA47E3AA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C03CFD26-12FE-3E16-B46A-3D2E234D4F6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0D25A84F-AE8D-3123-073B-80884B4661FC}"/>
              </a:ext>
            </a:extLst>
          </p:cNvPr>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a:extLst>
              <a:ext uri="{FF2B5EF4-FFF2-40B4-BE49-F238E27FC236}">
                <a16:creationId xmlns:a16="http://schemas.microsoft.com/office/drawing/2014/main" id="{7E1631C1-F5A3-D807-E216-0D61AA847626}"/>
              </a:ext>
            </a:extLst>
          </p:cNvPr>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198182994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16ABD-C993-4968-3F8C-E632859232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EEEBD2C5-2D2B-F2F6-5952-5DA13BB14433}"/>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D7B34955-EF2E-2AB6-A9D3-848707D9924C}"/>
              </a:ext>
            </a:extLst>
          </p:cNvPr>
          <p:cNvSpPr>
            <a:spLocks noGrp="1"/>
          </p:cNvSpPr>
          <p:nvPr>
            <p:ph type="body" idx="1"/>
          </p:nvPr>
        </p:nvSpPr>
        <p:spPr/>
        <p:txBody>
          <a:bodyPr/>
          <a:lstStyle/>
          <a:p>
            <a:endParaRPr lang="pt-BR" dirty="0"/>
          </a:p>
        </p:txBody>
      </p:sp>
      <p:sp>
        <p:nvSpPr>
          <p:cNvPr id="4" name="Espaço Reservado para Número de Slide 3">
            <a:extLst>
              <a:ext uri="{FF2B5EF4-FFF2-40B4-BE49-F238E27FC236}">
                <a16:creationId xmlns:a16="http://schemas.microsoft.com/office/drawing/2014/main" id="{7A5C78BB-67EB-C595-6562-CBFCAE7A0717}"/>
              </a:ext>
            </a:extLst>
          </p:cNvPr>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27864303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Uma rede neural com funções de ativação não-lineares </a:t>
            </a:r>
            <a:r>
              <a:rPr lang="pt-BR" sz="1200" b="1" i="0" kern="1200" dirty="0">
                <a:solidFill>
                  <a:schemeClr val="tx1"/>
                </a:solidFill>
                <a:effectLst/>
                <a:latin typeface="+mn-lt"/>
                <a:ea typeface="+mn-ea"/>
                <a:cs typeface="+mn-cs"/>
              </a:rPr>
              <a:t>não é forçada a ser não-linear</a:t>
            </a:r>
            <a:r>
              <a:rPr lang="pt-BR" sz="1200" b="0" i="0" kern="1200" dirty="0">
                <a:solidFill>
                  <a:schemeClr val="tx1"/>
                </a:solidFill>
                <a:effectLst/>
                <a:latin typeface="+mn-lt"/>
                <a:ea typeface="+mn-ea"/>
                <a:cs typeface="+mn-cs"/>
              </a:rPr>
              <a:t>. Em vez disso, ela </a:t>
            </a:r>
            <a:r>
              <a:rPr lang="pt-BR" sz="1200" b="1" i="0" kern="1200" dirty="0">
                <a:solidFill>
                  <a:schemeClr val="tx1"/>
                </a:solidFill>
                <a:effectLst/>
                <a:latin typeface="+mn-lt"/>
                <a:ea typeface="+mn-ea"/>
                <a:cs typeface="+mn-cs"/>
              </a:rPr>
              <a:t>tem a capacidade de ser não-linear</a:t>
            </a:r>
            <a:r>
              <a:rPr lang="pt-BR" sz="1200" b="0" i="0" kern="1200" dirty="0">
                <a:solidFill>
                  <a:schemeClr val="tx1"/>
                </a:solidFill>
                <a:effectLst/>
                <a:latin typeface="+mn-lt"/>
                <a:ea typeface="+mn-ea"/>
                <a:cs typeface="+mn-cs"/>
              </a:rPr>
              <a:t> se for necessário para minimizar o erro. Se a função alvo for linear, a rede pode aprender pesos que fazem com que os neurônios operem apenas na </a:t>
            </a:r>
            <a:r>
              <a:rPr lang="pt-BR" sz="1200" b="1" i="0" kern="1200" dirty="0">
                <a:solidFill>
                  <a:schemeClr val="tx1"/>
                </a:solidFill>
                <a:effectLst/>
                <a:latin typeface="+mn-lt"/>
                <a:ea typeface="+mn-ea"/>
                <a:cs typeface="+mn-cs"/>
              </a:rPr>
              <a:t>região linear</a:t>
            </a:r>
            <a:r>
              <a:rPr lang="pt-BR" sz="1200" b="0" i="0" kern="1200" dirty="0">
                <a:solidFill>
                  <a:schemeClr val="tx1"/>
                </a:solidFill>
                <a:effectLst/>
                <a:latin typeface="+mn-lt"/>
                <a:ea typeface="+mn-ea"/>
                <a:cs typeface="+mn-cs"/>
              </a:rPr>
              <a:t> da sua função de ativação.</a:t>
            </a: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27</a:t>
            </a:fld>
            <a:endParaRPr lang="pt-BR"/>
          </a:p>
        </p:txBody>
      </p:sp>
    </p:spTree>
    <p:extLst>
      <p:ext uri="{BB962C8B-B14F-4D97-AF65-F5344CB8AC3E}">
        <p14:creationId xmlns:p14="http://schemas.microsoft.com/office/powerpoint/2010/main" val="32671344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28</a:t>
            </a:fld>
            <a:endParaRPr lang="pt-BR"/>
          </a:p>
        </p:txBody>
      </p:sp>
    </p:spTree>
    <p:extLst>
      <p:ext uri="{BB962C8B-B14F-4D97-AF65-F5344CB8AC3E}">
        <p14:creationId xmlns:p14="http://schemas.microsoft.com/office/powerpoint/2010/main" val="70572537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objetivo é encontrar o conjunto de pesos que minimiza a função de perda.</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10379333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34</a:t>
            </a:fld>
            <a:endParaRPr lang="pt-BR"/>
          </a:p>
        </p:txBody>
      </p:sp>
    </p:spTree>
    <p:extLst>
      <p:ext uri="{BB962C8B-B14F-4D97-AF65-F5344CB8AC3E}">
        <p14:creationId xmlns:p14="http://schemas.microsoft.com/office/powerpoint/2010/main" val="316321665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35</a:t>
            </a:fld>
            <a:endParaRPr lang="pt-BR"/>
          </a:p>
        </p:txBody>
      </p:sp>
    </p:spTree>
    <p:extLst>
      <p:ext uri="{BB962C8B-B14F-4D97-AF65-F5344CB8AC3E}">
        <p14:creationId xmlns:p14="http://schemas.microsoft.com/office/powerpoint/2010/main" val="57903682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1" dirty="0"/>
              <a:t>Laboratório #6:</a:t>
            </a:r>
            <a:r>
              <a:rPr lang="pt-BR" sz="1200" dirty="0"/>
              <a:t> https://mybinder.org/v2/gh/zz4fap/t320_aprendizado_de_maquina/main?filepath=labs%2FLaboratorio6.ipynb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129833157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5912624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Yann LeCun</a:t>
            </a:r>
          </a:p>
        </p:txBody>
      </p:sp>
      <p:sp>
        <p:nvSpPr>
          <p:cNvPr id="4" name="Slide Number Placeholder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401706064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46</a:t>
            </a:fld>
            <a:endParaRPr lang="pt-BR"/>
          </a:p>
        </p:txBody>
      </p:sp>
    </p:spTree>
    <p:extLst>
      <p:ext uri="{BB962C8B-B14F-4D97-AF65-F5344CB8AC3E}">
        <p14:creationId xmlns:p14="http://schemas.microsoft.com/office/powerpoint/2010/main" val="17074648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Convergência lenta</a:t>
            </a:r>
          </a:p>
          <a:p>
            <a:r>
              <a:rPr lang="pt-BR" dirty="0"/>
              <a:t>Regiões mal condicionadas, ravinas e platôs fazem com que:</a:t>
            </a:r>
          </a:p>
          <a:p>
            <a:r>
              <a:rPr lang="pt-BR" dirty="0"/>
              <a:t>o gradiente aponte em direções pouco úteis</a:t>
            </a:r>
          </a:p>
          <a:p>
            <a:r>
              <a:rPr lang="pt-BR" dirty="0"/>
              <a:t>o passo de atualização oscile</a:t>
            </a:r>
          </a:p>
          <a:p>
            <a:r>
              <a:rPr lang="pt-BR" dirty="0"/>
              <a:t>o treinamento leve muitas épocas</a:t>
            </a:r>
          </a:p>
          <a:p>
            <a:r>
              <a:rPr lang="pt-BR" dirty="0"/>
              <a:t>Isso explica por que redes profundas podem demorar a convergir sem técnicas como normalização, momentum ou Adam.</a:t>
            </a:r>
          </a:p>
          <a:p>
            <a:endParaRPr lang="pt-BR" b="1" dirty="0"/>
          </a:p>
          <a:p>
            <a:r>
              <a:rPr lang="pt-BR" b="1" dirty="0"/>
              <a:t>Instabilidade no treinamento</a:t>
            </a:r>
          </a:p>
          <a:p>
            <a:r>
              <a:rPr lang="pt-BR" dirty="0"/>
              <a:t>Penhascos e gradientes explosivos podem gerar:</a:t>
            </a:r>
          </a:p>
          <a:p>
            <a:r>
              <a:rPr lang="pt-BR" dirty="0"/>
              <a:t>saltos grandes nos pesos</a:t>
            </a:r>
          </a:p>
          <a:p>
            <a:r>
              <a:rPr lang="pt-BR" dirty="0"/>
              <a:t>divergência do erro</a:t>
            </a:r>
          </a:p>
          <a:p>
            <a:r>
              <a:rPr lang="pt-BR" dirty="0" err="1"/>
              <a:t>NaNs</a:t>
            </a:r>
            <a:r>
              <a:rPr lang="pt-BR" dirty="0"/>
              <a:t> ou overflow numérico</a:t>
            </a:r>
          </a:p>
          <a:p>
            <a:r>
              <a:rPr lang="pt-BR" dirty="0"/>
              <a:t>Por isso usam-se:</a:t>
            </a:r>
          </a:p>
          <a:p>
            <a:r>
              <a:rPr lang="pt-BR" dirty="0" err="1"/>
              <a:t>gradient</a:t>
            </a:r>
            <a:r>
              <a:rPr lang="pt-BR" dirty="0"/>
              <a:t> clipping</a:t>
            </a:r>
          </a:p>
          <a:p>
            <a:r>
              <a:rPr lang="pt-BR" dirty="0"/>
              <a:t>normalização</a:t>
            </a:r>
          </a:p>
          <a:p>
            <a:r>
              <a:rPr lang="pt-BR" dirty="0"/>
              <a:t>inicializações cuidadosas</a:t>
            </a:r>
            <a:endParaRPr lang="pt-BR" b="1" dirty="0"/>
          </a:p>
          <a:p>
            <a:endParaRPr lang="pt-BR" b="1" dirty="0"/>
          </a:p>
          <a:p>
            <a:r>
              <a:rPr lang="pt-BR" b="1" dirty="0"/>
              <a:t>Sensibilidade à inicialização</a:t>
            </a:r>
          </a:p>
          <a:p>
            <a:r>
              <a:rPr lang="pt-BR" dirty="0"/>
              <a:t>Devido às múltiplas bacias de atração e simetrias:</a:t>
            </a:r>
          </a:p>
          <a:p>
            <a:r>
              <a:rPr lang="pt-BR" dirty="0"/>
              <a:t>diferentes inicializações levam a soluções diferentes</a:t>
            </a:r>
          </a:p>
          <a:p>
            <a:r>
              <a:rPr lang="pt-BR" dirty="0"/>
              <a:t>o desempenho final pode variar</a:t>
            </a:r>
          </a:p>
          <a:p>
            <a:r>
              <a:rPr lang="pt-BR" dirty="0"/>
              <a:t>a reprodutibilidade diminui</a:t>
            </a:r>
          </a:p>
          <a:p>
            <a:endParaRPr lang="pt-BR" dirty="0"/>
          </a:p>
          <a:p>
            <a:r>
              <a:rPr lang="pt-BR" dirty="0"/>
              <a:t>Não garantimos um ótimo global — em redes neurais profundas isso é impraticável.</a:t>
            </a:r>
            <a:br>
              <a:rPr lang="pt-BR" dirty="0"/>
            </a:br>
            <a:r>
              <a:rPr lang="pt-BR" dirty="0"/>
              <a:t>Em vez disso, buscamos </a:t>
            </a:r>
            <a:r>
              <a:rPr lang="pt-BR" b="1" dirty="0"/>
              <a:t>boas soluções empiricamente estáveis</a:t>
            </a:r>
            <a:r>
              <a:rPr lang="pt-BR" dirty="0"/>
              <a:t> usando um conjunto de estratégias:</a:t>
            </a:r>
          </a:p>
          <a:p>
            <a:r>
              <a:rPr lang="pt-BR" b="1" dirty="0"/>
              <a:t>Inicialização adequada</a:t>
            </a:r>
            <a:r>
              <a:rPr lang="pt-BR" dirty="0"/>
              <a:t> dos pesos</a:t>
            </a:r>
          </a:p>
          <a:p>
            <a:r>
              <a:rPr lang="pt-BR" b="1" dirty="0"/>
              <a:t>Normalizações</a:t>
            </a:r>
            <a:r>
              <a:rPr lang="pt-BR" dirty="0"/>
              <a:t> (ex.: batch/</a:t>
            </a:r>
            <a:r>
              <a:rPr lang="pt-BR" dirty="0" err="1"/>
              <a:t>layer</a:t>
            </a:r>
            <a:r>
              <a:rPr lang="pt-BR" dirty="0"/>
              <a:t> </a:t>
            </a:r>
            <a:r>
              <a:rPr lang="pt-BR" dirty="0" err="1"/>
              <a:t>norm</a:t>
            </a:r>
            <a:r>
              <a:rPr lang="pt-BR" dirty="0"/>
              <a:t>) para suavizar a superfície</a:t>
            </a:r>
          </a:p>
          <a:p>
            <a:r>
              <a:rPr lang="pt-BR" b="1" dirty="0" err="1"/>
              <a:t>Otimizadores</a:t>
            </a:r>
            <a:r>
              <a:rPr lang="pt-BR" b="1" dirty="0"/>
              <a:t> robustos</a:t>
            </a:r>
            <a:r>
              <a:rPr lang="pt-BR" dirty="0"/>
              <a:t> (SGD com momentum, Adam etc.)</a:t>
            </a:r>
          </a:p>
          <a:p>
            <a:r>
              <a:rPr lang="pt-BR" b="1" dirty="0"/>
              <a:t>Ruído estocástico</a:t>
            </a:r>
            <a:r>
              <a:rPr lang="pt-BR" dirty="0"/>
              <a:t> dos </a:t>
            </a:r>
            <a:r>
              <a:rPr lang="pt-BR" dirty="0" err="1"/>
              <a:t>minibatches</a:t>
            </a:r>
            <a:r>
              <a:rPr lang="pt-BR" dirty="0"/>
              <a:t> para escapar de regiões ruins</a:t>
            </a:r>
          </a:p>
          <a:p>
            <a:r>
              <a:rPr lang="pt-BR" b="1" dirty="0"/>
              <a:t>Regularização</a:t>
            </a:r>
            <a:r>
              <a:rPr lang="pt-BR" dirty="0"/>
              <a:t> para favorecer mínimos planos</a:t>
            </a:r>
          </a:p>
          <a:p>
            <a:r>
              <a:rPr lang="pt-BR" b="1" dirty="0"/>
              <a:t>Validação</a:t>
            </a:r>
            <a:r>
              <a:rPr lang="pt-BR" dirty="0"/>
              <a:t> para escolher o melhor modelo treinado</a:t>
            </a:r>
          </a:p>
          <a:p>
            <a:r>
              <a:rPr lang="pt-BR" dirty="0"/>
              <a:t>Em resumo:</a:t>
            </a:r>
            <a:br>
              <a:rPr lang="pt-BR" dirty="0"/>
            </a:br>
            <a:r>
              <a:rPr lang="pt-BR" dirty="0"/>
              <a:t>👉 não garantimos o melhor mínimo, mas usamos técnicas que tornam </a:t>
            </a:r>
            <a:r>
              <a:rPr lang="pt-BR" b="1" dirty="0"/>
              <a:t>muito provável encontrar um mínimo que generaliza bem</a:t>
            </a:r>
            <a:r>
              <a:rPr lang="pt-BR" dirty="0"/>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21751025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dirty="0" err="1"/>
              <a:t>Há</a:t>
            </a:r>
            <a:r>
              <a:rPr lang="en-US" dirty="0"/>
              <a:t> </a:t>
            </a:r>
            <a:r>
              <a:rPr lang="en-US" dirty="0" err="1"/>
              <a:t>vários</a:t>
            </a:r>
            <a:r>
              <a:rPr lang="en-US" dirty="0"/>
              <a:t> </a:t>
            </a:r>
            <a:r>
              <a:rPr lang="en-US" dirty="0" err="1"/>
              <a:t>trabalhos</a:t>
            </a:r>
            <a:r>
              <a:rPr lang="en-US" dirty="0"/>
              <a:t> </a:t>
            </a:r>
            <a:r>
              <a:rPr lang="en-US" dirty="0" err="1"/>
              <a:t>teóricos</a:t>
            </a:r>
            <a:r>
              <a:rPr lang="en-US" dirty="0"/>
              <a:t> posteriores </a:t>
            </a:r>
            <a:r>
              <a:rPr lang="en-US" dirty="0" err="1"/>
              <a:t>reforçando</a:t>
            </a:r>
            <a:r>
              <a:rPr lang="en-US" dirty="0"/>
              <a:t> </a:t>
            </a:r>
            <a:r>
              <a:rPr lang="en-US" dirty="0" err="1"/>
              <a:t>essa</a:t>
            </a:r>
            <a:r>
              <a:rPr lang="en-US" dirty="0"/>
              <a:t> </a:t>
            </a:r>
            <a:r>
              <a:rPr lang="en-US" dirty="0" err="1"/>
              <a:t>ideia</a:t>
            </a:r>
            <a:r>
              <a:rPr lang="en-US" dirty="0"/>
              <a:t>:</a:t>
            </a:r>
          </a:p>
          <a:p>
            <a:r>
              <a:rPr lang="en-US" b="1" dirty="0"/>
              <a:t>“Deep Learning without Poor Local Minima” – Kenji Kawaguchi (NIPS 2016)</a:t>
            </a:r>
            <a:br>
              <a:rPr lang="en-US" dirty="0"/>
            </a:br>
            <a:r>
              <a:rPr lang="en-US" dirty="0" err="1"/>
              <a:t>Mostra</a:t>
            </a:r>
            <a:r>
              <a:rPr lang="en-US" dirty="0"/>
              <a:t> </a:t>
            </a:r>
            <a:r>
              <a:rPr lang="en-US" dirty="0" err="1"/>
              <a:t>que</a:t>
            </a:r>
            <a:r>
              <a:rPr lang="en-US" dirty="0"/>
              <a:t> </a:t>
            </a:r>
            <a:r>
              <a:rPr lang="en-US" dirty="0" err="1"/>
              <a:t>em</a:t>
            </a:r>
            <a:r>
              <a:rPr lang="en-US" dirty="0"/>
              <a:t> </a:t>
            </a:r>
            <a:r>
              <a:rPr lang="en-US" dirty="0" err="1"/>
              <a:t>certos</a:t>
            </a:r>
            <a:r>
              <a:rPr lang="en-US" dirty="0"/>
              <a:t> </a:t>
            </a:r>
            <a:r>
              <a:rPr lang="en-US" dirty="0" err="1"/>
              <a:t>modelos</a:t>
            </a:r>
            <a:r>
              <a:rPr lang="en-US" dirty="0"/>
              <a:t> </a:t>
            </a:r>
            <a:r>
              <a:rPr lang="en-US" b="1" dirty="0" err="1"/>
              <a:t>todos</a:t>
            </a:r>
            <a:r>
              <a:rPr lang="en-US" b="1" dirty="0"/>
              <a:t> </a:t>
            </a:r>
            <a:r>
              <a:rPr lang="en-US" b="1" dirty="0" err="1"/>
              <a:t>os</a:t>
            </a:r>
            <a:r>
              <a:rPr lang="en-US" b="1" dirty="0"/>
              <a:t> </a:t>
            </a:r>
            <a:r>
              <a:rPr lang="en-US" b="1" dirty="0" err="1"/>
              <a:t>mínimos</a:t>
            </a:r>
            <a:r>
              <a:rPr lang="en-US" b="1" dirty="0"/>
              <a:t> </a:t>
            </a:r>
            <a:r>
              <a:rPr lang="en-US" b="1" dirty="0" err="1"/>
              <a:t>locais</a:t>
            </a:r>
            <a:r>
              <a:rPr lang="en-US" b="1" dirty="0"/>
              <a:t> </a:t>
            </a:r>
            <a:r>
              <a:rPr lang="en-US" b="1" dirty="0" err="1"/>
              <a:t>são</a:t>
            </a:r>
            <a:r>
              <a:rPr lang="en-US" b="1" dirty="0"/>
              <a:t> </a:t>
            </a:r>
            <a:r>
              <a:rPr lang="en-US" b="1" dirty="0" err="1"/>
              <a:t>globais</a:t>
            </a:r>
            <a:r>
              <a:rPr lang="en-US" dirty="0"/>
              <a:t>. </a:t>
            </a:r>
          </a:p>
          <a:p>
            <a:r>
              <a:rPr lang="en-US" b="1" dirty="0"/>
              <a:t>“Optimization Landscape and Expressivity of Deep CNNs” – Nguyen &amp; Hein (ICML 2018)</a:t>
            </a:r>
            <a:br>
              <a:rPr lang="en-US" dirty="0"/>
            </a:br>
            <a:r>
              <a:rPr lang="en-US" dirty="0" err="1"/>
              <a:t>Mostra</a:t>
            </a:r>
            <a:r>
              <a:rPr lang="en-US" dirty="0"/>
              <a:t> </a:t>
            </a:r>
            <a:r>
              <a:rPr lang="en-US" dirty="0" err="1"/>
              <a:t>que</a:t>
            </a:r>
            <a:r>
              <a:rPr lang="en-US" dirty="0"/>
              <a:t> redes </a:t>
            </a:r>
            <a:r>
              <a:rPr lang="en-US" dirty="0" err="1"/>
              <a:t>suficientemente</a:t>
            </a:r>
            <a:r>
              <a:rPr lang="en-US" dirty="0"/>
              <a:t> </a:t>
            </a:r>
            <a:r>
              <a:rPr lang="en-US" dirty="0" err="1"/>
              <a:t>largas</a:t>
            </a:r>
            <a:r>
              <a:rPr lang="en-US" dirty="0"/>
              <a:t> </a:t>
            </a:r>
            <a:r>
              <a:rPr lang="en-US" dirty="0" err="1"/>
              <a:t>têm</a:t>
            </a:r>
            <a:r>
              <a:rPr lang="en-US" dirty="0"/>
              <a:t> </a:t>
            </a:r>
            <a:r>
              <a:rPr lang="en-US" b="1" dirty="0" err="1"/>
              <a:t>quase</a:t>
            </a:r>
            <a:r>
              <a:rPr lang="en-US" b="1" dirty="0"/>
              <a:t> </a:t>
            </a:r>
            <a:r>
              <a:rPr lang="en-US" b="1" dirty="0" err="1"/>
              <a:t>nenhum</a:t>
            </a:r>
            <a:r>
              <a:rPr lang="en-US" b="1" dirty="0"/>
              <a:t> </a:t>
            </a:r>
            <a:r>
              <a:rPr lang="en-US" b="1" dirty="0" err="1"/>
              <a:t>mínimo</a:t>
            </a:r>
            <a:r>
              <a:rPr lang="en-US" b="1" dirty="0"/>
              <a:t> local </a:t>
            </a:r>
            <a:r>
              <a:rPr lang="en-US" b="1" dirty="0" err="1"/>
              <a:t>ruim</a:t>
            </a:r>
            <a:r>
              <a:rPr lang="en-US" dirty="0"/>
              <a:t>. </a:t>
            </a:r>
          </a:p>
          <a:p>
            <a:r>
              <a:rPr lang="en-US" b="1" dirty="0"/>
              <a:t>“Gradient Descent Finds Global Minima of Deep Neural Networks” – Du et al. (ICML 2019)</a:t>
            </a:r>
            <a:br>
              <a:rPr lang="en-US" dirty="0"/>
            </a:br>
            <a:r>
              <a:rPr lang="en-US" dirty="0" err="1"/>
              <a:t>Demonstra</a:t>
            </a:r>
            <a:r>
              <a:rPr lang="en-US" dirty="0"/>
              <a:t> </a:t>
            </a:r>
            <a:r>
              <a:rPr lang="en-US" dirty="0" err="1"/>
              <a:t>que</a:t>
            </a:r>
            <a:r>
              <a:rPr lang="en-US" dirty="0"/>
              <a:t> </a:t>
            </a:r>
            <a:r>
              <a:rPr lang="en-US" dirty="0" err="1"/>
              <a:t>gradiente</a:t>
            </a:r>
            <a:r>
              <a:rPr lang="en-US" dirty="0"/>
              <a:t> </a:t>
            </a:r>
            <a:r>
              <a:rPr lang="en-US" dirty="0" err="1"/>
              <a:t>descendente</a:t>
            </a:r>
            <a:r>
              <a:rPr lang="en-US" dirty="0"/>
              <a:t> </a:t>
            </a:r>
            <a:r>
              <a:rPr lang="en-US" dirty="0" err="1"/>
              <a:t>pode</a:t>
            </a:r>
            <a:r>
              <a:rPr lang="en-US" dirty="0"/>
              <a:t> </a:t>
            </a:r>
            <a:r>
              <a:rPr lang="en-US" dirty="0" err="1"/>
              <a:t>alcançar</a:t>
            </a:r>
            <a:r>
              <a:rPr lang="en-US" dirty="0"/>
              <a:t> </a:t>
            </a:r>
            <a:r>
              <a:rPr lang="en-US" b="1" dirty="0" err="1"/>
              <a:t>mínimo</a:t>
            </a:r>
            <a:r>
              <a:rPr lang="en-US" b="1" dirty="0"/>
              <a:t> global </a:t>
            </a:r>
            <a:r>
              <a:rPr lang="en-US" b="1" dirty="0" err="1"/>
              <a:t>em</a:t>
            </a:r>
            <a:r>
              <a:rPr lang="en-US" b="1" dirty="0"/>
              <a:t> redes </a:t>
            </a:r>
            <a:r>
              <a:rPr lang="en-US" b="1" dirty="0" err="1"/>
              <a:t>sobreparametrizadas</a:t>
            </a:r>
            <a:r>
              <a:rPr lang="en-US" dirty="0"/>
              <a:t>.</a:t>
            </a:r>
          </a:p>
          <a:p>
            <a:endParaRPr lang="pt-BR" dirty="0"/>
          </a:p>
          <a:p>
            <a:endParaRPr lang="pt-BR" dirty="0"/>
          </a:p>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48</a:t>
            </a:fld>
            <a:endParaRPr lang="pt-BR"/>
          </a:p>
        </p:txBody>
      </p:sp>
    </p:spTree>
    <p:extLst>
      <p:ext uri="{BB962C8B-B14F-4D97-AF65-F5344CB8AC3E}">
        <p14:creationId xmlns:p14="http://schemas.microsoft.com/office/powerpoint/2010/main" val="397391071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49</a:t>
            </a:fld>
            <a:endParaRPr lang="pt-BR"/>
          </a:p>
        </p:txBody>
      </p:sp>
    </p:spTree>
    <p:extLst>
      <p:ext uri="{BB962C8B-B14F-4D97-AF65-F5344CB8AC3E}">
        <p14:creationId xmlns:p14="http://schemas.microsoft.com/office/powerpoint/2010/main" val="351818409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https://colab.research.google.com/github/zz4fap/c24_inteligencia_artificial/blob/master/notebooks/mlp.ipynb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306355876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Existem vários</a:t>
            </a:r>
            <a:r>
              <a:rPr lang="pt-BR" baseline="0" dirty="0"/>
              <a:t> outros tipos de funções de ativação, cada uma com suas vantagens e desvantagens.</a:t>
            </a:r>
          </a:p>
          <a:p>
            <a:r>
              <a:rPr lang="pt-BR" baseline="0" dirty="0"/>
              <a:t>O link abaixo contem uma lista com vários tipos de funções de ativação.</a:t>
            </a:r>
          </a:p>
          <a:p>
            <a:r>
              <a:rPr lang="pt-BR" dirty="0">
                <a:hlinkClick r:id="rId3"/>
              </a:rPr>
              <a:t>https://en.wikipedia.org/wiki/Activation_function#Comparison_of_activation_functions</a:t>
            </a:r>
            <a:endParaRPr lang="pt-BR" dirty="0"/>
          </a:p>
          <a:p>
            <a:endParaRPr lang="pt-BR" dirty="0"/>
          </a:p>
          <a:p>
            <a:r>
              <a:rPr lang="pt-BR" dirty="0"/>
              <a:t>Referências</a:t>
            </a:r>
          </a:p>
          <a:p>
            <a:r>
              <a:rPr lang="pt-BR" dirty="0"/>
              <a:t>[1] https://en.wikipedia.org/wiki/Activation_function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61</a:t>
            </a:fld>
            <a:endParaRPr lang="pt-BR"/>
          </a:p>
        </p:txBody>
      </p:sp>
    </p:spTree>
    <p:extLst>
      <p:ext uri="{BB962C8B-B14F-4D97-AF65-F5344CB8AC3E}">
        <p14:creationId xmlns:p14="http://schemas.microsoft.com/office/powerpoint/2010/main" val="235885125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5947523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145422506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Para lidar com o</a:t>
            </a:r>
            <a:r>
              <a:rPr lang="pt-BR" sz="1200" b="0" i="0" kern="1200" baseline="0" dirty="0">
                <a:solidFill>
                  <a:schemeClr val="tx1"/>
                </a:solidFill>
                <a:effectLst/>
                <a:latin typeface="+mn-lt"/>
                <a:ea typeface="+mn-ea"/>
                <a:cs typeface="+mn-cs"/>
              </a:rPr>
              <a:t> problema da derivada igual a zero para valores de ativação negativos</a:t>
            </a:r>
            <a:r>
              <a:rPr lang="pt-BR" sz="1200" b="0" i="0" kern="1200" dirty="0">
                <a:solidFill>
                  <a:schemeClr val="tx1"/>
                </a:solidFill>
                <a:effectLst/>
                <a:latin typeface="+mn-lt"/>
                <a:ea typeface="+mn-ea"/>
                <a:cs typeface="+mn-cs"/>
              </a:rPr>
              <a:t>, algumas variações da função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foram propostas, como a </a:t>
            </a:r>
            <a:r>
              <a:rPr lang="pt-BR" sz="1200" b="0" i="0" kern="1200" dirty="0" err="1">
                <a:solidFill>
                  <a:schemeClr val="tx1"/>
                </a:solidFill>
                <a:effectLst/>
                <a:latin typeface="+mn-lt"/>
                <a:ea typeface="+mn-ea"/>
                <a:cs typeface="+mn-cs"/>
              </a:rPr>
              <a:t>Leaky</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e a ELU, que tentam preservar o gradiente para entradas negativas. Além disso, técnicas de normalização de batch, </a:t>
            </a:r>
            <a:r>
              <a:rPr lang="pt-BR" sz="1200" b="0" i="0" kern="1200" dirty="0" err="1">
                <a:solidFill>
                  <a:schemeClr val="tx1"/>
                </a:solidFill>
                <a:effectLst/>
                <a:latin typeface="+mn-lt"/>
                <a:ea typeface="+mn-ea"/>
                <a:cs typeface="+mn-cs"/>
              </a:rPr>
              <a:t>dropout</a:t>
            </a:r>
            <a:r>
              <a:rPr lang="pt-BR" sz="1200" b="0" i="0" kern="1200" dirty="0">
                <a:solidFill>
                  <a:schemeClr val="tx1"/>
                </a:solidFill>
                <a:effectLst/>
                <a:latin typeface="+mn-lt"/>
                <a:ea typeface="+mn-ea"/>
                <a:cs typeface="+mn-cs"/>
              </a:rPr>
              <a:t> e outras técnicas de regularização podem ser usadas para ajudar a mitigar o problema de dissipação do gradiente.</a:t>
            </a:r>
            <a:endParaRPr lang="en-US" dirty="0"/>
          </a:p>
          <a:p>
            <a:endParaRPr lang="en-US" dirty="0"/>
          </a:p>
          <a:p>
            <a:r>
              <a:rPr lang="en-US" dirty="0"/>
              <a:t>What are the advantages of </a:t>
            </a:r>
            <a:r>
              <a:rPr lang="en-US" dirty="0" err="1"/>
              <a:t>ReLU</a:t>
            </a:r>
            <a:r>
              <a:rPr lang="en-US" dirty="0"/>
              <a:t> over sigmoid function in deep neural networks?</a:t>
            </a:r>
            <a:endParaRPr lang="pt-BR" dirty="0"/>
          </a:p>
          <a:p>
            <a:r>
              <a:rPr lang="pt-BR" dirty="0">
                <a:hlinkClick r:id="rId3"/>
              </a:rPr>
              <a:t>https://stats.stackexchange.com/</a:t>
            </a:r>
            <a:r>
              <a:rPr lang="pt-BR" dirty="0" err="1">
                <a:hlinkClick r:id="rId3"/>
              </a:rPr>
              <a:t>questions</a:t>
            </a:r>
            <a:r>
              <a:rPr lang="pt-BR" dirty="0">
                <a:hlinkClick r:id="rId3"/>
              </a:rPr>
              <a:t>/126238/what-are-the-advantages-of-relu-over-sigmoid-function-in-deep-neural-networks#:~:</a:t>
            </a:r>
            <a:r>
              <a:rPr lang="pt-BR" dirty="0" err="1">
                <a:hlinkClick r:id="rId3"/>
              </a:rPr>
              <a:t>text</a:t>
            </a:r>
            <a:r>
              <a:rPr lang="pt-BR" dirty="0">
                <a:hlinkClick r:id="rId3"/>
              </a:rPr>
              <a:t>=The%20main%20reason%20why%20ReLu,deep%20network%20with%20sigmoid%20activation.</a:t>
            </a:r>
            <a:endParaRPr lang="pt-BR" dirty="0"/>
          </a:p>
          <a:p>
            <a:endParaRPr lang="pt-BR" dirty="0"/>
          </a:p>
          <a:p>
            <a:r>
              <a:rPr lang="en-US" sz="1200" b="0" i="0" kern="1200" dirty="0">
                <a:solidFill>
                  <a:schemeClr val="tx1"/>
                </a:solidFill>
                <a:effectLst/>
                <a:latin typeface="+mn-lt"/>
                <a:ea typeface="+mn-ea"/>
                <a:cs typeface="+mn-cs"/>
              </a:rPr>
              <a:t>The problem with the use of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is when the gradient has a value of 0. In such cases, the node is considered as a dead node since the old and new values of the weights remain the same. This situation can be avoided by the use of a leaky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which prevents the gradient from falling to the zero value.</a:t>
            </a: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have one caveat though: they “die” (output zero) when the input to it is negative. This can, in many cases, completely block backpropagation because the gradients will just be zero after one negative value has been inputted to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This would also be an issue if a large negative bias term / constant term is learned — the weighted sum fed into neurons may end up being negative because the positive weights cannot compensate for the significance of the bias term. Negative weights also come to mind, or negative input (or some combination that gives a negative weighted sum). The dead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hence output the same value for almost all of your activities — zero. </a:t>
            </a:r>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cannot “recover” from this problem because they will not modify the weights in anyway, since not only is the output for any negative input zero, the </a:t>
            </a:r>
            <a:r>
              <a:rPr lang="en-US" sz="1200" b="1" i="0" kern="1200" dirty="0">
                <a:solidFill>
                  <a:schemeClr val="tx1"/>
                </a:solidFill>
                <a:effectLst/>
                <a:latin typeface="+mn-lt"/>
                <a:ea typeface="+mn-ea"/>
                <a:cs typeface="+mn-cs"/>
              </a:rPr>
              <a:t>derivative </a:t>
            </a:r>
            <a:r>
              <a:rPr lang="en-US" sz="1200" b="0" i="0" kern="1200" dirty="0">
                <a:solidFill>
                  <a:schemeClr val="tx1"/>
                </a:solidFill>
                <a:effectLst/>
                <a:latin typeface="+mn-lt"/>
                <a:ea typeface="+mn-ea"/>
                <a:cs typeface="+mn-cs"/>
              </a:rPr>
              <a:t>is too. No updates will be made to modify the (for example) bias term to be a lesser magnitude of negative such that the neural net can escape from corruption of the entire network. It doesn’t happen </a:t>
            </a:r>
            <a:r>
              <a:rPr lang="en-US" sz="1200" b="0" i="1" kern="1200" dirty="0">
                <a:solidFill>
                  <a:schemeClr val="tx1"/>
                </a:solidFill>
                <a:effectLst/>
                <a:latin typeface="+mn-lt"/>
                <a:ea typeface="+mn-ea"/>
                <a:cs typeface="+mn-cs"/>
              </a:rPr>
              <a:t>all </a:t>
            </a:r>
            <a:r>
              <a:rPr lang="en-US" sz="1200" b="0" i="0" kern="1200" dirty="0">
                <a:solidFill>
                  <a:schemeClr val="tx1"/>
                </a:solidFill>
                <a:effectLst/>
                <a:latin typeface="+mn-lt"/>
                <a:ea typeface="+mn-ea"/>
                <a:cs typeface="+mn-cs"/>
              </a:rPr>
              <a:t>that often that the weighted sum ends up negative, though; and we can indeed initialize weights to be only positive and/or normalize input between 0 and 1 if we are concerned about the chance of an issue like this occurring.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References</a:t>
            </a:r>
          </a:p>
          <a:p>
            <a:r>
              <a:rPr lang="en-US" sz="1200" b="0" i="0" kern="1200" dirty="0">
                <a:solidFill>
                  <a:schemeClr val="tx1"/>
                </a:solidFill>
                <a:effectLst/>
                <a:latin typeface="+mn-lt"/>
                <a:ea typeface="+mn-ea"/>
                <a:cs typeface="+mn-cs"/>
              </a:rPr>
              <a:t>[1]</a:t>
            </a:r>
            <a:r>
              <a:rPr lang="en-US" sz="1200" b="0" i="0" kern="1200" baseline="0" dirty="0">
                <a:solidFill>
                  <a:schemeClr val="tx1"/>
                </a:solidFill>
                <a:effectLst/>
                <a:latin typeface="+mn-lt"/>
                <a:ea typeface="+mn-ea"/>
                <a:cs typeface="+mn-cs"/>
              </a:rPr>
              <a:t> https://www.kdnuggets.com/2022/02/vanishing-gradient-problem.html</a:t>
            </a:r>
          </a:p>
          <a:p>
            <a:r>
              <a:rPr lang="en-US" sz="1200" b="0" i="0" kern="1200" baseline="0" dirty="0">
                <a:solidFill>
                  <a:schemeClr val="tx1"/>
                </a:solidFill>
                <a:effectLst/>
                <a:latin typeface="+mn-lt"/>
                <a:ea typeface="+mn-ea"/>
                <a:cs typeface="+mn-cs"/>
              </a:rPr>
              <a:t>[2] https://ayearofai.com/rohan-4-the-vanishing-gradient-problem-ec68f76ffb9b</a:t>
            </a:r>
          </a:p>
          <a:p>
            <a:r>
              <a:rPr lang="en-US" sz="1200" b="0" i="0" kern="1200" baseline="0" dirty="0">
                <a:solidFill>
                  <a:schemeClr val="tx1"/>
                </a:solidFill>
                <a:effectLst/>
                <a:latin typeface="+mn-lt"/>
                <a:ea typeface="+mn-ea"/>
                <a:cs typeface="+mn-cs"/>
              </a:rPr>
              <a:t>[3] https://adventuresinmachinelearning.com/vanishing-gradient-problem-tensorflow/</a:t>
            </a:r>
            <a:endParaRPr lang="pt-BR" dirty="0"/>
          </a:p>
          <a:p>
            <a:endParaRPr lang="pt-BR" dirty="0"/>
          </a:p>
          <a:p>
            <a:pPr fontAlgn="base"/>
            <a:r>
              <a:rPr lang="en-US" sz="1200" b="1" i="0" kern="1200" dirty="0">
                <a:solidFill>
                  <a:schemeClr val="tx1"/>
                </a:solidFill>
                <a:effectLst/>
                <a:latin typeface="+mn-lt"/>
                <a:ea typeface="+mn-ea"/>
                <a:cs typeface="+mn-cs"/>
              </a:rPr>
              <a:t>Advantage:</a:t>
            </a:r>
          </a:p>
          <a:p>
            <a:pPr fontAlgn="base"/>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not blowing up activation</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not vanishing gradient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More computationally efficient to compute than Sigmoid like functions since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just needs to pick max(0,</a:t>
            </a:r>
            <a:r>
              <a:rPr lang="en-US" sz="1200" b="0" i="0" u="none" strike="noStrike" kern="1200" dirty="0">
                <a:solidFill>
                  <a:schemeClr val="tx1"/>
                </a:solidFill>
                <a:effectLst/>
                <a:latin typeface="+mn-lt"/>
                <a:ea typeface="+mn-ea"/>
                <a:cs typeface="+mn-cs"/>
              </a:rPr>
              <a:t>xx</a:t>
            </a:r>
            <a:r>
              <a:rPr lang="en-US" sz="1200" b="0" i="0" kern="1200" dirty="0">
                <a:solidFill>
                  <a:schemeClr val="tx1"/>
                </a:solidFill>
                <a:effectLst/>
                <a:latin typeface="+mn-lt"/>
                <a:ea typeface="+mn-ea"/>
                <a:cs typeface="+mn-cs"/>
              </a:rPr>
              <a:t>) and not perform expensive exponential operations as in </a:t>
            </a:r>
            <a:r>
              <a:rPr lang="en-US" sz="1200" b="0" i="0" kern="1200" dirty="0" err="1">
                <a:solidFill>
                  <a:schemeClr val="tx1"/>
                </a:solidFill>
                <a:effectLst/>
                <a:latin typeface="+mn-lt"/>
                <a:ea typeface="+mn-ea"/>
                <a:cs typeface="+mn-cs"/>
              </a:rPr>
              <a:t>Sigmoids</a:t>
            </a:r>
            <a:endParaRPr lang="en-US" sz="1200" b="0" i="0" kern="1200" dirty="0">
              <a:solidFill>
                <a:schemeClr val="tx1"/>
              </a:solidFill>
              <a:effectLst/>
              <a:latin typeface="+mn-lt"/>
              <a:ea typeface="+mn-ea"/>
              <a:cs typeface="+mn-cs"/>
            </a:endParaRP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In practice, networks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tend to show better convergence performance than sigmoid. (</a:t>
            </a:r>
            <a:r>
              <a:rPr lang="en-US" sz="1200" b="0" i="0" u="sng" kern="1200" dirty="0" err="1">
                <a:solidFill>
                  <a:schemeClr val="tx1"/>
                </a:solidFill>
                <a:effectLst/>
                <a:latin typeface="+mn-lt"/>
                <a:ea typeface="+mn-ea"/>
                <a:cs typeface="+mn-cs"/>
                <a:hlinkClick r:id="rId4"/>
              </a:rPr>
              <a:t>Krizhevsky</a:t>
            </a:r>
            <a:r>
              <a:rPr lang="en-US" sz="1200" b="0" i="0" u="sng" kern="1200" dirty="0">
                <a:solidFill>
                  <a:schemeClr val="tx1"/>
                </a:solidFill>
                <a:effectLst/>
                <a:latin typeface="+mn-lt"/>
                <a:ea typeface="+mn-ea"/>
                <a:cs typeface="+mn-cs"/>
                <a:hlinkClick r:id="rId4"/>
              </a:rPr>
              <a:t> et al.</a:t>
            </a:r>
            <a:r>
              <a:rPr lang="en-US" sz="1200" b="0" i="0" kern="1200" dirty="0">
                <a:solidFill>
                  <a:schemeClr val="tx1"/>
                </a:solidFill>
                <a:effectLst/>
                <a:latin typeface="+mn-lt"/>
                <a:ea typeface="+mn-ea"/>
                <a:cs typeface="+mn-cs"/>
              </a:rPr>
              <a:t>)</a:t>
            </a:r>
          </a:p>
          <a:p>
            <a:pPr fontAlgn="base"/>
            <a:endParaRPr lang="en-US" sz="1200" b="0" i="0" kern="1200" dirty="0">
              <a:solidFill>
                <a:schemeClr val="tx1"/>
              </a:solidFill>
              <a:effectLst/>
              <a:latin typeface="+mn-lt"/>
              <a:ea typeface="+mn-ea"/>
              <a:cs typeface="+mn-cs"/>
            </a:endParaRPr>
          </a:p>
          <a:p>
            <a:pPr fontAlgn="base"/>
            <a:r>
              <a:rPr lang="en-US" sz="1200" b="1" i="0" kern="1200" dirty="0">
                <a:solidFill>
                  <a:schemeClr val="tx1"/>
                </a:solidFill>
                <a:effectLst/>
                <a:latin typeface="+mn-lt"/>
                <a:ea typeface="+mn-ea"/>
                <a:cs typeface="+mn-cs"/>
              </a:rPr>
              <a:t>Disadvantage:</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tends to vanish gradient (cause there is a mechanism to reduce the gradient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increase, where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is the input of a sigmoid function. Gradient of Sigmoid: </a:t>
            </a:r>
            <a:r>
              <a:rPr lang="en-US" sz="1200" b="0" i="0" u="none" strike="noStrike" kern="1200" dirty="0">
                <a:solidFill>
                  <a:schemeClr val="tx1"/>
                </a:solidFill>
                <a:effectLst/>
                <a:latin typeface="+mn-lt"/>
                <a:ea typeface="+mn-ea"/>
                <a:cs typeface="+mn-cs"/>
              </a:rPr>
              <a:t>S′(a)=S(a)(1−S(a))S′(a)=S(a)(1−S(a))</a:t>
            </a:r>
            <a:r>
              <a:rPr lang="en-US" sz="1200" b="0" i="0" kern="1200" dirty="0">
                <a:solidFill>
                  <a:schemeClr val="tx1"/>
                </a:solidFill>
                <a:effectLst/>
                <a:latin typeface="+mn-lt"/>
                <a:ea typeface="+mn-ea"/>
                <a:cs typeface="+mn-cs"/>
              </a:rPr>
              <a:t>. When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grows to infinite large , </a:t>
            </a:r>
            <a:r>
              <a:rPr lang="en-US" sz="1200" b="0" i="0" u="none" strike="noStrike" kern="1200" dirty="0">
                <a:solidFill>
                  <a:schemeClr val="tx1"/>
                </a:solidFill>
                <a:effectLst/>
                <a:latin typeface="+mn-lt"/>
                <a:ea typeface="+mn-ea"/>
                <a:cs typeface="+mn-cs"/>
              </a:rPr>
              <a:t>S′(a)=S(a)(1−S(a))=1×(1−1)=0S′(a)=S(a)(1−S(a))=1×(1−1)=0</a:t>
            </a:r>
            <a:r>
              <a:rPr lang="en-US" sz="1200" b="0" i="0" kern="1200" dirty="0">
                <a:solidFill>
                  <a:schemeClr val="tx1"/>
                </a:solidFill>
                <a:effectLst/>
                <a:latin typeface="+mn-lt"/>
                <a:ea typeface="+mn-ea"/>
                <a:cs typeface="+mn-cs"/>
              </a:rPr>
              <a: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tend to blow up activation (there is no mechanism to constrain the output of the neuron,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itself is the output)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Dying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problem - if too many activations get below zero then most of the units(neurons) in network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simply output zero, in other words, die and thereby prohibiting learning.(This can be handled, to some extent, by using Leaky-</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instead.)</a:t>
            </a:r>
          </a:p>
          <a:p>
            <a:pPr fontAlgn="base"/>
            <a:endParaRPr lang="en-US" sz="1200" b="0" i="0" kern="1200" dirty="0">
              <a:solidFill>
                <a:schemeClr val="tx1"/>
              </a:solidFill>
              <a:effectLst/>
              <a:latin typeface="+mn-lt"/>
              <a:ea typeface="+mn-ea"/>
              <a:cs typeface="+mn-cs"/>
            </a:endParaRPr>
          </a:p>
          <a:p>
            <a:pPr fontAlgn="base"/>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Just complementing the other answers:</a:t>
            </a:r>
          </a:p>
          <a:p>
            <a:pPr fontAlgn="base"/>
            <a:r>
              <a:rPr lang="en-US" sz="1200" b="1" i="0" kern="1200" dirty="0">
                <a:solidFill>
                  <a:schemeClr val="tx1"/>
                </a:solidFill>
                <a:effectLst/>
                <a:latin typeface="+mn-lt"/>
                <a:ea typeface="+mn-ea"/>
                <a:cs typeface="+mn-cs"/>
              </a:rPr>
              <a:t>Vanishing Gradients</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The other answers are right to point out that the bigger the input (in absolute value) the smaller the gradient of the sigmoid function. But, probably an even more important effect is that the derivative of the sigmoid function is </a:t>
            </a:r>
            <a:r>
              <a:rPr lang="en-US" sz="1200" b="1" i="0" kern="1200" dirty="0">
                <a:solidFill>
                  <a:schemeClr val="tx1"/>
                </a:solidFill>
                <a:effectLst/>
                <a:latin typeface="+mn-lt"/>
                <a:ea typeface="+mn-ea"/>
                <a:cs typeface="+mn-cs"/>
              </a:rPr>
              <a:t>ALWAYS smaller than one</a:t>
            </a:r>
            <a:r>
              <a:rPr lang="en-US" sz="1200" b="0" i="0" kern="1200" dirty="0">
                <a:solidFill>
                  <a:schemeClr val="tx1"/>
                </a:solidFill>
                <a:effectLst/>
                <a:latin typeface="+mn-lt"/>
                <a:ea typeface="+mn-ea"/>
                <a:cs typeface="+mn-cs"/>
              </a:rPr>
              <a:t>. In fact it is at most 0.25!</a:t>
            </a:r>
          </a:p>
          <a:p>
            <a:pPr fontAlgn="base"/>
            <a:r>
              <a:rPr lang="en-US" sz="1200" b="0" i="0" kern="1200" dirty="0">
                <a:solidFill>
                  <a:schemeClr val="tx1"/>
                </a:solidFill>
                <a:effectLst/>
                <a:latin typeface="+mn-lt"/>
                <a:ea typeface="+mn-ea"/>
                <a:cs typeface="+mn-cs"/>
              </a:rPr>
              <a:t>The down side of this is that if you have many layers, you will multiply these gradients, and the product of many smaller than 1 values goes to zero very quickly.</a:t>
            </a:r>
          </a:p>
          <a:p>
            <a:pPr fontAlgn="base"/>
            <a:r>
              <a:rPr lang="en-US" sz="1200" b="0" i="0" kern="1200" dirty="0">
                <a:solidFill>
                  <a:schemeClr val="tx1"/>
                </a:solidFill>
                <a:effectLst/>
                <a:latin typeface="+mn-lt"/>
                <a:ea typeface="+mn-ea"/>
                <a:cs typeface="+mn-cs"/>
              </a:rPr>
              <a:t>Since the state of the art of for Deep Learning has shown that more layers helps a lot, then this disadvantage of the Sigmoid function is a game killer. </a:t>
            </a:r>
            <a:r>
              <a:rPr lang="en-US" sz="1200" b="1" i="0" kern="1200" dirty="0">
                <a:solidFill>
                  <a:schemeClr val="tx1"/>
                </a:solidFill>
                <a:effectLst/>
                <a:latin typeface="+mn-lt"/>
                <a:ea typeface="+mn-ea"/>
                <a:cs typeface="+mn-cs"/>
              </a:rPr>
              <a:t>You just can't do Deep Learning with Sigmoid.</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On the other hand the gradient of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is either </a:t>
            </a:r>
            <a:r>
              <a:rPr lang="en-US" sz="1200" b="0" i="0" u="none" strike="noStrike" kern="1200" dirty="0">
                <a:solidFill>
                  <a:schemeClr val="tx1"/>
                </a:solidFill>
                <a:effectLst/>
                <a:latin typeface="+mn-lt"/>
                <a:ea typeface="+mn-ea"/>
                <a:cs typeface="+mn-cs"/>
              </a:rPr>
              <a:t>00</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a&lt;0a&lt;0</a:t>
            </a:r>
            <a:r>
              <a:rPr lang="en-US" sz="1200" b="0" i="0" kern="1200" dirty="0">
                <a:solidFill>
                  <a:schemeClr val="tx1"/>
                </a:solidFill>
                <a:effectLst/>
                <a:latin typeface="+mn-lt"/>
                <a:ea typeface="+mn-ea"/>
                <a:cs typeface="+mn-cs"/>
              </a:rPr>
              <a:t> or </a:t>
            </a:r>
            <a:r>
              <a:rPr lang="en-US" sz="1200" b="0" i="0" u="none" strike="noStrike" kern="1200" dirty="0">
                <a:solidFill>
                  <a:schemeClr val="tx1"/>
                </a:solidFill>
                <a:effectLst/>
                <a:latin typeface="+mn-lt"/>
                <a:ea typeface="+mn-ea"/>
                <a:cs typeface="+mn-cs"/>
              </a:rPr>
              <a:t>11</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a&gt;0a&gt;0</a:t>
            </a:r>
            <a:r>
              <a:rPr lang="en-US" sz="1200" b="0" i="0" kern="1200" dirty="0">
                <a:solidFill>
                  <a:schemeClr val="tx1"/>
                </a:solidFill>
                <a:effectLst/>
                <a:latin typeface="+mn-lt"/>
                <a:ea typeface="+mn-ea"/>
                <a:cs typeface="+mn-cs"/>
              </a:rPr>
              <a:t>. That means that you can put as many layers as you like, because multiplying the gradients will neither vanish nor explode.</a:t>
            </a:r>
          </a:p>
          <a:p>
            <a:pPr fontAlgn="base"/>
            <a:endParaRPr lang="en-US" sz="1200" b="0" i="0" kern="1200" dirty="0">
              <a:solidFill>
                <a:schemeClr val="tx1"/>
              </a:solidFill>
              <a:effectLst/>
              <a:latin typeface="+mn-lt"/>
              <a:ea typeface="+mn-ea"/>
              <a:cs typeface="+mn-cs"/>
            </a:endParaRPr>
          </a:p>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230619515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65</a:t>
            </a:fld>
            <a:endParaRPr lang="pt-BR"/>
          </a:p>
        </p:txBody>
      </p:sp>
    </p:spTree>
    <p:extLst>
      <p:ext uri="{BB962C8B-B14F-4D97-AF65-F5344CB8AC3E}">
        <p14:creationId xmlns:p14="http://schemas.microsoft.com/office/powerpoint/2010/main" val="160456293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66</a:t>
            </a:fld>
            <a:endParaRPr lang="pt-BR"/>
          </a:p>
        </p:txBody>
      </p:sp>
    </p:spTree>
    <p:extLst>
      <p:ext uri="{BB962C8B-B14F-4D97-AF65-F5344CB8AC3E}">
        <p14:creationId xmlns:p14="http://schemas.microsoft.com/office/powerpoint/2010/main" val="411024145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normalização de batch (</a:t>
            </a:r>
            <a:r>
              <a:rPr lang="pt-BR" sz="1200" b="1" i="1" kern="1200" dirty="0">
                <a:solidFill>
                  <a:schemeClr val="tx1"/>
                </a:solidFill>
                <a:effectLst/>
                <a:latin typeface="+mn-lt"/>
                <a:ea typeface="+mn-ea"/>
                <a:cs typeface="+mn-cs"/>
              </a:rPr>
              <a:t>batch </a:t>
            </a:r>
            <a:r>
              <a:rPr lang="pt-BR" sz="1200" b="1" i="1"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é uma técnica usada em redes neurais para estabilizar e acelerar o treinamento, reduzindo a </a:t>
            </a:r>
            <a:r>
              <a:rPr lang="pt-BR" sz="1200" b="1" i="0" kern="1200" dirty="0">
                <a:solidFill>
                  <a:schemeClr val="tx1"/>
                </a:solidFill>
                <a:effectLst/>
                <a:latin typeface="+mn-lt"/>
                <a:ea typeface="+mn-ea"/>
                <a:cs typeface="+mn-cs"/>
              </a:rPr>
              <a:t>covariância interna</a:t>
            </a:r>
            <a:r>
              <a:rPr lang="pt-BR" sz="1200" b="0" i="0" kern="1200" dirty="0">
                <a:solidFill>
                  <a:schemeClr val="tx1"/>
                </a:solidFill>
                <a:effectLst/>
                <a:latin typeface="+mn-lt"/>
                <a:ea typeface="+mn-ea"/>
                <a:cs typeface="+mn-cs"/>
              </a:rPr>
              <a:t> (mudanças na distribuição das entradas de cada camada durante o treinamento). Ela opera em </a:t>
            </a:r>
            <a:r>
              <a:rPr lang="pt-BR" sz="1200" b="1" i="0" kern="1200" dirty="0" err="1">
                <a:solidFill>
                  <a:schemeClr val="tx1"/>
                </a:solidFill>
                <a:effectLst/>
                <a:latin typeface="+mn-lt"/>
                <a:ea typeface="+mn-ea"/>
                <a:cs typeface="+mn-cs"/>
              </a:rPr>
              <a:t>minibatches</a:t>
            </a:r>
            <a:r>
              <a:rPr lang="pt-BR" sz="1200" b="0" i="0" kern="1200" dirty="0">
                <a:solidFill>
                  <a:schemeClr val="tx1"/>
                </a:solidFill>
                <a:effectLst/>
                <a:latin typeface="+mn-lt"/>
                <a:ea typeface="+mn-ea"/>
                <a:cs typeface="+mn-cs"/>
              </a:rPr>
              <a:t> (subconjuntos dos dados de treinamento)</a:t>
            </a:r>
            <a:endParaRPr lang="pt-BR" dirty="0"/>
          </a:p>
          <a:p>
            <a:endParaRPr lang="pt-BR" dirty="0"/>
          </a:p>
          <a:p>
            <a:r>
              <a:rPr lang="pt-BR" dirty="0"/>
              <a:t>Referências:</a:t>
            </a:r>
          </a:p>
          <a:p>
            <a:r>
              <a:rPr lang="pt-BR" dirty="0"/>
              <a:t>[1] https://neptune.ai/blog/vanishing-and-exploding-gradients-debugging-monitoring-fixing</a:t>
            </a:r>
          </a:p>
          <a:p>
            <a:r>
              <a:rPr lang="pt-BR" dirty="0"/>
              <a:t>[2] https://programmathically.com/understanding-the-exploding-and-vanishing-gradients-problem/</a:t>
            </a:r>
          </a:p>
          <a:p>
            <a:r>
              <a:rPr lang="pt-BR" dirty="0"/>
              <a:t>[3] https://towardsdatascience.com/batch-normalization-in-3-levels-of-understanding-14c2da90a338</a:t>
            </a:r>
          </a:p>
          <a:p>
            <a:r>
              <a:rPr lang="pt-BR" dirty="0"/>
              <a:t>[4]</a:t>
            </a:r>
            <a:r>
              <a:rPr lang="pt-BR" baseline="0" dirty="0"/>
              <a:t> https://medium.com/analytics-vidhya/how-batch-normalization-and-relu-solve-vanishing-gradients-3f1a8ace1c88</a:t>
            </a:r>
          </a:p>
          <a:p>
            <a:r>
              <a:rPr lang="pt-BR" baseline="0" dirty="0"/>
              <a:t>[5] https://www.quora.com/How-does-Batch-Normalization-battle-the-fact-that-gradients-might-explode-when-training-a-Neural-Network</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67</a:t>
            </a:fld>
            <a:endParaRPr lang="pt-BR"/>
          </a:p>
        </p:txBody>
      </p:sp>
    </p:spTree>
    <p:extLst>
      <p:ext uri="{BB962C8B-B14F-4D97-AF65-F5344CB8AC3E}">
        <p14:creationId xmlns:p14="http://schemas.microsoft.com/office/powerpoint/2010/main" val="216924300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69</a:t>
            </a:fld>
            <a:endParaRPr lang="pt-BR"/>
          </a:p>
        </p:txBody>
      </p:sp>
    </p:spTree>
    <p:extLst>
      <p:ext uri="{BB962C8B-B14F-4D97-AF65-F5344CB8AC3E}">
        <p14:creationId xmlns:p14="http://schemas.microsoft.com/office/powerpoint/2010/main" val="10319659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70</a:t>
            </a:fld>
            <a:endParaRPr lang="pt-BR"/>
          </a:p>
        </p:txBody>
      </p:sp>
    </p:spTree>
    <p:extLst>
      <p:ext uri="{BB962C8B-B14F-4D97-AF65-F5344CB8AC3E}">
        <p14:creationId xmlns:p14="http://schemas.microsoft.com/office/powerpoint/2010/main" val="16140012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8.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9.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0.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1.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12" Type="http://schemas.openxmlformats.org/officeDocument/2006/relationships/image" Target="../media/image7.jpe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8" Type="http://schemas.openxmlformats.org/officeDocument/2006/relationships/image" Target="../media/image510.png"/><Relationship Id="rId7" Type="http://schemas.openxmlformats.org/officeDocument/2006/relationships/image" Target="../media/image59.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3.png"/><Relationship Id="rId9" Type="http://schemas.openxmlformats.org/officeDocument/2006/relationships/image" Target="../media/image191.png"/></Relationships>
</file>

<file path=ppt/slides/_rels/slide17.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5.png"/><Relationship Id="rId3" Type="http://schemas.openxmlformats.org/officeDocument/2006/relationships/image" Target="../media/image5.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 Id="rId14" Type="http://schemas.openxmlformats.org/officeDocument/2006/relationships/image" Target="../media/image16.png"/></Relationships>
</file>

<file path=ppt/slides/_rels/slide20.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1.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4.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34.png"/><Relationship Id="rId3" Type="http://schemas.openxmlformats.org/officeDocument/2006/relationships/image" Target="../media/image26.png"/><Relationship Id="rId7" Type="http://schemas.openxmlformats.org/officeDocument/2006/relationships/image" Target="../media/image29.png"/><Relationship Id="rId12" Type="http://schemas.openxmlformats.org/officeDocument/2006/relationships/image" Target="../media/image33.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32.png"/><Relationship Id="rId5" Type="http://schemas.openxmlformats.org/officeDocument/2006/relationships/image" Target="../media/image28.png"/><Relationship Id="rId10" Type="http://schemas.openxmlformats.org/officeDocument/2006/relationships/image" Target="../media/image31.png"/><Relationship Id="rId4" Type="http://schemas.openxmlformats.org/officeDocument/2006/relationships/image" Target="../media/image27.png"/><Relationship Id="rId9" Type="http://schemas.openxmlformats.org/officeDocument/2006/relationships/image" Target="../media/image30.png"/></Relationships>
</file>

<file path=ppt/slides/_rels/slide2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3" Type="http://schemas.openxmlformats.org/officeDocument/2006/relationships/image" Target="../media/image40.png"/><Relationship Id="rId7" Type="http://schemas.openxmlformats.org/officeDocument/2006/relationships/image" Target="../media/image43.png"/><Relationship Id="rId12" Type="http://schemas.openxmlformats.org/officeDocument/2006/relationships/image" Target="../media/image48.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4" Type="http://schemas.openxmlformats.org/officeDocument/2006/relationships/image" Target="../media/image400.png"/><Relationship Id="rId9" Type="http://schemas.openxmlformats.org/officeDocument/2006/relationships/image" Target="../media/image45.png"/><Relationship Id="rId14" Type="http://schemas.openxmlformats.org/officeDocument/2006/relationships/image" Target="../media/image50.png"/></Relationships>
</file>

<file path=ppt/slides/_rels/slide35.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52.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56.png"/><Relationship Id="rId2" Type="http://schemas.openxmlformats.org/officeDocument/2006/relationships/notesSlide" Target="../notesSlides/notesSlide21.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36.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37.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mlp.ipynb"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81.png"/><Relationship Id="rId5" Type="http://schemas.openxmlformats.org/officeDocument/2006/relationships/image" Target="../media/image79.jpeg"/><Relationship Id="rId4" Type="http://schemas.openxmlformats.org/officeDocument/2006/relationships/image" Target="../media/image78.png"/></Relationships>
</file>

<file path=ppt/slides/_rels/slide51.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9%20-%20MLP.pdf"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image" Target="../media/image82.png"/><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56.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85.emf"/><Relationship Id="rId2" Type="http://schemas.openxmlformats.org/officeDocument/2006/relationships/image" Target="../media/image84.png"/><Relationship Id="rId1" Type="http://schemas.openxmlformats.org/officeDocument/2006/relationships/slideLayout" Target="../slideLayouts/slideLayout2.xml"/><Relationship Id="rId6" Type="http://schemas.openxmlformats.org/officeDocument/2006/relationships/image" Target="../media/image840.png"/><Relationship Id="rId5" Type="http://schemas.openxmlformats.org/officeDocument/2006/relationships/image" Target="../media/image86.emf"/><Relationship Id="rId4" Type="http://schemas.openxmlformats.org/officeDocument/2006/relationships/image" Target="../media/image820.png"/></Relationships>
</file>

<file path=ppt/slides/_rels/slide58.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88.png"/><Relationship Id="rId7" Type="http://schemas.openxmlformats.org/officeDocument/2006/relationships/image" Target="../media/image381.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360.png"/><Relationship Id="rId5" Type="http://schemas.openxmlformats.org/officeDocument/2006/relationships/image" Target="../media/image340.png"/><Relationship Id="rId4" Type="http://schemas.openxmlformats.org/officeDocument/2006/relationships/image" Target="../media/image88.emf"/></Relationships>
</file>

<file path=ppt/slides/_rels/slide62.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89.emf"/></Relationships>
</file>

<file path=ppt/slides/_rels/slide63.xml.rels><?xml version="1.0" encoding="UTF-8" standalone="yes"?>
<Relationships xmlns="http://schemas.openxmlformats.org/package/2006/relationships"><Relationship Id="rId8" Type="http://schemas.openxmlformats.org/officeDocument/2006/relationships/image" Target="../media/image89.emf"/><Relationship Id="rId3" Type="http://schemas.openxmlformats.org/officeDocument/2006/relationships/image" Target="../media/image92.png"/><Relationship Id="rId7" Type="http://schemas.openxmlformats.org/officeDocument/2006/relationships/image" Target="../media/image650.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640.png"/><Relationship Id="rId5" Type="http://schemas.openxmlformats.org/officeDocument/2006/relationships/image" Target="../media/image63.png"/><Relationship Id="rId4" Type="http://schemas.openxmlformats.org/officeDocument/2006/relationships/image" Target="../media/image88.emf"/><Relationship Id="rId9" Type="http://schemas.openxmlformats.org/officeDocument/2006/relationships/image" Target="../media/image67.png"/></Relationships>
</file>

<file path=ppt/slides/_rels/slide64.xml.rels><?xml version="1.0" encoding="UTF-8" standalone="yes"?>
<Relationships xmlns="http://schemas.openxmlformats.org/package/2006/relationships"><Relationship Id="rId3" Type="http://schemas.openxmlformats.org/officeDocument/2006/relationships/hyperlink" Target="https://en.wikipedia.org/wiki/Activation_function#Table_of_activation_functions"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91.png"/><Relationship Id="rId4" Type="http://schemas.openxmlformats.org/officeDocument/2006/relationships/image" Target="../media/image93.png"/></Relationships>
</file>

<file path=ppt/slides/_rels/slide65.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96.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notesSlide" Target="../notesSlides/notesSlide36.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Multilayer Perceptron</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NEURAL NETWORKS NEURAL NETWORKS EVERYWHERE - Buzz and Woody (Toy Story) Meme  Meme Generator">
            <a:extLst>
              <a:ext uri="{FF2B5EF4-FFF2-40B4-BE49-F238E27FC236}">
                <a16:creationId xmlns:a16="http://schemas.microsoft.com/office/drawing/2014/main" id="{FE5D1447-B6CB-88B3-AD78-E50AD24030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3471" y="1766327"/>
            <a:ext cx="7063898" cy="38498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C86F23E-3116-9DE3-82E3-FFC279A1FB0E}"/>
              </a:ext>
            </a:extLst>
          </p:cNvPr>
          <p:cNvSpPr txBox="1"/>
          <p:nvPr/>
        </p:nvSpPr>
        <p:spPr>
          <a:xfrm>
            <a:off x="7317369" y="1766327"/>
            <a:ext cx="4776309" cy="3970318"/>
          </a:xfrm>
          <a:prstGeom prst="rect">
            <a:avLst/>
          </a:prstGeom>
          <a:noFill/>
        </p:spPr>
        <p:txBody>
          <a:bodyPr wrap="square" rtlCol="0">
            <a:spAutoFit/>
          </a:bodyPr>
          <a:lstStyle/>
          <a:p>
            <a:pPr algn="ctr"/>
            <a:r>
              <a:rPr lang="pt-BR" sz="2800" dirty="0"/>
              <a:t>São os modelos de ML mais usados atualmente.</a:t>
            </a:r>
          </a:p>
          <a:p>
            <a:pPr algn="ctr"/>
            <a:endParaRPr lang="pt-BR" sz="2800" dirty="0"/>
          </a:p>
          <a:p>
            <a:pPr algn="ctr"/>
            <a:r>
              <a:rPr lang="pt-BR" sz="2400" dirty="0"/>
              <a:t>ChatGPT</a:t>
            </a:r>
          </a:p>
          <a:p>
            <a:pPr algn="ctr"/>
            <a:r>
              <a:rPr lang="pt-BR" sz="2400" dirty="0" err="1"/>
              <a:t>FaceID</a:t>
            </a:r>
            <a:endParaRPr lang="pt-BR" sz="2400" dirty="0"/>
          </a:p>
          <a:p>
            <a:pPr algn="ctr"/>
            <a:r>
              <a:rPr lang="pt-BR" sz="2400" dirty="0"/>
              <a:t>Filtros do Instagram</a:t>
            </a:r>
          </a:p>
          <a:p>
            <a:pPr algn="ctr"/>
            <a:r>
              <a:rPr lang="pt-BR" sz="2400" dirty="0"/>
              <a:t>Alexa</a:t>
            </a:r>
          </a:p>
          <a:p>
            <a:pPr algn="ctr"/>
            <a:r>
              <a:rPr lang="pt-BR" sz="2400" dirty="0"/>
              <a:t>Recomendação (Netflix, Spotify)</a:t>
            </a:r>
          </a:p>
          <a:p>
            <a:pPr algn="ctr"/>
            <a:r>
              <a:rPr lang="pt-BR" sz="2400" dirty="0"/>
              <a:t>Google tradutor</a:t>
            </a:r>
          </a:p>
          <a:p>
            <a:pPr algn="ctr"/>
            <a:r>
              <a:rPr lang="pt-BR" sz="2400" dirty="0"/>
              <a:t>Filtros de spam</a:t>
            </a:r>
            <a:endParaRPr lang="en-US" sz="2400" dirty="0"/>
          </a:p>
        </p:txBody>
      </p:sp>
    </p:spTree>
    <p:extLst>
      <p:ext uri="{BB962C8B-B14F-4D97-AF65-F5344CB8AC3E}">
        <p14:creationId xmlns:p14="http://schemas.microsoft.com/office/powerpoint/2010/main" val="19052419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F57A53A-C77C-6E81-D773-CB160B726FB2}"/>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id="{15DCC1D6-F396-71DB-3A9E-585DFBF5114F}"/>
              </a:ext>
            </a:extLst>
          </p:cNvPr>
          <p:cNvSpPr>
            <a:spLocks noGrp="1"/>
          </p:cNvSpPr>
          <p:nvPr>
            <p:ph idx="1"/>
          </p:nvPr>
        </p:nvSpPr>
        <p:spPr>
          <a:xfrm>
            <a:off x="6377181" y="2717991"/>
            <a:ext cx="5466476" cy="2376523"/>
          </a:xfrm>
        </p:spPr>
        <p:txBody>
          <a:bodyPr>
            <a:normAutofit/>
          </a:bodyPr>
          <a:lstStyle/>
          <a:p>
            <a:pPr marL="0" indent="0" algn="ctr">
              <a:buNone/>
            </a:pPr>
            <a:r>
              <a:rPr lang="pt-BR" b="1" dirty="0">
                <a:solidFill>
                  <a:srgbClr val="1F1F1F"/>
                </a:solidFill>
                <a:effectLst/>
                <a:latin typeface="Google Sans"/>
              </a:rPr>
              <a:t>Subárea</a:t>
            </a:r>
            <a:r>
              <a:rPr lang="pt-BR" b="0" i="0" dirty="0">
                <a:solidFill>
                  <a:srgbClr val="1F1F1F"/>
                </a:solidFill>
                <a:effectLst/>
                <a:latin typeface="Google Sans"/>
              </a:rPr>
              <a:t> do aprendizado de máquina.</a:t>
            </a:r>
          </a:p>
          <a:p>
            <a:pPr marL="0" indent="0" algn="ctr">
              <a:buNone/>
            </a:pPr>
            <a:endParaRPr lang="pt-BR" dirty="0">
              <a:solidFill>
                <a:srgbClr val="1F1F1F"/>
              </a:solidFill>
              <a:latin typeface="Google Sans"/>
            </a:endParaRPr>
          </a:p>
          <a:p>
            <a:pPr marL="0" indent="0" algn="ctr">
              <a:buNone/>
            </a:pPr>
            <a:r>
              <a:rPr lang="pt-BR" dirty="0">
                <a:solidFill>
                  <a:srgbClr val="1F1F1F"/>
                </a:solidFill>
                <a:latin typeface="Google Sans"/>
              </a:rPr>
              <a:t>Ela e</a:t>
            </a:r>
            <a:r>
              <a:rPr lang="pt-BR" b="0" i="0" dirty="0">
                <a:solidFill>
                  <a:srgbClr val="1F1F1F"/>
                </a:solidFill>
                <a:effectLst/>
                <a:latin typeface="Google Sans"/>
              </a:rPr>
              <a:t>ngloba o aprendizado profundo (</a:t>
            </a:r>
            <a:r>
              <a:rPr lang="pt-BR" b="0" i="1" dirty="0" err="1">
                <a:solidFill>
                  <a:srgbClr val="1F1F1F"/>
                </a:solidFill>
                <a:effectLst/>
                <a:latin typeface="Google Sans"/>
              </a:rPr>
              <a:t>deep</a:t>
            </a:r>
            <a:r>
              <a:rPr lang="pt-BR" b="0" i="1" dirty="0">
                <a:solidFill>
                  <a:srgbClr val="1F1F1F"/>
                </a:solidFill>
                <a:effectLst/>
                <a:latin typeface="Google Sans"/>
              </a:rPr>
              <a:t> learning</a:t>
            </a:r>
            <a:r>
              <a:rPr lang="pt-BR" b="0" i="0" dirty="0">
                <a:solidFill>
                  <a:srgbClr val="1F1F1F"/>
                </a:solidFill>
                <a:effectLst/>
                <a:latin typeface="Google Sans"/>
              </a:rPr>
              <a:t>).</a:t>
            </a:r>
          </a:p>
        </p:txBody>
      </p:sp>
      <p:pic>
        <p:nvPicPr>
          <p:cNvPr id="15" name="Imagem 14">
            <a:extLst>
              <a:ext uri="{FF2B5EF4-FFF2-40B4-BE49-F238E27FC236}">
                <a16:creationId xmlns:a16="http://schemas.microsoft.com/office/drawing/2014/main" id="{503F1CA4-FE10-73FB-D3A2-9E6C9D45974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89044" y="2011781"/>
            <a:ext cx="4293574" cy="4095699"/>
          </a:xfrm>
          <a:prstGeom prst="rect">
            <a:avLst/>
          </a:prstGeom>
        </p:spPr>
      </p:pic>
    </p:spTree>
    <p:extLst>
      <p:ext uri="{BB962C8B-B14F-4D97-AF65-F5344CB8AC3E}">
        <p14:creationId xmlns:p14="http://schemas.microsoft.com/office/powerpoint/2010/main" val="133528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CBD0528-8529-0C22-AC3D-15BF8FB43A43}"/>
              </a:ext>
            </a:extLst>
          </p:cNvPr>
          <p:cNvSpPr>
            <a:spLocks noGrp="1"/>
          </p:cNvSpPr>
          <p:nvPr>
            <p:ph idx="1"/>
          </p:nvPr>
        </p:nvSpPr>
        <p:spPr>
          <a:xfrm>
            <a:off x="838200" y="2376941"/>
            <a:ext cx="10515600" cy="2104118"/>
          </a:xfrm>
        </p:spPr>
        <p:txBody>
          <a:bodyPr>
            <a:normAutofit/>
          </a:bodyPr>
          <a:lstStyle/>
          <a:p>
            <a:pPr marL="0" indent="0" algn="ctr">
              <a:buNone/>
            </a:pPr>
            <a:r>
              <a:rPr lang="pt-BR" sz="7200" dirty="0"/>
              <a:t>O que é uma rede neural artificial?</a:t>
            </a:r>
            <a:endParaRPr lang="en-US" sz="7200" dirty="0"/>
          </a:p>
        </p:txBody>
      </p:sp>
    </p:spTree>
    <p:extLst>
      <p:ext uri="{BB962C8B-B14F-4D97-AF65-F5344CB8AC3E}">
        <p14:creationId xmlns:p14="http://schemas.microsoft.com/office/powerpoint/2010/main" val="29248406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joke - be like a neural network - devRant">
            <a:extLst>
              <a:ext uri="{FF2B5EF4-FFF2-40B4-BE49-F238E27FC236}">
                <a16:creationId xmlns:a16="http://schemas.microsoft.com/office/drawing/2014/main" id="{CDA3488B-3B03-BDBD-94CC-1F6A391FA7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544" y="373350"/>
            <a:ext cx="7049181" cy="610517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F6CF095-DF53-87F8-1058-26A106AB9AB8}"/>
              </a:ext>
            </a:extLst>
          </p:cNvPr>
          <p:cNvSpPr txBox="1"/>
          <p:nvPr/>
        </p:nvSpPr>
        <p:spPr>
          <a:xfrm>
            <a:off x="7755425" y="2390875"/>
            <a:ext cx="4243031" cy="3108543"/>
          </a:xfrm>
          <a:prstGeom prst="rect">
            <a:avLst/>
          </a:prstGeom>
          <a:noFill/>
        </p:spPr>
        <p:txBody>
          <a:bodyPr wrap="square" rtlCol="0">
            <a:spAutoFit/>
          </a:bodyPr>
          <a:lstStyle/>
          <a:p>
            <a:pPr algn="ctr"/>
            <a:r>
              <a:rPr lang="pt-BR" sz="2800" dirty="0"/>
              <a:t>Modelo com múltiplas entradas, com uma ou mais camadas, onde cada uma delas contém vários neurônios interconectados que geram uma ou mais saídas.</a:t>
            </a:r>
            <a:endParaRPr lang="en-US" sz="2800" dirty="0"/>
          </a:p>
        </p:txBody>
      </p:sp>
    </p:spTree>
    <p:extLst>
      <p:ext uri="{BB962C8B-B14F-4D97-AF65-F5344CB8AC3E}">
        <p14:creationId xmlns:p14="http://schemas.microsoft.com/office/powerpoint/2010/main" val="40213338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1103D5-823E-634E-B2B8-0C681664058A}"/>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606EEABC-C54D-CD89-568A-09EEED4E6ED1}"/>
              </a:ext>
            </a:extLst>
          </p:cNvPr>
          <p:cNvSpPr>
            <a:spLocks noGrp="1"/>
          </p:cNvSpPr>
          <p:nvPr>
            <p:ph idx="1"/>
          </p:nvPr>
        </p:nvSpPr>
        <p:spPr>
          <a:xfrm>
            <a:off x="5900057" y="1825624"/>
            <a:ext cx="6291943" cy="5032375"/>
          </a:xfrm>
        </p:spPr>
        <p:txBody>
          <a:bodyPr>
            <a:normAutofit/>
          </a:bodyPr>
          <a:lstStyle/>
          <a:p>
            <a:r>
              <a:rPr lang="pt-BR" b="1" dirty="0"/>
              <a:t>Redes neurais artificiais </a:t>
            </a:r>
            <a:r>
              <a:rPr lang="pt-BR" dirty="0"/>
              <a:t>são modelos matemáticos </a:t>
            </a:r>
            <a:r>
              <a:rPr lang="pt-BR" b="1" dirty="0">
                <a:solidFill>
                  <a:schemeClr val="accent2"/>
                </a:solidFill>
              </a:rPr>
              <a:t>inspirados</a:t>
            </a:r>
            <a:r>
              <a:rPr lang="pt-BR" b="1" dirty="0"/>
              <a:t> </a:t>
            </a:r>
            <a:r>
              <a:rPr lang="pt-BR" dirty="0"/>
              <a:t>pelo funcionamento do cérebro dos animais.</a:t>
            </a:r>
          </a:p>
          <a:p>
            <a:r>
              <a:rPr lang="pt-BR" dirty="0"/>
              <a:t>Elas são capazes de realizar </a:t>
            </a:r>
            <a:r>
              <a:rPr lang="pt-BR" b="1" dirty="0">
                <a:solidFill>
                  <a:schemeClr val="accent2"/>
                </a:solidFill>
              </a:rPr>
              <a:t>tarefas de aprendizado de máquina </a:t>
            </a:r>
            <a:r>
              <a:rPr lang="pt-BR" dirty="0"/>
              <a:t>com grande versatilidade e eficácia.</a:t>
            </a:r>
          </a:p>
          <a:p>
            <a:pPr lvl="1">
              <a:buFont typeface="Wingdings" panose="05000000000000000000" pitchFamily="2" charset="2"/>
              <a:buChar char="§"/>
            </a:pPr>
            <a:r>
              <a:rPr lang="pt-BR" dirty="0"/>
              <a:t>regressão,  </a:t>
            </a:r>
          </a:p>
          <a:p>
            <a:pPr lvl="1">
              <a:buFont typeface="Wingdings" panose="05000000000000000000" pitchFamily="2" charset="2"/>
              <a:buChar char="§"/>
            </a:pPr>
            <a:r>
              <a:rPr lang="pt-BR" dirty="0"/>
              <a:t>classificação, </a:t>
            </a:r>
          </a:p>
          <a:p>
            <a:pPr lvl="1">
              <a:buFont typeface="Wingdings" panose="05000000000000000000" pitchFamily="2" charset="2"/>
              <a:buChar char="§"/>
            </a:pPr>
            <a:r>
              <a:rPr lang="pt-BR" dirty="0"/>
              <a:t>clusterização, </a:t>
            </a:r>
          </a:p>
          <a:p>
            <a:pPr lvl="1">
              <a:buFont typeface="Wingdings" panose="05000000000000000000" pitchFamily="2" charset="2"/>
              <a:buChar char="§"/>
            </a:pPr>
            <a:r>
              <a:rPr lang="pt-BR" dirty="0"/>
              <a:t>detecção e segmentação,</a:t>
            </a:r>
          </a:p>
          <a:p>
            <a:pPr lvl="1">
              <a:buFont typeface="Wingdings" panose="05000000000000000000" pitchFamily="2" charset="2"/>
              <a:buChar char="§"/>
            </a:pPr>
            <a:r>
              <a:rPr lang="pt-BR" dirty="0"/>
              <a:t>rastreio de objetos,</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id="{C0AB4D3C-14B7-80CE-5421-8D7CEA922137}"/>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880F268E-D6BC-B9A9-D04C-FFB7FAE1D52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E099D061-D8C0-397B-B74F-7922DF9C138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67713F78-5992-F462-3942-2B0F82968051}"/>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CF5712BF-CCEE-58DC-834C-71ABD925D026}"/>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13B5ED7F-88F1-BAFE-570D-763353AC721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6A1E1912-FB2F-F3FF-CE4D-CE06BAC0FB8F}"/>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FAD85B3B-1BEA-1F97-7DDA-1206B6C595A2}"/>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FED09939-6BEF-30A3-3FB4-12ECC09E29E4}"/>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3BEF4A9C-71E0-4F8F-3BD2-4D47270849E4}"/>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4B946177-8D68-EB3E-34C9-62A12C79F541}"/>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47B0CFAF-77A0-AE0B-A81A-FCCBC552CDE4}"/>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6639A641-3D08-AD9A-A99C-425A1897E50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CFE547F8-35FA-9E2F-522C-521B40CF8FC5}"/>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AF7051E2-C9E8-802A-D353-73FA091E909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41F744E4-9D95-3D3C-DC0A-533A9B702925}"/>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8BAC6053-9EA1-03A2-558A-88DA39759DB7}"/>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3F853BE8-DC89-2563-5D8A-81B95637946A}"/>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E081B8ED-0DAA-5AFA-C344-2E0F0F82456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A9641AFE-87D5-B387-E3B3-9D4DB2BF1C03}"/>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F32871E1-928B-51EF-54A4-B0CF7EF7B2D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8A271734-B1F2-D695-20AD-64D1A932C853}"/>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5F472265-7B81-A690-1AA9-E509E9086C85}"/>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F5754FED-4A00-16D2-0C3B-7EA7C7E49A7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F975C5F3-BA89-A7A9-E2E4-99BB82BFA982}"/>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E77D26A7-3320-253B-2095-5E911AD3AFB6}"/>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E9A70C6E-00E4-7265-5C01-CB3A806FEDF8}"/>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05171771-0860-E379-19DB-C2E198F3B4D3}"/>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8315C71B-DDD8-ED1A-254A-F2ADB01D279D}"/>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315C71B-DDD8-ED1A-254A-F2ADB01D279D}"/>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29A41F87-326E-0B0C-8F94-399961C5D118}"/>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29A41F87-326E-0B0C-8F94-399961C5D118}"/>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B58C6F3A-E781-5D75-561F-5C43A917AAB6}"/>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EBF19884-3B50-8F9C-93BC-2CC13E64670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EBF19884-3B50-8F9C-93BC-2CC13E64670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069C9B5F-E70F-D9B5-0388-F77C52F5F76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A57642F8-5C22-1A15-B172-85987C5C01ED}"/>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9C6396B2-5051-5D4F-466F-B85FB36FE935}"/>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34AEB892-F401-42DD-770A-C476E26B6F44}"/>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34AEB892-F401-42DD-770A-C476E26B6F44}"/>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54E38790-B43D-A2CA-AAAB-3A650C1A92A9}"/>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D314793D-9893-40CF-6D28-8375D4B5BE48}"/>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9105E874-0E05-E4F5-E4B2-A90612F9F219}"/>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211A8312-997D-6086-BF48-8D6A12ECCE0A}"/>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3A58BF7B-3279-94C8-FFF6-06C46AB0112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AEB71C20-E18A-505D-67E6-7B45A9C6E66D}"/>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3EF97643-5284-70E1-BD80-0BB8182240E5}"/>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491A4652-97E5-4107-4DDF-D9E1B0F152A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C6954959-94F7-8348-1F33-BF93B824600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CBB7B80E-C1FD-EBBD-9D25-534E89042BD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84B319D8-A5A6-8A00-9C05-23CB87C49778}"/>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1B90B0B0-88DF-9CBC-3CD6-F61A7D24E26F}"/>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08F09EF-97F6-98E3-172A-204773369AC6}"/>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108F09EF-97F6-98E3-172A-204773369AC6}"/>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C29059A-3453-14B3-FD52-7A9AAE09D717}"/>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AC29059A-3453-14B3-FD52-7A9AAE09D717}"/>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3778001A-AA62-E613-11F3-633D012C74EA}"/>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3778001A-AA62-E613-11F3-633D012C74EA}"/>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F94CE927-8492-9717-4B9A-B9803E52F878}"/>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F94CE927-8492-9717-4B9A-B9803E52F878}"/>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DBFD359F-1205-2EE2-15E9-7E8B34CE4982}"/>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BFD359F-1205-2EE2-15E9-7E8B34CE4982}"/>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88B6626-4AD0-208D-B630-57B87F1E615C}"/>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888B6626-4AD0-208D-B630-57B87F1E615C}"/>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ACC60027-CFC5-3E1B-2C05-C3290F8B634D}"/>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ACC60027-CFC5-3E1B-2C05-C3290F8B634D}"/>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871875A-2A3E-5B73-D74D-5609B9740C51}"/>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8871875A-2A3E-5B73-D74D-5609B9740C51}"/>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A3C84BA2-54EB-805C-7E41-3C5BD2D9E20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1DFFD252-F7C2-0400-CE79-C7D47DFB3AAB}"/>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8247F555-F9DF-97FB-7B6C-10240EC3DA0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E5F53690-6F40-A949-FEDC-4500198D8C6A}"/>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B7F0713D-76DA-6EAC-25DA-B830BA9F088A}"/>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CAABA625-C986-FB7E-6024-B9447A29D89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796904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2FA15-7C25-45ED-1E3D-0136E8BAED98}"/>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DED2EFDE-F421-7617-3661-898FEECA74FF}"/>
              </a:ext>
            </a:extLst>
          </p:cNvPr>
          <p:cNvSpPr>
            <a:spLocks noGrp="1"/>
          </p:cNvSpPr>
          <p:nvPr>
            <p:ph idx="1"/>
          </p:nvPr>
        </p:nvSpPr>
        <p:spPr>
          <a:xfrm>
            <a:off x="5660570" y="1825624"/>
            <a:ext cx="6531429" cy="5032375"/>
          </a:xfrm>
        </p:spPr>
        <p:txBody>
          <a:bodyPr>
            <a:normAutofit/>
          </a:bodyPr>
          <a:lstStyle/>
          <a:p>
            <a:r>
              <a:rPr lang="pt-BR" dirty="0" err="1"/>
              <a:t>RNAs</a:t>
            </a:r>
            <a:r>
              <a:rPr lang="pt-BR" dirty="0"/>
              <a:t> são representadas como </a:t>
            </a:r>
          </a:p>
          <a:p>
            <a:pPr lvl="1">
              <a:buFont typeface="Wingdings" panose="05000000000000000000" pitchFamily="2" charset="2"/>
              <a:buChar char="§"/>
            </a:pPr>
            <a:r>
              <a:rPr lang="pt-BR" dirty="0"/>
              <a:t>sistemas de </a:t>
            </a:r>
            <a:r>
              <a:rPr lang="pt-BR" b="1" dirty="0"/>
              <a:t>neurônios (ou nós) interconectados</a:t>
            </a:r>
            <a:r>
              <a:rPr lang="pt-BR" dirty="0"/>
              <a:t>, </a:t>
            </a:r>
          </a:p>
          <a:p>
            <a:pPr lvl="1">
              <a:buFont typeface="Wingdings" panose="05000000000000000000" pitchFamily="2" charset="2"/>
              <a:buChar char="§"/>
            </a:pPr>
            <a:r>
              <a:rPr lang="pt-BR" dirty="0"/>
              <a:t>organizados em </a:t>
            </a:r>
            <a:r>
              <a:rPr lang="pt-BR" b="1" dirty="0"/>
              <a:t>camadas</a:t>
            </a:r>
            <a:r>
              <a:rPr lang="pt-BR" dirty="0"/>
              <a:t>, </a:t>
            </a:r>
          </a:p>
          <a:p>
            <a:pPr lvl="1">
              <a:buFont typeface="Wingdings" panose="05000000000000000000" pitchFamily="2" charset="2"/>
              <a:buChar char="§"/>
            </a:pPr>
            <a:r>
              <a:rPr lang="pt-BR" dirty="0"/>
              <a:t>que </a:t>
            </a:r>
            <a:r>
              <a:rPr lang="pt-BR" b="1" dirty="0"/>
              <a:t>aprendem</a:t>
            </a:r>
            <a:r>
              <a:rPr lang="pt-BR" dirty="0"/>
              <a:t>, a </a:t>
            </a:r>
            <a:r>
              <a:rPr lang="pt-BR" b="1" dirty="0"/>
              <a:t>partir de dados</a:t>
            </a:r>
            <a:r>
              <a:rPr lang="pt-BR" dirty="0"/>
              <a:t>, uma </a:t>
            </a:r>
            <a:r>
              <a:rPr lang="pt-BR" b="1" dirty="0"/>
              <a:t>função que relaciona entradas às saídas</a:t>
            </a:r>
            <a:r>
              <a:rPr lang="pt-BR" dirty="0"/>
              <a:t>.</a:t>
            </a:r>
          </a:p>
        </p:txBody>
      </p:sp>
      <p:grpSp>
        <p:nvGrpSpPr>
          <p:cNvPr id="4" name="Group 3">
            <a:extLst>
              <a:ext uri="{FF2B5EF4-FFF2-40B4-BE49-F238E27FC236}">
                <a16:creationId xmlns:a16="http://schemas.microsoft.com/office/drawing/2014/main" id="{C4E1DF22-370B-0A9F-E786-A49FA17875E8}"/>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D8E0F960-AD22-C702-F05A-0D766D76313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9A795591-C1AD-8253-653F-65C7D961BFC8}"/>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8E969BD5-C4A4-A939-9BCC-B1B144839EA0}"/>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1EAAB3E6-9EE2-C90B-37EB-DF7A6AC09CB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3B148B8E-E77A-4CB8-7CA2-7358C873DD3B}"/>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FFA44E6F-2175-34D9-1514-FCAC487E9ED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11305C7D-C471-5BAD-0B9F-C8CDEE1BA870}"/>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4F2588AE-F934-273C-BEA4-0D56BAF7674F}"/>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7F1F5ECD-0CE1-EFC7-B158-40316AD462CF}"/>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E186A336-7AFF-0939-D05F-F8C311C3CEFB}"/>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B301CA1D-FA45-E51D-5D0B-FE0E342C6C4E}"/>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7AD9F372-68A0-B57A-E3F0-AF7E0A1B6E45}"/>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35E0D02E-1776-B7D9-2342-3F61E5FA86BF}"/>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16CC534C-BFDC-FFC5-C99A-DF7135076707}"/>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EE4D35B3-8416-DE4B-20D1-08E259872841}"/>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661B0F89-0764-BC59-0B1D-1E54F1CC91F2}"/>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3838DD2D-9E3B-3A3B-FE81-417F031EF253}"/>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79071569-8F23-D7FF-3CEF-1E252E3EB0C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067ECB73-A527-9528-3612-F2E4CA8D05A9}"/>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89FFDF94-1A16-A494-6D18-41F175614D70}"/>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6FA67B61-DE8A-621F-6861-2644C17B329B}"/>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FE23F9FB-6FAB-D28E-7116-1B2723147001}"/>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960F3CF9-A912-C9B4-9D88-EEF3AD439D24}"/>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119B34E0-727E-DA79-7998-5A7B420F61B1}"/>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572062FE-4C60-56CE-7F03-6279B8C2C89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71288812-CB99-D44B-C4B2-A52ECE9F50BE}"/>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27C14E55-8404-8301-D902-C5EDC61BA9A2}"/>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0CFF7CED-332D-88AF-C3C0-49C0A733302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0CFF7CED-332D-88AF-C3C0-49C0A733302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E0E382A4-7628-058F-3CF6-983FDB847FF6}"/>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0E382A4-7628-058F-3CF6-983FDB847FF6}"/>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A802BE9A-407C-B488-93DA-99F72E1F4E3B}"/>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7D96F221-EBD2-8CC5-9379-5B793B77C310}"/>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7D96F221-EBD2-8CC5-9379-5B793B77C310}"/>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B2DFB308-3A77-F14D-42FB-FE65677699A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976EEF10-2B6C-D9E3-EE76-6516E2D14BAF}"/>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392D4756-64AB-7AA5-B67A-505EA325DF6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DC572DD7-4BDB-3420-5B69-44B7FA019172}"/>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DC572DD7-4BDB-3420-5B69-44B7FA019172}"/>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A245A3FE-F64D-71F9-7933-0B01C73F3CD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E74D8B5A-5B06-0979-0965-14B21DC2D537}"/>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2C6A73B0-074A-798B-9DBB-18DE5EF52575}"/>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EC427AB5-E4BB-7907-CBA1-58F25EB29FCF}"/>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243EF931-2725-9FAC-4693-95AD44E2CB98}"/>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34BA9903-694A-6A3D-2268-327576C56CF7}"/>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DF6C9A67-9067-5EDC-C226-CAB8E04167BB}"/>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8F3118AB-FD12-F22D-F865-22E94CCDB92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9DA96DDF-C909-C9CA-F73B-A1E8CE0091EE}"/>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D99F43A6-B307-1E72-0D1B-848D65C2807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390884BC-D4C2-CD93-5152-5C2CEFE58A90}"/>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32363744-5718-75E7-9FF5-8F947EDC7226}"/>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9F149F88-8FBC-425B-18B4-A25A063EC08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9F149F88-8FBC-425B-18B4-A25A063EC08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5D247434-3D9E-AAA1-BFBD-7EAF6E834AFA}"/>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5D247434-3D9E-AAA1-BFBD-7EAF6E834AFA}"/>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ADB9C1D5-E44F-F0EC-BBB0-2EF05DA96974}"/>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ADB9C1D5-E44F-F0EC-BBB0-2EF05DA96974}"/>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0F937DE5-22C6-2E0D-CCD5-B93A651A79F4}"/>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0F937DE5-22C6-2E0D-CCD5-B93A651A79F4}"/>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334077E4-2107-C898-7607-4A5331F21951}"/>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334077E4-2107-C898-7607-4A5331F21951}"/>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BCB14226-5DF4-E14E-101B-53FD396577F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BCB14226-5DF4-E14E-101B-53FD396577F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99A900C0-456D-4A08-2194-AE28ADA67401}"/>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99A900C0-456D-4A08-2194-AE28ADA67401}"/>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C11B47C5-4DBA-FF42-97D0-97F5F0F1A4E7}"/>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C11B47C5-4DBA-FF42-97D0-97F5F0F1A4E7}"/>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B0B84C2B-23B5-FBAB-402D-6D0DCB38CBB1}"/>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4A7BC105-4654-4523-D596-31B98F0584C0}"/>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944BD204-44EC-8B0F-CCCC-620B13B7B44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9DB4AD3A-5BC7-ECE3-2167-C281106F1AB5}"/>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4CA42873-8E63-69DF-FEC6-B6697318A088}"/>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F796D9AC-0F6B-F0B8-A755-6F3EAD090A5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3053346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543F7-82FB-D48F-6DEF-5CCC7B72A1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B79B23-B649-A1BB-EEED-EB426575944D}"/>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5F377532-DABD-D714-07CE-A3983505C3A8}"/>
              </a:ext>
            </a:extLst>
          </p:cNvPr>
          <p:cNvSpPr>
            <a:spLocks noGrp="1"/>
          </p:cNvSpPr>
          <p:nvPr>
            <p:ph idx="1"/>
          </p:nvPr>
        </p:nvSpPr>
        <p:spPr>
          <a:xfrm>
            <a:off x="5660571" y="1825624"/>
            <a:ext cx="6422572" cy="5032375"/>
          </a:xfrm>
        </p:spPr>
        <p:txBody>
          <a:bodyPr>
            <a:normAutofit/>
          </a:bodyPr>
          <a:lstStyle/>
          <a:p>
            <a:r>
              <a:rPr lang="pt-BR" dirty="0"/>
              <a:t>Antes de entendermos como funciona uma rede neural, </a:t>
            </a:r>
            <a:r>
              <a:rPr lang="pt-BR" b="1" dirty="0">
                <a:solidFill>
                  <a:schemeClr val="accent2"/>
                </a:solidFill>
              </a:rPr>
              <a:t>precisamos primeiro relembrar o principio básico de funcionamento um neurônio biológico </a:t>
            </a:r>
            <a:r>
              <a:rPr lang="pt-BR" dirty="0"/>
              <a:t>e como ele é usado para modelar um</a:t>
            </a:r>
            <a:r>
              <a:rPr lang="pt-BR" b="1" dirty="0"/>
              <a:t> neurônio artificial</a:t>
            </a:r>
            <a:r>
              <a:rPr lang="pt-BR" dirty="0"/>
              <a:t>.</a:t>
            </a:r>
          </a:p>
        </p:txBody>
      </p:sp>
      <p:grpSp>
        <p:nvGrpSpPr>
          <p:cNvPr id="4" name="Group 3">
            <a:extLst>
              <a:ext uri="{FF2B5EF4-FFF2-40B4-BE49-F238E27FC236}">
                <a16:creationId xmlns:a16="http://schemas.microsoft.com/office/drawing/2014/main" id="{A4A654E5-99EE-5C65-B3DB-67A37FF36A5B}"/>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AEF26509-4671-CD68-962B-5F9CDBE3082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B93EA632-8C83-83C6-1717-F34E79D1586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AF3E96C3-64A1-665A-E445-346955285463}"/>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87AC3999-8DA5-C671-B1BD-1324E34972EC}"/>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BD9D6F22-B247-3846-B978-31C5501EBB41}"/>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2A1784C7-0521-AD27-C3BB-C825EFC60303}"/>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0BF7434B-7FE0-D093-FD89-51BD00DF8A37}"/>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F5DAA4C4-C758-0FEF-6606-E2BAF9914605}"/>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279C9571-8754-1F58-989C-7C5403034F67}"/>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4760DCFE-9BC2-6C3A-AFCA-A648EAED6FB5}"/>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88D177F0-76D0-DE83-078B-0DE5B31D977F}"/>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936C89A2-F0D3-D88C-E757-0B5CE83CA8D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E9F85594-E3CB-08CD-0F92-EDB0A41B6A19}"/>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E208F0AF-CE8B-469C-4600-F9BC0B39D88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3600D062-6C30-FF24-3490-17F2930199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4D88A390-53B5-82B6-E78F-05B21D41DDAF}"/>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0EA478FE-4841-17D1-C216-0BB44D3F4C0C}"/>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4B341FE9-58BF-5CB2-1527-77033952523D}"/>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1171CA1F-829A-050A-5A87-60795F8186B5}"/>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0EE7C7F8-314B-4BD0-74F3-3382C4904B6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9A5094F1-226E-7F4D-EBA0-23BA03E91C8E}"/>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A539EF9C-C252-F1DC-70F8-99C43CCAD746}"/>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B5F86E13-95C3-F837-B350-F0DF18E3BB43}"/>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C4DF701E-A576-D49C-3DC5-D1FF5FCEC71E}"/>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1AD8DBB9-53F0-A7A1-AE8F-38515EF2C94C}"/>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E44144BB-B5D0-FF80-1B1B-26689476F976}"/>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7F21C1C8-A9EC-1D2D-4A82-31181D217E41}"/>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78476B58-B60C-BDA2-ED84-F4274DEF8D44}"/>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6E16AF6B-BDCF-84CC-BA22-AD84BA3647A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7637F52C-37AA-6F57-72A4-644BED61667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5FF37362-48CE-CE17-8FFB-67041B29DDD8}"/>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DAD1335C-3027-AA64-29BB-8180C897F099}"/>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B0A426C1-8442-03DA-1C4D-2535088199F9}"/>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C7D43E34-5AB3-A3C7-7C12-C73C8FC13C80}"/>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52172AB7-13AE-26B9-F75D-02BA6E9743F6}"/>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4B54F764-5433-0740-646F-4D09D53CD90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26381EF6-EE03-992D-FC90-0DE520C3F7C0}"/>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1486EF2B-FB45-68B7-5818-69F4E32C70AA}"/>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C950B179-3A23-C1E7-5E29-3EE114FA1798}"/>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0FDFAF8B-789C-FA8C-29E3-87DE305D3D1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ED881E74-E895-6DB1-4B3F-001978264A0C}"/>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7B3AE951-4415-DD8C-6602-4DA796225A9E}"/>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6F1830A5-8926-9AAD-3454-60ADDD3CB756}"/>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E9AC7681-BC3E-7E5D-6968-2C0331A9FF2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2BAE68F4-D668-97CC-11E3-511EFA07A92E}"/>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9972CDD1-F896-5E2C-C8A4-A963155B01EB}"/>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23A6988E-30DF-C422-ED06-79CBE5C32EDE}"/>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69A677CD-9AD5-397F-587F-515CA32618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2ED6582B-E94E-941F-2ADE-2830C441ECB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5512FE1B-01B2-FFDD-036E-2DD3A18526C9}"/>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6924F93B-F7EB-6B33-5956-A29BF38C06D1}"/>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D19DCDDA-DE37-157A-5151-7245EF4E905F}"/>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7470A42-A8D3-4071-DD67-EF4604324C7E}"/>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4BE2A8D8-E86D-D878-D2E0-1F4427B06575}"/>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A1FA57A7-793F-A00E-89AD-3C6D746839B3}"/>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41F7D791-881F-6930-43AB-DCD801930EB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1CEADAAA-0A40-5BB1-DBB9-51D2ED9EF2D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2AF40A14-80D6-D386-5A20-DC8DB81FE9A7}"/>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557E1C35-82D6-DF3B-71DE-F7A13A885FEF}"/>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28F0ECAF-C620-485D-D00B-FD94DD584A7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7E86DF34-53B2-4E60-F138-1DC2C75F479B}"/>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5819973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6196011" y="1825624"/>
            <a:ext cx="5858310" cy="5032375"/>
          </a:xfrm>
        </p:spPr>
        <p:txBody>
          <a:bodyPr>
            <a:normAutofit/>
          </a:bodyPr>
          <a:lstStyle/>
          <a:p>
            <a:r>
              <a:rPr lang="pt-BR" dirty="0"/>
              <a:t>São </a:t>
            </a:r>
            <a:r>
              <a:rPr lang="pt-BR" b="1" dirty="0">
                <a:solidFill>
                  <a:srgbClr val="00B050"/>
                </a:solidFill>
              </a:rPr>
              <a:t>células</a:t>
            </a:r>
            <a:r>
              <a:rPr lang="pt-BR" dirty="0"/>
              <a:t> que possuem </a:t>
            </a:r>
            <a:r>
              <a:rPr lang="pt-BR" b="1" dirty="0">
                <a:solidFill>
                  <a:srgbClr val="7030A0"/>
                </a:solidFill>
              </a:rPr>
              <a:t>mecanismos eletroquímicos</a:t>
            </a:r>
            <a:r>
              <a:rPr lang="pt-BR" b="1" dirty="0"/>
              <a:t> </a:t>
            </a:r>
            <a:r>
              <a:rPr lang="pt-BR" b="0" dirty="0">
                <a:effectLst/>
              </a:rPr>
              <a:t>para realizar a </a:t>
            </a:r>
            <a:r>
              <a:rPr lang="pt-BR" b="1" dirty="0">
                <a:solidFill>
                  <a:srgbClr val="00B050"/>
                </a:solidFill>
                <a:effectLst/>
              </a:rPr>
              <a:t>transmissão de sinais elétricos </a:t>
            </a:r>
            <a:r>
              <a:rPr lang="pt-BR" b="0" dirty="0">
                <a:effectLst/>
              </a:rPr>
              <a:t>(i.e., informações) </a:t>
            </a:r>
            <a:r>
              <a:rPr lang="pt-BR" b="1" dirty="0">
                <a:solidFill>
                  <a:srgbClr val="00B050"/>
                </a:solidFill>
                <a:effectLst/>
              </a:rPr>
              <a:t>ao longo do sistema nervoso</a:t>
            </a:r>
            <a:r>
              <a:rPr lang="pt-BR" dirty="0"/>
              <a:t>. </a:t>
            </a:r>
          </a:p>
          <a:p>
            <a:r>
              <a:rPr lang="pt-BR" dirty="0"/>
              <a:t>Têm três partes fundamentais:</a:t>
            </a:r>
            <a:r>
              <a:rPr lang="pt-BR" b="1" dirty="0"/>
              <a:t> </a:t>
            </a:r>
          </a:p>
          <a:p>
            <a:pPr lvl="1">
              <a:buFont typeface="Wingdings" panose="05000000000000000000" pitchFamily="2" charset="2"/>
              <a:buChar char="§"/>
            </a:pPr>
            <a:r>
              <a:rPr lang="pt-BR" dirty="0"/>
              <a:t>os </a:t>
            </a:r>
            <a:r>
              <a:rPr lang="pt-BR" b="1" dirty="0"/>
              <a:t>dendritos</a:t>
            </a:r>
            <a:r>
              <a:rPr lang="pt-BR" dirty="0"/>
              <a:t>, </a:t>
            </a:r>
          </a:p>
          <a:p>
            <a:pPr lvl="1">
              <a:buFont typeface="Wingdings" panose="05000000000000000000" pitchFamily="2" charset="2"/>
              <a:buChar char="§"/>
            </a:pPr>
            <a:r>
              <a:rPr lang="pt-BR" dirty="0"/>
              <a:t>o </a:t>
            </a:r>
            <a:r>
              <a:rPr lang="pt-BR" b="1" dirty="0"/>
              <a:t>axônio com seus terminais</a:t>
            </a:r>
            <a:r>
              <a:rPr lang="pt-BR" dirty="0"/>
              <a:t> </a:t>
            </a:r>
          </a:p>
          <a:p>
            <a:pPr lvl="1">
              <a:buFont typeface="Wingdings" panose="05000000000000000000" pitchFamily="2" charset="2"/>
              <a:buChar char="§"/>
            </a:pPr>
            <a:r>
              <a:rPr lang="pt-BR" dirty="0"/>
              <a:t>e o </a:t>
            </a:r>
            <a:r>
              <a:rPr lang="pt-BR" b="1" dirty="0"/>
              <a:t>corpo celular</a:t>
            </a:r>
            <a:r>
              <a:rPr lang="pt-BR" dirty="0"/>
              <a:t>, também chamado de </a:t>
            </a:r>
            <a:r>
              <a:rPr lang="pt-BR" b="1" dirty="0">
                <a:solidFill>
                  <a:srgbClr val="00B050"/>
                </a:solidFill>
              </a:rPr>
              <a:t>soma</a:t>
            </a:r>
            <a:r>
              <a:rPr lang="pt-BR" dirty="0"/>
              <a:t>.</a:t>
            </a:r>
          </a:p>
        </p:txBody>
      </p:sp>
      <p:grpSp>
        <p:nvGrpSpPr>
          <p:cNvPr id="15" name="Agrupar 14">
            <a:extLst>
              <a:ext uri="{FF2B5EF4-FFF2-40B4-BE49-F238E27FC236}">
                <a16:creationId xmlns:a16="http://schemas.microsoft.com/office/drawing/2014/main" id="{969B708E-3193-1F66-DEDD-45860CC83E7A}"/>
              </a:ext>
            </a:extLst>
          </p:cNvPr>
          <p:cNvGrpSpPr/>
          <p:nvPr/>
        </p:nvGrpSpPr>
        <p:grpSpPr>
          <a:xfrm>
            <a:off x="137679" y="2146889"/>
            <a:ext cx="5701148" cy="3587746"/>
            <a:chOff x="-71873" y="2058398"/>
            <a:chExt cx="5701148" cy="3587746"/>
          </a:xfrm>
        </p:grpSpPr>
        <p:pic>
          <p:nvPicPr>
            <p:cNvPr id="4" name="Picture 6" descr="Explainer: What is a neuron? | Science News for Students">
              <a:extLst>
                <a:ext uri="{FF2B5EF4-FFF2-40B4-BE49-F238E27FC236}">
                  <a16:creationId xmlns:a16="http://schemas.microsoft.com/office/drawing/2014/main" id="{B71EEF35-963B-11CA-3796-3E1341DE944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9D747603-0B59-5C04-4746-FA2F84C8DFD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75991B08-99B1-965F-6DD9-2741F01C2027}"/>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488EDE88-85B2-C326-7AA1-70B6691CF7A8}"/>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C371989-0F76-A1F9-3B40-C00020C4BFD7}"/>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CD9064C4-44F7-CA0A-EF13-03B8F7EBE093}"/>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FA801F61-3CAE-EBF3-E882-8568DBBDF348}"/>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69AAFC83-7ECF-F778-6B16-BCB52B9C7818}"/>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2AE25DD5-437F-79AD-7C55-1EF2C6C9B3AA}"/>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3C48D98A-1A73-8DBC-2C97-869FA80E74E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96A6FE7-EBFD-C8E4-DAB3-88CF634D7210}"/>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15351473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4DD0B1-76D5-7A8B-8216-2E8B1EE1E23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BFFA193-3414-FBF2-A56E-F3D2A3820BF8}"/>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E3E38018-9693-6B2A-8D4F-68053D3B4C50}"/>
              </a:ext>
            </a:extLst>
          </p:cNvPr>
          <p:cNvSpPr>
            <a:spLocks noGrp="1"/>
          </p:cNvSpPr>
          <p:nvPr>
            <p:ph idx="1"/>
          </p:nvPr>
        </p:nvSpPr>
        <p:spPr>
          <a:xfrm>
            <a:off x="5629275" y="1825624"/>
            <a:ext cx="6425046" cy="5032375"/>
          </a:xfrm>
        </p:spPr>
        <p:txBody>
          <a:bodyPr>
            <a:normAutofit/>
          </a:bodyPr>
          <a:lstStyle/>
          <a:p>
            <a:r>
              <a:rPr lang="pt-BR" dirty="0"/>
              <a:t>Os </a:t>
            </a:r>
            <a:r>
              <a:rPr lang="pt-BR" b="1" dirty="0"/>
              <a:t>dendritos</a:t>
            </a:r>
            <a:r>
              <a:rPr lang="pt-BR" dirty="0"/>
              <a:t> </a:t>
            </a:r>
            <a:r>
              <a:rPr lang="pt-BR" b="1" dirty="0"/>
              <a:t>recebem</a:t>
            </a:r>
            <a:r>
              <a:rPr lang="pt-BR" dirty="0"/>
              <a:t> </a:t>
            </a:r>
            <a:r>
              <a:rPr lang="pt-BR" b="1" dirty="0"/>
              <a:t>estímulos </a:t>
            </a:r>
            <a:r>
              <a:rPr lang="pt-BR" dirty="0"/>
              <a:t>vindos</a:t>
            </a:r>
            <a:r>
              <a:rPr lang="pt-BR" b="1" dirty="0"/>
              <a:t> de outros neurônios </a:t>
            </a:r>
            <a:r>
              <a:rPr lang="pt-BR" dirty="0"/>
              <a:t>e os levam em direção ao </a:t>
            </a:r>
            <a:r>
              <a:rPr lang="pt-BR" b="1" dirty="0"/>
              <a:t>corpo celular</a:t>
            </a:r>
            <a:r>
              <a:rPr lang="pt-BR" dirty="0"/>
              <a:t>.</a:t>
            </a:r>
          </a:p>
          <a:p>
            <a:r>
              <a:rPr lang="pt-BR" dirty="0"/>
              <a:t>O </a:t>
            </a:r>
            <a:r>
              <a:rPr lang="pt-BR" b="1" dirty="0"/>
              <a:t>corpo celular</a:t>
            </a:r>
            <a:r>
              <a:rPr lang="pt-BR" dirty="0"/>
              <a:t> realiza a </a:t>
            </a:r>
            <a:r>
              <a:rPr lang="pt-BR" b="1" dirty="0">
                <a:solidFill>
                  <a:srgbClr val="7030A0"/>
                </a:solidFill>
              </a:rPr>
              <a:t>integração</a:t>
            </a:r>
            <a:r>
              <a:rPr lang="pt-BR" dirty="0"/>
              <a:t> dos </a:t>
            </a:r>
            <a:r>
              <a:rPr lang="pt-BR" b="1" dirty="0"/>
              <a:t>estímulos e gera impulsos</a:t>
            </a:r>
            <a:r>
              <a:rPr lang="pt-BR" dirty="0"/>
              <a:t> caso um limiar de ativação seja ultrapassado.</a:t>
            </a:r>
          </a:p>
          <a:p>
            <a:r>
              <a:rPr lang="pt-BR" dirty="0"/>
              <a:t>O </a:t>
            </a:r>
            <a:r>
              <a:rPr lang="pt-BR" b="1" dirty="0"/>
              <a:t>axônio</a:t>
            </a:r>
            <a:r>
              <a:rPr lang="pt-BR" dirty="0"/>
              <a:t> envia </a:t>
            </a:r>
            <a:r>
              <a:rPr lang="pt-BR" b="1" dirty="0"/>
              <a:t>impulsos</a:t>
            </a:r>
            <a:r>
              <a:rPr lang="pt-BR" dirty="0"/>
              <a:t> a outros neurônios através de seus </a:t>
            </a:r>
            <a:r>
              <a:rPr lang="pt-BR" b="1" dirty="0"/>
              <a:t>terminais</a:t>
            </a:r>
            <a:r>
              <a:rPr lang="pt-BR" dirty="0"/>
              <a:t>.</a:t>
            </a:r>
          </a:p>
        </p:txBody>
      </p:sp>
      <p:grpSp>
        <p:nvGrpSpPr>
          <p:cNvPr id="15" name="Agrupar 14">
            <a:extLst>
              <a:ext uri="{FF2B5EF4-FFF2-40B4-BE49-F238E27FC236}">
                <a16:creationId xmlns:a16="http://schemas.microsoft.com/office/drawing/2014/main" id="{B06885AF-BA09-B612-7B3F-5CE1E715686B}"/>
              </a:ext>
            </a:extLst>
          </p:cNvPr>
          <p:cNvGrpSpPr/>
          <p:nvPr/>
        </p:nvGrpSpPr>
        <p:grpSpPr>
          <a:xfrm>
            <a:off x="-71873" y="2058398"/>
            <a:ext cx="5701148" cy="3587746"/>
            <a:chOff x="-71873" y="2058398"/>
            <a:chExt cx="5701148" cy="3587746"/>
          </a:xfrm>
        </p:grpSpPr>
        <p:pic>
          <p:nvPicPr>
            <p:cNvPr id="4" name="Picture 6" descr="Explainer: What is a neuron? | Science News for Students">
              <a:extLst>
                <a:ext uri="{FF2B5EF4-FFF2-40B4-BE49-F238E27FC236}">
                  <a16:creationId xmlns:a16="http://schemas.microsoft.com/office/drawing/2014/main" id="{D3D27B0F-C933-8F86-50A2-A83292BA33E3}"/>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2E2226E9-735A-76E8-2F6A-44CFED44A218}"/>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B2E6D022-B6F2-7924-8357-122354EABF84}"/>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DF894B33-4236-A6DE-FFED-BE1227FB3384}"/>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ED7B8BB6-4ECF-00FC-BE89-05A2AB167FF9}"/>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49F9D227-8D26-59FD-4F22-3C9FB641BB2B}"/>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AD9F61F9-826E-F826-B809-AEA021036D53}"/>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2BA2AE87-F254-E293-0168-B4736AAAD24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5B4D901E-1539-EA12-5177-EF8F5025BA3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60BADF7A-2F33-2437-DC96-3F87C53B061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3DA66797-1BAF-F764-9644-96F00DECF7E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4327003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5690876" y="1825624"/>
            <a:ext cx="6501123" cy="5032375"/>
          </a:xfrm>
        </p:spPr>
        <p:txBody>
          <a:bodyPr>
            <a:normAutofit/>
          </a:bodyPr>
          <a:lstStyle/>
          <a:p>
            <a:r>
              <a:rPr lang="pt-BR" dirty="0"/>
              <a:t>Os neurônios se comunicam uns com os outros através das </a:t>
            </a:r>
            <a:r>
              <a:rPr lang="pt-BR" b="1" dirty="0"/>
              <a:t>sinapses</a:t>
            </a:r>
            <a:r>
              <a:rPr lang="pt-BR" dirty="0"/>
              <a:t>.</a:t>
            </a:r>
          </a:p>
          <a:p>
            <a:r>
              <a:rPr lang="pt-BR" b="1" dirty="0"/>
              <a:t>Sinapses</a:t>
            </a:r>
            <a:r>
              <a:rPr lang="pt-BR" dirty="0"/>
              <a:t> são os </a:t>
            </a:r>
            <a:r>
              <a:rPr lang="pt-BR" b="1" dirty="0"/>
              <a:t>pontos de contato </a:t>
            </a:r>
            <a:r>
              <a:rPr lang="pt-BR" dirty="0"/>
              <a:t>entre os </a:t>
            </a:r>
            <a:r>
              <a:rPr lang="pt-BR" b="1" dirty="0"/>
              <a:t>dentritos</a:t>
            </a:r>
            <a:r>
              <a:rPr lang="pt-BR" dirty="0"/>
              <a:t> de um neurônio e os </a:t>
            </a:r>
            <a:r>
              <a:rPr lang="pt-BR" b="1" dirty="0"/>
              <a:t>terminais do axônio </a:t>
            </a:r>
            <a:r>
              <a:rPr lang="pt-BR" dirty="0"/>
              <a:t>de outros neurônios.</a:t>
            </a:r>
          </a:p>
          <a:p>
            <a:r>
              <a:rPr lang="pt-BR" dirty="0"/>
              <a:t>As sinapses podem ser fortes ou fracas:</a:t>
            </a:r>
          </a:p>
          <a:p>
            <a:pPr lvl="1">
              <a:buFont typeface="Wingdings" panose="05000000000000000000" pitchFamily="2" charset="2"/>
              <a:buChar char="§"/>
            </a:pPr>
            <a:r>
              <a:rPr lang="pt-BR" b="1" dirty="0"/>
              <a:t>Forte</a:t>
            </a:r>
            <a:r>
              <a:rPr lang="pt-BR" dirty="0"/>
              <a:t>: a informação de um neurônio é importante para a ativação do próximo.</a:t>
            </a:r>
          </a:p>
          <a:p>
            <a:pPr lvl="1">
              <a:buFont typeface="Wingdings" panose="05000000000000000000" pitchFamily="2" charset="2"/>
              <a:buChar char="§"/>
            </a:pPr>
            <a:r>
              <a:rPr lang="pt-BR" b="1" dirty="0"/>
              <a:t>Fraca</a:t>
            </a:r>
            <a:r>
              <a:rPr lang="pt-BR" dirty="0"/>
              <a:t>: a informação de um neurônio não é tão importante para a ativação do próximo.</a:t>
            </a:r>
          </a:p>
        </p:txBody>
      </p:sp>
      <p:grpSp>
        <p:nvGrpSpPr>
          <p:cNvPr id="4" name="Agrupar 3">
            <a:extLst>
              <a:ext uri="{FF2B5EF4-FFF2-40B4-BE49-F238E27FC236}">
                <a16:creationId xmlns:a16="http://schemas.microsoft.com/office/drawing/2014/main" id="{2D96ECB5-848A-C88C-056F-52DA508E7224}"/>
              </a:ext>
            </a:extLst>
          </p:cNvPr>
          <p:cNvGrpSpPr/>
          <p:nvPr/>
        </p:nvGrpSpPr>
        <p:grpSpPr>
          <a:xfrm>
            <a:off x="363792" y="1836762"/>
            <a:ext cx="4788311" cy="2902483"/>
            <a:chOff x="-71873" y="2058398"/>
            <a:chExt cx="5701148" cy="3587746"/>
          </a:xfrm>
        </p:grpSpPr>
        <p:pic>
          <p:nvPicPr>
            <p:cNvPr id="6" name="Picture 6" descr="Explainer: What is a neuron? | Science News for Students">
              <a:extLst>
                <a:ext uri="{FF2B5EF4-FFF2-40B4-BE49-F238E27FC236}">
                  <a16:creationId xmlns:a16="http://schemas.microsoft.com/office/drawing/2014/main" id="{759A4CA3-01FF-6AF2-87C1-457853CE01F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1426AD33-5765-CC42-08C3-2BCF4841ED3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7" name="CaixaDeTexto 6">
                  <a:extLst>
                    <a:ext uri="{FF2B5EF4-FFF2-40B4-BE49-F238E27FC236}">
                      <a16:creationId xmlns:a16="http://schemas.microsoft.com/office/drawing/2014/main" id="{1426AD33-5765-CC42-08C3-2BCF4841ED3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3EB7877-CD22-CF2C-BF7F-0B3FC8CB3052}"/>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8" name="CaixaDeTexto 7">
                  <a:extLst>
                    <a:ext uri="{FF2B5EF4-FFF2-40B4-BE49-F238E27FC236}">
                      <a16:creationId xmlns:a16="http://schemas.microsoft.com/office/drawing/2014/main" id="{A3EB7877-CD22-CF2C-BF7F-0B3FC8CB3052}"/>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2804298E-F08E-8578-9080-ECAB4DAD1CDE}"/>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9" name="CaixaDeTexto 8">
                  <a:extLst>
                    <a:ext uri="{FF2B5EF4-FFF2-40B4-BE49-F238E27FC236}">
                      <a16:creationId xmlns:a16="http://schemas.microsoft.com/office/drawing/2014/main" id="{2804298E-F08E-8578-9080-ECAB4DAD1CDE}"/>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222E6389-02E2-B0D7-830F-E940B5FE6251}"/>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10" name="CaixaDeTexto 9">
                  <a:extLst>
                    <a:ext uri="{FF2B5EF4-FFF2-40B4-BE49-F238E27FC236}">
                      <a16:creationId xmlns:a16="http://schemas.microsoft.com/office/drawing/2014/main" id="{222E6389-02E2-B0D7-830F-E940B5FE6251}"/>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B42E4CAB-BAEC-70F9-C539-CC7474AF4E6E}"/>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11" name="CaixaDeTexto 10">
                  <a:extLst>
                    <a:ext uri="{FF2B5EF4-FFF2-40B4-BE49-F238E27FC236}">
                      <a16:creationId xmlns:a16="http://schemas.microsoft.com/office/drawing/2014/main" id="{B42E4CAB-BAEC-70F9-C539-CC7474AF4E6E}"/>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AB8D382C-F476-6225-C2D1-63AD58286DDF}"/>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2" name="CaixaDeTexto 11">
                  <a:extLst>
                    <a:ext uri="{FF2B5EF4-FFF2-40B4-BE49-F238E27FC236}">
                      <a16:creationId xmlns:a16="http://schemas.microsoft.com/office/drawing/2014/main" id="{AB8D382C-F476-6225-C2D1-63AD58286DDF}"/>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1A24BA65-3B24-6F73-B703-EE543DC29ED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1A24BA65-3B24-6F73-B703-EE543DC29EDF}"/>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744E9EED-B077-89E6-B9E6-CD6C5BD17DE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744E9EED-B077-89E6-B9E6-CD6C5BD17DE2}"/>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092CAD5F-0BF8-939D-F4EC-0F88C1A87020}"/>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5" name="CaixaDeTexto 14">
                  <a:extLst>
                    <a:ext uri="{FF2B5EF4-FFF2-40B4-BE49-F238E27FC236}">
                      <a16:creationId xmlns:a16="http://schemas.microsoft.com/office/drawing/2014/main" id="{092CAD5F-0BF8-939D-F4EC-0F88C1A87020}"/>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0569B0F1-5032-81E0-38FD-0E985591A83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6" name="CaixaDeTexto 15">
                  <a:extLst>
                    <a:ext uri="{FF2B5EF4-FFF2-40B4-BE49-F238E27FC236}">
                      <a16:creationId xmlns:a16="http://schemas.microsoft.com/office/drawing/2014/main" id="{0569B0F1-5032-81E0-38FD-0E985591A83A}"/>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pic>
        <p:nvPicPr>
          <p:cNvPr id="1026" name="Picture 2" descr="Sinapses: Partes, Funções e Tipos de sinapses - Psicoativo ...">
            <a:extLst>
              <a:ext uri="{FF2B5EF4-FFF2-40B4-BE49-F238E27FC236}">
                <a16:creationId xmlns:a16="http://schemas.microsoft.com/office/drawing/2014/main" id="{DAF695C8-FDDC-46FC-779C-6B1769BDD492}"/>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2034116" y="4950974"/>
            <a:ext cx="3060008" cy="18207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02288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5629275" y="1825624"/>
            <a:ext cx="6425046" cy="5032375"/>
          </a:xfrm>
        </p:spPr>
        <p:txBody>
          <a:bodyPr>
            <a:normAutofit/>
          </a:bodyPr>
          <a:lstStyle/>
          <a:p>
            <a:r>
              <a:rPr lang="pt-BR" dirty="0"/>
              <a:t>Em termos bem simples, o </a:t>
            </a:r>
            <a:r>
              <a:rPr lang="pt-BR" b="1" dirty="0"/>
              <a:t>neurônio </a:t>
            </a:r>
            <a:r>
              <a:rPr lang="pt-BR" dirty="0"/>
              <a:t>funciona da seguinte forma:</a:t>
            </a:r>
          </a:p>
          <a:p>
            <a:pPr lvl="1">
              <a:buFont typeface="Wingdings" panose="05000000000000000000" pitchFamily="2" charset="2"/>
              <a:buChar char="§"/>
            </a:pPr>
            <a:r>
              <a:rPr lang="pt-BR" dirty="0"/>
              <a:t>Ele </a:t>
            </a:r>
            <a:r>
              <a:rPr lang="pt-BR" b="1" dirty="0"/>
              <a:t>recebe estímulos elétricos</a:t>
            </a:r>
            <a:r>
              <a:rPr lang="pt-BR" dirty="0"/>
              <a:t> através dos dendritos.</a:t>
            </a:r>
          </a:p>
          <a:p>
            <a:pPr lvl="1">
              <a:buFont typeface="Wingdings" panose="05000000000000000000" pitchFamily="2" charset="2"/>
              <a:buChar char="§"/>
            </a:pPr>
            <a:r>
              <a:rPr lang="pt-BR" dirty="0"/>
              <a:t>Esses </a:t>
            </a:r>
            <a:r>
              <a:rPr lang="pt-BR" b="1" dirty="0"/>
              <a:t>estímulos são integrados </a:t>
            </a:r>
            <a:r>
              <a:rPr lang="pt-BR" dirty="0"/>
              <a:t>no corpo celular (soma).</a:t>
            </a:r>
          </a:p>
          <a:p>
            <a:pPr lvl="1">
              <a:buFont typeface="Wingdings" panose="05000000000000000000" pitchFamily="2" charset="2"/>
              <a:buChar char="§"/>
            </a:pPr>
            <a:r>
              <a:rPr lang="pt-BR" dirty="0"/>
              <a:t>Se a </a:t>
            </a:r>
            <a:r>
              <a:rPr lang="pt-BR" b="1" dirty="0"/>
              <a:t>integração dos estímulos </a:t>
            </a:r>
            <a:r>
              <a:rPr lang="pt-BR" dirty="0"/>
              <a:t>exceder um certo </a:t>
            </a:r>
            <a:r>
              <a:rPr lang="pt-BR" b="1" dirty="0"/>
              <a:t>limiar de ativação</a:t>
            </a:r>
            <a:r>
              <a:rPr lang="pt-BR" dirty="0"/>
              <a:t>, o </a:t>
            </a:r>
            <a:r>
              <a:rPr lang="pt-BR" b="1" dirty="0"/>
              <a:t>neurônio</a:t>
            </a:r>
            <a:r>
              <a:rPr lang="pt-BR" dirty="0"/>
              <a:t> gera um </a:t>
            </a:r>
            <a:r>
              <a:rPr lang="pt-BR" b="1" dirty="0"/>
              <a:t>impulso</a:t>
            </a:r>
            <a:r>
              <a:rPr lang="pt-BR" dirty="0"/>
              <a:t> (ou </a:t>
            </a:r>
            <a:r>
              <a:rPr lang="pt-BR" b="1" dirty="0"/>
              <a:t>potencial de ação</a:t>
            </a:r>
            <a:r>
              <a:rPr lang="pt-BR" dirty="0"/>
              <a:t>) que é enviado pelos terminais do axônio a outros neurônios através das </a:t>
            </a:r>
            <a:r>
              <a:rPr lang="pt-BR" b="1" dirty="0"/>
              <a:t>sinapses</a:t>
            </a:r>
            <a:r>
              <a:rPr lang="pt-BR" dirty="0"/>
              <a:t>.</a:t>
            </a:r>
          </a:p>
        </p:txBody>
      </p:sp>
      <p:pic>
        <p:nvPicPr>
          <p:cNvPr id="4" name="Picture 4" descr="4 -Potencial de ação em um membrana celular neuronal. | Download ...">
            <a:extLst>
              <a:ext uri="{FF2B5EF4-FFF2-40B4-BE49-F238E27FC236}">
                <a16:creationId xmlns:a16="http://schemas.microsoft.com/office/drawing/2014/main" id="{8D8030FA-31D6-D143-F6AE-EAED513397D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21" t="7550" r="2824"/>
          <a:stretch/>
        </p:blipFill>
        <p:spPr bwMode="auto">
          <a:xfrm>
            <a:off x="602702" y="1970958"/>
            <a:ext cx="4616997" cy="43927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940116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7AD301D6-DB59-55AE-6500-3F2B8EBC51E6}"/>
              </a:ext>
            </a:extLst>
          </p:cNvPr>
          <p:cNvSpPr>
            <a:spLocks noGrp="1"/>
          </p:cNvSpPr>
          <p:nvPr>
            <p:ph idx="1"/>
          </p:nvPr>
        </p:nvSpPr>
        <p:spPr>
          <a:xfrm>
            <a:off x="6400800" y="1690688"/>
            <a:ext cx="5676900" cy="5167312"/>
          </a:xfrm>
        </p:spPr>
        <p:txBody>
          <a:bodyPr>
            <a:normAutofit/>
          </a:bodyPr>
          <a:lstStyle/>
          <a:p>
            <a:r>
              <a:rPr lang="pt-BR" dirty="0"/>
              <a:t>Baseado no entendimento do funcionamento do neurônio biológico, a partir de </a:t>
            </a:r>
            <a:r>
              <a:rPr lang="pt-BR" b="1" dirty="0">
                <a:solidFill>
                  <a:schemeClr val="accent2"/>
                </a:solidFill>
              </a:rPr>
              <a:t>meados da década de 40</a:t>
            </a:r>
            <a:r>
              <a:rPr lang="pt-BR" dirty="0"/>
              <a:t>, pesquisadores propuseram o </a:t>
            </a:r>
            <a:r>
              <a:rPr lang="pt-BR" b="1" dirty="0">
                <a:solidFill>
                  <a:schemeClr val="accent2"/>
                </a:solidFill>
              </a:rPr>
              <a:t>modelo matemático ao lado</a:t>
            </a:r>
            <a:r>
              <a:rPr lang="pt-BR" dirty="0"/>
              <a:t>. </a:t>
            </a:r>
          </a:p>
          <a:p>
            <a:pPr lvl="1">
              <a:buFont typeface="Wingdings" panose="05000000000000000000" pitchFamily="2" charset="2"/>
              <a:buChar char="§"/>
            </a:pPr>
            <a:r>
              <a:rPr lang="pt-BR" b="0" dirty="0">
                <a:effectLst/>
              </a:rPr>
              <a:t>É uma </a:t>
            </a:r>
            <a:r>
              <a:rPr lang="pt-BR" b="1" dirty="0">
                <a:solidFill>
                  <a:srgbClr val="7030A0"/>
                </a:solidFill>
                <a:effectLst/>
              </a:rPr>
              <a:t>simplificação e abstração</a:t>
            </a:r>
            <a:r>
              <a:rPr lang="pt-BR" b="1" dirty="0">
                <a:effectLst/>
              </a:rPr>
              <a:t> </a:t>
            </a:r>
            <a:r>
              <a:rPr lang="pt-BR" b="0" dirty="0">
                <a:effectLst/>
              </a:rPr>
              <a:t>do funcionamento do neurônio biológico.</a:t>
            </a:r>
          </a:p>
          <a:p>
            <a:pPr marL="457200" lvl="1" indent="0">
              <a:buNone/>
            </a:pPr>
            <a:endParaRPr lang="pt-BR" dirty="0"/>
          </a:p>
          <a:p>
            <a:pPr marL="0" indent="0" algn="ctr">
              <a:buNone/>
            </a:pPr>
            <a:r>
              <a:rPr lang="pt-BR" b="1" i="0" dirty="0">
                <a:solidFill>
                  <a:schemeClr val="accent5"/>
                </a:solidFill>
                <a:effectLst/>
              </a:rPr>
              <a:t>Qual modelo de ML aprendido anteriormente se assemelha ao neurônio artificial?</a:t>
            </a:r>
          </a:p>
        </p:txBody>
      </p:sp>
      <p:sp>
        <p:nvSpPr>
          <p:cNvPr id="4" name="CaixaDeTexto 3">
            <a:extLst>
              <a:ext uri="{FF2B5EF4-FFF2-40B4-BE49-F238E27FC236}">
                <a16:creationId xmlns:a16="http://schemas.microsoft.com/office/drawing/2014/main" id="{B5A39511-41F6-F4F1-BA3F-9A287C51C073}"/>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41ABEAFF-7ECD-135B-8EF6-58A24C4B6265}"/>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915A98D5-4C5C-C265-4A66-A4312517AAB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25294160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EAE50-5495-75C5-9691-395BA965FA7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09AB997-D8A8-AA26-EB29-95F7B23FC39C}"/>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58573E3-61FC-8F02-6F46-01A6D8E3F15D}"/>
                  </a:ext>
                </a:extLst>
              </p:cNvPr>
              <p:cNvSpPr>
                <a:spLocks noGrp="1"/>
              </p:cNvSpPr>
              <p:nvPr>
                <p:ph idx="1"/>
              </p:nvPr>
            </p:nvSpPr>
            <p:spPr>
              <a:xfrm>
                <a:off x="6213764" y="1690688"/>
                <a:ext cx="5889634" cy="5167312"/>
              </a:xfrm>
            </p:spPr>
            <p:txBody>
              <a:bodyPr>
                <a:normAutofit/>
              </a:bodyPr>
              <a:lstStyle/>
              <a:p>
                <a:r>
                  <a:rPr lang="pt-BR" dirty="0"/>
                  <a:t>O neurônio se assemelha ao </a:t>
                </a:r>
                <a:r>
                  <a:rPr lang="pt-BR" b="1" dirty="0">
                    <a:solidFill>
                      <a:schemeClr val="accent2"/>
                    </a:solidFill>
                  </a:rPr>
                  <a:t>regressor logístico</a:t>
                </a:r>
                <a:r>
                  <a:rPr lang="pt-BR" dirty="0"/>
                  <a:t>.</a:t>
                </a:r>
              </a:p>
              <a:p>
                <a:r>
                  <a:rPr lang="pt-BR" dirty="0"/>
                  <a:t>Os </a:t>
                </a:r>
                <a:r>
                  <a:rPr lang="pt-BR" b="1" dirty="0"/>
                  <a:t>estímulos</a:t>
                </a:r>
                <a:r>
                  <a:rPr lang="pt-BR" dirty="0"/>
                  <a:t>, </a:t>
                </a:r>
                <a14:m>
                  <m:oMath xmlns:m="http://schemas.openxmlformats.org/officeDocument/2006/math">
                    <m:sSub>
                      <m:sSubPr>
                        <m:ctrlPr>
                          <a:rPr lang="pt-BR" sz="2400" i="1" smtClean="0">
                            <a:latin typeface="Cambria Math" panose="02040503050406030204" pitchFamily="18" charset="0"/>
                          </a:rPr>
                        </m:ctrlPr>
                      </m:sSubPr>
                      <m:e>
                        <m:r>
                          <a:rPr lang="pt-BR" sz="2400" b="0" i="1" smtClean="0">
                            <a:latin typeface="Cambria Math" panose="02040503050406030204" pitchFamily="18" charset="0"/>
                          </a:rPr>
                          <m:t>𝑥</m:t>
                        </m:r>
                      </m:e>
                      <m:sub>
                        <m:r>
                          <a:rPr lang="pt-BR" sz="2400" b="0" i="1" smtClean="0">
                            <a:latin typeface="Cambria Math" panose="02040503050406030204" pitchFamily="18" charset="0"/>
                          </a:rPr>
                          <m:t>𝑘</m:t>
                        </m:r>
                      </m:sub>
                    </m:sSub>
                    <m:r>
                      <a:rPr lang="pt-BR" sz="2400" b="0" i="1" smtClean="0">
                        <a:latin typeface="Cambria Math" panose="02040503050406030204" pitchFamily="18" charset="0"/>
                      </a:rPr>
                      <m:t>, </m:t>
                    </m:r>
                    <m:r>
                      <a:rPr lang="pt-BR" sz="2400" b="0" i="1" smtClean="0">
                        <a:latin typeface="Cambria Math" panose="02040503050406030204" pitchFamily="18" charset="0"/>
                      </a:rPr>
                      <m:t>𝑘</m:t>
                    </m:r>
                    <m:r>
                      <a:rPr lang="pt-BR" sz="2400" b="0" i="1" smtClean="0">
                        <a:latin typeface="Cambria Math" panose="02040503050406030204" pitchFamily="18" charset="0"/>
                      </a:rPr>
                      <m:t>=1,…, </m:t>
                    </m:r>
                    <m:r>
                      <a:rPr lang="pt-BR" sz="2400" b="0" i="1" smtClean="0">
                        <a:latin typeface="Cambria Math" panose="02040503050406030204" pitchFamily="18" charset="0"/>
                      </a:rPr>
                      <m:t>𝐾</m:t>
                    </m:r>
                  </m:oMath>
                </a14:m>
                <a:r>
                  <a:rPr lang="pt-BR" dirty="0"/>
                  <a:t>, são </a:t>
                </a:r>
                <a:r>
                  <a:rPr lang="pt-BR" b="1" dirty="0"/>
                  <a:t>multiplicados</a:t>
                </a:r>
                <a:r>
                  <a:rPr lang="pt-BR" dirty="0"/>
                  <a:t> pelos </a:t>
                </a:r>
                <a:r>
                  <a:rPr lang="pt-BR" b="1" dirty="0"/>
                  <a:t>pesos sinápticos</a:t>
                </a:r>
                <a:r>
                  <a:rPr lang="pt-BR" dirty="0"/>
                  <a:t>,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somados ao </a:t>
                </a:r>
                <a:r>
                  <a:rPr lang="pt-BR" b="1" dirty="0"/>
                  <a:t>peso de bias</a:t>
                </a:r>
                <a:r>
                  <a:rPr lang="pt-BR" dirty="0"/>
                  <a:t>, </a:t>
                </a:r>
                <a14:m>
                  <m:oMath xmlns:m="http://schemas.openxmlformats.org/officeDocument/2006/math">
                    <m:r>
                      <a:rPr lang="pt-BR" b="0" i="1" smtClean="0">
                        <a:latin typeface="Cambria Math" panose="02040503050406030204" pitchFamily="18" charset="0"/>
                      </a:rPr>
                      <m:t>𝑏</m:t>
                    </m:r>
                  </m:oMath>
                </a14:m>
                <a:r>
                  <a:rPr lang="pt-BR" dirty="0"/>
                  <a:t>,</a:t>
                </a:r>
                <a:r>
                  <a:rPr lang="pt-BR" b="1" i="1" dirty="0"/>
                  <a:t> </a:t>
                </a:r>
                <a:r>
                  <a:rPr lang="pt-BR" dirty="0"/>
                  <a:t>e o resultado, </a:t>
                </a:r>
                <a14:m>
                  <m:oMath xmlns:m="http://schemas.openxmlformats.org/officeDocument/2006/math">
                    <m:r>
                      <a:rPr lang="pt-BR" b="0" i="1" smtClean="0">
                        <a:latin typeface="Cambria Math" panose="02040503050406030204" pitchFamily="18" charset="0"/>
                      </a:rPr>
                      <m:t>𝑔</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é passado através de uma </a:t>
                </a:r>
                <a:r>
                  <a:rPr lang="pt-BR" b="1" dirty="0"/>
                  <a:t>função de ativação</a:t>
                </a:r>
                <a:r>
                  <a:rPr lang="pt-BR" dirty="0"/>
                  <a:t>,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p:txBody>
          </p:sp>
        </mc:Choice>
        <mc:Fallback xmlns="">
          <p:sp>
            <p:nvSpPr>
              <p:cNvPr id="3" name="Espaço Reservado para Conteúdo 2">
                <a:extLst>
                  <a:ext uri="{FF2B5EF4-FFF2-40B4-BE49-F238E27FC236}">
                    <a16:creationId xmlns:a16="http://schemas.microsoft.com/office/drawing/2014/main" id="{B58573E3-61FC-8F02-6F46-01A6D8E3F15D}"/>
                  </a:ext>
                </a:extLst>
              </p:cNvPr>
              <p:cNvSpPr>
                <a:spLocks noGrp="1" noRot="1" noChangeAspect="1" noMove="1" noResize="1" noEditPoints="1" noAdjustHandles="1" noChangeArrowheads="1" noChangeShapeType="1" noTextEdit="1"/>
              </p:cNvSpPr>
              <p:nvPr>
                <p:ph idx="1"/>
              </p:nvPr>
            </p:nvSpPr>
            <p:spPr>
              <a:xfrm>
                <a:off x="6213764" y="1690688"/>
                <a:ext cx="5889634" cy="5167312"/>
              </a:xfrm>
              <a:blipFill>
                <a:blip r:embed="rId3"/>
                <a:stretch>
                  <a:fillRect l="-1863" t="-1887" r="-2588"/>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id="{FD879E17-EEA8-4950-0713-AA317B93A727}"/>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F8583CA1-6E5A-CEDB-4A21-283F0226095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BF77C47B-9D4B-7386-4959-F4BDEF86CC9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13537669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E58D1-11D9-351C-CF04-51B9533F4DC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E70D167-40D0-47EA-7A89-B67F251FEFB1}"/>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0D2BC11-4A17-8912-4A6C-7F2D0605D26C}"/>
                  </a:ext>
                </a:extLst>
              </p:cNvPr>
              <p:cNvSpPr>
                <a:spLocks noGrp="1"/>
              </p:cNvSpPr>
              <p:nvPr>
                <p:ph idx="1"/>
              </p:nvPr>
            </p:nvSpPr>
            <p:spPr>
              <a:xfrm>
                <a:off x="6421582" y="1690688"/>
                <a:ext cx="5770418" cy="5167312"/>
              </a:xfrm>
            </p:spPr>
            <p:txBody>
              <a:bodyPr>
                <a:normAutofit/>
              </a:bodyPr>
              <a:lstStyle/>
              <a:p>
                <a:r>
                  <a:rPr lang="pt-BR" dirty="0"/>
                  <a:t>No contexto de redes neurais os estímulos,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são chamados de </a:t>
                </a:r>
                <a:r>
                  <a:rPr lang="pt-BR" b="1" dirty="0">
                    <a:solidFill>
                      <a:srgbClr val="7030A0"/>
                    </a:solidFill>
                  </a:rPr>
                  <a:t>atributos</a:t>
                </a:r>
                <a:r>
                  <a:rPr lang="pt-BR" dirty="0"/>
                  <a:t>.</a:t>
                </a:r>
              </a:p>
              <a:p>
                <a:r>
                  <a:rPr lang="pt-BR" dirty="0"/>
                  <a:t>O </a:t>
                </a:r>
                <a:r>
                  <a:rPr lang="pt-BR" b="1" dirty="0">
                    <a:solidFill>
                      <a:srgbClr val="00B050"/>
                    </a:solidFill>
                  </a:rPr>
                  <a:t>peso de bias</a:t>
                </a:r>
                <a:r>
                  <a:rPr lang="pt-BR" dirty="0"/>
                  <a:t>, </a:t>
                </a:r>
                <a14:m>
                  <m:oMath xmlns:m="http://schemas.openxmlformats.org/officeDocument/2006/math">
                    <m:r>
                      <a:rPr lang="pt-BR" i="1">
                        <a:latin typeface="Cambria Math" panose="02040503050406030204" pitchFamily="18" charset="0"/>
                      </a:rPr>
                      <m:t>𝑏</m:t>
                    </m:r>
                  </m:oMath>
                </a14:m>
                <a:r>
                  <a:rPr lang="pt-BR" dirty="0"/>
                  <a:t>,</a:t>
                </a:r>
                <a:r>
                  <a:rPr lang="pt-BR" b="1" dirty="0"/>
                  <a:t> </a:t>
                </a:r>
                <a:r>
                  <a:rPr lang="pt-BR" dirty="0"/>
                  <a:t>permite </a:t>
                </a:r>
                <a:r>
                  <a:rPr lang="pt-BR" b="1" dirty="0"/>
                  <a:t>ajustar o limiar de ativação</a:t>
                </a:r>
                <a:r>
                  <a:rPr lang="pt-BR" dirty="0"/>
                  <a:t> (ou ponto de disparo) da função de ativação </a:t>
                </a:r>
                <a:r>
                  <a:rPr lang="pt-BR" b="1" dirty="0"/>
                  <a:t>do neurônio</a:t>
                </a:r>
                <a:r>
                  <a:rPr lang="pt-BR" dirty="0"/>
                  <a:t>.</a:t>
                </a:r>
              </a:p>
              <a:p>
                <a:r>
                  <a:rPr lang="pt-BR" dirty="0"/>
                  <a:t>Os </a:t>
                </a:r>
                <a:r>
                  <a:rPr lang="pt-BR" b="1" dirty="0">
                    <a:solidFill>
                      <a:srgbClr val="00B050"/>
                    </a:solidFill>
                  </a:rPr>
                  <a:t>pesos sinápticos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oMath>
                </a14:m>
                <a:r>
                  <a:rPr lang="pt-BR" dirty="0"/>
                  <a:t>dão a </a:t>
                </a:r>
                <a:r>
                  <a:rPr lang="pt-BR" b="1" dirty="0">
                    <a:solidFill>
                      <a:srgbClr val="7030A0"/>
                    </a:solidFill>
                  </a:rPr>
                  <a:t>força de cada conexão</a:t>
                </a:r>
                <a:r>
                  <a:rPr lang="pt-BR" dirty="0"/>
                  <a:t> e se ela é </a:t>
                </a:r>
                <a:r>
                  <a:rPr lang="pt-BR" b="1" dirty="0">
                    <a:solidFill>
                      <a:schemeClr val="accent2"/>
                    </a:solidFill>
                  </a:rPr>
                  <a:t>excitatória ou inibitória</a:t>
                </a:r>
                <a:r>
                  <a:rPr lang="pt-BR" dirty="0"/>
                  <a:t>.</a:t>
                </a:r>
              </a:p>
              <a:p>
                <a:r>
                  <a:rPr lang="pt-BR" dirty="0"/>
                  <a:t>A média ponderada dos atributos, </a:t>
                </a:r>
                <a14:m>
                  <m:oMath xmlns:m="http://schemas.openxmlformats.org/officeDocument/2006/math">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pt-BR" dirty="0"/>
                  <a:t>, é chamada de </a:t>
                </a:r>
                <a:r>
                  <a:rPr lang="pt-BR" b="1" dirty="0">
                    <a:solidFill>
                      <a:srgbClr val="00B050"/>
                    </a:solidFill>
                  </a:rPr>
                  <a:t>ativação</a:t>
                </a:r>
                <a:r>
                  <a:rPr lang="pt-BR" dirty="0"/>
                  <a:t>.</a:t>
                </a:r>
              </a:p>
            </p:txBody>
          </p:sp>
        </mc:Choice>
        <mc:Fallback xmlns="">
          <p:sp>
            <p:nvSpPr>
              <p:cNvPr id="3" name="Espaço Reservado para Conteúdo 2">
                <a:extLst>
                  <a:ext uri="{FF2B5EF4-FFF2-40B4-BE49-F238E27FC236}">
                    <a16:creationId xmlns:a16="http://schemas.microsoft.com/office/drawing/2014/main" id="{00D2BC11-4A17-8912-4A6C-7F2D0605D26C}"/>
                  </a:ext>
                </a:extLst>
              </p:cNvPr>
              <p:cNvSpPr>
                <a:spLocks noGrp="1" noRot="1" noChangeAspect="1" noMove="1" noResize="1" noEditPoints="1" noAdjustHandles="1" noChangeArrowheads="1" noChangeShapeType="1" noTextEdit="1"/>
              </p:cNvSpPr>
              <p:nvPr>
                <p:ph idx="1"/>
              </p:nvPr>
            </p:nvSpPr>
            <p:spPr>
              <a:xfrm>
                <a:off x="6421582" y="1690688"/>
                <a:ext cx="5770418" cy="5167312"/>
              </a:xfrm>
              <a:blipFill>
                <a:blip r:embed="rId3"/>
                <a:stretch>
                  <a:fillRect l="-1901" t="-1887" r="-1056" b="-1651"/>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id="{17377B3E-628A-22E0-9088-A729A7D05D14}"/>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64CA71CD-4E19-DB03-124F-334C4208F8B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4E0E7932-C669-28EE-149A-C621C39B1B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30132753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7AD301D6-DB59-55AE-6500-3F2B8EBC51E6}"/>
              </a:ext>
            </a:extLst>
          </p:cNvPr>
          <p:cNvSpPr>
            <a:spLocks noGrp="1"/>
          </p:cNvSpPr>
          <p:nvPr>
            <p:ph idx="1"/>
          </p:nvPr>
        </p:nvSpPr>
        <p:spPr>
          <a:xfrm>
            <a:off x="5819775" y="1825624"/>
            <a:ext cx="6296025" cy="5032376"/>
          </a:xfrm>
        </p:spPr>
        <p:txBody>
          <a:bodyPr>
            <a:normAutofit/>
          </a:bodyPr>
          <a:lstStyle/>
          <a:p>
            <a:r>
              <a:rPr lang="pt-BR" dirty="0">
                <a:solidFill>
                  <a:schemeClr val="tx1"/>
                </a:solidFill>
              </a:rPr>
              <a:t>No início dos estudos dos neurônios, a </a:t>
            </a:r>
            <a:r>
              <a:rPr lang="pt-BR" b="1" dirty="0">
                <a:solidFill>
                  <a:schemeClr val="tx1"/>
                </a:solidFill>
              </a:rPr>
              <a:t>função de ativação </a:t>
            </a:r>
            <a:r>
              <a:rPr lang="pt-BR" dirty="0">
                <a:solidFill>
                  <a:schemeClr val="tx1"/>
                </a:solidFill>
              </a:rPr>
              <a:t>era do tipo </a:t>
            </a:r>
            <a:r>
              <a:rPr lang="pt-BR" b="1" dirty="0">
                <a:solidFill>
                  <a:schemeClr val="tx1"/>
                </a:solidFill>
              </a:rPr>
              <a:t>tudo-ou</a:t>
            </a:r>
            <a:r>
              <a:rPr lang="pt-BR" b="1" dirty="0"/>
              <a:t>-</a:t>
            </a:r>
            <a:r>
              <a:rPr lang="pt-BR" b="1" dirty="0">
                <a:solidFill>
                  <a:schemeClr val="tx1"/>
                </a:solidFill>
              </a:rPr>
              <a:t>nada</a:t>
            </a:r>
            <a:r>
              <a:rPr lang="pt-BR" dirty="0">
                <a:solidFill>
                  <a:schemeClr val="tx1"/>
                </a:solidFill>
              </a:rPr>
              <a:t>, i.e., ativava ou não.</a:t>
            </a:r>
          </a:p>
          <a:p>
            <a:pPr lvl="1">
              <a:buFont typeface="Wingdings" panose="05000000000000000000" pitchFamily="2" charset="2"/>
              <a:buChar char="§"/>
            </a:pPr>
            <a:r>
              <a:rPr lang="pt-BR" dirty="0"/>
              <a:t>Em outras palavras, era um </a:t>
            </a:r>
            <a:r>
              <a:rPr lang="pt-BR" dirty="0">
                <a:solidFill>
                  <a:schemeClr val="tx1"/>
                </a:solidFill>
              </a:rPr>
              <a:t>degrau unitário</a:t>
            </a:r>
            <a:r>
              <a:rPr lang="pt-BR" dirty="0"/>
              <a:t>.</a:t>
            </a:r>
            <a:endParaRPr lang="pt-BR" dirty="0">
              <a:solidFill>
                <a:schemeClr val="tx1"/>
              </a:solidFill>
            </a:endParaRPr>
          </a:p>
          <a:p>
            <a:r>
              <a:rPr lang="pt-BR" dirty="0">
                <a:solidFill>
                  <a:schemeClr val="tx1"/>
                </a:solidFill>
              </a:rPr>
              <a:t>Entretanto, ela não é usada </a:t>
            </a:r>
            <a:r>
              <a:rPr lang="pt-BR" dirty="0"/>
              <a:t>porque sua </a:t>
            </a:r>
            <a:r>
              <a:rPr lang="pt-BR" b="1" dirty="0">
                <a:solidFill>
                  <a:srgbClr val="7030A0"/>
                </a:solidFill>
              </a:rPr>
              <a:t>derivada é zero </a:t>
            </a:r>
            <a:r>
              <a:rPr lang="pt-BR" dirty="0"/>
              <a:t>em quase todos os pontos.</a:t>
            </a:r>
          </a:p>
          <a:p>
            <a:r>
              <a:rPr lang="pt-BR" dirty="0"/>
              <a:t>Isso </a:t>
            </a:r>
            <a:r>
              <a:rPr lang="pt-BR" b="1" dirty="0">
                <a:solidFill>
                  <a:srgbClr val="7030A0"/>
                </a:solidFill>
              </a:rPr>
              <a:t>impede o ajuste dos pesos </a:t>
            </a:r>
            <a:r>
              <a:rPr lang="pt-BR" dirty="0"/>
              <a:t>pelo algoritmo de </a:t>
            </a:r>
            <a:r>
              <a:rPr lang="pt-BR" b="1" dirty="0">
                <a:solidFill>
                  <a:srgbClr val="7030A0"/>
                </a:solidFill>
              </a:rPr>
              <a:t>gradiente descendente</a:t>
            </a:r>
            <a:r>
              <a:rPr lang="pt-BR" dirty="0"/>
              <a:t>.</a:t>
            </a:r>
            <a:endParaRPr lang="pt-BR" dirty="0">
              <a:solidFill>
                <a:schemeClr val="tx1"/>
              </a:solidFill>
            </a:endParaRPr>
          </a:p>
        </p:txBody>
      </p:sp>
      <p:sp>
        <p:nvSpPr>
          <p:cNvPr id="7" name="Rectangle 6">
            <a:extLst>
              <a:ext uri="{FF2B5EF4-FFF2-40B4-BE49-F238E27FC236}">
                <a16:creationId xmlns:a16="http://schemas.microsoft.com/office/drawing/2014/main" id="{5EB97E14-ADB4-BA5D-F1FE-546C74193E47}"/>
              </a:ext>
            </a:extLst>
          </p:cNvPr>
          <p:cNvSpPr/>
          <p:nvPr/>
        </p:nvSpPr>
        <p:spPr>
          <a:xfrm>
            <a:off x="2947713" y="3114699"/>
            <a:ext cx="2062156" cy="584775"/>
          </a:xfrm>
          <a:prstGeom prst="rect">
            <a:avLst/>
          </a:prstGeom>
        </p:spPr>
        <p:txBody>
          <a:bodyPr wrap="square">
            <a:spAutoFit/>
          </a:bodyPr>
          <a:lstStyle/>
          <a:p>
            <a:pPr algn="ctr"/>
            <a:r>
              <a:rPr lang="pt-BR" sz="1600" b="1" i="1" dirty="0"/>
              <a:t>função de ativação “tudo-ou-nada”</a:t>
            </a:r>
            <a:endParaRPr lang="pt-BR" sz="1600" dirty="0"/>
          </a:p>
        </p:txBody>
      </p:sp>
      <p:grpSp>
        <p:nvGrpSpPr>
          <p:cNvPr id="4" name="Group 5">
            <a:extLst>
              <a:ext uri="{FF2B5EF4-FFF2-40B4-BE49-F238E27FC236}">
                <a16:creationId xmlns:a16="http://schemas.microsoft.com/office/drawing/2014/main" id="{B5E8039F-CECC-21DA-E60C-3E21A07C8086}"/>
              </a:ext>
            </a:extLst>
          </p:cNvPr>
          <p:cNvGrpSpPr/>
          <p:nvPr/>
        </p:nvGrpSpPr>
        <p:grpSpPr>
          <a:xfrm>
            <a:off x="992380" y="3094415"/>
            <a:ext cx="3142324" cy="1550303"/>
            <a:chOff x="511819" y="4987108"/>
            <a:chExt cx="3142324" cy="1550303"/>
          </a:xfrm>
        </p:grpSpPr>
        <p:cxnSp>
          <p:nvCxnSpPr>
            <p:cNvPr id="5" name="Straight Arrow Connector 6">
              <a:extLst>
                <a:ext uri="{FF2B5EF4-FFF2-40B4-BE49-F238E27FC236}">
                  <a16:creationId xmlns:a16="http://schemas.microsoft.com/office/drawing/2014/main" id="{F447FC66-7200-CC38-B1FE-B168EAF52462}"/>
                </a:ext>
              </a:extLst>
            </p:cNvPr>
            <p:cNvCxnSpPr/>
            <p:nvPr/>
          </p:nvCxnSpPr>
          <p:spPr>
            <a:xfrm flipV="1">
              <a:off x="1038293" y="5156782"/>
              <a:ext cx="0" cy="10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7">
              <a:extLst>
                <a:ext uri="{FF2B5EF4-FFF2-40B4-BE49-F238E27FC236}">
                  <a16:creationId xmlns:a16="http://schemas.microsoft.com/office/drawing/2014/main" id="{9E5C7F2F-679B-3BF7-3F6F-B5B6F18D8BA7}"/>
                </a:ext>
              </a:extLst>
            </p:cNvPr>
            <p:cNvCxnSpPr/>
            <p:nvPr/>
          </p:nvCxnSpPr>
          <p:spPr>
            <a:xfrm>
              <a:off x="511819" y="6236782"/>
              <a:ext cx="252000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Connector 8">
              <a:extLst>
                <a:ext uri="{FF2B5EF4-FFF2-40B4-BE49-F238E27FC236}">
                  <a16:creationId xmlns:a16="http://schemas.microsoft.com/office/drawing/2014/main" id="{72B02B8A-8607-D866-82E6-DA3A5862E380}"/>
                </a:ext>
              </a:extLst>
            </p:cNvPr>
            <p:cNvCxnSpPr/>
            <p:nvPr/>
          </p:nvCxnSpPr>
          <p:spPr>
            <a:xfrm>
              <a:off x="1039821" y="5761728"/>
              <a:ext cx="2016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Rectangle 9">
                  <a:extLst>
                    <a:ext uri="{FF2B5EF4-FFF2-40B4-BE49-F238E27FC236}">
                      <a16:creationId xmlns:a16="http://schemas.microsoft.com/office/drawing/2014/main" id="{D50670C3-77D5-E1ED-BA30-A572CE5F9E4F}"/>
                    </a:ext>
                  </a:extLst>
                </p:cNvPr>
                <p:cNvSpPr/>
                <p:nvPr/>
              </p:nvSpPr>
              <p:spPr>
                <a:xfrm>
                  <a:off x="876228" y="6229634"/>
                  <a:ext cx="324128"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0" smtClean="0">
                            <a:latin typeface="Cambria Math" panose="02040503050406030204" pitchFamily="18" charset="0"/>
                          </a:rPr>
                          <m:t>0</m:t>
                        </m:r>
                      </m:oMath>
                    </m:oMathPara>
                  </a14:m>
                  <a:endParaRPr lang="pt-BR" sz="1400" dirty="0"/>
                </a:p>
              </p:txBody>
            </p:sp>
          </mc:Choice>
          <mc:Fallback xmlns="">
            <p:sp>
              <p:nvSpPr>
                <p:cNvPr id="11" name="Rectangle 10"/>
                <p:cNvSpPr>
                  <a:spLocks noRot="1" noChangeAspect="1" noMove="1" noResize="1" noEditPoints="1" noAdjustHandles="1" noChangeArrowheads="1" noChangeShapeType="1" noTextEdit="1"/>
                </p:cNvSpPr>
                <p:nvPr/>
              </p:nvSpPr>
              <p:spPr>
                <a:xfrm>
                  <a:off x="876228" y="6229634"/>
                  <a:ext cx="324128" cy="307777"/>
                </a:xfrm>
                <a:prstGeom prst="rect">
                  <a:avLst/>
                </a:prstGeom>
                <a:blipFill rotWithShape="0">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Rectangle 10">
                  <a:extLst>
                    <a:ext uri="{FF2B5EF4-FFF2-40B4-BE49-F238E27FC236}">
                      <a16:creationId xmlns:a16="http://schemas.microsoft.com/office/drawing/2014/main" id="{62E842B0-88B7-84E4-AAB8-B9885A4027D7}"/>
                    </a:ext>
                  </a:extLst>
                </p:cNvPr>
                <p:cNvSpPr/>
                <p:nvPr/>
              </p:nvSpPr>
              <p:spPr>
                <a:xfrm>
                  <a:off x="1038292" y="4987108"/>
                  <a:ext cx="1483163" cy="404983"/>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𝑦</m:t>
                        </m:r>
                        <m:r>
                          <a:rPr lang="pt-BR" b="0" i="1" smtClean="0">
                            <a:latin typeface="Cambria Math" panose="02040503050406030204" pitchFamily="18" charset="0"/>
                          </a:rPr>
                          <m:t>=</m:t>
                        </m:r>
                        <m:r>
                          <a:rPr lang="pt-BR" i="1">
                            <a:latin typeface="Cambria Math" panose="02040503050406030204" pitchFamily="18" charset="0"/>
                          </a:rPr>
                          <m:t>𝑓</m:t>
                        </m:r>
                        <m:d>
                          <m:dPr>
                            <m:ctrlPr>
                              <a:rPr lang="pt-BR" i="1">
                                <a:latin typeface="Cambria Math" panose="02040503050406030204" pitchFamily="18" charset="0"/>
                              </a:rPr>
                            </m:ctrlPr>
                          </m:dPr>
                          <m:e>
                            <m:r>
                              <a:rPr lang="pt-BR" i="1" smtClean="0">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e>
                        </m:d>
                      </m:oMath>
                    </m:oMathPara>
                  </a14:m>
                  <a:endParaRPr lang="pt-BR" dirty="0"/>
                </a:p>
              </p:txBody>
            </p:sp>
          </mc:Choice>
          <mc:Fallback xmlns="">
            <p:sp>
              <p:nvSpPr>
                <p:cNvPr id="10" name="Rectangle 10"/>
                <p:cNvSpPr>
                  <a:spLocks noRot="1" noChangeAspect="1" noMove="1" noResize="1" noEditPoints="1" noAdjustHandles="1" noChangeArrowheads="1" noChangeShapeType="1" noTextEdit="1"/>
                </p:cNvSpPr>
                <p:nvPr/>
              </p:nvSpPr>
              <p:spPr>
                <a:xfrm>
                  <a:off x="1038292" y="4987108"/>
                  <a:ext cx="1483163" cy="404983"/>
                </a:xfrm>
                <a:prstGeom prst="rect">
                  <a:avLst/>
                </a:prstGeom>
                <a:blipFill rotWithShape="0">
                  <a:blip r:embed="rId7"/>
                  <a:stretch>
                    <a:fillRect b="-909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Rectangle 11">
                  <a:extLst>
                    <a:ext uri="{FF2B5EF4-FFF2-40B4-BE49-F238E27FC236}">
                      <a16:creationId xmlns:a16="http://schemas.microsoft.com/office/drawing/2014/main" id="{2778CF86-A376-F86A-405D-DB21B08D6F8F}"/>
                    </a:ext>
                  </a:extLst>
                </p:cNvPr>
                <p:cNvSpPr/>
                <p:nvPr/>
              </p:nvSpPr>
              <p:spPr>
                <a:xfrm>
                  <a:off x="2946898" y="6044968"/>
                  <a:ext cx="70724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oMath>
                    </m:oMathPara>
                  </a14:m>
                  <a:endParaRPr lang="pt-BR" dirty="0"/>
                </a:p>
              </p:txBody>
            </p:sp>
          </mc:Choice>
          <mc:Fallback xmlns="">
            <p:sp>
              <p:nvSpPr>
                <p:cNvPr id="13" name="Rectangle 12"/>
                <p:cNvSpPr>
                  <a:spLocks noRot="1" noChangeAspect="1" noMove="1" noResize="1" noEditPoints="1" noAdjustHandles="1" noChangeArrowheads="1" noChangeShapeType="1" noTextEdit="1"/>
                </p:cNvSpPr>
                <p:nvPr/>
              </p:nvSpPr>
              <p:spPr>
                <a:xfrm>
                  <a:off x="2946898" y="6044968"/>
                  <a:ext cx="707245" cy="369332"/>
                </a:xfrm>
                <a:prstGeom prst="rect">
                  <a:avLst/>
                </a:prstGeom>
                <a:blipFill rotWithShape="0">
                  <a:blip r:embed="rId8"/>
                  <a:stretch>
                    <a:fillRect b="-655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Rectangle 12">
                  <a:extLst>
                    <a:ext uri="{FF2B5EF4-FFF2-40B4-BE49-F238E27FC236}">
                      <a16:creationId xmlns:a16="http://schemas.microsoft.com/office/drawing/2014/main" id="{AA919F89-3BFA-5DAC-6A06-E93B0CC1EC78}"/>
                    </a:ext>
                  </a:extLst>
                </p:cNvPr>
                <p:cNvSpPr/>
                <p:nvPr/>
              </p:nvSpPr>
              <p:spPr>
                <a:xfrm>
                  <a:off x="761832" y="5607839"/>
                  <a:ext cx="324128"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1</m:t>
                        </m:r>
                      </m:oMath>
                    </m:oMathPara>
                  </a14:m>
                  <a:endParaRPr lang="pt-BR" sz="1400" dirty="0"/>
                </a:p>
              </p:txBody>
            </p:sp>
          </mc:Choice>
          <mc:Fallback xmlns="">
            <p:sp>
              <p:nvSpPr>
                <p:cNvPr id="14" name="Rectangle 13"/>
                <p:cNvSpPr>
                  <a:spLocks noRot="1" noChangeAspect="1" noMove="1" noResize="1" noEditPoints="1" noAdjustHandles="1" noChangeArrowheads="1" noChangeShapeType="1" noTextEdit="1"/>
                </p:cNvSpPr>
                <p:nvPr/>
              </p:nvSpPr>
              <p:spPr>
                <a:xfrm>
                  <a:off x="761832" y="5607839"/>
                  <a:ext cx="324128" cy="307777"/>
                </a:xfrm>
                <a:prstGeom prst="rect">
                  <a:avLst/>
                </a:prstGeom>
                <a:blipFill rotWithShape="0">
                  <a:blip r:embed="rId9"/>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12506891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8AFAF-188B-B0ED-1C4B-D8E94246201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08EEDF4-87BE-6524-C339-B311FC44688A}"/>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2508FD22-A6D0-DCF8-E036-C334F9415BFF}"/>
              </a:ext>
            </a:extLst>
          </p:cNvPr>
          <p:cNvSpPr>
            <a:spLocks noGrp="1"/>
          </p:cNvSpPr>
          <p:nvPr>
            <p:ph idx="1"/>
          </p:nvPr>
        </p:nvSpPr>
        <p:spPr>
          <a:xfrm>
            <a:off x="6255328" y="1825624"/>
            <a:ext cx="5860472" cy="5032376"/>
          </a:xfrm>
        </p:spPr>
        <p:txBody>
          <a:bodyPr>
            <a:normAutofit/>
          </a:bodyPr>
          <a:lstStyle/>
          <a:p>
            <a:r>
              <a:rPr lang="pt-BR" dirty="0"/>
              <a:t>Assim, c</a:t>
            </a:r>
            <a:r>
              <a:rPr lang="pt-BR" dirty="0">
                <a:solidFill>
                  <a:schemeClr val="tx1"/>
                </a:solidFill>
              </a:rPr>
              <a:t>om o decorrer do tempo, funções de ativação </a:t>
            </a:r>
            <a:r>
              <a:rPr lang="pt-BR" b="1" dirty="0">
                <a:solidFill>
                  <a:schemeClr val="accent2"/>
                </a:solidFill>
              </a:rPr>
              <a:t>contínuas e deriváveis</a:t>
            </a:r>
            <a:r>
              <a:rPr lang="pt-BR" dirty="0">
                <a:solidFill>
                  <a:schemeClr val="tx1"/>
                </a:solidFill>
              </a:rPr>
              <a:t> foram propostas</a:t>
            </a:r>
            <a:r>
              <a:rPr lang="pt-BR" dirty="0"/>
              <a:t>:</a:t>
            </a:r>
          </a:p>
          <a:p>
            <a:pPr lvl="1">
              <a:buFont typeface="Wingdings" panose="05000000000000000000" pitchFamily="2" charset="2"/>
              <a:buChar char="§"/>
            </a:pPr>
            <a:r>
              <a:rPr lang="pt-BR" dirty="0"/>
              <a:t>s</a:t>
            </a:r>
            <a:r>
              <a:rPr lang="pt-BR" dirty="0">
                <a:solidFill>
                  <a:schemeClr val="tx1"/>
                </a:solidFill>
              </a:rPr>
              <a:t>igmoide (ou logística), </a:t>
            </a:r>
          </a:p>
          <a:p>
            <a:pPr lvl="1">
              <a:buFont typeface="Wingdings" panose="05000000000000000000" pitchFamily="2" charset="2"/>
              <a:buChar char="§"/>
            </a:pPr>
            <a:r>
              <a:rPr lang="pt-BR" dirty="0">
                <a:solidFill>
                  <a:schemeClr val="tx1"/>
                </a:solidFill>
              </a:rPr>
              <a:t>tangente hiperbólica, </a:t>
            </a:r>
          </a:p>
          <a:p>
            <a:pPr lvl="1">
              <a:buFont typeface="Wingdings" panose="05000000000000000000" pitchFamily="2" charset="2"/>
              <a:buChar char="§"/>
            </a:pPr>
            <a:r>
              <a:rPr lang="pt-BR" dirty="0">
                <a:solidFill>
                  <a:schemeClr val="tx1"/>
                </a:solidFill>
              </a:rPr>
              <a:t>linear,</a:t>
            </a:r>
            <a:r>
              <a:rPr lang="pt-BR" dirty="0"/>
              <a:t> </a:t>
            </a:r>
          </a:p>
          <a:p>
            <a:pPr lvl="1">
              <a:buFont typeface="Wingdings" panose="05000000000000000000" pitchFamily="2" charset="2"/>
              <a:buChar char="§"/>
            </a:pPr>
            <a:r>
              <a:rPr lang="pt-BR" dirty="0" err="1"/>
              <a:t>relu</a:t>
            </a:r>
            <a:r>
              <a:rPr lang="pt-BR" dirty="0"/>
              <a:t> e suas variantes,</a:t>
            </a:r>
            <a:r>
              <a:rPr lang="pt-BR" dirty="0">
                <a:solidFill>
                  <a:schemeClr val="tx1"/>
                </a:solidFill>
              </a:rPr>
              <a:t> </a:t>
            </a:r>
          </a:p>
          <a:p>
            <a:pPr lvl="1">
              <a:buFont typeface="Wingdings" panose="05000000000000000000" pitchFamily="2" charset="2"/>
              <a:buChar char="§"/>
            </a:pPr>
            <a:r>
              <a:rPr lang="pt-BR" dirty="0">
                <a:solidFill>
                  <a:schemeClr val="tx1"/>
                </a:solidFill>
              </a:rPr>
              <a:t>etc.</a:t>
            </a:r>
          </a:p>
          <a:p>
            <a:r>
              <a:rPr lang="pt-BR" b="1" dirty="0"/>
              <a:t>OBS</a:t>
            </a:r>
            <a:r>
              <a:rPr lang="pt-BR" dirty="0"/>
              <a:t>.: A função “linear” é usada, em geral, apenas na saída de redes neurais para regressão.</a:t>
            </a:r>
            <a:endParaRPr lang="pt-BR" dirty="0">
              <a:solidFill>
                <a:schemeClr val="tx1"/>
              </a:solidFill>
            </a:endParaRPr>
          </a:p>
        </p:txBody>
      </p:sp>
      <p:pic>
        <p:nvPicPr>
          <p:cNvPr id="1028" name="Picture 4" descr="Activation Function - AI Wiki">
            <a:extLst>
              <a:ext uri="{FF2B5EF4-FFF2-40B4-BE49-F238E27FC236}">
                <a16:creationId xmlns:a16="http://schemas.microsoft.com/office/drawing/2014/main" id="{B6AD023D-BBB1-9AF0-9047-4098C2C58D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024" t="57261" r="54834" b="1205"/>
          <a:stretch/>
        </p:blipFill>
        <p:spPr bwMode="auto">
          <a:xfrm>
            <a:off x="407874" y="2472441"/>
            <a:ext cx="2402932" cy="155109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descr="Activation Function - AI Wiki">
            <a:extLst>
              <a:ext uri="{FF2B5EF4-FFF2-40B4-BE49-F238E27FC236}">
                <a16:creationId xmlns:a16="http://schemas.microsoft.com/office/drawing/2014/main" id="{EF6DC5CF-A0C8-D64D-44FC-58DDB514588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6054" t="57929" r="9225" b="2032"/>
          <a:stretch/>
        </p:blipFill>
        <p:spPr bwMode="auto">
          <a:xfrm>
            <a:off x="3440829" y="4072852"/>
            <a:ext cx="1425500" cy="154800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Activation Function - AI Wiki">
            <a:extLst>
              <a:ext uri="{FF2B5EF4-FFF2-40B4-BE49-F238E27FC236}">
                <a16:creationId xmlns:a16="http://schemas.microsoft.com/office/drawing/2014/main" id="{64B42139-9503-99AF-E0F3-287C1509F7F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05" t="4046" r="52375" b="51018"/>
          <a:stretch/>
        </p:blipFill>
        <p:spPr bwMode="auto">
          <a:xfrm>
            <a:off x="3095500" y="2472439"/>
            <a:ext cx="2194923" cy="1548002"/>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4" descr="Activation Function - AI Wiki">
            <a:extLst>
              <a:ext uri="{FF2B5EF4-FFF2-40B4-BE49-F238E27FC236}">
                <a16:creationId xmlns:a16="http://schemas.microsoft.com/office/drawing/2014/main" id="{E7B30C64-028A-1736-014C-4EA49A4A2B0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3394" t="3391" r="3935" b="53689"/>
          <a:stretch/>
        </p:blipFill>
        <p:spPr bwMode="auto">
          <a:xfrm>
            <a:off x="573426" y="4094262"/>
            <a:ext cx="2295436" cy="15480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560918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F7C26D-3BDE-A236-CADC-F1BB9F2DC0B3}"/>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651AE336-F194-B92F-7FFD-EAA2F0C65A36}"/>
              </a:ext>
            </a:extLst>
          </p:cNvPr>
          <p:cNvSpPr>
            <a:spLocks noGrp="1"/>
          </p:cNvSpPr>
          <p:nvPr>
            <p:ph idx="1"/>
          </p:nvPr>
        </p:nvSpPr>
        <p:spPr>
          <a:xfrm>
            <a:off x="6096000" y="1825624"/>
            <a:ext cx="5964820" cy="5032375"/>
          </a:xfrm>
        </p:spPr>
        <p:txBody>
          <a:bodyPr>
            <a:normAutofit/>
          </a:bodyPr>
          <a:lstStyle/>
          <a:p>
            <a:r>
              <a:rPr lang="pt-BR" b="0" dirty="0">
                <a:effectLst/>
              </a:rPr>
              <a:t>O </a:t>
            </a:r>
            <a:r>
              <a:rPr lang="pt-BR" b="1" dirty="0">
                <a:solidFill>
                  <a:srgbClr val="00B050"/>
                </a:solidFill>
                <a:effectLst/>
              </a:rPr>
              <a:t>objetivo</a:t>
            </a:r>
            <a:r>
              <a:rPr lang="pt-BR" b="0" dirty="0">
                <a:effectLst/>
              </a:rPr>
              <a:t> do </a:t>
            </a:r>
            <a:r>
              <a:rPr lang="pt-BR" b="1" dirty="0">
                <a:solidFill>
                  <a:schemeClr val="accent2"/>
                </a:solidFill>
                <a:effectLst/>
              </a:rPr>
              <a:t>treinamento</a:t>
            </a:r>
            <a:r>
              <a:rPr lang="pt-BR" b="0" dirty="0">
                <a:effectLst/>
              </a:rPr>
              <a:t> de uma rede neural artificial é </a:t>
            </a:r>
            <a:r>
              <a:rPr lang="pt-BR" b="1" dirty="0">
                <a:solidFill>
                  <a:srgbClr val="00B050"/>
                </a:solidFill>
                <a:effectLst/>
              </a:rPr>
              <a:t>encontrar os valores ideais dos pesos</a:t>
            </a:r>
            <a:r>
              <a:rPr lang="pt-BR" b="1" dirty="0">
                <a:effectLst/>
              </a:rPr>
              <a:t> </a:t>
            </a:r>
            <a:r>
              <a:rPr lang="pt-BR" b="0" dirty="0">
                <a:effectLst/>
              </a:rPr>
              <a:t>(bias e sinápticos) </a:t>
            </a:r>
            <a:r>
              <a:rPr lang="pt-BR" b="1" dirty="0">
                <a:solidFill>
                  <a:srgbClr val="FF0000"/>
                </a:solidFill>
                <a:effectLst/>
              </a:rPr>
              <a:t>de todos os neurônios</a:t>
            </a:r>
            <a:r>
              <a:rPr lang="pt-BR" b="0" dirty="0">
                <a:effectLst/>
              </a:rPr>
              <a:t> de forma que a rede </a:t>
            </a:r>
            <a:r>
              <a:rPr lang="pt-BR" b="1" dirty="0">
                <a:effectLst/>
              </a:rPr>
              <a:t>resolva uma tarefa específica</a:t>
            </a:r>
            <a:r>
              <a:rPr lang="pt-BR" b="0" dirty="0">
                <a:effectLst/>
              </a:rPr>
              <a:t>, como, por exemplo, a classificação de imagens ou a predição do preço de casas.</a:t>
            </a:r>
          </a:p>
          <a:p>
            <a:r>
              <a:rPr lang="pt-BR" dirty="0"/>
              <a:t>Ou seja, em problemas </a:t>
            </a:r>
            <a:r>
              <a:rPr lang="pt-BR" b="1" dirty="0">
                <a:solidFill>
                  <a:srgbClr val="7030A0"/>
                </a:solidFill>
              </a:rPr>
              <a:t>supervisionados</a:t>
            </a:r>
            <a:r>
              <a:rPr lang="pt-BR" dirty="0"/>
              <a:t>, o objetivo é </a:t>
            </a:r>
            <a:r>
              <a:rPr lang="pt-BR" b="1" dirty="0">
                <a:solidFill>
                  <a:srgbClr val="7030A0"/>
                </a:solidFill>
              </a:rPr>
              <a:t>minimizar uma função de erro</a:t>
            </a:r>
            <a:r>
              <a:rPr lang="pt-BR" dirty="0"/>
              <a:t>.</a:t>
            </a:r>
            <a:endParaRPr lang="pt-BR" b="0" dirty="0">
              <a:effectLst/>
            </a:endParaRPr>
          </a:p>
          <a:p>
            <a:pPr marL="0" indent="0">
              <a:buNone/>
            </a:pPr>
            <a:endParaRPr lang="pt-BR" dirty="0">
              <a:effectLst/>
            </a:endParaRPr>
          </a:p>
        </p:txBody>
      </p:sp>
      <p:pic>
        <p:nvPicPr>
          <p:cNvPr id="5" name="Imagem 4">
            <a:extLst>
              <a:ext uri="{FF2B5EF4-FFF2-40B4-BE49-F238E27FC236}">
                <a16:creationId xmlns:a16="http://schemas.microsoft.com/office/drawing/2014/main" id="{03A2D649-EBB4-ED38-335D-35C407B2488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6218" y="1690688"/>
            <a:ext cx="4859866" cy="5161229"/>
          </a:xfrm>
          <a:prstGeom prst="rect">
            <a:avLst/>
          </a:prstGeom>
        </p:spPr>
      </p:pic>
    </p:spTree>
    <p:extLst>
      <p:ext uri="{BB962C8B-B14F-4D97-AF65-F5344CB8AC3E}">
        <p14:creationId xmlns:p14="http://schemas.microsoft.com/office/powerpoint/2010/main" val="38044958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EEDAE-99FD-346C-83DE-1E169FC3A59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C34E9C5-62E3-491F-1941-2013876DF597}"/>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D010F0FE-985C-783D-7E8F-1F871A77B3CD}"/>
              </a:ext>
            </a:extLst>
          </p:cNvPr>
          <p:cNvSpPr>
            <a:spLocks noGrp="1"/>
          </p:cNvSpPr>
          <p:nvPr>
            <p:ph idx="1"/>
          </p:nvPr>
        </p:nvSpPr>
        <p:spPr>
          <a:xfrm>
            <a:off x="5953991" y="1825624"/>
            <a:ext cx="6161809" cy="5032375"/>
          </a:xfrm>
        </p:spPr>
        <p:txBody>
          <a:bodyPr>
            <a:normAutofit/>
          </a:bodyPr>
          <a:lstStyle/>
          <a:p>
            <a:r>
              <a:rPr lang="pt-BR" dirty="0"/>
              <a:t>Os pesos são ajustados através de um </a:t>
            </a:r>
            <a:r>
              <a:rPr lang="pt-BR" b="1" dirty="0">
                <a:solidFill>
                  <a:srgbClr val="00B050"/>
                </a:solidFill>
              </a:rPr>
              <a:t>algoritmo de otimização iterativo </a:t>
            </a:r>
            <a:r>
              <a:rPr lang="pt-BR" dirty="0"/>
              <a:t>chamado de </a:t>
            </a:r>
            <a:r>
              <a:rPr lang="pt-BR" b="1" dirty="0">
                <a:solidFill>
                  <a:srgbClr val="00B050"/>
                </a:solidFill>
              </a:rPr>
              <a:t>retropropagação do erro</a:t>
            </a:r>
            <a:r>
              <a:rPr lang="pt-BR" dirty="0"/>
              <a:t>.</a:t>
            </a:r>
          </a:p>
          <a:p>
            <a:r>
              <a:rPr lang="pt-BR" dirty="0"/>
              <a:t>O algoritmo apresenta ao modelo as </a:t>
            </a:r>
            <a:r>
              <a:rPr lang="pt-BR" b="1" dirty="0"/>
              <a:t>entradas</a:t>
            </a:r>
            <a:r>
              <a:rPr lang="pt-BR" dirty="0"/>
              <a:t> e tem como </a:t>
            </a:r>
            <a:r>
              <a:rPr lang="pt-BR" b="1" dirty="0">
                <a:solidFill>
                  <a:schemeClr val="accent2"/>
                </a:solidFill>
              </a:rPr>
              <a:t>objetivo</a:t>
            </a:r>
            <a:r>
              <a:rPr lang="pt-BR" dirty="0"/>
              <a:t> </a:t>
            </a:r>
            <a:r>
              <a:rPr lang="pt-BR" b="1" dirty="0">
                <a:solidFill>
                  <a:schemeClr val="accent2"/>
                </a:solidFill>
              </a:rPr>
              <a:t>encontrar os pesos que minimizam o erro </a:t>
            </a:r>
            <a:r>
              <a:rPr lang="pt-BR" dirty="0"/>
              <a:t>entre a </a:t>
            </a:r>
            <a:r>
              <a:rPr lang="pt-BR" b="1" dirty="0">
                <a:solidFill>
                  <a:srgbClr val="7030A0"/>
                </a:solidFill>
              </a:rPr>
              <a:t>saída da rede </a:t>
            </a:r>
            <a:r>
              <a:rPr lang="pt-BR" dirty="0"/>
              <a:t>e os </a:t>
            </a:r>
            <a:r>
              <a:rPr lang="pt-BR" b="1" dirty="0">
                <a:solidFill>
                  <a:srgbClr val="7030A0"/>
                </a:solidFill>
              </a:rPr>
              <a:t>rótulos</a:t>
            </a:r>
            <a:r>
              <a:rPr lang="pt-BR" b="1" dirty="0"/>
              <a:t> </a:t>
            </a:r>
            <a:r>
              <a:rPr lang="pt-BR" b="1" dirty="0">
                <a:solidFill>
                  <a:srgbClr val="7030A0"/>
                </a:solidFill>
              </a:rPr>
              <a:t>(</a:t>
            </a:r>
            <a:r>
              <a:rPr lang="pt-BR" b="1" i="1" dirty="0" err="1">
                <a:solidFill>
                  <a:srgbClr val="7030A0"/>
                </a:solidFill>
              </a:rPr>
              <a:t>labels</a:t>
            </a:r>
            <a:r>
              <a:rPr lang="pt-BR" b="1" dirty="0">
                <a:solidFill>
                  <a:srgbClr val="7030A0"/>
                </a:solidFill>
              </a:rPr>
              <a:t>).</a:t>
            </a:r>
          </a:p>
        </p:txBody>
      </p:sp>
      <p:grpSp>
        <p:nvGrpSpPr>
          <p:cNvPr id="4" name="Group 3">
            <a:extLst>
              <a:ext uri="{FF2B5EF4-FFF2-40B4-BE49-F238E27FC236}">
                <a16:creationId xmlns:a16="http://schemas.microsoft.com/office/drawing/2014/main" id="{5E5B4210-F451-0E46-2DC3-5A853779D86A}"/>
              </a:ext>
            </a:extLst>
          </p:cNvPr>
          <p:cNvGrpSpPr/>
          <p:nvPr/>
        </p:nvGrpSpPr>
        <p:grpSpPr>
          <a:xfrm>
            <a:off x="671945" y="2004203"/>
            <a:ext cx="4240583" cy="3792091"/>
            <a:chOff x="294226" y="2506925"/>
            <a:chExt cx="4240583" cy="3792091"/>
          </a:xfrm>
        </p:grpSpPr>
        <p:sp>
          <p:nvSpPr>
            <p:cNvPr id="6" name="Elipse 77">
              <a:extLst>
                <a:ext uri="{FF2B5EF4-FFF2-40B4-BE49-F238E27FC236}">
                  <a16:creationId xmlns:a16="http://schemas.microsoft.com/office/drawing/2014/main" id="{70938B78-1D25-4E0F-4634-95BF4D6C491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8">
              <a:extLst>
                <a:ext uri="{FF2B5EF4-FFF2-40B4-BE49-F238E27FC236}">
                  <a16:creationId xmlns:a16="http://schemas.microsoft.com/office/drawing/2014/main" id="{D759AC0C-F0D3-1871-2754-69F6D52A6DB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9">
              <a:extLst>
                <a:ext uri="{FF2B5EF4-FFF2-40B4-BE49-F238E27FC236}">
                  <a16:creationId xmlns:a16="http://schemas.microsoft.com/office/drawing/2014/main" id="{2964BE85-A296-DE4E-E51D-89ECA5716917}"/>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1">
              <a:extLst>
                <a:ext uri="{FF2B5EF4-FFF2-40B4-BE49-F238E27FC236}">
                  <a16:creationId xmlns:a16="http://schemas.microsoft.com/office/drawing/2014/main" id="{8A60846B-F1E1-7A6B-E335-768C1DC1CC8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2">
              <a:extLst>
                <a:ext uri="{FF2B5EF4-FFF2-40B4-BE49-F238E27FC236}">
                  <a16:creationId xmlns:a16="http://schemas.microsoft.com/office/drawing/2014/main" id="{033FA15F-7158-4CB1-E047-83183F66F65A}"/>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3">
              <a:extLst>
                <a:ext uri="{FF2B5EF4-FFF2-40B4-BE49-F238E27FC236}">
                  <a16:creationId xmlns:a16="http://schemas.microsoft.com/office/drawing/2014/main" id="{7C336A27-D1BE-7BF4-CB72-0110F569EE1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4">
              <a:extLst>
                <a:ext uri="{FF2B5EF4-FFF2-40B4-BE49-F238E27FC236}">
                  <a16:creationId xmlns:a16="http://schemas.microsoft.com/office/drawing/2014/main" id="{18B254A2-D380-C70B-D669-CE16BE48FA8A}"/>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5">
              <a:extLst>
                <a:ext uri="{FF2B5EF4-FFF2-40B4-BE49-F238E27FC236}">
                  <a16:creationId xmlns:a16="http://schemas.microsoft.com/office/drawing/2014/main" id="{AB02A44B-6636-2983-FEB9-7BB13C0EC978}"/>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4" name="Conector de Seta Reta 86">
              <a:extLst>
                <a:ext uri="{FF2B5EF4-FFF2-40B4-BE49-F238E27FC236}">
                  <a16:creationId xmlns:a16="http://schemas.microsoft.com/office/drawing/2014/main" id="{84468D6E-B7EC-AA41-E5FD-96FC7756BF4F}"/>
                </a:ext>
              </a:extLst>
            </p:cNvPr>
            <p:cNvCxnSpPr>
              <a:cxnSpLocks/>
              <a:stCxn id="11" idx="6"/>
              <a:endCxn id="6"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7">
              <a:extLst>
                <a:ext uri="{FF2B5EF4-FFF2-40B4-BE49-F238E27FC236}">
                  <a16:creationId xmlns:a16="http://schemas.microsoft.com/office/drawing/2014/main" id="{0B50005F-F6A0-320B-6B06-20B5BA23A1A5}"/>
                </a:ext>
              </a:extLst>
            </p:cNvPr>
            <p:cNvCxnSpPr>
              <a:stCxn id="11" idx="6"/>
              <a:endCxn id="7"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88">
              <a:extLst>
                <a:ext uri="{FF2B5EF4-FFF2-40B4-BE49-F238E27FC236}">
                  <a16:creationId xmlns:a16="http://schemas.microsoft.com/office/drawing/2014/main" id="{A41DE232-8C9D-AA86-059D-0434EB0F9F04}"/>
                </a:ext>
              </a:extLst>
            </p:cNvPr>
            <p:cNvCxnSpPr>
              <a:stCxn id="11" idx="6"/>
              <a:endCxn id="8"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0">
              <a:extLst>
                <a:ext uri="{FF2B5EF4-FFF2-40B4-BE49-F238E27FC236}">
                  <a16:creationId xmlns:a16="http://schemas.microsoft.com/office/drawing/2014/main" id="{EE2B524E-5D20-41B7-7A32-E87BAE6D1104}"/>
                </a:ext>
              </a:extLst>
            </p:cNvPr>
            <p:cNvCxnSpPr>
              <a:cxnSpLocks/>
              <a:stCxn id="12" idx="6"/>
              <a:endCxn id="6"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1">
              <a:extLst>
                <a:ext uri="{FF2B5EF4-FFF2-40B4-BE49-F238E27FC236}">
                  <a16:creationId xmlns:a16="http://schemas.microsoft.com/office/drawing/2014/main" id="{8DBFB752-E2AC-D8D7-8821-677A1FE16DDE}"/>
                </a:ext>
              </a:extLst>
            </p:cNvPr>
            <p:cNvCxnSpPr>
              <a:stCxn id="13" idx="6"/>
              <a:endCxn id="7"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2">
              <a:extLst>
                <a:ext uri="{FF2B5EF4-FFF2-40B4-BE49-F238E27FC236}">
                  <a16:creationId xmlns:a16="http://schemas.microsoft.com/office/drawing/2014/main" id="{89D6D24F-AC19-B095-7D38-CF319A6581B1}"/>
                </a:ext>
              </a:extLst>
            </p:cNvPr>
            <p:cNvCxnSpPr>
              <a:stCxn id="12" idx="6"/>
              <a:endCxn id="7"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3">
              <a:extLst>
                <a:ext uri="{FF2B5EF4-FFF2-40B4-BE49-F238E27FC236}">
                  <a16:creationId xmlns:a16="http://schemas.microsoft.com/office/drawing/2014/main" id="{59BE2D41-8045-1E74-F8E3-652BF7044E13}"/>
                </a:ext>
              </a:extLst>
            </p:cNvPr>
            <p:cNvCxnSpPr>
              <a:stCxn id="12" idx="6"/>
              <a:endCxn id="8"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6">
              <a:extLst>
                <a:ext uri="{FF2B5EF4-FFF2-40B4-BE49-F238E27FC236}">
                  <a16:creationId xmlns:a16="http://schemas.microsoft.com/office/drawing/2014/main" id="{E68E2B60-AFB2-A61C-EB33-9AD710FF25AC}"/>
                </a:ext>
              </a:extLst>
            </p:cNvPr>
            <p:cNvCxnSpPr>
              <a:stCxn id="13" idx="6"/>
              <a:endCxn id="8"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8">
              <a:extLst>
                <a:ext uri="{FF2B5EF4-FFF2-40B4-BE49-F238E27FC236}">
                  <a16:creationId xmlns:a16="http://schemas.microsoft.com/office/drawing/2014/main" id="{2DA4392C-3D3C-2FD9-0579-26F9633E4839}"/>
                </a:ext>
              </a:extLst>
            </p:cNvPr>
            <p:cNvCxnSpPr>
              <a:stCxn id="6" idx="6"/>
              <a:endCxn id="9"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9">
              <a:extLst>
                <a:ext uri="{FF2B5EF4-FFF2-40B4-BE49-F238E27FC236}">
                  <a16:creationId xmlns:a16="http://schemas.microsoft.com/office/drawing/2014/main" id="{8631E04C-C69E-D569-8733-0B18B71619F3}"/>
                </a:ext>
              </a:extLst>
            </p:cNvPr>
            <p:cNvCxnSpPr>
              <a:stCxn id="7" idx="6"/>
              <a:endCxn id="10"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0">
              <a:extLst>
                <a:ext uri="{FF2B5EF4-FFF2-40B4-BE49-F238E27FC236}">
                  <a16:creationId xmlns:a16="http://schemas.microsoft.com/office/drawing/2014/main" id="{84F98F55-5EC7-3506-A130-BE0646F624CB}"/>
                </a:ext>
              </a:extLst>
            </p:cNvPr>
            <p:cNvCxnSpPr>
              <a:stCxn id="8" idx="6"/>
              <a:endCxn id="10"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2">
              <a:extLst>
                <a:ext uri="{FF2B5EF4-FFF2-40B4-BE49-F238E27FC236}">
                  <a16:creationId xmlns:a16="http://schemas.microsoft.com/office/drawing/2014/main" id="{E0CAC1C2-9CB4-18FA-5D0F-4F65CB138644}"/>
                </a:ext>
              </a:extLst>
            </p:cNvPr>
            <p:cNvCxnSpPr>
              <a:cxnSpLocks/>
              <a:stCxn id="6" idx="6"/>
              <a:endCxn id="10"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3">
              <a:extLst>
                <a:ext uri="{FF2B5EF4-FFF2-40B4-BE49-F238E27FC236}">
                  <a16:creationId xmlns:a16="http://schemas.microsoft.com/office/drawing/2014/main" id="{949E63AC-3290-32BF-9FA1-DBE6B50C7701}"/>
                </a:ext>
              </a:extLst>
            </p:cNvPr>
            <p:cNvCxnSpPr>
              <a:stCxn id="7" idx="6"/>
              <a:endCxn id="9"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4">
              <a:extLst>
                <a:ext uri="{FF2B5EF4-FFF2-40B4-BE49-F238E27FC236}">
                  <a16:creationId xmlns:a16="http://schemas.microsoft.com/office/drawing/2014/main" id="{598C46AA-C187-4ECE-8C6D-33457339BDB3}"/>
                </a:ext>
              </a:extLst>
            </p:cNvPr>
            <p:cNvCxnSpPr>
              <a:stCxn id="8" idx="6"/>
              <a:endCxn id="9"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CaixaDeTexto 106">
              <a:extLst>
                <a:ext uri="{FF2B5EF4-FFF2-40B4-BE49-F238E27FC236}">
                  <a16:creationId xmlns:a16="http://schemas.microsoft.com/office/drawing/2014/main" id="{F5260134-74BF-B8A6-6615-CEFD5D33C3E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9" name="Forma Livre: Forma 107">
              <a:extLst>
                <a:ext uri="{FF2B5EF4-FFF2-40B4-BE49-F238E27FC236}">
                  <a16:creationId xmlns:a16="http://schemas.microsoft.com/office/drawing/2014/main" id="{6B3776BE-B594-D910-0E3C-E4DD3EFA38C6}"/>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0" name="Conector reto 112">
              <a:extLst>
                <a:ext uri="{FF2B5EF4-FFF2-40B4-BE49-F238E27FC236}">
                  <a16:creationId xmlns:a16="http://schemas.microsoft.com/office/drawing/2014/main" id="{80EA5619-A589-515C-9CC4-AA341DACFCC9}"/>
                </a:ext>
              </a:extLst>
            </p:cNvPr>
            <p:cNvCxnSpPr>
              <a:cxnSpLocks/>
              <a:stCxn id="66" idx="6"/>
              <a:endCxn id="12"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Conector de Seta Reta 113">
              <a:extLst>
                <a:ext uri="{FF2B5EF4-FFF2-40B4-BE49-F238E27FC236}">
                  <a16:creationId xmlns:a16="http://schemas.microsoft.com/office/drawing/2014/main" id="{78EBEC59-8B34-6834-5B3B-73A8BE9E8DB8}"/>
                </a:ext>
              </a:extLst>
            </p:cNvPr>
            <p:cNvCxnSpPr>
              <a:cxnSpLocks/>
              <a:stCxn id="9" idx="6"/>
              <a:endCxn id="33"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114">
              <a:extLst>
                <a:ext uri="{FF2B5EF4-FFF2-40B4-BE49-F238E27FC236}">
                  <a16:creationId xmlns:a16="http://schemas.microsoft.com/office/drawing/2014/main" id="{ABB647B5-F523-4899-7A11-9C081D1C181B}"/>
                </a:ext>
              </a:extLst>
            </p:cNvPr>
            <p:cNvCxnSpPr>
              <a:cxnSpLocks/>
              <a:stCxn id="10"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CaixaDeTexto 5">
                  <a:extLst>
                    <a:ext uri="{FF2B5EF4-FFF2-40B4-BE49-F238E27FC236}">
                      <a16:creationId xmlns:a16="http://schemas.microsoft.com/office/drawing/2014/main" id="{5498EC9A-FBA7-EC41-AFC2-BB8F89479AFE}"/>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CaixaDeTexto 6">
                  <a:extLst>
                    <a:ext uri="{FF2B5EF4-FFF2-40B4-BE49-F238E27FC236}">
                      <a16:creationId xmlns:a16="http://schemas.microsoft.com/office/drawing/2014/main" id="{FCC717E5-0431-4BF4-E93C-1DC663CE328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5" name="Group 34">
              <a:extLst>
                <a:ext uri="{FF2B5EF4-FFF2-40B4-BE49-F238E27FC236}">
                  <a16:creationId xmlns:a16="http://schemas.microsoft.com/office/drawing/2014/main" id="{511A2ABD-CAF3-343C-635B-ED9906395A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5" name="CaixaDeTexto 115">
                    <a:extLst>
                      <a:ext uri="{FF2B5EF4-FFF2-40B4-BE49-F238E27FC236}">
                        <a16:creationId xmlns:a16="http://schemas.microsoft.com/office/drawing/2014/main" id="{1808174C-4E25-6E3A-67F6-05ACAB75DC1B}"/>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4091"/>
                    </a:stretch>
                  </a:blipFill>
                </p:spPr>
                <p:txBody>
                  <a:bodyPr/>
                  <a:lstStyle/>
                  <a:p>
                    <a:r>
                      <a:rPr lang="en-US">
                        <a:noFill/>
                      </a:rPr>
                      <a:t> </a:t>
                    </a:r>
                  </a:p>
                </p:txBody>
              </p:sp>
            </mc:Fallback>
          </mc:AlternateContent>
          <p:sp>
            <p:nvSpPr>
              <p:cNvPr id="66" name="Elipse 3">
                <a:extLst>
                  <a:ext uri="{FF2B5EF4-FFF2-40B4-BE49-F238E27FC236}">
                    <a16:creationId xmlns:a16="http://schemas.microsoft.com/office/drawing/2014/main" id="{E5F1337E-7FE4-CFEA-6D68-0EFF60CF3CC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6" name="Elipse 83">
              <a:extLst>
                <a:ext uri="{FF2B5EF4-FFF2-40B4-BE49-F238E27FC236}">
                  <a16:creationId xmlns:a16="http://schemas.microsoft.com/office/drawing/2014/main" id="{B8193959-6979-CA45-FCB6-D771C67DC5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7" name="Group 36">
              <a:extLst>
                <a:ext uri="{FF2B5EF4-FFF2-40B4-BE49-F238E27FC236}">
                  <a16:creationId xmlns:a16="http://schemas.microsoft.com/office/drawing/2014/main" id="{2477E4F2-895D-7D20-D7EC-AC5EDA23309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3" name="CaixaDeTexto 116">
                    <a:extLst>
                      <a:ext uri="{FF2B5EF4-FFF2-40B4-BE49-F238E27FC236}">
                        <a16:creationId xmlns:a16="http://schemas.microsoft.com/office/drawing/2014/main" id="{CFAC640B-C55B-BAB4-3F58-FE8016DC0883}"/>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4" name="Elipse 4">
                <a:extLst>
                  <a:ext uri="{FF2B5EF4-FFF2-40B4-BE49-F238E27FC236}">
                    <a16:creationId xmlns:a16="http://schemas.microsoft.com/office/drawing/2014/main" id="{97777CEA-4A77-7857-75FE-350AAD190E65}"/>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8" name="Conector reto 112">
              <a:extLst>
                <a:ext uri="{FF2B5EF4-FFF2-40B4-BE49-F238E27FC236}">
                  <a16:creationId xmlns:a16="http://schemas.microsoft.com/office/drawing/2014/main" id="{2919784C-62EB-EA92-7CE0-399832E560E5}"/>
                </a:ext>
              </a:extLst>
            </p:cNvPr>
            <p:cNvCxnSpPr>
              <a:cxnSpLocks/>
              <a:stCxn id="66" idx="6"/>
              <a:endCxn id="11"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7DF8B70D-638D-3788-5447-B836B97AB716}"/>
                </a:ext>
              </a:extLst>
            </p:cNvPr>
            <p:cNvCxnSpPr>
              <a:cxnSpLocks/>
              <a:stCxn id="66" idx="6"/>
              <a:endCxn id="13"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B8FAAD47-5328-FC60-424C-50F349E807D0}"/>
                </a:ext>
              </a:extLst>
            </p:cNvPr>
            <p:cNvCxnSpPr>
              <a:cxnSpLocks/>
              <a:stCxn id="66" idx="6"/>
              <a:endCxn id="36"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749B7646-2585-A6C7-731C-96B4A7D36099}"/>
                </a:ext>
              </a:extLst>
            </p:cNvPr>
            <p:cNvCxnSpPr>
              <a:cxnSpLocks/>
              <a:stCxn id="64" idx="6"/>
              <a:endCxn id="36"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90160C70-080F-79BC-25B0-29BE51D99E32}"/>
                </a:ext>
              </a:extLst>
            </p:cNvPr>
            <p:cNvCxnSpPr>
              <a:cxnSpLocks/>
              <a:stCxn id="64" idx="6"/>
              <a:endCxn id="13"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6AE1AB27-DE3C-B8AB-B39F-B6781152D7C9}"/>
                </a:ext>
              </a:extLst>
            </p:cNvPr>
            <p:cNvCxnSpPr>
              <a:cxnSpLocks/>
              <a:stCxn id="64"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id="{5FC98075-D65C-BA5A-2093-75138E76A68A}"/>
                </a:ext>
              </a:extLst>
            </p:cNvPr>
            <p:cNvCxnSpPr>
              <a:cxnSpLocks/>
              <a:stCxn id="64" idx="6"/>
              <a:endCxn id="11"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B9D2A461-DBBD-5434-FA71-1E60E8EE8B13}"/>
                </a:ext>
              </a:extLst>
            </p:cNvPr>
            <p:cNvCxnSpPr>
              <a:cxnSpLocks/>
              <a:stCxn id="13" idx="6"/>
              <a:endCxn id="6"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0DB552F6-FD7F-F3BC-9A09-7CB4896E1AE3}"/>
                </a:ext>
              </a:extLst>
            </p:cNvPr>
            <p:cNvCxnSpPr>
              <a:cxnSpLocks/>
              <a:stCxn id="36" idx="6"/>
              <a:endCxn id="6"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8421F91B-4CBA-34A0-3BBC-4E5A1F7D4305}"/>
                </a:ext>
              </a:extLst>
            </p:cNvPr>
            <p:cNvCxnSpPr>
              <a:cxnSpLocks/>
              <a:stCxn id="36" idx="6"/>
              <a:endCxn id="7"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id="{67A81EE7-1BC4-5264-2F83-E58674F1841B}"/>
                </a:ext>
              </a:extLst>
            </p:cNvPr>
            <p:cNvCxnSpPr>
              <a:cxnSpLocks/>
              <a:stCxn id="36" idx="6"/>
              <a:endCxn id="8"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1C24F76-1CD9-1815-BA56-8FCD08A712D5}"/>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F0CA8ED8-FB00-230C-27A9-1C41F068C503}"/>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8D683463-3CCA-F760-0EE9-6F4CF8B8C9F8}"/>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A72763A-8635-F0BA-DBF9-82E22F5234F2}"/>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65C553B-2043-9D1A-6458-D6F3F63692F6}"/>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33BC27EC-6C37-2011-D498-52F0B89F3949}"/>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9400BA16-2DDE-1D24-7BB1-AF95052DB002}"/>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0A2884CC-9B66-9296-2793-2454431EC354}"/>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7" name="CaixaDeTexto 106">
              <a:extLst>
                <a:ext uri="{FF2B5EF4-FFF2-40B4-BE49-F238E27FC236}">
                  <a16:creationId xmlns:a16="http://schemas.microsoft.com/office/drawing/2014/main" id="{534D633C-C7A8-CFF1-D35A-AFC6B5F396DA}"/>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8" name="Freeform: Shape 57">
              <a:extLst>
                <a:ext uri="{FF2B5EF4-FFF2-40B4-BE49-F238E27FC236}">
                  <a16:creationId xmlns:a16="http://schemas.microsoft.com/office/drawing/2014/main" id="{60F60EC0-0E55-F84E-7684-B27136F98553}"/>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CaixaDeTexto 32">
              <a:extLst>
                <a:ext uri="{FF2B5EF4-FFF2-40B4-BE49-F238E27FC236}">
                  <a16:creationId xmlns:a16="http://schemas.microsoft.com/office/drawing/2014/main" id="{C99ECD34-F555-AC03-845E-D488C8B56CA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0" name="CaixaDeTexto 34">
              <a:extLst>
                <a:ext uri="{FF2B5EF4-FFF2-40B4-BE49-F238E27FC236}">
                  <a16:creationId xmlns:a16="http://schemas.microsoft.com/office/drawing/2014/main" id="{91FF672D-E313-8B98-3EA9-38FECDE561D3}"/>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1" name="CaixaDeTexto 40">
              <a:extLst>
                <a:ext uri="{FF2B5EF4-FFF2-40B4-BE49-F238E27FC236}">
                  <a16:creationId xmlns:a16="http://schemas.microsoft.com/office/drawing/2014/main" id="{D245666B-93D8-92BC-771F-308658626B95}"/>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2" name="CaixaDeTexto 36">
              <a:extLst>
                <a:ext uri="{FF2B5EF4-FFF2-40B4-BE49-F238E27FC236}">
                  <a16:creationId xmlns:a16="http://schemas.microsoft.com/office/drawing/2014/main" id="{291F4B66-DF6A-110C-F1C3-B4E07427EC17}"/>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40186641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8BAB64F-3191-BFA9-4ABC-0E738C8F6463}"/>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B197526B-3494-3513-4D28-7FAEAD8CF9DE}"/>
              </a:ext>
            </a:extLst>
          </p:cNvPr>
          <p:cNvSpPr>
            <a:spLocks noGrp="1"/>
          </p:cNvSpPr>
          <p:nvPr>
            <p:ph idx="1"/>
          </p:nvPr>
        </p:nvSpPr>
        <p:spPr>
          <a:xfrm>
            <a:off x="5715000" y="1825625"/>
            <a:ext cx="6389913" cy="5032375"/>
          </a:xfrm>
        </p:spPr>
        <p:txBody>
          <a:bodyPr>
            <a:normAutofit/>
          </a:bodyPr>
          <a:lstStyle/>
          <a:p>
            <a:r>
              <a:rPr lang="pt-BR" dirty="0"/>
              <a:t>As </a:t>
            </a:r>
            <a:r>
              <a:rPr lang="pt-BR" dirty="0" err="1"/>
              <a:t>RNAs</a:t>
            </a:r>
            <a:r>
              <a:rPr lang="pt-BR" dirty="0"/>
              <a:t> são formadas por uma camada de entrada, zero ou mais camadas intermediárias e uma camada de saída.</a:t>
            </a:r>
          </a:p>
          <a:p>
            <a:r>
              <a:rPr lang="pt-BR" dirty="0"/>
              <a:t>A camada de entrada é o ponto de transferência dos atributos para dentro da rede.</a:t>
            </a:r>
          </a:p>
          <a:p>
            <a:pPr lvl="1">
              <a:buFont typeface="Wingdings" panose="05000000000000000000" pitchFamily="2" charset="2"/>
              <a:buChar char="§"/>
            </a:pPr>
            <a:r>
              <a:rPr lang="pt-BR" dirty="0"/>
              <a:t>Essa camada </a:t>
            </a:r>
            <a:r>
              <a:rPr lang="pt-BR" b="1" dirty="0">
                <a:solidFill>
                  <a:srgbClr val="7030A0"/>
                </a:solidFill>
              </a:rPr>
              <a:t>não tem pesos</a:t>
            </a:r>
            <a:r>
              <a:rPr lang="pt-BR" dirty="0"/>
              <a:t>.</a:t>
            </a:r>
          </a:p>
          <a:p>
            <a:pPr lvl="1">
              <a:buFont typeface="Wingdings" panose="05000000000000000000" pitchFamily="2" charset="2"/>
              <a:buChar char="§"/>
            </a:pPr>
            <a:r>
              <a:rPr lang="pt-BR" dirty="0"/>
              <a:t>Ela pode ser usada para aplicar </a:t>
            </a:r>
            <a:r>
              <a:rPr lang="pt-BR" b="1" dirty="0">
                <a:solidFill>
                  <a:srgbClr val="0070C0"/>
                </a:solidFill>
              </a:rPr>
              <a:t>transformações de dimensão</a:t>
            </a:r>
            <a:r>
              <a:rPr lang="pt-BR" dirty="0"/>
              <a:t> aos dados de entrada.</a:t>
            </a:r>
          </a:p>
          <a:p>
            <a:r>
              <a:rPr lang="pt-BR" dirty="0"/>
              <a:t>Cada camada, exceto a de entrada, possui um ou mais neurônios.</a:t>
            </a:r>
          </a:p>
        </p:txBody>
      </p:sp>
      <p:grpSp>
        <p:nvGrpSpPr>
          <p:cNvPr id="7" name="Group 6">
            <a:extLst>
              <a:ext uri="{FF2B5EF4-FFF2-40B4-BE49-F238E27FC236}">
                <a16:creationId xmlns:a16="http://schemas.microsoft.com/office/drawing/2014/main" id="{268E81E0-E693-CEA7-6590-02DA174B04D4}"/>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a16="http://schemas.microsoft.com/office/drawing/2014/main" id="{4913B267-6050-9483-B9A0-F16128F630D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a16="http://schemas.microsoft.com/office/drawing/2014/main" id="{E1E80EA2-A3E1-7E78-0F15-36539FCBAA55}"/>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a16="http://schemas.microsoft.com/office/drawing/2014/main" id="{CEA44ACF-66BE-9C2D-37A9-D1DE5E7D6996}"/>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a16="http://schemas.microsoft.com/office/drawing/2014/main" id="{BCAAEFFB-5959-2A18-AB40-428F6566CA84}"/>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a16="http://schemas.microsoft.com/office/drawing/2014/main" id="{5E65474C-363A-7F72-A29A-4A63B2CD62D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a16="http://schemas.microsoft.com/office/drawing/2014/main" id="{C7E2BCD2-A2E8-1E97-22AA-995F1FE81B07}"/>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a16="http://schemas.microsoft.com/office/drawing/2014/main" id="{1C279E70-8032-2A55-F760-702CD786B8E8}"/>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a16="http://schemas.microsoft.com/office/drawing/2014/main" id="{FA82B0CA-B841-A966-0CA7-B8F2AD454506}"/>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a16="http://schemas.microsoft.com/office/drawing/2014/main" id="{8D8179BE-329F-5957-93A1-A8C75CD31872}"/>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a16="http://schemas.microsoft.com/office/drawing/2014/main" id="{638631F5-08B3-0D31-E22A-495D88FCB7E2}"/>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a16="http://schemas.microsoft.com/office/drawing/2014/main" id="{8A25520D-2B84-C45B-C4D7-D5CA578C4D8A}"/>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a16="http://schemas.microsoft.com/office/drawing/2014/main" id="{A80720B1-4C75-70A5-AD44-54B15B3E3608}"/>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a16="http://schemas.microsoft.com/office/drawing/2014/main" id="{FA3AB5EB-9B5B-D5AB-B94A-21ECD4CE784C}"/>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a16="http://schemas.microsoft.com/office/drawing/2014/main" id="{F15DB20F-7DD6-0EAA-31F9-6739729987A5}"/>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a16="http://schemas.microsoft.com/office/drawing/2014/main" id="{26E0C910-EEA6-511E-2043-18232C39EAE7}"/>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a16="http://schemas.microsoft.com/office/drawing/2014/main" id="{B3AE634C-D59B-15E5-235B-E86CD5B087BC}"/>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a16="http://schemas.microsoft.com/office/drawing/2014/main" id="{7C3C9EB2-354D-B233-8BD0-58DE3CC85822}"/>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a16="http://schemas.microsoft.com/office/drawing/2014/main" id="{1C349E9C-9537-CDD0-6BC0-53345D2F14C1}"/>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a16="http://schemas.microsoft.com/office/drawing/2014/main" id="{D1E58A34-EFB1-7E34-2AFB-98D7AB0D2ADF}"/>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a16="http://schemas.microsoft.com/office/drawing/2014/main" id="{61A73F29-0288-DA04-179B-8EE2FD3F8B57}"/>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a16="http://schemas.microsoft.com/office/drawing/2014/main" id="{7F4AD621-E33D-F090-8DC9-0E45B53CDFAA}"/>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a16="http://schemas.microsoft.com/office/drawing/2014/main" id="{AE5541F0-C9AD-514A-7C2A-30555F17C949}"/>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a16="http://schemas.microsoft.com/office/drawing/2014/main" id="{C941780B-8649-5B58-8F0C-AB979497059D}"/>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a16="http://schemas.microsoft.com/office/drawing/2014/main" id="{3976D140-68D3-A193-0A58-95400E9DFBA9}"/>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a16="http://schemas.microsoft.com/office/drawing/2014/main" id="{8C145B3E-B4E5-E47E-E574-B5358263E835}"/>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a16="http://schemas.microsoft.com/office/drawing/2014/main" id="{531606E9-A38E-43BE-8A0F-D867813FB40B}"/>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a16="http://schemas.microsoft.com/office/drawing/2014/main" id="{044980C5-4696-0BFE-15E4-D3DAC6945938}"/>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a16="http://schemas.microsoft.com/office/drawing/2014/main" id="{5BF4BAC6-5B30-8982-DEF6-11E565F2151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5BF4BAC6-5B30-8982-DEF6-11E565F2151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a16="http://schemas.microsoft.com/office/drawing/2014/main" id="{DB651297-4C7C-DA3F-1E81-E6E14740CC83}"/>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DB651297-4C7C-DA3F-1E81-E6E14740CC83}"/>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id="{7A6FCCEB-A816-DCEF-CAB4-13DB45B216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a16="http://schemas.microsoft.com/office/drawing/2014/main" id="{D4437CE8-DFFA-858D-8D4F-A6EF1964C006}"/>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D4437CE8-DFFA-858D-8D4F-A6EF1964C006}"/>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a16="http://schemas.microsoft.com/office/drawing/2014/main" id="{A27AF8C6-BCF8-9295-BB44-CB4F03235002}"/>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a16="http://schemas.microsoft.com/office/drawing/2014/main" id="{4ABA95CD-793C-1304-110E-B8D14A3782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a16="http://schemas.microsoft.com/office/drawing/2014/main" id="{42BB30E8-15CA-CB8E-1E18-80E39D0FF05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a16="http://schemas.microsoft.com/office/drawing/2014/main" id="{1582D9CE-10BA-59C1-1253-74166853DDA8}"/>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1582D9CE-10BA-59C1-1253-74166853DDA8}"/>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a16="http://schemas.microsoft.com/office/drawing/2014/main" id="{304E59F4-47D0-492C-6B42-0AE38FB6B45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a16="http://schemas.microsoft.com/office/drawing/2014/main" id="{ADBB0925-BFA7-1872-AFF5-A250BFAC4636}"/>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8A98A6CC-109B-097F-2B49-BF12D9DDF6AF}"/>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E55103CE-1C51-05E1-B6AD-B581B58011C7}"/>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84FD13DA-AB61-77AE-E277-8598BF2246DA}"/>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id="{24582E6E-5EBF-09C8-D5EA-09A40873BE2A}"/>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a16="http://schemas.microsoft.com/office/drawing/2014/main" id="{2EAD221C-7709-92E6-526E-1E516CF8DD44}"/>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a16="http://schemas.microsoft.com/office/drawing/2014/main" id="{66B83675-C748-4189-43FE-2DFE76E38C53}"/>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72259D74-2023-93C3-847E-8C2BCC2098EA}"/>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id="{29744E34-AA8E-A716-91B2-456FE6AF32D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a16="http://schemas.microsoft.com/office/drawing/2014/main" id="{341A688F-3427-D132-AE4A-43AAD9494370}"/>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a16="http://schemas.microsoft.com/office/drawing/2014/main" id="{BCDF6F3A-D0B0-47A2-E663-521FBF0AF90A}"/>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CD9E220C-6676-EB86-600D-81FBF6F8DCE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CD9E220C-6676-EB86-600D-81FBF6F8DCE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344C04FC-FA2F-198E-E6DD-B813F3D367BE}"/>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344C04FC-FA2F-198E-E6DD-B813F3D367BE}"/>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7BA32F7-A5BA-EE7E-B5FE-2D8BF8913E31}"/>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7BA32F7-A5BA-EE7E-B5FE-2D8BF8913E31}"/>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0A194D3F-9F78-2E7F-8BAB-6728E6572799}"/>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0A194D3F-9F78-2E7F-8BAB-6728E6572799}"/>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74A0733-D851-B866-C820-7D16386CCFA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874A0733-D851-B866-C820-7D16386CCFA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F5598530-7CA3-296E-6802-5F7972A4D41D}"/>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F5598530-7CA3-296E-6802-5F7972A4D41D}"/>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37F7E51F-CA99-BF55-661C-21C05E150FA0}"/>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37F7E51F-CA99-BF55-661C-21C05E150FA0}"/>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D0B822D-128A-4AA5-2D23-7762D236EF4F}"/>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7D0B822D-128A-4AA5-2D23-7762D236EF4F}"/>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a16="http://schemas.microsoft.com/office/drawing/2014/main" id="{4BDB3906-0247-F853-A5CA-CFB665FE16A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a16="http://schemas.microsoft.com/office/drawing/2014/main" id="{29DACD3F-037A-8453-AE8C-6B6BD53E55FD}"/>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a16="http://schemas.microsoft.com/office/drawing/2014/main" id="{0A340395-4B71-742C-27D0-665C74AB2230}"/>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a16="http://schemas.microsoft.com/office/drawing/2014/main" id="{0B6E1495-BD00-3032-78F8-AF1EE1570D27}"/>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a16="http://schemas.microsoft.com/office/drawing/2014/main" id="{849F91F2-651A-1DE7-8475-81EE4FF01DE4}"/>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a16="http://schemas.microsoft.com/office/drawing/2014/main" id="{E284BE66-95A9-CA78-0F39-5853C74DF11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8174549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63291-5187-4AD0-557A-BBF4FF2325D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9713AF0-DF7F-AFF7-FD2C-075A9C9C819E}"/>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7942C362-2B1D-8B61-38ED-253B029C4E7F}"/>
              </a:ext>
            </a:extLst>
          </p:cNvPr>
          <p:cNvSpPr>
            <a:spLocks noGrp="1"/>
          </p:cNvSpPr>
          <p:nvPr>
            <p:ph idx="1"/>
          </p:nvPr>
        </p:nvSpPr>
        <p:spPr>
          <a:xfrm>
            <a:off x="5715000" y="1825625"/>
            <a:ext cx="6476999" cy="5032375"/>
          </a:xfrm>
        </p:spPr>
        <p:txBody>
          <a:bodyPr>
            <a:normAutofit/>
          </a:bodyPr>
          <a:lstStyle/>
          <a:p>
            <a:r>
              <a:rPr lang="pt-BR" dirty="0"/>
              <a:t>As camadas intermediárias são também chamadas de </a:t>
            </a:r>
            <a:r>
              <a:rPr lang="pt-BR" b="1" dirty="0">
                <a:solidFill>
                  <a:srgbClr val="7030A0"/>
                </a:solidFill>
              </a:rPr>
              <a:t>ocultas</a:t>
            </a:r>
            <a:r>
              <a:rPr lang="pt-BR" dirty="0"/>
              <a:t> ou </a:t>
            </a:r>
            <a:r>
              <a:rPr lang="pt-BR" b="1" dirty="0">
                <a:solidFill>
                  <a:srgbClr val="7030A0"/>
                </a:solidFill>
              </a:rPr>
              <a:t>escondidas</a:t>
            </a:r>
            <a:r>
              <a:rPr lang="pt-BR" dirty="0"/>
              <a:t>.</a:t>
            </a:r>
          </a:p>
          <a:p>
            <a:r>
              <a:rPr lang="pt-BR" dirty="0"/>
              <a:t>As camadas ocultas permitem:</a:t>
            </a:r>
          </a:p>
          <a:p>
            <a:pPr lvl="1">
              <a:buFont typeface="Wingdings" panose="05000000000000000000" pitchFamily="2" charset="2"/>
              <a:buChar char="§"/>
            </a:pPr>
            <a:r>
              <a:rPr lang="pt-BR" dirty="0"/>
              <a:t>criar </a:t>
            </a:r>
            <a:r>
              <a:rPr lang="pt-BR" b="1" dirty="0"/>
              <a:t>representações intermediárias.</a:t>
            </a:r>
            <a:endParaRPr lang="pt-BR" dirty="0"/>
          </a:p>
          <a:p>
            <a:pPr lvl="1">
              <a:buFont typeface="Wingdings" panose="05000000000000000000" pitchFamily="2" charset="2"/>
              <a:buChar char="§"/>
            </a:pPr>
            <a:r>
              <a:rPr lang="pt-BR" dirty="0"/>
              <a:t>extrair </a:t>
            </a:r>
            <a:r>
              <a:rPr lang="pt-BR" b="1" dirty="0"/>
              <a:t>características relevantes.</a:t>
            </a:r>
            <a:endParaRPr lang="pt-BR" dirty="0"/>
          </a:p>
          <a:p>
            <a:r>
              <a:rPr lang="pt-BR" dirty="0"/>
              <a:t>O primeiro tipo de rede neural proposto foi o </a:t>
            </a:r>
            <a:r>
              <a:rPr lang="pt-BR" b="1" dirty="0">
                <a:solidFill>
                  <a:srgbClr val="00B050"/>
                </a:solidFill>
              </a:rPr>
              <a:t>perceptron de múltiplas camadas</a:t>
            </a:r>
            <a:r>
              <a:rPr lang="pt-BR" dirty="0"/>
              <a:t> (do inglês, </a:t>
            </a:r>
            <a:r>
              <a:rPr lang="pt-BR" i="1" dirty="0"/>
              <a:t>Multilayer Perceptron</a:t>
            </a:r>
            <a:r>
              <a:rPr lang="pt-BR" dirty="0"/>
              <a:t> - MLP).</a:t>
            </a:r>
          </a:p>
          <a:p>
            <a:pPr lvl="1">
              <a:buFont typeface="Wingdings" panose="05000000000000000000" pitchFamily="2" charset="2"/>
              <a:buChar char="§"/>
            </a:pPr>
            <a:r>
              <a:rPr lang="pt-BR" dirty="0"/>
              <a:t>Rede proposta em 1958 por </a:t>
            </a:r>
            <a:r>
              <a:rPr lang="en-US" dirty="0"/>
              <a:t>Frank Rosenblatt.</a:t>
            </a:r>
            <a:endParaRPr lang="pt-BR" dirty="0"/>
          </a:p>
        </p:txBody>
      </p:sp>
      <p:grpSp>
        <p:nvGrpSpPr>
          <p:cNvPr id="7" name="Group 6">
            <a:extLst>
              <a:ext uri="{FF2B5EF4-FFF2-40B4-BE49-F238E27FC236}">
                <a16:creationId xmlns:a16="http://schemas.microsoft.com/office/drawing/2014/main" id="{6B09627C-CE08-2478-8D23-3B4588E066AC}"/>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a16="http://schemas.microsoft.com/office/drawing/2014/main" id="{F5F1809D-2841-E5CA-EEDA-8F996F9FD6F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a16="http://schemas.microsoft.com/office/drawing/2014/main" id="{2E081C33-D4D8-6EB1-CD8C-A25537206201}"/>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a16="http://schemas.microsoft.com/office/drawing/2014/main" id="{D382CEEE-C3D4-07FB-45D6-EFCAC3C9227D}"/>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a16="http://schemas.microsoft.com/office/drawing/2014/main" id="{DC0C73A4-958C-C348-D218-FD95DBF6568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a16="http://schemas.microsoft.com/office/drawing/2014/main" id="{55901D57-70DE-4725-3D03-FAB575F7348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a16="http://schemas.microsoft.com/office/drawing/2014/main" id="{07C898B5-EC5E-64BD-843C-12EC5C9EA38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a16="http://schemas.microsoft.com/office/drawing/2014/main" id="{73EF8050-689A-F56D-39DC-19A8F7B3F314}"/>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a16="http://schemas.microsoft.com/office/drawing/2014/main" id="{52EE33EA-ED9A-141A-28FB-9AEDDFFCD9BA}"/>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a16="http://schemas.microsoft.com/office/drawing/2014/main" id="{C80C3ECA-7703-EA9E-2FA6-B601F3950B7C}"/>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a16="http://schemas.microsoft.com/office/drawing/2014/main" id="{0121DEA3-80D1-546A-A967-4D8E7A23AFFE}"/>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a16="http://schemas.microsoft.com/office/drawing/2014/main" id="{AA463781-F1A3-95A0-7035-EEB88CD7629C}"/>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a16="http://schemas.microsoft.com/office/drawing/2014/main" id="{16EC8692-F71A-1CAE-4F2E-7166B2FB25A4}"/>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a16="http://schemas.microsoft.com/office/drawing/2014/main" id="{5F4C4EE0-A523-C167-CEC0-D8C11A7841F0}"/>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a16="http://schemas.microsoft.com/office/drawing/2014/main" id="{0FCF106F-E873-2EC3-6488-BE7ACB6C9376}"/>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a16="http://schemas.microsoft.com/office/drawing/2014/main" id="{2BEB790B-A599-815D-2CC8-C968853533C8}"/>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a16="http://schemas.microsoft.com/office/drawing/2014/main" id="{4B118A1C-5EEE-42C1-6604-B621705EFD48}"/>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a16="http://schemas.microsoft.com/office/drawing/2014/main" id="{14AFF8CC-AC9F-2724-1E5A-810703AB52BA}"/>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a16="http://schemas.microsoft.com/office/drawing/2014/main" id="{722A8CBB-E96B-2043-D81B-DEF683B448BD}"/>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a16="http://schemas.microsoft.com/office/drawing/2014/main" id="{4638BD3F-20CA-7859-4DC1-F740B12B483B}"/>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a16="http://schemas.microsoft.com/office/drawing/2014/main" id="{6AA11E5C-AB54-CB2F-FE8F-FD2AF31F00DB}"/>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a16="http://schemas.microsoft.com/office/drawing/2014/main" id="{A464DA56-0662-5E09-FA2E-331EB8345D19}"/>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a16="http://schemas.microsoft.com/office/drawing/2014/main" id="{9E679653-00C7-27F4-D4EA-FBF2473CACAF}"/>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a16="http://schemas.microsoft.com/office/drawing/2014/main" id="{764E6DB6-CBA7-2EEF-79AA-24DF3E27D4A1}"/>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a16="http://schemas.microsoft.com/office/drawing/2014/main" id="{DD1E9FEF-720A-AB86-75BF-150C750000C5}"/>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a16="http://schemas.microsoft.com/office/drawing/2014/main" id="{BD741CC3-12D0-AC90-3AB8-3EDC87740418}"/>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a16="http://schemas.microsoft.com/office/drawing/2014/main" id="{D9E7D66D-CCDF-CBE1-7285-BF0DEAEA5826}"/>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a16="http://schemas.microsoft.com/office/drawing/2014/main" id="{43D75E58-76B7-39F6-EBAD-9332B0D528A1}"/>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a16="http://schemas.microsoft.com/office/drawing/2014/main" id="{7A17DA4B-6676-AEAC-180C-86E108D36FE9}"/>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7A17DA4B-6676-AEAC-180C-86E108D36FE9}"/>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a16="http://schemas.microsoft.com/office/drawing/2014/main" id="{E6891195-705B-62D0-B92F-FFEF4CD6B81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E6891195-705B-62D0-B92F-FFEF4CD6B81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id="{A3EBE98D-567A-D327-162A-AB4974C1F0FD}"/>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a16="http://schemas.microsoft.com/office/drawing/2014/main" id="{34E17EFC-1E6C-E9DC-3EF8-F0EDD2321CAE}"/>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34E17EFC-1E6C-E9DC-3EF8-F0EDD2321CAE}"/>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a16="http://schemas.microsoft.com/office/drawing/2014/main" id="{5564EC9B-0785-9139-A99C-ADFABB14EEAA}"/>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a16="http://schemas.microsoft.com/office/drawing/2014/main" id="{08E738CE-27F0-721E-0249-85DB03155688}"/>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a16="http://schemas.microsoft.com/office/drawing/2014/main" id="{135830C3-E6FA-8E6B-B989-1D2F34C8196B}"/>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a16="http://schemas.microsoft.com/office/drawing/2014/main" id="{D45E09C3-0D9C-EB0F-E96E-599562D5693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D45E09C3-0D9C-EB0F-E96E-599562D5693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a16="http://schemas.microsoft.com/office/drawing/2014/main" id="{71301108-A60B-B5A1-DEAE-C5FBB5750EF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a16="http://schemas.microsoft.com/office/drawing/2014/main" id="{0544D7E7-4A93-384A-FE1D-EFB06E41452B}"/>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E7829942-9F7A-456C-06E1-0FDA22EEA3ED}"/>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A7EC2237-770A-1305-3024-6201BF73D4FC}"/>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BBA0EB4A-F0B0-A468-81E9-098010FF982F}"/>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id="{04DADC82-8ACE-215F-1880-5E9CD709B3E3}"/>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a16="http://schemas.microsoft.com/office/drawing/2014/main" id="{30037EE4-118A-F493-8A4D-BEE627965FCF}"/>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a16="http://schemas.microsoft.com/office/drawing/2014/main" id="{E732B412-A9DC-6EB3-AFB4-60B2CA5371DE}"/>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5353916E-3C7D-382C-B435-CE4998378741}"/>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id="{8A04DE0D-CB52-9B8F-F044-F8EBA190333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a16="http://schemas.microsoft.com/office/drawing/2014/main" id="{D7CDE263-B479-1BEE-EBDC-1E9D0936FDD6}"/>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a16="http://schemas.microsoft.com/office/drawing/2014/main" id="{8EEF35CA-096F-4E2A-14E6-F202F64CEDB4}"/>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779066A9-0258-815A-A0AE-E0019C2A8D3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779066A9-0258-815A-A0AE-E0019C2A8D3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6526DE0D-6B24-FBCC-62D0-4C5B3CAED736}"/>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6526DE0D-6B24-FBCC-62D0-4C5B3CAED736}"/>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27751F1-7CDF-48E5-8639-DB5D7B0E017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27751F1-7CDF-48E5-8639-DB5D7B0E017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70DB8FD4-B455-A51F-928D-B4EA8F8FADDE}"/>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70DB8FD4-B455-A51F-928D-B4EA8F8FADDE}"/>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4A3568B0-96EF-778B-A434-0929E90F7E9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4A3568B0-96EF-778B-A434-0929E90F7E9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57567919-B196-0B24-CD82-93E0B7C1BBD7}"/>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57567919-B196-0B24-CD82-93E0B7C1BBD7}"/>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BF6ADB11-0E9B-ADD4-FD7D-EEEE76EEF10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BF6ADB11-0E9B-ADD4-FD7D-EEEE76EEF10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85B3A9EC-E88D-6D5E-A620-7E60AC42AC29}"/>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85B3A9EC-E88D-6D5E-A620-7E60AC42AC29}"/>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a16="http://schemas.microsoft.com/office/drawing/2014/main" id="{97457574-0476-8F51-2E38-000A84393BB5}"/>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a16="http://schemas.microsoft.com/office/drawing/2014/main" id="{914BB7D8-BDC1-980A-A3C5-2414B32FFC25}"/>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a16="http://schemas.microsoft.com/office/drawing/2014/main" id="{CCF73238-5C8F-EF65-3EE9-5987486D9DD1}"/>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a16="http://schemas.microsoft.com/office/drawing/2014/main" id="{1447EAE3-BBCA-353C-85B0-8168ED864A04}"/>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a16="http://schemas.microsoft.com/office/drawing/2014/main" id="{443237A2-7B33-55AE-AA4A-0E673846D76C}"/>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a16="http://schemas.microsoft.com/office/drawing/2014/main" id="{C7DBA98F-A5F5-21D6-7C7D-6FD9F5CCFFA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98523864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CE8BE39C-3F59-3AF0-B514-4C93BDC4DCC0}"/>
              </a:ext>
            </a:extLst>
          </p:cNvPr>
          <p:cNvGrpSpPr/>
          <p:nvPr/>
        </p:nvGrpSpPr>
        <p:grpSpPr>
          <a:xfrm>
            <a:off x="3107872" y="440872"/>
            <a:ext cx="5976256" cy="5976256"/>
            <a:chOff x="3020786" y="440872"/>
            <a:chExt cx="5976256" cy="5976256"/>
          </a:xfrm>
        </p:grpSpPr>
        <p:pic>
          <p:nvPicPr>
            <p:cNvPr id="5" name="Picture 4">
              <a:extLst>
                <a:ext uri="{FF2B5EF4-FFF2-40B4-BE49-F238E27FC236}">
                  <a16:creationId xmlns:a16="http://schemas.microsoft.com/office/drawing/2014/main" id="{E0538820-64CD-65AF-6306-AEB3879A20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20786" y="440872"/>
              <a:ext cx="5976256" cy="5976256"/>
            </a:xfrm>
            <a:prstGeom prst="rect">
              <a:avLst/>
            </a:prstGeom>
          </p:spPr>
        </p:pic>
        <p:sp>
          <p:nvSpPr>
            <p:cNvPr id="6" name="TextBox 5">
              <a:extLst>
                <a:ext uri="{FF2B5EF4-FFF2-40B4-BE49-F238E27FC236}">
                  <a16:creationId xmlns:a16="http://schemas.microsoft.com/office/drawing/2014/main" id="{9D886CFA-C0D2-3102-EA0D-5092AEF6A37B}"/>
                </a:ext>
              </a:extLst>
            </p:cNvPr>
            <p:cNvSpPr txBox="1"/>
            <p:nvPr/>
          </p:nvSpPr>
          <p:spPr>
            <a:xfrm>
              <a:off x="4234541" y="4495800"/>
              <a:ext cx="1774373" cy="923330"/>
            </a:xfrm>
            <a:prstGeom prst="rect">
              <a:avLst/>
            </a:prstGeom>
            <a:noFill/>
          </p:spPr>
          <p:txBody>
            <a:bodyPr wrap="square" rtlCol="0">
              <a:spAutoFit/>
            </a:bodyPr>
            <a:lstStyle/>
            <a:p>
              <a:pPr algn="ctr"/>
              <a:r>
                <a:rPr lang="pt-BR" b="1" dirty="0">
                  <a:solidFill>
                    <a:srgbClr val="7030A0"/>
                  </a:solidFill>
                  <a:highlight>
                    <a:srgbClr val="00FFFF"/>
                  </a:highlight>
                </a:rPr>
                <a:t>Saída da camada anterior da rede neural</a:t>
              </a:r>
              <a:endParaRPr lang="en-US" b="1" dirty="0">
                <a:solidFill>
                  <a:srgbClr val="7030A0"/>
                </a:solidFill>
                <a:highlight>
                  <a:srgbClr val="00FFFF"/>
                </a:highlight>
              </a:endParaRPr>
            </a:p>
          </p:txBody>
        </p:sp>
        <p:sp>
          <p:nvSpPr>
            <p:cNvPr id="8" name="TextBox 7">
              <a:extLst>
                <a:ext uri="{FF2B5EF4-FFF2-40B4-BE49-F238E27FC236}">
                  <a16:creationId xmlns:a16="http://schemas.microsoft.com/office/drawing/2014/main" id="{DCA7CE31-31A2-E045-C746-E9DAD42E9A0F}"/>
                </a:ext>
              </a:extLst>
            </p:cNvPr>
            <p:cNvSpPr txBox="1"/>
            <p:nvPr/>
          </p:nvSpPr>
          <p:spPr>
            <a:xfrm>
              <a:off x="4082141" y="1892567"/>
              <a:ext cx="1524001" cy="369332"/>
            </a:xfrm>
            <a:prstGeom prst="rect">
              <a:avLst/>
            </a:prstGeom>
            <a:noFill/>
          </p:spPr>
          <p:txBody>
            <a:bodyPr wrap="square" rtlCol="0">
              <a:spAutoFit/>
            </a:bodyPr>
            <a:lstStyle/>
            <a:p>
              <a:pPr algn="ctr"/>
              <a:r>
                <a:rPr lang="pt-BR" b="1" dirty="0">
                  <a:solidFill>
                    <a:srgbClr val="7030A0"/>
                  </a:solidFill>
                  <a:highlight>
                    <a:srgbClr val="00FFFF"/>
                  </a:highlight>
                </a:rPr>
                <a:t>neurônio</a:t>
              </a:r>
              <a:endParaRPr lang="en-US" b="1" dirty="0">
                <a:solidFill>
                  <a:srgbClr val="7030A0"/>
                </a:solidFill>
                <a:highlight>
                  <a:srgbClr val="00FFFF"/>
                </a:highlight>
              </a:endParaRPr>
            </a:p>
          </p:txBody>
        </p:sp>
        <p:sp>
          <p:nvSpPr>
            <p:cNvPr id="9" name="TextBox 8">
              <a:extLst>
                <a:ext uri="{FF2B5EF4-FFF2-40B4-BE49-F238E27FC236}">
                  <a16:creationId xmlns:a16="http://schemas.microsoft.com/office/drawing/2014/main" id="{C384550B-383A-873F-97FE-B77AC94B99AB}"/>
                </a:ext>
              </a:extLst>
            </p:cNvPr>
            <p:cNvSpPr txBox="1"/>
            <p:nvPr/>
          </p:nvSpPr>
          <p:spPr>
            <a:xfrm>
              <a:off x="6346374" y="555171"/>
              <a:ext cx="1981197" cy="923330"/>
            </a:xfrm>
            <a:prstGeom prst="rect">
              <a:avLst/>
            </a:prstGeom>
            <a:noFill/>
          </p:spPr>
          <p:txBody>
            <a:bodyPr wrap="square" rtlCol="0">
              <a:spAutoFit/>
            </a:bodyPr>
            <a:lstStyle/>
            <a:p>
              <a:pPr algn="ctr"/>
              <a:r>
                <a:rPr lang="pt-BR" b="1" dirty="0">
                  <a:solidFill>
                    <a:srgbClr val="7030A0"/>
                  </a:solidFill>
                  <a:highlight>
                    <a:srgbClr val="00FFFF"/>
                  </a:highlight>
                </a:rPr>
                <a:t>Entrada da próxima camada da rede neural</a:t>
              </a:r>
              <a:endParaRPr lang="en-US" b="1" dirty="0">
                <a:solidFill>
                  <a:srgbClr val="7030A0"/>
                </a:solidFill>
                <a:highlight>
                  <a:srgbClr val="00FFFF"/>
                </a:highlight>
              </a:endParaRPr>
            </a:p>
          </p:txBody>
        </p:sp>
      </p:grpSp>
    </p:spTree>
    <p:extLst>
      <p:ext uri="{BB962C8B-B14F-4D97-AF65-F5344CB8AC3E}">
        <p14:creationId xmlns:p14="http://schemas.microsoft.com/office/powerpoint/2010/main" val="8994085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9AF09-2D36-1C96-F8B0-431B4FD8CFC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5DEF320-0216-8F92-2370-F2CBE063FAC0}"/>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E7EAF4C3-D39B-6291-6EFB-AD306FF6F971}"/>
              </a:ext>
            </a:extLst>
          </p:cNvPr>
          <p:cNvSpPr>
            <a:spLocks noGrp="1"/>
          </p:cNvSpPr>
          <p:nvPr>
            <p:ph idx="1"/>
          </p:nvPr>
        </p:nvSpPr>
        <p:spPr>
          <a:xfrm>
            <a:off x="5613250" y="1825625"/>
            <a:ext cx="6578749" cy="5032375"/>
          </a:xfrm>
        </p:spPr>
        <p:txBody>
          <a:bodyPr>
            <a:normAutofit/>
          </a:bodyPr>
          <a:lstStyle/>
          <a:p>
            <a:r>
              <a:rPr lang="pt-BR" dirty="0"/>
              <a:t>As </a:t>
            </a:r>
            <a:r>
              <a:rPr lang="pt-BR" dirty="0" err="1"/>
              <a:t>MLPs</a:t>
            </a:r>
            <a:r>
              <a:rPr lang="pt-BR" dirty="0"/>
              <a:t> também são chamadas de </a:t>
            </a:r>
            <a:r>
              <a:rPr lang="pt-BR" b="1" dirty="0">
                <a:solidFill>
                  <a:srgbClr val="00B050"/>
                </a:solidFill>
              </a:rPr>
              <a:t>redes densamente conectadas e </a:t>
            </a:r>
            <a:r>
              <a:rPr lang="pt-BR" b="1" dirty="0">
                <a:solidFill>
                  <a:srgbClr val="0070C0"/>
                </a:solidFill>
              </a:rPr>
              <a:t>de alimentação direta</a:t>
            </a:r>
            <a:r>
              <a:rPr lang="pt-BR" b="1" dirty="0">
                <a:solidFill>
                  <a:srgbClr val="00B050"/>
                </a:solidFill>
              </a:rPr>
              <a:t> </a:t>
            </a:r>
            <a:r>
              <a:rPr lang="pt-BR" dirty="0"/>
              <a:t>(do inglês, </a:t>
            </a:r>
            <a:r>
              <a:rPr lang="pt-BR" i="1" dirty="0" err="1"/>
              <a:t>Dense</a:t>
            </a:r>
            <a:r>
              <a:rPr lang="pt-BR" i="1" dirty="0"/>
              <a:t> Neural Network</a:t>
            </a:r>
            <a:r>
              <a:rPr lang="pt-BR" dirty="0"/>
              <a:t> - DNN).</a:t>
            </a:r>
          </a:p>
          <a:p>
            <a:pPr lvl="1">
              <a:buFont typeface="Wingdings" panose="05000000000000000000" pitchFamily="2" charset="2"/>
              <a:buChar char="§"/>
            </a:pPr>
            <a:r>
              <a:rPr lang="pt-BR" dirty="0"/>
              <a:t>Cada uma das saídas de uma camada </a:t>
            </a:r>
            <a:r>
              <a:rPr lang="pt-BR" b="1" dirty="0">
                <a:solidFill>
                  <a:srgbClr val="7030A0"/>
                </a:solidFill>
              </a:rPr>
              <a:t>se conecta a todos os nós</a:t>
            </a:r>
            <a:r>
              <a:rPr lang="pt-BR" dirty="0"/>
              <a:t> da camada seguinte através de pesos sinápticos.</a:t>
            </a:r>
          </a:p>
          <a:p>
            <a:pPr lvl="1">
              <a:buFont typeface="Wingdings" panose="05000000000000000000" pitchFamily="2" charset="2"/>
              <a:buChar char="§"/>
            </a:pPr>
            <a:r>
              <a:rPr lang="pt-BR" dirty="0"/>
              <a:t>Os </a:t>
            </a:r>
            <a:r>
              <a:rPr lang="pt-BR" b="1" dirty="0">
                <a:solidFill>
                  <a:srgbClr val="7030A0"/>
                </a:solidFill>
              </a:rPr>
              <a:t>dados fluem através da rede em uma única direção</a:t>
            </a:r>
            <a:r>
              <a:rPr lang="pt-BR" dirty="0"/>
              <a:t>, da camada de entrada para a camada de saída, </a:t>
            </a:r>
            <a:r>
              <a:rPr lang="pt-BR" b="1" dirty="0">
                <a:solidFill>
                  <a:srgbClr val="0070C0"/>
                </a:solidFill>
              </a:rPr>
              <a:t>sem realimentação</a:t>
            </a:r>
            <a:r>
              <a:rPr lang="pt-BR" dirty="0"/>
              <a:t>.</a:t>
            </a:r>
          </a:p>
        </p:txBody>
      </p:sp>
      <p:grpSp>
        <p:nvGrpSpPr>
          <p:cNvPr id="4" name="Group 3">
            <a:extLst>
              <a:ext uri="{FF2B5EF4-FFF2-40B4-BE49-F238E27FC236}">
                <a16:creationId xmlns:a16="http://schemas.microsoft.com/office/drawing/2014/main" id="{D924ED20-DB0B-B274-ED07-B46D83830178}"/>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id="{29948293-D84F-2EEA-726F-6E2D0DC63AC9}"/>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2F884F2B-D676-BE90-F55A-AE2E4A1EB93E}"/>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9" name="Elipse 79">
              <a:extLst>
                <a:ext uri="{FF2B5EF4-FFF2-40B4-BE49-F238E27FC236}">
                  <a16:creationId xmlns:a16="http://schemas.microsoft.com/office/drawing/2014/main" id="{B14FBD0A-FD76-660B-B239-715AA790B8C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0" name="Elipse 81">
              <a:extLst>
                <a:ext uri="{FF2B5EF4-FFF2-40B4-BE49-F238E27FC236}">
                  <a16:creationId xmlns:a16="http://schemas.microsoft.com/office/drawing/2014/main" id="{06D55CDC-7A7A-6C7C-5081-BFBD4A87BCD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1" name="Elipse 82">
              <a:extLst>
                <a:ext uri="{FF2B5EF4-FFF2-40B4-BE49-F238E27FC236}">
                  <a16:creationId xmlns:a16="http://schemas.microsoft.com/office/drawing/2014/main" id="{F35A5214-8555-DC80-A79A-F480CA0BC45E}"/>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2" name="Elipse 83">
              <a:extLst>
                <a:ext uri="{FF2B5EF4-FFF2-40B4-BE49-F238E27FC236}">
                  <a16:creationId xmlns:a16="http://schemas.microsoft.com/office/drawing/2014/main" id="{FBB24D42-87E9-834C-F859-0D3ECB27FA6E}"/>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3" name="Elipse 84">
              <a:extLst>
                <a:ext uri="{FF2B5EF4-FFF2-40B4-BE49-F238E27FC236}">
                  <a16:creationId xmlns:a16="http://schemas.microsoft.com/office/drawing/2014/main" id="{10B7C2A0-948F-EA7C-F037-18B4BDC907C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4" name="Elipse 85">
              <a:extLst>
                <a:ext uri="{FF2B5EF4-FFF2-40B4-BE49-F238E27FC236}">
                  <a16:creationId xmlns:a16="http://schemas.microsoft.com/office/drawing/2014/main" id="{28CE139E-ED6D-C9B8-5A46-3EDBED04F987}"/>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75" name="Conector de Seta Reta 86">
              <a:extLst>
                <a:ext uri="{FF2B5EF4-FFF2-40B4-BE49-F238E27FC236}">
                  <a16:creationId xmlns:a16="http://schemas.microsoft.com/office/drawing/2014/main" id="{92D91658-C06E-945B-93C9-F40A6754DFCE}"/>
                </a:ext>
              </a:extLst>
            </p:cNvPr>
            <p:cNvCxnSpPr>
              <a:cxnSpLocks/>
              <a:stCxn id="72"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87">
              <a:extLst>
                <a:ext uri="{FF2B5EF4-FFF2-40B4-BE49-F238E27FC236}">
                  <a16:creationId xmlns:a16="http://schemas.microsoft.com/office/drawing/2014/main" id="{8BF8ADC7-9AB4-84BF-58B6-F32F694D6D0F}"/>
                </a:ext>
              </a:extLst>
            </p:cNvPr>
            <p:cNvCxnSpPr>
              <a:stCxn id="72"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Conector de Seta Reta 88">
              <a:extLst>
                <a:ext uri="{FF2B5EF4-FFF2-40B4-BE49-F238E27FC236}">
                  <a16:creationId xmlns:a16="http://schemas.microsoft.com/office/drawing/2014/main" id="{7C3C37D3-91EA-E597-8145-3E0EDDB8F60C}"/>
                </a:ext>
              </a:extLst>
            </p:cNvPr>
            <p:cNvCxnSpPr>
              <a:stCxn id="72" idx="6"/>
              <a:endCxn id="69"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90">
              <a:extLst>
                <a:ext uri="{FF2B5EF4-FFF2-40B4-BE49-F238E27FC236}">
                  <a16:creationId xmlns:a16="http://schemas.microsoft.com/office/drawing/2014/main" id="{8C99D29D-DF0E-D6CE-8E07-2C192DE2D207}"/>
                </a:ext>
              </a:extLst>
            </p:cNvPr>
            <p:cNvCxnSpPr>
              <a:cxnSpLocks/>
              <a:stCxn id="73"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de Seta Reta 91">
              <a:extLst>
                <a:ext uri="{FF2B5EF4-FFF2-40B4-BE49-F238E27FC236}">
                  <a16:creationId xmlns:a16="http://schemas.microsoft.com/office/drawing/2014/main" id="{F96EA774-239F-1834-0663-92FB36C61AD2}"/>
                </a:ext>
              </a:extLst>
            </p:cNvPr>
            <p:cNvCxnSpPr>
              <a:stCxn id="74"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92">
              <a:extLst>
                <a:ext uri="{FF2B5EF4-FFF2-40B4-BE49-F238E27FC236}">
                  <a16:creationId xmlns:a16="http://schemas.microsoft.com/office/drawing/2014/main" id="{2C46ADD9-5CE2-264A-3F1B-85302074545E}"/>
                </a:ext>
              </a:extLst>
            </p:cNvPr>
            <p:cNvCxnSpPr>
              <a:stCxn id="73"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1" name="Conector de Seta Reta 93">
              <a:extLst>
                <a:ext uri="{FF2B5EF4-FFF2-40B4-BE49-F238E27FC236}">
                  <a16:creationId xmlns:a16="http://schemas.microsoft.com/office/drawing/2014/main" id="{FF6F99C4-65EB-D71D-708E-22F5AEE1169A}"/>
                </a:ext>
              </a:extLst>
            </p:cNvPr>
            <p:cNvCxnSpPr>
              <a:stCxn id="73" idx="6"/>
              <a:endCxn id="69"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96">
              <a:extLst>
                <a:ext uri="{FF2B5EF4-FFF2-40B4-BE49-F238E27FC236}">
                  <a16:creationId xmlns:a16="http://schemas.microsoft.com/office/drawing/2014/main" id="{987B39F3-CDB7-E9A6-7B95-D31E70170B3E}"/>
                </a:ext>
              </a:extLst>
            </p:cNvPr>
            <p:cNvCxnSpPr>
              <a:stCxn id="74" idx="6"/>
              <a:endCxn id="69"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Conector de Seta Reta 98">
              <a:extLst>
                <a:ext uri="{FF2B5EF4-FFF2-40B4-BE49-F238E27FC236}">
                  <a16:creationId xmlns:a16="http://schemas.microsoft.com/office/drawing/2014/main" id="{4B18193A-6A5C-66DF-5BFE-94EFCE1991CE}"/>
                </a:ext>
              </a:extLst>
            </p:cNvPr>
            <p:cNvCxnSpPr>
              <a:stCxn id="5" idx="6"/>
              <a:endCxn id="70"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99">
              <a:extLst>
                <a:ext uri="{FF2B5EF4-FFF2-40B4-BE49-F238E27FC236}">
                  <a16:creationId xmlns:a16="http://schemas.microsoft.com/office/drawing/2014/main" id="{22D12D0A-B338-6C33-AD76-99297BA89D75}"/>
                </a:ext>
              </a:extLst>
            </p:cNvPr>
            <p:cNvCxnSpPr>
              <a:stCxn id="6" idx="6"/>
              <a:endCxn id="71"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100">
              <a:extLst>
                <a:ext uri="{FF2B5EF4-FFF2-40B4-BE49-F238E27FC236}">
                  <a16:creationId xmlns:a16="http://schemas.microsoft.com/office/drawing/2014/main" id="{024A7AC3-1750-DE11-B8BD-6F33398E5538}"/>
                </a:ext>
              </a:extLst>
            </p:cNvPr>
            <p:cNvCxnSpPr>
              <a:stCxn id="69" idx="6"/>
              <a:endCxn id="71"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102">
              <a:extLst>
                <a:ext uri="{FF2B5EF4-FFF2-40B4-BE49-F238E27FC236}">
                  <a16:creationId xmlns:a16="http://schemas.microsoft.com/office/drawing/2014/main" id="{98E2E661-5627-796C-27AE-57FC373176FD}"/>
                </a:ext>
              </a:extLst>
            </p:cNvPr>
            <p:cNvCxnSpPr>
              <a:cxnSpLocks/>
              <a:stCxn id="5" idx="6"/>
              <a:endCxn id="71"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7" name="Conector de Seta Reta 103">
              <a:extLst>
                <a:ext uri="{FF2B5EF4-FFF2-40B4-BE49-F238E27FC236}">
                  <a16:creationId xmlns:a16="http://schemas.microsoft.com/office/drawing/2014/main" id="{3958AEFF-A6B3-8BA9-1E1B-456F88797EEE}"/>
                </a:ext>
              </a:extLst>
            </p:cNvPr>
            <p:cNvCxnSpPr>
              <a:stCxn id="6" idx="6"/>
              <a:endCxn id="70"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104">
              <a:extLst>
                <a:ext uri="{FF2B5EF4-FFF2-40B4-BE49-F238E27FC236}">
                  <a16:creationId xmlns:a16="http://schemas.microsoft.com/office/drawing/2014/main" id="{F62ED6E5-B26E-12EE-0859-CB7F858AC4E6}"/>
                </a:ext>
              </a:extLst>
            </p:cNvPr>
            <p:cNvCxnSpPr>
              <a:stCxn id="69" idx="6"/>
              <a:endCxn id="70"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9" name="CaixaDeTexto 106">
              <a:extLst>
                <a:ext uri="{FF2B5EF4-FFF2-40B4-BE49-F238E27FC236}">
                  <a16:creationId xmlns:a16="http://schemas.microsoft.com/office/drawing/2014/main" id="{00F05F67-8F3F-A953-F291-CE95FAC0320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90" name="Forma Livre: Forma 107">
              <a:extLst>
                <a:ext uri="{FF2B5EF4-FFF2-40B4-BE49-F238E27FC236}">
                  <a16:creationId xmlns:a16="http://schemas.microsoft.com/office/drawing/2014/main" id="{712F7096-5996-19BB-2D9E-7DC0B82B8E5F}"/>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91" name="Conector reto 112">
              <a:extLst>
                <a:ext uri="{FF2B5EF4-FFF2-40B4-BE49-F238E27FC236}">
                  <a16:creationId xmlns:a16="http://schemas.microsoft.com/office/drawing/2014/main" id="{ADFEE403-5C40-93EB-58F6-232F55E47F45}"/>
                </a:ext>
              </a:extLst>
            </p:cNvPr>
            <p:cNvCxnSpPr>
              <a:cxnSpLocks/>
              <a:stCxn id="127" idx="6"/>
              <a:endCxn id="73"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2" name="Conector de Seta Reta 113">
              <a:extLst>
                <a:ext uri="{FF2B5EF4-FFF2-40B4-BE49-F238E27FC236}">
                  <a16:creationId xmlns:a16="http://schemas.microsoft.com/office/drawing/2014/main" id="{D682A7AD-C53E-6B36-9846-0ACF902AB3D8}"/>
                </a:ext>
              </a:extLst>
            </p:cNvPr>
            <p:cNvCxnSpPr>
              <a:cxnSpLocks/>
              <a:stCxn id="70" idx="6"/>
              <a:endCxn id="94"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114">
              <a:extLst>
                <a:ext uri="{FF2B5EF4-FFF2-40B4-BE49-F238E27FC236}">
                  <a16:creationId xmlns:a16="http://schemas.microsoft.com/office/drawing/2014/main" id="{0B09B6F2-9B8C-124B-EE2A-EBD1004DDA67}"/>
                </a:ext>
              </a:extLst>
            </p:cNvPr>
            <p:cNvCxnSpPr>
              <a:cxnSpLocks/>
              <a:stCxn id="71"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4" name="CaixaDeTexto 5">
                  <a:extLst>
                    <a:ext uri="{FF2B5EF4-FFF2-40B4-BE49-F238E27FC236}">
                      <a16:creationId xmlns:a16="http://schemas.microsoft.com/office/drawing/2014/main" id="{6287D2CB-DA65-2DEA-359C-E4FB0935D7B1}"/>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94" name="CaixaDeTexto 5">
                  <a:extLst>
                    <a:ext uri="{FF2B5EF4-FFF2-40B4-BE49-F238E27FC236}">
                      <a16:creationId xmlns:a16="http://schemas.microsoft.com/office/drawing/2014/main" id="{6287D2CB-DA65-2DEA-359C-E4FB0935D7B1}"/>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CaixaDeTexto 6">
                  <a:extLst>
                    <a:ext uri="{FF2B5EF4-FFF2-40B4-BE49-F238E27FC236}">
                      <a16:creationId xmlns:a16="http://schemas.microsoft.com/office/drawing/2014/main" id="{A3231782-8414-5002-E314-41DD851D3A4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95" name="CaixaDeTexto 6">
                  <a:extLst>
                    <a:ext uri="{FF2B5EF4-FFF2-40B4-BE49-F238E27FC236}">
                      <a16:creationId xmlns:a16="http://schemas.microsoft.com/office/drawing/2014/main" id="{A3231782-8414-5002-E314-41DD851D3A4E}"/>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96" name="Group 95">
              <a:extLst>
                <a:ext uri="{FF2B5EF4-FFF2-40B4-BE49-F238E27FC236}">
                  <a16:creationId xmlns:a16="http://schemas.microsoft.com/office/drawing/2014/main" id="{2BA9E097-F984-A14E-6970-260F32726E8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26" name="CaixaDeTexto 115">
                    <a:extLst>
                      <a:ext uri="{FF2B5EF4-FFF2-40B4-BE49-F238E27FC236}">
                        <a16:creationId xmlns:a16="http://schemas.microsoft.com/office/drawing/2014/main" id="{D2809C79-1170-E3F5-06A4-2BD22C1E9BC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126" name="CaixaDeTexto 115">
                    <a:extLst>
                      <a:ext uri="{FF2B5EF4-FFF2-40B4-BE49-F238E27FC236}">
                        <a16:creationId xmlns:a16="http://schemas.microsoft.com/office/drawing/2014/main" id="{D2809C79-1170-E3F5-06A4-2BD22C1E9BC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27" name="Elipse 3">
                <a:extLst>
                  <a:ext uri="{FF2B5EF4-FFF2-40B4-BE49-F238E27FC236}">
                    <a16:creationId xmlns:a16="http://schemas.microsoft.com/office/drawing/2014/main" id="{DA555B05-15A9-7FC3-6752-F287C2EE7C9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97" name="Elipse 83">
              <a:extLst>
                <a:ext uri="{FF2B5EF4-FFF2-40B4-BE49-F238E27FC236}">
                  <a16:creationId xmlns:a16="http://schemas.microsoft.com/office/drawing/2014/main" id="{69072751-CBC4-5501-9942-9D51B0542D0E}"/>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98" name="Group 97">
              <a:extLst>
                <a:ext uri="{FF2B5EF4-FFF2-40B4-BE49-F238E27FC236}">
                  <a16:creationId xmlns:a16="http://schemas.microsoft.com/office/drawing/2014/main" id="{1B1AC199-2E59-15CF-9FCC-7E96C524DE74}"/>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24" name="CaixaDeTexto 116">
                    <a:extLst>
                      <a:ext uri="{FF2B5EF4-FFF2-40B4-BE49-F238E27FC236}">
                        <a16:creationId xmlns:a16="http://schemas.microsoft.com/office/drawing/2014/main" id="{82AA9A43-B2CC-6208-F7C8-D6369344189D}"/>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124" name="CaixaDeTexto 116">
                    <a:extLst>
                      <a:ext uri="{FF2B5EF4-FFF2-40B4-BE49-F238E27FC236}">
                        <a16:creationId xmlns:a16="http://schemas.microsoft.com/office/drawing/2014/main" id="{82AA9A43-B2CC-6208-F7C8-D6369344189D}"/>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25" name="Elipse 4">
                <a:extLst>
                  <a:ext uri="{FF2B5EF4-FFF2-40B4-BE49-F238E27FC236}">
                    <a16:creationId xmlns:a16="http://schemas.microsoft.com/office/drawing/2014/main" id="{BBC7C3EF-33A0-D76D-C593-1DE7F3E77AA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99" name="Conector reto 112">
              <a:extLst>
                <a:ext uri="{FF2B5EF4-FFF2-40B4-BE49-F238E27FC236}">
                  <a16:creationId xmlns:a16="http://schemas.microsoft.com/office/drawing/2014/main" id="{989C1505-30AF-BECA-AF0B-0FBD106E9512}"/>
                </a:ext>
              </a:extLst>
            </p:cNvPr>
            <p:cNvCxnSpPr>
              <a:cxnSpLocks/>
              <a:stCxn id="127" idx="6"/>
              <a:endCxn id="72"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0" name="Conector reto 112">
              <a:extLst>
                <a:ext uri="{FF2B5EF4-FFF2-40B4-BE49-F238E27FC236}">
                  <a16:creationId xmlns:a16="http://schemas.microsoft.com/office/drawing/2014/main" id="{740F23A5-4904-E5DA-2B07-CCA94675F536}"/>
                </a:ext>
              </a:extLst>
            </p:cNvPr>
            <p:cNvCxnSpPr>
              <a:cxnSpLocks/>
              <a:stCxn id="127" idx="6"/>
              <a:endCxn id="74"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1" name="Conector reto 112">
              <a:extLst>
                <a:ext uri="{FF2B5EF4-FFF2-40B4-BE49-F238E27FC236}">
                  <a16:creationId xmlns:a16="http://schemas.microsoft.com/office/drawing/2014/main" id="{6BA72260-AC5F-EE29-C681-E0FE56E2FAE2}"/>
                </a:ext>
              </a:extLst>
            </p:cNvPr>
            <p:cNvCxnSpPr>
              <a:cxnSpLocks/>
              <a:stCxn id="127" idx="6"/>
              <a:endCxn id="97"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2" name="Conector reto 112">
              <a:extLst>
                <a:ext uri="{FF2B5EF4-FFF2-40B4-BE49-F238E27FC236}">
                  <a16:creationId xmlns:a16="http://schemas.microsoft.com/office/drawing/2014/main" id="{70AD6C34-D213-4768-DFE5-30E3FD8A9274}"/>
                </a:ext>
              </a:extLst>
            </p:cNvPr>
            <p:cNvCxnSpPr>
              <a:cxnSpLocks/>
              <a:stCxn id="125" idx="6"/>
              <a:endCxn id="97"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3" name="Conector reto 112">
              <a:extLst>
                <a:ext uri="{FF2B5EF4-FFF2-40B4-BE49-F238E27FC236}">
                  <a16:creationId xmlns:a16="http://schemas.microsoft.com/office/drawing/2014/main" id="{F9BEE6A4-F692-495A-9CFD-BD469082B688}"/>
                </a:ext>
              </a:extLst>
            </p:cNvPr>
            <p:cNvCxnSpPr>
              <a:cxnSpLocks/>
              <a:stCxn id="125" idx="6"/>
              <a:endCxn id="74"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4" name="Conector reto 112">
              <a:extLst>
                <a:ext uri="{FF2B5EF4-FFF2-40B4-BE49-F238E27FC236}">
                  <a16:creationId xmlns:a16="http://schemas.microsoft.com/office/drawing/2014/main" id="{9A6C4F21-2765-25CA-70F3-5C375B929F64}"/>
                </a:ext>
              </a:extLst>
            </p:cNvPr>
            <p:cNvCxnSpPr>
              <a:cxnSpLocks/>
              <a:stCxn id="125"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reto 112">
              <a:extLst>
                <a:ext uri="{FF2B5EF4-FFF2-40B4-BE49-F238E27FC236}">
                  <a16:creationId xmlns:a16="http://schemas.microsoft.com/office/drawing/2014/main" id="{63798466-C789-1F7A-82E3-69D78349231B}"/>
                </a:ext>
              </a:extLst>
            </p:cNvPr>
            <p:cNvCxnSpPr>
              <a:cxnSpLocks/>
              <a:stCxn id="125" idx="6"/>
              <a:endCxn id="72"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6" name="Conector de Seta Reta 91">
              <a:extLst>
                <a:ext uri="{FF2B5EF4-FFF2-40B4-BE49-F238E27FC236}">
                  <a16:creationId xmlns:a16="http://schemas.microsoft.com/office/drawing/2014/main" id="{1DD9C884-DFA4-9AE4-8A09-D33FEA35CBD5}"/>
                </a:ext>
              </a:extLst>
            </p:cNvPr>
            <p:cNvCxnSpPr>
              <a:cxnSpLocks/>
              <a:stCxn id="74"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7" name="Conector de Seta Reta 91">
              <a:extLst>
                <a:ext uri="{FF2B5EF4-FFF2-40B4-BE49-F238E27FC236}">
                  <a16:creationId xmlns:a16="http://schemas.microsoft.com/office/drawing/2014/main" id="{3B070BFC-E028-B134-DC7F-72BC97501822}"/>
                </a:ext>
              </a:extLst>
            </p:cNvPr>
            <p:cNvCxnSpPr>
              <a:cxnSpLocks/>
              <a:stCxn id="97"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91">
              <a:extLst>
                <a:ext uri="{FF2B5EF4-FFF2-40B4-BE49-F238E27FC236}">
                  <a16:creationId xmlns:a16="http://schemas.microsoft.com/office/drawing/2014/main" id="{3AA6D75A-2CDC-FAAC-A292-8231A1686310}"/>
                </a:ext>
              </a:extLst>
            </p:cNvPr>
            <p:cNvCxnSpPr>
              <a:cxnSpLocks/>
              <a:stCxn id="97"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9" name="Conector de Seta Reta 91">
              <a:extLst>
                <a:ext uri="{FF2B5EF4-FFF2-40B4-BE49-F238E27FC236}">
                  <a16:creationId xmlns:a16="http://schemas.microsoft.com/office/drawing/2014/main" id="{453602BD-9660-20EB-A247-23CA601C0301}"/>
                </a:ext>
              </a:extLst>
            </p:cNvPr>
            <p:cNvCxnSpPr>
              <a:cxnSpLocks/>
              <a:stCxn id="97" idx="6"/>
              <a:endCxn id="69"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id="{FAC5516A-DA74-40CF-A911-19265B8C59B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0" name="TextBox 109">
                  <a:extLst>
                    <a:ext uri="{FF2B5EF4-FFF2-40B4-BE49-F238E27FC236}">
                      <a16:creationId xmlns:a16="http://schemas.microsoft.com/office/drawing/2014/main" id="{FAC5516A-DA74-40CF-A911-19265B8C59B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48D4C541-9D72-795F-CB94-23277A8FECD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1" name="TextBox 110">
                  <a:extLst>
                    <a:ext uri="{FF2B5EF4-FFF2-40B4-BE49-F238E27FC236}">
                      <a16:creationId xmlns:a16="http://schemas.microsoft.com/office/drawing/2014/main" id="{48D4C541-9D72-795F-CB94-23277A8FECD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3CBCDA0F-DBF1-356B-A17E-AF1E068960C0}"/>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2" name="TextBox 111">
                  <a:extLst>
                    <a:ext uri="{FF2B5EF4-FFF2-40B4-BE49-F238E27FC236}">
                      <a16:creationId xmlns:a16="http://schemas.microsoft.com/office/drawing/2014/main" id="{3CBCDA0F-DBF1-356B-A17E-AF1E068960C0}"/>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3" name="TextBox 112">
                  <a:extLst>
                    <a:ext uri="{FF2B5EF4-FFF2-40B4-BE49-F238E27FC236}">
                      <a16:creationId xmlns:a16="http://schemas.microsoft.com/office/drawing/2014/main" id="{A4B96C09-A67F-D5B8-2B2A-C3913BD454EC}"/>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3" name="TextBox 112">
                  <a:extLst>
                    <a:ext uri="{FF2B5EF4-FFF2-40B4-BE49-F238E27FC236}">
                      <a16:creationId xmlns:a16="http://schemas.microsoft.com/office/drawing/2014/main" id="{A4B96C09-A67F-D5B8-2B2A-C3913BD454EC}"/>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id="{32FE2C6B-6196-155D-55D5-F7C80E410C0D}"/>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4" name="TextBox 113">
                  <a:extLst>
                    <a:ext uri="{FF2B5EF4-FFF2-40B4-BE49-F238E27FC236}">
                      <a16:creationId xmlns:a16="http://schemas.microsoft.com/office/drawing/2014/main" id="{32FE2C6B-6196-155D-55D5-F7C80E410C0D}"/>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E7FD8A71-5F2A-46F7-3118-42F9FA3D7118}"/>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5" name="TextBox 114">
                  <a:extLst>
                    <a:ext uri="{FF2B5EF4-FFF2-40B4-BE49-F238E27FC236}">
                      <a16:creationId xmlns:a16="http://schemas.microsoft.com/office/drawing/2014/main" id="{E7FD8A71-5F2A-46F7-3118-42F9FA3D7118}"/>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269F0A4C-62EE-1281-778E-B8F08205C9F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6" name="TextBox 115">
                  <a:extLst>
                    <a:ext uri="{FF2B5EF4-FFF2-40B4-BE49-F238E27FC236}">
                      <a16:creationId xmlns:a16="http://schemas.microsoft.com/office/drawing/2014/main" id="{269F0A4C-62EE-1281-778E-B8F08205C9F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id="{ABD41E61-E70F-49B2-21A9-6372CA765C30}"/>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7" name="TextBox 116">
                  <a:extLst>
                    <a:ext uri="{FF2B5EF4-FFF2-40B4-BE49-F238E27FC236}">
                      <a16:creationId xmlns:a16="http://schemas.microsoft.com/office/drawing/2014/main" id="{ABD41E61-E70F-49B2-21A9-6372CA765C30}"/>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18" name="CaixaDeTexto 106">
              <a:extLst>
                <a:ext uri="{FF2B5EF4-FFF2-40B4-BE49-F238E27FC236}">
                  <a16:creationId xmlns:a16="http://schemas.microsoft.com/office/drawing/2014/main" id="{BE4D4CE3-50A5-240B-97CB-F0497581F4BB}"/>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19" name="Freeform: Shape 118">
              <a:extLst>
                <a:ext uri="{FF2B5EF4-FFF2-40B4-BE49-F238E27FC236}">
                  <a16:creationId xmlns:a16="http://schemas.microsoft.com/office/drawing/2014/main" id="{70B79FE9-E403-013D-4A80-A5518AF0229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CaixaDeTexto 32">
              <a:extLst>
                <a:ext uri="{FF2B5EF4-FFF2-40B4-BE49-F238E27FC236}">
                  <a16:creationId xmlns:a16="http://schemas.microsoft.com/office/drawing/2014/main" id="{72A729F0-7FED-9107-CC61-88DE3E750614}"/>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21" name="CaixaDeTexto 34">
              <a:extLst>
                <a:ext uri="{FF2B5EF4-FFF2-40B4-BE49-F238E27FC236}">
                  <a16:creationId xmlns:a16="http://schemas.microsoft.com/office/drawing/2014/main" id="{DCDB1514-4AD7-C34B-1816-E426573EBD50}"/>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22" name="CaixaDeTexto 40">
              <a:extLst>
                <a:ext uri="{FF2B5EF4-FFF2-40B4-BE49-F238E27FC236}">
                  <a16:creationId xmlns:a16="http://schemas.microsoft.com/office/drawing/2014/main" id="{83E13EDE-D08E-67D9-387D-E598215599B9}"/>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23" name="CaixaDeTexto 36">
              <a:extLst>
                <a:ext uri="{FF2B5EF4-FFF2-40B4-BE49-F238E27FC236}">
                  <a16:creationId xmlns:a16="http://schemas.microsoft.com/office/drawing/2014/main" id="{AE8766D2-ABFD-A499-E290-A290248C198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128" name="Seta: para a Direita 24">
            <a:extLst>
              <a:ext uri="{FF2B5EF4-FFF2-40B4-BE49-F238E27FC236}">
                <a16:creationId xmlns:a16="http://schemas.microsoft.com/office/drawing/2014/main" id="{60AD9611-06AA-6099-BF9E-448A996631E0}"/>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6223646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9AE79E-FE8C-20C6-3943-DBD770F84E5C}"/>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id="{77D0909E-29B2-B53D-BDF3-AC009A018977}"/>
              </a:ext>
            </a:extLst>
          </p:cNvPr>
          <p:cNvSpPr>
            <a:spLocks noGrp="1"/>
          </p:cNvSpPr>
          <p:nvPr>
            <p:ph idx="1"/>
          </p:nvPr>
        </p:nvSpPr>
        <p:spPr>
          <a:xfrm>
            <a:off x="6096001" y="1825624"/>
            <a:ext cx="6009408" cy="5032375"/>
          </a:xfrm>
        </p:spPr>
        <p:txBody>
          <a:bodyPr/>
          <a:lstStyle/>
          <a:p>
            <a:r>
              <a:rPr lang="pt-BR" dirty="0"/>
              <a:t>As </a:t>
            </a:r>
            <a:r>
              <a:rPr lang="pt-BR" b="1" dirty="0">
                <a:solidFill>
                  <a:srgbClr val="7030A0"/>
                </a:solidFill>
              </a:rPr>
              <a:t>propriedades de uma rede neural </a:t>
            </a:r>
            <a:r>
              <a:rPr lang="pt-BR" dirty="0"/>
              <a:t>são determinadas por sua </a:t>
            </a:r>
            <a:r>
              <a:rPr lang="pt-BR" b="1" dirty="0">
                <a:solidFill>
                  <a:schemeClr val="accent2"/>
                </a:solidFill>
              </a:rPr>
              <a:t>arquitetura</a:t>
            </a:r>
            <a:r>
              <a:rPr lang="pt-BR" dirty="0"/>
              <a:t>.</a:t>
            </a:r>
          </a:p>
          <a:p>
            <a:pPr lvl="1">
              <a:buFont typeface="Wingdings" panose="05000000000000000000" pitchFamily="2" charset="2"/>
              <a:buChar char="§"/>
            </a:pPr>
            <a:r>
              <a:rPr lang="pt-BR" dirty="0"/>
              <a:t>Ela define o que a rede é capaz de aprender e quão bem ela fará isso.</a:t>
            </a:r>
          </a:p>
          <a:p>
            <a:r>
              <a:rPr lang="pt-BR" dirty="0"/>
              <a:t>A arquitetura é definida</a:t>
            </a:r>
          </a:p>
          <a:p>
            <a:pPr lvl="1">
              <a:buFont typeface="Wingdings" panose="05000000000000000000" pitchFamily="2" charset="2"/>
              <a:buChar char="§"/>
            </a:pPr>
            <a:r>
              <a:rPr lang="pt-BR" dirty="0"/>
              <a:t>como os neurônios estão conectados (forma direta ou recursiva),</a:t>
            </a:r>
          </a:p>
          <a:p>
            <a:pPr lvl="1">
              <a:buFont typeface="Wingdings" panose="05000000000000000000" pitchFamily="2" charset="2"/>
              <a:buChar char="§"/>
            </a:pPr>
            <a:r>
              <a:rPr lang="pt-BR" dirty="0"/>
              <a:t>quantidade neurônios por camada,</a:t>
            </a:r>
          </a:p>
          <a:p>
            <a:pPr lvl="1">
              <a:buFont typeface="Wingdings" panose="05000000000000000000" pitchFamily="2" charset="2"/>
              <a:buChar char="§"/>
            </a:pPr>
            <a:r>
              <a:rPr lang="pt-BR" dirty="0"/>
              <a:t>quantidade de camadas escondidas, </a:t>
            </a:r>
          </a:p>
          <a:p>
            <a:pPr lvl="1">
              <a:buFont typeface="Wingdings" panose="05000000000000000000" pitchFamily="2" charset="2"/>
              <a:buChar char="§"/>
            </a:pPr>
            <a:r>
              <a:rPr lang="pt-BR" dirty="0"/>
              <a:t>funções de ativação, </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id="{10B1DF2E-6992-839D-A155-C6C3D55D2C96}"/>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id="{27993ADC-5FC2-911F-7BD0-E0A0F1F00C9C}"/>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441D3988-2595-1604-789B-DA99844EF8B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090E1FDB-0FAD-9376-7A0C-6EDB75C352F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5A58E2B9-3B0F-2548-67C9-AA99FB0C7EAD}"/>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2DE9B73C-F7A3-A6F0-9FFB-DE76E689216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1966FEC9-82F9-D384-8AE6-BC0081C099C0}"/>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9E77B041-441B-DF39-D012-4B3A1793244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3EC1BF5F-BC77-CABE-FD96-66871C93FC70}"/>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84E3475D-7843-2D4F-9156-C2F2F5C93769}"/>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0631D3B3-0ED4-7875-A51E-18CBBDB2DEB7}"/>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EF4BA50C-426B-B11B-F35B-B1172588E4BC}"/>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457AF030-45F7-1FF0-24A0-AE3FBED8DBAC}"/>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F130EB38-05C3-3C8A-6404-CE74A7C44F07}"/>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90302E91-CBA4-6674-38A0-EDE1D8EB1C8B}"/>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753CD5BC-2B57-AFC3-63C9-CD2D303D9E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1A45C7C9-CF98-F959-ACA9-259792951FAB}"/>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51C8C603-FF3A-C1E0-E8B9-B44CF2563C32}"/>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D93DAA12-A48C-4148-4E9B-A3AC320FE70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EE3BAF11-6FB4-CFD7-95D2-1112AEE80E9C}"/>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D7F3C011-433A-710C-E086-3D64246A518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482C9DA7-E763-D411-2DD8-8687964CC2A6}"/>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0BF62E02-5687-CE42-60BF-26EEAAF2B567}"/>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F5D901F7-7C9F-6A25-7E81-58C5F48DC9C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FED54D05-148E-7665-5ACA-9D9F8BED0F73}"/>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E52E7B48-839B-93FA-9880-EA11D740F7A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10A4CFB3-DF90-7A49-7F59-F334BD622F8B}"/>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A481FB3F-6E1F-D6D9-2D22-BDA32E0309B7}"/>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8BB4EDCD-2C4A-8C54-E9A8-B46EB1B4A54F}"/>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BB4EDCD-2C4A-8C54-E9A8-B46EB1B4A54F}"/>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E94CAAA8-84F9-FF01-A0C8-7E08AAC2B06B}"/>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94CAAA8-84F9-FF01-A0C8-7E08AAC2B06B}"/>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4F36CF61-8A3D-263A-5D0D-FC1316751E18}"/>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243F9310-22ED-977F-2643-BBF4A43DD0F1}"/>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243F9310-22ED-977F-2643-BBF4A43DD0F1}"/>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7209"/>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7385B95F-8DDB-AE6F-5FB2-8D49F3BA9A7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97BCAF4C-B3AE-0E96-89E5-A80F48A81EA7}"/>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90ED44EB-0C02-0E1D-1AFD-C70B01E57A2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19A33E77-BA6B-210C-C610-B4D9D744677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19A33E77-BA6B-210C-C610-B4D9D744677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412DB648-5C4F-890A-C9F3-0429048C9AC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07EEC5BD-824B-66B4-1D2A-823AF2CA44E5}"/>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F47B6D0D-12E8-472D-E266-48CF9886B9D6}"/>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A14196EA-BDCD-73C9-1D1B-596503E73351}"/>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59E70192-9300-7A69-89BC-34EB05FD32D3}"/>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025E12B7-8C55-7105-D8D9-492D3A49E944}"/>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DCDD9103-9C3E-CCEC-3F4F-0EA0038FE1D7}"/>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06A0A113-79F8-6118-1112-AB2CA14F62AA}"/>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D1579316-4048-F3C8-EC0C-AA7072416BF5}"/>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2F6596EE-3707-8911-3737-4C9819E56CDB}"/>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6D865890-CFAA-90BC-084B-962FEF34313D}"/>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64465E6E-E5CA-677B-F28F-61ED51C39090}"/>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724182A-BC9E-A2F6-A1B4-BB8ECF80D9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2724182A-BC9E-A2F6-A1B4-BB8ECF80D9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1044A7A0-B009-4EE4-6E6D-D1E1FDC070C8}"/>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1044A7A0-B009-4EE4-6E6D-D1E1FDC070C8}"/>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77670F4-8D16-A250-1A78-91768C9E1CB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D77670F4-8D16-A250-1A78-91768C9E1CB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182E9E64-9A9C-42E8-A902-4940352E22B5}"/>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182E9E64-9A9C-42E8-A902-4940352E22B5}"/>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5ABD2E40-CB4C-C4AA-C6C7-DA1F416625B3}"/>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5ABD2E40-CB4C-C4AA-C6C7-DA1F416625B3}"/>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0C46355-8CAB-59C9-2C26-87970CB944B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0C46355-8CAB-59C9-2C26-87970CB944B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B47F4BE6-50BF-7915-09C6-1C68FD6CF4D3}"/>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B47F4BE6-50BF-7915-09C6-1C68FD6CF4D3}"/>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21D5993-1351-F7B8-7BB5-8B95030655D6}"/>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521D5993-1351-F7B8-7BB5-8B95030655D6}"/>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79BE2A79-091B-B8FA-D892-BBEF09F5E7B3}"/>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47EEB8F0-84DB-53BB-291C-95F0745E2932}"/>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A6150A8B-A2F2-9F5C-95D3-0537E860018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580B713B-F312-052C-F64A-122A3147D8B2}"/>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9E235BB0-6DD5-2E76-29C6-772FB05DF08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DD19FB58-139E-D1C8-CF86-4EBF2C513AD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66" name="Seta: para a Direita 24">
            <a:extLst>
              <a:ext uri="{FF2B5EF4-FFF2-40B4-BE49-F238E27FC236}">
                <a16:creationId xmlns:a16="http://schemas.microsoft.com/office/drawing/2014/main" id="{CBDA1BC7-1D4F-453C-3389-CB905C7F7735}"/>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80357529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F52993-1566-04A8-953E-C431CFC2F3F2}"/>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id="{874EAA9B-6003-D045-CC88-4188882B271A}"/>
              </a:ext>
            </a:extLst>
          </p:cNvPr>
          <p:cNvSpPr>
            <a:spLocks noGrp="1"/>
          </p:cNvSpPr>
          <p:nvPr>
            <p:ph idx="1"/>
          </p:nvPr>
        </p:nvSpPr>
        <p:spPr>
          <a:xfrm>
            <a:off x="838199" y="1825625"/>
            <a:ext cx="11267210" cy="4351338"/>
          </a:xfrm>
        </p:spPr>
        <p:txBody>
          <a:bodyPr/>
          <a:lstStyle/>
          <a:p>
            <a:r>
              <a:rPr lang="pt-BR" dirty="0"/>
              <a:t>As </a:t>
            </a:r>
            <a:r>
              <a:rPr lang="pt-BR" dirty="0" err="1"/>
              <a:t>RNAs</a:t>
            </a:r>
            <a:r>
              <a:rPr lang="pt-BR" dirty="0"/>
              <a:t> são o coração do </a:t>
            </a:r>
            <a:r>
              <a:rPr lang="pt-BR" b="1" i="1" dirty="0" err="1"/>
              <a:t>deep</a:t>
            </a:r>
            <a:r>
              <a:rPr lang="pt-BR" b="1" i="1" dirty="0"/>
              <a:t> learning </a:t>
            </a:r>
            <a:r>
              <a:rPr lang="pt-BR" b="1" dirty="0"/>
              <a:t>ou aprendizado profundo</a:t>
            </a:r>
            <a:r>
              <a:rPr lang="pt-BR" dirty="0"/>
              <a:t>.</a:t>
            </a:r>
          </a:p>
          <a:p>
            <a:r>
              <a:rPr lang="pt-BR" dirty="0"/>
              <a:t>O termo "</a:t>
            </a:r>
            <a:r>
              <a:rPr lang="pt-BR" b="1" dirty="0">
                <a:solidFill>
                  <a:srgbClr val="00B050"/>
                </a:solidFill>
              </a:rPr>
              <a:t>profundo</a:t>
            </a:r>
            <a:r>
              <a:rPr lang="pt-BR" dirty="0"/>
              <a:t>" vem fato destas redes poderem possuir </a:t>
            </a:r>
            <a:r>
              <a:rPr lang="pt-BR" b="1" dirty="0">
                <a:solidFill>
                  <a:srgbClr val="7030A0"/>
                </a:solidFill>
              </a:rPr>
              <a:t>muitas camadas ocultas</a:t>
            </a:r>
            <a:r>
              <a:rPr lang="pt-BR" dirty="0"/>
              <a:t>.</a:t>
            </a:r>
          </a:p>
          <a:p>
            <a:r>
              <a:rPr lang="pt-BR" dirty="0"/>
              <a:t>Quanto mais profunda, maior é a </a:t>
            </a:r>
            <a:r>
              <a:rPr lang="pt-BR" b="1" dirty="0">
                <a:solidFill>
                  <a:schemeClr val="accent2"/>
                </a:solidFill>
              </a:rPr>
              <a:t>capacidade de aprendizado</a:t>
            </a:r>
            <a:r>
              <a:rPr lang="pt-BR" dirty="0"/>
              <a:t> de uma rede neural.</a:t>
            </a:r>
          </a:p>
        </p:txBody>
      </p:sp>
      <p:grpSp>
        <p:nvGrpSpPr>
          <p:cNvPr id="8" name="Group 7">
            <a:extLst>
              <a:ext uri="{FF2B5EF4-FFF2-40B4-BE49-F238E27FC236}">
                <a16:creationId xmlns:a16="http://schemas.microsoft.com/office/drawing/2014/main" id="{AA23EAEA-060A-1C22-3020-27BBBAF3E612}"/>
              </a:ext>
            </a:extLst>
          </p:cNvPr>
          <p:cNvGrpSpPr/>
          <p:nvPr/>
        </p:nvGrpSpPr>
        <p:grpSpPr>
          <a:xfrm>
            <a:off x="2440839" y="3931907"/>
            <a:ext cx="7310321" cy="2832256"/>
            <a:chOff x="4678169" y="3716345"/>
            <a:chExt cx="7310321" cy="2832256"/>
          </a:xfrm>
        </p:grpSpPr>
        <p:pic>
          <p:nvPicPr>
            <p:cNvPr id="9" name="Picture 4" descr="Future prospects of deep learning in medicine | LaptrinhX">
              <a:extLst>
                <a:ext uri="{FF2B5EF4-FFF2-40B4-BE49-F238E27FC236}">
                  <a16:creationId xmlns:a16="http://schemas.microsoft.com/office/drawing/2014/main" id="{FD27238F-87B0-A3D4-5393-308D26A524F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10" name="CaixaDeTexto 3">
              <a:extLst>
                <a:ext uri="{FF2B5EF4-FFF2-40B4-BE49-F238E27FC236}">
                  <a16:creationId xmlns:a16="http://schemas.microsoft.com/office/drawing/2014/main" id="{C3183ADD-4F13-EA91-59EF-913D3D70EFB7}"/>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11" name="CaixaDeTexto 4">
              <a:extLst>
                <a:ext uri="{FF2B5EF4-FFF2-40B4-BE49-F238E27FC236}">
                  <a16:creationId xmlns:a16="http://schemas.microsoft.com/office/drawing/2014/main" id="{D7F72C6D-BE68-A00C-48BF-9108F2276E2D}"/>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83909919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029A7-1B92-0743-D94F-551F53CCA2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0F732CC-2FD4-6168-5020-66AD57A4B289}"/>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id="{C653729B-FBD8-B36F-5207-9E37720CD997}"/>
              </a:ext>
            </a:extLst>
          </p:cNvPr>
          <p:cNvSpPr>
            <a:spLocks noGrp="1"/>
          </p:cNvSpPr>
          <p:nvPr>
            <p:ph idx="1"/>
          </p:nvPr>
        </p:nvSpPr>
        <p:spPr>
          <a:xfrm>
            <a:off x="838200" y="1825625"/>
            <a:ext cx="11104756" cy="2397727"/>
          </a:xfrm>
        </p:spPr>
        <p:txBody>
          <a:bodyPr>
            <a:normAutofit/>
          </a:bodyPr>
          <a:lstStyle/>
          <a:p>
            <a:r>
              <a:rPr lang="pt-BR" dirty="0"/>
              <a:t>Em geral, quando elas tem </a:t>
            </a:r>
            <a:r>
              <a:rPr lang="pt-BR" b="1" dirty="0">
                <a:solidFill>
                  <a:schemeClr val="accent2"/>
                </a:solidFill>
              </a:rPr>
              <a:t>duas ou mais camadas ocultas</a:t>
            </a:r>
            <a:r>
              <a:rPr lang="pt-BR" dirty="0"/>
              <a:t>, elas podem ser chamadas de </a:t>
            </a:r>
            <a:r>
              <a:rPr lang="pt-BR" b="1" dirty="0"/>
              <a:t>redes neurais profundas</a:t>
            </a:r>
            <a:r>
              <a:rPr lang="pt-BR" dirty="0"/>
              <a:t> (</a:t>
            </a:r>
            <a:r>
              <a:rPr lang="pt-BR" i="1" dirty="0" err="1"/>
              <a:t>Deep</a:t>
            </a:r>
            <a:r>
              <a:rPr lang="pt-BR" i="1" dirty="0"/>
              <a:t> Neural Networks </a:t>
            </a:r>
            <a:r>
              <a:rPr lang="pt-BR" dirty="0"/>
              <a:t>- </a:t>
            </a:r>
            <a:r>
              <a:rPr lang="pt-BR" dirty="0" err="1"/>
              <a:t>DNNs</a:t>
            </a:r>
            <a:r>
              <a:rPr lang="pt-BR" dirty="0"/>
              <a:t>).</a:t>
            </a:r>
            <a:endParaRPr lang="pt-BR" dirty="0">
              <a:solidFill>
                <a:srgbClr val="1F1F1F"/>
              </a:solidFill>
              <a:latin typeface="Google Sans"/>
            </a:endParaRPr>
          </a:p>
          <a:p>
            <a:r>
              <a:rPr lang="pt-BR" dirty="0"/>
              <a:t>Por terem uma grande capacidade de aprendizado, elas precisam de uma </a:t>
            </a:r>
            <a:r>
              <a:rPr lang="pt-BR" b="1" dirty="0">
                <a:solidFill>
                  <a:srgbClr val="7030A0"/>
                </a:solidFill>
              </a:rPr>
              <a:t>grande quantidade de dados para aprenderem uma solução geral</a:t>
            </a:r>
            <a:r>
              <a:rPr lang="pt-BR" dirty="0"/>
              <a:t>.</a:t>
            </a:r>
          </a:p>
        </p:txBody>
      </p:sp>
      <p:grpSp>
        <p:nvGrpSpPr>
          <p:cNvPr id="6" name="Group 5">
            <a:extLst>
              <a:ext uri="{FF2B5EF4-FFF2-40B4-BE49-F238E27FC236}">
                <a16:creationId xmlns:a16="http://schemas.microsoft.com/office/drawing/2014/main" id="{5213EC6B-9964-F0AD-F41B-220541F20C22}"/>
              </a:ext>
            </a:extLst>
          </p:cNvPr>
          <p:cNvGrpSpPr/>
          <p:nvPr/>
        </p:nvGrpSpPr>
        <p:grpSpPr>
          <a:xfrm>
            <a:off x="2440839" y="3931059"/>
            <a:ext cx="7310321" cy="2832256"/>
            <a:chOff x="4678169" y="3716345"/>
            <a:chExt cx="7310321" cy="2832256"/>
          </a:xfrm>
        </p:grpSpPr>
        <p:pic>
          <p:nvPicPr>
            <p:cNvPr id="1028" name="Picture 4" descr="Future prospects of deep learning in medicine | LaptrinhX">
              <a:extLst>
                <a:ext uri="{FF2B5EF4-FFF2-40B4-BE49-F238E27FC236}">
                  <a16:creationId xmlns:a16="http://schemas.microsoft.com/office/drawing/2014/main" id="{777D2658-2AAB-B25A-6674-749DB9CC774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E2A49A03-38AE-D0C4-66A2-B5893933E5F5}"/>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5" name="CaixaDeTexto 4">
              <a:extLst>
                <a:ext uri="{FF2B5EF4-FFF2-40B4-BE49-F238E27FC236}">
                  <a16:creationId xmlns:a16="http://schemas.microsoft.com/office/drawing/2014/main" id="{D1CD49A4-CD97-D5F3-65DA-FB96958FB93B}"/>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9567071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id="{FE65592C-B0D6-412A-1B41-23EDA4B75A92}"/>
              </a:ext>
            </a:extLst>
          </p:cNvPr>
          <p:cNvSpPr>
            <a:spLocks noGrp="1"/>
          </p:cNvSpPr>
          <p:nvPr>
            <p:ph idx="1"/>
          </p:nvPr>
        </p:nvSpPr>
        <p:spPr>
          <a:xfrm>
            <a:off x="838199" y="1825624"/>
            <a:ext cx="11194473" cy="5032375"/>
          </a:xfrm>
        </p:spPr>
        <p:txBody>
          <a:bodyPr>
            <a:normAutofit/>
          </a:bodyPr>
          <a:lstStyle/>
          <a:p>
            <a:r>
              <a:rPr lang="pt-BR" b="0" dirty="0">
                <a:effectLst/>
              </a:rPr>
              <a:t>As redes neurais têm a </a:t>
            </a:r>
            <a:r>
              <a:rPr lang="pt-BR" b="1" dirty="0">
                <a:solidFill>
                  <a:srgbClr val="00B050"/>
                </a:solidFill>
                <a:effectLst/>
              </a:rPr>
              <a:t>capacidade de aproximar funções altamente não-lineares (e lineares também)</a:t>
            </a:r>
            <a:r>
              <a:rPr lang="pt-BR" b="0" dirty="0">
                <a:effectLst/>
              </a:rPr>
              <a:t>.</a:t>
            </a:r>
          </a:p>
          <a:p>
            <a:r>
              <a:rPr lang="pt-BR" dirty="0"/>
              <a:t>E</a:t>
            </a:r>
            <a:r>
              <a:rPr lang="pt-BR" b="0" dirty="0">
                <a:effectLst/>
              </a:rPr>
              <a:t>ssa capacidade </a:t>
            </a:r>
            <a:r>
              <a:rPr lang="pt-BR" b="1" dirty="0">
                <a:solidFill>
                  <a:srgbClr val="00B050"/>
                </a:solidFill>
                <a:effectLst/>
              </a:rPr>
              <a:t>depende da sua arquitetura</a:t>
            </a:r>
            <a:r>
              <a:rPr lang="pt-BR" b="0" dirty="0">
                <a:effectLst/>
              </a:rPr>
              <a:t>.</a:t>
            </a:r>
          </a:p>
          <a:p>
            <a:pPr lvl="1">
              <a:buFont typeface="Wingdings" panose="05000000000000000000" pitchFamily="2" charset="2"/>
              <a:buChar char="§"/>
            </a:pPr>
            <a:r>
              <a:rPr lang="pt-BR" b="0" dirty="0">
                <a:effectLst/>
              </a:rPr>
              <a:t>A </a:t>
            </a:r>
            <a:r>
              <a:rPr lang="pt-BR" b="1" dirty="0">
                <a:solidFill>
                  <a:srgbClr val="7030A0"/>
                </a:solidFill>
                <a:effectLst/>
              </a:rPr>
              <a:t>quantidade de pesos </a:t>
            </a:r>
            <a:r>
              <a:rPr lang="pt-BR" b="0" dirty="0">
                <a:effectLst/>
              </a:rPr>
              <a:t>de uma rede está associada aos seus </a:t>
            </a:r>
            <a:r>
              <a:rPr lang="pt-BR" b="1" dirty="0">
                <a:solidFill>
                  <a:srgbClr val="7030A0"/>
                </a:solidFill>
                <a:effectLst/>
              </a:rPr>
              <a:t>graus de liberdade</a:t>
            </a:r>
            <a:r>
              <a:rPr lang="pt-BR" b="0" dirty="0">
                <a:effectLst/>
              </a:rPr>
              <a:t>, ou seja, à </a:t>
            </a:r>
            <a:r>
              <a:rPr lang="pt-BR" b="1" dirty="0">
                <a:solidFill>
                  <a:srgbClr val="7030A0"/>
                </a:solidFill>
                <a:effectLst/>
              </a:rPr>
              <a:t>capacidade da rede de aproximar diferentes tipos de funções</a:t>
            </a:r>
            <a:r>
              <a:rPr lang="pt-BR" b="0" dirty="0">
                <a:effectLst/>
              </a:rPr>
              <a:t>.</a:t>
            </a:r>
          </a:p>
          <a:p>
            <a:pPr lvl="1">
              <a:buFont typeface="Wingdings" panose="05000000000000000000" pitchFamily="2" charset="2"/>
              <a:buChar char="§"/>
            </a:pPr>
            <a:r>
              <a:rPr lang="pt-BR" dirty="0"/>
              <a:t>Quanto maior a rede, mais pesos e, consequentemente, maior é sua capacidade de aprendizado.</a:t>
            </a:r>
          </a:p>
          <a:p>
            <a:r>
              <a:rPr lang="pt-BR" dirty="0"/>
              <a:t>Portanto, assim como polinômios, que podem </a:t>
            </a:r>
            <a:r>
              <a:rPr lang="pt-BR" b="1" dirty="0">
                <a:solidFill>
                  <a:srgbClr val="0070C0"/>
                </a:solidFill>
              </a:rPr>
              <a:t>aproximar qualquer tipo de função</a:t>
            </a:r>
            <a:r>
              <a:rPr lang="pt-BR" dirty="0">
                <a:solidFill>
                  <a:srgbClr val="0070C0"/>
                </a:solidFill>
              </a:rPr>
              <a:t> </a:t>
            </a:r>
            <a:r>
              <a:rPr lang="pt-BR" dirty="0"/>
              <a:t>(linear ou não linear) devido a seus </a:t>
            </a:r>
            <a:r>
              <a:rPr lang="pt-BR" b="1" dirty="0">
                <a:solidFill>
                  <a:srgbClr val="0070C0"/>
                </a:solidFill>
              </a:rPr>
              <a:t>graus de liberdade</a:t>
            </a:r>
            <a:r>
              <a:rPr lang="pt-BR" dirty="0"/>
              <a:t>, as </a:t>
            </a:r>
            <a:r>
              <a:rPr lang="pt-BR" b="1" dirty="0">
                <a:solidFill>
                  <a:srgbClr val="0070C0"/>
                </a:solidFill>
              </a:rPr>
              <a:t>redes neurais podem fazer o mesmo</a:t>
            </a:r>
            <a:r>
              <a:rPr lang="pt-BR" dirty="0"/>
              <a:t>, bastando apenas que </a:t>
            </a:r>
            <a:r>
              <a:rPr lang="pt-BR" b="1" dirty="0">
                <a:solidFill>
                  <a:srgbClr val="0070C0"/>
                </a:solidFill>
              </a:rPr>
              <a:t>encontremos sua complexidade ideal</a:t>
            </a:r>
            <a:r>
              <a:rPr lang="pt-BR" dirty="0"/>
              <a:t>, ou seja, sua </a:t>
            </a:r>
            <a:r>
              <a:rPr lang="pt-BR" b="1" dirty="0">
                <a:solidFill>
                  <a:schemeClr val="accent2"/>
                </a:solidFill>
              </a:rPr>
              <a:t>arquitetura ideal</a:t>
            </a:r>
            <a:r>
              <a:rPr lang="pt-BR" dirty="0"/>
              <a:t>.</a:t>
            </a:r>
          </a:p>
        </p:txBody>
      </p:sp>
    </p:spTree>
    <p:extLst>
      <p:ext uri="{BB962C8B-B14F-4D97-AF65-F5344CB8AC3E}">
        <p14:creationId xmlns:p14="http://schemas.microsoft.com/office/powerpoint/2010/main" val="230788342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id="{FE65592C-B0D6-412A-1B41-23EDA4B75A92}"/>
              </a:ext>
            </a:extLst>
          </p:cNvPr>
          <p:cNvSpPr>
            <a:spLocks noGrp="1"/>
          </p:cNvSpPr>
          <p:nvPr>
            <p:ph idx="1"/>
          </p:nvPr>
        </p:nvSpPr>
        <p:spPr>
          <a:xfrm>
            <a:off x="838199" y="1825624"/>
            <a:ext cx="11235813" cy="5032375"/>
          </a:xfrm>
        </p:spPr>
        <p:txBody>
          <a:bodyPr>
            <a:normAutofit/>
          </a:bodyPr>
          <a:lstStyle/>
          <a:p>
            <a:r>
              <a:rPr lang="pt-BR" dirty="0"/>
              <a:t>Por exemplo, uma rede neural com </a:t>
            </a:r>
            <a:r>
              <a:rPr lang="pt-BR" b="1" dirty="0">
                <a:solidFill>
                  <a:schemeClr val="accent2"/>
                </a:solidFill>
              </a:rPr>
              <a:t>uma</a:t>
            </a:r>
            <a:r>
              <a:rPr lang="pt-BR" b="1" dirty="0">
                <a:solidFill>
                  <a:srgbClr val="00B050"/>
                </a:solidFill>
              </a:rPr>
              <a:t> camada oculta</a:t>
            </a:r>
            <a:r>
              <a:rPr lang="pt-BR" b="1" dirty="0"/>
              <a:t> </a:t>
            </a:r>
            <a:r>
              <a:rPr lang="pt-BR" b="0" dirty="0">
                <a:effectLst/>
              </a:rPr>
              <a:t>com um número </a:t>
            </a:r>
            <a:r>
              <a:rPr lang="pt-BR" b="1" dirty="0">
                <a:solidFill>
                  <a:srgbClr val="00B050"/>
                </a:solidFill>
                <a:effectLst/>
              </a:rPr>
              <a:t>suficiente de nós</a:t>
            </a:r>
            <a:r>
              <a:rPr lang="pt-BR" dirty="0">
                <a:effectLst/>
              </a:rPr>
              <a:t> pode </a:t>
            </a:r>
            <a:r>
              <a:rPr lang="pt-BR" b="1" dirty="0">
                <a:solidFill>
                  <a:srgbClr val="7030A0"/>
                </a:solidFill>
              </a:rPr>
              <a:t>aproximar</a:t>
            </a:r>
            <a:r>
              <a:rPr lang="pt-BR" dirty="0"/>
              <a:t> praticamente qualquer </a:t>
            </a:r>
            <a:r>
              <a:rPr lang="pt-BR" b="1" dirty="0">
                <a:solidFill>
                  <a:srgbClr val="7030A0"/>
                </a:solidFill>
              </a:rPr>
              <a:t>função contínua</a:t>
            </a:r>
            <a:r>
              <a:rPr lang="pt-BR" dirty="0"/>
              <a:t>.</a:t>
            </a:r>
          </a:p>
          <a:p>
            <a:r>
              <a:rPr lang="pt-BR" dirty="0"/>
              <a:t>Com </a:t>
            </a:r>
            <a:r>
              <a:rPr lang="pt-BR" b="1" dirty="0">
                <a:solidFill>
                  <a:srgbClr val="00B050"/>
                </a:solidFill>
              </a:rPr>
              <a:t>duas camadas ocultas</a:t>
            </a:r>
            <a:r>
              <a:rPr lang="pt-BR" dirty="0"/>
              <a:t>, até </a:t>
            </a:r>
            <a:r>
              <a:rPr lang="pt-BR" b="1" dirty="0">
                <a:solidFill>
                  <a:srgbClr val="00B0F0"/>
                </a:solidFill>
              </a:rPr>
              <a:t>funções descontínuas</a:t>
            </a:r>
            <a:r>
              <a:rPr lang="pt-BR" b="1" dirty="0">
                <a:solidFill>
                  <a:srgbClr val="00B050"/>
                </a:solidFill>
              </a:rPr>
              <a:t> </a:t>
            </a:r>
            <a:r>
              <a:rPr lang="pt-BR" dirty="0"/>
              <a:t>podem ser </a:t>
            </a:r>
            <a:r>
              <a:rPr lang="pt-BR" b="1" dirty="0">
                <a:solidFill>
                  <a:srgbClr val="00B050"/>
                </a:solidFill>
              </a:rPr>
              <a:t>aproximadas</a:t>
            </a:r>
            <a:r>
              <a:rPr lang="pt-BR" dirty="0"/>
              <a:t>.</a:t>
            </a:r>
          </a:p>
          <a:p>
            <a:r>
              <a:rPr lang="pt-BR" dirty="0"/>
              <a:t>Portanto, dizemos que as redes neurais possuem </a:t>
            </a:r>
            <a:r>
              <a:rPr lang="pt-BR" b="1" dirty="0">
                <a:solidFill>
                  <a:srgbClr val="002060"/>
                </a:solidFill>
              </a:rPr>
              <a:t>capacidade de aproximação universal </a:t>
            </a:r>
            <a:r>
              <a:rPr lang="pt-BR" dirty="0"/>
              <a:t>de funções.</a:t>
            </a:r>
          </a:p>
          <a:p>
            <a:r>
              <a:rPr lang="pt-BR" dirty="0"/>
              <a:t>Desta forma, as redes neurais podem resolver </a:t>
            </a:r>
            <a:r>
              <a:rPr lang="pt-BR" b="1" dirty="0">
                <a:solidFill>
                  <a:srgbClr val="7030A0"/>
                </a:solidFill>
              </a:rPr>
              <a:t>problemas de regressão e classificação</a:t>
            </a:r>
            <a:r>
              <a:rPr lang="pt-BR" dirty="0"/>
              <a:t> e uma grande gama de outros problemas.</a:t>
            </a:r>
          </a:p>
          <a:p>
            <a:r>
              <a:rPr lang="pt-BR" dirty="0"/>
              <a:t>O desafio é encontrar a arquitetura e os pesos ideais para a aproximação.</a:t>
            </a:r>
          </a:p>
          <a:p>
            <a:pPr lvl="1">
              <a:buFont typeface="Wingdings" panose="05000000000000000000" pitchFamily="2" charset="2"/>
              <a:buChar char="§"/>
            </a:pPr>
            <a:r>
              <a:rPr lang="pt-BR" dirty="0"/>
              <a:t>Usamos </a:t>
            </a:r>
            <a:r>
              <a:rPr lang="pt-BR" b="1" dirty="0">
                <a:solidFill>
                  <a:schemeClr val="accent2"/>
                </a:solidFill>
              </a:rPr>
              <a:t>validação cruzada </a:t>
            </a:r>
            <a:r>
              <a:rPr lang="pt-BR" dirty="0"/>
              <a:t>e o algoritmo do </a:t>
            </a:r>
            <a:r>
              <a:rPr lang="pt-BR" b="1" dirty="0">
                <a:solidFill>
                  <a:schemeClr val="accent2"/>
                </a:solidFill>
              </a:rPr>
              <a:t>gradiente descendente</a:t>
            </a:r>
            <a:r>
              <a:rPr lang="pt-BR" dirty="0"/>
              <a:t>.</a:t>
            </a:r>
          </a:p>
        </p:txBody>
      </p:sp>
    </p:spTree>
    <p:extLst>
      <p:ext uri="{BB962C8B-B14F-4D97-AF65-F5344CB8AC3E}">
        <p14:creationId xmlns:p14="http://schemas.microsoft.com/office/powerpoint/2010/main" val="151859640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CFE763-46F7-B2C7-F28A-B6F82A2923BE}"/>
              </a:ext>
            </a:extLst>
          </p:cNvPr>
          <p:cNvSpPr>
            <a:spLocks noGrp="1"/>
          </p:cNvSpPr>
          <p:nvPr>
            <p:ph idx="1"/>
          </p:nvPr>
        </p:nvSpPr>
        <p:spPr>
          <a:xfrm>
            <a:off x="838200" y="2385193"/>
            <a:ext cx="10515600" cy="2087614"/>
          </a:xfrm>
        </p:spPr>
        <p:txBody>
          <a:bodyPr>
            <a:normAutofit/>
          </a:bodyPr>
          <a:lstStyle/>
          <a:p>
            <a:pPr marL="0" indent="0" algn="ctr">
              <a:buNone/>
            </a:pPr>
            <a:r>
              <a:rPr lang="pt-BR" sz="6600" dirty="0"/>
              <a:t>Como as redes neurais aprendem?</a:t>
            </a:r>
            <a:endParaRPr lang="en-US" sz="6600" dirty="0"/>
          </a:p>
        </p:txBody>
      </p:sp>
    </p:spTree>
    <p:extLst>
      <p:ext uri="{BB962C8B-B14F-4D97-AF65-F5344CB8AC3E}">
        <p14:creationId xmlns:p14="http://schemas.microsoft.com/office/powerpoint/2010/main" val="64327860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22042E-E154-9255-670A-2165DE0B18C0}"/>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6059FE4F-F9B9-0CCC-8671-00C9AC9804E4}"/>
              </a:ext>
            </a:extLst>
          </p:cNvPr>
          <p:cNvSpPr>
            <a:spLocks noGrp="1"/>
          </p:cNvSpPr>
          <p:nvPr>
            <p:ph idx="1"/>
          </p:nvPr>
        </p:nvSpPr>
        <p:spPr>
          <a:xfrm>
            <a:off x="5584723" y="1825624"/>
            <a:ext cx="6459793" cy="5032375"/>
          </a:xfrm>
        </p:spPr>
        <p:txBody>
          <a:bodyPr>
            <a:normAutofit/>
          </a:bodyPr>
          <a:lstStyle/>
          <a:p>
            <a:r>
              <a:rPr lang="pt-BR" dirty="0"/>
              <a:t>As redes aprendem ajustando os pesos sinápticos e de </a:t>
            </a:r>
            <a:r>
              <a:rPr lang="pt-BR" i="1" dirty="0"/>
              <a:t>bias</a:t>
            </a:r>
            <a:r>
              <a:rPr lang="pt-BR" dirty="0"/>
              <a:t> para reduzir o erro.</a:t>
            </a:r>
          </a:p>
          <a:p>
            <a:r>
              <a:rPr lang="pt-BR" dirty="0"/>
              <a:t>Isso é feito através de um algoritmo, baseado no gradiente descendente, chamado de (</a:t>
            </a:r>
            <a:r>
              <a:rPr lang="pt-BR" i="1" dirty="0" err="1"/>
              <a:t>error</a:t>
            </a:r>
            <a:r>
              <a:rPr lang="pt-BR" dirty="0"/>
              <a:t>) </a:t>
            </a:r>
            <a:r>
              <a:rPr lang="pt-BR" i="1" dirty="0" err="1"/>
              <a:t>backpropagation</a:t>
            </a:r>
            <a:r>
              <a:rPr lang="pt-BR" dirty="0"/>
              <a:t>.</a:t>
            </a:r>
          </a:p>
          <a:p>
            <a:r>
              <a:rPr lang="pt-BR" dirty="0"/>
              <a:t>O </a:t>
            </a:r>
            <a:r>
              <a:rPr lang="pt-BR" b="1" dirty="0">
                <a:solidFill>
                  <a:schemeClr val="accent2"/>
                </a:solidFill>
              </a:rPr>
              <a:t>objetivo</a:t>
            </a:r>
            <a:r>
              <a:rPr lang="pt-BR" dirty="0"/>
              <a:t> do </a:t>
            </a:r>
            <a:r>
              <a:rPr lang="pt-BR" i="1" dirty="0" err="1"/>
              <a:t>backpropagation</a:t>
            </a:r>
            <a:r>
              <a:rPr lang="pt-BR" dirty="0"/>
              <a:t> é calcular o </a:t>
            </a:r>
            <a:r>
              <a:rPr lang="pt-BR" b="1" dirty="0">
                <a:solidFill>
                  <a:schemeClr val="accent2"/>
                </a:solidFill>
              </a:rPr>
              <a:t>quanto cada peso da rede contribui para o erro</a:t>
            </a:r>
            <a:r>
              <a:rPr lang="pt-BR" dirty="0"/>
              <a:t> e </a:t>
            </a:r>
            <a:r>
              <a:rPr lang="pt-BR" b="1" dirty="0">
                <a:solidFill>
                  <a:srgbClr val="7030A0"/>
                </a:solidFill>
              </a:rPr>
              <a:t>ajustá-lo de forma a minimizar o erro</a:t>
            </a:r>
            <a:r>
              <a:rPr lang="pt-BR" dirty="0"/>
              <a:t>.</a:t>
            </a:r>
          </a:p>
        </p:txBody>
      </p:sp>
      <p:pic>
        <p:nvPicPr>
          <p:cNvPr id="4" name="Imagem 10">
            <a:extLst>
              <a:ext uri="{FF2B5EF4-FFF2-40B4-BE49-F238E27FC236}">
                <a16:creationId xmlns:a16="http://schemas.microsoft.com/office/drawing/2014/main" id="{14327F44-C55C-3981-FB77-ADF6F10AA36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41066466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7069225" y="2659278"/>
            <a:ext cx="4112759" cy="2266013"/>
          </a:xfrm>
        </p:spPr>
        <p:txBody>
          <a:bodyPr>
            <a:noAutofit/>
          </a:bodyPr>
          <a:lstStyle/>
          <a:p>
            <a:pPr marL="0" indent="0" algn="ctr">
              <a:buNone/>
            </a:pPr>
            <a:r>
              <a:rPr lang="pt-BR" sz="3600" dirty="0"/>
              <a:t>O algoritmo de </a:t>
            </a:r>
            <a:r>
              <a:rPr lang="pt-BR" sz="3600" i="1" dirty="0" err="1"/>
              <a:t>error</a:t>
            </a:r>
            <a:r>
              <a:rPr lang="pt-BR" sz="3600" dirty="0"/>
              <a:t> </a:t>
            </a:r>
            <a:r>
              <a:rPr lang="pt-BR" sz="3600" i="1" dirty="0" err="1"/>
              <a:t>backpropagation</a:t>
            </a:r>
            <a:r>
              <a:rPr lang="pt-BR" sz="3600" dirty="0"/>
              <a:t> é baseado na regra da cadeia.</a:t>
            </a:r>
          </a:p>
        </p:txBody>
      </p:sp>
      <p:pic>
        <p:nvPicPr>
          <p:cNvPr id="1026" name="Picture 2" descr="Backpropagation is not the Chain Rule; Read why in this easy-to-understand  Deep Learning and backpropagation introduction! (+books recommended) | by  Mariano Crosetti | Mediu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0016" y="259842"/>
            <a:ext cx="4762500" cy="63436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43770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E91DE-DA68-EEA0-9A58-B10C592E02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E775A6-6732-2632-18D8-0617A7FBF913}"/>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5D7CC740-332C-5F7B-FF5E-6165FD0B3C85}"/>
              </a:ext>
            </a:extLst>
          </p:cNvPr>
          <p:cNvSpPr>
            <a:spLocks noGrp="1"/>
          </p:cNvSpPr>
          <p:nvPr>
            <p:ph idx="1"/>
          </p:nvPr>
        </p:nvSpPr>
        <p:spPr>
          <a:xfrm>
            <a:off x="5466735" y="1825624"/>
            <a:ext cx="6725265" cy="5032375"/>
          </a:xfrm>
        </p:spPr>
        <p:txBody>
          <a:bodyPr>
            <a:normAutofit/>
          </a:bodyPr>
          <a:lstStyle/>
          <a:p>
            <a:r>
              <a:rPr lang="pt-BR" dirty="0"/>
              <a:t>O algoritmo faz três coisas principais:</a:t>
            </a:r>
          </a:p>
          <a:p>
            <a:pPr lvl="1">
              <a:buFont typeface="Wingdings" panose="05000000000000000000" pitchFamily="2" charset="2"/>
              <a:buChar char="§"/>
            </a:pPr>
            <a:r>
              <a:rPr lang="pt-BR" dirty="0"/>
              <a:t>A rede faz predições com os pesos atuais.</a:t>
            </a:r>
          </a:p>
          <a:p>
            <a:pPr lvl="2">
              <a:buFont typeface="Courier New" panose="02070309020205020404" pitchFamily="49" charset="0"/>
              <a:buChar char="o"/>
            </a:pPr>
            <a:r>
              <a:rPr lang="pt-BR" dirty="0"/>
              <a:t>Etapa chamada de direta (</a:t>
            </a:r>
            <a:r>
              <a:rPr lang="pt-BR" i="1" dirty="0" err="1"/>
              <a:t>forward</a:t>
            </a:r>
            <a:r>
              <a:rPr lang="pt-BR" dirty="0"/>
              <a:t>).</a:t>
            </a:r>
          </a:p>
          <a:p>
            <a:pPr lvl="1">
              <a:buFont typeface="Wingdings" panose="05000000000000000000" pitchFamily="2" charset="2"/>
              <a:buChar char="§"/>
            </a:pPr>
            <a:r>
              <a:rPr lang="pt-BR" dirty="0"/>
              <a:t>Calcula o erro entre a saída da rede e os rótulos.</a:t>
            </a:r>
          </a:p>
          <a:p>
            <a:pPr lvl="1">
              <a:buFont typeface="Wingdings" panose="05000000000000000000" pitchFamily="2" charset="2"/>
              <a:buChar char="§"/>
            </a:pPr>
            <a:r>
              <a:rPr lang="pt-BR" b="1" dirty="0">
                <a:solidFill>
                  <a:srgbClr val="00B050"/>
                </a:solidFill>
              </a:rPr>
              <a:t>Propaga o erro para trás</a:t>
            </a:r>
            <a:r>
              <a:rPr lang="pt-BR" dirty="0"/>
              <a:t> através das camadas da rede para atualizar os pesos usando o gradiente descendente.</a:t>
            </a:r>
          </a:p>
          <a:p>
            <a:pPr lvl="2">
              <a:buFont typeface="Courier New" panose="02070309020205020404" pitchFamily="49" charset="0"/>
              <a:buChar char="o"/>
            </a:pPr>
            <a:r>
              <a:rPr lang="pt-BR" dirty="0"/>
              <a:t>Etapa chamada de retropropagação (</a:t>
            </a:r>
            <a:r>
              <a:rPr lang="en-US" i="1" dirty="0"/>
              <a:t>backpropagation</a:t>
            </a:r>
            <a:r>
              <a:rPr lang="en-US" dirty="0"/>
              <a:t>).</a:t>
            </a:r>
          </a:p>
          <a:p>
            <a:pPr lvl="2">
              <a:buFont typeface="Courier New" panose="02070309020205020404" pitchFamily="49" charset="0"/>
              <a:buChar char="o"/>
            </a:pPr>
            <a:r>
              <a:rPr lang="pt-BR" dirty="0"/>
              <a:t>Os gradientes são calculados usando </a:t>
            </a:r>
            <a:r>
              <a:rPr lang="pt-BR" b="1" dirty="0"/>
              <a:t>regra da cadeia</a:t>
            </a:r>
            <a:r>
              <a:rPr lang="pt-BR" dirty="0"/>
              <a:t>.</a:t>
            </a:r>
          </a:p>
        </p:txBody>
      </p:sp>
      <p:pic>
        <p:nvPicPr>
          <p:cNvPr id="4" name="Imagem 10">
            <a:extLst>
              <a:ext uri="{FF2B5EF4-FFF2-40B4-BE49-F238E27FC236}">
                <a16:creationId xmlns:a16="http://schemas.microsoft.com/office/drawing/2014/main" id="{4B677D2C-FFA4-3F3D-DBE3-56466217D5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22828300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CD25A-051E-2532-A1B8-176C742EECEB}"/>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F2837435-CAA9-AE41-D90E-E6FA914481A4}"/>
              </a:ext>
            </a:extLst>
          </p:cNvPr>
          <p:cNvSpPr>
            <a:spLocks noGrp="1"/>
          </p:cNvSpPr>
          <p:nvPr>
            <p:ph idx="1"/>
          </p:nvPr>
        </p:nvSpPr>
        <p:spPr>
          <a:xfrm>
            <a:off x="838201" y="1825625"/>
            <a:ext cx="11157154" cy="4351338"/>
          </a:xfrm>
        </p:spPr>
        <p:txBody>
          <a:bodyPr/>
          <a:lstStyle/>
          <a:p>
            <a:r>
              <a:rPr lang="pt-BR" b="1" dirty="0"/>
              <a:t>Em resumo</a:t>
            </a:r>
            <a:r>
              <a:rPr lang="pt-BR" dirty="0"/>
              <a:t>: a rede prediz → mede o erro → corrige os pesos.</a:t>
            </a:r>
          </a:p>
          <a:p>
            <a:r>
              <a:rPr lang="pt-BR" dirty="0"/>
              <a:t>O </a:t>
            </a:r>
            <a:r>
              <a:rPr lang="pt-BR" i="1" dirty="0" err="1"/>
              <a:t>backpropagation</a:t>
            </a:r>
            <a:r>
              <a:rPr lang="pt-BR" dirty="0"/>
              <a:t> responde à pergunta:</a:t>
            </a:r>
          </a:p>
          <a:p>
            <a:pPr marL="0" indent="0" algn="ctr">
              <a:buNone/>
            </a:pPr>
            <a:r>
              <a:rPr lang="pt-BR" b="1" dirty="0"/>
              <a:t>“Quais pesos e o quanto eles precisam mudar para que a rede produza uma saída mais correta?”</a:t>
            </a:r>
            <a:endParaRPr lang="pt-BR" dirty="0"/>
          </a:p>
          <a:p>
            <a:endParaRPr lang="en-US" dirty="0"/>
          </a:p>
        </p:txBody>
      </p:sp>
      <p:pic>
        <p:nvPicPr>
          <p:cNvPr id="8" name="Picture 7">
            <a:extLst>
              <a:ext uri="{FF2B5EF4-FFF2-40B4-BE49-F238E27FC236}">
                <a16:creationId xmlns:a16="http://schemas.microsoft.com/office/drawing/2014/main" id="{CB13E6A6-6D4A-0E94-E375-65268C21503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4355" y="3697491"/>
            <a:ext cx="3160509" cy="3160509"/>
          </a:xfrm>
          <a:prstGeom prst="rect">
            <a:avLst/>
          </a:prstGeom>
        </p:spPr>
      </p:pic>
    </p:spTree>
    <p:extLst>
      <p:ext uri="{BB962C8B-B14F-4D97-AF65-F5344CB8AC3E}">
        <p14:creationId xmlns:p14="http://schemas.microsoft.com/office/powerpoint/2010/main" val="30509025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6B8548-4E40-D933-E8DC-9078F53FEE65}"/>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BF615BC-2786-CA1F-664E-992832AC0C08}"/>
                  </a:ext>
                </a:extLst>
              </p:cNvPr>
              <p:cNvSpPr>
                <a:spLocks noGrp="1"/>
              </p:cNvSpPr>
              <p:nvPr>
                <p:ph idx="1"/>
              </p:nvPr>
            </p:nvSpPr>
            <p:spPr>
              <a:xfrm>
                <a:off x="838199" y="1825625"/>
                <a:ext cx="11353801" cy="5032375"/>
              </a:xfrm>
            </p:spPr>
            <p:txBody>
              <a:bodyPr>
                <a:normAutofit lnSpcReduction="10000"/>
              </a:bodyPr>
              <a:lstStyle/>
              <a:p>
                <a:r>
                  <a:rPr lang="pt-BR" dirty="0"/>
                  <a:t>Para </a:t>
                </a:r>
                <a:r>
                  <a:rPr lang="pt-BR" b="1" dirty="0">
                    <a:solidFill>
                      <a:srgbClr val="00B050"/>
                    </a:solidFill>
                  </a:rPr>
                  <a:t>atualizar o peso de um nó de uma camada</a:t>
                </a:r>
                <a:r>
                  <a:rPr lang="pt-BR" dirty="0"/>
                  <a:t>, a </a:t>
                </a:r>
                <a:r>
                  <a:rPr lang="pt-BR" b="1" dirty="0"/>
                  <a:t>retropropagação </a:t>
                </a:r>
                <a:r>
                  <a:rPr lang="pt-BR" dirty="0"/>
                  <a:t>calcula a derivada parcial do erro em relação àquele peso usando a </a:t>
                </a:r>
                <a:r>
                  <a:rPr lang="pt-BR" b="1" dirty="0">
                    <a:solidFill>
                      <a:srgbClr val="7030A0"/>
                    </a:solidFill>
                  </a:rPr>
                  <a:t>regra da cadeia</a:t>
                </a:r>
                <a:r>
                  <a:rPr lang="pt-BR" dirty="0"/>
                  <a:t>.</a:t>
                </a:r>
              </a:p>
              <a:p>
                <a:r>
                  <a:rPr lang="pt-BR" dirty="0"/>
                  <a:t>Vejamos o exemplo abaixo com 3 nós, 3 pesos,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e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3 funções de ativação,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m:t>
                        </m:r>
                      </m:e>
                    </m:d>
                    <m:r>
                      <a:rPr lang="pt-BR" i="1">
                        <a:latin typeface="Cambria Math" panose="02040503050406030204" pitchFamily="18" charset="0"/>
                      </a:rPr>
                      <m:t>, </m:t>
                    </m:r>
                    <m:r>
                      <a:rPr lang="pt-BR" i="1">
                        <a:latin typeface="Cambria Math" panose="02040503050406030204" pitchFamily="18" charset="0"/>
                      </a:rPr>
                      <m:t>𝑔</m:t>
                    </m:r>
                    <m:d>
                      <m:dPr>
                        <m:ctrlPr>
                          <a:rPr lang="pt-BR" i="1">
                            <a:latin typeface="Cambria Math" panose="02040503050406030204" pitchFamily="18" charset="0"/>
                          </a:rPr>
                        </m:ctrlPr>
                      </m:dPr>
                      <m:e>
                        <m:r>
                          <a:rPr lang="pt-BR" i="1">
                            <a:latin typeface="Cambria Math" panose="02040503050406030204" pitchFamily="18" charset="0"/>
                          </a:rPr>
                          <m:t>.</m:t>
                        </m:r>
                      </m:e>
                    </m:d>
                  </m:oMath>
                </a14:m>
                <a:r>
                  <a:rPr lang="pt-BR" dirty="0"/>
                  <a:t> 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oMath>
                </a14:m>
                <a:r>
                  <a:rPr lang="pt-BR" dirty="0"/>
                  <a:t>, uma entrada </a:t>
                </a:r>
                <a14:m>
                  <m:oMath xmlns:m="http://schemas.openxmlformats.org/officeDocument/2006/math">
                    <m:r>
                      <a:rPr lang="pt-BR" b="0" i="1" smtClean="0">
                        <a:latin typeface="Cambria Math" panose="02040503050406030204" pitchFamily="18" charset="0"/>
                      </a:rPr>
                      <m:t>𝑥</m:t>
                    </m:r>
                  </m:oMath>
                </a14:m>
                <a:r>
                  <a:rPr lang="pt-BR" dirty="0"/>
                  <a:t>, uma saída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a14:m>
                <a:r>
                  <a:rPr lang="pt-BR" dirty="0"/>
                  <a:t> e um rótulo </a:t>
                </a:r>
                <a14:m>
                  <m:oMath xmlns:m="http://schemas.openxmlformats.org/officeDocument/2006/math">
                    <m:r>
                      <a:rPr lang="pt-BR" i="1">
                        <a:latin typeface="Cambria Math" panose="02040503050406030204" pitchFamily="18" charset="0"/>
                        <a:ea typeface="Cambria Math" panose="02040503050406030204" pitchFamily="18" charset="0"/>
                      </a:rPr>
                      <m:t>𝑦</m:t>
                    </m:r>
                    <m:r>
                      <a:rPr lang="pt-BR" b="0" i="0" smtClean="0">
                        <a:latin typeface="Cambria Math" panose="02040503050406030204" pitchFamily="18" charset="0"/>
                        <a:ea typeface="Cambria Math" panose="02040503050406030204" pitchFamily="18" charset="0"/>
                      </a:rPr>
                      <m:t>.</m:t>
                    </m:r>
                  </m:oMath>
                </a14:m>
                <a:endParaRPr lang="pt-BR" sz="900" dirty="0"/>
              </a:p>
              <a:p>
                <a:endParaRPr lang="pt-BR" dirty="0"/>
              </a:p>
              <a:p>
                <a:pPr marL="0" indent="0">
                  <a:buNone/>
                </a:pPr>
                <a:endParaRPr lang="pt-BR" dirty="0"/>
              </a:p>
              <a:p>
                <a:r>
                  <a:rPr lang="pt-BR" dirty="0"/>
                  <a:t>Para facilitar a análise, vamos definir as entradas dos nós como</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b="0" i="1" smtClean="0">
                          <a:latin typeface="Cambria Math" panose="02040503050406030204" pitchFamily="18" charset="0"/>
                        </a:rPr>
                        <m:t>𝑥</m:t>
                      </m:r>
                      <m:r>
                        <a:rPr lang="pt-BR" i="1">
                          <a:latin typeface="Cambria Math" panose="02040503050406030204" pitchFamily="18" charset="0"/>
                        </a:rPr>
                        <m:t>,</m:t>
                      </m:r>
                    </m:oMath>
                  </m:oMathPara>
                </a14:m>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r>
                        <a:rPr lang="pt-BR" b="0" i="1" smtClean="0">
                          <a:latin typeface="Cambria Math" panose="02040503050406030204" pitchFamily="18" charset="0"/>
                        </a:rPr>
                        <m:t>,</m:t>
                      </m:r>
                    </m:oMath>
                  </m:oMathPara>
                </a14:m>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a:p>
                <a:r>
                  <a:rPr lang="en-US" dirty="0" err="1"/>
                  <a:t>Essas</a:t>
                </a:r>
                <a:r>
                  <a:rPr lang="en-US" dirty="0"/>
                  <a:t> </a:t>
                </a:r>
                <a:r>
                  <a:rPr lang="en-US" dirty="0" err="1"/>
                  <a:t>variáveis</a:t>
                </a:r>
                <a:r>
                  <a:rPr lang="en-US" dirty="0"/>
                  <a:t> </a:t>
                </a:r>
                <a:r>
                  <a:rPr lang="en-US" dirty="0" err="1"/>
                  <a:t>são</a:t>
                </a:r>
                <a:r>
                  <a:rPr lang="en-US" dirty="0"/>
                  <a:t> </a:t>
                </a:r>
                <a:r>
                  <a:rPr lang="en-US" dirty="0" err="1"/>
                  <a:t>chamadas</a:t>
                </a:r>
                <a:r>
                  <a:rPr lang="en-US" dirty="0"/>
                  <a:t> de </a:t>
                </a:r>
                <a:r>
                  <a:rPr lang="en-US" b="1" dirty="0" err="1">
                    <a:solidFill>
                      <a:schemeClr val="accent2"/>
                    </a:solidFill>
                  </a:rPr>
                  <a:t>ativações</a:t>
                </a:r>
                <a:r>
                  <a:rPr lang="en-US" dirty="0"/>
                  <a:t>.</a:t>
                </a:r>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5BF615BC-2786-CA1F-664E-992832AC0C08}"/>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a:blip r:embed="rId3"/>
                <a:stretch>
                  <a:fillRect l="-913" t="-2663" r="-1396" b="-290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tângulo 12">
                <a:extLst>
                  <a:ext uri="{FF2B5EF4-FFF2-40B4-BE49-F238E27FC236}">
                    <a16:creationId xmlns:a16="http://schemas.microsoft.com/office/drawing/2014/main" id="{9B36616D-E944-80BF-04DE-C825CF6150D1}"/>
                  </a:ext>
                </a:extLst>
              </p:cNvPr>
              <p:cNvSpPr/>
              <p:nvPr/>
            </p:nvSpPr>
            <p:spPr>
              <a:xfrm>
                <a:off x="2465618" y="4785958"/>
                <a:ext cx="1237117" cy="369332"/>
              </a:xfrm>
              <a:prstGeom prst="rect">
                <a:avLst/>
              </a:prstGeom>
            </p:spPr>
            <p:txBody>
              <a:bodyPr wrap="squar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oMath>
                  </m:oMathPara>
                </a14:m>
                <a:endParaRPr lang="en-US" dirty="0"/>
              </a:p>
            </p:txBody>
          </p:sp>
        </mc:Choice>
        <mc:Fallback xmlns="">
          <p:sp>
            <p:nvSpPr>
              <p:cNvPr id="15" name="Retângulo 12">
                <a:extLst>
                  <a:ext uri="{FF2B5EF4-FFF2-40B4-BE49-F238E27FC236}">
                    <a16:creationId xmlns:a16="http://schemas.microsoft.com/office/drawing/2014/main" id="{9B36616D-E944-80BF-04DE-C825CF6150D1}"/>
                  </a:ext>
                </a:extLst>
              </p:cNvPr>
              <p:cNvSpPr>
                <a:spLocks noRot="1" noChangeAspect="1" noMove="1" noResize="1" noEditPoints="1" noAdjustHandles="1" noChangeArrowheads="1" noChangeShapeType="1" noTextEdit="1"/>
              </p:cNvSpPr>
              <p:nvPr/>
            </p:nvSpPr>
            <p:spPr>
              <a:xfrm>
                <a:off x="2465618" y="4785958"/>
                <a:ext cx="1237117" cy="369332"/>
              </a:xfrm>
              <a:prstGeom prst="rect">
                <a:avLst/>
              </a:prstGeom>
              <a:blipFill>
                <a:blip r:embed="rId4"/>
                <a:stretch>
                  <a:fillRect/>
                </a:stretch>
              </a:blipFill>
            </p:spPr>
            <p:txBody>
              <a:bodyPr/>
              <a:lstStyle/>
              <a:p>
                <a:r>
                  <a:rPr lang="en-US">
                    <a:noFill/>
                  </a:rPr>
                  <a:t> </a:t>
                </a:r>
              </a:p>
            </p:txBody>
          </p:sp>
        </mc:Fallback>
      </mc:AlternateContent>
      <p:grpSp>
        <p:nvGrpSpPr>
          <p:cNvPr id="36" name="Group 35">
            <a:extLst>
              <a:ext uri="{FF2B5EF4-FFF2-40B4-BE49-F238E27FC236}">
                <a16:creationId xmlns:a16="http://schemas.microsoft.com/office/drawing/2014/main" id="{15EECB81-4888-BE43-D57A-7E0AC3433AAA}"/>
              </a:ext>
            </a:extLst>
          </p:cNvPr>
          <p:cNvGrpSpPr/>
          <p:nvPr/>
        </p:nvGrpSpPr>
        <p:grpSpPr>
          <a:xfrm>
            <a:off x="2824117" y="3859500"/>
            <a:ext cx="6543765" cy="685593"/>
            <a:chOff x="2824117" y="4105306"/>
            <a:chExt cx="6543765" cy="685593"/>
          </a:xfrm>
        </p:grpSpPr>
        <mc:AlternateContent xmlns:mc="http://schemas.openxmlformats.org/markup-compatibility/2006" xmlns:a14="http://schemas.microsoft.com/office/drawing/2010/main">
          <mc:Choice Requires="a14">
            <p:sp>
              <p:nvSpPr>
                <p:cNvPr id="7" name="Elipse 4">
                  <a:extLst>
                    <a:ext uri="{FF2B5EF4-FFF2-40B4-BE49-F238E27FC236}">
                      <a16:creationId xmlns:a16="http://schemas.microsoft.com/office/drawing/2014/main" id="{633D9C31-DFA6-3082-DD70-2794AB92394E}"/>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7" name="Elipse 4">
                  <a:extLst>
                    <a:ext uri="{FF2B5EF4-FFF2-40B4-BE49-F238E27FC236}">
                      <a16:creationId xmlns:a16="http://schemas.microsoft.com/office/drawing/2014/main" id="{633D9C31-DFA6-3082-DD70-2794AB92394E}"/>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5"/>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Elipse 5">
                  <a:extLst>
                    <a:ext uri="{FF2B5EF4-FFF2-40B4-BE49-F238E27FC236}">
                      <a16:creationId xmlns:a16="http://schemas.microsoft.com/office/drawing/2014/main" id="{F5BA69D4-07C9-A369-D2AF-6B93C40D70CD}"/>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8" name="Elipse 5">
                  <a:extLst>
                    <a:ext uri="{FF2B5EF4-FFF2-40B4-BE49-F238E27FC236}">
                      <a16:creationId xmlns:a16="http://schemas.microsoft.com/office/drawing/2014/main" id="{F5BA69D4-07C9-A369-D2AF-6B93C40D70CD}"/>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6"/>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Elipse 6">
                  <a:extLst>
                    <a:ext uri="{FF2B5EF4-FFF2-40B4-BE49-F238E27FC236}">
                      <a16:creationId xmlns:a16="http://schemas.microsoft.com/office/drawing/2014/main" id="{D327F739-FF71-EB11-0FD1-6CFEA4FD3BFC}"/>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9" name="Elipse 6">
                  <a:extLst>
                    <a:ext uri="{FF2B5EF4-FFF2-40B4-BE49-F238E27FC236}">
                      <a16:creationId xmlns:a16="http://schemas.microsoft.com/office/drawing/2014/main" id="{D327F739-FF71-EB11-0FD1-6CFEA4FD3BFC}"/>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7"/>
                  <a:stretch>
                    <a:fillRect l="-3093" r="-4124"/>
                  </a:stretch>
                </a:blipFill>
              </p:spPr>
              <p:txBody>
                <a:bodyPr/>
                <a:lstStyle/>
                <a:p>
                  <a:r>
                    <a:rPr lang="en-US">
                      <a:noFill/>
                    </a:rPr>
                    <a:t> </a:t>
                  </a:r>
                </a:p>
              </p:txBody>
            </p:sp>
          </mc:Fallback>
        </mc:AlternateContent>
        <p:cxnSp>
          <p:nvCxnSpPr>
            <p:cNvPr id="10" name="Conector de Seta Reta 7">
              <a:extLst>
                <a:ext uri="{FF2B5EF4-FFF2-40B4-BE49-F238E27FC236}">
                  <a16:creationId xmlns:a16="http://schemas.microsoft.com/office/drawing/2014/main" id="{3EB6652E-D7A4-3D53-0846-F1BCA7D3B54C}"/>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de Seta Reta 12">
              <a:extLst>
                <a:ext uri="{FF2B5EF4-FFF2-40B4-BE49-F238E27FC236}">
                  <a16:creationId xmlns:a16="http://schemas.microsoft.com/office/drawing/2014/main" id="{F3DFC699-3B19-0FEE-C53B-3464E77AFC53}"/>
                </a:ext>
              </a:extLst>
            </p:cNvPr>
            <p:cNvCxnSpPr/>
            <p:nvPr/>
          </p:nvCxnSpPr>
          <p:spPr>
            <a:xfrm>
              <a:off x="7814332" y="4479970"/>
              <a:ext cx="3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Retângulo 10">
                  <a:extLst>
                    <a:ext uri="{FF2B5EF4-FFF2-40B4-BE49-F238E27FC236}">
                      <a16:creationId xmlns:a16="http://schemas.microsoft.com/office/drawing/2014/main" id="{41E9C926-F8C0-AD63-B23E-0F7B0A223C05}"/>
                    </a:ext>
                  </a:extLst>
                </p:cNvPr>
                <p:cNvSpPr/>
                <p:nvPr/>
              </p:nvSpPr>
              <p:spPr>
                <a:xfrm>
                  <a:off x="8077721" y="4260973"/>
                  <a:ext cx="1290161"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13" name="Retângulo 10">
                  <a:extLst>
                    <a:ext uri="{FF2B5EF4-FFF2-40B4-BE49-F238E27FC236}">
                      <a16:creationId xmlns:a16="http://schemas.microsoft.com/office/drawing/2014/main" id="{41E9C926-F8C0-AD63-B23E-0F7B0A223C05}"/>
                    </a:ext>
                  </a:extLst>
                </p:cNvPr>
                <p:cNvSpPr>
                  <a:spLocks noRot="1" noChangeAspect="1" noMove="1" noResize="1" noEditPoints="1" noAdjustHandles="1" noChangeArrowheads="1" noChangeShapeType="1" noTextEdit="1"/>
                </p:cNvSpPr>
                <p:nvPr/>
              </p:nvSpPr>
              <p:spPr>
                <a:xfrm>
                  <a:off x="8077721" y="4260973"/>
                  <a:ext cx="1290161" cy="369332"/>
                </a:xfrm>
                <a:prstGeom prst="rect">
                  <a:avLst/>
                </a:prstGeom>
                <a:blipFill>
                  <a:blip r:embed="rId8"/>
                  <a:stretch>
                    <a:fillRect t="-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tângulo 13">
                  <a:extLst>
                    <a:ext uri="{FF2B5EF4-FFF2-40B4-BE49-F238E27FC236}">
                      <a16:creationId xmlns:a16="http://schemas.microsoft.com/office/drawing/2014/main" id="{1330C992-F346-CC20-7943-524305990CF2}"/>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16" name="Retângulo 13">
                  <a:extLst>
                    <a:ext uri="{FF2B5EF4-FFF2-40B4-BE49-F238E27FC236}">
                      <a16:creationId xmlns:a16="http://schemas.microsoft.com/office/drawing/2014/main" id="{1330C992-F346-CC20-7943-524305990CF2}"/>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9"/>
                  <a:stretch>
                    <a:fillRect/>
                  </a:stretch>
                </a:blipFill>
              </p:spPr>
              <p:txBody>
                <a:bodyPr/>
                <a:lstStyle/>
                <a:p>
                  <a:r>
                    <a:rPr lang="en-US">
                      <a:noFill/>
                    </a:rPr>
                    <a:t> </a:t>
                  </a:r>
                </a:p>
              </p:txBody>
            </p:sp>
          </mc:Fallback>
        </mc:AlternateContent>
        <p:cxnSp>
          <p:nvCxnSpPr>
            <p:cNvPr id="17" name="Conector de Seta Reta 17">
              <a:extLst>
                <a:ext uri="{FF2B5EF4-FFF2-40B4-BE49-F238E27FC236}">
                  <a16:creationId xmlns:a16="http://schemas.microsoft.com/office/drawing/2014/main" id="{312E89C0-1C24-ACB0-845A-4621F2D3BD18}"/>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FF421B8B-79CA-D541-EEB0-3F7DF7B31E5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2" name="TextBox 21">
                  <a:extLst>
                    <a:ext uri="{FF2B5EF4-FFF2-40B4-BE49-F238E27FC236}">
                      <a16:creationId xmlns:a16="http://schemas.microsoft.com/office/drawing/2014/main" id="{FF421B8B-79CA-D541-EEB0-3F7DF7B31E52}"/>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FEA34E7-938B-9A3F-73F6-346EE9769A3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3" name="TextBox 22">
                  <a:extLst>
                    <a:ext uri="{FF2B5EF4-FFF2-40B4-BE49-F238E27FC236}">
                      <a16:creationId xmlns:a16="http://schemas.microsoft.com/office/drawing/2014/main" id="{0FEA34E7-938B-9A3F-73F6-346EE9769A3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7BE36F37-8A2C-6242-BF23-F377A09A83A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24" name="TextBox 23">
                  <a:extLst>
                    <a:ext uri="{FF2B5EF4-FFF2-40B4-BE49-F238E27FC236}">
                      <a16:creationId xmlns:a16="http://schemas.microsoft.com/office/drawing/2014/main" id="{7BE36F37-8A2C-6242-BF23-F377A09A83A0}"/>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760C9FE-D9DE-D5B0-9045-04D52F8CD414}"/>
                    </a:ext>
                  </a:extLst>
                </p:cNvPr>
                <p:cNvSpPr txBox="1"/>
                <p:nvPr/>
              </p:nvSpPr>
              <p:spPr>
                <a:xfrm>
                  <a:off x="5054301" y="4416626"/>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E760C9FE-D9DE-D5B0-9045-04D52F8CD414}"/>
                    </a:ext>
                  </a:extLst>
                </p:cNvPr>
                <p:cNvSpPr txBox="1">
                  <a:spLocks noRot="1" noChangeAspect="1" noMove="1" noResize="1" noEditPoints="1" noAdjustHandles="1" noChangeArrowheads="1" noChangeShapeType="1" noTextEdit="1"/>
                </p:cNvSpPr>
                <p:nvPr/>
              </p:nvSpPr>
              <p:spPr>
                <a:xfrm>
                  <a:off x="5054301" y="4416626"/>
                  <a:ext cx="535857" cy="369332"/>
                </a:xfrm>
                <a:prstGeom prst="rect">
                  <a:avLst/>
                </a:prstGeom>
                <a:blipFill>
                  <a:blip r:embed="rId13"/>
                  <a:stretch>
                    <a:fillRect/>
                  </a:stretch>
                </a:blipFill>
              </p:spPr>
              <p:txBody>
                <a:bodyPr/>
                <a:lstStyle/>
                <a:p>
                  <a:r>
                    <a:rPr lang="en-US">
                      <a:noFill/>
                    </a:rPr>
                    <a:t> </a:t>
                  </a:r>
                </a:p>
              </p:txBody>
            </p:sp>
          </mc:Fallback>
        </mc:AlternateContent>
        <p:cxnSp>
          <p:nvCxnSpPr>
            <p:cNvPr id="32" name="Conector de Seta Reta 7">
              <a:extLst>
                <a:ext uri="{FF2B5EF4-FFF2-40B4-BE49-F238E27FC236}">
                  <a16:creationId xmlns:a16="http://schemas.microsoft.com/office/drawing/2014/main" id="{82B2D064-F37C-9C64-51DF-13B09FB79146}"/>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C22EA230-25F4-2AAD-DC8A-A42A708F2C4C}"/>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C22EA230-25F4-2AAD-DC8A-A42A708F2C4C}"/>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EB8D773-FD39-350F-AD63-7E27AC57E1E5}"/>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5" name="TextBox 34">
                  <a:extLst>
                    <a:ext uri="{FF2B5EF4-FFF2-40B4-BE49-F238E27FC236}">
                      <a16:creationId xmlns:a16="http://schemas.microsoft.com/office/drawing/2014/main" id="{BEB8D773-FD39-350F-AD63-7E27AC57E1E5}"/>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5"/>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0879394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92DF1B7-8386-676F-A207-485C7F06D32E}"/>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22D5A62-CE6E-1AA5-57FE-1C7135D815BD}"/>
                  </a:ext>
                </a:extLst>
              </p:cNvPr>
              <p:cNvSpPr>
                <a:spLocks noGrp="1"/>
              </p:cNvSpPr>
              <p:nvPr>
                <p:ph idx="1"/>
              </p:nvPr>
            </p:nvSpPr>
            <p:spPr>
              <a:xfrm>
                <a:off x="838199" y="1825624"/>
                <a:ext cx="11353801" cy="5032375"/>
              </a:xfrm>
            </p:spPr>
            <p:txBody>
              <a:bodyPr>
                <a:normAutofit lnSpcReduction="10000"/>
              </a:bodyPr>
              <a:lstStyle/>
              <a:p>
                <a:pPr marL="0" indent="0">
                  <a:buNone/>
                </a:pPr>
                <a:endParaRPr lang="pt-BR" dirty="0"/>
              </a:p>
              <a:p>
                <a:pPr marL="0" indent="0">
                  <a:buNone/>
                </a:pPr>
                <a:endParaRPr lang="pt-BR" dirty="0"/>
              </a:p>
              <a:p>
                <a:r>
                  <a:rPr lang="pt-BR" dirty="0"/>
                  <a:t>Qual é a derivada do erro </a:t>
                </a:r>
                <a14:m>
                  <m:oMath xmlns:m="http://schemas.openxmlformats.org/officeDocument/2006/math">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oMath>
                </a14:m>
                <a:r>
                  <a:rPr lang="pt-BR" dirty="0"/>
                  <a:t> em relação à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a:t>
                </a:r>
              </a:p>
              <a:p>
                <a:pPr marL="0" indent="0">
                  <a:buNone/>
                </a:pP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m:rPr>
                              <m:nor/>
                            </m:rPr>
                            <a:rPr lang="en-US" dirty="0"/>
                            <m:t> </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smtClean="0">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pt-BR" dirty="0"/>
              </a:p>
              <a:p>
                <a:r>
                  <a:rPr lang="pt-BR" dirty="0"/>
                  <a:t>Calculando as derivadas, exceto as das funções de ativação,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b="1" dirty="0"/>
                  <a:t>Exemplos</a:t>
                </a:r>
                <a:r>
                  <a:rPr lang="pt-BR" dirty="0"/>
                  <a:t>: derivadas das funções de ativação logística e </a:t>
                </a:r>
                <a:r>
                  <a:rPr lang="pt-BR" dirty="0" err="1"/>
                  <a:t>tanh</a:t>
                </a:r>
                <a:endParaRPr lang="pt-BR" dirty="0"/>
              </a:p>
              <a:p>
                <a:pPr lvl="1">
                  <a:buFont typeface="Wingdings" panose="05000000000000000000" pitchFamily="2" charset="2"/>
                  <a:buChar char="§"/>
                </a:pPr>
                <a:r>
                  <a:rPr lang="pt-BR" dirty="0"/>
                  <a:t>Logística:</a:t>
                </a:r>
                <a14:m>
                  <m:oMath xmlns:m="http://schemas.openxmlformats.org/officeDocument/2006/math">
                    <m:r>
                      <a:rPr lang="pt-BR" b="0" i="0" smtClean="0">
                        <a:latin typeface="Cambria Math" panose="02040503050406030204" pitchFamily="18" charset="0"/>
                      </a:rPr>
                      <m:t> </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d>
                      <m:dPr>
                        <m:ctrlPr>
                          <a:rPr lang="pt-BR" b="0" i="1" smtClean="0">
                            <a:latin typeface="Cambria Math" panose="02040503050406030204" pitchFamily="18" charset="0"/>
                          </a:rPr>
                        </m:ctrlPr>
                      </m:dPr>
                      <m:e>
                        <m:r>
                          <a:rPr lang="pt-BR" b="0" i="1" smtClean="0">
                            <a:latin typeface="Cambria Math" panose="02040503050406030204" pitchFamily="18" charset="0"/>
                          </a:rPr>
                          <m:t>1−</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d>
                    <m:r>
                      <a:rPr lang="pt-BR" b="0" i="1" smtClean="0">
                        <a:latin typeface="Cambria Math" panose="02040503050406030204" pitchFamily="18" charset="0"/>
                        <a:ea typeface="Cambria Math" panose="02040503050406030204" pitchFamily="18" charset="0"/>
                      </a:rPr>
                      <m:t>∈[0, 0.25]</m:t>
                    </m:r>
                  </m:oMath>
                </a14:m>
                <a:endParaRPr lang="pt-BR" dirty="0"/>
              </a:p>
              <a:p>
                <a:pPr lvl="1">
                  <a:buFont typeface="Wingdings" panose="05000000000000000000" pitchFamily="2" charset="2"/>
                  <a:buChar char="§"/>
                </a:pPr>
                <a:r>
                  <a:rPr lang="pt-BR" dirty="0" err="1"/>
                  <a:t>Tanh</a:t>
                </a:r>
                <a:r>
                  <a:rPr lang="pt-BR" dirty="0"/>
                  <a:t>: </a:t>
                </a:r>
                <a14:m>
                  <m:oMath xmlns:m="http://schemas.openxmlformats.org/officeDocument/2006/math">
                    <m:r>
                      <a:rPr lang="pt-BR" b="0" i="1" smtClean="0">
                        <a:latin typeface="Cambria Math" panose="02040503050406030204" pitchFamily="18" charset="0"/>
                      </a:rPr>
                      <m:t>1−</m:t>
                    </m:r>
                    <m:sSup>
                      <m:sSupPr>
                        <m:ctrlPr>
                          <a:rPr lang="pt-BR" b="0" i="1" smtClean="0">
                            <a:latin typeface="Cambria Math" panose="02040503050406030204" pitchFamily="18" charset="0"/>
                          </a:rPr>
                        </m:ctrlPr>
                      </m:sSupPr>
                      <m:e>
                        <m:r>
                          <m:rPr>
                            <m:sty m:val="p"/>
                          </m:rPr>
                          <a:rPr lang="pt-BR" b="0" i="0" smtClean="0">
                            <a:latin typeface="Cambria Math" panose="02040503050406030204" pitchFamily="18" charset="0"/>
                          </a:rPr>
                          <m:t>tanh</m:t>
                        </m:r>
                      </m:e>
                      <m:sup>
                        <m:r>
                          <a:rPr lang="pt-BR" b="0" i="1" smtClean="0">
                            <a:latin typeface="Cambria Math" panose="02040503050406030204" pitchFamily="18" charset="0"/>
                          </a:rPr>
                          <m:t>2</m:t>
                        </m:r>
                      </m:sup>
                    </m:sSup>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)∈[0, 1]</m:t>
                    </m:r>
                  </m:oMath>
                </a14:m>
                <a:endParaRPr lang="pt-BR" dirty="0"/>
              </a:p>
              <a:p>
                <a:pPr lvl="1"/>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322D5A62-CE6E-1AA5-57FE-1C7135D815B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3"/>
                <a:stretch>
                  <a:fillRect l="-913" b="-847"/>
                </a:stretch>
              </a:blipFill>
            </p:spPr>
            <p:txBody>
              <a:bodyPr/>
              <a:lstStyle/>
              <a:p>
                <a:r>
                  <a:rPr lang="en-US">
                    <a:noFill/>
                  </a:rPr>
                  <a:t> </a:t>
                </a:r>
              </a:p>
            </p:txBody>
          </p:sp>
        </mc:Fallback>
      </mc:AlternateContent>
      <p:grpSp>
        <p:nvGrpSpPr>
          <p:cNvPr id="56" name="Grupo 55"/>
          <p:cNvGrpSpPr/>
          <p:nvPr/>
        </p:nvGrpSpPr>
        <p:grpSpPr>
          <a:xfrm>
            <a:off x="2824117" y="1825624"/>
            <a:ext cx="6149352" cy="708828"/>
            <a:chOff x="2824117" y="1825624"/>
            <a:chExt cx="6149352" cy="708828"/>
          </a:xfrm>
        </p:grpSpPr>
        <p:grpSp>
          <p:nvGrpSpPr>
            <p:cNvPr id="57" name="Group 19">
              <a:extLst>
                <a:ext uri="{FF2B5EF4-FFF2-40B4-BE49-F238E27FC236}">
                  <a16:creationId xmlns:a16="http://schemas.microsoft.com/office/drawing/2014/main" id="{AD7588CC-1303-51DE-62D0-1AF556C3EEE7}"/>
                </a:ext>
              </a:extLst>
            </p:cNvPr>
            <p:cNvGrpSpPr/>
            <p:nvPr/>
          </p:nvGrpSpPr>
          <p:grpSpPr>
            <a:xfrm>
              <a:off x="2824117" y="1825624"/>
              <a:ext cx="6149352" cy="699336"/>
              <a:chOff x="2824117" y="1825624"/>
              <a:chExt cx="6149352" cy="699336"/>
            </a:xfrm>
          </p:grpSpPr>
          <p:grpSp>
            <p:nvGrpSpPr>
              <p:cNvPr id="59" name="Group 20">
                <a:extLst>
                  <a:ext uri="{FF2B5EF4-FFF2-40B4-BE49-F238E27FC236}">
                    <a16:creationId xmlns:a16="http://schemas.microsoft.com/office/drawing/2014/main"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62" name="Elipse 4">
                      <a:extLst>
                        <a:ext uri="{FF2B5EF4-FFF2-40B4-BE49-F238E27FC236}">
                          <a16:creationId xmlns:a16="http://schemas.microsoft.com/office/drawing/2014/main"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Elipse 5">
                      <a:extLst>
                        <a:ext uri="{FF2B5EF4-FFF2-40B4-BE49-F238E27FC236}">
                          <a16:creationId xmlns:a16="http://schemas.microsoft.com/office/drawing/2014/main"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Elipse 6">
                      <a:extLst>
                        <a:ext uri="{FF2B5EF4-FFF2-40B4-BE49-F238E27FC236}">
                          <a16:creationId xmlns:a16="http://schemas.microsoft.com/office/drawing/2014/main"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65" name="Conector de Seta Reta 7">
                  <a:extLst>
                    <a:ext uri="{FF2B5EF4-FFF2-40B4-BE49-F238E27FC236}">
                      <a16:creationId xmlns:a16="http://schemas.microsoft.com/office/drawing/2014/main"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Conector de Seta Reta 12">
                  <a:extLst>
                    <a:ext uri="{FF2B5EF4-FFF2-40B4-BE49-F238E27FC236}">
                      <a16:creationId xmlns:a16="http://schemas.microsoft.com/office/drawing/2014/main"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Retângulo 10">
                      <a:extLst>
                        <a:ext uri="{FF2B5EF4-FFF2-40B4-BE49-F238E27FC236}">
                          <a16:creationId xmlns:a16="http://schemas.microsoft.com/office/drawing/2014/main"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Retângulo 13">
                      <a:extLst>
                        <a:ext uri="{FF2B5EF4-FFF2-40B4-BE49-F238E27FC236}">
                          <a16:creationId xmlns:a16="http://schemas.microsoft.com/office/drawing/2014/main"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69" name="Conector de Seta Reta 17">
                  <a:extLst>
                    <a:ext uri="{FF2B5EF4-FFF2-40B4-BE49-F238E27FC236}">
                      <a16:creationId xmlns:a16="http://schemas.microsoft.com/office/drawing/2014/main"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0" name="TextBox 31">
                      <a:extLst>
                        <a:ext uri="{FF2B5EF4-FFF2-40B4-BE49-F238E27FC236}">
                          <a16:creationId xmlns:a16="http://schemas.microsoft.com/office/drawing/2014/main"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32">
                      <a:extLst>
                        <a:ext uri="{FF2B5EF4-FFF2-40B4-BE49-F238E27FC236}">
                          <a16:creationId xmlns:a16="http://schemas.microsoft.com/office/drawing/2014/main"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33">
                      <a:extLst>
                        <a:ext uri="{FF2B5EF4-FFF2-40B4-BE49-F238E27FC236}">
                          <a16:creationId xmlns:a16="http://schemas.microsoft.com/office/drawing/2014/main"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TextBox 34">
                      <a:extLst>
                        <a:ext uri="{FF2B5EF4-FFF2-40B4-BE49-F238E27FC236}">
                          <a16:creationId xmlns:a16="http://schemas.microsoft.com/office/drawing/2014/main"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74" name="Conector de Seta Reta 7">
                  <a:extLst>
                    <a:ext uri="{FF2B5EF4-FFF2-40B4-BE49-F238E27FC236}">
                      <a16:creationId xmlns:a16="http://schemas.microsoft.com/office/drawing/2014/main"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5" name="TextBox 36">
                      <a:extLst>
                        <a:ext uri="{FF2B5EF4-FFF2-40B4-BE49-F238E27FC236}">
                          <a16:creationId xmlns:a16="http://schemas.microsoft.com/office/drawing/2014/main"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37">
                      <a:extLst>
                        <a:ext uri="{FF2B5EF4-FFF2-40B4-BE49-F238E27FC236}">
                          <a16:creationId xmlns:a16="http://schemas.microsoft.com/office/drawing/2014/main"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0" name="TextBox 21">
                    <a:extLst>
                      <a:ext uri="{FF2B5EF4-FFF2-40B4-BE49-F238E27FC236}">
                        <a16:creationId xmlns:a16="http://schemas.microsoft.com/office/drawing/2014/main"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22">
                    <a:extLst>
                      <a:ext uri="{FF2B5EF4-FFF2-40B4-BE49-F238E27FC236}">
                        <a16:creationId xmlns:a16="http://schemas.microsoft.com/office/drawing/2014/main"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8" name="TextBox 39">
                  <a:extLst>
                    <a:ext uri="{FF2B5EF4-FFF2-40B4-BE49-F238E27FC236}">
                      <a16:creationId xmlns:a16="http://schemas.microsoft.com/office/drawing/2014/main" id="{2CFDFBD5-FA4D-91D9-109D-B66617353EEC}"/>
                    </a:ext>
                  </a:extLst>
                </p:cNvPr>
                <p:cNvSpPr txBox="1"/>
                <p:nvPr/>
              </p:nvSpPr>
              <p:spPr>
                <a:xfrm>
                  <a:off x="7739853" y="216512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58" name="TextBox 39">
                  <a:extLst>
                    <a:ext uri="{FF2B5EF4-FFF2-40B4-BE49-F238E27FC236}">
                      <a16:creationId xmlns:a16="http://schemas.microsoft.com/office/drawing/2014/main" xmlns:a14="http://schemas.microsoft.com/office/drawing/2010/main" xmlns="" id="{2CFDFBD5-FA4D-91D9-109D-B66617353EEC}"/>
                    </a:ext>
                  </a:extLst>
                </p:cNvPr>
                <p:cNvSpPr txBox="1">
                  <a:spLocks noRot="1" noChangeAspect="1" noMove="1" noResize="1" noEditPoints="1" noAdjustHandles="1" noChangeArrowheads="1" noChangeShapeType="1" noTextEdit="1"/>
                </p:cNvSpPr>
                <p:nvPr/>
              </p:nvSpPr>
              <p:spPr>
                <a:xfrm>
                  <a:off x="7739853" y="2165120"/>
                  <a:ext cx="632539" cy="369332"/>
                </a:xfrm>
                <a:prstGeom prst="rect">
                  <a:avLst/>
                </a:prstGeom>
                <a:blipFill rotWithShape="0">
                  <a:blip r:embed="rId17"/>
                  <a:stretch>
                    <a:fillRect l="-2913" r="-22330" b="-13115"/>
                  </a:stretch>
                </a:blipFill>
              </p:spPr>
              <p:txBody>
                <a:bodyPr/>
                <a:lstStyle/>
                <a:p>
                  <a:r>
                    <a:rPr lang="pt-BR">
                      <a:noFill/>
                    </a:rPr>
                    <a:t> </a:t>
                  </a:r>
                </a:p>
              </p:txBody>
            </p:sp>
          </mc:Fallback>
        </mc:AlternateContent>
      </p:grpSp>
    </p:spTree>
    <p:extLst>
      <p:ext uri="{BB962C8B-B14F-4D97-AF65-F5344CB8AC3E}">
        <p14:creationId xmlns:p14="http://schemas.microsoft.com/office/powerpoint/2010/main" val="92453029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08027" cy="5032376"/>
              </a:xfrm>
            </p:spPr>
            <p:txBody>
              <a:bodyPr>
                <a:normAutofit/>
              </a:bodyPr>
              <a:lstStyle/>
              <a:p>
                <a:r>
                  <a:rPr lang="pt-BR" dirty="0"/>
                  <a:t>Encontrar o </a:t>
                </a:r>
                <a:r>
                  <a:rPr lang="pt-BR" b="1" dirty="0"/>
                  <a:t>vetor gradiente </a:t>
                </a:r>
                <a:r>
                  <a:rPr lang="pt-BR" dirty="0"/>
                  <a:t>para todos os pesos do nó 1 da camada oculta da rede neural MLP abaixo.</a:t>
                </a:r>
              </a:p>
              <a:p>
                <a:pPr marL="0" indent="0">
                  <a:buNone/>
                </a:pPr>
                <a:r>
                  <a:rPr lang="pt-BR" dirty="0"/>
                  <a:t>                                          </a:t>
                </a:r>
                <a14:m>
                  <m:oMath xmlns:m="http://schemas.openxmlformats.org/officeDocument/2006/math">
                    <m:d>
                      <m:dPr>
                        <m:begChr m:val="["/>
                        <m:endChr m:val="]"/>
                        <m:ctrlPr>
                          <a:rPr lang="pt-BR" sz="3200" i="1" smtClean="0">
                            <a:latin typeface="Cambria Math" panose="02040503050406030204" pitchFamily="18" charset="0"/>
                          </a:rPr>
                        </m:ctrlPr>
                      </m:dP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1,1</m:t>
                                      </m:r>
                                    </m:sub>
                                    <m:sup>
                                      <m:r>
                                        <a:rPr lang="pt-BR" sz="3200" i="1">
                                          <a:latin typeface="Cambria Math" panose="02040503050406030204" pitchFamily="18" charset="0"/>
                                        </a:rPr>
                                        <m:t>1</m:t>
                                      </m:r>
                                    </m:sup>
                                  </m:sSubSup>
                                </m:den>
                              </m:f>
                            </m:e>
                          </m:mr>
                          <m:m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1,2</m:t>
                                            </m:r>
                                          </m:sub>
                                          <m:sup>
                                            <m:r>
                                              <a:rPr lang="pt-BR" sz="3200" i="1">
                                                <a:latin typeface="Cambria Math" panose="02040503050406030204" pitchFamily="18" charset="0"/>
                                              </a:rPr>
                                              <m:t>1</m:t>
                                            </m:r>
                                          </m:sup>
                                        </m:sSubSup>
                                      </m:den>
                                    </m:f>
                                  </m:e>
                                </m:m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𝑏</m:t>
                                            </m:r>
                                          </m:e>
                                          <m:sub>
                                            <m:r>
                                              <a:rPr lang="pt-BR" sz="3200" i="1">
                                                <a:latin typeface="Cambria Math" panose="02040503050406030204" pitchFamily="18" charset="0"/>
                                              </a:rPr>
                                              <m:t>1</m:t>
                                            </m:r>
                                          </m:sub>
                                          <m:sup>
                                            <m:r>
                                              <a:rPr lang="pt-BR" sz="3200" i="1">
                                                <a:latin typeface="Cambria Math" panose="02040503050406030204" pitchFamily="18" charset="0"/>
                                              </a:rPr>
                                              <m:t>1</m:t>
                                            </m:r>
                                          </m:sup>
                                        </m:sSubSup>
                                      </m:den>
                                    </m:f>
                                  </m:e>
                                </m:mr>
                              </m:m>
                            </m:e>
                          </m:mr>
                        </m:m>
                      </m:e>
                    </m:d>
                    <m:r>
                      <a:rPr lang="pt-BR" sz="3200" b="0" i="1" smtClean="0">
                        <a:latin typeface="Cambria Math" panose="02040503050406030204" pitchFamily="18" charset="0"/>
                      </a:rPr>
                      <m:t>=?</m:t>
                    </m:r>
                  </m:oMath>
                </a14:m>
                <a:endParaRPr lang="pt-BR" sz="3200" dirty="0"/>
              </a:p>
              <a:p>
                <a:r>
                  <a:rPr lang="pt-BR" b="1" dirty="0"/>
                  <a:t>OBS</a:t>
                </a:r>
                <a:r>
                  <a:rPr lang="pt-BR" dirty="0"/>
                  <a:t>.: vamos deixar as derivadas da função de ativação em relação às ativações, </a:t>
                </a:r>
                <a14:m>
                  <m:oMath xmlns:m="http://schemas.openxmlformats.org/officeDocument/2006/math">
                    <m:r>
                      <a:rPr lang="pt-BR" b="0" i="1" smtClean="0">
                        <a:latin typeface="Cambria Math" panose="02040503050406030204" pitchFamily="18" charset="0"/>
                      </a:rPr>
                      <m:t>𝑢</m:t>
                    </m:r>
                  </m:oMath>
                </a14:m>
                <a:r>
                  <a:rPr lang="pt-BR" dirty="0"/>
                  <a:t>, de forma genérica, i.e., não vamos assumir nenhum tipo específico de função de ativação.</a:t>
                </a:r>
              </a:p>
              <a:p>
                <a:pPr lvl="1"/>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08027" cy="5032376"/>
              </a:xfrm>
              <a:blipFill>
                <a:blip r:embed="rId3"/>
                <a:stretch>
                  <a:fillRect l="-924" t="-1937" r="-1577"/>
                </a:stretch>
              </a:blipFill>
            </p:spPr>
            <p:txBody>
              <a:bodyPr/>
              <a:lstStyle/>
              <a:p>
                <a:r>
                  <a:rPr lang="en-US">
                    <a:noFill/>
                  </a:rPr>
                  <a:t> </a:t>
                </a:r>
              </a:p>
            </p:txBody>
          </p:sp>
        </mc:Fallback>
      </mc:AlternateContent>
      <p:pic>
        <p:nvPicPr>
          <p:cNvPr id="4" name="Picture 4"/>
          <p:cNvPicPr>
            <a:picLocks noChangeAspect="1"/>
          </p:cNvPicPr>
          <p:nvPr/>
        </p:nvPicPr>
        <p:blipFill rotWithShape="1">
          <a:blip r:embed="rId4"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5" name="CaixaDeTexto 4"/>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6" name="CaixaDeTexto 5"/>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10" name="Elipse 9"/>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Elipse 11"/>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98159074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A5869CA-BCE3-3D01-FEAF-9AD088F17496}"/>
                  </a:ext>
                </a:extLst>
              </p:cNvPr>
              <p:cNvSpPr>
                <a:spLocks noGrp="1"/>
              </p:cNvSpPr>
              <p:nvPr>
                <p:ph idx="1"/>
              </p:nvPr>
            </p:nvSpPr>
            <p:spPr>
              <a:xfrm>
                <a:off x="838201" y="1825624"/>
                <a:ext cx="11216148" cy="5032375"/>
              </a:xfrm>
            </p:spPr>
            <p:txBody>
              <a:bodyPr>
                <a:normAutofit/>
              </a:bodyPr>
              <a:lstStyle/>
              <a:p>
                <a:r>
                  <a:rPr lang="pt-BR" dirty="0"/>
                  <a:t>Usaremos o </a:t>
                </a:r>
                <a:r>
                  <a:rPr lang="pt-BR" b="1" dirty="0"/>
                  <a:t>erro quadrático médio</a:t>
                </a:r>
                <a:r>
                  <a:rPr lang="pt-BR" dirty="0"/>
                  <a:t> como função de erro</a:t>
                </a:r>
                <a:endParaRPr lang="pt-BR" sz="2800" dirty="0"/>
              </a:p>
              <a:p>
                <a:pPr marL="0" indent="0">
                  <a:buNone/>
                </a:pP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i="1">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b="0" i="1" smtClean="0">
                                      <a:latin typeface="Cambria Math" panose="02040503050406030204" pitchFamily="18" charset="0"/>
                                    </a:rPr>
                                    <m:t>𝑘</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e>
                          </m:nary>
                        </m:e>
                      </m:nary>
                    </m:oMath>
                  </m:oMathPara>
                </a14:m>
                <a:endParaRPr lang="pt-BR" dirty="0"/>
              </a:p>
              <a:p>
                <a:pPr marL="0" indent="0" algn="ctr">
                  <a:buNone/>
                </a:pPr>
                <a:endParaRPr lang="pt-BR" sz="500" dirty="0"/>
              </a:p>
              <a:p>
                <a:pPr marL="0" indent="0" algn="ctr">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                                    =</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i="1">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Sup>
                                        <m:sSubSupPr>
                                          <m:ctrlPr>
                                            <a:rPr lang="pt-BR" i="1" smtClean="0">
                                              <a:latin typeface="Cambria Math" panose="02040503050406030204" pitchFamily="18" charset="0"/>
                                            </a:rPr>
                                          </m:ctrlPr>
                                        </m:sSubSupPr>
                                        <m:e>
                                          <m:acc>
                                            <m:accPr>
                                              <m:chr m:val="̂"/>
                                              <m:ctrlPr>
                                                <a:rPr lang="pt-BR" i="1" smtClean="0">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e>
                      </m:nary>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oMath>
                </a14:m>
                <a:r>
                  <a:rPr lang="pt-BR" dirty="0"/>
                  <a:t> é o número de amostras,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oMath>
                </a14:m>
                <a:r>
                  <a:rPr lang="pt-BR" dirty="0"/>
                  <a:t> é o número de nós na camada de saída,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e </a:t>
                </a:r>
                <a14:m>
                  <m:oMath xmlns:m="http://schemas.openxmlformats.org/officeDocument/2006/math">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são o rótulo da </a:t>
                </a:r>
                <a14:m>
                  <m:oMath xmlns:m="http://schemas.openxmlformats.org/officeDocument/2006/math">
                    <m:r>
                      <a:rPr lang="pt-BR" b="0" i="1" smtClean="0">
                        <a:latin typeface="Cambria Math" panose="02040503050406030204" pitchFamily="18" charset="0"/>
                      </a:rPr>
                      <m:t>𝑘</m:t>
                    </m:r>
                  </m:oMath>
                </a14:m>
                <a:r>
                  <a:rPr lang="pt-BR" dirty="0"/>
                  <a:t>-ésima saída e a saída do </a:t>
                </a:r>
                <a14:m>
                  <m:oMath xmlns:m="http://schemas.openxmlformats.org/officeDocument/2006/math">
                    <m:r>
                      <a:rPr lang="pt-BR" b="0" i="1" smtClean="0">
                        <a:latin typeface="Cambria Math" panose="02040503050406030204" pitchFamily="18" charset="0"/>
                      </a:rPr>
                      <m:t>𝑘</m:t>
                    </m:r>
                  </m:oMath>
                </a14:m>
                <a:r>
                  <a:rPr lang="pt-BR" dirty="0"/>
                  <a:t>-ésimo nó da camada de saída, respectivamente, ambos correspondentes à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entrada, </a:t>
                </a:r>
                <a14:m>
                  <m:oMath xmlns:m="http://schemas.openxmlformats.org/officeDocument/2006/math">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sz="2800" dirty="0"/>
                  <a:t> e </a:t>
                </a:r>
                <a14:m>
                  <m:oMath xmlns:m="http://schemas.openxmlformats.org/officeDocument/2006/math">
                    <m:r>
                      <a:rPr lang="pt-BR" sz="2800" b="0" i="1" smtClean="0">
                        <a:latin typeface="Cambria Math" panose="02040503050406030204" pitchFamily="18" charset="0"/>
                      </a:rPr>
                      <m:t>𝑀</m:t>
                    </m:r>
                  </m:oMath>
                </a14:m>
                <a:r>
                  <a:rPr lang="pt-BR" sz="2800" dirty="0"/>
                  <a:t> representa o índice da última camada.</a:t>
                </a:r>
              </a:p>
            </p:txBody>
          </p:sp>
        </mc:Choice>
        <mc:Fallback xmlns="">
          <p:sp>
            <p:nvSpPr>
              <p:cNvPr id="3" name="Espaço Reservado para Conteúdo 2">
                <a:extLst>
                  <a:ext uri="{FF2B5EF4-FFF2-40B4-BE49-F238E27FC236}">
                    <a16:creationId xmlns:a16="http://schemas.microsoft.com/office/drawing/2014/main" id="{AA5869CA-BCE3-3D01-FEAF-9AD088F17496}"/>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a:blip r:embed="rId2"/>
                <a:stretch>
                  <a:fillRect l="-1142" t="-1937" r="-1033"/>
                </a:stretch>
              </a:blipFill>
            </p:spPr>
            <p:txBody>
              <a:bodyPr/>
              <a:lstStyle/>
              <a:p>
                <a:r>
                  <a:rPr lang="en-US">
                    <a:noFill/>
                  </a:rPr>
                  <a:t> </a:t>
                </a:r>
              </a:p>
            </p:txBody>
          </p:sp>
        </mc:Fallback>
      </mc:AlternateContent>
    </p:spTree>
    <p:extLst>
      <p:ext uri="{BB962C8B-B14F-4D97-AF65-F5344CB8AC3E}">
        <p14:creationId xmlns:p14="http://schemas.microsoft.com/office/powerpoint/2010/main" val="368978577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FEE69-E068-E1DA-235F-CA5E09C5E74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51C0860-37BF-1E91-5400-161CEB8DD61F}"/>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1E90DBE-E2F7-6A62-23BE-53B140536553}"/>
                  </a:ext>
                </a:extLst>
              </p:cNvPr>
              <p:cNvSpPr>
                <a:spLocks noGrp="1"/>
              </p:cNvSpPr>
              <p:nvPr>
                <p:ph idx="1"/>
              </p:nvPr>
            </p:nvSpPr>
            <p:spPr>
              <a:xfrm>
                <a:off x="838201" y="1825624"/>
                <a:ext cx="11216148" cy="5032375"/>
              </a:xfrm>
            </p:spPr>
            <p:txBody>
              <a:bodyPr>
                <a:normAutofit/>
              </a:bodyPr>
              <a:lstStyle/>
              <a:p>
                <a:r>
                  <a:rPr lang="pt-BR" dirty="0"/>
                  <a:t>A rede possui </a:t>
                </a:r>
                <a:r>
                  <a:rPr lang="pt-BR" b="1" dirty="0">
                    <a:solidFill>
                      <a:schemeClr val="accent2"/>
                    </a:solidFill>
                  </a:rPr>
                  <a:t>uma camada oculta </a:t>
                </a:r>
                <a:r>
                  <a:rPr lang="pt-BR" dirty="0"/>
                  <a:t>com </a:t>
                </a:r>
                <a:r>
                  <a:rPr lang="pt-BR" b="1" dirty="0">
                    <a:solidFill>
                      <a:srgbClr val="00B050"/>
                    </a:solidFill>
                  </a:rPr>
                  <a:t>dois nós </a:t>
                </a:r>
                <a:r>
                  <a:rPr lang="pt-BR" dirty="0"/>
                  <a:t>e </a:t>
                </a:r>
                <a:r>
                  <a:rPr lang="pt-BR" b="1" dirty="0">
                    <a:solidFill>
                      <a:schemeClr val="accent2"/>
                    </a:solidFill>
                  </a:rPr>
                  <a:t>uma camada de saída </a:t>
                </a:r>
                <a:r>
                  <a:rPr lang="pt-BR" dirty="0"/>
                  <a:t>com </a:t>
                </a:r>
                <a:r>
                  <a:rPr lang="pt-BR" b="1" dirty="0">
                    <a:solidFill>
                      <a:srgbClr val="00B050"/>
                    </a:solidFill>
                  </a:rPr>
                  <a:t>um único nó</a:t>
                </a:r>
                <a:r>
                  <a:rPr lang="pt-BR" dirty="0"/>
                  <a:t>, i.e.,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r>
                      <a:rPr lang="pt-BR" b="0" i="1" smtClean="0">
                        <a:latin typeface="Cambria Math" panose="02040503050406030204" pitchFamily="18" charset="0"/>
                      </a:rPr>
                      <m:t>=1</m:t>
                    </m:r>
                  </m:oMath>
                </a14:m>
                <a:r>
                  <a:rPr lang="pt-BR" dirty="0"/>
                  <a:t>.</a:t>
                </a:r>
              </a:p>
              <a:p>
                <a:r>
                  <a:rPr lang="pt-BR" dirty="0"/>
                  <a:t>Além disso, por motivos didáticos, vamos considerar um único exemplo de entrada</a:t>
                </a:r>
                <a14:m>
                  <m:oMath xmlns:m="http://schemas.openxmlformats.org/officeDocument/2006/math">
                    <m:r>
                      <a:rPr lang="pt-BR" b="0" i="1" smtClean="0">
                        <a:latin typeface="Cambria Math" panose="02040503050406030204" pitchFamily="18" charset="0"/>
                      </a:rPr>
                      <m:t>,</m:t>
                    </m:r>
                  </m:oMath>
                </a14:m>
                <a:r>
                  <a:rPr lang="pt-BR" dirty="0"/>
                  <a:t> </a:t>
                </a:r>
                <a14:m>
                  <m:oMath xmlns:m="http://schemas.openxmlformats.org/officeDocument/2006/math">
                    <m:r>
                      <a:rPr lang="pt-BR" b="1" i="1">
                        <a:latin typeface="Cambria Math" panose="02040503050406030204" pitchFamily="18" charset="0"/>
                      </a:rPr>
                      <m:t>𝒙</m:t>
                    </m:r>
                    <m:r>
                      <a:rPr lang="pt-BR" i="1">
                        <a:latin typeface="Cambria Math" panose="02040503050406030204" pitchFamily="18" charset="0"/>
                      </a:rPr>
                      <m:t>=</m:t>
                    </m:r>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oMath>
                </a14:m>
                <a:r>
                  <a:rPr lang="pt-BR" dirty="0"/>
                  <a:t> e seu respectivo rótulo, </a:t>
                </a:r>
                <a14:m>
                  <m:oMath xmlns:m="http://schemas.openxmlformats.org/officeDocument/2006/math">
                    <m:r>
                      <a:rPr lang="pt-BR" b="0" i="1" smtClean="0">
                        <a:latin typeface="Cambria Math" panose="02040503050406030204" pitchFamily="18" charset="0"/>
                      </a:rPr>
                      <m:t>𝑦</m:t>
                    </m:r>
                  </m:oMath>
                </a14:m>
                <a:r>
                  <a:rPr lang="pt-BR" dirty="0"/>
                  <a:t>. </a:t>
                </a:r>
              </a:p>
              <a:p>
                <a:r>
                  <a:rPr lang="pt-BR" dirty="0"/>
                  <a:t>Assim,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r>
                      <a:rPr lang="pt-BR" i="1">
                        <a:latin typeface="Cambria Math" panose="02040503050406030204" pitchFamily="18" charset="0"/>
                      </a:rPr>
                      <m:t>=1</m:t>
                    </m:r>
                  </m:oMath>
                </a14:m>
                <a:r>
                  <a:rPr lang="pt-BR" dirty="0"/>
                  <a:t>, fazendo com que o erro se torne</a:t>
                </a: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r>
                        <a:rPr lang="pt-BR" b="0" i="1" smtClean="0">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b="0" i="1" smtClean="0">
                                  <a:latin typeface="Cambria Math" panose="02040503050406030204" pitchFamily="18" charset="0"/>
                                </a:rPr>
                                <m:t> −</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a:p>
                <a:pPr marL="0" indent="0">
                  <a:buNone/>
                </a:pPr>
                <a:r>
                  <a:rPr lang="pt-BR" dirty="0"/>
                  <a:t>onde o índice </a:t>
                </a:r>
                <a14:m>
                  <m:oMath xmlns:m="http://schemas.openxmlformats.org/officeDocument/2006/math">
                    <m:r>
                      <a:rPr lang="pt-BR" i="1">
                        <a:latin typeface="Cambria Math" panose="02040503050406030204" pitchFamily="18" charset="0"/>
                      </a:rPr>
                      <m:t>𝑛</m:t>
                    </m:r>
                  </m:oMath>
                </a14:m>
                <a:r>
                  <a:rPr lang="pt-BR" dirty="0"/>
                  <a:t> não é apresentado, pois temos apenas uma amostra.</a:t>
                </a:r>
              </a:p>
              <a:p>
                <a:r>
                  <a:rPr lang="pt-BR" dirty="0"/>
                  <a:t>Por sua vez, o gradiente é dado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a:latin typeface="Cambria Math" panose="02040503050406030204" pitchFamily="18" charset="0"/>
                        </a:rPr>
                        <m:t>=</m:t>
                      </m:r>
                      <m:f>
                        <m:fPr>
                          <m:ctrlPr>
                            <a:rPr lang="pt-BR" i="1">
                              <a:latin typeface="Cambria Math" panose="02040503050406030204" pitchFamily="18" charset="0"/>
                            </a:rPr>
                          </m:ctrlPr>
                        </m:fPr>
                        <m:num>
                          <m:sSubSup>
                            <m:sSubSupPr>
                              <m:ctrlPr>
                                <a:rPr lang="pt-BR" i="1">
                                  <a:latin typeface="Cambria Math" panose="02040503050406030204" pitchFamily="18" charset="0"/>
                                </a:rPr>
                              </m:ctrlPr>
                            </m:sSubSupPr>
                            <m:e>
                              <m:r>
                                <a:rPr lang="pt-BR" i="1">
                                  <a:latin typeface="Cambria Math" panose="02040503050406030204" pitchFamily="18" charset="0"/>
                                </a:rPr>
                                <m:t>𝜕</m:t>
                              </m:r>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21E90DBE-E2F7-6A62-23BE-53B140536553}"/>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a:blip r:embed="rId2"/>
                <a:stretch>
                  <a:fillRect l="-1142" t="-1937" r="-11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9628555" y="6116899"/>
                <a:ext cx="2563445" cy="741100"/>
              </a:xfrm>
              <a:prstGeom prst="rect">
                <a:avLst/>
              </a:prstGeom>
            </p:spPr>
            <p:txBody>
              <a:bodyPr wrap="square">
                <a:spAutoFit/>
              </a:bodyPr>
              <a:lstStyle/>
              <a:p>
                <a:pPr algn="ctr"/>
                <a:r>
                  <a:rPr lang="pt-BR" sz="1400" b="1" dirty="0"/>
                  <a:t>OBS</a:t>
                </a:r>
                <a:r>
                  <a:rPr lang="pt-BR" sz="1400" dirty="0"/>
                  <a:t>.: </a:t>
                </a:r>
                <a14:m>
                  <m:oMath xmlns:m="http://schemas.openxmlformats.org/officeDocument/2006/math">
                    <m:sSubSup>
                      <m:sSubSupPr>
                        <m:ctrlPr>
                          <a:rPr lang="pt-BR" sz="1400" i="1">
                            <a:latin typeface="Cambria Math" panose="02040503050406030204" pitchFamily="18" charset="0"/>
                          </a:rPr>
                        </m:ctrlPr>
                      </m:sSubSupPr>
                      <m:e>
                        <m:acc>
                          <m:accPr>
                            <m:chr m:val="̂"/>
                            <m:ctrlPr>
                              <a:rPr lang="pt-BR" sz="1400" i="1">
                                <a:latin typeface="Cambria Math" panose="02040503050406030204" pitchFamily="18" charset="0"/>
                              </a:rPr>
                            </m:ctrlPr>
                          </m:accPr>
                          <m:e>
                            <m:r>
                              <a:rPr lang="pt-BR" sz="1400" i="1">
                                <a:latin typeface="Cambria Math" panose="02040503050406030204" pitchFamily="18" charset="0"/>
                              </a:rPr>
                              <m:t>𝑦</m:t>
                            </m:r>
                          </m:e>
                        </m:acc>
                      </m:e>
                      <m:sub>
                        <m:r>
                          <a:rPr lang="pt-BR" sz="1400" i="1">
                            <a:latin typeface="Cambria Math" panose="02040503050406030204" pitchFamily="18" charset="0"/>
                          </a:rPr>
                          <m:t>1</m:t>
                        </m:r>
                      </m:sub>
                      <m:sup>
                        <m:r>
                          <a:rPr lang="pt-BR" sz="1400" i="1">
                            <a:latin typeface="Cambria Math" panose="02040503050406030204" pitchFamily="18" charset="0"/>
                          </a:rPr>
                          <m:t>2</m:t>
                        </m:r>
                      </m:sup>
                    </m:sSubSup>
                  </m:oMath>
                </a14:m>
                <a:r>
                  <a:rPr lang="pt-BR" sz="1400" dirty="0"/>
                  <a:t> não significa “ao quadrado”, mas sim a indicação do índice da camada.</a:t>
                </a:r>
              </a:p>
            </p:txBody>
          </p:sp>
        </mc:Choice>
        <mc:Fallback xmlns="">
          <p:sp>
            <p:nvSpPr>
              <p:cNvPr id="4" name="Rectangle 3"/>
              <p:cNvSpPr>
                <a:spLocks noRot="1" noChangeAspect="1" noMove="1" noResize="1" noEditPoints="1" noAdjustHandles="1" noChangeArrowheads="1" noChangeShapeType="1" noTextEdit="1"/>
              </p:cNvSpPr>
              <p:nvPr/>
            </p:nvSpPr>
            <p:spPr>
              <a:xfrm>
                <a:off x="9628555" y="6116899"/>
                <a:ext cx="2563445" cy="741100"/>
              </a:xfrm>
              <a:prstGeom prst="rect">
                <a:avLst/>
              </a:prstGeom>
              <a:blipFill>
                <a:blip r:embed="rId3"/>
                <a:stretch>
                  <a:fillRect r="-475" b="-8197"/>
                </a:stretch>
              </a:blipFill>
            </p:spPr>
            <p:txBody>
              <a:bodyPr/>
              <a:lstStyle/>
              <a:p>
                <a:r>
                  <a:rPr lang="en-US">
                    <a:noFill/>
                  </a:rPr>
                  <a:t> </a:t>
                </a:r>
              </a:p>
            </p:txBody>
          </p:sp>
        </mc:Fallback>
      </mc:AlternateContent>
    </p:spTree>
    <p:extLst>
      <p:ext uri="{BB962C8B-B14F-4D97-AF65-F5344CB8AC3E}">
        <p14:creationId xmlns:p14="http://schemas.microsoft.com/office/powerpoint/2010/main" val="260957100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A5869CA-BCE3-3D01-FEAF-9AD088F17496}"/>
                  </a:ext>
                </a:extLst>
              </p:cNvPr>
              <p:cNvSpPr>
                <a:spLocks noGrp="1"/>
              </p:cNvSpPr>
              <p:nvPr>
                <p:ph idx="1"/>
              </p:nvPr>
            </p:nvSpPr>
            <p:spPr>
              <a:xfrm>
                <a:off x="4551979" y="1825624"/>
                <a:ext cx="7502369" cy="5032375"/>
              </a:xfrm>
            </p:spPr>
            <p:txBody>
              <a:bodyPr>
                <a:normAutofit/>
              </a:bodyPr>
              <a:lstStyle/>
              <a:p>
                <a:r>
                  <a:rPr lang="pt-BR" dirty="0"/>
                  <a:t>Vamos supor que os pesos de todos os nós são inicializados de forma aleatória.</a:t>
                </a:r>
              </a:p>
              <a:p>
                <a:r>
                  <a:rPr lang="pt-BR" dirty="0"/>
                  <a:t>Assim, quando a entrada, </a:t>
                </a:r>
                <a14:m>
                  <m:oMath xmlns:m="http://schemas.openxmlformats.org/officeDocument/2006/math">
                    <m:r>
                      <a:rPr lang="pt-BR" b="1" i="1">
                        <a:latin typeface="Cambria Math" panose="02040503050406030204" pitchFamily="18" charset="0"/>
                      </a:rPr>
                      <m:t>𝒙</m:t>
                    </m:r>
                  </m:oMath>
                </a14:m>
                <a:r>
                  <a:rPr lang="pt-BR" dirty="0"/>
                  <a:t>, é apresentada à rede, é possível calcular todos os valores de interesse ao longo dela até sua saída.</a:t>
                </a:r>
              </a:p>
              <a:p>
                <a:r>
                  <a:rPr lang="pt-BR" dirty="0"/>
                  <a:t>Consequentemente, tendo o valor de saída, conseguimos calcular o erro.</a:t>
                </a:r>
              </a:p>
              <a:p>
                <a:r>
                  <a:rPr lang="pt-BR" dirty="0"/>
                  <a:t>Essa é a etapa </a:t>
                </a:r>
                <a:r>
                  <a:rPr lang="pt-BR" b="1" dirty="0"/>
                  <a:t>direta</a:t>
                </a:r>
                <a:r>
                  <a:rPr lang="pt-BR" dirty="0"/>
                  <a:t> (</a:t>
                </a:r>
                <a:r>
                  <a:rPr lang="pt-BR" b="1" i="1" dirty="0" err="1"/>
                  <a:t>forward</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AA5869CA-BCE3-3D01-FEAF-9AD088F17496}"/>
                  </a:ext>
                </a:extLst>
              </p:cNvPr>
              <p:cNvSpPr>
                <a:spLocks noGrp="1" noRot="1" noChangeAspect="1" noMove="1" noResize="1" noEditPoints="1" noAdjustHandles="1" noChangeArrowheads="1" noChangeShapeType="1" noTextEdit="1"/>
              </p:cNvSpPr>
              <p:nvPr>
                <p:ph idx="1"/>
              </p:nvPr>
            </p:nvSpPr>
            <p:spPr>
              <a:xfrm>
                <a:off x="4551979" y="1825624"/>
                <a:ext cx="7502369" cy="5032375"/>
              </a:xfrm>
              <a:blipFill rotWithShape="0">
                <a:blip r:embed="rId2"/>
                <a:stretch>
                  <a:fillRect l="-1463" t="-1937"/>
                </a:stretch>
              </a:blipFill>
            </p:spPr>
            <p:txBody>
              <a:bodyPr/>
              <a:lstStyle/>
              <a:p>
                <a:r>
                  <a:rPr lang="pt-BR">
                    <a:noFill/>
                  </a:rPr>
                  <a:t> </a:t>
                </a:r>
              </a:p>
            </p:txBody>
          </p:sp>
        </mc:Fallback>
      </mc:AlternateContent>
      <p:grpSp>
        <p:nvGrpSpPr>
          <p:cNvPr id="4" name="Agrupar 3">
            <a:extLst>
              <a:ext uri="{FF2B5EF4-FFF2-40B4-BE49-F238E27FC236}">
                <a16:creationId xmlns:a16="http://schemas.microsoft.com/office/drawing/2014/main" id="{BCE8B423-576F-E2F8-7B15-7838E17243F0}"/>
              </a:ext>
            </a:extLst>
          </p:cNvPr>
          <p:cNvGrpSpPr/>
          <p:nvPr/>
        </p:nvGrpSpPr>
        <p:grpSpPr>
          <a:xfrm>
            <a:off x="137652" y="2477062"/>
            <a:ext cx="4210068" cy="2799055"/>
            <a:chOff x="7143732" y="2250757"/>
            <a:chExt cx="4210068" cy="2799055"/>
          </a:xfrm>
        </p:grpSpPr>
        <p:pic>
          <p:nvPicPr>
            <p:cNvPr id="5" name="Picture 4">
              <a:extLst>
                <a:ext uri="{FF2B5EF4-FFF2-40B4-BE49-F238E27FC236}">
                  <a16:creationId xmlns:a16="http://schemas.microsoft.com/office/drawing/2014/main" id="{4D4EC30E-0CD6-E24D-6C6D-44596BEC404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6" name="CaixaDeTexto 5">
              <a:extLst>
                <a:ext uri="{FF2B5EF4-FFF2-40B4-BE49-F238E27FC236}">
                  <a16:creationId xmlns:a16="http://schemas.microsoft.com/office/drawing/2014/main" id="{97B53FEE-6A8F-99FB-24A9-DB996D3BEBE9}"/>
                </a:ext>
              </a:extLst>
            </p:cNvPr>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7" name="CaixaDeTexto 6">
              <a:extLst>
                <a:ext uri="{FF2B5EF4-FFF2-40B4-BE49-F238E27FC236}">
                  <a16:creationId xmlns:a16="http://schemas.microsoft.com/office/drawing/2014/main" id="{8328C594-DB14-ABFD-09EB-7478AAF9D6F1}"/>
                </a:ext>
              </a:extLst>
            </p:cNvPr>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8" name="Elipse 7">
              <a:extLst>
                <a:ext uri="{FF2B5EF4-FFF2-40B4-BE49-F238E27FC236}">
                  <a16:creationId xmlns:a16="http://schemas.microsoft.com/office/drawing/2014/main" id="{5F0E7574-BB78-6327-AE66-8879A9C3F18D}"/>
                </a:ext>
              </a:extLst>
            </p:cNvPr>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id="{03065243-86EC-CCD4-294A-FD421FF83B0C}"/>
                </a:ext>
              </a:extLst>
            </p:cNvPr>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Elipse 9">
              <a:extLst>
                <a:ext uri="{FF2B5EF4-FFF2-40B4-BE49-F238E27FC236}">
                  <a16:creationId xmlns:a16="http://schemas.microsoft.com/office/drawing/2014/main" id="{606317D0-23D2-B580-7B10-0B388B98ABBA}"/>
                </a:ext>
              </a:extLst>
            </p:cNvPr>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93614661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1" y="1825624"/>
                <a:ext cx="11277600" cy="5032376"/>
              </a:xfrm>
            </p:spPr>
            <p:txBody>
              <a:bodyPr>
                <a:normAutofit/>
              </a:bodyPr>
              <a:lstStyle/>
              <a:p>
                <a:r>
                  <a:rPr lang="pt-BR" dirty="0"/>
                  <a:t>Aplicando a regra da cadeia, a derivada parcial do erro em relação ao peso </a:t>
                </a:r>
                <a14:m>
                  <m:oMath xmlns:m="http://schemas.openxmlformats.org/officeDocument/2006/math">
                    <m:sSubSup>
                      <m:sSubSupPr>
                        <m:ctrlPr>
                          <a:rPr lang="pt-BR" sz="2800" i="1" smtClean="0">
                            <a:latin typeface="Cambria Math" panose="02040503050406030204" pitchFamily="18" charset="0"/>
                          </a:rPr>
                        </m:ctrlPr>
                      </m:sSubSupPr>
                      <m:e>
                        <m:r>
                          <a:rPr lang="pt-BR" sz="2800" i="1">
                            <a:latin typeface="Cambria Math" panose="02040503050406030204" pitchFamily="18" charset="0"/>
                          </a:rPr>
                          <m:t>𝑤</m:t>
                        </m:r>
                      </m:e>
                      <m:sub>
                        <m:r>
                          <a:rPr lang="pt-BR" sz="2800" i="1">
                            <a:latin typeface="Cambria Math" panose="02040503050406030204" pitchFamily="18" charset="0"/>
                          </a:rPr>
                          <m:t>1,1</m:t>
                        </m:r>
                      </m:sub>
                      <m:sup>
                        <m:r>
                          <a:rPr lang="pt-BR" sz="2800" i="1">
                            <a:latin typeface="Cambria Math" panose="02040503050406030204" pitchFamily="18" charset="0"/>
                          </a:rPr>
                          <m:t>1</m:t>
                        </m:r>
                      </m:sup>
                    </m:sSubSup>
                  </m:oMath>
                </a14:m>
                <a:r>
                  <a:rPr lang="pt-BR" dirty="0"/>
                  <a:t> é dada por</a:t>
                </a: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oMath>
                  </m:oMathPara>
                </a14:m>
                <a:endParaRPr lang="pt-BR" dirty="0"/>
              </a:p>
              <a:p>
                <a:r>
                  <a:rPr lang="pt-BR" dirty="0"/>
                  <a:t>Resolvendo as derivadas parciais,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i="1">
                          <a:latin typeface="Cambria Math" panose="02040503050406030204" pitchFamily="18" charset="0"/>
                        </a:rPr>
                        <m:t>=−2</m:t>
                      </m:r>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den>
                    </m:f>
                  </m:oMath>
                </a14:m>
                <a:r>
                  <a:rPr lang="pt-BR" dirty="0"/>
                  <a:t> é a derivada parcial da função de ativação da </a:t>
                </a:r>
                <a14:m>
                  <m:oMath xmlns:m="http://schemas.openxmlformats.org/officeDocument/2006/math">
                    <m:r>
                      <a:rPr lang="pt-BR" b="0" i="1" smtClean="0">
                        <a:latin typeface="Cambria Math" panose="02040503050406030204" pitchFamily="18" charset="0"/>
                      </a:rPr>
                      <m:t>𝑚</m:t>
                    </m:r>
                  </m:oMath>
                </a14:m>
                <a:r>
                  <a:rPr lang="pt-BR" dirty="0"/>
                  <a:t>-</a:t>
                </a:r>
                <a:r>
                  <a:rPr lang="pt-BR" dirty="0" err="1"/>
                  <a:t>ésima</a:t>
                </a:r>
                <a:r>
                  <a:rPr lang="pt-BR" dirty="0"/>
                  <a:t> camada em relação à ativação do </a:t>
                </a:r>
                <a14:m>
                  <m:oMath xmlns:m="http://schemas.openxmlformats.org/officeDocument/2006/math">
                    <m:r>
                      <a:rPr lang="pt-BR" b="0" i="1" smtClean="0">
                        <a:latin typeface="Cambria Math" panose="02040503050406030204" pitchFamily="18" charset="0"/>
                      </a:rPr>
                      <m:t>𝑖</m:t>
                    </m:r>
                  </m:oMath>
                </a14:m>
                <a:r>
                  <a:rPr lang="pt-BR" dirty="0"/>
                  <a:t>-ésimo nó desta camada.</a:t>
                </a:r>
              </a:p>
              <a:p>
                <a:pPr marL="0" indent="0">
                  <a:buNone/>
                </a:pPr>
                <a:endParaRPr lang="pt-BR" sz="2200" dirty="0"/>
              </a:p>
              <a:p>
                <a:pPr marL="0" indent="0">
                  <a:buNone/>
                </a:pPr>
                <a:endParaRPr lang="pt-BR" sz="2200" i="1" dirty="0">
                  <a:latin typeface="Cambria Math" panose="020405030504060302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1" y="1825624"/>
                <a:ext cx="11277600" cy="5032376"/>
              </a:xfrm>
              <a:blipFill>
                <a:blip r:embed="rId2"/>
                <a:stretch>
                  <a:fillRect l="-1135" t="-1937" r="-757"/>
                </a:stretch>
              </a:blipFill>
            </p:spPr>
            <p:txBody>
              <a:bodyPr/>
              <a:lstStyle/>
              <a:p>
                <a:r>
                  <a:rPr lang="en-US">
                    <a:noFill/>
                  </a:rPr>
                  <a:t> </a:t>
                </a:r>
              </a:p>
            </p:txBody>
          </p:sp>
        </mc:Fallback>
      </mc:AlternateContent>
    </p:spTree>
    <p:extLst>
      <p:ext uri="{BB962C8B-B14F-4D97-AF65-F5344CB8AC3E}">
        <p14:creationId xmlns:p14="http://schemas.microsoft.com/office/powerpoint/2010/main" val="26652492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150601" cy="5032376"/>
              </a:xfrm>
            </p:spPr>
            <p:txBody>
              <a:bodyPr/>
              <a:lstStyle/>
              <a:p>
                <a:r>
                  <a:rPr lang="pt-BR" dirty="0"/>
                  <a:t>Aplicando-se o mesmo procedimento aos outros pesos, obtemos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smtClean="0">
                                  <a:latin typeface="Cambria Math" panose="02040503050406030204" pitchFamily="18" charset="0"/>
                                </a:rPr>
                              </m:ctrlPr>
                            </m:sSupPr>
                            <m:e>
                              <m:r>
                                <a:rPr lang="pt-BR" b="0" i="1" smtClean="0">
                                  <a:latin typeface="Cambria Math" panose="02040503050406030204" pitchFamily="18" charset="0"/>
                                </a:rPr>
                                <m:t>𝑒</m:t>
                              </m:r>
                            </m:e>
                            <m:sup>
                              <m:r>
                                <a:rPr lang="pt-BR" b="0" i="1" smtClean="0">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b="0" i="1" smtClean="0">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smtClean="0">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oMath>
                  </m:oMathPara>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150601" cy="5032376"/>
              </a:xfrm>
              <a:blipFill>
                <a:blip r:embed="rId2"/>
                <a:stretch>
                  <a:fillRect l="-929" t="-1937"/>
                </a:stretch>
              </a:blipFill>
            </p:spPr>
            <p:txBody>
              <a:bodyPr/>
              <a:lstStyle/>
              <a:p>
                <a:r>
                  <a:rPr lang="en-US">
                    <a:noFill/>
                  </a:rPr>
                  <a:t> </a:t>
                </a:r>
              </a:p>
            </p:txBody>
          </p:sp>
        </mc:Fallback>
      </mc:AlternateContent>
    </p:spTree>
    <p:extLst>
      <p:ext uri="{BB962C8B-B14F-4D97-AF65-F5344CB8AC3E}">
        <p14:creationId xmlns:p14="http://schemas.microsoft.com/office/powerpoint/2010/main" val="249411545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C811560-BF4D-D109-5C84-91EA57030A69}"/>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729B97E-1817-3C80-E551-8F3B0E85AF47}"/>
                  </a:ext>
                </a:extLst>
              </p:cNvPr>
              <p:cNvSpPr>
                <a:spLocks noGrp="1"/>
              </p:cNvSpPr>
              <p:nvPr>
                <p:ph idx="1"/>
              </p:nvPr>
            </p:nvSpPr>
            <p:spPr>
              <a:xfrm>
                <a:off x="838200" y="1825624"/>
                <a:ext cx="11241024" cy="5032375"/>
              </a:xfrm>
            </p:spPr>
            <p:txBody>
              <a:bodyPr>
                <a:normAutofit/>
              </a:bodyPr>
              <a:lstStyle/>
              <a:p>
                <a:r>
                  <a:rPr lang="pt-BR" dirty="0"/>
                  <a:t>Assim, o vetor gradiente com as derivadas parciais com relação a todos os pesos do </a:t>
                </a:r>
                <a:r>
                  <a:rPr lang="pt-BR" b="1" i="1" dirty="0"/>
                  <a:t>nó</a:t>
                </a:r>
                <a:r>
                  <a:rPr lang="pt-BR" dirty="0"/>
                  <a:t> </a:t>
                </a:r>
                <a14:m>
                  <m:oMath xmlns:m="http://schemas.openxmlformats.org/officeDocument/2006/math">
                    <m:r>
                      <a:rPr lang="pt-BR" i="1">
                        <a:latin typeface="Cambria Math" panose="02040503050406030204" pitchFamily="18" charset="0"/>
                      </a:rPr>
                      <m:t>𝑖</m:t>
                    </m:r>
                    <m:r>
                      <a:rPr lang="pt-BR">
                        <a:latin typeface="Cambria Math" panose="02040503050406030204" pitchFamily="18" charset="0"/>
                      </a:rPr>
                      <m:t>=1</m:t>
                    </m:r>
                  </m:oMath>
                </a14:m>
                <a:r>
                  <a:rPr lang="pt-BR" dirty="0"/>
                  <a:t> da camada </a:t>
                </a:r>
                <a14:m>
                  <m:oMath xmlns:m="http://schemas.openxmlformats.org/officeDocument/2006/math">
                    <m:r>
                      <a:rPr lang="pt-BR" i="1">
                        <a:latin typeface="Cambria Math" panose="02040503050406030204" pitchFamily="18" charset="0"/>
                      </a:rPr>
                      <m:t>𝑚</m:t>
                    </m:r>
                    <m:r>
                      <a:rPr lang="pt-BR" i="1">
                        <a:latin typeface="Cambria Math" panose="02040503050406030204" pitchFamily="18" charset="0"/>
                      </a:rPr>
                      <m:t>=1</m:t>
                    </m:r>
                  </m:oMath>
                </a14:m>
                <a:r>
                  <a:rPr lang="pt-BR" dirty="0"/>
                  <a:t> é apresentado abaixo</a:t>
                </a:r>
              </a:p>
              <a:p>
                <a:pPr marL="0" indent="0">
                  <a:buNone/>
                </a:pPr>
                <a:endParaRPr lang="pt-BR" sz="900" dirty="0"/>
              </a:p>
              <a:p>
                <a:pPr marL="0" indent="0">
                  <a:buNone/>
                </a:pPr>
                <a14:m>
                  <m:oMathPara xmlns:m="http://schemas.openxmlformats.org/officeDocument/2006/math">
                    <m:oMathParaPr>
                      <m:jc m:val="centerGroup"/>
                    </m:oMathParaPr>
                    <m:oMath xmlns:m="http://schemas.openxmlformats.org/officeDocument/2006/math">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e>
                            </m:mr>
                            <m:m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b="0" i="1" smtClean="0">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e>
                                  </m:mr>
                                </m:m>
                              </m:e>
                            </m:mr>
                          </m:m>
                        </m:e>
                      </m:d>
                      <m:r>
                        <a:rPr lang="pt-BR" b="0" i="1" smtClean="0">
                          <a:latin typeface="Cambria Math" panose="02040503050406030204" pitchFamily="18" charset="0"/>
                        </a:rPr>
                        <m:t>=</m:t>
                      </m:r>
                      <m:r>
                        <a:rPr lang="pt-BR" i="1">
                          <a:latin typeface="Cambria Math" panose="02040503050406030204" pitchFamily="18" charset="0"/>
                        </a:rPr>
                        <m:t>−2</m:t>
                      </m:r>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e>
                            </m:mr>
                            <m:mr>
                              <m:e>
                                <m:r>
                                  <a:rPr lang="pt-BR" b="0" i="1" smtClean="0">
                                    <a:latin typeface="Cambria Math" panose="02040503050406030204" pitchFamily="18" charset="0"/>
                                  </a:rPr>
                                  <m:t>1</m:t>
                                </m:r>
                              </m:e>
                            </m:mr>
                          </m:m>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5729B97E-1817-3C80-E551-8F3B0E85AF47}"/>
                  </a:ext>
                </a:extLst>
              </p:cNvPr>
              <p:cNvSpPr>
                <a:spLocks noGrp="1" noRot="1" noChangeAspect="1" noMove="1" noResize="1" noEditPoints="1" noAdjustHandles="1" noChangeArrowheads="1" noChangeShapeType="1" noTextEdit="1"/>
              </p:cNvSpPr>
              <p:nvPr>
                <p:ph idx="1"/>
              </p:nvPr>
            </p:nvSpPr>
            <p:spPr>
              <a:xfrm>
                <a:off x="838200" y="1825624"/>
                <a:ext cx="11241024" cy="5032375"/>
              </a:xfrm>
              <a:blipFill>
                <a:blip r:embed="rId2"/>
                <a:stretch>
                  <a:fillRect l="-976" t="-1937" r="-54"/>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0E871D84-F6C8-92EF-0526-F8A532D2107D}"/>
              </a:ext>
            </a:extLst>
          </p:cNvPr>
          <p:cNvSpPr/>
          <p:nvPr/>
        </p:nvSpPr>
        <p:spPr>
          <a:xfrm>
            <a:off x="10123422" y="4803297"/>
            <a:ext cx="1583407" cy="1015663"/>
          </a:xfrm>
          <a:prstGeom prst="rect">
            <a:avLst/>
          </a:prstGeom>
        </p:spPr>
        <p:txBody>
          <a:bodyPr wrap="square">
            <a:spAutoFit/>
          </a:bodyPr>
          <a:lstStyle/>
          <a:p>
            <a:pPr algn="ctr"/>
            <a:r>
              <a:rPr lang="pt-BR" sz="1200" dirty="0"/>
              <a:t>Os pesos de </a:t>
            </a:r>
            <a:r>
              <a:rPr lang="pt-BR" sz="1200" b="1" i="1" dirty="0"/>
              <a:t>bias</a:t>
            </a:r>
            <a:r>
              <a:rPr lang="pt-BR" sz="1200" dirty="0"/>
              <a:t> estão ligados às entradas de todos os nós com valores constantes iguais a 1.</a:t>
            </a:r>
          </a:p>
        </p:txBody>
      </p:sp>
      <p:cxnSp>
        <p:nvCxnSpPr>
          <p:cNvPr id="5" name="Straight Arrow Connector 5">
            <a:extLst>
              <a:ext uri="{FF2B5EF4-FFF2-40B4-BE49-F238E27FC236}">
                <a16:creationId xmlns:a16="http://schemas.microsoft.com/office/drawing/2014/main" id="{97F30EFD-C31E-E533-377E-C527A12BCA19}"/>
              </a:ext>
            </a:extLst>
          </p:cNvPr>
          <p:cNvCxnSpPr>
            <a:cxnSpLocks/>
          </p:cNvCxnSpPr>
          <p:nvPr/>
        </p:nvCxnSpPr>
        <p:spPr>
          <a:xfrm flipH="1" flipV="1">
            <a:off x="9541689" y="4779464"/>
            <a:ext cx="723967" cy="4226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378694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5C5349-4D31-D868-8BED-15F10A4DB8DE}"/>
                  </a:ext>
                </a:extLst>
              </p:cNvPr>
              <p:cNvSpPr txBox="1"/>
              <p:nvPr/>
            </p:nvSpPr>
            <p:spPr>
              <a:xfrm>
                <a:off x="1229216" y="1782098"/>
                <a:ext cx="9733568" cy="3391441"/>
              </a:xfrm>
              <a:prstGeom prst="rect">
                <a:avLst/>
              </a:prstGeom>
              <a:noFill/>
              <a:ln>
                <a:solidFill>
                  <a:schemeClr val="tx1"/>
                </a:solidFill>
              </a:ln>
            </p:spPr>
            <p:txBody>
              <a:bodyPr wrap="square" rtlCol="0">
                <a:spAutoFit/>
              </a:bodyPr>
              <a:lstStyle/>
              <a:p>
                <a:pPr marL="285750" indent="-285750">
                  <a:buFont typeface="Wingdings" panose="05000000000000000000" pitchFamily="2" charset="2"/>
                  <a:buChar char="Ø"/>
                </a:pPr>
                <a:r>
                  <a:rPr lang="pt-BR" sz="2000" dirty="0"/>
                  <a:t>Inicialize a matriz de pesos, </a:t>
                </a:r>
                <a14:m>
                  <m:oMath xmlns:m="http://schemas.openxmlformats.org/officeDocument/2006/math">
                    <m:r>
                      <a:rPr lang="pt-BR" sz="2000" b="1" i="1" smtClean="0">
                        <a:latin typeface="Cambria Math" panose="02040503050406030204" pitchFamily="18" charset="0"/>
                      </a:rPr>
                      <m:t>𝑾</m:t>
                    </m:r>
                  </m:oMath>
                </a14:m>
                <a:r>
                  <a:rPr lang="pt-BR" sz="2000" dirty="0"/>
                  <a:t> (sinápticos e de </a:t>
                </a:r>
                <a:r>
                  <a:rPr lang="pt-BR" sz="2000" i="1" dirty="0"/>
                  <a:t>bias</a:t>
                </a:r>
                <a:r>
                  <a:rPr lang="pt-BR" sz="2000" dirty="0"/>
                  <a:t>) e o passo de aprendizagem, </a:t>
                </a:r>
                <a14:m>
                  <m:oMath xmlns:m="http://schemas.openxmlformats.org/officeDocument/2006/math">
                    <m:r>
                      <a:rPr lang="pt-BR" sz="2000" i="1">
                        <a:latin typeface="Cambria Math" panose="02040503050406030204" pitchFamily="18" charset="0"/>
                        <a:ea typeface="Cambria Math" panose="02040503050406030204" pitchFamily="18" charset="0"/>
                      </a:rPr>
                      <m:t>𝛼</m:t>
                    </m:r>
                  </m:oMath>
                </a14:m>
                <a:r>
                  <a:rPr lang="pt-BR" sz="2000" dirty="0"/>
                  <a:t>. </a:t>
                </a:r>
              </a:p>
              <a:p>
                <a:pPr marL="285750" indent="-285750">
                  <a:buFont typeface="Wingdings" panose="05000000000000000000" pitchFamily="2" charset="2"/>
                  <a:buChar char="Ø"/>
                </a:pPr>
                <a:r>
                  <a:rPr lang="pt-BR" sz="2000" dirty="0"/>
                  <a:t>Faça </a:t>
                </a: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=0</m:t>
                    </m:r>
                  </m:oMath>
                </a14:m>
                <a:r>
                  <a:rPr lang="pt-BR" sz="2000" b="0" dirty="0"/>
                  <a:t> (contador de épocas)</a:t>
                </a:r>
              </a:p>
              <a:p>
                <a:pPr marL="285750" indent="-285750">
                  <a:buFont typeface="Wingdings" panose="05000000000000000000" pitchFamily="2" charset="2"/>
                  <a:buChar char="Ø"/>
                </a:pPr>
                <a:r>
                  <a:rPr lang="pt-BR" sz="2000" dirty="0"/>
                  <a:t>Calcule o erro inicial </a:t>
                </a:r>
                <a14:m>
                  <m:oMath xmlns:m="http://schemas.openxmlformats.org/officeDocument/2006/math">
                    <m:r>
                      <a:rPr lang="pt-BR" sz="2000" b="0" i="1" smtClean="0">
                        <a:latin typeface="Cambria Math" panose="02040503050406030204" pitchFamily="18" charset="0"/>
                      </a:rPr>
                      <m:t>𝐽</m:t>
                    </m:r>
                    <m:d>
                      <m:dPr>
                        <m:ctrlPr>
                          <a:rPr lang="pt-BR" sz="2000" b="0"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1" i="1" smtClean="0">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t> (opcional)</a:t>
                </a:r>
              </a:p>
              <a:p>
                <a:pPr marL="285750" indent="-285750">
                  <a:buFont typeface="Wingdings" panose="05000000000000000000" pitchFamily="2" charset="2"/>
                  <a:buChar char="Ø"/>
                </a:pPr>
                <a:r>
                  <a:rPr lang="pt-BR" sz="2000" dirty="0"/>
                  <a:t>Enquanto o critério de parada não for atendido, faça: </a:t>
                </a:r>
              </a:p>
              <a:p>
                <a:pPr marL="742950" lvl="1" indent="-285750">
                  <a:buFont typeface="Courier New" panose="02070309020205020404" pitchFamily="49" charset="0"/>
                  <a:buChar char="o"/>
                </a:pPr>
                <a:r>
                  <a:rPr lang="pt-BR" sz="2000" dirty="0"/>
                  <a:t>Para </a:t>
                </a:r>
                <a14:m>
                  <m:oMath xmlns:m="http://schemas.openxmlformats.org/officeDocument/2006/math">
                    <m:r>
                      <a:rPr lang="pt-BR" sz="2000" b="0" i="1" smtClean="0">
                        <a:latin typeface="Cambria Math" panose="02040503050406030204" pitchFamily="18" charset="0"/>
                      </a:rPr>
                      <m:t>𝑙</m:t>
                    </m:r>
                  </m:oMath>
                </a14:m>
                <a:r>
                  <a:rPr lang="pt-BR" sz="2000" dirty="0"/>
                  <a:t> variando de 1 até </a:t>
                </a:r>
                <a14:m>
                  <m:oMath xmlns:m="http://schemas.openxmlformats.org/officeDocument/2006/math">
                    <m:r>
                      <a:rPr lang="pt-BR" sz="2000" b="0" i="1" smtClean="0">
                        <a:latin typeface="Cambria Math" panose="02040503050406030204" pitchFamily="18" charset="0"/>
                      </a:rPr>
                      <m:t>𝐿</m:t>
                    </m:r>
                  </m:oMath>
                </a14:m>
                <a:r>
                  <a:rPr lang="pt-BR" sz="2000" dirty="0"/>
                  <a:t>, faça: </a:t>
                </a:r>
              </a:p>
              <a:p>
                <a:pPr marL="1200150" lvl="2" indent="-285750">
                  <a:buFont typeface="Wingdings" panose="05000000000000000000" pitchFamily="2" charset="2"/>
                  <a:buChar char="§"/>
                </a:pPr>
                <a:r>
                  <a:rPr lang="pt-BR" sz="2000" dirty="0"/>
                  <a:t>Apresente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 amostrada aleatóriamente sem reposição, à rede.</a:t>
                </a:r>
              </a:p>
              <a:p>
                <a:pPr marL="1200150" lvl="2" indent="-285750">
                  <a:buFont typeface="Wingdings" panose="05000000000000000000" pitchFamily="2" charset="2"/>
                  <a:buChar char="§"/>
                </a:pPr>
                <a:r>
                  <a:rPr lang="pt-BR" sz="2000" dirty="0"/>
                  <a:t>Calcule </a:t>
                </a:r>
                <a14:m>
                  <m:oMath xmlns:m="http://schemas.openxmlformats.org/officeDocument/2006/math">
                    <m:r>
                      <a:rPr lang="pt-BR" sz="2000" i="1" smtClean="0">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oMath>
                </a14:m>
                <a:endParaRPr lang="pt-BR" sz="2000" dirty="0"/>
              </a:p>
              <a:p>
                <a:pPr marL="742950" lvl="1" indent="-285750">
                  <a:buFont typeface="Courier New" panose="02070309020205020404" pitchFamily="49" charset="0"/>
                  <a:buChar char="o"/>
                </a:pPr>
                <a14:m>
                  <m:oMath xmlns:m="http://schemas.openxmlformats.org/officeDocument/2006/math">
                    <m:r>
                      <a:rPr lang="pt-BR" sz="2000" b="1" i="1" smtClean="0">
                        <a:latin typeface="Cambria Math" panose="02040503050406030204" pitchFamily="18" charset="0"/>
                      </a:rPr>
                      <m:t>𝑾</m:t>
                    </m:r>
                    <m:d>
                      <m:dPr>
                        <m:ctrlPr>
                          <a:rPr lang="pt-BR" sz="2000" i="1">
                            <a:latin typeface="Cambria Math" panose="02040503050406030204" pitchFamily="18" charset="0"/>
                          </a:rPr>
                        </m:ctrlPr>
                      </m:dPr>
                      <m:e>
                        <m:r>
                          <a:rPr lang="pt-BR" sz="2000" b="0" i="1" smtClean="0">
                            <a:latin typeface="Cambria Math" panose="02040503050406030204" pitchFamily="18" charset="0"/>
                          </a:rPr>
                          <m:t>𝑘</m:t>
                        </m:r>
                        <m:r>
                          <a:rPr lang="pt-BR" sz="2000" i="1">
                            <a:latin typeface="Cambria Math" panose="02040503050406030204" pitchFamily="18" charset="0"/>
                          </a:rPr>
                          <m:t>+1</m:t>
                        </m:r>
                      </m:e>
                    </m:d>
                    <m:r>
                      <a:rPr lang="pt-BR" sz="2000" b="1" i="1">
                        <a:latin typeface="Cambria Math" panose="02040503050406030204" pitchFamily="18" charset="0"/>
                      </a:rPr>
                      <m:t>=</m:t>
                    </m:r>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r>
                      <a:rPr lang="pt-BR" sz="2000" b="1" i="1">
                        <a:latin typeface="Cambria Math" panose="02040503050406030204" pitchFamily="18" charset="0"/>
                      </a:rPr>
                      <m:t>−</m:t>
                    </m:r>
                    <m:f>
                      <m:fPr>
                        <m:ctrlPr>
                          <a:rPr lang="pt-BR" sz="2000" b="1" i="1" smtClean="0">
                            <a:latin typeface="Cambria Math" panose="02040503050406030204" pitchFamily="18" charset="0"/>
                          </a:rPr>
                        </m:ctrlPr>
                      </m:fPr>
                      <m:num>
                        <m:r>
                          <a:rPr lang="pt-BR" sz="2000" i="1">
                            <a:latin typeface="Cambria Math" panose="02040503050406030204" pitchFamily="18" charset="0"/>
                            <a:ea typeface="Cambria Math" panose="02040503050406030204" pitchFamily="18" charset="0"/>
                          </a:rPr>
                          <m:t>𝛼</m:t>
                        </m:r>
                      </m:num>
                      <m:den>
                        <m:r>
                          <a:rPr lang="pt-BR" sz="2000" b="0" i="1" smtClean="0">
                            <a:latin typeface="Cambria Math" panose="02040503050406030204" pitchFamily="18" charset="0"/>
                            <a:ea typeface="Cambria Math" panose="02040503050406030204" pitchFamily="18" charset="0"/>
                          </a:rPr>
                          <m:t>𝐿</m:t>
                        </m:r>
                      </m:den>
                    </m:f>
                    <m:nary>
                      <m:naryPr>
                        <m:chr m:val="∑"/>
                        <m:ctrlPr>
                          <a:rPr lang="pt-BR" sz="2000" b="1" i="1" smtClean="0">
                            <a:latin typeface="Cambria Math" panose="02040503050406030204" pitchFamily="18" charset="0"/>
                          </a:rPr>
                        </m:ctrlPr>
                      </m:naryPr>
                      <m:sub>
                        <m:r>
                          <m:rPr>
                            <m:brk m:alnAt="23"/>
                          </m:rPr>
                          <a:rPr lang="pt-BR" sz="2000" b="0" i="1" smtClean="0">
                            <a:latin typeface="Cambria Math" panose="02040503050406030204" pitchFamily="18" charset="0"/>
                          </a:rPr>
                          <m:t>𝑙</m:t>
                        </m:r>
                        <m:r>
                          <a:rPr lang="pt-BR" sz="2000" b="0" i="1" smtClean="0">
                            <a:latin typeface="Cambria Math" panose="02040503050406030204" pitchFamily="18" charset="0"/>
                          </a:rPr>
                          <m:t>=1</m:t>
                        </m:r>
                      </m:sub>
                      <m:sup>
                        <m:r>
                          <a:rPr lang="pt-BR" sz="2000" b="0" i="1" smtClean="0">
                            <a:latin typeface="Cambria Math" panose="02040503050406030204" pitchFamily="18" charset="0"/>
                          </a:rPr>
                          <m:t>𝐿</m:t>
                        </m:r>
                      </m:sup>
                      <m:e>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e>
                    </m:nary>
                  </m:oMath>
                </a14:m>
                <a:endParaRPr lang="pt-BR" sz="2000" b="0" i="0" dirty="0">
                  <a:latin typeface="Cambria Math" panose="02040503050406030204" pitchFamily="18" charset="0"/>
                </a:endParaRPr>
              </a:p>
              <a:p>
                <a:pPr marL="742950" lvl="1" indent="-285750">
                  <a:buFont typeface="Courier New" panose="02070309020205020404" pitchFamily="49" charset="0"/>
                  <a:buChar char="o"/>
                </a:pP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+1</m:t>
                    </m:r>
                  </m:oMath>
                </a14:m>
                <a:endParaRPr lang="pt-BR" sz="2000" dirty="0"/>
              </a:p>
              <a:p>
                <a:pPr marL="742950" lvl="1" indent="-285750">
                  <a:buFont typeface="Courier New" panose="02070309020205020404" pitchFamily="49" charset="0"/>
                  <a:buChar char="o"/>
                </a:pPr>
                <a:r>
                  <a:rPr lang="pt-BR" sz="2000" dirty="0"/>
                  <a:t>Calcule </a:t>
                </a:r>
                <a14:m>
                  <m:oMath xmlns:m="http://schemas.openxmlformats.org/officeDocument/2006/math">
                    <m:r>
                      <a:rPr lang="pt-BR" sz="2000" i="1">
                        <a:latin typeface="Cambria Math" panose="02040503050406030204" pitchFamily="18" charset="0"/>
                      </a:rPr>
                      <m:t>𝐽</m:t>
                    </m:r>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ea typeface="Cambria Math" panose="02040503050406030204" pitchFamily="18" charset="0"/>
                  </a:rPr>
                  <a:t> (</a:t>
                </a:r>
                <a:r>
                  <a:rPr lang="pt-BR" sz="2000" dirty="0"/>
                  <a:t>opcional)</a:t>
                </a:r>
              </a:p>
            </p:txBody>
          </p:sp>
        </mc:Choice>
        <mc:Fallback xmlns="">
          <p:sp>
            <p:nvSpPr>
              <p:cNvPr id="2" name="TextBox 1">
                <a:extLst>
                  <a:ext uri="{FF2B5EF4-FFF2-40B4-BE49-F238E27FC236}">
                    <a16:creationId xmlns:a16="http://schemas.microsoft.com/office/drawing/2014/main" id="{435C5349-4D31-D868-8BED-15F10A4DB8DE}"/>
                  </a:ext>
                </a:extLst>
              </p:cNvPr>
              <p:cNvSpPr txBox="1">
                <a:spLocks noRot="1" noChangeAspect="1" noMove="1" noResize="1" noEditPoints="1" noAdjustHandles="1" noChangeArrowheads="1" noChangeShapeType="1" noTextEdit="1"/>
              </p:cNvSpPr>
              <p:nvPr/>
            </p:nvSpPr>
            <p:spPr>
              <a:xfrm>
                <a:off x="1229216" y="1782098"/>
                <a:ext cx="9733568" cy="3391441"/>
              </a:xfrm>
              <a:prstGeom prst="rect">
                <a:avLst/>
              </a:prstGeom>
              <a:blipFill>
                <a:blip r:embed="rId3"/>
                <a:stretch>
                  <a:fillRect l="-501" t="-716" b="-1789"/>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F2C9DE9-D545-65C4-A22D-AD667E28EA40}"/>
                  </a:ext>
                </a:extLst>
              </p:cNvPr>
              <p:cNvSpPr txBox="1"/>
              <p:nvPr/>
            </p:nvSpPr>
            <p:spPr>
              <a:xfrm>
                <a:off x="838200" y="5264949"/>
                <a:ext cx="11166987" cy="1584473"/>
              </a:xfrm>
              <a:prstGeom prst="rect">
                <a:avLst/>
              </a:prstGeom>
              <a:noFill/>
            </p:spPr>
            <p:txBody>
              <a:bodyPr wrap="square">
                <a:spAutoFit/>
              </a:bodyPr>
              <a:lstStyle/>
              <a:p>
                <a:r>
                  <a:rPr lang="pt-BR" sz="2000" dirty="0">
                    <a:ea typeface="Cambria Math" panose="02040503050406030204" pitchFamily="18" charset="0"/>
                  </a:rPr>
                  <a:t>onde </a:t>
                </a:r>
                <a14:m>
                  <m:oMath xmlns:m="http://schemas.openxmlformats.org/officeDocument/2006/math">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a:latin typeface="Cambria Math" panose="02040503050406030204" pitchFamily="18" charset="0"/>
                          </a:rPr>
                          <m:t>𝑾</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m:t>
                        </m:r>
                      </m:e>
                    </m:d>
                    <m:r>
                      <a:rPr lang="pt-BR" sz="2000" b="1" i="1" smtClean="0">
                        <a:latin typeface="Cambria Math" panose="02040503050406030204" pitchFamily="18" charset="0"/>
                      </a:rPr>
                      <m:t>=</m:t>
                    </m:r>
                  </m:oMath>
                </a14:m>
                <a:r>
                  <a:rPr lang="pt-BR" sz="2000" dirty="0"/>
                  <a:t> </a:t>
                </a:r>
                <a14:m>
                  <m:oMath xmlns:m="http://schemas.openxmlformats.org/officeDocument/2006/math">
                    <m:f>
                      <m:fPr>
                        <m:ctrlPr>
                          <a:rPr lang="pt-BR" sz="2000" i="1">
                            <a:latin typeface="Cambria Math" panose="02040503050406030204" pitchFamily="18" charset="0"/>
                          </a:rPr>
                        </m:ctrlPr>
                      </m:fPr>
                      <m:num>
                        <m:r>
                          <a:rPr lang="pt-BR" sz="2000" i="1">
                            <a:latin typeface="Cambria Math" panose="02040503050406030204" pitchFamily="18" charset="0"/>
                          </a:rPr>
                          <m:t>1</m:t>
                        </m:r>
                      </m:num>
                      <m:den>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den>
                    </m:f>
                    <m:nary>
                      <m:naryPr>
                        <m:chr m:val="∑"/>
                        <m:ctrlPr>
                          <a:rPr lang="pt-BR" sz="2000" i="1">
                            <a:latin typeface="Cambria Math" panose="02040503050406030204" pitchFamily="18" charset="0"/>
                          </a:rPr>
                        </m:ctrlPr>
                      </m:naryPr>
                      <m:sub>
                        <m:r>
                          <a:rPr lang="pt-BR" sz="2000" b="0" i="1" smtClean="0">
                            <a:latin typeface="Cambria Math" panose="02040503050406030204" pitchFamily="18" charset="0"/>
                          </a:rPr>
                          <m:t>𝑗</m:t>
                        </m:r>
                        <m:r>
                          <a:rPr lang="pt-BR" sz="2000" i="1">
                            <a:latin typeface="Cambria Math" panose="02040503050406030204" pitchFamily="18" charset="0"/>
                          </a:rPr>
                          <m:t>=1</m:t>
                        </m:r>
                      </m:sub>
                      <m:sup>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sup>
                      <m:e>
                        <m:f>
                          <m:fPr>
                            <m:ctrlPr>
                              <a:rPr lang="pt-BR" sz="2000" i="1">
                                <a:latin typeface="Cambria Math" panose="02040503050406030204" pitchFamily="18" charset="0"/>
                              </a:rPr>
                            </m:ctrlPr>
                          </m:fPr>
                          <m:num>
                            <m:sSubSup>
                              <m:sSubSupPr>
                                <m:ctrlPr>
                                  <a:rPr lang="pt-BR" sz="2000" i="1">
                                    <a:latin typeface="Cambria Math" panose="02040503050406030204" pitchFamily="18" charset="0"/>
                                  </a:rPr>
                                </m:ctrlPr>
                              </m:sSubSupPr>
                              <m:e>
                                <m:r>
                                  <a:rPr lang="pt-BR" sz="2000" i="1">
                                    <a:latin typeface="Cambria Math" panose="02040503050406030204" pitchFamily="18" charset="0"/>
                                  </a:rPr>
                                  <m:t>𝜕</m:t>
                                </m:r>
                                <m:r>
                                  <a:rPr lang="pt-BR" sz="2000" i="1">
                                    <a:latin typeface="Cambria Math" panose="02040503050406030204" pitchFamily="18" charset="0"/>
                                  </a:rPr>
                                  <m:t>𝑒</m:t>
                                </m:r>
                              </m:e>
                              <m:sub>
                                <m:r>
                                  <a:rPr lang="pt-BR" sz="2000" i="1">
                                    <a:latin typeface="Cambria Math" panose="02040503050406030204" pitchFamily="18" charset="0"/>
                                  </a:rPr>
                                  <m:t>𝑗</m:t>
                                </m:r>
                              </m:sub>
                              <m:sup>
                                <m:r>
                                  <a:rPr lang="pt-BR" sz="2000" i="1">
                                    <a:latin typeface="Cambria Math" panose="02040503050406030204" pitchFamily="18" charset="0"/>
                                  </a:rPr>
                                  <m:t>2</m:t>
                                </m:r>
                              </m:sup>
                            </m:sSubSup>
                            <m:d>
                              <m:dPr>
                                <m:ctrlPr>
                                  <a:rPr lang="pt-BR" sz="2000" i="1">
                                    <a:latin typeface="Cambria Math" panose="02040503050406030204" pitchFamily="18" charset="0"/>
                                  </a:rPr>
                                </m:ctrlPr>
                              </m:dPr>
                              <m:e>
                                <m:r>
                                  <a:rPr lang="pt-BR" sz="2000" b="0" i="1" smtClean="0">
                                    <a:latin typeface="Cambria Math" panose="02040503050406030204" pitchFamily="18" charset="0"/>
                                  </a:rPr>
                                  <m:t>𝑙</m:t>
                                </m:r>
                              </m:e>
                            </m:d>
                          </m:num>
                          <m:den>
                            <m:r>
                              <a:rPr lang="pt-BR" sz="2000" i="1">
                                <a:latin typeface="Cambria Math" panose="02040503050406030204" pitchFamily="18" charset="0"/>
                              </a:rPr>
                              <m:t>𝜕</m:t>
                            </m:r>
                            <m:r>
                              <a:rPr lang="pt-BR" sz="2000" b="1" i="1">
                                <a:latin typeface="Cambria Math" panose="02040503050406030204" pitchFamily="18" charset="0"/>
                              </a:rPr>
                              <m:t>𝑾</m:t>
                            </m:r>
                            <m:r>
                              <a:rPr lang="pt-BR" sz="2000" i="1">
                                <a:latin typeface="Cambria Math" panose="02040503050406030204" pitchFamily="18" charset="0"/>
                              </a:rPr>
                              <m:t>(</m:t>
                            </m:r>
                            <m:r>
                              <a:rPr lang="pt-BR" sz="2000" i="1">
                                <a:latin typeface="Cambria Math" panose="02040503050406030204" pitchFamily="18" charset="0"/>
                              </a:rPr>
                              <m:t>𝑘</m:t>
                            </m:r>
                            <m:r>
                              <a:rPr lang="pt-BR" sz="2000" i="1">
                                <a:latin typeface="Cambria Math" panose="02040503050406030204" pitchFamily="18" charset="0"/>
                              </a:rPr>
                              <m:t>)</m:t>
                            </m:r>
                          </m:den>
                        </m:f>
                      </m:e>
                    </m:nary>
                  </m:oMath>
                </a14:m>
                <a:r>
                  <a:rPr lang="en-US" sz="2000" dirty="0"/>
                  <a:t> é a </a:t>
                </a:r>
                <a:r>
                  <a:rPr lang="pt-BR" sz="2000" dirty="0"/>
                  <a:t>média da derivada parcial do erro para todas as </a:t>
                </a:r>
                <a14:m>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oMath>
                </a14:m>
                <a:r>
                  <a:rPr lang="pt-BR" sz="2000" b="1" i="1" dirty="0"/>
                  <a:t> </a:t>
                </a:r>
                <a:r>
                  <a:rPr lang="pt-BR" sz="2000" dirty="0"/>
                  <a:t>saídas considerando apenas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a:t>
                </a:r>
              </a:p>
              <a:p>
                <a:r>
                  <a:rPr lang="pt-BR" sz="2000" b="1" dirty="0"/>
                  <a:t>OBS</a:t>
                </a:r>
                <a:r>
                  <a:rPr lang="pt-BR" sz="2000" dirty="0"/>
                  <a:t>.: O pseudocódigo apresentado </a:t>
                </a:r>
                <a:r>
                  <a:rPr lang="pt-BR" sz="2000" b="1" dirty="0">
                    <a:solidFill>
                      <a:srgbClr val="00B050"/>
                    </a:solidFill>
                  </a:rPr>
                  <a:t>implementa qualquer versão do gradiente descendente </a:t>
                </a:r>
                <a:r>
                  <a:rPr lang="pt-BR" sz="2000" dirty="0"/>
                  <a:t>variando o valor de </a:t>
                </a:r>
                <a14:m>
                  <m:oMath xmlns:m="http://schemas.openxmlformats.org/officeDocument/2006/math">
                    <m:r>
                      <a:rPr lang="pt-BR" sz="2000" i="1">
                        <a:latin typeface="Cambria Math" panose="02040503050406030204" pitchFamily="18" charset="0"/>
                      </a:rPr>
                      <m:t>𝐿</m:t>
                    </m:r>
                  </m:oMath>
                </a14:m>
                <a:r>
                  <a:rPr lang="en-US" sz="2000" dirty="0"/>
                  <a:t>.</a:t>
                </a:r>
              </a:p>
            </p:txBody>
          </p:sp>
        </mc:Choice>
        <mc:Fallback xmlns="">
          <p:sp>
            <p:nvSpPr>
              <p:cNvPr id="7" name="TextBox 6">
                <a:extLst>
                  <a:ext uri="{FF2B5EF4-FFF2-40B4-BE49-F238E27FC236}">
                    <a16:creationId xmlns:a16="http://schemas.microsoft.com/office/drawing/2014/main" id="{2F2C9DE9-D545-65C4-A22D-AD667E28EA40}"/>
                  </a:ext>
                </a:extLst>
              </p:cNvPr>
              <p:cNvSpPr txBox="1">
                <a:spLocks noRot="1" noChangeAspect="1" noMove="1" noResize="1" noEditPoints="1" noAdjustHandles="1" noChangeArrowheads="1" noChangeShapeType="1" noTextEdit="1"/>
              </p:cNvSpPr>
              <p:nvPr/>
            </p:nvSpPr>
            <p:spPr>
              <a:xfrm>
                <a:off x="838200" y="5264949"/>
                <a:ext cx="11166987" cy="1584473"/>
              </a:xfrm>
              <a:prstGeom prst="rect">
                <a:avLst/>
              </a:prstGeom>
              <a:blipFill>
                <a:blip r:embed="rId4"/>
                <a:stretch>
                  <a:fillRect l="-601" b="-6154"/>
                </a:stretch>
              </a:blipFill>
            </p:spPr>
            <p:txBody>
              <a:bodyPr/>
              <a:lstStyle/>
              <a:p>
                <a:r>
                  <a:rPr lang="en-US">
                    <a:noFill/>
                  </a:rPr>
                  <a:t> </a:t>
                </a:r>
              </a:p>
            </p:txBody>
          </p:sp>
        </mc:Fallback>
      </mc:AlternateContent>
      <p:sp>
        <p:nvSpPr>
          <p:cNvPr id="8" name="Título 1">
            <a:extLst>
              <a:ext uri="{FF2B5EF4-FFF2-40B4-BE49-F238E27FC236}">
                <a16:creationId xmlns:a16="http://schemas.microsoft.com/office/drawing/2014/main" id="{7C797BA3-01C1-34FF-1A32-022D4B90D6D3}"/>
              </a:ext>
            </a:extLst>
          </p:cNvPr>
          <p:cNvSpPr>
            <a:spLocks noGrp="1"/>
          </p:cNvSpPr>
          <p:nvPr>
            <p:ph type="title"/>
          </p:nvPr>
        </p:nvSpPr>
        <p:spPr>
          <a:xfrm>
            <a:off x="838200" y="365125"/>
            <a:ext cx="10515600" cy="1325563"/>
          </a:xfrm>
        </p:spPr>
        <p:txBody>
          <a:bodyPr/>
          <a:lstStyle/>
          <a:p>
            <a:r>
              <a:rPr lang="pt-BR" dirty="0"/>
              <a:t>Pseudocódigo da retropropagação</a:t>
            </a:r>
          </a:p>
        </p:txBody>
      </p:sp>
    </p:spTree>
    <p:extLst>
      <p:ext uri="{BB962C8B-B14F-4D97-AF65-F5344CB8AC3E}">
        <p14:creationId xmlns:p14="http://schemas.microsoft.com/office/powerpoint/2010/main" val="204957843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4E7DA-EA58-B340-CE6C-733198DA31C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963B405-8B06-A3BA-3DD8-F818E20B52B6}"/>
              </a:ext>
            </a:extLst>
          </p:cNvPr>
          <p:cNvSpPr>
            <a:spLocks noGrp="1"/>
          </p:cNvSpPr>
          <p:nvPr>
            <p:ph idx="1"/>
          </p:nvPr>
        </p:nvSpPr>
        <p:spPr>
          <a:xfrm>
            <a:off x="580103" y="2385193"/>
            <a:ext cx="11208773" cy="2087614"/>
          </a:xfrm>
        </p:spPr>
        <p:txBody>
          <a:bodyPr>
            <a:normAutofit/>
          </a:bodyPr>
          <a:lstStyle/>
          <a:p>
            <a:pPr marL="0" indent="0" algn="ctr">
              <a:buNone/>
            </a:pPr>
            <a:r>
              <a:rPr lang="pt-BR" sz="6600" dirty="0"/>
              <a:t>Vou ter que implementar tudo isso manualmente?</a:t>
            </a:r>
            <a:endParaRPr lang="en-US" sz="6600" dirty="0"/>
          </a:p>
        </p:txBody>
      </p:sp>
    </p:spTree>
    <p:extLst>
      <p:ext uri="{BB962C8B-B14F-4D97-AF65-F5344CB8AC3E}">
        <p14:creationId xmlns:p14="http://schemas.microsoft.com/office/powerpoint/2010/main" val="185869185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209863" y="5771214"/>
            <a:ext cx="11782270" cy="1086786"/>
          </a:xfrm>
        </p:spPr>
        <p:txBody>
          <a:bodyPr>
            <a:normAutofit/>
          </a:bodyPr>
          <a:lstStyle/>
          <a:p>
            <a:pPr marL="0" indent="0" algn="ctr">
              <a:buNone/>
            </a:pPr>
            <a:r>
              <a:rPr lang="pt-BR" dirty="0"/>
              <a:t>Não se preocupem, hoje em dia, não realizamos esse procedimento de forma manual, </a:t>
            </a:r>
            <a:r>
              <a:rPr lang="pt-BR" b="1" dirty="0">
                <a:solidFill>
                  <a:srgbClr val="00B050"/>
                </a:solidFill>
              </a:rPr>
              <a:t>usamos bibliotecas que automatizam o processo</a:t>
            </a:r>
            <a:r>
              <a:rPr lang="pt-BR" dirty="0"/>
              <a:t>.</a:t>
            </a:r>
          </a:p>
        </p:txBody>
      </p:sp>
      <p:pic>
        <p:nvPicPr>
          <p:cNvPr id="4" name="Imagem 3"/>
          <p:cNvPicPr>
            <a:picLocks noChangeAspect="1"/>
          </p:cNvPicPr>
          <p:nvPr/>
        </p:nvPicPr>
        <p:blipFill rotWithShape="1">
          <a:blip r:embed="rId3">
            <a:extLst>
              <a:ext uri="{28A0092B-C50C-407E-A947-70E740481C1C}">
                <a14:useLocalDpi xmlns:a14="http://schemas.microsoft.com/office/drawing/2010/main" val="0"/>
              </a:ext>
            </a:extLst>
          </a:blip>
          <a:srcRect t="11177"/>
          <a:stretch/>
        </p:blipFill>
        <p:spPr>
          <a:xfrm>
            <a:off x="1371288" y="284811"/>
            <a:ext cx="9045938" cy="5356561"/>
          </a:xfrm>
          <a:prstGeom prst="rect">
            <a:avLst/>
          </a:prstGeom>
        </p:spPr>
      </p:pic>
    </p:spTree>
    <p:extLst>
      <p:ext uri="{BB962C8B-B14F-4D97-AF65-F5344CB8AC3E}">
        <p14:creationId xmlns:p14="http://schemas.microsoft.com/office/powerpoint/2010/main" val="376678813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4846C0-51E0-1E6E-C355-7CFDCCBADB55}"/>
              </a:ext>
            </a:extLst>
          </p:cNvPr>
          <p:cNvSpPr>
            <a:spLocks noGrp="1"/>
          </p:cNvSpPr>
          <p:nvPr>
            <p:ph type="title"/>
          </p:nvPr>
        </p:nvSpPr>
        <p:spPr/>
        <p:txBody>
          <a:bodyPr/>
          <a:lstStyle/>
          <a:p>
            <a:r>
              <a:rPr lang="pt-BR" dirty="0"/>
              <a:t>Superfícies de erro de redes neurais</a:t>
            </a:r>
          </a:p>
        </p:txBody>
      </p:sp>
      <p:sp>
        <p:nvSpPr>
          <p:cNvPr id="3" name="Espaço Reservado para Conteúdo 2">
            <a:extLst>
              <a:ext uri="{FF2B5EF4-FFF2-40B4-BE49-F238E27FC236}">
                <a16:creationId xmlns:a16="http://schemas.microsoft.com/office/drawing/2014/main" id="{FC5297BC-C988-C160-D024-5B018A5B1D85}"/>
              </a:ext>
            </a:extLst>
          </p:cNvPr>
          <p:cNvSpPr>
            <a:spLocks noGrp="1"/>
          </p:cNvSpPr>
          <p:nvPr>
            <p:ph idx="1"/>
          </p:nvPr>
        </p:nvSpPr>
        <p:spPr>
          <a:xfrm>
            <a:off x="5919018" y="1825624"/>
            <a:ext cx="6115665" cy="5032375"/>
          </a:xfrm>
        </p:spPr>
        <p:txBody>
          <a:bodyPr>
            <a:normAutofit/>
          </a:bodyPr>
          <a:lstStyle/>
          <a:p>
            <a:r>
              <a:rPr lang="pt-BR" dirty="0"/>
              <a:t>Por serem formadas pela </a:t>
            </a:r>
            <a:r>
              <a:rPr lang="pt-BR" b="1" dirty="0">
                <a:solidFill>
                  <a:srgbClr val="00B050"/>
                </a:solidFill>
              </a:rPr>
              <a:t>combinação de vários nós com funções de ativação não-lineares</a:t>
            </a:r>
            <a:r>
              <a:rPr lang="pt-BR" dirty="0"/>
              <a:t>, as superfícies de erro de redes neurais </a:t>
            </a:r>
            <a:r>
              <a:rPr lang="pt-BR" b="1" dirty="0">
                <a:solidFill>
                  <a:srgbClr val="FF0000"/>
                </a:solidFill>
              </a:rPr>
              <a:t>não são convexas</a:t>
            </a:r>
            <a:r>
              <a:rPr lang="pt-BR" dirty="0"/>
              <a:t>.</a:t>
            </a:r>
          </a:p>
          <a:p>
            <a:r>
              <a:rPr lang="pt-BR" dirty="0"/>
              <a:t>Elas são</a:t>
            </a:r>
            <a:r>
              <a:rPr lang="pt-BR" b="1" dirty="0"/>
              <a:t> </a:t>
            </a:r>
            <a:r>
              <a:rPr lang="pt-BR" b="1" dirty="0">
                <a:solidFill>
                  <a:srgbClr val="7030A0"/>
                </a:solidFill>
              </a:rPr>
              <a:t>altamente irregulares</a:t>
            </a:r>
            <a:r>
              <a:rPr lang="pt-BR" dirty="0"/>
              <a:t>, incluindo irregularidades como</a:t>
            </a:r>
          </a:p>
          <a:p>
            <a:pPr lvl="1">
              <a:buFont typeface="Wingdings" panose="05000000000000000000" pitchFamily="2" charset="2"/>
              <a:buChar char="§"/>
            </a:pPr>
            <a:r>
              <a:rPr lang="pt-BR" dirty="0"/>
              <a:t>Pontos de sela: a função diminui em algumas direções e aumenta em outras.</a:t>
            </a:r>
          </a:p>
          <a:p>
            <a:pPr lvl="1">
              <a:buFont typeface="Wingdings" panose="05000000000000000000" pitchFamily="2" charset="2"/>
              <a:buChar char="§"/>
            </a:pPr>
            <a:r>
              <a:rPr lang="pt-BR" dirty="0"/>
              <a:t>Vários mínimos locais.</a:t>
            </a:r>
          </a:p>
          <a:p>
            <a:pPr lvl="1">
              <a:buFont typeface="Wingdings" panose="05000000000000000000" pitchFamily="2" charset="2"/>
              <a:buChar char="§"/>
            </a:pPr>
            <a:r>
              <a:rPr lang="pt-BR" dirty="0"/>
              <a:t>Platôs: região plana com erro alto.</a:t>
            </a:r>
          </a:p>
          <a:p>
            <a:pPr lvl="1">
              <a:buFont typeface="Wingdings" panose="05000000000000000000" pitchFamily="2" charset="2"/>
              <a:buChar char="§"/>
            </a:pPr>
            <a:r>
              <a:rPr lang="pt-BR" dirty="0"/>
              <a:t>etc.</a:t>
            </a:r>
          </a:p>
        </p:txBody>
      </p:sp>
      <p:pic>
        <p:nvPicPr>
          <p:cNvPr id="4" name="Picture 2" descr="challenges-1">
            <a:extLst>
              <a:ext uri="{FF2B5EF4-FFF2-40B4-BE49-F238E27FC236}">
                <a16:creationId xmlns:a16="http://schemas.microsoft.com/office/drawing/2014/main" id="{A242D308-FF50-6495-8B8A-181CABE2B70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61621" y="2310580"/>
            <a:ext cx="4934581" cy="333439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DF7349C4-A2CF-FB70-48DB-3FC8E5CCE268}"/>
              </a:ext>
            </a:extLst>
          </p:cNvPr>
          <p:cNvSpPr txBox="1"/>
          <p:nvPr/>
        </p:nvSpPr>
        <p:spPr>
          <a:xfrm>
            <a:off x="7555218" y="6581000"/>
            <a:ext cx="4636782" cy="276999"/>
          </a:xfrm>
          <a:prstGeom prst="rect">
            <a:avLst/>
          </a:prstGeom>
          <a:noFill/>
        </p:spPr>
        <p:txBody>
          <a:bodyPr wrap="none" rtlCol="0">
            <a:spAutoFit/>
          </a:bodyPr>
          <a:lstStyle/>
          <a:p>
            <a:r>
              <a:rPr lang="pt-BR" sz="1200" b="1" dirty="0"/>
              <a:t>OBS</a:t>
            </a:r>
            <a:r>
              <a:rPr lang="pt-BR" sz="1200" dirty="0"/>
              <a:t>.: O anexo II tem um breve explicação sobre pontos de sela e platôs.</a:t>
            </a:r>
            <a:endParaRPr lang="en-US" sz="1200" dirty="0"/>
          </a:p>
        </p:txBody>
      </p:sp>
    </p:spTree>
    <p:extLst>
      <p:ext uri="{BB962C8B-B14F-4D97-AF65-F5344CB8AC3E}">
        <p14:creationId xmlns:p14="http://schemas.microsoft.com/office/powerpoint/2010/main" val="248054464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Superfícies de erro irregulares</a:t>
            </a:r>
          </a:p>
        </p:txBody>
      </p:sp>
      <p:sp>
        <p:nvSpPr>
          <p:cNvPr id="3" name="Espaço Reservado para Conteúdo 2"/>
          <p:cNvSpPr>
            <a:spLocks noGrp="1"/>
          </p:cNvSpPr>
          <p:nvPr>
            <p:ph idx="1"/>
          </p:nvPr>
        </p:nvSpPr>
        <p:spPr>
          <a:xfrm>
            <a:off x="5520906" y="1825624"/>
            <a:ext cx="6487064" cy="5032375"/>
          </a:xfrm>
        </p:spPr>
        <p:txBody>
          <a:bodyPr>
            <a:normAutofit/>
          </a:bodyPr>
          <a:lstStyle/>
          <a:p>
            <a:r>
              <a:rPr lang="pt-BR" dirty="0"/>
              <a:t>Essas irregularidades causam</a:t>
            </a:r>
          </a:p>
          <a:p>
            <a:pPr lvl="1">
              <a:buFont typeface="Wingdings" panose="05000000000000000000" pitchFamily="2" charset="2"/>
              <a:buChar char="§"/>
            </a:pPr>
            <a:r>
              <a:rPr lang="pt-BR" dirty="0"/>
              <a:t>treinamento mais lento</a:t>
            </a:r>
          </a:p>
          <a:p>
            <a:pPr lvl="1">
              <a:buFont typeface="Wingdings" panose="05000000000000000000" pitchFamily="2" charset="2"/>
              <a:buChar char="§"/>
            </a:pPr>
            <a:r>
              <a:rPr lang="pt-BR" dirty="0"/>
              <a:t>instabilidade numérica</a:t>
            </a:r>
          </a:p>
          <a:p>
            <a:pPr lvl="1">
              <a:buFont typeface="Wingdings" panose="05000000000000000000" pitchFamily="2" charset="2"/>
              <a:buChar char="§"/>
            </a:pPr>
            <a:r>
              <a:rPr lang="pt-BR" dirty="0"/>
              <a:t>soluções diferentes para o mesmo problema</a:t>
            </a:r>
          </a:p>
          <a:p>
            <a:r>
              <a:rPr lang="pt-BR" dirty="0"/>
              <a:t>Ou seja, as </a:t>
            </a:r>
            <a:r>
              <a:rPr lang="pt-BR" b="1" dirty="0">
                <a:solidFill>
                  <a:srgbClr val="7030A0"/>
                </a:solidFill>
              </a:rPr>
              <a:t>irregularidades dificultam o aprendizado</a:t>
            </a:r>
            <a:r>
              <a:rPr lang="pt-BR" dirty="0"/>
              <a:t>.</a:t>
            </a:r>
          </a:p>
        </p:txBody>
      </p:sp>
      <p:pic>
        <p:nvPicPr>
          <p:cNvPr id="5" name="Imagem 4"/>
          <p:cNvPicPr>
            <a:picLocks noChangeAspect="1"/>
          </p:cNvPicPr>
          <p:nvPr/>
        </p:nvPicPr>
        <p:blipFill rotWithShape="1">
          <a:blip r:embed="rId3">
            <a:extLst>
              <a:ext uri="{28A0092B-C50C-407E-A947-70E740481C1C}">
                <a14:useLocalDpi xmlns:a14="http://schemas.microsoft.com/office/drawing/2010/main" val="0"/>
              </a:ext>
            </a:extLst>
          </a:blip>
          <a:srcRect l="4503" r="4330"/>
          <a:stretch/>
        </p:blipFill>
        <p:spPr>
          <a:xfrm>
            <a:off x="272921" y="2067165"/>
            <a:ext cx="5075456" cy="3777995"/>
          </a:xfrm>
          <a:prstGeom prst="rect">
            <a:avLst/>
          </a:prstGeom>
        </p:spPr>
      </p:pic>
    </p:spTree>
    <p:extLst>
      <p:ext uri="{BB962C8B-B14F-4D97-AF65-F5344CB8AC3E}">
        <p14:creationId xmlns:p14="http://schemas.microsoft.com/office/powerpoint/2010/main" val="3679973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4846C0-51E0-1E6E-C355-7CFDCCBADB55}"/>
              </a:ext>
            </a:extLst>
          </p:cNvPr>
          <p:cNvSpPr>
            <a:spLocks noGrp="1"/>
          </p:cNvSpPr>
          <p:nvPr>
            <p:ph type="title"/>
          </p:nvPr>
        </p:nvSpPr>
        <p:spPr/>
        <p:txBody>
          <a:bodyPr/>
          <a:lstStyle/>
          <a:p>
            <a:r>
              <a:rPr lang="pt-BR" dirty="0"/>
              <a:t>Superfícies de erro irregulares</a:t>
            </a:r>
          </a:p>
        </p:txBody>
      </p:sp>
      <p:sp>
        <p:nvSpPr>
          <p:cNvPr id="3" name="Espaço Reservado para Conteúdo 2">
            <a:extLst>
              <a:ext uri="{FF2B5EF4-FFF2-40B4-BE49-F238E27FC236}">
                <a16:creationId xmlns:a16="http://schemas.microsoft.com/office/drawing/2014/main" id="{FC5297BC-C988-C160-D024-5B018A5B1D85}"/>
              </a:ext>
            </a:extLst>
          </p:cNvPr>
          <p:cNvSpPr>
            <a:spLocks noGrp="1"/>
          </p:cNvSpPr>
          <p:nvPr>
            <p:ph idx="1"/>
          </p:nvPr>
        </p:nvSpPr>
        <p:spPr>
          <a:xfrm>
            <a:off x="5565058" y="1825624"/>
            <a:ext cx="6626942" cy="5032375"/>
          </a:xfrm>
        </p:spPr>
        <p:txBody>
          <a:bodyPr>
            <a:normAutofit/>
          </a:bodyPr>
          <a:lstStyle/>
          <a:p>
            <a:r>
              <a:rPr lang="pt-BR" sz="2800" dirty="0"/>
              <a:t>Felizmente, em </a:t>
            </a:r>
            <a:r>
              <a:rPr lang="pt-BR" dirty="0"/>
              <a:t>geral</a:t>
            </a:r>
            <a:r>
              <a:rPr lang="pt-BR" sz="2800" dirty="0"/>
              <a:t>, </a:t>
            </a:r>
            <a:r>
              <a:rPr lang="pt-BR" sz="2800" b="1" dirty="0">
                <a:solidFill>
                  <a:srgbClr val="7030A0"/>
                </a:solidFill>
              </a:rPr>
              <a:t>quase todos os mínimos locais têm erro próximo ao do mínimo global</a:t>
            </a:r>
            <a:r>
              <a:rPr lang="pt-BR" sz="2800" dirty="0"/>
              <a:t> e, portanto, encontrar um desses mínimos locais já é bom o suficiente para um dado problema</a:t>
            </a:r>
            <a:r>
              <a:rPr lang="pt-BR" dirty="0"/>
              <a:t> [1]</a:t>
            </a:r>
            <a:r>
              <a:rPr lang="pt-BR" sz="2800" dirty="0"/>
              <a:t>.</a:t>
            </a:r>
          </a:p>
          <a:p>
            <a:r>
              <a:rPr lang="pt-BR" dirty="0"/>
              <a:t>Isso explica porque o </a:t>
            </a:r>
            <a:r>
              <a:rPr lang="pt-BR" b="1" dirty="0"/>
              <a:t>gradiente descendente funciona bem mesmo em problemas altamente não convexos</a:t>
            </a:r>
            <a:r>
              <a:rPr lang="pt-BR" dirty="0"/>
              <a:t>.</a:t>
            </a:r>
          </a:p>
          <a:p>
            <a:pPr marL="0" indent="0">
              <a:buNone/>
            </a:pPr>
            <a:endParaRPr lang="pt-BR" sz="100" dirty="0"/>
          </a:p>
          <a:p>
            <a:pPr marL="0" indent="0" algn="ctr">
              <a:buNone/>
            </a:pPr>
            <a:r>
              <a:rPr lang="pt-BR" sz="2800" dirty="0">
                <a:solidFill>
                  <a:schemeClr val="accent1"/>
                </a:solidFill>
              </a:rPr>
              <a:t>Mas como garantir que o valor de erro encontrado é bom o suficiente?</a:t>
            </a:r>
          </a:p>
          <a:p>
            <a:endParaRPr lang="pt-BR" dirty="0"/>
          </a:p>
        </p:txBody>
      </p:sp>
      <p:sp>
        <p:nvSpPr>
          <p:cNvPr id="5" name="TextBox 4">
            <a:extLst>
              <a:ext uri="{FF2B5EF4-FFF2-40B4-BE49-F238E27FC236}">
                <a16:creationId xmlns:a16="http://schemas.microsoft.com/office/drawing/2014/main" id="{9B74B76A-B8B0-D432-AC7E-F202A7A43FA3}"/>
              </a:ext>
            </a:extLst>
          </p:cNvPr>
          <p:cNvSpPr txBox="1"/>
          <p:nvPr/>
        </p:nvSpPr>
        <p:spPr>
          <a:xfrm>
            <a:off x="6164826" y="6581000"/>
            <a:ext cx="6027174" cy="276999"/>
          </a:xfrm>
          <a:prstGeom prst="rect">
            <a:avLst/>
          </a:prstGeom>
          <a:noFill/>
        </p:spPr>
        <p:txBody>
          <a:bodyPr wrap="square">
            <a:spAutoFit/>
          </a:bodyPr>
          <a:lstStyle/>
          <a:p>
            <a:r>
              <a:rPr lang="en-US" sz="1200" dirty="0"/>
              <a:t>[1] “The Loss Surfaces of Multilayer Networks” — Anna </a:t>
            </a:r>
            <a:r>
              <a:rPr lang="en-US" sz="1200" dirty="0" err="1"/>
              <a:t>Choromanska</a:t>
            </a:r>
            <a:r>
              <a:rPr lang="en-US" sz="1200" dirty="0"/>
              <a:t>, Yann LeCun et al., 2015</a:t>
            </a:r>
          </a:p>
        </p:txBody>
      </p:sp>
      <p:pic>
        <p:nvPicPr>
          <p:cNvPr id="7" name="Picture 2" descr="challenges-1">
            <a:extLst>
              <a:ext uri="{FF2B5EF4-FFF2-40B4-BE49-F238E27FC236}">
                <a16:creationId xmlns:a16="http://schemas.microsoft.com/office/drawing/2014/main" id="{BD7D1F16-6FDA-1C81-3214-00FAB95D658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61621" y="2310580"/>
            <a:ext cx="4934581" cy="33343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565916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CE6215-F8F6-B2CE-55D3-12C93532E35F}"/>
              </a:ext>
            </a:extLst>
          </p:cNvPr>
          <p:cNvSpPr>
            <a:spLocks noGrp="1"/>
          </p:cNvSpPr>
          <p:nvPr>
            <p:ph type="title"/>
          </p:nvPr>
        </p:nvSpPr>
        <p:spPr/>
        <p:txBody>
          <a:bodyPr/>
          <a:lstStyle/>
          <a:p>
            <a:r>
              <a:rPr lang="pt-BR" dirty="0"/>
              <a:t>Como garantir que o erro encontrado é bom?</a:t>
            </a:r>
          </a:p>
        </p:txBody>
      </p:sp>
      <p:sp>
        <p:nvSpPr>
          <p:cNvPr id="3" name="Espaço Reservado para Conteúdo 2">
            <a:extLst>
              <a:ext uri="{FF2B5EF4-FFF2-40B4-BE49-F238E27FC236}">
                <a16:creationId xmlns:a16="http://schemas.microsoft.com/office/drawing/2014/main" id="{9A61C462-DCAD-E604-85FB-9F3661AB03C1}"/>
              </a:ext>
            </a:extLst>
          </p:cNvPr>
          <p:cNvSpPr>
            <a:spLocks noGrp="1"/>
          </p:cNvSpPr>
          <p:nvPr>
            <p:ph idx="1"/>
          </p:nvPr>
        </p:nvSpPr>
        <p:spPr>
          <a:xfrm>
            <a:off x="5268191" y="1825624"/>
            <a:ext cx="6854983" cy="5032375"/>
          </a:xfrm>
        </p:spPr>
        <p:txBody>
          <a:bodyPr>
            <a:normAutofit/>
          </a:bodyPr>
          <a:lstStyle/>
          <a:p>
            <a:r>
              <a:rPr lang="pt-BR" dirty="0"/>
              <a:t>Avaliar o erro em conjuntos de validação e teste.</a:t>
            </a:r>
          </a:p>
          <a:p>
            <a:pPr lvl="1">
              <a:buFont typeface="Wingdings" panose="05000000000000000000" pitchFamily="2" charset="2"/>
              <a:buChar char="§"/>
            </a:pPr>
            <a:r>
              <a:rPr lang="pt-BR" dirty="0"/>
              <a:t>O modelo é considerado bom se os </a:t>
            </a:r>
            <a:r>
              <a:rPr lang="pt-BR" b="1" dirty="0"/>
              <a:t>erros de validação e teste forem baixos</a:t>
            </a:r>
            <a:r>
              <a:rPr lang="pt-BR" dirty="0"/>
              <a:t>.</a:t>
            </a:r>
          </a:p>
          <a:p>
            <a:r>
              <a:rPr lang="pt-BR" dirty="0"/>
              <a:t>Comparar o resultado de vários treinamentos com inicializações (pesos e </a:t>
            </a:r>
            <a:r>
              <a:rPr lang="pt-BR" i="1" dirty="0"/>
              <a:t>dataset</a:t>
            </a:r>
            <a:r>
              <a:rPr lang="pt-BR" dirty="0"/>
              <a:t>, e.g., </a:t>
            </a:r>
            <a:r>
              <a:rPr lang="pt-BR" i="1" dirty="0"/>
              <a:t>k-</a:t>
            </a:r>
            <a:r>
              <a:rPr lang="pt-BR" i="1" dirty="0" err="1"/>
              <a:t>fold</a:t>
            </a:r>
            <a:r>
              <a:rPr lang="pt-BR" dirty="0"/>
              <a:t>) diferentes.</a:t>
            </a:r>
          </a:p>
          <a:p>
            <a:pPr lvl="1">
              <a:buFont typeface="Wingdings" panose="05000000000000000000" pitchFamily="2" charset="2"/>
              <a:buChar char="§"/>
            </a:pPr>
            <a:r>
              <a:rPr lang="pt-BR" dirty="0"/>
              <a:t>Se todos os treinamentos convergem para erros parecidos, então o mínimo ou os mínimos encontrados são provavelmente bons.</a:t>
            </a:r>
          </a:p>
          <a:p>
            <a:pPr lvl="1">
              <a:buFont typeface="Wingdings" panose="05000000000000000000" pitchFamily="2" charset="2"/>
              <a:buChar char="§"/>
            </a:pPr>
            <a:r>
              <a:rPr lang="pt-BR" dirty="0"/>
              <a:t>Se os resultados variam muito, então os mínimos podem ser ruins e isso pode indicar sobreajuste do modelo.</a:t>
            </a:r>
          </a:p>
        </p:txBody>
      </p:sp>
      <p:pic>
        <p:nvPicPr>
          <p:cNvPr id="4" name="Picture 2" descr="challenges-1">
            <a:extLst>
              <a:ext uri="{FF2B5EF4-FFF2-40B4-BE49-F238E27FC236}">
                <a16:creationId xmlns:a16="http://schemas.microsoft.com/office/drawing/2014/main" id="{160E6BAE-8DAB-6EB8-29AB-0A7E9CB618F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21734" y="2494041"/>
            <a:ext cx="4585362" cy="30984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53689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mlp.ipynb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3"/>
              </a:rPr>
              <a:t>Lista #9 - MLP</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410971339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145230874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96B82-EF66-0968-9E1A-B048DD13D85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FFCAF9B-16C2-FD8E-435F-11A771041C8F}"/>
              </a:ext>
            </a:extLst>
          </p:cNvPr>
          <p:cNvSpPr>
            <a:spLocks noGrp="1"/>
          </p:cNvSpPr>
          <p:nvPr>
            <p:ph idx="1"/>
          </p:nvPr>
        </p:nvSpPr>
        <p:spPr>
          <a:xfrm>
            <a:off x="491613" y="2422478"/>
            <a:ext cx="11208773" cy="2013043"/>
          </a:xfrm>
        </p:spPr>
        <p:txBody>
          <a:bodyPr>
            <a:normAutofit/>
          </a:bodyPr>
          <a:lstStyle/>
          <a:p>
            <a:pPr marL="0" indent="0" algn="ctr">
              <a:buNone/>
            </a:pPr>
            <a:r>
              <a:rPr lang="pt-BR" sz="6600" dirty="0"/>
              <a:t>Anexo I: Desaparecimento e explosão do gradiente</a:t>
            </a:r>
            <a:endParaRPr lang="en-US" sz="6600" dirty="0"/>
          </a:p>
        </p:txBody>
      </p:sp>
    </p:spTree>
    <p:extLst>
      <p:ext uri="{BB962C8B-B14F-4D97-AF65-F5344CB8AC3E}">
        <p14:creationId xmlns:p14="http://schemas.microsoft.com/office/powerpoint/2010/main" val="270519827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320337-AB8B-9B66-8DCB-4A4BF80A6194}"/>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B17E2E8-C427-8782-DBAB-8F877FEA946C}"/>
                  </a:ext>
                </a:extLst>
              </p:cNvPr>
              <p:cNvSpPr>
                <a:spLocks noGrp="1"/>
              </p:cNvSpPr>
              <p:nvPr>
                <p:ph idx="1"/>
              </p:nvPr>
            </p:nvSpPr>
            <p:spPr>
              <a:xfrm>
                <a:off x="838199" y="2819048"/>
                <a:ext cx="11353801" cy="4038949"/>
              </a:xfrm>
            </p:spPr>
            <p:txBody>
              <a:bodyPr/>
              <a:lstStyle/>
              <a:p>
                <a:r>
                  <a:rPr lang="pt-BR" dirty="0"/>
                  <a:t>Vamos usar novamente a rede com </a:t>
                </a:r>
                <a:r>
                  <a:rPr lang="pt-BR" b="1" dirty="0"/>
                  <a:t>3 camadas</a:t>
                </a:r>
                <a:r>
                  <a:rPr lang="pt-BR" dirty="0"/>
                  <a:t> acima como exemplo. </a:t>
                </a:r>
              </a:p>
              <a:p>
                <a:r>
                  <a:rPr lang="pt-BR" dirty="0"/>
                  <a:t>Como já vimos, derivada parcial do erro em relação ao peso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oMath>
                </a14:m>
                <a:r>
                  <a:rPr lang="pt-BR" dirty="0"/>
                  <a:t> do nó da primeira camada é dada por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en-US" dirty="0"/>
              </a:p>
              <a:p>
                <a:r>
                  <a:rPr lang="en-US" dirty="0"/>
                  <a:t>Podemos </a:t>
                </a:r>
                <a:r>
                  <a:rPr lang="en-US" dirty="0" err="1"/>
                  <a:t>reescrevê</a:t>
                </a:r>
                <a:r>
                  <a:rPr lang="en-US" dirty="0"/>
                  <a:t>-la </a:t>
                </a:r>
                <a:r>
                  <a:rPr lang="en-US" dirty="0" err="1"/>
                  <a:t>deixando</a:t>
                </a:r>
                <a:r>
                  <a:rPr lang="en-US" dirty="0"/>
                  <a:t> </a:t>
                </a:r>
                <a:r>
                  <a:rPr lang="en-US" dirty="0" err="1"/>
                  <a:t>apenas</a:t>
                </a:r>
                <a:r>
                  <a:rPr lang="en-US" dirty="0"/>
                  <a:t> as </a:t>
                </a:r>
                <a:r>
                  <a:rPr lang="en-US" dirty="0" err="1"/>
                  <a:t>derivadas</a:t>
                </a:r>
                <a:r>
                  <a:rPr lang="en-US" dirty="0"/>
                  <a:t> das </a:t>
                </a:r>
                <a:r>
                  <a:rPr lang="en-US" dirty="0" err="1"/>
                  <a:t>funções</a:t>
                </a:r>
                <a:r>
                  <a:rPr lang="en-US" dirty="0"/>
                  <a:t> de </a:t>
                </a:r>
                <a:r>
                  <a:rPr lang="en-US" dirty="0" err="1"/>
                  <a:t>ativação</a:t>
                </a:r>
                <a:r>
                  <a:rPr lang="en-US" dirty="0"/>
                  <a:t> de forma </a:t>
                </a:r>
                <a:r>
                  <a:rPr lang="en-US" dirty="0" err="1"/>
                  <a:t>genérica</a:t>
                </a:r>
                <a:endParaRPr lang="en-US"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r>
                        <a:rPr lang="pt-BR" b="0" i="1" smtClean="0">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en-US" dirty="0"/>
              </a:p>
            </p:txBody>
          </p:sp>
        </mc:Choice>
        <mc:Fallback>
          <p:sp>
            <p:nvSpPr>
              <p:cNvPr id="3" name="Content Placeholder 2">
                <a:extLst>
                  <a:ext uri="{FF2B5EF4-FFF2-40B4-BE49-F238E27FC236}">
                    <a16:creationId xmlns:a16="http://schemas.microsoft.com/office/drawing/2014/main" id="{7B17E2E8-C427-8782-DBAB-8F877FEA946C}"/>
                  </a:ext>
                </a:extLst>
              </p:cNvPr>
              <p:cNvSpPr>
                <a:spLocks noGrp="1" noRot="1" noChangeAspect="1" noMove="1" noResize="1" noEditPoints="1" noAdjustHandles="1" noChangeArrowheads="1" noChangeShapeType="1" noTextEdit="1"/>
              </p:cNvSpPr>
              <p:nvPr>
                <p:ph idx="1"/>
              </p:nvPr>
            </p:nvSpPr>
            <p:spPr>
              <a:xfrm>
                <a:off x="838199" y="2819048"/>
                <a:ext cx="11353801" cy="4038949"/>
              </a:xfrm>
              <a:blipFill>
                <a:blip r:embed="rId2"/>
                <a:stretch>
                  <a:fillRect l="-913" t="-2413"/>
                </a:stretch>
              </a:blipFill>
            </p:spPr>
            <p:txBody>
              <a:bodyPr/>
              <a:lstStyle/>
              <a:p>
                <a:r>
                  <a:rPr lang="en-US">
                    <a:noFill/>
                  </a:rPr>
                  <a:t> </a:t>
                </a:r>
              </a:p>
            </p:txBody>
          </p:sp>
        </mc:Fallback>
      </mc:AlternateContent>
      <p:grpSp>
        <p:nvGrpSpPr>
          <p:cNvPr id="4" name="Grupo 3"/>
          <p:cNvGrpSpPr/>
          <p:nvPr/>
        </p:nvGrpSpPr>
        <p:grpSpPr>
          <a:xfrm>
            <a:off x="2824117" y="1825624"/>
            <a:ext cx="6149352" cy="699336"/>
            <a:chOff x="2824117" y="1825624"/>
            <a:chExt cx="6149352" cy="699336"/>
          </a:xfrm>
        </p:grpSpPr>
        <p:grpSp>
          <p:nvGrpSpPr>
            <p:cNvPr id="20" name="Group 19">
              <a:extLst>
                <a:ext uri="{FF2B5EF4-FFF2-40B4-BE49-F238E27FC236}">
                  <a16:creationId xmlns:a16="http://schemas.microsoft.com/office/drawing/2014/main" id="{AD7588CC-1303-51DE-62D0-1AF556C3EEE7}"/>
                </a:ext>
              </a:extLst>
            </p:cNvPr>
            <p:cNvGrpSpPr/>
            <p:nvPr/>
          </p:nvGrpSpPr>
          <p:grpSpPr>
            <a:xfrm>
              <a:off x="2824117" y="1825624"/>
              <a:ext cx="6149352" cy="699336"/>
              <a:chOff x="2824117" y="1825624"/>
              <a:chExt cx="6149352" cy="699336"/>
            </a:xfrm>
          </p:grpSpPr>
          <p:grpSp>
            <p:nvGrpSpPr>
              <p:cNvPr id="21" name="Group 20">
                <a:extLst>
                  <a:ext uri="{FF2B5EF4-FFF2-40B4-BE49-F238E27FC236}">
                    <a16:creationId xmlns:a16="http://schemas.microsoft.com/office/drawing/2014/main"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24" name="Elipse 4">
                      <a:extLst>
                        <a:ext uri="{FF2B5EF4-FFF2-40B4-BE49-F238E27FC236}">
                          <a16:creationId xmlns:a16="http://schemas.microsoft.com/office/drawing/2014/main"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Elipse 5">
                      <a:extLst>
                        <a:ext uri="{FF2B5EF4-FFF2-40B4-BE49-F238E27FC236}">
                          <a16:creationId xmlns:a16="http://schemas.microsoft.com/office/drawing/2014/main"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Elipse 6">
                      <a:extLst>
                        <a:ext uri="{FF2B5EF4-FFF2-40B4-BE49-F238E27FC236}">
                          <a16:creationId xmlns:a16="http://schemas.microsoft.com/office/drawing/2014/main"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27" name="Conector de Seta Reta 7">
                  <a:extLst>
                    <a:ext uri="{FF2B5EF4-FFF2-40B4-BE49-F238E27FC236}">
                      <a16:creationId xmlns:a16="http://schemas.microsoft.com/office/drawing/2014/main"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2">
                  <a:extLst>
                    <a:ext uri="{FF2B5EF4-FFF2-40B4-BE49-F238E27FC236}">
                      <a16:creationId xmlns:a16="http://schemas.microsoft.com/office/drawing/2014/main"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Retângulo 10">
                      <a:extLst>
                        <a:ext uri="{FF2B5EF4-FFF2-40B4-BE49-F238E27FC236}">
                          <a16:creationId xmlns:a16="http://schemas.microsoft.com/office/drawing/2014/main"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Retângulo 13">
                      <a:extLst>
                        <a:ext uri="{FF2B5EF4-FFF2-40B4-BE49-F238E27FC236}">
                          <a16:creationId xmlns:a16="http://schemas.microsoft.com/office/drawing/2014/main"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31" name="Conector de Seta Reta 17">
                  <a:extLst>
                    <a:ext uri="{FF2B5EF4-FFF2-40B4-BE49-F238E27FC236}">
                      <a16:creationId xmlns:a16="http://schemas.microsoft.com/office/drawing/2014/main"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36" name="Conector de Seta Reta 7">
                  <a:extLst>
                    <a:ext uri="{FF2B5EF4-FFF2-40B4-BE49-F238E27FC236}">
                      <a16:creationId xmlns:a16="http://schemas.microsoft.com/office/drawing/2014/main"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2CFDFBD5-FA4D-91D9-109D-B66617353EEC}"/>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404135186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Desaparecimento do gradiente</a:t>
            </a:r>
          </a:p>
        </p:txBody>
      </p:sp>
      <mc:AlternateContent xmlns:mc="http://schemas.openxmlformats.org/markup-compatibility/2006">
        <mc:Choice xmlns:a14="http://schemas.microsoft.com/office/drawing/2010/main" Requires="a14">
          <p:sp>
            <p:nvSpPr>
              <p:cNvPr id="3" name="Espaço Reservado para Conteúdo 2"/>
              <p:cNvSpPr>
                <a:spLocks noGrp="1"/>
              </p:cNvSpPr>
              <p:nvPr>
                <p:ph idx="1"/>
              </p:nvPr>
            </p:nvSpPr>
            <p:spPr>
              <a:xfrm>
                <a:off x="838199" y="1825624"/>
                <a:ext cx="11353801" cy="5032375"/>
              </a:xfrm>
            </p:spPr>
            <p:txBody>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A rede com 3 camadas tem 3 derivadas parciais das funções de ativação para a atualização do peso do nó da primeira camada.</a:t>
                </a:r>
              </a:p>
              <a:p>
                <a:r>
                  <a:rPr lang="pt-BR" dirty="0"/>
                  <a:t>Se extrapolarmos a equação acima para redes com </a:t>
                </a:r>
                <a14:m>
                  <m:oMath xmlns:m="http://schemas.openxmlformats.org/officeDocument/2006/math">
                    <m:r>
                      <a:rPr lang="pt-BR" b="0" i="1" smtClean="0">
                        <a:latin typeface="Cambria Math" panose="02040503050406030204" pitchFamily="18" charset="0"/>
                      </a:rPr>
                      <m:t>𝑀</m:t>
                    </m:r>
                  </m:oMath>
                </a14:m>
                <a:r>
                  <a:rPr lang="pt-BR" dirty="0"/>
                  <a:t> camadas, teremos a multiplicação de </a:t>
                </a:r>
                <a14:m>
                  <m:oMath xmlns:m="http://schemas.openxmlformats.org/officeDocument/2006/math">
                    <m:r>
                      <a:rPr lang="pt-BR" i="1">
                        <a:latin typeface="Cambria Math" panose="02040503050406030204" pitchFamily="18" charset="0"/>
                      </a:rPr>
                      <m:t>𝑀</m:t>
                    </m:r>
                  </m:oMath>
                </a14:m>
                <a:r>
                  <a:rPr lang="pt-BR" dirty="0"/>
                  <a:t> derivadas das funções de ativação para a derivada parcial do erro em relação ao peso da primeira camada.</a:t>
                </a:r>
              </a:p>
            </p:txBody>
          </p:sp>
        </mc:Choice>
        <mc:Fallback>
          <p:sp>
            <p:nvSpPr>
              <p:cNvPr id="3" name="Espaço Reservado para Conteúdo 2"/>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a:stretch>
              </a:blipFill>
            </p:spPr>
            <p:txBody>
              <a:bodyPr/>
              <a:lstStyle/>
              <a:p>
                <a:r>
                  <a:rPr lang="en-US">
                    <a:noFill/>
                  </a:rPr>
                  <a:t> </a:t>
                </a:r>
              </a:p>
            </p:txBody>
          </p:sp>
        </mc:Fallback>
      </mc:AlternateContent>
    </p:spTree>
    <p:extLst>
      <p:ext uri="{BB962C8B-B14F-4D97-AF65-F5344CB8AC3E}">
        <p14:creationId xmlns:p14="http://schemas.microsoft.com/office/powerpoint/2010/main" val="225652864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F3ADB7-9531-579F-4C79-45653024187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E35D4D1-A228-6178-616E-1592070D355B}"/>
              </a:ext>
            </a:extLst>
          </p:cNvPr>
          <p:cNvSpPr>
            <a:spLocks noGrp="1"/>
          </p:cNvSpPr>
          <p:nvPr>
            <p:ph type="title"/>
          </p:nvPr>
        </p:nvSpPr>
        <p:spPr/>
        <p:txBody>
          <a:bodyPr/>
          <a:lstStyle/>
          <a:p>
            <a:r>
              <a:rPr lang="pt-BR" dirty="0"/>
              <a:t>Desaparecimento do gradiente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24CA2A88-D180-1617-D092-D34BAF7F076B}"/>
                  </a:ext>
                </a:extLst>
              </p:cNvPr>
              <p:cNvSpPr>
                <a:spLocks noGrp="1"/>
              </p:cNvSpPr>
              <p:nvPr>
                <p:ph idx="1"/>
              </p:nvPr>
            </p:nvSpPr>
            <p:spPr>
              <a:xfrm>
                <a:off x="838199" y="1825624"/>
                <a:ext cx="11353801" cy="5032375"/>
              </a:xfrm>
            </p:spPr>
            <p:txBody>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As derivadas das funções logística e tangente hiperbólica têm valores máximos iguais a 0.25 e 1, respectivamente, apenas quando as ativações são iguais a 0.</a:t>
                </a:r>
              </a:p>
            </p:txBody>
          </p:sp>
        </mc:Choice>
        <mc:Fallback>
          <p:sp>
            <p:nvSpPr>
              <p:cNvPr id="3" name="Espaço Reservado para Conteúdo 2">
                <a:extLst>
                  <a:ext uri="{FF2B5EF4-FFF2-40B4-BE49-F238E27FC236}">
                    <a16:creationId xmlns:a16="http://schemas.microsoft.com/office/drawing/2014/main" id="{24CA2A88-D180-1617-D092-D34BAF7F076B}"/>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a:stretch>
              </a:blipFill>
            </p:spPr>
            <p:txBody>
              <a:bodyPr/>
              <a:lstStyle/>
              <a:p>
                <a:r>
                  <a:rPr lang="en-US">
                    <a:noFill/>
                  </a:rPr>
                  <a:t> </a:t>
                </a:r>
              </a:p>
            </p:txBody>
          </p:sp>
        </mc:Fallback>
      </mc:AlternateContent>
      <p:sp>
        <p:nvSpPr>
          <p:cNvPr id="4" name="Rectangle 7">
            <a:extLst>
              <a:ext uri="{FF2B5EF4-FFF2-40B4-BE49-F238E27FC236}">
                <a16:creationId xmlns:a16="http://schemas.microsoft.com/office/drawing/2014/main" id="{CDE9D292-A108-92A9-4275-BE70343FAD77}"/>
              </a:ext>
            </a:extLst>
          </p:cNvPr>
          <p:cNvSpPr/>
          <p:nvPr/>
        </p:nvSpPr>
        <p:spPr>
          <a:xfrm>
            <a:off x="2218544" y="4042011"/>
            <a:ext cx="2383436" cy="307777"/>
          </a:xfrm>
          <a:prstGeom prst="rect">
            <a:avLst/>
          </a:prstGeom>
        </p:spPr>
        <p:txBody>
          <a:bodyPr wrap="square">
            <a:spAutoFit/>
          </a:bodyPr>
          <a:lstStyle/>
          <a:p>
            <a:pPr algn="ctr"/>
            <a:r>
              <a:rPr lang="pt-BR" sz="1400" dirty="0"/>
              <a:t>Derivada da função logística</a:t>
            </a:r>
          </a:p>
        </p:txBody>
      </p:sp>
      <p:pic>
        <p:nvPicPr>
          <p:cNvPr id="5" name="Imagem 4">
            <a:extLst>
              <a:ext uri="{FF2B5EF4-FFF2-40B4-BE49-F238E27FC236}">
                <a16:creationId xmlns:a16="http://schemas.microsoft.com/office/drawing/2014/main" id="{24F74AD8-7BBC-F92A-499C-AE71F8E43A8F}"/>
              </a:ext>
            </a:extLst>
          </p:cNvPr>
          <p:cNvPicPr>
            <a:picLocks noChangeAspect="1"/>
          </p:cNvPicPr>
          <p:nvPr/>
        </p:nvPicPr>
        <p:blipFill>
          <a:blip r:embed="rId3"/>
          <a:stretch>
            <a:fillRect/>
          </a:stretch>
        </p:blipFill>
        <p:spPr>
          <a:xfrm>
            <a:off x="1830369" y="4182259"/>
            <a:ext cx="3067986" cy="2300990"/>
          </a:xfrm>
          <a:prstGeom prst="rect">
            <a:avLst/>
          </a:prstGeom>
        </p:spPr>
      </p:pic>
      <mc:AlternateContent xmlns:mc="http://schemas.openxmlformats.org/markup-compatibility/2006" xmlns:a14="http://schemas.microsoft.com/office/drawing/2010/main">
        <mc:Choice Requires="a14">
          <p:sp>
            <p:nvSpPr>
              <p:cNvPr id="11" name="Retângulo 10">
                <a:extLst>
                  <a:ext uri="{FF2B5EF4-FFF2-40B4-BE49-F238E27FC236}">
                    <a16:creationId xmlns:a16="http://schemas.microsoft.com/office/drawing/2014/main" id="{867283EA-E24E-A9A4-C1C0-8CEA2890EE4A}"/>
                  </a:ext>
                </a:extLst>
              </p:cNvPr>
              <p:cNvSpPr/>
              <p:nvPr/>
            </p:nvSpPr>
            <p:spPr>
              <a:xfrm>
                <a:off x="2009889" y="6437900"/>
                <a:ext cx="2817749" cy="40498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d>
                        <m:dPr>
                          <m:ctrlPr>
                            <a:rPr lang="pt-BR" i="1">
                              <a:latin typeface="Cambria Math" panose="02040503050406030204" pitchFamily="18" charset="0"/>
                            </a:rPr>
                          </m:ctrlPr>
                        </m:dPr>
                        <m:e>
                          <m:r>
                            <a:rPr lang="pt-BR" i="1">
                              <a:latin typeface="Cambria Math" panose="02040503050406030204" pitchFamily="18" charset="0"/>
                            </a:rPr>
                            <m:t>1−</m:t>
                          </m:r>
                          <m:r>
                            <a:rPr lang="pt-BR" i="1">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e>
                      </m:d>
                      <m:r>
                        <a:rPr lang="pt-BR" i="1">
                          <a:latin typeface="Cambria Math" panose="02040503050406030204" pitchFamily="18" charset="0"/>
                          <a:ea typeface="Cambria Math" panose="02040503050406030204" pitchFamily="18" charset="0"/>
                        </a:rPr>
                        <m:t>∈[0, 0.25]</m:t>
                      </m:r>
                    </m:oMath>
                  </m:oMathPara>
                </a14:m>
                <a:endParaRPr lang="pt-BR" dirty="0"/>
              </a:p>
            </p:txBody>
          </p:sp>
        </mc:Choice>
        <mc:Fallback xmlns="">
          <p:sp>
            <p:nvSpPr>
              <p:cNvPr id="11" name="Retângulo 10"/>
              <p:cNvSpPr>
                <a:spLocks noRot="1" noChangeAspect="1" noMove="1" noResize="1" noEditPoints="1" noAdjustHandles="1" noChangeArrowheads="1" noChangeShapeType="1" noTextEdit="1"/>
              </p:cNvSpPr>
              <p:nvPr/>
            </p:nvSpPr>
            <p:spPr>
              <a:xfrm>
                <a:off x="2009889" y="6437900"/>
                <a:ext cx="2817749" cy="404983"/>
              </a:xfrm>
              <a:prstGeom prst="rect">
                <a:avLst/>
              </a:prstGeom>
              <a:blipFill>
                <a:blip r:embed="rId4"/>
                <a:stretch>
                  <a:fillRect b="-10448"/>
                </a:stretch>
              </a:blipFill>
            </p:spPr>
            <p:txBody>
              <a:bodyPr/>
              <a:lstStyle/>
              <a:p>
                <a:r>
                  <a:rPr lang="en-US">
                    <a:noFill/>
                  </a:rPr>
                  <a:t> </a:t>
                </a:r>
              </a:p>
            </p:txBody>
          </p:sp>
        </mc:Fallback>
      </mc:AlternateContent>
      <p:pic>
        <p:nvPicPr>
          <p:cNvPr id="12" name="Imagem 11">
            <a:extLst>
              <a:ext uri="{FF2B5EF4-FFF2-40B4-BE49-F238E27FC236}">
                <a16:creationId xmlns:a16="http://schemas.microsoft.com/office/drawing/2014/main" id="{BA2D59C8-E445-6CF3-96BD-C57ACBA1C10D}"/>
              </a:ext>
            </a:extLst>
          </p:cNvPr>
          <p:cNvPicPr>
            <a:picLocks noChangeAspect="1"/>
          </p:cNvPicPr>
          <p:nvPr/>
        </p:nvPicPr>
        <p:blipFill>
          <a:blip r:embed="rId5"/>
          <a:stretch>
            <a:fillRect/>
          </a:stretch>
        </p:blipFill>
        <p:spPr>
          <a:xfrm>
            <a:off x="7054306" y="4195899"/>
            <a:ext cx="3049800" cy="2287350"/>
          </a:xfrm>
          <a:prstGeom prst="rect">
            <a:avLst/>
          </a:prstGeom>
        </p:spPr>
      </p:pic>
      <p:sp>
        <p:nvSpPr>
          <p:cNvPr id="14" name="Rectangle 7">
            <a:extLst>
              <a:ext uri="{FF2B5EF4-FFF2-40B4-BE49-F238E27FC236}">
                <a16:creationId xmlns:a16="http://schemas.microsoft.com/office/drawing/2014/main" id="{7842EFBD-EDFF-EE1A-50A9-D8AB0F16838D}"/>
              </a:ext>
            </a:extLst>
          </p:cNvPr>
          <p:cNvSpPr/>
          <p:nvPr/>
        </p:nvSpPr>
        <p:spPr>
          <a:xfrm>
            <a:off x="7387488" y="4042011"/>
            <a:ext cx="2383436" cy="307777"/>
          </a:xfrm>
          <a:prstGeom prst="rect">
            <a:avLst/>
          </a:prstGeom>
        </p:spPr>
        <p:txBody>
          <a:bodyPr wrap="square">
            <a:spAutoFit/>
          </a:bodyPr>
          <a:lstStyle/>
          <a:p>
            <a:pPr algn="ctr"/>
            <a:r>
              <a:rPr lang="pt-BR" sz="1400" dirty="0"/>
              <a:t>Derivada da função </a:t>
            </a:r>
            <a:r>
              <a:rPr lang="pt-BR" sz="1400" dirty="0" err="1"/>
              <a:t>tanh</a:t>
            </a:r>
            <a:endParaRPr lang="pt-BR" sz="1400" dirty="0"/>
          </a:p>
        </p:txBody>
      </p:sp>
      <mc:AlternateContent xmlns:mc="http://schemas.openxmlformats.org/markup-compatibility/2006" xmlns:a14="http://schemas.microsoft.com/office/drawing/2010/main">
        <mc:Choice Requires="a14">
          <p:sp>
            <p:nvSpPr>
              <p:cNvPr id="15" name="Retângulo 14">
                <a:extLst>
                  <a:ext uri="{FF2B5EF4-FFF2-40B4-BE49-F238E27FC236}">
                    <a16:creationId xmlns:a16="http://schemas.microsoft.com/office/drawing/2014/main" id="{FD6FA8AA-3D68-4F3F-7CC0-05D247CF31ED}"/>
                  </a:ext>
                </a:extLst>
              </p:cNvPr>
              <p:cNvSpPr/>
              <p:nvPr/>
            </p:nvSpPr>
            <p:spPr>
              <a:xfrm>
                <a:off x="7477797" y="6483249"/>
                <a:ext cx="227889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1−</m:t>
                      </m:r>
                      <m:sSup>
                        <m:sSupPr>
                          <m:ctrlPr>
                            <a:rPr lang="pt-BR" i="1">
                              <a:latin typeface="Cambria Math" panose="02040503050406030204" pitchFamily="18" charset="0"/>
                            </a:rPr>
                          </m:ctrlPr>
                        </m:sSupPr>
                        <m:e>
                          <m:r>
                            <m:rPr>
                              <m:sty m:val="p"/>
                            </m:rPr>
                            <a:rPr lang="pt-BR">
                              <a:latin typeface="Cambria Math" panose="02040503050406030204" pitchFamily="18" charset="0"/>
                            </a:rPr>
                            <m:t>tanh</m:t>
                          </m:r>
                        </m:e>
                        <m:sup>
                          <m:r>
                            <a:rPr lang="pt-BR" i="1">
                              <a:latin typeface="Cambria Math" panose="02040503050406030204" pitchFamily="18" charset="0"/>
                            </a:rPr>
                            <m:t>2</m:t>
                          </m:r>
                        </m:sup>
                      </m:sSup>
                      <m:r>
                        <a:rPr lang="pt-BR" i="1">
                          <a:latin typeface="Cambria Math" panose="02040503050406030204" pitchFamily="18" charset="0"/>
                        </a:rPr>
                        <m:t>(</m:t>
                      </m:r>
                      <m:r>
                        <a:rPr lang="pt-BR" b="0" i="1" smtClean="0">
                          <a:latin typeface="Cambria Math" panose="02040503050406030204" pitchFamily="18" charset="0"/>
                        </a:rPr>
                        <m:t>𝑧</m:t>
                      </m:r>
                      <m:r>
                        <a:rPr lang="pt-BR" i="1">
                          <a:latin typeface="Cambria Math" panose="02040503050406030204" pitchFamily="18" charset="0"/>
                        </a:rPr>
                        <m:t>)∈[0, 1</m:t>
                      </m:r>
                      <m:r>
                        <a:rPr lang="pt-BR" i="1">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15" name="Retângulo 14"/>
              <p:cNvSpPr>
                <a:spLocks noRot="1" noChangeAspect="1" noMove="1" noResize="1" noEditPoints="1" noAdjustHandles="1" noChangeArrowheads="1" noChangeShapeType="1" noTextEdit="1"/>
              </p:cNvSpPr>
              <p:nvPr/>
            </p:nvSpPr>
            <p:spPr>
              <a:xfrm>
                <a:off x="7477797" y="6483249"/>
                <a:ext cx="2278894" cy="369332"/>
              </a:xfrm>
              <a:prstGeom prst="rect">
                <a:avLst/>
              </a:prstGeom>
              <a:blipFill rotWithShape="0">
                <a:blip r:embed="rId6"/>
                <a:stretch>
                  <a:fillRect b="-16667"/>
                </a:stretch>
              </a:blipFill>
            </p:spPr>
            <p:txBody>
              <a:bodyPr/>
              <a:lstStyle/>
              <a:p>
                <a:r>
                  <a:rPr lang="pt-BR">
                    <a:noFill/>
                  </a:rPr>
                  <a:t> </a:t>
                </a:r>
              </a:p>
            </p:txBody>
          </p:sp>
        </mc:Fallback>
      </mc:AlternateContent>
    </p:spTree>
    <p:extLst>
      <p:ext uri="{BB962C8B-B14F-4D97-AF65-F5344CB8AC3E}">
        <p14:creationId xmlns:p14="http://schemas.microsoft.com/office/powerpoint/2010/main" val="314633956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1FFA5-1CB6-9000-BBDF-D0EDE185427F}"/>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8934CF7-9755-BAE7-4000-D544554A8335}"/>
                  </a:ext>
                </a:extLst>
              </p:cNvPr>
              <p:cNvSpPr>
                <a:spLocks noGrp="1"/>
              </p:cNvSpPr>
              <p:nvPr>
                <p:ph idx="1"/>
              </p:nvPr>
            </p:nvSpPr>
            <p:spPr>
              <a:xfrm>
                <a:off x="838199" y="1825624"/>
                <a:ext cx="11353801" cy="5032375"/>
              </a:xfrm>
            </p:spPr>
            <p:txBody>
              <a:bodyPr>
                <a:normAutofit/>
              </a:bodyPr>
              <a:lstStyle/>
              <a:p>
                <a:r>
                  <a:rPr lang="en-US" dirty="0"/>
                  <a:t>Se </a:t>
                </a:r>
                <a:r>
                  <a:rPr lang="en-US" dirty="0" err="1"/>
                  <a:t>usarmos</a:t>
                </a:r>
                <a:r>
                  <a:rPr lang="en-US" dirty="0"/>
                  <a:t> a </a:t>
                </a:r>
                <a:r>
                  <a:rPr lang="en-US" dirty="0" err="1"/>
                  <a:t>função</a:t>
                </a:r>
                <a:r>
                  <a:rPr lang="en-US" dirty="0"/>
                  <a:t> </a:t>
                </a:r>
                <a:r>
                  <a:rPr lang="en-US" dirty="0" err="1"/>
                  <a:t>logística</a:t>
                </a:r>
                <a:r>
                  <a:rPr lang="en-US" dirty="0"/>
                  <a:t>,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a:t>
                </a:r>
                <a:r>
                  <a:rPr lang="en-US" dirty="0" err="1"/>
                  <a:t>menores</a:t>
                </a:r>
                <a:r>
                  <a:rPr lang="en-US" dirty="0"/>
                  <a:t> que 0 (no </a:t>
                </a:r>
                <a:r>
                  <a:rPr lang="en-US" dirty="0" err="1"/>
                  <a:t>máximo</a:t>
                </a:r>
                <a:r>
                  <a:rPr lang="en-US" dirty="0"/>
                  <a:t> </a:t>
                </a:r>
                <a:r>
                  <a:rPr lang="en-US" dirty="0" err="1"/>
                  <a:t>iguais</a:t>
                </a:r>
                <a:r>
                  <a:rPr lang="en-US" dirty="0"/>
                  <a:t> a 0.25 </a:t>
                </a:r>
                <a:r>
                  <a:rPr lang="en-US" dirty="0" err="1"/>
                  <a:t>quando</a:t>
                </a:r>
                <a:r>
                  <a:rPr lang="en-US" dirty="0"/>
                  <a:t> a entrada é </a:t>
                </a:r>
                <a:r>
                  <a:rPr lang="en-US" dirty="0" err="1"/>
                  <a:t>igual</a:t>
                </a:r>
                <a:r>
                  <a:rPr lang="en-US" dirty="0"/>
                  <a:t> a 0).</a:t>
                </a:r>
              </a:p>
              <a:p>
                <a:r>
                  <a:rPr lang="en-US" dirty="0" err="1"/>
                  <a:t>Usando</a:t>
                </a:r>
                <a:r>
                  <a:rPr lang="en-US" dirty="0"/>
                  <a:t> a </a:t>
                </a:r>
                <a:r>
                  <a:rPr lang="en-US" dirty="0" err="1"/>
                  <a:t>função</a:t>
                </a:r>
                <a:r>
                  <a:rPr lang="en-US" dirty="0"/>
                  <a:t> tanh,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com </a:t>
                </a:r>
                <a:r>
                  <a:rPr lang="en-US" dirty="0" err="1"/>
                  <a:t>valores</a:t>
                </a:r>
                <a:r>
                  <a:rPr lang="en-US" dirty="0"/>
                  <a:t> no </a:t>
                </a:r>
                <a:r>
                  <a:rPr lang="en-US" dirty="0" err="1"/>
                  <a:t>máximo</a:t>
                </a:r>
                <a:r>
                  <a:rPr lang="en-US" dirty="0"/>
                  <a:t> </a:t>
                </a:r>
                <a:r>
                  <a:rPr lang="en-US" dirty="0" err="1"/>
                  <a:t>iguais</a:t>
                </a:r>
                <a:r>
                  <a:rPr lang="en-US" dirty="0"/>
                  <a:t> a 1, mas </a:t>
                </a:r>
                <a:r>
                  <a:rPr lang="en-US" dirty="0" err="1"/>
                  <a:t>apenas</a:t>
                </a:r>
                <a:r>
                  <a:rPr lang="en-US" dirty="0"/>
                  <a:t> </a:t>
                </a:r>
                <a:r>
                  <a:rPr lang="en-US" dirty="0" err="1"/>
                  <a:t>quando</a:t>
                </a:r>
                <a:r>
                  <a:rPr lang="en-US" dirty="0"/>
                  <a:t> a entrada é </a:t>
                </a:r>
                <a:r>
                  <a:rPr lang="en-US" dirty="0" err="1"/>
                  <a:t>igual</a:t>
                </a:r>
                <a:r>
                  <a:rPr lang="en-US" dirty="0"/>
                  <a:t> a 0.</a:t>
                </a:r>
              </a:p>
              <a:p>
                <a:r>
                  <a:rPr lang="pt-BR" dirty="0"/>
                  <a:t>Assim, em uma rede com </a:t>
                </a:r>
                <a14:m>
                  <m:oMath xmlns:m="http://schemas.openxmlformats.org/officeDocument/2006/math">
                    <m:r>
                      <a:rPr lang="pt-BR" b="0" i="1">
                        <a:latin typeface="Cambria Math" panose="02040503050406030204" pitchFamily="18" charset="0"/>
                      </a:rPr>
                      <m:t>𝑀</m:t>
                    </m:r>
                  </m:oMath>
                </a14:m>
                <a:r>
                  <a:rPr lang="pt-BR" dirty="0"/>
                  <a:t> camadas, a </a:t>
                </a:r>
                <a:r>
                  <a:rPr lang="pt-BR" b="1" dirty="0" err="1"/>
                  <a:t>retropropagação</a:t>
                </a:r>
                <a:r>
                  <a:rPr lang="pt-BR" b="1" i="1" dirty="0"/>
                  <a:t> </a:t>
                </a:r>
                <a:r>
                  <a:rPr lang="pt-BR" dirty="0"/>
                  <a:t>tem o efeito de multiplicar até </a:t>
                </a:r>
                <a14:m>
                  <m:oMath xmlns:m="http://schemas.openxmlformats.org/officeDocument/2006/math">
                    <m:r>
                      <a:rPr lang="pt-BR" b="0" i="1">
                        <a:latin typeface="Cambria Math" panose="02040503050406030204" pitchFamily="18" charset="0"/>
                      </a:rPr>
                      <m:t>𝑀</m:t>
                    </m:r>
                  </m:oMath>
                </a14:m>
                <a:r>
                  <a:rPr lang="pt-BR" dirty="0"/>
                  <a:t> valores, em geral, menores do que 1 para calcular os vetores gradiente das primeiras camadas.</a:t>
                </a:r>
              </a:p>
              <a:p>
                <a:r>
                  <a:rPr lang="en-US" b="1" dirty="0"/>
                  <a:t>OBS</a:t>
                </a:r>
                <a:r>
                  <a:rPr lang="en-US" dirty="0"/>
                  <a:t>.</a:t>
                </a:r>
                <a:r>
                  <a:rPr lang="pt-BR" dirty="0"/>
                  <a:t>: </a:t>
                </a:r>
                <a:r>
                  <a:rPr lang="en-US" dirty="0"/>
                  <a:t>Se </a:t>
                </a:r>
                <a:r>
                  <a:rPr lang="en-US" dirty="0" err="1"/>
                  <a:t>os</a:t>
                </a:r>
                <a:r>
                  <a:rPr lang="en-US" dirty="0"/>
                  <a:t> </a:t>
                </a:r>
                <a:r>
                  <a:rPr lang="en-US" dirty="0" err="1"/>
                  <a:t>valores</a:t>
                </a:r>
                <a:r>
                  <a:rPr lang="en-US" dirty="0"/>
                  <a:t> </a:t>
                </a:r>
                <a:r>
                  <a:rPr lang="en-US" dirty="0" err="1"/>
                  <a:t>iniciais</a:t>
                </a:r>
                <a:r>
                  <a:rPr lang="en-US" dirty="0"/>
                  <a:t> dos pesos </a:t>
                </a:r>
                <a:r>
                  <a:rPr lang="en-US" dirty="0" err="1"/>
                  <a:t>forem</a:t>
                </a:r>
                <a:r>
                  <a:rPr lang="en-US" dirty="0"/>
                  <a:t> </a:t>
                </a:r>
                <a:r>
                  <a:rPr lang="en-US" dirty="0" err="1"/>
                  <a:t>menores</a:t>
                </a:r>
                <a:r>
                  <a:rPr lang="en-US" dirty="0"/>
                  <a:t> do </a:t>
                </a:r>
                <a:r>
                  <a:rPr lang="en-US" dirty="0" err="1"/>
                  <a:t>que</a:t>
                </a:r>
                <a:r>
                  <a:rPr lang="en-US" dirty="0"/>
                  <a:t> 1, </a:t>
                </a:r>
                <a:r>
                  <a:rPr lang="en-US" dirty="0" err="1"/>
                  <a:t>também</a:t>
                </a:r>
                <a:r>
                  <a:rPr lang="en-US" dirty="0"/>
                  <a:t>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a:t>
                </a:r>
                <a:r>
                  <a:rPr lang="en-US" dirty="0" err="1"/>
                  <a:t>pequenos</a:t>
                </a:r>
                <a:r>
                  <a:rPr lang="en-US" dirty="0"/>
                  <a:t>.</a:t>
                </a:r>
                <a:endParaRPr lang="pt-BR" dirty="0"/>
              </a:p>
              <a:p>
                <a:pPr marL="0" indent="0">
                  <a:buNone/>
                </a:pPr>
                <a:endParaRPr lang="pt-BR" dirty="0"/>
              </a:p>
              <a:p>
                <a:pPr marL="0" indent="0" algn="ctr">
                  <a:buNone/>
                </a:pPr>
                <a:r>
                  <a:rPr lang="pt-BR" sz="3200" b="1" dirty="0">
                    <a:solidFill>
                      <a:schemeClr val="accent1"/>
                    </a:solidFill>
                  </a:rPr>
                  <a:t>Mas o que isso significa na prática?</a:t>
                </a:r>
                <a:endParaRPr lang="pt-BR" b="1" dirty="0">
                  <a:solidFill>
                    <a:schemeClr val="accent1"/>
                  </a:solidFill>
                </a:endParaRPr>
              </a:p>
            </p:txBody>
          </p:sp>
        </mc:Choice>
        <mc:Fallback xmlns="">
          <p:sp>
            <p:nvSpPr>
              <p:cNvPr id="3" name="Content Placeholder 2">
                <a:extLst>
                  <a:ext uri="{FF2B5EF4-FFF2-40B4-BE49-F238E27FC236}">
                    <a16:creationId xmlns:a16="http://schemas.microsoft.com/office/drawing/2014/main" id="{D8934CF7-9755-BAE7-4000-D544554A8335}"/>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937" b="-3511"/>
                </a:stretch>
              </a:blipFill>
            </p:spPr>
            <p:txBody>
              <a:bodyPr/>
              <a:lstStyle/>
              <a:p>
                <a:r>
                  <a:rPr lang="en-US">
                    <a:noFill/>
                  </a:rPr>
                  <a:t> </a:t>
                </a:r>
              </a:p>
            </p:txBody>
          </p:sp>
        </mc:Fallback>
      </mc:AlternateContent>
    </p:spTree>
    <p:extLst>
      <p:ext uri="{BB962C8B-B14F-4D97-AF65-F5344CB8AC3E}">
        <p14:creationId xmlns:p14="http://schemas.microsoft.com/office/powerpoint/2010/main" val="31310225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DFC76-8AB6-020C-82FD-4686C37B86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7AEB46-AF82-7781-D7B1-BEBCF114524D}"/>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C15A5F3-5F37-E63E-2FB4-9239351DA1DD}"/>
                  </a:ext>
                </a:extLst>
              </p:cNvPr>
              <p:cNvSpPr>
                <a:spLocks noGrp="1"/>
              </p:cNvSpPr>
              <p:nvPr>
                <p:ph idx="1"/>
              </p:nvPr>
            </p:nvSpPr>
            <p:spPr>
              <a:xfrm>
                <a:off x="5378245" y="1825624"/>
                <a:ext cx="6813755" cy="5032375"/>
              </a:xfrm>
            </p:spPr>
            <p:txBody>
              <a:bodyPr>
                <a:normAutofit/>
              </a:bodyPr>
              <a:lstStyle/>
              <a:p>
                <a:r>
                  <a:rPr lang="pt-BR" dirty="0"/>
                  <a:t>Isso significa que o </a:t>
                </a:r>
                <a:r>
                  <a:rPr lang="pt-BR" b="1" dirty="0">
                    <a:solidFill>
                      <a:srgbClr val="7030A0"/>
                    </a:solidFill>
                  </a:rPr>
                  <a:t>gradiente diminui exponencialmente com </a:t>
                </a:r>
                <a14:m>
                  <m:oMath xmlns:m="http://schemas.openxmlformats.org/officeDocument/2006/math">
                    <m:r>
                      <a:rPr lang="pt-BR" b="1" i="1">
                        <a:solidFill>
                          <a:srgbClr val="7030A0"/>
                        </a:solidFill>
                        <a:latin typeface="Cambria Math" panose="02040503050406030204" pitchFamily="18" charset="0"/>
                      </a:rPr>
                      <m:t>𝑴</m:t>
                    </m:r>
                  </m:oMath>
                </a14:m>
                <a:r>
                  <a:rPr lang="pt-BR" dirty="0"/>
                  <a:t>.</a:t>
                </a:r>
              </a:p>
              <a:p>
                <a:r>
                  <a:rPr lang="pt-BR" dirty="0"/>
                  <a:t>Assim, os </a:t>
                </a:r>
                <a:r>
                  <a:rPr lang="pt-BR" b="1" dirty="0">
                    <a:solidFill>
                      <a:schemeClr val="accent2"/>
                    </a:solidFill>
                  </a:rPr>
                  <a:t>nós das camadas iniciais</a:t>
                </a:r>
                <a:r>
                  <a:rPr lang="pt-BR" b="1" dirty="0"/>
                  <a:t> aprendem muito mais </a:t>
                </a:r>
                <a:r>
                  <a:rPr lang="pt-BR" b="1" dirty="0">
                    <a:solidFill>
                      <a:srgbClr val="7030A0"/>
                    </a:solidFill>
                  </a:rPr>
                  <a:t>lentamente</a:t>
                </a:r>
                <a:r>
                  <a:rPr lang="pt-BR" b="1" dirty="0"/>
                  <a:t> do que os nós das camadas finais</a:t>
                </a:r>
                <a:r>
                  <a:rPr lang="pt-BR" dirty="0"/>
                  <a:t>, pois o </a:t>
                </a:r>
                <a:r>
                  <a:rPr lang="pt-BR" b="1" dirty="0">
                    <a:solidFill>
                      <a:srgbClr val="7030A0"/>
                    </a:solidFill>
                  </a:rPr>
                  <a:t>vetor gradiente </a:t>
                </a:r>
                <a:r>
                  <a:rPr lang="pt-BR" dirty="0"/>
                  <a:t>daquelas camadas é </a:t>
                </a:r>
                <a:r>
                  <a:rPr lang="pt-BR" b="1" dirty="0">
                    <a:solidFill>
                      <a:srgbClr val="7030A0"/>
                    </a:solidFill>
                  </a:rPr>
                  <a:t>muito pequeno</a:t>
                </a:r>
                <a:r>
                  <a:rPr lang="pt-BR" dirty="0"/>
                  <a:t>, fazendo com que a </a:t>
                </a:r>
                <a:r>
                  <a:rPr lang="pt-BR" b="1" dirty="0">
                    <a:solidFill>
                      <a:srgbClr val="7030A0"/>
                    </a:solidFill>
                  </a:rPr>
                  <a:t>atualização dos pesos também seja pequena</a:t>
                </a:r>
                <a:r>
                  <a:rPr lang="pt-BR" b="1" dirty="0"/>
                  <a:t>.</a:t>
                </a:r>
              </a:p>
              <a:p>
                <a:r>
                  <a:rPr lang="pt-BR" dirty="0"/>
                  <a:t>Isso faz com que as </a:t>
                </a:r>
                <a:r>
                  <a:rPr lang="pt-BR" b="1" dirty="0">
                    <a:solidFill>
                      <a:schemeClr val="accent2"/>
                    </a:solidFill>
                  </a:rPr>
                  <a:t>primeiras camadas aprendam lentamente ou nem aprendam</a:t>
                </a:r>
                <a:r>
                  <a:rPr lang="pt-BR" dirty="0"/>
                  <a:t>, pois têm </a:t>
                </a:r>
                <a:r>
                  <a:rPr lang="pt-BR" b="1" dirty="0">
                    <a:solidFill>
                      <a:srgbClr val="7030A0"/>
                    </a:solidFill>
                  </a:rPr>
                  <a:t>derivadas muito pequenas</a:t>
                </a:r>
                <a:r>
                  <a:rPr lang="pt-BR" dirty="0"/>
                  <a:t>, </a:t>
                </a:r>
                <a:r>
                  <a:rPr lang="pt-BR" b="1" dirty="0">
                    <a:solidFill>
                      <a:schemeClr val="accent5"/>
                    </a:solidFill>
                  </a:rPr>
                  <a:t>tendendo a zero</a:t>
                </a:r>
                <a:r>
                  <a:rPr lang="pt-BR" dirty="0"/>
                  <a:t>.</a:t>
                </a:r>
              </a:p>
            </p:txBody>
          </p:sp>
        </mc:Choice>
        <mc:Fallback xmlns="">
          <p:sp>
            <p:nvSpPr>
              <p:cNvPr id="3" name="Content Placeholder 2">
                <a:extLst>
                  <a:ext uri="{FF2B5EF4-FFF2-40B4-BE49-F238E27FC236}">
                    <a16:creationId xmlns:a16="http://schemas.microsoft.com/office/drawing/2014/main" id="{6C15A5F3-5F37-E63E-2FB4-9239351DA1DD}"/>
                  </a:ext>
                </a:extLst>
              </p:cNvPr>
              <p:cNvSpPr>
                <a:spLocks noGrp="1" noRot="1" noChangeAspect="1" noMove="1" noResize="1" noEditPoints="1" noAdjustHandles="1" noChangeArrowheads="1" noChangeShapeType="1" noTextEdit="1"/>
              </p:cNvSpPr>
              <p:nvPr>
                <p:ph idx="1"/>
              </p:nvPr>
            </p:nvSpPr>
            <p:spPr>
              <a:xfrm>
                <a:off x="5378245" y="1825624"/>
                <a:ext cx="6813755" cy="5032375"/>
              </a:xfrm>
              <a:blipFill>
                <a:blip r:embed="rId2"/>
                <a:stretch>
                  <a:fillRect l="-1610" t="-1937" b="-1816"/>
                </a:stretch>
              </a:blipFill>
            </p:spPr>
            <p:txBody>
              <a:bodyPr/>
              <a:lstStyle/>
              <a:p>
                <a:r>
                  <a:rPr lang="en-US">
                    <a:noFill/>
                  </a:rPr>
                  <a:t> </a:t>
                </a:r>
              </a:p>
            </p:txBody>
          </p:sp>
        </mc:Fallback>
      </mc:AlternateContent>
      <p:pic>
        <p:nvPicPr>
          <p:cNvPr id="1026" name="Picture 2" descr="Vanishing Gradient Problem: Causes and Methods">
            <a:extLst>
              <a:ext uri="{FF2B5EF4-FFF2-40B4-BE49-F238E27FC236}">
                <a16:creationId xmlns:a16="http://schemas.microsoft.com/office/drawing/2014/main" id="{27B765F7-AA34-949A-CBF5-E1A9E76CFB9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86" t="5324" r="6417" b="5324"/>
          <a:stretch>
            <a:fillRect/>
          </a:stretch>
        </p:blipFill>
        <p:spPr bwMode="auto">
          <a:xfrm>
            <a:off x="596706" y="1825624"/>
            <a:ext cx="4447242" cy="45362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00161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F707D88-35FE-5C70-B670-7724F07963B8}"/>
              </a:ext>
            </a:extLst>
          </p:cNvPr>
          <p:cNvSpPr>
            <a:spLocks noGrp="1"/>
          </p:cNvSpPr>
          <p:nvPr>
            <p:ph idx="1"/>
          </p:nvPr>
        </p:nvSpPr>
        <p:spPr>
          <a:xfrm>
            <a:off x="641838" y="2682925"/>
            <a:ext cx="10908323" cy="1492149"/>
          </a:xfrm>
        </p:spPr>
        <p:txBody>
          <a:bodyPr>
            <a:normAutofit/>
          </a:bodyPr>
          <a:lstStyle/>
          <a:p>
            <a:pPr marL="0" indent="0" algn="ctr">
              <a:buNone/>
            </a:pPr>
            <a:r>
              <a:rPr lang="pt-BR" sz="4800" b="1" dirty="0"/>
              <a:t>Como mitigar esse problema?</a:t>
            </a:r>
          </a:p>
        </p:txBody>
      </p:sp>
    </p:spTree>
    <p:extLst>
      <p:ext uri="{BB962C8B-B14F-4D97-AF65-F5344CB8AC3E}">
        <p14:creationId xmlns:p14="http://schemas.microsoft.com/office/powerpoint/2010/main" val="161420861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CCCA311-66EE-354C-C200-CCC00EDBCF09}"/>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8299B2A-6128-9D83-D88E-42F9464E8818}"/>
                  </a:ext>
                </a:extLst>
              </p:cNvPr>
              <p:cNvSpPr>
                <a:spLocks noGrp="1"/>
              </p:cNvSpPr>
              <p:nvPr>
                <p:ph idx="1"/>
              </p:nvPr>
            </p:nvSpPr>
            <p:spPr>
              <a:xfrm>
                <a:off x="5154803" y="1825624"/>
                <a:ext cx="7037197" cy="5032375"/>
              </a:xfrm>
            </p:spPr>
            <p:txBody>
              <a:bodyPr>
                <a:normAutofit/>
              </a:bodyPr>
              <a:lstStyle/>
              <a:p>
                <a:r>
                  <a:rPr lang="pt-BR" dirty="0"/>
                  <a:t>Com o surgimento das </a:t>
                </a:r>
                <a:r>
                  <a:rPr lang="pt-BR" b="1" dirty="0">
                    <a:solidFill>
                      <a:srgbClr val="00B050"/>
                    </a:solidFill>
                  </a:rPr>
                  <a:t>redes neurais profundas</a:t>
                </a:r>
                <a:r>
                  <a:rPr lang="pt-BR" dirty="0"/>
                  <a:t>, e, consequentemente, do problema do </a:t>
                </a:r>
                <a:r>
                  <a:rPr lang="pt-BR" b="1" dirty="0">
                    <a:solidFill>
                      <a:srgbClr val="7030A0"/>
                    </a:solidFill>
                  </a:rPr>
                  <a:t>desaparecimento do gradiente</a:t>
                </a:r>
                <a:r>
                  <a:rPr lang="pt-BR" dirty="0"/>
                  <a:t>, uma outra função de ativação, conhecida como </a:t>
                </a:r>
                <a:r>
                  <a:rPr lang="pt-BR" b="1" i="1" dirty="0" err="1">
                    <a:solidFill>
                      <a:schemeClr val="tx1"/>
                    </a:solidFill>
                  </a:rPr>
                  <a:t>Rectified</a:t>
                </a:r>
                <a:r>
                  <a:rPr lang="pt-BR" b="1" i="1" dirty="0">
                    <a:solidFill>
                      <a:schemeClr val="tx1"/>
                    </a:solidFill>
                  </a:rPr>
                  <a:t> Linear Unit </a:t>
                </a:r>
                <a:r>
                  <a:rPr lang="pt-BR" dirty="0">
                    <a:solidFill>
                      <a:schemeClr val="tx1"/>
                    </a:solidFill>
                  </a:rPr>
                  <a:t>(</a:t>
                </a:r>
                <a:r>
                  <a:rPr lang="pt-BR" dirty="0" err="1">
                    <a:solidFill>
                      <a:schemeClr val="tx1"/>
                    </a:solidFill>
                  </a:rPr>
                  <a:t>ReLU</a:t>
                </a:r>
                <a:r>
                  <a:rPr lang="pt-BR" dirty="0">
                    <a:solidFill>
                      <a:schemeClr val="tx1"/>
                    </a:solidFill>
                  </a:rPr>
                  <a:t>)</a:t>
                </a:r>
                <a:r>
                  <a:rPr lang="pt-BR" dirty="0"/>
                  <a:t>, passou a ser a bastante utilizada.</a:t>
                </a:r>
              </a:p>
              <a:p>
                <a:r>
                  <a:rPr lang="pt-BR" dirty="0">
                    <a:solidFill>
                      <a:schemeClr val="tx1"/>
                    </a:solidFill>
                  </a:rPr>
                  <a:t>É também uma </a:t>
                </a:r>
                <a:r>
                  <a:rPr lang="pt-BR" b="1" i="1" dirty="0">
                    <a:solidFill>
                      <a:schemeClr val="tx1"/>
                    </a:solidFill>
                  </a:rPr>
                  <a:t>função não-linear </a:t>
                </a:r>
                <a:r>
                  <a:rPr lang="pt-BR" dirty="0">
                    <a:solidFill>
                      <a:schemeClr val="tx1"/>
                    </a:solidFill>
                  </a:rPr>
                  <a:t>onde sua saída é igual 0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≤0</m:t>
                    </m:r>
                  </m:oMath>
                </a14:m>
                <a:r>
                  <a:rPr lang="pt-BR" dirty="0">
                    <a:solidFill>
                      <a:schemeClr val="tx1"/>
                    </a:solidFill>
                  </a:rPr>
                  <a:t> e o próprio </a:t>
                </a:r>
                <a14:m>
                  <m:oMath xmlns:m="http://schemas.openxmlformats.org/officeDocument/2006/math">
                    <m:r>
                      <a:rPr lang="pt-BR" i="1">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𝒙</m:t>
                    </m:r>
                    <m:r>
                      <a:rPr lang="pt-BR" i="1">
                        <a:solidFill>
                          <a:schemeClr val="tx1"/>
                        </a:solidFill>
                        <a:latin typeface="Cambria Math" panose="02040503050406030204" pitchFamily="18" charset="0"/>
                      </a:rPr>
                      <m:t>)</m:t>
                    </m:r>
                  </m:oMath>
                </a14:m>
                <a:r>
                  <a:rPr lang="pt-BR" dirty="0">
                    <a:solidFill>
                      <a:schemeClr val="tx1"/>
                    </a:solidFill>
                  </a:rPr>
                  <a:t>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&gt;0</m:t>
                    </m:r>
                  </m:oMath>
                </a14:m>
                <a:r>
                  <a:rPr lang="pt-BR" dirty="0">
                    <a:solidFill>
                      <a:schemeClr val="tx1"/>
                    </a:solidFill>
                  </a:rPr>
                  <a:t>.</a:t>
                </a:r>
              </a:p>
              <a:p>
                <a:r>
                  <a:rPr lang="pt-BR" dirty="0">
                    <a:solidFill>
                      <a:schemeClr val="tx1"/>
                    </a:solidFill>
                  </a:rPr>
                  <a:t>É</a:t>
                </a:r>
                <a:r>
                  <a:rPr lang="pt-BR" b="0" i="0" dirty="0">
                    <a:solidFill>
                      <a:schemeClr val="tx1"/>
                    </a:solidFill>
                    <a:effectLst/>
                  </a:rPr>
                  <a:t> uma das funções mais utilizadas em redes neurais profundas atualmente</a:t>
                </a:r>
                <a:r>
                  <a:rPr lang="pt-BR" dirty="0">
                    <a:solidFill>
                      <a:schemeClr val="tx1"/>
                    </a:solidFill>
                  </a:rPr>
                  <a:t>.</a:t>
                </a:r>
              </a:p>
            </p:txBody>
          </p:sp>
        </mc:Choice>
        <mc:Fallback xmlns="">
          <p:sp>
            <p:nvSpPr>
              <p:cNvPr id="3" name="Espaço Reservado para Conteúdo 2">
                <a:extLst>
                  <a:ext uri="{FF2B5EF4-FFF2-40B4-BE49-F238E27FC236}">
                    <a16:creationId xmlns:a16="http://schemas.microsoft.com/office/drawing/2014/main" id="{98299B2A-6128-9D83-D88E-42F9464E8818}"/>
                  </a:ext>
                </a:extLst>
              </p:cNvPr>
              <p:cNvSpPr>
                <a:spLocks noGrp="1" noRot="1" noChangeAspect="1" noMove="1" noResize="1" noEditPoints="1" noAdjustHandles="1" noChangeArrowheads="1" noChangeShapeType="1" noTextEdit="1"/>
              </p:cNvSpPr>
              <p:nvPr>
                <p:ph idx="1"/>
              </p:nvPr>
            </p:nvSpPr>
            <p:spPr>
              <a:xfrm>
                <a:off x="5154803" y="1825624"/>
                <a:ext cx="7037197" cy="5032375"/>
              </a:xfrm>
              <a:blipFill>
                <a:blip r:embed="rId3"/>
                <a:stretch>
                  <a:fillRect l="-1560" t="-1937" r="-1560"/>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3C578F58-6A89-FBA0-2705-1E663273F189}"/>
              </a:ext>
            </a:extLst>
          </p:cNvPr>
          <p:cNvGrpSpPr/>
          <p:nvPr/>
        </p:nvGrpSpPr>
        <p:grpSpPr>
          <a:xfrm>
            <a:off x="723477" y="2390249"/>
            <a:ext cx="3968359" cy="3472872"/>
            <a:chOff x="1115363" y="2400298"/>
            <a:chExt cx="3968359" cy="3472872"/>
          </a:xfrm>
        </p:grpSpPr>
        <p:pic>
          <p:nvPicPr>
            <p:cNvPr id="5" name="Imagem 4">
              <a:extLst>
                <a:ext uri="{FF2B5EF4-FFF2-40B4-BE49-F238E27FC236}">
                  <a16:creationId xmlns:a16="http://schemas.microsoft.com/office/drawing/2014/main" id="{EE48010C-60E1-A3D9-6322-51F40770A40D}"/>
                </a:ext>
              </a:extLst>
            </p:cNvPr>
            <p:cNvPicPr>
              <a:picLocks noChangeAspect="1"/>
            </p:cNvPicPr>
            <p:nvPr/>
          </p:nvPicPr>
          <p:blipFill rotWithShape="1">
            <a:blip r:embed="rId4"/>
            <a:srcRect l="5002" t="6467" r="8442" b="1020"/>
            <a:stretch/>
          </p:blipFill>
          <p:spPr>
            <a:xfrm>
              <a:off x="1299732" y="2400298"/>
              <a:ext cx="3345850" cy="2682043"/>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C7425866-D58A-05FA-F0E5-6358ECBB0655}"/>
                    </a:ext>
                  </a:extLst>
                </p:cNvPr>
                <p:cNvSpPr txBox="1"/>
                <p:nvPr/>
              </p:nvSpPr>
              <p:spPr>
                <a:xfrm>
                  <a:off x="1142860" y="5411505"/>
                  <a:ext cx="394086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pt-BR" sz="2400" i="1" smtClean="0">
                                <a:latin typeface="Cambria Math" panose="02040503050406030204" pitchFamily="18" charset="0"/>
                              </a:rPr>
                            </m:ctrlPr>
                          </m:accPr>
                          <m:e>
                            <m:r>
                              <a:rPr lang="pt-BR" sz="2400" b="0" i="1" smtClean="0">
                                <a:latin typeface="Cambria Math" panose="02040503050406030204" pitchFamily="18" charset="0"/>
                              </a:rPr>
                              <m:t>𝑦</m:t>
                            </m:r>
                          </m:e>
                        </m:acc>
                        <m:r>
                          <a:rPr lang="pt-BR" sz="2400" i="1">
                            <a:latin typeface="Cambria Math" panose="02040503050406030204" pitchFamily="18" charset="0"/>
                          </a:rPr>
                          <m:t>=</m:t>
                        </m:r>
                        <m:r>
                          <a:rPr lang="pt-BR" sz="2400" i="1">
                            <a:latin typeface="Cambria Math" panose="02040503050406030204" pitchFamily="18" charset="0"/>
                          </a:rPr>
                          <m:t>𝑓</m:t>
                        </m:r>
                        <m:d>
                          <m:dPr>
                            <m:ctrlPr>
                              <a:rPr lang="pt-BR" sz="2400" i="1">
                                <a:latin typeface="Cambria Math" panose="02040503050406030204" pitchFamily="18" charset="0"/>
                              </a:rPr>
                            </m:ctrlPr>
                          </m:dPr>
                          <m:e>
                            <m:r>
                              <a:rPr lang="pt-BR" sz="2400" b="0" i="1" smtClean="0">
                                <a:latin typeface="Cambria Math" panose="02040503050406030204" pitchFamily="18" charset="0"/>
                              </a:rPr>
                              <m:t>𝑔</m:t>
                            </m:r>
                            <m:r>
                              <a:rPr lang="pt-BR" sz="2400" b="0" i="1" smtClean="0">
                                <a:latin typeface="Cambria Math" panose="02040503050406030204" pitchFamily="18" charset="0"/>
                              </a:rPr>
                              <m:t>(</m:t>
                            </m:r>
                            <m:r>
                              <a:rPr lang="pt-BR" sz="2400" b="1" i="1" smtClean="0">
                                <a:latin typeface="Cambria Math" panose="02040503050406030204" pitchFamily="18" charset="0"/>
                              </a:rPr>
                              <m:t>𝒙</m:t>
                            </m:r>
                            <m:r>
                              <a:rPr lang="pt-BR" sz="2400" b="0" i="1" smtClean="0">
                                <a:latin typeface="Cambria Math" panose="02040503050406030204" pitchFamily="18" charset="0"/>
                              </a:rPr>
                              <m:t>)</m:t>
                            </m:r>
                          </m:e>
                        </m:d>
                        <m:r>
                          <a:rPr lang="pt-BR" sz="2400" i="1">
                            <a:latin typeface="Cambria Math" panose="02040503050406030204" pitchFamily="18" charset="0"/>
                          </a:rPr>
                          <m:t>=</m:t>
                        </m:r>
                        <m:r>
                          <m:rPr>
                            <m:sty m:val="p"/>
                          </m:rPr>
                          <a:rPr lang="pt-BR" sz="2400">
                            <a:latin typeface="Cambria Math" panose="02040503050406030204" pitchFamily="18" charset="0"/>
                          </a:rPr>
                          <m:t>max</m:t>
                        </m:r>
                        <m:d>
                          <m:dPr>
                            <m:ctrlPr>
                              <a:rPr lang="pt-BR" sz="2400" i="1">
                                <a:latin typeface="Cambria Math" panose="02040503050406030204" pitchFamily="18" charset="0"/>
                              </a:rPr>
                            </m:ctrlPr>
                          </m:dPr>
                          <m:e>
                            <m:r>
                              <a:rPr lang="pt-BR" sz="2400" i="1">
                                <a:latin typeface="Cambria Math" panose="02040503050406030204" pitchFamily="18" charset="0"/>
                              </a:rPr>
                              <m:t>0,</m:t>
                            </m:r>
                            <m:r>
                              <a:rPr lang="pt-BR" sz="2400" i="1">
                                <a:latin typeface="Cambria Math" panose="02040503050406030204" pitchFamily="18" charset="0"/>
                              </a:rPr>
                              <m:t>𝑔</m:t>
                            </m:r>
                            <m:r>
                              <a:rPr lang="pt-BR" sz="2400"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e>
                        </m:d>
                      </m:oMath>
                    </m:oMathPara>
                  </a14:m>
                  <a:endParaRPr lang="pt-BR" sz="2400" dirty="0"/>
                </a:p>
              </p:txBody>
            </p:sp>
          </mc:Choice>
          <mc:Fallback xmlns="">
            <p:sp>
              <p:nvSpPr>
                <p:cNvPr id="6" name="CaixaDeTexto 5">
                  <a:extLst>
                    <a:ext uri="{FF2B5EF4-FFF2-40B4-BE49-F238E27FC236}">
                      <a16:creationId xmlns:a16="http://schemas.microsoft.com/office/drawing/2014/main" id="{C7425866-D58A-05FA-F0E5-6358ECBB0655}"/>
                    </a:ext>
                  </a:extLst>
                </p:cNvPr>
                <p:cNvSpPr txBox="1">
                  <a:spLocks noRot="1" noChangeAspect="1" noMove="1" noResize="1" noEditPoints="1" noAdjustHandles="1" noChangeArrowheads="1" noChangeShapeType="1" noTextEdit="1"/>
                </p:cNvSpPr>
                <p:nvPr/>
              </p:nvSpPr>
              <p:spPr>
                <a:xfrm>
                  <a:off x="1142860" y="5411505"/>
                  <a:ext cx="3940862" cy="461665"/>
                </a:xfrm>
                <a:prstGeom prst="rect">
                  <a:avLst/>
                </a:prstGeom>
                <a:blipFill>
                  <a:blip r:embed="rId5"/>
                  <a:stretch>
                    <a:fillRect t="-3947" b="-1710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CDC42720-BF1E-F028-3274-537BB07178B8}"/>
                    </a:ext>
                  </a:extLst>
                </p:cNvPr>
                <p:cNvSpPr txBox="1"/>
                <p:nvPr/>
              </p:nvSpPr>
              <p:spPr>
                <a:xfrm>
                  <a:off x="2597098" y="4928452"/>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rPr>
                          <m:t>𝑔</m:t>
                        </m:r>
                        <m:r>
                          <a:rPr lang="pt-BR" sz="1400" i="1">
                            <a:latin typeface="Cambria Math" panose="02040503050406030204" pitchFamily="18" charset="0"/>
                          </a:rPr>
                          <m:t>(</m:t>
                        </m:r>
                        <m:r>
                          <a:rPr lang="pt-BR" sz="1400" b="1" i="1">
                            <a:latin typeface="Cambria Math" panose="02040503050406030204" pitchFamily="18" charset="0"/>
                          </a:rPr>
                          <m:t>𝒙</m:t>
                        </m:r>
                        <m:r>
                          <a:rPr lang="pt-BR" sz="1400" i="1">
                            <a:latin typeface="Cambria Math" panose="02040503050406030204" pitchFamily="18" charset="0"/>
                          </a:rPr>
                          <m:t>)</m:t>
                        </m:r>
                      </m:oMath>
                    </m:oMathPara>
                  </a14:m>
                  <a:endParaRPr lang="pt-BR" sz="1400" dirty="0"/>
                </a:p>
              </p:txBody>
            </p:sp>
          </mc:Choice>
          <mc:Fallback xmlns="">
            <p:sp>
              <p:nvSpPr>
                <p:cNvPr id="7" name="CaixaDeTexto 6">
                  <a:extLst>
                    <a:ext uri="{FF2B5EF4-FFF2-40B4-BE49-F238E27FC236}">
                      <a16:creationId xmlns:a16="http://schemas.microsoft.com/office/drawing/2014/main" id="{CDC42720-BF1E-F028-3274-537BB07178B8}"/>
                    </a:ext>
                  </a:extLst>
                </p:cNvPr>
                <p:cNvSpPr txBox="1">
                  <a:spLocks noRot="1" noChangeAspect="1" noMove="1" noResize="1" noEditPoints="1" noAdjustHandles="1" noChangeArrowheads="1" noChangeShapeType="1" noTextEdit="1"/>
                </p:cNvSpPr>
                <p:nvPr/>
              </p:nvSpPr>
              <p:spPr>
                <a:xfrm>
                  <a:off x="2597098" y="4928452"/>
                  <a:ext cx="1032387" cy="307777"/>
                </a:xfrm>
                <a:prstGeom prst="rect">
                  <a:avLst/>
                </a:prstGeom>
                <a:blipFill>
                  <a:blip r:embed="rId6"/>
                  <a:stretch>
                    <a:fillRect b="-8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0DF71D57-88CC-D41A-98C9-F5950AD2D133}"/>
                    </a:ext>
                  </a:extLst>
                </p:cNvPr>
                <p:cNvSpPr txBox="1"/>
                <p:nvPr/>
              </p:nvSpPr>
              <p:spPr>
                <a:xfrm rot="16200000">
                  <a:off x="753058" y="3449303"/>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rPr>
                          <m:t>𝑓</m:t>
                        </m:r>
                        <m:d>
                          <m:dPr>
                            <m:ctrlPr>
                              <a:rPr lang="pt-BR" sz="1400" i="1">
                                <a:latin typeface="Cambria Math" panose="02040503050406030204" pitchFamily="18" charset="0"/>
                              </a:rPr>
                            </m:ctrlPr>
                          </m:dPr>
                          <m:e>
                            <m:r>
                              <a:rPr lang="pt-BR" sz="1400" b="0" i="1" smtClean="0">
                                <a:latin typeface="Cambria Math" panose="02040503050406030204" pitchFamily="18" charset="0"/>
                              </a:rPr>
                              <m:t>𝑔</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e>
                        </m:d>
                      </m:oMath>
                    </m:oMathPara>
                  </a14:m>
                  <a:endParaRPr lang="pt-BR" sz="1400" dirty="0"/>
                </a:p>
              </p:txBody>
            </p:sp>
          </mc:Choice>
          <mc:Fallback xmlns="">
            <p:sp>
              <p:nvSpPr>
                <p:cNvPr id="8" name="CaixaDeTexto 7">
                  <a:extLst>
                    <a:ext uri="{FF2B5EF4-FFF2-40B4-BE49-F238E27FC236}">
                      <a16:creationId xmlns:a16="http://schemas.microsoft.com/office/drawing/2014/main" id="{0DF71D57-88CC-D41A-98C9-F5950AD2D133}"/>
                    </a:ext>
                  </a:extLst>
                </p:cNvPr>
                <p:cNvSpPr txBox="1">
                  <a:spLocks noRot="1" noChangeAspect="1" noMove="1" noResize="1" noEditPoints="1" noAdjustHandles="1" noChangeArrowheads="1" noChangeShapeType="1" noTextEdit="1"/>
                </p:cNvSpPr>
                <p:nvPr/>
              </p:nvSpPr>
              <p:spPr>
                <a:xfrm rot="16200000">
                  <a:off x="753058" y="3449303"/>
                  <a:ext cx="1032387" cy="307777"/>
                </a:xfrm>
                <a:prstGeom prst="rect">
                  <a:avLst/>
                </a:prstGeom>
                <a:blipFill>
                  <a:blip r:embed="rId7"/>
                  <a:stretch>
                    <a:fillRect r="-8000"/>
                  </a:stretch>
                </a:blipFill>
              </p:spPr>
              <p:txBody>
                <a:bodyPr/>
                <a:lstStyle/>
                <a:p>
                  <a:r>
                    <a:rPr lang="pt-BR">
                      <a:noFill/>
                    </a:rPr>
                    <a:t> </a:t>
                  </a:r>
                </a:p>
              </p:txBody>
            </p:sp>
          </mc:Fallback>
        </mc:AlternateContent>
      </p:grpSp>
    </p:spTree>
    <p:extLst>
      <p:ext uri="{BB962C8B-B14F-4D97-AF65-F5344CB8AC3E}">
        <p14:creationId xmlns:p14="http://schemas.microsoft.com/office/powerpoint/2010/main" val="281921854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4767924" y="1825624"/>
                <a:ext cx="7233578" cy="5032375"/>
              </a:xfrm>
            </p:spPr>
            <p:txBody>
              <a:bodyPr>
                <a:normAutofit/>
              </a:bodyPr>
              <a:lstStyle/>
              <a:p>
                <a:r>
                  <a:rPr lang="pt-BR" dirty="0">
                    <a:solidFill>
                      <a:schemeClr val="tx1"/>
                    </a:solidFill>
                  </a:rPr>
                  <a:t>Suas</a:t>
                </a:r>
                <a:r>
                  <a:rPr lang="pt-BR" b="0" dirty="0">
                    <a:solidFill>
                      <a:schemeClr val="tx1"/>
                    </a:solidFill>
                    <a:effectLst/>
                  </a:rPr>
                  <a:t> principais </a:t>
                </a:r>
                <a:r>
                  <a:rPr lang="pt-BR" b="1" dirty="0">
                    <a:solidFill>
                      <a:srgbClr val="00B050"/>
                    </a:solidFill>
                    <a:effectLst/>
                  </a:rPr>
                  <a:t>vantagens</a:t>
                </a:r>
                <a:r>
                  <a:rPr lang="pt-BR" b="0" dirty="0">
                    <a:solidFill>
                      <a:schemeClr val="tx1"/>
                    </a:solidFill>
                    <a:effectLst/>
                  </a:rPr>
                  <a:t> são a sua </a:t>
                </a:r>
                <a:r>
                  <a:rPr lang="pt-BR" b="1" dirty="0">
                    <a:solidFill>
                      <a:srgbClr val="00B050"/>
                    </a:solidFill>
                    <a:effectLst/>
                  </a:rPr>
                  <a:t>simplicidade e eficiência computacional</a:t>
                </a:r>
                <a:r>
                  <a:rPr lang="pt-BR" dirty="0"/>
                  <a:t>.</a:t>
                </a:r>
              </a:p>
              <a:p>
                <a:pPr lvl="1">
                  <a:buFont typeface="Wingdings" panose="05000000000000000000" pitchFamily="2" charset="2"/>
                  <a:buChar char="§"/>
                </a:pPr>
                <a:r>
                  <a:rPr lang="pt-BR" dirty="0"/>
                  <a:t>Ela e sua derivada </a:t>
                </a:r>
                <a:r>
                  <a:rPr lang="pt-BR" b="1" dirty="0">
                    <a:solidFill>
                      <a:srgbClr val="0070C0"/>
                    </a:solidFill>
                  </a:rPr>
                  <a:t>são</a:t>
                </a:r>
                <a:r>
                  <a:rPr lang="pt-BR" b="1" dirty="0">
                    <a:solidFill>
                      <a:srgbClr val="0070C0"/>
                    </a:solidFill>
                    <a:effectLst/>
                  </a:rPr>
                  <a:t> mais </a:t>
                </a:r>
                <a:r>
                  <a:rPr lang="pt-BR" b="1" dirty="0">
                    <a:solidFill>
                      <a:srgbClr val="0070C0"/>
                    </a:solidFill>
                  </a:rPr>
                  <a:t>rápidas de se calcular </a:t>
                </a:r>
                <a:r>
                  <a:rPr lang="pt-BR" dirty="0"/>
                  <a:t>do que as funções logística e tangente hiperbólica.</a:t>
                </a:r>
                <a:endParaRPr lang="pt-BR" b="0" dirty="0">
                  <a:effectLst/>
                </a:endParaRPr>
              </a:p>
              <a:p>
                <a:r>
                  <a:rPr lang="pt-BR" dirty="0"/>
                  <a:t>Além disso, a</a:t>
                </a:r>
                <a:r>
                  <a:rPr lang="pt-BR" b="0" dirty="0">
                    <a:effectLst/>
                  </a:rPr>
                  <a:t>juda a </a:t>
                </a:r>
                <a:r>
                  <a:rPr lang="pt-BR" b="1" dirty="0">
                    <a:solidFill>
                      <a:srgbClr val="00B050"/>
                    </a:solidFill>
                    <a:effectLst/>
                  </a:rPr>
                  <a:t>minimizar o problema do desaparecimento de gradiente</a:t>
                </a:r>
                <a:r>
                  <a:rPr lang="pt-BR" b="0" dirty="0">
                    <a:effectLst/>
                  </a:rPr>
                  <a:t>,</a:t>
                </a:r>
                <a:r>
                  <a:rPr lang="pt-BR" b="0" i="0" dirty="0">
                    <a:effectLst/>
                  </a:rPr>
                  <a:t> pois sua derivada é igual a 1 para </a:t>
                </a:r>
                <a14:m>
                  <m:oMath xmlns:m="http://schemas.openxmlformats.org/officeDocument/2006/math">
                    <m:r>
                      <a:rPr lang="pt-BR" i="1" smtClean="0">
                        <a:latin typeface="Cambria Math" panose="02040503050406030204" pitchFamily="18" charset="0"/>
                      </a:rPr>
                      <m:t>𝑔</m:t>
                    </m:r>
                    <m:d>
                      <m:dPr>
                        <m:ctrlPr>
                          <a:rPr lang="pt-BR" i="1" smtClean="0">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&gt;0</m:t>
                    </m:r>
                  </m:oMath>
                </a14:m>
                <a:r>
                  <a:rPr lang="pt-BR" b="0" i="0" dirty="0">
                    <a:effectLst/>
                  </a:rPr>
                  <a:t>.</a:t>
                </a:r>
              </a:p>
              <a:p>
                <a:r>
                  <a:rPr lang="pt-BR" dirty="0"/>
                  <a:t>Sua derivada é dada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𝑑</m:t>
                          </m:r>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𝑗</m:t>
                              </m:r>
                            </m:sub>
                          </m:sSub>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𝑑</m:t>
                          </m:r>
                          <m:r>
                            <a:rPr lang="pt-BR" i="1" smtClean="0">
                              <a:latin typeface="Cambria Math" panose="02040503050406030204" pitchFamily="18" charset="0"/>
                            </a:rPr>
                            <m:t>𝑓</m:t>
                          </m:r>
                          <m:d>
                            <m:dPr>
                              <m:ctrlPr>
                                <a:rPr lang="pt-BR" i="1" smtClean="0">
                                  <a:latin typeface="Cambria Math" panose="02040503050406030204" pitchFamily="18" charset="0"/>
                                </a:rPr>
                              </m:ctrlPr>
                            </m:dPr>
                            <m:e>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e>
                          </m:d>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den>
                      </m:f>
                      <m:r>
                        <a:rPr lang="pt-BR" i="1">
                          <a:latin typeface="Cambria Math" panose="02040503050406030204" pitchFamily="18" charset="0"/>
                        </a:rPr>
                        <m:t>=</m:t>
                      </m:r>
                      <m:d>
                        <m:dPr>
                          <m:begChr m:val="{"/>
                          <m:endChr m:val=""/>
                          <m:ctrlPr>
                            <a:rPr lang="pt-BR" i="1">
                              <a:latin typeface="Cambria Math" panose="02040503050406030204" pitchFamily="18" charset="0"/>
                            </a:rPr>
                          </m:ctrlPr>
                        </m:dPr>
                        <m:e>
                          <m:eqArr>
                            <m:eqArrPr>
                              <m:ctrlPr>
                                <a:rPr lang="pt-BR" i="1">
                                  <a:latin typeface="Cambria Math" panose="02040503050406030204" pitchFamily="18" charset="0"/>
                                </a:rPr>
                              </m:ctrlPr>
                            </m:eqArrPr>
                            <m:e>
                              <m:r>
                                <a:rPr lang="pt-BR" i="1">
                                  <a:latin typeface="Cambria Math" panose="02040503050406030204" pitchFamily="18" charset="0"/>
                                </a:rPr>
                                <m:t>0, 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r>
                                <a:rPr lang="pt-BR" i="1">
                                  <a:latin typeface="Cambria Math" panose="02040503050406030204" pitchFamily="18" charset="0"/>
                                </a:rPr>
                                <m:t>&lt;0</m:t>
                              </m:r>
                            </m:e>
                            <m:e>
                              <m:r>
                                <a:rPr lang="pt-BR" i="1">
                                  <a:latin typeface="Cambria Math" panose="02040503050406030204" pitchFamily="18" charset="0"/>
                                </a:rPr>
                                <m:t>1,</m:t>
                              </m:r>
                              <m:r>
                                <a:rPr lang="pt-BR" b="0" i="0" smtClean="0">
                                  <a:latin typeface="Cambria Math" panose="02040503050406030204" pitchFamily="18" charset="0"/>
                                </a:rPr>
                                <m:t>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r>
                                <a:rPr lang="pt-BR" i="1">
                                  <a:latin typeface="Cambria Math" panose="02040503050406030204" pitchFamily="18" charset="0"/>
                                </a:rPr>
                                <m:t>&gt;0</m:t>
                              </m:r>
                            </m:e>
                          </m:eqArr>
                        </m:e>
                      </m:d>
                      <m:r>
                        <a:rPr lang="pt-BR" b="0" i="0" smtClean="0">
                          <a:latin typeface="Cambria Math" panose="02040503050406030204" pitchFamily="18" charset="0"/>
                        </a:rPr>
                        <m:t>.</m:t>
                      </m:r>
                    </m:oMath>
                  </m:oMathPara>
                </a14:m>
                <a:endParaRPr lang="pt-BR" b="0" dirty="0"/>
              </a:p>
              <a:p>
                <a:r>
                  <a:rPr lang="pt-BR" dirty="0"/>
                  <a:t>A derivada é indeterminada para </a:t>
                </a:r>
                <a14:m>
                  <m:oMath xmlns:m="http://schemas.openxmlformats.org/officeDocument/2006/math">
                    <m:r>
                      <a:rPr lang="pt-BR" i="1" smtClean="0">
                        <a:latin typeface="Cambria Math" panose="02040503050406030204" pitchFamily="18" charset="0"/>
                      </a:rPr>
                      <m:t>𝑔</m:t>
                    </m:r>
                    <m:d>
                      <m:dPr>
                        <m:ctrlPr>
                          <a:rPr lang="pt-BR" i="1" smtClean="0">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=0</m:t>
                    </m:r>
                  </m:oMath>
                </a14:m>
                <a:r>
                  <a:rPr lang="pt-BR" dirty="0"/>
                  <a:t>. </a:t>
                </a:r>
                <a:endParaRPr lang="pt-BR" b="0" i="0" dirty="0">
                  <a:effectLst/>
                </a:endParaRP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767924" y="1825624"/>
                <a:ext cx="7233578" cy="5032375"/>
              </a:xfrm>
              <a:blipFill>
                <a:blip r:embed="rId3"/>
                <a:stretch>
                  <a:fillRect l="-1516" t="-1937"/>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EB893F40-D97D-A573-25BC-816CAB494F86}"/>
              </a:ext>
            </a:extLst>
          </p:cNvPr>
          <p:cNvGrpSpPr/>
          <p:nvPr/>
        </p:nvGrpSpPr>
        <p:grpSpPr>
          <a:xfrm>
            <a:off x="383107" y="2420599"/>
            <a:ext cx="3918072" cy="3242569"/>
            <a:chOff x="596467" y="2379959"/>
            <a:chExt cx="3918072" cy="3242569"/>
          </a:xfrm>
        </p:grpSpPr>
        <p:pic>
          <p:nvPicPr>
            <p:cNvPr id="9" name="Imagem 8">
              <a:extLst>
                <a:ext uri="{FF2B5EF4-FFF2-40B4-BE49-F238E27FC236}">
                  <a16:creationId xmlns:a16="http://schemas.microsoft.com/office/drawing/2014/main" id="{3C8C2B4F-0E30-4DE9-7C7F-04857DE425BF}"/>
                </a:ext>
              </a:extLst>
            </p:cNvPr>
            <p:cNvPicPr>
              <a:picLocks noChangeAspect="1"/>
            </p:cNvPicPr>
            <p:nvPr/>
          </p:nvPicPr>
          <p:blipFill rotWithShape="1">
            <a:blip r:embed="rId4"/>
            <a:srcRect l="4832" t="5799" r="8612"/>
            <a:stretch/>
          </p:blipFill>
          <p:spPr>
            <a:xfrm>
              <a:off x="935916" y="2686239"/>
              <a:ext cx="3492558" cy="2850764"/>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4E689C38-6BCF-BE04-D0CC-329E7D8B8582}"/>
                    </a:ext>
                  </a:extLst>
                </p:cNvPr>
                <p:cNvSpPr txBox="1"/>
                <p:nvPr/>
              </p:nvSpPr>
              <p:spPr>
                <a:xfrm>
                  <a:off x="2311232" y="5345529"/>
                  <a:ext cx="1032387" cy="276999"/>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oMath>
                    </m:oMathPara>
                  </a14:m>
                  <a:endParaRPr lang="pt-BR" sz="1200" dirty="0"/>
                </a:p>
              </p:txBody>
            </p:sp>
          </mc:Choice>
          <mc:Fallback xmlns="">
            <p:sp>
              <p:nvSpPr>
                <p:cNvPr id="10" name="CaixaDeTexto 9">
                  <a:extLst>
                    <a:ext uri="{FF2B5EF4-FFF2-40B4-BE49-F238E27FC236}">
                      <a16:creationId xmlns:a16="http://schemas.microsoft.com/office/drawing/2014/main" id="{4E689C38-6BCF-BE04-D0CC-329E7D8B8582}"/>
                    </a:ext>
                  </a:extLst>
                </p:cNvPr>
                <p:cNvSpPr txBox="1">
                  <a:spLocks noRot="1" noChangeAspect="1" noMove="1" noResize="1" noEditPoints="1" noAdjustHandles="1" noChangeArrowheads="1" noChangeShapeType="1" noTextEdit="1"/>
                </p:cNvSpPr>
                <p:nvPr/>
              </p:nvSpPr>
              <p:spPr>
                <a:xfrm>
                  <a:off x="2311232" y="5345529"/>
                  <a:ext cx="1032387"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80ED1133-791C-EB74-9BED-C91A11BC44AC}"/>
                    </a:ext>
                  </a:extLst>
                </p:cNvPr>
                <p:cNvSpPr txBox="1"/>
                <p:nvPr/>
              </p:nvSpPr>
              <p:spPr>
                <a:xfrm rot="16200000">
                  <a:off x="356656" y="3670711"/>
                  <a:ext cx="963088" cy="483466"/>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200" i="1" smtClean="0">
                                <a:latin typeface="Cambria Math" panose="02040503050406030204" pitchFamily="18" charset="0"/>
                              </a:rPr>
                            </m:ctrlPr>
                          </m:fPr>
                          <m:num>
                            <m:r>
                              <a:rPr lang="pt-BR" sz="1200" i="1">
                                <a:latin typeface="Cambria Math" panose="02040503050406030204" pitchFamily="18" charset="0"/>
                              </a:rPr>
                              <m:t>𝜕</m:t>
                            </m:r>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r>
                              <m:rPr>
                                <m:nor/>
                              </m:rPr>
                              <a:rPr lang="pt-BR" sz="1200" dirty="0"/>
                              <m:t> </m:t>
                            </m:r>
                          </m:num>
                          <m:den>
                            <m:r>
                              <a:rPr lang="pt-BR" sz="1200" i="1">
                                <a:latin typeface="Cambria Math" panose="02040503050406030204" pitchFamily="18" charset="0"/>
                              </a:rPr>
                              <m:t>𝜕</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den>
                        </m:f>
                      </m:oMath>
                    </m:oMathPara>
                  </a14:m>
                  <a:endParaRPr lang="pt-BR" sz="1200" dirty="0"/>
                </a:p>
              </p:txBody>
            </p:sp>
          </mc:Choice>
          <mc:Fallback xmlns="">
            <p:sp>
              <p:nvSpPr>
                <p:cNvPr id="11" name="CaixaDeTexto 10">
                  <a:extLst>
                    <a:ext uri="{FF2B5EF4-FFF2-40B4-BE49-F238E27FC236}">
                      <a16:creationId xmlns:a16="http://schemas.microsoft.com/office/drawing/2014/main" id="{80ED1133-791C-EB74-9BED-C91A11BC44AC}"/>
                    </a:ext>
                  </a:extLst>
                </p:cNvPr>
                <p:cNvSpPr txBox="1">
                  <a:spLocks noRot="1" noChangeAspect="1" noMove="1" noResize="1" noEditPoints="1" noAdjustHandles="1" noChangeArrowheads="1" noChangeShapeType="1" noTextEdit="1"/>
                </p:cNvSpPr>
                <p:nvPr/>
              </p:nvSpPr>
              <p:spPr>
                <a:xfrm rot="16200000">
                  <a:off x="356656" y="3670711"/>
                  <a:ext cx="963088" cy="483466"/>
                </a:xfrm>
                <a:prstGeom prst="rect">
                  <a:avLst/>
                </a:prstGeom>
                <a:blipFill>
                  <a:blip r:embed="rId6"/>
                  <a:stretch>
                    <a:fillRect r="-6329"/>
                  </a:stretch>
                </a:blipFill>
              </p:spPr>
              <p:txBody>
                <a:bodyPr/>
                <a:lstStyle/>
                <a:p>
                  <a:r>
                    <a:rPr lang="pt-BR">
                      <a:noFill/>
                    </a:rPr>
                    <a:t> </a:t>
                  </a:r>
                </a:p>
              </p:txBody>
            </p:sp>
          </mc:Fallback>
        </mc:AlternateContent>
        <p:sp>
          <p:nvSpPr>
            <p:cNvPr id="16" name="Rectangle 5">
              <a:extLst>
                <a:ext uri="{FF2B5EF4-FFF2-40B4-BE49-F238E27FC236}">
                  <a16:creationId xmlns:a16="http://schemas.microsoft.com/office/drawing/2014/main" id="{222B6A0C-7A1D-DD01-F4B1-51B74E10B344}"/>
                </a:ext>
              </a:extLst>
            </p:cNvPr>
            <p:cNvSpPr/>
            <p:nvPr/>
          </p:nvSpPr>
          <p:spPr>
            <a:xfrm>
              <a:off x="1140313" y="2379959"/>
              <a:ext cx="3374226" cy="338554"/>
            </a:xfrm>
            <a:prstGeom prst="rect">
              <a:avLst/>
            </a:prstGeom>
          </p:spPr>
          <p:txBody>
            <a:bodyPr wrap="square">
              <a:spAutoFit/>
            </a:bodyPr>
            <a:lstStyle/>
            <a:p>
              <a:pPr algn="ctr"/>
              <a:r>
                <a:rPr lang="pt-BR" sz="1600" dirty="0"/>
                <a:t>Derivada da função retificadora</a:t>
              </a:r>
            </a:p>
          </p:txBody>
        </p:sp>
      </p:grpSp>
    </p:spTree>
    <p:extLst>
      <p:ext uri="{BB962C8B-B14F-4D97-AF65-F5344CB8AC3E}">
        <p14:creationId xmlns:p14="http://schemas.microsoft.com/office/powerpoint/2010/main" val="347909683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4933741" y="1825624"/>
                <a:ext cx="7258259" cy="5032375"/>
              </a:xfrm>
            </p:spPr>
            <p:txBody>
              <a:bodyPr>
                <a:normAutofit/>
              </a:bodyPr>
              <a:lstStyle/>
              <a:p>
                <a:r>
                  <a:rPr lang="pt-BR" b="0" dirty="0">
                    <a:effectLst/>
                  </a:rPr>
                  <a:t>Uma desvantagem é que ela causa o problema </a:t>
                </a:r>
                <a:r>
                  <a:rPr lang="pt-BR" dirty="0"/>
                  <a:t>conhecido como</a:t>
                </a:r>
                <a:r>
                  <a:rPr lang="pt-BR" b="0" dirty="0">
                    <a:effectLst/>
                  </a:rPr>
                  <a:t> </a:t>
                </a:r>
                <a:r>
                  <a:rPr lang="pt-BR" b="1" dirty="0" err="1">
                    <a:solidFill>
                      <a:srgbClr val="7030A0"/>
                    </a:solidFill>
                    <a:effectLst/>
                  </a:rPr>
                  <a:t>ReLU</a:t>
                </a:r>
                <a:r>
                  <a:rPr lang="pt-BR" b="1" dirty="0">
                    <a:solidFill>
                      <a:srgbClr val="7030A0"/>
                    </a:solidFill>
                    <a:effectLst/>
                  </a:rPr>
                  <a:t> agonizante</a:t>
                </a:r>
                <a:r>
                  <a:rPr lang="pt-BR" b="0" dirty="0">
                    <a:effectLst/>
                  </a:rPr>
                  <a:t>.</a:t>
                </a:r>
              </a:p>
              <a:p>
                <a:r>
                  <a:rPr lang="pt-BR" b="0" dirty="0">
                    <a:effectLst/>
                  </a:rPr>
                  <a:t>Esse </a:t>
                </a:r>
                <a:r>
                  <a:rPr lang="pt-BR" b="1" dirty="0">
                    <a:solidFill>
                      <a:srgbClr val="00B050"/>
                    </a:solidFill>
                    <a:effectLst/>
                  </a:rPr>
                  <a:t>problema ocorre durante o treinamento </a:t>
                </a:r>
                <a:r>
                  <a:rPr lang="pt-BR" b="0" i="0" dirty="0">
                    <a:effectLst/>
                  </a:rPr>
                  <a:t>da rede, quando </a:t>
                </a:r>
                <a:r>
                  <a:rPr lang="pt-BR" dirty="0"/>
                  <a:t>a ativação do nó, </a:t>
                </a:r>
                <a14:m>
                  <m:oMath xmlns:m="http://schemas.openxmlformats.org/officeDocument/2006/math">
                    <m:r>
                      <a:rPr lang="pt-BR" sz="2800" i="1" smtClean="0">
                        <a:latin typeface="Cambria Math" panose="02040503050406030204" pitchFamily="18" charset="0"/>
                      </a:rPr>
                      <m:t>𝑔</m:t>
                    </m:r>
                    <m:d>
                      <m:dPr>
                        <m:ctrlPr>
                          <a:rPr lang="pt-BR" sz="2800" i="1" smtClean="0">
                            <a:latin typeface="Cambria Math" panose="02040503050406030204" pitchFamily="18" charset="0"/>
                          </a:rPr>
                        </m:ctrlPr>
                      </m:dPr>
                      <m:e>
                        <m:r>
                          <a:rPr lang="pt-BR" sz="2800" b="1" i="1">
                            <a:latin typeface="Cambria Math" panose="02040503050406030204" pitchFamily="18" charset="0"/>
                          </a:rPr>
                          <m:t>𝒙</m:t>
                        </m:r>
                      </m:e>
                    </m:d>
                  </m:oMath>
                </a14:m>
                <a:r>
                  <a:rPr lang="pt-BR" dirty="0"/>
                  <a:t>, é </a:t>
                </a:r>
                <a:r>
                  <a:rPr lang="pt-BR" b="1" dirty="0">
                    <a:solidFill>
                      <a:srgbClr val="7030A0"/>
                    </a:solidFill>
                  </a:rPr>
                  <a:t>negativa</a:t>
                </a:r>
                <a:r>
                  <a:rPr lang="pt-BR" dirty="0"/>
                  <a:t>.</a:t>
                </a:r>
              </a:p>
              <a:p>
                <a:r>
                  <a:rPr lang="pt-BR" dirty="0"/>
                  <a:t>Isso faz com que sua </a:t>
                </a:r>
                <a:r>
                  <a:rPr lang="pt-BR" b="1" dirty="0">
                    <a:solidFill>
                      <a:srgbClr val="7030A0"/>
                    </a:solidFill>
                  </a:rPr>
                  <a:t>saída e</a:t>
                </a:r>
                <a:r>
                  <a:rPr lang="pt-BR" dirty="0"/>
                  <a:t>, consequentemente, a </a:t>
                </a:r>
                <a:r>
                  <a:rPr lang="pt-BR" b="1" dirty="0">
                    <a:solidFill>
                      <a:srgbClr val="7030A0"/>
                    </a:solidFill>
                  </a:rPr>
                  <a:t>derivada parcial da função de ativação sejam iguais a 0</a:t>
                </a:r>
                <a:r>
                  <a:rPr lang="pt-BR" dirty="0"/>
                  <a:t>.</a:t>
                </a:r>
              </a:p>
              <a:p>
                <a:r>
                  <a:rPr lang="pt-BR" dirty="0">
                    <a:effectLst/>
                  </a:rPr>
                  <a:t>Quando isso ocorre, o </a:t>
                </a:r>
                <a:r>
                  <a:rPr lang="pt-BR" b="1" dirty="0">
                    <a:solidFill>
                      <a:srgbClr val="7030A0"/>
                    </a:solidFill>
                    <a:effectLst/>
                  </a:rPr>
                  <a:t>nó </a:t>
                </a:r>
                <a:r>
                  <a:rPr lang="pt-BR" b="1" dirty="0">
                    <a:solidFill>
                      <a:srgbClr val="FF0000"/>
                    </a:solidFill>
                    <a:effectLst/>
                  </a:rPr>
                  <a:t>não</a:t>
                </a:r>
                <a:r>
                  <a:rPr lang="pt-BR" b="1" dirty="0">
                    <a:solidFill>
                      <a:srgbClr val="7030A0"/>
                    </a:solidFill>
                    <a:effectLst/>
                  </a:rPr>
                  <a:t> tem seus pesos atualizados</a:t>
                </a:r>
                <a:r>
                  <a:rPr lang="pt-BR" dirty="0">
                    <a:effectLst/>
                  </a:rPr>
                  <a:t> durante o treinamento, </a:t>
                </a:r>
                <a:r>
                  <a:rPr lang="pt-BR" b="1" dirty="0">
                    <a:solidFill>
                      <a:srgbClr val="002060"/>
                    </a:solidFill>
                    <a:effectLst/>
                  </a:rPr>
                  <a:t>permanecendo </a:t>
                </a:r>
                <a:r>
                  <a:rPr lang="pt-BR" b="1" dirty="0">
                    <a:solidFill>
                      <a:srgbClr val="002060"/>
                    </a:solidFill>
                  </a:rPr>
                  <a:t>inalterados</a:t>
                </a:r>
                <a:r>
                  <a:rPr lang="pt-BR" b="0" dirty="0">
                    <a:effectLst/>
                  </a:rPr>
                  <a:t>.</a:t>
                </a: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933741" y="1825624"/>
                <a:ext cx="7258259" cy="5032375"/>
              </a:xfrm>
              <a:blipFill>
                <a:blip r:embed="rId3"/>
                <a:stretch>
                  <a:fillRect l="-1511" t="-1937" r="-1008"/>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96ECAEDE-8070-9B44-26C9-52D815BFED42}"/>
              </a:ext>
            </a:extLst>
          </p:cNvPr>
          <p:cNvPicPr>
            <a:picLocks noChangeAspect="1"/>
          </p:cNvPicPr>
          <p:nvPr/>
        </p:nvPicPr>
        <p:blipFill rotWithShape="1">
          <a:blip r:embed="rId4"/>
          <a:srcRect l="5002" t="6467" r="8442" b="1020"/>
          <a:stretch/>
        </p:blipFill>
        <p:spPr>
          <a:xfrm>
            <a:off x="1770497" y="1942323"/>
            <a:ext cx="2512197" cy="2013784"/>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5712CB71-5F2C-4AA7-C445-78041D010827}"/>
                  </a:ext>
                </a:extLst>
              </p:cNvPr>
              <p:cNvSpPr txBox="1"/>
              <p:nvPr/>
            </p:nvSpPr>
            <p:spPr>
              <a:xfrm>
                <a:off x="2138844" y="2071205"/>
                <a:ext cx="1834540"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e>
                      </m:d>
                      <m:r>
                        <a:rPr lang="pt-BR" sz="1200" i="1">
                          <a:latin typeface="Cambria Math" panose="02040503050406030204" pitchFamily="18" charset="0"/>
                        </a:rPr>
                        <m:t>=</m:t>
                      </m:r>
                      <m:r>
                        <m:rPr>
                          <m:sty m:val="p"/>
                        </m:rPr>
                        <a:rPr lang="pt-BR" sz="1200">
                          <a:latin typeface="Cambria Math" panose="02040503050406030204" pitchFamily="18" charset="0"/>
                        </a:rPr>
                        <m:t>max</m:t>
                      </m:r>
                      <m:d>
                        <m:dPr>
                          <m:ctrlPr>
                            <a:rPr lang="pt-BR" sz="1200" i="1">
                              <a:latin typeface="Cambria Math" panose="02040503050406030204" pitchFamily="18" charset="0"/>
                            </a:rPr>
                          </m:ctrlPr>
                        </m:dPr>
                        <m:e>
                          <m:r>
                            <a:rPr lang="pt-BR" sz="1200" i="1">
                              <a:latin typeface="Cambria Math" panose="02040503050406030204" pitchFamily="18" charset="0"/>
                            </a:rPr>
                            <m:t>0,</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oMath>
                  </m:oMathPara>
                </a14:m>
                <a:endParaRPr lang="pt-BR" sz="1200" dirty="0"/>
              </a:p>
            </p:txBody>
          </p:sp>
        </mc:Choice>
        <mc:Fallback xmlns="">
          <p:sp>
            <p:nvSpPr>
              <p:cNvPr id="5" name="CaixaDeTexto 4">
                <a:extLst>
                  <a:ext uri="{FF2B5EF4-FFF2-40B4-BE49-F238E27FC236}">
                    <a16:creationId xmlns:a16="http://schemas.microsoft.com/office/drawing/2014/main" id="{5712CB71-5F2C-4AA7-C445-78041D010827}"/>
                  </a:ext>
                </a:extLst>
              </p:cNvPr>
              <p:cNvSpPr txBox="1">
                <a:spLocks noRot="1" noChangeAspect="1" noMove="1" noResize="1" noEditPoints="1" noAdjustHandles="1" noChangeArrowheads="1" noChangeShapeType="1" noTextEdit="1"/>
              </p:cNvSpPr>
              <p:nvPr/>
            </p:nvSpPr>
            <p:spPr>
              <a:xfrm>
                <a:off x="2138844" y="2071205"/>
                <a:ext cx="1834540"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39646284-D717-CCFF-C733-4613ED4C2067}"/>
                  </a:ext>
                </a:extLst>
              </p:cNvPr>
              <p:cNvSpPr txBox="1"/>
              <p:nvPr/>
            </p:nvSpPr>
            <p:spPr>
              <a:xfrm rot="16200000">
                <a:off x="1248776" y="2699592"/>
                <a:ext cx="963088"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smtClean="0">
                          <a:latin typeface="Cambria Math" panose="02040503050406030204" pitchFamily="18" charset="0"/>
                        </a:rPr>
                        <m:t>𝑓</m:t>
                      </m:r>
                      <m:d>
                        <m:dPr>
                          <m:ctrlPr>
                            <a:rPr lang="pt-BR" sz="1100" i="1">
                              <a:latin typeface="Cambria Math" panose="02040503050406030204" pitchFamily="18" charset="0"/>
                            </a:rPr>
                          </m:ctrlPr>
                        </m:dPr>
                        <m:e>
                          <m:r>
                            <a:rPr lang="pt-BR" sz="1100" b="0" i="1" smtClean="0">
                              <a:latin typeface="Cambria Math" panose="02040503050406030204" pitchFamily="18" charset="0"/>
                            </a:rPr>
                            <m:t>𝑔</m:t>
                          </m:r>
                          <m:r>
                            <a:rPr lang="pt-BR" sz="1100" b="0" i="1" smtClean="0">
                              <a:latin typeface="Cambria Math" panose="02040503050406030204" pitchFamily="18" charset="0"/>
                            </a:rPr>
                            <m:t>(</m:t>
                          </m:r>
                          <m:r>
                            <a:rPr lang="pt-BR" sz="1100" b="1" i="1" smtClean="0">
                              <a:latin typeface="Cambria Math" panose="02040503050406030204" pitchFamily="18" charset="0"/>
                            </a:rPr>
                            <m:t>𝒙</m:t>
                          </m:r>
                          <m:r>
                            <a:rPr lang="pt-BR" sz="1100" b="0" i="1" smtClean="0">
                              <a:latin typeface="Cambria Math" panose="02040503050406030204" pitchFamily="18" charset="0"/>
                            </a:rPr>
                            <m:t>)</m:t>
                          </m:r>
                        </m:e>
                      </m:d>
                    </m:oMath>
                  </m:oMathPara>
                </a14:m>
                <a:endParaRPr lang="pt-BR" sz="1100" dirty="0"/>
              </a:p>
            </p:txBody>
          </p:sp>
        </mc:Choice>
        <mc:Fallback xmlns="">
          <p:sp>
            <p:nvSpPr>
              <p:cNvPr id="7" name="CaixaDeTexto 6">
                <a:extLst>
                  <a:ext uri="{FF2B5EF4-FFF2-40B4-BE49-F238E27FC236}">
                    <a16:creationId xmlns:a16="http://schemas.microsoft.com/office/drawing/2014/main" id="{39646284-D717-CCFF-C733-4613ED4C2067}"/>
                  </a:ext>
                </a:extLst>
              </p:cNvPr>
              <p:cNvSpPr txBox="1">
                <a:spLocks noRot="1" noChangeAspect="1" noMove="1" noResize="1" noEditPoints="1" noAdjustHandles="1" noChangeArrowheads="1" noChangeShapeType="1" noTextEdit="1"/>
              </p:cNvSpPr>
              <p:nvPr/>
            </p:nvSpPr>
            <p:spPr>
              <a:xfrm rot="16200000">
                <a:off x="1248776" y="2699592"/>
                <a:ext cx="963088" cy="261610"/>
              </a:xfrm>
              <a:prstGeom prst="rect">
                <a:avLst/>
              </a:prstGeom>
              <a:blipFill>
                <a:blip r:embed="rId6"/>
                <a:stretch>
                  <a:fillRect r="-697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0D10596A-3E18-4D4A-6415-9CDBEC4E9929}"/>
                  </a:ext>
                </a:extLst>
              </p:cNvPr>
              <p:cNvSpPr txBox="1"/>
              <p:nvPr/>
            </p:nvSpPr>
            <p:spPr>
              <a:xfrm>
                <a:off x="2610414" y="3862861"/>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6" name="CaixaDeTexto 5">
                <a:extLst>
                  <a:ext uri="{FF2B5EF4-FFF2-40B4-BE49-F238E27FC236}">
                    <a16:creationId xmlns:a16="http://schemas.microsoft.com/office/drawing/2014/main" id="{0D10596A-3E18-4D4A-6415-9CDBEC4E9929}"/>
                  </a:ext>
                </a:extLst>
              </p:cNvPr>
              <p:cNvSpPr txBox="1">
                <a:spLocks noRot="1" noChangeAspect="1" noMove="1" noResize="1" noEditPoints="1" noAdjustHandles="1" noChangeArrowheads="1" noChangeShapeType="1" noTextEdit="1"/>
              </p:cNvSpPr>
              <p:nvPr/>
            </p:nvSpPr>
            <p:spPr>
              <a:xfrm>
                <a:off x="2610414" y="3862861"/>
                <a:ext cx="1032387" cy="261610"/>
              </a:xfrm>
              <a:prstGeom prst="rect">
                <a:avLst/>
              </a:prstGeom>
              <a:blipFill>
                <a:blip r:embed="rId7"/>
                <a:stretch>
                  <a:fillRect b="-4651"/>
                </a:stretch>
              </a:blipFill>
            </p:spPr>
            <p:txBody>
              <a:bodyPr/>
              <a:lstStyle/>
              <a:p>
                <a:r>
                  <a:rPr lang="pt-BR">
                    <a:noFill/>
                  </a:rPr>
                  <a:t> </a:t>
                </a:r>
              </a:p>
            </p:txBody>
          </p:sp>
        </mc:Fallback>
      </mc:AlternateContent>
      <p:pic>
        <p:nvPicPr>
          <p:cNvPr id="9" name="Imagem 8">
            <a:extLst>
              <a:ext uri="{FF2B5EF4-FFF2-40B4-BE49-F238E27FC236}">
                <a16:creationId xmlns:a16="http://schemas.microsoft.com/office/drawing/2014/main" id="{A5612E3A-613C-E624-A52C-8F571A186D9E}"/>
              </a:ext>
            </a:extLst>
          </p:cNvPr>
          <p:cNvPicPr>
            <a:picLocks noChangeAspect="1"/>
          </p:cNvPicPr>
          <p:nvPr/>
        </p:nvPicPr>
        <p:blipFill rotWithShape="1">
          <a:blip r:embed="rId8"/>
          <a:srcRect l="4832" t="5799" r="8612"/>
          <a:stretch/>
        </p:blipFill>
        <p:spPr>
          <a:xfrm>
            <a:off x="1763661" y="4442320"/>
            <a:ext cx="2512197" cy="2050555"/>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EB14C765-0461-48B6-CC2D-B0E386EDC69F}"/>
                  </a:ext>
                </a:extLst>
              </p:cNvPr>
              <p:cNvSpPr txBox="1"/>
              <p:nvPr/>
            </p:nvSpPr>
            <p:spPr>
              <a:xfrm>
                <a:off x="2610414" y="6362070"/>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10" name="CaixaDeTexto 9">
                <a:extLst>
                  <a:ext uri="{FF2B5EF4-FFF2-40B4-BE49-F238E27FC236}">
                    <a16:creationId xmlns:a16="http://schemas.microsoft.com/office/drawing/2014/main" id="{EB14C765-0461-48B6-CC2D-B0E386EDC69F}"/>
                  </a:ext>
                </a:extLst>
              </p:cNvPr>
              <p:cNvSpPr txBox="1">
                <a:spLocks noRot="1" noChangeAspect="1" noMove="1" noResize="1" noEditPoints="1" noAdjustHandles="1" noChangeArrowheads="1" noChangeShapeType="1" noTextEdit="1"/>
              </p:cNvSpPr>
              <p:nvPr/>
            </p:nvSpPr>
            <p:spPr>
              <a:xfrm>
                <a:off x="2610414" y="6362070"/>
                <a:ext cx="1032387" cy="261610"/>
              </a:xfrm>
              <a:prstGeom prst="rect">
                <a:avLst/>
              </a:prstGeom>
              <a:blipFill>
                <a:blip r:embed="rId7"/>
                <a:stretch>
                  <a:fillRect b="-46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98EBD8C4-33DA-8566-BBEE-AA36569A3C2A}"/>
                  </a:ext>
                </a:extLst>
              </p:cNvPr>
              <p:cNvSpPr txBox="1"/>
              <p:nvPr/>
            </p:nvSpPr>
            <p:spPr>
              <a:xfrm rot="16200000">
                <a:off x="1137019" y="5121782"/>
                <a:ext cx="963088" cy="450893"/>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100" i="1" smtClean="0">
                              <a:latin typeface="Cambria Math" panose="02040503050406030204" pitchFamily="18" charset="0"/>
                            </a:rPr>
                          </m:ctrlPr>
                        </m:fPr>
                        <m:num>
                          <m:r>
                            <a:rPr lang="pt-BR" sz="1100" i="1">
                              <a:latin typeface="Cambria Math" panose="02040503050406030204" pitchFamily="18" charset="0"/>
                            </a:rPr>
                            <m:t>𝜕</m:t>
                          </m:r>
                          <m:r>
                            <a:rPr lang="pt-BR" sz="1100" i="1">
                              <a:latin typeface="Cambria Math" panose="02040503050406030204" pitchFamily="18" charset="0"/>
                            </a:rPr>
                            <m:t>𝑓</m:t>
                          </m:r>
                          <m:d>
                            <m:dPr>
                              <m:ctrlPr>
                                <a:rPr lang="pt-BR" sz="1100" i="1">
                                  <a:latin typeface="Cambria Math" panose="02040503050406030204" pitchFamily="18" charset="0"/>
                                </a:rPr>
                              </m:ctrlPr>
                            </m:dPr>
                            <m:e>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e>
                          </m:d>
                          <m:r>
                            <m:rPr>
                              <m:nor/>
                            </m:rPr>
                            <a:rPr lang="pt-BR" sz="1100" dirty="0"/>
                            <m:t> </m:t>
                          </m:r>
                        </m:num>
                        <m:den>
                          <m:r>
                            <a:rPr lang="pt-BR" sz="1100" i="1">
                              <a:latin typeface="Cambria Math" panose="02040503050406030204" pitchFamily="18" charset="0"/>
                            </a:rPr>
                            <m:t>𝜕</m:t>
                          </m:r>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den>
                      </m:f>
                    </m:oMath>
                  </m:oMathPara>
                </a14:m>
                <a:endParaRPr lang="pt-BR" sz="1100" dirty="0"/>
              </a:p>
            </p:txBody>
          </p:sp>
        </mc:Choice>
        <mc:Fallback xmlns="">
          <p:sp>
            <p:nvSpPr>
              <p:cNvPr id="11" name="CaixaDeTexto 10">
                <a:extLst>
                  <a:ext uri="{FF2B5EF4-FFF2-40B4-BE49-F238E27FC236}">
                    <a16:creationId xmlns:a16="http://schemas.microsoft.com/office/drawing/2014/main" id="{98EBD8C4-33DA-8566-BBEE-AA36569A3C2A}"/>
                  </a:ext>
                </a:extLst>
              </p:cNvPr>
              <p:cNvSpPr txBox="1">
                <a:spLocks noRot="1" noChangeAspect="1" noMove="1" noResize="1" noEditPoints="1" noAdjustHandles="1" noChangeArrowheads="1" noChangeShapeType="1" noTextEdit="1"/>
              </p:cNvSpPr>
              <p:nvPr/>
            </p:nvSpPr>
            <p:spPr>
              <a:xfrm rot="16200000">
                <a:off x="1137019" y="5121782"/>
                <a:ext cx="963088" cy="450893"/>
              </a:xfrm>
              <a:prstGeom prst="rect">
                <a:avLst/>
              </a:prstGeom>
              <a:blipFill>
                <a:blip r:embed="rId9"/>
                <a:stretch>
                  <a:fillRect r="-4110"/>
                </a:stretch>
              </a:blipFill>
            </p:spPr>
            <p:txBody>
              <a:bodyPr/>
              <a:lstStyle/>
              <a:p>
                <a:r>
                  <a:rPr lang="pt-BR">
                    <a:noFill/>
                  </a:rPr>
                  <a:t> </a:t>
                </a:r>
              </a:p>
            </p:txBody>
          </p:sp>
        </mc:Fallback>
      </mc:AlternateContent>
    </p:spTree>
    <p:extLst>
      <p:ext uri="{BB962C8B-B14F-4D97-AF65-F5344CB8AC3E}">
        <p14:creationId xmlns:p14="http://schemas.microsoft.com/office/powerpoint/2010/main" val="244493401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Variantes da 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6096000" y="1825624"/>
                <a:ext cx="6012263" cy="5032375"/>
              </a:xfrm>
            </p:spPr>
            <p:txBody>
              <a:bodyPr>
                <a:normAutofit/>
              </a:bodyPr>
              <a:lstStyle/>
              <a:p>
                <a:r>
                  <a:rPr lang="pt-BR" dirty="0"/>
                  <a:t>Para mitigar o problema das </a:t>
                </a:r>
                <a:r>
                  <a:rPr lang="pt-BR" b="1" dirty="0"/>
                  <a:t>ReLUs</a:t>
                </a:r>
                <a:r>
                  <a:rPr lang="pt-BR" b="1" i="1" dirty="0"/>
                  <a:t> </a:t>
                </a:r>
                <a:r>
                  <a:rPr lang="pt-BR" b="1" dirty="0"/>
                  <a:t>agonizantes</a:t>
                </a:r>
                <a:r>
                  <a:rPr lang="pt-BR" dirty="0"/>
                  <a:t>, usa-se </a:t>
                </a:r>
                <a:r>
                  <a:rPr lang="pt-BR" b="1" dirty="0">
                    <a:solidFill>
                      <a:srgbClr val="00B050"/>
                    </a:solidFill>
                  </a:rPr>
                  <a:t>variantes da função </a:t>
                </a:r>
                <a:r>
                  <a:rPr lang="pt-BR" b="1" dirty="0" err="1">
                    <a:solidFill>
                      <a:srgbClr val="00B050"/>
                    </a:solidFill>
                  </a:rPr>
                  <a:t>ReLU</a:t>
                </a:r>
                <a:r>
                  <a:rPr lang="pt-BR" dirty="0"/>
                  <a:t> que </a:t>
                </a:r>
                <a:r>
                  <a:rPr lang="pt-BR" b="1" dirty="0">
                    <a:solidFill>
                      <a:schemeClr val="accent5"/>
                    </a:solidFill>
                  </a:rPr>
                  <a:t>possuam derivada diferente de zero para </a:t>
                </a:r>
                <a14:m>
                  <m:oMath xmlns:m="http://schemas.openxmlformats.org/officeDocument/2006/math">
                    <m:r>
                      <a:rPr lang="pt-BR" b="1" i="1">
                        <a:solidFill>
                          <a:schemeClr val="accent5"/>
                        </a:solidFill>
                        <a:latin typeface="Cambria Math" panose="02040503050406030204" pitchFamily="18" charset="0"/>
                      </a:rPr>
                      <m:t>𝒈</m:t>
                    </m:r>
                    <m:d>
                      <m:dPr>
                        <m:ctrlPr>
                          <a:rPr lang="pt-BR" b="1" i="1">
                            <a:solidFill>
                              <a:schemeClr val="accent5"/>
                            </a:solidFill>
                            <a:latin typeface="Cambria Math" panose="02040503050406030204" pitchFamily="18" charset="0"/>
                          </a:rPr>
                        </m:ctrlPr>
                      </m:dPr>
                      <m:e>
                        <m:r>
                          <a:rPr lang="pt-BR" b="1" i="1">
                            <a:solidFill>
                              <a:schemeClr val="accent5"/>
                            </a:solidFill>
                            <a:latin typeface="Cambria Math" panose="02040503050406030204" pitchFamily="18" charset="0"/>
                          </a:rPr>
                          <m:t>𝒙</m:t>
                        </m:r>
                      </m:e>
                    </m:d>
                    <m:r>
                      <a:rPr lang="pt-BR" b="1" i="1">
                        <a:solidFill>
                          <a:schemeClr val="accent5"/>
                        </a:solidFill>
                        <a:latin typeface="Cambria Math" panose="02040503050406030204" pitchFamily="18" charset="0"/>
                      </a:rPr>
                      <m:t>&lt;</m:t>
                    </m:r>
                    <m:r>
                      <a:rPr lang="pt-BR" b="1" i="1">
                        <a:solidFill>
                          <a:schemeClr val="accent5"/>
                        </a:solidFill>
                        <a:latin typeface="Cambria Math" panose="02040503050406030204" pitchFamily="18" charset="0"/>
                      </a:rPr>
                      <m:t>𝟎</m:t>
                    </m:r>
                  </m:oMath>
                </a14:m>
                <a:r>
                  <a:rPr lang="pt-BR" dirty="0"/>
                  <a:t>, como, por exemplo, </a:t>
                </a:r>
              </a:p>
              <a:p>
                <a:pPr lvl="1">
                  <a:buFont typeface="Wingdings" panose="05000000000000000000" pitchFamily="2" charset="2"/>
                  <a:buChar char="§"/>
                </a:pPr>
                <a:r>
                  <a:rPr lang="pt-BR" dirty="0" err="1">
                    <a:hlinkClick r:id="rId3"/>
                  </a:rPr>
                  <a:t>Leaky</a:t>
                </a:r>
                <a:r>
                  <a:rPr lang="pt-BR" dirty="0">
                    <a:hlinkClick r:id="rId3"/>
                  </a:rPr>
                  <a:t> </a:t>
                </a:r>
                <a:r>
                  <a:rPr lang="pt-BR" dirty="0" err="1">
                    <a:hlinkClick r:id="rId3"/>
                  </a:rPr>
                  <a:t>ReLU</a:t>
                </a:r>
                <a:r>
                  <a:rPr lang="pt-BR" dirty="0">
                    <a:hlinkClick r:id="rId3"/>
                  </a:rPr>
                  <a:t>, </a:t>
                </a:r>
              </a:p>
              <a:p>
                <a:pPr lvl="1">
                  <a:buFont typeface="Wingdings" panose="05000000000000000000" pitchFamily="2" charset="2"/>
                  <a:buChar char="§"/>
                </a:pPr>
                <a:r>
                  <a:rPr lang="pt-BR" dirty="0" err="1">
                    <a:hlinkClick r:id="rId3"/>
                  </a:rPr>
                  <a:t>Parametric</a:t>
                </a:r>
                <a:r>
                  <a:rPr lang="pt-BR" dirty="0">
                    <a:hlinkClick r:id="rId3"/>
                  </a:rPr>
                  <a:t> </a:t>
                </a:r>
                <a:r>
                  <a:rPr lang="pt-BR" dirty="0" err="1">
                    <a:hlinkClick r:id="rId3"/>
                  </a:rPr>
                  <a:t>ReLU</a:t>
                </a:r>
                <a:r>
                  <a:rPr lang="pt-BR" dirty="0">
                    <a:hlinkClick r:id="rId3"/>
                  </a:rPr>
                  <a:t> (</a:t>
                </a:r>
                <a:r>
                  <a:rPr lang="pt-BR" dirty="0" err="1">
                    <a:hlinkClick r:id="rId3"/>
                  </a:rPr>
                  <a:t>PReLU</a:t>
                </a:r>
                <a:r>
                  <a:rPr lang="pt-BR" dirty="0">
                    <a:hlinkClick r:id="rId3"/>
                  </a:rPr>
                  <a:t>), </a:t>
                </a:r>
              </a:p>
              <a:p>
                <a:pPr lvl="1">
                  <a:buFont typeface="Wingdings" panose="05000000000000000000" pitchFamily="2" charset="2"/>
                  <a:buChar char="§"/>
                </a:pPr>
                <a:r>
                  <a:rPr lang="pt-BR" dirty="0" err="1">
                    <a:hlinkClick r:id="rId3"/>
                  </a:rPr>
                  <a:t>Gaussian</a:t>
                </a:r>
                <a:r>
                  <a:rPr lang="pt-BR" dirty="0">
                    <a:hlinkClick r:id="rId3"/>
                  </a:rPr>
                  <a:t> </a:t>
                </a:r>
                <a:r>
                  <a:rPr lang="pt-BR" dirty="0" err="1">
                    <a:hlinkClick r:id="rId3"/>
                  </a:rPr>
                  <a:t>Error</a:t>
                </a:r>
                <a:r>
                  <a:rPr lang="pt-BR" dirty="0">
                    <a:hlinkClick r:id="rId3"/>
                  </a:rPr>
                  <a:t> Linear Unit (GELU), </a:t>
                </a:r>
              </a:p>
              <a:p>
                <a:pPr lvl="1">
                  <a:buFont typeface="Wingdings" panose="05000000000000000000" pitchFamily="2" charset="2"/>
                  <a:buChar char="§"/>
                </a:pPr>
                <a:r>
                  <a:rPr lang="pt-BR" dirty="0">
                    <a:hlinkClick r:id="rId3"/>
                  </a:rPr>
                  <a:t>etc.</a:t>
                </a:r>
                <a:endParaRPr lang="pt-BR" dirty="0"/>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6096000" y="1825624"/>
                <a:ext cx="6012263" cy="5032375"/>
              </a:xfrm>
              <a:blipFill>
                <a:blip r:embed="rId4"/>
                <a:stretch>
                  <a:fillRect l="-1826" t="-1937"/>
                </a:stretch>
              </a:blipFill>
            </p:spPr>
            <p:txBody>
              <a:bodyPr/>
              <a:lstStyle/>
              <a:p>
                <a:r>
                  <a:rPr lang="en-US">
                    <a:noFill/>
                  </a:rPr>
                  <a:t> </a:t>
                </a:r>
              </a:p>
            </p:txBody>
          </p:sp>
        </mc:Fallback>
      </mc:AlternateContent>
      <p:pic>
        <p:nvPicPr>
          <p:cNvPr id="3074" name="Picture 2">
            <a:extLst>
              <a:ext uri="{FF2B5EF4-FFF2-40B4-BE49-F238E27FC236}">
                <a16:creationId xmlns:a16="http://schemas.microsoft.com/office/drawing/2014/main" id="{68C782F8-5C7A-4BE6-7EEC-5451A1D237D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4681" y="1439693"/>
            <a:ext cx="4530150" cy="5282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2563832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E526349-A7BE-499C-8397-6417B176CCDF}"/>
              </a:ext>
            </a:extLst>
          </p:cNvPr>
          <p:cNvSpPr>
            <a:spLocks noGrp="1"/>
          </p:cNvSpPr>
          <p:nvPr>
            <p:ph type="title"/>
          </p:nvPr>
        </p:nvSpPr>
        <p:spPr/>
        <p:txBody>
          <a:bodyPr/>
          <a:lstStyle/>
          <a:p>
            <a:r>
              <a:rPr lang="pt-BR" dirty="0"/>
              <a:t>Explosão do gradiente</a:t>
            </a:r>
            <a:r>
              <a:rPr lang="en-US" dirty="0"/>
              <a:t> </a:t>
            </a:r>
            <a:endParaRPr lang="pt-BR" dirty="0"/>
          </a:p>
        </p:txBody>
      </p:sp>
      <p:sp>
        <p:nvSpPr>
          <p:cNvPr id="3" name="Espaço Reservado para Conteúdo 2">
            <a:extLst>
              <a:ext uri="{FF2B5EF4-FFF2-40B4-BE49-F238E27FC236}">
                <a16:creationId xmlns:a16="http://schemas.microsoft.com/office/drawing/2014/main" id="{A390FEFD-F331-53A0-B441-F413CF36E07C}"/>
              </a:ext>
            </a:extLst>
          </p:cNvPr>
          <p:cNvSpPr>
            <a:spLocks noGrp="1"/>
          </p:cNvSpPr>
          <p:nvPr>
            <p:ph idx="1"/>
          </p:nvPr>
        </p:nvSpPr>
        <p:spPr>
          <a:xfrm>
            <a:off x="4958080" y="1825624"/>
            <a:ext cx="7125765" cy="5032375"/>
          </a:xfrm>
        </p:spPr>
        <p:txBody>
          <a:bodyPr>
            <a:normAutofit/>
          </a:bodyPr>
          <a:lstStyle/>
          <a:p>
            <a:r>
              <a:rPr lang="pt-BR" dirty="0">
                <a:solidFill>
                  <a:schemeClr val="tx1"/>
                </a:solidFill>
              </a:rPr>
              <a:t>Usando funções de ativação </a:t>
            </a:r>
            <a:r>
              <a:rPr lang="pt-BR" dirty="0" err="1">
                <a:solidFill>
                  <a:schemeClr val="tx1"/>
                </a:solidFill>
              </a:rPr>
              <a:t>ReLU</a:t>
            </a:r>
            <a:r>
              <a:rPr lang="pt-BR" dirty="0">
                <a:solidFill>
                  <a:schemeClr val="tx1"/>
                </a:solidFill>
              </a:rPr>
              <a:t> e suas variantes, reduzimos o problema do desaparecimento do gradiente.</a:t>
            </a:r>
          </a:p>
          <a:p>
            <a:r>
              <a:rPr lang="pt-BR" dirty="0"/>
              <a:t>Porém, um </a:t>
            </a:r>
            <a:r>
              <a:rPr lang="pt-BR" b="1" dirty="0">
                <a:solidFill>
                  <a:srgbClr val="7030A0"/>
                </a:solidFill>
              </a:rPr>
              <a:t>outro problema surge</a:t>
            </a:r>
            <a:r>
              <a:rPr lang="pt-BR" dirty="0"/>
              <a:t> quando as </a:t>
            </a:r>
            <a:r>
              <a:rPr lang="pt-BR" b="1" dirty="0">
                <a:solidFill>
                  <a:srgbClr val="FF0000"/>
                </a:solidFill>
              </a:rPr>
              <a:t>ativações são positivas (derivadas iguais a 1) </a:t>
            </a:r>
            <a:r>
              <a:rPr lang="pt-BR" dirty="0"/>
              <a:t>e os </a:t>
            </a:r>
            <a:r>
              <a:rPr lang="pt-BR" b="1" dirty="0">
                <a:solidFill>
                  <a:schemeClr val="accent2"/>
                </a:solidFill>
              </a:rPr>
              <a:t>pesos têm valores maiores do que 1</a:t>
            </a:r>
            <a:r>
              <a:rPr lang="pt-BR" dirty="0"/>
              <a:t>.</a:t>
            </a:r>
            <a:endParaRPr lang="pt-BR" dirty="0">
              <a:solidFill>
                <a:schemeClr val="tx1"/>
              </a:solidFill>
            </a:endParaRPr>
          </a:p>
          <a:p>
            <a:r>
              <a:rPr lang="pt-BR" dirty="0"/>
              <a:t>C</a:t>
            </a:r>
            <a:r>
              <a:rPr lang="pt-BR" dirty="0">
                <a:solidFill>
                  <a:schemeClr val="tx1"/>
                </a:solidFill>
              </a:rPr>
              <a:t>aso os pesos sejam inicializados (em geral, de forma aleatória) com </a:t>
            </a:r>
            <a:r>
              <a:rPr lang="pt-BR" b="1" dirty="0">
                <a:solidFill>
                  <a:srgbClr val="7030A0"/>
                </a:solidFill>
              </a:rPr>
              <a:t>valores maiores do que 1</a:t>
            </a:r>
            <a:r>
              <a:rPr lang="pt-BR" dirty="0">
                <a:solidFill>
                  <a:schemeClr val="tx1"/>
                </a:solidFill>
              </a:rPr>
              <a:t>, haverá a </a:t>
            </a:r>
            <a:r>
              <a:rPr lang="pt-BR" b="1" dirty="0">
                <a:solidFill>
                  <a:schemeClr val="accent5"/>
                </a:solidFill>
              </a:rPr>
              <a:t>multiplicação de vários valores assim</a:t>
            </a:r>
            <a:r>
              <a:rPr lang="pt-BR" dirty="0">
                <a:solidFill>
                  <a:schemeClr val="tx1"/>
                </a:solidFill>
              </a:rPr>
              <a:t>, </a:t>
            </a:r>
            <a:r>
              <a:rPr lang="pt-BR" b="1" dirty="0">
                <a:solidFill>
                  <a:schemeClr val="accent2"/>
                </a:solidFill>
              </a:rPr>
              <a:t>o que pode resultar em valores de gradiente muito grandes nas camadas iniciais</a:t>
            </a:r>
            <a:r>
              <a:rPr lang="pt-BR" dirty="0">
                <a:solidFill>
                  <a:schemeClr val="tx1"/>
                </a:solidFill>
              </a:rPr>
              <a:t>.</a:t>
            </a:r>
          </a:p>
        </p:txBody>
      </p:sp>
      <p:pic>
        <p:nvPicPr>
          <p:cNvPr id="1026" name="Picture 2" descr="Vanishing And Exploding Gradient Problems in Deep Learning | by Fraidoon  Omarzai | Medium">
            <a:extLst>
              <a:ext uri="{FF2B5EF4-FFF2-40B4-BE49-F238E27FC236}">
                <a16:creationId xmlns:a16="http://schemas.microsoft.com/office/drawing/2014/main" id="{658BB48A-56A7-0C93-AEE3-E0A485269B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6380" y="2159318"/>
            <a:ext cx="4343400" cy="4124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89115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991379-1C4F-4AB9-BB38-83C7CC20155D}"/>
              </a:ext>
            </a:extLst>
          </p:cNvPr>
          <p:cNvSpPr>
            <a:spLocks noGrp="1"/>
          </p:cNvSpPr>
          <p:nvPr>
            <p:ph type="title"/>
          </p:nvPr>
        </p:nvSpPr>
        <p:spPr>
          <a:xfrm>
            <a:off x="838200" y="254597"/>
            <a:ext cx="10515600" cy="979733"/>
          </a:xfrm>
        </p:spPr>
        <p:txBody>
          <a:bodyPr/>
          <a:lstStyle/>
          <a:p>
            <a:r>
              <a:rPr lang="pt-BR" dirty="0"/>
              <a:t>Explosão do gradiente</a:t>
            </a:r>
            <a:r>
              <a:rPr lang="en-US" dirty="0"/>
              <a:t> </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8DBA540-3B58-4BC7-B375-23ABBBC057D3}"/>
                  </a:ext>
                </a:extLst>
              </p:cNvPr>
              <p:cNvSpPr>
                <a:spLocks noGrp="1"/>
              </p:cNvSpPr>
              <p:nvPr>
                <p:ph idx="1"/>
              </p:nvPr>
            </p:nvSpPr>
            <p:spPr>
              <a:xfrm>
                <a:off x="838200" y="2967184"/>
                <a:ext cx="11353800" cy="3890816"/>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b="0" dirty="0">
                  <a:solidFill>
                    <a:schemeClr val="tx1"/>
                  </a:solidFill>
                  <a:effectLst/>
                </a:endParaRPr>
              </a:p>
              <a:p>
                <a:r>
                  <a:rPr lang="pt-BR" b="0" dirty="0">
                    <a:solidFill>
                      <a:schemeClr val="tx1"/>
                    </a:solidFill>
                    <a:effectLst/>
                  </a:rPr>
                  <a:t>Se os elementos do vetor gradiente tiverem </a:t>
                </a:r>
                <a:r>
                  <a:rPr lang="pt-BR" b="1" dirty="0">
                    <a:solidFill>
                      <a:srgbClr val="0070C0"/>
                    </a:solidFill>
                    <a:effectLst/>
                  </a:rPr>
                  <a:t>magnitudes muito grandes</a:t>
                </a:r>
                <a:r>
                  <a:rPr lang="pt-BR" b="0" dirty="0">
                    <a:solidFill>
                      <a:schemeClr val="tx1"/>
                    </a:solidFill>
                    <a:effectLst/>
                  </a:rPr>
                  <a:t>, os </a:t>
                </a:r>
                <a:r>
                  <a:rPr lang="pt-BR" b="1" dirty="0">
                    <a:solidFill>
                      <a:srgbClr val="7030A0"/>
                    </a:solidFill>
                    <a:effectLst/>
                  </a:rPr>
                  <a:t>pesos da rede podem sofrer atualizações extremamente grandes</a:t>
                </a:r>
                <a:r>
                  <a:rPr lang="pt-BR" b="0" dirty="0">
                    <a:solidFill>
                      <a:schemeClr val="tx1"/>
                    </a:solidFill>
                    <a:effectLst/>
                  </a:rPr>
                  <a:t>, o que leva a </a:t>
                </a:r>
                <a:r>
                  <a:rPr lang="pt-BR" b="1" dirty="0">
                    <a:solidFill>
                      <a:srgbClr val="FF0000"/>
                    </a:solidFill>
                    <a:effectLst/>
                  </a:rPr>
                  <a:t>instabilidades numéricas</a:t>
                </a:r>
                <a:r>
                  <a:rPr lang="pt-BR" b="0" dirty="0">
                    <a:solidFill>
                      <a:schemeClr val="tx1"/>
                    </a:solidFill>
                    <a:effectLst/>
                  </a:rPr>
                  <a:t> e a um </a:t>
                </a:r>
                <a:r>
                  <a:rPr lang="pt-BR" b="1" dirty="0">
                    <a:solidFill>
                      <a:schemeClr val="accent2"/>
                    </a:solidFill>
                    <a:effectLst/>
                  </a:rPr>
                  <a:t>treinamento ineficaz</a:t>
                </a:r>
                <a:r>
                  <a:rPr lang="pt-BR" b="0" dirty="0">
                    <a:solidFill>
                      <a:schemeClr val="tx1"/>
                    </a:solidFill>
                    <a:effectLst/>
                  </a:rPr>
                  <a:t> ou até mesmo à </a:t>
                </a:r>
                <a:r>
                  <a:rPr lang="pt-BR" b="1" dirty="0">
                    <a:solidFill>
                      <a:schemeClr val="accent2"/>
                    </a:solidFill>
                    <a:effectLst/>
                  </a:rPr>
                  <a:t>divergência</a:t>
                </a:r>
                <a:r>
                  <a:rPr lang="pt-BR" b="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68DBA540-3B58-4BC7-B375-23ABBBC057D3}"/>
                  </a:ext>
                </a:extLst>
              </p:cNvPr>
              <p:cNvSpPr>
                <a:spLocks noGrp="1" noRot="1" noChangeAspect="1" noMove="1" noResize="1" noEditPoints="1" noAdjustHandles="1" noChangeArrowheads="1" noChangeShapeType="1" noTextEdit="1"/>
              </p:cNvSpPr>
              <p:nvPr>
                <p:ph idx="1"/>
              </p:nvPr>
            </p:nvSpPr>
            <p:spPr>
              <a:xfrm>
                <a:off x="838200" y="2967184"/>
                <a:ext cx="11353800" cy="3890816"/>
              </a:xfrm>
              <a:blipFill>
                <a:blip r:embed="rId3"/>
                <a:stretch>
                  <a:fillRect l="-967" r="-1450"/>
                </a:stretch>
              </a:blipFill>
            </p:spPr>
            <p:txBody>
              <a:bodyPr/>
              <a:lstStyle/>
              <a:p>
                <a:r>
                  <a:rPr lang="en-US">
                    <a:noFill/>
                  </a:rPr>
                  <a:t> </a:t>
                </a:r>
              </a:p>
            </p:txBody>
          </p:sp>
        </mc:Fallback>
      </mc:AlternateContent>
      <p:grpSp>
        <p:nvGrpSpPr>
          <p:cNvPr id="4" name="Grupo 3">
            <a:extLst>
              <a:ext uri="{FF2B5EF4-FFF2-40B4-BE49-F238E27FC236}">
                <a16:creationId xmlns:a16="http://schemas.microsoft.com/office/drawing/2014/main" id="{B4807606-488C-D221-C588-FF3400573D56}"/>
              </a:ext>
            </a:extLst>
          </p:cNvPr>
          <p:cNvGrpSpPr/>
          <p:nvPr/>
        </p:nvGrpSpPr>
        <p:grpSpPr>
          <a:xfrm>
            <a:off x="2824117" y="1825624"/>
            <a:ext cx="6149352" cy="699336"/>
            <a:chOff x="2824117" y="1825624"/>
            <a:chExt cx="6149352" cy="699336"/>
          </a:xfrm>
        </p:grpSpPr>
        <p:grpSp>
          <p:nvGrpSpPr>
            <p:cNvPr id="5" name="Group 4">
              <a:extLst>
                <a:ext uri="{FF2B5EF4-FFF2-40B4-BE49-F238E27FC236}">
                  <a16:creationId xmlns:a16="http://schemas.microsoft.com/office/drawing/2014/main" id="{5E6FD578-7839-28E5-4EB6-C3CA55505E74}"/>
                </a:ext>
              </a:extLst>
            </p:cNvPr>
            <p:cNvGrpSpPr/>
            <p:nvPr/>
          </p:nvGrpSpPr>
          <p:grpSpPr>
            <a:xfrm>
              <a:off x="2824117" y="1825624"/>
              <a:ext cx="6149352" cy="699336"/>
              <a:chOff x="2824117" y="1825624"/>
              <a:chExt cx="6149352" cy="699336"/>
            </a:xfrm>
          </p:grpSpPr>
          <p:grpSp>
            <p:nvGrpSpPr>
              <p:cNvPr id="14" name="Group 13">
                <a:extLst>
                  <a:ext uri="{FF2B5EF4-FFF2-40B4-BE49-F238E27FC236}">
                    <a16:creationId xmlns:a16="http://schemas.microsoft.com/office/drawing/2014/main" id="{E376E3EA-4382-052B-A7FC-E3029DEB0AFD}"/>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34" name="Elipse 4">
                      <a:extLst>
                        <a:ext uri="{FF2B5EF4-FFF2-40B4-BE49-F238E27FC236}">
                          <a16:creationId xmlns:a16="http://schemas.microsoft.com/office/drawing/2014/main" id="{97FE01AB-52E2-771A-F7E6-07636CF32E43}"/>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Elipse 5">
                      <a:extLst>
                        <a:ext uri="{FF2B5EF4-FFF2-40B4-BE49-F238E27FC236}">
                          <a16:creationId xmlns:a16="http://schemas.microsoft.com/office/drawing/2014/main" id="{33A46BB5-128C-57A9-CF00-E8CF258E5ABC}"/>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Elipse 6">
                      <a:extLst>
                        <a:ext uri="{FF2B5EF4-FFF2-40B4-BE49-F238E27FC236}">
                          <a16:creationId xmlns:a16="http://schemas.microsoft.com/office/drawing/2014/main" id="{C8B10504-4845-9941-E1A6-C2078D57EA58}"/>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37" name="Conector de Seta Reta 7">
                  <a:extLst>
                    <a:ext uri="{FF2B5EF4-FFF2-40B4-BE49-F238E27FC236}">
                      <a16:creationId xmlns:a16="http://schemas.microsoft.com/office/drawing/2014/main" id="{1914F34A-BEE1-E025-60AE-F66437DE699B}"/>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ector de Seta Reta 12">
                  <a:extLst>
                    <a:ext uri="{FF2B5EF4-FFF2-40B4-BE49-F238E27FC236}">
                      <a16:creationId xmlns:a16="http://schemas.microsoft.com/office/drawing/2014/main" id="{D289C719-9731-D36E-0323-21DCD20ABC3A}"/>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Retângulo 10">
                      <a:extLst>
                        <a:ext uri="{FF2B5EF4-FFF2-40B4-BE49-F238E27FC236}">
                          <a16:creationId xmlns:a16="http://schemas.microsoft.com/office/drawing/2014/main" id="{9099FC73-22CE-837F-300F-B4D44D6815D3}"/>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Retângulo 13">
                      <a:extLst>
                        <a:ext uri="{FF2B5EF4-FFF2-40B4-BE49-F238E27FC236}">
                          <a16:creationId xmlns:a16="http://schemas.microsoft.com/office/drawing/2014/main" id="{7841027F-45F1-AB30-3FC7-0F55663DA47C}"/>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41" name="Conector de Seta Reta 17">
                  <a:extLst>
                    <a:ext uri="{FF2B5EF4-FFF2-40B4-BE49-F238E27FC236}">
                      <a16:creationId xmlns:a16="http://schemas.microsoft.com/office/drawing/2014/main" id="{5971EBFF-D303-AC61-C9DC-AFC797743FB1}"/>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C17B511C-67C9-DDCD-C016-ECF773E83611}"/>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88F73C42-4012-A2CB-17CD-7919D91C09DB}"/>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F1CFD52-D5DE-7707-9F87-3CE0C285F90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97EBEEC-E99E-F647-FC73-6B3CAC0EB6A8}"/>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46" name="Conector de Seta Reta 7">
                  <a:extLst>
                    <a:ext uri="{FF2B5EF4-FFF2-40B4-BE49-F238E27FC236}">
                      <a16:creationId xmlns:a16="http://schemas.microsoft.com/office/drawing/2014/main" id="{A91636D0-ECB7-69FE-B767-938328619451}"/>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29A366CA-5D02-6F2C-6AA0-1919B6595B07}"/>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D95AD987-FB7E-9032-4CCC-2966B725C7E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459A049A-481A-E4D8-351B-2904731D88E8}"/>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4BB8468D-FC03-9330-0F81-F6A0164E371A}"/>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E6C5A80-C989-1213-8FF2-8E5220EDAA82}"/>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329978820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613D26-C76F-D3F7-FC01-BA23B862E2B2}"/>
              </a:ext>
            </a:extLst>
          </p:cNvPr>
          <p:cNvSpPr>
            <a:spLocks noGrp="1"/>
          </p:cNvSpPr>
          <p:nvPr>
            <p:ph type="title"/>
          </p:nvPr>
        </p:nvSpPr>
        <p:spPr>
          <a:xfrm>
            <a:off x="838200" y="365125"/>
            <a:ext cx="11353800" cy="1325563"/>
          </a:xfrm>
        </p:spPr>
        <p:txBody>
          <a:bodyPr/>
          <a:lstStyle/>
          <a:p>
            <a:r>
              <a:rPr lang="pt-BR" dirty="0"/>
              <a:t>Formas de se minimizar a dissipação e a explosão do gradiente</a:t>
            </a:r>
          </a:p>
        </p:txBody>
      </p:sp>
      <p:sp>
        <p:nvSpPr>
          <p:cNvPr id="3" name="Espaço Reservado para Conteúdo 2">
            <a:extLst>
              <a:ext uri="{FF2B5EF4-FFF2-40B4-BE49-F238E27FC236}">
                <a16:creationId xmlns:a16="http://schemas.microsoft.com/office/drawing/2014/main" id="{0D16A970-E5B0-45AB-5F13-4EB2F6AB2E7A}"/>
              </a:ext>
            </a:extLst>
          </p:cNvPr>
          <p:cNvSpPr>
            <a:spLocks noGrp="1"/>
          </p:cNvSpPr>
          <p:nvPr>
            <p:ph idx="1"/>
          </p:nvPr>
        </p:nvSpPr>
        <p:spPr>
          <a:xfrm>
            <a:off x="838199" y="1825624"/>
            <a:ext cx="11144535" cy="5032375"/>
          </a:xfrm>
        </p:spPr>
        <p:txBody>
          <a:bodyPr>
            <a:normAutofit/>
          </a:bodyPr>
          <a:lstStyle/>
          <a:p>
            <a:r>
              <a:rPr lang="pt-BR" dirty="0"/>
              <a:t>Além do uso de funções de ativação </a:t>
            </a:r>
            <a:r>
              <a:rPr lang="pt-BR" dirty="0" err="1"/>
              <a:t>ReLU</a:t>
            </a:r>
            <a:r>
              <a:rPr lang="pt-BR" dirty="0"/>
              <a:t> ou de suas variantes, outras formas de se minimizar esses problemas são:</a:t>
            </a:r>
          </a:p>
          <a:p>
            <a:pPr lvl="1">
              <a:buFont typeface="Wingdings" panose="05000000000000000000" pitchFamily="2" charset="2"/>
              <a:buChar char="§"/>
            </a:pPr>
            <a:r>
              <a:rPr lang="pt-BR" b="1" dirty="0"/>
              <a:t>Inicialização apropriada dos pesos</a:t>
            </a:r>
            <a:r>
              <a:rPr lang="pt-BR" dirty="0"/>
              <a:t>: garante que a variância das ativações permaneça a mesma ao longo de todas as camadas. Isso garante que o gradiente retropropagado não tenha multiplicações com valores muito pequenos ou muito grandes em qualquer camada, </a:t>
            </a:r>
            <a:r>
              <a:rPr lang="pt-BR" dirty="0">
                <a:effectLst/>
              </a:rPr>
              <a:t>ajudando a </a:t>
            </a:r>
            <a:r>
              <a:rPr lang="pt-BR" dirty="0"/>
              <a:t>mitigar ambos os problemas.</a:t>
            </a:r>
          </a:p>
          <a:p>
            <a:pPr lvl="1">
              <a:buFont typeface="Wingdings" panose="05000000000000000000" pitchFamily="2" charset="2"/>
              <a:buChar char="§"/>
            </a:pPr>
            <a:r>
              <a:rPr lang="pt-BR" b="1" dirty="0"/>
              <a:t>Normalização das ativações</a:t>
            </a:r>
            <a:r>
              <a:rPr lang="pt-BR" dirty="0"/>
              <a:t>: padroniza as ativações das camadas durante o treinamento. Isso estabiliza os gradientes e acelera a convergência.</a:t>
            </a:r>
          </a:p>
          <a:p>
            <a:pPr lvl="1">
              <a:buFont typeface="Wingdings" panose="05000000000000000000" pitchFamily="2" charset="2"/>
              <a:buChar char="§"/>
            </a:pPr>
            <a:r>
              <a:rPr lang="pt-BR" b="1" dirty="0"/>
              <a:t>Poda do gradiente</a:t>
            </a:r>
            <a:r>
              <a:rPr lang="pt-BR" dirty="0"/>
              <a:t>: limita o valor máximo do gradiente durante o treinamento. Isso evita atualizações excessivas dos pesos e previne a explosão do gradiente.</a:t>
            </a:r>
          </a:p>
          <a:p>
            <a:pPr lvl="1">
              <a:buFont typeface="Wingdings" panose="05000000000000000000" pitchFamily="2" charset="2"/>
              <a:buChar char="§"/>
            </a:pPr>
            <a:r>
              <a:rPr lang="pt-BR" b="1" dirty="0"/>
              <a:t>Arquiteturas com conexões residuais</a:t>
            </a:r>
            <a:r>
              <a:rPr lang="pt-BR" dirty="0"/>
              <a:t>: criam caminhos diretos entre camadas. Isso facilita a propagação do gradiente em redes muito profundas.</a:t>
            </a:r>
          </a:p>
        </p:txBody>
      </p:sp>
    </p:spTree>
    <p:extLst>
      <p:ext uri="{BB962C8B-B14F-4D97-AF65-F5344CB8AC3E}">
        <p14:creationId xmlns:p14="http://schemas.microsoft.com/office/powerpoint/2010/main" val="368030221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EE8C0-5F94-F5EA-4B14-A088A2EDBAC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2DA7A58-EB7E-FB25-773A-8FDCB85FD71D}"/>
              </a:ext>
            </a:extLst>
          </p:cNvPr>
          <p:cNvSpPr>
            <a:spLocks noGrp="1"/>
          </p:cNvSpPr>
          <p:nvPr>
            <p:ph idx="1"/>
          </p:nvPr>
        </p:nvSpPr>
        <p:spPr>
          <a:xfrm>
            <a:off x="491613" y="1961479"/>
            <a:ext cx="11208773" cy="2935042"/>
          </a:xfrm>
        </p:spPr>
        <p:txBody>
          <a:bodyPr>
            <a:normAutofit/>
          </a:bodyPr>
          <a:lstStyle/>
          <a:p>
            <a:pPr marL="0" indent="0" algn="ctr">
              <a:buNone/>
            </a:pPr>
            <a:r>
              <a:rPr lang="pt-BR" sz="6600" dirty="0"/>
              <a:t>Anexo II: Algumas irregularidades que dificultam o aprendizado de redes neurais</a:t>
            </a:r>
            <a:endParaRPr lang="en-US" sz="6600" dirty="0"/>
          </a:p>
        </p:txBody>
      </p:sp>
    </p:spTree>
    <p:extLst>
      <p:ext uri="{BB962C8B-B14F-4D97-AF65-F5344CB8AC3E}">
        <p14:creationId xmlns:p14="http://schemas.microsoft.com/office/powerpoint/2010/main" val="64498920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B2C9CE-150B-BB20-8B40-4A16AD51EB2F}"/>
              </a:ext>
            </a:extLst>
          </p:cNvPr>
          <p:cNvSpPr>
            <a:spLocks noGrp="1"/>
          </p:cNvSpPr>
          <p:nvPr>
            <p:ph type="title"/>
          </p:nvPr>
        </p:nvSpPr>
        <p:spPr/>
        <p:txBody>
          <a:bodyPr/>
          <a:lstStyle/>
          <a:p>
            <a:r>
              <a:rPr lang="pt-BR" dirty="0"/>
              <a:t>Pontos de sela</a:t>
            </a:r>
          </a:p>
        </p:txBody>
      </p:sp>
      <p:sp>
        <p:nvSpPr>
          <p:cNvPr id="3" name="Espaço Reservado para Conteúdo 2">
            <a:extLst>
              <a:ext uri="{FF2B5EF4-FFF2-40B4-BE49-F238E27FC236}">
                <a16:creationId xmlns:a16="http://schemas.microsoft.com/office/drawing/2014/main" id="{CCBE1DD9-448F-D5B1-C67D-592E98C6557B}"/>
              </a:ext>
            </a:extLst>
          </p:cNvPr>
          <p:cNvSpPr>
            <a:spLocks noGrp="1"/>
          </p:cNvSpPr>
          <p:nvPr>
            <p:ph idx="1"/>
          </p:nvPr>
        </p:nvSpPr>
        <p:spPr>
          <a:xfrm>
            <a:off x="4506541" y="1825624"/>
            <a:ext cx="7498645" cy="5032375"/>
          </a:xfrm>
        </p:spPr>
        <p:txBody>
          <a:bodyPr>
            <a:normAutofit/>
          </a:bodyPr>
          <a:lstStyle/>
          <a:p>
            <a:r>
              <a:rPr lang="pt-BR" dirty="0"/>
              <a:t>Uma irregularidade comumente encontrada em redes neurais são os </a:t>
            </a:r>
            <a:r>
              <a:rPr lang="pt-BR" b="1" dirty="0"/>
              <a:t>pontos de sela</a:t>
            </a:r>
            <a:r>
              <a:rPr lang="pt-BR" dirty="0"/>
              <a:t>: </a:t>
            </a:r>
          </a:p>
          <a:p>
            <a:pPr lvl="1">
              <a:buFont typeface="Wingdings" panose="05000000000000000000" pitchFamily="2" charset="2"/>
              <a:buChar char="§"/>
            </a:pPr>
            <a:r>
              <a:rPr lang="pt-BR" dirty="0"/>
              <a:t>É um ponto que é um </a:t>
            </a:r>
            <a:r>
              <a:rPr lang="pt-BR" b="1" dirty="0">
                <a:solidFill>
                  <a:srgbClr val="00B050"/>
                </a:solidFill>
              </a:rPr>
              <a:t>mínimo ao longo de um eixo</a:t>
            </a:r>
            <a:r>
              <a:rPr lang="pt-BR" dirty="0"/>
              <a:t>, mas um </a:t>
            </a:r>
            <a:r>
              <a:rPr lang="pt-BR" b="1" dirty="0">
                <a:solidFill>
                  <a:srgbClr val="00B050"/>
                </a:solidFill>
              </a:rPr>
              <a:t>máximo ao longo de outro</a:t>
            </a:r>
            <a:r>
              <a:rPr lang="pt-BR" dirty="0"/>
              <a:t>.</a:t>
            </a:r>
            <a:r>
              <a:rPr lang="pt-BR" dirty="0">
                <a:cs typeface="Calibri"/>
              </a:rPr>
              <a:t>​</a:t>
            </a:r>
          </a:p>
          <a:p>
            <a:pPr lvl="1">
              <a:buFont typeface="Wingdings" panose="05000000000000000000" pitchFamily="2" charset="2"/>
              <a:buChar char="§"/>
            </a:pPr>
            <a:r>
              <a:rPr lang="pt-BR" dirty="0"/>
              <a:t>Em algumas direções são </a:t>
            </a:r>
            <a:r>
              <a:rPr lang="pt-BR" b="1" dirty="0"/>
              <a:t>atratores</a:t>
            </a:r>
            <a:r>
              <a:rPr lang="pt-BR" dirty="0"/>
              <a:t> (i.e., alta declividade), mas em outras não.</a:t>
            </a:r>
          </a:p>
          <a:p>
            <a:r>
              <a:rPr lang="pt-BR" dirty="0"/>
              <a:t>O algoritmo de otimização pode passar um longo período de tempo sendo atraído por eles, o que prejudica seu desempenho.</a:t>
            </a:r>
          </a:p>
          <a:p>
            <a:r>
              <a:rPr lang="pt-BR" dirty="0"/>
              <a:t>Para escapar destes pontos, usa-se métodos de </a:t>
            </a:r>
            <a:r>
              <a:rPr lang="pt-BR" b="1" dirty="0"/>
              <a:t>segunda ordem</a:t>
            </a:r>
            <a:r>
              <a:rPr lang="pt-BR" dirty="0"/>
              <a:t> ou </a:t>
            </a:r>
            <a:r>
              <a:rPr lang="pt-BR" b="1" dirty="0"/>
              <a:t>versões estocásticas (i.e., ruidosas) do gradiente descendente</a:t>
            </a:r>
            <a:r>
              <a:rPr lang="pt-BR" dirty="0"/>
              <a:t>.</a:t>
            </a:r>
          </a:p>
        </p:txBody>
      </p:sp>
      <p:pic>
        <p:nvPicPr>
          <p:cNvPr id="1030" name="Picture 6">
            <a:extLst>
              <a:ext uri="{FF2B5EF4-FFF2-40B4-BE49-F238E27FC236}">
                <a16:creationId xmlns:a16="http://schemas.microsoft.com/office/drawing/2014/main" id="{CD53714B-59DC-DB4A-6266-5DE82F04DB2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310" t="17829" r="14573" b="10077"/>
          <a:stretch/>
        </p:blipFill>
        <p:spPr bwMode="auto">
          <a:xfrm>
            <a:off x="131439" y="2593330"/>
            <a:ext cx="4287210" cy="3856001"/>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id="{3850DA1C-824C-FF23-C5D2-A293D9C00F8E}"/>
              </a:ext>
            </a:extLst>
          </p:cNvPr>
          <p:cNvSpPr/>
          <p:nvPr/>
        </p:nvSpPr>
        <p:spPr>
          <a:xfrm>
            <a:off x="2028969" y="4115261"/>
            <a:ext cx="108000" cy="10800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7B36AE48-BAE5-0F6C-8DF3-F9AE0B31F4BB}"/>
              </a:ext>
            </a:extLst>
          </p:cNvPr>
          <p:cNvCxnSpPr>
            <a:cxnSpLocks/>
          </p:cNvCxnSpPr>
          <p:nvPr/>
        </p:nvCxnSpPr>
        <p:spPr>
          <a:xfrm flipH="1">
            <a:off x="2136969" y="2593330"/>
            <a:ext cx="1041660" cy="143789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CaixaDeTexto 9">
            <a:extLst>
              <a:ext uri="{FF2B5EF4-FFF2-40B4-BE49-F238E27FC236}">
                <a16:creationId xmlns:a16="http://schemas.microsoft.com/office/drawing/2014/main" id="{98B28DAF-FE1B-579F-44FC-F067DE348314}"/>
              </a:ext>
            </a:extLst>
          </p:cNvPr>
          <p:cNvSpPr txBox="1"/>
          <p:nvPr/>
        </p:nvSpPr>
        <p:spPr>
          <a:xfrm>
            <a:off x="226526" y="2207584"/>
            <a:ext cx="3820886" cy="369332"/>
          </a:xfrm>
          <a:prstGeom prst="rect">
            <a:avLst/>
          </a:prstGeom>
          <a:noFill/>
        </p:spPr>
        <p:txBody>
          <a:bodyPr wrap="square">
            <a:spAutoFit/>
          </a:bodyPr>
          <a:lstStyle/>
          <a:p>
            <a:pPr algn="ctr"/>
            <a:r>
              <a:rPr lang="pt-BR" b="1" dirty="0"/>
              <a:t>Superfície com Ponto de Sela</a:t>
            </a:r>
          </a:p>
        </p:txBody>
      </p:sp>
    </p:spTree>
    <p:extLst>
      <p:ext uri="{BB962C8B-B14F-4D97-AF65-F5344CB8AC3E}">
        <p14:creationId xmlns:p14="http://schemas.microsoft.com/office/powerpoint/2010/main" val="135619837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B2C9CE-150B-BB20-8B40-4A16AD51EB2F}"/>
              </a:ext>
            </a:extLst>
          </p:cNvPr>
          <p:cNvSpPr>
            <a:spLocks noGrp="1"/>
          </p:cNvSpPr>
          <p:nvPr>
            <p:ph type="title"/>
          </p:nvPr>
        </p:nvSpPr>
        <p:spPr/>
        <p:txBody>
          <a:bodyPr/>
          <a:lstStyle/>
          <a:p>
            <a:r>
              <a:rPr lang="pt-BR" dirty="0"/>
              <a:t>Platôs</a:t>
            </a:r>
          </a:p>
        </p:txBody>
      </p:sp>
      <p:sp>
        <p:nvSpPr>
          <p:cNvPr id="3" name="Espaço Reservado para Conteúdo 2">
            <a:extLst>
              <a:ext uri="{FF2B5EF4-FFF2-40B4-BE49-F238E27FC236}">
                <a16:creationId xmlns:a16="http://schemas.microsoft.com/office/drawing/2014/main" id="{CCBE1DD9-448F-D5B1-C67D-592E98C6557B}"/>
              </a:ext>
            </a:extLst>
          </p:cNvPr>
          <p:cNvSpPr>
            <a:spLocks noGrp="1"/>
          </p:cNvSpPr>
          <p:nvPr>
            <p:ph idx="1"/>
          </p:nvPr>
        </p:nvSpPr>
        <p:spPr>
          <a:xfrm>
            <a:off x="5391472" y="1825624"/>
            <a:ext cx="6698773" cy="5032375"/>
          </a:xfrm>
        </p:spPr>
        <p:txBody>
          <a:bodyPr>
            <a:normAutofit/>
          </a:bodyPr>
          <a:lstStyle/>
          <a:p>
            <a:r>
              <a:rPr lang="pt-BR" dirty="0"/>
              <a:t>Outro tipo de irregularidade são os </a:t>
            </a:r>
            <a:r>
              <a:rPr lang="pt-BR" b="1" dirty="0">
                <a:solidFill>
                  <a:srgbClr val="7030A0"/>
                </a:solidFill>
              </a:rPr>
              <a:t>platôs</a:t>
            </a:r>
            <a:r>
              <a:rPr lang="pt-BR" b="1" dirty="0"/>
              <a:t>.</a:t>
            </a:r>
          </a:p>
          <a:p>
            <a:r>
              <a:rPr lang="pt-BR" dirty="0"/>
              <a:t>Eles são </a:t>
            </a:r>
            <a:r>
              <a:rPr lang="pt-BR" b="1" dirty="0">
                <a:solidFill>
                  <a:srgbClr val="7030A0"/>
                </a:solidFill>
              </a:rPr>
              <a:t>regiões planas e com erro elevado</a:t>
            </a:r>
            <a:r>
              <a:rPr lang="pt-BR" dirty="0"/>
              <a:t>.</a:t>
            </a:r>
          </a:p>
          <a:p>
            <a:r>
              <a:rPr lang="pt-BR" dirty="0"/>
              <a:t>Como a </a:t>
            </a:r>
            <a:r>
              <a:rPr lang="pt-BR" b="1" dirty="0">
                <a:solidFill>
                  <a:srgbClr val="00B050"/>
                </a:solidFill>
              </a:rPr>
              <a:t>inclinação da superfície </a:t>
            </a:r>
            <a:r>
              <a:rPr lang="pt-BR" dirty="0"/>
              <a:t>nessa região é </a:t>
            </a:r>
            <a:r>
              <a:rPr lang="pt-BR" b="1" dirty="0">
                <a:solidFill>
                  <a:srgbClr val="00B050"/>
                </a:solidFill>
              </a:rPr>
              <a:t>próxima de zero </a:t>
            </a:r>
            <a:r>
              <a:rPr lang="pt-BR" dirty="0"/>
              <a:t>(i.e., o gradiente é próximo de zero) o algoritmo pode levar muito tempo para atravessá-la.</a:t>
            </a:r>
          </a:p>
          <a:p>
            <a:r>
              <a:rPr lang="pt-BR" dirty="0"/>
              <a:t>Métodos de </a:t>
            </a:r>
            <a:r>
              <a:rPr lang="pt-BR" b="1" dirty="0"/>
              <a:t>aprendizado </a:t>
            </a:r>
            <a:r>
              <a:rPr lang="pt-BR" b="1" dirty="0" err="1"/>
              <a:t>adaptativo</a:t>
            </a:r>
            <a:r>
              <a:rPr lang="pt-BR" dirty="0" err="1"/>
              <a:t>,que</a:t>
            </a:r>
            <a:r>
              <a:rPr lang="pt-BR" dirty="0"/>
              <a:t> são variações do gradiente descente, como </a:t>
            </a:r>
            <a:r>
              <a:rPr lang="pt-BR" dirty="0" err="1"/>
              <a:t>AdaGrad</a:t>
            </a:r>
            <a:r>
              <a:rPr lang="pt-BR" dirty="0"/>
              <a:t>, </a:t>
            </a:r>
            <a:r>
              <a:rPr lang="pt-BR" dirty="0" err="1"/>
              <a:t>RMSProp</a:t>
            </a:r>
            <a:r>
              <a:rPr lang="pt-BR" dirty="0"/>
              <a:t>, Adam, podem escapar destas regiões.</a:t>
            </a:r>
          </a:p>
        </p:txBody>
      </p:sp>
      <p:pic>
        <p:nvPicPr>
          <p:cNvPr id="9" name="Imagem 8">
            <a:extLst>
              <a:ext uri="{FF2B5EF4-FFF2-40B4-BE49-F238E27FC236}">
                <a16:creationId xmlns:a16="http://schemas.microsoft.com/office/drawing/2014/main" id="{F0319121-9B05-B1F7-F1F5-FFAD1E028F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1755" y="2331705"/>
            <a:ext cx="5289717" cy="3108990"/>
          </a:xfrm>
          <a:prstGeom prst="rect">
            <a:avLst/>
          </a:prstGeom>
        </p:spPr>
      </p:pic>
    </p:spTree>
    <p:extLst>
      <p:ext uri="{BB962C8B-B14F-4D97-AF65-F5344CB8AC3E}">
        <p14:creationId xmlns:p14="http://schemas.microsoft.com/office/powerpoint/2010/main" val="910698538"/>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9107</TotalTime>
  <Words>10778</Words>
  <Application>Microsoft Office PowerPoint</Application>
  <PresentationFormat>Widescreen</PresentationFormat>
  <Paragraphs>940</Paragraphs>
  <Slides>70</Slides>
  <Notes>39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70</vt:i4>
      </vt:variant>
    </vt:vector>
  </HeadingPairs>
  <TitlesOfParts>
    <vt:vector size="79" baseType="lpstr">
      <vt:lpstr>Arial</vt:lpstr>
      <vt:lpstr>Calibri</vt:lpstr>
      <vt:lpstr>Calibri Light</vt:lpstr>
      <vt:lpstr>Cambria Math</vt:lpstr>
      <vt:lpstr>Courier New</vt:lpstr>
      <vt:lpstr>Google Sans</vt:lpstr>
      <vt:lpstr>Söhne</vt:lpstr>
      <vt:lpstr>Wingdings</vt:lpstr>
      <vt:lpstr>Tema do Office</vt:lpstr>
      <vt:lpstr>C24 – Inteligência Artificial: Redes Multilayer Perceptron</vt:lpstr>
      <vt:lpstr>PowerPoint Presentation</vt:lpstr>
      <vt:lpstr>Redes neurais artificiais</vt:lpstr>
      <vt:lpstr>PowerPoint Presentation</vt:lpstr>
      <vt:lpstr>PowerPoint Presentation</vt:lpstr>
      <vt:lpstr>O que é uma rede neural artificial?</vt:lpstr>
      <vt:lpstr>O que é uma rede neural artificial?</vt:lpstr>
      <vt:lpstr>O que é uma rede neural artificial?</vt:lpstr>
      <vt:lpstr>Neurônio biológico</vt:lpstr>
      <vt:lpstr>Neurônio biológico</vt:lpstr>
      <vt:lpstr>Neurônio biológico</vt:lpstr>
      <vt:lpstr>Neurônio biológico</vt:lpstr>
      <vt:lpstr>Neurônio artificial</vt:lpstr>
      <vt:lpstr>Neurônio artificial</vt:lpstr>
      <vt:lpstr>Neurônio artificial</vt:lpstr>
      <vt:lpstr>Neurônio artificial</vt:lpstr>
      <vt:lpstr>Neurônio artificial</vt:lpstr>
      <vt:lpstr>Neurônio artificial</vt:lpstr>
      <vt:lpstr>Neurônio artificial</vt:lpstr>
      <vt:lpstr>Redes neurais artificiais</vt:lpstr>
      <vt:lpstr>Redes neurais artificiais</vt:lpstr>
      <vt:lpstr>PowerPoint Presentation</vt:lpstr>
      <vt:lpstr>Redes neurais artificiais</vt:lpstr>
      <vt:lpstr>Redes neurais artificiais</vt:lpstr>
      <vt:lpstr>Redes neurais artificiais</vt:lpstr>
      <vt:lpstr>Redes neurais artificiais</vt:lpstr>
      <vt:lpstr>Aproximação universal de funções</vt:lpstr>
      <vt:lpstr>Aproximação universal de funções</vt:lpstr>
      <vt:lpstr>PowerPoint Presentation</vt:lpstr>
      <vt:lpstr>Backpropagation</vt:lpstr>
      <vt:lpstr>PowerPoint Presentation</vt:lpstr>
      <vt:lpstr>Backpropagation</vt:lpstr>
      <vt:lpstr>Backpropagation</vt:lpstr>
      <vt:lpstr>Regra da cadeia</vt:lpstr>
      <vt:lpstr>Regra da cadeia</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Pseudocódigo da retropropagação</vt:lpstr>
      <vt:lpstr>PowerPoint Presentation</vt:lpstr>
      <vt:lpstr>PowerPoint Presentation</vt:lpstr>
      <vt:lpstr>Superfícies de erro de redes neurais</vt:lpstr>
      <vt:lpstr>Superfícies de erro irregulares</vt:lpstr>
      <vt:lpstr>Superfícies de erro irregulares</vt:lpstr>
      <vt:lpstr>Como garantir que o erro encontrado é bom?</vt:lpstr>
      <vt:lpstr>Exemplo</vt:lpstr>
      <vt:lpstr>Lista de exercícios</vt:lpstr>
      <vt:lpstr>PowerPoint Presentation</vt:lpstr>
      <vt:lpstr>PowerPoint Presentation</vt:lpstr>
      <vt:lpstr>PowerPoint Presentation</vt:lpstr>
      <vt:lpstr>Desaparecimento do gradiente</vt:lpstr>
      <vt:lpstr>Desaparecimento do gradiente</vt:lpstr>
      <vt:lpstr>Desaparecimento do gradiente</vt:lpstr>
      <vt:lpstr>Desaparecimento do gradiente</vt:lpstr>
      <vt:lpstr>Desaparecimento do gradiente</vt:lpstr>
      <vt:lpstr>PowerPoint Presentation</vt:lpstr>
      <vt:lpstr>Função de ativação retificadora</vt:lpstr>
      <vt:lpstr>Função de ativação retificadora</vt:lpstr>
      <vt:lpstr>Função de ativação retificadora</vt:lpstr>
      <vt:lpstr>Variantes da função de ativação retificadora</vt:lpstr>
      <vt:lpstr>Explosão do gradiente </vt:lpstr>
      <vt:lpstr>Explosão do gradiente </vt:lpstr>
      <vt:lpstr>Formas de se minimizar a dissipação e a explosão do gradiente</vt:lpstr>
      <vt:lpstr>PowerPoint Presentation</vt:lpstr>
      <vt:lpstr>Pontos de sela</vt:lpstr>
      <vt:lpstr>Platôs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1960</cp:revision>
  <dcterms:created xsi:type="dcterms:W3CDTF">2020-01-20T13:50:05Z</dcterms:created>
  <dcterms:modified xsi:type="dcterms:W3CDTF">2026-04-20T20:56:29Z</dcterms:modified>
</cp:coreProperties>
</file>