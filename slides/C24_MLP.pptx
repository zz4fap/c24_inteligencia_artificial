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4" r:id="rId28"/>
    <p:sldId id="567" r:id="rId29"/>
    <p:sldId id="547" r:id="rId30"/>
    <p:sldId id="552" r:id="rId31"/>
    <p:sldId id="568" r:id="rId32"/>
    <p:sldId id="569" r:id="rId33"/>
    <p:sldId id="570" r:id="rId34"/>
    <p:sldId id="571" r:id="rId35"/>
    <p:sldId id="572" r:id="rId36"/>
    <p:sldId id="573" r:id="rId37"/>
    <p:sldId id="574" r:id="rId38"/>
    <p:sldId id="557" r:id="rId39"/>
    <p:sldId id="431" r:id="rId40"/>
    <p:sldId id="549" r:id="rId41"/>
    <p:sldId id="293" r:id="rId42"/>
    <p:sldId id="306" r:id="rId4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7893" autoAdjust="0"/>
  </p:normalViewPr>
  <p:slideViewPr>
    <p:cSldViewPr snapToGrid="0">
      <p:cViewPr varScale="1">
        <p:scale>
          <a:sx n="64" d="100"/>
          <a:sy n="64" d="100"/>
        </p:scale>
        <p:origin x="114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smtClean="0"/>
              <a:t>O objetivo é encontrar o conjunto de pesos que minimiza a função de perda.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793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3315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190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:a16="http://schemas.microsoft.com/office/drawing/2014/main" xmlns="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xmlns="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xmlns="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xmlns="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xmlns="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xmlns="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xmlns="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xmlns="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xmlns="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xmlns="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xmlns="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xmlns="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xmlns="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xmlns="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xmlns="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xmlns="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xmlns="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xmlns="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xmlns="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xmlns="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xmlns="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xmlns="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xmlns="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xmlns="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xmlns="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xmlns="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xmlns="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xmlns="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xmlns="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xmlns="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xmlns="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xmlns="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xmlns="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xmlns="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xmlns="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xmlns="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xmlns="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xmlns="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xmlns="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xmlns="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xmlns="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xmlns="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xmlns="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xmlns="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xmlns="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xmlns="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xmlns="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xmlns="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xmlns="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xmlns="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xmlns="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xmlns="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xmlns="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xmlns="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xmlns="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xmlns="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xmlns="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xmlns="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xmlns="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xmlns="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xmlns="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xmlns="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xmlns="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xmlns="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xmlns="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xmlns="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xmlns="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xmlns="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xmlns="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xmlns="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xmlns="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xmlns="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xmlns="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xmlns="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xmlns="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xmlns="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xmlns="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xmlns="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xmlns="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xmlns="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xmlns="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xmlns="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xmlns="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xmlns="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xmlns="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xmlns="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xmlns="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xmlns="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xmlns="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xmlns="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xmlns="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xmlns="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xmlns="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xmlns="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xmlns="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xmlns="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xmlns="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xmlns="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xmlns="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xmlns="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xmlns="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xmlns="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xmlns="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xmlns="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xmlns="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xmlns="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xmlns="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xmlns="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xmlns="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xmlns="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xmlns="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xmlns="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xmlns="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xmlns="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xmlns="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xmlns="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xmlns="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xmlns="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xmlns="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xmlns="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xmlns="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xmlns="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xmlns="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xmlns="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xmlns="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xmlns="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xmlns="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xmlns="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xmlns="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xmlns="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xmlns="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xmlns="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xmlns="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xmlns="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xmlns="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xmlns="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xmlns="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xmlns="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xmlns="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xmlns="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xmlns="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xmlns="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xmlns="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xmlns="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xmlns="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xmlns="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xmlns="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xmlns="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xmlns="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xmlns="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xmlns="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xmlns="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xmlns="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xmlns="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xmlns="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xmlns="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xmlns="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xmlns="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xmlns="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xmlns="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xmlns="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xmlns="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xmlns="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xmlns="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xmlns="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xmlns="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xmlns="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xmlns="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xmlns="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xmlns="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xmlns="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xmlns="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xmlns="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xmlns="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xmlns="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xmlns="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xmlns="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xmlns="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xmlns="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xmlns="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xmlns="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xmlns="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xmlns="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xmlns="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xmlns="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xmlns="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xmlns="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xmlns="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xmlns="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xmlns="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xmlns="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xmlns="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xmlns="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xmlns="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xmlns="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xmlns="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xmlns="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xmlns="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xmlns="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xmlns="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xmlns="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xmlns="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xmlns="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xmlns="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xmlns="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xmlns="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xmlns="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xmlns="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xmlns="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xmlns="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xmlns="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xmlns="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xmlns="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xmlns="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xmlns="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xmlns="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xmlns="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xmlns="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xmlns="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xmlns="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xmlns="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xmlns="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xmlns="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xmlns="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xmlns="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xmlns="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xmlns="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xmlns="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xmlns="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xmlns="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xmlns="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xmlns="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xmlns="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xmlns="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xmlns="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xmlns="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xmlns="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xmlns="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xmlns="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xmlns="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xmlns="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xmlns="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xmlns="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xmlns="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xmlns="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xmlns="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xmlns="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xmlns="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xmlns="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xmlns="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xmlns="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xmlns="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xmlns="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xmlns="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xmlns="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xmlns="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xmlns="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xmlns="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xmlns="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xmlns="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xmlns="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xmlns="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xmlns="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xmlns="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xmlns="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xmlns="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xmlns="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xmlns="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xmlns="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xmlns="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xmlns="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xmlns="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:a16="http://schemas.microsoft.com/office/drawing/2014/main" xmlns="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:a16="http://schemas.microsoft.com/office/drawing/2014/main" xmlns="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:a16="http://schemas.microsoft.com/office/drawing/2014/main" xmlns="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:a16="http://schemas.microsoft.com/office/drawing/2014/main" xmlns="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:a16="http://schemas.microsoft.com/office/drawing/2014/main" xmlns="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:a16="http://schemas.microsoft.com/office/drawing/2014/main" xmlns="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:a16="http://schemas.microsoft.com/office/drawing/2014/main" xmlns="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:a16="http://schemas.microsoft.com/office/drawing/2014/main" xmlns="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:a16="http://schemas.microsoft.com/office/drawing/2014/main" xmlns="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:a16="http://schemas.microsoft.com/office/drawing/2014/main" xmlns="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:a16="http://schemas.microsoft.com/office/drawing/2014/main" xmlns="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:a16="http://schemas.microsoft.com/office/drawing/2014/main" xmlns="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:a16="http://schemas.microsoft.com/office/drawing/2014/main" xmlns="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:a16="http://schemas.microsoft.com/office/drawing/2014/main" xmlns="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:a16="http://schemas.microsoft.com/office/drawing/2014/main" xmlns="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:a16="http://schemas.microsoft.com/office/drawing/2014/main" xmlns="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:a16="http://schemas.microsoft.com/office/drawing/2014/main" xmlns="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:a16="http://schemas.microsoft.com/office/drawing/2014/main" xmlns="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:a16="http://schemas.microsoft.com/office/drawing/2014/main" xmlns="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:a16="http://schemas.microsoft.com/office/drawing/2014/main" xmlns="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:a16="http://schemas.microsoft.com/office/drawing/2014/main" xmlns="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:a16="http://schemas.microsoft.com/office/drawing/2014/main" xmlns="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:a16="http://schemas.microsoft.com/office/drawing/2014/main" xmlns="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:a16="http://schemas.microsoft.com/office/drawing/2014/main" xmlns="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:a16="http://schemas.microsoft.com/office/drawing/2014/main" xmlns="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xmlns="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xmlns="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xmlns="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xmlns="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:a16="http://schemas.microsoft.com/office/drawing/2014/main" xmlns="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:a16="http://schemas.microsoft.com/office/drawing/2014/main" xmlns="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xmlns="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xmlns="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:a16="http://schemas.microsoft.com/office/drawing/2014/main" xmlns="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:a16="http://schemas.microsoft.com/office/drawing/2014/main" xmlns="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:a16="http://schemas.microsoft.com/office/drawing/2014/main" xmlns="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:a16="http://schemas.microsoft.com/office/drawing/2014/main" xmlns="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:a16="http://schemas.microsoft.com/office/drawing/2014/main" xmlns="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:a16="http://schemas.microsoft.com/office/drawing/2014/main" xmlns="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:a16="http://schemas.microsoft.com/office/drawing/2014/main" xmlns="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:a16="http://schemas.microsoft.com/office/drawing/2014/main" xmlns="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:a16="http://schemas.microsoft.com/office/drawing/2014/main" xmlns="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:a16="http://schemas.microsoft.com/office/drawing/2014/main" xmlns="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:a16="http://schemas.microsoft.com/office/drawing/2014/main" xmlns="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:a16="http://schemas.microsoft.com/office/drawing/2014/main" xmlns="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xmlns="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xmlns="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xmlns="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xmlns="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xmlns="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xmlns="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xmlns="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xmlns="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:a16="http://schemas.microsoft.com/office/drawing/2014/main" xmlns="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xmlns="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:a16="http://schemas.microsoft.com/office/drawing/2014/main" xmlns="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:a16="http://schemas.microsoft.com/office/drawing/2014/main" xmlns="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:a16="http://schemas.microsoft.com/office/drawing/2014/main" xmlns="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:a16="http://schemas.microsoft.com/office/drawing/2014/main" xmlns="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:a16="http://schemas.microsoft.com/office/drawing/2014/main" xmlns="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xmlns="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xmlns="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xmlns="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xmlns="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xmlns="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xmlns="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xmlns="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xmlns="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xmlns="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xmlns="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xmlns="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xmlns="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xmlns="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xmlns="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xmlns="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xmlns="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xmlns="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xmlns="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xmlns="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xmlns="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xmlns="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xmlns="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xmlns="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xmlns="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xmlns="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xmlns="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xmlns="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xmlns="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xmlns="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xmlns="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xmlns="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xmlns="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xmlns="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xmlns="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xmlns="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xmlns="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xmlns="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xmlns="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xmlns="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xmlns="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xmlns="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xmlns="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xmlns="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xmlns="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xmlns="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xmlns="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xmlns="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xmlns="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xmlns="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xmlns="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xmlns="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xmlns="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xmlns="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xmlns="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xmlns="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xmlns="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xmlns="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:a16="http://schemas.microsoft.com/office/drawing/2014/main" xmlns="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i="1" dirty="0" err="1"/>
              <a:t>deep</a:t>
            </a:r>
            <a:r>
              <a:rPr lang="pt-BR" b="1" i="1" dirty="0"/>
              <a:t> learning </a:t>
            </a:r>
            <a:r>
              <a:rPr lang="pt-BR" b="1" dirty="0"/>
              <a:t>ou aprendizado profundo</a:t>
            </a:r>
            <a:r>
              <a:rPr lang="pt-BR" dirty="0"/>
              <a:t>. 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xmlns="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xmlns="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:a16="http://schemas.microsoft.com/office/drawing/2014/main" xmlns="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:a16="http://schemas.microsoft.com/office/drawing/2014/main" xmlns="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elas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uma solução geral.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xmlns="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xmlns="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xmlns="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 smtClean="0"/>
              <a:t>Isso </a:t>
            </a:r>
            <a:r>
              <a:rPr lang="pt-BR" dirty="0"/>
              <a:t>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 smtClean="0"/>
              <a:t>.</a:t>
            </a:r>
          </a:p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o quanto cada peso da rede contribui para o erro e ajustá-lo de forma a minimizar o erro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xmlns="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725265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O </a:t>
            </a:r>
            <a:r>
              <a:rPr lang="pt-BR" dirty="0"/>
              <a:t>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 smtClean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Os </a:t>
            </a:r>
            <a:r>
              <a:rPr lang="pt-BR" dirty="0"/>
              <a:t>gradientes são calculados usando </a:t>
            </a:r>
            <a:r>
              <a:rPr lang="pt-BR" b="1" dirty="0"/>
              <a:t>regra da </a:t>
            </a:r>
            <a:r>
              <a:rPr lang="pt-BR" b="1" dirty="0" smtClean="0"/>
              <a:t>cadeia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4" name="Imagem 10">
            <a:extLst>
              <a:ext uri="{FF2B5EF4-FFF2-40B4-BE49-F238E27FC236}">
                <a16:creationId xmlns:a16="http://schemas.microsoft.com/office/drawing/2014/main" xmlns="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157154" cy="4351338"/>
          </a:xfrm>
        </p:spPr>
        <p:txBody>
          <a:bodyPr/>
          <a:lstStyle/>
          <a:p>
            <a:r>
              <a:rPr lang="pt-BR" dirty="0"/>
              <a:t>A rede prediz → mede o erro → corrige os pesos.</a:t>
            </a:r>
          </a:p>
          <a:p>
            <a:r>
              <a:rPr lang="pt-BR" dirty="0"/>
              <a:t>O </a:t>
            </a:r>
            <a:r>
              <a:rPr lang="pt-BR" i="1" dirty="0" err="1"/>
              <a:t>backpropagation</a:t>
            </a:r>
            <a:r>
              <a:rPr lang="pt-BR" dirty="0"/>
              <a:t> responde à pergunta:</a:t>
            </a:r>
          </a:p>
          <a:p>
            <a:pPr marL="0" indent="0" algn="ctr">
              <a:buNone/>
            </a:pPr>
            <a:r>
              <a:rPr lang="pt-BR" b="1" dirty="0"/>
              <a:t>“Quais pesos precisam mudar e o quanto eles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CB13E6A6-6D4A-0E94-E375-65268C2150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355" y="3697491"/>
            <a:ext cx="3160509" cy="316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para todos os pesos do nó 1 (camada oculta)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 de forma genérica, ou seja, sem assumir 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5907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rede possui uma camada oculta com dois nós e uma </a:t>
                </a:r>
                <a:r>
                  <a:rPr lang="pt-BR" b="1" i="1" dirty="0"/>
                  <a:t>camada de saída com um único nó</a:t>
                </a:r>
                <a:r>
                  <a:rPr lang="pt-BR" dirty="0"/>
                  <a:t>, portanto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Devemos começar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percebam que essa </a:t>
                </a:r>
                <a:r>
                  <a:rPr lang="pt-BR" b="1" i="1" dirty="0"/>
                  <a:t>sensibilidade</a:t>
                </a:r>
                <a:r>
                  <a:rPr lang="pt-BR" dirty="0"/>
                  <a:t> é na verdade um escalar, pois há apenas um </a:t>
                </a:r>
                <a:r>
                  <a:rPr lang="pt-BR" b="1" i="1" dirty="0"/>
                  <a:t>nó</a:t>
                </a:r>
                <a:r>
                  <a:rPr lang="pt-BR" b="1" dirty="0"/>
                  <a:t> </a:t>
                </a:r>
                <a:r>
                  <a:rPr lang="pt-BR" dirty="0"/>
                  <a:t>na camada de saída.</a:t>
                </a:r>
              </a:p>
              <a:p>
                <a:r>
                  <a:rPr lang="pt-BR" dirty="0"/>
                  <a:t>Vamos considerar um </a:t>
                </a:r>
                <a:r>
                  <a:rPr lang="pt-BR" b="1" i="1" dirty="0"/>
                  <a:t>único exemplo de entrada,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a respectiva saída desejada,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Assim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2663" r="-2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BCE8B423-576F-E2F8-7B15-7838E17243F0}"/>
              </a:ext>
            </a:extLst>
          </p:cNvPr>
          <p:cNvGrpSpPr/>
          <p:nvPr/>
        </p:nvGrpSpPr>
        <p:grpSpPr>
          <a:xfrm>
            <a:off x="206478" y="2614714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xmlns="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xmlns="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6897857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i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xmlns="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xmlns="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9361466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o erro, podemos calcular a sensibilidade do </a:t>
                </a:r>
                <a:r>
                  <a:rPr lang="pt-BR" b="1" i="1" dirty="0"/>
                  <a:t>nó</a:t>
                </a:r>
                <a:r>
                  <a:rPr lang="pt-BR" dirty="0"/>
                  <a:t> da camada de saída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Temos, assim, nossa primeira </a:t>
                </a:r>
                <a:r>
                  <a:rPr lang="pt-BR" b="1" i="1" dirty="0"/>
                  <a:t>sensibilidade</a:t>
                </a:r>
                <a:r>
                  <a:rPr lang="pt-BR" dirty="0"/>
                  <a:t>. Agora, usamos a equação de recursão para </a:t>
                </a:r>
                <a:r>
                  <a:rPr lang="pt-BR" b="1" i="1" dirty="0"/>
                  <a:t>retropropagar</a:t>
                </a:r>
                <a:r>
                  <a:rPr lang="pt-BR" dirty="0"/>
                  <a:t> o erro até a camada anterior. A equação nos diz: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1,1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1,2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>
                <a:blip r:embed="rId3"/>
                <a:stretch>
                  <a:fillRect l="-1148" t="-2663" r="-6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467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pt-BR" dirty="0"/>
                  <a:t>Portanto,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para obtermos o vetor gradiente, multiplicamos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pelas entradas correspondentes da camada.</a:t>
                </a:r>
              </a:p>
              <a:p>
                <a:r>
                  <a:rPr lang="pt-BR" dirty="0"/>
                  <a:t>Por 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>
                <a:blip r:embed="rId2"/>
                <a:stretch>
                  <a:fillRect l="-759" t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xmlns="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xmlns="" id="{16260731-3F89-F14E-E515-C1A83B54B10E}"/>
              </a:ext>
            </a:extLst>
          </p:cNvPr>
          <p:cNvSpPr/>
          <p:nvPr/>
        </p:nvSpPr>
        <p:spPr>
          <a:xfrm>
            <a:off x="2820128" y="4237652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:a16="http://schemas.microsoft.com/office/drawing/2014/main" xmlns="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2916936" y="4511088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869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2492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15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8264</TotalTime>
  <Words>3713</Words>
  <Application>Microsoft Office PowerPoint</Application>
  <PresentationFormat>Widescreen</PresentationFormat>
  <Paragraphs>418</Paragraphs>
  <Slides>42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Apresentação do PowerPoint</vt:lpstr>
      <vt:lpstr>Redes neurais artificiais</vt:lpstr>
      <vt:lpstr>Apresentação do PowerPoint</vt:lpstr>
      <vt:lpstr>Apresentação do PowerPoint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Apresentação do PowerPoint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Apresentação do PowerPoint</vt:lpstr>
      <vt:lpstr>Backpropagation</vt:lpstr>
      <vt:lpstr>Backpropagation</vt:lpstr>
      <vt:lpstr>Backpropagation</vt:lpstr>
      <vt:lpstr>Apresentação do PowerPoint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Apresentação do PowerPoint</vt:lpstr>
      <vt:lpstr>O modelo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1793</cp:revision>
  <dcterms:created xsi:type="dcterms:W3CDTF">2020-01-20T13:50:05Z</dcterms:created>
  <dcterms:modified xsi:type="dcterms:W3CDTF">2026-03-08T01:37:13Z</dcterms:modified>
</cp:coreProperties>
</file>