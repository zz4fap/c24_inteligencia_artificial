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3"/>
  </p:notesMasterIdLst>
  <p:handoutMasterIdLst>
    <p:handoutMasterId r:id="rId74"/>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564" r:id="rId24"/>
    <p:sldId id="560" r:id="rId25"/>
    <p:sldId id="561" r:id="rId26"/>
    <p:sldId id="562" r:id="rId27"/>
    <p:sldId id="531" r:id="rId28"/>
    <p:sldId id="550" r:id="rId29"/>
    <p:sldId id="551" r:id="rId30"/>
    <p:sldId id="566" r:id="rId31"/>
    <p:sldId id="554" r:id="rId32"/>
    <p:sldId id="579" r:id="rId33"/>
    <p:sldId id="567" r:id="rId34"/>
    <p:sldId id="547" r:id="rId35"/>
    <p:sldId id="391" r:id="rId36"/>
    <p:sldId id="392" r:id="rId37"/>
    <p:sldId id="568" r:id="rId38"/>
    <p:sldId id="569" r:id="rId39"/>
    <p:sldId id="578" r:id="rId40"/>
    <p:sldId id="570" r:id="rId41"/>
    <p:sldId id="573" r:id="rId42"/>
    <p:sldId id="574" r:id="rId43"/>
    <p:sldId id="572" r:id="rId44"/>
    <p:sldId id="581" r:id="rId45"/>
    <p:sldId id="584" r:id="rId46"/>
    <p:sldId id="580" r:id="rId47"/>
    <p:sldId id="423" r:id="rId48"/>
    <p:sldId id="607" r:id="rId49"/>
    <p:sldId id="404" r:id="rId50"/>
    <p:sldId id="407" r:id="rId51"/>
    <p:sldId id="588" r:id="rId52"/>
    <p:sldId id="589" r:id="rId53"/>
    <p:sldId id="586" r:id="rId54"/>
    <p:sldId id="587" r:id="rId55"/>
    <p:sldId id="585" r:id="rId56"/>
    <p:sldId id="583" r:id="rId57"/>
    <p:sldId id="592" r:id="rId58"/>
    <p:sldId id="611" r:id="rId59"/>
    <p:sldId id="557" r:id="rId60"/>
    <p:sldId id="601" r:id="rId61"/>
    <p:sldId id="593" r:id="rId62"/>
    <p:sldId id="594" r:id="rId63"/>
    <p:sldId id="595" r:id="rId64"/>
    <p:sldId id="596" r:id="rId65"/>
    <p:sldId id="597" r:id="rId66"/>
    <p:sldId id="598" r:id="rId67"/>
    <p:sldId id="599" r:id="rId68"/>
    <p:sldId id="600" r:id="rId69"/>
    <p:sldId id="606" r:id="rId70"/>
    <p:sldId id="405" r:id="rId71"/>
    <p:sldId id="406" r:id="rId7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93078" autoAdjust="0"/>
  </p:normalViewPr>
  <p:slideViewPr>
    <p:cSldViewPr snapToGrid="0">
      <p:cViewPr varScale="1">
        <p:scale>
          <a:sx n="68" d="100"/>
          <a:sy n="68" d="100"/>
        </p:scale>
        <p:origin x="942" y="5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handoutMaster" Target="handoutMasters/handoutMaster1.xml"/><Relationship Id="rId79"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5.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xmlns=""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xmlns=""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xmlns=""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xmlns=""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xmlns="" id="{7E1631C1-F5A3-D807-E216-0D61AA847626}"/>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xmlns="" id="{7A5C78BB-67EB-C595-6562-CBFCAE7A0717}"/>
              </a:ext>
            </a:extLst>
          </p:cNvPr>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p:txBody>
      </p:sp>
      <p:sp>
        <p:nvSpPr>
          <p:cNvPr id="4" name="Slide Number Placeholder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47</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r>
              <a:rPr lang="en-US" dirty="0"/>
              <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r>
              <a:rPr lang="en-US" dirty="0"/>
              <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r>
              <a:rPr lang="en-US" dirty="0"/>
              <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66</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67</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70</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71</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20/04/2026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5.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4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6.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1.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52.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3.emf"/><Relationship Id="rId4" Type="http://schemas.openxmlformats.org/officeDocument/2006/relationships/image" Target="../media/image820.png"/></Relationships>
</file>

<file path=ppt/slides/_rels/slide59.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8.emf"/></Relationships>
</file>

<file path=ppt/slides/_rels/slide63.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9.emf"/></Relationships>
</file>

<file path=ppt/slides/_rels/slide64.xml.rels><?xml version="1.0" encoding="UTF-8" standalone="yes"?>
<Relationships xmlns="http://schemas.openxmlformats.org/package/2006/relationships"><Relationship Id="rId8" Type="http://schemas.openxmlformats.org/officeDocument/2006/relationships/image" Target="../media/image89.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8.emf"/><Relationship Id="rId9" Type="http://schemas.openxmlformats.org/officeDocument/2006/relationships/image" Target="../media/image67.png"/></Relationships>
</file>

<file path=ppt/slides/_rels/slide65.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93.png"/></Relationships>
</file>

<file path=ppt/slides/_rels/slide6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xmlns=""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3C86F23E-3116-9DE3-82E3-FFC279A1FB0E}"/>
              </a:ext>
            </a:extLst>
          </p:cNvPr>
          <p:cNvSpPr txBox="1"/>
          <p:nvPr/>
        </p:nvSpPr>
        <p:spPr>
          <a:xfrm>
            <a:off x="7317369" y="1766327"/>
            <a:ext cx="4776309" cy="3970318"/>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a:t>ChatGPT</a:t>
            </a:r>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xmlns=""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xmlns=""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a:t>
            </a:r>
            <a:r>
              <a:rPr lang="pt-BR" b="1" dirty="0" smtClean="0"/>
              <a:t>relaciona as </a:t>
            </a:r>
            <a:r>
              <a:rPr lang="pt-BR" b="1" dirty="0"/>
              <a:t>entradas às saídas</a:t>
            </a:r>
            <a:r>
              <a:rPr lang="pt-BR" dirty="0"/>
              <a:t>.</a:t>
            </a:r>
          </a:p>
        </p:txBody>
      </p:sp>
      <p:grpSp>
        <p:nvGrpSpPr>
          <p:cNvPr id="4" name="Group 3">
            <a:extLst>
              <a:ext uri="{FF2B5EF4-FFF2-40B4-BE49-F238E27FC236}">
                <a16:creationId xmlns:a16="http://schemas.microsoft.com/office/drawing/2014/main" xmlns=""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relembrar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xmlns=""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smtClean="0"/>
              <a:t>,</a:t>
            </a:r>
          </a:p>
          <a:p>
            <a:pPr lvl="1">
              <a:buFont typeface="Wingdings" panose="05000000000000000000" pitchFamily="2" charset="2"/>
              <a:buChar char="§"/>
            </a:pPr>
            <a:r>
              <a:rPr lang="pt-BR" dirty="0" smtClean="0"/>
              <a:t>o </a:t>
            </a:r>
            <a:r>
              <a:rPr lang="pt-BR" b="1" dirty="0"/>
              <a:t>corpo celular</a:t>
            </a:r>
            <a:r>
              <a:rPr lang="pt-BR" dirty="0"/>
              <a:t>, também chamado de </a:t>
            </a:r>
            <a:r>
              <a:rPr lang="pt-BR" b="1" dirty="0" smtClean="0">
                <a:solidFill>
                  <a:srgbClr val="00B050"/>
                </a:solidFill>
              </a:rPr>
              <a:t>soma</a:t>
            </a:r>
            <a:r>
              <a:rPr lang="pt-BR" dirty="0" smtClean="0"/>
              <a:t>,</a:t>
            </a:r>
            <a:endParaRPr lang="pt-BR" dirty="0"/>
          </a:p>
          <a:p>
            <a:pPr lvl="1">
              <a:buFont typeface="Wingdings" panose="05000000000000000000" pitchFamily="2" charset="2"/>
              <a:buChar char="§"/>
            </a:pPr>
            <a:r>
              <a:rPr lang="pt-BR" dirty="0" smtClean="0"/>
              <a:t>e </a:t>
            </a:r>
            <a:r>
              <a:rPr lang="pt-BR" dirty="0" smtClean="0"/>
              <a:t>o </a:t>
            </a:r>
            <a:r>
              <a:rPr lang="pt-BR" b="1" dirty="0"/>
              <a:t>axônio com seus </a:t>
            </a:r>
            <a:r>
              <a:rPr lang="pt-BR" b="1" dirty="0" smtClean="0"/>
              <a:t>terminais</a:t>
            </a:r>
            <a:r>
              <a:rPr lang="pt-BR" dirty="0" smtClean="0"/>
              <a:t>.</a:t>
            </a:r>
            <a:endParaRPr lang="pt-BR" dirty="0"/>
          </a:p>
        </p:txBody>
      </p:sp>
      <p:grpSp>
        <p:nvGrpSpPr>
          <p:cNvPr id="15" name="Agrupar 14">
            <a:extLst>
              <a:ext uri="{FF2B5EF4-FFF2-40B4-BE49-F238E27FC236}">
                <a16:creationId xmlns:a16="http://schemas.microsoft.com/office/drawing/2014/main" xmlns=""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a:t>
            </a:r>
            <a:r>
              <a:rPr lang="pt-BR" b="1" dirty="0">
                <a:solidFill>
                  <a:schemeClr val="accent2"/>
                </a:solidFill>
              </a:rPr>
              <a:t>limiar</a:t>
            </a:r>
            <a:r>
              <a:rPr lang="pt-BR" dirty="0"/>
              <a:t> de ativação </a:t>
            </a:r>
            <a:r>
              <a:rPr lang="pt-BR" b="1" dirty="0">
                <a:solidFill>
                  <a:schemeClr val="accent2"/>
                </a:solidFill>
              </a:rPr>
              <a:t>seja ultrapassado</a:t>
            </a:r>
            <a:r>
              <a:rPr lang="pt-BR" dirty="0"/>
              <a:t>.</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xmlns=""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é 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a16="http://schemas.microsoft.com/office/drawing/2014/main" xmlns=""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xmlns=""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xmlns=""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xmlns=""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xmlns=""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a:t>em quase todos os pontos.</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xmlns=""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xmlns=""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xmlns=""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xmlns=""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xmlns=""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xmlns=""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xmlns=""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xmlns=""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xmlns=""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r>
              <a:rPr lang="pt-BR" dirty="0" smtClean="0">
                <a:solidFill>
                  <a:schemeClr val="tx1"/>
                </a:solidFill>
              </a:rPr>
              <a:t>),</a:t>
            </a:r>
          </a:p>
          <a:p>
            <a:pPr lvl="1">
              <a:buFont typeface="Wingdings" panose="05000000000000000000" pitchFamily="2" charset="2"/>
              <a:buChar char="§"/>
            </a:pPr>
            <a:r>
              <a:rPr lang="pt-BR" dirty="0" err="1"/>
              <a:t>s</a:t>
            </a:r>
            <a:r>
              <a:rPr lang="pt-BR" dirty="0" err="1" smtClean="0"/>
              <a:t>oftmax</a:t>
            </a:r>
            <a:r>
              <a:rPr lang="pt-BR" dirty="0" smtClean="0"/>
              <a:t>,</a:t>
            </a:r>
            <a:r>
              <a:rPr lang="pt-BR" dirty="0" smtClean="0">
                <a:solidFill>
                  <a:schemeClr val="tx1"/>
                </a:solidFill>
              </a:rPr>
              <a:t> </a:t>
            </a:r>
            <a:endParaRPr lang="pt-BR" dirty="0">
              <a:solidFill>
                <a:schemeClr val="tx1"/>
              </a:solidFill>
            </a:endParaRP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xmlns=""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xmlns=""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xmlns=""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xmlns=""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p>
          <a:p>
            <a:r>
              <a:rPr lang="pt-BR" dirty="0"/>
              <a:t>Ou seja, em problemas </a:t>
            </a:r>
            <a:r>
              <a:rPr lang="pt-BR" b="1" dirty="0">
                <a:solidFill>
                  <a:srgbClr val="7030A0"/>
                </a:solidFill>
              </a:rPr>
              <a:t>supervisionados</a:t>
            </a:r>
            <a:r>
              <a:rPr lang="pt-BR" dirty="0"/>
              <a:t>, o objetivo é </a:t>
            </a:r>
            <a:r>
              <a:rPr lang="pt-BR" b="1" dirty="0">
                <a:solidFill>
                  <a:srgbClr val="7030A0"/>
                </a:solidFill>
              </a:rPr>
              <a:t>minimizar uma função de erro</a:t>
            </a:r>
            <a:r>
              <a:rPr lang="pt-BR" dirty="0"/>
              <a:t>.</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xmlns=""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a:t>
            </a:r>
            <a:r>
              <a:rPr lang="pt-BR" dirty="0"/>
              <a:t>.</a:t>
            </a:r>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a16="http://schemas.microsoft.com/office/drawing/2014/main" xmlns=""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xmlns=""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xmlns=""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xmlns=""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xmlns=""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xmlns=""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xmlns=""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xmlns=""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xmlns=""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xmlns=""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xmlns=""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xmlns=""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xmlns=""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xmlns=""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xmlns=""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xmlns=""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xmlns=""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xmlns=""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xmlns=""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xmlns=""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xmlns=""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xmlns=""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xmlns=""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xmlns=""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xmlns=""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xmlns=""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xmlns=""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xmlns=""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xmlns=""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xmlns=""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xmlns=""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xmlns=""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xmlns=""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xmlns=""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xmlns=""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xmlns=""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xmlns=""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xmlns=""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xmlns=""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xmlns=""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xmlns=""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xmlns=""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xmlns=""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xmlns=""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xmlns=""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xmlns=""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xmlns=""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xmlns=""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xmlns=""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xmlns=""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xmlns=""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xmlns=""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xmlns=""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xmlns=""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xmlns=""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xmlns=""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xmlns=""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xmlns=""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xmlns=""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xmlns=""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xmlns=""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xmlns=""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xmlns=""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xmlns=""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xmlns=""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xmlns=""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xmlns=""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xmlns=""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xmlns=""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xmlns=""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xmlns=""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xmlns=""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xmlns=""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xmlns=""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xmlns=""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xmlns=""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xmlns=""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xmlns=""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xmlns=""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xmlns=""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xmlns=""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xmlns=""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xmlns=""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xmlns=""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xmlns=""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xmlns=""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xmlns=""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xmlns=""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xmlns=""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xmlns=""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xmlns=""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xmlns=""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xmlns=""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xmlns=""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7942C362-2B1D-8B61-38ED-253B029C4E7F}"/>
              </a:ext>
            </a:extLst>
          </p:cNvPr>
          <p:cNvSpPr>
            <a:spLocks noGrp="1"/>
          </p:cNvSpPr>
          <p:nvPr>
            <p:ph idx="1"/>
          </p:nvPr>
        </p:nvSpPr>
        <p:spPr>
          <a:xfrm>
            <a:off x="5715000" y="1825625"/>
            <a:ext cx="6476999"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7" name="Group 6">
            <a:extLst>
              <a:ext uri="{FF2B5EF4-FFF2-40B4-BE49-F238E27FC236}">
                <a16:creationId xmlns:a16="http://schemas.microsoft.com/office/drawing/2014/main" xmlns=""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xmlns=""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xmlns=""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xmlns=""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xmlns=""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xmlns=""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xmlns=""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xmlns=""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xmlns=""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xmlns=""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xmlns=""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xmlns=""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xmlns=""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xmlns=""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xmlns=""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xmlns=""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xmlns=""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xmlns=""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xmlns=""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xmlns=""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xmlns=""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xmlns=""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xmlns=""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xmlns=""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xmlns=""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xmlns=""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xmlns=""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xmlns=""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xmlns=""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xmlns=""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xmlns=""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xmlns=""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xmlns=""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xmlns=""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xmlns=""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xmlns=""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xmlns=""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xmlns=""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xmlns=""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xmlns=""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xmlns=""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xmlns=""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xmlns=""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xmlns=""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xmlns=""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xmlns=""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xmlns=""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xmlns=""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xmlns=""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xmlns=""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xmlns=""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xmlns=""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xmlns=""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xmlns=""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xmlns=""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xmlns=""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xmlns=""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xmlns=""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xmlns=""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xmlns=""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xmlns=""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xmlns=""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xmlns=""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xmlns=""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xmlns=""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xmlns=""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xmlns=""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xmlns=""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xmlns=""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xmlns=""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xmlns=""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xmlns=""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xmlns=""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xmlns=""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xmlns=""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xmlns=""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xmlns=""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xmlns=""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xmlns=""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xmlns=""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xmlns=""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xmlns=""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xmlns=""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xmlns=""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xmlns=""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xmlns=""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xmlns=""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xmlns=""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xmlns=""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xmlns=""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xmlns=""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xmlns=""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xmlns=""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xmlns=""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xmlns=""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xmlns=""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xmlns=""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xmlns=""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xmlns=""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xmlns=""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xmlns=""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xmlns=""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xmlns=""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xmlns=""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xmlns=""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xmlns=""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xmlns=""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xmlns=""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xmlns=""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xmlns=""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xmlns=""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xmlns=""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xmlns=""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xmlns=""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xmlns=""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xmlns=""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a:t>
            </a:r>
            <a:r>
              <a:rPr lang="pt-BR" dirty="0" smtClean="0"/>
              <a:t>definida pela</a:t>
            </a:r>
            <a:endParaRPr lang="pt-BR" dirty="0"/>
          </a:p>
          <a:p>
            <a:pPr lvl="1">
              <a:buFont typeface="Wingdings" panose="05000000000000000000" pitchFamily="2" charset="2"/>
              <a:buChar char="§"/>
            </a:pPr>
            <a:r>
              <a:rPr lang="pt-BR" dirty="0"/>
              <a:t>f</a:t>
            </a:r>
            <a:r>
              <a:rPr lang="pt-BR" dirty="0" smtClean="0"/>
              <a:t>orma como </a:t>
            </a:r>
            <a:r>
              <a:rPr lang="pt-BR" dirty="0"/>
              <a:t>os neurônios estão conectados (forma direta ou recursiva),</a:t>
            </a:r>
          </a:p>
          <a:p>
            <a:pPr lvl="1">
              <a:buFont typeface="Wingdings" panose="05000000000000000000" pitchFamily="2" charset="2"/>
              <a:buChar char="§"/>
            </a:pPr>
            <a:r>
              <a:rPr lang="pt-BR" dirty="0" smtClean="0"/>
              <a:t>quantidade </a:t>
            </a:r>
            <a:r>
              <a:rPr lang="pt-BR" dirty="0"/>
              <a:t>neurônios por </a:t>
            </a:r>
            <a:r>
              <a:rPr lang="pt-BR" dirty="0" smtClean="0"/>
              <a:t>camada,</a:t>
            </a:r>
          </a:p>
          <a:p>
            <a:pPr lvl="1">
              <a:buFont typeface="Wingdings" panose="05000000000000000000" pitchFamily="2" charset="2"/>
              <a:buChar char="§"/>
            </a:pPr>
            <a:r>
              <a:rPr lang="pt-BR" dirty="0" smtClean="0"/>
              <a:t>quantidade </a:t>
            </a:r>
            <a:r>
              <a:rPr lang="pt-BR" dirty="0"/>
              <a:t>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xmlns=""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a:t>
            </a:r>
          </a:p>
        </p:txBody>
      </p:sp>
      <p:grpSp>
        <p:nvGrpSpPr>
          <p:cNvPr id="8" name="Group 7">
            <a:extLst>
              <a:ext uri="{FF2B5EF4-FFF2-40B4-BE49-F238E27FC236}">
                <a16:creationId xmlns:a16="http://schemas.microsoft.com/office/drawing/2014/main" xmlns="" id="{AA23EAEA-060A-1C22-3020-27BBBAF3E612}"/>
              </a:ext>
            </a:extLst>
          </p:cNvPr>
          <p:cNvGrpSpPr/>
          <p:nvPr/>
        </p:nvGrpSpPr>
        <p:grpSpPr>
          <a:xfrm>
            <a:off x="2440839" y="3931907"/>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xmlns=""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xmlns=""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xmlns=""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C653729B-FBD8-B36F-5207-9E37720CD997}"/>
              </a:ext>
            </a:extLst>
          </p:cNvPr>
          <p:cNvSpPr>
            <a:spLocks noGrp="1"/>
          </p:cNvSpPr>
          <p:nvPr>
            <p:ph idx="1"/>
          </p:nvPr>
        </p:nvSpPr>
        <p:spPr>
          <a:xfrm>
            <a:off x="838200" y="1825625"/>
            <a:ext cx="11205754" cy="2397727"/>
          </a:xfrm>
        </p:spPr>
        <p:txBody>
          <a:bodyPr>
            <a:normAutofit/>
          </a:bodyPr>
          <a:lstStyle/>
          <a:p>
            <a:r>
              <a:rPr lang="pt-BR" dirty="0"/>
              <a:t>Em geral, quando elas </a:t>
            </a:r>
            <a:r>
              <a:rPr lang="pt-BR" dirty="0" smtClean="0"/>
              <a:t>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a:t>
            </a:r>
            <a:r>
              <a:rPr lang="pt-BR" dirty="0" smtClean="0"/>
              <a:t>poderem ter </a:t>
            </a:r>
            <a:r>
              <a:rPr lang="pt-BR" dirty="0"/>
              <a:t>uma grande capacidade de aprendizado, elas precisam de uma </a:t>
            </a:r>
            <a:r>
              <a:rPr lang="pt-BR" b="1" dirty="0">
                <a:solidFill>
                  <a:srgbClr val="7030A0"/>
                </a:solidFill>
              </a:rPr>
              <a:t>grande quantidade de dados para </a:t>
            </a:r>
            <a:r>
              <a:rPr lang="pt-BR" b="1" dirty="0" smtClean="0">
                <a:solidFill>
                  <a:srgbClr val="7030A0"/>
                </a:solidFill>
              </a:rPr>
              <a:t>aprender </a:t>
            </a:r>
            <a:r>
              <a:rPr lang="pt-BR" b="1" dirty="0">
                <a:solidFill>
                  <a:srgbClr val="7030A0"/>
                </a:solidFill>
              </a:rPr>
              <a:t>uma solução geral</a:t>
            </a:r>
            <a:r>
              <a:rPr lang="pt-BR" dirty="0"/>
              <a:t>.</a:t>
            </a:r>
          </a:p>
        </p:txBody>
      </p:sp>
      <p:grpSp>
        <p:nvGrpSpPr>
          <p:cNvPr id="6" name="Group 5">
            <a:extLst>
              <a:ext uri="{FF2B5EF4-FFF2-40B4-BE49-F238E27FC236}">
                <a16:creationId xmlns:a16="http://schemas.microsoft.com/office/drawing/2014/main" xmlns="" id="{5213EC6B-9964-F0AD-F41B-220541F20C22}"/>
              </a:ext>
            </a:extLst>
          </p:cNvPr>
          <p:cNvGrpSpPr/>
          <p:nvPr/>
        </p:nvGrpSpPr>
        <p:grpSpPr>
          <a:xfrm>
            <a:off x="2440839" y="3839618"/>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xmlns=""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xmlns=""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a:t>
            </a:r>
            <a:r>
              <a:rPr lang="pt-BR" b="1" dirty="0" smtClean="0">
                <a:solidFill>
                  <a:srgbClr val="7030A0"/>
                </a:solidFill>
              </a:rPr>
              <a:t>de classificação</a:t>
            </a:r>
            <a:r>
              <a:rPr lang="pt-BR" dirty="0" smtClean="0"/>
              <a:t> </a:t>
            </a:r>
            <a:r>
              <a:rPr lang="pt-BR" dirty="0"/>
              <a:t>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a16="http://schemas.microsoft.com/office/drawing/2014/main" xmlns=""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smtClean="0"/>
              <a:t>Aplica entradas e a rede </a:t>
            </a:r>
            <a:r>
              <a:rPr lang="pt-BR" dirty="0"/>
              <a:t>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xmlns=""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xmlns=""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xmlns=""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xmlns=""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xmlns=""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xmlns=""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xmlns=""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xmlns=""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xmlns=""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xmlns=""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xmlns=""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xmlns=""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xmlns=""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b="-847"/>
                </a:stretch>
              </a:blipFill>
            </p:spPr>
            <p:txBody>
              <a:bodyPr/>
              <a:lstStyle/>
              <a:p>
                <a:r>
                  <a:rPr lang="en-US">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xmlns=""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xmlns=""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xmlns=""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xmlns=""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xmlns=""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xmlns=""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xmlns=""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xmlns=""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757"/>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a:blip r:embed="rId2"/>
                <a:stretch>
                  <a:fillRect l="-929"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2"/>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xmlns=""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xmlns=""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xmlns=""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xmlns=""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xmlns=""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xmlns=""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xmlns=""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smtClean="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xmlns=""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xmlns=""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xmlns="" id="{9A61C462-DCAD-E604-85FB-9F3661AB03C1}"/>
              </a:ext>
            </a:extLst>
          </p:cNvPr>
          <p:cNvSpPr>
            <a:spLocks noGrp="1"/>
          </p:cNvSpPr>
          <p:nvPr>
            <p:ph idx="1"/>
          </p:nvPr>
        </p:nvSpPr>
        <p:spPr>
          <a:xfrm>
            <a:off x="5268191" y="1825624"/>
            <a:ext cx="6854983" cy="5032375"/>
          </a:xfrm>
        </p:spPr>
        <p:txBody>
          <a:bodyPr>
            <a:normAutofit/>
          </a:bodyPr>
          <a:lstStyle/>
          <a:p>
            <a:r>
              <a:rPr lang="pt-BR" dirty="0"/>
              <a:t>Avaliar o erro em conjuntos de validação e teste.</a:t>
            </a:r>
          </a:p>
          <a:p>
            <a:pPr lvl="1">
              <a:buFont typeface="Wingdings" panose="05000000000000000000" pitchFamily="2" charset="2"/>
              <a:buChar char="§"/>
            </a:pPr>
            <a:r>
              <a:rPr lang="pt-BR" dirty="0"/>
              <a:t>O modelo é considerado bom se os </a:t>
            </a:r>
            <a:r>
              <a:rPr lang="pt-BR" b="1" dirty="0"/>
              <a:t>erros de validação e teste forem baixos</a:t>
            </a:r>
            <a:r>
              <a:rPr lang="pt-BR" dirty="0"/>
              <a:t>.</a:t>
            </a:r>
          </a:p>
          <a:p>
            <a:r>
              <a:rPr lang="pt-BR" dirty="0"/>
              <a:t>Comparar o resultado de vários treinamentos com inicializações (pesos e </a:t>
            </a:r>
            <a:r>
              <a:rPr lang="pt-BR" i="1" dirty="0"/>
              <a:t>dataset</a:t>
            </a:r>
            <a:r>
              <a:rPr lang="pt-BR" dirty="0"/>
              <a:t>, e.g., </a:t>
            </a:r>
            <a:r>
              <a:rPr lang="pt-BR" i="1" dirty="0"/>
              <a:t>k-</a:t>
            </a:r>
            <a:r>
              <a:rPr lang="pt-BR" i="1" dirty="0" err="1"/>
              <a:t>fold</a:t>
            </a:r>
            <a:r>
              <a:rPr lang="pt-BR" dirty="0"/>
              <a:t>) diferentes.</a:t>
            </a:r>
          </a:p>
          <a:p>
            <a:pPr lvl="1">
              <a:buFont typeface="Wingdings" panose="05000000000000000000" pitchFamily="2" charset="2"/>
              <a:buChar char="§"/>
            </a:pPr>
            <a:r>
              <a:rPr lang="pt-BR" dirty="0"/>
              <a:t>Se todos os treinamentos convergem para erros parecidos, então o mínimo ou os mínimos encontrados são provavelmente bons.</a:t>
            </a:r>
          </a:p>
          <a:p>
            <a:pPr lvl="1">
              <a:buFont typeface="Wingdings" panose="05000000000000000000" pitchFamily="2" charset="2"/>
              <a:buChar char="§"/>
            </a:pPr>
            <a:r>
              <a:rPr lang="pt-BR" dirty="0"/>
              <a:t>Se os resultados variam muito, então os mínimos podem ser ruins e isso pode indicar sobreajuste do modelo.</a:t>
            </a:r>
          </a:p>
        </p:txBody>
      </p:sp>
      <p:pic>
        <p:nvPicPr>
          <p:cNvPr id="4" name="Picture 2" descr="challenges-1">
            <a:extLst>
              <a:ext uri="{FF2B5EF4-FFF2-40B4-BE49-F238E27FC236}">
                <a16:creationId xmlns:a16="http://schemas.microsoft.com/office/drawing/2014/main" xmlns=""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21734" y="2494041"/>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3 derivadas parciais das funções de ativação 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F3ADB7-9531-579F-4C79-45653024187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xmlns=""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xmlns=""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xmlns=""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xmlns=""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xmlns=""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xmlns=""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xmlns=""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xmlns=""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xmlns=""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xmlns=""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xmlns=""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xmlns=""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xmlns=""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xmlns=""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xmlns=""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xmlns=""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xmlns=""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xmlns=""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xmlns=""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xmlns=""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xmlns=""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xmlns=""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xmlns=""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xmlns=""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xmlns=""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xmlns=""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xmlns=""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xmlns=""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xmlns=""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xmlns=""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xmlns=""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xmlns=""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xmlns=""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xmlns=""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xmlns=""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xmlns=""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xmlns=""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xmlns=""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xmlns=""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9144</TotalTime>
  <Words>7509</Words>
  <Application>Microsoft Office PowerPoint</Application>
  <PresentationFormat>Widescreen</PresentationFormat>
  <Paragraphs>942</Paragraphs>
  <Slides>71</Slides>
  <Notes>39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71</vt:i4>
      </vt:variant>
    </vt:vector>
  </HeadingPairs>
  <TitlesOfParts>
    <vt:vector size="80"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universal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Como garantir que o erro encontrado é bom?</vt:lpstr>
      <vt:lpstr>Exemplo</vt:lpstr>
      <vt:lpstr>Lista de exercícios</vt:lpstr>
      <vt:lpstr>Apresentação do PowerPoint</vt:lpstr>
      <vt:lpstr>Apresentação do PowerPoint</vt:lpstr>
      <vt:lpstr>Apresentação do PowerPoint</vt:lpstr>
      <vt:lpstr>Desaparecimento do gradiente</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1973</cp:revision>
  <dcterms:created xsi:type="dcterms:W3CDTF">2020-01-20T13:50:05Z</dcterms:created>
  <dcterms:modified xsi:type="dcterms:W3CDTF">2026-04-20T21:43:50Z</dcterms:modified>
</cp:coreProperties>
</file>