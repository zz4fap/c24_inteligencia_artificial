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79" r:id="rId29"/>
    <p:sldId id="567" r:id="rId30"/>
    <p:sldId id="547" r:id="rId31"/>
    <p:sldId id="391" r:id="rId32"/>
    <p:sldId id="392" r:id="rId33"/>
    <p:sldId id="576" r:id="rId34"/>
    <p:sldId id="568" r:id="rId35"/>
    <p:sldId id="569" r:id="rId36"/>
    <p:sldId id="578" r:id="rId37"/>
    <p:sldId id="570" r:id="rId38"/>
    <p:sldId id="573" r:id="rId39"/>
    <p:sldId id="574" r:id="rId40"/>
    <p:sldId id="572" r:id="rId41"/>
    <p:sldId id="581" r:id="rId42"/>
    <p:sldId id="584" r:id="rId43"/>
    <p:sldId id="580" r:id="rId44"/>
    <p:sldId id="585" r:id="rId45"/>
    <p:sldId id="552" r:id="rId46"/>
    <p:sldId id="583" r:id="rId47"/>
    <p:sldId id="557" r:id="rId48"/>
    <p:sldId id="369" r:id="rId49"/>
    <p:sldId id="549" r:id="rId50"/>
    <p:sldId id="293" r:id="rId51"/>
    <p:sldId id="306" r:id="rId5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7893" autoAdjust="0"/>
  </p:normalViewPr>
  <p:slideViewPr>
    <p:cSldViewPr snapToGrid="0">
      <p:cViewPr varScale="1">
        <p:scale>
          <a:sx n="97" d="100"/>
          <a:sy n="97" d="100"/>
        </p:scale>
        <p:origin x="133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2166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036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ABF4-821B-90C6-D65A-3ECCDF8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F1DF97-BECB-E7EA-642E-BDC94C46E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044D16-69E1-EFE7-26AA-A95677BC2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F15E5F-E836-3455-7343-3F42C53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859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2624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16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7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7" Type="http://schemas.openxmlformats.org/officeDocument/2006/relationships/image" Target="../media/image80.png"/><Relationship Id="rId12" Type="http://schemas.openxmlformats.org/officeDocument/2006/relationships/image" Target="../media/image61.png"/><Relationship Id="rId17" Type="http://schemas.openxmlformats.org/officeDocument/2006/relationships/image" Target="../media/image81.png"/><Relationship Id="rId2" Type="http://schemas.openxmlformats.org/officeDocument/2006/relationships/image" Target="../media/image79.png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7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13" Type="http://schemas.openxmlformats.org/officeDocument/2006/relationships/image" Target="../media/image310.png"/><Relationship Id="rId3" Type="http://schemas.openxmlformats.org/officeDocument/2006/relationships/image" Target="../media/image461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1.png"/><Relationship Id="rId4" Type="http://schemas.openxmlformats.org/officeDocument/2006/relationships/image" Target="../media/image221.png"/><Relationship Id="rId9" Type="http://schemas.openxmlformats.org/officeDocument/2006/relationships/image" Target="../media/image27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  <a:p>
            <a:r>
              <a:rPr lang="pt-BR" dirty="0"/>
              <a:t>Cada camada, exceto a de entrada, possui um ou mais neurônios.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dirty="0" err="1"/>
              <a:t>deep</a:t>
            </a:r>
            <a:r>
              <a:rPr lang="pt-BR" b="1" dirty="0"/>
              <a:t> learning ou aprendizado profundo</a:t>
            </a:r>
            <a:r>
              <a:rPr lang="pt-BR" dirty="0"/>
              <a:t>.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39772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/>
              <a:t>Por terem uma grande capacidade de aprendizado, elas precisam de uma grande quantidade de dados para aprenderem uma solução geral.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525061" y="2170905"/>
            <a:ext cx="3813748" cy="252152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600" dirty="0"/>
              <a:t>O algoritmo de </a:t>
            </a:r>
            <a:r>
              <a:rPr lang="pt-BR" sz="3600" i="1" dirty="0" err="1"/>
              <a:t>backpropagation</a:t>
            </a:r>
            <a:r>
              <a:rPr lang="pt-BR" sz="3600" dirty="0"/>
              <a:t> é baseado na regra da cadeia.</a:t>
            </a:r>
          </a:p>
        </p:txBody>
      </p:sp>
      <p:pic>
        <p:nvPicPr>
          <p:cNvPr id="1026" name="Picture 2" descr="Backpropagation is not the Chain Rule; Read why in this easy-to-understand  Deep Learning and backpropagation introduction! (+books recommended) | by  Mariano Crosetti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016" y="259842"/>
            <a:ext cx="4762500" cy="634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377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gradientes são calculados usando </a:t>
            </a:r>
            <a:r>
              <a:rPr lang="pt-BR" b="1" dirty="0"/>
              <a:t>regra da cadeia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8548-4E40-D933-E8DC-9078F53F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atualizar o peso de um nó de uma camada</a:t>
                </a:r>
                <a:r>
                  <a:rPr lang="pt-BR" dirty="0"/>
                  <a:t>, a </a:t>
                </a:r>
                <a:r>
                  <a:rPr lang="pt-BR" b="1" dirty="0"/>
                  <a:t>retropropagação </a:t>
                </a:r>
                <a:r>
                  <a:rPr lang="pt-BR" dirty="0"/>
                  <a:t>calcula a derivada parcial do erro em relação àquele peso usando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regra da cadeia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o exemplo abaixo com 3 nós, 3 pesos,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3 funções de ativação,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e um rótulo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900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Para facilitar a análise, vamos definir as entradas dos nós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variáveis</a:t>
                </a:r>
                <a:r>
                  <a:rPr lang="en-US" dirty="0"/>
                  <a:t>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chamadas</a:t>
                </a:r>
                <a:r>
                  <a:rPr lang="en-US" dirty="0"/>
                  <a:t> de </a:t>
                </a:r>
                <a:r>
                  <a:rPr lang="en-US" b="1" dirty="0" err="1"/>
                  <a:t>ativações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r="-1396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/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5EECB81-4888-BE43-D57A-7E0AC3433AAA}"/>
              </a:ext>
            </a:extLst>
          </p:cNvPr>
          <p:cNvGrpSpPr/>
          <p:nvPr/>
        </p:nvGrpSpPr>
        <p:grpSpPr>
          <a:xfrm>
            <a:off x="2824117" y="3859500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7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Conector de Seta Reta 7">
              <a:extLst>
                <a:ext uri="{FF2B5EF4-FFF2-40B4-BE49-F238E27FC236}">
                  <a16:creationId xmlns:a16="http://schemas.microsoft.com/office/drawing/2014/main" id="{3EB6652E-D7A4-3D53-0846-F1BCA7D3B54C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2">
              <a:extLst>
                <a:ext uri="{FF2B5EF4-FFF2-40B4-BE49-F238E27FC236}">
                  <a16:creationId xmlns:a16="http://schemas.microsoft.com/office/drawing/2014/main" id="{F3DFC699-3B19-0FEE-C53B-3464E77AFC53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7">
              <a:extLst>
                <a:ext uri="{FF2B5EF4-FFF2-40B4-BE49-F238E27FC236}">
                  <a16:creationId xmlns:a16="http://schemas.microsoft.com/office/drawing/2014/main" id="{312E89C0-1C24-ACB0-845A-4621F2D3BD18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/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82B2D064-F37C-9C64-51DF-13B09FB79146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939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DF1B7-8386-676F-A207-485C7F06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22D5A62-CE6E-1AA5-57FE-1C7135D81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Como calculamos a derivada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?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22D5A62-CE6E-1AA5-57FE-1C7135D81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 rotWithShape="0"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353461F-D7CA-7028-DE2D-B74AE7BD8BE3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id="{7ABF4E32-E935-559B-0DAE-36252CB986F6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id="{0EFE6466-BF10-C27D-2D10-5E9265EA4B9A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id="{974D17E7-41A8-8865-2776-B3EE2C176F20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93ECE202-BD62-15EC-E1DF-DF61B6B9EB0F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5302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9F49-C0EE-A65D-6D87-C23C536B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9FFF17-A855-AFE9-F0FE-D69D38AE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vetor gradiente para a atualização de um peso de qualquer camada inclui o produto das derivadas das funções de ativação dos nós desde a camada de saída até a camada desejada.</a:t>
                </a:r>
              </a:p>
              <a:p>
                <a:r>
                  <a:rPr lang="pt-BR" dirty="0"/>
                  <a:t>Essa observação será útil para entendermos os problemas do desaparecimento e explosão do gradiente.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F66F54D9-AEE7-86B8-A845-23EFD2C82656}"/>
              </a:ext>
            </a:extLst>
          </p:cNvPr>
          <p:cNvGrpSpPr/>
          <p:nvPr/>
        </p:nvGrpSpPr>
        <p:grpSpPr>
          <a:xfrm>
            <a:off x="2824117" y="1825624"/>
            <a:ext cx="6543765" cy="699336"/>
            <a:chOff x="2824117" y="1825624"/>
            <a:chExt cx="6543765" cy="69933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5F4EB85-2A0F-77F3-E70D-4C9D6DE49915}"/>
                </a:ext>
              </a:extLst>
            </p:cNvPr>
            <p:cNvGrpSpPr/>
            <p:nvPr/>
          </p:nvGrpSpPr>
          <p:grpSpPr>
            <a:xfrm>
              <a:off x="2824117" y="1825624"/>
              <a:ext cx="6543765" cy="685593"/>
              <a:chOff x="2824117" y="4105306"/>
              <a:chExt cx="6543765" cy="6855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Elipse 4">
                    <a:extLst>
                      <a:ext uri="{FF2B5EF4-FFF2-40B4-BE49-F238E27FC236}">
                        <a16:creationId xmlns:a16="http://schemas.microsoft.com/office/drawing/2014/main" id="{0DF451FF-252E-0ED6-AFC8-BBBDC99EE7D3}"/>
                      </a:ext>
                    </a:extLst>
                  </p:cNvPr>
                  <p:cNvSpPr/>
                  <p:nvPr/>
                </p:nvSpPr>
                <p:spPr>
                  <a:xfrm>
                    <a:off x="3630508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Elipse 4">
                    <a:extLst>
                      <a:ext uri="{FF2B5EF4-FFF2-40B4-BE49-F238E27FC236}">
                        <a16:creationId xmlns:a16="http://schemas.microsoft.com/office/drawing/2014/main" id="{0DF451FF-252E-0ED6-AFC8-BBBDC99EE7D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30508" y="4191970"/>
                    <a:ext cx="576000" cy="57600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 r="-41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Elipse 5">
                    <a:extLst>
                      <a:ext uri="{FF2B5EF4-FFF2-40B4-BE49-F238E27FC236}">
                        <a16:creationId xmlns:a16="http://schemas.microsoft.com/office/drawing/2014/main" id="{3CBB6E6D-DAB2-09E5-DD33-36B8D4A45190}"/>
                      </a:ext>
                    </a:extLst>
                  </p:cNvPr>
                  <p:cNvSpPr/>
                  <p:nvPr/>
                </p:nvSpPr>
                <p:spPr>
                  <a:xfrm>
                    <a:off x="5434880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Elipse 5">
                    <a:extLst>
                      <a:ext uri="{FF2B5EF4-FFF2-40B4-BE49-F238E27FC236}">
                        <a16:creationId xmlns:a16="http://schemas.microsoft.com/office/drawing/2014/main" id="{3CBB6E6D-DAB2-09E5-DD33-36B8D4A451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4880" y="4191970"/>
                    <a:ext cx="576000" cy="57600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 l="-1042" r="-52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Elipse 6">
                    <a:extLst>
                      <a:ext uri="{FF2B5EF4-FFF2-40B4-BE49-F238E27FC236}">
                        <a16:creationId xmlns:a16="http://schemas.microsoft.com/office/drawing/2014/main" id="{9EA08535-4021-80BA-226E-967C0A9D9A70}"/>
                      </a:ext>
                    </a:extLst>
                  </p:cNvPr>
                  <p:cNvSpPr/>
                  <p:nvPr/>
                </p:nvSpPr>
                <p:spPr>
                  <a:xfrm>
                    <a:off x="7238332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Elipse 6">
                    <a:extLst>
                      <a:ext uri="{FF2B5EF4-FFF2-40B4-BE49-F238E27FC236}">
                        <a16:creationId xmlns:a16="http://schemas.microsoft.com/office/drawing/2014/main" id="{9EA08535-4021-80BA-226E-967C0A9D9A7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8332" y="4191970"/>
                    <a:ext cx="576000" cy="57600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 l="-3093" r="-41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Conector de Seta Reta 7">
                <a:extLst>
                  <a:ext uri="{FF2B5EF4-FFF2-40B4-BE49-F238E27FC236}">
                    <a16:creationId xmlns:a16="http://schemas.microsoft.com/office/drawing/2014/main" id="{A11E8B99-7CCE-788B-5F00-5BD90E4A7D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6507" y="4479970"/>
                <a:ext cx="122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ector de Seta Reta 12">
                <a:extLst>
                  <a:ext uri="{FF2B5EF4-FFF2-40B4-BE49-F238E27FC236}">
                    <a16:creationId xmlns:a16="http://schemas.microsoft.com/office/drawing/2014/main" id="{16A531C1-9B34-4202-B1FA-074BD5A23B85}"/>
                  </a:ext>
                </a:extLst>
              </p:cNvPr>
              <p:cNvCxnSpPr/>
              <p:nvPr/>
            </p:nvCxnSpPr>
            <p:spPr>
              <a:xfrm>
                <a:off x="7814332" y="4479970"/>
                <a:ext cx="36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Retângulo 10">
                    <a:extLst>
                      <a:ext uri="{FF2B5EF4-FFF2-40B4-BE49-F238E27FC236}">
                        <a16:creationId xmlns:a16="http://schemas.microsoft.com/office/drawing/2014/main" id="{906CF6EB-5141-3C81-7C9C-26A36C81B480}"/>
                      </a:ext>
                    </a:extLst>
                  </p:cNvPr>
                  <p:cNvSpPr/>
                  <p:nvPr/>
                </p:nvSpPr>
                <p:spPr>
                  <a:xfrm>
                    <a:off x="8077721" y="4260973"/>
                    <a:ext cx="129016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5" name="Retângulo 10">
                    <a:extLst>
                      <a:ext uri="{FF2B5EF4-FFF2-40B4-BE49-F238E27FC236}">
                        <a16:creationId xmlns:a16="http://schemas.microsoft.com/office/drawing/2014/main" id="{906CF6EB-5141-3C81-7C9C-26A36C81B4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77721" y="4260973"/>
                    <a:ext cx="129016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557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tângulo 13">
                    <a:extLst>
                      <a:ext uri="{FF2B5EF4-FFF2-40B4-BE49-F238E27FC236}">
                        <a16:creationId xmlns:a16="http://schemas.microsoft.com/office/drawing/2014/main" id="{6439ADC2-D04E-55B5-F201-6C2D55A65394}"/>
                      </a:ext>
                    </a:extLst>
                  </p:cNvPr>
                  <p:cNvSpPr/>
                  <p:nvPr/>
                </p:nvSpPr>
                <p:spPr>
                  <a:xfrm>
                    <a:off x="2824117" y="4278202"/>
                    <a:ext cx="41928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Retângulo 13">
                    <a:extLst>
                      <a:ext uri="{FF2B5EF4-FFF2-40B4-BE49-F238E27FC236}">
                        <a16:creationId xmlns:a16="http://schemas.microsoft.com/office/drawing/2014/main" id="{6439ADC2-D04E-55B5-F201-6C2D55A6539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24117" y="4278202"/>
                    <a:ext cx="41928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" name="Conector de Seta Reta 17">
                <a:extLst>
                  <a:ext uri="{FF2B5EF4-FFF2-40B4-BE49-F238E27FC236}">
                    <a16:creationId xmlns:a16="http://schemas.microsoft.com/office/drawing/2014/main" id="{EBE85167-55DF-8F1E-D1BD-32C79C2D1084}"/>
                  </a:ext>
                </a:extLst>
              </p:cNvPr>
              <p:cNvCxnSpPr/>
              <p:nvPr/>
            </p:nvCxnSpPr>
            <p:spPr>
              <a:xfrm>
                <a:off x="3123024" y="4485279"/>
                <a:ext cx="50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B08B6112-66C0-EF5E-D40C-CB0F43BD4903}"/>
                      </a:ext>
                    </a:extLst>
                  </p:cNvPr>
                  <p:cNvSpPr txBox="1"/>
                  <p:nvPr/>
                </p:nvSpPr>
                <p:spPr>
                  <a:xfrm>
                    <a:off x="3118652" y="4120741"/>
                    <a:ext cx="50748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B08B6112-66C0-EF5E-D40C-CB0F43BD4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8652" y="4120741"/>
                    <a:ext cx="5074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229581D-0CB8-B97B-99EC-3870B0C571E7}"/>
                      </a:ext>
                    </a:extLst>
                  </p:cNvPr>
                  <p:cNvSpPr txBox="1"/>
                  <p:nvPr/>
                </p:nvSpPr>
                <p:spPr>
                  <a:xfrm>
                    <a:off x="4202134" y="4105306"/>
                    <a:ext cx="1232743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229581D-0CB8-B97B-99EC-3870B0C571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02134" y="4105306"/>
                    <a:ext cx="1232743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C59B8D0D-C168-0DEF-7032-780D8BD52DB8}"/>
                      </a:ext>
                    </a:extLst>
                  </p:cNvPr>
                  <p:cNvSpPr txBox="1"/>
                  <p:nvPr/>
                </p:nvSpPr>
                <p:spPr>
                  <a:xfrm>
                    <a:off x="6015253" y="4105306"/>
                    <a:ext cx="1232743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C59B8D0D-C168-0DEF-7032-780D8BD52D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15253" y="4105306"/>
                    <a:ext cx="1232743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13608BC-509F-47CF-C8C7-736D8D70B38D}"/>
                      </a:ext>
                    </a:extLst>
                  </p:cNvPr>
                  <p:cNvSpPr txBox="1"/>
                  <p:nvPr/>
                </p:nvSpPr>
                <p:spPr>
                  <a:xfrm>
                    <a:off x="5044469" y="4406794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13608BC-509F-47CF-C8C7-736D8D70B3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4469" y="4406794"/>
                    <a:ext cx="535857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" name="Conector de Seta Reta 7">
                <a:extLst>
                  <a:ext uri="{FF2B5EF4-FFF2-40B4-BE49-F238E27FC236}">
                    <a16:creationId xmlns:a16="http://schemas.microsoft.com/office/drawing/2014/main" id="{5D9A51C3-8AAB-F25D-CA8D-57F7AE5F5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7226" y="4474638"/>
                <a:ext cx="122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BCA4DDE-7466-5839-23BD-BF84059D5A8F}"/>
                      </a:ext>
                    </a:extLst>
                  </p:cNvPr>
                  <p:cNvSpPr txBox="1"/>
                  <p:nvPr/>
                </p:nvSpPr>
                <p:spPr>
                  <a:xfrm>
                    <a:off x="6846951" y="4406794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BCA4DDE-7466-5839-23BD-BF84059D5A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6951" y="4406794"/>
                    <a:ext cx="535857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D806064B-863B-8125-E188-56029193EBC2}"/>
                      </a:ext>
                    </a:extLst>
                  </p:cNvPr>
                  <p:cNvSpPr txBox="1"/>
                  <p:nvPr/>
                </p:nvSpPr>
                <p:spPr>
                  <a:xfrm>
                    <a:off x="3241274" y="4421567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D806064B-863B-8125-E188-56029193EB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1274" y="4421567"/>
                    <a:ext cx="535857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9271769-A4F8-1B13-5BBA-5C50F1904527}"/>
                    </a:ext>
                  </a:extLst>
                </p:cNvPr>
                <p:cNvSpPr txBox="1"/>
                <p:nvPr/>
              </p:nvSpPr>
              <p:spPr>
                <a:xfrm>
                  <a:off x="4084589" y="2155628"/>
                  <a:ext cx="82519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9271769-A4F8-1B13-5BBA-5C50F19045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4589" y="2155628"/>
                  <a:ext cx="8251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8F8E7D3-7811-A713-AA0A-6E81D86279E2}"/>
                    </a:ext>
                  </a:extLst>
                </p:cNvPr>
                <p:cNvSpPr txBox="1"/>
                <p:nvPr/>
              </p:nvSpPr>
              <p:spPr>
                <a:xfrm>
                  <a:off x="5920384" y="2136461"/>
                  <a:ext cx="7570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8F8E7D3-7811-A713-AA0A-6E81D8627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0384" y="2136461"/>
                  <a:ext cx="757084" cy="369332"/>
                </a:xfrm>
                <a:prstGeom prst="rect">
                  <a:avLst/>
                </a:prstGeom>
                <a:blipFill>
                  <a:blip r:embed="rId1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A59F6DF8-3471-00E6-711E-5D1D4947B53E}"/>
              </a:ext>
            </a:extLst>
          </p:cNvPr>
          <p:cNvSpPr/>
          <p:nvPr/>
        </p:nvSpPr>
        <p:spPr>
          <a:xfrm>
            <a:off x="4870455" y="2674375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AA49B-7357-E6EF-02B7-310898999E79}"/>
              </a:ext>
            </a:extLst>
          </p:cNvPr>
          <p:cNvSpPr/>
          <p:nvPr/>
        </p:nvSpPr>
        <p:spPr>
          <a:xfrm>
            <a:off x="714437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2B75B0-B3A1-B9D4-02EF-5E1B13BE504B}"/>
              </a:ext>
            </a:extLst>
          </p:cNvPr>
          <p:cNvSpPr/>
          <p:nvPr/>
        </p:nvSpPr>
        <p:spPr>
          <a:xfrm>
            <a:off x="941829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437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dirty="0"/>
                  <a:t>vetor gradiente </a:t>
                </a:r>
                <a:r>
                  <a:rPr lang="pt-BR" dirty="0"/>
                  <a:t>para todos os pesos do nó 1 da camada oculta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pt-BR" dirty="0"/>
                  <a:t>, de forma genérica, i.e., não vamos assumir nenhum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 r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Usaremos o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 como função de erro</a:t>
                </a:r>
                <a:endParaRPr lang="pt-BR" sz="2800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 algn="ctr">
                  <a:buNone/>
                </a:pPr>
                <a:endParaRPr lang="pt-BR" sz="5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amostras,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é o número de nós na camada de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rótulo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nó da camada de saída, respectivamente, ambos correspondentes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800" dirty="0"/>
                  <a:t> representa o índice da última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EE69-E068-E1DA-235F-CA5E09C5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1C0860-37BF-1E91-5400-161CEB8D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E90DBE-E2F7-6A62-23BE-53B1405365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rede possui uma camada oculta com dois nós e uma camada de saída com um único nó,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Além disso, por motivos didáticos, vamos considerar um único exemplo de entrada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seu respectivo rótulo,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fazendo com que o erro se torne</a:t>
                </a: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sua vez, o gradiente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1E90DBE-E2F7-6A62-23BE-53B1405365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9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sz="1400" dirty="0"/>
                  <a:t> não significa “ao quadrado”, mas sim a indicação do índice da camada.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  <a:blipFill rotWithShape="0">
                <a:blip r:embed="rId3"/>
                <a:stretch>
                  <a:fillRect r="-475" b="-81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7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são inicializados de forma aleatória.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dirty="0"/>
                  <a:t>direta</a:t>
                </a:r>
                <a:r>
                  <a:rPr lang="pt-BR" dirty="0"/>
                  <a:t> (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 rotWithShape="0">
                <a:blip r:embed="rId2"/>
                <a:stretch>
                  <a:fillRect l="-146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a derivada parcial da função de ativação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em relação à ativação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desta camada.</a:t>
                </a:r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  <a:blipFill>
                <a:blip r:embed="rId2"/>
                <a:stretch>
                  <a:fillRect l="-1135" t="-1937" r="-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 rotWithShape="0"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vetor gradiente com as derivadas parciais com relação a todos 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é apresentado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10123422" y="4803297"/>
            <a:ext cx="15834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às entradas de todos os nós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9541689" y="4779464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35C5349-4D31-D868-8BED-15F10A4DB8DE}"/>
                  </a:ext>
                </a:extLst>
              </p:cNvPr>
              <p:cNvSpPr txBox="1"/>
              <p:nvPr/>
            </p:nvSpPr>
            <p:spPr>
              <a:xfrm>
                <a:off x="1229216" y="1782098"/>
                <a:ext cx="9733568" cy="339144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pt-BR" sz="2000" dirty="0"/>
                  <a:t>Inicialize a matriz de pesos, </a:t>
                </a:r>
                <a14:m>
                  <m:oMath xmlns:m="http://schemas.openxmlformats.org/officeDocument/2006/math"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sz="2000" dirty="0"/>
                  <a:t> (sinápticos e de </a:t>
                </a:r>
                <a:r>
                  <a:rPr lang="pt-BR" sz="2000" i="1" dirty="0"/>
                  <a:t>bias</a:t>
                </a:r>
                <a:r>
                  <a:rPr lang="pt-BR" sz="2000" dirty="0"/>
                  <a:t>) e o passo de aprendizagem,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000" dirty="0"/>
                  <a:t>. 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pt-BR" sz="2000" dirty="0"/>
                  <a:t>Faça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000" b="0" dirty="0"/>
                  <a:t> (contador de épocas)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pt-BR" sz="2000" dirty="0"/>
                  <a:t>Calcule o erro inicial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  <m:d>
                          <m:dPr>
                            <m:ctrlPr>
                              <a:rPr lang="pt-BR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sz="2000" dirty="0"/>
                  <a:t> (opcional)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pt-BR" sz="2000" dirty="0"/>
                  <a:t>Enquanto o critério de parada não for atendido, faça: 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Para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pt-BR" sz="2000" dirty="0"/>
                  <a:t> variando de 1 até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pt-BR" sz="2000" dirty="0"/>
                  <a:t> (1 até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000" dirty="0"/>
                  <a:t>), faça: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§"/>
                </a:pPr>
                <a:r>
                  <a:rPr lang="pt-BR" sz="2000" dirty="0"/>
                  <a:t>Apresente a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pt-BR" sz="2000" dirty="0"/>
                  <a:t>-</a:t>
                </a:r>
                <a:r>
                  <a:rPr lang="pt-BR" sz="2000" dirty="0" err="1"/>
                  <a:t>ésima</a:t>
                </a:r>
                <a:r>
                  <a:rPr lang="pt-BR" sz="2000" dirty="0"/>
                  <a:t> amostra, amostrada aleatóriamente sem reposição, à rede.</a:t>
                </a:r>
              </a:p>
              <a:p>
                <a:pPr marL="1200150" lvl="2" indent="-285750">
                  <a:buFont typeface="Wingdings" panose="05000000000000000000" pitchFamily="2" charset="2"/>
                  <a:buChar char="§"/>
                </a:pPr>
                <a:r>
                  <a:rPr lang="pt-BR" sz="2000" dirty="0"/>
                  <a:t>Calcule </a:t>
                </a:r>
                <a14:m>
                  <m:oMath xmlns:m="http://schemas.openxmlformats.org/officeDocument/2006/math">
                    <m:r>
                      <a:rPr lang="pt-B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  <m:d>
                          <m:dPr>
                            <m:ctrlPr>
                              <a:rPr lang="pt-BR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lang="pt-BR" sz="2000" dirty="0"/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𝑾</m:t>
                    </m:r>
                    <m:d>
                      <m:d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sz="20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𝑾</m:t>
                    </m:r>
                    <m:d>
                      <m:dPr>
                        <m:ctrlPr>
                          <a:rPr lang="pt-BR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sz="2000" b="1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pt-BR" sz="2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0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d>
                          <m:d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  <m:d>
                              <m:dPr>
                                <m:ctrlPr>
                                  <a:rPr lang="pt-BR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pt-BR" sz="2000" b="0" i="0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pt-BR" sz="2000" dirty="0"/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Calcule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  <m:d>
                          <m:dPr>
                            <m:ctrlPr>
                              <a:rPr lang="pt-BR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sz="2000" dirty="0">
                    <a:ea typeface="Cambria Math" panose="02040503050406030204" pitchFamily="18" charset="0"/>
                  </a:rPr>
                  <a:t> (</a:t>
                </a:r>
                <a:r>
                  <a:rPr lang="pt-BR" sz="2000" dirty="0"/>
                  <a:t>opcional)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35C5349-4D31-D868-8BED-15F10A4DB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216" y="1782098"/>
                <a:ext cx="9733568" cy="3391441"/>
              </a:xfrm>
              <a:prstGeom prst="rect">
                <a:avLst/>
              </a:prstGeom>
              <a:blipFill>
                <a:blip r:embed="rId3"/>
                <a:stretch>
                  <a:fillRect l="-501" t="-716" b="-1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2C9DE9-D545-65C4-A22D-AD667E28EA40}"/>
                  </a:ext>
                </a:extLst>
              </p:cNvPr>
              <p:cNvSpPr txBox="1"/>
              <p:nvPr/>
            </p:nvSpPr>
            <p:spPr>
              <a:xfrm>
                <a:off x="838200" y="5264949"/>
                <a:ext cx="11166987" cy="15844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pt-BR" sz="2000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1" i="1">
                            <a:latin typeface="Cambria Math" panose="02040503050406030204" pitchFamily="18" charset="0"/>
                          </a:rPr>
                          <m:t>𝑾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sup>
                      <m:e>
                        <m:f>
                          <m:f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d>
                          </m:num>
                          <m:den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2000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r>
                  <a:rPr lang="en-US" sz="2000" dirty="0"/>
                  <a:t> é a </a:t>
                </a:r>
                <a:r>
                  <a:rPr lang="pt-BR" sz="2000" dirty="0"/>
                  <a:t>média da derivada parcial do erro para todas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sz="2000" b="1" i="1" dirty="0"/>
                  <a:t> </a:t>
                </a:r>
                <a:r>
                  <a:rPr lang="pt-BR" sz="2000" dirty="0"/>
                  <a:t>saídas considerando apenas a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pt-BR" sz="2000" dirty="0"/>
                  <a:t>-</a:t>
                </a:r>
                <a:r>
                  <a:rPr lang="pt-BR" sz="2000" dirty="0" err="1"/>
                  <a:t>ésima</a:t>
                </a:r>
                <a:r>
                  <a:rPr lang="pt-BR" sz="2000" dirty="0"/>
                  <a:t> amostra.</a:t>
                </a:r>
              </a:p>
              <a:p>
                <a:pPr/>
                <a:r>
                  <a:rPr lang="pt-BR" sz="2000" dirty="0"/>
                  <a:t>OBS.: O pseudocódigo apresentado implementa qualquer versão do gradiente descendente variando o valor de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2C9DE9-D545-65C4-A22D-AD667E28E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64949"/>
                <a:ext cx="11166987" cy="1584473"/>
              </a:xfrm>
              <a:prstGeom prst="rect">
                <a:avLst/>
              </a:prstGeom>
              <a:blipFill>
                <a:blip r:embed="rId4"/>
                <a:stretch>
                  <a:fillRect l="-601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ítulo 1">
            <a:extLst>
              <a:ext uri="{FF2B5EF4-FFF2-40B4-BE49-F238E27FC236}">
                <a16:creationId xmlns:a16="http://schemas.microsoft.com/office/drawing/2014/main" id="{7C797BA3-01C1-34FF-1A32-022D4B90D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Pseudocódigo da retropropagação</a:t>
            </a:r>
          </a:p>
        </p:txBody>
      </p:sp>
    </p:spTree>
    <p:extLst>
      <p:ext uri="{BB962C8B-B14F-4D97-AF65-F5344CB8AC3E}">
        <p14:creationId xmlns:p14="http://schemas.microsoft.com/office/powerpoint/2010/main" val="20495784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4E7DA-EA58-B340-CE6C-733198DA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3B405-8B06-A3BA-3DD8-F818E20B5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103" y="2385193"/>
            <a:ext cx="11208773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Vou ter que implementar tudo isso manualmente?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8586918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09863" y="5771214"/>
            <a:ext cx="11782270" cy="10867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dirty="0"/>
              <a:t>Não se preocupem, hoje em dia, não realizamos esse procedimento de forma manual, usamos bibliotecas que automatizam o processo.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77"/>
          <a:stretch/>
        </p:blipFill>
        <p:spPr>
          <a:xfrm>
            <a:off x="1371288" y="284811"/>
            <a:ext cx="9045938" cy="535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788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96B82-EF66-0968-9E1A-B048DD13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CAF9B-16C2-FD8E-435F-11A771041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613" y="1959078"/>
            <a:ext cx="11208773" cy="293984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Problemas relacionados ao treinamento de modelos profundos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7051982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337-AB8B-9B66-8DCB-4A4BF80A6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17E2E8-C427-8782-DBAB-8F877FEA94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819048"/>
                <a:ext cx="11353801" cy="4038949"/>
              </a:xfrm>
            </p:spPr>
            <p:txBody>
              <a:bodyPr/>
              <a:lstStyle/>
              <a:p>
                <a:r>
                  <a:rPr lang="pt-BR" dirty="0"/>
                  <a:t>Vamos reusar a rede acima como exemplo. </a:t>
                </a:r>
              </a:p>
              <a:p>
                <a:r>
                  <a:rPr lang="pt-BR" dirty="0"/>
                  <a:t>A derivada parcial do erro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dada por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Podemos </a:t>
                </a:r>
                <a:r>
                  <a:rPr lang="en-US" dirty="0" err="1"/>
                  <a:t>reescrevê</a:t>
                </a:r>
                <a:r>
                  <a:rPr lang="en-US" dirty="0"/>
                  <a:t>-la da forma </a:t>
                </a:r>
                <a:r>
                  <a:rPr lang="en-US" dirty="0" err="1"/>
                  <a:t>abaixo</a:t>
                </a:r>
                <a:r>
                  <a:rPr lang="en-US" dirty="0"/>
                  <a:t> </a:t>
                </a:r>
                <a:r>
                  <a:rPr lang="en-US" dirty="0" err="1"/>
                  <a:t>deixando</a:t>
                </a:r>
                <a:r>
                  <a:rPr lang="en-US" dirty="0"/>
                  <a:t> </a:t>
                </a:r>
                <a:r>
                  <a:rPr lang="en-US" dirty="0" err="1"/>
                  <a:t>apenas</a:t>
                </a:r>
                <a:r>
                  <a:rPr lang="en-US" dirty="0"/>
                  <a:t> as </a:t>
                </a:r>
                <a:r>
                  <a:rPr lang="en-US" dirty="0" err="1"/>
                  <a:t>as</a:t>
                </a:r>
                <a:r>
                  <a:rPr lang="en-US" dirty="0"/>
                  <a:t> </a:t>
                </a:r>
                <a:r>
                  <a:rPr lang="en-US" dirty="0" err="1"/>
                  <a:t>derivadas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 de forma </a:t>
                </a:r>
                <a:r>
                  <a:rPr lang="en-US" dirty="0" err="1"/>
                  <a:t>genérica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17E2E8-C427-8782-DBAB-8F877FEA94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819048"/>
                <a:ext cx="11353801" cy="4038949"/>
              </a:xfrm>
              <a:blipFill>
                <a:blip r:embed="rId2"/>
                <a:stretch>
                  <a:fillRect l="-913" t="-2413" r="-1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AD7588CC-1303-51DE-62D0-1AF556C3EEE7}"/>
              </a:ext>
            </a:extLst>
          </p:cNvPr>
          <p:cNvGrpSpPr/>
          <p:nvPr/>
        </p:nvGrpSpPr>
        <p:grpSpPr>
          <a:xfrm>
            <a:off x="2824117" y="1825624"/>
            <a:ext cx="6149352" cy="699336"/>
            <a:chOff x="2824117" y="1825624"/>
            <a:chExt cx="6149352" cy="69933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DC601F-B063-C4F5-51D8-BA7138B87EB1}"/>
                </a:ext>
              </a:extLst>
            </p:cNvPr>
            <p:cNvGrpSpPr/>
            <p:nvPr/>
          </p:nvGrpSpPr>
          <p:grpSpPr>
            <a:xfrm>
              <a:off x="2824117" y="1825624"/>
              <a:ext cx="6149352" cy="685593"/>
              <a:chOff x="2824117" y="4105306"/>
              <a:chExt cx="6149352" cy="6855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Elipse 4">
                    <a:extLst>
                      <a:ext uri="{FF2B5EF4-FFF2-40B4-BE49-F238E27FC236}">
                        <a16:creationId xmlns:a16="http://schemas.microsoft.com/office/drawing/2014/main" id="{44E00579-6C74-B23A-F63E-E89D51876AF6}"/>
                      </a:ext>
                    </a:extLst>
                  </p:cNvPr>
                  <p:cNvSpPr/>
                  <p:nvPr/>
                </p:nvSpPr>
                <p:spPr>
                  <a:xfrm>
                    <a:off x="3630508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Elipse 4">
                    <a:extLst>
                      <a:ext uri="{FF2B5EF4-FFF2-40B4-BE49-F238E27FC236}">
                        <a16:creationId xmlns:a16="http://schemas.microsoft.com/office/drawing/2014/main" id="{0DF451FF-252E-0ED6-AFC8-BBBDC99EE7D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30508" y="4191970"/>
                    <a:ext cx="576000" cy="57600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 r="-41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Elipse 5">
                    <a:extLst>
                      <a:ext uri="{FF2B5EF4-FFF2-40B4-BE49-F238E27FC236}">
                        <a16:creationId xmlns:a16="http://schemas.microsoft.com/office/drawing/2014/main" id="{7C0D906B-C0B2-67AF-DBED-D4BB581AFA91}"/>
                      </a:ext>
                    </a:extLst>
                  </p:cNvPr>
                  <p:cNvSpPr/>
                  <p:nvPr/>
                </p:nvSpPr>
                <p:spPr>
                  <a:xfrm>
                    <a:off x="5434880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Elipse 5">
                    <a:extLst>
                      <a:ext uri="{FF2B5EF4-FFF2-40B4-BE49-F238E27FC236}">
                        <a16:creationId xmlns:a16="http://schemas.microsoft.com/office/drawing/2014/main" id="{3CBB6E6D-DAB2-09E5-DD33-36B8D4A451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4880" y="4191970"/>
                    <a:ext cx="576000" cy="57600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 l="-1042" r="-52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Elipse 6">
                    <a:extLst>
                      <a:ext uri="{FF2B5EF4-FFF2-40B4-BE49-F238E27FC236}">
                        <a16:creationId xmlns:a16="http://schemas.microsoft.com/office/drawing/2014/main" id="{A6F1878F-253D-49AE-8CA1-10EE70E06C6D}"/>
                      </a:ext>
                    </a:extLst>
                  </p:cNvPr>
                  <p:cNvSpPr/>
                  <p:nvPr/>
                </p:nvSpPr>
                <p:spPr>
                  <a:xfrm>
                    <a:off x="7238332" y="4191970"/>
                    <a:ext cx="576000" cy="57600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Elipse 6">
                    <a:extLst>
                      <a:ext uri="{FF2B5EF4-FFF2-40B4-BE49-F238E27FC236}">
                        <a16:creationId xmlns:a16="http://schemas.microsoft.com/office/drawing/2014/main" id="{9EA08535-4021-80BA-226E-967C0A9D9A7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8332" y="4191970"/>
                    <a:ext cx="576000" cy="57600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 l="-3093" r="-41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" name="Conector de Seta Reta 7">
                <a:extLst>
                  <a:ext uri="{FF2B5EF4-FFF2-40B4-BE49-F238E27FC236}">
                    <a16:creationId xmlns:a16="http://schemas.microsoft.com/office/drawing/2014/main" id="{5B8E2EF2-D5E5-E9CD-6B17-18F6CF51BD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6507" y="4479970"/>
                <a:ext cx="122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de Seta Reta 12">
                <a:extLst>
                  <a:ext uri="{FF2B5EF4-FFF2-40B4-BE49-F238E27FC236}">
                    <a16:creationId xmlns:a16="http://schemas.microsoft.com/office/drawing/2014/main" id="{81611D8F-AB3D-DE64-1DD8-92F3A6BBCA02}"/>
                  </a:ext>
                </a:extLst>
              </p:cNvPr>
              <p:cNvCxnSpPr/>
              <p:nvPr/>
            </p:nvCxnSpPr>
            <p:spPr>
              <a:xfrm>
                <a:off x="7814332" y="4479970"/>
                <a:ext cx="828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Retângulo 10">
                    <a:extLst>
                      <a:ext uri="{FF2B5EF4-FFF2-40B4-BE49-F238E27FC236}">
                        <a16:creationId xmlns:a16="http://schemas.microsoft.com/office/drawing/2014/main" id="{5414173F-A671-4B2D-FD3D-2E2285ED3FD6}"/>
                      </a:ext>
                    </a:extLst>
                  </p:cNvPr>
                  <p:cNvSpPr/>
                  <p:nvPr/>
                </p:nvSpPr>
                <p:spPr>
                  <a:xfrm>
                    <a:off x="8550789" y="4270805"/>
                    <a:ext cx="422680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9" name="Retângulo 10">
                    <a:extLst>
                      <a:ext uri="{FF2B5EF4-FFF2-40B4-BE49-F238E27FC236}">
                        <a16:creationId xmlns:a16="http://schemas.microsoft.com/office/drawing/2014/main" id="{5414173F-A671-4B2D-FD3D-2E2285ED3FD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50789" y="4270805"/>
                    <a:ext cx="42268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667" r="-20290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tângulo 13">
                    <a:extLst>
                      <a:ext uri="{FF2B5EF4-FFF2-40B4-BE49-F238E27FC236}">
                        <a16:creationId xmlns:a16="http://schemas.microsoft.com/office/drawing/2014/main" id="{234BC2D3-CEF8-D79F-BFAF-6A5B2900CF25}"/>
                      </a:ext>
                    </a:extLst>
                  </p:cNvPr>
                  <p:cNvSpPr/>
                  <p:nvPr/>
                </p:nvSpPr>
                <p:spPr>
                  <a:xfrm>
                    <a:off x="2824117" y="4278202"/>
                    <a:ext cx="41928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Retângulo 13">
                    <a:extLst>
                      <a:ext uri="{FF2B5EF4-FFF2-40B4-BE49-F238E27FC236}">
                        <a16:creationId xmlns:a16="http://schemas.microsoft.com/office/drawing/2014/main" id="{6439ADC2-D04E-55B5-F201-6C2D55A6539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24117" y="4278202"/>
                    <a:ext cx="41928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1" name="Conector de Seta Reta 17">
                <a:extLst>
                  <a:ext uri="{FF2B5EF4-FFF2-40B4-BE49-F238E27FC236}">
                    <a16:creationId xmlns:a16="http://schemas.microsoft.com/office/drawing/2014/main" id="{124DEF9F-3265-6F80-9682-008E1B0733EA}"/>
                  </a:ext>
                </a:extLst>
              </p:cNvPr>
              <p:cNvCxnSpPr/>
              <p:nvPr/>
            </p:nvCxnSpPr>
            <p:spPr>
              <a:xfrm>
                <a:off x="3123024" y="4485279"/>
                <a:ext cx="50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D07344CA-4CF3-F76E-C52F-1EB1FD8D5072}"/>
                      </a:ext>
                    </a:extLst>
                  </p:cNvPr>
                  <p:cNvSpPr txBox="1"/>
                  <p:nvPr/>
                </p:nvSpPr>
                <p:spPr>
                  <a:xfrm>
                    <a:off x="3118652" y="4120741"/>
                    <a:ext cx="50748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B08B6112-66C0-EF5E-D40C-CB0F43BD4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8652" y="4120741"/>
                    <a:ext cx="5074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77977DB8-2115-D769-DDDB-8EB37CAA7C17}"/>
                      </a:ext>
                    </a:extLst>
                  </p:cNvPr>
                  <p:cNvSpPr txBox="1"/>
                  <p:nvPr/>
                </p:nvSpPr>
                <p:spPr>
                  <a:xfrm>
                    <a:off x="4202134" y="4105306"/>
                    <a:ext cx="1232743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229581D-0CB8-B97B-99EC-3870B0C571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02134" y="4105306"/>
                    <a:ext cx="1232743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151E2F26-305A-D7EF-7773-451EF33945B3}"/>
                      </a:ext>
                    </a:extLst>
                  </p:cNvPr>
                  <p:cNvSpPr txBox="1"/>
                  <p:nvPr/>
                </p:nvSpPr>
                <p:spPr>
                  <a:xfrm>
                    <a:off x="6015253" y="4105306"/>
                    <a:ext cx="1232743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C59B8D0D-C168-0DEF-7032-780D8BD52D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15253" y="4105306"/>
                    <a:ext cx="1232743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95A3944-17AC-8AFF-27B7-B036DB071237}"/>
                      </a:ext>
                    </a:extLst>
                  </p:cNvPr>
                  <p:cNvSpPr txBox="1"/>
                  <p:nvPr/>
                </p:nvSpPr>
                <p:spPr>
                  <a:xfrm>
                    <a:off x="5044469" y="4406794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13608BC-509F-47CF-C8C7-736D8D70B3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4469" y="4406794"/>
                    <a:ext cx="535857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Conector de Seta Reta 7">
                <a:extLst>
                  <a:ext uri="{FF2B5EF4-FFF2-40B4-BE49-F238E27FC236}">
                    <a16:creationId xmlns:a16="http://schemas.microsoft.com/office/drawing/2014/main" id="{19C750B5-77EE-EC1E-44AC-504BB1D08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7226" y="4474638"/>
                <a:ext cx="1224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F458501C-3728-E11F-68FF-8A2A80B4B659}"/>
                      </a:ext>
                    </a:extLst>
                  </p:cNvPr>
                  <p:cNvSpPr txBox="1"/>
                  <p:nvPr/>
                </p:nvSpPr>
                <p:spPr>
                  <a:xfrm>
                    <a:off x="6846951" y="4406794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BCA4DDE-7466-5839-23BD-BF84059D5A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6951" y="4406794"/>
                    <a:ext cx="535857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17D991CB-FE1B-C01C-956B-179D0B09683C}"/>
                      </a:ext>
                    </a:extLst>
                  </p:cNvPr>
                  <p:cNvSpPr txBox="1"/>
                  <p:nvPr/>
                </p:nvSpPr>
                <p:spPr>
                  <a:xfrm>
                    <a:off x="3241274" y="4421567"/>
                    <a:ext cx="53585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D806064B-863B-8125-E188-56029193EB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1274" y="4421567"/>
                    <a:ext cx="535857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6965A18-8FDE-9799-696D-152C5F865FD1}"/>
                    </a:ext>
                  </a:extLst>
                </p:cNvPr>
                <p:cNvSpPr txBox="1"/>
                <p:nvPr/>
              </p:nvSpPr>
              <p:spPr>
                <a:xfrm>
                  <a:off x="4084589" y="2155628"/>
                  <a:ext cx="82519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6965A18-8FDE-9799-696D-152C5F865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4589" y="2155628"/>
                  <a:ext cx="8251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29BD083-D41D-6E8B-203F-3D4ABF6E2D08}"/>
                    </a:ext>
                  </a:extLst>
                </p:cNvPr>
                <p:cNvSpPr txBox="1"/>
                <p:nvPr/>
              </p:nvSpPr>
              <p:spPr>
                <a:xfrm>
                  <a:off x="5920384" y="2136461"/>
                  <a:ext cx="7570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29BD083-D41D-6E8B-203F-3D4ABF6E2D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0384" y="2136461"/>
                  <a:ext cx="757084" cy="369332"/>
                </a:xfrm>
                <a:prstGeom prst="rect">
                  <a:avLst/>
                </a:prstGeom>
                <a:blipFill>
                  <a:blip r:embed="rId1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DFBD5-FA4D-91D9-109D-B66617353EEC}"/>
                  </a:ext>
                </a:extLst>
              </p:cNvPr>
              <p:cNvSpPr txBox="1"/>
              <p:nvPr/>
            </p:nvSpPr>
            <p:spPr>
              <a:xfrm>
                <a:off x="7739853" y="2135140"/>
                <a:ext cx="6325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DFBD5-FA4D-91D9-109D-B66617353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853" y="2135140"/>
                <a:ext cx="632539" cy="369332"/>
              </a:xfrm>
              <a:prstGeom prst="rect">
                <a:avLst/>
              </a:prstGeom>
              <a:blipFill>
                <a:blip r:embed="rId17"/>
                <a:stretch>
                  <a:fillRect l="-2913" r="-2233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13518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934CF7-9755-BAE7-4000-D544554A83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Se as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 </a:t>
                </a:r>
                <a:r>
                  <a:rPr lang="en-US" dirty="0" err="1"/>
                  <a:t>forem</a:t>
                </a:r>
                <a:r>
                  <a:rPr lang="en-US" dirty="0"/>
                  <a:t>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logísitica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tanh, </a:t>
                </a:r>
                <a:r>
                  <a:rPr lang="en-US" dirty="0" err="1"/>
                  <a:t>temos</a:t>
                </a:r>
                <a:r>
                  <a:rPr lang="en-US" dirty="0"/>
                  <a:t> as </a:t>
                </a:r>
                <a:r>
                  <a:rPr lang="en-US" dirty="0" err="1"/>
                  <a:t>seguintes</a:t>
                </a:r>
                <a:r>
                  <a:rPr lang="en-US" dirty="0"/>
                  <a:t> </a:t>
                </a:r>
                <a:r>
                  <a:rPr lang="en-US" dirty="0" err="1"/>
                  <a:t>derivadas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934CF7-9755-BAE7-4000-D544554A8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dissipação do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Vamos entender esse problema através de um exemplo.</a:t>
                </a:r>
              </a:p>
              <a:p>
                <a:r>
                  <a:rPr lang="pt-BR" dirty="0"/>
                  <a:t>Dada a simplificação de uma rede neural mostrada na figura abaixo, a qual contém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Três nós com as seguintes funções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, 1 e 1, conectando os três nós,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atualizarmos o valor do peso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com o gradiente descendente, precisamos encontrar a derivada parcial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encontrar a derivada, usamos a regra da cadeia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r="-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23">
            <a:extLst>
              <a:ext uri="{FF2B5EF4-FFF2-40B4-BE49-F238E27FC236}">
                <a16:creationId xmlns:a16="http://schemas.microsoft.com/office/drawing/2014/main" id="{B2B2E9E4-40EA-4EF3-A1B4-7C4B37E726F4}"/>
              </a:ext>
            </a:extLst>
          </p:cNvPr>
          <p:cNvGrpSpPr/>
          <p:nvPr/>
        </p:nvGrpSpPr>
        <p:grpSpPr>
          <a:xfrm>
            <a:off x="2729869" y="6016442"/>
            <a:ext cx="6903711" cy="749666"/>
            <a:chOff x="4473339" y="2985718"/>
            <a:chExt cx="6903711" cy="749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/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Elipse 3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/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51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6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/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4DB247EE-A5CD-4605-B5AE-0574C92FD396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6186225" y="3355050"/>
              <a:ext cx="94323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9">
              <a:extLst>
                <a:ext uri="{FF2B5EF4-FFF2-40B4-BE49-F238E27FC236}">
                  <a16:creationId xmlns:a16="http://schemas.microsoft.com/office/drawing/2014/main" id="{8FDC2F6D-7AEF-4D5B-AD32-8005F3C27C47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7705462" y="3355050"/>
              <a:ext cx="9718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12">
              <a:extLst>
                <a:ext uri="{FF2B5EF4-FFF2-40B4-BE49-F238E27FC236}">
                  <a16:creationId xmlns:a16="http://schemas.microsoft.com/office/drawing/2014/main" id="{894AD04A-1FF4-48E9-81C3-E481324E92F6}"/>
                </a:ext>
              </a:extLst>
            </p:cNvPr>
            <p:cNvCxnSpPr/>
            <p:nvPr/>
          </p:nvCxnSpPr>
          <p:spPr>
            <a:xfrm>
              <a:off x="9253275" y="335505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/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/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tângulo 14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1887" r="-4403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2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/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/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ector de Seta Reta 17">
              <a:extLst>
                <a:ext uri="{FF2B5EF4-FFF2-40B4-BE49-F238E27FC236}">
                  <a16:creationId xmlns:a16="http://schemas.microsoft.com/office/drawing/2014/main" id="{54CB43BD-2566-471D-88EE-64FDFF39B9D8}"/>
                </a:ext>
              </a:extLst>
            </p:cNvPr>
            <p:cNvCxnSpPr/>
            <p:nvPr/>
          </p:nvCxnSpPr>
          <p:spPr>
            <a:xfrm>
              <a:off x="5250225" y="3360359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/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Retângulo 18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/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/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tângulo 20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7993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8672</TotalTime>
  <Words>5420</Words>
  <Application>Microsoft Office PowerPoint</Application>
  <PresentationFormat>Widescreen</PresentationFormat>
  <Paragraphs>543</Paragraphs>
  <Slides>51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PowerPoint Presentation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PowerPoint Presentation</vt:lpstr>
      <vt:lpstr>Backpropagation</vt:lpstr>
      <vt:lpstr>PowerPoint Presentation</vt:lpstr>
      <vt:lpstr>Backpropagation</vt:lpstr>
      <vt:lpstr>Backpropagation</vt:lpstr>
      <vt:lpstr>Regra da cadeia</vt:lpstr>
      <vt:lpstr>Regra da cadeia</vt:lpstr>
      <vt:lpstr>Regra da cadeia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Pseudocódigo da retropropagação</vt:lpstr>
      <vt:lpstr>PowerPoint Presentation</vt:lpstr>
      <vt:lpstr>PowerPoint Presentation</vt:lpstr>
      <vt:lpstr>PowerPoint Presentation</vt:lpstr>
      <vt:lpstr>PowerPoint Presentation</vt:lpstr>
      <vt:lpstr>Desaparecimento do gradiente</vt:lpstr>
      <vt:lpstr>Desaparecimento do gradiente</vt:lpstr>
      <vt:lpstr>O problema da dissipação do gradiente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1846</cp:revision>
  <dcterms:created xsi:type="dcterms:W3CDTF">2020-01-20T13:50:05Z</dcterms:created>
  <dcterms:modified xsi:type="dcterms:W3CDTF">2026-03-11T20:12:20Z</dcterms:modified>
</cp:coreProperties>
</file>