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4"/>
  </p:notesMasterIdLst>
  <p:handoutMasterIdLst>
    <p:handoutMasterId r:id="rId45"/>
  </p:handoutMasterIdLst>
  <p:sldIdLst>
    <p:sldId id="256" r:id="rId2"/>
    <p:sldId id="565" r:id="rId3"/>
    <p:sldId id="417" r:id="rId4"/>
    <p:sldId id="545" r:id="rId5"/>
    <p:sldId id="544" r:id="rId6"/>
    <p:sldId id="553" r:id="rId7"/>
    <p:sldId id="556" r:id="rId8"/>
    <p:sldId id="558" r:id="rId9"/>
    <p:sldId id="445" r:id="rId10"/>
    <p:sldId id="451" r:id="rId11"/>
    <p:sldId id="454" r:id="rId12"/>
    <p:sldId id="453" r:id="rId13"/>
    <p:sldId id="532" r:id="rId14"/>
    <p:sldId id="455" r:id="rId15"/>
    <p:sldId id="448" r:id="rId16"/>
    <p:sldId id="533" r:id="rId17"/>
    <p:sldId id="512" r:id="rId18"/>
    <p:sldId id="563" r:id="rId19"/>
    <p:sldId id="564" r:id="rId20"/>
    <p:sldId id="560" r:id="rId21"/>
    <p:sldId id="561" r:id="rId22"/>
    <p:sldId id="562" r:id="rId23"/>
    <p:sldId id="531" r:id="rId24"/>
    <p:sldId id="550" r:id="rId25"/>
    <p:sldId id="551" r:id="rId26"/>
    <p:sldId id="566" r:id="rId27"/>
    <p:sldId id="554" r:id="rId28"/>
    <p:sldId id="567" r:id="rId29"/>
    <p:sldId id="547" r:id="rId30"/>
    <p:sldId id="552" r:id="rId31"/>
    <p:sldId id="568" r:id="rId32"/>
    <p:sldId id="569" r:id="rId33"/>
    <p:sldId id="570" r:id="rId34"/>
    <p:sldId id="571" r:id="rId35"/>
    <p:sldId id="572" r:id="rId36"/>
    <p:sldId id="573" r:id="rId37"/>
    <p:sldId id="574" r:id="rId38"/>
    <p:sldId id="557" r:id="rId39"/>
    <p:sldId id="431" r:id="rId40"/>
    <p:sldId id="549" r:id="rId41"/>
    <p:sldId id="293" r:id="rId42"/>
    <p:sldId id="306" r:id="rId4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7893" autoAdjust="0"/>
  </p:normalViewPr>
  <p:slideViewPr>
    <p:cSldViewPr snapToGrid="0">
      <p:cViewPr varScale="1">
        <p:scale>
          <a:sx n="64" d="100"/>
          <a:sy n="64" d="100"/>
        </p:scale>
        <p:origin x="1140" y="4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8997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563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0622987-925B-7129-0A2E-DE3815F4F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A18A4CBA-9044-26FC-DF73-B80C0CE02D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EB12BB6C-7018-B9ED-217E-DDBC0E24D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pt-BR" dirty="0"/>
              <a:t>Não exatamente. O </a:t>
            </a:r>
            <a:r>
              <a:rPr lang="pt-BR" b="1" dirty="0"/>
              <a:t>neurônio biológico</a:t>
            </a:r>
            <a:r>
              <a:rPr lang="pt-BR" dirty="0"/>
              <a:t> e o </a:t>
            </a:r>
            <a:r>
              <a:rPr lang="pt-BR" b="1" dirty="0"/>
              <a:t>modelo de </a:t>
            </a:r>
            <a:r>
              <a:rPr lang="pt-BR" b="1" dirty="0" err="1"/>
              <a:t>McCulloch-Pitts</a:t>
            </a:r>
            <a:r>
              <a:rPr lang="pt-BR" dirty="0"/>
              <a:t> compartilham algumas inspirações, mas são bem diferentes em complexidade e funcionamento. Vamos comparar os dois:</a:t>
            </a:r>
          </a:p>
          <a:p>
            <a:pPr>
              <a:buNone/>
            </a:pPr>
            <a:r>
              <a:rPr lang="pt-BR" b="1" dirty="0"/>
              <a:t>⚙️ Modelo de </a:t>
            </a:r>
            <a:r>
              <a:rPr lang="pt-BR" b="1" dirty="0" err="1"/>
              <a:t>McCulloch-Pitts</a:t>
            </a:r>
            <a:r>
              <a:rPr lang="pt-BR" b="1" dirty="0"/>
              <a:t> (1943):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um </a:t>
            </a:r>
            <a:r>
              <a:rPr lang="pt-BR" b="1" dirty="0"/>
              <a:t>modelo simplificado</a:t>
            </a:r>
            <a:r>
              <a:rPr lang="pt-BR" dirty="0"/>
              <a:t> de um neurônio, criado para representar o comportamento lógico e binário do cérebro.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Possui três partes principais: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Entradas</a:t>
            </a:r>
            <a:r>
              <a:rPr lang="pt-BR" dirty="0"/>
              <a:t>: Simulam os dendritos recebendo sinais.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Pesos</a:t>
            </a:r>
            <a:r>
              <a:rPr lang="pt-BR" dirty="0"/>
              <a:t>: Cada entrada tem um peso associado, representando a importância do sinal.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Função de ativação (limiar):</a:t>
            </a:r>
            <a:r>
              <a:rPr lang="pt-BR" dirty="0"/>
              <a:t> Se a soma ponderada das entradas ultrapassar um valor de limiar, o neurônio "dispara" (saída = 1); caso contrário, não dispara (saída = 0).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Ele opera de forma discreta e determinística, focado em </a:t>
            </a:r>
            <a:r>
              <a:rPr lang="pt-BR" b="1" dirty="0"/>
              <a:t>decisões binárias</a:t>
            </a:r>
            <a:r>
              <a:rPr lang="pt-BR" dirty="0"/>
              <a:t> e funções lógicas simples.</a:t>
            </a:r>
          </a:p>
          <a:p>
            <a:pPr>
              <a:buNone/>
            </a:pPr>
            <a:r>
              <a:rPr lang="pt-BR" b="1" dirty="0"/>
              <a:t>🧠 Neurônio Biológico: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dirty="0"/>
              <a:t>É </a:t>
            </a:r>
            <a:r>
              <a:rPr lang="pt-BR" b="1" dirty="0"/>
              <a:t>muito mais complexo</a:t>
            </a:r>
            <a:r>
              <a:rPr lang="pt-BR" dirty="0"/>
              <a:t>. Funciona através de sinais elétricos e químicos, e envolve processos que o modelo de </a:t>
            </a:r>
            <a:r>
              <a:rPr lang="pt-BR" dirty="0" err="1"/>
              <a:t>McCulloch-Pitts</a:t>
            </a:r>
            <a:r>
              <a:rPr lang="pt-BR" dirty="0"/>
              <a:t> não consegue capturar completamente: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Potenciais de ação:</a:t>
            </a:r>
            <a:r>
              <a:rPr lang="pt-BR" dirty="0"/>
              <a:t> O disparo do neurônio depende de gradientes iônicos, não apenas de uma soma ponderada.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Sinapses:</a:t>
            </a:r>
            <a:r>
              <a:rPr lang="pt-BR" dirty="0"/>
              <a:t> As conexões entre neurônios não são apenas binárias; envolvem neurotransmissores, sinapses excitatórias e inibitórias.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Plasticidade sináptica:</a:t>
            </a:r>
            <a:r>
              <a:rPr lang="pt-BR" dirty="0"/>
              <a:t> A força das conexões muda ao longo do tempo com a experiência, o que é fundamental para o aprendizado e a memória.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pt-BR" b="1" dirty="0"/>
              <a:t>Integração espacial e temporal:</a:t>
            </a:r>
            <a:r>
              <a:rPr lang="pt-BR" dirty="0"/>
              <a:t> Os sinais recebidos são integrados no tempo e no espaço, permitindo respostas mais ricas do que apenas "ligar ou desligar".</a:t>
            </a:r>
          </a:p>
          <a:p>
            <a:pPr>
              <a:buNone/>
            </a:pPr>
            <a:r>
              <a:rPr lang="pt-BR" b="1" dirty="0"/>
              <a:t>🌟 Conclusão:</a:t>
            </a:r>
          </a:p>
          <a:p>
            <a:pPr>
              <a:buNone/>
            </a:pPr>
            <a:r>
              <a:rPr lang="pt-BR" dirty="0"/>
              <a:t>O modelo de </a:t>
            </a:r>
            <a:r>
              <a:rPr lang="pt-BR" dirty="0" err="1"/>
              <a:t>McCulloch-Pitts</a:t>
            </a:r>
            <a:r>
              <a:rPr lang="pt-BR" dirty="0"/>
              <a:t> foi uma </a:t>
            </a:r>
            <a:r>
              <a:rPr lang="pt-BR" b="1" dirty="0"/>
              <a:t>abstração pioneira</a:t>
            </a:r>
            <a:r>
              <a:rPr lang="pt-BR" dirty="0"/>
              <a:t> que inspirou redes neurais artificiais, mas ele é </a:t>
            </a:r>
            <a:r>
              <a:rPr lang="pt-BR" b="1" dirty="0"/>
              <a:t>muito simplificado</a:t>
            </a:r>
            <a:r>
              <a:rPr lang="pt-BR" dirty="0"/>
              <a:t> em comparação com a complexidade dos neurônios biológicos. Hoje, modelos mais avançados, como as redes neurais profundas e os modelos de picos neurais (</a:t>
            </a:r>
            <a:r>
              <a:rPr lang="pt-BR" dirty="0" err="1"/>
              <a:t>Spiking</a:t>
            </a:r>
            <a:r>
              <a:rPr lang="pt-BR" dirty="0"/>
              <a:t> Neural Networks), tentam se aproximar mais do comportamento real dos neurônios.</a:t>
            </a:r>
          </a:p>
          <a:p>
            <a:r>
              <a:rPr lang="pt-BR" dirty="0"/>
              <a:t>Quer que eu aprofunde algum ponto ou compare com outro tipo de modelo? 🚀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E728E3E-66FE-8A4E-22A4-3CEBC0A1FE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76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33465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5813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56316CC-F373-FC26-CD96-03E3208CE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982D6386-1C01-82C2-6C5F-524E39D9CA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4DF546FF-D3FA-E080-6508-2ACC6895C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effectLst/>
              </a:rPr>
              <a:t>Esses pesos são ajustados durante o processo de treinamento da rede para otimizar o desempenho do modelo.</a:t>
            </a:r>
            <a:endParaRPr lang="pt-BR" b="1" i="0" dirty="0">
              <a:effectLst/>
              <a:latin typeface="Söhne"/>
            </a:endParaRPr>
          </a:p>
          <a:p>
            <a:endParaRPr lang="pt-BR" b="1" i="0" dirty="0">
              <a:effectLst/>
              <a:latin typeface="Söhne"/>
            </a:endParaRPr>
          </a:p>
          <a:p>
            <a:r>
              <a:rPr lang="pt-BR" b="1" i="0" dirty="0">
                <a:effectLst/>
                <a:latin typeface="Söhne"/>
              </a:rPr>
              <a:t>Aprendizado: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As redes neurais artificiais podem aprender com exemplos e ajustar seus pesos sinápticos para melhorar seu desempenho em uma tarefa específica. Essa capacidade de aprendizado é inspirada na plasticidade sináptica observada no cérebro humano, onde as conexões entre neurônios podem se fortalecer ou enfraquecer com base na experiência.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19F165B9-8714-BAFC-E5BF-A8F217688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7524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811880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3F1F29B-270E-E588-11EC-4DA7E79E7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F1CCEFA5-3016-C460-BD42-0573275C34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7C6FDBF-A103-E7A0-047E-3EAA381C20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BB272679-77C5-7D07-DA1E-053F9855A2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23192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302B59A-F827-F651-F147-44FBA47E3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C03CFD26-12FE-3E16-B46A-3D2E234D4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0D25A84F-AE8D-3123-073B-80884B4661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A arquitetura e a topologia de uma rede neural referem-se a aspectos diferentes da sua configuração e estrutura. Aqui está a diferença entre esses dois conceitos: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Arquitetura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arquitetura de uma rede neural refere-se à estrutura geral e organização dos componentes da rede. Isso inclui o número de camadas na rede, o número de neurônios em cada camada e a maneira como as camadas estão interconectadas. A arquitetura determina a complexidade e a capacidade de modelagem da rede, bem como o tipo de tarefa que a rede é capaz de executar. Por exemplo, uma arquitetura pode ser composta de várias camadas de neurônios interligadas, como uma rede neural profunda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deep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 neural network), ou pode ter conexões mais simples em uma arquitetura mais rasa.</a:t>
            </a:r>
          </a:p>
          <a:p>
            <a:pPr algn="l">
              <a:buFont typeface="+mj-lt"/>
              <a:buAutoNum type="arabicPeriod"/>
            </a:pPr>
            <a:r>
              <a:rPr lang="pt-BR" b="1" i="0" dirty="0">
                <a:solidFill>
                  <a:srgbClr val="374151"/>
                </a:solidFill>
                <a:effectLst/>
                <a:latin typeface="Söhne"/>
              </a:rPr>
              <a:t>Topologia da Rede Neural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: A topologia de uma rede neural refere-se ao padrão específico de conexões entre os neurônios em uma rede. Isso inclui quais neurônios estão conectados a quais neurônios em camadas adjacentes. A topologia determina como as informações fluem dentro da rede e quais características ou padrões a rede é capaz de capturar. Por exemplo, uma topologia de conexões densamente interligadas entre neurônios em uma camada e a próxima é comum em redes totalmente conectadas, enquanto uma topologia de conexões locais (cada neurônio se conecta apenas a um subconjunto dos neurônios na camada seguinte) é comum em redes convolucionais.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Em resumo, a arquitetura da rede neural se refere à estrutura geral e ao número de camadas e neurônios, enquanto a topologia se refere às conexões específicas entre esses neurônios. Ambos os aspectos são cruciais para o design, treinamento e desempenho de uma rede neural, e escolher a arquitetura e topologia adequadas depende da natureza da tarefa e dos dados que você está lidando.</a:t>
            </a:r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7E1631C1-F5A3-D807-E216-0D61AA8476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8299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1B16ABD-C993-4968-3F8C-E63285923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EEEBD2C5-2D2B-F2F6-5952-5DA13BB144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D7B34955-EF2E-2AB6-A9D3-848707D99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7A5C78BB-67EB-C595-6562-CBFCAE7A0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430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 rede neural com funções de ativação não-lineares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é forçada a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Em vez disso, ela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 a capacidade de ser não-linear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 for necessário para minimizar o erro. Se a função alvo for linear, a rede pode aprender pesos que fazem com que os neurônios operem apenas na 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região linear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 sua função de ativação.</a:t>
            </a: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="0" i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71344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“Qualquer função contínua no intervalo fechado [a, b] pode ser uniformemente aproximada</a:t>
            </a:r>
            <a:r>
              <a:rPr lang="pt-BR" sz="1200" b="0" i="1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tão bem quanto desejado por um polinômio”, </a:t>
            </a:r>
            <a:r>
              <a:rPr lang="pt-BR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 da aproximação de </a:t>
            </a:r>
            <a:r>
              <a:rPr lang="pt-BR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pt-BR" dirty="0"/>
              <a:t> </a:t>
            </a:r>
            <a:br>
              <a:rPr lang="pt-BR" dirty="0"/>
            </a:b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57253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smtClean="0"/>
              <a:t>O objetivo é encontrar o conjunto de pesos que minimiza a função de perda.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7933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#6:</a:t>
            </a:r>
            <a:r>
              <a:rPr lang="pt-BR" sz="1200" dirty="0"/>
              <a:t> https://mybinder.org/v2/gh/zz4fap/t320_aprendizado_de_maquina/main?filepath=labs%2FLaboratorio6.ipynb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3315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Note que 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aqui não significa “ao quadrado”, mas sim a indicação de que se trata de uma saída da camada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 smtClean="0"/>
                  <a:t>Note que o </a:t>
                </a:r>
                <a:r>
                  <a:rPr lang="pt-BR" i="0" smtClean="0">
                    <a:latin typeface="Cambria Math" panose="02040503050406030204" pitchFamily="18" charset="0"/>
                  </a:rPr>
                  <a:t>(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.)^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2</a:t>
                </a:r>
                <a:r>
                  <a:rPr lang="pt-BR" dirty="0" smtClean="0"/>
                  <a:t> aqui não significa “ao quadrado”, mas sim a indicação de que se trata de uma saída da camada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𝑀=2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1904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3" Type="http://schemas.openxmlformats.org/officeDocument/2006/relationships/image" Target="../media/image100.png"/><Relationship Id="rId7" Type="http://schemas.openxmlformats.org/officeDocument/2006/relationships/image" Target="../media/image140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11" Type="http://schemas.openxmlformats.org/officeDocument/2006/relationships/image" Target="../media/image7.jpeg"/><Relationship Id="rId5" Type="http://schemas.openxmlformats.org/officeDocument/2006/relationships/image" Target="../media/image120.png"/><Relationship Id="rId10" Type="http://schemas.openxmlformats.org/officeDocument/2006/relationships/image" Target="../media/image17.png"/><Relationship Id="rId4" Type="http://schemas.openxmlformats.org/officeDocument/2006/relationships/image" Target="../media/image110.png"/><Relationship Id="rId9" Type="http://schemas.openxmlformats.org/officeDocument/2006/relationships/image" Target="../media/image16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9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1.png"/><Relationship Id="rId5" Type="http://schemas.openxmlformats.org/officeDocument/2006/relationships/image" Target="../media/image27.png"/><Relationship Id="rId10" Type="http://schemas.openxmlformats.org/officeDocument/2006/relationships/image" Target="../media/image30.png"/><Relationship Id="rId4" Type="http://schemas.openxmlformats.org/officeDocument/2006/relationships/image" Target="../media/image26.png"/><Relationship Id="rId9" Type="http://schemas.openxmlformats.org/officeDocument/2006/relationships/image" Target="../media/image11.png"/><Relationship Id="rId1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34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32.png"/><Relationship Id="rId5" Type="http://schemas.openxmlformats.org/officeDocument/2006/relationships/image" Target="../media/image28.png"/><Relationship Id="rId10" Type="http://schemas.openxmlformats.org/officeDocument/2006/relationships/image" Target="../media/image31.png"/><Relationship Id="rId4" Type="http://schemas.openxmlformats.org/officeDocument/2006/relationships/image" Target="../media/image27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1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png"/><Relationship Id="rId4" Type="http://schemas.openxmlformats.org/officeDocument/2006/relationships/image" Target="../media/image7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Multilayer Perceptron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EURAL NETWORKS NEURAL NETWORKS EVERYWHERE - Buzz and Woody (Toy Story) Meme  Meme Generator">
            <a:extLst>
              <a:ext uri="{FF2B5EF4-FFF2-40B4-BE49-F238E27FC236}">
                <a16:creationId xmlns="" xmlns:a16="http://schemas.microsoft.com/office/drawing/2014/main" id="{FE5D1447-B6CB-88B3-AD78-E50AD24030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471" y="1766327"/>
            <a:ext cx="7063898" cy="38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3C86F23E-3116-9DE3-82E3-FFC279A1FB0E}"/>
              </a:ext>
            </a:extLst>
          </p:cNvPr>
          <p:cNvSpPr txBox="1"/>
          <p:nvPr/>
        </p:nvSpPr>
        <p:spPr>
          <a:xfrm>
            <a:off x="7317369" y="1890746"/>
            <a:ext cx="4776309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São os modelos de ML mais usados atualmente.</a:t>
            </a:r>
          </a:p>
          <a:p>
            <a:pPr algn="ctr"/>
            <a:endParaRPr lang="pt-BR" sz="2800" dirty="0"/>
          </a:p>
          <a:p>
            <a:pPr algn="ctr"/>
            <a:r>
              <a:rPr lang="pt-BR" sz="2400" dirty="0" err="1"/>
              <a:t>FaceID</a:t>
            </a:r>
            <a:endParaRPr lang="pt-BR" sz="2400" dirty="0"/>
          </a:p>
          <a:p>
            <a:pPr algn="ctr"/>
            <a:r>
              <a:rPr lang="pt-BR" sz="2400" dirty="0"/>
              <a:t>Filtros do Instagram</a:t>
            </a:r>
          </a:p>
          <a:p>
            <a:pPr algn="ctr"/>
            <a:r>
              <a:rPr lang="pt-BR" sz="2400" dirty="0"/>
              <a:t>Alexa</a:t>
            </a:r>
          </a:p>
          <a:p>
            <a:pPr algn="ctr"/>
            <a:r>
              <a:rPr lang="pt-BR" sz="2400" dirty="0"/>
              <a:t>Recomendação (Netflix, Spotify)</a:t>
            </a:r>
          </a:p>
          <a:p>
            <a:pPr algn="ctr"/>
            <a:r>
              <a:rPr lang="pt-BR" sz="2400" dirty="0"/>
              <a:t>Google tradutor</a:t>
            </a:r>
          </a:p>
          <a:p>
            <a:pPr algn="ctr"/>
            <a:r>
              <a:rPr lang="pt-BR" sz="2400" dirty="0"/>
              <a:t>Filtros de spam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052419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F57A53A-C77C-6E81-D773-CB160B726F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15DCC1D6-F396-71DB-3A9E-585DFBF51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77181" y="2717991"/>
            <a:ext cx="5466476" cy="23765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b="1" dirty="0">
                <a:solidFill>
                  <a:srgbClr val="1F1F1F"/>
                </a:solidFill>
                <a:effectLst/>
                <a:latin typeface="Google Sans"/>
              </a:rPr>
              <a:t>Subárea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 do aprendizado de máquina.</a:t>
            </a:r>
          </a:p>
          <a:p>
            <a:pPr marL="0" indent="0" algn="ctr">
              <a:buNone/>
            </a:pPr>
            <a:endParaRPr lang="pt-BR" dirty="0">
              <a:solidFill>
                <a:srgbClr val="1F1F1F"/>
              </a:solidFill>
              <a:latin typeface="Google Sans"/>
            </a:endParaRPr>
          </a:p>
          <a:p>
            <a:pPr marL="0" indent="0" algn="ctr">
              <a:buNone/>
            </a:pPr>
            <a:r>
              <a:rPr lang="pt-BR" dirty="0">
                <a:solidFill>
                  <a:srgbClr val="1F1F1F"/>
                </a:solidFill>
                <a:latin typeface="Google Sans"/>
              </a:rPr>
              <a:t>Ela e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ngloba o aprendizado profundo (</a:t>
            </a:r>
            <a:r>
              <a:rPr lang="pt-BR" b="0" i="1" dirty="0" err="1">
                <a:solidFill>
                  <a:srgbClr val="1F1F1F"/>
                </a:solidFill>
                <a:effectLst/>
                <a:latin typeface="Google Sans"/>
              </a:rPr>
              <a:t>deep</a:t>
            </a:r>
            <a:r>
              <a:rPr lang="pt-BR" b="0" i="1" dirty="0">
                <a:solidFill>
                  <a:srgbClr val="1F1F1F"/>
                </a:solidFill>
                <a:effectLst/>
                <a:latin typeface="Google Sans"/>
              </a:rPr>
              <a:t> learning</a:t>
            </a:r>
            <a:r>
              <a:rPr lang="pt-BR" b="0" i="0" dirty="0">
                <a:solidFill>
                  <a:srgbClr val="1F1F1F"/>
                </a:solidFill>
                <a:effectLst/>
                <a:latin typeface="Google Sans"/>
              </a:rPr>
              <a:t>).</a:t>
            </a:r>
          </a:p>
        </p:txBody>
      </p:sp>
      <p:pic>
        <p:nvPicPr>
          <p:cNvPr id="15" name="Imagem 14">
            <a:extLst>
              <a:ext uri="{FF2B5EF4-FFF2-40B4-BE49-F238E27FC236}">
                <a16:creationId xmlns="" xmlns:a16="http://schemas.microsoft.com/office/drawing/2014/main" id="{503F1CA4-FE10-73FB-D3A2-9E6C9D4597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044" y="2011781"/>
            <a:ext cx="4293574" cy="4095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2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CBD0528-8529-0C22-AC3D-15BF8FB43A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76941"/>
            <a:ext cx="10515600" cy="21041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7200" dirty="0"/>
              <a:t>O que é uma rede neural artificial?</a:t>
            </a:r>
            <a:endParaRPr lang="en-US" sz="7200" dirty="0"/>
          </a:p>
        </p:txBody>
      </p:sp>
    </p:spTree>
    <p:extLst>
      <p:ext uri="{BB962C8B-B14F-4D97-AF65-F5344CB8AC3E}">
        <p14:creationId xmlns:p14="http://schemas.microsoft.com/office/powerpoint/2010/main" val="292484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oke - be like a neural network - devRant">
            <a:extLst>
              <a:ext uri="{FF2B5EF4-FFF2-40B4-BE49-F238E27FC236}">
                <a16:creationId xmlns="" xmlns:a16="http://schemas.microsoft.com/office/drawing/2014/main" id="{CDA3488B-3B03-BDBD-94CC-1F6A391FA7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544" y="373350"/>
            <a:ext cx="7049181" cy="610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1F6CF095-DF53-87F8-1058-26A106AB9AB8}"/>
              </a:ext>
            </a:extLst>
          </p:cNvPr>
          <p:cNvSpPr txBox="1"/>
          <p:nvPr/>
        </p:nvSpPr>
        <p:spPr>
          <a:xfrm>
            <a:off x="7755425" y="2390875"/>
            <a:ext cx="424303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dirty="0"/>
              <a:t>Modelo com múltiplas entradas, com várias camadas, onde cada uma delas contém vários neurônios interconectados que geram uma ou mais saídas.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2133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11103D5-823E-634E-B2B8-0C6816640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06EEABC-C54D-CD89-568A-09EEED4E6E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0057" y="1825624"/>
            <a:ext cx="6150429" cy="5032375"/>
          </a:xfrm>
        </p:spPr>
        <p:txBody>
          <a:bodyPr>
            <a:normAutofit/>
          </a:bodyPr>
          <a:lstStyle/>
          <a:p>
            <a:r>
              <a:rPr lang="pt-BR" b="1" dirty="0"/>
              <a:t>Redes neurais artificiais </a:t>
            </a:r>
            <a:r>
              <a:rPr lang="pt-BR" dirty="0"/>
              <a:t>são modelos matemáticos </a:t>
            </a:r>
            <a:r>
              <a:rPr lang="pt-BR" b="1" dirty="0"/>
              <a:t>inspirados </a:t>
            </a:r>
            <a:r>
              <a:rPr lang="pt-BR" dirty="0"/>
              <a:t>pelo funcionamento do cérebro.</a:t>
            </a:r>
          </a:p>
          <a:p>
            <a:r>
              <a:rPr lang="pt-BR" dirty="0"/>
              <a:t>Elas são capazes de realizar </a:t>
            </a:r>
            <a:r>
              <a:rPr lang="pt-BR" b="1" dirty="0">
                <a:solidFill>
                  <a:schemeClr val="accent2"/>
                </a:solidFill>
              </a:rPr>
              <a:t>tarefas de aprendizado de máquina </a:t>
            </a:r>
            <a:r>
              <a:rPr lang="pt-BR" dirty="0"/>
              <a:t>com grande versatilidade e eficácia.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regressão, 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clusterização,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e segmentação,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rastreio de objetos,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0AB4D3C-14B7-80CE-5421-8D7CEA922137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880F268E-D6BC-B9A9-D04C-FFB7FAE1D52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E099D061-D8C0-397B-B74F-7922DF9C138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67713F78-5992-F462-3942-2B0F82968051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CF5712BF-CCEE-58DC-834C-71ABD925D026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13B5ED7F-88F1-BAFE-570D-763353AC721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6A1E1912-FB2F-F3FF-CE4D-CE06BAC0FB8F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FAD85B3B-1BEA-1F97-7DDA-1206B6C595A2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FED09939-6BEF-30A3-3FB4-12ECC09E29E4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3BEF4A9C-71E0-4F8F-3BD2-4D47270849E4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4B946177-8D68-EB3E-34C9-62A12C79F541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47B0CFAF-77A0-AE0B-A81A-FCCBC552CDE4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6639A641-3D08-AD9A-A99C-425A1897E50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CFE547F8-35FA-9E2F-522C-521B40CF8FC5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AF7051E2-C9E8-802A-D353-73FA091E909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41F744E4-9D95-3D3C-DC0A-533A9B702925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8BAC6053-9EA1-03A2-558A-88DA39759DB7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3F853BE8-DC89-2563-5D8A-81B95637946A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E081B8ED-0DAA-5AFA-C344-2E0F0F82456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A9641AFE-87D5-B387-E3B3-9D4DB2BF1C03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F32871E1-928B-51EF-54A4-B0CF7EF7B2D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8A271734-B1F2-D695-20AD-64D1A932C853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5F472265-7B81-A690-1AA9-E509E9086C85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F5754FED-4A00-16D2-0C3B-7EA7C7E49A7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F975C5F3-BA89-A7A9-E2E4-99BB82BFA982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E77D26A7-3320-253B-2095-5E911AD3AFB6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E9A70C6E-00E4-7265-5C01-CB3A806FEDF8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05171771-0860-E379-19DB-C2E198F3B4D3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8315C71B-DDD8-ED1A-254A-F2ADB01D279D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315C71B-DDD8-ED1A-254A-F2ADB01D2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29A41F87-326E-0B0C-8F94-399961C5D118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29A41F87-326E-0B0C-8F94-399961C5D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B58C6F3A-E781-5D75-561F-5C43A917AAB6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EBF19884-3B50-8F9C-93BC-2CC13E64670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EBF19884-3B50-8F9C-93BC-2CC13E64670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069C9B5F-E70F-D9B5-0388-F77C52F5F76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A57642F8-5C22-1A15-B172-85987C5C01ED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9C6396B2-5051-5D4F-466F-B85FB36FE935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34AEB892-F401-42DD-770A-C476E26B6F44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34AEB892-F401-42DD-770A-C476E26B6F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54E38790-B43D-A2CA-AAAB-3A650C1A92A9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D314793D-9893-40CF-6D28-8375D4B5BE48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9105E874-0E05-E4F5-E4B2-A90612F9F219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211A8312-997D-6086-BF48-8D6A12ECCE0A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3A58BF7B-3279-94C8-FFF6-06C46AB0112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AEB71C20-E18A-505D-67E6-7B45A9C6E66D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3EF97643-5284-70E1-BD80-0BB8182240E5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491A4652-97E5-4107-4DDF-D9E1B0F152A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C6954959-94F7-8348-1F33-BF93B824600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CBB7B80E-C1FD-EBBD-9D25-534E89042BD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84B319D8-A5A6-8A00-9C05-23CB87C49778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1B90B0B0-88DF-9CBC-3CD6-F61A7D24E26F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108F09EF-97F6-98E3-172A-204773369AC6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108F09EF-97F6-98E3-172A-204773369A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AC29059A-3453-14B3-FD52-7A9AAE09D717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C29059A-3453-14B3-FD52-7A9AAE09D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778001A-AA62-E613-11F3-633D012C74EA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778001A-AA62-E613-11F3-633D012C74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F94CE927-8492-9717-4B9A-B9803E52F878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F94CE927-8492-9717-4B9A-B9803E52F8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DBFD359F-1205-2EE2-15E9-7E8B34CE4982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BFD359F-1205-2EE2-15E9-7E8B34CE49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888B6626-4AD0-208D-B630-57B87F1E615C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88B6626-4AD0-208D-B630-57B87F1E61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ACC60027-CFC5-3E1B-2C05-C3290F8B634D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ACC60027-CFC5-3E1B-2C05-C3290F8B63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8871875A-2A3E-5B73-D74D-5609B9740C51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871875A-2A3E-5B73-D74D-5609B9740C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A3C84BA2-54EB-805C-7E41-3C5BD2D9E20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1DFFD252-F7C2-0400-CE79-C7D47DFB3AAB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8247F555-F9DF-97FB-7B6C-10240EC3DA03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E5F53690-6F40-A949-FEDC-4500198D8C6A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B7F0713D-76DA-6EAC-25DA-B830BA9F088A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CAABA625-C986-FB7E-6024-B9447A29D89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6904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72FA15-7C25-45ED-1E3D-0136E8BAE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ED2EFDE-F421-7617-3661-898FEECA7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 err="1"/>
              <a:t>RNAs</a:t>
            </a:r>
            <a:r>
              <a:rPr lang="pt-BR" dirty="0"/>
              <a:t> são representadas como sistemas de </a:t>
            </a:r>
            <a:r>
              <a:rPr lang="pt-BR" b="1" dirty="0"/>
              <a:t>neurônios (ou nós) interconectados</a:t>
            </a:r>
            <a:r>
              <a:rPr lang="pt-BR" dirty="0"/>
              <a:t>, organizados em </a:t>
            </a:r>
            <a:r>
              <a:rPr lang="pt-BR" b="1" dirty="0"/>
              <a:t>camadas</a:t>
            </a:r>
            <a:r>
              <a:rPr lang="pt-BR" dirty="0"/>
              <a:t>, que </a:t>
            </a:r>
            <a:r>
              <a:rPr lang="pt-BR" b="1" dirty="0"/>
              <a:t>aprendem</a:t>
            </a:r>
            <a:r>
              <a:rPr lang="pt-BR" dirty="0"/>
              <a:t>, a </a:t>
            </a:r>
            <a:r>
              <a:rPr lang="pt-BR" b="1" dirty="0"/>
              <a:t>partir de dados</a:t>
            </a:r>
            <a:r>
              <a:rPr lang="pt-BR" dirty="0"/>
              <a:t>, uma </a:t>
            </a:r>
            <a:r>
              <a:rPr lang="pt-BR" b="1" dirty="0"/>
              <a:t>função que relaciona entradas a saídas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4E1DF22-370B-0A9F-E786-A49FA17875E8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D8E0F960-AD22-C702-F05A-0D766D763133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9A795591-C1AD-8253-653F-65C7D961BFC8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8E969BD5-C4A4-A939-9BCC-B1B144839EA0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1EAAB3E6-9EE2-C90B-37EB-DF7A6AC09CBF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3B148B8E-E77A-4CB8-7CA2-7358C873DD3B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FFA44E6F-2175-34D9-1514-FCAC487E9ED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11305C7D-C471-5BAD-0B9F-C8CDEE1BA870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4F2588AE-F934-273C-BEA4-0D56BAF7674F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7F1F5ECD-0CE1-EFC7-B158-40316AD462CF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E186A336-7AFF-0939-D05F-F8C311C3CEFB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B301CA1D-FA45-E51D-5D0B-FE0E342C6C4E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7AD9F372-68A0-B57A-E3F0-AF7E0A1B6E45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35E0D02E-1776-B7D9-2342-3F61E5FA86BF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16CC534C-BFDC-FFC5-C99A-DF7135076707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EE4D35B3-8416-DE4B-20D1-08E259872841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661B0F89-0764-BC59-0B1D-1E54F1CC91F2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3838DD2D-9E3B-3A3B-FE81-417F031EF253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79071569-8F23-D7FF-3CEF-1E252E3EB0C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067ECB73-A527-9528-3612-F2E4CA8D05A9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89FFDF94-1A16-A494-6D18-41F175614D70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6FA67B61-DE8A-621F-6861-2644C17B329B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FE23F9FB-6FAB-D28E-7116-1B2723147001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960F3CF9-A912-C9B4-9D88-EEF3AD439D24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119B34E0-727E-DA79-7998-5A7B420F61B1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572062FE-4C60-56CE-7F03-6279B8C2C89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71288812-CB99-D44B-C4B2-A52ECE9F50BE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27C14E55-8404-8301-D902-C5EDC61BA9A2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0CFF7CED-332D-88AF-C3C0-49C0A733302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0CFF7CED-332D-88AF-C3C0-49C0A7333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E0E382A4-7628-058F-3CF6-983FDB847FF6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0E382A4-7628-058F-3CF6-983FDB847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A802BE9A-407C-B488-93DA-99F72E1F4E3B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7D96F221-EBD2-8CC5-9379-5B793B77C310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7D96F221-EBD2-8CC5-9379-5B793B77C31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B2DFB308-3A77-F14D-42FB-FE65677699A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976EEF10-2B6C-D9E3-EE76-6516E2D14BAF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392D4756-64AB-7AA5-B67A-505EA325DF6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DC572DD7-4BDB-3420-5B69-44B7FA019172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DC572DD7-4BDB-3420-5B69-44B7FA019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A245A3FE-F64D-71F9-7933-0B01C73F3CD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E74D8B5A-5B06-0979-0965-14B21DC2D537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2C6A73B0-074A-798B-9DBB-18DE5EF52575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EC427AB5-E4BB-7907-CBA1-58F25EB29FCF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243EF931-2725-9FAC-4693-95AD44E2CB98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34BA9903-694A-6A3D-2268-327576C56CF7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DF6C9A67-9067-5EDC-C226-CAB8E04167BB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8F3118AB-FD12-F22D-F865-22E94CCDB92B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9DA96DDF-C909-C9CA-F73B-A1E8CE0091EE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D99F43A6-B307-1E72-0D1B-848D65C28071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390884BC-D4C2-CD93-5152-5C2CEFE58A90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32363744-5718-75E7-9FF5-8F947EDC7226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9F149F88-8FBC-425B-18B4-A25A063EC08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F149F88-8FBC-425B-18B4-A25A063EC0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5D247434-3D9E-AAA1-BFBD-7EAF6E834AFA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5D247434-3D9E-AAA1-BFBD-7EAF6E834A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ADB9C1D5-E44F-F0EC-BBB0-2EF05DA96974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DB9C1D5-E44F-F0EC-BBB0-2EF05DA969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0F937DE5-22C6-2E0D-CCD5-B93A651A79F4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0F937DE5-22C6-2E0D-CCD5-B93A651A79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334077E4-2107-C898-7607-4A5331F21951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34077E4-2107-C898-7607-4A5331F219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BCB14226-5DF4-E14E-101B-53FD396577F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BCB14226-5DF4-E14E-101B-53FD396577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99A900C0-456D-4A08-2194-AE28ADA67401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99A900C0-456D-4A08-2194-AE28ADA6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C11B47C5-4DBA-FF42-97D0-97F5F0F1A4E7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11B47C5-4DBA-FF42-97D0-97F5F0F1A4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B0B84C2B-23B5-FBAB-402D-6D0DCB38CBB1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4A7BC105-4654-4523-D596-31B98F0584C0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944BD204-44EC-8B0F-CCCC-620B13B7B44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9DB4AD3A-5BC7-ECE3-2167-C281106F1AB5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4CA42873-8E63-69DF-FEC6-B6697318A088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F796D9AC-0F6B-F0B8-A755-6F3EAD090A5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53346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94543F7-82FB-D48F-6DEF-5CCC7B72A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BB79B23-B649-A1BB-EEED-EB4265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uma rede neural artificial?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F377532-DABD-D714-07CE-A3983505C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422572" cy="5032375"/>
          </a:xfrm>
        </p:spPr>
        <p:txBody>
          <a:bodyPr>
            <a:normAutofit/>
          </a:bodyPr>
          <a:lstStyle/>
          <a:p>
            <a:r>
              <a:rPr lang="pt-BR" dirty="0"/>
              <a:t>Antes de entendermos como funciona uma rede neural, precisamos primeiro relembrar o principio básico de funcionamento um neurônio biológico e como ele é usado para modelar um</a:t>
            </a:r>
            <a:r>
              <a:rPr lang="pt-BR" b="1" dirty="0"/>
              <a:t> neurônio artificial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A4A654E5-99EE-5C65-B3DB-67A37FF36A5B}"/>
              </a:ext>
            </a:extLst>
          </p:cNvPr>
          <p:cNvGrpSpPr/>
          <p:nvPr/>
        </p:nvGrpSpPr>
        <p:grpSpPr>
          <a:xfrm>
            <a:off x="838200" y="1962640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AEF26509-4671-CD68-962B-5F9CDBE3082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B93EA632-8C83-83C6-1717-F34E79D1586F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AF3E96C3-64A1-665A-E445-346955285463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87AC3999-8DA5-C671-B1BD-1324E34972EC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BD9D6F22-B247-3846-B978-31C5501EBB41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2A1784C7-0521-AD27-C3BB-C825EFC60303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0BF7434B-7FE0-D093-FD89-51BD00DF8A37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F5DAA4C4-C758-0FEF-6606-E2BAF9914605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279C9571-8754-1F58-989C-7C5403034F67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4760DCFE-9BC2-6C3A-AFCA-A648EAED6FB5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88D177F0-76D0-DE83-078B-0DE5B31D977F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936C89A2-F0D3-D88C-E757-0B5CE83CA8DB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E9F85594-E3CB-08CD-0F92-EDB0A41B6A19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E208F0AF-CE8B-469C-4600-F9BC0B39D885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3600D062-6C30-FF24-3490-17F2930199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4D88A390-53B5-82B6-E78F-05B21D41DDAF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0EA478FE-4841-17D1-C216-0BB44D3F4C0C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4B341FE9-58BF-5CB2-1527-77033952523D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1171CA1F-829A-050A-5A87-60795F8186B5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0EE7C7F8-314B-4BD0-74F3-3382C4904B6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9A5094F1-226E-7F4D-EBA0-23BA03E91C8E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A539EF9C-C252-F1DC-70F8-99C43CCAD746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B5F86E13-95C3-F837-B350-F0DF18E3BB43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C4DF701E-A576-D49C-3DC5-D1FF5FCEC71E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1AD8DBB9-53F0-A7A1-AE8F-38515EF2C94C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E44144BB-B5D0-FF80-1B1B-26689476F976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7F21C1C8-A9EC-1D2D-4A82-31181D217E41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78476B58-B60C-BDA2-ED84-F4274DEF8D44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78476B58-B60C-BDA2-ED84-F4274DEF8D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6E16AF6B-BDCF-84CC-BA22-AD84BA3647A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6E16AF6B-BDCF-84CC-BA22-AD84BA3647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7637F52C-37AA-6F57-72A4-644BED61667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5FF37362-48CE-CE17-8FFB-67041B29DDD8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5FF37362-48CE-CE17-8FFB-67041B29DD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409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DAD1335C-3027-AA64-29BB-8180C897F099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B0A426C1-8442-03DA-1C4D-2535088199F9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C7D43E34-5AB3-A3C7-7C12-C73C8FC13C80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52172AB7-13AE-26B9-F75D-02BA6E9743F6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52172AB7-13AE-26B9-F75D-02BA6E9743F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4B54F764-5433-0740-646F-4D09D53CD90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26381EF6-EE03-992D-FC90-0DE520C3F7C0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1486EF2B-FB45-68B7-5818-69F4E32C70AA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C950B179-3A23-C1E7-5E29-3EE114FA1798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0FDFAF8B-789C-FA8C-29E3-87DE305D3D12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ED881E74-E895-6DB1-4B3F-001978264A0C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7B3AE951-4415-DD8C-6602-4DA796225A9E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6F1830A5-8926-9AAD-3454-60ADDD3CB756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E9AC7681-BC3E-7E5D-6968-2C0331A9FF21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2BAE68F4-D668-97CC-11E3-511EFA07A92E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9972CDD1-F896-5E2C-C8A4-A963155B01EB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23A6988E-30DF-C422-ED06-79CBE5C32EDE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69A677CD-9AD5-397F-587F-515CA32618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69A677CD-9AD5-397F-587F-515CA3261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2ED6582B-E94E-941F-2ADE-2830C441ECB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2ED6582B-E94E-941F-2ADE-2830C441E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5512FE1B-01B2-FFDD-036E-2DD3A18526C9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5512FE1B-01B2-FFDD-036E-2DD3A1852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6924F93B-F7EB-6B33-5956-A29BF38C06D1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6924F93B-F7EB-6B33-5956-A29BF38C06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D19DCDDA-DE37-157A-5151-7245EF4E905F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D19DCDDA-DE37-157A-5151-7245EF4E90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7470A42-A8D3-4071-DD67-EF4604324C7E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7470A42-A8D3-4071-DD67-EF4604324C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4BE2A8D8-E86D-D878-D2E0-1F4427B06575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BE2A8D8-E86D-D878-D2E0-1F4427B06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A1FA57A7-793F-A00E-89AD-3C6D746839B3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A1FA57A7-793F-A00E-89AD-3C6D746839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41F7D791-881F-6930-43AB-DCD801930EB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1CEADAAA-0A40-5BB1-DBB9-51D2ED9EF2D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2AF40A14-80D6-D386-5A20-DC8DB81FE9A7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557E1C35-82D6-DF3B-71DE-F7A13A885FEF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28F0ECAF-C620-485D-D00B-FD94DD584A7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7E86DF34-53B2-4E60-F138-1DC2C75F479B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819973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>
                <a:solidFill>
                  <a:srgbClr val="00B050"/>
                </a:solidFill>
              </a:rPr>
              <a:t>células</a:t>
            </a:r>
            <a:r>
              <a:rPr lang="pt-BR" dirty="0"/>
              <a:t> que possuem </a:t>
            </a:r>
            <a:r>
              <a:rPr lang="pt-BR" b="1" dirty="0">
                <a:solidFill>
                  <a:srgbClr val="7030A0"/>
                </a:solidFill>
              </a:rPr>
              <a:t>mecanismos eletroquímicos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para realizar a </a:t>
            </a:r>
            <a:r>
              <a:rPr lang="pt-BR" b="1" dirty="0">
                <a:solidFill>
                  <a:srgbClr val="00B050"/>
                </a:solidFill>
                <a:effectLst/>
              </a:rPr>
              <a:t>transmissão de sinais elétricos </a:t>
            </a:r>
            <a:r>
              <a:rPr lang="pt-BR" b="0" dirty="0">
                <a:effectLst/>
              </a:rPr>
              <a:t>(i.e., informações) </a:t>
            </a:r>
            <a:r>
              <a:rPr lang="pt-BR" b="1" dirty="0">
                <a:solidFill>
                  <a:srgbClr val="00B050"/>
                </a:solidFill>
                <a:effectLst/>
              </a:rPr>
              <a:t>ao longo do sistema nervoso</a:t>
            </a:r>
            <a:r>
              <a:rPr lang="pt-BR" dirty="0"/>
              <a:t>. </a:t>
            </a:r>
          </a:p>
          <a:p>
            <a:r>
              <a:rPr lang="pt-BR" dirty="0"/>
              <a:t>Têm três partes fundamentais:</a:t>
            </a:r>
            <a:r>
              <a:rPr lang="pt-BR" b="1" dirty="0"/>
              <a:t> </a:t>
            </a:r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, o </a:t>
            </a:r>
            <a:r>
              <a:rPr lang="pt-BR" b="1" dirty="0"/>
              <a:t>axônio</a:t>
            </a:r>
            <a:r>
              <a:rPr lang="pt-BR" dirty="0"/>
              <a:t> e o </a:t>
            </a:r>
            <a:r>
              <a:rPr lang="pt-BR" b="1" dirty="0"/>
              <a:t>corpo celular</a:t>
            </a:r>
            <a:r>
              <a:rPr lang="pt-BR" dirty="0"/>
              <a:t>, também chamado de </a:t>
            </a:r>
            <a:r>
              <a:rPr lang="pt-BR" b="1" dirty="0">
                <a:solidFill>
                  <a:srgbClr val="00B050"/>
                </a:solidFill>
              </a:rPr>
              <a:t>soma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/>
              <a:t>dendritos</a:t>
            </a:r>
            <a:r>
              <a:rPr lang="pt-BR" dirty="0"/>
              <a:t> </a:t>
            </a:r>
            <a:r>
              <a:rPr lang="pt-BR" b="1" dirty="0"/>
              <a:t>recebem</a:t>
            </a:r>
            <a:r>
              <a:rPr lang="pt-BR" dirty="0"/>
              <a:t> </a:t>
            </a:r>
            <a:r>
              <a:rPr lang="pt-BR" b="1" dirty="0"/>
              <a:t>estímulos </a:t>
            </a:r>
            <a:r>
              <a:rPr lang="pt-BR" dirty="0"/>
              <a:t>vindos</a:t>
            </a:r>
            <a:r>
              <a:rPr lang="pt-BR" b="1" dirty="0"/>
              <a:t> de outros neurônios </a:t>
            </a:r>
            <a:r>
              <a:rPr lang="pt-BR" dirty="0"/>
              <a:t>e os levam em direção ao </a:t>
            </a:r>
            <a:r>
              <a:rPr lang="pt-BR" b="1" dirty="0"/>
              <a:t>corpo celular</a:t>
            </a:r>
            <a:r>
              <a:rPr lang="pt-BR" dirty="0"/>
              <a:t>.</a:t>
            </a:r>
          </a:p>
        </p:txBody>
      </p:sp>
      <p:grpSp>
        <p:nvGrpSpPr>
          <p:cNvPr id="15" name="Agrupar 14">
            <a:extLst>
              <a:ext uri="{FF2B5EF4-FFF2-40B4-BE49-F238E27FC236}">
                <a16:creationId xmlns="" xmlns:a16="http://schemas.microsoft.com/office/drawing/2014/main" id="{969B708E-3193-1F66-DEDD-45860CC83E7A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4" name="Picture 6" descr="Explainer: What is a neuron? | Science News for Students">
              <a:extLst>
                <a:ext uri="{FF2B5EF4-FFF2-40B4-BE49-F238E27FC236}">
                  <a16:creationId xmlns="" xmlns:a16="http://schemas.microsoft.com/office/drawing/2014/main" id="{B71EEF35-963B-11CA-3796-3E1341DE94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ixaDeTexto 4">
                  <a:extLst>
                    <a:ext uri="{FF2B5EF4-FFF2-40B4-BE49-F238E27FC236}">
                      <a16:creationId xmlns="" xmlns:a16="http://schemas.microsoft.com/office/drawing/2014/main" id="{9D747603-0B59-5C04-4746-FA2F84C8DFD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5" name="CaixaDeTexto 4">
                  <a:extLst>
                    <a:ext uri="{FF2B5EF4-FFF2-40B4-BE49-F238E27FC236}">
                      <a16:creationId xmlns:a16="http://schemas.microsoft.com/office/drawing/2014/main" id="{9D747603-0B59-5C04-4746-FA2F84C8DF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="" xmlns:a16="http://schemas.microsoft.com/office/drawing/2014/main" id="{75991B08-99B1-965F-6DD9-2741F01C2027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75991B08-99B1-965F-6DD9-2741F01C20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488EDE88-85B2-C326-7AA1-70B6691CF7A8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488EDE88-85B2-C326-7AA1-70B6691CF7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C371989-0F76-A1F9-3B40-C00020C4BFD7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C371989-0F76-A1F9-3B40-C00020C4BF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CD9064C4-44F7-CA0A-EF13-03B8F7EBE093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CD9064C4-44F7-CA0A-EF13-03B8F7EBE0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="" xmlns:a16="http://schemas.microsoft.com/office/drawing/2014/main" id="{FA801F61-3CAE-EBF3-E882-8568DBBDF348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FA801F61-3CAE-EBF3-E882-8568DBBDF3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="" xmlns:a16="http://schemas.microsoft.com/office/drawing/2014/main" id="{69AAFC83-7ECF-F778-6B16-BCB52B9C7818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69AAFC83-7ECF-F778-6B16-BCB52B9C78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="" xmlns:a16="http://schemas.microsoft.com/office/drawing/2014/main" id="{2AE25DD5-437F-79AD-7C55-1EF2C6C9B3AA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2AE25DD5-437F-79AD-7C55-1EF2C6C9B3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="" xmlns:a16="http://schemas.microsoft.com/office/drawing/2014/main" id="{3C48D98A-1A73-8DBC-2C97-869FA80E74E2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3C48D98A-1A73-8DBC-2C97-869FA80E74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="" xmlns:a16="http://schemas.microsoft.com/office/drawing/2014/main" id="{C96A6FE7-EBFD-C8E4-DAB3-88CF634D7210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C96A6FE7-EBFD-C8E4-DAB3-88CF634D7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35147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O </a:t>
            </a:r>
            <a:r>
              <a:rPr lang="pt-BR" b="1" dirty="0"/>
              <a:t>corpo celular</a:t>
            </a:r>
            <a:r>
              <a:rPr lang="pt-BR" dirty="0"/>
              <a:t> realiza a </a:t>
            </a:r>
            <a:r>
              <a:rPr lang="pt-BR" b="1" dirty="0">
                <a:solidFill>
                  <a:srgbClr val="7030A0"/>
                </a:solidFill>
              </a:rPr>
              <a:t>integração</a:t>
            </a:r>
            <a:r>
              <a:rPr lang="pt-BR" dirty="0"/>
              <a:t> dos </a:t>
            </a:r>
            <a:r>
              <a:rPr lang="pt-BR" b="1" dirty="0"/>
              <a:t>estímulos e gera impulsos</a:t>
            </a:r>
            <a:r>
              <a:rPr lang="pt-BR" dirty="0"/>
              <a:t> caso um limiar seja ultrapassado.</a:t>
            </a:r>
          </a:p>
          <a:p>
            <a:r>
              <a:rPr lang="pt-BR" dirty="0"/>
              <a:t>O </a:t>
            </a:r>
            <a:r>
              <a:rPr lang="pt-BR" b="1" dirty="0"/>
              <a:t>axônio</a:t>
            </a:r>
            <a:r>
              <a:rPr lang="pt-BR" dirty="0"/>
              <a:t> envia </a:t>
            </a:r>
            <a:r>
              <a:rPr lang="pt-BR" b="1" dirty="0"/>
              <a:t>impulsos</a:t>
            </a:r>
            <a:r>
              <a:rPr lang="pt-BR" dirty="0"/>
              <a:t> a outros neurônios através de seus </a:t>
            </a:r>
            <a:r>
              <a:rPr lang="pt-BR" b="1" dirty="0"/>
              <a:t>terminais</a:t>
            </a:r>
            <a:r>
              <a:rPr lang="pt-BR" dirty="0"/>
              <a:t>.</a:t>
            </a:r>
          </a:p>
          <a:p>
            <a:r>
              <a:rPr lang="pt-BR" dirty="0"/>
              <a:t>Os neurônios se comunicam uns com os outros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  <a:p>
            <a:r>
              <a:rPr lang="pt-BR" b="1" dirty="0"/>
              <a:t>Sinapses</a:t>
            </a:r>
            <a:r>
              <a:rPr lang="pt-BR" dirty="0"/>
              <a:t> são os </a:t>
            </a:r>
            <a:r>
              <a:rPr lang="pt-BR" b="1" dirty="0"/>
              <a:t>pontos de contato </a:t>
            </a:r>
            <a:r>
              <a:rPr lang="pt-BR" dirty="0"/>
              <a:t>entre os </a:t>
            </a:r>
            <a:r>
              <a:rPr lang="pt-BR" b="1" dirty="0"/>
              <a:t>dentritos</a:t>
            </a:r>
            <a:r>
              <a:rPr lang="pt-BR" dirty="0"/>
              <a:t> de um neurônio e os </a:t>
            </a:r>
            <a:r>
              <a:rPr lang="pt-BR" b="1" dirty="0"/>
              <a:t>terminais do axônio </a:t>
            </a:r>
            <a:r>
              <a:rPr lang="pt-BR" dirty="0"/>
              <a:t>de outros neurônios.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2D96ECB5-848A-C88C-056F-52DA508E7224}"/>
              </a:ext>
            </a:extLst>
          </p:cNvPr>
          <p:cNvGrpSpPr/>
          <p:nvPr/>
        </p:nvGrpSpPr>
        <p:grpSpPr>
          <a:xfrm>
            <a:off x="-71873" y="2058398"/>
            <a:ext cx="5701148" cy="3587746"/>
            <a:chOff x="-71873" y="2058398"/>
            <a:chExt cx="5701148" cy="3587746"/>
          </a:xfrm>
        </p:grpSpPr>
        <p:pic>
          <p:nvPicPr>
            <p:cNvPr id="6" name="Picture 6" descr="Explainer: What is a neuron? | Science News for Students">
              <a:extLst>
                <a:ext uri="{FF2B5EF4-FFF2-40B4-BE49-F238E27FC236}">
                  <a16:creationId xmlns="" xmlns:a16="http://schemas.microsoft.com/office/drawing/2014/main" id="{759A4CA3-01FF-6AF2-87C1-457853CE0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33" t="5158" r="3204" b="4941"/>
            <a:stretch/>
          </p:blipFill>
          <p:spPr bwMode="auto">
            <a:xfrm>
              <a:off x="137678" y="2318389"/>
              <a:ext cx="5491597" cy="31489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="" xmlns:a16="http://schemas.microsoft.com/office/drawing/2014/main" id="{1426AD33-5765-CC42-08C3-2BCF4841ED32}"/>
                    </a:ext>
                  </a:extLst>
                </p:cNvPr>
                <p:cNvSpPr txBox="1"/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1426AD33-5765-CC42-08C3-2BCF4841E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3177631"/>
                  <a:ext cx="419101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3EB7877-CD22-CF2C-BF7F-0B3FC8CB3052}"/>
                    </a:ext>
                  </a:extLst>
                </p:cNvPr>
                <p:cNvSpPr txBox="1"/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3EB7877-CD22-CF2C-BF7F-0B3FC8CB30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4185" y="2850339"/>
                  <a:ext cx="41910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2804298E-F08E-8578-9080-ECAB4DAD1CDE}"/>
                    </a:ext>
                  </a:extLst>
                </p:cNvPr>
                <p:cNvSpPr txBox="1"/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2804298E-F08E-8578-9080-ECAB4DAD1C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3735" y="2595541"/>
                  <a:ext cx="41910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="" xmlns:a16="http://schemas.microsoft.com/office/drawing/2014/main" id="{222E6389-02E2-B0D7-830F-E940B5FE6251}"/>
                    </a:ext>
                  </a:extLst>
                </p:cNvPr>
                <p:cNvSpPr txBox="1"/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222E6389-02E2-B0D7-830F-E940B5FE62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011" y="2139555"/>
                  <a:ext cx="41910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="" xmlns:a16="http://schemas.microsoft.com/office/drawing/2014/main" id="{B42E4CAB-BAEC-70F9-C539-CC7474AF4E6E}"/>
                    </a:ext>
                  </a:extLst>
                </p:cNvPr>
                <p:cNvSpPr txBox="1"/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B42E4CAB-BAEC-70F9-C539-CC7474AF4E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505" y="2058398"/>
                  <a:ext cx="41910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CaixaDeTexto 11">
                  <a:extLst>
                    <a:ext uri="{FF2B5EF4-FFF2-40B4-BE49-F238E27FC236}">
                      <a16:creationId xmlns="" xmlns:a16="http://schemas.microsoft.com/office/drawing/2014/main" id="{AB8D382C-F476-6225-C2D1-63AD58286DDF}"/>
                    </a:ext>
                  </a:extLst>
                </p:cNvPr>
                <p:cNvSpPr txBox="1"/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2" name="CaixaDeTexto 11">
                  <a:extLst>
                    <a:ext uri="{FF2B5EF4-FFF2-40B4-BE49-F238E27FC236}">
                      <a16:creationId xmlns:a16="http://schemas.microsoft.com/office/drawing/2014/main" id="{AB8D382C-F476-6225-C2D1-63AD58286D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6136" y="4062609"/>
                  <a:ext cx="419101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="" xmlns:a16="http://schemas.microsoft.com/office/drawing/2014/main" id="{1A24BA65-3B24-6F73-B703-EE543DC29EDF}"/>
                    </a:ext>
                  </a:extLst>
                </p:cNvPr>
                <p:cNvSpPr txBox="1"/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1A24BA65-3B24-6F73-B703-EE543DC29E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0" y="5265190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CaixaDeTexto 13">
                  <a:extLst>
                    <a:ext uri="{FF2B5EF4-FFF2-40B4-BE49-F238E27FC236}">
                      <a16:creationId xmlns="" xmlns:a16="http://schemas.microsoft.com/office/drawing/2014/main" id="{744E9EED-B077-89E6-B9E6-CD6C5BD17DE2}"/>
                    </a:ext>
                  </a:extLst>
                </p:cNvPr>
                <p:cNvSpPr txBox="1"/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4" name="CaixaDeTexto 13">
                  <a:extLst>
                    <a:ext uri="{FF2B5EF4-FFF2-40B4-BE49-F238E27FC236}">
                      <a16:creationId xmlns:a16="http://schemas.microsoft.com/office/drawing/2014/main" id="{744E9EED-B077-89E6-B9E6-CD6C5BD17D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205" y="5338367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="" xmlns:a16="http://schemas.microsoft.com/office/drawing/2014/main" id="{092CAD5F-0BF8-939D-F4EC-0F88C1A87020}"/>
                    </a:ext>
                  </a:extLst>
                </p:cNvPr>
                <p:cNvSpPr txBox="1"/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092CAD5F-0BF8-939D-F4EC-0F88C1A870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310" y="4273607"/>
                  <a:ext cx="419101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="" xmlns:a16="http://schemas.microsoft.com/office/drawing/2014/main" id="{0569B0F1-5032-81E0-38FD-0E985591A83A}"/>
                    </a:ext>
                  </a:extLst>
                </p:cNvPr>
                <p:cNvSpPr txBox="1"/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0569B0F1-5032-81E0-38FD-0E985591A8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71873" y="4948219"/>
                  <a:ext cx="419101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26" name="Picture 2" descr="Sinapses: Partes, Funções e Tipos de sinapses - Psicoativo ...">
            <a:extLst>
              <a:ext uri="{FF2B5EF4-FFF2-40B4-BE49-F238E27FC236}">
                <a16:creationId xmlns="" xmlns:a16="http://schemas.microsoft.com/office/drawing/2014/main" id="{DAF695C8-FDDC-46FC-779C-6B1769BDD4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0344" y="5352460"/>
            <a:ext cx="2334440" cy="138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02288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0C7E755-11FB-5503-F077-DF631F5CB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biológico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151907C-2CEE-D100-622D-830DCF5CE1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275" y="1825624"/>
            <a:ext cx="6425046" cy="5032375"/>
          </a:xfrm>
        </p:spPr>
        <p:txBody>
          <a:bodyPr>
            <a:normAutofit/>
          </a:bodyPr>
          <a:lstStyle/>
          <a:p>
            <a:r>
              <a:rPr lang="pt-BR" dirty="0"/>
              <a:t>Em termos bem simples, o funcionamento do </a:t>
            </a:r>
            <a:r>
              <a:rPr lang="pt-BR" b="1" dirty="0"/>
              <a:t>neurônio</a:t>
            </a:r>
            <a:r>
              <a:rPr lang="pt-BR" dirty="0"/>
              <a:t> pode ser explicado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Ele </a:t>
            </a:r>
            <a:r>
              <a:rPr lang="pt-BR" b="1" dirty="0"/>
              <a:t>recebe estímulos elétricos</a:t>
            </a:r>
            <a:r>
              <a:rPr lang="pt-BR" dirty="0"/>
              <a:t> através dos dendritos.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Esses </a:t>
            </a:r>
            <a:r>
              <a:rPr lang="pt-BR" b="1" dirty="0"/>
              <a:t>estímulos são integrados </a:t>
            </a:r>
            <a:r>
              <a:rPr lang="pt-BR" dirty="0"/>
              <a:t>no corpo celular (soma).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</a:t>
            </a:r>
            <a:r>
              <a:rPr lang="pt-BR" b="1" dirty="0"/>
              <a:t>integração dos estímulos </a:t>
            </a:r>
            <a:r>
              <a:rPr lang="pt-BR" dirty="0"/>
              <a:t>exceder um certo </a:t>
            </a:r>
            <a:r>
              <a:rPr lang="pt-BR" b="1" dirty="0"/>
              <a:t>limiar de ativação</a:t>
            </a:r>
            <a:r>
              <a:rPr lang="pt-BR" dirty="0"/>
              <a:t>, o </a:t>
            </a:r>
            <a:r>
              <a:rPr lang="pt-BR" b="1" dirty="0"/>
              <a:t>neurônio</a:t>
            </a:r>
            <a:r>
              <a:rPr lang="pt-BR" dirty="0"/>
              <a:t> gera um </a:t>
            </a:r>
            <a:r>
              <a:rPr lang="pt-BR" b="1" dirty="0"/>
              <a:t>impulso</a:t>
            </a:r>
            <a:r>
              <a:rPr lang="pt-BR" dirty="0"/>
              <a:t> (ou </a:t>
            </a:r>
            <a:r>
              <a:rPr lang="pt-BR" b="1" dirty="0"/>
              <a:t>potencial de ação</a:t>
            </a:r>
            <a:r>
              <a:rPr lang="pt-BR" dirty="0"/>
              <a:t>) que é enviado pelos terminais do axônio a outros neurônios através das </a:t>
            </a:r>
            <a:r>
              <a:rPr lang="pt-BR" b="1" dirty="0"/>
              <a:t>sinapses</a:t>
            </a:r>
            <a:r>
              <a:rPr lang="pt-BR" dirty="0"/>
              <a:t>.</a:t>
            </a:r>
          </a:p>
        </p:txBody>
      </p:sp>
      <p:pic>
        <p:nvPicPr>
          <p:cNvPr id="4" name="Picture 4" descr="4 -Potencial de ação em um membrana celular neuronal. | Download ...">
            <a:extLst>
              <a:ext uri="{FF2B5EF4-FFF2-40B4-BE49-F238E27FC236}">
                <a16:creationId xmlns="" xmlns:a16="http://schemas.microsoft.com/office/drawing/2014/main" id="{8D8030FA-31D6-D143-F6AE-EAED513397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21" t="7550" r="2824"/>
          <a:stretch/>
        </p:blipFill>
        <p:spPr bwMode="auto">
          <a:xfrm>
            <a:off x="602702" y="1970958"/>
            <a:ext cx="4616997" cy="43927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4011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AD301D6-DB59-55AE-6500-3F2B8EBC5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0" y="1690688"/>
            <a:ext cx="5676900" cy="5167312"/>
          </a:xfrm>
        </p:spPr>
        <p:txBody>
          <a:bodyPr>
            <a:normAutofit/>
          </a:bodyPr>
          <a:lstStyle/>
          <a:p>
            <a:r>
              <a:rPr lang="pt-BR" dirty="0"/>
              <a:t>Baseado no entendimento do funcionamento do neurônio biológico, a partir de meados da década de 40, pesquisadores propuseram o modelo matemático ao lado.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É uma </a:t>
            </a:r>
            <a:r>
              <a:rPr lang="pt-BR" b="1" dirty="0">
                <a:solidFill>
                  <a:srgbClr val="7030A0"/>
                </a:solidFill>
                <a:effectLst/>
              </a:rPr>
              <a:t>simplificação e abstração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do funcionamento do neurônio biológico.</a:t>
            </a:r>
          </a:p>
          <a:p>
            <a:pPr marL="457200" lvl="1" indent="0">
              <a:buNone/>
            </a:pPr>
            <a:endParaRPr lang="pt-BR" dirty="0"/>
          </a:p>
          <a:p>
            <a:pPr marL="0" indent="0" algn="ctr">
              <a:buNone/>
            </a:pPr>
            <a:r>
              <a:rPr lang="pt-BR" b="1" i="0" dirty="0">
                <a:solidFill>
                  <a:schemeClr val="accent5"/>
                </a:solidFill>
                <a:effectLst/>
              </a:rPr>
              <a:t>Qual modelo aprendido anteriormente é idêntico ao neurônio artificial?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B5A39511-41F6-F4F1-BA3F-9A287C51C073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41ABEAFF-7ECD-135B-8EF6-58A24C4B6265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915A98D5-4C5C-C265-4A66-A4312517AA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6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FAEAE50-5495-75C5-9691-395BA965F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409AB997-D8A8-AA26-EB29-95F7B23FC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B58573E3-61FC-8F02-6F46-01A6D8E3F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Os </a:t>
                </a:r>
                <a:r>
                  <a:rPr lang="pt-BR" b="1" dirty="0"/>
                  <a:t>estímulos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são multiplicados pelos </a:t>
                </a:r>
                <a:r>
                  <a:rPr lang="pt-BR" b="1" dirty="0"/>
                  <a:t>pesos sinápticos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=1,…,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pt-BR" dirty="0"/>
                  <a:t>, somados com o </a:t>
                </a:r>
                <a:r>
                  <a:rPr lang="pt-BR" b="1" dirty="0"/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e o resultado é passado por uma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contexto de redes neurais os estímulos são chamados de </a:t>
                </a:r>
                <a:r>
                  <a:rPr lang="pt-BR" b="1" dirty="0">
                    <a:solidFill>
                      <a:srgbClr val="7030A0"/>
                    </a:solidFill>
                  </a:rPr>
                  <a:t>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00B050"/>
                    </a:solidFill>
                  </a:rPr>
                  <a:t>peso de 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/>
                  <a:t>, controla o </a:t>
                </a:r>
                <a:r>
                  <a:rPr lang="pt-BR" b="1" dirty="0"/>
                  <a:t>ponto de ativação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Os </a:t>
                </a:r>
                <a:r>
                  <a:rPr lang="pt-BR" b="1" dirty="0">
                    <a:solidFill>
                      <a:srgbClr val="00B050"/>
                    </a:solidFill>
                  </a:rPr>
                  <a:t>pesos sinápticos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dão a </a:t>
                </a:r>
                <a:r>
                  <a:rPr lang="pt-BR" b="1" dirty="0">
                    <a:solidFill>
                      <a:srgbClr val="7030A0"/>
                    </a:solidFill>
                  </a:rPr>
                  <a:t>força de cada conexão</a:t>
                </a:r>
                <a:r>
                  <a:rPr lang="pt-BR" dirty="0"/>
                  <a:t> e se ela é </a:t>
                </a:r>
                <a:r>
                  <a:rPr lang="pt-BR" b="1" dirty="0">
                    <a:solidFill>
                      <a:schemeClr val="accent2"/>
                    </a:solidFill>
                  </a:rPr>
                  <a:t>excitatória ou inibitória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B58573E3-61FC-8F02-6F46-01A6D8E3F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34206" y="1690688"/>
                <a:ext cx="6043494" cy="5167312"/>
              </a:xfrm>
              <a:blipFill>
                <a:blip r:embed="rId3"/>
                <a:stretch>
                  <a:fillRect l="-1816" t="-1887" r="-2523" b="-16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FD879E17-EEA8-4950-0713-AA317B93A727}"/>
              </a:ext>
            </a:extLst>
          </p:cNvPr>
          <p:cNvSpPr txBox="1"/>
          <p:nvPr/>
        </p:nvSpPr>
        <p:spPr>
          <a:xfrm>
            <a:off x="1897404" y="3768396"/>
            <a:ext cx="14954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Soma ponderada dos estímulos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F8583CA1-6E5A-CEDB-4A21-283F02260957}"/>
              </a:ext>
            </a:extLst>
          </p:cNvPr>
          <p:cNvSpPr txBox="1"/>
          <p:nvPr/>
        </p:nvSpPr>
        <p:spPr>
          <a:xfrm>
            <a:off x="3930451" y="3448468"/>
            <a:ext cx="11022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Função de ativação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BF77C47B-9D4B-7386-4959-F4BDEF86C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2" y="1770467"/>
            <a:ext cx="6043494" cy="4686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766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285AE58-CE14-CA98-8E06-900F544B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AD301D6-DB59-55AE-6500-3F2B8EBC51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O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peso de bias</a:t>
                </a:r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  <a:effectLst/>
                  </a:rPr>
                  <a:t>,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 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permite </a:t>
                </a:r>
                <a:r>
                  <a:rPr lang="pt-BR" b="1" dirty="0">
                    <a:solidFill>
                      <a:schemeClr val="tx1"/>
                    </a:solidFill>
                    <a:effectLst/>
                  </a:rPr>
                  <a:t>ajustar o limiar de ativação</a:t>
                </a:r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 (ou ponto de disparo) da função de ativação.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No início dos estudos dos neurônios, a </a:t>
                </a:r>
                <a:r>
                  <a:rPr lang="pt-BR" b="1" dirty="0">
                    <a:solidFill>
                      <a:schemeClr val="tx1"/>
                    </a:solidFill>
                  </a:rPr>
                  <a:t>função de ativação </a:t>
                </a:r>
                <a:r>
                  <a:rPr lang="pt-BR" dirty="0">
                    <a:solidFill>
                      <a:schemeClr val="tx1"/>
                    </a:solidFill>
                  </a:rPr>
                  <a:t>era do tipo </a:t>
                </a:r>
                <a:r>
                  <a:rPr lang="pt-BR" b="1" dirty="0">
                    <a:solidFill>
                      <a:schemeClr val="tx1"/>
                    </a:solidFill>
                  </a:rPr>
                  <a:t>tudo-ou</a:t>
                </a:r>
                <a:r>
                  <a:rPr lang="pt-BR" b="1" dirty="0"/>
                  <a:t>-</a:t>
                </a:r>
                <a:r>
                  <a:rPr lang="pt-BR" b="1" dirty="0">
                    <a:solidFill>
                      <a:schemeClr val="tx1"/>
                    </a:solidFill>
                  </a:rPr>
                  <a:t>nada</a:t>
                </a:r>
                <a:r>
                  <a:rPr lang="pt-BR" dirty="0">
                    <a:solidFill>
                      <a:schemeClr val="tx1"/>
                    </a:solidFill>
                  </a:rPr>
                  <a:t>, i.e., ativava ou não (degrau unitário).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Com o decorrer do tempo, outras funções com características diferentes foram propostas, tais como as funções sigmoide, tangente hiperbólica, linear,</a:t>
                </a:r>
                <a:r>
                  <a:rPr lang="pt-BR" dirty="0"/>
                  <a:t> </a:t>
                </a:r>
                <a:r>
                  <a:rPr lang="pt-BR" dirty="0" err="1"/>
                  <a:t>relu</a:t>
                </a:r>
                <a:r>
                  <a:rPr lang="pt-BR" dirty="0"/>
                  <a:t> e suas variantes,</a:t>
                </a:r>
                <a:r>
                  <a:rPr lang="pt-BR" dirty="0">
                    <a:solidFill>
                      <a:schemeClr val="tx1"/>
                    </a:solidFill>
                  </a:rPr>
                  <a:t> etc.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AD301D6-DB59-55AE-6500-3F2B8EBC51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19775" y="1825624"/>
                <a:ext cx="6191249" cy="5032376"/>
              </a:xfrm>
              <a:blipFill>
                <a:blip r:embed="rId3"/>
                <a:stretch>
                  <a:fillRect l="-1773" t="-1937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EB97E14-ADB4-BA5D-F1FE-546C74193E47}"/>
              </a:ext>
            </a:extLst>
          </p:cNvPr>
          <p:cNvSpPr/>
          <p:nvPr/>
        </p:nvSpPr>
        <p:spPr>
          <a:xfrm>
            <a:off x="2830754" y="1710972"/>
            <a:ext cx="206215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600" b="1" i="1" dirty="0"/>
              <a:t>função de ativação “tudo-ou-nada”</a:t>
            </a:r>
            <a:endParaRPr lang="pt-BR" sz="1600" dirty="0"/>
          </a:p>
        </p:txBody>
      </p:sp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14A2C82D-E147-3E46-5A94-B1817A65CE8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665" y="1618724"/>
            <a:ext cx="3242177" cy="2092834"/>
          </a:xfrm>
          <a:prstGeom prst="rect">
            <a:avLst/>
          </a:prstGeom>
        </p:spPr>
      </p:pic>
      <p:pic>
        <p:nvPicPr>
          <p:cNvPr id="1028" name="Picture 4" descr="Activation Function - AI Wiki">
            <a:extLst>
              <a:ext uri="{FF2B5EF4-FFF2-40B4-BE49-F238E27FC236}">
                <a16:creationId xmlns="" xmlns:a16="http://schemas.microsoft.com/office/drawing/2014/main" id="{C1963A18-9DCD-92E6-F73C-DDD9DE51D6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4" t="57261" r="54834" b="1205"/>
          <a:stretch/>
        </p:blipFill>
        <p:spPr bwMode="auto">
          <a:xfrm>
            <a:off x="168883" y="3688177"/>
            <a:ext cx="2402932" cy="155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Activation Function - AI Wiki">
            <a:extLst>
              <a:ext uri="{FF2B5EF4-FFF2-40B4-BE49-F238E27FC236}">
                <a16:creationId xmlns="" xmlns:a16="http://schemas.microsoft.com/office/drawing/2014/main" id="{550ACC60-BA74-A8DC-EC0D-BCF56A6936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4" t="57929" r="9225" b="2032"/>
          <a:stretch/>
        </p:blipFill>
        <p:spPr bwMode="auto">
          <a:xfrm>
            <a:off x="3201838" y="5288588"/>
            <a:ext cx="1425500" cy="15480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Activation Function - AI Wiki">
            <a:extLst>
              <a:ext uri="{FF2B5EF4-FFF2-40B4-BE49-F238E27FC236}">
                <a16:creationId xmlns="" xmlns:a16="http://schemas.microsoft.com/office/drawing/2014/main" id="{24D9FB6F-0548-0312-1650-B2A6897D71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05" t="4046" r="52375" b="51018"/>
          <a:stretch/>
        </p:blipFill>
        <p:spPr bwMode="auto">
          <a:xfrm>
            <a:off x="2856509" y="3688175"/>
            <a:ext cx="2194923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4" descr="Activation Function - AI Wiki">
            <a:extLst>
              <a:ext uri="{FF2B5EF4-FFF2-40B4-BE49-F238E27FC236}">
                <a16:creationId xmlns="" xmlns:a16="http://schemas.microsoft.com/office/drawing/2014/main" id="{DE19C8D7-086E-8B51-C541-E12C93D4CB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394" t="3391" r="3935" b="53689"/>
          <a:stretch/>
        </p:blipFill>
        <p:spPr bwMode="auto">
          <a:xfrm>
            <a:off x="334435" y="5309998"/>
            <a:ext cx="2295436" cy="154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50689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6F7C26D-3BDE-A236-CADC-F1BB9F2DC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51AE336-F194-B92F-7FFD-EAA2F0C65A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O </a:t>
            </a:r>
            <a:r>
              <a:rPr lang="pt-BR" b="1" dirty="0">
                <a:solidFill>
                  <a:srgbClr val="00B050"/>
                </a:solidFill>
                <a:effectLst/>
              </a:rPr>
              <a:t>objetivo</a:t>
            </a:r>
            <a:r>
              <a:rPr lang="pt-BR" b="0" dirty="0">
                <a:effectLst/>
              </a:rPr>
              <a:t> do </a:t>
            </a:r>
            <a:r>
              <a:rPr lang="pt-BR" b="1" dirty="0">
                <a:solidFill>
                  <a:schemeClr val="accent2"/>
                </a:solidFill>
                <a:effectLst/>
              </a:rPr>
              <a:t>treinamento</a:t>
            </a:r>
            <a:r>
              <a:rPr lang="pt-BR" b="0" dirty="0">
                <a:effectLst/>
              </a:rPr>
              <a:t> de uma rede neural artificial é </a:t>
            </a:r>
            <a:r>
              <a:rPr lang="pt-BR" b="1" dirty="0">
                <a:solidFill>
                  <a:srgbClr val="00B050"/>
                </a:solidFill>
                <a:effectLst/>
              </a:rPr>
              <a:t>encontrar os valores ideais dos pesos</a:t>
            </a:r>
            <a:r>
              <a:rPr lang="pt-BR" b="1" dirty="0">
                <a:effectLst/>
              </a:rPr>
              <a:t> </a:t>
            </a:r>
            <a:r>
              <a:rPr lang="pt-BR" b="0" dirty="0">
                <a:effectLst/>
              </a:rPr>
              <a:t>(bias e sinápticos) </a:t>
            </a:r>
            <a:r>
              <a:rPr lang="pt-BR" b="1" dirty="0">
                <a:solidFill>
                  <a:srgbClr val="00B050"/>
                </a:solidFill>
                <a:effectLst/>
              </a:rPr>
              <a:t>de todos os neurônios</a:t>
            </a:r>
            <a:r>
              <a:rPr lang="pt-BR" b="0" dirty="0">
                <a:effectLst/>
              </a:rPr>
              <a:t> de forma que a rede </a:t>
            </a:r>
            <a:r>
              <a:rPr lang="pt-BR" b="1" dirty="0">
                <a:effectLst/>
              </a:rPr>
              <a:t>resolva uma tarefa específica</a:t>
            </a:r>
            <a:r>
              <a:rPr lang="pt-BR" b="0" dirty="0">
                <a:effectLst/>
              </a:rPr>
              <a:t>, como, por exemplo, a classificação de imagens ou a predição do preço de casas.</a:t>
            </a:r>
            <a:r>
              <a:rPr lang="pt-BR" dirty="0"/>
              <a:t> </a:t>
            </a:r>
            <a:endParaRPr lang="pt-BR" b="0" dirty="0">
              <a:effectLst/>
            </a:endParaRPr>
          </a:p>
          <a:p>
            <a:pPr marL="0" indent="0">
              <a:buNone/>
            </a:pP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03A2D649-EBB4-ED38-335D-35C407B248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4958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07EEDAE-99FD-346C-83DE-1E169FC3A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C34E9C5-62E3-491F-1941-2013876DF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artificial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D010F0FE-985C-783D-7E8F-1F871A77B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5964820" cy="5032375"/>
          </a:xfrm>
        </p:spPr>
        <p:txBody>
          <a:bodyPr>
            <a:normAutofit/>
          </a:bodyPr>
          <a:lstStyle/>
          <a:p>
            <a:r>
              <a:rPr lang="pt-BR" dirty="0"/>
              <a:t>Os pesos são ajustados através de um </a:t>
            </a:r>
            <a:r>
              <a:rPr lang="pt-BR" b="1" dirty="0">
                <a:solidFill>
                  <a:srgbClr val="00B050"/>
                </a:solidFill>
              </a:rPr>
              <a:t>processo de otimização iterativo </a:t>
            </a:r>
            <a:r>
              <a:rPr lang="pt-BR" dirty="0"/>
              <a:t>chamado de </a:t>
            </a:r>
            <a:r>
              <a:rPr lang="pt-BR" b="1" dirty="0">
                <a:solidFill>
                  <a:srgbClr val="00B050"/>
                </a:solidFill>
              </a:rPr>
              <a:t>retropropagação do erro</a:t>
            </a:r>
            <a:r>
              <a:rPr lang="pt-BR" dirty="0"/>
              <a:t>, onde apresenta-se ao modelo as </a:t>
            </a:r>
            <a:r>
              <a:rPr lang="pt-BR" b="1" dirty="0"/>
              <a:t>entradas</a:t>
            </a:r>
            <a:r>
              <a:rPr lang="pt-BR" dirty="0"/>
              <a:t> e </a:t>
            </a:r>
            <a:r>
              <a:rPr lang="pt-BR" b="1" dirty="0"/>
              <a:t>saídas esperadas</a:t>
            </a:r>
            <a:r>
              <a:rPr lang="pt-BR" dirty="0"/>
              <a:t> e o processo </a:t>
            </a:r>
            <a:r>
              <a:rPr lang="pt-BR" b="1" dirty="0">
                <a:solidFill>
                  <a:srgbClr val="00B050"/>
                </a:solidFill>
              </a:rPr>
              <a:t>minimiza o erro </a:t>
            </a:r>
            <a:r>
              <a:rPr lang="pt-BR" dirty="0"/>
              <a:t>entre a </a:t>
            </a:r>
            <a:r>
              <a:rPr lang="pt-BR" b="1" dirty="0"/>
              <a:t>saída da rede </a:t>
            </a:r>
            <a:r>
              <a:rPr lang="pt-BR" dirty="0"/>
              <a:t>e os </a:t>
            </a:r>
            <a:r>
              <a:rPr lang="pt-BR" b="1" dirty="0"/>
              <a:t>valores de saída esperados, chamados de </a:t>
            </a:r>
            <a:r>
              <a:rPr lang="pt-BR" b="1" dirty="0">
                <a:solidFill>
                  <a:srgbClr val="7030A0"/>
                </a:solidFill>
              </a:rPr>
              <a:t>rótulos</a:t>
            </a:r>
            <a:r>
              <a:rPr lang="pt-BR" b="1" dirty="0"/>
              <a:t> ou </a:t>
            </a:r>
            <a:r>
              <a:rPr lang="pt-BR" b="1" dirty="0" err="1">
                <a:solidFill>
                  <a:srgbClr val="7030A0"/>
                </a:solidFill>
              </a:rPr>
              <a:t>labels</a:t>
            </a:r>
            <a:r>
              <a:rPr lang="pt-BR" dirty="0"/>
              <a:t>.</a:t>
            </a:r>
            <a:endParaRPr lang="pt-BR" dirty="0">
              <a:effectLst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FEF649D0-6599-5F36-3322-C9FED0ED3E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18" y="1690688"/>
            <a:ext cx="4859866" cy="5161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66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8BAB64F-3191-BFA9-4ABC-0E738C8F6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197526B-3494-3513-4D28-7FAEAD8CF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0" y="1825625"/>
            <a:ext cx="6389913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formadas por uma camada de entrada, zero ou mais camadas intermediárias e uma camada de saída.</a:t>
            </a:r>
          </a:p>
          <a:p>
            <a:r>
              <a:rPr lang="pt-BR" dirty="0"/>
              <a:t>A camada de entrada é o ponto de transferência dos atributos para dentro da rede.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camada </a:t>
            </a:r>
            <a:r>
              <a:rPr lang="pt-BR" b="1" dirty="0">
                <a:solidFill>
                  <a:srgbClr val="7030A0"/>
                </a:solidFill>
              </a:rPr>
              <a:t>não tem pesos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Ela pode ser usada para aplicar </a:t>
            </a:r>
            <a:r>
              <a:rPr lang="pt-BR" b="1" dirty="0">
                <a:solidFill>
                  <a:srgbClr val="0070C0"/>
                </a:solidFill>
              </a:rPr>
              <a:t>transformações de dimensão</a:t>
            </a:r>
            <a:r>
              <a:rPr lang="pt-BR" dirty="0"/>
              <a:t> aos dados de entrada.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268E81E0-E693-CEA7-6590-02DA174B04D4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="" xmlns:a16="http://schemas.microsoft.com/office/drawing/2014/main" id="{4913B267-6050-9483-B9A0-F16128F630DF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="" xmlns:a16="http://schemas.microsoft.com/office/drawing/2014/main" id="{E1E80EA2-A3E1-7E78-0F15-36539FCBAA55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="" xmlns:a16="http://schemas.microsoft.com/office/drawing/2014/main" id="{CEA44ACF-66BE-9C2D-37A9-D1DE5E7D6996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="" xmlns:a16="http://schemas.microsoft.com/office/drawing/2014/main" id="{BCAAEFFB-5959-2A18-AB40-428F6566CA84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="" xmlns:a16="http://schemas.microsoft.com/office/drawing/2014/main" id="{5E65474C-363A-7F72-A29A-4A63B2CD62D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="" xmlns:a16="http://schemas.microsoft.com/office/drawing/2014/main" id="{C7E2BCD2-A2E8-1E97-22AA-995F1FE81B07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="" xmlns:a16="http://schemas.microsoft.com/office/drawing/2014/main" id="{1C279E70-8032-2A55-F760-702CD786B8E8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="" xmlns:a16="http://schemas.microsoft.com/office/drawing/2014/main" id="{FA82B0CA-B841-A966-0CA7-B8F2AD454506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="" xmlns:a16="http://schemas.microsoft.com/office/drawing/2014/main" id="{8D8179BE-329F-5957-93A1-A8C75CD31872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="" xmlns:a16="http://schemas.microsoft.com/office/drawing/2014/main" id="{638631F5-08B3-0D31-E22A-495D88FCB7E2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="" xmlns:a16="http://schemas.microsoft.com/office/drawing/2014/main" id="{8A25520D-2B84-C45B-C4D7-D5CA578C4D8A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="" xmlns:a16="http://schemas.microsoft.com/office/drawing/2014/main" id="{A80720B1-4C75-70A5-AD44-54B15B3E3608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="" xmlns:a16="http://schemas.microsoft.com/office/drawing/2014/main" id="{FA3AB5EB-9B5B-D5AB-B94A-21ECD4CE784C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="" xmlns:a16="http://schemas.microsoft.com/office/drawing/2014/main" id="{F15DB20F-7DD6-0EAA-31F9-6739729987A5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="" xmlns:a16="http://schemas.microsoft.com/office/drawing/2014/main" id="{26E0C910-EEA6-511E-2043-18232C39EAE7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="" xmlns:a16="http://schemas.microsoft.com/office/drawing/2014/main" id="{B3AE634C-D59B-15E5-235B-E86CD5B087BC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="" xmlns:a16="http://schemas.microsoft.com/office/drawing/2014/main" id="{7C3C9EB2-354D-B233-8BD0-58DE3CC85822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="" xmlns:a16="http://schemas.microsoft.com/office/drawing/2014/main" id="{1C349E9C-9537-CDD0-6BC0-53345D2F14C1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="" xmlns:a16="http://schemas.microsoft.com/office/drawing/2014/main" id="{D1E58A34-EFB1-7E34-2AFB-98D7AB0D2ADF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="" xmlns:a16="http://schemas.microsoft.com/office/drawing/2014/main" id="{61A73F29-0288-DA04-179B-8EE2FD3F8B57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="" xmlns:a16="http://schemas.microsoft.com/office/drawing/2014/main" id="{7F4AD621-E33D-F090-8DC9-0E45B53CDFAA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="" xmlns:a16="http://schemas.microsoft.com/office/drawing/2014/main" id="{AE5541F0-C9AD-514A-7C2A-30555F17C949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="" xmlns:a16="http://schemas.microsoft.com/office/drawing/2014/main" id="{C941780B-8649-5B58-8F0C-AB979497059D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="" xmlns:a16="http://schemas.microsoft.com/office/drawing/2014/main" id="{3976D140-68D3-A193-0A58-95400E9DFBA9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="" xmlns:a16="http://schemas.microsoft.com/office/drawing/2014/main" id="{8C145B3E-B4E5-E47E-E574-B5358263E835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="" xmlns:a16="http://schemas.microsoft.com/office/drawing/2014/main" id="{531606E9-A38E-43BE-8A0F-D867813FB40B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="" xmlns:a16="http://schemas.microsoft.com/office/drawing/2014/main" id="{044980C5-4696-0BFE-15E4-D3DAC6945938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="" xmlns:a16="http://schemas.microsoft.com/office/drawing/2014/main" id="{5BF4BAC6-5B30-8982-DEF6-11E565F21518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5BF4BAC6-5B30-8982-DEF6-11E565F215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="" xmlns:a16="http://schemas.microsoft.com/office/drawing/2014/main" id="{DB651297-4C7C-DA3F-1E81-E6E14740CC83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DB651297-4C7C-DA3F-1E81-E6E14740CC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="" xmlns:a16="http://schemas.microsoft.com/office/drawing/2014/main" id="{7A6FCCEB-A816-DCEF-CAB4-13DB45B216C3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="" xmlns:a16="http://schemas.microsoft.com/office/drawing/2014/main" id="{D4437CE8-DFFA-858D-8D4F-A6EF1964C006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D4437CE8-DFFA-858D-8D4F-A6EF1964C0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="" xmlns:a16="http://schemas.microsoft.com/office/drawing/2014/main" id="{A27AF8C6-BCF8-9295-BB44-CB4F03235002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="" xmlns:a16="http://schemas.microsoft.com/office/drawing/2014/main" id="{4ABA95CD-793C-1304-110E-B8D14A37820A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="" xmlns:a16="http://schemas.microsoft.com/office/drawing/2014/main" id="{42BB30E8-15CA-CB8E-1E18-80E39D0FF05A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="" xmlns:a16="http://schemas.microsoft.com/office/drawing/2014/main" id="{1582D9CE-10BA-59C1-1253-74166853DDA8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1582D9CE-10BA-59C1-1253-74166853DDA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="" xmlns:a16="http://schemas.microsoft.com/office/drawing/2014/main" id="{304E59F4-47D0-492C-6B42-0AE38FB6B45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ADBB0925-BFA7-1872-AFF5-A250BFAC4636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8A98A6CC-109B-097F-2B49-BF12D9DDF6AF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E55103CE-1C51-05E1-B6AD-B581B58011C7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84FD13DA-AB61-77AE-E277-8598BF2246DA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="" xmlns:a16="http://schemas.microsoft.com/office/drawing/2014/main" id="{24582E6E-5EBF-09C8-D5EA-09A40873BE2A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="" xmlns:a16="http://schemas.microsoft.com/office/drawing/2014/main" id="{2EAD221C-7709-92E6-526E-1E516CF8DD44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="" xmlns:a16="http://schemas.microsoft.com/office/drawing/2014/main" id="{66B83675-C748-4189-43FE-2DFE76E38C53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72259D74-2023-93C3-847E-8C2BCC2098EA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="" xmlns:a16="http://schemas.microsoft.com/office/drawing/2014/main" id="{29744E34-AA8E-A716-91B2-456FE6AF32D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="" xmlns:a16="http://schemas.microsoft.com/office/drawing/2014/main" id="{341A688F-3427-D132-AE4A-43AAD9494370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="" xmlns:a16="http://schemas.microsoft.com/office/drawing/2014/main" id="{BCDF6F3A-D0B0-47A2-E663-521FBF0AF90A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CD9E220C-6676-EB86-600D-81FBF6F8DCE7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CD9E220C-6676-EB86-600D-81FBF6F8DC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344C04FC-FA2F-198E-E6DD-B813F3D367BE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344C04FC-FA2F-198E-E6DD-B813F3D367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87BA32F7-A5BA-EE7E-B5FE-2D8BF8913E31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7BA32F7-A5BA-EE7E-B5FE-2D8BF8913E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0A194D3F-9F78-2E7F-8BAB-6728E6572799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0A194D3F-9F78-2E7F-8BAB-6728E65727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874A0733-D851-B866-C820-7D16386CCFA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874A0733-D851-B866-C820-7D16386CCFA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="" xmlns:a16="http://schemas.microsoft.com/office/drawing/2014/main" id="{F5598530-7CA3-296E-6802-5F7972A4D41D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F5598530-7CA3-296E-6802-5F7972A4D4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="" xmlns:a16="http://schemas.microsoft.com/office/drawing/2014/main" id="{37F7E51F-CA99-BF55-661C-21C05E150FA0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37F7E51F-CA99-BF55-661C-21C05E150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="" xmlns:a16="http://schemas.microsoft.com/office/drawing/2014/main" id="{7D0B822D-128A-4AA5-2D23-7762D236EF4F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7D0B822D-128A-4AA5-2D23-7762D236EF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="" xmlns:a16="http://schemas.microsoft.com/office/drawing/2014/main" id="{4BDB3906-0247-F853-A5CA-CFB665FE16A8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="" xmlns:a16="http://schemas.microsoft.com/office/drawing/2014/main" id="{29DACD3F-037A-8453-AE8C-6B6BD53E55FD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="" xmlns:a16="http://schemas.microsoft.com/office/drawing/2014/main" id="{0A340395-4B71-742C-27D0-665C74AB2230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="" xmlns:a16="http://schemas.microsoft.com/office/drawing/2014/main" id="{0B6E1495-BD00-3032-78F8-AF1EE1570D27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="" xmlns:a16="http://schemas.microsoft.com/office/drawing/2014/main" id="{849F91F2-651A-1DE7-8475-81EE4FF01DE4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="" xmlns:a16="http://schemas.microsoft.com/office/drawing/2014/main" id="{E284BE66-95A9-CA78-0F39-5853C74DF11C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1745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B63291-5187-4AD0-557A-BBF4FF232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9713AF0-DF7F-AFF7-FD2C-075A9C9C8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942C362-2B1D-8B61-38ED-253B029C4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As camadas intermediárias são também chamadas de </a:t>
            </a:r>
            <a:r>
              <a:rPr lang="pt-BR" b="1" dirty="0">
                <a:solidFill>
                  <a:srgbClr val="7030A0"/>
                </a:solidFill>
              </a:rPr>
              <a:t>ocultas</a:t>
            </a:r>
            <a:r>
              <a:rPr lang="pt-BR" dirty="0"/>
              <a:t> ou </a:t>
            </a:r>
            <a:r>
              <a:rPr lang="pt-BR" b="1" dirty="0">
                <a:solidFill>
                  <a:srgbClr val="7030A0"/>
                </a:solidFill>
              </a:rPr>
              <a:t>escondidas</a:t>
            </a:r>
            <a:r>
              <a:rPr lang="pt-BR" dirty="0"/>
              <a:t>.</a:t>
            </a:r>
          </a:p>
          <a:p>
            <a:r>
              <a:rPr lang="pt-BR" dirty="0"/>
              <a:t>As camadas ocultas permitem: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criar </a:t>
            </a:r>
            <a:r>
              <a:rPr lang="pt-BR" b="1" dirty="0"/>
              <a:t>representações intermediárias.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extrair </a:t>
            </a:r>
            <a:r>
              <a:rPr lang="pt-BR" b="1" dirty="0"/>
              <a:t>características relevantes.</a:t>
            </a:r>
            <a:endParaRPr lang="pt-BR" dirty="0"/>
          </a:p>
          <a:p>
            <a:r>
              <a:rPr lang="pt-BR" dirty="0"/>
              <a:t>O primeiro tipo de rede neural proposto foi o </a:t>
            </a:r>
            <a:r>
              <a:rPr lang="pt-BR" b="1" dirty="0">
                <a:solidFill>
                  <a:srgbClr val="00B050"/>
                </a:solidFill>
              </a:rPr>
              <a:t>perceptron de múltiplas camadas</a:t>
            </a:r>
            <a:r>
              <a:rPr lang="pt-BR" dirty="0"/>
              <a:t> (do inglês, </a:t>
            </a:r>
            <a:r>
              <a:rPr lang="pt-BR" i="1" dirty="0"/>
              <a:t>Multilayer Perceptron</a:t>
            </a:r>
            <a:r>
              <a:rPr lang="pt-BR" dirty="0"/>
              <a:t> - MLP).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 proposta em 1958 pro </a:t>
            </a:r>
            <a:r>
              <a:rPr lang="en-US" dirty="0"/>
              <a:t>Frank Rosenblatt.</a:t>
            </a:r>
            <a:endParaRPr lang="pt-BR" dirty="0"/>
          </a:p>
        </p:txBody>
      </p:sp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6B09627C-CE08-2478-8D23-3B4588E066AC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8" name="Elipse 77">
              <a:extLst>
                <a:ext uri="{FF2B5EF4-FFF2-40B4-BE49-F238E27FC236}">
                  <a16:creationId xmlns="" xmlns:a16="http://schemas.microsoft.com/office/drawing/2014/main" id="{F5F1809D-2841-E5CA-EEDA-8F996F9FD6FA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78">
              <a:extLst>
                <a:ext uri="{FF2B5EF4-FFF2-40B4-BE49-F238E27FC236}">
                  <a16:creationId xmlns="" xmlns:a16="http://schemas.microsoft.com/office/drawing/2014/main" id="{2E081C33-D4D8-6EB1-CD8C-A25537206201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79">
              <a:extLst>
                <a:ext uri="{FF2B5EF4-FFF2-40B4-BE49-F238E27FC236}">
                  <a16:creationId xmlns="" xmlns:a16="http://schemas.microsoft.com/office/drawing/2014/main" id="{D382CEEE-C3D4-07FB-45D6-EFCAC3C9227D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1">
              <a:extLst>
                <a:ext uri="{FF2B5EF4-FFF2-40B4-BE49-F238E27FC236}">
                  <a16:creationId xmlns="" xmlns:a16="http://schemas.microsoft.com/office/drawing/2014/main" id="{DC0C73A4-958C-C348-D218-FD95DBF6568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2">
              <a:extLst>
                <a:ext uri="{FF2B5EF4-FFF2-40B4-BE49-F238E27FC236}">
                  <a16:creationId xmlns="" xmlns:a16="http://schemas.microsoft.com/office/drawing/2014/main" id="{55901D57-70DE-4725-3D03-FAB575F7348F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3" name="Elipse 83">
              <a:extLst>
                <a:ext uri="{FF2B5EF4-FFF2-40B4-BE49-F238E27FC236}">
                  <a16:creationId xmlns="" xmlns:a16="http://schemas.microsoft.com/office/drawing/2014/main" id="{07C898B5-EC5E-64BD-843C-12EC5C9EA388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4" name="Elipse 84">
              <a:extLst>
                <a:ext uri="{FF2B5EF4-FFF2-40B4-BE49-F238E27FC236}">
                  <a16:creationId xmlns="" xmlns:a16="http://schemas.microsoft.com/office/drawing/2014/main" id="{73EF8050-689A-F56D-39DC-19A8F7B3F314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5" name="Elipse 85">
              <a:extLst>
                <a:ext uri="{FF2B5EF4-FFF2-40B4-BE49-F238E27FC236}">
                  <a16:creationId xmlns="" xmlns:a16="http://schemas.microsoft.com/office/drawing/2014/main" id="{52EE33EA-ED9A-141A-28FB-9AEDDFFCD9BA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6" name="Conector de Seta Reta 86">
              <a:extLst>
                <a:ext uri="{FF2B5EF4-FFF2-40B4-BE49-F238E27FC236}">
                  <a16:creationId xmlns="" xmlns:a16="http://schemas.microsoft.com/office/drawing/2014/main" id="{C80C3ECA-7703-EA9E-2FA6-B601F3950B7C}"/>
                </a:ext>
              </a:extLst>
            </p:cNvPr>
            <p:cNvCxnSpPr>
              <a:cxnSpLocks/>
              <a:stCxn id="13" idx="6"/>
              <a:endCxn id="8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87">
              <a:extLst>
                <a:ext uri="{FF2B5EF4-FFF2-40B4-BE49-F238E27FC236}">
                  <a16:creationId xmlns="" xmlns:a16="http://schemas.microsoft.com/office/drawing/2014/main" id="{0121DEA3-80D1-546A-A967-4D8E7A23AFFE}"/>
                </a:ext>
              </a:extLst>
            </p:cNvPr>
            <p:cNvCxnSpPr>
              <a:stCxn id="13" idx="6"/>
              <a:endCxn id="9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88">
              <a:extLst>
                <a:ext uri="{FF2B5EF4-FFF2-40B4-BE49-F238E27FC236}">
                  <a16:creationId xmlns="" xmlns:a16="http://schemas.microsoft.com/office/drawing/2014/main" id="{AA463781-F1A3-95A0-7035-EEB88CD7629C}"/>
                </a:ext>
              </a:extLst>
            </p:cNvPr>
            <p:cNvCxnSpPr>
              <a:stCxn id="13" idx="6"/>
              <a:endCxn id="10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0">
              <a:extLst>
                <a:ext uri="{FF2B5EF4-FFF2-40B4-BE49-F238E27FC236}">
                  <a16:creationId xmlns="" xmlns:a16="http://schemas.microsoft.com/office/drawing/2014/main" id="{16EC8692-F71A-1CAE-4F2E-7166B2FB25A4}"/>
                </a:ext>
              </a:extLst>
            </p:cNvPr>
            <p:cNvCxnSpPr>
              <a:cxnSpLocks/>
              <a:stCxn id="14" idx="6"/>
              <a:endCxn id="8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1">
              <a:extLst>
                <a:ext uri="{FF2B5EF4-FFF2-40B4-BE49-F238E27FC236}">
                  <a16:creationId xmlns="" xmlns:a16="http://schemas.microsoft.com/office/drawing/2014/main" id="{5F4C4EE0-A523-C167-CEC0-D8C11A7841F0}"/>
                </a:ext>
              </a:extLst>
            </p:cNvPr>
            <p:cNvCxnSpPr>
              <a:stCxn id="15" idx="6"/>
              <a:endCxn id="9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2">
              <a:extLst>
                <a:ext uri="{FF2B5EF4-FFF2-40B4-BE49-F238E27FC236}">
                  <a16:creationId xmlns="" xmlns:a16="http://schemas.microsoft.com/office/drawing/2014/main" id="{0FCF106F-E873-2EC3-6488-BE7ACB6C9376}"/>
                </a:ext>
              </a:extLst>
            </p:cNvPr>
            <p:cNvCxnSpPr>
              <a:stCxn id="14" idx="6"/>
              <a:endCxn id="9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3">
              <a:extLst>
                <a:ext uri="{FF2B5EF4-FFF2-40B4-BE49-F238E27FC236}">
                  <a16:creationId xmlns="" xmlns:a16="http://schemas.microsoft.com/office/drawing/2014/main" id="{2BEB790B-A599-815D-2CC8-C968853533C8}"/>
                </a:ext>
              </a:extLst>
            </p:cNvPr>
            <p:cNvCxnSpPr>
              <a:stCxn id="14" idx="6"/>
              <a:endCxn id="10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96">
              <a:extLst>
                <a:ext uri="{FF2B5EF4-FFF2-40B4-BE49-F238E27FC236}">
                  <a16:creationId xmlns="" xmlns:a16="http://schemas.microsoft.com/office/drawing/2014/main" id="{4B118A1C-5EEE-42C1-6604-B621705EFD48}"/>
                </a:ext>
              </a:extLst>
            </p:cNvPr>
            <p:cNvCxnSpPr>
              <a:stCxn id="15" idx="6"/>
              <a:endCxn id="10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98">
              <a:extLst>
                <a:ext uri="{FF2B5EF4-FFF2-40B4-BE49-F238E27FC236}">
                  <a16:creationId xmlns="" xmlns:a16="http://schemas.microsoft.com/office/drawing/2014/main" id="{14AFF8CC-AC9F-2724-1E5A-810703AB52BA}"/>
                </a:ext>
              </a:extLst>
            </p:cNvPr>
            <p:cNvCxnSpPr>
              <a:stCxn id="8" idx="6"/>
              <a:endCxn id="11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99">
              <a:extLst>
                <a:ext uri="{FF2B5EF4-FFF2-40B4-BE49-F238E27FC236}">
                  <a16:creationId xmlns="" xmlns:a16="http://schemas.microsoft.com/office/drawing/2014/main" id="{722A8CBB-E96B-2043-D81B-DEF683B448BD}"/>
                </a:ext>
              </a:extLst>
            </p:cNvPr>
            <p:cNvCxnSpPr>
              <a:stCxn id="9" idx="6"/>
              <a:endCxn id="12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0">
              <a:extLst>
                <a:ext uri="{FF2B5EF4-FFF2-40B4-BE49-F238E27FC236}">
                  <a16:creationId xmlns="" xmlns:a16="http://schemas.microsoft.com/office/drawing/2014/main" id="{4638BD3F-20CA-7859-4DC1-F740B12B483B}"/>
                </a:ext>
              </a:extLst>
            </p:cNvPr>
            <p:cNvCxnSpPr>
              <a:stCxn id="10" idx="6"/>
              <a:endCxn id="12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ector de Seta Reta 102">
              <a:extLst>
                <a:ext uri="{FF2B5EF4-FFF2-40B4-BE49-F238E27FC236}">
                  <a16:creationId xmlns="" xmlns:a16="http://schemas.microsoft.com/office/drawing/2014/main" id="{6AA11E5C-AB54-CB2F-FE8F-FD2AF31F00DB}"/>
                </a:ext>
              </a:extLst>
            </p:cNvPr>
            <p:cNvCxnSpPr>
              <a:cxnSpLocks/>
              <a:stCxn id="8" idx="6"/>
              <a:endCxn id="12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ector de Seta Reta 103">
              <a:extLst>
                <a:ext uri="{FF2B5EF4-FFF2-40B4-BE49-F238E27FC236}">
                  <a16:creationId xmlns="" xmlns:a16="http://schemas.microsoft.com/office/drawing/2014/main" id="{A464DA56-0662-5E09-FA2E-331EB8345D19}"/>
                </a:ext>
              </a:extLst>
            </p:cNvPr>
            <p:cNvCxnSpPr>
              <a:stCxn id="9" idx="6"/>
              <a:endCxn id="11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ector de Seta Reta 104">
              <a:extLst>
                <a:ext uri="{FF2B5EF4-FFF2-40B4-BE49-F238E27FC236}">
                  <a16:creationId xmlns="" xmlns:a16="http://schemas.microsoft.com/office/drawing/2014/main" id="{9E679653-00C7-27F4-D4EA-FBF2473CACAF}"/>
                </a:ext>
              </a:extLst>
            </p:cNvPr>
            <p:cNvCxnSpPr>
              <a:stCxn id="10" idx="6"/>
              <a:endCxn id="11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CaixaDeTexto 106">
              <a:extLst>
                <a:ext uri="{FF2B5EF4-FFF2-40B4-BE49-F238E27FC236}">
                  <a16:creationId xmlns="" xmlns:a16="http://schemas.microsoft.com/office/drawing/2014/main" id="{764E6DB6-CBA7-2EEF-79AA-24DF3E27D4A1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31" name="Forma Livre: Forma 107">
              <a:extLst>
                <a:ext uri="{FF2B5EF4-FFF2-40B4-BE49-F238E27FC236}">
                  <a16:creationId xmlns="" xmlns:a16="http://schemas.microsoft.com/office/drawing/2014/main" id="{DD1E9FEF-720A-AB86-75BF-150C750000C5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Conector reto 112">
              <a:extLst>
                <a:ext uri="{FF2B5EF4-FFF2-40B4-BE49-F238E27FC236}">
                  <a16:creationId xmlns="" xmlns:a16="http://schemas.microsoft.com/office/drawing/2014/main" id="{BD741CC3-12D0-AC90-3AB8-3EDC87740418}"/>
                </a:ext>
              </a:extLst>
            </p:cNvPr>
            <p:cNvCxnSpPr>
              <a:cxnSpLocks/>
              <a:stCxn id="68" idx="6"/>
              <a:endCxn id="14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ector de Seta Reta 113">
              <a:extLst>
                <a:ext uri="{FF2B5EF4-FFF2-40B4-BE49-F238E27FC236}">
                  <a16:creationId xmlns="" xmlns:a16="http://schemas.microsoft.com/office/drawing/2014/main" id="{D9E7D66D-CCDF-CBE1-7285-BF0DEAEA5826}"/>
                </a:ext>
              </a:extLst>
            </p:cNvPr>
            <p:cNvCxnSpPr>
              <a:cxnSpLocks/>
              <a:stCxn id="11" idx="6"/>
              <a:endCxn id="35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ector de Seta Reta 114">
              <a:extLst>
                <a:ext uri="{FF2B5EF4-FFF2-40B4-BE49-F238E27FC236}">
                  <a16:creationId xmlns="" xmlns:a16="http://schemas.microsoft.com/office/drawing/2014/main" id="{43D75E58-76B7-39F6-EBAD-9332B0D528A1}"/>
                </a:ext>
              </a:extLst>
            </p:cNvPr>
            <p:cNvCxnSpPr>
              <a:cxnSpLocks/>
              <a:stCxn id="12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CaixaDeTexto 5">
                  <a:extLst>
                    <a:ext uri="{FF2B5EF4-FFF2-40B4-BE49-F238E27FC236}">
                      <a16:creationId xmlns="" xmlns:a16="http://schemas.microsoft.com/office/drawing/2014/main" id="{7A17DA4B-6676-AEAC-180C-86E108D36FE9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5" name="CaixaDeTexto 5">
                  <a:extLst>
                    <a:ext uri="{FF2B5EF4-FFF2-40B4-BE49-F238E27FC236}">
                      <a16:creationId xmlns:a16="http://schemas.microsoft.com/office/drawing/2014/main" id="{7A17DA4B-6676-AEAC-180C-86E108D36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CaixaDeTexto 6">
                  <a:extLst>
                    <a:ext uri="{FF2B5EF4-FFF2-40B4-BE49-F238E27FC236}">
                      <a16:creationId xmlns="" xmlns:a16="http://schemas.microsoft.com/office/drawing/2014/main" id="{E6891195-705B-62D0-B92F-FFEF4CD6B810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6" name="CaixaDeTexto 6">
                  <a:extLst>
                    <a:ext uri="{FF2B5EF4-FFF2-40B4-BE49-F238E27FC236}">
                      <a16:creationId xmlns:a16="http://schemas.microsoft.com/office/drawing/2014/main" id="{E6891195-705B-62D0-B92F-FFEF4CD6B8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" name="Group 36">
              <a:extLst>
                <a:ext uri="{FF2B5EF4-FFF2-40B4-BE49-F238E27FC236}">
                  <a16:creationId xmlns="" xmlns:a16="http://schemas.microsoft.com/office/drawing/2014/main" id="{A3EBE98D-567A-D327-162A-AB4974C1F0FD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CaixaDeTexto 115">
                    <a:extLst>
                      <a:ext uri="{FF2B5EF4-FFF2-40B4-BE49-F238E27FC236}">
                        <a16:creationId xmlns="" xmlns:a16="http://schemas.microsoft.com/office/drawing/2014/main" id="{34E17EFC-1E6C-E9DC-3EF8-F0EDD2321CAE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7" name="CaixaDeTexto 115">
                    <a:extLst>
                      <a:ext uri="{FF2B5EF4-FFF2-40B4-BE49-F238E27FC236}">
                        <a16:creationId xmlns:a16="http://schemas.microsoft.com/office/drawing/2014/main" id="{34E17EFC-1E6C-E9DC-3EF8-F0EDD2321C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8" name="Elipse 3">
                <a:extLst>
                  <a:ext uri="{FF2B5EF4-FFF2-40B4-BE49-F238E27FC236}">
                    <a16:creationId xmlns="" xmlns:a16="http://schemas.microsoft.com/office/drawing/2014/main" id="{5564EC9B-0785-9139-A99C-ADFABB14EEAA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8" name="Elipse 83">
              <a:extLst>
                <a:ext uri="{FF2B5EF4-FFF2-40B4-BE49-F238E27FC236}">
                  <a16:creationId xmlns="" xmlns:a16="http://schemas.microsoft.com/office/drawing/2014/main" id="{08E738CE-27F0-721E-0249-85DB03155688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="" xmlns:a16="http://schemas.microsoft.com/office/drawing/2014/main" id="{135830C3-E6FA-8E6B-B989-1D2F34C8196B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5" name="CaixaDeTexto 116">
                    <a:extLst>
                      <a:ext uri="{FF2B5EF4-FFF2-40B4-BE49-F238E27FC236}">
                        <a16:creationId xmlns="" xmlns:a16="http://schemas.microsoft.com/office/drawing/2014/main" id="{D45E09C3-0D9C-EB0F-E96E-599562D5693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5" name="CaixaDeTexto 116">
                    <a:extLst>
                      <a:ext uri="{FF2B5EF4-FFF2-40B4-BE49-F238E27FC236}">
                        <a16:creationId xmlns:a16="http://schemas.microsoft.com/office/drawing/2014/main" id="{D45E09C3-0D9C-EB0F-E96E-599562D5693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Elipse 4">
                <a:extLst>
                  <a:ext uri="{FF2B5EF4-FFF2-40B4-BE49-F238E27FC236}">
                    <a16:creationId xmlns="" xmlns:a16="http://schemas.microsoft.com/office/drawing/2014/main" id="{71301108-A60B-B5A1-DEAE-C5FBB5750EF0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0544D7E7-4A93-384A-FE1D-EFB06E41452B}"/>
                </a:ext>
              </a:extLst>
            </p:cNvPr>
            <p:cNvCxnSpPr>
              <a:cxnSpLocks/>
              <a:stCxn id="68" idx="6"/>
              <a:endCxn id="13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E7829942-9F7A-456C-06E1-0FDA22EEA3ED}"/>
                </a:ext>
              </a:extLst>
            </p:cNvPr>
            <p:cNvCxnSpPr>
              <a:cxnSpLocks/>
              <a:stCxn id="68" idx="6"/>
              <a:endCxn id="15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A7EC2237-770A-1305-3024-6201BF73D4FC}"/>
                </a:ext>
              </a:extLst>
            </p:cNvPr>
            <p:cNvCxnSpPr>
              <a:cxnSpLocks/>
              <a:stCxn id="68" idx="6"/>
              <a:endCxn id="38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BBA0EB4A-F0B0-A468-81E9-098010FF982F}"/>
                </a:ext>
              </a:extLst>
            </p:cNvPr>
            <p:cNvCxnSpPr>
              <a:cxnSpLocks/>
              <a:stCxn id="66" idx="6"/>
              <a:endCxn id="38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reto 112">
              <a:extLst>
                <a:ext uri="{FF2B5EF4-FFF2-40B4-BE49-F238E27FC236}">
                  <a16:creationId xmlns="" xmlns:a16="http://schemas.microsoft.com/office/drawing/2014/main" id="{04DADC82-8ACE-215F-1880-5E9CD709B3E3}"/>
                </a:ext>
              </a:extLst>
            </p:cNvPr>
            <p:cNvCxnSpPr>
              <a:cxnSpLocks/>
              <a:stCxn id="66" idx="6"/>
              <a:endCxn id="15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reto 112">
              <a:extLst>
                <a:ext uri="{FF2B5EF4-FFF2-40B4-BE49-F238E27FC236}">
                  <a16:creationId xmlns="" xmlns:a16="http://schemas.microsoft.com/office/drawing/2014/main" id="{30037EE4-118A-F493-8A4D-BEE627965FCF}"/>
                </a:ext>
              </a:extLst>
            </p:cNvPr>
            <p:cNvCxnSpPr>
              <a:cxnSpLocks/>
              <a:stCxn id="66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to 112">
              <a:extLst>
                <a:ext uri="{FF2B5EF4-FFF2-40B4-BE49-F238E27FC236}">
                  <a16:creationId xmlns="" xmlns:a16="http://schemas.microsoft.com/office/drawing/2014/main" id="{E732B412-A9DC-6EB3-AFB4-60B2CA5371DE}"/>
                </a:ext>
              </a:extLst>
            </p:cNvPr>
            <p:cNvCxnSpPr>
              <a:cxnSpLocks/>
              <a:stCxn id="66" idx="6"/>
              <a:endCxn id="13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5353916E-3C7D-382C-B435-CE4998378741}"/>
                </a:ext>
              </a:extLst>
            </p:cNvPr>
            <p:cNvCxnSpPr>
              <a:cxnSpLocks/>
              <a:stCxn id="15" idx="6"/>
              <a:endCxn id="8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ector de Seta Reta 91">
              <a:extLst>
                <a:ext uri="{FF2B5EF4-FFF2-40B4-BE49-F238E27FC236}">
                  <a16:creationId xmlns="" xmlns:a16="http://schemas.microsoft.com/office/drawing/2014/main" id="{8A04DE0D-CB52-9B8F-F044-F8EBA1903333}"/>
                </a:ext>
              </a:extLst>
            </p:cNvPr>
            <p:cNvCxnSpPr>
              <a:cxnSpLocks/>
              <a:stCxn id="38" idx="6"/>
              <a:endCxn id="8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de Seta Reta 91">
              <a:extLst>
                <a:ext uri="{FF2B5EF4-FFF2-40B4-BE49-F238E27FC236}">
                  <a16:creationId xmlns="" xmlns:a16="http://schemas.microsoft.com/office/drawing/2014/main" id="{D7CDE263-B479-1BEE-EBDC-1E9D0936FDD6}"/>
                </a:ext>
              </a:extLst>
            </p:cNvPr>
            <p:cNvCxnSpPr>
              <a:cxnSpLocks/>
              <a:stCxn id="38" idx="6"/>
              <a:endCxn id="9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ector de Seta Reta 91">
              <a:extLst>
                <a:ext uri="{FF2B5EF4-FFF2-40B4-BE49-F238E27FC236}">
                  <a16:creationId xmlns="" xmlns:a16="http://schemas.microsoft.com/office/drawing/2014/main" id="{8EEF35CA-096F-4E2A-14E6-F202F64CEDB4}"/>
                </a:ext>
              </a:extLst>
            </p:cNvPr>
            <p:cNvCxnSpPr>
              <a:cxnSpLocks/>
              <a:stCxn id="38" idx="6"/>
              <a:endCxn id="10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779066A9-0258-815A-A0AE-E0019C2A8D3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779066A9-0258-815A-A0AE-E0019C2A8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6526DE0D-6B24-FBCC-62D0-4C5B3CAED736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6526DE0D-6B24-FBCC-62D0-4C5B3CAED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827751F1-7CDF-48E5-8639-DB5D7B0E017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827751F1-7CDF-48E5-8639-DB5D7B0E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70DB8FD4-B455-A51F-928D-B4EA8F8FADDE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70DB8FD4-B455-A51F-928D-B4EA8F8FAD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4A3568B0-96EF-778B-A434-0929E90F7E9B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A3568B0-96EF-778B-A434-0929E90F7E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="" xmlns:a16="http://schemas.microsoft.com/office/drawing/2014/main" id="{57567919-B196-0B24-CD82-93E0B7C1BBD7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7567919-B196-0B24-CD82-93E0B7C1BB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="" xmlns:a16="http://schemas.microsoft.com/office/drawing/2014/main" id="{BF6ADB11-0E9B-ADD4-FD7D-EEEE76EEF10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BF6ADB11-0E9B-ADD4-FD7D-EEEE76EEF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="" xmlns:a16="http://schemas.microsoft.com/office/drawing/2014/main" id="{85B3A9EC-E88D-6D5E-A620-7E60AC42AC29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5B3A9EC-E88D-6D5E-A620-7E60AC42AC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ixaDeTexto 106">
              <a:extLst>
                <a:ext uri="{FF2B5EF4-FFF2-40B4-BE49-F238E27FC236}">
                  <a16:creationId xmlns="" xmlns:a16="http://schemas.microsoft.com/office/drawing/2014/main" id="{97457574-0476-8F51-2E38-000A84393BB5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="" xmlns:a16="http://schemas.microsoft.com/office/drawing/2014/main" id="{914BB7D8-BDC1-980A-A3C5-2414B32FFC25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CaixaDeTexto 32">
              <a:extLst>
                <a:ext uri="{FF2B5EF4-FFF2-40B4-BE49-F238E27FC236}">
                  <a16:creationId xmlns="" xmlns:a16="http://schemas.microsoft.com/office/drawing/2014/main" id="{CCF73238-5C8F-EF65-3EE9-5987486D9DD1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62" name="CaixaDeTexto 34">
              <a:extLst>
                <a:ext uri="{FF2B5EF4-FFF2-40B4-BE49-F238E27FC236}">
                  <a16:creationId xmlns="" xmlns:a16="http://schemas.microsoft.com/office/drawing/2014/main" id="{1447EAE3-BBCA-353C-85B0-8168ED864A04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3" name="CaixaDeTexto 40">
              <a:extLst>
                <a:ext uri="{FF2B5EF4-FFF2-40B4-BE49-F238E27FC236}">
                  <a16:creationId xmlns="" xmlns:a16="http://schemas.microsoft.com/office/drawing/2014/main" id="{443237A2-7B33-55AE-AA4A-0E673846D76C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4" name="CaixaDeTexto 36">
              <a:extLst>
                <a:ext uri="{FF2B5EF4-FFF2-40B4-BE49-F238E27FC236}">
                  <a16:creationId xmlns="" xmlns:a16="http://schemas.microsoft.com/office/drawing/2014/main" id="{C7DBA98F-A5F5-21D6-7C7D-6FD9F5CCFFA2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852386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="" xmlns:a16="http://schemas.microsoft.com/office/drawing/2014/main" id="{CE8BE39C-3F59-3AF0-B514-4C93BDC4DCC0}"/>
              </a:ext>
            </a:extLst>
          </p:cNvPr>
          <p:cNvGrpSpPr/>
          <p:nvPr/>
        </p:nvGrpSpPr>
        <p:grpSpPr>
          <a:xfrm>
            <a:off x="3107872" y="440872"/>
            <a:ext cx="5976256" cy="5976256"/>
            <a:chOff x="3020786" y="440872"/>
            <a:chExt cx="5976256" cy="5976256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E0538820-64CD-65AF-6306-AEB3879A20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20786" y="440872"/>
              <a:ext cx="5976256" cy="59762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9D886CFA-C0D2-3102-EA0D-5092AEF6A37B}"/>
                </a:ext>
              </a:extLst>
            </p:cNvPr>
            <p:cNvSpPr txBox="1"/>
            <p:nvPr/>
          </p:nvSpPr>
          <p:spPr>
            <a:xfrm>
              <a:off x="4234541" y="4495800"/>
              <a:ext cx="17743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Saída da camada anterior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="" xmlns:a16="http://schemas.microsoft.com/office/drawing/2014/main" id="{DCA7CE31-31A2-E045-C746-E9DAD42E9A0F}"/>
                </a:ext>
              </a:extLst>
            </p:cNvPr>
            <p:cNvSpPr txBox="1"/>
            <p:nvPr/>
          </p:nvSpPr>
          <p:spPr>
            <a:xfrm>
              <a:off x="4082141" y="1892567"/>
              <a:ext cx="1524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neurônio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C384550B-383A-873F-97FE-B77AC94B99AB}"/>
                </a:ext>
              </a:extLst>
            </p:cNvPr>
            <p:cNvSpPr txBox="1"/>
            <p:nvPr/>
          </p:nvSpPr>
          <p:spPr>
            <a:xfrm>
              <a:off x="6346374" y="555171"/>
              <a:ext cx="1981197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b="1" dirty="0">
                  <a:solidFill>
                    <a:srgbClr val="7030A0"/>
                  </a:solidFill>
                  <a:highlight>
                    <a:srgbClr val="00FFFF"/>
                  </a:highlight>
                </a:rPr>
                <a:t>Entrada da próxima camada da rede neural</a:t>
              </a:r>
              <a:endParaRPr lang="en-US" b="1" dirty="0">
                <a:solidFill>
                  <a:srgbClr val="7030A0"/>
                </a:solidFill>
                <a:highlight>
                  <a:srgbClr val="00FFFF"/>
                </a:highlight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4085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639AF09-2D36-1C96-F8B0-431B4FD8C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5DEF320-0216-8F92-2370-F2CBE063F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7EAF4C3-D39B-6291-6EFB-AD306FF6F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5001" y="1825625"/>
            <a:ext cx="6313714" cy="5032375"/>
          </a:xfrm>
        </p:spPr>
        <p:txBody>
          <a:bodyPr>
            <a:normAutofit/>
          </a:bodyPr>
          <a:lstStyle/>
          <a:p>
            <a:r>
              <a:rPr lang="pt-BR" dirty="0"/>
              <a:t>Ela também é chamada de </a:t>
            </a:r>
            <a:r>
              <a:rPr lang="pt-BR" b="1" dirty="0">
                <a:solidFill>
                  <a:srgbClr val="00B050"/>
                </a:solidFill>
              </a:rPr>
              <a:t>rede densamente conectada e </a:t>
            </a:r>
            <a:r>
              <a:rPr lang="pt-BR" b="1" dirty="0">
                <a:solidFill>
                  <a:srgbClr val="0070C0"/>
                </a:solidFill>
              </a:rPr>
              <a:t>de alimentação direta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(do inglês, </a:t>
            </a:r>
            <a:r>
              <a:rPr lang="pt-BR" i="1" dirty="0" err="1"/>
              <a:t>Dense</a:t>
            </a:r>
            <a:r>
              <a:rPr lang="pt-BR" i="1" dirty="0"/>
              <a:t> Neural Network</a:t>
            </a:r>
            <a:r>
              <a:rPr lang="pt-BR" dirty="0"/>
              <a:t> - DNN).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uma das saídas de uma camada </a:t>
            </a:r>
            <a:r>
              <a:rPr lang="pt-BR" b="1" dirty="0">
                <a:solidFill>
                  <a:srgbClr val="7030A0"/>
                </a:solidFill>
              </a:rPr>
              <a:t>se conecta a todos os nós</a:t>
            </a:r>
            <a:r>
              <a:rPr lang="pt-BR" dirty="0"/>
              <a:t> da camada seguinte através de pesos sinápticos, que determinam a </a:t>
            </a:r>
            <a:r>
              <a:rPr lang="pt-BR" b="1" dirty="0">
                <a:solidFill>
                  <a:srgbClr val="7030A0"/>
                </a:solidFill>
              </a:rPr>
              <a:t>força daquela conexão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dados fluem através da rede em uma única direção</a:t>
            </a:r>
            <a:r>
              <a:rPr lang="pt-BR" dirty="0"/>
              <a:t>, da camada de entrada para a camada de saída, </a:t>
            </a:r>
            <a:r>
              <a:rPr lang="pt-BR" b="1" dirty="0">
                <a:solidFill>
                  <a:srgbClr val="0070C0"/>
                </a:solidFill>
              </a:rPr>
              <a:t>sem realimentação</a:t>
            </a:r>
            <a:r>
              <a:rPr lang="pt-BR" dirty="0"/>
              <a:t>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D924ED20-DB0B-B274-ED07-B46D83830178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29948293-D84F-2EEA-726F-6E2D0DC63AC9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2F884F2B-D676-BE90-F55A-AE2E4A1EB93E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9" name="Elipse 79">
              <a:extLst>
                <a:ext uri="{FF2B5EF4-FFF2-40B4-BE49-F238E27FC236}">
                  <a16:creationId xmlns="" xmlns:a16="http://schemas.microsoft.com/office/drawing/2014/main" id="{B14FBD0A-FD76-660B-B239-715AA790B8C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0" name="Elipse 81">
              <a:extLst>
                <a:ext uri="{FF2B5EF4-FFF2-40B4-BE49-F238E27FC236}">
                  <a16:creationId xmlns="" xmlns:a16="http://schemas.microsoft.com/office/drawing/2014/main" id="{06D55CDC-7A7A-6C7C-5081-BFBD4A87BCD5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1" name="Elipse 82">
              <a:extLst>
                <a:ext uri="{FF2B5EF4-FFF2-40B4-BE49-F238E27FC236}">
                  <a16:creationId xmlns="" xmlns:a16="http://schemas.microsoft.com/office/drawing/2014/main" id="{F35A5214-8555-DC80-A79A-F480CA0BC45E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2" name="Elipse 83">
              <a:extLst>
                <a:ext uri="{FF2B5EF4-FFF2-40B4-BE49-F238E27FC236}">
                  <a16:creationId xmlns="" xmlns:a16="http://schemas.microsoft.com/office/drawing/2014/main" id="{FBB24D42-87E9-834C-F859-0D3ECB27FA6E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3" name="Elipse 84">
              <a:extLst>
                <a:ext uri="{FF2B5EF4-FFF2-40B4-BE49-F238E27FC236}">
                  <a16:creationId xmlns="" xmlns:a16="http://schemas.microsoft.com/office/drawing/2014/main" id="{10B7C2A0-948F-EA7C-F037-18B4BDC907C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4" name="Elipse 85">
              <a:extLst>
                <a:ext uri="{FF2B5EF4-FFF2-40B4-BE49-F238E27FC236}">
                  <a16:creationId xmlns="" xmlns:a16="http://schemas.microsoft.com/office/drawing/2014/main" id="{28CE139E-ED6D-C9B8-5A46-3EDBED04F987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75" name="Conector de Seta Reta 86">
              <a:extLst>
                <a:ext uri="{FF2B5EF4-FFF2-40B4-BE49-F238E27FC236}">
                  <a16:creationId xmlns="" xmlns:a16="http://schemas.microsoft.com/office/drawing/2014/main" id="{92D91658-C06E-945B-93C9-F40A6754DFCE}"/>
                </a:ext>
              </a:extLst>
            </p:cNvPr>
            <p:cNvCxnSpPr>
              <a:cxnSpLocks/>
              <a:stCxn id="72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ector de Seta Reta 87">
              <a:extLst>
                <a:ext uri="{FF2B5EF4-FFF2-40B4-BE49-F238E27FC236}">
                  <a16:creationId xmlns="" xmlns:a16="http://schemas.microsoft.com/office/drawing/2014/main" id="{8BF8ADC7-9AB4-84BF-58B6-F32F694D6D0F}"/>
                </a:ext>
              </a:extLst>
            </p:cNvPr>
            <p:cNvCxnSpPr>
              <a:stCxn id="72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ector de Seta Reta 88">
              <a:extLst>
                <a:ext uri="{FF2B5EF4-FFF2-40B4-BE49-F238E27FC236}">
                  <a16:creationId xmlns="" xmlns:a16="http://schemas.microsoft.com/office/drawing/2014/main" id="{7C3C37D3-91EA-E597-8145-3E0EDDB8F60C}"/>
                </a:ext>
              </a:extLst>
            </p:cNvPr>
            <p:cNvCxnSpPr>
              <a:stCxn id="72" idx="6"/>
              <a:endCxn id="69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de Seta Reta 90">
              <a:extLst>
                <a:ext uri="{FF2B5EF4-FFF2-40B4-BE49-F238E27FC236}">
                  <a16:creationId xmlns="" xmlns:a16="http://schemas.microsoft.com/office/drawing/2014/main" id="{8C99D29D-DF0E-D6CE-8E07-2C192DE2D207}"/>
                </a:ext>
              </a:extLst>
            </p:cNvPr>
            <p:cNvCxnSpPr>
              <a:cxnSpLocks/>
              <a:stCxn id="73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de Seta Reta 91">
              <a:extLst>
                <a:ext uri="{FF2B5EF4-FFF2-40B4-BE49-F238E27FC236}">
                  <a16:creationId xmlns="" xmlns:a16="http://schemas.microsoft.com/office/drawing/2014/main" id="{F96EA774-239F-1834-0663-92FB36C61AD2}"/>
                </a:ext>
              </a:extLst>
            </p:cNvPr>
            <p:cNvCxnSpPr>
              <a:stCxn id="74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de Seta Reta 92">
              <a:extLst>
                <a:ext uri="{FF2B5EF4-FFF2-40B4-BE49-F238E27FC236}">
                  <a16:creationId xmlns="" xmlns:a16="http://schemas.microsoft.com/office/drawing/2014/main" id="{2C46ADD9-5CE2-264A-3F1B-85302074545E}"/>
                </a:ext>
              </a:extLst>
            </p:cNvPr>
            <p:cNvCxnSpPr>
              <a:stCxn id="73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de Seta Reta 93">
              <a:extLst>
                <a:ext uri="{FF2B5EF4-FFF2-40B4-BE49-F238E27FC236}">
                  <a16:creationId xmlns="" xmlns:a16="http://schemas.microsoft.com/office/drawing/2014/main" id="{FF6F99C4-65EB-D71D-708E-22F5AEE1169A}"/>
                </a:ext>
              </a:extLst>
            </p:cNvPr>
            <p:cNvCxnSpPr>
              <a:stCxn id="73" idx="6"/>
              <a:endCxn id="69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de Seta Reta 96">
              <a:extLst>
                <a:ext uri="{FF2B5EF4-FFF2-40B4-BE49-F238E27FC236}">
                  <a16:creationId xmlns="" xmlns:a16="http://schemas.microsoft.com/office/drawing/2014/main" id="{987B39F3-CDB7-E9A6-7B95-D31E70170B3E}"/>
                </a:ext>
              </a:extLst>
            </p:cNvPr>
            <p:cNvCxnSpPr>
              <a:stCxn id="74" idx="6"/>
              <a:endCxn id="69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de Seta Reta 98">
              <a:extLst>
                <a:ext uri="{FF2B5EF4-FFF2-40B4-BE49-F238E27FC236}">
                  <a16:creationId xmlns="" xmlns:a16="http://schemas.microsoft.com/office/drawing/2014/main" id="{4B18193A-6A5C-66DF-5BFE-94EFCE1991CE}"/>
                </a:ext>
              </a:extLst>
            </p:cNvPr>
            <p:cNvCxnSpPr>
              <a:stCxn id="5" idx="6"/>
              <a:endCxn id="70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de Seta Reta 99">
              <a:extLst>
                <a:ext uri="{FF2B5EF4-FFF2-40B4-BE49-F238E27FC236}">
                  <a16:creationId xmlns="" xmlns:a16="http://schemas.microsoft.com/office/drawing/2014/main" id="{22D12D0A-B338-6C33-AD76-99297BA89D75}"/>
                </a:ext>
              </a:extLst>
            </p:cNvPr>
            <p:cNvCxnSpPr>
              <a:stCxn id="6" idx="6"/>
              <a:endCxn id="71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de Seta Reta 100">
              <a:extLst>
                <a:ext uri="{FF2B5EF4-FFF2-40B4-BE49-F238E27FC236}">
                  <a16:creationId xmlns="" xmlns:a16="http://schemas.microsoft.com/office/drawing/2014/main" id="{024A7AC3-1750-DE11-B8BD-6F33398E5538}"/>
                </a:ext>
              </a:extLst>
            </p:cNvPr>
            <p:cNvCxnSpPr>
              <a:stCxn id="69" idx="6"/>
              <a:endCxn id="71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de Seta Reta 102">
              <a:extLst>
                <a:ext uri="{FF2B5EF4-FFF2-40B4-BE49-F238E27FC236}">
                  <a16:creationId xmlns="" xmlns:a16="http://schemas.microsoft.com/office/drawing/2014/main" id="{98E2E661-5627-796C-27AE-57FC373176FD}"/>
                </a:ext>
              </a:extLst>
            </p:cNvPr>
            <p:cNvCxnSpPr>
              <a:cxnSpLocks/>
              <a:stCxn id="5" idx="6"/>
              <a:endCxn id="71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de Seta Reta 103">
              <a:extLst>
                <a:ext uri="{FF2B5EF4-FFF2-40B4-BE49-F238E27FC236}">
                  <a16:creationId xmlns="" xmlns:a16="http://schemas.microsoft.com/office/drawing/2014/main" id="{3958AEFF-A6B3-8BA9-1E1B-456F88797EEE}"/>
                </a:ext>
              </a:extLst>
            </p:cNvPr>
            <p:cNvCxnSpPr>
              <a:stCxn id="6" idx="6"/>
              <a:endCxn id="70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de Seta Reta 104">
              <a:extLst>
                <a:ext uri="{FF2B5EF4-FFF2-40B4-BE49-F238E27FC236}">
                  <a16:creationId xmlns="" xmlns:a16="http://schemas.microsoft.com/office/drawing/2014/main" id="{F62ED6E5-B26E-12EE-0859-CB7F858AC4E6}"/>
                </a:ext>
              </a:extLst>
            </p:cNvPr>
            <p:cNvCxnSpPr>
              <a:stCxn id="69" idx="6"/>
              <a:endCxn id="70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CaixaDeTexto 106">
              <a:extLst>
                <a:ext uri="{FF2B5EF4-FFF2-40B4-BE49-F238E27FC236}">
                  <a16:creationId xmlns="" xmlns:a16="http://schemas.microsoft.com/office/drawing/2014/main" id="{00F05F67-8F3F-A953-F291-CE95FAC0320E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90" name="Forma Livre: Forma 107">
              <a:extLst>
                <a:ext uri="{FF2B5EF4-FFF2-40B4-BE49-F238E27FC236}">
                  <a16:creationId xmlns="" xmlns:a16="http://schemas.microsoft.com/office/drawing/2014/main" id="{712F7096-5996-19BB-2D9E-7DC0B82B8E5F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1" name="Conector reto 112">
              <a:extLst>
                <a:ext uri="{FF2B5EF4-FFF2-40B4-BE49-F238E27FC236}">
                  <a16:creationId xmlns="" xmlns:a16="http://schemas.microsoft.com/office/drawing/2014/main" id="{ADFEE403-5C40-93EB-58F6-232F55E47F45}"/>
                </a:ext>
              </a:extLst>
            </p:cNvPr>
            <p:cNvCxnSpPr>
              <a:cxnSpLocks/>
              <a:stCxn id="127" idx="6"/>
              <a:endCxn id="73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de Seta Reta 113">
              <a:extLst>
                <a:ext uri="{FF2B5EF4-FFF2-40B4-BE49-F238E27FC236}">
                  <a16:creationId xmlns="" xmlns:a16="http://schemas.microsoft.com/office/drawing/2014/main" id="{D682A7AD-C53E-6B36-9846-0ACF902AB3D8}"/>
                </a:ext>
              </a:extLst>
            </p:cNvPr>
            <p:cNvCxnSpPr>
              <a:cxnSpLocks/>
              <a:stCxn id="70" idx="6"/>
              <a:endCxn id="94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de Seta Reta 114">
              <a:extLst>
                <a:ext uri="{FF2B5EF4-FFF2-40B4-BE49-F238E27FC236}">
                  <a16:creationId xmlns="" xmlns:a16="http://schemas.microsoft.com/office/drawing/2014/main" id="{0B09B6F2-9B8C-124B-EE2A-EBD1004DDA67}"/>
                </a:ext>
              </a:extLst>
            </p:cNvPr>
            <p:cNvCxnSpPr>
              <a:cxnSpLocks/>
              <a:stCxn id="71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aixaDeTexto 5">
                  <a:extLst>
                    <a:ext uri="{FF2B5EF4-FFF2-40B4-BE49-F238E27FC236}">
                      <a16:creationId xmlns="" xmlns:a16="http://schemas.microsoft.com/office/drawing/2014/main" id="{6287D2CB-DA65-2DEA-359C-E4FB0935D7B1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4" name="CaixaDeTexto 5">
                  <a:extLst>
                    <a:ext uri="{FF2B5EF4-FFF2-40B4-BE49-F238E27FC236}">
                      <a16:creationId xmlns:a16="http://schemas.microsoft.com/office/drawing/2014/main" id="{6287D2CB-DA65-2DEA-359C-E4FB0935D7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CaixaDeTexto 6">
                  <a:extLst>
                    <a:ext uri="{FF2B5EF4-FFF2-40B4-BE49-F238E27FC236}">
                      <a16:creationId xmlns="" xmlns:a16="http://schemas.microsoft.com/office/drawing/2014/main" id="{A3231782-8414-5002-E314-41DD851D3A4E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5" name="CaixaDeTexto 6">
                  <a:extLst>
                    <a:ext uri="{FF2B5EF4-FFF2-40B4-BE49-F238E27FC236}">
                      <a16:creationId xmlns:a16="http://schemas.microsoft.com/office/drawing/2014/main" id="{A3231782-8414-5002-E314-41DD851D3A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6" name="Group 95">
              <a:extLst>
                <a:ext uri="{FF2B5EF4-FFF2-40B4-BE49-F238E27FC236}">
                  <a16:creationId xmlns="" xmlns:a16="http://schemas.microsoft.com/office/drawing/2014/main" id="{2BA9E097-F984-A14E-6970-260F32726E82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6" name="CaixaDeTexto 115">
                    <a:extLst>
                      <a:ext uri="{FF2B5EF4-FFF2-40B4-BE49-F238E27FC236}">
                        <a16:creationId xmlns="" xmlns:a16="http://schemas.microsoft.com/office/drawing/2014/main" id="{D2809C79-1170-E3F5-06A4-2BD22C1E9BCC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6" name="CaixaDeTexto 115">
                    <a:extLst>
                      <a:ext uri="{FF2B5EF4-FFF2-40B4-BE49-F238E27FC236}">
                        <a16:creationId xmlns:a16="http://schemas.microsoft.com/office/drawing/2014/main" id="{D2809C79-1170-E3F5-06A4-2BD22C1E9BC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7" name="Elipse 3">
                <a:extLst>
                  <a:ext uri="{FF2B5EF4-FFF2-40B4-BE49-F238E27FC236}">
                    <a16:creationId xmlns="" xmlns:a16="http://schemas.microsoft.com/office/drawing/2014/main" id="{DA555B05-15A9-7FC3-6752-F287C2EE7C9C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97" name="Elipse 83">
              <a:extLst>
                <a:ext uri="{FF2B5EF4-FFF2-40B4-BE49-F238E27FC236}">
                  <a16:creationId xmlns="" xmlns:a16="http://schemas.microsoft.com/office/drawing/2014/main" id="{69072751-CBC4-5501-9942-9D51B0542D0E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="" xmlns:a16="http://schemas.microsoft.com/office/drawing/2014/main" id="{1B1AC199-2E59-15CF-9FCC-7E96C524DE74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4" name="CaixaDeTexto 116">
                    <a:extLst>
                      <a:ext uri="{FF2B5EF4-FFF2-40B4-BE49-F238E27FC236}">
                        <a16:creationId xmlns="" xmlns:a16="http://schemas.microsoft.com/office/drawing/2014/main" id="{82AA9A43-B2CC-6208-F7C8-D6369344189D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24" name="CaixaDeTexto 116">
                    <a:extLst>
                      <a:ext uri="{FF2B5EF4-FFF2-40B4-BE49-F238E27FC236}">
                        <a16:creationId xmlns:a16="http://schemas.microsoft.com/office/drawing/2014/main" id="{82AA9A43-B2CC-6208-F7C8-D636934418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5" name="Elipse 4">
                <a:extLst>
                  <a:ext uri="{FF2B5EF4-FFF2-40B4-BE49-F238E27FC236}">
                    <a16:creationId xmlns="" xmlns:a16="http://schemas.microsoft.com/office/drawing/2014/main" id="{BBC7C3EF-33A0-D76D-C593-1DE7F3E77AAB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99" name="Conector reto 112">
              <a:extLst>
                <a:ext uri="{FF2B5EF4-FFF2-40B4-BE49-F238E27FC236}">
                  <a16:creationId xmlns="" xmlns:a16="http://schemas.microsoft.com/office/drawing/2014/main" id="{989C1505-30AF-BECA-AF0B-0FBD106E9512}"/>
                </a:ext>
              </a:extLst>
            </p:cNvPr>
            <p:cNvCxnSpPr>
              <a:cxnSpLocks/>
              <a:stCxn id="127" idx="6"/>
              <a:endCxn id="72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to 112">
              <a:extLst>
                <a:ext uri="{FF2B5EF4-FFF2-40B4-BE49-F238E27FC236}">
                  <a16:creationId xmlns="" xmlns:a16="http://schemas.microsoft.com/office/drawing/2014/main" id="{740F23A5-4904-E5DA-2B07-CCA94675F536}"/>
                </a:ext>
              </a:extLst>
            </p:cNvPr>
            <p:cNvCxnSpPr>
              <a:cxnSpLocks/>
              <a:stCxn id="127" idx="6"/>
              <a:endCxn id="74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to 112">
              <a:extLst>
                <a:ext uri="{FF2B5EF4-FFF2-40B4-BE49-F238E27FC236}">
                  <a16:creationId xmlns="" xmlns:a16="http://schemas.microsoft.com/office/drawing/2014/main" id="{6BA72260-AC5F-EE29-C681-E0FE56E2FAE2}"/>
                </a:ext>
              </a:extLst>
            </p:cNvPr>
            <p:cNvCxnSpPr>
              <a:cxnSpLocks/>
              <a:stCxn id="127" idx="6"/>
              <a:endCxn id="97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ector reto 112">
              <a:extLst>
                <a:ext uri="{FF2B5EF4-FFF2-40B4-BE49-F238E27FC236}">
                  <a16:creationId xmlns="" xmlns:a16="http://schemas.microsoft.com/office/drawing/2014/main" id="{70AD6C34-D213-4768-DFE5-30E3FD8A9274}"/>
                </a:ext>
              </a:extLst>
            </p:cNvPr>
            <p:cNvCxnSpPr>
              <a:cxnSpLocks/>
              <a:stCxn id="125" idx="6"/>
              <a:endCxn id="97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ector reto 112">
              <a:extLst>
                <a:ext uri="{FF2B5EF4-FFF2-40B4-BE49-F238E27FC236}">
                  <a16:creationId xmlns="" xmlns:a16="http://schemas.microsoft.com/office/drawing/2014/main" id="{F9BEE6A4-F692-495A-9CFD-BD469082B688}"/>
                </a:ext>
              </a:extLst>
            </p:cNvPr>
            <p:cNvCxnSpPr>
              <a:cxnSpLocks/>
              <a:stCxn id="125" idx="6"/>
              <a:endCxn id="74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to 112">
              <a:extLst>
                <a:ext uri="{FF2B5EF4-FFF2-40B4-BE49-F238E27FC236}">
                  <a16:creationId xmlns="" xmlns:a16="http://schemas.microsoft.com/office/drawing/2014/main" id="{9A6C4F21-2765-25CA-70F3-5C375B929F64}"/>
                </a:ext>
              </a:extLst>
            </p:cNvPr>
            <p:cNvCxnSpPr>
              <a:cxnSpLocks/>
              <a:stCxn id="125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to 112">
              <a:extLst>
                <a:ext uri="{FF2B5EF4-FFF2-40B4-BE49-F238E27FC236}">
                  <a16:creationId xmlns="" xmlns:a16="http://schemas.microsoft.com/office/drawing/2014/main" id="{63798466-C789-1F7A-82E3-69D78349231B}"/>
                </a:ext>
              </a:extLst>
            </p:cNvPr>
            <p:cNvCxnSpPr>
              <a:cxnSpLocks/>
              <a:stCxn id="125" idx="6"/>
              <a:endCxn id="72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de Seta Reta 91">
              <a:extLst>
                <a:ext uri="{FF2B5EF4-FFF2-40B4-BE49-F238E27FC236}">
                  <a16:creationId xmlns="" xmlns:a16="http://schemas.microsoft.com/office/drawing/2014/main" id="{1DD9C884-DFA4-9AE4-8A09-D33FEA35CBD5}"/>
                </a:ext>
              </a:extLst>
            </p:cNvPr>
            <p:cNvCxnSpPr>
              <a:cxnSpLocks/>
              <a:stCxn id="74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de Seta Reta 91">
              <a:extLst>
                <a:ext uri="{FF2B5EF4-FFF2-40B4-BE49-F238E27FC236}">
                  <a16:creationId xmlns="" xmlns:a16="http://schemas.microsoft.com/office/drawing/2014/main" id="{3B070BFC-E028-B134-DC7F-72BC97501822}"/>
                </a:ext>
              </a:extLst>
            </p:cNvPr>
            <p:cNvCxnSpPr>
              <a:cxnSpLocks/>
              <a:stCxn id="97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de Seta Reta 91">
              <a:extLst>
                <a:ext uri="{FF2B5EF4-FFF2-40B4-BE49-F238E27FC236}">
                  <a16:creationId xmlns="" xmlns:a16="http://schemas.microsoft.com/office/drawing/2014/main" id="{3AA6D75A-2CDC-FAAC-A292-8231A1686310}"/>
                </a:ext>
              </a:extLst>
            </p:cNvPr>
            <p:cNvCxnSpPr>
              <a:cxnSpLocks/>
              <a:stCxn id="97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de Seta Reta 91">
              <a:extLst>
                <a:ext uri="{FF2B5EF4-FFF2-40B4-BE49-F238E27FC236}">
                  <a16:creationId xmlns="" xmlns:a16="http://schemas.microsoft.com/office/drawing/2014/main" id="{453602BD-9660-20EB-A247-23CA601C0301}"/>
                </a:ext>
              </a:extLst>
            </p:cNvPr>
            <p:cNvCxnSpPr>
              <a:cxnSpLocks/>
              <a:stCxn id="97" idx="6"/>
              <a:endCxn id="69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0" name="TextBox 109">
                  <a:extLst>
                    <a:ext uri="{FF2B5EF4-FFF2-40B4-BE49-F238E27FC236}">
                      <a16:creationId xmlns="" xmlns:a16="http://schemas.microsoft.com/office/drawing/2014/main" id="{FAC5516A-DA74-40CF-A911-19265B8C59B1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FAC5516A-DA74-40CF-A911-19265B8C59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1" name="TextBox 110">
                  <a:extLst>
                    <a:ext uri="{FF2B5EF4-FFF2-40B4-BE49-F238E27FC236}">
                      <a16:creationId xmlns="" xmlns:a16="http://schemas.microsoft.com/office/drawing/2014/main" id="{48D4C541-9D72-795F-CB94-23277A8FECD2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1" name="TextBox 110">
                  <a:extLst>
                    <a:ext uri="{FF2B5EF4-FFF2-40B4-BE49-F238E27FC236}">
                      <a16:creationId xmlns:a16="http://schemas.microsoft.com/office/drawing/2014/main" id="{48D4C541-9D72-795F-CB94-23277A8FEC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" name="TextBox 111">
                  <a:extLst>
                    <a:ext uri="{FF2B5EF4-FFF2-40B4-BE49-F238E27FC236}">
                      <a16:creationId xmlns="" xmlns:a16="http://schemas.microsoft.com/office/drawing/2014/main" id="{3CBCDA0F-DBF1-356B-A17E-AF1E068960C0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2" name="TextBox 111">
                  <a:extLst>
                    <a:ext uri="{FF2B5EF4-FFF2-40B4-BE49-F238E27FC236}">
                      <a16:creationId xmlns:a16="http://schemas.microsoft.com/office/drawing/2014/main" id="{3CBCDA0F-DBF1-356B-A17E-AF1E068960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="" xmlns:a16="http://schemas.microsoft.com/office/drawing/2014/main" id="{A4B96C09-A67F-D5B8-2B2A-C3913BD454EC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A4B96C09-A67F-D5B8-2B2A-C3913BD45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TextBox 113">
                  <a:extLst>
                    <a:ext uri="{FF2B5EF4-FFF2-40B4-BE49-F238E27FC236}">
                      <a16:creationId xmlns="" xmlns:a16="http://schemas.microsoft.com/office/drawing/2014/main" id="{32FE2C6B-6196-155D-55D5-F7C80E410C0D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32FE2C6B-6196-155D-55D5-F7C80E410C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="" xmlns:a16="http://schemas.microsoft.com/office/drawing/2014/main" id="{E7FD8A71-5F2A-46F7-3118-42F9FA3D7118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E7FD8A71-5F2A-46F7-3118-42F9FA3D7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="" xmlns:a16="http://schemas.microsoft.com/office/drawing/2014/main" id="{269F0A4C-62EE-1281-778E-B8F08205C9F7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269F0A4C-62EE-1281-778E-B8F08205C9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="" xmlns:a16="http://schemas.microsoft.com/office/drawing/2014/main" id="{ABD41E61-E70F-49B2-21A9-6372CA765C30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ABD41E61-E70F-49B2-21A9-6372CA765C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8" name="CaixaDeTexto 106">
              <a:extLst>
                <a:ext uri="{FF2B5EF4-FFF2-40B4-BE49-F238E27FC236}">
                  <a16:creationId xmlns="" xmlns:a16="http://schemas.microsoft.com/office/drawing/2014/main" id="{BE4D4CE3-50A5-240B-97CB-F0497581F4BB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="" xmlns:a16="http://schemas.microsoft.com/office/drawing/2014/main" id="{70B79FE9-E403-013D-4A80-A5518AF0229F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CaixaDeTexto 32">
              <a:extLst>
                <a:ext uri="{FF2B5EF4-FFF2-40B4-BE49-F238E27FC236}">
                  <a16:creationId xmlns="" xmlns:a16="http://schemas.microsoft.com/office/drawing/2014/main" id="{72A729F0-7FED-9107-CC61-88DE3E750614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121" name="CaixaDeTexto 34">
              <a:extLst>
                <a:ext uri="{FF2B5EF4-FFF2-40B4-BE49-F238E27FC236}">
                  <a16:creationId xmlns="" xmlns:a16="http://schemas.microsoft.com/office/drawing/2014/main" id="{DCDB1514-4AD7-C34B-1816-E426573EBD50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122" name="CaixaDeTexto 40">
              <a:extLst>
                <a:ext uri="{FF2B5EF4-FFF2-40B4-BE49-F238E27FC236}">
                  <a16:creationId xmlns="" xmlns:a16="http://schemas.microsoft.com/office/drawing/2014/main" id="{83E13EDE-D08E-67D9-387D-E598215599B9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123" name="CaixaDeTexto 36">
              <a:extLst>
                <a:ext uri="{FF2B5EF4-FFF2-40B4-BE49-F238E27FC236}">
                  <a16:creationId xmlns="" xmlns:a16="http://schemas.microsoft.com/office/drawing/2014/main" id="{AE8766D2-ABFD-A499-E290-A290248C198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128" name="Seta: para a Direita 24">
            <a:extLst>
              <a:ext uri="{FF2B5EF4-FFF2-40B4-BE49-F238E27FC236}">
                <a16:creationId xmlns="" xmlns:a16="http://schemas.microsoft.com/office/drawing/2014/main" id="{60AD9611-06AA-6099-BF9E-448A996631E0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23646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49AE79E-FE8C-20C6-3943-DBD770F84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7D0909E-29B2-B53D-BDF3-AC009A018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21828" cy="5032375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rgbClr val="7030A0"/>
                </a:solidFill>
              </a:rPr>
              <a:t>propriedades de uma rede neural </a:t>
            </a:r>
            <a:r>
              <a:rPr lang="pt-BR" dirty="0"/>
              <a:t>são determinadas por sua </a:t>
            </a:r>
            <a:r>
              <a:rPr lang="pt-BR" b="1" dirty="0">
                <a:solidFill>
                  <a:srgbClr val="7030A0"/>
                </a:solidFill>
              </a:rPr>
              <a:t>arquitetura</a:t>
            </a:r>
            <a:r>
              <a:rPr lang="pt-BR" dirty="0"/>
              <a:t>.</a:t>
            </a:r>
          </a:p>
          <a:p>
            <a:r>
              <a:rPr lang="pt-BR" dirty="0"/>
              <a:t>A arquitetura é definida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os neurônios estão conectados (forma direta ou recursiva),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neurônios,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quantidade de camadas escondidas,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funções de ativação,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etc.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10B1DF2E-6992-839D-A155-C6C3D55D2C96}"/>
              </a:ext>
            </a:extLst>
          </p:cNvPr>
          <p:cNvGrpSpPr/>
          <p:nvPr/>
        </p:nvGrpSpPr>
        <p:grpSpPr>
          <a:xfrm>
            <a:off x="653454" y="2071496"/>
            <a:ext cx="4240583" cy="3792091"/>
            <a:chOff x="294226" y="2506925"/>
            <a:chExt cx="4240583" cy="3792091"/>
          </a:xfrm>
        </p:grpSpPr>
        <p:sp>
          <p:nvSpPr>
            <p:cNvPr id="5" name="Elipse 77">
              <a:extLst>
                <a:ext uri="{FF2B5EF4-FFF2-40B4-BE49-F238E27FC236}">
                  <a16:creationId xmlns="" xmlns:a16="http://schemas.microsoft.com/office/drawing/2014/main" id="{27993ADC-5FC2-911F-7BD0-E0A0F1F00C9C}"/>
                </a:ext>
              </a:extLst>
            </p:cNvPr>
            <p:cNvSpPr/>
            <p:nvPr/>
          </p:nvSpPr>
          <p:spPr>
            <a:xfrm>
              <a:off x="2492828" y="3402579"/>
              <a:ext cx="566057" cy="56605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6" name="Elipse 78">
              <a:extLst>
                <a:ext uri="{FF2B5EF4-FFF2-40B4-BE49-F238E27FC236}">
                  <a16:creationId xmlns="" xmlns:a16="http://schemas.microsoft.com/office/drawing/2014/main" id="{441D3988-2595-1604-789B-DA99844EF8BC}"/>
                </a:ext>
              </a:extLst>
            </p:cNvPr>
            <p:cNvSpPr/>
            <p:nvPr/>
          </p:nvSpPr>
          <p:spPr>
            <a:xfrm>
              <a:off x="2492827" y="4121036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Elipse 79">
              <a:extLst>
                <a:ext uri="{FF2B5EF4-FFF2-40B4-BE49-F238E27FC236}">
                  <a16:creationId xmlns="" xmlns:a16="http://schemas.microsoft.com/office/drawing/2014/main" id="{090E1FDB-0FAD-9376-7A0C-6EDB75C352F2}"/>
                </a:ext>
              </a:extLst>
            </p:cNvPr>
            <p:cNvSpPr/>
            <p:nvPr/>
          </p:nvSpPr>
          <p:spPr>
            <a:xfrm>
              <a:off x="2492827" y="4839493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8" name="Elipse 81">
              <a:extLst>
                <a:ext uri="{FF2B5EF4-FFF2-40B4-BE49-F238E27FC236}">
                  <a16:creationId xmlns="" xmlns:a16="http://schemas.microsoft.com/office/drawing/2014/main" id="{5A58E2B9-3B0F-2548-67C9-AA99FB0C7EAD}"/>
                </a:ext>
              </a:extLst>
            </p:cNvPr>
            <p:cNvSpPr/>
            <p:nvPr/>
          </p:nvSpPr>
          <p:spPr>
            <a:xfrm>
              <a:off x="3450770" y="3864817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9" name="Elipse 82">
              <a:extLst>
                <a:ext uri="{FF2B5EF4-FFF2-40B4-BE49-F238E27FC236}">
                  <a16:creationId xmlns="" xmlns:a16="http://schemas.microsoft.com/office/drawing/2014/main" id="{2DE9B73C-F7A3-A6F0-9FFB-DE76E6892164}"/>
                </a:ext>
              </a:extLst>
            </p:cNvPr>
            <p:cNvSpPr/>
            <p:nvPr/>
          </p:nvSpPr>
          <p:spPr>
            <a:xfrm>
              <a:off x="3450769" y="4583274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0" name="Elipse 83">
              <a:extLst>
                <a:ext uri="{FF2B5EF4-FFF2-40B4-BE49-F238E27FC236}">
                  <a16:creationId xmlns="" xmlns:a16="http://schemas.microsoft.com/office/drawing/2014/main" id="{1966FEC9-82F9-D384-8AE6-BC0081C099C0}"/>
                </a:ext>
              </a:extLst>
            </p:cNvPr>
            <p:cNvSpPr/>
            <p:nvPr/>
          </p:nvSpPr>
          <p:spPr>
            <a:xfrm>
              <a:off x="1534884" y="29299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1" name="Elipse 84">
              <a:extLst>
                <a:ext uri="{FF2B5EF4-FFF2-40B4-BE49-F238E27FC236}">
                  <a16:creationId xmlns="" xmlns:a16="http://schemas.microsoft.com/office/drawing/2014/main" id="{9E77B041-441B-DF39-D012-4B3A17932443}"/>
                </a:ext>
              </a:extLst>
            </p:cNvPr>
            <p:cNvSpPr/>
            <p:nvPr/>
          </p:nvSpPr>
          <p:spPr>
            <a:xfrm>
              <a:off x="1534884" y="36856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12" name="Elipse 85">
              <a:extLst>
                <a:ext uri="{FF2B5EF4-FFF2-40B4-BE49-F238E27FC236}">
                  <a16:creationId xmlns="" xmlns:a16="http://schemas.microsoft.com/office/drawing/2014/main" id="{3EC1BF5F-BC77-CABE-FD96-66871C93FC70}"/>
                </a:ext>
              </a:extLst>
            </p:cNvPr>
            <p:cNvSpPr/>
            <p:nvPr/>
          </p:nvSpPr>
          <p:spPr>
            <a:xfrm>
              <a:off x="1534884" y="444125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cxnSp>
          <p:nvCxnSpPr>
            <p:cNvPr id="13" name="Conector de Seta Reta 86">
              <a:extLst>
                <a:ext uri="{FF2B5EF4-FFF2-40B4-BE49-F238E27FC236}">
                  <a16:creationId xmlns="" xmlns:a16="http://schemas.microsoft.com/office/drawing/2014/main" id="{84E3475D-7843-2D4F-9156-C2F2F5C93769}"/>
                </a:ext>
              </a:extLst>
            </p:cNvPr>
            <p:cNvCxnSpPr>
              <a:cxnSpLocks/>
              <a:stCxn id="10" idx="6"/>
              <a:endCxn id="5" idx="2"/>
            </p:cNvCxnSpPr>
            <p:nvPr/>
          </p:nvCxnSpPr>
          <p:spPr>
            <a:xfrm>
              <a:off x="2100941" y="3212987"/>
              <a:ext cx="391887" cy="4726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87">
              <a:extLst>
                <a:ext uri="{FF2B5EF4-FFF2-40B4-BE49-F238E27FC236}">
                  <a16:creationId xmlns="" xmlns:a16="http://schemas.microsoft.com/office/drawing/2014/main" id="{0631D3B3-0ED4-7875-A51E-18CBBDB2DEB7}"/>
                </a:ext>
              </a:extLst>
            </p:cNvPr>
            <p:cNvCxnSpPr>
              <a:stCxn id="10" idx="6"/>
              <a:endCxn id="6" idx="2"/>
            </p:cNvCxnSpPr>
            <p:nvPr/>
          </p:nvCxnSpPr>
          <p:spPr>
            <a:xfrm>
              <a:off x="2100941" y="3212987"/>
              <a:ext cx="391886" cy="11910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88">
              <a:extLst>
                <a:ext uri="{FF2B5EF4-FFF2-40B4-BE49-F238E27FC236}">
                  <a16:creationId xmlns="" xmlns:a16="http://schemas.microsoft.com/office/drawing/2014/main" id="{EF4BA50C-426B-B11B-F35B-B1172588E4BC}"/>
                </a:ext>
              </a:extLst>
            </p:cNvPr>
            <p:cNvCxnSpPr>
              <a:stCxn id="10" idx="6"/>
              <a:endCxn id="7" idx="2"/>
            </p:cNvCxnSpPr>
            <p:nvPr/>
          </p:nvCxnSpPr>
          <p:spPr>
            <a:xfrm>
              <a:off x="2100941" y="3212987"/>
              <a:ext cx="391886" cy="19095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90">
              <a:extLst>
                <a:ext uri="{FF2B5EF4-FFF2-40B4-BE49-F238E27FC236}">
                  <a16:creationId xmlns="" xmlns:a16="http://schemas.microsoft.com/office/drawing/2014/main" id="{457AF030-45F7-1FF0-24A0-AE3FBED8DBAC}"/>
                </a:ext>
              </a:extLst>
            </p:cNvPr>
            <p:cNvCxnSpPr>
              <a:cxnSpLocks/>
              <a:stCxn id="11" idx="6"/>
              <a:endCxn id="5" idx="2"/>
            </p:cNvCxnSpPr>
            <p:nvPr/>
          </p:nvCxnSpPr>
          <p:spPr>
            <a:xfrm flipV="1">
              <a:off x="2100941" y="3685608"/>
              <a:ext cx="391887" cy="2830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ector de Seta Reta 91">
              <a:extLst>
                <a:ext uri="{FF2B5EF4-FFF2-40B4-BE49-F238E27FC236}">
                  <a16:creationId xmlns="" xmlns:a16="http://schemas.microsoft.com/office/drawing/2014/main" id="{F130EB38-05C3-3C8A-6404-CE74A7C44F07}"/>
                </a:ext>
              </a:extLst>
            </p:cNvPr>
            <p:cNvCxnSpPr>
              <a:stCxn id="12" idx="6"/>
              <a:endCxn id="6" idx="2"/>
            </p:cNvCxnSpPr>
            <p:nvPr/>
          </p:nvCxnSpPr>
          <p:spPr>
            <a:xfrm flipV="1">
              <a:off x="2100941" y="4404065"/>
              <a:ext cx="391886" cy="32022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92">
              <a:extLst>
                <a:ext uri="{FF2B5EF4-FFF2-40B4-BE49-F238E27FC236}">
                  <a16:creationId xmlns="" xmlns:a16="http://schemas.microsoft.com/office/drawing/2014/main" id="{90302E91-CBA4-6674-38A0-EDE1D8EB1C8B}"/>
                </a:ext>
              </a:extLst>
            </p:cNvPr>
            <p:cNvCxnSpPr>
              <a:stCxn id="11" idx="6"/>
              <a:endCxn id="6" idx="2"/>
            </p:cNvCxnSpPr>
            <p:nvPr/>
          </p:nvCxnSpPr>
          <p:spPr>
            <a:xfrm>
              <a:off x="2100941" y="3968637"/>
              <a:ext cx="391886" cy="43542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ector de Seta Reta 93">
              <a:extLst>
                <a:ext uri="{FF2B5EF4-FFF2-40B4-BE49-F238E27FC236}">
                  <a16:creationId xmlns="" xmlns:a16="http://schemas.microsoft.com/office/drawing/2014/main" id="{753CD5BC-2B57-AFC3-63C9-CD2D303D9EDF}"/>
                </a:ext>
              </a:extLst>
            </p:cNvPr>
            <p:cNvCxnSpPr>
              <a:stCxn id="11" idx="6"/>
              <a:endCxn id="7" idx="2"/>
            </p:cNvCxnSpPr>
            <p:nvPr/>
          </p:nvCxnSpPr>
          <p:spPr>
            <a:xfrm>
              <a:off x="2100941" y="3968637"/>
              <a:ext cx="391886" cy="115388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96">
              <a:extLst>
                <a:ext uri="{FF2B5EF4-FFF2-40B4-BE49-F238E27FC236}">
                  <a16:creationId xmlns="" xmlns:a16="http://schemas.microsoft.com/office/drawing/2014/main" id="{1A45C7C9-CF98-F959-ACA9-259792951FAB}"/>
                </a:ext>
              </a:extLst>
            </p:cNvPr>
            <p:cNvCxnSpPr>
              <a:stCxn id="12" idx="6"/>
              <a:endCxn id="7" idx="2"/>
            </p:cNvCxnSpPr>
            <p:nvPr/>
          </p:nvCxnSpPr>
          <p:spPr>
            <a:xfrm>
              <a:off x="2100941" y="4724287"/>
              <a:ext cx="391886" cy="39823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ector de Seta Reta 98">
              <a:extLst>
                <a:ext uri="{FF2B5EF4-FFF2-40B4-BE49-F238E27FC236}">
                  <a16:creationId xmlns="" xmlns:a16="http://schemas.microsoft.com/office/drawing/2014/main" id="{51C8C603-FF3A-C1E0-E8B9-B44CF2563C32}"/>
                </a:ext>
              </a:extLst>
            </p:cNvPr>
            <p:cNvCxnSpPr>
              <a:stCxn id="5" idx="6"/>
              <a:endCxn id="8" idx="2"/>
            </p:cNvCxnSpPr>
            <p:nvPr/>
          </p:nvCxnSpPr>
          <p:spPr>
            <a:xfrm>
              <a:off x="3058885" y="3685608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99">
              <a:extLst>
                <a:ext uri="{FF2B5EF4-FFF2-40B4-BE49-F238E27FC236}">
                  <a16:creationId xmlns="" xmlns:a16="http://schemas.microsoft.com/office/drawing/2014/main" id="{D93DAA12-A48C-4148-4E9B-A3AC320FE703}"/>
                </a:ext>
              </a:extLst>
            </p:cNvPr>
            <p:cNvCxnSpPr>
              <a:stCxn id="6" idx="6"/>
              <a:endCxn id="9" idx="2"/>
            </p:cNvCxnSpPr>
            <p:nvPr/>
          </p:nvCxnSpPr>
          <p:spPr>
            <a:xfrm>
              <a:off x="3058884" y="4404065"/>
              <a:ext cx="391885" cy="4622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ector de Seta Reta 100">
              <a:extLst>
                <a:ext uri="{FF2B5EF4-FFF2-40B4-BE49-F238E27FC236}">
                  <a16:creationId xmlns="" xmlns:a16="http://schemas.microsoft.com/office/drawing/2014/main" id="{EE3BAF11-6FB4-CFD7-95D2-1112AEE80E9C}"/>
                </a:ext>
              </a:extLst>
            </p:cNvPr>
            <p:cNvCxnSpPr>
              <a:stCxn id="7" idx="6"/>
              <a:endCxn id="9" idx="2"/>
            </p:cNvCxnSpPr>
            <p:nvPr/>
          </p:nvCxnSpPr>
          <p:spPr>
            <a:xfrm flipV="1">
              <a:off x="3058884" y="4866303"/>
              <a:ext cx="391885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ector de Seta Reta 102">
              <a:extLst>
                <a:ext uri="{FF2B5EF4-FFF2-40B4-BE49-F238E27FC236}">
                  <a16:creationId xmlns="" xmlns:a16="http://schemas.microsoft.com/office/drawing/2014/main" id="{D7F3C011-433A-710C-E086-3D64246A5184}"/>
                </a:ext>
              </a:extLst>
            </p:cNvPr>
            <p:cNvCxnSpPr>
              <a:cxnSpLocks/>
              <a:stCxn id="5" idx="6"/>
              <a:endCxn id="9" idx="2"/>
            </p:cNvCxnSpPr>
            <p:nvPr/>
          </p:nvCxnSpPr>
          <p:spPr>
            <a:xfrm>
              <a:off x="3058885" y="3685608"/>
              <a:ext cx="391884" cy="118069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ector de Seta Reta 103">
              <a:extLst>
                <a:ext uri="{FF2B5EF4-FFF2-40B4-BE49-F238E27FC236}">
                  <a16:creationId xmlns="" xmlns:a16="http://schemas.microsoft.com/office/drawing/2014/main" id="{482C9DA7-E763-D411-2DD8-8687964CC2A6}"/>
                </a:ext>
              </a:extLst>
            </p:cNvPr>
            <p:cNvCxnSpPr>
              <a:stCxn id="6" idx="6"/>
              <a:endCxn id="8" idx="2"/>
            </p:cNvCxnSpPr>
            <p:nvPr/>
          </p:nvCxnSpPr>
          <p:spPr>
            <a:xfrm flipV="1">
              <a:off x="3058884" y="4147846"/>
              <a:ext cx="391886" cy="25621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ector de Seta Reta 104">
              <a:extLst>
                <a:ext uri="{FF2B5EF4-FFF2-40B4-BE49-F238E27FC236}">
                  <a16:creationId xmlns="" xmlns:a16="http://schemas.microsoft.com/office/drawing/2014/main" id="{0BF62E02-5687-CE42-60BF-26EEAAF2B567}"/>
                </a:ext>
              </a:extLst>
            </p:cNvPr>
            <p:cNvCxnSpPr>
              <a:stCxn id="7" idx="6"/>
              <a:endCxn id="8" idx="2"/>
            </p:cNvCxnSpPr>
            <p:nvPr/>
          </p:nvCxnSpPr>
          <p:spPr>
            <a:xfrm flipV="1">
              <a:off x="3058884" y="4147846"/>
              <a:ext cx="391886" cy="97467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CaixaDeTexto 106">
              <a:extLst>
                <a:ext uri="{FF2B5EF4-FFF2-40B4-BE49-F238E27FC236}">
                  <a16:creationId xmlns="" xmlns:a16="http://schemas.microsoft.com/office/drawing/2014/main" id="{F5D901F7-7C9F-6A25-7E81-58C5F48DC9C2}"/>
                </a:ext>
              </a:extLst>
            </p:cNvPr>
            <p:cNvSpPr txBox="1"/>
            <p:nvPr/>
          </p:nvSpPr>
          <p:spPr>
            <a:xfrm>
              <a:off x="3173179" y="3100768"/>
              <a:ext cx="12300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Neurônio</a:t>
              </a:r>
            </a:p>
          </p:txBody>
        </p:sp>
        <p:sp>
          <p:nvSpPr>
            <p:cNvPr id="28" name="Forma Livre: Forma 107">
              <a:extLst>
                <a:ext uri="{FF2B5EF4-FFF2-40B4-BE49-F238E27FC236}">
                  <a16:creationId xmlns="" xmlns:a16="http://schemas.microsoft.com/office/drawing/2014/main" id="{FED54D05-148E-7665-5ACA-9D9F8BED0F73}"/>
                </a:ext>
              </a:extLst>
            </p:cNvPr>
            <p:cNvSpPr/>
            <p:nvPr/>
          </p:nvSpPr>
          <p:spPr>
            <a:xfrm>
              <a:off x="2786734" y="3216700"/>
              <a:ext cx="413657" cy="166042"/>
            </a:xfrm>
            <a:custGeom>
              <a:avLst/>
              <a:gdLst>
                <a:gd name="connsiteX0" fmla="*/ 0 w 413657"/>
                <a:gd name="connsiteY0" fmla="*/ 166042 h 166042"/>
                <a:gd name="connsiteX1" fmla="*/ 76200 w 413657"/>
                <a:gd name="connsiteY1" fmla="*/ 2756 h 166042"/>
                <a:gd name="connsiteX2" fmla="*/ 413657 w 413657"/>
                <a:gd name="connsiteY2" fmla="*/ 78956 h 1660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3657" h="166042">
                  <a:moveTo>
                    <a:pt x="0" y="166042"/>
                  </a:moveTo>
                  <a:cubicBezTo>
                    <a:pt x="3628" y="91656"/>
                    <a:pt x="7257" y="17270"/>
                    <a:pt x="76200" y="2756"/>
                  </a:cubicBezTo>
                  <a:cubicBezTo>
                    <a:pt x="145143" y="-11758"/>
                    <a:pt x="279400" y="33599"/>
                    <a:pt x="413657" y="78956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9" name="Conector reto 112">
              <a:extLst>
                <a:ext uri="{FF2B5EF4-FFF2-40B4-BE49-F238E27FC236}">
                  <a16:creationId xmlns="" xmlns:a16="http://schemas.microsoft.com/office/drawing/2014/main" id="{E52E7B48-839B-93FA-9880-EA11D740F7AE}"/>
                </a:ext>
              </a:extLst>
            </p:cNvPr>
            <p:cNvCxnSpPr>
              <a:cxnSpLocks/>
              <a:stCxn id="65" idx="6"/>
              <a:endCxn id="11" idx="2"/>
            </p:cNvCxnSpPr>
            <p:nvPr/>
          </p:nvCxnSpPr>
          <p:spPr>
            <a:xfrm>
              <a:off x="944681" y="3219656"/>
              <a:ext cx="590203" cy="7489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ector de Seta Reta 113">
              <a:extLst>
                <a:ext uri="{FF2B5EF4-FFF2-40B4-BE49-F238E27FC236}">
                  <a16:creationId xmlns="" xmlns:a16="http://schemas.microsoft.com/office/drawing/2014/main" id="{10A4CFB3-DF90-7A49-7F59-F334BD622F8B}"/>
                </a:ext>
              </a:extLst>
            </p:cNvPr>
            <p:cNvCxnSpPr>
              <a:cxnSpLocks/>
              <a:stCxn id="8" idx="6"/>
              <a:endCxn id="32" idx="1"/>
            </p:cNvCxnSpPr>
            <p:nvPr/>
          </p:nvCxnSpPr>
          <p:spPr>
            <a:xfrm>
              <a:off x="4016827" y="4147846"/>
              <a:ext cx="251280" cy="34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ector de Seta Reta 114">
              <a:extLst>
                <a:ext uri="{FF2B5EF4-FFF2-40B4-BE49-F238E27FC236}">
                  <a16:creationId xmlns="" xmlns:a16="http://schemas.microsoft.com/office/drawing/2014/main" id="{A481FB3F-6E1F-D6D9-2D22-BDA32E0309B7}"/>
                </a:ext>
              </a:extLst>
            </p:cNvPr>
            <p:cNvCxnSpPr>
              <a:cxnSpLocks/>
              <a:stCxn id="9" idx="6"/>
            </p:cNvCxnSpPr>
            <p:nvPr/>
          </p:nvCxnSpPr>
          <p:spPr>
            <a:xfrm>
              <a:off x="4016826" y="4866303"/>
              <a:ext cx="272141" cy="56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CaixaDeTexto 5">
                  <a:extLst>
                    <a:ext uri="{FF2B5EF4-FFF2-40B4-BE49-F238E27FC236}">
                      <a16:creationId xmlns="" xmlns:a16="http://schemas.microsoft.com/office/drawing/2014/main" id="{8BB4EDCD-2C4A-8C54-E9A8-B46EB1B4A54F}"/>
                    </a:ext>
                  </a:extLst>
                </p:cNvPr>
                <p:cNvSpPr txBox="1"/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2" name="CaixaDeTexto 5">
                  <a:extLst>
                    <a:ext uri="{FF2B5EF4-FFF2-40B4-BE49-F238E27FC236}">
                      <a16:creationId xmlns:a16="http://schemas.microsoft.com/office/drawing/2014/main" id="{8BB4EDCD-2C4A-8C54-E9A8-B46EB1B4A5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3963524"/>
                  <a:ext cx="266702" cy="369332"/>
                </a:xfrm>
                <a:prstGeom prst="rect">
                  <a:avLst/>
                </a:prstGeom>
                <a:blipFill>
                  <a:blip r:embed="rId2"/>
                  <a:stretch>
                    <a:fillRect t="-6667" r="-34091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CaixaDeTexto 6">
                  <a:extLst>
                    <a:ext uri="{FF2B5EF4-FFF2-40B4-BE49-F238E27FC236}">
                      <a16:creationId xmlns="" xmlns:a16="http://schemas.microsoft.com/office/drawing/2014/main" id="{E94CAAA8-84F9-FF01-A0C8-7E08AAC2B06B}"/>
                    </a:ext>
                  </a:extLst>
                </p:cNvPr>
                <p:cNvSpPr txBox="1"/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3" name="CaixaDeTexto 6">
                  <a:extLst>
                    <a:ext uri="{FF2B5EF4-FFF2-40B4-BE49-F238E27FC236}">
                      <a16:creationId xmlns:a16="http://schemas.microsoft.com/office/drawing/2014/main" id="{E94CAAA8-84F9-FF01-A0C8-7E08AAC2B0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68107" y="4681637"/>
                  <a:ext cx="26670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6667" r="-36364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Group 33">
              <a:extLst>
                <a:ext uri="{FF2B5EF4-FFF2-40B4-BE49-F238E27FC236}">
                  <a16:creationId xmlns="" xmlns:a16="http://schemas.microsoft.com/office/drawing/2014/main" id="{4F36CF61-8A3D-263A-5D0D-FC1316751E18}"/>
                </a:ext>
              </a:extLst>
            </p:cNvPr>
            <p:cNvGrpSpPr/>
            <p:nvPr/>
          </p:nvGrpSpPr>
          <p:grpSpPr>
            <a:xfrm>
              <a:off x="607920" y="3007376"/>
              <a:ext cx="336761" cy="369332"/>
              <a:chOff x="922561" y="2974265"/>
              <a:chExt cx="336761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4" name="CaixaDeTexto 115">
                    <a:extLst>
                      <a:ext uri="{FF2B5EF4-FFF2-40B4-BE49-F238E27FC236}">
                        <a16:creationId xmlns="" xmlns:a16="http://schemas.microsoft.com/office/drawing/2014/main" id="{243F9310-22ED-977F-2643-BBF4A43DD0F1}"/>
                      </a:ext>
                    </a:extLst>
                  </p:cNvPr>
                  <p:cNvSpPr txBox="1"/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4" name="CaixaDeTexto 115">
                    <a:extLst>
                      <a:ext uri="{FF2B5EF4-FFF2-40B4-BE49-F238E27FC236}">
                        <a16:creationId xmlns:a16="http://schemas.microsoft.com/office/drawing/2014/main" id="{243F9310-22ED-977F-2643-BBF4A43DD0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2561" y="2974265"/>
                    <a:ext cx="26670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372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5" name="Elipse 3">
                <a:extLst>
                  <a:ext uri="{FF2B5EF4-FFF2-40B4-BE49-F238E27FC236}">
                    <a16:creationId xmlns="" xmlns:a16="http://schemas.microsoft.com/office/drawing/2014/main" id="{7385B95F-8DDB-AE6F-5FB2-8D49F3BA9A71}"/>
                  </a:ext>
                </a:extLst>
              </p:cNvPr>
              <p:cNvSpPr/>
              <p:nvPr/>
            </p:nvSpPr>
            <p:spPr>
              <a:xfrm>
                <a:off x="971322" y="3042545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sp>
          <p:nvSpPr>
            <p:cNvPr id="35" name="Elipse 83">
              <a:extLst>
                <a:ext uri="{FF2B5EF4-FFF2-40B4-BE49-F238E27FC236}">
                  <a16:creationId xmlns="" xmlns:a16="http://schemas.microsoft.com/office/drawing/2014/main" id="{97BCAF4C-B3AE-0E96-89E5-A80F48A81EA7}"/>
                </a:ext>
              </a:extLst>
            </p:cNvPr>
            <p:cNvSpPr/>
            <p:nvPr/>
          </p:nvSpPr>
          <p:spPr>
            <a:xfrm>
              <a:off x="1529435" y="5196908"/>
              <a:ext cx="566057" cy="56605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="" xmlns:a16="http://schemas.microsoft.com/office/drawing/2014/main" id="{90ED44EB-0C02-0E1D-1AFD-C70B01E57A23}"/>
                </a:ext>
              </a:extLst>
            </p:cNvPr>
            <p:cNvGrpSpPr/>
            <p:nvPr/>
          </p:nvGrpSpPr>
          <p:grpSpPr>
            <a:xfrm>
              <a:off x="574549" y="5263520"/>
              <a:ext cx="349823" cy="369332"/>
              <a:chOff x="920926" y="4430876"/>
              <a:chExt cx="349823" cy="36933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CaixaDeTexto 116">
                    <a:extLst>
                      <a:ext uri="{FF2B5EF4-FFF2-40B4-BE49-F238E27FC236}">
                        <a16:creationId xmlns="" xmlns:a16="http://schemas.microsoft.com/office/drawing/2014/main" id="{19A33E77-BA6B-210C-C610-B4D9D744677B}"/>
                      </a:ext>
                    </a:extLst>
                  </p:cNvPr>
                  <p:cNvSpPr txBox="1"/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2" name="CaixaDeTexto 116">
                    <a:extLst>
                      <a:ext uri="{FF2B5EF4-FFF2-40B4-BE49-F238E27FC236}">
                        <a16:creationId xmlns:a16="http://schemas.microsoft.com/office/drawing/2014/main" id="{19A33E77-BA6B-210C-C610-B4D9D744677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20926" y="4430876"/>
                    <a:ext cx="266702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3636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3" name="Elipse 4">
                <a:extLst>
                  <a:ext uri="{FF2B5EF4-FFF2-40B4-BE49-F238E27FC236}">
                    <a16:creationId xmlns="" xmlns:a16="http://schemas.microsoft.com/office/drawing/2014/main" id="{412DB648-5C4F-890A-C9F3-0429048C9AC6}"/>
                  </a:ext>
                </a:extLst>
              </p:cNvPr>
              <p:cNvSpPr/>
              <p:nvPr/>
            </p:nvSpPr>
            <p:spPr>
              <a:xfrm>
                <a:off x="982749" y="4504166"/>
                <a:ext cx="288000" cy="28800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 dirty="0"/>
              </a:p>
            </p:txBody>
          </p:sp>
        </p:grpSp>
        <p:cxnSp>
          <p:nvCxnSpPr>
            <p:cNvPr id="37" name="Conector reto 112">
              <a:extLst>
                <a:ext uri="{FF2B5EF4-FFF2-40B4-BE49-F238E27FC236}">
                  <a16:creationId xmlns="" xmlns:a16="http://schemas.microsoft.com/office/drawing/2014/main" id="{07EEC5BD-824B-66B4-1D2A-823AF2CA44E5}"/>
                </a:ext>
              </a:extLst>
            </p:cNvPr>
            <p:cNvCxnSpPr>
              <a:cxnSpLocks/>
              <a:stCxn id="65" idx="6"/>
              <a:endCxn id="10" idx="2"/>
            </p:cNvCxnSpPr>
            <p:nvPr/>
          </p:nvCxnSpPr>
          <p:spPr>
            <a:xfrm flipV="1">
              <a:off x="944681" y="3212987"/>
              <a:ext cx="590203" cy="6669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ector reto 112">
              <a:extLst>
                <a:ext uri="{FF2B5EF4-FFF2-40B4-BE49-F238E27FC236}">
                  <a16:creationId xmlns="" xmlns:a16="http://schemas.microsoft.com/office/drawing/2014/main" id="{F47B6D0D-12E8-472D-E266-48CF9886B9D6}"/>
                </a:ext>
              </a:extLst>
            </p:cNvPr>
            <p:cNvCxnSpPr>
              <a:cxnSpLocks/>
              <a:stCxn id="65" idx="6"/>
              <a:endCxn id="12" idx="2"/>
            </p:cNvCxnSpPr>
            <p:nvPr/>
          </p:nvCxnSpPr>
          <p:spPr>
            <a:xfrm>
              <a:off x="944681" y="3219656"/>
              <a:ext cx="590203" cy="150463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ector reto 112">
              <a:extLst>
                <a:ext uri="{FF2B5EF4-FFF2-40B4-BE49-F238E27FC236}">
                  <a16:creationId xmlns="" xmlns:a16="http://schemas.microsoft.com/office/drawing/2014/main" id="{A14196EA-BDCD-73C9-1D1B-596503E73351}"/>
                </a:ext>
              </a:extLst>
            </p:cNvPr>
            <p:cNvCxnSpPr>
              <a:cxnSpLocks/>
              <a:stCxn id="65" idx="6"/>
              <a:endCxn id="35" idx="2"/>
            </p:cNvCxnSpPr>
            <p:nvPr/>
          </p:nvCxnSpPr>
          <p:spPr>
            <a:xfrm>
              <a:off x="944681" y="3219656"/>
              <a:ext cx="584754" cy="2260281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ector reto 112">
              <a:extLst>
                <a:ext uri="{FF2B5EF4-FFF2-40B4-BE49-F238E27FC236}">
                  <a16:creationId xmlns="" xmlns:a16="http://schemas.microsoft.com/office/drawing/2014/main" id="{59E70192-9300-7A69-89BC-34EB05FD32D3}"/>
                </a:ext>
              </a:extLst>
            </p:cNvPr>
            <p:cNvCxnSpPr>
              <a:cxnSpLocks/>
              <a:stCxn id="63" idx="6"/>
              <a:endCxn id="35" idx="2"/>
            </p:cNvCxnSpPr>
            <p:nvPr/>
          </p:nvCxnSpPr>
          <p:spPr>
            <a:xfrm flipV="1">
              <a:off x="924372" y="5479937"/>
              <a:ext cx="605063" cy="8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ector reto 112">
              <a:extLst>
                <a:ext uri="{FF2B5EF4-FFF2-40B4-BE49-F238E27FC236}">
                  <a16:creationId xmlns="" xmlns:a16="http://schemas.microsoft.com/office/drawing/2014/main" id="{025E12B7-8C55-7105-D8D9-492D3A49E944}"/>
                </a:ext>
              </a:extLst>
            </p:cNvPr>
            <p:cNvCxnSpPr>
              <a:cxnSpLocks/>
              <a:stCxn id="63" idx="6"/>
              <a:endCxn id="12" idx="2"/>
            </p:cNvCxnSpPr>
            <p:nvPr/>
          </p:nvCxnSpPr>
          <p:spPr>
            <a:xfrm flipV="1">
              <a:off x="924372" y="4724287"/>
              <a:ext cx="610512" cy="7565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ector reto 112">
              <a:extLst>
                <a:ext uri="{FF2B5EF4-FFF2-40B4-BE49-F238E27FC236}">
                  <a16:creationId xmlns="" xmlns:a16="http://schemas.microsoft.com/office/drawing/2014/main" id="{DCDD9103-9C3E-CCEC-3F4F-0EA0038FE1D7}"/>
                </a:ext>
              </a:extLst>
            </p:cNvPr>
            <p:cNvCxnSpPr>
              <a:cxnSpLocks/>
              <a:stCxn id="63" idx="6"/>
            </p:cNvCxnSpPr>
            <p:nvPr/>
          </p:nvCxnSpPr>
          <p:spPr>
            <a:xfrm flipV="1">
              <a:off x="924372" y="3968637"/>
              <a:ext cx="610512" cy="151217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ector reto 112">
              <a:extLst>
                <a:ext uri="{FF2B5EF4-FFF2-40B4-BE49-F238E27FC236}">
                  <a16:creationId xmlns="" xmlns:a16="http://schemas.microsoft.com/office/drawing/2014/main" id="{06A0A113-79F8-6118-1112-AB2CA14F62AA}"/>
                </a:ext>
              </a:extLst>
            </p:cNvPr>
            <p:cNvCxnSpPr>
              <a:cxnSpLocks/>
              <a:stCxn id="63" idx="6"/>
              <a:endCxn id="10" idx="2"/>
            </p:cNvCxnSpPr>
            <p:nvPr/>
          </p:nvCxnSpPr>
          <p:spPr>
            <a:xfrm flipV="1">
              <a:off x="924372" y="3212987"/>
              <a:ext cx="610512" cy="2267823"/>
            </a:xfrm>
            <a:prstGeom prst="line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ector de Seta Reta 91">
              <a:extLst>
                <a:ext uri="{FF2B5EF4-FFF2-40B4-BE49-F238E27FC236}">
                  <a16:creationId xmlns="" xmlns:a16="http://schemas.microsoft.com/office/drawing/2014/main" id="{D1579316-4048-F3C8-EC0C-AA7072416BF5}"/>
                </a:ext>
              </a:extLst>
            </p:cNvPr>
            <p:cNvCxnSpPr>
              <a:cxnSpLocks/>
              <a:stCxn id="12" idx="6"/>
              <a:endCxn id="5" idx="2"/>
            </p:cNvCxnSpPr>
            <p:nvPr/>
          </p:nvCxnSpPr>
          <p:spPr>
            <a:xfrm flipV="1">
              <a:off x="2100941" y="3685608"/>
              <a:ext cx="391887" cy="10386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ector de Seta Reta 91">
              <a:extLst>
                <a:ext uri="{FF2B5EF4-FFF2-40B4-BE49-F238E27FC236}">
                  <a16:creationId xmlns="" xmlns:a16="http://schemas.microsoft.com/office/drawing/2014/main" id="{2F6596EE-3707-8911-3737-4C9819E56CDB}"/>
                </a:ext>
              </a:extLst>
            </p:cNvPr>
            <p:cNvCxnSpPr>
              <a:cxnSpLocks/>
              <a:stCxn id="35" idx="6"/>
              <a:endCxn id="5" idx="2"/>
            </p:cNvCxnSpPr>
            <p:nvPr/>
          </p:nvCxnSpPr>
          <p:spPr>
            <a:xfrm flipV="1">
              <a:off x="2095492" y="3685608"/>
              <a:ext cx="397336" cy="179432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de Seta Reta 91">
              <a:extLst>
                <a:ext uri="{FF2B5EF4-FFF2-40B4-BE49-F238E27FC236}">
                  <a16:creationId xmlns="" xmlns:a16="http://schemas.microsoft.com/office/drawing/2014/main" id="{6D865890-CFAA-90BC-084B-962FEF34313D}"/>
                </a:ext>
              </a:extLst>
            </p:cNvPr>
            <p:cNvCxnSpPr>
              <a:cxnSpLocks/>
              <a:stCxn id="35" idx="6"/>
              <a:endCxn id="6" idx="2"/>
            </p:cNvCxnSpPr>
            <p:nvPr/>
          </p:nvCxnSpPr>
          <p:spPr>
            <a:xfrm flipV="1">
              <a:off x="2095492" y="4404065"/>
              <a:ext cx="397335" cy="1075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ector de Seta Reta 91">
              <a:extLst>
                <a:ext uri="{FF2B5EF4-FFF2-40B4-BE49-F238E27FC236}">
                  <a16:creationId xmlns="" xmlns:a16="http://schemas.microsoft.com/office/drawing/2014/main" id="{64465E6E-E5CA-677B-F28F-61ED51C39090}"/>
                </a:ext>
              </a:extLst>
            </p:cNvPr>
            <p:cNvCxnSpPr>
              <a:cxnSpLocks/>
              <a:stCxn id="35" idx="6"/>
              <a:endCxn id="7" idx="2"/>
            </p:cNvCxnSpPr>
            <p:nvPr/>
          </p:nvCxnSpPr>
          <p:spPr>
            <a:xfrm flipV="1">
              <a:off x="2095492" y="5122522"/>
              <a:ext cx="397335" cy="3574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="" xmlns:a16="http://schemas.microsoft.com/office/drawing/2014/main" id="{2724182A-BC9E-A2F6-A1B4-BB8ECF80D91A}"/>
                    </a:ext>
                  </a:extLst>
                </p:cNvPr>
                <p:cNvSpPr txBox="1"/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2724182A-BC9E-A2F6-A1B4-BB8ECF80D9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6041" y="2865008"/>
                  <a:ext cx="560538" cy="36131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="" xmlns:a16="http://schemas.microsoft.com/office/drawing/2014/main" id="{1044A7A0-B009-4EE4-6E6D-D1E1FDC070C8}"/>
                    </a:ext>
                  </a:extLst>
                </p:cNvPr>
                <p:cNvSpPr txBox="1"/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1044A7A0-B009-4EE4-6E6D-D1E1FDC07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068437">
                  <a:off x="1020572" y="3219653"/>
                  <a:ext cx="560538" cy="36131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D77670F4-8D16-A250-1A78-91768C9E1CB2}"/>
                    </a:ext>
                  </a:extLst>
                </p:cNvPr>
                <p:cNvSpPr txBox="1"/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24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D77670F4-8D16-A250-1A78-91768C9E1C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3548" y="5486606"/>
                  <a:ext cx="560538" cy="36131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182E9E64-9A9C-42E8-A902-4940352E22B5}"/>
                    </a:ext>
                  </a:extLst>
                </p:cNvPr>
                <p:cNvSpPr txBox="1"/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182E9E64-9A9C-42E8-A902-4940352E22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7131605">
                  <a:off x="594353" y="4756061"/>
                  <a:ext cx="560538" cy="36131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="" xmlns:a16="http://schemas.microsoft.com/office/drawing/2014/main" id="{5ABD2E40-CB4C-C4AA-C6C7-DA1F416625B3}"/>
                    </a:ext>
                  </a:extLst>
                </p:cNvPr>
                <p:cNvSpPr txBox="1"/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5ABD2E40-CB4C-C4AA-C6C7-DA1F416625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964551">
                  <a:off x="2132495" y="3132193"/>
                  <a:ext cx="560538" cy="36131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0C46355-8CAB-59C9-2C26-87970CB944B2}"/>
                    </a:ext>
                  </a:extLst>
                </p:cNvPr>
                <p:cNvSpPr txBox="1"/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43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(2)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0C46355-8CAB-59C9-2C26-87970CB944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021513">
                  <a:off x="2088094" y="5274650"/>
                  <a:ext cx="560538" cy="36131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="" xmlns:a16="http://schemas.microsoft.com/office/drawing/2014/main" id="{B47F4BE6-50BF-7915-09C6-1C68FD6CF4D3}"/>
                    </a:ext>
                  </a:extLst>
                </p:cNvPr>
                <p:cNvSpPr txBox="1"/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47F4BE6-50BF-7915-09C6-1C68FD6CF4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2893059">
                  <a:off x="3107452" y="3604952"/>
                  <a:ext cx="560538" cy="362663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21D5993-1351-F7B8-7BB5-8B95030655D6}"/>
                    </a:ext>
                  </a:extLst>
                </p:cNvPr>
                <p:cNvSpPr txBox="1"/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32</m:t>
                            </m:r>
                          </m:sub>
                          <m:sup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(3)</m:t>
                            </m:r>
                          </m:sup>
                        </m:sSubSup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21D5993-1351-F7B8-7BB5-8B95030655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9852769">
                  <a:off x="3044859" y="4967999"/>
                  <a:ext cx="560538" cy="362663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CaixaDeTexto 106">
              <a:extLst>
                <a:ext uri="{FF2B5EF4-FFF2-40B4-BE49-F238E27FC236}">
                  <a16:creationId xmlns="" xmlns:a16="http://schemas.microsoft.com/office/drawing/2014/main" id="{79BE2A79-091B-B8FA-D892-BBEF09F5E7B3}"/>
                </a:ext>
              </a:extLst>
            </p:cNvPr>
            <p:cNvSpPr txBox="1"/>
            <p:nvPr/>
          </p:nvSpPr>
          <p:spPr>
            <a:xfrm>
              <a:off x="1300841" y="2506925"/>
              <a:ext cx="17961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dirty="0"/>
                <a:t>Peso sináptico</a:t>
              </a: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="" xmlns:a16="http://schemas.microsoft.com/office/drawing/2014/main" id="{47EEB8F0-84DB-53BB-291C-95F0745E2932}"/>
                </a:ext>
              </a:extLst>
            </p:cNvPr>
            <p:cNvSpPr/>
            <p:nvPr/>
          </p:nvSpPr>
          <p:spPr>
            <a:xfrm>
              <a:off x="1164771" y="2656114"/>
              <a:ext cx="206829" cy="250372"/>
            </a:xfrm>
            <a:custGeom>
              <a:avLst/>
              <a:gdLst>
                <a:gd name="csX0" fmla="*/ 0 w 206829"/>
                <a:gd name="csY0" fmla="*/ 250372 h 250372"/>
                <a:gd name="csX1" fmla="*/ 54429 w 206829"/>
                <a:gd name="csY1" fmla="*/ 108857 h 250372"/>
                <a:gd name="csX2" fmla="*/ 206829 w 206829"/>
                <a:gd name="csY2" fmla="*/ 0 h 2503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06829" h="250372">
                  <a:moveTo>
                    <a:pt x="0" y="250372"/>
                  </a:moveTo>
                  <a:cubicBezTo>
                    <a:pt x="9979" y="200479"/>
                    <a:pt x="19958" y="150586"/>
                    <a:pt x="54429" y="108857"/>
                  </a:cubicBezTo>
                  <a:cubicBezTo>
                    <a:pt x="88901" y="67128"/>
                    <a:pt x="147865" y="33564"/>
                    <a:pt x="206829" y="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CaixaDeTexto 32">
              <a:extLst>
                <a:ext uri="{FF2B5EF4-FFF2-40B4-BE49-F238E27FC236}">
                  <a16:creationId xmlns="" xmlns:a16="http://schemas.microsoft.com/office/drawing/2014/main" id="{A6150A8B-A2F2-9F5C-95D3-0537E8600189}"/>
                </a:ext>
              </a:extLst>
            </p:cNvPr>
            <p:cNvSpPr txBox="1"/>
            <p:nvPr/>
          </p:nvSpPr>
          <p:spPr>
            <a:xfrm>
              <a:off x="294226" y="5713408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entrada</a:t>
              </a:r>
            </a:p>
          </p:txBody>
        </p:sp>
        <p:sp>
          <p:nvSpPr>
            <p:cNvPr id="59" name="CaixaDeTexto 34">
              <a:extLst>
                <a:ext uri="{FF2B5EF4-FFF2-40B4-BE49-F238E27FC236}">
                  <a16:creationId xmlns="" xmlns:a16="http://schemas.microsoft.com/office/drawing/2014/main" id="{580B713B-F312-052C-F64A-122A3147D8B2}"/>
                </a:ext>
              </a:extLst>
            </p:cNvPr>
            <p:cNvSpPr txBox="1"/>
            <p:nvPr/>
          </p:nvSpPr>
          <p:spPr>
            <a:xfrm>
              <a:off x="1357989" y="5837351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#1</a:t>
              </a:r>
            </a:p>
          </p:txBody>
        </p:sp>
        <p:sp>
          <p:nvSpPr>
            <p:cNvPr id="60" name="CaixaDeTexto 40">
              <a:extLst>
                <a:ext uri="{FF2B5EF4-FFF2-40B4-BE49-F238E27FC236}">
                  <a16:creationId xmlns="" xmlns:a16="http://schemas.microsoft.com/office/drawing/2014/main" id="{9E235BB0-6DD5-2E76-29C6-772FB05DF080}"/>
                </a:ext>
              </a:extLst>
            </p:cNvPr>
            <p:cNvSpPr txBox="1"/>
            <p:nvPr/>
          </p:nvSpPr>
          <p:spPr>
            <a:xfrm>
              <a:off x="2352673" y="5450646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oculta #2</a:t>
              </a:r>
            </a:p>
          </p:txBody>
        </p:sp>
        <p:sp>
          <p:nvSpPr>
            <p:cNvPr id="61" name="CaixaDeTexto 36">
              <a:extLst>
                <a:ext uri="{FF2B5EF4-FFF2-40B4-BE49-F238E27FC236}">
                  <a16:creationId xmlns="" xmlns:a16="http://schemas.microsoft.com/office/drawing/2014/main" id="{DD19FB58-139E-D1C8-CF86-4EBF2C513AD8}"/>
                </a:ext>
              </a:extLst>
            </p:cNvPr>
            <p:cNvSpPr txBox="1"/>
            <p:nvPr/>
          </p:nvSpPr>
          <p:spPr>
            <a:xfrm>
              <a:off x="3314688" y="5239989"/>
              <a:ext cx="86813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Camada de saída</a:t>
              </a:r>
            </a:p>
          </p:txBody>
        </p:sp>
      </p:grpSp>
      <p:sp>
        <p:nvSpPr>
          <p:cNvPr id="66" name="Seta: para a Direita 24">
            <a:extLst>
              <a:ext uri="{FF2B5EF4-FFF2-40B4-BE49-F238E27FC236}">
                <a16:creationId xmlns="" xmlns:a16="http://schemas.microsoft.com/office/drawing/2014/main" id="{CBDA1BC7-1D4F-453C-3389-CB905C7F7735}"/>
              </a:ext>
            </a:extLst>
          </p:cNvPr>
          <p:cNvSpPr/>
          <p:nvPr/>
        </p:nvSpPr>
        <p:spPr>
          <a:xfrm>
            <a:off x="933777" y="5913848"/>
            <a:ext cx="3820886" cy="470018"/>
          </a:xfrm>
          <a:prstGeom prst="rightArrow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575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6F52993-1566-04A8-953E-C431CFC2F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74EAA9B-6003-D045-CC88-4188882B2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46971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RNAs</a:t>
            </a:r>
            <a:r>
              <a:rPr lang="pt-BR" dirty="0"/>
              <a:t> são o coração do </a:t>
            </a:r>
            <a:r>
              <a:rPr lang="pt-BR" b="1" i="1" dirty="0" err="1"/>
              <a:t>deep</a:t>
            </a:r>
            <a:r>
              <a:rPr lang="pt-BR" b="1" i="1" dirty="0"/>
              <a:t> learning </a:t>
            </a:r>
            <a:r>
              <a:rPr lang="pt-BR" b="1" dirty="0"/>
              <a:t>ou aprendizado profundo</a:t>
            </a:r>
            <a:r>
              <a:rPr lang="pt-BR" dirty="0"/>
              <a:t>. </a:t>
            </a:r>
          </a:p>
          <a:p>
            <a:r>
              <a:rPr lang="pt-BR" dirty="0"/>
              <a:t>O termo "</a:t>
            </a:r>
            <a:r>
              <a:rPr lang="pt-BR" b="1" dirty="0">
                <a:solidFill>
                  <a:srgbClr val="00B050"/>
                </a:solidFill>
              </a:rPr>
              <a:t>profundo</a:t>
            </a:r>
            <a:r>
              <a:rPr lang="pt-BR" dirty="0"/>
              <a:t>" vem fato destas redes poderem possuir </a:t>
            </a:r>
            <a:r>
              <a:rPr lang="pt-BR" b="1" dirty="0">
                <a:solidFill>
                  <a:srgbClr val="7030A0"/>
                </a:solidFill>
              </a:rPr>
              <a:t>muitas camadas ocultas</a:t>
            </a:r>
            <a:r>
              <a:rPr lang="pt-BR" dirty="0"/>
              <a:t>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="" xmlns:a16="http://schemas.microsoft.com/office/drawing/2014/main" id="{AA23EAEA-060A-1C22-3020-27BBBAF3E612}"/>
              </a:ext>
            </a:extLst>
          </p:cNvPr>
          <p:cNvGrpSpPr/>
          <p:nvPr/>
        </p:nvGrpSpPr>
        <p:grpSpPr>
          <a:xfrm>
            <a:off x="2440839" y="3557831"/>
            <a:ext cx="7310321" cy="2832256"/>
            <a:chOff x="4678169" y="3716345"/>
            <a:chExt cx="7310321" cy="2832256"/>
          </a:xfrm>
        </p:grpSpPr>
        <p:pic>
          <p:nvPicPr>
            <p:cNvPr id="9" name="Picture 4" descr="Future prospects of deep learning in medicine | LaptrinhX">
              <a:extLst>
                <a:ext uri="{FF2B5EF4-FFF2-40B4-BE49-F238E27FC236}">
                  <a16:creationId xmlns="" xmlns:a16="http://schemas.microsoft.com/office/drawing/2014/main" id="{FD27238F-87B0-A3D4-5393-308D26A524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CaixaDeTexto 3">
              <a:extLst>
                <a:ext uri="{FF2B5EF4-FFF2-40B4-BE49-F238E27FC236}">
                  <a16:creationId xmlns="" xmlns:a16="http://schemas.microsoft.com/office/drawing/2014/main" id="{C3183ADD-4F13-EA91-59EF-913D3D70EFB7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11" name="CaixaDeTexto 4">
              <a:extLst>
                <a:ext uri="{FF2B5EF4-FFF2-40B4-BE49-F238E27FC236}">
                  <a16:creationId xmlns="" xmlns:a16="http://schemas.microsoft.com/office/drawing/2014/main" id="{D7F72C6D-BE68-A00C-48BF-9108F2276E2D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90991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CA029A7-1B92-0743-D94F-551F53CCA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0F732CC-2FD4-6168-5020-66AD57A4B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neurais artificiais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653729B-FBD8-B36F-5207-9E37720CD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04756" cy="2032697"/>
          </a:xfrm>
        </p:spPr>
        <p:txBody>
          <a:bodyPr>
            <a:normAutofit lnSpcReduction="10000"/>
          </a:bodyPr>
          <a:lstStyle/>
          <a:p>
            <a:r>
              <a:rPr lang="pt-BR" dirty="0"/>
              <a:t>Em geral, quando elas tem duas ou mais camadas ocultas, elas podem ser chamadas de </a:t>
            </a:r>
            <a:r>
              <a:rPr lang="pt-BR" b="1" dirty="0"/>
              <a:t>redes neurais profundas</a:t>
            </a:r>
            <a:r>
              <a:rPr lang="pt-BR" dirty="0"/>
              <a:t> (</a:t>
            </a:r>
            <a:r>
              <a:rPr lang="pt-BR" i="1" dirty="0" err="1"/>
              <a:t>Deep</a:t>
            </a:r>
            <a:r>
              <a:rPr lang="pt-BR" i="1" dirty="0"/>
              <a:t> Neural Networks </a:t>
            </a:r>
            <a:r>
              <a:rPr lang="pt-BR" dirty="0"/>
              <a:t>- </a:t>
            </a:r>
            <a:r>
              <a:rPr lang="pt-BR" dirty="0" err="1"/>
              <a:t>DNNs</a:t>
            </a:r>
            <a:r>
              <a:rPr lang="pt-BR" dirty="0"/>
              <a:t>).</a:t>
            </a:r>
            <a:endParaRPr lang="pt-BR" dirty="0">
              <a:solidFill>
                <a:srgbClr val="1F1F1F"/>
              </a:solidFill>
              <a:latin typeface="Google Sans"/>
            </a:endParaRPr>
          </a:p>
          <a:p>
            <a:r>
              <a:rPr lang="pt-BR" dirty="0">
                <a:solidFill>
                  <a:srgbClr val="1F1F1F"/>
                </a:solidFill>
                <a:latin typeface="Google Sans"/>
              </a:rPr>
              <a:t>Por terem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capacidade de aprendizado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, elas precisam de uma </a:t>
            </a:r>
            <a:r>
              <a:rPr lang="pt-BR" b="1" dirty="0">
                <a:solidFill>
                  <a:srgbClr val="1F1F1F"/>
                </a:solidFill>
                <a:latin typeface="Google Sans"/>
              </a:rPr>
              <a:t>grande quantidade de dados </a:t>
            </a:r>
            <a:r>
              <a:rPr lang="pt-BR" dirty="0">
                <a:solidFill>
                  <a:srgbClr val="1F1F1F"/>
                </a:solidFill>
                <a:latin typeface="Google Sans"/>
              </a:rPr>
              <a:t>para aprenderem uma solução geral.</a:t>
            </a:r>
            <a:endParaRPr lang="pt-BR" dirty="0"/>
          </a:p>
        </p:txBody>
      </p:sp>
      <p:grpSp>
        <p:nvGrpSpPr>
          <p:cNvPr id="6" name="Group 5">
            <a:extLst>
              <a:ext uri="{FF2B5EF4-FFF2-40B4-BE49-F238E27FC236}">
                <a16:creationId xmlns="" xmlns:a16="http://schemas.microsoft.com/office/drawing/2014/main" id="{5213EC6B-9964-F0AD-F41B-220541F20C22}"/>
              </a:ext>
            </a:extLst>
          </p:cNvPr>
          <p:cNvGrpSpPr/>
          <p:nvPr/>
        </p:nvGrpSpPr>
        <p:grpSpPr>
          <a:xfrm>
            <a:off x="2440839" y="3858322"/>
            <a:ext cx="7310321" cy="2832256"/>
            <a:chOff x="4678169" y="3716345"/>
            <a:chExt cx="7310321" cy="2832256"/>
          </a:xfrm>
        </p:grpSpPr>
        <p:pic>
          <p:nvPicPr>
            <p:cNvPr id="1028" name="Picture 4" descr="Future prospects of deep learning in medicine | LaptrinhX">
              <a:extLst>
                <a:ext uri="{FF2B5EF4-FFF2-40B4-BE49-F238E27FC236}">
                  <a16:creationId xmlns="" xmlns:a16="http://schemas.microsoft.com/office/drawing/2014/main" id="{777D2658-2AAB-B25A-6674-749DB9CC774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960"/>
            <a:stretch/>
          </p:blipFill>
          <p:spPr bwMode="auto">
            <a:xfrm>
              <a:off x="4678169" y="4081375"/>
              <a:ext cx="7310321" cy="24672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="" xmlns:a16="http://schemas.microsoft.com/office/drawing/2014/main" id="{E2A49A03-38AE-D0C4-66A2-B5893933E5F5}"/>
                </a:ext>
              </a:extLst>
            </p:cNvPr>
            <p:cNvSpPr txBox="1"/>
            <p:nvPr/>
          </p:nvSpPr>
          <p:spPr>
            <a:xfrm>
              <a:off x="4678169" y="3738623"/>
              <a:ext cx="2463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rasa</a:t>
              </a:r>
            </a:p>
          </p:txBody>
        </p:sp>
        <p:sp>
          <p:nvSpPr>
            <p:cNvPr id="5" name="CaixaDeTexto 4">
              <a:extLst>
                <a:ext uri="{FF2B5EF4-FFF2-40B4-BE49-F238E27FC236}">
                  <a16:creationId xmlns="" xmlns:a16="http://schemas.microsoft.com/office/drawing/2014/main" id="{D1CD49A4-CD97-D5F3-65DA-FB96958FB93B}"/>
                </a:ext>
              </a:extLst>
            </p:cNvPr>
            <p:cNvSpPr txBox="1"/>
            <p:nvPr/>
          </p:nvSpPr>
          <p:spPr>
            <a:xfrm>
              <a:off x="7978405" y="3716345"/>
              <a:ext cx="3964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Rede neural profunda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5670710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840" cy="5032375"/>
          </a:xfrm>
        </p:spPr>
        <p:txBody>
          <a:bodyPr>
            <a:normAutofit/>
          </a:bodyPr>
          <a:lstStyle/>
          <a:p>
            <a:r>
              <a:rPr lang="pt-BR" b="0" dirty="0">
                <a:effectLst/>
              </a:rPr>
              <a:t>As redes neurais têm a </a:t>
            </a:r>
            <a:r>
              <a:rPr lang="pt-BR" b="1" dirty="0">
                <a:solidFill>
                  <a:srgbClr val="00B050"/>
                </a:solidFill>
                <a:effectLst/>
              </a:rPr>
              <a:t>capacidade de aproximar funções altamente não-lineares (e lineares também)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dirty="0"/>
              <a:t>E</a:t>
            </a:r>
            <a:r>
              <a:rPr lang="pt-BR" b="0" dirty="0">
                <a:effectLst/>
              </a:rPr>
              <a:t>ssa capacidade </a:t>
            </a:r>
            <a:r>
              <a:rPr lang="pt-BR" b="1" dirty="0">
                <a:solidFill>
                  <a:srgbClr val="00B050"/>
                </a:solidFill>
                <a:effectLst/>
              </a:rPr>
              <a:t>depende da sua arquitetura</a:t>
            </a:r>
            <a:r>
              <a:rPr lang="pt-BR" b="0" dirty="0">
                <a:effectLst/>
              </a:rPr>
              <a:t> (número de camadas, número de nós, que corresponde à quantidade de pesos, as funções de ativação empregadas, etc.).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0" dirty="0">
                <a:effectLst/>
              </a:rPr>
              <a:t>A </a:t>
            </a:r>
            <a:r>
              <a:rPr lang="pt-BR" b="1" dirty="0">
                <a:solidFill>
                  <a:srgbClr val="7030A0"/>
                </a:solidFill>
                <a:effectLst/>
              </a:rPr>
              <a:t>quantidade de pesos </a:t>
            </a:r>
            <a:r>
              <a:rPr lang="pt-BR" b="0" dirty="0">
                <a:effectLst/>
              </a:rPr>
              <a:t>de uma rede está associada aos seus </a:t>
            </a:r>
            <a:r>
              <a:rPr lang="pt-BR" b="1" dirty="0">
                <a:solidFill>
                  <a:srgbClr val="7030A0"/>
                </a:solidFill>
                <a:effectLst/>
              </a:rPr>
              <a:t>graus de liberdade</a:t>
            </a:r>
            <a:r>
              <a:rPr lang="pt-BR" b="0" dirty="0">
                <a:effectLst/>
              </a:rPr>
              <a:t>, ou seja, a </a:t>
            </a:r>
            <a:r>
              <a:rPr lang="pt-BR" b="1" dirty="0">
                <a:solidFill>
                  <a:srgbClr val="7030A0"/>
                </a:solidFill>
                <a:effectLst/>
              </a:rPr>
              <a:t>capacidade da rede de aproximar diferentes tipos de funções</a:t>
            </a:r>
            <a:r>
              <a:rPr lang="pt-BR" b="0" dirty="0">
                <a:effectLst/>
              </a:rPr>
              <a:t>.</a:t>
            </a:r>
            <a:endParaRPr lang="pt-BR" dirty="0"/>
          </a:p>
          <a:p>
            <a:r>
              <a:rPr lang="pt-BR" dirty="0"/>
              <a:t>Portanto, assim como polinômios, que podem </a:t>
            </a:r>
            <a:r>
              <a:rPr lang="pt-BR" b="1" dirty="0">
                <a:solidFill>
                  <a:srgbClr val="0070C0"/>
                </a:solidFill>
              </a:rPr>
              <a:t>aproximar qualquer tipo de função</a:t>
            </a:r>
            <a:r>
              <a:rPr lang="pt-BR" dirty="0">
                <a:solidFill>
                  <a:srgbClr val="0070C0"/>
                </a:solidFill>
              </a:rPr>
              <a:t> </a:t>
            </a:r>
            <a:r>
              <a:rPr lang="pt-BR" dirty="0"/>
              <a:t>(linear ou não linear) devido a seus </a:t>
            </a:r>
            <a:r>
              <a:rPr lang="pt-BR" b="1" dirty="0">
                <a:solidFill>
                  <a:srgbClr val="0070C0"/>
                </a:solidFill>
              </a:rPr>
              <a:t>graus de liberdade</a:t>
            </a:r>
            <a:r>
              <a:rPr lang="pt-BR" dirty="0"/>
              <a:t>, as </a:t>
            </a:r>
            <a:r>
              <a:rPr lang="pt-BR" b="1" dirty="0">
                <a:solidFill>
                  <a:srgbClr val="0070C0"/>
                </a:solidFill>
              </a:rPr>
              <a:t>redes neurais podem fazer o mesmo</a:t>
            </a:r>
            <a:r>
              <a:rPr lang="pt-BR" dirty="0"/>
              <a:t>, bastando apenas que </a:t>
            </a:r>
            <a:r>
              <a:rPr lang="pt-BR" b="1" dirty="0">
                <a:solidFill>
                  <a:srgbClr val="0070C0"/>
                </a:solidFill>
              </a:rPr>
              <a:t>encontremos sua complexidade ideal</a:t>
            </a:r>
            <a:r>
              <a:rPr lang="pt-BR" dirty="0"/>
              <a:t>, ou seja, sua arquitetura.</a:t>
            </a:r>
          </a:p>
        </p:txBody>
      </p:sp>
    </p:spTree>
    <p:extLst>
      <p:ext uri="{BB962C8B-B14F-4D97-AF65-F5344CB8AC3E}">
        <p14:creationId xmlns:p14="http://schemas.microsoft.com/office/powerpoint/2010/main" val="2307883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95084B-BF98-A7F2-E47B-18549FAB6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Aproximação universal de funções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E65592C-B0D6-412A-1B41-23EDA4B75A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35813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uma rede neural com </a:t>
            </a:r>
            <a:r>
              <a:rPr lang="pt-BR" b="1" dirty="0">
                <a:solidFill>
                  <a:srgbClr val="00B050"/>
                </a:solidFill>
              </a:rPr>
              <a:t>uma camada oculta</a:t>
            </a:r>
            <a:r>
              <a:rPr lang="pt-BR" b="1" dirty="0"/>
              <a:t> </a:t>
            </a:r>
            <a:r>
              <a:rPr lang="pt-BR" b="0" dirty="0">
                <a:effectLst/>
              </a:rPr>
              <a:t>com um número </a:t>
            </a:r>
            <a:r>
              <a:rPr lang="pt-BR" b="1" dirty="0">
                <a:solidFill>
                  <a:srgbClr val="00B050"/>
                </a:solidFill>
                <a:effectLst/>
              </a:rPr>
              <a:t>suficiente de nós</a:t>
            </a:r>
            <a:r>
              <a:rPr lang="pt-BR" dirty="0">
                <a:effectLst/>
              </a:rPr>
              <a:t> pode </a:t>
            </a:r>
            <a:r>
              <a:rPr lang="pt-BR" b="1" dirty="0">
                <a:solidFill>
                  <a:srgbClr val="7030A0"/>
                </a:solidFill>
              </a:rPr>
              <a:t>aproximar</a:t>
            </a:r>
            <a:r>
              <a:rPr lang="pt-BR" dirty="0"/>
              <a:t> praticamente qualquer </a:t>
            </a:r>
            <a:r>
              <a:rPr lang="pt-BR" b="1" dirty="0">
                <a:solidFill>
                  <a:srgbClr val="7030A0"/>
                </a:solidFill>
              </a:rPr>
              <a:t>função contínua</a:t>
            </a:r>
            <a:r>
              <a:rPr lang="pt-BR" dirty="0"/>
              <a:t>.</a:t>
            </a:r>
          </a:p>
          <a:p>
            <a:r>
              <a:rPr lang="pt-BR" dirty="0"/>
              <a:t>Com </a:t>
            </a:r>
            <a:r>
              <a:rPr lang="pt-BR" b="1" dirty="0">
                <a:solidFill>
                  <a:srgbClr val="00B050"/>
                </a:solidFill>
              </a:rPr>
              <a:t>duas camadas ocultas</a:t>
            </a:r>
            <a:r>
              <a:rPr lang="pt-BR" dirty="0"/>
              <a:t>, até </a:t>
            </a:r>
            <a:r>
              <a:rPr lang="pt-BR" b="1" dirty="0">
                <a:solidFill>
                  <a:srgbClr val="00B0F0"/>
                </a:solidFill>
              </a:rPr>
              <a:t>funções descontínuas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aproximadas</a:t>
            </a:r>
            <a:r>
              <a:rPr lang="pt-BR" dirty="0"/>
              <a:t>.</a:t>
            </a:r>
          </a:p>
          <a:p>
            <a:r>
              <a:rPr lang="pt-BR" dirty="0"/>
              <a:t>Portanto, dizemos que as redes neurais possuem </a:t>
            </a:r>
            <a:r>
              <a:rPr lang="pt-BR" b="1" dirty="0">
                <a:solidFill>
                  <a:srgbClr val="002060"/>
                </a:solidFill>
              </a:rPr>
              <a:t>capacidade de aproximação universal </a:t>
            </a:r>
            <a:r>
              <a:rPr lang="pt-BR" dirty="0"/>
              <a:t>de funções.</a:t>
            </a:r>
          </a:p>
          <a:p>
            <a:r>
              <a:rPr lang="pt-BR" dirty="0"/>
              <a:t>Desta forma, as redes neurais podem resolver </a:t>
            </a:r>
            <a:r>
              <a:rPr lang="pt-BR" b="1" dirty="0">
                <a:solidFill>
                  <a:srgbClr val="7030A0"/>
                </a:solidFill>
              </a:rPr>
              <a:t>problemas de regressão e classificação</a:t>
            </a:r>
            <a:r>
              <a:rPr lang="pt-BR" dirty="0"/>
              <a:t> e uma grande gama de outros problemas.</a:t>
            </a:r>
          </a:p>
          <a:p>
            <a:r>
              <a:rPr lang="pt-BR" dirty="0"/>
              <a:t>O desafio é encontrar a arquitetura e os pesos ideais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Usamos validação cruzada e gradiente descendente.</a:t>
            </a:r>
          </a:p>
        </p:txBody>
      </p:sp>
    </p:spTree>
    <p:extLst>
      <p:ext uri="{BB962C8B-B14F-4D97-AF65-F5344CB8AC3E}">
        <p14:creationId xmlns:p14="http://schemas.microsoft.com/office/powerpoint/2010/main" val="15185964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ACFE763-46F7-B2C7-F28A-B6F82A2923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85193"/>
            <a:ext cx="10515600" cy="20876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Como as redes neurais aprendem?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6432786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622042E-E154-9255-670A-2165DE0B1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059FE4F-F9B9-0CCC-8671-00C9AC980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4723" y="1825624"/>
            <a:ext cx="6459793" cy="5032375"/>
          </a:xfrm>
        </p:spPr>
        <p:txBody>
          <a:bodyPr>
            <a:normAutofit/>
          </a:bodyPr>
          <a:lstStyle/>
          <a:p>
            <a:r>
              <a:rPr lang="pt-BR" dirty="0"/>
              <a:t>As redes aprendem ajustando os pesos sinápticos e de </a:t>
            </a:r>
            <a:r>
              <a:rPr lang="pt-BR" i="1" dirty="0"/>
              <a:t>bias</a:t>
            </a:r>
            <a:r>
              <a:rPr lang="pt-BR" dirty="0"/>
              <a:t> para reduzir o erro.</a:t>
            </a:r>
          </a:p>
          <a:p>
            <a:r>
              <a:rPr lang="pt-BR" dirty="0" smtClean="0"/>
              <a:t>Isso </a:t>
            </a:r>
            <a:r>
              <a:rPr lang="pt-BR" dirty="0"/>
              <a:t>é feito através de um algoritmo, baseado no gradiente descendente, chamado de (</a:t>
            </a:r>
            <a:r>
              <a:rPr lang="pt-BR" i="1" dirty="0" err="1"/>
              <a:t>error</a:t>
            </a:r>
            <a:r>
              <a:rPr lang="pt-BR" dirty="0"/>
              <a:t>) </a:t>
            </a:r>
            <a:r>
              <a:rPr lang="pt-BR" i="1" dirty="0" err="1"/>
              <a:t>backpropagation</a:t>
            </a:r>
            <a:r>
              <a:rPr lang="pt-BR" dirty="0" smtClean="0"/>
              <a:t>.</a:t>
            </a:r>
          </a:p>
          <a:p>
            <a:r>
              <a:rPr lang="pt-BR" dirty="0"/>
              <a:t>O objetivo do </a:t>
            </a:r>
            <a:r>
              <a:rPr lang="pt-BR" i="1" dirty="0" err="1"/>
              <a:t>backpropagation</a:t>
            </a:r>
            <a:r>
              <a:rPr lang="pt-BR" dirty="0"/>
              <a:t> é calcular o quanto cada peso da rede contribui para o erro e ajustá-lo de forma a minimizar o erro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Imagem 10">
            <a:extLst>
              <a:ext uri="{FF2B5EF4-FFF2-40B4-BE49-F238E27FC236}">
                <a16:creationId xmlns="" xmlns:a16="http://schemas.microsoft.com/office/drawing/2014/main" id="{14327F44-C55C-3981-FB77-ADF6F10AA36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6466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4CE91DE-DA68-EEA0-9A58-B10C592E0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BE775A6-6732-2632-18D8-0617A7FBF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5D7CC740-332C-5F7B-FF5E-6165FD0B3C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6735" y="1825624"/>
            <a:ext cx="6725265" cy="5032375"/>
          </a:xfrm>
        </p:spPr>
        <p:txBody>
          <a:bodyPr>
            <a:normAutofit/>
          </a:bodyPr>
          <a:lstStyle/>
          <a:p>
            <a:r>
              <a:rPr lang="pt-BR" dirty="0" smtClean="0"/>
              <a:t>O </a:t>
            </a:r>
            <a:r>
              <a:rPr lang="pt-BR" dirty="0"/>
              <a:t>algoritmo faz três coisas principais: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rede faz predições com os pesos atuais.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direta (</a:t>
            </a:r>
            <a:r>
              <a:rPr lang="pt-BR" i="1" dirty="0" err="1"/>
              <a:t>forward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Calcula o erro entre a saída da rede e os rótulos.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Propaga o erro para trás através das camadas da rede para atualizar os pesos usando o gradiente descendente.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Etapa chamada de </a:t>
            </a:r>
            <a:r>
              <a:rPr lang="en-US" i="1" dirty="0"/>
              <a:t>backpropagation</a:t>
            </a:r>
            <a:r>
              <a:rPr lang="en-US" dirty="0" smtClean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smtClean="0"/>
              <a:t>Os </a:t>
            </a:r>
            <a:r>
              <a:rPr lang="pt-BR" dirty="0"/>
              <a:t>gradientes são calculados usando </a:t>
            </a:r>
            <a:r>
              <a:rPr lang="pt-BR" b="1" dirty="0"/>
              <a:t>regra da </a:t>
            </a:r>
            <a:r>
              <a:rPr lang="pt-BR" b="1" dirty="0" smtClean="0"/>
              <a:t>cadeia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4" name="Imagem 10">
            <a:extLst>
              <a:ext uri="{FF2B5EF4-FFF2-40B4-BE49-F238E27FC236}">
                <a16:creationId xmlns="" xmlns:a16="http://schemas.microsoft.com/office/drawing/2014/main" id="{4B677D2C-FFA4-3F3D-DBE3-56466217D52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84" y="2422906"/>
            <a:ext cx="4380297" cy="382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28300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39CD25A-051E-2532-A1B8-176C742EE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837435-CAA9-AE41-D90E-E6FA914481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11157154" cy="4351338"/>
          </a:xfrm>
        </p:spPr>
        <p:txBody>
          <a:bodyPr/>
          <a:lstStyle/>
          <a:p>
            <a:r>
              <a:rPr lang="pt-BR" dirty="0"/>
              <a:t>A rede prediz → mede o erro → corrige os pesos.</a:t>
            </a:r>
          </a:p>
          <a:p>
            <a:r>
              <a:rPr lang="pt-BR" dirty="0"/>
              <a:t>O </a:t>
            </a:r>
            <a:r>
              <a:rPr lang="pt-BR" i="1" dirty="0" err="1"/>
              <a:t>backpropagation</a:t>
            </a:r>
            <a:r>
              <a:rPr lang="pt-BR" dirty="0"/>
              <a:t> responde à pergunta:</a:t>
            </a:r>
          </a:p>
          <a:p>
            <a:pPr marL="0" indent="0" algn="ctr">
              <a:buNone/>
            </a:pPr>
            <a:r>
              <a:rPr lang="pt-BR" b="1" dirty="0"/>
              <a:t>“Quais pesos precisam mudar e o quanto eles precisam mudar para que a rede produza uma saída mais correta?”</a:t>
            </a:r>
            <a:endParaRPr lang="pt-BR" dirty="0"/>
          </a:p>
          <a:p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CB13E6A6-6D4A-0E94-E375-65268C21503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355" y="3697491"/>
            <a:ext cx="3160509" cy="3160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902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114AB47-9AB2-E3F2-CEC8-368FEAC2E9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173E0E8-9B6B-7C0D-137B-0063D0F4A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4800" b="1" dirty="0">
                <a:solidFill>
                  <a:srgbClr val="FF0000"/>
                </a:solidFill>
              </a:rPr>
              <a:t>PAREI AQUI!!!!!!!!!</a:t>
            </a:r>
            <a:endParaRPr lang="en-US" sz="4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41955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Encontrar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para todos os pesos do nó 1 </a:t>
                </a:r>
                <a:r>
                  <a:rPr lang="pt-BR" dirty="0" smtClean="0"/>
                  <a:t>da camada oculta </a:t>
                </a:r>
                <a:r>
                  <a:rPr lang="pt-BR" dirty="0"/>
                  <a:t>da rede neural MLP abaixo.</a:t>
                </a:r>
              </a:p>
              <a:p>
                <a:pPr marL="0" indent="0">
                  <a:buNone/>
                </a:pPr>
                <a:r>
                  <a:rPr lang="pt-BR" dirty="0"/>
                  <a:t>                     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3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pt-BR" sz="32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𝐽</m:t>
                                  </m:r>
                                </m:num>
                                <m:den>
                                  <m: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3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32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1,2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𝐽</m:t>
                                        </m:r>
                                      </m:num>
                                      <m:den>
                                        <m:r>
                                          <a:rPr lang="pt-BR" sz="3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𝑏</m:t>
                                            </m:r>
                                          </m:e>
                                          <m:sub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3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  <m:r>
                      <a:rPr lang="pt-BR" sz="3200" b="0" i="1" smtClean="0">
                        <a:latin typeface="Cambria Math" panose="02040503050406030204" pitchFamily="18" charset="0"/>
                      </a:rPr>
                      <m:t>=?</m:t>
                    </m:r>
                  </m:oMath>
                </a14:m>
                <a:endParaRPr lang="pt-BR" sz="3200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vamos deixar as derivadas da função de ativação em relação às ativações de forma genérica, ou seja, sem assumir um tipo específico de função de ativação.</a:t>
                </a:r>
              </a:p>
              <a:p>
                <a:pPr lvl="1"/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08027" cy="5032376"/>
              </a:xfrm>
              <a:blipFill rotWithShape="0">
                <a:blip r:embed="rId3"/>
                <a:stretch>
                  <a:fillRect l="-924" t="-1937" r="-16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143732" y="2505020"/>
            <a:ext cx="4210068" cy="2544792"/>
          </a:xfrm>
          <a:prstGeom prst="rect">
            <a:avLst/>
          </a:prstGeom>
        </p:spPr>
      </p:pic>
      <p:sp>
        <p:nvSpPr>
          <p:cNvPr id="5" name="CaixaDeTexto 4"/>
          <p:cNvSpPr txBox="1"/>
          <p:nvPr/>
        </p:nvSpPr>
        <p:spPr>
          <a:xfrm>
            <a:off x="7669763" y="2250757"/>
            <a:ext cx="194806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oculta</a:t>
            </a:r>
          </a:p>
        </p:txBody>
      </p:sp>
      <p:sp>
        <p:nvSpPr>
          <p:cNvPr id="6" name="CaixaDeTexto 5"/>
          <p:cNvSpPr txBox="1"/>
          <p:nvPr/>
        </p:nvSpPr>
        <p:spPr>
          <a:xfrm>
            <a:off x="9350351" y="2920822"/>
            <a:ext cx="1938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Camada de saída</a:t>
            </a:r>
          </a:p>
        </p:txBody>
      </p:sp>
      <p:sp>
        <p:nvSpPr>
          <p:cNvPr id="10" name="Elipse 9"/>
          <p:cNvSpPr/>
          <p:nvPr/>
        </p:nvSpPr>
        <p:spPr>
          <a:xfrm>
            <a:off x="7949681" y="2558876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Elipse 10"/>
          <p:cNvSpPr/>
          <p:nvPr/>
        </p:nvSpPr>
        <p:spPr>
          <a:xfrm>
            <a:off x="7949680" y="3237930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Elipse 11"/>
          <p:cNvSpPr/>
          <p:nvPr/>
        </p:nvSpPr>
        <p:spPr>
          <a:xfrm>
            <a:off x="8480511" y="2819221"/>
            <a:ext cx="326571" cy="29019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15907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rede possui uma camada oculta com dois nós e uma </a:t>
                </a:r>
                <a:r>
                  <a:rPr lang="pt-BR" b="1" i="1" dirty="0"/>
                  <a:t>camada de saída com um único nó</a:t>
                </a:r>
                <a:r>
                  <a:rPr lang="pt-BR" dirty="0"/>
                  <a:t>, portanto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Devemos começar calculando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𝜹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 </a:t>
                </a:r>
              </a:p>
              <a:p>
                <a:r>
                  <a:rPr lang="pt-BR" dirty="0"/>
                  <a:t>Porém, percebam que essa </a:t>
                </a:r>
                <a:r>
                  <a:rPr lang="pt-BR" b="1" i="1" dirty="0"/>
                  <a:t>sensibilidade</a:t>
                </a:r>
                <a:r>
                  <a:rPr lang="pt-BR" dirty="0"/>
                  <a:t> é na verdade um escalar, pois há apenas um </a:t>
                </a:r>
                <a:r>
                  <a:rPr lang="pt-BR" b="1" i="1" dirty="0"/>
                  <a:t>nó</a:t>
                </a:r>
                <a:r>
                  <a:rPr lang="pt-BR" b="1" dirty="0"/>
                  <a:t> </a:t>
                </a:r>
                <a:r>
                  <a:rPr lang="pt-BR" dirty="0"/>
                  <a:t>na camada de saída.</a:t>
                </a:r>
              </a:p>
              <a:p>
                <a:r>
                  <a:rPr lang="pt-BR" dirty="0"/>
                  <a:t>Vamos considerar um </a:t>
                </a:r>
                <a:r>
                  <a:rPr lang="pt-BR" b="1" i="1" dirty="0"/>
                  <a:t>único exemplo de entrada,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a respectiva saída desejada,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/>
                  <a:t>. Assim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sub>
                          </m:sSub>
                        </m:den>
                      </m:f>
                      <m:nary>
                        <m:naryPr>
                          <m:chr m:val="∑"/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2800">
                                  <a:latin typeface="Cambria Math" panose="02040503050406030204" pitchFamily="18" charset="0"/>
                                </a:rPr>
                                <m:t>dados</m:t>
                              </m:r>
                            </m:sub>
                          </m:sSub>
                        </m:sup>
                        <m:e>
                          <m:nary>
                            <m:naryPr>
                              <m:chr m:val="∑"/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e>
                                <m:sub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𝑀</m:t>
                                  </m:r>
                                </m:sub>
                              </m:sSub>
                            </m:sup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𝜕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nary>
                        </m:e>
                      </m:nary>
                      <m:r>
                        <a:rPr lang="pt-BR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2663" r="-268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206478" y="2614714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6897857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A0819F1-A412-CAFD-E89E-65FC450B4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A5869CA-BCE3-3D01-FEAF-9AD088F174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Vamos supor que os pesos de todos os nós têm uma certa configuração inicial.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os pesos podem ser inicializados com valores retirados de uma distribuição normal padrão.</a:t>
                </a:r>
              </a:p>
              <a:p>
                <a:r>
                  <a:rPr lang="pt-BR" dirty="0"/>
                  <a:t>Assim, quando a entrada,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é apresentada à rede, é possível calcular todos os valores de interesse ao longo dela até sua saída.</a:t>
                </a:r>
              </a:p>
              <a:p>
                <a:r>
                  <a:rPr lang="pt-BR" dirty="0"/>
                  <a:t>Consequentemente, tendo o valor de saída, conseguimos calcular o erro.</a:t>
                </a:r>
              </a:p>
              <a:p>
                <a:r>
                  <a:rPr lang="pt-BR" dirty="0"/>
                  <a:t>Essa é a etapa </a:t>
                </a:r>
                <a:r>
                  <a:rPr lang="pt-BR" b="1" i="1" dirty="0"/>
                  <a:t>direta</a:t>
                </a:r>
                <a:r>
                  <a:rPr lang="pt-BR" dirty="0"/>
                  <a:t> (ou do inglês, </a:t>
                </a:r>
                <a:r>
                  <a:rPr lang="pt-BR" b="1" i="1" dirty="0" err="1"/>
                  <a:t>forward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A5869CA-BCE3-3D01-FEAF-9AD088F174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51979" y="1825624"/>
                <a:ext cx="7502369" cy="5032375"/>
              </a:xfrm>
              <a:blipFill>
                <a:blip r:embed="rId2"/>
                <a:stretch>
                  <a:fillRect l="-1463" t="-1937" r="-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BCE8B423-576F-E2F8-7B15-7838E17243F0}"/>
              </a:ext>
            </a:extLst>
          </p:cNvPr>
          <p:cNvGrpSpPr/>
          <p:nvPr/>
        </p:nvGrpSpPr>
        <p:grpSpPr>
          <a:xfrm>
            <a:off x="137652" y="2477062"/>
            <a:ext cx="4210068" cy="2799055"/>
            <a:chOff x="7143732" y="2250757"/>
            <a:chExt cx="4210068" cy="2799055"/>
          </a:xfrm>
        </p:grpSpPr>
        <p:pic>
          <p:nvPicPr>
            <p:cNvPr id="5" name="Picture 4">
              <a:extLst>
                <a:ext uri="{FF2B5EF4-FFF2-40B4-BE49-F238E27FC236}">
                  <a16:creationId xmlns="" xmlns:a16="http://schemas.microsoft.com/office/drawing/2014/main" id="{4D4EC30E-0CD6-E24D-6C6D-44596BEC40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656"/>
            <a:stretch/>
          </p:blipFill>
          <p:spPr>
            <a:xfrm>
              <a:off x="7143732" y="2505020"/>
              <a:ext cx="4210068" cy="2544792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="" xmlns:a16="http://schemas.microsoft.com/office/drawing/2014/main" id="{97B53FEE-6A8F-99FB-24A9-DB996D3BEBE9}"/>
                </a:ext>
              </a:extLst>
            </p:cNvPr>
            <p:cNvSpPr txBox="1"/>
            <p:nvPr/>
          </p:nvSpPr>
          <p:spPr>
            <a:xfrm>
              <a:off x="7669763" y="2250757"/>
              <a:ext cx="194806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oculta</a:t>
              </a: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="" xmlns:a16="http://schemas.microsoft.com/office/drawing/2014/main" id="{8328C594-DB14-ABFD-09EB-7478AAF9D6F1}"/>
                </a:ext>
              </a:extLst>
            </p:cNvPr>
            <p:cNvSpPr txBox="1"/>
            <p:nvPr/>
          </p:nvSpPr>
          <p:spPr>
            <a:xfrm>
              <a:off x="9350351" y="2920822"/>
              <a:ext cx="193813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 saída</a:t>
              </a:r>
            </a:p>
          </p:txBody>
        </p:sp>
        <p:sp>
          <p:nvSpPr>
            <p:cNvPr id="8" name="Elipse 7">
              <a:extLst>
                <a:ext uri="{FF2B5EF4-FFF2-40B4-BE49-F238E27FC236}">
                  <a16:creationId xmlns="" xmlns:a16="http://schemas.microsoft.com/office/drawing/2014/main" id="{5F0E7574-BB78-6327-AE66-8879A9C3F18D}"/>
                </a:ext>
              </a:extLst>
            </p:cNvPr>
            <p:cNvSpPr/>
            <p:nvPr/>
          </p:nvSpPr>
          <p:spPr>
            <a:xfrm>
              <a:off x="7949681" y="2558876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Elipse 8">
              <a:extLst>
                <a:ext uri="{FF2B5EF4-FFF2-40B4-BE49-F238E27FC236}">
                  <a16:creationId xmlns="" xmlns:a16="http://schemas.microsoft.com/office/drawing/2014/main" id="{03065243-86EC-CCD4-294A-FD421FF83B0C}"/>
                </a:ext>
              </a:extLst>
            </p:cNvPr>
            <p:cNvSpPr/>
            <p:nvPr/>
          </p:nvSpPr>
          <p:spPr>
            <a:xfrm>
              <a:off x="7949680" y="3237930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Elipse 9">
              <a:extLst>
                <a:ext uri="{FF2B5EF4-FFF2-40B4-BE49-F238E27FC236}">
                  <a16:creationId xmlns="" xmlns:a16="http://schemas.microsoft.com/office/drawing/2014/main" id="{606317D0-23D2-B580-7B10-0B388B98ABBA}"/>
                </a:ext>
              </a:extLst>
            </p:cNvPr>
            <p:cNvSpPr/>
            <p:nvPr/>
          </p:nvSpPr>
          <p:spPr>
            <a:xfrm>
              <a:off x="8480511" y="2819221"/>
              <a:ext cx="326571" cy="290197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9361466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de posse do valor de saída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, podemos calcular o erro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 smtClean="0"/>
                  <a:t>.</a:t>
                </a:r>
                <a:endParaRPr lang="pt-BR" dirty="0"/>
              </a:p>
              <a:p>
                <a:pPr marL="0" indent="0" algn="ctr">
                  <a:buNone/>
                </a:pPr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94092"/>
                <a:ext cx="11150600" cy="5032375"/>
              </a:xfrm>
              <a:blipFill rotWithShape="0">
                <a:blip r:embed="rId3"/>
                <a:stretch>
                  <a:fillRect l="-984" t="-18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sz="1400" b="1" dirty="0"/>
                  <a:t>OBS</a:t>
                </a:r>
                <a:r>
                  <a:rPr lang="pt-BR" sz="1400" dirty="0"/>
                  <a:t>.: Notem que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  <m:sup>
                        <m:r>
                          <a:rPr lang="pt-BR" sz="1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400" dirty="0"/>
                  <a:t> aqui não significa “ao quadrado”, mas sim a indicação de que se trata de um valor da camada </a:t>
                </a:r>
                <a14:m>
                  <m:oMath xmlns:m="http://schemas.openxmlformats.org/officeDocument/2006/math">
                    <m:r>
                      <a:rPr lang="pt-BR" sz="1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sz="1400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sz="1400" dirty="0"/>
                  <a:t>.</a:t>
                </a:r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5355" y="5751492"/>
                <a:ext cx="2563445" cy="987001"/>
              </a:xfrm>
              <a:prstGeom prst="rect">
                <a:avLst/>
              </a:prstGeom>
              <a:blipFill rotWithShape="0">
                <a:blip r:embed="rId4"/>
                <a:stretch>
                  <a:fillRect r="-1425" b="-24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13467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C811560-BF4D-D109-5C84-91EA57030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5729B97E-1817-3C80-E551-8F3B0E85AF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Por </a:t>
                </a:r>
                <a:r>
                  <a:rPr lang="pt-BR" dirty="0"/>
                  <a:t>exemplo, as derivadas parciais com relação aos pesos do </a:t>
                </a:r>
                <a:r>
                  <a:rPr lang="pt-BR" b="1" i="1" dirty="0"/>
                  <a:t>nó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da camada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são mostradas abaixo</a:t>
                </a:r>
              </a:p>
              <a:p>
                <a:pPr marL="0" indent="0">
                  <a:buNone/>
                </a:pPr>
                <a:endParaRPr lang="pt-BR" sz="9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𝐽</m:t>
                                    </m:r>
                                  </m:num>
                                  <m:den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𝜕</m:t>
                                    </m:r>
                                    <m:sSubSup>
                                      <m:sSub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1,1</m:t>
                                        </m:r>
                                      </m:sub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p>
                                    </m:sSubSup>
                                  </m:den>
                                </m:f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1,</m:t>
                                              </m:r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  <m:mr>
                                    <m:e>
                                      <m:f>
                                        <m:f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𝐽</m:t>
                                          </m:r>
                                        </m:num>
                                        <m:den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𝜕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pt-BR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−2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5729B97E-1817-3C80-E551-8F3B0E85AF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41024" cy="5032375"/>
              </a:xfrm>
              <a:blipFill rotWithShape="0">
                <a:blip r:embed="rId2"/>
                <a:stretch>
                  <a:fillRect l="-97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E871D84-F6C8-92EF-0526-F8A532D2107D}"/>
              </a:ext>
            </a:extLst>
          </p:cNvPr>
          <p:cNvSpPr/>
          <p:nvPr/>
        </p:nvSpPr>
        <p:spPr>
          <a:xfrm>
            <a:off x="3992445" y="5912569"/>
            <a:ext cx="158340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Os pesos de </a:t>
            </a:r>
            <a:r>
              <a:rPr lang="pt-BR" sz="1200" b="1" i="1" dirty="0"/>
              <a:t>bias</a:t>
            </a:r>
            <a:r>
              <a:rPr lang="pt-BR" sz="1200" dirty="0"/>
              <a:t> estão ligados a entradas com valores constantes iguais a 1.</a:t>
            </a:r>
          </a:p>
        </p:txBody>
      </p:sp>
      <p:cxnSp>
        <p:nvCxnSpPr>
          <p:cNvPr id="5" name="Straight Arrow Connector 5">
            <a:extLst>
              <a:ext uri="{FF2B5EF4-FFF2-40B4-BE49-F238E27FC236}">
                <a16:creationId xmlns="" xmlns:a16="http://schemas.microsoft.com/office/drawing/2014/main" id="{97F30EFD-C31E-E533-377E-C527A12BCA19}"/>
              </a:ext>
            </a:extLst>
          </p:cNvPr>
          <p:cNvCxnSpPr>
            <a:cxnSpLocks/>
          </p:cNvCxnSpPr>
          <p:nvPr/>
        </p:nvCxnSpPr>
        <p:spPr>
          <a:xfrm flipH="1" flipV="1">
            <a:off x="3410712" y="5888736"/>
            <a:ext cx="723967" cy="4226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="" xmlns:a16="http://schemas.microsoft.com/office/drawing/2014/main" id="{16260731-3F89-F14E-E515-C1A83B54B10E}"/>
              </a:ext>
            </a:extLst>
          </p:cNvPr>
          <p:cNvSpPr/>
          <p:nvPr/>
        </p:nvSpPr>
        <p:spPr>
          <a:xfrm>
            <a:off x="6926940" y="5309488"/>
            <a:ext cx="72396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Escalar</a:t>
            </a:r>
          </a:p>
        </p:txBody>
      </p:sp>
      <p:cxnSp>
        <p:nvCxnSpPr>
          <p:cNvPr id="8" name="Straight Arrow Connector 5">
            <a:extLst>
              <a:ext uri="{FF2B5EF4-FFF2-40B4-BE49-F238E27FC236}">
                <a16:creationId xmlns="" xmlns:a16="http://schemas.microsoft.com/office/drawing/2014/main" id="{5937AA31-75F3-688D-A576-0D77C8A9A243}"/>
              </a:ext>
            </a:extLst>
          </p:cNvPr>
          <p:cNvCxnSpPr>
            <a:cxnSpLocks/>
          </p:cNvCxnSpPr>
          <p:nvPr/>
        </p:nvCxnSpPr>
        <p:spPr>
          <a:xfrm flipH="1">
            <a:off x="7023748" y="5582924"/>
            <a:ext cx="265176" cy="72842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378694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nós fôssemos calcular as derivadas parciais </a:t>
                </a:r>
                <a:r>
                  <a:rPr lang="pt-BR" b="1" i="1" dirty="0"/>
                  <a:t>aplicando a regra da cadeia diretamente</a:t>
                </a:r>
                <a:r>
                  <a:rPr lang="pt-BR" dirty="0"/>
                  <a:t>, elas seriam calculadas como mostrado abaixo.</a:t>
                </a:r>
              </a:p>
              <a:p>
                <a:r>
                  <a:rPr lang="pt-BR" dirty="0"/>
                  <a:t>Por exemplo, a derivada parcial do erro em relação ao peso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1,1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 </m:t>
                      </m:r>
                      <m:limLow>
                        <m:limLowPr>
                          <m:ctrlPr>
                            <a:rPr lang="pt-BR" sz="2200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limLow>
                                      <m:limLow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limLowPr>
                                      <m:e>
                                        <m:groupChr>
                                          <m:groupChrPr>
                                            <m:chr m:val="⏟"/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groupChrPr>
                                          <m:e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d>
                                                      <m:d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d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−</m:t>
                                                        </m:r>
                                                        <m:sSup>
                                                          <m:sSup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sSupPr>
                                                          <m:e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𝑓</m:t>
                                                            </m:r>
                                                          </m:e>
                                                          <m:sup>
                                                            <m: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2</m:t>
                                                            </m:r>
                                                          </m:sup>
                                                        </m:sSup>
                                                        <m:d>
                                                          <m:dPr>
                                                            <m:ctrlPr>
                                                              <a:rPr lang="pt-BR" sz="2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dPr>
                                                          <m:e>
                                                            <m:sSubSup>
                                                              <m:sSubSupPr>
                                                                <m:ctrlP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</m:ctrlPr>
                                                              </m:sSubSupPr>
                                                              <m:e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𝑢</m:t>
                                                                </m:r>
                                                              </m:e>
                                                              <m:sub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1</m:t>
                                                                </m:r>
                                                              </m:sub>
                                                              <m:sup>
                                                                <m:r>
                                                                  <a:rPr lang="pt-BR" sz="2200" i="1">
                                                                    <a:latin typeface="Cambria Math" panose="02040503050406030204" pitchFamily="18" charset="0"/>
                                                                  </a:rPr>
                                                                  <m:t>2</m:t>
                                                                </m:r>
                                                              </m:sup>
                                                            </m:sSubSup>
                                                          </m:e>
                                                        </m:d>
                                                      </m:e>
                                                    </m:d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den>
                                            </m:f>
                                            <m:f>
                                              <m:f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p>
                                                  <m:s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𝑓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p>
                                                <m:d>
                                                  <m:d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Sup>
                                                      <m:sSubSupPr>
                                                        <m:ctrlP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SupPr>
                                                      <m:e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𝑢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1</m:t>
                                                        </m:r>
                                                      </m:sub>
                                                      <m:sup>
                                                        <m:r>
                                                          <a:rPr lang="pt-BR" sz="2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2</m:t>
                                                        </m:r>
                                                      </m:sup>
                                                    </m:sSubSup>
                                                  </m:e>
                                                </m:d>
                                              </m:num>
                                              <m:den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𝜕</m:t>
                                                </m:r>
                                                <m:sSubSup>
                                                  <m:sSubSupPr>
                                                    <m:ctrlP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SupPr>
                                                  <m:e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𝑢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  <m:sup>
                                                    <m:r>
                                                      <a:rPr lang="pt-BR" sz="2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2</m:t>
                                                    </m:r>
                                                  </m:sup>
                                                </m:sSubSup>
                                              </m:den>
                                            </m:f>
                                          </m:e>
                                        </m:groupChr>
                                      </m:e>
                                      <m:lim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lim>
                                    </m:limLow>
                                  </m:e>
                                  <m:e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bSup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den>
                                    </m:f>
                                    <m:f>
                                      <m:fPr>
                                        <m:ctrlP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p>
                                          <m:s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𝑓</m:t>
                                            </m:r>
                                          </m:e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  <m:d>
                                          <m:d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sSubSup>
                                              <m:sSubSupPr>
                                                <m:ctrlP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SupPr>
                                              <m:e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𝑢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  <m:sup>
                                                <m:r>
                                                  <a:rPr lang="pt-BR" sz="2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p>
                                            </m:sSubSup>
                                          </m:e>
                                        </m:d>
                                      </m:num>
                                      <m:den>
                                        <m:r>
                                          <a:rPr lang="pt-BR" sz="2200" i="1">
                                            <a:latin typeface="Cambria Math" panose="02040503050406030204" pitchFamily="18" charset="0"/>
                                          </a:rPr>
                                          <m:t>𝜕</m:t>
                                        </m:r>
                                        <m:sSubSup>
                                          <m:sSubSupPr>
                                            <m:ctrlP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SupPr>
                                          <m:e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𝑢</m:t>
                                            </m:r>
                                          </m:e>
                                          <m:sub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  <m:sup>
                                            <m:r>
                                              <a:rPr lang="pt-BR" sz="2200" i="1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bSup>
                                      </m:den>
                                    </m:f>
                                  </m:e>
                                </m:mr>
                              </m:m>
                            </m:e>
                          </m:groupChr>
                        </m:e>
                        <m:lim>
                          <m:sSubSup>
                            <m:sSubSupPr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lim>
                      </m:limLow>
                      <m:limLow>
                        <m:limLow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sz="22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f>
                                <m:fPr>
                                  <m:ctrlP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num>
                                <m:den>
                                  <m:r>
                                    <a:rPr lang="pt-BR" sz="2200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sSubSup>
                                    <m:sSubSupPr>
                                      <m:ctrlP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1,1</m:t>
                                      </m:r>
                                    </m:sub>
                                    <m:sup>
                                      <m:r>
                                        <a:rPr lang="pt-BR" sz="2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bSup>
                                </m:den>
                              </m:f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lang="pt-BR" sz="2200" dirty="0"/>
              </a:p>
              <a:p>
                <a:r>
                  <a:rPr lang="pt-BR" dirty="0"/>
                  <a:t>Resolvendo as derivadas parciais,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sz="2200" i="1">
                          <a:latin typeface="Cambria Math" panose="02040503050406030204" pitchFamily="18" charset="0"/>
                        </a:rPr>
                        <m:t>=−2</m:t>
                      </m:r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1,1</m:t>
                          </m:r>
                        </m:sub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sSup>
                        <m:sSup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′1</m:t>
                          </m:r>
                        </m:sup>
                      </m:sSup>
                      <m:d>
                        <m:d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sz="22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sz="2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sSub>
                        <m:sSubPr>
                          <m:ctrlPr>
                            <a:rPr lang="pt-BR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200" dirty="0"/>
              </a:p>
              <a:p>
                <a:pPr marL="0" indent="0">
                  <a:buNone/>
                </a:pPr>
                <a:endParaRPr lang="pt-BR" sz="2200" dirty="0"/>
              </a:p>
              <a:p>
                <a:pPr marL="0" indent="0">
                  <a:buNone/>
                </a:pPr>
                <a:endParaRPr lang="pt-BR" sz="22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18304" y="1825624"/>
                <a:ext cx="7397496" cy="5032376"/>
              </a:xfrm>
              <a:blipFill>
                <a:blip r:embed="rId2"/>
                <a:stretch>
                  <a:fillRect l="-1483" t="-26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6"/>
          <a:stretch/>
        </p:blipFill>
        <p:spPr>
          <a:xfrm>
            <a:off x="76200" y="2618516"/>
            <a:ext cx="4477512" cy="2706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2492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da aplicação da retropropagação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</p:spPr>
            <p:txBody>
              <a:bodyPr/>
              <a:lstStyle/>
              <a:p>
                <a:r>
                  <a:rPr lang="pt-BR" dirty="0"/>
                  <a:t>Aplicando-se o mesmo procedimento aos outros pesos, obtemos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Sup>
                                        <m:sSub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𝑢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bSup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50601" cy="5032376"/>
              </a:xfrm>
              <a:blipFill>
                <a:blip r:embed="rId2"/>
                <a:stretch>
                  <a:fillRect l="-92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4115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11FFA5-1CB6-9000-BBDF-D0EDE1854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8934CF7-9755-BAE7-4000-D544554A8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2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FC4C8F1-9434-104F-8710-FE4312988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modelo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6F74F9F4-136D-CEE1-5233-02754FB87A9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Notem que independentemente se estamos usando </a:t>
                </a:r>
                <a:r>
                  <a:rPr lang="pt-BR" b="1" i="1" dirty="0"/>
                  <a:t>hiperplanos</a:t>
                </a:r>
                <a:r>
                  <a:rPr lang="pt-BR" dirty="0"/>
                  <a:t>, </a:t>
                </a:r>
                <a:r>
                  <a:rPr lang="pt-BR" b="1" i="1" dirty="0"/>
                  <a:t>polinômios</a:t>
                </a:r>
                <a:r>
                  <a:rPr lang="pt-BR" dirty="0"/>
                  <a:t> ou </a:t>
                </a:r>
                <a:r>
                  <a:rPr lang="pt-BR" b="1" i="1" dirty="0"/>
                  <a:t>redes neurais</a:t>
                </a:r>
                <a:r>
                  <a:rPr lang="pt-BR" dirty="0"/>
                  <a:t>, em todos os casos temos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</a:t>
                </a:r>
                <a:r>
                  <a:rPr lang="pt-BR" dirty="0"/>
                  <a:t> (i.e., um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modelo</a:t>
                </a:r>
                <a:r>
                  <a:rPr lang="pt-BR" dirty="0"/>
                  <a:t>) e o nosso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objetivo é encontrar seus pesos de forma que o erro seja minimizado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queremos encontrar os pesos que façam com que a função mapeie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com o menor erro possível.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F74F9F4-136D-CEE1-5233-02754FB87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37744" y="1825624"/>
                <a:ext cx="5541819" cy="5032375"/>
              </a:xfrm>
              <a:blipFill>
                <a:blip r:embed="rId2"/>
                <a:stretch>
                  <a:fillRect l="-1980" t="-1937" r="-3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="" xmlns:a16="http://schemas.microsoft.com/office/drawing/2014/main" id="{BB88144D-2872-5AFE-89CA-B966B65CF145}"/>
                  </a:ext>
                </a:extLst>
              </p:cNvPr>
              <p:cNvSpPr txBox="1"/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B88144D-2872-5AFE-89CA-B966B65CF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27490"/>
                <a:ext cx="5599544" cy="400110"/>
              </a:xfrm>
              <a:prstGeom prst="rect">
                <a:avLst/>
              </a:prstGeom>
              <a:blipFill>
                <a:blip r:embed="rId3"/>
                <a:stretch>
                  <a:fillRect t="-6154" b="-769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="" xmlns:a16="http://schemas.microsoft.com/office/drawing/2014/main" id="{C430FC27-A71C-098C-0A38-74E6426AC1C1}"/>
                  </a:ext>
                </a:extLst>
              </p:cNvPr>
              <p:cNvSpPr txBox="1"/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d>
                        <m:d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Sup>
                        <m:sSubSup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</m:sSubSup>
                      <m:d>
                        <m:d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C430FC27-A71C-098C-0A38-74E6426AC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891900"/>
                <a:ext cx="5599544" cy="403893"/>
              </a:xfrm>
              <a:prstGeom prst="rect">
                <a:avLst/>
              </a:prstGeom>
              <a:blipFill>
                <a:blip r:embed="rId4"/>
                <a:stretch>
                  <a:fillRect t="-4478" b="-746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D15AE257-D58E-7339-C43F-9A8A9A80E6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187" y="3760093"/>
            <a:ext cx="3549569" cy="309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132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8B46EFC7-9713-E919-C22B-473617EDF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7888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8273</TotalTime>
  <Words>3733</Words>
  <Application>Microsoft Office PowerPoint</Application>
  <PresentationFormat>Widescreen</PresentationFormat>
  <Paragraphs>409</Paragraphs>
  <Slides>42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42</vt:i4>
      </vt:variant>
    </vt:vector>
  </HeadingPairs>
  <TitlesOfParts>
    <vt:vector size="51" baseType="lpstr">
      <vt:lpstr>Arial</vt:lpstr>
      <vt:lpstr>Calibri</vt:lpstr>
      <vt:lpstr>Calibri Light</vt:lpstr>
      <vt:lpstr>Cambria Math</vt:lpstr>
      <vt:lpstr>Courier New</vt:lpstr>
      <vt:lpstr>Google Sans</vt:lpstr>
      <vt:lpstr>Söhne</vt:lpstr>
      <vt:lpstr>Wingdings</vt:lpstr>
      <vt:lpstr>Tema do Office</vt:lpstr>
      <vt:lpstr>C24 – Inteligência Artificial: Redes Multilayer Perceptron</vt:lpstr>
      <vt:lpstr>Apresentação do PowerPoint</vt:lpstr>
      <vt:lpstr>Redes neurais artificiais</vt:lpstr>
      <vt:lpstr>Apresentação do PowerPoint</vt:lpstr>
      <vt:lpstr>Apresentação do PowerPoint</vt:lpstr>
      <vt:lpstr>O que é uma rede neural artificial?</vt:lpstr>
      <vt:lpstr>O que é uma rede neural artificial?</vt:lpstr>
      <vt:lpstr>O que é uma rede neural artificial?</vt:lpstr>
      <vt:lpstr>Neurônio biológico</vt:lpstr>
      <vt:lpstr>Neurônio biológico</vt:lpstr>
      <vt:lpstr>Neurônio biológico</vt:lpstr>
      <vt:lpstr>Neurônio artificial</vt:lpstr>
      <vt:lpstr>Neurônio artificial</vt:lpstr>
      <vt:lpstr>Neurônio artificial</vt:lpstr>
      <vt:lpstr>Neurônio artificial</vt:lpstr>
      <vt:lpstr>Neurônio artificial</vt:lpstr>
      <vt:lpstr>Redes neurais artificiais</vt:lpstr>
      <vt:lpstr>Redes neurais artificiais</vt:lpstr>
      <vt:lpstr>Apresentação do PowerPoint</vt:lpstr>
      <vt:lpstr>Redes neurais artificiais</vt:lpstr>
      <vt:lpstr>Redes neurais artificiais</vt:lpstr>
      <vt:lpstr>Redes neurais artificiais</vt:lpstr>
      <vt:lpstr>Redes neurais artificiais</vt:lpstr>
      <vt:lpstr>Aproximação universal de funções</vt:lpstr>
      <vt:lpstr>Aproximação universal de funções</vt:lpstr>
      <vt:lpstr>Apresentação do PowerPoint</vt:lpstr>
      <vt:lpstr>Backpropagation</vt:lpstr>
      <vt:lpstr>Backpropagation</vt:lpstr>
      <vt:lpstr>Backpropagation</vt:lpstr>
      <vt:lpstr>Apresentação do PowerPoint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Exemplo da aplicação da retropropagação</vt:lpstr>
      <vt:lpstr>Apresentação do PowerPoint</vt:lpstr>
      <vt:lpstr>O modelo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1795</cp:revision>
  <dcterms:created xsi:type="dcterms:W3CDTF">2020-01-20T13:50:05Z</dcterms:created>
  <dcterms:modified xsi:type="dcterms:W3CDTF">2026-03-08T01:49:13Z</dcterms:modified>
</cp:coreProperties>
</file>